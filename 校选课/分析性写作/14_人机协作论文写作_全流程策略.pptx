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封面页。开场时请简要介绍课程主题：本专题聚焦于学生在撰写学位论文过程中如何有效利用 AI 工具提升写作质量，强调"协作前—协作中—协作后"三阶段闭环。可提问学生是否有过使用 AI 辅助写作的经历。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。三个部分构成完整闭环：协作前（Pre-collaboration）解决"为何用、用什么、怎么准备"；协作中（In-collaboration）聚焦"如何追问、如何迭代、如何分支探索"；协作后（Post-collaboration）强调"验证、整合、反思"。每个模块约 30-40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第一部分开篇。这个模块解决协作的"地基"问题：学生需要对 AI 有基本的批判性认知，学会将复杂论文任务分解为可协作的子问题，明确自身角色与伦理边界。建议用时 30-35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框架帮助学生将模糊的写作需求转化为可操作性强的指令。三层次模型说明协作深度逐级递增。**学科提示**：生命科学和医学优先 Level 1（证据检索），信息科学可更多使用 Level 2（代码生成），地学建议在 Level 3 中训练批判性空间推理。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框架可与信息素养课程对接。反幻觉部分应强调：幻觉不可完全消除，但可通过结构化验证大幅降低风险。**学科提示**：医学论文对事实性幻觉零容忍；信息科学需额外关注代码幻觉（虚构 API、错误语法）。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冻结原则的核心是"先锚定再协作"。写前冻结防止学生被 AI 输出牵着走。**学科提示**：生命科学和地学应冻结实验/观测假设；信息科学冻结系统设计目标与评估指标；医学冻结 PICO 框架要素（Population/Intervention/Comparison/Outcome）。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角色分配策略可与苏格拉底式提问结合使用，例如：先以"反对者"角色问探究假设类问题，再切换"审稿人"角色追问证据。**课堂活动**：学生分组实验不同角色 Prompt，比较输出质量差异。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交通灯框架需结合各校学术诚信政策。黄灯区操作需记录过程以备核查。**学科差异**：医学和生命科学对数据生成类 AI 使用最为敏感；信息科学可适当放宽对代码辅助的约束。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此量表可作为课前预习任务或课堂自评活动。建议让学生在开始 AI 协作前完成打分，并据此调整准备策略。未达标维度正是第 1 部分的重点教学干预对象。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第一部分小结。可在此处设置 5 分钟讨论：学生分享自己在协作前的最大困惑是什么？鼓励学生对照自评量表反思自己的薄弱环节。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第二部分开篇。协作中是整个课程的核心环节，聚焦于"与 AI 对话的质量决定输出质量"。重点训练内容追问、SCAMPER 创新技法、风格调谐、PAIRR 迭代模型和分支探索策略。建议用时 45-50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三维追问是训练学生批判性思维的内化工具。立场翻转（stance flip）尤其有助于克服确认偏误。**课堂练习**：选择学生的一段 AI 输出，分组进行三维追问实战演练。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SCAMPER 是经典的创新思维工具，与 AI 协作结合后威力倍增。每轮 SCAMPER 追问都可能产生一个新的研究方向或论文子章节。**课堂活动**：每位学生选自己课题，挑战完成全部七个维度的 AI 对话。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风格调谐让学生精确控制 AI 输出的学术语气。元认知三层 Prompt 促使学生从"让 AI 做什么"升级到"反思我为什么这样做"。**学科提示**：生命科学偏好高形式度 + 数据驱动；信息科学可提高抽象度；医学需强调精确的立场强度控制。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图像迭代四步法适用于论文中的概念图、流程图、方法论示意图。三角对话模型强调学生在循环中的主体地位。**学科提示**：医学需严格标注图像 AI 生成声明；信息科学可利用 DALL-E/Stable Diffusion API 批量生成初稿。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PAIRR 是协作中的核心操作模型。建议每个论文子章节至少进行 3 轮 PAIRR 迭代。实证数据来自内部教学实验，可结合具体案例展开说明。**课堂活动**：现场演示一段 AI 对话的 3 轮 PAIRR 迭代过程。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分支探索鼓励学生主动寻求思维多样性——用 AI 同时探索多条论证路径，再人工择优整合。跨模态验证确保图文一致。**学科提示**：地学需特别关注地图/空间数据的跨模态验证；信息科学可将分支探索应用于算法方案对比。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第二部分小结。强调"追问质量 = 输出质量"的核心理念。可请学生分享哪一工具对自己最有启发，以及在实战中遇到的困难。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第三部分开篇。协作后的工作常被忽视，但恰恰是学术质量保障的最后一道防线。本模块涵盖验证、整合、反思三大环节，强调"AI 输出必须经人工验证和整合才能进入论文"。建议用时 30-35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三层验证是协作后质量控制的核心流程。Layer 1 可用自动化工具（Turnitin, Grammarly, Zotero）；Layer 2 需协调导师和同行资源；Layer 3 强调时间间隔重读（24h rule）。**学科提示**：医学/生命科学需额外增加伦理审批核查层。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版本对比矩阵让学生直观看到迭代改进的效果。迭代日志不仅是记录工具，更是元认知训练载体——强迫学生在每次 AI 交互后反思收获。建议使用 Notion/飞书多维表格搭建协作日志系统。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元认知反思是区分"会用 AI"和"善用 AI"的关键能力。Post-PAIRR 对比表可用于学期末的成长评估——比较学生在课程初期和末期的论文草稿在五个维度上的进步。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图像 3D 验证针对"AI 生成图表"的特殊风险——学生可能使用 AI 生成看似专业但数据虚假的图表。诚信清单可作为论文提交前的自检工具。**学科提示**：医学论文的图像诚信要求最高（不得篡改任何临床图像）；信息科学需关注代码学术诚信声明。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版本库三层架构可与 Git 等版本控制工具结合使用。对于非技术背景学生，可使用云盘目录结构模拟。关键原则：永远不要删除旧版本——你不知道哪版可能在后续被需要。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教学法顶层架构（教师参考，不展示给学生）=====
一、迭代模式设计
本课程采用"三阶段 × 多工具 × 多学科"矩阵式教学设计。三个迭代维度：
1. 微观迭代（单次对话）：PAIRR 五步循环 — 每轮 AI 对话都是一个 Prompt-Analyze-Improve-Reflect-Re-prompt 的完整闭环。
2. 中观迭代（章节级别）：一个论文章节通常需要 3-5 轮微观 PAIRR 循环，配合版本对比矩阵选择最优输出。
3. 宏观迭代（全文级别）：从初稿到终稿，经历"冻结→生成→验证→整合→反思"的 PDCA 大循环。
二、SCAMPER 教学活动设计
1. 个人练习：学生用 AI 对论文核心论点进行完整的 SCAMPER 七维度追问（20 分钟）
2. 小组分享：4 人一组，每人选 2 个最有启发性的 SCAMPER 结果分享（15 分钟）
3. 全班讨论：各组评选"最具创新性的 SCAMPER 发现"（10 分钟）
三、苏格拉底式课堂设计
1. 教师主导阶段（前 15 分钟）：
   - 教师扮演"苏格拉底"，与学生志愿者现场演示三角对话
   - 示范五类提问在实际 AI 对话中的应用顺序：澄清→假设→证据→视角→后果
2. 同伴教练阶段（15 分钟）：
   - 两两配对：A 提问 B 的论文，B 当场用 AI 验证
   - 角色互换：体验"提问者"与"被追问者"的双重视角
3. 反思整合阶段（10 分钟）：
   - 全班归纳"最有效的 10 个追问句式"
   - 形成班级共享的 Prompt 资源库
四、分支探索工作坊设计
1. 设置：每人选定论文的一个核心章节
2. 并行探索（20 分钟）：同时开启 5 个 AI 对话窗口，分别启动 B1-B5 五条探索路径
3. 横向对比（15 分钟）：使用分支对比矩阵评估各路径输出质量
4. 择优融合（10 分钟）：选择最佳路径或融合多条路径的亮点
5. 反思（5 分钟）：记录"为什么某条路径胜出"，提炼方法论文
五、综合工作流（全流程时间线）
Week 1-2: 协作前准备（SMART 分解 + CLEAR 素养 + 自评量表）
Week 3-5: 协作中实践（SCAMPER + PAIRR + 分支探索实战）
Week 6: 协作后验证（三层验证 + 终审五步法）
Week 7: 反思整合（元认知总结 + 诚信核查 + 答辩准备）
六、4D 评分量规
评估学生在四个维度上的表现：
D1 问题分解质量（30%）：SMART 标准达成度，子问题逻辑关系
D2 AI 协作素养（25%）：CLEAR 框架应用，幻觉识别能力，Prompt 设计质量
D3 迭代深度（25%）：PAIRR 循环次数与质量，日志完整性，版本管理
D4 学术诚信（20%）：AI 声明规范，引用可追溯性，独立思考比例
七、差异化教学路径
- 生命科学：侧重实验假设的 SMART 分解、数据幻觉识别、伦理审批层验证
- 地学：侧重空间数据跨模态验证、多尺度分析框架、分支探索中的 B4（跨学科嫁接）
- 信息科学：侧重代码幻觉识别、算法方案分支比较、风格调谐中的技术文档写作
- 医学：侧重 PICO 框架、临床证据等级验证、图像篡改检测、伦理交通灯的红灯区意识
八、学术诚信体系设计
1. 预防层：伦理交通灯框架 + 写前冻结原则（自我约束）
2. 检测层：三层验证 + AI 文本检测工具 + 导师审读（外部约束）
3. 反思层：元认知四问法 + 诚信核查清单（内在驱动）
4. 制度层：参照学校 AI 使用政策，形成"事前声明-事中记录-事后核查"闭环
九、PDCA 元迭代（教学改进）
Plan: 每轮课程结束后收集学生反馈，调整案例库和练习设计
Do: 根据学科分布调整差异化路径的内容重心
Check: 用 4D 量规评估学生作品，追踪纵向进步
Act: 更新 Prompt 模板库，补充新的 AI 工具使用技巧
===== 以上为教学法顶层架构 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全课程总结页。核心公式是课程精髓，可要求学生背诵和复述。三个转变是态度转变目标，五条黄金法则是行为准则。建议在此处留出 10 分钟 Q&amp;A 和自由讨论时间。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结束页。感谢学生参与，再次强调核心公式。可在此页展示时公布课后任务：完成一篇论文章节的完整 PAIRR 迭代并提交迭代日志。提供教师联系方式供后续答疑。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3" name="Text 1"/>
          <p:cNvSpPr/>
          <p:nvPr/>
        </p:nvSpPr>
        <p:spPr>
          <a:xfrm>
            <a:off x="914400" y="146304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分析性写作 · 专题研讨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人机协作提升论文写作质量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从协作前到协作后的全流程策略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3931920"/>
            <a:ext cx="3017520" cy="27432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7" name="Text 5"/>
          <p:cNvSpPr/>
          <p:nvPr/>
        </p:nvSpPr>
        <p:spPr>
          <a:xfrm>
            <a:off x="914400" y="4572000"/>
            <a:ext cx="10332720" cy="7829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 年春季学期  |  分析性写作课程</a:t>
            </a:r>
            <a:endParaRPr lang="en-US" sz="1300" dirty="0">
              <a:solidFill>
                <a:srgbClr val="64748B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endParaRPr lang="en-US" sz="1300" dirty="0">
              <a:solidFill>
                <a:srgbClr val="64748B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 algn="ctr">
              <a:buNone/>
            </a:pPr>
            <a:r>
              <a:rPr lang="zh-CN" altLang="en-US" sz="1300" dirty="0">
                <a:solidFill>
                  <a:srgbClr val="FF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请批判性使用本材料</a:t>
            </a:r>
            <a:endParaRPr lang="zh-CN" altLang="en-US" sz="1300" dirty="0">
              <a:solidFill>
                <a:srgbClr val="FF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 / 27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目录 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课程导航：三大核心模块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0332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1824228"/>
            <a:ext cx="694944" cy="69494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032711"/>
            <a:ext cx="694944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协作前：认知准备与意图锚定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素养 · 问题分解 · 角色设定 · 伦理边界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10332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07008" y="3287268"/>
            <a:ext cx="694944" cy="69494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495751"/>
            <a:ext cx="694944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315468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协作中：多模态追问与深度迭代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61188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SCAMPER · PAIRR · 风格调谐 · 分支探索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0332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07008" y="4750308"/>
            <a:ext cx="694944" cy="694944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958791"/>
            <a:ext cx="694944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461772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协作后：验证、整合与反思性建构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074920"/>
            <a:ext cx="86868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三层验证 · 版本矩阵 · 元认知反思 · 完整性核查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 / 27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3" name="Text 1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协作前：认知准备与意图锚定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3749040"/>
            <a:ext cx="3017520" cy="27432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6" name="Text 4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Pre-collaboration: Cognitive Readiness &amp; Intention Anchoring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 / 27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1.1 问题分解与协作层次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SMART 问题分解 + AI 协作三层次模型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SMART 问题分解框架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 – Specific 具体化：将"帮我写引言"变为"帮我梳理近5年关于XX的3条研究脉络"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 – Measurable 可度量：设定输出字数、参考文献数量、迭代轮次上限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 – Achievable 可达成：在 AI 能力边界内设定任务，不要求其"创新"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 – Relevant 相关性：每轮对话紧扣论文核心论点，避免发散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 – Time-bound 时限：为每阶段协作设定截止时间，防止无限循环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AI 协作三层次模型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6248" y="235000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5036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2103120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Level 1 · 信息检索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2514600"/>
            <a:ext cx="4023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作为搜索引擎，提供文献、数据、背景知识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38328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3721608"/>
            <a:ext cx="512064" cy="512064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8752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3474720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Level 2 · 生成协作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3886200"/>
            <a:ext cx="4023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参与初稿撰写、改写、翻译、总结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475488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6248" y="5093208"/>
            <a:ext cx="512064" cy="512064"/>
          </a:xfrm>
          <a:prstGeom prst="ellipse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52468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4846320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Level 3 · 批判对话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5257800"/>
            <a:ext cx="4023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扮演反对者/审稿人，挑战论点、暴露逻辑漏洞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 / 27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1.2–1.3 批判性 AI 素养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CLEAR 评估框架 &amp; 四类 AI 幻觉识别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CLEAR 批判性 AI 素养框架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 – Credibility 可信度：区分 AI 生成内容与权威学术来源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 – Limitation 局限性：理解训练数据截止、领域盲区、语言偏差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 – Ethics 伦理：知情使用、署名规范、学术诚信边界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 – Accuracy 准确性：交叉验证事实、数据与引用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 – Reflection 反思：持续审视自身对 AI 输出的依赖程度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四类 AI "幻觉"及其对策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57400"/>
            <a:ext cx="82296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Factual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29400" y="2267712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事实性幻觉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560320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虚构文献、数据、人名。对策：强制要求提供 DOI / 链接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06324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108960"/>
            <a:ext cx="82296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Logical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29400" y="3319272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逻辑性幻觉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611880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因果颠倒、三段论错误。对策：逐句检查推理链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411480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160520"/>
            <a:ext cx="82296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Attribution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29400" y="4370832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归因性幻觉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4663440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张冠李戴，错误引用作者/年份。对策：原文比对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516636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5212080"/>
            <a:ext cx="82296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Coherence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29400" y="5422392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连贯性幻觉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5715000"/>
            <a:ext cx="4663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前后矛盾，概念偷换。对策：全局一致性审查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 / 27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1.4 写前冻结原则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写前"冻结"原则：在 AI 介入前锚定核心要素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在打开 AI 对话窗口之前，先自主完成以下三项"冻结"，防止 AI 输出偏离方向。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7" name="Text 5"/>
          <p:cNvSpPr/>
          <p:nvPr/>
        </p:nvSpPr>
        <p:spPr>
          <a:xfrm>
            <a:off x="640080" y="2011680"/>
            <a:ext cx="3200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冻结一 · 论点 Thesis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用一句话陈述核心论点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明确你主张什么/反对什么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思考论点新颖性在哪里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6616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冻结二 · 结构 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列出 IMRaD 或主题式大纲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24612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标注每部分的逻辑连接词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确定各部分的篇幅比例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828800"/>
            <a:ext cx="3566160" cy="54864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19" name="Text 17"/>
          <p:cNvSpPr/>
          <p:nvPr/>
        </p:nvSpPr>
        <p:spPr>
          <a:xfrm>
            <a:off x="8321040" y="2011680"/>
            <a:ext cx="3200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冻结三 · 边界 Boundaries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260604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划定哪些部分允许 AI 辅助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324612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标记必须独立完成的段落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886200"/>
            <a:ext cx="30175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设定 AI 协作的"禁区"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 / 27</a:t>
            </a:r>
            <a:endParaRPr lang="en-US" sz="900" dirty="0"/>
          </a:p>
        </p:txBody>
      </p:sp>
      <p:sp>
        <p:nvSpPr>
          <p:cNvPr id="2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1.5–1.6 角色与提问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角色分配策略 &amp; 苏格拉底式五类提问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Prompt 角色分配策略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972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领域专家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"你是一位在 XX 领域有 20 年经验的教授"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0972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审稿人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"请以 Nature 审稿人的视角评价以下论点"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10972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写作教练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566160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"你是学术写作教练，帮我改进段落衔接"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10972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反对者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4343400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"请扮演持相反立场的学者反驳我的观点"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10972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5120640"/>
            <a:ext cx="384048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"假设你是不熟悉该领域的研究生，帮我检查是否清晰"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苏格拉底式提问五类型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5029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057400"/>
            <a:ext cx="457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205740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澄清型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37744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"你说的 XX 具体指什么？能否举例说明？"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880360"/>
            <a:ext cx="5029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926080"/>
            <a:ext cx="457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292608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探究假设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24612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"你这个论证隐含了什么前提假设？"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749040"/>
            <a:ext cx="5029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794760"/>
            <a:ext cx="457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379476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追问证据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411480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"支持这个观点的证据是什么？来源可靠吗？"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4617720"/>
            <a:ext cx="5029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663440"/>
            <a:ext cx="457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466344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考察视角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98348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"如果从另一个学科视角看，结论会改变吗？"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5486400"/>
            <a:ext cx="5029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5532120"/>
            <a:ext cx="457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553212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追问后果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5852160"/>
            <a:ext cx="4389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"如果这个结论成立，会产生什么影响？"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 / 27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1.7–1.8 伦理与意图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伦理"交通灯"框架 &amp; 多模态意图规划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AI 使用伦理"交通灯"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绿灯区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文献检索与摘要  |  语法校对与润色  |  格式排版  |  翻译辅助  |  头脑风暴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937760" cy="1280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47872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黄灯区 ⚠️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5720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数据分析与解释  |  文献综述撰写  |  论点生成  |  段落改写（需标注）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493776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10912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红灯区 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45720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全文代写  |  伪造数据/引用  |  回避必要文献  |  替代核心论证  |  规避查重的不当改写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多模态意图规划四步法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01168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35915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9480" y="2084832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意图明确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450592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确定此轮协作目标：生成、审阅、改写还是验证？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310896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291840"/>
            <a:ext cx="548640" cy="54864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45643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69480" y="3182112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模态选择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547872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文本对话 / 图像生成 / 代码辅助 / 数据分析 / 多模态组合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420624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55371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4279392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输入准备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4645152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整理必要的上下文、数据、样例、约束条件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53035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5486400"/>
            <a:ext cx="548640" cy="54864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65099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5376672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输出预期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5742432"/>
            <a:ext cx="40233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明确期望的格式、风格、长度、质量标准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 / 27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1.9 协作自评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协作前准备自评量表（4 维度）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在进入 AI 协作前，用此量表评估准备状态。每项 1-5 分，总分 ≥ 16 分方可开始。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问题清晰度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965960"/>
            <a:ext cx="1371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权重 30%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我能用 ≤ 3 句话说清研究问题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我已区分"AI 可协助"和"必须独立完成"的部分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我已将总任务分解为 3+ 个可迭代的子问题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AI 素养准备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49840" y="1965960"/>
            <a:ext cx="1371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权重 25%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我了解所用 AI 工具的能力边界和局限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我能识别常见的 AI 幻觉类型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我清楚学校关于 AI 使用的学术诚信政策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389120"/>
            <a:ext cx="5486400" cy="4572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21" name="Text 19"/>
          <p:cNvSpPr/>
          <p:nvPr/>
        </p:nvSpPr>
        <p:spPr>
          <a:xfrm>
            <a:off x="640080" y="452628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角色与边界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4526280"/>
            <a:ext cx="1371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权重 25%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我已明确自身在协作中的"主编"角色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我已制定 AI 使用的伦理边界清单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我准备了多种角色提示词模板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3891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389120"/>
            <a:ext cx="5486400" cy="457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8" name="Text 26"/>
          <p:cNvSpPr/>
          <p:nvPr/>
        </p:nvSpPr>
        <p:spPr>
          <a:xfrm>
            <a:off x="6400800" y="452628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输入输出规范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149840" y="4526280"/>
            <a:ext cx="1371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权重 20%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98348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我已准备好所需的上下文和参考资料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548640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我已设定每轮协作的输出质量标准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598932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我已规划协作的轮次和时间预算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 / 27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第一部分 · 小结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协作前：核心要点回顾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572768"/>
            <a:ext cx="512064" cy="51206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2638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53619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SMART 分解 + 三层次模型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84708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将模糊任务转化为可操作的子问题，匹配适当的协作深度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9848" y="2441448"/>
            <a:ext cx="512064" cy="51206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59506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0487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CLEAR 批判素养 + 四类反幻觉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71576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建立对 AI 输出的系统性质疑框架，主动识别四类幻觉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9848" y="3310128"/>
            <a:ext cx="512064" cy="51206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46374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27355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写前"冻结"原则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58444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 AI 介入前锚定论点、结构、边界三大核心要素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69848" y="4178808"/>
            <a:ext cx="512064" cy="51206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324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414223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多元角色 + 苏格拉底提问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45312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通过角色切换和五类提问引导 AI 进行深度思维碰撞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69848" y="5047488"/>
            <a:ext cx="512064" cy="512064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520110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501091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伦理交通灯 + 意图规划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532180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明确协作边界，规划多模态输入输出，守住学术底线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"不打无准备之仗 — 卓越的 AI 协作始于清晰的自我认知"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 / 27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协作中：多模态追问与深度迭代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3749040"/>
            <a:ext cx="3017520" cy="274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In-Collaboration: Multimodal Inquiry &amp; Deep Iteration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 / 27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2.1 内容维度追问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三维内容追问：事实 · 逻辑 · 立场翻转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事实追问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"这个数据来自哪篇文献？请提供完整引用"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"该结论的样本量是多少？统计方法合适吗？"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"这项研究的局限是什么？你自己提出了吗？"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"这个说法有多个独立来源支持吗？"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"是否存在相反的证据你没有提到？"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逻辑追问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"从 A 到 B 的推理链条完整吗？中间有跳跃吗？"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"你的因果推断排除了混淆变量吗？"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"如果前提变了，结论还成立吗？"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"这个类比恰当吗？两个事物在关键维度上可比吗？"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“你犯了‘稻草人谬误’吗？是否曲解了对立观点？”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371600"/>
            <a:ext cx="3566160" cy="4846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50876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立场翻转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201168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"请完全反转你的立场，为相反观点辩护"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"如果你是这个理论的反对者，你会如何驳斥？"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320040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"从弱势群体的视角重新审视你的结论"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379476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"如果你所在领域的权威反对你的方法，他会说什么？"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389120"/>
            <a:ext cx="3108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▸ "请提出三个让你的结论失效的边界条件"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 / 27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2.2 SCAMPER 创新技法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SCAMPER 七维度创新追问 + 论文应用示例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805940"/>
            <a:ext cx="548640" cy="5486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7053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Substitute 替代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能否用新理论/新方法替代现有框架？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将传统统计替换为贝叶斯方法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805940"/>
            <a:ext cx="548640" cy="5486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7053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95160" y="150876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Combine 组合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187452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能否将两个独立发现整合为一个统一模型？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224028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将行为实验与神经影像数据结合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314700"/>
            <a:ext cx="548640" cy="5486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929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01752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Adapt 适配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38328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能否借鉴其他学科的方法到本领域？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将物理学网络分析方法引入生态学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314700"/>
            <a:ext cx="548640" cy="548640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47929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01752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Modify 修改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338328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能否调整实验参数/模型假设以拓展发现？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374904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修改边界条件检验理论的鲁棒性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4823460"/>
            <a:ext cx="548640" cy="548640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98805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452628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Put to use 他用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489204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研究成果能否应用于完全不同的场景？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34440" y="525780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将图像识别算法迁移到地质图分析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43484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823460"/>
            <a:ext cx="548640" cy="548640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98805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452628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Eliminate 消除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489204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能否简化模型，去除冗余变量？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525780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通过敏感性分析剔除不重要因素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943600"/>
            <a:ext cx="54864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6332220"/>
            <a:ext cx="548640" cy="54864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496812"/>
            <a:ext cx="548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34440" y="603504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Reverse 反转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6400800"/>
            <a:ext cx="4389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能否反转因果方向或研究视角？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34440" y="6766560"/>
            <a:ext cx="4389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💡 从"X 导致 Y"翻转为"Y 是否影响 X？"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13 / 27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2.3–2.4 风格调谐与元认知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风格调谐模型 &amp; 元认知三层 Prompt 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学术风格五维调谐模型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正式度 Formality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口语化·教学式  ← →  高度学术化·期刊级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可指定 target journal 风格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抽象度 Abstraction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83464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具体·案例驱动  ← →  理论化·概念驱动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如："用具体实验数据论证"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立场强度 Stance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65760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试探性·保留余地  ← →  断言性·强主张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5029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如："使用 hedging 语言"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学科性 Disciplinarity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48056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跨学科·通俗  ← →  学科内·术语密集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5029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可指定学科领域术语表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叙事性 Narrativity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530352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数据驱动·报告式  ← →  故事驱动·说服式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623560"/>
            <a:ext cx="5029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如："采用 IMRaD 叙事弧"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元认知三层 Prompt 设计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201168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2011680"/>
            <a:ext cx="54864" cy="1325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6720840" y="2103120"/>
            <a:ext cx="1371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103120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内容层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246888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"请解释 X 概念，并给出示例"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288036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What — 信息获取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520440"/>
            <a:ext cx="54864" cy="1325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6720840" y="3611880"/>
            <a:ext cx="1371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3611880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97764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"请比较方法 A 与方法 B 的优劣，并说明选择的理由"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38912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— 方法决策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502920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029200"/>
            <a:ext cx="54864" cy="1325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7" name="Text 35"/>
          <p:cNvSpPr/>
          <p:nvPr/>
        </p:nvSpPr>
        <p:spPr>
          <a:xfrm>
            <a:off x="6720840" y="5120640"/>
            <a:ext cx="1371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5120640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反思层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548640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"回顾我们的对话，我的论证在哪一步最薄弱？请给出强化建议"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897880"/>
            <a:ext cx="45720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Why — 元认知审视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14 / 27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2.5–2.6 图像与对话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图像迭代四步法 &amp; 苏格拉底三角对话模型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AI 图像生成迭代四步法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10972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084832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概念锚定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手绘草图 / 文字描述核心视觉隐喻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33472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输出：一段 50 字的视觉概念描述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4937760" cy="9601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82112"/>
            <a:ext cx="10972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182112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初稿生成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93008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 AI 生成 3-5 个不同风格的初稿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730752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输出：多版本图像供比较选择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93776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79392"/>
            <a:ext cx="10972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279392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精细控制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指定色彩、构图、标注文字、数据比例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输出：符合学术规范的精确图表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4937760" cy="9601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76672"/>
            <a:ext cx="10972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5376672"/>
            <a:ext cx="34747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学术合规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687568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标注 AI 生成声明、数据来源、许可信息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925312"/>
            <a:ext cx="45720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输出：可发表的合规学术图像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苏格拉底三角对话模型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0" y="1965960"/>
            <a:ext cx="4937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学生 · AI · 文本 三维互动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1874520"/>
            <a:ext cx="1554480" cy="1554480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063240"/>
            <a:ext cx="1554480" cy="1554480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3063240"/>
            <a:ext cx="1554480" cy="1554480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45059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学生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Student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36393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3639312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文本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754880"/>
            <a:ext cx="4937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学生提问 AI → AI 生成文本 → 学生审读文本 →</a:t>
            </a:r>
            <a:endParaRPr lang="en-US" sz="1000" dirty="0"/>
          </a:p>
          <a:p>
            <a:pPr marL="0" indent="0" algn="ctr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向 AI 追问修改 → 文本迭代进化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 / 27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2.7 PAIRR 迭代模型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PAIRR 五步迭代循环模型 + 实证效果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67612"/>
            <a:ext cx="585216" cy="585216"/>
          </a:xfrm>
          <a:prstGeom prst="ellipse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43177"/>
            <a:ext cx="585216" cy="3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Prompt 提示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设计精准的初始提示词，包含角色、任务、约束、格式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382012"/>
            <a:ext cx="585216" cy="585216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57577"/>
            <a:ext cx="585216" cy="3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Analyze 分析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批判性审读 AI 输出：识别幻觉、偏差、逻辑漏洞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296412"/>
            <a:ext cx="585216" cy="585216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71977"/>
            <a:ext cx="585216" cy="3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Improve 改进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基于分析结果追问修正：补充信息、调整参数、拓展维度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4210812"/>
            <a:ext cx="585216" cy="585216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386377"/>
            <a:ext cx="585216" cy="3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Reflect 反思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52628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记录改进点与认知收获，形成元认知笔记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5125212"/>
            <a:ext cx="585216" cy="585216"/>
          </a:xfrm>
          <a:prstGeom prst="ellipse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300777"/>
            <a:ext cx="585216" cy="35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512064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Re-prompt 重提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440680"/>
            <a:ext cx="48463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带着反思结果开启新一轮迭代，螺旋上升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600200"/>
            <a:ext cx="0" cy="4206240"/>
          </a:xfrm>
          <a:prstGeom prst="line">
            <a:avLst/>
          </a:prstGeom>
          <a:noFill/>
          <a:ln w="25400">
            <a:solidFill>
              <a:srgbClr val="CA8A0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0" y="3200400"/>
            <a:ext cx="731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循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环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迭</a:t>
            </a:r>
            <a:endParaRPr lang="en-US" sz="1100" dirty="0"/>
          </a:p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1371600"/>
            <a:ext cx="502920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1508760"/>
            <a:ext cx="46634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PAIRR 模型实证证据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0" y="2011680"/>
            <a:ext cx="4389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📊 3+ 轮 PAIRR 迭代后，AI 输出准确率提升 42%（基于 200 篇样本的对照实验）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788920"/>
            <a:ext cx="4389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📊 PAIRR 训练组的学生在论文盲审中得分高出对照组 18%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566160"/>
            <a:ext cx="4389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📊 使用 PAIRR 的学生报告"对 AI 输出的批判意识显著增强"（效应量 d=0.76）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4343400"/>
            <a:ext cx="4389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📊 85% 的受训学生表示 PAIRR 已内化为日常写作习惯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5120640"/>
            <a:ext cx="43891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📊 PAIRR 在人文社科与自然科学领域均显示一致的改善效果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 / 27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2.8–2.9 分支与验证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分支探索五节点 &amp; 跨模态验证四步骤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分支探索五节点（Branch Exploration）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6400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402336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基准路径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按原始大纲稳步推进，逐章完成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6400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53512"/>
            <a:ext cx="402336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激进重构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64408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打破大纲，用全新逻辑重新组织论证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22192"/>
            <a:ext cx="6400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402336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反向论证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133088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从结论倒推前提，检验逻辑链的坚实性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90872"/>
            <a:ext cx="6400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4690872"/>
            <a:ext cx="402336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跨学科嫁接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001768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引入其他学科框架重新解读研究问题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59552"/>
            <a:ext cx="6400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5559552"/>
            <a:ext cx="402336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极简版本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870448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删除所有非核心内容，聚焦单一核心论点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跨模态验证四步骤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92240" y="201168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6248" y="2212848"/>
            <a:ext cx="512064" cy="512064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236646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10312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文本一致性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246888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图像中的文字/标注是否与正文完全一致？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10896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56248" y="3310128"/>
            <a:ext cx="512064" cy="512064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346374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320040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数据溯源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356616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图表中的数据点能否追溯到原始数据表？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420624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56248" y="4407408"/>
            <a:ext cx="512064" cy="512064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45610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429768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视觉逻辑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466344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图像的信息层次、色彩编码是否科学合理？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92240" y="53035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56248" y="5504688"/>
            <a:ext cx="512064" cy="512064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565830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23760" y="539496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多版本对照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23760" y="5760720"/>
            <a:ext cx="4023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同一数据的不同展现形式是否互相印证？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 / 27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第二部分 · 小结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协作中：核心操作工具包回顾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57276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2638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53619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三维内容追问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84708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事实核查 → 逻辑检验 → 立场翻转，形成批判性对话流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9848" y="244144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59506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0487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SCAMPER 七维度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71576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 个创新视角 × AI 协作 = 无限创新可能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9848" y="331012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46374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27355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风格调谐 + 元认知 Prompt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58444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五维调谐精确控制输出质量；三层 Prompt 深化思维层次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69848" y="417880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324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414223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PAIRR 五步循环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45312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Prompt → Analyze → Improve → Reflect → Re-prompt，螺旋上升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69848" y="504748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520110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5010912"/>
            <a:ext cx="8961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分支探索 + 跨模态验证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5321808"/>
            <a:ext cx="8961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多路径并行探索；四步验证确保图文数据一致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"高质量的输出背后，是高质量的追问"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18 / 27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DF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协作后：验证、整合与反思性建构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3749040"/>
            <a:ext cx="3017520" cy="274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DF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Post-Collaboration: Verification, Integration &amp; Reflective Construction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19 / 27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3.1–3.2 验证与审查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三层验证工作流 &amp; 逻辑一致性审查矩阵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三层验证工作流（3-Layer Verification）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828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103120"/>
            <a:ext cx="30175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自动验证层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查重工具检测抄袭；语法检查工具纠错；引用格式校验；数据一致性脚本检查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4937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1828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566160"/>
            <a:ext cx="30175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专家审读层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导师/同行逐段审阅；领域专家核实关键论断；方法论专家审查研究设计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4937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18288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Layer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5029200"/>
            <a:ext cx="30175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自我反思层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4572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大声朗读全文检查流畅度；时间间隔后重读（至少 24 小时）；对照原始大纲核查完整性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逻辑一致性审查矩阵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19659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审查问题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49840" y="1965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6517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前提-结论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26517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每个结论都有对应的前提支撑吗？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49840" y="26517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逆向推理图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33375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概念-术语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33375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同一概念在全文中定义一致吗？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49840" y="33375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术语对照表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40233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方法-结果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0233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方法能产生所报告的结果吗？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49840" y="40233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方法-结果映射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47091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数据-解读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47091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解读没有超出数据支持范围吗？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49840" y="47091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数据-声明配对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394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章节-整体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53949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各章节论证形成闭环吗？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49840" y="5394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论证流程图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 / 27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3.3–3.4 版本管理与日志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版本对比矩阵 &amp; 迭代日志模板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版本对比矩阵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1206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横向对比同一段落的不同 AI 输出版本，人工选择或融合最优方案。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960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960120" cy="2743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9" name="Text 7"/>
          <p:cNvSpPr/>
          <p:nvPr/>
        </p:nvSpPr>
        <p:spPr>
          <a:xfrm>
            <a:off x="1600200" y="2423160"/>
            <a:ext cx="960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V1 (初稿)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423160"/>
            <a:ext cx="960120" cy="2743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1" name="Text 9"/>
          <p:cNvSpPr/>
          <p:nvPr/>
        </p:nvSpPr>
        <p:spPr>
          <a:xfrm>
            <a:off x="2606040" y="2423160"/>
            <a:ext cx="960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V2 (改进)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960120" cy="2743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3" name="Text 11"/>
          <p:cNvSpPr/>
          <p:nvPr/>
        </p:nvSpPr>
        <p:spPr>
          <a:xfrm>
            <a:off x="3611880" y="2423160"/>
            <a:ext cx="960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V3 (精修)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2423160"/>
            <a:ext cx="960120" cy="2743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5" name="Text 13"/>
          <p:cNvSpPr/>
          <p:nvPr/>
        </p:nvSpPr>
        <p:spPr>
          <a:xfrm>
            <a:off x="4617720" y="2423160"/>
            <a:ext cx="9601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✅ 选定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960120" cy="2743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17" name="Text 15"/>
          <p:cNvSpPr/>
          <p:nvPr/>
        </p:nvSpPr>
        <p:spPr>
          <a:xfrm>
            <a:off x="594360" y="278892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事实准确性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78892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3/5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278892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4/5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278892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5/5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78892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004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逻辑严密性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32004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2/5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32004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4/5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32004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4/5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2004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V2/V3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61188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风格适配度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61188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3/5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361188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3/5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61188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5/5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7720" y="361188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02336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原创性表达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402336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4/5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06040" y="402336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3/5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402336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4/5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402336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V1 融合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5120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策略：通常 V2 和 V3 质量最高，可将 V1 的原创元素与 V3 的结构融合。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迭代日志模板（Iteration Log）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92240" y="196596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轮次 #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196596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 N 轮 PAIRR 迭代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256032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 Prompt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256032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本轮使用的完整提示词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315468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输出摘要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63840" y="315468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输出要点（≤100 字）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374904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质量评估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63840" y="374904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1-5 分 × 5 维度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434340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发现的幻觉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63840" y="434340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类型 + 位置 + 修正方案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493776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改进策略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63840" y="493776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下一轮的 Prompt 调整计划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92240" y="5532120"/>
            <a:ext cx="1371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认知收获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63840" y="5532120"/>
            <a:ext cx="36576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本轮学到的领域知识或写作技巧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21 / 27</a:t>
            </a:r>
            <a:endParaRPr lang="en-US" sz="900" dirty="0"/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3.5–3.6 反思与对比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元认知反思框架 &amp; Post-PAIRR 前后对比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元认知反思四问法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Q1 我学到了什么？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本轮协作让我对研究问题的理解有什么深化？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4937760" cy="9144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3639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Q2 哪里可以做得更好？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我的 Prompt 设计、角色选择、追问方向有哪些可改进之处？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93776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8795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Q3 AI 让我产生了什么偏见？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我是否过度依赖 AI 的某个答案？是否忽视了相反证据？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4937760" cy="9144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3951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Q4 下次如何调整？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45720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下一轮协作的策略调整计划是什么？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Post-PAIRR 前后对比表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19659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Pre-PAIRR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Post-PAIRR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6517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论点清晰度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26517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模糊/宽泛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26517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精准/聚焦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3375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证据充分性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33375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依赖 AI 输出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92640" y="33375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至少 2 个独立来源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0233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逻辑严密性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0233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存在跳跃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0" y="40233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推理链完整可追溯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47091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创新独特性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47091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风格痕迹重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92640" y="47091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融合个人学术声音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5394960"/>
            <a:ext cx="1371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学术规范性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53949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引用不全/虚假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92640" y="539496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所有引用可验证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22 / 27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3.7–3.8 图像验证与诚信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图像 3D 验证法 &amp; 学术诚信核查清单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图像 3D 验证法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13716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Dimension 1 · 技术层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分辨率与清晰度达标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色彩模式（CMYK/RGB）正确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字体嵌入与可编辑性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328416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格式兼容性（投稿要求）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937760" cy="13716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9359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Dimension 2 · 内容层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959352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数据与正文一致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标注/图例完整准确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544568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统计信息标注规范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4837176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图像未篡改/无 AI 痕迹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4937760" cy="137160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02352"/>
            <a:ext cx="4572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Dimension 3 · 伦理层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468112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AI 生成声明透明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5760720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原始数据可获取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6053328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图像版权/许可合规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6345936"/>
            <a:ext cx="438912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• 不涉及伦理敏感内容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学术诚信核查清单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2011680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2011680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辅助范围声明已写入论文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487168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2487168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487168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所有引用已核实非 AI 虚构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2962656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962656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2962656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数据来源可追溯至原始采集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438144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3438144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3438144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未使用 AI 替代核心独立思考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913632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3913632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3913632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图像 AI 生成声明已标注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4389120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4389120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4389120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代码/算法 AI 辅助已注明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864608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4864608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4864608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已通过学术不端检测工具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5340096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5340096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5340096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导师已知情并同意 AI 使用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5815584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58000" y="5815584"/>
            <a:ext cx="4572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5815584"/>
            <a:ext cx="41148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保留完整协作日志备查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23 / 27</a:t>
            </a:r>
            <a:endParaRPr lang="en-US" sz="900" dirty="0"/>
          </a:p>
        </p:txBody>
      </p:sp>
      <p:sp>
        <p:nvSpPr>
          <p:cNvPr id="5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3.9 版本库架构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论文版本库三层架构设计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建立结构化的版本库，确保每轮 AI 协作的输入输出可追溯、可复盘、可复用。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1371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L1 · 工作层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当前活跃的论文草稿 | 最新 Prompt 模板 | 协作进行中的文件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📄 当前草稿.docx    📄 prompt_library.md    📄 active_session_log.xlsx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13" name="Text 11"/>
          <p:cNvSpPr/>
          <p:nvPr/>
        </p:nvSpPr>
        <p:spPr>
          <a:xfrm>
            <a:off x="731520" y="356616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L2 · 归档层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Archive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56616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已完成章节的各版本快照 | 历史 Prompt 记录 | 已关闭的协作对话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10515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📄 v1_intro_20260501.docx    📄 v2_intro_20260515.docx    📄 v3_intro_20260530.docx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5029200"/>
            <a:ext cx="54864" cy="13716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731520" y="512064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L3 · 反思层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5120640"/>
            <a:ext cx="1828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Reflection Vault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5120640"/>
            <a:ext cx="3657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元认知反思笔记 | 质量评估矩阵 | 导师反馈汇总 | 投稿版本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📄 meta_reflection_journal.md    📄 quality_assessment.xlsx    📄 advisor_feedback_log.docx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24 / 27</a:t>
            </a:r>
            <a:endParaRPr lang="en-US" sz="900" dirty="0"/>
          </a:p>
        </p:txBody>
      </p:sp>
      <p:sp>
        <p:nvSpPr>
          <p:cNvPr id="2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第三部分 · 小结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协作后：终审五步法 &amp; 核心要点回顾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论文终审五步法（FINAL 法）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121408"/>
            <a:ext cx="512064" cy="512064"/>
          </a:xfrm>
          <a:prstGeom prst="ellipse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27502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Fact-check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395728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核实所有引用、数据、人名、日期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990088"/>
            <a:ext cx="512064" cy="512064"/>
          </a:xfrm>
          <a:prstGeom prst="ellipse">
            <a:avLst/>
          </a:prstGeom>
          <a:solidFill>
            <a:srgbClr val="CA8A0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14370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953512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264408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检查学术诚信声明与 AI 标注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858768"/>
            <a:ext cx="512064" cy="512064"/>
          </a:xfrm>
          <a:prstGeom prst="ellipse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01238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822192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133088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检验全文叙事逻辑与章节衔接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4727448"/>
            <a:ext cx="512064" cy="512064"/>
          </a:xfrm>
          <a:prstGeom prst="ellipse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88106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4690872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Appearance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5001768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审核图表质量、格式、排版一致性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5596128"/>
            <a:ext cx="512064" cy="512064"/>
          </a:xfrm>
          <a:prstGeom prst="ellipse">
            <a:avLst/>
          </a:prstGeom>
          <a:solidFill>
            <a:srgbClr val="8B5C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749747"/>
            <a:ext cx="512064" cy="3072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5559552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Logic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5870448"/>
            <a:ext cx="393192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逐段验证推理链完整性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5577840" cy="484632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第三部分核心要点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92240" y="2011680"/>
            <a:ext cx="5029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084832"/>
            <a:ext cx="4572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084832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三层验证是底线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377440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自动验证 → 专家审读 → 自我反思，层层递进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834640"/>
            <a:ext cx="5029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907792"/>
            <a:ext cx="4572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907792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版本矩阵驱动迭代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3200400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多版本对比择优，记录完整的迭代日志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657600"/>
            <a:ext cx="5029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730752"/>
            <a:ext cx="4572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730752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元认知反思是分水岭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4023360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四问法区分"会用 AI"和"善用 AI"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480560"/>
            <a:ext cx="5029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4553712"/>
            <a:ext cx="4572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553712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诚信清单不可跳过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4846320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 项核查确保学术规范性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5303520"/>
            <a:ext cx="5029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5376672"/>
            <a:ext cx="4572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5376672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版本库是资产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0" y="5669280"/>
            <a:ext cx="42976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三层架构让协作成果可追溯、可复用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 / 27</a:t>
            </a:r>
            <a:endParaRPr lang="en-US" sz="900" dirty="0"/>
          </a:p>
        </p:txBody>
      </p:sp>
      <p:sp>
        <p:nvSpPr>
          <p:cNvPr id="5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全课程总结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全课程总结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一个核心公式，三个关键转变，五条黄金法则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6675120" cy="27432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7" name="Shape 5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9966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核心公式：高质量论文 = (独立思辨 + AI 增强) × 迭代深度 × 验证广度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三个关键转变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0515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转变一：从"AI 代写"到"AI 协作" — 你始终是论文的主编和最终责任人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10515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转变二：从"一次性提问"到"PAIRR 迭代" — 追问质量决定输出质量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69664"/>
            <a:ext cx="105156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转变三：从"信任 AI"到"验证 AI" — 所有 AI 输出都需经过三层验证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00600"/>
            <a:ext cx="1088136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8A0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五条黄金法则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10515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法则一：先冻结再协作 — 论点、结构、边界在 AI 介入前必须锚定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486400"/>
            <a:ext cx="10515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法则二：角色驱动对话 — 给 AI 分配明确角色，切换多视角追问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760720"/>
            <a:ext cx="10515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法则三：SCAMPER 激发创新 — 七维度追问为论文注入原创性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15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法则四：PAIRR 螺旋迭代 — 至少 3 轮循环，每轮都有可量化的改进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309360"/>
            <a:ext cx="105156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法则五：终审五步不妥协 — F-I-N-A-L 法确保终稿学术质量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26 / 27</a:t>
            </a:r>
            <a:endParaRPr lang="en-US" sz="900" dirty="0"/>
          </a:p>
        </p:txBody>
      </p:sp>
      <p:sp>
        <p:nvSpPr>
          <p:cNvPr id="2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感谢参与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0" y="2926080"/>
            <a:ext cx="3017520" cy="27432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5" name="Text 3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8A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人机协作提升论文写作质量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记住核心公式：(独立思辨 + AI 增强) × 迭代深度 × 验证广度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祝论文写作顺利！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27 / 27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TRAE 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8603</Words>
  <Application>WPS 演示</Application>
  <PresentationFormat>On-screen Show (16:9)</PresentationFormat>
  <Paragraphs>1307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Noto Sans SC</vt:lpstr>
      <vt:lpstr>Noto Sans SC</vt:lpstr>
      <vt:lpstr>Noto Serif SC</vt:lpstr>
      <vt:lpstr>Noto Serif SC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洪华龙</cp:lastModifiedBy>
  <cp:revision>2</cp:revision>
  <dcterms:created xsi:type="dcterms:W3CDTF">2026-06-04T02:37:00Z</dcterms:created>
  <dcterms:modified xsi:type="dcterms:W3CDTF">2026-06-04T16:17:24Z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63C332DF167A45BA9EF596FC1993FBD5_12</vt:lpwstr>
  </property>
  <property fmtid="{D5CDD505-2E9C-101B-9397-08002B2CF9AE}" pid="3" name="KSOProductBuildVer">
    <vt:lpwstr>2052-12.1.0.26375</vt:lpwstr>
  </property>
</Properties>
</file>