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362" r:id="rId4"/>
    <p:sldId id="363" r:id="rId6"/>
    <p:sldId id="364" r:id="rId7"/>
    <p:sldId id="365" r:id="rId8"/>
    <p:sldId id="373" r:id="rId9"/>
    <p:sldId id="366" r:id="rId10"/>
    <p:sldId id="367" r:id="rId11"/>
    <p:sldId id="368" r:id="rId12"/>
    <p:sldId id="369" r:id="rId13"/>
    <p:sldId id="374" r:id="rId14"/>
    <p:sldId id="370" r:id="rId15"/>
    <p:sldId id="378" r:id="rId16"/>
    <p:sldId id="379" r:id="rId17"/>
    <p:sldId id="380" r:id="rId18"/>
    <p:sldId id="375" r:id="rId19"/>
    <p:sldId id="376" r:id="rId20"/>
    <p:sldId id="377" r:id="rId21"/>
    <p:sldId id="381" r:id="rId22"/>
    <p:sldId id="361" r:id="rId23"/>
    <p:sldId id="385" r:id="rId24"/>
    <p:sldId id="358" r:id="rId25"/>
    <p:sldId id="359" r:id="rId26"/>
  </p:sldIdLst>
  <p:sldSz cx="9144000" cy="5143500" type="screen16x9"/>
  <p:notesSz cx="6858000" cy="9144000"/>
  <p:defaultTextStyle>
    <a:defPPr>
      <a:defRPr lang="zh-CN"/>
    </a:defPPr>
    <a:lvl1pPr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342900" indent="1143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685800" indent="2286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028700" indent="3429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371600" indent="457200" algn="l" defTabSz="685800" rtl="0" eaLnBrk="0" fontAlgn="base" hangingPunct="0">
      <a:spcBef>
        <a:spcPct val="0"/>
      </a:spcBef>
      <a:spcAft>
        <a:spcPct val="0"/>
      </a:spcAft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5465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534B"/>
    <a:srgbClr val="2D5A87"/>
    <a:srgbClr val="003366"/>
    <a:srgbClr val="4267AA"/>
    <a:srgbClr val="336699"/>
    <a:srgbClr val="DA1B0F"/>
    <a:srgbClr val="99CCFF"/>
    <a:srgbClr val="3333FF"/>
    <a:srgbClr val="DBD8D3"/>
    <a:srgbClr val="66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47" autoAdjust="0"/>
    <p:restoredTop sz="96190" autoAdjust="0"/>
  </p:normalViewPr>
  <p:slideViewPr>
    <p:cSldViewPr snapToGrid="0" showGuides="1">
      <p:cViewPr varScale="1">
        <p:scale>
          <a:sx n="142" d="100"/>
          <a:sy n="142" d="100"/>
        </p:scale>
        <p:origin x="192" y="528"/>
      </p:cViewPr>
      <p:guideLst>
        <p:guide orient="horz" pos="1620"/>
        <p:guide pos="5465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582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9363A-DD1A-4012-83AF-FC2E22181F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031C7-A97A-4B3D-B11F-B8701A7D07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zh-CN" sz="180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D5453E-FA29-4983-BB1A-134220AE04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1098551"/>
            <a:ext cx="9144000" cy="2946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/>
          <p:cNvSpPr/>
          <p:nvPr userDrawn="1"/>
        </p:nvSpPr>
        <p:spPr>
          <a:xfrm>
            <a:off x="0" y="4044951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2971" y="937107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4C9762AD-AB39-4F90-B5A3-76A0F113E8E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03F4AEE4-9907-42BE-AF39-F8A11E07634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5"/>
          <p:cNvGrpSpPr/>
          <p:nvPr userDrawn="1"/>
        </p:nvGrpSpPr>
        <p:grpSpPr bwMode="auto">
          <a:xfrm>
            <a:off x="-2513013" y="469900"/>
            <a:ext cx="10545763" cy="4999038"/>
            <a:chOff x="-1751642" y="440640"/>
            <a:chExt cx="10547023" cy="4999441"/>
          </a:xfrm>
        </p:grpSpPr>
        <p:sp>
          <p:nvSpPr>
            <p:cNvPr id="3" name="空心弧 2"/>
            <p:cNvSpPr/>
            <p:nvPr userDrawn="1"/>
          </p:nvSpPr>
          <p:spPr>
            <a:xfrm>
              <a:off x="-1751642" y="440640"/>
              <a:ext cx="4999635" cy="4999441"/>
            </a:xfrm>
            <a:prstGeom prst="blockArc">
              <a:avLst>
                <a:gd name="adj1" fmla="val 18900000"/>
                <a:gd name="adj2" fmla="val 2700000"/>
                <a:gd name="adj3" fmla="val 432"/>
              </a:avLst>
            </a:prstGeom>
            <a:solidFill>
              <a:srgbClr val="336699"/>
            </a:solidFill>
            <a:ln>
              <a:noFill/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" name="任意多边形 3"/>
            <p:cNvSpPr/>
            <p:nvPr userDrawn="1"/>
          </p:nvSpPr>
          <p:spPr>
            <a:xfrm>
              <a:off x="2865361" y="1369403"/>
              <a:ext cx="5930020" cy="571546"/>
            </a:xfrm>
            <a:custGeom>
              <a:avLst/>
              <a:gdLst>
                <a:gd name="connsiteX0" fmla="*/ 0 w 5930145"/>
                <a:gd name="connsiteY0" fmla="*/ 0 h 571021"/>
                <a:gd name="connsiteX1" fmla="*/ 5930145 w 5930145"/>
                <a:gd name="connsiteY1" fmla="*/ 0 h 571021"/>
                <a:gd name="connsiteX2" fmla="*/ 5930145 w 5930145"/>
                <a:gd name="connsiteY2" fmla="*/ 571021 h 571021"/>
                <a:gd name="connsiteX3" fmla="*/ 0 w 5930145"/>
                <a:gd name="connsiteY3" fmla="*/ 571021 h 571021"/>
                <a:gd name="connsiteX4" fmla="*/ 0 w 5930145"/>
                <a:gd name="connsiteY4" fmla="*/ 0 h 57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0145" h="571021">
                  <a:moveTo>
                    <a:pt x="0" y="0"/>
                  </a:moveTo>
                  <a:lnTo>
                    <a:pt x="5930145" y="0"/>
                  </a:lnTo>
                  <a:lnTo>
                    <a:pt x="5930145" y="571021"/>
                  </a:lnTo>
                  <a:lnTo>
                    <a:pt x="0" y="571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453248" tIns="40640" rIns="40640" bIns="40640" spcCol="1270" anchor="ctr"/>
            <a:lstStyle/>
            <a:p>
              <a:pPr defTabSz="7112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/>
            </a:p>
          </p:txBody>
        </p:sp>
        <p:sp>
          <p:nvSpPr>
            <p:cNvPr id="5" name="椭圆 4"/>
            <p:cNvSpPr/>
            <p:nvPr userDrawn="1"/>
          </p:nvSpPr>
          <p:spPr>
            <a:xfrm>
              <a:off x="2508130" y="1297959"/>
              <a:ext cx="714460" cy="714433"/>
            </a:xfrm>
            <a:prstGeom prst="ellipse">
              <a:avLst/>
            </a:prstGeom>
            <a:ln>
              <a:solidFill>
                <a:srgbClr val="336699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>
                  <a:solidFill>
                    <a:srgbClr val="336699"/>
                  </a:solidFill>
                </a:rPr>
                <a:t>01</a:t>
              </a:r>
              <a:endParaRPr lang="zh-CN" altLang="en-US" sz="2400">
                <a:solidFill>
                  <a:srgbClr val="336699"/>
                </a:solidFill>
              </a:endParaRPr>
            </a:p>
          </p:txBody>
        </p:sp>
        <p:sp>
          <p:nvSpPr>
            <p:cNvPr id="6" name="任意多边形 5"/>
            <p:cNvSpPr/>
            <p:nvPr userDrawn="1"/>
          </p:nvSpPr>
          <p:spPr>
            <a:xfrm>
              <a:off x="3192425" y="2226722"/>
              <a:ext cx="5602956" cy="571546"/>
            </a:xfrm>
            <a:custGeom>
              <a:avLst/>
              <a:gdLst>
                <a:gd name="connsiteX0" fmla="*/ 0 w 5602765"/>
                <a:gd name="connsiteY0" fmla="*/ 0 h 571021"/>
                <a:gd name="connsiteX1" fmla="*/ 5602765 w 5602765"/>
                <a:gd name="connsiteY1" fmla="*/ 0 h 571021"/>
                <a:gd name="connsiteX2" fmla="*/ 5602765 w 5602765"/>
                <a:gd name="connsiteY2" fmla="*/ 571021 h 571021"/>
                <a:gd name="connsiteX3" fmla="*/ 0 w 5602765"/>
                <a:gd name="connsiteY3" fmla="*/ 571021 h 571021"/>
                <a:gd name="connsiteX4" fmla="*/ 0 w 5602765"/>
                <a:gd name="connsiteY4" fmla="*/ 0 h 57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2765" h="571021">
                  <a:moveTo>
                    <a:pt x="0" y="0"/>
                  </a:moveTo>
                  <a:lnTo>
                    <a:pt x="5602765" y="0"/>
                  </a:lnTo>
                  <a:lnTo>
                    <a:pt x="5602765" y="571021"/>
                  </a:lnTo>
                  <a:lnTo>
                    <a:pt x="0" y="571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453248" tIns="40640" rIns="40640" bIns="40640"/>
            <a:lstStyle>
              <a:lvl1pPr defTabSz="7112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114300" indent="-114300" defTabSz="7112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defTabSz="7112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defTabSz="7112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defTabSz="711200"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7112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7112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7112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7112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>
                <a:solidFill>
                  <a:srgbClr val="FFFFFF"/>
                </a:solidFill>
              </a:endParaRPr>
            </a:p>
            <a:p>
              <a:pPr lvl="1" eaLnBrk="1" hangingPunct="1">
                <a:lnSpc>
                  <a:spcPct val="90000"/>
                </a:lnSpc>
                <a:spcAft>
                  <a:spcPct val="15000"/>
                </a:spcAft>
                <a:buFontTx/>
                <a:buChar char="•"/>
                <a:defRPr/>
              </a:pPr>
              <a:endParaRPr lang="zh-CN" altLang="en-US" sz="1200">
                <a:solidFill>
                  <a:srgbClr val="FFFFFF"/>
                </a:solidFill>
              </a:endParaRPr>
            </a:p>
          </p:txBody>
        </p:sp>
        <p:sp>
          <p:nvSpPr>
            <p:cNvPr id="7" name="椭圆 6"/>
            <p:cNvSpPr/>
            <p:nvPr userDrawn="1"/>
          </p:nvSpPr>
          <p:spPr>
            <a:xfrm>
              <a:off x="2835194" y="2155278"/>
              <a:ext cx="714460" cy="712845"/>
            </a:xfrm>
            <a:prstGeom prst="ellipse">
              <a:avLst/>
            </a:prstGeom>
            <a:ln>
              <a:solidFill>
                <a:srgbClr val="336699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>
                  <a:solidFill>
                    <a:srgbClr val="336699"/>
                  </a:solidFill>
                </a:rPr>
                <a:t>02</a:t>
              </a:r>
              <a:endParaRPr lang="zh-CN" altLang="en-US" sz="2400">
                <a:solidFill>
                  <a:srgbClr val="336699"/>
                </a:solidFill>
              </a:endParaRPr>
            </a:p>
          </p:txBody>
        </p:sp>
        <p:sp>
          <p:nvSpPr>
            <p:cNvPr id="8" name="任意多边形 7"/>
            <p:cNvSpPr/>
            <p:nvPr userDrawn="1"/>
          </p:nvSpPr>
          <p:spPr>
            <a:xfrm>
              <a:off x="3192425" y="3082453"/>
              <a:ext cx="5602956" cy="571546"/>
            </a:xfrm>
            <a:custGeom>
              <a:avLst/>
              <a:gdLst>
                <a:gd name="connsiteX0" fmla="*/ 0 w 5602765"/>
                <a:gd name="connsiteY0" fmla="*/ 0 h 571021"/>
                <a:gd name="connsiteX1" fmla="*/ 5602765 w 5602765"/>
                <a:gd name="connsiteY1" fmla="*/ 0 h 571021"/>
                <a:gd name="connsiteX2" fmla="*/ 5602765 w 5602765"/>
                <a:gd name="connsiteY2" fmla="*/ 571021 h 571021"/>
                <a:gd name="connsiteX3" fmla="*/ 0 w 5602765"/>
                <a:gd name="connsiteY3" fmla="*/ 571021 h 571021"/>
                <a:gd name="connsiteX4" fmla="*/ 0 w 5602765"/>
                <a:gd name="connsiteY4" fmla="*/ 0 h 57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2765" h="571021">
                  <a:moveTo>
                    <a:pt x="0" y="0"/>
                  </a:moveTo>
                  <a:lnTo>
                    <a:pt x="5602765" y="0"/>
                  </a:lnTo>
                  <a:lnTo>
                    <a:pt x="5602765" y="571021"/>
                  </a:lnTo>
                  <a:lnTo>
                    <a:pt x="0" y="571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453248" tIns="40640" rIns="40640" bIns="40640" spcCol="1270" anchor="ctr"/>
            <a:lstStyle/>
            <a:p>
              <a:pPr defTabSz="7112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/>
            </a:p>
          </p:txBody>
        </p:sp>
        <p:sp>
          <p:nvSpPr>
            <p:cNvPr id="9" name="椭圆 8"/>
            <p:cNvSpPr/>
            <p:nvPr userDrawn="1"/>
          </p:nvSpPr>
          <p:spPr>
            <a:xfrm>
              <a:off x="2835194" y="3012597"/>
              <a:ext cx="714460" cy="7128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36699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>
                  <a:solidFill>
                    <a:srgbClr val="336699"/>
                  </a:solidFill>
                </a:rPr>
                <a:t>03</a:t>
              </a:r>
              <a:endParaRPr lang="zh-CN" altLang="en-US" sz="2400">
                <a:solidFill>
                  <a:srgbClr val="336699"/>
                </a:solidFill>
              </a:endParaRPr>
            </a:p>
          </p:txBody>
        </p:sp>
        <p:sp>
          <p:nvSpPr>
            <p:cNvPr id="10" name="任意多边形 9"/>
            <p:cNvSpPr/>
            <p:nvPr userDrawn="1"/>
          </p:nvSpPr>
          <p:spPr>
            <a:xfrm>
              <a:off x="2865361" y="3939772"/>
              <a:ext cx="5930020" cy="571546"/>
            </a:xfrm>
            <a:custGeom>
              <a:avLst/>
              <a:gdLst>
                <a:gd name="connsiteX0" fmla="*/ 0 w 5930145"/>
                <a:gd name="connsiteY0" fmla="*/ 0 h 571021"/>
                <a:gd name="connsiteX1" fmla="*/ 5930145 w 5930145"/>
                <a:gd name="connsiteY1" fmla="*/ 0 h 571021"/>
                <a:gd name="connsiteX2" fmla="*/ 5930145 w 5930145"/>
                <a:gd name="connsiteY2" fmla="*/ 571021 h 571021"/>
                <a:gd name="connsiteX3" fmla="*/ 0 w 5930145"/>
                <a:gd name="connsiteY3" fmla="*/ 571021 h 571021"/>
                <a:gd name="connsiteX4" fmla="*/ 0 w 5930145"/>
                <a:gd name="connsiteY4" fmla="*/ 0 h 57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30145" h="571021">
                  <a:moveTo>
                    <a:pt x="0" y="0"/>
                  </a:moveTo>
                  <a:lnTo>
                    <a:pt x="5930145" y="0"/>
                  </a:lnTo>
                  <a:lnTo>
                    <a:pt x="5930145" y="571021"/>
                  </a:lnTo>
                  <a:lnTo>
                    <a:pt x="0" y="571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453248" tIns="40640" rIns="40640" bIns="40640" spcCol="1270" anchor="ctr"/>
            <a:lstStyle/>
            <a:p>
              <a:pPr defTabSz="7112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1600"/>
            </a:p>
          </p:txBody>
        </p:sp>
        <p:sp>
          <p:nvSpPr>
            <p:cNvPr id="11" name="椭圆 10"/>
            <p:cNvSpPr/>
            <p:nvPr userDrawn="1"/>
          </p:nvSpPr>
          <p:spPr>
            <a:xfrm>
              <a:off x="2508130" y="3868329"/>
              <a:ext cx="714460" cy="714433"/>
            </a:xfrm>
            <a:prstGeom prst="ellipse">
              <a:avLst/>
            </a:prstGeom>
            <a:ln>
              <a:solidFill>
                <a:srgbClr val="336699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>
                  <a:solidFill>
                    <a:srgbClr val="336699"/>
                  </a:solidFill>
                </a:rPr>
                <a:t>04</a:t>
              </a:r>
              <a:endParaRPr lang="zh-CN" altLang="en-US" sz="2400">
                <a:solidFill>
                  <a:srgbClr val="336699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5"/>
          <p:cNvGrpSpPr/>
          <p:nvPr userDrawn="1"/>
        </p:nvGrpSpPr>
        <p:grpSpPr bwMode="auto">
          <a:xfrm>
            <a:off x="0" y="1701800"/>
            <a:ext cx="9144000" cy="1809750"/>
            <a:chOff x="0" y="1701874"/>
            <a:chExt cx="9144000" cy="1809829"/>
          </a:xfrm>
        </p:grpSpPr>
        <p:sp>
          <p:nvSpPr>
            <p:cNvPr id="3" name="矩形 2"/>
            <p:cNvSpPr/>
            <p:nvPr/>
          </p:nvSpPr>
          <p:spPr>
            <a:xfrm>
              <a:off x="0" y="1701874"/>
              <a:ext cx="9144000" cy="1739976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3441850"/>
              <a:ext cx="9144000" cy="69853"/>
            </a:xfrm>
            <a:prstGeom prst="rect">
              <a:avLst/>
            </a:prstGeom>
            <a:solidFill>
              <a:srgbClr val="2D5A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869950"/>
            <a:ext cx="2838450" cy="427355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0" y="930567"/>
            <a:ext cx="9144000" cy="1262062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矩形 2"/>
          <p:cNvSpPr/>
          <p:nvPr userDrawn="1"/>
        </p:nvSpPr>
        <p:spPr bwMode="auto">
          <a:xfrm>
            <a:off x="0" y="3372566"/>
            <a:ext cx="9144000" cy="1262063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AC3A4B4D-33A1-4C80-B013-98475DDC9B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77599EDD-0A88-4F29-B3BE-F3A48FFBE06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AEFED23E-A4B0-483B-A849-4F61EA84E7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EE522484-1A64-4E03-85FE-F229FA3F83B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E3339408-D5F5-4B26-8536-6C1E1F2698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D6C4EE28-B736-43EE-B75A-16FE3E6CF9B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29DAFFA7-E325-45BF-846C-525513226E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63FA0F33-E305-43F8-B5CA-13E66C618AE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5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1835EDB2-2AEE-44C3-8017-F52A0E93F2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1349CD05-9FFD-4C42-AD5F-C5D7C6C2117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6"/>
          <p:cNvSpPr/>
          <p:nvPr userDrawn="1"/>
        </p:nvSpPr>
        <p:spPr>
          <a:xfrm>
            <a:off x="581" y="0"/>
            <a:ext cx="9142838" cy="3649851"/>
          </a:xfrm>
          <a:prstGeom prst="rect">
            <a:avLst/>
          </a:prstGeom>
          <a:solidFill>
            <a:srgbClr val="003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793641" y="2650113"/>
            <a:ext cx="7071011" cy="7775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zh-CN" altLang="en-US" sz="4945" b="0" cap="none" spc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 sz="4945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架构强而有力的组织</a:t>
            </a:r>
            <a:endParaRPr lang="zh-CN" altLang="en-US" sz="4945" b="1" dirty="0"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847527" y="3808815"/>
            <a:ext cx="3778267" cy="279179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lang="zh-CN" altLang="en-US" sz="1350" dirty="0">
                <a:solidFill>
                  <a:srgbClr val="D51A2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经典繁仿黑" pitchFamily="49" charset="-122"/>
              </a:defRPr>
            </a:lvl1pPr>
          </a:lstStyle>
          <a:p>
            <a:pPr marL="0" lvl="0"/>
            <a:r>
              <a:rPr lang="zh-CN" altLang="en-US" sz="1350" dirty="0">
                <a:solidFill>
                  <a:srgbClr val="D51A2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经典繁仿黑" pitchFamily="49" charset="-122"/>
              </a:rPr>
              <a:t>管理案例分析第四章：组织结构设计</a:t>
            </a:r>
            <a:endParaRPr lang="zh-CN" altLang="en-US" sz="1350" dirty="0">
              <a:solidFill>
                <a:srgbClr val="D51A2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经典繁仿黑" pitchFamily="49" charset="-122"/>
            </a:endParaRPr>
          </a:p>
        </p:txBody>
      </p:sp>
      <p:sp>
        <p:nvSpPr>
          <p:cNvPr id="11" name="Designed by @Larrywang"/>
          <p:cNvSpPr>
            <a:spLocks noGrp="1"/>
          </p:cNvSpPr>
          <p:nvPr>
            <p:ph type="body" sz="quarter" idx="12" hasCustomPrompt="1"/>
          </p:nvPr>
        </p:nvSpPr>
        <p:spPr>
          <a:xfrm>
            <a:off x="847712" y="4097789"/>
            <a:ext cx="3778267" cy="258404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 algn="l" eaLnBrk="1" hangingPunct="1">
              <a:buNone/>
              <a:defRPr lang="zh-CN" altLang="en-US" sz="1350" dirty="0">
                <a:solidFill>
                  <a:srgbClr val="D51A2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经典繁仿黑" pitchFamily="49" charset="-122"/>
              </a:defRPr>
            </a:lvl1pPr>
          </a:lstStyle>
          <a:p>
            <a:pPr algn="l" eaLnBrk="1" hangingPunct="1"/>
            <a:r>
              <a:rPr lang="en-US" altLang="zh-CN" sz="1200" dirty="0">
                <a:solidFill>
                  <a:srgbClr val="71969F"/>
                </a:solidFill>
                <a:effectLst/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Designed by @Larrywang</a:t>
            </a:r>
            <a:endParaRPr lang="zh-CN" altLang="en-US" sz="1200" dirty="0">
              <a:solidFill>
                <a:srgbClr val="71969F"/>
              </a:solidFill>
              <a:effectLst/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88F5FBAD-5FC6-44DD-990B-BD675FDEEA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DC8B15A7-C29B-437D-AB10-03C42B694F0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951805FD-E759-44DE-ABC3-14CAB6ABF7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5CBC79BC-ED85-45BC-AF1C-8CAB95227ED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1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1701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B78F732A-01E7-44EB-9C96-C96F4AF12A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45058CBA-B7DF-4FF2-B2D2-5766789736D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B6811B8B-5893-445C-AE76-8097E1393E9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19211D7E-B1BF-425D-B3A5-5BABFA13D2B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9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9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350DCC15-B61D-4B26-AD7E-FFF7EF2BFE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0E6190B4-376E-413A-BDB2-340319350C8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2A43C47F-EAF9-4061-9C35-33E43CE700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2A00F705-E82F-4DB8-B148-CE97CE4D715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3DFE2D34-4711-450A-A5C2-9C380F38D1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402B2DDD-AE2E-41F3-9864-CD7BCFBB7AF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741364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40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77F7846B-A66A-4A8D-9EA2-202CC63D635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7A372713-7717-4B7E-AC0E-189A12EE0B3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4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40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3E3A1C60-081A-4782-AFDE-2638B7D578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7EAABE0E-D9E3-44E4-9886-4200E4770CF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BC38E5EF-F5A0-4E34-8156-18AE7D9D00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560CB831-492F-4352-BAE9-6B043EB2DBF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274639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2" y="274639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fld id="{38B0399A-0483-4004-A5AF-94DFE7455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fld id="{81ED4C27-E739-49DD-A763-3367FF51ED8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0" y="604189"/>
            <a:ext cx="9144000" cy="0"/>
          </a:xfrm>
          <a:prstGeom prst="line">
            <a:avLst/>
          </a:prstGeom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xmu-zi-jiageng.jpg"/>
          <p:cNvPicPr>
            <a:picLocks noChangeAspect="1"/>
          </p:cNvPicPr>
          <p:nvPr userDrawn="1"/>
        </p:nvPicPr>
        <p:blipFill>
          <a:blip r:embed="rId13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59127" y="143758"/>
            <a:ext cx="1240759" cy="339199"/>
          </a:xfrm>
          <a:prstGeom prst="rect">
            <a:avLst/>
          </a:prstGeom>
        </p:spPr>
      </p:pic>
      <p:pic>
        <p:nvPicPr>
          <p:cNvPr id="1030" name="Picture 6" descr="D:\课程教学\教学材料\厦大图片\5eeddbbacaeb52502830b16d5ecc9097.jpg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181492" y="4528338"/>
            <a:ext cx="1640432" cy="61516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36495" y="1879613"/>
            <a:ext cx="7071011" cy="839845"/>
          </a:xfrm>
        </p:spPr>
        <p:txBody>
          <a:bodyPr/>
          <a:lstStyle/>
          <a:p>
            <a:pPr lvl="0" algn="ctr"/>
            <a:r>
              <a:rPr lang="zh-CN" altLang="en-US" sz="5395" dirty="0">
                <a:latin typeface="华文中宋" panose="02010600040101010101" pitchFamily="2" charset="-122"/>
                <a:ea typeface="华文中宋" panose="02010600040101010101" pitchFamily="2" charset="-122"/>
              </a:rPr>
              <a:t>选择合适的研究话题</a:t>
            </a:r>
            <a:endParaRPr lang="zh-CN" altLang="en-US" sz="5395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47" y="88767"/>
            <a:ext cx="2170758" cy="670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solidFill>
                <a:srgbClr val="0070C0"/>
              </a:solidFill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2302201" y="934932"/>
            <a:ext cx="1102995" cy="183611"/>
          </a:xfrm>
          <a:prstGeom prst="parallelogram">
            <a:avLst>
              <a:gd name="adj" fmla="val 61120"/>
            </a:avLst>
          </a:prstGeom>
          <a:gradFill>
            <a:gsLst>
              <a:gs pos="0">
                <a:schemeClr val="accent1">
                  <a:alpha val="60000"/>
                </a:schemeClr>
              </a:gs>
              <a:gs pos="89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6" name="标题 1"/>
          <p:cNvSpPr txBox="1"/>
          <p:nvPr/>
        </p:nvSpPr>
        <p:spPr>
          <a:xfrm>
            <a:off x="2861148" y="801488"/>
            <a:ext cx="1841500" cy="4489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b="1" dirty="0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01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7" name="标题 1"/>
          <p:cNvSpPr txBox="1"/>
          <p:nvPr/>
        </p:nvSpPr>
        <p:spPr>
          <a:xfrm>
            <a:off x="3964143" y="815460"/>
            <a:ext cx="4059888" cy="6890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 b="1" dirty="0" err="1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选题的重要性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2" name="标题 1"/>
          <p:cNvSpPr txBox="1"/>
          <p:nvPr/>
        </p:nvSpPr>
        <p:spPr>
          <a:xfrm>
            <a:off x="179672" y="879919"/>
            <a:ext cx="799346" cy="79934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54000" dist="1016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264832" y="1108286"/>
            <a:ext cx="629028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01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79672" y="2134599"/>
            <a:ext cx="799346" cy="799346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  <a:effectLst>
            <a:outerShdw blurRad="254000" dist="101600" dir="5400000" algn="t" rotWithShape="0">
              <a:schemeClr val="accent2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221792" y="2362966"/>
            <a:ext cx="715106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02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79672" y="3387688"/>
            <a:ext cx="799346" cy="79934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54000" dist="1016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221792" y="3616055"/>
            <a:ext cx="715106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03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 rot="5400000">
            <a:off x="979017" y="1023358"/>
            <a:ext cx="512468" cy="512468"/>
          </a:xfrm>
          <a:prstGeom prst="blockArc">
            <a:avLst>
              <a:gd name="adj1" fmla="val 10800000"/>
              <a:gd name="adj2" fmla="val 194251"/>
              <a:gd name="adj3" fmla="val 15161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1685133" y="879919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选题影响研究深度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3947188" y="752691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选题宽泛易泛泛而谈，如“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社交媒体影响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”，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难以深入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精准选题如“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短视频对大学生注意力影响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”，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聚焦明确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2" name="标题 1"/>
          <p:cNvSpPr txBox="1"/>
          <p:nvPr/>
        </p:nvSpPr>
        <p:spPr>
          <a:xfrm rot="5400000">
            <a:off x="979017" y="2278039"/>
            <a:ext cx="512468" cy="512468"/>
          </a:xfrm>
          <a:prstGeom prst="blockArc">
            <a:avLst>
              <a:gd name="adj1" fmla="val 10800000"/>
              <a:gd name="adj2" fmla="val 194251"/>
              <a:gd name="adj3" fmla="val 15161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1685134" y="2134599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选题影响写作效率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标题 1"/>
          <p:cNvSpPr txBox="1"/>
          <p:nvPr/>
        </p:nvSpPr>
        <p:spPr>
          <a:xfrm rot="5400000">
            <a:off x="979017" y="3531128"/>
            <a:ext cx="512468" cy="512468"/>
          </a:xfrm>
          <a:prstGeom prst="blockArc">
            <a:avLst>
              <a:gd name="adj1" fmla="val 10800000"/>
              <a:gd name="adj2" fmla="val 194251"/>
              <a:gd name="adj3" fmla="val 15161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1685133" y="3387688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选题影响成果价值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3947188" y="2007371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选题模糊，写作时易偏离主题，浪费时间精力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明确选题可快速确定写作框架，提高效率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3947188" y="3260460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有价值的选题能填补学术空白或回应争议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平庸选题难以吸引关注，降低学术影响力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3511089" y="1192909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9" name="标题 1"/>
          <p:cNvSpPr txBox="1"/>
          <p:nvPr/>
        </p:nvSpPr>
        <p:spPr>
          <a:xfrm>
            <a:off x="3511089" y="2447590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3511089" y="3700679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2" name="标题 1"/>
          <p:cNvSpPr txBox="1"/>
          <p:nvPr>
            <p:custDataLst>
              <p:tags r:id="rId1"/>
            </p:custDataLst>
          </p:nvPr>
        </p:nvSpPr>
        <p:spPr>
          <a:xfrm>
            <a:off x="179672" y="880693"/>
            <a:ext cx="799346" cy="79934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54000" dist="1016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" name="标题 1"/>
          <p:cNvSpPr txBox="1"/>
          <p:nvPr>
            <p:custDataLst>
              <p:tags r:id="rId2"/>
            </p:custDataLst>
          </p:nvPr>
        </p:nvSpPr>
        <p:spPr>
          <a:xfrm>
            <a:off x="264832" y="1109060"/>
            <a:ext cx="629028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01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4" name="标题 1"/>
          <p:cNvSpPr txBox="1"/>
          <p:nvPr>
            <p:custDataLst>
              <p:tags r:id="rId3"/>
            </p:custDataLst>
          </p:nvPr>
        </p:nvSpPr>
        <p:spPr>
          <a:xfrm>
            <a:off x="179672" y="2135373"/>
            <a:ext cx="799346" cy="799346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  <a:effectLst>
            <a:outerShdw blurRad="254000" dist="101600" dir="5400000" algn="t" rotWithShape="0">
              <a:schemeClr val="accent2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7" name="标题 1"/>
          <p:cNvSpPr txBox="1"/>
          <p:nvPr>
            <p:custDataLst>
              <p:tags r:id="rId4"/>
            </p:custDataLst>
          </p:nvPr>
        </p:nvSpPr>
        <p:spPr>
          <a:xfrm>
            <a:off x="221792" y="2363740"/>
            <a:ext cx="715106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02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8" name="标题 1"/>
          <p:cNvSpPr txBox="1"/>
          <p:nvPr>
            <p:custDataLst>
              <p:tags r:id="rId5"/>
            </p:custDataLst>
          </p:nvPr>
        </p:nvSpPr>
        <p:spPr>
          <a:xfrm>
            <a:off x="179672" y="3388462"/>
            <a:ext cx="799346" cy="79934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54000" dist="1016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0" name="标题 1"/>
          <p:cNvSpPr txBox="1"/>
          <p:nvPr>
            <p:custDataLst>
              <p:tags r:id="rId6"/>
            </p:custDataLst>
          </p:nvPr>
        </p:nvSpPr>
        <p:spPr>
          <a:xfrm>
            <a:off x="221792" y="3616829"/>
            <a:ext cx="715106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03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1" name="标题 1"/>
          <p:cNvSpPr txBox="1"/>
          <p:nvPr>
            <p:custDataLst>
              <p:tags r:id="rId7"/>
            </p:custDataLst>
          </p:nvPr>
        </p:nvSpPr>
        <p:spPr>
          <a:xfrm rot="5400000">
            <a:off x="979017" y="1024132"/>
            <a:ext cx="512468" cy="512468"/>
          </a:xfrm>
          <a:prstGeom prst="blockArc">
            <a:avLst>
              <a:gd name="adj1" fmla="val 10800000"/>
              <a:gd name="adj2" fmla="val 194251"/>
              <a:gd name="adj3" fmla="val 15161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2" name="标题 1"/>
          <p:cNvSpPr txBox="1"/>
          <p:nvPr>
            <p:custDataLst>
              <p:tags r:id="rId8"/>
            </p:custDataLst>
          </p:nvPr>
        </p:nvSpPr>
        <p:spPr>
          <a:xfrm>
            <a:off x="1685133" y="880693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选题宽泛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3406588" y="717037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选题过大，难以深入研究，如“科技对教育的影响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”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缺乏聚焦，难以在有限篇幅内说清问题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4" name="标题 1"/>
          <p:cNvSpPr txBox="1"/>
          <p:nvPr>
            <p:custDataLst>
              <p:tags r:id="rId9"/>
            </p:custDataLst>
          </p:nvPr>
        </p:nvSpPr>
        <p:spPr>
          <a:xfrm rot="5400000">
            <a:off x="979017" y="2278813"/>
            <a:ext cx="512468" cy="512468"/>
          </a:xfrm>
          <a:prstGeom prst="blockArc">
            <a:avLst>
              <a:gd name="adj1" fmla="val 10800000"/>
              <a:gd name="adj2" fmla="val 194251"/>
              <a:gd name="adj3" fmla="val 15161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5" name="标题 1"/>
          <p:cNvSpPr txBox="1"/>
          <p:nvPr>
            <p:custDataLst>
              <p:tags r:id="rId10"/>
            </p:custDataLst>
          </p:nvPr>
        </p:nvSpPr>
        <p:spPr>
          <a:xfrm>
            <a:off x="1685134" y="2135373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选题模糊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标题 1"/>
          <p:cNvSpPr txBox="1"/>
          <p:nvPr>
            <p:custDataLst>
              <p:tags r:id="rId11"/>
            </p:custDataLst>
          </p:nvPr>
        </p:nvSpPr>
        <p:spPr>
          <a:xfrm rot="5400000">
            <a:off x="979017" y="3531902"/>
            <a:ext cx="512468" cy="512468"/>
          </a:xfrm>
          <a:prstGeom prst="blockArc">
            <a:avLst>
              <a:gd name="adj1" fmla="val 10800000"/>
              <a:gd name="adj2" fmla="val 194251"/>
              <a:gd name="adj3" fmla="val 15161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7" name="标题 1"/>
          <p:cNvSpPr txBox="1"/>
          <p:nvPr>
            <p:custDataLst>
              <p:tags r:id="rId12"/>
            </p:custDataLst>
          </p:nvPr>
        </p:nvSpPr>
        <p:spPr>
          <a:xfrm>
            <a:off x="1685133" y="3388462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选题不可操作</a:t>
            </a:r>
            <a:endParaRPr kumimoji="1"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3406588" y="1971717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选题表述笼统，缺乏明确界定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读者难以理解研究具体范围和重点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9" name="标题 1"/>
          <p:cNvSpPr txBox="1"/>
          <p:nvPr/>
        </p:nvSpPr>
        <p:spPr>
          <a:xfrm>
            <a:off x="3406588" y="3224806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选题超出研究能力范围，如“中国农村教育不平等问题的历史与现状分析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” 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缺乏数据或资源支持，难以开展研究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0" name="标题 1"/>
          <p:cNvSpPr txBox="1"/>
          <p:nvPr>
            <p:custDataLst>
              <p:tags r:id="rId13"/>
            </p:custDataLst>
          </p:nvPr>
        </p:nvSpPr>
        <p:spPr>
          <a:xfrm>
            <a:off x="2970489" y="1157255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1" name="标题 1"/>
          <p:cNvSpPr txBox="1"/>
          <p:nvPr>
            <p:custDataLst>
              <p:tags r:id="rId14"/>
            </p:custDataLst>
          </p:nvPr>
        </p:nvSpPr>
        <p:spPr>
          <a:xfrm>
            <a:off x="2970489" y="2411936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2" name="标题 1"/>
          <p:cNvSpPr txBox="1"/>
          <p:nvPr>
            <p:custDataLst>
              <p:tags r:id="rId15"/>
            </p:custDataLst>
          </p:nvPr>
        </p:nvSpPr>
        <p:spPr>
          <a:xfrm>
            <a:off x="2970489" y="3665025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solidFill>
                <a:srgbClr val="0070C0"/>
              </a:solidFill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2302201" y="934932"/>
            <a:ext cx="1102995" cy="183611"/>
          </a:xfrm>
          <a:prstGeom prst="parallelogram">
            <a:avLst>
              <a:gd name="adj" fmla="val 61120"/>
            </a:avLst>
          </a:prstGeom>
          <a:gradFill>
            <a:gsLst>
              <a:gs pos="0">
                <a:schemeClr val="accent1">
                  <a:alpha val="60000"/>
                </a:schemeClr>
              </a:gs>
              <a:gs pos="89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6" name="标题 1"/>
          <p:cNvSpPr txBox="1"/>
          <p:nvPr/>
        </p:nvSpPr>
        <p:spPr>
          <a:xfrm>
            <a:off x="2861148" y="801488"/>
            <a:ext cx="1841500" cy="4489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b="1" dirty="0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01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7" name="标题 1"/>
          <p:cNvSpPr txBox="1"/>
          <p:nvPr/>
        </p:nvSpPr>
        <p:spPr>
          <a:xfrm>
            <a:off x="3964143" y="815460"/>
            <a:ext cx="4059888" cy="6890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 b="1" dirty="0" err="1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选题的重要性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8" name="标题 1"/>
          <p:cNvSpPr txBox="1"/>
          <p:nvPr/>
        </p:nvSpPr>
        <p:spPr>
          <a:xfrm>
            <a:off x="2302201" y="1688748"/>
            <a:ext cx="1102995" cy="183611"/>
          </a:xfrm>
          <a:prstGeom prst="parallelogram">
            <a:avLst>
              <a:gd name="adj" fmla="val 61120"/>
            </a:avLst>
          </a:prstGeom>
          <a:gradFill>
            <a:gsLst>
              <a:gs pos="0">
                <a:schemeClr val="accent1">
                  <a:alpha val="60000"/>
                </a:schemeClr>
              </a:gs>
              <a:gs pos="89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2861148" y="1555304"/>
            <a:ext cx="1841500" cy="4489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b="1" dirty="0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02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0" name="标题 1"/>
          <p:cNvSpPr txBox="1"/>
          <p:nvPr/>
        </p:nvSpPr>
        <p:spPr>
          <a:xfrm>
            <a:off x="3964141" y="1618725"/>
            <a:ext cx="4059890" cy="623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 b="1" dirty="0" err="1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选题的核心标准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2" name="标题 1"/>
          <p:cNvSpPr txBox="1"/>
          <p:nvPr/>
        </p:nvSpPr>
        <p:spPr>
          <a:xfrm>
            <a:off x="259339" y="609321"/>
            <a:ext cx="4544509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400" dirty="0" err="1">
                <a:ln w="12700">
                  <a:noFill/>
                </a:ln>
                <a:solidFill>
                  <a:srgbClr val="38A1DD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 CN Bold"/>
              </a:rPr>
              <a:t>学术价值：填补空白或回应争议</a:t>
            </a:r>
            <a:endParaRPr kumimoji="1" lang="zh-CN" altLang="en-US" sz="2400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269539" y="1099267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选题需对现有知识有贡献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3156406" y="935612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研究问题应拓展知识边界，而非重复已知结论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如“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朋友圈三天可见功能对大学生社交焦虑的影响机制研究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”，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聚焦新功能与心理机制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269540" y="2353947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速读文献寻找研究空白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269539" y="3607036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选题应回应学术争议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3156406" y="2190292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关注文献“未来研究方向”部分，发现未被回答的问题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通过文献综述，明确研究领域尚待解决的问题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156406" y="3443381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选择有争议的研究问题，提出自己的见解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通过研究，为学术争议提供新的证据或观点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2720307" y="1375830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2720307" y="2630511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2720307" y="3883600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2" name="标题 1"/>
          <p:cNvSpPr txBox="1"/>
          <p:nvPr/>
        </p:nvSpPr>
        <p:spPr>
          <a:xfrm>
            <a:off x="287467" y="614471"/>
            <a:ext cx="1064006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400" dirty="0" err="1">
                <a:ln w="12700">
                  <a:noFill/>
                </a:ln>
                <a:solidFill>
                  <a:srgbClr val="38A1DD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 CN Bold"/>
              </a:rPr>
              <a:t>可行性：资源与能力的匹配</a:t>
            </a:r>
            <a:endParaRPr kumimoji="1" lang="zh-CN" altLang="en-US" sz="2400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283153" y="1036513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时间可行性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3170020" y="872858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本科生需考虑在</a:t>
            </a:r>
            <a:r>
              <a:rPr kumimoji="1" lang="zh-CN" altLang="en-US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半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学期内能否完成研究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合理规划研究时间，避免因选题过大导致时间不足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283154" y="2291193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数据可行性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283153" y="3544282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能力可行性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3170020" y="2127538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明确研究所需数据类型和获取途径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如“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某市三所中学课外补习参与率与家庭收入的相关性调查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”，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本地样本易于获取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170020" y="3380627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评估自身研究能力，选择适合的研究方法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避免选择超出自身能力范围的复杂研究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2733921" y="1313076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2733921" y="2567757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2733921" y="3820846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2" name="标题 1"/>
          <p:cNvSpPr txBox="1"/>
          <p:nvPr/>
        </p:nvSpPr>
        <p:spPr>
          <a:xfrm>
            <a:off x="251609" y="606964"/>
            <a:ext cx="1064006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400" dirty="0" err="1">
                <a:ln w="12700">
                  <a:noFill/>
                </a:ln>
                <a:solidFill>
                  <a:srgbClr val="38A1DD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 CN Bold"/>
              </a:rPr>
              <a:t>兴趣与相关性：保持热情，但避免自嗨</a:t>
            </a:r>
            <a:endParaRPr kumimoji="1" lang="zh-CN" altLang="en-US" sz="2400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251609" y="988407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从兴趣出发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3138476" y="824752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将个人兴趣与学科知识相结合，找到研究切入点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如喜欢追星的学生，可研究“粉丝社群语言如何建构偶像人设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”。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251610" y="2243087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避免个人体验式选题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251609" y="3496176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保持研究热情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3138476" y="2079432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选题需具有普遍性，避免仅基于个人经历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将个人兴趣上升为具有学术价值的普遍性问题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138476" y="3332521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选择自己感兴趣的研究问题，保持研究动力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兴趣可帮助克服研究过程中的困难和挑战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2702377" y="1264970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2702377" y="2519651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2702377" y="3772740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2" name="标题 1"/>
          <p:cNvSpPr txBox="1"/>
          <p:nvPr/>
        </p:nvSpPr>
        <p:spPr>
          <a:xfrm>
            <a:off x="269539" y="614471"/>
            <a:ext cx="1064006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400" dirty="0" err="1">
                <a:ln w="12700">
                  <a:noFill/>
                </a:ln>
                <a:solidFill>
                  <a:srgbClr val="38A1DD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 CN Bold"/>
              </a:rPr>
              <a:t>明确性：从模糊到精准</a:t>
            </a:r>
            <a:endParaRPr kumimoji="1" lang="zh-CN" altLang="en-US" sz="1100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283153" y="1058257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加入限定词明确选题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3170020" y="894602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通过添加时间、地点、人群、技术等限定词，使选题更具体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如“B站知识区视频互动频率对大学生自主学习效果的实证研究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”。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283154" y="2312937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使用句式模板明确问题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283153" y="3566026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24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反向检验选题清晰度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3170020" y="2149282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借助“How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 does X affect Y under Z conditions？”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等模板，清晰表述研究问题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使研究问题具有明确的研究对象、现象和条件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170020" y="3402371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通过“你能在10秒内向朋友解释清楚你的研究吗？”测试选题是否清晰。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确保选题表述简洁明了，易于理解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2733921" y="1334820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2733921" y="2589501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2733921" y="3842590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b="1">
              <a:solidFill>
                <a:srgbClr val="0070C0"/>
              </a:solidFill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2302201" y="934932"/>
            <a:ext cx="1102995" cy="183611"/>
          </a:xfrm>
          <a:prstGeom prst="parallelogram">
            <a:avLst>
              <a:gd name="adj" fmla="val 61120"/>
            </a:avLst>
          </a:prstGeom>
          <a:gradFill>
            <a:gsLst>
              <a:gs pos="0">
                <a:schemeClr val="accent1">
                  <a:alpha val="60000"/>
                </a:schemeClr>
              </a:gs>
              <a:gs pos="89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6" name="标题 1"/>
          <p:cNvSpPr txBox="1"/>
          <p:nvPr/>
        </p:nvSpPr>
        <p:spPr>
          <a:xfrm>
            <a:off x="2861148" y="801488"/>
            <a:ext cx="1841500" cy="4489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b="1" dirty="0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01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7" name="标题 1"/>
          <p:cNvSpPr txBox="1"/>
          <p:nvPr/>
        </p:nvSpPr>
        <p:spPr>
          <a:xfrm>
            <a:off x="3964143" y="815460"/>
            <a:ext cx="4059888" cy="6890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 b="1" dirty="0" err="1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选题的重要性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8" name="标题 1"/>
          <p:cNvSpPr txBox="1"/>
          <p:nvPr/>
        </p:nvSpPr>
        <p:spPr>
          <a:xfrm>
            <a:off x="2302201" y="1688748"/>
            <a:ext cx="1102995" cy="183611"/>
          </a:xfrm>
          <a:prstGeom prst="parallelogram">
            <a:avLst>
              <a:gd name="adj" fmla="val 61120"/>
            </a:avLst>
          </a:prstGeom>
          <a:gradFill>
            <a:gsLst>
              <a:gs pos="0">
                <a:schemeClr val="accent1">
                  <a:alpha val="60000"/>
                </a:schemeClr>
              </a:gs>
              <a:gs pos="89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2861148" y="1555304"/>
            <a:ext cx="1841500" cy="4489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b="1" dirty="0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02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0" name="标题 1"/>
          <p:cNvSpPr txBox="1"/>
          <p:nvPr/>
        </p:nvSpPr>
        <p:spPr>
          <a:xfrm>
            <a:off x="3964141" y="1618725"/>
            <a:ext cx="4059890" cy="623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 b="1" dirty="0" err="1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选题的核心标准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1" name="标题 1"/>
          <p:cNvSpPr txBox="1"/>
          <p:nvPr/>
        </p:nvSpPr>
        <p:spPr>
          <a:xfrm>
            <a:off x="2302201" y="2442564"/>
            <a:ext cx="1102995" cy="183611"/>
          </a:xfrm>
          <a:prstGeom prst="parallelogram">
            <a:avLst>
              <a:gd name="adj" fmla="val 61120"/>
            </a:avLst>
          </a:prstGeom>
          <a:gradFill>
            <a:gsLst>
              <a:gs pos="0">
                <a:schemeClr val="accent1">
                  <a:alpha val="60000"/>
                </a:schemeClr>
              </a:gs>
              <a:gs pos="89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2" name="标题 1"/>
          <p:cNvSpPr txBox="1"/>
          <p:nvPr/>
        </p:nvSpPr>
        <p:spPr>
          <a:xfrm>
            <a:off x="2861148" y="2309120"/>
            <a:ext cx="1841500" cy="4489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b="1" dirty="0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03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3" name="标题 1"/>
          <p:cNvSpPr txBox="1"/>
          <p:nvPr/>
        </p:nvSpPr>
        <p:spPr>
          <a:xfrm>
            <a:off x="3964141" y="2356058"/>
            <a:ext cx="4059890" cy="623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 b="1" dirty="0" err="1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选题步骤与技巧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51610" y="614471"/>
            <a:ext cx="1064006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400" dirty="0" err="1">
                <a:ln w="12700">
                  <a:noFill/>
                </a:ln>
                <a:solidFill>
                  <a:srgbClr val="38A1DD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 CN Bold"/>
              </a:rPr>
              <a:t>从兴趣或现象出发</a:t>
            </a:r>
            <a:endParaRPr kumimoji="1" lang="zh-CN" altLang="en-US" sz="2400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251610" y="1035643"/>
            <a:ext cx="28053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8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头脑风暴寻找兴趣点</a:t>
            </a:r>
            <a:endParaRPr kumimoji="1"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2739714" y="1035643"/>
            <a:ext cx="6332568" cy="8140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以环保为例，从兴趣出发，发现外卖包装浪费现象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通过头脑风暴，提炼关键词，如限塑政策、大学生消费行为、环保意识</a:t>
            </a:r>
            <a:endParaRPr kumimoji="1" lang="zh-CN" altLang="en-US" sz="1600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251611" y="2286336"/>
            <a:ext cx="28053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8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利用思维导图梳理思路</a:t>
            </a:r>
            <a:endParaRPr kumimoji="1"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251610" y="3511715"/>
            <a:ext cx="28053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800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将兴趣转化为研究问题</a:t>
            </a:r>
            <a:endParaRPr kumimoji="1"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2739714" y="2286336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使用思维导图工具，将兴趣点与相关概念联系起来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形成清晰的思维框架，为选题提供方向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sz="1600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2739714" y="3511715"/>
            <a:ext cx="6404286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将兴趣点与学术问题相结合，形成初步研究问题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如“如何提高大学生的环保意识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？”</a:t>
            </a:r>
            <a:endParaRPr kumimoji="1" lang="zh-CN" altLang="en-US" sz="1600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51610" y="614471"/>
            <a:ext cx="1064006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400" dirty="0" err="1">
                <a:ln w="12700">
                  <a:noFill/>
                </a:ln>
                <a:solidFill>
                  <a:srgbClr val="38A1DD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 CN Bold"/>
              </a:rPr>
              <a:t>文献速览与缩小范围</a:t>
            </a:r>
            <a:endParaRPr kumimoji="1" lang="zh-CN" altLang="en-US" sz="3200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251610" y="1035643"/>
            <a:ext cx="28053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18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速读文献标记关键点</a:t>
            </a:r>
            <a:endParaRPr kumimoji="1" lang="zh-CN" altLang="en-US" sz="1800" b="1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2739714" y="1035643"/>
            <a:ext cx="6332568" cy="8140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读摘要和结论，标记高频关键词和争议点</a:t>
            </a:r>
            <a:endParaRPr kumimoji="1" lang="zh-CN" altLang="en-US" sz="16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Source Han Sans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快速了解研究领域的现状和热点问题</a:t>
            </a:r>
            <a:endParaRPr kumimoji="1" lang="zh-CN" altLang="en-US" sz="1600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251611" y="2286336"/>
            <a:ext cx="28053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18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5W1H</a:t>
            </a:r>
            <a:r>
              <a:rPr kumimoji="1" lang="zh-CN" altLang="en-US" sz="18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提问缩小范围</a:t>
            </a:r>
            <a:endParaRPr kumimoji="1" lang="zh-CN" altLang="en-US" sz="1800" b="1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/>
            </a:endParaRPr>
          </a:p>
          <a:p>
            <a:pPr algn="l">
              <a:lnSpc>
                <a:spcPct val="130000"/>
              </a:lnSpc>
            </a:pPr>
            <a:endParaRPr kumimoji="1" lang="zh-CN" altLang="en-US" sz="1800" b="1" dirty="0" err="1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251610" y="3511715"/>
            <a:ext cx="28053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18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确定问题的关键要素</a:t>
            </a:r>
            <a:endParaRPr kumimoji="1" lang="zh-CN" altLang="en-US" sz="1800" b="1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2739714" y="2286336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通过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Who</a:t>
            </a: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、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What</a:t>
            </a: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、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Where</a:t>
            </a: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、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When</a:t>
            </a: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、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Why</a:t>
            </a: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、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How</a:t>
            </a: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提问，明确研究范围。</a:t>
            </a:r>
            <a:endParaRPr kumimoji="1" lang="zh-CN" altLang="en-US" sz="16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Source Han Sans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如“大学生（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Who</a:t>
            </a: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）在什么情况下（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When</a:t>
            </a: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）会受到外卖限塑政策（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What</a:t>
            </a: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）的影响？”</a:t>
            </a:r>
            <a:endParaRPr kumimoji="1" lang="zh-CN" altLang="en-US" sz="16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Source Han Sans"/>
            </a:endParaRPr>
          </a:p>
          <a:p>
            <a:pPr algn="l">
              <a:lnSpc>
                <a:spcPct val="150000"/>
              </a:lnSpc>
            </a:pPr>
            <a:endParaRPr kumimoji="1" lang="zh-CN" altLang="en-US" sz="1600" dirty="0" err="1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Source Han Sans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2739714" y="3511715"/>
            <a:ext cx="6404286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明确研究问题中的关键变量和条件。</a:t>
            </a:r>
            <a:endParaRPr kumimoji="1" lang="zh-CN" altLang="en-US" sz="16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Source Han Sans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确保研究问题具有明确的研究对象和现象</a:t>
            </a:r>
            <a:endParaRPr kumimoji="1" lang="zh-CN" altLang="en-US" sz="1600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51610" y="614471"/>
            <a:ext cx="1064006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kumimoji="1" lang="en-US" altLang="zh-CN" sz="2400" dirty="0" err="1">
                <a:ln w="12700">
                  <a:noFill/>
                </a:ln>
                <a:solidFill>
                  <a:srgbClr val="38A1DD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 CN Bold"/>
              </a:rPr>
              <a:t>明确研究问题</a:t>
            </a:r>
            <a:endParaRPr kumimoji="1" lang="zh-CN" altLang="en-US" sz="3200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251610" y="1035643"/>
            <a:ext cx="28053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18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使用句式模板表述问题</a:t>
            </a:r>
            <a:endParaRPr kumimoji="1" lang="zh-CN" altLang="en-US" sz="1800" b="1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2739714" y="1035643"/>
            <a:ext cx="6332568" cy="81407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使用模板清晰表述研究问题</a:t>
            </a:r>
            <a:endParaRPr kumimoji="1" lang="zh-CN" altLang="en-US" sz="16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Source Han Sans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使研究问题具有明确的研究对象、现象和条件</a:t>
            </a:r>
            <a:endParaRPr kumimoji="1" lang="zh-CN" altLang="en-US" sz="1600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251611" y="2286336"/>
            <a:ext cx="28053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18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确保研究的可操作性</a:t>
            </a:r>
            <a:endParaRPr kumimoji="1" lang="zh-CN" altLang="en-US" sz="1800" b="1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251610" y="3511715"/>
            <a:ext cx="28053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1800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反复推敲优化问题</a:t>
            </a:r>
            <a:endParaRPr kumimoji="1" lang="zh-CN" altLang="en-US" sz="1800" b="1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Bold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2739714" y="2286336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检查研究问题是否具备数据和资源支持</a:t>
            </a:r>
            <a:endParaRPr kumimoji="1" lang="zh-CN" altLang="en-US" sz="16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Source Han Sans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确保研究问题在时间和能力范围内可完成</a:t>
            </a:r>
            <a:endParaRPr kumimoji="1" lang="zh-CN" altLang="en-US" sz="16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Source Han Sans"/>
            </a:endParaRPr>
          </a:p>
          <a:p>
            <a:pPr algn="l">
              <a:lnSpc>
                <a:spcPct val="150000"/>
              </a:lnSpc>
            </a:pPr>
            <a:endParaRPr kumimoji="1" lang="zh-CN" altLang="en-US" sz="16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Source Han Sans"/>
            </a:endParaRPr>
          </a:p>
          <a:p>
            <a:pPr algn="l">
              <a:lnSpc>
                <a:spcPct val="150000"/>
              </a:lnSpc>
            </a:pPr>
            <a:endParaRPr kumimoji="1" lang="zh-CN" altLang="en-US" sz="1600" dirty="0" err="1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Source Han Sans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2739714" y="3511715"/>
            <a:ext cx="6404286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对研究问题进行多次修改和完善</a:t>
            </a:r>
            <a:endParaRPr kumimoji="1" lang="zh-CN" altLang="en-US" sz="16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Source Han Sans"/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确保研究问题表述准确、清晰、具体</a:t>
            </a:r>
            <a:endParaRPr kumimoji="1" lang="zh-CN" altLang="en-US" sz="16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Source Han Sans"/>
            </a:endParaRPr>
          </a:p>
          <a:p>
            <a:pPr algn="l">
              <a:lnSpc>
                <a:spcPct val="150000"/>
              </a:lnSpc>
            </a:pPr>
            <a:endParaRPr kumimoji="1" lang="zh-CN" altLang="en-US" sz="16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Source Han San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b="1">
              <a:solidFill>
                <a:srgbClr val="0070C0"/>
              </a:solidFill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2302201" y="934932"/>
            <a:ext cx="1102995" cy="183611"/>
          </a:xfrm>
          <a:prstGeom prst="parallelogram">
            <a:avLst>
              <a:gd name="adj" fmla="val 61120"/>
            </a:avLst>
          </a:prstGeom>
          <a:gradFill>
            <a:gsLst>
              <a:gs pos="0">
                <a:schemeClr val="accent1">
                  <a:alpha val="60000"/>
                </a:schemeClr>
              </a:gs>
              <a:gs pos="89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6" name="标题 1"/>
          <p:cNvSpPr txBox="1"/>
          <p:nvPr/>
        </p:nvSpPr>
        <p:spPr>
          <a:xfrm>
            <a:off x="2861148" y="801488"/>
            <a:ext cx="1841500" cy="4489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b="1" dirty="0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01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7" name="标题 1"/>
          <p:cNvSpPr txBox="1"/>
          <p:nvPr/>
        </p:nvSpPr>
        <p:spPr>
          <a:xfrm>
            <a:off x="3964143" y="815460"/>
            <a:ext cx="4059888" cy="6890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 b="1" dirty="0" err="1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选题的重要性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8" name="标题 1"/>
          <p:cNvSpPr txBox="1"/>
          <p:nvPr/>
        </p:nvSpPr>
        <p:spPr>
          <a:xfrm>
            <a:off x="2302201" y="1688748"/>
            <a:ext cx="1102995" cy="183611"/>
          </a:xfrm>
          <a:prstGeom prst="parallelogram">
            <a:avLst>
              <a:gd name="adj" fmla="val 61120"/>
            </a:avLst>
          </a:prstGeom>
          <a:gradFill>
            <a:gsLst>
              <a:gs pos="0">
                <a:schemeClr val="accent1">
                  <a:alpha val="60000"/>
                </a:schemeClr>
              </a:gs>
              <a:gs pos="89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2861148" y="1555304"/>
            <a:ext cx="1841500" cy="4489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b="1" dirty="0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02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0" name="标题 1"/>
          <p:cNvSpPr txBox="1"/>
          <p:nvPr/>
        </p:nvSpPr>
        <p:spPr>
          <a:xfrm>
            <a:off x="3964141" y="1618725"/>
            <a:ext cx="4059890" cy="623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 b="1" dirty="0" err="1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选题的核心标准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1" name="标题 1"/>
          <p:cNvSpPr txBox="1"/>
          <p:nvPr/>
        </p:nvSpPr>
        <p:spPr>
          <a:xfrm>
            <a:off x="2302201" y="2442564"/>
            <a:ext cx="1102995" cy="183611"/>
          </a:xfrm>
          <a:prstGeom prst="parallelogram">
            <a:avLst>
              <a:gd name="adj" fmla="val 61120"/>
            </a:avLst>
          </a:prstGeom>
          <a:gradFill>
            <a:gsLst>
              <a:gs pos="0">
                <a:schemeClr val="accent1">
                  <a:alpha val="60000"/>
                </a:schemeClr>
              </a:gs>
              <a:gs pos="89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2" name="标题 1"/>
          <p:cNvSpPr txBox="1"/>
          <p:nvPr/>
        </p:nvSpPr>
        <p:spPr>
          <a:xfrm>
            <a:off x="2861148" y="2309120"/>
            <a:ext cx="1841500" cy="4489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b="1" dirty="0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03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3" name="标题 1"/>
          <p:cNvSpPr txBox="1"/>
          <p:nvPr/>
        </p:nvSpPr>
        <p:spPr>
          <a:xfrm>
            <a:off x="3964141" y="2356058"/>
            <a:ext cx="4059890" cy="623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 b="1" dirty="0" err="1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选题步骤与技巧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2302201" y="3196380"/>
            <a:ext cx="1102995" cy="183611"/>
          </a:xfrm>
          <a:prstGeom prst="parallelogram">
            <a:avLst>
              <a:gd name="adj" fmla="val 61120"/>
            </a:avLst>
          </a:prstGeom>
          <a:gradFill>
            <a:gsLst>
              <a:gs pos="0">
                <a:schemeClr val="accent1">
                  <a:alpha val="60000"/>
                </a:schemeClr>
              </a:gs>
              <a:gs pos="89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5" name="标题 1"/>
          <p:cNvSpPr txBox="1"/>
          <p:nvPr/>
        </p:nvSpPr>
        <p:spPr>
          <a:xfrm>
            <a:off x="2861148" y="3062936"/>
            <a:ext cx="1841500" cy="4489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b="1" dirty="0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04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6" name="标题 1"/>
          <p:cNvSpPr txBox="1"/>
          <p:nvPr/>
        </p:nvSpPr>
        <p:spPr>
          <a:xfrm>
            <a:off x="3964141" y="3093391"/>
            <a:ext cx="4059890" cy="623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 b="1" dirty="0" err="1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案例分析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4" name="标题 1"/>
          <p:cNvSpPr txBox="1"/>
          <p:nvPr/>
        </p:nvSpPr>
        <p:spPr>
          <a:xfrm>
            <a:off x="153461" y="917397"/>
            <a:ext cx="799346" cy="79934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54000" dist="1016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238621" y="1145764"/>
            <a:ext cx="629028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01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3461" y="2172077"/>
            <a:ext cx="799346" cy="799346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  <a:effectLst>
            <a:outerShdw blurRad="254000" dist="101600" dir="5400000" algn="t" rotWithShape="0">
              <a:schemeClr val="accent2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95581" y="2400444"/>
            <a:ext cx="715106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02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153461" y="3425166"/>
            <a:ext cx="799346" cy="79934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54000" dist="1016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195581" y="3653533"/>
            <a:ext cx="715106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03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 rot="5400000">
            <a:off x="952806" y="1060836"/>
            <a:ext cx="512468" cy="512468"/>
          </a:xfrm>
          <a:prstGeom prst="blockArc">
            <a:avLst>
              <a:gd name="adj1" fmla="val 10800000"/>
              <a:gd name="adj2" fmla="val 194251"/>
              <a:gd name="adj3" fmla="val 15161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1658922" y="917397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 CN Bold"/>
              </a:rPr>
              <a:t>选题宽泛无具体场景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4007907" y="771430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题目“人工智能的伦理问题”过于宽泛，缺乏具体场景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无法明确研究重点和范围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4" name="标题 1"/>
          <p:cNvSpPr txBox="1"/>
          <p:nvPr/>
        </p:nvSpPr>
        <p:spPr>
          <a:xfrm rot="5400000">
            <a:off x="952806" y="2315517"/>
            <a:ext cx="512468" cy="512468"/>
          </a:xfrm>
          <a:prstGeom prst="blockArc">
            <a:avLst>
              <a:gd name="adj1" fmla="val 10800000"/>
              <a:gd name="adj2" fmla="val 194251"/>
              <a:gd name="adj3" fmla="val 15161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1658923" y="2172077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 CN Bold"/>
              </a:rPr>
              <a:t>改进建议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6" name="标题 1"/>
          <p:cNvSpPr txBox="1"/>
          <p:nvPr/>
        </p:nvSpPr>
        <p:spPr>
          <a:xfrm rot="5400000">
            <a:off x="952806" y="3568606"/>
            <a:ext cx="512468" cy="512468"/>
          </a:xfrm>
          <a:prstGeom prst="blockArc">
            <a:avLst>
              <a:gd name="adj1" fmla="val 10800000"/>
              <a:gd name="adj2" fmla="val 194251"/>
              <a:gd name="adj3" fmla="val 15161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1658922" y="3425166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 CN Bold"/>
              </a:rPr>
              <a:t>优化后的选题价值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4007907" y="2026110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限定领域，如“自动驾驶汽车事故中的算法责任判定伦理困境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” 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使选题更具体、更具针对性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9" name="标题 1"/>
          <p:cNvSpPr txBox="1"/>
          <p:nvPr/>
        </p:nvSpPr>
        <p:spPr>
          <a:xfrm>
            <a:off x="4007907" y="3279199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优化后的选题聚焦具体问题，便于深入研究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具有明确的研究对象和场景，更具学术价值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3571808" y="1211648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3571808" y="2466329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2" name="标题 1"/>
          <p:cNvSpPr txBox="1"/>
          <p:nvPr/>
        </p:nvSpPr>
        <p:spPr>
          <a:xfrm>
            <a:off x="3571808" y="3719418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2" name="标题 1"/>
          <p:cNvSpPr txBox="1"/>
          <p:nvPr/>
        </p:nvSpPr>
        <p:spPr>
          <a:xfrm>
            <a:off x="98612" y="925654"/>
            <a:ext cx="799346" cy="79934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54000" dist="1016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83772" y="1154021"/>
            <a:ext cx="629028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01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98612" y="2180334"/>
            <a:ext cx="799346" cy="799346"/>
          </a:xfrm>
          <a:prstGeom prst="ellipse">
            <a:avLst/>
          </a:prstGeom>
          <a:solidFill>
            <a:schemeClr val="accent2"/>
          </a:solidFill>
          <a:ln w="12700" cap="sq">
            <a:noFill/>
            <a:miter/>
          </a:ln>
          <a:effectLst>
            <a:outerShdw blurRad="254000" dist="101600" dir="5400000" algn="t" rotWithShape="0">
              <a:schemeClr val="accent2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40732" y="2408701"/>
            <a:ext cx="715106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02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98612" y="3433423"/>
            <a:ext cx="799346" cy="799346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254000" dist="101600" dir="5400000" algn="t" rotWithShape="0">
              <a:schemeClr val="accent1">
                <a:lumMod val="7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140732" y="3661790"/>
            <a:ext cx="715106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kumimoji="1" lang="en-US" altLang="zh-CN" sz="2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03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 rot="5400000">
            <a:off x="897957" y="1069093"/>
            <a:ext cx="512468" cy="512468"/>
          </a:xfrm>
          <a:prstGeom prst="blockArc">
            <a:avLst>
              <a:gd name="adj1" fmla="val 10800000"/>
              <a:gd name="adj2" fmla="val 194251"/>
              <a:gd name="adj3" fmla="val 15161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1604073" y="925654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 CN Bold"/>
              </a:rPr>
              <a:t>选题具体明确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4059776" y="824752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题目“基于用户评论情感分析的直播带货消费者满意度研究</a:t>
            </a:r>
            <a:endParaRPr kumimoji="1" lang="en-US" altLang="zh-CN" sz="14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Source Han Sans"/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——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以抖音农产品助农直播为例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”。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选题明确具体，涵盖技术、场景和数据来源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2" name="标题 1"/>
          <p:cNvSpPr txBox="1"/>
          <p:nvPr/>
        </p:nvSpPr>
        <p:spPr>
          <a:xfrm rot="5400000">
            <a:off x="897957" y="2323774"/>
            <a:ext cx="512468" cy="512468"/>
          </a:xfrm>
          <a:prstGeom prst="blockArc">
            <a:avLst>
              <a:gd name="adj1" fmla="val 10800000"/>
              <a:gd name="adj2" fmla="val 194251"/>
              <a:gd name="adj3" fmla="val 15161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1604074" y="2180334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 CN Bold"/>
              </a:rPr>
              <a:t>选题的可操作性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4" name="标题 1"/>
          <p:cNvSpPr txBox="1"/>
          <p:nvPr/>
        </p:nvSpPr>
        <p:spPr>
          <a:xfrm rot="5400000">
            <a:off x="897957" y="3576863"/>
            <a:ext cx="512468" cy="512468"/>
          </a:xfrm>
          <a:prstGeom prst="blockArc">
            <a:avLst>
              <a:gd name="adj1" fmla="val 10800000"/>
              <a:gd name="adj2" fmla="val 194251"/>
              <a:gd name="adj3" fmla="val 15161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1604073" y="3433423"/>
            <a:ext cx="2262055" cy="7993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 CN Bold"/>
              </a:rPr>
              <a:t>选题的学术价值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4059776" y="2079432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数据来源明确，用户评论数据易于获取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研究方法可行，情感分析技术成熟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4059776" y="3332521"/>
            <a:ext cx="5973980" cy="11266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填补直播带货消费者满意度研究的空白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为助农直播发展提供理论支持</a:t>
            </a:r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3623677" y="1264970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19" name="标题 1"/>
          <p:cNvSpPr txBox="1"/>
          <p:nvPr/>
        </p:nvSpPr>
        <p:spPr>
          <a:xfrm>
            <a:off x="3623677" y="2519651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3623677" y="3772740"/>
            <a:ext cx="247387" cy="246221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3" name="文本框 2"/>
          <p:cNvSpPr txBox="1"/>
          <p:nvPr/>
        </p:nvSpPr>
        <p:spPr>
          <a:xfrm>
            <a:off x="217394" y="596586"/>
            <a:ext cx="4576482" cy="476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dirty="0" err="1">
                <a:ln w="12700">
                  <a:noFill/>
                </a:ln>
                <a:solidFill>
                  <a:srgbClr val="38A1DD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</a:rPr>
              <a:t>SPARK模型</a:t>
            </a:r>
            <a:endParaRPr kumimoji="1" lang="zh-CN" altLang="en-US" sz="2400" dirty="0">
              <a:ln w="12700">
                <a:noFill/>
              </a:ln>
              <a:solidFill>
                <a:srgbClr val="38A1DD">
                  <a:alpha val="100000"/>
                </a:srgbClr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519953" y="1300820"/>
            <a:ext cx="8382000" cy="25418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kumimoji="1" lang="en-US" altLang="zh-CN" sz="2400" b="1" dirty="0" err="1">
                <a:ln w="12700">
                  <a:noFill/>
                </a:ln>
                <a:solidFill>
                  <a:srgbClr val="FF000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S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pecific（具体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）：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选题需明确具体，避免宽泛模糊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2400" b="1" dirty="0" err="1">
                <a:ln w="12700">
                  <a:noFill/>
                </a:ln>
                <a:solidFill>
                  <a:srgbClr val="FF000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P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ractical（可行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）：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选题要具备时间和资源上的可行性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2400" b="1" dirty="0" err="1">
                <a:ln w="12700">
                  <a:noFill/>
                </a:ln>
                <a:solidFill>
                  <a:srgbClr val="FF000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A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cademic（学术价值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）：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选题应填补学术空白或回应争议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2400" b="1" dirty="0" err="1">
                <a:ln w="12700">
                  <a:noFill/>
                </a:ln>
                <a:solidFill>
                  <a:srgbClr val="FF000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R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elevant（相关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）：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选题需与学科和个人兴趣相结合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
</a:t>
            </a:r>
            <a:r>
              <a:rPr kumimoji="1" lang="en-US" altLang="zh-CN" sz="2400" b="1" dirty="0" err="1">
                <a:ln w="12700">
                  <a:noFill/>
                </a:ln>
                <a:solidFill>
                  <a:srgbClr val="FF000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K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een（兴趣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）：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保持对选题的热情，避免自嗨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Source Han Sans"/>
              </a:rPr>
              <a:t>。</a:t>
            </a:r>
            <a:endParaRPr kumimoji="1" lang="zh-CN" altLang="en-US" sz="2400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b="1">
              <a:solidFill>
                <a:srgbClr val="0070C0"/>
              </a:solidFill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2302201" y="934932"/>
            <a:ext cx="1102995" cy="183611"/>
          </a:xfrm>
          <a:prstGeom prst="parallelogram">
            <a:avLst>
              <a:gd name="adj" fmla="val 61120"/>
            </a:avLst>
          </a:prstGeom>
          <a:gradFill>
            <a:gsLst>
              <a:gs pos="0">
                <a:schemeClr val="accent1">
                  <a:alpha val="60000"/>
                </a:schemeClr>
              </a:gs>
              <a:gs pos="89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6" name="标题 1"/>
          <p:cNvSpPr txBox="1"/>
          <p:nvPr/>
        </p:nvSpPr>
        <p:spPr>
          <a:xfrm>
            <a:off x="2861148" y="801488"/>
            <a:ext cx="1841500" cy="4489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b="1" dirty="0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01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7" name="标题 1"/>
          <p:cNvSpPr txBox="1"/>
          <p:nvPr/>
        </p:nvSpPr>
        <p:spPr>
          <a:xfrm>
            <a:off x="3964143" y="815460"/>
            <a:ext cx="4059888" cy="6890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 b="1" dirty="0" err="1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选题的重要性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8" name="标题 1"/>
          <p:cNvSpPr txBox="1"/>
          <p:nvPr/>
        </p:nvSpPr>
        <p:spPr>
          <a:xfrm>
            <a:off x="2302201" y="1688748"/>
            <a:ext cx="1102995" cy="183611"/>
          </a:xfrm>
          <a:prstGeom prst="parallelogram">
            <a:avLst>
              <a:gd name="adj" fmla="val 61120"/>
            </a:avLst>
          </a:prstGeom>
          <a:gradFill>
            <a:gsLst>
              <a:gs pos="0">
                <a:schemeClr val="accent1">
                  <a:alpha val="60000"/>
                </a:schemeClr>
              </a:gs>
              <a:gs pos="89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2861148" y="1555304"/>
            <a:ext cx="1841500" cy="4489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b="1" dirty="0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02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0" name="标题 1"/>
          <p:cNvSpPr txBox="1"/>
          <p:nvPr/>
        </p:nvSpPr>
        <p:spPr>
          <a:xfrm>
            <a:off x="3964141" y="1618725"/>
            <a:ext cx="4059890" cy="623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 b="1" dirty="0" err="1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选题的核心标准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1" name="标题 1"/>
          <p:cNvSpPr txBox="1"/>
          <p:nvPr/>
        </p:nvSpPr>
        <p:spPr>
          <a:xfrm>
            <a:off x="2302201" y="2442564"/>
            <a:ext cx="1102995" cy="183611"/>
          </a:xfrm>
          <a:prstGeom prst="parallelogram">
            <a:avLst>
              <a:gd name="adj" fmla="val 61120"/>
            </a:avLst>
          </a:prstGeom>
          <a:gradFill>
            <a:gsLst>
              <a:gs pos="0">
                <a:schemeClr val="accent1">
                  <a:alpha val="60000"/>
                </a:schemeClr>
              </a:gs>
              <a:gs pos="89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2" name="标题 1"/>
          <p:cNvSpPr txBox="1"/>
          <p:nvPr/>
        </p:nvSpPr>
        <p:spPr>
          <a:xfrm>
            <a:off x="2861148" y="2309120"/>
            <a:ext cx="1841500" cy="4489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b="1" dirty="0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03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3" name="标题 1"/>
          <p:cNvSpPr txBox="1"/>
          <p:nvPr/>
        </p:nvSpPr>
        <p:spPr>
          <a:xfrm>
            <a:off x="3964141" y="2356058"/>
            <a:ext cx="4059890" cy="623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 b="1" dirty="0" err="1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选题步骤与技巧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4" name="标题 1"/>
          <p:cNvSpPr txBox="1"/>
          <p:nvPr/>
        </p:nvSpPr>
        <p:spPr>
          <a:xfrm>
            <a:off x="2302201" y="3196380"/>
            <a:ext cx="1102995" cy="183611"/>
          </a:xfrm>
          <a:prstGeom prst="parallelogram">
            <a:avLst>
              <a:gd name="adj" fmla="val 61120"/>
            </a:avLst>
          </a:prstGeom>
          <a:gradFill>
            <a:gsLst>
              <a:gs pos="0">
                <a:schemeClr val="accent1">
                  <a:alpha val="60000"/>
                </a:schemeClr>
              </a:gs>
              <a:gs pos="89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5" name="标题 1"/>
          <p:cNvSpPr txBox="1"/>
          <p:nvPr/>
        </p:nvSpPr>
        <p:spPr>
          <a:xfrm>
            <a:off x="2861148" y="3062936"/>
            <a:ext cx="1841500" cy="4489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b="1" dirty="0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04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6" name="标题 1"/>
          <p:cNvSpPr txBox="1"/>
          <p:nvPr/>
        </p:nvSpPr>
        <p:spPr>
          <a:xfrm>
            <a:off x="3964141" y="3093391"/>
            <a:ext cx="4059890" cy="623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20000"/>
              </a:lnSpc>
            </a:pPr>
            <a:r>
              <a:rPr kumimoji="1" lang="en-US" altLang="zh-CN" sz="2200" b="1" dirty="0" err="1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案例分析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7" name="标题 1"/>
          <p:cNvSpPr txBox="1"/>
          <p:nvPr/>
        </p:nvSpPr>
        <p:spPr>
          <a:xfrm>
            <a:off x="2302201" y="3950195"/>
            <a:ext cx="1102995" cy="183611"/>
          </a:xfrm>
          <a:prstGeom prst="parallelogram">
            <a:avLst>
              <a:gd name="adj" fmla="val 61120"/>
            </a:avLst>
          </a:prstGeom>
          <a:gradFill>
            <a:gsLst>
              <a:gs pos="0">
                <a:schemeClr val="accent1">
                  <a:alpha val="60000"/>
                </a:schemeClr>
              </a:gs>
              <a:gs pos="89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8" name="标题 1"/>
          <p:cNvSpPr txBox="1"/>
          <p:nvPr/>
        </p:nvSpPr>
        <p:spPr>
          <a:xfrm>
            <a:off x="2861148" y="3816751"/>
            <a:ext cx="1841500" cy="44896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2400" b="1" dirty="0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05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39" name="标题 1"/>
          <p:cNvSpPr txBox="1"/>
          <p:nvPr/>
        </p:nvSpPr>
        <p:spPr>
          <a:xfrm>
            <a:off x="3964141" y="3830723"/>
            <a:ext cx="4059890" cy="6231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>
              <a:lnSpc>
                <a:spcPct val="120000"/>
              </a:lnSpc>
            </a:pPr>
            <a:r>
              <a:rPr kumimoji="1" lang="zh-CN" altLang="en-US" sz="2200" b="1" dirty="0">
                <a:ln w="12700">
                  <a:noFill/>
                </a:ln>
                <a:solidFill>
                  <a:srgbClr val="0070C0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OPPOSans H"/>
              </a:rPr>
              <a:t>工作坊</a:t>
            </a:r>
            <a:endParaRPr kumimoji="1" lang="zh-CN" altLang="en-US" b="1" dirty="0">
              <a:solidFill>
                <a:srgbClr val="0070C0"/>
              </a:solidFill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2" name="矩形 1"/>
          <p:cNvSpPr/>
          <p:nvPr/>
        </p:nvSpPr>
        <p:spPr>
          <a:xfrm>
            <a:off x="412694" y="1116701"/>
            <a:ext cx="3252998" cy="70400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latin typeface="黑体" panose="02010609060101010101" charset="-122"/>
                <a:ea typeface="黑体" panose="02010609060101010101" charset="-122"/>
              </a:rPr>
              <a:t>大背景</a:t>
            </a:r>
            <a:endParaRPr kumimoji="1" lang="zh-CN" altLang="en-US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47839" y="1820708"/>
            <a:ext cx="2582708" cy="70400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latin typeface="黑体" panose="02010609060101010101" charset="-122"/>
                <a:ea typeface="黑体" panose="02010609060101010101" charset="-122"/>
              </a:rPr>
              <a:t>小背景</a:t>
            </a:r>
            <a:endParaRPr kumimoji="1" lang="zh-CN" altLang="en-US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79612" y="2524715"/>
            <a:ext cx="1919161" cy="7040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latin typeface="黑体" panose="02010609060101010101" charset="-122"/>
                <a:ea typeface="黑体" panose="02010609060101010101" charset="-122"/>
              </a:rPr>
              <a:t>突破点</a:t>
            </a:r>
            <a:endParaRPr kumimoji="1" lang="zh-CN" altLang="en-US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25882" y="3228722"/>
            <a:ext cx="1226619" cy="7040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>
                <a:latin typeface="黑体" panose="02010609060101010101" charset="-122"/>
                <a:ea typeface="黑体" panose="02010609060101010101" charset="-122"/>
              </a:rPr>
              <a:t>目标</a:t>
            </a:r>
            <a:endParaRPr kumimoji="1" lang="zh-CN" altLang="en-US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6750" y="857457"/>
            <a:ext cx="5508347" cy="320980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11835" y="989965"/>
            <a:ext cx="23279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800"/>
              <a:t>有用的</a:t>
            </a:r>
            <a:r>
              <a:rPr lang="en-US" altLang="zh-CN" sz="1800"/>
              <a:t>AI</a:t>
            </a:r>
            <a:r>
              <a:rPr lang="zh-CN" altLang="en-US" sz="1800"/>
              <a:t>提示词：</a:t>
            </a:r>
            <a:endParaRPr lang="zh-CN" altLang="en-US" sz="18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/>
              <a:t>费曼</a:t>
            </a:r>
            <a:r>
              <a:rPr lang="zh-CN" altLang="en-US" sz="1800"/>
              <a:t>学习法</a:t>
            </a:r>
            <a:endParaRPr lang="zh-CN" altLang="en-US" sz="18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/>
              <a:t>苏格拉底</a:t>
            </a:r>
            <a:r>
              <a:rPr lang="zh-CN" altLang="en-US" sz="1800"/>
              <a:t>追问</a:t>
            </a:r>
            <a:br>
              <a:rPr lang="zh-CN" altLang="en-US" sz="1800"/>
            </a:br>
            <a:endParaRPr lang="zh-CN" altLang="en-US" sz="1800"/>
          </a:p>
        </p:txBody>
      </p:sp>
      <p:sp>
        <p:nvSpPr>
          <p:cNvPr id="5" name="文本框 4"/>
          <p:cNvSpPr txBox="1"/>
          <p:nvPr/>
        </p:nvSpPr>
        <p:spPr>
          <a:xfrm>
            <a:off x="2987040" y="808355"/>
            <a:ext cx="5925820" cy="35723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/>
              <a:t># ROLE: </a:t>
            </a:r>
            <a:r>
              <a:rPr lang="zh-CN" altLang="en-US" sz="1000"/>
              <a:t>认知引导者（费曼式学习教练）</a:t>
            </a:r>
            <a:endParaRPr lang="zh-CN" altLang="en-US" sz="1000"/>
          </a:p>
          <a:p>
            <a:r>
              <a:rPr lang="en-US" altLang="zh-CN" sz="1000"/>
              <a:t>**</a:t>
            </a:r>
            <a:r>
              <a:rPr lang="zh-CN" altLang="en-US" sz="1000"/>
              <a:t>核心使命</a:t>
            </a:r>
            <a:r>
              <a:rPr lang="en-US" altLang="zh-CN" sz="1000"/>
              <a:t>**</a:t>
            </a:r>
            <a:r>
              <a:rPr lang="zh-CN" altLang="en-US" sz="1000"/>
              <a:t>：通过诊断性对话，帮助用户构建从</a:t>
            </a:r>
            <a:r>
              <a:rPr lang="en-US" altLang="zh-CN" sz="1000"/>
              <a:t>"</a:t>
            </a:r>
            <a:r>
              <a:rPr lang="zh-CN" altLang="en-US" sz="1000"/>
              <a:t>模糊直觉</a:t>
            </a:r>
            <a:r>
              <a:rPr lang="en-US" altLang="zh-CN" sz="1000"/>
              <a:t>"</a:t>
            </a:r>
            <a:r>
              <a:rPr lang="zh-CN" altLang="en-US" sz="1000"/>
              <a:t>到</a:t>
            </a:r>
            <a:r>
              <a:rPr lang="en-US" altLang="zh-CN" sz="1000"/>
              <a:t>"</a:t>
            </a:r>
            <a:r>
              <a:rPr lang="zh-CN" altLang="en-US" sz="1000"/>
              <a:t>精确理解</a:t>
            </a:r>
            <a:r>
              <a:rPr lang="en-US" altLang="zh-CN" sz="1000"/>
              <a:t>"</a:t>
            </a:r>
            <a:r>
              <a:rPr lang="zh-CN" altLang="en-US" sz="1000"/>
              <a:t>的认知阶梯，最终达成</a:t>
            </a:r>
            <a:r>
              <a:rPr lang="en-US" altLang="zh-CN" sz="1000"/>
              <a:t>**</a:t>
            </a:r>
            <a:r>
              <a:rPr lang="zh-CN" altLang="en-US" sz="1000"/>
              <a:t>可迁移的深刻理解</a:t>
            </a:r>
            <a:r>
              <a:rPr lang="en-US" altLang="zh-CN" sz="1000"/>
              <a:t>**</a:t>
            </a:r>
            <a:r>
              <a:rPr lang="zh-CN" altLang="en-US" sz="1000"/>
              <a:t>。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zh-CN" sz="1000"/>
              <a:t>&amp;lt;</a:t>
            </a:r>
            <a:r>
              <a:rPr lang="zh-CN" altLang="en-US" sz="1000"/>
              <a:t>个人能力</a:t>
            </a:r>
            <a:r>
              <a:rPr lang="en-US" altLang="zh-CN" sz="1000"/>
              <a:t>&amp;gt;</a:t>
            </a:r>
            <a:endParaRPr lang="en-US" altLang="zh-CN" sz="1000"/>
          </a:p>
          <a:p>
            <a:r>
              <a:rPr lang="en-US" altLang="zh-CN" sz="1000"/>
              <a:t>- </a:t>
            </a:r>
            <a:r>
              <a:rPr lang="zh-CN" altLang="en-US" sz="1000"/>
              <a:t>精准识别知识断裂点（用户的</a:t>
            </a:r>
            <a:r>
              <a:rPr lang="en-US" altLang="zh-CN" sz="1000"/>
              <a:t>"</a:t>
            </a:r>
            <a:r>
              <a:rPr lang="zh-CN" altLang="en-US" sz="1000"/>
              <a:t>我以为我懂了</a:t>
            </a:r>
            <a:r>
              <a:rPr lang="en-US" altLang="zh-CN" sz="1000"/>
              <a:t>"</a:t>
            </a:r>
            <a:r>
              <a:rPr lang="zh-CN" altLang="en-US" sz="1000"/>
              <a:t>时刻）</a:t>
            </a:r>
            <a:endParaRPr lang="zh-CN" altLang="en-US" sz="1000"/>
          </a:p>
          <a:p>
            <a:r>
              <a:rPr lang="en-US" altLang="zh-CN" sz="1000"/>
              <a:t>- </a:t>
            </a:r>
            <a:r>
              <a:rPr lang="zh-CN" altLang="en-US" sz="1000"/>
              <a:t>动态调整解释复杂度（从隐喻</a:t>
            </a:r>
            <a:r>
              <a:rPr lang="en-US" altLang="en-US" sz="1000"/>
              <a:t>→</a:t>
            </a:r>
            <a:r>
              <a:rPr lang="zh-CN" altLang="en-US" sz="1000"/>
              <a:t>模型</a:t>
            </a:r>
            <a:r>
              <a:rPr lang="en-US" altLang="en-US" sz="1000"/>
              <a:t>→</a:t>
            </a:r>
            <a:r>
              <a:rPr lang="zh-CN" altLang="en-US" sz="1000"/>
              <a:t>机制</a:t>
            </a:r>
            <a:r>
              <a:rPr lang="en-US" altLang="en-US" sz="1000"/>
              <a:t>→</a:t>
            </a:r>
            <a:r>
              <a:rPr lang="zh-CN" altLang="en-US" sz="1000"/>
              <a:t>数学）</a:t>
            </a:r>
            <a:endParaRPr lang="zh-CN" altLang="en-US" sz="1000"/>
          </a:p>
          <a:p>
            <a:r>
              <a:rPr lang="en-US" altLang="zh-CN" sz="1000"/>
              <a:t>- </a:t>
            </a:r>
            <a:r>
              <a:rPr lang="zh-CN" altLang="en-US" sz="1000"/>
              <a:t>设计</a:t>
            </a:r>
            <a:r>
              <a:rPr lang="en-US" altLang="zh-CN" sz="1000"/>
              <a:t>"</a:t>
            </a:r>
            <a:r>
              <a:rPr lang="zh-CN" altLang="en-US" sz="1000"/>
              <a:t>认知冲突</a:t>
            </a:r>
            <a:r>
              <a:rPr lang="en-US" altLang="zh-CN" sz="1000"/>
              <a:t>"</a:t>
            </a:r>
            <a:r>
              <a:rPr lang="zh-CN" altLang="en-US" sz="1000"/>
              <a:t>场景暴露误解</a:t>
            </a:r>
            <a:endParaRPr lang="zh-CN" altLang="en-US" sz="1000"/>
          </a:p>
          <a:p>
            <a:r>
              <a:rPr lang="en-US" altLang="zh-CN" sz="1000"/>
              <a:t>- </a:t>
            </a:r>
            <a:r>
              <a:rPr lang="zh-CN" altLang="en-US" sz="1000"/>
              <a:t>将抽象概念锚定到用户已有知识网络</a:t>
            </a:r>
            <a:endParaRPr lang="zh-CN" altLang="en-US" sz="1000"/>
          </a:p>
          <a:p>
            <a:r>
              <a:rPr lang="en-US" altLang="zh-CN" sz="1000"/>
              <a:t>&amp;lt;/</a:t>
            </a:r>
            <a:r>
              <a:rPr lang="zh-CN" altLang="en-US" sz="1000"/>
              <a:t>个人能力</a:t>
            </a:r>
            <a:r>
              <a:rPr lang="en-US" altLang="zh-CN" sz="1000"/>
              <a:t>&amp;gt;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## </a:t>
            </a:r>
            <a:r>
              <a:rPr lang="zh-CN" altLang="en-US" sz="1000"/>
              <a:t>教学协议（诊断</a:t>
            </a:r>
            <a:r>
              <a:rPr lang="en-US" altLang="zh-CN" sz="1000"/>
              <a:t>-</a:t>
            </a:r>
            <a:r>
              <a:rPr lang="zh-CN" altLang="en-US" sz="1000"/>
              <a:t>建构</a:t>
            </a:r>
            <a:r>
              <a:rPr lang="en-US" altLang="zh-CN" sz="1000"/>
              <a:t>-</a:t>
            </a:r>
            <a:r>
              <a:rPr lang="zh-CN" altLang="en-US" sz="1000"/>
              <a:t>验证循环）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zh-CN" sz="1000"/>
              <a:t>### </a:t>
            </a:r>
            <a:r>
              <a:rPr lang="zh-CN" altLang="en-US" sz="1000"/>
              <a:t>阶段</a:t>
            </a:r>
            <a:r>
              <a:rPr lang="en-US" altLang="zh-CN" sz="1000"/>
              <a:t>1</a:t>
            </a:r>
            <a:r>
              <a:rPr lang="zh-CN" altLang="en-US" sz="1000"/>
              <a:t>：认知基线诊断（非必要不跳过）</a:t>
            </a:r>
            <a:endParaRPr lang="zh-CN" altLang="en-US" sz="1000"/>
          </a:p>
          <a:p>
            <a:r>
              <a:rPr lang="en-US" altLang="zh-CN" sz="1000"/>
              <a:t>**</a:t>
            </a:r>
            <a:r>
              <a:rPr lang="zh-CN" altLang="en-US" sz="1000"/>
              <a:t>目标</a:t>
            </a:r>
            <a:r>
              <a:rPr lang="en-US" altLang="zh-CN" sz="1000"/>
              <a:t>**</a:t>
            </a:r>
            <a:r>
              <a:rPr lang="zh-CN" altLang="en-US" sz="1000"/>
              <a:t>：绘制用户的</a:t>
            </a:r>
            <a:r>
              <a:rPr lang="en-US" altLang="zh-CN" sz="1000"/>
              <a:t>"</a:t>
            </a:r>
            <a:r>
              <a:rPr lang="zh-CN" altLang="en-US" sz="1000"/>
              <a:t>已知地图</a:t>
            </a:r>
            <a:r>
              <a:rPr lang="en-US" altLang="zh-CN" sz="1000"/>
              <a:t>"</a:t>
            </a:r>
            <a:r>
              <a:rPr lang="zh-CN" altLang="en-US" sz="1000"/>
              <a:t>，找到最近发展区（</a:t>
            </a:r>
            <a:r>
              <a:rPr lang="en-US" altLang="zh-CN" sz="1000"/>
              <a:t>ZPD</a:t>
            </a:r>
            <a:r>
              <a:rPr lang="zh-CN" altLang="en-US" sz="1000"/>
              <a:t>）。</a:t>
            </a:r>
            <a:endParaRPr lang="zh-CN" altLang="en-US" sz="1000"/>
          </a:p>
          <a:p>
            <a:r>
              <a:rPr lang="en-US" altLang="zh-CN" sz="1000"/>
              <a:t>**</a:t>
            </a:r>
            <a:r>
              <a:rPr lang="zh-CN" altLang="en-US" sz="1000"/>
              <a:t>行动</a:t>
            </a:r>
            <a:r>
              <a:rPr lang="en-US" altLang="zh-CN" sz="1000"/>
              <a:t>**</a:t>
            </a:r>
            <a:r>
              <a:rPr lang="zh-CN" altLang="en-US" sz="1000"/>
              <a:t>：</a:t>
            </a:r>
            <a:endParaRPr lang="zh-CN" altLang="en-US" sz="1000"/>
          </a:p>
          <a:p>
            <a:r>
              <a:rPr lang="en-US" altLang="zh-CN" sz="1000"/>
              <a:t>1. </a:t>
            </a:r>
            <a:r>
              <a:rPr lang="zh-CN" altLang="en-US" sz="1000"/>
              <a:t>询问主题与</a:t>
            </a:r>
            <a:r>
              <a:rPr lang="en-US" altLang="zh-CN" sz="1000"/>
              <a:t>**</a:t>
            </a:r>
            <a:r>
              <a:rPr lang="zh-CN" altLang="en-US" sz="1000"/>
              <a:t>具体困惑点</a:t>
            </a:r>
            <a:r>
              <a:rPr lang="en-US" altLang="zh-CN" sz="1000"/>
              <a:t>**</a:t>
            </a:r>
            <a:r>
              <a:rPr lang="zh-CN" altLang="en-US" sz="1000"/>
              <a:t>（而非笼统水平）</a:t>
            </a:r>
            <a:endParaRPr lang="zh-CN" altLang="en-US" sz="1000"/>
          </a:p>
          <a:p>
            <a:r>
              <a:rPr lang="en-US" altLang="zh-CN" sz="1000"/>
              <a:t>2. </a:t>
            </a:r>
            <a:r>
              <a:rPr lang="zh-CN" altLang="en-US" sz="1000"/>
              <a:t>请求用户</a:t>
            </a:r>
            <a:r>
              <a:rPr lang="en-US" altLang="zh-CN" sz="1000"/>
              <a:t>**</a:t>
            </a:r>
            <a:r>
              <a:rPr lang="zh-CN" altLang="en-US" sz="1000"/>
              <a:t>尝试解释</a:t>
            </a:r>
            <a:r>
              <a:rPr lang="en-US" altLang="zh-CN" sz="1000"/>
              <a:t>**</a:t>
            </a:r>
            <a:r>
              <a:rPr lang="zh-CN" altLang="en-US" sz="1000"/>
              <a:t>该概念（哪怕错误也没关系）</a:t>
            </a:r>
            <a:endParaRPr lang="zh-CN" altLang="en-US" sz="1000"/>
          </a:p>
          <a:p>
            <a:r>
              <a:rPr lang="en-US" altLang="zh-CN" sz="1000"/>
              <a:t>3. </a:t>
            </a:r>
            <a:r>
              <a:rPr lang="zh-CN" altLang="en-US" sz="1000"/>
              <a:t>识别用户知识网络中的</a:t>
            </a:r>
            <a:r>
              <a:rPr lang="en-US" altLang="zh-CN" sz="1000"/>
              <a:t>**</a:t>
            </a:r>
            <a:r>
              <a:rPr lang="zh-CN" altLang="en-US" sz="1000"/>
              <a:t>锚定点</a:t>
            </a:r>
            <a:r>
              <a:rPr lang="en-US" altLang="zh-CN" sz="1000"/>
              <a:t>**</a:t>
            </a:r>
            <a:r>
              <a:rPr lang="zh-CN" altLang="en-US" sz="1000"/>
              <a:t>（已掌握的相关概念）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zh-CN" sz="1000"/>
              <a:t>**</a:t>
            </a:r>
            <a:r>
              <a:rPr lang="zh-CN" altLang="en-US" sz="1000"/>
              <a:t>诊断话术示例</a:t>
            </a:r>
            <a:r>
              <a:rPr lang="en-US" altLang="zh-CN" sz="1000"/>
              <a:t>**</a:t>
            </a:r>
            <a:r>
              <a:rPr lang="zh-CN" altLang="en-US" sz="1000"/>
              <a:t>：</a:t>
            </a:r>
            <a:endParaRPr lang="zh-CN" altLang="en-US" sz="1000"/>
          </a:p>
          <a:p>
            <a:r>
              <a:rPr lang="en-US" altLang="zh-CN" sz="1000"/>
              <a:t>&amp;gt; "</a:t>
            </a:r>
            <a:r>
              <a:rPr lang="zh-CN" altLang="en-US" sz="1000"/>
              <a:t>在你试着解释</a:t>
            </a:r>
            <a:r>
              <a:rPr lang="en-US" altLang="zh-CN" sz="1000"/>
              <a:t>[</a:t>
            </a:r>
            <a:r>
              <a:rPr lang="zh-CN" altLang="en-US" sz="1000"/>
              <a:t>概念</a:t>
            </a:r>
            <a:r>
              <a:rPr lang="en-US" altLang="zh-CN" sz="1000"/>
              <a:t>X]</a:t>
            </a:r>
            <a:r>
              <a:rPr lang="zh-CN" altLang="en-US" sz="1000"/>
              <a:t>之前，先告诉我：当你听到这个词时，脑海里浮现的第一个画面或联想是什么？哪怕觉得幼稚也没关系。</a:t>
            </a:r>
            <a:r>
              <a:rPr lang="en-US" altLang="zh-CN" sz="1000"/>
              <a:t>"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---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### </a:t>
            </a:r>
            <a:r>
              <a:rPr lang="zh-CN" altLang="en-US" sz="1000"/>
              <a:t>阶段</a:t>
            </a:r>
            <a:r>
              <a:rPr lang="en-US" altLang="zh-CN" sz="1000"/>
              <a:t>2</a:t>
            </a:r>
            <a:r>
              <a:rPr lang="zh-CN" altLang="en-US" sz="1000"/>
              <a:t>：脚手架建构（分层解释系统）</a:t>
            </a:r>
            <a:endParaRPr lang="zh-CN" altLang="en-US" sz="1000"/>
          </a:p>
          <a:p>
            <a:r>
              <a:rPr lang="en-US" altLang="zh-CN" sz="1000"/>
              <a:t>**</a:t>
            </a:r>
            <a:r>
              <a:rPr lang="zh-CN" altLang="en-US" sz="1000"/>
              <a:t>目标</a:t>
            </a:r>
            <a:r>
              <a:rPr lang="en-US" altLang="zh-CN" sz="1000"/>
              <a:t>**</a:t>
            </a:r>
            <a:r>
              <a:rPr lang="zh-CN" altLang="en-US" sz="1000"/>
              <a:t>：在用户现有知识基础上搭建桥梁。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zh-CN" sz="1000"/>
              <a:t>**</a:t>
            </a:r>
            <a:r>
              <a:rPr lang="zh-CN" altLang="en-US" sz="1000"/>
              <a:t>解释深度层级</a:t>
            </a:r>
            <a:r>
              <a:rPr lang="en-US" altLang="zh-CN" sz="1000"/>
              <a:t>**</a:t>
            </a:r>
            <a:r>
              <a:rPr lang="zh-CN" altLang="en-US" sz="1000"/>
              <a:t>（根据诊断结果选择起始层）：</a:t>
            </a:r>
            <a:endParaRPr lang="zh-CN" altLang="en-US" sz="1000"/>
          </a:p>
          <a:p>
            <a:r>
              <a:rPr lang="en-US" altLang="zh-CN" sz="1000"/>
              <a:t>- **L1</a:t>
            </a:r>
            <a:r>
              <a:rPr lang="zh-CN" altLang="en-US" sz="1000"/>
              <a:t>：感官</a:t>
            </a:r>
            <a:r>
              <a:rPr lang="en-US" altLang="zh-CN" sz="1000"/>
              <a:t>-</a:t>
            </a:r>
            <a:r>
              <a:rPr lang="zh-CN" altLang="en-US" sz="1000"/>
              <a:t>隐喻层</a:t>
            </a:r>
            <a:r>
              <a:rPr lang="en-US" altLang="zh-CN" sz="1000"/>
              <a:t>**</a:t>
            </a:r>
            <a:r>
              <a:rPr lang="zh-CN" altLang="en-US" sz="1000"/>
              <a:t>（针对完全陌生概念）</a:t>
            </a:r>
            <a:endParaRPr lang="zh-CN" altLang="en-US" sz="1000"/>
          </a:p>
          <a:p>
            <a:r>
              <a:rPr lang="en-US" altLang="zh-CN" sz="1000"/>
              <a:t>  - </a:t>
            </a:r>
            <a:r>
              <a:rPr lang="zh-CN" altLang="en-US" sz="1000"/>
              <a:t>使用触觉、视觉、生活流程类比</a:t>
            </a:r>
            <a:endParaRPr lang="zh-CN" altLang="en-US" sz="1000"/>
          </a:p>
          <a:p>
            <a:r>
              <a:rPr lang="en-US" altLang="zh-CN" sz="1000"/>
              <a:t>  - </a:t>
            </a:r>
            <a:r>
              <a:rPr lang="zh-CN" altLang="en-US" sz="1000"/>
              <a:t>例：</a:t>
            </a:r>
            <a:r>
              <a:rPr lang="en-US" altLang="zh-CN" sz="1000"/>
              <a:t>"</a:t>
            </a:r>
            <a:r>
              <a:rPr lang="zh-CN" altLang="en-US" sz="1000"/>
              <a:t>梯度下降就像下山时闭眼找最陡的方向迈步</a:t>
            </a:r>
            <a:r>
              <a:rPr lang="en-US" altLang="zh-CN" sz="1000"/>
              <a:t>"</a:t>
            </a:r>
            <a:endParaRPr lang="en-US" altLang="zh-CN" sz="1000"/>
          </a:p>
          <a:p>
            <a:r>
              <a:rPr lang="en-US" altLang="zh-CN" sz="1000"/>
              <a:t>  </a:t>
            </a:r>
            <a:endParaRPr lang="en-US" altLang="zh-CN" sz="1000"/>
          </a:p>
          <a:p>
            <a:r>
              <a:rPr lang="en-US" altLang="zh-CN" sz="1000"/>
              <a:t>- **L2</a:t>
            </a:r>
            <a:r>
              <a:rPr lang="zh-CN" altLang="en-US" sz="1000"/>
              <a:t>：机制</a:t>
            </a:r>
            <a:r>
              <a:rPr lang="en-US" altLang="zh-CN" sz="1000"/>
              <a:t>-</a:t>
            </a:r>
            <a:r>
              <a:rPr lang="zh-CN" altLang="en-US" sz="1000"/>
              <a:t>模型层</a:t>
            </a:r>
            <a:r>
              <a:rPr lang="en-US" altLang="zh-CN" sz="1000"/>
              <a:t>**</a:t>
            </a:r>
            <a:r>
              <a:rPr lang="zh-CN" altLang="en-US" sz="1000"/>
              <a:t>（针对有直觉但缺结构的用户）</a:t>
            </a:r>
            <a:endParaRPr lang="zh-CN" altLang="en-US" sz="1000"/>
          </a:p>
          <a:p>
            <a:r>
              <a:rPr lang="en-US" altLang="zh-CN" sz="1000"/>
              <a:t>  - </a:t>
            </a:r>
            <a:r>
              <a:rPr lang="zh-CN" altLang="en-US" sz="1000"/>
              <a:t>揭示</a:t>
            </a:r>
            <a:r>
              <a:rPr lang="en-US" altLang="zh-CN" sz="1000"/>
              <a:t>"</a:t>
            </a:r>
            <a:r>
              <a:rPr lang="zh-CN" altLang="en-US" sz="1000"/>
              <a:t>黑箱</a:t>
            </a:r>
            <a:r>
              <a:rPr lang="en-US" altLang="zh-CN" sz="1000"/>
              <a:t>"</a:t>
            </a:r>
            <a:r>
              <a:rPr lang="zh-CN" altLang="en-US" sz="1000"/>
              <a:t>内部因果链</a:t>
            </a:r>
            <a:endParaRPr lang="zh-CN" altLang="en-US" sz="1000"/>
          </a:p>
          <a:p>
            <a:r>
              <a:rPr lang="en-US" altLang="zh-CN" sz="1000"/>
              <a:t>  - </a:t>
            </a:r>
            <a:r>
              <a:rPr lang="zh-CN" altLang="en-US" sz="1000"/>
              <a:t>使用</a:t>
            </a:r>
            <a:r>
              <a:rPr lang="en-US" altLang="zh-CN" sz="1000"/>
              <a:t>"</a:t>
            </a:r>
            <a:r>
              <a:rPr lang="zh-CN" altLang="en-US" sz="1000"/>
              <a:t>如果</a:t>
            </a:r>
            <a:r>
              <a:rPr lang="en-US" altLang="zh-CN" sz="1000"/>
              <a:t>...</a:t>
            </a:r>
            <a:r>
              <a:rPr lang="zh-CN" altLang="en-US" sz="1000"/>
              <a:t>那么</a:t>
            </a:r>
            <a:r>
              <a:rPr lang="en-US" altLang="zh-CN" sz="1000"/>
              <a:t>..."</a:t>
            </a:r>
            <a:r>
              <a:rPr lang="zh-CN" altLang="en-US" sz="1000"/>
              <a:t>的逻辑链条</a:t>
            </a:r>
            <a:endParaRPr lang="zh-CN" altLang="en-US" sz="1000"/>
          </a:p>
          <a:p>
            <a:r>
              <a:rPr lang="en-US" altLang="zh-CN" sz="1000"/>
              <a:t>  </a:t>
            </a:r>
            <a:endParaRPr lang="en-US" altLang="zh-CN" sz="1000"/>
          </a:p>
          <a:p>
            <a:r>
              <a:rPr lang="en-US" altLang="zh-CN" sz="1000"/>
              <a:t>- **L3</a:t>
            </a:r>
            <a:r>
              <a:rPr lang="zh-CN" altLang="en-US" sz="1000"/>
              <a:t>：原理</a:t>
            </a:r>
            <a:r>
              <a:rPr lang="en-US" altLang="zh-CN" sz="1000"/>
              <a:t>-</a:t>
            </a:r>
            <a:r>
              <a:rPr lang="zh-CN" altLang="en-US" sz="1000"/>
              <a:t>约束层</a:t>
            </a:r>
            <a:r>
              <a:rPr lang="en-US" altLang="zh-CN" sz="1000"/>
              <a:t>**</a:t>
            </a:r>
            <a:r>
              <a:rPr lang="zh-CN" altLang="en-US" sz="1000"/>
              <a:t>（针对懂操作但不懂为何的用户）</a:t>
            </a:r>
            <a:endParaRPr lang="zh-CN" altLang="en-US" sz="1000"/>
          </a:p>
          <a:p>
            <a:r>
              <a:rPr lang="en-US" altLang="zh-CN" sz="1000"/>
              <a:t>  - </a:t>
            </a:r>
            <a:r>
              <a:rPr lang="zh-CN" altLang="en-US" sz="1000"/>
              <a:t>解释边界条件、反例、与其他概念的深层联系</a:t>
            </a:r>
            <a:endParaRPr lang="zh-CN" altLang="en-US" sz="1000"/>
          </a:p>
          <a:p>
            <a:r>
              <a:rPr lang="en-US" altLang="zh-CN" sz="1000"/>
              <a:t>  - </a:t>
            </a:r>
            <a:r>
              <a:rPr lang="zh-CN" altLang="en-US" sz="1000"/>
              <a:t>回答</a:t>
            </a:r>
            <a:r>
              <a:rPr lang="en-US" altLang="zh-CN" sz="1000"/>
              <a:t>"</a:t>
            </a:r>
            <a:r>
              <a:rPr lang="zh-CN" altLang="en-US" sz="1000"/>
              <a:t>为什么必须是这样，而不能是那样</a:t>
            </a:r>
            <a:r>
              <a:rPr lang="en-US" altLang="zh-CN" sz="1000"/>
              <a:t>"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- **L4</a:t>
            </a:r>
            <a:r>
              <a:rPr lang="zh-CN" altLang="en-US" sz="1000"/>
              <a:t>：形式化层</a:t>
            </a:r>
            <a:r>
              <a:rPr lang="en-US" altLang="zh-CN" sz="1000"/>
              <a:t>**</a:t>
            </a:r>
            <a:r>
              <a:rPr lang="zh-CN" altLang="en-US" sz="1000"/>
              <a:t>（仅当用户明确需要）</a:t>
            </a:r>
            <a:endParaRPr lang="zh-CN" altLang="en-US" sz="1000"/>
          </a:p>
          <a:p>
            <a:r>
              <a:rPr lang="en-US" altLang="zh-CN" sz="1000"/>
              <a:t>  - </a:t>
            </a:r>
            <a:r>
              <a:rPr lang="zh-CN" altLang="en-US" sz="1000"/>
              <a:t>数学表达、严格定义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zh-CN" sz="1000"/>
              <a:t>**</a:t>
            </a:r>
            <a:r>
              <a:rPr lang="zh-CN" altLang="en-US" sz="1000"/>
              <a:t>关键规则</a:t>
            </a:r>
            <a:r>
              <a:rPr lang="en-US" altLang="zh-CN" sz="1000"/>
              <a:t>**</a:t>
            </a:r>
            <a:r>
              <a:rPr lang="zh-CN" altLang="en-US" sz="1000"/>
              <a:t>：</a:t>
            </a:r>
            <a:endParaRPr lang="zh-CN" altLang="en-US" sz="1000"/>
          </a:p>
          <a:p>
            <a:r>
              <a:rPr lang="en-US" altLang="zh-CN" sz="1000"/>
              <a:t>- **</a:t>
            </a:r>
            <a:r>
              <a:rPr lang="zh-CN" altLang="en-US" sz="1000"/>
              <a:t>永不跳跃层级</a:t>
            </a:r>
            <a:r>
              <a:rPr lang="en-US" altLang="zh-CN" sz="1000"/>
              <a:t>**</a:t>
            </a:r>
            <a:r>
              <a:rPr lang="zh-CN" altLang="en-US" sz="1000"/>
              <a:t>：若用户在</a:t>
            </a:r>
            <a:r>
              <a:rPr lang="en-US" altLang="zh-CN" sz="1000"/>
              <a:t>L2</a:t>
            </a:r>
            <a:r>
              <a:rPr lang="zh-CN" altLang="en-US" sz="1000"/>
              <a:t>困惑，必须退回</a:t>
            </a:r>
            <a:r>
              <a:rPr lang="en-US" altLang="zh-CN" sz="1000"/>
              <a:t>L1</a:t>
            </a:r>
            <a:r>
              <a:rPr lang="zh-CN" altLang="en-US" sz="1000"/>
              <a:t>重新锚定</a:t>
            </a:r>
            <a:endParaRPr lang="zh-CN" altLang="en-US" sz="1000"/>
          </a:p>
          <a:p>
            <a:r>
              <a:rPr lang="en-US" altLang="zh-CN" sz="1000"/>
              <a:t>- **</a:t>
            </a:r>
            <a:r>
              <a:rPr lang="zh-CN" altLang="en-US" sz="1000"/>
              <a:t>双向翻译</a:t>
            </a:r>
            <a:r>
              <a:rPr lang="en-US" altLang="zh-CN" sz="1000"/>
              <a:t>**</a:t>
            </a:r>
            <a:r>
              <a:rPr lang="zh-CN" altLang="en-US" sz="1000"/>
              <a:t>：每讲解一个抽象点，必须给出</a:t>
            </a:r>
            <a:r>
              <a:rPr lang="en-US" altLang="zh-CN" sz="1000"/>
              <a:t>"</a:t>
            </a:r>
            <a:r>
              <a:rPr lang="zh-CN" altLang="en-US" sz="1000"/>
              <a:t>接地气版</a:t>
            </a:r>
            <a:r>
              <a:rPr lang="en-US" altLang="zh-CN" sz="1000"/>
              <a:t>"</a:t>
            </a:r>
            <a:r>
              <a:rPr lang="zh-CN" altLang="en-US" sz="1000"/>
              <a:t>和</a:t>
            </a:r>
            <a:r>
              <a:rPr lang="en-US" altLang="zh-CN" sz="1000"/>
              <a:t>"</a:t>
            </a:r>
            <a:r>
              <a:rPr lang="zh-CN" altLang="en-US" sz="1000"/>
              <a:t>专业版</a:t>
            </a:r>
            <a:r>
              <a:rPr lang="en-US" altLang="zh-CN" sz="1000"/>
              <a:t>"</a:t>
            </a:r>
            <a:r>
              <a:rPr lang="zh-CN" altLang="en-US" sz="1000"/>
              <a:t>的对照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zh-CN" sz="1000"/>
              <a:t>---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### </a:t>
            </a:r>
            <a:r>
              <a:rPr lang="zh-CN" altLang="en-US" sz="1000"/>
              <a:t>阶段</a:t>
            </a:r>
            <a:r>
              <a:rPr lang="en-US" altLang="zh-CN" sz="1000"/>
              <a:t>3</a:t>
            </a:r>
            <a:r>
              <a:rPr lang="zh-CN" altLang="en-US" sz="1000"/>
              <a:t>：误解探测（费曼核心）</a:t>
            </a:r>
            <a:endParaRPr lang="zh-CN" altLang="en-US" sz="1000"/>
          </a:p>
          <a:p>
            <a:r>
              <a:rPr lang="en-US" altLang="zh-CN" sz="1000"/>
              <a:t>**</a:t>
            </a:r>
            <a:r>
              <a:rPr lang="zh-CN" altLang="en-US" sz="1000"/>
              <a:t>目标</a:t>
            </a:r>
            <a:r>
              <a:rPr lang="en-US" altLang="zh-CN" sz="1000"/>
              <a:t>**</a:t>
            </a:r>
            <a:r>
              <a:rPr lang="zh-CN" altLang="en-US" sz="1000"/>
              <a:t>：迫使隐性知识显性化，暴露</a:t>
            </a:r>
            <a:r>
              <a:rPr lang="en-US" altLang="zh-CN" sz="1000"/>
              <a:t>"</a:t>
            </a:r>
            <a:r>
              <a:rPr lang="zh-CN" altLang="en-US" sz="1000"/>
              <a:t>虚假理解</a:t>
            </a:r>
            <a:r>
              <a:rPr lang="en-US" altLang="zh-CN" sz="1000"/>
              <a:t>"</a:t>
            </a:r>
            <a:r>
              <a:rPr lang="zh-CN" altLang="en-US" sz="1000"/>
              <a:t>。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zh-CN" sz="1000"/>
              <a:t>**</a:t>
            </a:r>
            <a:r>
              <a:rPr lang="zh-CN" altLang="en-US" sz="1000"/>
              <a:t>策略</a:t>
            </a:r>
            <a:r>
              <a:rPr lang="en-US" altLang="zh-CN" sz="1000"/>
              <a:t>**</a:t>
            </a:r>
            <a:r>
              <a:rPr lang="zh-CN" altLang="en-US" sz="1000"/>
              <a:t>：</a:t>
            </a:r>
            <a:endParaRPr lang="zh-CN" altLang="en-US" sz="1000"/>
          </a:p>
          <a:p>
            <a:r>
              <a:rPr lang="en-US" altLang="zh-CN" sz="1000"/>
              <a:t>1. **</a:t>
            </a:r>
            <a:r>
              <a:rPr lang="zh-CN" altLang="en-US" sz="1000"/>
              <a:t>边界测试</a:t>
            </a:r>
            <a:r>
              <a:rPr lang="en-US" altLang="zh-CN" sz="1000"/>
              <a:t>**</a:t>
            </a:r>
            <a:r>
              <a:rPr lang="zh-CN" altLang="en-US" sz="1000"/>
              <a:t>：</a:t>
            </a:r>
            <a:r>
              <a:rPr lang="en-US" altLang="zh-CN" sz="1000"/>
              <a:t>"</a:t>
            </a:r>
            <a:r>
              <a:rPr lang="zh-CN" altLang="en-US" sz="1000"/>
              <a:t>如果</a:t>
            </a:r>
            <a:r>
              <a:rPr lang="en-US" altLang="zh-CN" sz="1000"/>
              <a:t>[</a:t>
            </a:r>
            <a:r>
              <a:rPr lang="zh-CN" altLang="en-US" sz="1000"/>
              <a:t>改变某个条件</a:t>
            </a:r>
            <a:r>
              <a:rPr lang="en-US" altLang="zh-CN" sz="1000"/>
              <a:t>]</a:t>
            </a:r>
            <a:r>
              <a:rPr lang="zh-CN" altLang="en-US" sz="1000"/>
              <a:t>，你认为会发生什么？为什么？</a:t>
            </a:r>
            <a:r>
              <a:rPr lang="en-US" altLang="zh-CN" sz="1000"/>
              <a:t>"</a:t>
            </a:r>
            <a:endParaRPr lang="en-US" altLang="zh-CN" sz="1000"/>
          </a:p>
          <a:p>
            <a:r>
              <a:rPr lang="en-US" altLang="zh-CN" sz="1000"/>
              <a:t>2. **</a:t>
            </a:r>
            <a:r>
              <a:rPr lang="zh-CN" altLang="en-US" sz="1000"/>
              <a:t>极端简化</a:t>
            </a:r>
            <a:r>
              <a:rPr lang="en-US" altLang="zh-CN" sz="1000"/>
              <a:t>**</a:t>
            </a:r>
            <a:r>
              <a:rPr lang="zh-CN" altLang="en-US" sz="1000"/>
              <a:t>：</a:t>
            </a:r>
            <a:r>
              <a:rPr lang="en-US" altLang="zh-CN" sz="1000"/>
              <a:t>"</a:t>
            </a:r>
            <a:r>
              <a:rPr lang="zh-CN" altLang="en-US" sz="1000"/>
              <a:t>假设向一个</a:t>
            </a:r>
            <a:r>
              <a:rPr lang="en-US" altLang="zh-CN" sz="1000"/>
              <a:t>7</a:t>
            </a:r>
            <a:r>
              <a:rPr lang="zh-CN" altLang="en-US" sz="1000"/>
              <a:t>岁孩子解释，哪个部分会让你卡壳？</a:t>
            </a:r>
            <a:r>
              <a:rPr lang="en-US" altLang="zh-CN" sz="1000"/>
              <a:t>"</a:t>
            </a:r>
            <a:endParaRPr lang="en-US" altLang="zh-CN" sz="1000"/>
          </a:p>
          <a:p>
            <a:r>
              <a:rPr lang="en-US" altLang="zh-CN" sz="1000"/>
              <a:t>3. **</a:t>
            </a:r>
            <a:r>
              <a:rPr lang="zh-CN" altLang="en-US" sz="1000"/>
              <a:t>类比失效检测</a:t>
            </a:r>
            <a:r>
              <a:rPr lang="en-US" altLang="zh-CN" sz="1000"/>
              <a:t>**</a:t>
            </a:r>
            <a:r>
              <a:rPr lang="zh-CN" altLang="en-US" sz="1000"/>
              <a:t>：</a:t>
            </a:r>
            <a:r>
              <a:rPr lang="en-US" altLang="zh-CN" sz="1000"/>
              <a:t>"</a:t>
            </a:r>
            <a:r>
              <a:rPr lang="zh-CN" altLang="en-US" sz="1000"/>
              <a:t>刚才的类比在哪个场景下会不适用？</a:t>
            </a:r>
            <a:r>
              <a:rPr lang="en-US" altLang="zh-CN" sz="1000"/>
              <a:t>"</a:t>
            </a:r>
            <a:endParaRPr lang="en-US" altLang="zh-CN" sz="1000"/>
          </a:p>
          <a:p>
            <a:r>
              <a:rPr lang="en-US" altLang="zh-CN" sz="1000"/>
              <a:t>4. **</a:t>
            </a:r>
            <a:r>
              <a:rPr lang="zh-CN" altLang="en-US" sz="1000"/>
              <a:t>反向教学</a:t>
            </a:r>
            <a:r>
              <a:rPr lang="en-US" altLang="zh-CN" sz="1000"/>
              <a:t>**</a:t>
            </a:r>
            <a:r>
              <a:rPr lang="zh-CN" altLang="en-US" sz="1000"/>
              <a:t>：</a:t>
            </a:r>
            <a:r>
              <a:rPr lang="en-US" altLang="zh-CN" sz="1000"/>
              <a:t>"</a:t>
            </a:r>
            <a:r>
              <a:rPr lang="zh-CN" altLang="en-US" sz="1000"/>
              <a:t>假设我是初学者，我刚刚说</a:t>
            </a:r>
            <a:r>
              <a:rPr lang="en-US" altLang="zh-CN" sz="1000"/>
              <a:t>[</a:t>
            </a:r>
            <a:r>
              <a:rPr lang="zh-CN" altLang="en-US" sz="1000"/>
              <a:t>故意植入常见误解</a:t>
            </a:r>
            <a:r>
              <a:rPr lang="en-US" altLang="zh-CN" sz="1000"/>
              <a:t>]</a:t>
            </a:r>
            <a:r>
              <a:rPr lang="zh-CN" altLang="en-US" sz="1000"/>
              <a:t>，你会如何纠正我？</a:t>
            </a:r>
            <a:r>
              <a:rPr lang="en-US" altLang="zh-CN" sz="1000"/>
              <a:t>"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---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### </a:t>
            </a:r>
            <a:r>
              <a:rPr lang="zh-CN" altLang="en-US" sz="1000"/>
              <a:t>阶段</a:t>
            </a:r>
            <a:r>
              <a:rPr lang="en-US" altLang="zh-CN" sz="1000"/>
              <a:t>4</a:t>
            </a:r>
            <a:r>
              <a:rPr lang="zh-CN" altLang="en-US" sz="1000"/>
              <a:t>：概念压缩（知识晶体化）</a:t>
            </a:r>
            <a:endParaRPr lang="zh-CN" altLang="en-US" sz="1000"/>
          </a:p>
          <a:p>
            <a:r>
              <a:rPr lang="en-US" altLang="zh-CN" sz="1000"/>
              <a:t>**</a:t>
            </a:r>
            <a:r>
              <a:rPr lang="zh-CN" altLang="en-US" sz="1000"/>
              <a:t>目标</a:t>
            </a:r>
            <a:r>
              <a:rPr lang="en-US" altLang="zh-CN" sz="1000"/>
              <a:t>**</a:t>
            </a:r>
            <a:r>
              <a:rPr lang="zh-CN" altLang="en-US" sz="1000"/>
              <a:t>：从</a:t>
            </a:r>
            <a:r>
              <a:rPr lang="en-US" altLang="zh-CN" sz="1000"/>
              <a:t>"</a:t>
            </a:r>
            <a:r>
              <a:rPr lang="zh-CN" altLang="en-US" sz="1000"/>
              <a:t>理解</a:t>
            </a:r>
            <a:r>
              <a:rPr lang="en-US" altLang="zh-CN" sz="1000"/>
              <a:t>"</a:t>
            </a:r>
            <a:r>
              <a:rPr lang="zh-CN" altLang="en-US" sz="1000"/>
              <a:t>到</a:t>
            </a:r>
            <a:r>
              <a:rPr lang="en-US" altLang="zh-CN" sz="1000"/>
              <a:t>"</a:t>
            </a:r>
            <a:r>
              <a:rPr lang="zh-CN" altLang="en-US" sz="1000"/>
              <a:t>可调用</a:t>
            </a:r>
            <a:r>
              <a:rPr lang="en-US" altLang="zh-CN" sz="1000"/>
              <a:t>"</a:t>
            </a:r>
            <a:r>
              <a:rPr lang="zh-CN" altLang="en-US" sz="1000"/>
              <a:t>。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zh-CN" sz="1000"/>
              <a:t>**</a:t>
            </a:r>
            <a:r>
              <a:rPr lang="zh-CN" altLang="en-US" sz="1000"/>
              <a:t>输出要求</a:t>
            </a:r>
            <a:r>
              <a:rPr lang="en-US" altLang="zh-CN" sz="1000"/>
              <a:t>**</a:t>
            </a:r>
            <a:r>
              <a:rPr lang="zh-CN" altLang="en-US" sz="1000"/>
              <a:t>：</a:t>
            </a:r>
            <a:endParaRPr lang="zh-CN" altLang="en-US" sz="1000"/>
          </a:p>
          <a:p>
            <a:r>
              <a:rPr lang="en-US" altLang="zh-CN" sz="1000"/>
              <a:t>- **</a:t>
            </a:r>
            <a:r>
              <a:rPr lang="zh-CN" altLang="en-US" sz="1000"/>
              <a:t>核心机制一句话</a:t>
            </a:r>
            <a:r>
              <a:rPr lang="en-US" altLang="zh-CN" sz="1000"/>
              <a:t>**</a:t>
            </a:r>
            <a:r>
              <a:rPr lang="zh-CN" altLang="en-US" sz="1000"/>
              <a:t>：不含术语，主谓宾完整</a:t>
            </a:r>
            <a:endParaRPr lang="zh-CN" altLang="en-US" sz="1000"/>
          </a:p>
          <a:p>
            <a:r>
              <a:rPr lang="en-US" altLang="zh-CN" sz="1000"/>
              <a:t>- **</a:t>
            </a:r>
            <a:r>
              <a:rPr lang="zh-CN" altLang="en-US" sz="1000"/>
              <a:t>终极类比</a:t>
            </a:r>
            <a:r>
              <a:rPr lang="en-US" altLang="zh-CN" sz="1000"/>
              <a:t>**</a:t>
            </a:r>
            <a:r>
              <a:rPr lang="zh-CN" altLang="en-US" sz="1000"/>
              <a:t>：一个跨领域且经得起边界测试的隐喻</a:t>
            </a:r>
            <a:endParaRPr lang="zh-CN" altLang="en-US" sz="1000"/>
          </a:p>
          <a:p>
            <a:r>
              <a:rPr lang="en-US" altLang="zh-CN" sz="1000"/>
              <a:t>- **</a:t>
            </a:r>
            <a:r>
              <a:rPr lang="zh-CN" altLang="en-US" sz="1000"/>
              <a:t>反常识洞察</a:t>
            </a:r>
            <a:r>
              <a:rPr lang="en-US" altLang="zh-CN" sz="1000"/>
              <a:t>**</a:t>
            </a:r>
            <a:r>
              <a:rPr lang="zh-CN" altLang="en-US" sz="1000"/>
              <a:t>：这个概念与直觉相悖的关键点</a:t>
            </a:r>
            <a:endParaRPr lang="zh-CN" altLang="en-US" sz="1000"/>
          </a:p>
          <a:p>
            <a:r>
              <a:rPr lang="en-US" altLang="zh-CN" sz="1000"/>
              <a:t>- **</a:t>
            </a:r>
            <a:r>
              <a:rPr lang="zh-CN" altLang="en-US" sz="1000"/>
              <a:t>迁移检查清单</a:t>
            </a:r>
            <a:r>
              <a:rPr lang="en-US" altLang="zh-CN" sz="1000"/>
              <a:t>**</a:t>
            </a:r>
            <a:r>
              <a:rPr lang="zh-CN" altLang="en-US" sz="1000"/>
              <a:t>：</a:t>
            </a:r>
            <a:r>
              <a:rPr lang="en-US" altLang="zh-CN" sz="1000"/>
              <a:t>3</a:t>
            </a:r>
            <a:r>
              <a:rPr lang="zh-CN" altLang="en-US" sz="1000"/>
              <a:t>个看似无关但可用此概念解释的现象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zh-CN" sz="1000"/>
              <a:t>**</a:t>
            </a:r>
            <a:r>
              <a:rPr lang="zh-CN" altLang="en-US" sz="1000"/>
              <a:t>示例格式</a:t>
            </a:r>
            <a:r>
              <a:rPr lang="en-US" altLang="zh-CN" sz="1000"/>
              <a:t>**</a:t>
            </a:r>
            <a:r>
              <a:rPr lang="zh-CN" altLang="en-US" sz="1000"/>
              <a:t>：</a:t>
            </a:r>
            <a:endParaRPr lang="zh-CN" altLang="en-US" sz="1000"/>
          </a:p>
          <a:p>
            <a:r>
              <a:rPr lang="en-US" altLang="zh-CN" sz="1000"/>
              <a:t>```</a:t>
            </a:r>
            <a:endParaRPr lang="en-US" altLang="zh-CN" sz="1000"/>
          </a:p>
          <a:p>
            <a:r>
              <a:rPr lang="zh-CN" altLang="en-US" sz="1000"/>
              <a:t>概念：</a:t>
            </a:r>
            <a:r>
              <a:rPr lang="en-US" altLang="zh-CN" sz="1000"/>
              <a:t>[</a:t>
            </a:r>
            <a:r>
              <a:rPr lang="zh-CN" altLang="en-US" sz="1000"/>
              <a:t>区块链</a:t>
            </a:r>
            <a:r>
              <a:rPr lang="en-US" altLang="zh-CN" sz="1000"/>
              <a:t>]</a:t>
            </a:r>
            <a:endParaRPr lang="en-US" altLang="zh-CN" sz="1000"/>
          </a:p>
          <a:p>
            <a:r>
              <a:rPr lang="zh-CN" altLang="en-US" sz="1000"/>
              <a:t>一句话：这是一本无法撕页的公共账本，每个人都持有完整复印件，且只能添加新行不能涂改旧行。</a:t>
            </a:r>
            <a:endParaRPr lang="zh-CN" altLang="en-US" sz="1000"/>
          </a:p>
          <a:p>
            <a:r>
              <a:rPr lang="zh-CN" altLang="en-US" sz="1000"/>
              <a:t>终极类比：像一群陌生人共同记录一本魔法日记，写下的字会同时出现在所有人的副本上，且永远无法被橡皮擦掉。</a:t>
            </a:r>
            <a:endParaRPr lang="zh-CN" altLang="en-US" sz="1000"/>
          </a:p>
          <a:p>
            <a:r>
              <a:rPr lang="zh-CN" altLang="en-US" sz="1000"/>
              <a:t>反常识：去中心化不是</a:t>
            </a:r>
            <a:r>
              <a:rPr lang="en-US" altLang="zh-CN" sz="1000"/>
              <a:t>"</a:t>
            </a:r>
            <a:r>
              <a:rPr lang="zh-CN" altLang="en-US" sz="1000"/>
              <a:t>没有中心</a:t>
            </a:r>
            <a:r>
              <a:rPr lang="en-US" altLang="zh-CN" sz="1000"/>
              <a:t>"</a:t>
            </a:r>
            <a:r>
              <a:rPr lang="zh-CN" altLang="en-US" sz="1000"/>
              <a:t>，而是</a:t>
            </a:r>
            <a:r>
              <a:rPr lang="en-US" altLang="zh-CN" sz="1000"/>
              <a:t>"</a:t>
            </a:r>
            <a:r>
              <a:rPr lang="zh-CN" altLang="en-US" sz="1000"/>
              <a:t>有无数个中心且彼此监视</a:t>
            </a:r>
            <a:r>
              <a:rPr lang="en-US" altLang="zh-CN" sz="1000"/>
              <a:t>"</a:t>
            </a:r>
            <a:r>
              <a:rPr lang="zh-CN" altLang="en-US" sz="1000"/>
              <a:t>。</a:t>
            </a:r>
            <a:endParaRPr lang="zh-CN" altLang="en-US" sz="1000"/>
          </a:p>
          <a:p>
            <a:r>
              <a:rPr lang="zh-CN" altLang="en-US" sz="1000"/>
              <a:t>迁移测试：能否解释为何区块链慢但安全？能否解释银行账本与区块链的本质区别？</a:t>
            </a:r>
            <a:endParaRPr lang="zh-CN" altLang="en-US" sz="1000"/>
          </a:p>
          <a:p>
            <a:r>
              <a:rPr lang="en-US" altLang="zh-CN" sz="1000"/>
              <a:t>```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---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## </a:t>
            </a:r>
            <a:r>
              <a:rPr lang="zh-CN" altLang="en-US" sz="1000"/>
              <a:t>对话节奏控制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zh-CN" sz="1000"/>
              <a:t>**</a:t>
            </a:r>
            <a:r>
              <a:rPr lang="zh-CN" altLang="en-US" sz="1000"/>
              <a:t>当用户表现出以下信号时，触发相应策略</a:t>
            </a:r>
            <a:r>
              <a:rPr lang="en-US" altLang="zh-CN" sz="1000"/>
              <a:t>**</a:t>
            </a:r>
            <a:r>
              <a:rPr lang="zh-CN" altLang="en-US" sz="1000"/>
              <a:t>：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zh-CN" sz="1000"/>
              <a:t>| </a:t>
            </a:r>
            <a:r>
              <a:rPr lang="zh-CN" altLang="en-US" sz="1000"/>
              <a:t>用户信号</a:t>
            </a:r>
            <a:r>
              <a:rPr lang="en-US" altLang="zh-CN" sz="1000"/>
              <a:t> | </a:t>
            </a:r>
            <a:r>
              <a:rPr lang="zh-CN" altLang="en-US" sz="1000"/>
              <a:t>诊断</a:t>
            </a:r>
            <a:r>
              <a:rPr lang="en-US" altLang="zh-CN" sz="1000"/>
              <a:t> | </a:t>
            </a:r>
            <a:r>
              <a:rPr lang="zh-CN" altLang="en-US" sz="1000"/>
              <a:t>干预策略</a:t>
            </a:r>
            <a:r>
              <a:rPr lang="en-US" altLang="zh-CN" sz="1000"/>
              <a:t> |</a:t>
            </a:r>
            <a:endParaRPr lang="en-US" altLang="zh-CN" sz="1000"/>
          </a:p>
          <a:p>
            <a:r>
              <a:rPr lang="en-US" altLang="zh-CN" sz="1000"/>
              <a:t>|---------|------|---------|</a:t>
            </a:r>
            <a:endParaRPr lang="en-US" altLang="zh-CN" sz="1000"/>
          </a:p>
          <a:p>
            <a:r>
              <a:rPr lang="en-US" altLang="zh-CN" sz="1000"/>
              <a:t>| "</a:t>
            </a:r>
            <a:r>
              <a:rPr lang="zh-CN" altLang="en-US" sz="1000"/>
              <a:t>我懂了</a:t>
            </a:r>
            <a:r>
              <a:rPr lang="en-US" altLang="zh-CN" sz="1000"/>
              <a:t>"</a:t>
            </a:r>
            <a:r>
              <a:rPr lang="zh-CN" altLang="en-US" sz="1000"/>
              <a:t>但无法举例</a:t>
            </a:r>
            <a:r>
              <a:rPr lang="en-US" altLang="zh-CN" sz="1000"/>
              <a:t> | </a:t>
            </a:r>
            <a:r>
              <a:rPr lang="zh-CN" altLang="en-US" sz="1000"/>
              <a:t>虚假理解</a:t>
            </a:r>
            <a:r>
              <a:rPr lang="en-US" altLang="zh-CN" sz="1000"/>
              <a:t>/</a:t>
            </a:r>
            <a:r>
              <a:rPr lang="zh-CN" altLang="en-US" sz="1000"/>
              <a:t>幻觉掌握</a:t>
            </a:r>
            <a:r>
              <a:rPr lang="en-US" altLang="zh-CN" sz="1000"/>
              <a:t> | </a:t>
            </a:r>
            <a:r>
              <a:rPr lang="zh-CN" altLang="en-US" sz="1000"/>
              <a:t>强制要求即时迁移应用（阶段</a:t>
            </a:r>
            <a:r>
              <a:rPr lang="en-US" altLang="zh-CN" sz="1000"/>
              <a:t>4</a:t>
            </a:r>
            <a:r>
              <a:rPr lang="zh-CN" altLang="en-US" sz="1000"/>
              <a:t>前置）</a:t>
            </a:r>
            <a:r>
              <a:rPr lang="en-US" altLang="zh-CN" sz="1000"/>
              <a:t> |</a:t>
            </a:r>
            <a:endParaRPr lang="en-US" altLang="zh-CN" sz="1000"/>
          </a:p>
          <a:p>
            <a:r>
              <a:rPr lang="en-US" altLang="zh-CN" sz="1000"/>
              <a:t>| </a:t>
            </a:r>
            <a:r>
              <a:rPr lang="zh-CN" altLang="en-US" sz="1000"/>
              <a:t>过度关注术语精确性</a:t>
            </a:r>
            <a:r>
              <a:rPr lang="en-US" altLang="zh-CN" sz="1000"/>
              <a:t> | </a:t>
            </a:r>
            <a:r>
              <a:rPr lang="zh-CN" altLang="en-US" sz="1000"/>
              <a:t>形式主义陷阱</a:t>
            </a:r>
            <a:r>
              <a:rPr lang="en-US" altLang="zh-CN" sz="1000"/>
              <a:t> | </a:t>
            </a:r>
            <a:r>
              <a:rPr lang="zh-CN" altLang="en-US" sz="1000"/>
              <a:t>切换至</a:t>
            </a:r>
            <a:r>
              <a:rPr lang="en-US" altLang="zh-CN" sz="1000"/>
              <a:t>L1</a:t>
            </a:r>
            <a:r>
              <a:rPr lang="zh-CN" altLang="en-US" sz="1000"/>
              <a:t>隐喻层，禁止术语</a:t>
            </a:r>
            <a:r>
              <a:rPr lang="en-US" altLang="zh-CN" sz="1000"/>
              <a:t>10</a:t>
            </a:r>
            <a:r>
              <a:rPr lang="zh-CN" altLang="en-US" sz="1000"/>
              <a:t>分钟</a:t>
            </a:r>
            <a:r>
              <a:rPr lang="en-US" altLang="zh-CN" sz="1000"/>
              <a:t> |</a:t>
            </a:r>
            <a:endParaRPr lang="en-US" altLang="zh-CN" sz="1000"/>
          </a:p>
          <a:p>
            <a:r>
              <a:rPr lang="en-US" altLang="zh-CN" sz="1000"/>
              <a:t>| </a:t>
            </a:r>
            <a:r>
              <a:rPr lang="zh-CN" altLang="en-US" sz="1000"/>
              <a:t>追问</a:t>
            </a:r>
            <a:r>
              <a:rPr lang="en-US" altLang="zh-CN" sz="1000"/>
              <a:t>"</a:t>
            </a:r>
            <a:r>
              <a:rPr lang="zh-CN" altLang="en-US" sz="1000"/>
              <a:t>所以到底有什么用</a:t>
            </a:r>
            <a:r>
              <a:rPr lang="en-US" altLang="zh-CN" sz="1000"/>
              <a:t>" | </a:t>
            </a:r>
            <a:r>
              <a:rPr lang="zh-CN" altLang="en-US" sz="1000"/>
              <a:t>意义感缺失</a:t>
            </a:r>
            <a:r>
              <a:rPr lang="en-US" altLang="zh-CN" sz="1000"/>
              <a:t> | </a:t>
            </a:r>
            <a:r>
              <a:rPr lang="zh-CN" altLang="en-US" sz="1000"/>
              <a:t>提供具体决策场景（如果不懂</a:t>
            </a:r>
            <a:r>
              <a:rPr lang="en-US" altLang="zh-CN" sz="1000"/>
              <a:t>X</a:t>
            </a:r>
            <a:r>
              <a:rPr lang="zh-CN" altLang="en-US" sz="1000"/>
              <a:t>，会导致什么错误决策）</a:t>
            </a:r>
            <a:r>
              <a:rPr lang="en-US" altLang="zh-CN" sz="1000"/>
              <a:t> |</a:t>
            </a:r>
            <a:endParaRPr lang="en-US" altLang="zh-CN" sz="1000"/>
          </a:p>
          <a:p>
            <a:r>
              <a:rPr lang="en-US" altLang="zh-CN" sz="1000"/>
              <a:t>| </a:t>
            </a:r>
            <a:r>
              <a:rPr lang="zh-CN" altLang="en-US" sz="1000"/>
              <a:t>类比质疑过早</a:t>
            </a:r>
            <a:r>
              <a:rPr lang="en-US" altLang="zh-CN" sz="1000"/>
              <a:t> | </a:t>
            </a:r>
            <a:r>
              <a:rPr lang="zh-CN" altLang="en-US" sz="1000"/>
              <a:t>分析型学习者</a:t>
            </a:r>
            <a:r>
              <a:rPr lang="en-US" altLang="zh-CN" sz="1000"/>
              <a:t> | </a:t>
            </a:r>
            <a:r>
              <a:rPr lang="zh-CN" altLang="en-US" sz="1000"/>
              <a:t>快速过渡到</a:t>
            </a:r>
            <a:r>
              <a:rPr lang="en-US" altLang="zh-CN" sz="1000"/>
              <a:t>L2</a:t>
            </a:r>
            <a:r>
              <a:rPr lang="zh-CN" altLang="en-US" sz="1000"/>
              <a:t>机制层，但保留一个隐喻作为</a:t>
            </a:r>
            <a:r>
              <a:rPr lang="en-US" altLang="zh-CN" sz="1000"/>
              <a:t>"</a:t>
            </a:r>
            <a:r>
              <a:rPr lang="zh-CN" altLang="en-US" sz="1000"/>
              <a:t>记忆挂钩</a:t>
            </a:r>
            <a:r>
              <a:rPr lang="en-US" altLang="zh-CN" sz="1000"/>
              <a:t>" |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---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## </a:t>
            </a:r>
            <a:r>
              <a:rPr lang="zh-CN" altLang="en-US" sz="1000"/>
              <a:t>禁止事项（反模式）</a:t>
            </a:r>
            <a:endParaRPr lang="zh-CN" altLang="en-US" sz="1000"/>
          </a:p>
          <a:p>
            <a:r>
              <a:rPr lang="en-US" altLang="en-US" sz="1000"/>
              <a:t>❌</a:t>
            </a:r>
            <a:r>
              <a:rPr lang="en-US" altLang="zh-CN" sz="1000"/>
              <a:t> </a:t>
            </a:r>
            <a:r>
              <a:rPr lang="zh-CN" altLang="en-US" sz="1000"/>
              <a:t>直接给出维基百科定义作为开场</a:t>
            </a:r>
            <a:r>
              <a:rPr lang="en-US" altLang="zh-CN" sz="1000"/>
              <a:t>  </a:t>
            </a:r>
            <a:endParaRPr lang="en-US" altLang="zh-CN" sz="1000"/>
          </a:p>
          <a:p>
            <a:r>
              <a:rPr lang="en-US" altLang="en-US" sz="1000"/>
              <a:t>❌</a:t>
            </a:r>
            <a:r>
              <a:rPr lang="en-US" altLang="zh-CN" sz="1000"/>
              <a:t> </a:t>
            </a:r>
            <a:r>
              <a:rPr lang="zh-CN" altLang="en-US" sz="1000"/>
              <a:t>使用</a:t>
            </a:r>
            <a:r>
              <a:rPr lang="en-US" altLang="zh-CN" sz="1000"/>
              <a:t>"</a:t>
            </a:r>
            <a:r>
              <a:rPr lang="zh-CN" altLang="en-US" sz="1000"/>
              <a:t>显然</a:t>
            </a:r>
            <a:r>
              <a:rPr lang="en-US" altLang="zh-CN" sz="1000"/>
              <a:t>"</a:t>
            </a:r>
            <a:r>
              <a:rPr lang="zh-CN" altLang="en-US" sz="1000"/>
              <a:t>、</a:t>
            </a:r>
            <a:r>
              <a:rPr lang="en-US" altLang="zh-CN" sz="1000"/>
              <a:t>"</a:t>
            </a:r>
            <a:r>
              <a:rPr lang="zh-CN" altLang="en-US" sz="1000"/>
              <a:t>很简单</a:t>
            </a:r>
            <a:r>
              <a:rPr lang="en-US" altLang="zh-CN" sz="1000"/>
              <a:t>"</a:t>
            </a:r>
            <a:r>
              <a:rPr lang="zh-CN" altLang="en-US" sz="1000"/>
              <a:t>等贬低认知难度的词汇</a:t>
            </a:r>
            <a:r>
              <a:rPr lang="en-US" altLang="zh-CN" sz="1000"/>
              <a:t>  </a:t>
            </a:r>
            <a:endParaRPr lang="en-US" altLang="zh-CN" sz="1000"/>
          </a:p>
          <a:p>
            <a:r>
              <a:rPr lang="en-US" altLang="en-US" sz="1000"/>
              <a:t>❌</a:t>
            </a:r>
            <a:r>
              <a:rPr lang="en-US" altLang="zh-CN" sz="1000"/>
              <a:t> </a:t>
            </a:r>
            <a:r>
              <a:rPr lang="zh-CN" altLang="en-US" sz="1000"/>
              <a:t>在确认理解前提供多路径解释（保持单线程直到掌握）</a:t>
            </a:r>
            <a:r>
              <a:rPr lang="en-US" altLang="zh-CN" sz="1000"/>
              <a:t>  </a:t>
            </a:r>
            <a:endParaRPr lang="en-US" altLang="zh-CN" sz="1000"/>
          </a:p>
          <a:p>
            <a:r>
              <a:rPr lang="en-US" altLang="en-US" sz="1000"/>
              <a:t>❌</a:t>
            </a:r>
            <a:r>
              <a:rPr lang="en-US" altLang="zh-CN" sz="1000"/>
              <a:t> </a:t>
            </a:r>
            <a:r>
              <a:rPr lang="zh-CN" altLang="en-US" sz="1000"/>
              <a:t>用复杂术语解释复杂术语（同义反复陷阱）</a:t>
            </a:r>
            <a:r>
              <a:rPr lang="en-US" altLang="zh-CN" sz="1000"/>
              <a:t>  </a:t>
            </a:r>
            <a:endParaRPr lang="en-US" altLang="zh-CN" sz="1000"/>
          </a:p>
          <a:p>
            <a:r>
              <a:rPr lang="en-US" altLang="en-US" sz="1000"/>
              <a:t>❌</a:t>
            </a:r>
            <a:r>
              <a:rPr lang="en-US" altLang="zh-CN" sz="1000"/>
              <a:t> </a:t>
            </a:r>
            <a:r>
              <a:rPr lang="zh-CN" altLang="en-US" sz="1000"/>
              <a:t>接受用户的被动确认（</a:t>
            </a:r>
            <a:r>
              <a:rPr lang="en-US" altLang="zh-CN" sz="1000"/>
              <a:t>"</a:t>
            </a:r>
            <a:r>
              <a:rPr lang="zh-CN" altLang="en-US" sz="1000"/>
              <a:t>明白了吗？</a:t>
            </a:r>
            <a:r>
              <a:rPr lang="en-US" altLang="zh-CN" sz="1000"/>
              <a:t>"</a:t>
            </a:r>
            <a:r>
              <a:rPr lang="en-US" altLang="en-US" sz="1000"/>
              <a:t>→</a:t>
            </a:r>
            <a:r>
              <a:rPr lang="en-US" altLang="zh-CN" sz="1000"/>
              <a:t>"</a:t>
            </a:r>
            <a:r>
              <a:rPr lang="zh-CN" altLang="en-US" sz="1000"/>
              <a:t>用自己的话解释一下</a:t>
            </a:r>
            <a:r>
              <a:rPr lang="en-US" altLang="zh-CN" sz="1000"/>
              <a:t>"</a:t>
            </a:r>
            <a:r>
              <a:rPr lang="zh-CN" altLang="en-US" sz="1000"/>
              <a:t>）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zh-CN" sz="1000"/>
              <a:t>---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## </a:t>
            </a:r>
            <a:r>
              <a:rPr lang="zh-CN" altLang="en-US" sz="1000"/>
              <a:t>启动流程（首次交互）</a:t>
            </a:r>
            <a:endParaRPr lang="zh-CN" altLang="en-US" sz="1000"/>
          </a:p>
          <a:p>
            <a:r>
              <a:rPr lang="en-US" altLang="zh-CN" sz="1000"/>
              <a:t>**</a:t>
            </a:r>
            <a:r>
              <a:rPr lang="zh-CN" altLang="en-US" sz="1000"/>
              <a:t>立即执行以下开场</a:t>
            </a:r>
            <a:r>
              <a:rPr lang="en-US" altLang="zh-CN" sz="1000"/>
              <a:t>**</a:t>
            </a:r>
            <a:r>
              <a:rPr lang="zh-CN" altLang="en-US" sz="1000"/>
              <a:t>（不等待用户输入）：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zh-CN" sz="1000"/>
              <a:t>"</a:t>
            </a:r>
            <a:r>
              <a:rPr lang="zh-CN" altLang="en-US" sz="1000"/>
              <a:t>我是你的费曼学习教练。为了给你最有效的解释而非最全面的解释，我需要先做个</a:t>
            </a:r>
            <a:r>
              <a:rPr lang="en-US" altLang="zh-CN" sz="1000"/>
              <a:t>**</a:t>
            </a:r>
            <a:r>
              <a:rPr lang="zh-CN" altLang="en-US" sz="1000"/>
              <a:t>诊断</a:t>
            </a:r>
            <a:r>
              <a:rPr lang="en-US" altLang="zh-CN" sz="1000"/>
              <a:t>**</a:t>
            </a:r>
            <a:r>
              <a:rPr lang="zh-CN" altLang="en-US" sz="1000"/>
              <a:t>：</a:t>
            </a:r>
            <a:endParaRPr lang="zh-CN" altLang="en-US" sz="1000"/>
          </a:p>
          <a:p>
            <a:endParaRPr lang="en-US" altLang="zh-CN" sz="1000"/>
          </a:p>
          <a:p>
            <a:r>
              <a:rPr lang="en-US" altLang="zh-CN" sz="1000"/>
              <a:t>1. **</a:t>
            </a:r>
            <a:r>
              <a:rPr lang="zh-CN" altLang="en-US" sz="1000"/>
              <a:t>你想攻克的概念是什么？</a:t>
            </a:r>
            <a:r>
              <a:rPr lang="en-US" altLang="zh-CN" sz="1000"/>
              <a:t>**</a:t>
            </a:r>
            <a:r>
              <a:rPr lang="zh-CN" altLang="en-US" sz="1000"/>
              <a:t>（请具体到子概念，如不是</a:t>
            </a:r>
            <a:r>
              <a:rPr lang="en-US" altLang="zh-CN" sz="1000"/>
              <a:t>'</a:t>
            </a:r>
            <a:r>
              <a:rPr lang="zh-CN" altLang="en-US" sz="1000"/>
              <a:t>机器学习</a:t>
            </a:r>
            <a:r>
              <a:rPr lang="en-US" altLang="zh-CN" sz="1000"/>
              <a:t>'</a:t>
            </a:r>
            <a:r>
              <a:rPr lang="zh-CN" altLang="en-US" sz="1000"/>
              <a:t>而是</a:t>
            </a:r>
            <a:r>
              <a:rPr lang="en-US" altLang="zh-CN" sz="1000"/>
              <a:t>'</a:t>
            </a:r>
            <a:r>
              <a:rPr lang="zh-CN" altLang="en-US" sz="1000"/>
              <a:t>反向传播</a:t>
            </a:r>
            <a:r>
              <a:rPr lang="en-US" altLang="zh-CN" sz="1000"/>
              <a:t>'</a:t>
            </a:r>
            <a:r>
              <a:rPr lang="zh-CN" altLang="en-US" sz="1000"/>
              <a:t>）</a:t>
            </a:r>
            <a:endParaRPr lang="zh-CN" altLang="en-US" sz="1000"/>
          </a:p>
          <a:p>
            <a:r>
              <a:rPr lang="en-US" altLang="zh-CN" sz="1000"/>
              <a:t>2. **</a:t>
            </a:r>
            <a:r>
              <a:rPr lang="zh-CN" altLang="en-US" sz="1000"/>
              <a:t>你目前的</a:t>
            </a:r>
            <a:r>
              <a:rPr lang="en-US" altLang="zh-CN" sz="1000"/>
              <a:t>'</a:t>
            </a:r>
            <a:r>
              <a:rPr lang="zh-CN" altLang="en-US" sz="1000"/>
              <a:t>认知坐标</a:t>
            </a:r>
            <a:r>
              <a:rPr lang="en-US" altLang="zh-CN" sz="1000"/>
              <a:t>'</a:t>
            </a:r>
            <a:r>
              <a:rPr lang="zh-CN" altLang="en-US" sz="1000"/>
              <a:t>在哪里？</a:t>
            </a:r>
            <a:r>
              <a:rPr lang="en-US" altLang="zh-CN" sz="1000"/>
              <a:t>**</a:t>
            </a:r>
            <a:endParaRPr lang="en-US" altLang="zh-CN" sz="1000"/>
          </a:p>
          <a:p>
            <a:r>
              <a:rPr lang="en-US" altLang="zh-CN" sz="1000"/>
              <a:t>   - </a:t>
            </a:r>
            <a:r>
              <a:rPr lang="zh-CN" altLang="en-US" sz="1000"/>
              <a:t>完全陌生（听过词，不知道干嘛的）</a:t>
            </a:r>
            <a:endParaRPr lang="zh-CN" altLang="en-US" sz="1000"/>
          </a:p>
          <a:p>
            <a:r>
              <a:rPr lang="en-US" altLang="zh-CN" sz="1000"/>
              <a:t>   - </a:t>
            </a:r>
            <a:r>
              <a:rPr lang="zh-CN" altLang="en-US" sz="1000"/>
              <a:t>有模糊直觉（好像跟</a:t>
            </a:r>
            <a:r>
              <a:rPr lang="en-US" altLang="zh-CN" sz="1000"/>
              <a:t>XX</a:t>
            </a:r>
            <a:r>
              <a:rPr lang="zh-CN" altLang="en-US" sz="1000"/>
              <a:t>有关？）</a:t>
            </a:r>
            <a:endParaRPr lang="zh-CN" altLang="en-US" sz="1000"/>
          </a:p>
          <a:p>
            <a:r>
              <a:rPr lang="en-US" altLang="zh-CN" sz="1000"/>
              <a:t>   - </a:t>
            </a:r>
            <a:r>
              <a:rPr lang="zh-CN" altLang="en-US" sz="1000"/>
              <a:t>能操作但不懂原理（会用但讲不清）</a:t>
            </a:r>
            <a:endParaRPr lang="zh-CN" altLang="en-US" sz="1000"/>
          </a:p>
          <a:p>
            <a:r>
              <a:rPr lang="en-US" altLang="zh-CN" sz="1000"/>
              <a:t>   - </a:t>
            </a:r>
            <a:r>
              <a:rPr lang="zh-CN" altLang="en-US" sz="1000"/>
              <a:t>懂原理但无法迁移（换个场景就不会了）</a:t>
            </a:r>
            <a:endParaRPr lang="zh-CN" altLang="en-US" sz="1000"/>
          </a:p>
          <a:p>
            <a:r>
              <a:rPr lang="en-US" altLang="zh-CN" sz="1000"/>
              <a:t>3. **</a:t>
            </a:r>
            <a:r>
              <a:rPr lang="zh-CN" altLang="en-US" sz="1000"/>
              <a:t>请尝试用一句话解释它</a:t>
            </a:r>
            <a:r>
              <a:rPr lang="en-US" altLang="zh-CN" sz="1000"/>
              <a:t>**</a:t>
            </a:r>
            <a:r>
              <a:rPr lang="zh-CN" altLang="en-US" sz="1000"/>
              <a:t>（哪怕你觉得这句话是错的）</a:t>
            </a:r>
            <a:endParaRPr lang="zh-CN" altLang="en-US" sz="1000"/>
          </a:p>
          <a:p>
            <a:endParaRPr lang="en-US" altLang="zh-CN" sz="1000"/>
          </a:p>
          <a:p>
            <a:r>
              <a:rPr lang="zh-CN" altLang="en-US" sz="1000"/>
              <a:t>基于你的回答，我会选择从哪个认知层级开始搭建脚手架。</a:t>
            </a:r>
            <a:r>
              <a:rPr lang="en-US" altLang="zh-CN" sz="1000"/>
              <a:t>"</a:t>
            </a:r>
            <a:endParaRPr lang="en-US" altLang="zh-CN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5" name="矩形 10"/>
          <p:cNvSpPr>
            <a:spLocks noChangeArrowheads="1"/>
          </p:cNvSpPr>
          <p:nvPr/>
        </p:nvSpPr>
        <p:spPr bwMode="auto">
          <a:xfrm>
            <a:off x="715618" y="767881"/>
            <a:ext cx="113685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914400" eaLnBrk="1" hangingPunct="1"/>
            <a:r>
              <a:rPr lang="zh-CN" altLang="en-US" sz="2400" b="1" dirty="0">
                <a:solidFill>
                  <a:srgbClr val="336699"/>
                </a:solidFill>
                <a:latin typeface="等线" panose="02010600030101010101" pitchFamily="2" charset="-122"/>
                <a:ea typeface="等线" panose="02010600030101010101" pitchFamily="2" charset="-122"/>
                <a:sym typeface="Arial" panose="020B0604020202020204" pitchFamily="34" charset="0"/>
              </a:rPr>
              <a:t>流程：</a:t>
            </a:r>
            <a:endParaRPr lang="zh-CN" altLang="en-US" sz="2400" b="1" dirty="0">
              <a:solidFill>
                <a:srgbClr val="336699"/>
              </a:solidFill>
              <a:latin typeface="等线" panose="02010600030101010101" pitchFamily="2" charset="-122"/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6" name="TextBox 46"/>
          <p:cNvSpPr txBox="1">
            <a:spLocks noChangeArrowheads="1"/>
          </p:cNvSpPr>
          <p:nvPr/>
        </p:nvSpPr>
        <p:spPr bwMode="auto">
          <a:xfrm>
            <a:off x="715618" y="1207580"/>
            <a:ext cx="7481090" cy="18876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336699"/>
                </a:solidFill>
                <a:latin typeface="Tw Cen MT Condensed" panose="020B0606020104020203" pitchFamily="34" charset="0"/>
                <a:ea typeface="FangSong_GB2312" panose="02010609030101010101" pitchFamily="49" charset="-122"/>
                <a:cs typeface="FangSong_GB2312" panose="02010609030101010101" pitchFamily="49" charset="-122"/>
                <a:sym typeface="Arial" panose="020B0604020202020204" pitchFamily="34" charset="0"/>
              </a:rPr>
              <a:t>5-6</a:t>
            </a:r>
            <a:r>
              <a:rPr lang="zh-CN" altLang="en-US" sz="2000" dirty="0">
                <a:solidFill>
                  <a:srgbClr val="336699"/>
                </a:solidFill>
                <a:latin typeface="Tw Cen MT Condensed" panose="020B0606020104020203" pitchFamily="34" charset="0"/>
                <a:ea typeface="FangSong_GB2312" panose="02010609030101010101" pitchFamily="49" charset="-122"/>
                <a:cs typeface="FangSong_GB2312" panose="02010609030101010101" pitchFamily="49" charset="-122"/>
                <a:sym typeface="Arial" panose="020B0604020202020204" pitchFamily="34" charset="0"/>
              </a:rPr>
              <a:t>人一组（尽量选择平时较为陌生的同学）</a:t>
            </a:r>
            <a:endParaRPr lang="en-US" altLang="zh-CN" sz="2000" dirty="0">
              <a:solidFill>
                <a:srgbClr val="336699"/>
              </a:solidFill>
              <a:latin typeface="Tw Cen MT Condensed" panose="020B0606020104020203" pitchFamily="34" charset="0"/>
              <a:ea typeface="FangSong_GB2312" panose="02010609030101010101" pitchFamily="49" charset="-122"/>
              <a:cs typeface="FangSong_GB2312" panose="02010609030101010101" pitchFamily="49" charset="-122"/>
              <a:sym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6699"/>
                </a:solidFill>
                <a:latin typeface="Tw Cen MT Condensed" panose="020B0606020104020203" pitchFamily="34" charset="0"/>
                <a:ea typeface="FangSong_GB2312" panose="02010609030101010101" pitchFamily="49" charset="-122"/>
                <a:cs typeface="FangSong_GB2312" panose="02010609030101010101" pitchFamily="49" charset="-122"/>
                <a:sym typeface="Arial" panose="020B0604020202020204" pitchFamily="34" charset="0"/>
              </a:rPr>
              <a:t>提炼一个主题：可以从主题库选择，也可是自己感兴趣的话题</a:t>
            </a:r>
            <a:endParaRPr lang="en-US" altLang="zh-CN" sz="2000" dirty="0">
              <a:solidFill>
                <a:srgbClr val="336699"/>
              </a:solidFill>
              <a:latin typeface="Tw Cen MT Condensed" panose="020B0606020104020203" pitchFamily="34" charset="0"/>
              <a:ea typeface="FangSong_GB2312" panose="02010609030101010101" pitchFamily="49" charset="-122"/>
              <a:cs typeface="FangSong_GB2312" panose="02010609030101010101" pitchFamily="49" charset="-122"/>
              <a:sym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6699"/>
                </a:solidFill>
                <a:latin typeface="Tw Cen MT Condensed" panose="020B0606020104020203" pitchFamily="34" charset="0"/>
                <a:ea typeface="FangSong_GB2312" panose="02010609030101010101" pitchFamily="49" charset="-122"/>
                <a:cs typeface="FangSong_GB2312" panose="02010609030101010101" pitchFamily="49" charset="-122"/>
                <a:sym typeface="Arial" panose="020B0604020202020204" pitchFamily="34" charset="0"/>
              </a:rPr>
              <a:t>思考一个问题：在这个主题里，你的主张是什么？你想选择什么视角来论证从而实现你的主张？你想如何展开论证？</a:t>
            </a:r>
            <a:endParaRPr lang="en-US" altLang="zh-CN" sz="2000" dirty="0">
              <a:solidFill>
                <a:srgbClr val="336699"/>
              </a:solidFill>
              <a:latin typeface="Tw Cen MT Condensed" panose="020B0606020104020203" pitchFamily="34" charset="0"/>
              <a:ea typeface="FangSong_GB2312" panose="02010609030101010101" pitchFamily="49" charset="-122"/>
              <a:cs typeface="FangSong_GB2312" panose="02010609030101010101" pitchFamily="49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459179"/>
            <a:ext cx="9144000" cy="69850"/>
          </a:xfrm>
          <a:prstGeom prst="rect">
            <a:avLst/>
          </a:prstGeom>
          <a:solidFill>
            <a:srgbClr val="2D5A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5" name="矩形 10"/>
          <p:cNvSpPr>
            <a:spLocks noChangeArrowheads="1"/>
          </p:cNvSpPr>
          <p:nvPr/>
        </p:nvSpPr>
        <p:spPr bwMode="auto">
          <a:xfrm>
            <a:off x="715618" y="767881"/>
            <a:ext cx="113685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defTabSz="914400" eaLnBrk="1" hangingPunct="1"/>
            <a:r>
              <a:rPr lang="zh-CN" altLang="en-US" sz="2400" b="1" dirty="0">
                <a:solidFill>
                  <a:srgbClr val="336699"/>
                </a:solidFill>
                <a:latin typeface="等线" panose="02010600030101010101" pitchFamily="2" charset="-122"/>
                <a:ea typeface="等线" panose="02010600030101010101" pitchFamily="2" charset="-122"/>
                <a:sym typeface="Arial" panose="020B0604020202020204" pitchFamily="34" charset="0"/>
              </a:rPr>
              <a:t>流程：</a:t>
            </a:r>
            <a:endParaRPr lang="zh-CN" altLang="en-US" sz="2400" b="1" dirty="0">
              <a:solidFill>
                <a:srgbClr val="336699"/>
              </a:solidFill>
              <a:latin typeface="等线" panose="02010600030101010101" pitchFamily="2" charset="-122"/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6" name="TextBox 46"/>
          <p:cNvSpPr txBox="1">
            <a:spLocks noChangeArrowheads="1"/>
          </p:cNvSpPr>
          <p:nvPr/>
        </p:nvSpPr>
        <p:spPr bwMode="auto">
          <a:xfrm>
            <a:off x="715618" y="1207580"/>
            <a:ext cx="7481090" cy="37397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6699"/>
                </a:solidFill>
                <a:latin typeface="Tw Cen MT Condensed" panose="020B0606020104020203" pitchFamily="34" charset="0"/>
                <a:ea typeface="FangSong_GB2312" panose="02010609030101010101" pitchFamily="49" charset="-122"/>
                <a:cs typeface="FangSong_GB2312" panose="02010609030101010101" pitchFamily="49" charset="-122"/>
                <a:sym typeface="Arial" panose="020B0604020202020204" pitchFamily="34" charset="0"/>
              </a:rPr>
              <a:t>向大家介绍你的话题：为什么它是有趣</a:t>
            </a:r>
            <a:r>
              <a:rPr lang="en-US" altLang="zh-CN" sz="2000" dirty="0">
                <a:solidFill>
                  <a:srgbClr val="336699"/>
                </a:solidFill>
                <a:latin typeface="Tw Cen MT Condensed" panose="020B0606020104020203" pitchFamily="34" charset="0"/>
                <a:ea typeface="FangSong_GB2312" panose="02010609030101010101" pitchFamily="49" charset="-122"/>
                <a:cs typeface="FangSong_GB2312" panose="02010609030101010101" pitchFamily="49" charset="-122"/>
                <a:sym typeface="Arial" panose="020B0604020202020204" pitchFamily="34" charset="0"/>
              </a:rPr>
              <a:t>/</a:t>
            </a:r>
            <a:r>
              <a:rPr lang="zh-CN" altLang="en-US" sz="2000" dirty="0">
                <a:solidFill>
                  <a:srgbClr val="336699"/>
                </a:solidFill>
                <a:latin typeface="Tw Cen MT Condensed" panose="020B0606020104020203" pitchFamily="34" charset="0"/>
                <a:ea typeface="FangSong_GB2312" panose="02010609030101010101" pitchFamily="49" charset="-122"/>
                <a:cs typeface="FangSong_GB2312" panose="02010609030101010101" pitchFamily="49" charset="-122"/>
                <a:sym typeface="Arial" panose="020B0604020202020204" pitchFamily="34" charset="0"/>
              </a:rPr>
              <a:t>有意义的？你想如何论证你的话题？</a:t>
            </a:r>
            <a:endParaRPr lang="en-US" altLang="zh-CN" sz="2000" dirty="0">
              <a:solidFill>
                <a:srgbClr val="336699"/>
              </a:solidFill>
              <a:latin typeface="Tw Cen MT Condensed" panose="020B0606020104020203" pitchFamily="34" charset="0"/>
              <a:ea typeface="FangSong_GB2312" panose="02010609030101010101" pitchFamily="49" charset="-122"/>
              <a:cs typeface="FangSong_GB2312" panose="02010609030101010101" pitchFamily="49" charset="-122"/>
              <a:sym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6699"/>
                </a:solidFill>
                <a:latin typeface="Tw Cen MT Condensed" panose="020B0606020104020203" pitchFamily="34" charset="0"/>
                <a:ea typeface="FangSong_GB2312" panose="02010609030101010101" pitchFamily="49" charset="-122"/>
                <a:cs typeface="FangSong_GB2312" panose="02010609030101010101" pitchFamily="49" charset="-122"/>
                <a:sym typeface="Arial" panose="020B0604020202020204" pitchFamily="34" charset="0"/>
              </a:rPr>
              <a:t>接受问询：组员听完一人的叙述后，对自己困惑的内容向其发起问询，演讲者进行记录和简要反馈</a:t>
            </a:r>
            <a:endParaRPr lang="en-US" altLang="zh-CN" sz="2000" dirty="0">
              <a:solidFill>
                <a:srgbClr val="336699"/>
              </a:solidFill>
              <a:latin typeface="Tw Cen MT Condensed" panose="020B0606020104020203" pitchFamily="34" charset="0"/>
              <a:ea typeface="FangSong_GB2312" panose="02010609030101010101" pitchFamily="49" charset="-122"/>
              <a:cs typeface="FangSong_GB2312" panose="02010609030101010101" pitchFamily="49" charset="-122"/>
              <a:sym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6699"/>
                </a:solidFill>
                <a:latin typeface="Tw Cen MT Condensed" panose="020B0606020104020203" pitchFamily="34" charset="0"/>
                <a:ea typeface="FangSong_GB2312" panose="02010609030101010101" pitchFamily="49" charset="-122"/>
                <a:cs typeface="FangSong_GB2312" panose="02010609030101010101" pitchFamily="49" charset="-122"/>
                <a:sym typeface="Arial" panose="020B0604020202020204" pitchFamily="34" charset="0"/>
              </a:rPr>
              <a:t>完善论证框架：根据同伴的反馈，如何完善自己的初始论证框架？</a:t>
            </a:r>
            <a:endParaRPr lang="en-US" altLang="zh-CN" sz="2000" dirty="0">
              <a:solidFill>
                <a:srgbClr val="336699"/>
              </a:solidFill>
              <a:latin typeface="Tw Cen MT Condensed" panose="020B0606020104020203" pitchFamily="34" charset="0"/>
              <a:ea typeface="FangSong_GB2312" panose="02010609030101010101" pitchFamily="49" charset="-122"/>
              <a:cs typeface="FangSong_GB2312" panose="02010609030101010101" pitchFamily="49" charset="-122"/>
              <a:sym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6699"/>
                </a:solidFill>
                <a:latin typeface="Tw Cen MT Condensed" panose="020B0606020104020203" pitchFamily="34" charset="0"/>
                <a:ea typeface="FangSong_GB2312" panose="02010609030101010101" pitchFamily="49" charset="-122"/>
                <a:cs typeface="FangSong_GB2312" panose="02010609030101010101" pitchFamily="49" charset="-122"/>
                <a:sym typeface="Arial" panose="020B0604020202020204" pitchFamily="34" charset="0"/>
              </a:rPr>
              <a:t>请将论证框架整理成</a:t>
            </a:r>
            <a:r>
              <a:rPr lang="en-US" altLang="zh-CN" sz="2000" dirty="0">
                <a:solidFill>
                  <a:srgbClr val="336699"/>
                </a:solidFill>
                <a:latin typeface="Tw Cen MT Condensed" panose="020B0606020104020203" pitchFamily="34" charset="0"/>
                <a:ea typeface="FangSong_GB2312" panose="02010609030101010101" pitchFamily="49" charset="-122"/>
                <a:cs typeface="FangSong_GB2312" panose="02010609030101010101" pitchFamily="49" charset="-122"/>
                <a:sym typeface="Arial" panose="020B0604020202020204" pitchFamily="34" charset="0"/>
              </a:rPr>
              <a:t>word</a:t>
            </a:r>
            <a:r>
              <a:rPr lang="zh-CN" altLang="en-US" sz="2000" dirty="0">
                <a:solidFill>
                  <a:srgbClr val="336699"/>
                </a:solidFill>
                <a:latin typeface="Tw Cen MT Condensed" panose="020B0606020104020203" pitchFamily="34" charset="0"/>
                <a:ea typeface="FangSong_GB2312" panose="02010609030101010101" pitchFamily="49" charset="-122"/>
                <a:cs typeface="FangSong_GB2312" panose="02010609030101010101" pitchFamily="49" charset="-122"/>
                <a:sym typeface="Arial" panose="020B0604020202020204" pitchFamily="34" charset="0"/>
              </a:rPr>
              <a:t>文档。</a:t>
            </a:r>
            <a:endParaRPr lang="en-US" altLang="zh-CN" sz="2000" dirty="0">
              <a:solidFill>
                <a:srgbClr val="336699"/>
              </a:solidFill>
              <a:latin typeface="Tw Cen MT Condensed" panose="020B0606020104020203" pitchFamily="34" charset="0"/>
              <a:ea typeface="FangSong_GB2312" panose="02010609030101010101" pitchFamily="49" charset="-122"/>
              <a:cs typeface="FangSong_GB2312" panose="02010609030101010101" pitchFamily="49" charset="-122"/>
              <a:sym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336699"/>
              </a:solidFill>
              <a:latin typeface="Tw Cen MT Condensed" panose="020B0606020104020203" pitchFamily="34" charset="0"/>
              <a:ea typeface="FangSong_GB2312" panose="02010609030101010101" pitchFamily="49" charset="-122"/>
              <a:cs typeface="FangSong_GB2312" panose="02010609030101010101" pitchFamily="49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0.4027559055118,&quot;left&quot;:14.14740157480315,&quot;top&quot;:69.34590551181103,&quot;width&quot;:296.6548818897638}"/>
</p:tagLst>
</file>

<file path=ppt/tags/tag2.xml><?xml version="1.0" encoding="utf-8"?>
<p:tagLst xmlns:p="http://schemas.openxmlformats.org/presentationml/2006/main">
  <p:tag name="KSO_WM_DIAGRAM_VIRTUALLY_FRAME" val="{&quot;height&quot;:260.4027559055118,&quot;left&quot;:14.14740157480315,&quot;top&quot;:69.34590551181103,&quot;width&quot;:296.6548818897638}"/>
</p:tagLst>
</file>

<file path=ppt/tags/tag3.xml><?xml version="1.0" encoding="utf-8"?>
<p:tagLst xmlns:p="http://schemas.openxmlformats.org/presentationml/2006/main">
  <p:tag name="KSO_WM_DIAGRAM_VIRTUALLY_FRAME" val="{&quot;height&quot;:260.4027559055118,&quot;left&quot;:14.14740157480315,&quot;top&quot;:69.34590551181103,&quot;width&quot;:296.6548818897638}"/>
</p:tagLst>
</file>

<file path=ppt/tags/tag4.xml><?xml version="1.0" encoding="utf-8"?>
<p:tagLst xmlns:p="http://schemas.openxmlformats.org/presentationml/2006/main">
  <p:tag name="KSO_WM_DIAGRAM_VIRTUALLY_FRAME" val="{&quot;height&quot;:260.4027559055118,&quot;left&quot;:14.14740157480315,&quot;top&quot;:69.34590551181103,&quot;width&quot;:296.6548818897638}"/>
</p:tagLst>
</file>

<file path=ppt/tags/tag5.xml><?xml version="1.0" encoding="utf-8"?>
<p:tagLst xmlns:p="http://schemas.openxmlformats.org/presentationml/2006/main">
  <p:tag name="KSO_WM_DIAGRAM_VIRTUALLY_FRAME" val="{&quot;height&quot;:260.4027559055118,&quot;left&quot;:14.14740157480315,&quot;top&quot;:69.34590551181103,&quot;width&quot;:296.6548818897638}"/>
</p:tagLst>
</file>

<file path=ppt/tags/tag6.xml><?xml version="1.0" encoding="utf-8"?>
<p:tagLst xmlns:p="http://schemas.openxmlformats.org/presentationml/2006/main">
  <p:tag name="KSO_WM_DIAGRAM_VIRTUALLY_FRAME" val="{&quot;height&quot;:260.4027559055118,&quot;left&quot;:14.14740157480315,&quot;top&quot;:69.34590551181103,&quot;width&quot;:296.6548818897638}"/>
</p:tagLst>
</file>

<file path=ppt/tags/tag7.xml><?xml version="1.0" encoding="utf-8"?>
<p:tagLst xmlns:p="http://schemas.openxmlformats.org/presentationml/2006/main">
  <p:tag name="KSO_WM_DIAGRAM_VIRTUALLY_FRAME" val="{&quot;height&quot;:260.4027559055118,&quot;left&quot;:14.14740157480315,&quot;top&quot;:69.34590551181103,&quot;width&quot;:296.6548818897638}"/>
</p:tagLst>
</file>

<file path=ppt/tags/tag8.xml><?xml version="1.0" encoding="utf-8"?>
<p:tagLst xmlns:p="http://schemas.openxmlformats.org/presentationml/2006/main">
  <p:tag name="KSO_WM_DIAGRAM_VIRTUALLY_FRAME" val="{&quot;height&quot;:260.4027559055118,&quot;left&quot;:14.14740157480315,&quot;top&quot;:69.34590551181103,&quot;width&quot;:296.6548818897638}"/>
</p:tagLst>
</file>

<file path=ppt/tags/tag9.xml><?xml version="1.0" encoding="utf-8"?>
<p:tagLst xmlns:p="http://schemas.openxmlformats.org/presentationml/2006/main">
  <p:tag name="KSO_WM_DIAGRAM_VIRTUALLY_FRAME" val="{&quot;height&quot;:260.4027559055118,&quot;left&quot;:14.14740157480315,&quot;top&quot;:69.34590551181103,&quot;width&quot;:296.6548818897638}"/>
</p:tagLst>
</file>

<file path=ppt/tags/tag10.xml><?xml version="1.0" encoding="utf-8"?>
<p:tagLst xmlns:p="http://schemas.openxmlformats.org/presentationml/2006/main">
  <p:tag name="KSO_WM_DIAGRAM_VIRTUALLY_FRAME" val="{&quot;height&quot;:260.4027559055118,&quot;left&quot;:14.14740157480315,&quot;top&quot;:69.34590551181103,&quot;width&quot;:296.6548818897638}"/>
</p:tagLst>
</file>

<file path=ppt/tags/tag11.xml><?xml version="1.0" encoding="utf-8"?>
<p:tagLst xmlns:p="http://schemas.openxmlformats.org/presentationml/2006/main">
  <p:tag name="KSO_WM_DIAGRAM_VIRTUALLY_FRAME" val="{&quot;height&quot;:260.4027559055118,&quot;left&quot;:14.14740157480315,&quot;top&quot;:69.34590551181103,&quot;width&quot;:296.6548818897638}"/>
</p:tagLst>
</file>

<file path=ppt/tags/tag12.xml><?xml version="1.0" encoding="utf-8"?>
<p:tagLst xmlns:p="http://schemas.openxmlformats.org/presentationml/2006/main">
  <p:tag name="KSO_WM_DIAGRAM_VIRTUALLY_FRAME" val="{&quot;height&quot;:260.4027559055118,&quot;left&quot;:14.14740157480315,&quot;top&quot;:69.34590551181103,&quot;width&quot;:296.6548818897638}"/>
</p:tagLst>
</file>

<file path=ppt/tags/tag13.xml><?xml version="1.0" encoding="utf-8"?>
<p:tagLst xmlns:p="http://schemas.openxmlformats.org/presentationml/2006/main">
  <p:tag name="KSO_WM_DIAGRAM_VIRTUALLY_FRAME" val="{&quot;height&quot;:260.4027559055118,&quot;left&quot;:14.14740157480315,&quot;top&quot;:69.34590551181103,&quot;width&quot;:296.6548818897638}"/>
</p:tagLst>
</file>

<file path=ppt/tags/tag14.xml><?xml version="1.0" encoding="utf-8"?>
<p:tagLst xmlns:p="http://schemas.openxmlformats.org/presentationml/2006/main">
  <p:tag name="KSO_WM_DIAGRAM_VIRTUALLY_FRAME" val="{&quot;height&quot;:260.4027559055118,&quot;left&quot;:14.14740157480315,&quot;top&quot;:69.34590551181103,&quot;width&quot;:296.6548818897638}"/>
</p:tagLst>
</file>

<file path=ppt/tags/tag15.xml><?xml version="1.0" encoding="utf-8"?>
<p:tagLst xmlns:p="http://schemas.openxmlformats.org/presentationml/2006/main">
  <p:tag name="KSO_WM_DIAGRAM_VIRTUALLY_FRAME" val="{&quot;height&quot;:260.4027559055118,&quot;left&quot;:14.14740157480315,&quot;top&quot;:69.34590551181103,&quot;width&quot;:296.6548818897638}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4463</Words>
  <Application>WPS 演示</Application>
  <PresentationFormat>全屏显示(16:9)</PresentationFormat>
  <Paragraphs>391</Paragraphs>
  <Slides>22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56" baseType="lpstr">
      <vt:lpstr>Arial</vt:lpstr>
      <vt:lpstr>宋体</vt:lpstr>
      <vt:lpstr>Wingdings</vt:lpstr>
      <vt:lpstr>Calibri</vt:lpstr>
      <vt:lpstr>Calibri Light</vt:lpstr>
      <vt:lpstr>微软雅黑</vt:lpstr>
      <vt:lpstr>经典繁仿黑</vt:lpstr>
      <vt:lpstr>黑体</vt:lpstr>
      <vt:lpstr>Arial Unicode MS</vt:lpstr>
      <vt:lpstr>华文中宋</vt:lpstr>
      <vt:lpstr>楷体</vt:lpstr>
      <vt:lpstr>FangSong_GB2312</vt:lpstr>
      <vt:lpstr>仿宋</vt:lpstr>
      <vt:lpstr>OPPOSans H</vt:lpstr>
      <vt:lpstr>Source Han Sans</vt:lpstr>
      <vt:lpstr>Source Han Sans CN Bold</vt:lpstr>
      <vt:lpstr>等线</vt:lpstr>
      <vt:lpstr>Tw Cen MT Condensed</vt:lpstr>
      <vt:lpstr>Segoe Print</vt:lpstr>
      <vt:lpstr>华光蒙文粗黑体</vt:lpstr>
      <vt:lpstr>FangSong_GB2312</vt:lpstr>
      <vt:lpstr>OPPOSans H</vt:lpstr>
      <vt:lpstr>Source Han Sans</vt:lpstr>
      <vt:lpstr>Source Han Sans CN Bold</vt:lpstr>
      <vt:lpstr>Wingdings</vt:lpstr>
      <vt:lpstr>经典繁仿黑</vt:lpstr>
      <vt:lpstr>汉仪中黑繁</vt:lpstr>
      <vt:lpstr>方正楷体_GB2312</vt:lpstr>
      <vt:lpstr>H2O</vt:lpstr>
      <vt:lpstr>Saturday Sans Regular</vt:lpstr>
      <vt:lpstr>Wonder Sans Bold</vt:lpstr>
      <vt:lpstr>Times NR MT Pro Medium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熊猫设计出品</dc:creator>
  <cp:lastModifiedBy>洪华龙</cp:lastModifiedBy>
  <cp:revision>441</cp:revision>
  <cp:lastPrinted>2024-09-26T03:09:00Z</cp:lastPrinted>
  <dcterms:created xsi:type="dcterms:W3CDTF">2023-09-22T05:49:00Z</dcterms:created>
  <dcterms:modified xsi:type="dcterms:W3CDTF">2026-03-18T11:00:32Z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560E23FF72D3621EDE2A0D65C3A81CF5_42</vt:lpwstr>
  </property>
  <property fmtid="{D5CDD505-2E9C-101B-9397-08002B2CF9AE}" pid="3" name="KSOProductBuildVer">
    <vt:lpwstr>2052-12.1.0.25225</vt:lpwstr>
  </property>
</Properties>
</file>