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7" r:id="rId2"/>
    <p:sldId id="876" r:id="rId3"/>
    <p:sldId id="664" r:id="rId4"/>
    <p:sldId id="817" r:id="rId5"/>
    <p:sldId id="848" r:id="rId6"/>
    <p:sldId id="849" r:id="rId7"/>
    <p:sldId id="850" r:id="rId8"/>
    <p:sldId id="851" r:id="rId9"/>
    <p:sldId id="852" r:id="rId10"/>
    <p:sldId id="853" r:id="rId11"/>
    <p:sldId id="854" r:id="rId12"/>
    <p:sldId id="855" r:id="rId13"/>
    <p:sldId id="856" r:id="rId14"/>
    <p:sldId id="857" r:id="rId15"/>
    <p:sldId id="858" r:id="rId16"/>
    <p:sldId id="859" r:id="rId17"/>
    <p:sldId id="860" r:id="rId18"/>
    <p:sldId id="861" r:id="rId19"/>
    <p:sldId id="862" r:id="rId20"/>
    <p:sldId id="863" r:id="rId21"/>
    <p:sldId id="864" r:id="rId22"/>
    <p:sldId id="865" r:id="rId23"/>
    <p:sldId id="866" r:id="rId24"/>
    <p:sldId id="867" r:id="rId25"/>
    <p:sldId id="868" r:id="rId26"/>
    <p:sldId id="869" r:id="rId27"/>
    <p:sldId id="870" r:id="rId28"/>
    <p:sldId id="871" r:id="rId29"/>
    <p:sldId id="872" r:id="rId30"/>
    <p:sldId id="873" r:id="rId31"/>
    <p:sldId id="364" r:id="rId32"/>
  </p:sldIdLst>
  <p:sldSz cx="12192000" cy="6858000"/>
  <p:notesSz cx="9928225" cy="6797675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3333CC"/>
    <a:srgbClr val="C5E0B4"/>
    <a:srgbClr val="335AE6"/>
    <a:srgbClr val="61DF70"/>
    <a:srgbClr val="1D9D79"/>
    <a:srgbClr val="A9D18E"/>
    <a:srgbClr val="00926A"/>
    <a:srgbClr val="019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6" autoAdjust="0"/>
    <p:restoredTop sz="97078" autoAdjust="0"/>
  </p:normalViewPr>
  <p:slideViewPr>
    <p:cSldViewPr snapToGrid="0" showGuides="1">
      <p:cViewPr varScale="1">
        <p:scale>
          <a:sx n="77" d="100"/>
          <a:sy n="77" d="100"/>
        </p:scale>
        <p:origin x="276" y="68"/>
      </p:cViewPr>
      <p:guideLst>
        <p:guide pos="3840"/>
        <p:guide orient="horz" pos="21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CE6CCEB-7414-EB8C-F454-2C7CEB114A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0F7528-E102-E7DC-F15D-E7FC467D4B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316E-0229-4088-B440-750FAFB3F269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B119C6-5E85-6389-7249-A0C2FEA858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EFF23B-C713-943C-CB1B-A7442D5B18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BD6EC-37CC-4D41-AD30-E03811552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6416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8B5F947-C996-CF6F-1C71-9CEC21196A71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6C309A93-1DD3-F7D5-3089-6B64CFF74040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1">
              <a:extLst>
                <a:ext uri="{FF2B5EF4-FFF2-40B4-BE49-F238E27FC236}">
                  <a16:creationId xmlns:a16="http://schemas.microsoft.com/office/drawing/2014/main" id="{6992D684-F287-A1FB-9FF0-4F9591607C7C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03D8A02-B44B-6AEA-56FE-C0CCC2151CE2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第五节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对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坐标的曲面积分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8E0D463-900E-DE87-BF8A-A6CD6DB27C2F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FD639FE-7069-36D2-316C-416C3A875B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221B7411-62FA-F067-A676-78E6C467FB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1A6F828-F589-6A31-2D56-089123EA6498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0BC3EA44-44C2-7542-B982-8CEB81CB7DD4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A0D0BC7F-8E6F-0DEA-CEEB-2A3CF17E9C70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1692C18-1EE1-5FB7-5F0E-1A683A43454D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第五节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对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坐标的曲面积分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D41C6BB-C874-76AD-7BC5-D9A1F6D19228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7D97CC5B-9E98-C933-5BF1-9CB844FD73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C15F5C-4BFE-CD9E-37C5-093C07A213C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CC25A39-D7EA-47F5-4215-024600A07503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C5B37A0A-35F8-2A75-D0A1-FBC1B6F2AE03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2B21D431-6AFA-2E98-8BE2-DBD43726AF75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40922BD-116A-2FAA-8C78-B793297203CF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第五节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对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坐标的曲面积分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C3DBEDD-9145-F79A-B8CC-2FD61417D475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745F63E-A5B3-742D-249B-657306B199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0C0C5249-D951-360D-C37B-9BBE01CB68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140DF51-CA38-401D-2A93-02587D7AEB95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CDACCF30-ABD7-014D-4146-1DEFABC6F529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2F132EE8-8358-B054-FC47-3E06019F2CAD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9D90286-C67B-B651-FAE9-CFDEDC619154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第五节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对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坐标的曲面积分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7A648A6-ABE5-0F00-F265-CA16E11DC5D4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4B637AE-613A-265B-3396-C99882AB75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E172A11-0447-853E-C4C1-8B1FE881A7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CC16687-6418-C241-FA60-A53BB98C8F6C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65C5D5AF-366B-8DA9-B7DB-9106151EB25F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3A12A664-B54A-F2BC-5B82-2FDCD6BC905E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7548045-E5E9-A076-DC34-CD2533A42738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第五节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对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坐标的曲面积分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6B36E62-6585-255D-B1BC-E22FDAAC15CB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86F25CC-B612-5E11-E948-6537A32971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4CABFE6-82A2-0521-ECF2-C72E266F22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6169476-C761-1DC5-A4A5-040BE4CF4D42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9" name="Rectangle 1">
              <a:extLst>
                <a:ext uri="{FF2B5EF4-FFF2-40B4-BE49-F238E27FC236}">
                  <a16:creationId xmlns:a16="http://schemas.microsoft.com/office/drawing/2014/main" id="{9C43B368-323D-F969-7CC1-C49BCB495FFA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CA23A1FD-2F2F-5DF7-8AF8-0B829005BD47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9D85846-813C-4B7A-C876-7A3362D0FB85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第五节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对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坐标的曲面积分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DDADF87-D7F7-BAC5-8698-E2832019389A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ADF4368-E584-5B36-1264-4341D8A474F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39DECA8-7795-4A12-702C-177B1A78F9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7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6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8.wmf"/><Relationship Id="rId17" Type="http://schemas.openxmlformats.org/officeDocument/2006/relationships/image" Target="../media/image38.png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oleObject" Target="../embeddings/oleObject3.bin"/><Relationship Id="rId5" Type="http://schemas.openxmlformats.org/officeDocument/2006/relationships/image" Target="../media/image13.png"/><Relationship Id="rId15" Type="http://schemas.openxmlformats.org/officeDocument/2006/relationships/image" Target="../media/image35.png"/><Relationship Id="rId10" Type="http://schemas.openxmlformats.org/officeDocument/2006/relationships/image" Target="../media/image8.wmf"/><Relationship Id="rId4" Type="http://schemas.openxmlformats.org/officeDocument/2006/relationships/image" Target="../media/image12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3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jpeg"/><Relationship Id="rId1" Type="http://schemas.openxmlformats.org/officeDocument/2006/relationships/tags" Target="../tags/tag5.xml"/><Relationship Id="rId15" Type="http://schemas.openxmlformats.org/officeDocument/2006/relationships/image" Target="../media/image19.png"/><Relationship Id="rId10" Type="http://schemas.openxmlformats.org/officeDocument/2006/relationships/image" Target="../media/image320.png"/><Relationship Id="rId9" Type="http://schemas.openxmlformats.org/officeDocument/2006/relationships/image" Target="../media/image15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2.png"/><Relationship Id="rId7" Type="http://schemas.openxmlformats.org/officeDocument/2006/relationships/image" Target="../media/image6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6.png"/><Relationship Id="rId5" Type="http://schemas.openxmlformats.org/officeDocument/2006/relationships/image" Target="../media/image71.png"/><Relationship Id="rId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7" Type="http://schemas.openxmlformats.org/officeDocument/2006/relationships/image" Target="../media/image7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810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2.png"/><Relationship Id="rId7" Type="http://schemas.openxmlformats.org/officeDocument/2006/relationships/image" Target="../media/image9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9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77.png"/><Relationship Id="rId7" Type="http://schemas.openxmlformats.org/officeDocument/2006/relationships/image" Target="../media/image10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5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0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1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24.png"/><Relationship Id="rId5" Type="http://schemas.openxmlformats.org/officeDocument/2006/relationships/image" Target="../media/image111.png"/><Relationship Id="rId10" Type="http://schemas.openxmlformats.org/officeDocument/2006/relationships/image" Target="../media/image123.png"/><Relationship Id="rId4" Type="http://schemas.openxmlformats.org/officeDocument/2006/relationships/image" Target="../media/image110.png"/><Relationship Id="rId9" Type="http://schemas.openxmlformats.org/officeDocument/2006/relationships/image" Target="../media/image1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19.png"/><Relationship Id="rId7" Type="http://schemas.openxmlformats.org/officeDocument/2006/relationships/image" Target="../media/image37.png"/><Relationship Id="rId12" Type="http://schemas.openxmlformats.org/officeDocument/2006/relationships/image" Target="../media/image4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44.png"/><Relationship Id="rId5" Type="http://schemas.openxmlformats.org/officeDocument/2006/relationships/image" Target="../media/image26.png"/><Relationship Id="rId10" Type="http://schemas.openxmlformats.org/officeDocument/2006/relationships/image" Target="../media/image43.png"/><Relationship Id="rId4" Type="http://schemas.openxmlformats.org/officeDocument/2006/relationships/image" Target="../media/image125.png"/><Relationship Id="rId9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8.png"/><Relationship Id="rId3" Type="http://schemas.openxmlformats.org/officeDocument/2006/relationships/image" Target="../media/image128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42.png"/><Relationship Id="rId10" Type="http://schemas.openxmlformats.org/officeDocument/2006/relationships/image" Target="../media/image140.png"/><Relationship Id="rId4" Type="http://schemas.openxmlformats.org/officeDocument/2006/relationships/image" Target="../media/image47.png"/><Relationship Id="rId9" Type="http://schemas.openxmlformats.org/officeDocument/2006/relationships/image" Target="../media/image144.png"/><Relationship Id="rId14" Type="http://schemas.openxmlformats.org/officeDocument/2006/relationships/image" Target="../media/image1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7" Type="http://schemas.openxmlformats.org/officeDocument/2006/relationships/image" Target="../media/image158.png"/><Relationship Id="rId1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155.png"/><Relationship Id="rId5" Type="http://schemas.openxmlformats.org/officeDocument/2006/relationships/image" Target="../media/image153.png"/><Relationship Id="rId10" Type="http://schemas.openxmlformats.org/officeDocument/2006/relationships/image" Target="../media/image84.png"/><Relationship Id="rId9" Type="http://schemas.openxmlformats.org/officeDocument/2006/relationships/image" Target="../media/image83.png"/><Relationship Id="rId14" Type="http://schemas.openxmlformats.org/officeDocument/2006/relationships/image" Target="../media/image16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9.png"/><Relationship Id="rId12" Type="http://schemas.openxmlformats.org/officeDocument/2006/relationships/image" Target="../media/image162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07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0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6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94.png"/><Relationship Id="rId18" Type="http://schemas.openxmlformats.org/officeDocument/2006/relationships/image" Target="../media/image202.png"/><Relationship Id="rId3" Type="http://schemas.openxmlformats.org/officeDocument/2006/relationships/image" Target="../media/image187.png"/><Relationship Id="rId21" Type="http://schemas.openxmlformats.org/officeDocument/2006/relationships/image" Target="../media/image205.png"/><Relationship Id="rId7" Type="http://schemas.openxmlformats.org/officeDocument/2006/relationships/image" Target="../media/image191.png"/><Relationship Id="rId12" Type="http://schemas.openxmlformats.org/officeDocument/2006/relationships/image" Target="../media/image186.png"/><Relationship Id="rId17" Type="http://schemas.openxmlformats.org/officeDocument/2006/relationships/image" Target="../media/image201.png"/><Relationship Id="rId2" Type="http://schemas.openxmlformats.org/officeDocument/2006/relationships/image" Target="../media/image183.png"/><Relationship Id="rId16" Type="http://schemas.openxmlformats.org/officeDocument/2006/relationships/image" Target="../media/image200.png"/><Relationship Id="rId20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185.png"/><Relationship Id="rId5" Type="http://schemas.openxmlformats.org/officeDocument/2006/relationships/image" Target="../media/image131.png"/><Relationship Id="rId15" Type="http://schemas.openxmlformats.org/officeDocument/2006/relationships/image" Target="../media/image199.png"/><Relationship Id="rId23" Type="http://schemas.openxmlformats.org/officeDocument/2006/relationships/image" Target="../media/image207.png"/><Relationship Id="rId10" Type="http://schemas.openxmlformats.org/officeDocument/2006/relationships/image" Target="../media/image184.png"/><Relationship Id="rId19" Type="http://schemas.openxmlformats.org/officeDocument/2006/relationships/image" Target="../media/image203.png"/><Relationship Id="rId4" Type="http://schemas.openxmlformats.org/officeDocument/2006/relationships/image" Target="../media/image130.png"/><Relationship Id="rId9" Type="http://schemas.openxmlformats.org/officeDocument/2006/relationships/image" Target="../media/image193.png"/><Relationship Id="rId14" Type="http://schemas.openxmlformats.org/officeDocument/2006/relationships/image" Target="../media/image195.png"/><Relationship Id="rId22" Type="http://schemas.openxmlformats.org/officeDocument/2006/relationships/image" Target="../media/image20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8.png"/><Relationship Id="rId3" Type="http://schemas.openxmlformats.org/officeDocument/2006/relationships/image" Target="../media/image132.png"/><Relationship Id="rId7" Type="http://schemas.openxmlformats.org/officeDocument/2006/relationships/image" Target="../media/image196.png"/><Relationship Id="rId12" Type="http://schemas.openxmlformats.org/officeDocument/2006/relationships/image" Target="../media/image217.png"/><Relationship Id="rId2" Type="http://schemas.openxmlformats.org/officeDocument/2006/relationships/image" Target="../media/image49.png"/><Relationship Id="rId16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216.png"/><Relationship Id="rId5" Type="http://schemas.openxmlformats.org/officeDocument/2006/relationships/image" Target="../media/image133.png"/><Relationship Id="rId15" Type="http://schemas.openxmlformats.org/officeDocument/2006/relationships/image" Target="../media/image220.png"/><Relationship Id="rId10" Type="http://schemas.openxmlformats.org/officeDocument/2006/relationships/image" Target="../media/image215.png"/><Relationship Id="rId4" Type="http://schemas.openxmlformats.org/officeDocument/2006/relationships/image" Target="../media/image1300.png"/><Relationship Id="rId9" Type="http://schemas.openxmlformats.org/officeDocument/2006/relationships/image" Target="../media/image214.png"/><Relationship Id="rId14" Type="http://schemas.openxmlformats.org/officeDocument/2006/relationships/image" Target="../media/image2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-244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33C2CE-C905-2846-8650-C5C8DB13E5AC}"/>
              </a:ext>
            </a:extLst>
          </p:cNvPr>
          <p:cNvSpPr/>
          <p:nvPr/>
        </p:nvSpPr>
        <p:spPr>
          <a:xfrm>
            <a:off x="789305" y="1908802"/>
            <a:ext cx="11083290" cy="4961748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62284D-899E-011F-23D8-3168522C1D2D}"/>
              </a:ext>
            </a:extLst>
          </p:cNvPr>
          <p:cNvSpPr/>
          <p:nvPr/>
        </p:nvSpPr>
        <p:spPr>
          <a:xfrm>
            <a:off x="629285" y="2052905"/>
            <a:ext cx="10923270" cy="48176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777B1F-3CD3-3E05-03B7-290842DFE79B}"/>
              </a:ext>
            </a:extLst>
          </p:cNvPr>
          <p:cNvSpPr/>
          <p:nvPr/>
        </p:nvSpPr>
        <p:spPr>
          <a:xfrm>
            <a:off x="487045" y="2207501"/>
            <a:ext cx="10746105" cy="4663049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5037531" y="2665459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>
            <a:cxnSpLocks/>
          </p:cNvCxnSpPr>
          <p:nvPr/>
        </p:nvCxnSpPr>
        <p:spPr>
          <a:xfrm>
            <a:off x="1735983" y="3348297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460957" y="3847459"/>
            <a:ext cx="2880000" cy="461665"/>
          </a:xfrm>
          <a:prstGeom prst="rect">
            <a:avLst/>
          </a:pr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一元函数积分学</a:t>
            </a: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B8D3E00D-8E36-4B80-EC28-2CF14DFA7C95}"/>
              </a:ext>
            </a:extLst>
          </p:cNvPr>
          <p:cNvGrpSpPr/>
          <p:nvPr/>
        </p:nvGrpSpPr>
        <p:grpSpPr>
          <a:xfrm>
            <a:off x="1504486" y="4799643"/>
            <a:ext cx="5360532" cy="619125"/>
            <a:chOff x="1504486" y="4815728"/>
            <a:chExt cx="5360532" cy="619125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853897" y="2466317"/>
              <a:ext cx="619125" cy="531794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547072" y="4909851"/>
              <a:ext cx="53179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/>
              <a:r>
                <a:rPr lang="zh-CN" altLang="en-US" sz="2400" b="1" dirty="0">
                  <a:solidFill>
                    <a:srgbClr val="04926A"/>
                  </a:solidFill>
                </a:rPr>
                <a:t>积分学     </a:t>
              </a:r>
              <a:r>
                <a:rPr lang="zh-CN" altLang="en-US" sz="2400" dirty="0"/>
                <a:t>定积分   二重积分   三重积分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1986375" y="577870"/>
            <a:ext cx="82192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第十一章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曲线积分与曲面积分</a:t>
            </a:r>
          </a:p>
        </p:txBody>
      </p:sp>
      <p:sp>
        <p:nvSpPr>
          <p:cNvPr id="5" name="右箭头 4"/>
          <p:cNvSpPr/>
          <p:nvPr/>
        </p:nvSpPr>
        <p:spPr>
          <a:xfrm>
            <a:off x="5486657" y="3953196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862540-B67A-1674-AB4B-27AC8296A336}"/>
              </a:ext>
            </a:extLst>
          </p:cNvPr>
          <p:cNvSpPr/>
          <p:nvPr/>
        </p:nvSpPr>
        <p:spPr>
          <a:xfrm>
            <a:off x="6568357" y="3847459"/>
            <a:ext cx="2880000" cy="461665"/>
          </a:xfrm>
          <a:prstGeom prst="rect">
            <a:avLst/>
          </a:pr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</a:rPr>
              <a:t>多元函数积分学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509881E-5C80-DE2B-4028-6515618CFFDA}"/>
              </a:ext>
            </a:extLst>
          </p:cNvPr>
          <p:cNvGrpSpPr/>
          <p:nvPr/>
        </p:nvGrpSpPr>
        <p:grpSpPr>
          <a:xfrm>
            <a:off x="7025038" y="4793304"/>
            <a:ext cx="1458356" cy="619125"/>
            <a:chOff x="723439" y="4629148"/>
            <a:chExt cx="1458356" cy="619125"/>
          </a:xfrm>
        </p:grpSpPr>
        <p:sp>
          <p:nvSpPr>
            <p:cNvPr id="56" name="矩形: 圆角 40">
              <a:extLst>
                <a:ext uri="{FF2B5EF4-FFF2-40B4-BE49-F238E27FC236}">
                  <a16:creationId xmlns:a16="http://schemas.microsoft.com/office/drawing/2014/main" id="{A4632266-497A-F13F-FA28-1F43175740E3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A2CAA016-0291-0BA7-2ED0-1E3167715254}"/>
                </a:ext>
              </a:extLst>
            </p:cNvPr>
            <p:cNvSpPr/>
            <p:nvPr/>
          </p:nvSpPr>
          <p:spPr>
            <a:xfrm>
              <a:off x="766023" y="47232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曲线积分</a:t>
              </a: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5EA19912-24F0-3ADE-D382-3D319606B1F9}"/>
              </a:ext>
            </a:extLst>
          </p:cNvPr>
          <p:cNvGrpSpPr/>
          <p:nvPr/>
        </p:nvGrpSpPr>
        <p:grpSpPr>
          <a:xfrm>
            <a:off x="1504488" y="5601241"/>
            <a:ext cx="5317945" cy="619125"/>
            <a:chOff x="1504488" y="5617326"/>
            <a:chExt cx="5317945" cy="619125"/>
          </a:xfrm>
        </p:grpSpPr>
        <p:sp>
          <p:nvSpPr>
            <p:cNvPr id="62" name="矩形: 圆角 40">
              <a:extLst>
                <a:ext uri="{FF2B5EF4-FFF2-40B4-BE49-F238E27FC236}">
                  <a16:creationId xmlns:a16="http://schemas.microsoft.com/office/drawing/2014/main" id="{79E044E3-4942-D10E-E2EC-72B14B2442C3}"/>
                </a:ext>
              </a:extLst>
            </p:cNvPr>
            <p:cNvSpPr/>
            <p:nvPr/>
          </p:nvSpPr>
          <p:spPr>
            <a:xfrm rot="16200000" flipV="1">
              <a:off x="3853898" y="3267916"/>
              <a:ext cx="619125" cy="531794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CFF85A1-1A5E-5FE0-8EC5-47256075509B}"/>
                </a:ext>
              </a:extLst>
            </p:cNvPr>
            <p:cNvSpPr/>
            <p:nvPr/>
          </p:nvSpPr>
          <p:spPr>
            <a:xfrm>
              <a:off x="1547071" y="5711445"/>
              <a:ext cx="51871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积分域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   </a:t>
              </a:r>
              <a:r>
                <a:rPr lang="zh-CN" altLang="en-US" sz="2400" dirty="0"/>
                <a:t>区间域     平面域        空间域 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CFB9525-D1CE-B133-DBD7-82947A2D0DB3}"/>
              </a:ext>
            </a:extLst>
          </p:cNvPr>
          <p:cNvGrpSpPr/>
          <p:nvPr/>
        </p:nvGrpSpPr>
        <p:grpSpPr>
          <a:xfrm>
            <a:off x="7025038" y="5601241"/>
            <a:ext cx="1458355" cy="619125"/>
            <a:chOff x="723439" y="4629148"/>
            <a:chExt cx="1458355" cy="619125"/>
          </a:xfrm>
        </p:grpSpPr>
        <p:sp>
          <p:nvSpPr>
            <p:cNvPr id="82" name="矩形: 圆角 40">
              <a:extLst>
                <a:ext uri="{FF2B5EF4-FFF2-40B4-BE49-F238E27FC236}">
                  <a16:creationId xmlns:a16="http://schemas.microsoft.com/office/drawing/2014/main" id="{FF16FE5E-4F76-2F84-7C18-54B6FAB5F06D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9B9AADE5-C1BE-2C1C-14F9-56C6C577B99A}"/>
                </a:ext>
              </a:extLst>
            </p:cNvPr>
            <p:cNvSpPr/>
            <p:nvPr/>
          </p:nvSpPr>
          <p:spPr>
            <a:xfrm>
              <a:off x="899373" y="4723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曲线域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1DCFC114-15E5-3F3A-6CF4-6FEAAFBDDA62}"/>
              </a:ext>
            </a:extLst>
          </p:cNvPr>
          <p:cNvGrpSpPr/>
          <p:nvPr/>
        </p:nvGrpSpPr>
        <p:grpSpPr>
          <a:xfrm>
            <a:off x="8685997" y="4793304"/>
            <a:ext cx="1458356" cy="619125"/>
            <a:chOff x="723439" y="4629148"/>
            <a:chExt cx="1458356" cy="619125"/>
          </a:xfrm>
        </p:grpSpPr>
        <p:sp>
          <p:nvSpPr>
            <p:cNvPr id="85" name="矩形: 圆角 40">
              <a:extLst>
                <a:ext uri="{FF2B5EF4-FFF2-40B4-BE49-F238E27FC236}">
                  <a16:creationId xmlns:a16="http://schemas.microsoft.com/office/drawing/2014/main" id="{CC672131-6499-9C49-6284-93314912DA7D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25BF8A06-AC78-D40F-63C9-28E245C32157}"/>
                </a:ext>
              </a:extLst>
            </p:cNvPr>
            <p:cNvSpPr/>
            <p:nvPr/>
          </p:nvSpPr>
          <p:spPr>
            <a:xfrm>
              <a:off x="766023" y="47232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曲面积分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695CDE97-620D-4A37-E5CA-6F1DFDAC8EDD}"/>
              </a:ext>
            </a:extLst>
          </p:cNvPr>
          <p:cNvGrpSpPr/>
          <p:nvPr/>
        </p:nvGrpSpPr>
        <p:grpSpPr>
          <a:xfrm>
            <a:off x="8685997" y="5601241"/>
            <a:ext cx="1458355" cy="619125"/>
            <a:chOff x="723439" y="4629148"/>
            <a:chExt cx="1458355" cy="619125"/>
          </a:xfrm>
        </p:grpSpPr>
        <p:sp>
          <p:nvSpPr>
            <p:cNvPr id="88" name="矩形: 圆角 40">
              <a:extLst>
                <a:ext uri="{FF2B5EF4-FFF2-40B4-BE49-F238E27FC236}">
                  <a16:creationId xmlns:a16="http://schemas.microsoft.com/office/drawing/2014/main" id="{85A2365A-A649-C86F-637C-6F6FF956B343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AFED61F-E486-792F-5702-F6EE5B1F2BF7}"/>
                </a:ext>
              </a:extLst>
            </p:cNvPr>
            <p:cNvSpPr/>
            <p:nvPr/>
          </p:nvSpPr>
          <p:spPr>
            <a:xfrm>
              <a:off x="899373" y="4723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曲面域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0934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621849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对弧长的曲线积分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469103"/>
            <a:ext cx="3935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格林公式及其应用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661652" y="2670489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对坐标的曲线积分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661652" y="3470393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对面积的曲面积分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4315067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 对坐标的曲面积分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5162322"/>
            <a:ext cx="5630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环流量与旋度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661652" y="4315067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高斯公式 通量与散度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90BDE2-A9B9-2642-8139-7B4664146E16}"/>
              </a:ext>
            </a:extLst>
          </p:cNvPr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第十一章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179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624520"/>
            <a:ext cx="11536045" cy="49611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624811" y="589066"/>
            <a:ext cx="494237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对坐标的曲面积分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D2B225-D912-E242-A79F-F30D15488F78}"/>
              </a:ext>
            </a:extLst>
          </p:cNvPr>
          <p:cNvGrpSpPr/>
          <p:nvPr/>
        </p:nvGrpSpPr>
        <p:grpSpPr>
          <a:xfrm>
            <a:off x="2920546" y="2029147"/>
            <a:ext cx="6350908" cy="901065"/>
            <a:chOff x="3376753" y="2223699"/>
            <a:chExt cx="6350908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3" y="2223699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521168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一、有向曲面及曲面元素的投影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99FF29E-F30C-9E40-B438-C641072C6A43}"/>
              </a:ext>
            </a:extLst>
          </p:cNvPr>
          <p:cNvGrpSpPr/>
          <p:nvPr/>
        </p:nvGrpSpPr>
        <p:grpSpPr>
          <a:xfrm>
            <a:off x="2920546" y="3134493"/>
            <a:ext cx="6350908" cy="901065"/>
            <a:chOff x="3376753" y="3448290"/>
            <a:chExt cx="6350908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3" y="3448290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5929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对坐标的曲面积分的概念与性质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D45B5AA-5AC5-C841-870D-13B3475C9903}"/>
              </a:ext>
            </a:extLst>
          </p:cNvPr>
          <p:cNvGrpSpPr/>
          <p:nvPr/>
        </p:nvGrpSpPr>
        <p:grpSpPr>
          <a:xfrm>
            <a:off x="2920546" y="4239839"/>
            <a:ext cx="6350908" cy="901065"/>
            <a:chOff x="3376753" y="4508606"/>
            <a:chExt cx="6350908" cy="901065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F0C1625A-8AFB-064E-8114-6A8BDB4CCB0A}"/>
                </a:ext>
              </a:extLst>
            </p:cNvPr>
            <p:cNvSpPr/>
            <p:nvPr/>
          </p:nvSpPr>
          <p:spPr>
            <a:xfrm flipV="1">
              <a:off x="3376753" y="4508606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81D9E1D-1020-F744-A3FA-7B32C6575660}"/>
                </a:ext>
              </a:extLst>
            </p:cNvPr>
            <p:cNvSpPr/>
            <p:nvPr/>
          </p:nvSpPr>
          <p:spPr>
            <a:xfrm>
              <a:off x="3616931" y="4697840"/>
              <a:ext cx="521168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对坐标的曲面积分的计算法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556BD31-2CD3-6C40-8AF7-F4340BCD53C7}"/>
              </a:ext>
            </a:extLst>
          </p:cNvPr>
          <p:cNvGrpSpPr/>
          <p:nvPr/>
        </p:nvGrpSpPr>
        <p:grpSpPr>
          <a:xfrm>
            <a:off x="2920546" y="5345184"/>
            <a:ext cx="6350908" cy="901065"/>
            <a:chOff x="3376753" y="5607832"/>
            <a:chExt cx="6350908" cy="901065"/>
          </a:xfrm>
        </p:grpSpPr>
        <p:sp>
          <p:nvSpPr>
            <p:cNvPr id="19" name="矩形: 圆角 40">
              <a:extLst>
                <a:ext uri="{FF2B5EF4-FFF2-40B4-BE49-F238E27FC236}">
                  <a16:creationId xmlns:a16="http://schemas.microsoft.com/office/drawing/2014/main" id="{1B4BB066-7047-6F48-95C5-06881D033798}"/>
                </a:ext>
              </a:extLst>
            </p:cNvPr>
            <p:cNvSpPr/>
            <p:nvPr/>
          </p:nvSpPr>
          <p:spPr>
            <a:xfrm flipV="1">
              <a:off x="3376753" y="5607832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A757599-500B-F64B-9D05-C440BA741A76}"/>
                </a:ext>
              </a:extLst>
            </p:cNvPr>
            <p:cNvSpPr/>
            <p:nvPr/>
          </p:nvSpPr>
          <p:spPr>
            <a:xfrm>
              <a:off x="3616931" y="5797066"/>
              <a:ext cx="430919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*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两类曲面积分的联系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467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135CC4E-2823-AF7B-FB18-EA957386853E}"/>
              </a:ext>
            </a:extLst>
          </p:cNvPr>
          <p:cNvSpPr txBox="1">
            <a:spLocks noChangeArrowheads="1"/>
          </p:cNvSpPr>
          <p:nvPr/>
        </p:nvSpPr>
        <p:spPr>
          <a:xfrm>
            <a:off x="696685" y="591576"/>
            <a:ext cx="62484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一、有向曲面及曲面元素的投影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912D2B-EEE4-A339-B9F3-A44CCE91F283}"/>
              </a:ext>
            </a:extLst>
          </p:cNvPr>
          <p:cNvSpPr txBox="1"/>
          <p:nvPr/>
        </p:nvSpPr>
        <p:spPr bwMode="auto">
          <a:xfrm>
            <a:off x="1068224" y="1187398"/>
            <a:ext cx="2052165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曲面分类</a:t>
            </a: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776E8AD7-3B30-6DA9-F951-8D976B7D0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745" y="5670827"/>
            <a:ext cx="32176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曲面分上侧和下侧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7FEB6C66-F071-81BD-4E06-3E98D2DCC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7638" y="5670827"/>
            <a:ext cx="33082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曲面分内侧和外侧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71F4E270-A153-0397-C244-256E0765A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839" y="5156559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rgbClr val="4A7BA8"/>
                </a:solidFill>
                <a:latin typeface="Cambria Math" panose="02040503050406030204" charset="0"/>
                <a:ea typeface="黑体" panose="02010609060101010101" pitchFamily="49" charset="-122"/>
              </a:rPr>
              <a:t>莫比乌斯带</a:t>
            </a:r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8EF1C602-95DA-2BE0-B1C1-FB71323F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992" y="3119912"/>
            <a:ext cx="2627313" cy="20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 Box 18">
            <a:extLst>
              <a:ext uri="{FF2B5EF4-FFF2-40B4-BE49-F238E27FC236}">
                <a16:creationId xmlns:a16="http://schemas.microsoft.com/office/drawing/2014/main" id="{70F9139B-4765-CE50-786F-88D088655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8150" y="5670827"/>
            <a:ext cx="3074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单侧曲面的典型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) 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F2F35C9-083B-28A0-B935-05257B7D06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458064"/>
              </p:ext>
            </p:extLst>
          </p:nvPr>
        </p:nvGraphicFramePr>
        <p:xfrm>
          <a:off x="4981237" y="3119912"/>
          <a:ext cx="3514602" cy="226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3" imgW="1581120" imgH="1352520" progId="Paint.Picture">
                  <p:embed/>
                </p:oleObj>
              </mc:Choice>
              <mc:Fallback>
                <p:oleObj name="BMP 图像" r:id="rId3" imgW="1581120" imgH="1352520" progId="Paint.Picture">
                  <p:embed/>
                  <p:pic>
                    <p:nvPicPr>
                      <p:cNvPr id="7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1237" y="3119912"/>
                        <a:ext cx="3514602" cy="2269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5F23C05F-AF6B-D72C-E3B9-3A2BC72B0B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71809"/>
              </p:ext>
            </p:extLst>
          </p:nvPr>
        </p:nvGraphicFramePr>
        <p:xfrm>
          <a:off x="1609037" y="3119912"/>
          <a:ext cx="31242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5" imgW="1467000" imgH="1190520" progId="Paint.Picture">
                  <p:embed/>
                </p:oleObj>
              </mc:Choice>
              <mc:Fallback>
                <p:oleObj name="BMP 图像" r:id="rId5" imgW="1467000" imgH="1190520" progId="Paint.Picture">
                  <p:embed/>
                  <p:pic>
                    <p:nvPicPr>
                      <p:cNvPr id="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037" y="3119912"/>
                        <a:ext cx="3124200" cy="22098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19">
            <a:extLst>
              <a:ext uri="{FF2B5EF4-FFF2-40B4-BE49-F238E27FC236}">
                <a16:creationId xmlns:a16="http://schemas.microsoft.com/office/drawing/2014/main" id="{094F85D3-18D7-B765-AA74-37E82E703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419" y="1812706"/>
            <a:ext cx="551733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曲面可分为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双侧曲面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和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单侧曲面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12" name="Text Box 220">
            <a:extLst>
              <a:ext uri="{FF2B5EF4-FFF2-40B4-BE49-F238E27FC236}">
                <a16:creationId xmlns:a16="http://schemas.microsoft.com/office/drawing/2014/main" id="{638CF9D2-C2A2-4827-4332-E70FAF93E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7554" y="1804113"/>
            <a:ext cx="35560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有些简单的双侧曲面</a:t>
            </a:r>
          </a:p>
        </p:txBody>
      </p:sp>
      <p:sp>
        <p:nvSpPr>
          <p:cNvPr id="13" name="Text Box 221">
            <a:extLst>
              <a:ext uri="{FF2B5EF4-FFF2-40B4-BE49-F238E27FC236}">
                <a16:creationId xmlns:a16="http://schemas.microsoft.com/office/drawing/2014/main" id="{8F580815-0E92-055D-F673-B2BAEB692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419" y="2408892"/>
            <a:ext cx="7707641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可直接指出其侧为上下、左右、前后和内外等．</a:t>
            </a:r>
          </a:p>
        </p:txBody>
      </p:sp>
    </p:spTree>
    <p:extLst>
      <p:ext uri="{BB962C8B-B14F-4D97-AF65-F5344CB8AC3E}">
        <p14:creationId xmlns:p14="http://schemas.microsoft.com/office/powerpoint/2010/main" val="321029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utoUpdateAnimBg="0"/>
      <p:bldP spid="5" grpId="0" autoUpdateAnimBg="0"/>
      <p:bldP spid="6" grpId="0" autoUpdateAnimBg="0"/>
      <p:bldP spid="8" grpId="0" build="p" autoUpdateAnimBg="0" advAuto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4">
            <a:extLst>
              <a:ext uri="{FF2B5EF4-FFF2-40B4-BE49-F238E27FC236}">
                <a16:creationId xmlns:a16="http://schemas.microsoft.com/office/drawing/2014/main" id="{AFE597FE-DA7E-719D-25FD-89F61671F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865" y="1438141"/>
            <a:ext cx="3733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其侧由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法向量指定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3" name="Rectangle 55">
            <a:extLst>
              <a:ext uri="{FF2B5EF4-FFF2-40B4-BE49-F238E27FC236}">
                <a16:creationId xmlns:a16="http://schemas.microsoft.com/office/drawing/2014/main" id="{57C5FA0C-4560-28B3-70BE-734256228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6989" y="1388314"/>
            <a:ext cx="4953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指定了侧的曲面叫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有向曲面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E962CC-3C6D-1F0A-9FB6-3A62082217E1}"/>
              </a:ext>
            </a:extLst>
          </p:cNvPr>
          <p:cNvSpPr txBox="1"/>
          <p:nvPr/>
        </p:nvSpPr>
        <p:spPr bwMode="auto">
          <a:xfrm>
            <a:off x="1350139" y="709203"/>
            <a:ext cx="2052165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有向曲面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D070E8E7-8391-0F19-54D6-405D889B6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6989" y="216070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方向余弦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7628FD80-7804-1A01-D546-A0D7B229578E}"/>
                  </a:ext>
                </a:extLst>
              </p:cNvPr>
              <p:cNvSpPr txBox="1"/>
              <p:nvPr/>
            </p:nvSpPr>
            <p:spPr bwMode="auto">
              <a:xfrm>
                <a:off x="3746288" y="2157156"/>
                <a:ext cx="952479" cy="496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7628FD80-7804-1A01-D546-A0D7B2295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6288" y="2157156"/>
                <a:ext cx="952479" cy="4968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CC021A20-1E51-2A66-F102-748FFF559A0A}"/>
                  </a:ext>
                </a:extLst>
              </p:cNvPr>
              <p:cNvSpPr txBox="1"/>
              <p:nvPr/>
            </p:nvSpPr>
            <p:spPr bwMode="auto">
              <a:xfrm>
                <a:off x="5651273" y="2157156"/>
                <a:ext cx="895341" cy="5262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𝛽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CC021A20-1E51-2A66-F102-748FFF559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1273" y="2157156"/>
                <a:ext cx="895341" cy="5262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2">
                <a:extLst>
                  <a:ext uri="{FF2B5EF4-FFF2-40B4-BE49-F238E27FC236}">
                    <a16:creationId xmlns:a16="http://schemas.microsoft.com/office/drawing/2014/main" id="{D7E65D62-768F-134C-6316-0985DF636DB4}"/>
                  </a:ext>
                </a:extLst>
              </p:cNvPr>
              <p:cNvSpPr txBox="1"/>
              <p:nvPr/>
            </p:nvSpPr>
            <p:spPr bwMode="auto">
              <a:xfrm>
                <a:off x="7518188" y="2141243"/>
                <a:ext cx="819123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𝛾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2">
                <a:extLst>
                  <a:ext uri="{FF2B5EF4-FFF2-40B4-BE49-F238E27FC236}">
                    <a16:creationId xmlns:a16="http://schemas.microsoft.com/office/drawing/2014/main" id="{D7E65D62-768F-134C-6316-0985DF636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18188" y="2141243"/>
                <a:ext cx="819123" cy="519112"/>
              </a:xfrm>
              <a:prstGeom prst="rect">
                <a:avLst/>
              </a:prstGeom>
              <a:blipFill>
                <a:blip r:embed="rId4"/>
                <a:stretch>
                  <a:fillRect r="-14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3">
            <a:extLst>
              <a:ext uri="{FF2B5EF4-FFF2-40B4-BE49-F238E27FC236}">
                <a16:creationId xmlns:a16="http://schemas.microsoft.com/office/drawing/2014/main" id="{57A058F0-9BDC-D262-9D38-C8B9D3DA7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239" y="2787516"/>
            <a:ext cx="21336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&gt; 0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为前侧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&lt; 0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为后侧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80C8727A-258F-1512-9832-4E093BBC1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589" y="2152516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封闭曲面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6157B624-C606-9F14-1E29-0B9946325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4089" y="2787516"/>
            <a:ext cx="20574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&gt; 0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为右侧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&lt; 0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为左侧 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BD67866A-807D-B985-1D4B-5089783D9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4789" y="2787516"/>
            <a:ext cx="22860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&gt; 0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为上侧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&lt; 0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为下侧</a:t>
            </a: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5E57D74C-9990-883F-96C5-915279495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4662" y="2749417"/>
            <a:ext cx="981476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外侧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内侧</a:t>
            </a: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0CA27E1C-2F0C-3115-96B9-235137B4F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6989" y="3124972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侧的规定</a:t>
            </a:r>
          </a:p>
        </p:txBody>
      </p:sp>
      <p:grpSp>
        <p:nvGrpSpPr>
          <p:cNvPr id="15" name="Group 70">
            <a:extLst>
              <a:ext uri="{FF2B5EF4-FFF2-40B4-BE49-F238E27FC236}">
                <a16:creationId xmlns:a16="http://schemas.microsoft.com/office/drawing/2014/main" id="{7D057C0F-F1C1-DCD2-7926-8B27230D5497}"/>
              </a:ext>
            </a:extLst>
          </p:cNvPr>
          <p:cNvGrpSpPr>
            <a:grpSpLocks/>
          </p:cNvGrpSpPr>
          <p:nvPr/>
        </p:nvGrpSpPr>
        <p:grpSpPr bwMode="auto">
          <a:xfrm>
            <a:off x="1776203" y="2233479"/>
            <a:ext cx="8637587" cy="1800225"/>
            <a:chOff x="223" y="960"/>
            <a:chExt cx="5441" cy="1134"/>
          </a:xfrm>
        </p:grpSpPr>
        <p:sp>
          <p:nvSpPr>
            <p:cNvPr id="16" name="Line 37">
              <a:extLst>
                <a:ext uri="{FF2B5EF4-FFF2-40B4-BE49-F238E27FC236}">
                  <a16:creationId xmlns:a16="http://schemas.microsoft.com/office/drawing/2014/main" id="{1EF13B7E-EA4D-704C-3946-A8681B180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" y="1236"/>
              <a:ext cx="54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7" name="Line 38">
              <a:extLst>
                <a:ext uri="{FF2B5EF4-FFF2-40B4-BE49-F238E27FC236}">
                  <a16:creationId xmlns:a16="http://schemas.microsoft.com/office/drawing/2014/main" id="{C51D84C9-1B70-93FE-0816-26DD1D441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8" y="960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" name="Line 39">
              <a:extLst>
                <a:ext uri="{FF2B5EF4-FFF2-40B4-BE49-F238E27FC236}">
                  <a16:creationId xmlns:a16="http://schemas.microsoft.com/office/drawing/2014/main" id="{D9C008E5-2B67-BA85-AF32-C71144120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" y="960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9" name="Line 40">
              <a:extLst>
                <a:ext uri="{FF2B5EF4-FFF2-40B4-BE49-F238E27FC236}">
                  <a16:creationId xmlns:a16="http://schemas.microsoft.com/office/drawing/2014/main" id="{D47AD1B9-AB42-65C0-DB4D-5D4782FB3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960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0" name="Line 41">
              <a:extLst>
                <a:ext uri="{FF2B5EF4-FFF2-40B4-BE49-F238E27FC236}">
                  <a16:creationId xmlns:a16="http://schemas.microsoft.com/office/drawing/2014/main" id="{E627B284-1F3A-4861-C8A3-E652232AA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4" y="960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989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 autoUpdateAnimBg="0"/>
      <p:bldP spid="6" grpId="0"/>
      <p:bldP spid="7" grpId="0"/>
      <p:bldP spid="8" grpId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7BFABEF-F0FB-C5DD-6E8F-E6D86C416649}"/>
              </a:ext>
            </a:extLst>
          </p:cNvPr>
          <p:cNvSpPr/>
          <p:nvPr/>
        </p:nvSpPr>
        <p:spPr>
          <a:xfrm>
            <a:off x="1111250" y="1648046"/>
            <a:ext cx="9863965" cy="442815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9">
                <a:extLst>
                  <a:ext uri="{FF2B5EF4-FFF2-40B4-BE49-F238E27FC236}">
                    <a16:creationId xmlns:a16="http://schemas.microsoft.com/office/drawing/2014/main" id="{13D6BE0C-729A-9F0B-E2D1-61EAB2DC8A8F}"/>
                  </a:ext>
                </a:extLst>
              </p:cNvPr>
              <p:cNvSpPr txBox="1"/>
              <p:nvPr/>
            </p:nvSpPr>
            <p:spPr bwMode="auto">
              <a:xfrm>
                <a:off x="3027138" y="2970060"/>
                <a:ext cx="6106339" cy="20907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𝑆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&amp;(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𝜎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kumimoji="1" lang="en-US" altLang="zh-CN" sz="2800" dirty="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 </m:t>
                              </m:r>
                              <m:r>
                                <a:rPr kumimoji="1" lang="en-US" altLang="zh-CN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 </m:t>
                              </m:r>
                              <m:func>
                                <m:funcPr>
                                  <m:ctrl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γ</m:t>
                                  </m:r>
                                </m:e>
                              </m:func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&gt;0 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dirty="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&amp;−(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𝜎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𝑥𝑦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US" altLang="zh-CN" sz="2800" dirty="0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,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 </m:t>
                              </m:r>
                              <m:func>
                                <m:funcPr>
                                  <m:ctrl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γ</m:t>
                                  </m:r>
                                </m:e>
                              </m:func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&lt;0 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dirty="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en-US" altLang="zh-CN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dirty="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   </m:t>
                              </m:r>
                              <m:r>
                                <a:rPr kumimoji="1" lang="en-US" altLang="zh-CN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func>
                                <m:funcPr>
                                  <m:ctrl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γ</m:t>
                                  </m:r>
                                </m:e>
                              </m:func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=0 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i="1" dirty="0">
                  <a:solidFill>
                    <a:srgbClr val="04926A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9">
                <a:extLst>
                  <a:ext uri="{FF2B5EF4-FFF2-40B4-BE49-F238E27FC236}">
                    <a16:creationId xmlns:a16="http://schemas.microsoft.com/office/drawing/2014/main" id="{13D6BE0C-729A-9F0B-E2D1-61EAB2DC8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7138" y="2970060"/>
                <a:ext cx="6106339" cy="20907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0">
                <a:extLst>
                  <a:ext uri="{FF2B5EF4-FFF2-40B4-BE49-F238E27FC236}">
                    <a16:creationId xmlns:a16="http://schemas.microsoft.com/office/drawing/2014/main" id="{C869F12A-CEA5-3239-BA89-20B3A78C60AE}"/>
                  </a:ext>
                </a:extLst>
              </p:cNvPr>
              <p:cNvSpPr txBox="1"/>
              <p:nvPr/>
            </p:nvSpPr>
            <p:spPr bwMode="auto">
              <a:xfrm>
                <a:off x="1382687" y="5245087"/>
                <a:ext cx="5594203" cy="442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其中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𝜎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表示投影区域的面积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10">
                <a:extLst>
                  <a:ext uri="{FF2B5EF4-FFF2-40B4-BE49-F238E27FC236}">
                    <a16:creationId xmlns:a16="http://schemas.microsoft.com/office/drawing/2014/main" id="{C869F12A-CEA5-3239-BA89-20B3A78C6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2687" y="5245087"/>
                <a:ext cx="5594203" cy="442912"/>
              </a:xfrm>
              <a:prstGeom prst="rect">
                <a:avLst/>
              </a:prstGeom>
              <a:blipFill>
                <a:blip r:embed="rId3"/>
                <a:stretch>
                  <a:fillRect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F9029CE-D173-E61F-A2B5-C3D9913F8E16}"/>
              </a:ext>
            </a:extLst>
          </p:cNvPr>
          <p:cNvSpPr txBox="1"/>
          <p:nvPr/>
        </p:nvSpPr>
        <p:spPr bwMode="auto">
          <a:xfrm>
            <a:off x="991744" y="930722"/>
            <a:ext cx="3129383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面积元素的投影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74720D62-4B76-1FAA-982C-195E59F6D090}"/>
                  </a:ext>
                </a:extLst>
              </p:cNvPr>
              <p:cNvSpPr txBox="1"/>
              <p:nvPr/>
            </p:nvSpPr>
            <p:spPr>
              <a:xfrm>
                <a:off x="1382687" y="1889742"/>
                <a:ext cx="9664012" cy="482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设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为有向曲面</m:t>
                      </m:r>
                      <m:r>
                        <m:rPr>
                          <m:nor/>
                        </m:rPr>
                        <a:rPr kumimoji="1" lang="en-US" altLang="zh-CN" sz="2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面积元素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𝑥𝑂𝑦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面上的投影记为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 (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𝑆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zh-CN" sz="2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74720D62-4B76-1FAA-982C-195E59F6D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687" y="1889742"/>
                <a:ext cx="9664012" cy="482600"/>
              </a:xfrm>
              <a:prstGeom prst="rect">
                <a:avLst/>
              </a:prstGeom>
              <a:blipFill>
                <a:blip r:embed="rId4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9B27A5CE-EA77-446F-C9B3-21EB1CE4625A}"/>
                  </a:ext>
                </a:extLst>
              </p:cNvPr>
              <p:cNvSpPr txBox="1"/>
              <p:nvPr/>
            </p:nvSpPr>
            <p:spPr>
              <a:xfrm>
                <a:off x="1382687" y="2469343"/>
                <a:ext cx="1079500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则规定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9B27A5CE-EA77-446F-C9B3-21EB1CE46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687" y="2469343"/>
                <a:ext cx="1079500" cy="406400"/>
              </a:xfrm>
              <a:prstGeom prst="rect">
                <a:avLst/>
              </a:prstGeom>
              <a:blipFill>
                <a:blip r:embed="rId5"/>
                <a:stretch>
                  <a:fillRect r="-5085" b="-5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22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8E1D876-8262-E51E-6A39-B5F6A878CEC4}"/>
              </a:ext>
            </a:extLst>
          </p:cNvPr>
          <p:cNvSpPr txBox="1">
            <a:spLocks noChangeArrowheads="1"/>
          </p:cNvSpPr>
          <p:nvPr/>
        </p:nvSpPr>
        <p:spPr>
          <a:xfrm>
            <a:off x="976242" y="839435"/>
            <a:ext cx="7068422" cy="61896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二、对坐标的曲面积分的概念与性质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22EBF7-4154-5A08-E524-DCC84EC335D9}"/>
              </a:ext>
            </a:extLst>
          </p:cNvPr>
          <p:cNvSpPr txBox="1"/>
          <p:nvPr/>
        </p:nvSpPr>
        <p:spPr bwMode="auto">
          <a:xfrm>
            <a:off x="1359515" y="1482340"/>
            <a:ext cx="1334020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EE25466F-0E36-C623-86AB-A3304952B3AC}"/>
                  </a:ext>
                </a:extLst>
              </p:cNvPr>
              <p:cNvSpPr txBox="1"/>
              <p:nvPr/>
            </p:nvSpPr>
            <p:spPr>
              <a:xfrm>
                <a:off x="1778615" y="2168033"/>
                <a:ext cx="8586761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设稳定流动的不可压缩流体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假定密度为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1)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的速度场为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EE25466F-0E36-C623-86AB-A3304952B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15" y="2168033"/>
                <a:ext cx="8586761" cy="444500"/>
              </a:xfrm>
              <a:prstGeom prst="rect">
                <a:avLst/>
              </a:prstGeom>
              <a:blipFill>
                <a:blip r:embed="rId3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9CE958E0-14AA-339B-4C7F-7B2E291E44BB}"/>
                  </a:ext>
                </a:extLst>
              </p:cNvPr>
              <p:cNvSpPr txBox="1"/>
              <p:nvPr/>
            </p:nvSpPr>
            <p:spPr>
              <a:xfrm>
                <a:off x="2572037" y="2755715"/>
                <a:ext cx="6677721" cy="54935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𝒗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𝒊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𝒋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𝒌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9CE958E0-14AA-339B-4C7F-7B2E291E4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037" y="2755715"/>
                <a:ext cx="6677721" cy="5493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B0EEFA5F-743B-2F39-A52D-C67FFE4CEB6D}"/>
                  </a:ext>
                </a:extLst>
              </p:cNvPr>
              <p:cNvSpPr txBox="1"/>
              <p:nvPr/>
            </p:nvSpPr>
            <p:spPr>
              <a:xfrm>
                <a:off x="1778615" y="5186829"/>
                <a:ext cx="5638800" cy="46983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求单位时间流过有向曲面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的流量</m:t>
                      </m:r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𝜙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B0EEFA5F-743B-2F39-A52D-C67FFE4CE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15" y="5186829"/>
                <a:ext cx="5638800" cy="4698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4FABA602-1082-9C6E-90A8-FC509BD7BE54}"/>
                  </a:ext>
                </a:extLst>
              </p:cNvPr>
              <p:cNvSpPr txBox="1"/>
              <p:nvPr/>
            </p:nvSpPr>
            <p:spPr>
              <a:xfrm>
                <a:off x="1778615" y="3468944"/>
                <a:ext cx="4815127" cy="4191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是速度场中的一片有向曲面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4FABA602-1082-9C6E-90A8-FC509BD7B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15" y="3468944"/>
                <a:ext cx="4815127" cy="419100"/>
              </a:xfrm>
              <a:prstGeom prst="rect">
                <a:avLst/>
              </a:prstGeom>
              <a:blipFill>
                <a:blip r:embed="rId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8D4CE81B-3558-33EF-C4C7-D5F4BE1BC3CB}"/>
                  </a:ext>
                </a:extLst>
              </p:cNvPr>
              <p:cNvSpPr txBox="1"/>
              <p:nvPr/>
            </p:nvSpPr>
            <p:spPr>
              <a:xfrm>
                <a:off x="1778616" y="4041572"/>
                <a:ext cx="5499062" cy="54935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8D4CE81B-3558-33EF-C4C7-D5F4BE1BC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16" y="4041572"/>
                <a:ext cx="5499062" cy="5493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68B8DE69-E71D-E8DC-906D-73278B62C78E}"/>
                  </a:ext>
                </a:extLst>
              </p:cNvPr>
              <p:cNvSpPr txBox="1"/>
              <p:nvPr/>
            </p:nvSpPr>
            <p:spPr>
              <a:xfrm>
                <a:off x="1778615" y="4626902"/>
                <a:ext cx="2513377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都在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上连续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68B8DE69-E71D-E8DC-906D-73278B62C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15" y="4626902"/>
                <a:ext cx="2513377" cy="406400"/>
              </a:xfrm>
              <a:prstGeom prst="rect">
                <a:avLst/>
              </a:prstGeom>
              <a:blipFill>
                <a:blip r:embed="rId8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24">
            <a:extLst>
              <a:ext uri="{FF2B5EF4-FFF2-40B4-BE49-F238E27FC236}">
                <a16:creationId xmlns:a16="http://schemas.microsoft.com/office/drawing/2014/main" id="{16452DBE-F1BE-0993-DD5C-F3F64DAC6D9E}"/>
              </a:ext>
            </a:extLst>
          </p:cNvPr>
          <p:cNvGrpSpPr>
            <a:grpSpLocks/>
          </p:cNvGrpSpPr>
          <p:nvPr/>
        </p:nvGrpSpPr>
        <p:grpSpPr bwMode="auto">
          <a:xfrm>
            <a:off x="7815840" y="3315415"/>
            <a:ext cx="3526320" cy="3003059"/>
            <a:chOff x="1008" y="701"/>
            <a:chExt cx="4022" cy="3426"/>
          </a:xfrm>
        </p:grpSpPr>
        <p:grpSp>
          <p:nvGrpSpPr>
            <p:cNvPr id="11" name="Group 25">
              <a:extLst>
                <a:ext uri="{FF2B5EF4-FFF2-40B4-BE49-F238E27FC236}">
                  <a16:creationId xmlns:a16="http://schemas.microsoft.com/office/drawing/2014/main" id="{D950566C-EE39-68E2-5CD7-F08537DC5A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701"/>
              <a:ext cx="4022" cy="3426"/>
              <a:chOff x="1008" y="701"/>
              <a:chExt cx="4022" cy="3426"/>
            </a:xfrm>
          </p:grpSpPr>
          <p:grpSp>
            <p:nvGrpSpPr>
              <p:cNvPr id="13" name="Group 26">
                <a:extLst>
                  <a:ext uri="{FF2B5EF4-FFF2-40B4-BE49-F238E27FC236}">
                    <a16:creationId xmlns:a16="http://schemas.microsoft.com/office/drawing/2014/main" id="{160EA77E-6F0F-7629-0B49-FBA06DDEA9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864"/>
                <a:ext cx="3600" cy="2784"/>
                <a:chOff x="1008" y="864"/>
                <a:chExt cx="3600" cy="278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8" name="Object 27">
                      <a:extLst>
                        <a:ext uri="{FF2B5EF4-FFF2-40B4-BE49-F238E27FC236}">
                          <a16:creationId xmlns:a16="http://schemas.microsoft.com/office/drawing/2014/main" id="{01EAD78E-6E61-38AA-69AB-CEA69129936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300092524"/>
                        </p:ext>
                      </p:extLst>
                    </p:nvPr>
                  </p:nvGraphicFramePr>
                  <p:xfrm>
                    <a:off x="1104" y="1152"/>
                    <a:ext cx="3456" cy="1738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BMP 图像" r:id="rId9" imgW="2543040" imgH="1486080" progId="Paint.Picture">
                            <p:embed/>
                          </p:oleObj>
                        </mc:Choice>
                        <mc:Fallback>
                          <p:oleObj name="BMP 图像" r:id="rId9" imgW="2543040" imgH="1486080" progId="Paint.Picture">
                            <p:embed/>
                            <p:pic>
                              <p:nvPicPr>
                                <p:cNvPr id="133" name="Object 27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0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104" y="1152"/>
                                  <a:ext cx="3456" cy="173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w="28575">
                                      <a:solidFill>
                                        <a:srgbClr val="FF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18" name="Object 27">
                      <a:extLst>
                        <a:ext uri="{FF2B5EF4-FFF2-40B4-BE49-F238E27FC236}">
                          <a16:creationId xmlns:a16="http://schemas.microsoft.com/office/drawing/2014/main" id="{01EAD78E-6E61-38AA-69AB-CEA69129936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300092524"/>
                        </p:ext>
                      </p:extLst>
                    </p:nvPr>
                  </p:nvGraphicFramePr>
                  <p:xfrm>
                    <a:off x="1104" y="1152"/>
                    <a:ext cx="3456" cy="1738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BMP 图像" r:id="rId11" imgW="2543040" imgH="1486080" progId="Paint.Picture">
                            <p:embed/>
                          </p:oleObj>
                        </mc:Choice>
                        <mc:Fallback>
                          <p:oleObj name="BMP 图像" r:id="rId11" imgW="2543040" imgH="1486080" progId="Paint.Picture">
                            <p:embed/>
                            <p:pic>
                              <p:nvPicPr>
                                <p:cNvPr id="133" name="Object 27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2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104" y="1152"/>
                                  <a:ext cx="3456" cy="173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chemeClr val="accent1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28575">
                                      <a:solidFill>
                                        <a:srgbClr val="FF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p:sp>
              <p:nvSpPr>
                <p:cNvPr id="19" name="Line 28">
                  <a:extLst>
                    <a:ext uri="{FF2B5EF4-FFF2-40B4-BE49-F238E27FC236}">
                      <a16:creationId xmlns:a16="http://schemas.microsoft.com/office/drawing/2014/main" id="{C391B013-D315-B577-C6C9-BFFD4C08D0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76" y="864"/>
                  <a:ext cx="0" cy="86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200"/>
                </a:p>
              </p:txBody>
            </p:sp>
            <p:sp>
              <p:nvSpPr>
                <p:cNvPr id="20" name="Line 29">
                  <a:extLst>
                    <a:ext uri="{FF2B5EF4-FFF2-40B4-BE49-F238E27FC236}">
                      <a16:creationId xmlns:a16="http://schemas.microsoft.com/office/drawing/2014/main" id="{86599BBC-62D7-3A18-9660-071609001C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76" y="2247"/>
                  <a:ext cx="0" cy="63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200"/>
                </a:p>
              </p:txBody>
            </p:sp>
            <p:sp>
              <p:nvSpPr>
                <p:cNvPr id="21" name="Line 30">
                  <a:extLst>
                    <a:ext uri="{FF2B5EF4-FFF2-40B4-BE49-F238E27FC236}">
                      <a16:creationId xmlns:a16="http://schemas.microsoft.com/office/drawing/2014/main" id="{540F38BB-4054-ADD0-13E5-9AF4E24800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880"/>
                  <a:ext cx="28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200"/>
                </a:p>
              </p:txBody>
            </p:sp>
            <p:sp>
              <p:nvSpPr>
                <p:cNvPr id="22" name="Line 31">
                  <a:extLst>
                    <a:ext uri="{FF2B5EF4-FFF2-40B4-BE49-F238E27FC236}">
                      <a16:creationId xmlns:a16="http://schemas.microsoft.com/office/drawing/2014/main" id="{569C9FDA-1144-D856-5D81-944B79448F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2880"/>
                  <a:ext cx="768" cy="76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2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Object 32">
                    <a:extLst>
                      <a:ext uri="{FF2B5EF4-FFF2-40B4-BE49-F238E27FC236}">
                        <a16:creationId xmlns:a16="http://schemas.microsoft.com/office/drawing/2014/main" id="{07F14E68-1E78-B9F1-C449-FDC48E89AB6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016" y="3500"/>
                    <a:ext cx="339" cy="62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2200" dirty="0"/>
                  </a:p>
                </p:txBody>
              </p:sp>
            </mc:Choice>
            <mc:Fallback xmlns="">
              <p:sp>
                <p:nvSpPr>
                  <p:cNvPr id="14" name="Object 32">
                    <a:extLst>
                      <a:ext uri="{FF2B5EF4-FFF2-40B4-BE49-F238E27FC236}">
                        <a16:creationId xmlns:a16="http://schemas.microsoft.com/office/drawing/2014/main" id="{07F14E68-1E78-B9F1-C449-FDC48E89AB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016" y="3500"/>
                    <a:ext cx="339" cy="62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408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Object 33">
                    <a:extLst>
                      <a:ext uri="{FF2B5EF4-FFF2-40B4-BE49-F238E27FC236}">
                        <a16:creationId xmlns:a16="http://schemas.microsoft.com/office/drawing/2014/main" id="{80831AE5-4E48-3761-1397-906C48B47931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551" y="2729"/>
                    <a:ext cx="479" cy="59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sz="2200" dirty="0"/>
                  </a:p>
                </p:txBody>
              </p:sp>
            </mc:Choice>
            <mc:Fallback xmlns="">
              <p:sp>
                <p:nvSpPr>
                  <p:cNvPr id="15" name="Object 33">
                    <a:extLst>
                      <a:ext uri="{FF2B5EF4-FFF2-40B4-BE49-F238E27FC236}">
                        <a16:creationId xmlns:a16="http://schemas.microsoft.com/office/drawing/2014/main" id="{80831AE5-4E48-3761-1397-906C48B479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51" y="2729"/>
                    <a:ext cx="479" cy="59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Object 34">
                    <a:extLst>
                      <a:ext uri="{FF2B5EF4-FFF2-40B4-BE49-F238E27FC236}">
                        <a16:creationId xmlns:a16="http://schemas.microsoft.com/office/drawing/2014/main" id="{A81B2D1E-B1AD-63C9-1336-0017C26A6BD2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747" y="701"/>
                    <a:ext cx="595" cy="5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CN" altLang="en-US" sz="2200"/>
                  </a:p>
                </p:txBody>
              </p:sp>
            </mc:Choice>
            <mc:Fallback xmlns="">
              <p:sp>
                <p:nvSpPr>
                  <p:cNvPr id="16" name="Object 34">
                    <a:extLst>
                      <a:ext uri="{FF2B5EF4-FFF2-40B4-BE49-F238E27FC236}">
                        <a16:creationId xmlns:a16="http://schemas.microsoft.com/office/drawing/2014/main" id="{A81B2D1E-B1AD-63C9-1336-0017C26A6B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747" y="701"/>
                    <a:ext cx="595" cy="54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Object 35">
                    <a:extLst>
                      <a:ext uri="{FF2B5EF4-FFF2-40B4-BE49-F238E27FC236}">
                        <a16:creationId xmlns:a16="http://schemas.microsoft.com/office/drawing/2014/main" id="{76C166B6-3121-BC70-722B-2B5D98591B39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607" y="2794"/>
                    <a:ext cx="479" cy="66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sz="2200" i="1" dirty="0"/>
                  </a:p>
                </p:txBody>
              </p:sp>
            </mc:Choice>
            <mc:Fallback xmlns="">
              <p:sp>
                <p:nvSpPr>
                  <p:cNvPr id="17" name="Object 35">
                    <a:extLst>
                      <a:ext uri="{FF2B5EF4-FFF2-40B4-BE49-F238E27FC236}">
                        <a16:creationId xmlns:a16="http://schemas.microsoft.com/office/drawing/2014/main" id="{76C166B6-3121-BC70-722B-2B5D98591B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607" y="2794"/>
                    <a:ext cx="479" cy="66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449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36">
                  <a:extLst>
                    <a:ext uri="{FF2B5EF4-FFF2-40B4-BE49-F238E27FC236}">
                      <a16:creationId xmlns:a16="http://schemas.microsoft.com/office/drawing/2014/main" id="{C903B3B5-CD78-252C-7BE1-6996DB6473EA}"/>
                    </a:ext>
                  </a:extLst>
                </p:cNvPr>
                <p:cNvSpPr txBox="1"/>
                <p:nvPr/>
              </p:nvSpPr>
              <p:spPr bwMode="auto">
                <a:xfrm>
                  <a:off x="1458" y="1693"/>
                  <a:ext cx="469" cy="4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𝛴</m:t>
                        </m:r>
                      </m:oMath>
                    </m:oMathPara>
                  </a14:m>
                  <a:endParaRPr lang="zh-CN" altLang="en-US" sz="2200" i="1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Object 36">
                  <a:extLst>
                    <a:ext uri="{FF2B5EF4-FFF2-40B4-BE49-F238E27FC236}">
                      <a16:creationId xmlns:a16="http://schemas.microsoft.com/office/drawing/2014/main" id="{C903B3B5-CD78-252C-7BE1-6996DB647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58" y="1693"/>
                  <a:ext cx="469" cy="423"/>
                </a:xfrm>
                <a:prstGeom prst="rect">
                  <a:avLst/>
                </a:prstGeom>
                <a:blipFill>
                  <a:blip r:embed="rId17"/>
                  <a:stretch>
                    <a:fillRect l="-1493" b="-1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37">
            <a:extLst>
              <a:ext uri="{FF2B5EF4-FFF2-40B4-BE49-F238E27FC236}">
                <a16:creationId xmlns:a16="http://schemas.microsoft.com/office/drawing/2014/main" id="{299DADE9-8DF6-1CFE-71DA-691FE07FE58C}"/>
              </a:ext>
            </a:extLst>
          </p:cNvPr>
          <p:cNvGrpSpPr>
            <a:grpSpLocks/>
          </p:cNvGrpSpPr>
          <p:nvPr/>
        </p:nvGrpSpPr>
        <p:grpSpPr bwMode="auto">
          <a:xfrm>
            <a:off x="8756387" y="3936128"/>
            <a:ext cx="2590800" cy="1512887"/>
            <a:chOff x="2064" y="1344"/>
            <a:chExt cx="3091" cy="1805"/>
          </a:xfrm>
        </p:grpSpPr>
        <p:sp>
          <p:nvSpPr>
            <p:cNvPr id="24" name="Arc 38">
              <a:extLst>
                <a:ext uri="{FF2B5EF4-FFF2-40B4-BE49-F238E27FC236}">
                  <a16:creationId xmlns:a16="http://schemas.microsoft.com/office/drawing/2014/main" id="{27CFF89B-56BF-2B86-1D89-12A890DD6390}"/>
                </a:ext>
              </a:extLst>
            </p:cNvPr>
            <p:cNvSpPr>
              <a:spLocks/>
            </p:cNvSpPr>
            <p:nvPr/>
          </p:nvSpPr>
          <p:spPr bwMode="auto">
            <a:xfrm rot="2792953" flipH="1" flipV="1">
              <a:off x="2470" y="2607"/>
              <a:ext cx="242" cy="575"/>
            </a:xfrm>
            <a:custGeom>
              <a:avLst/>
              <a:gdLst>
                <a:gd name="G0" fmla="+- 0 0 0"/>
                <a:gd name="G1" fmla="+- 17348 0 0"/>
                <a:gd name="G2" fmla="+- 21600 0 0"/>
                <a:gd name="T0" fmla="*/ 12869 w 21600"/>
                <a:gd name="T1" fmla="*/ 0 h 18386"/>
                <a:gd name="T2" fmla="*/ 21575 w 21600"/>
                <a:gd name="T3" fmla="*/ 18386 h 18386"/>
                <a:gd name="T4" fmla="*/ 0 w 21600"/>
                <a:gd name="T5" fmla="*/ 17348 h 18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8386" fill="none" extrusionOk="0">
                  <a:moveTo>
                    <a:pt x="12868" y="0"/>
                  </a:moveTo>
                  <a:cubicBezTo>
                    <a:pt x="18361" y="4074"/>
                    <a:pt x="21600" y="10509"/>
                    <a:pt x="21600" y="17348"/>
                  </a:cubicBezTo>
                  <a:cubicBezTo>
                    <a:pt x="21600" y="17694"/>
                    <a:pt x="21591" y="18040"/>
                    <a:pt x="21575" y="18386"/>
                  </a:cubicBezTo>
                </a:path>
                <a:path w="21600" h="18386" stroke="0" extrusionOk="0">
                  <a:moveTo>
                    <a:pt x="12868" y="0"/>
                  </a:moveTo>
                  <a:cubicBezTo>
                    <a:pt x="18361" y="4074"/>
                    <a:pt x="21600" y="10509"/>
                    <a:pt x="21600" y="17348"/>
                  </a:cubicBezTo>
                  <a:cubicBezTo>
                    <a:pt x="21600" y="17694"/>
                    <a:pt x="21591" y="18040"/>
                    <a:pt x="21575" y="18386"/>
                  </a:cubicBezTo>
                  <a:lnTo>
                    <a:pt x="0" y="17348"/>
                  </a:lnTo>
                  <a:close/>
                </a:path>
              </a:pathLst>
            </a:custGeom>
            <a:noFill/>
            <a:ln w="31750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5" name="Arc 39">
              <a:extLst>
                <a:ext uri="{FF2B5EF4-FFF2-40B4-BE49-F238E27FC236}">
                  <a16:creationId xmlns:a16="http://schemas.microsoft.com/office/drawing/2014/main" id="{13DD7B1D-F642-F844-8D42-4DF50EE27E61}"/>
                </a:ext>
              </a:extLst>
            </p:cNvPr>
            <p:cNvSpPr>
              <a:spLocks/>
            </p:cNvSpPr>
            <p:nvPr/>
          </p:nvSpPr>
          <p:spPr bwMode="auto">
            <a:xfrm rot="4053220" flipH="1" flipV="1">
              <a:off x="4044" y="1044"/>
              <a:ext cx="427" cy="1795"/>
            </a:xfrm>
            <a:custGeom>
              <a:avLst/>
              <a:gdLst>
                <a:gd name="G0" fmla="+- 0 0 0"/>
                <a:gd name="G1" fmla="+- 19162 0 0"/>
                <a:gd name="G2" fmla="+- 21600 0 0"/>
                <a:gd name="T0" fmla="*/ 9970 w 21353"/>
                <a:gd name="T1" fmla="*/ 0 h 19162"/>
                <a:gd name="T2" fmla="*/ 21353 w 21353"/>
                <a:gd name="T3" fmla="*/ 15905 h 19162"/>
                <a:gd name="T4" fmla="*/ 0 w 21353"/>
                <a:gd name="T5" fmla="*/ 19162 h 19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53" h="19162" fill="none" extrusionOk="0">
                  <a:moveTo>
                    <a:pt x="9969" y="0"/>
                  </a:moveTo>
                  <a:cubicBezTo>
                    <a:pt x="16084" y="3181"/>
                    <a:pt x="20313" y="9090"/>
                    <a:pt x="21353" y="15904"/>
                  </a:cubicBezTo>
                </a:path>
                <a:path w="21353" h="19162" stroke="0" extrusionOk="0">
                  <a:moveTo>
                    <a:pt x="9969" y="0"/>
                  </a:moveTo>
                  <a:cubicBezTo>
                    <a:pt x="16084" y="3181"/>
                    <a:pt x="20313" y="9090"/>
                    <a:pt x="21353" y="15904"/>
                  </a:cubicBezTo>
                  <a:lnTo>
                    <a:pt x="0" y="19162"/>
                  </a:lnTo>
                  <a:close/>
                </a:path>
              </a:pathLst>
            </a:custGeom>
            <a:noFill/>
            <a:ln w="31750">
              <a:solidFill>
                <a:srgbClr val="04926A"/>
              </a:solidFill>
              <a:round/>
              <a:headEnd/>
              <a:tailEnd type="arrow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/>
            </a:p>
          </p:txBody>
        </p:sp>
        <p:sp>
          <p:nvSpPr>
            <p:cNvPr id="26" name="Arc 40">
              <a:extLst>
                <a:ext uri="{FF2B5EF4-FFF2-40B4-BE49-F238E27FC236}">
                  <a16:creationId xmlns:a16="http://schemas.microsoft.com/office/drawing/2014/main" id="{EF3317EA-04BB-024D-9BFF-A927AE045E4E}"/>
                </a:ext>
              </a:extLst>
            </p:cNvPr>
            <p:cNvSpPr>
              <a:spLocks/>
            </p:cNvSpPr>
            <p:nvPr/>
          </p:nvSpPr>
          <p:spPr bwMode="auto">
            <a:xfrm rot="1754178" flipH="1" flipV="1">
              <a:off x="2064" y="2496"/>
              <a:ext cx="384" cy="588"/>
            </a:xfrm>
            <a:custGeom>
              <a:avLst/>
              <a:gdLst>
                <a:gd name="G0" fmla="+- 0 0 0"/>
                <a:gd name="G1" fmla="+- 15253 0 0"/>
                <a:gd name="G2" fmla="+- 21600 0 0"/>
                <a:gd name="T0" fmla="*/ 15294 w 21600"/>
                <a:gd name="T1" fmla="*/ 0 h 15253"/>
                <a:gd name="T2" fmla="*/ 21600 w 21600"/>
                <a:gd name="T3" fmla="*/ 15253 h 15253"/>
                <a:gd name="T4" fmla="*/ 0 w 21600"/>
                <a:gd name="T5" fmla="*/ 15253 h 15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53" fill="none" extrusionOk="0">
                  <a:moveTo>
                    <a:pt x="15293" y="0"/>
                  </a:moveTo>
                  <a:cubicBezTo>
                    <a:pt x="19332" y="4049"/>
                    <a:pt x="21600" y="9534"/>
                    <a:pt x="21600" y="15253"/>
                  </a:cubicBezTo>
                </a:path>
                <a:path w="21600" h="15253" stroke="0" extrusionOk="0">
                  <a:moveTo>
                    <a:pt x="15293" y="0"/>
                  </a:moveTo>
                  <a:cubicBezTo>
                    <a:pt x="19332" y="4049"/>
                    <a:pt x="21600" y="9534"/>
                    <a:pt x="21600" y="15253"/>
                  </a:cubicBezTo>
                  <a:lnTo>
                    <a:pt x="0" y="15253"/>
                  </a:lnTo>
                  <a:close/>
                </a:path>
              </a:pathLst>
            </a:custGeom>
            <a:noFill/>
            <a:ln w="31750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7" name="Arc 41">
              <a:extLst>
                <a:ext uri="{FF2B5EF4-FFF2-40B4-BE49-F238E27FC236}">
                  <a16:creationId xmlns:a16="http://schemas.microsoft.com/office/drawing/2014/main" id="{1FD3E167-AC47-FFC0-9379-40678ABE5FD2}"/>
                </a:ext>
              </a:extLst>
            </p:cNvPr>
            <p:cNvSpPr>
              <a:spLocks/>
            </p:cNvSpPr>
            <p:nvPr/>
          </p:nvSpPr>
          <p:spPr bwMode="auto">
            <a:xfrm rot="2115838" flipH="1" flipV="1">
              <a:off x="2208" y="2535"/>
              <a:ext cx="328" cy="585"/>
            </a:xfrm>
            <a:custGeom>
              <a:avLst/>
              <a:gdLst>
                <a:gd name="G0" fmla="+- 0 0 0"/>
                <a:gd name="G1" fmla="+- 15236 0 0"/>
                <a:gd name="G2" fmla="+- 21600 0 0"/>
                <a:gd name="T0" fmla="*/ 15311 w 21600"/>
                <a:gd name="T1" fmla="*/ 0 h 15236"/>
                <a:gd name="T2" fmla="*/ 21600 w 21600"/>
                <a:gd name="T3" fmla="*/ 15236 h 15236"/>
                <a:gd name="T4" fmla="*/ 0 w 21600"/>
                <a:gd name="T5" fmla="*/ 15236 h 15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36" fill="none" extrusionOk="0">
                  <a:moveTo>
                    <a:pt x="15310" y="0"/>
                  </a:moveTo>
                  <a:cubicBezTo>
                    <a:pt x="19338" y="4047"/>
                    <a:pt x="21600" y="9525"/>
                    <a:pt x="21600" y="15236"/>
                  </a:cubicBezTo>
                </a:path>
                <a:path w="21600" h="15236" stroke="0" extrusionOk="0">
                  <a:moveTo>
                    <a:pt x="15310" y="0"/>
                  </a:moveTo>
                  <a:cubicBezTo>
                    <a:pt x="19338" y="4047"/>
                    <a:pt x="21600" y="9525"/>
                    <a:pt x="21600" y="15236"/>
                  </a:cubicBezTo>
                  <a:lnTo>
                    <a:pt x="0" y="15236"/>
                  </a:lnTo>
                  <a:close/>
                </a:path>
              </a:pathLst>
            </a:custGeom>
            <a:noFill/>
            <a:ln w="31750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dirty="0"/>
            </a:p>
          </p:txBody>
        </p:sp>
        <p:sp>
          <p:nvSpPr>
            <p:cNvPr id="28" name="Arc 42">
              <a:extLst>
                <a:ext uri="{FF2B5EF4-FFF2-40B4-BE49-F238E27FC236}">
                  <a16:creationId xmlns:a16="http://schemas.microsoft.com/office/drawing/2014/main" id="{04EC6B7E-5E3C-883F-5181-4670D1EC0300}"/>
                </a:ext>
              </a:extLst>
            </p:cNvPr>
            <p:cNvSpPr>
              <a:spLocks/>
            </p:cNvSpPr>
            <p:nvPr/>
          </p:nvSpPr>
          <p:spPr bwMode="auto">
            <a:xfrm rot="2792953" flipH="1" flipV="1">
              <a:off x="2836" y="2696"/>
              <a:ext cx="353" cy="554"/>
            </a:xfrm>
            <a:custGeom>
              <a:avLst/>
              <a:gdLst>
                <a:gd name="G0" fmla="+- 0 0 0"/>
                <a:gd name="G1" fmla="+- 16500 0 0"/>
                <a:gd name="G2" fmla="+- 21600 0 0"/>
                <a:gd name="T0" fmla="*/ 13940 w 21490"/>
                <a:gd name="T1" fmla="*/ 0 h 16500"/>
                <a:gd name="T2" fmla="*/ 21490 w 21490"/>
                <a:gd name="T3" fmla="*/ 14324 h 16500"/>
                <a:gd name="T4" fmla="*/ 0 w 21490"/>
                <a:gd name="T5" fmla="*/ 16500 h 16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90" h="16500" fill="none" extrusionOk="0">
                  <a:moveTo>
                    <a:pt x="13939" y="0"/>
                  </a:moveTo>
                  <a:cubicBezTo>
                    <a:pt x="18218" y="3615"/>
                    <a:pt x="20925" y="8751"/>
                    <a:pt x="21490" y="14323"/>
                  </a:cubicBezTo>
                </a:path>
                <a:path w="21490" h="16500" stroke="0" extrusionOk="0">
                  <a:moveTo>
                    <a:pt x="13939" y="0"/>
                  </a:moveTo>
                  <a:cubicBezTo>
                    <a:pt x="18218" y="3615"/>
                    <a:pt x="20925" y="8751"/>
                    <a:pt x="21490" y="14323"/>
                  </a:cubicBezTo>
                  <a:lnTo>
                    <a:pt x="0" y="16500"/>
                  </a:lnTo>
                  <a:close/>
                </a:path>
              </a:pathLst>
            </a:custGeom>
            <a:noFill/>
            <a:ln w="31750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9" name="Arc 43">
              <a:extLst>
                <a:ext uri="{FF2B5EF4-FFF2-40B4-BE49-F238E27FC236}">
                  <a16:creationId xmlns:a16="http://schemas.microsoft.com/office/drawing/2014/main" id="{FA0205F0-ED5A-B32B-337C-7C65EDC44FE4}"/>
                </a:ext>
              </a:extLst>
            </p:cNvPr>
            <p:cNvSpPr>
              <a:spLocks/>
            </p:cNvSpPr>
            <p:nvPr/>
          </p:nvSpPr>
          <p:spPr bwMode="auto">
            <a:xfrm rot="3687816" flipH="1" flipV="1">
              <a:off x="2650" y="1238"/>
              <a:ext cx="384" cy="979"/>
            </a:xfrm>
            <a:custGeom>
              <a:avLst/>
              <a:gdLst>
                <a:gd name="G0" fmla="+- 0 0 0"/>
                <a:gd name="G1" fmla="+- 19162 0 0"/>
                <a:gd name="G2" fmla="+- 21600 0 0"/>
                <a:gd name="T0" fmla="*/ 9970 w 21600"/>
                <a:gd name="T1" fmla="*/ 0 h 19162"/>
                <a:gd name="T2" fmla="*/ 21600 w 21600"/>
                <a:gd name="T3" fmla="*/ 19162 h 19162"/>
                <a:gd name="T4" fmla="*/ 0 w 21600"/>
                <a:gd name="T5" fmla="*/ 19162 h 19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162" fill="none" extrusionOk="0">
                  <a:moveTo>
                    <a:pt x="9969" y="0"/>
                  </a:moveTo>
                  <a:cubicBezTo>
                    <a:pt x="17116" y="3718"/>
                    <a:pt x="21600" y="11105"/>
                    <a:pt x="21600" y="19162"/>
                  </a:cubicBezTo>
                </a:path>
                <a:path w="21600" h="19162" stroke="0" extrusionOk="0">
                  <a:moveTo>
                    <a:pt x="9969" y="0"/>
                  </a:moveTo>
                  <a:cubicBezTo>
                    <a:pt x="17116" y="3718"/>
                    <a:pt x="21600" y="11105"/>
                    <a:pt x="21600" y="19162"/>
                  </a:cubicBezTo>
                  <a:lnTo>
                    <a:pt x="0" y="19162"/>
                  </a:lnTo>
                  <a:close/>
                </a:path>
              </a:pathLst>
            </a:custGeom>
            <a:noFill/>
            <a:ln w="31750">
              <a:solidFill>
                <a:srgbClr val="04926A"/>
              </a:solidFill>
              <a:round/>
              <a:headEnd/>
              <a:tailEnd type="arrow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30" name="Arc 44">
              <a:extLst>
                <a:ext uri="{FF2B5EF4-FFF2-40B4-BE49-F238E27FC236}">
                  <a16:creationId xmlns:a16="http://schemas.microsoft.com/office/drawing/2014/main" id="{B38F90A7-858D-9FDD-1917-5B75F7D11789}"/>
                </a:ext>
              </a:extLst>
            </p:cNvPr>
            <p:cNvSpPr>
              <a:spLocks/>
            </p:cNvSpPr>
            <p:nvPr/>
          </p:nvSpPr>
          <p:spPr bwMode="auto">
            <a:xfrm rot="4302175" flipH="1" flipV="1">
              <a:off x="3152" y="1072"/>
              <a:ext cx="615" cy="1159"/>
            </a:xfrm>
            <a:custGeom>
              <a:avLst/>
              <a:gdLst>
                <a:gd name="G0" fmla="+- 0 0 0"/>
                <a:gd name="G1" fmla="+- 17792 0 0"/>
                <a:gd name="G2" fmla="+- 21600 0 0"/>
                <a:gd name="T0" fmla="*/ 12248 w 21274"/>
                <a:gd name="T1" fmla="*/ 0 h 17792"/>
                <a:gd name="T2" fmla="*/ 21274 w 21274"/>
                <a:gd name="T3" fmla="*/ 14055 h 17792"/>
                <a:gd name="T4" fmla="*/ 0 w 21274"/>
                <a:gd name="T5" fmla="*/ 17792 h 17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74" h="17792" fill="none" extrusionOk="0">
                  <a:moveTo>
                    <a:pt x="12247" y="0"/>
                  </a:moveTo>
                  <a:cubicBezTo>
                    <a:pt x="17019" y="3285"/>
                    <a:pt x="20271" y="8349"/>
                    <a:pt x="21274" y="14054"/>
                  </a:cubicBezTo>
                </a:path>
                <a:path w="21274" h="17792" stroke="0" extrusionOk="0">
                  <a:moveTo>
                    <a:pt x="12247" y="0"/>
                  </a:moveTo>
                  <a:cubicBezTo>
                    <a:pt x="17019" y="3285"/>
                    <a:pt x="20271" y="8349"/>
                    <a:pt x="21274" y="14054"/>
                  </a:cubicBezTo>
                  <a:lnTo>
                    <a:pt x="0" y="17792"/>
                  </a:lnTo>
                  <a:close/>
                </a:path>
              </a:pathLst>
            </a:custGeom>
            <a:noFill/>
            <a:ln w="31750">
              <a:solidFill>
                <a:srgbClr val="04926A"/>
              </a:solidFill>
              <a:round/>
              <a:headEnd/>
              <a:tailEnd type="arrow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31" name="Arc 45">
              <a:extLst>
                <a:ext uri="{FF2B5EF4-FFF2-40B4-BE49-F238E27FC236}">
                  <a16:creationId xmlns:a16="http://schemas.microsoft.com/office/drawing/2014/main" id="{83A6C9A3-5374-4605-8AC3-A1B40EFC2C49}"/>
                </a:ext>
              </a:extLst>
            </p:cNvPr>
            <p:cNvSpPr>
              <a:spLocks/>
            </p:cNvSpPr>
            <p:nvPr/>
          </p:nvSpPr>
          <p:spPr bwMode="auto">
            <a:xfrm rot="3636107" flipH="1" flipV="1">
              <a:off x="3958" y="650"/>
              <a:ext cx="407" cy="1795"/>
            </a:xfrm>
            <a:custGeom>
              <a:avLst/>
              <a:gdLst>
                <a:gd name="G0" fmla="+- 0 0 0"/>
                <a:gd name="G1" fmla="+- 19162 0 0"/>
                <a:gd name="G2" fmla="+- 21600 0 0"/>
                <a:gd name="T0" fmla="*/ 9970 w 20361"/>
                <a:gd name="T1" fmla="*/ 0 h 19162"/>
                <a:gd name="T2" fmla="*/ 20361 w 20361"/>
                <a:gd name="T3" fmla="*/ 11952 h 19162"/>
                <a:gd name="T4" fmla="*/ 0 w 20361"/>
                <a:gd name="T5" fmla="*/ 19162 h 19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361" h="19162" fill="none" extrusionOk="0">
                  <a:moveTo>
                    <a:pt x="9969" y="0"/>
                  </a:moveTo>
                  <a:cubicBezTo>
                    <a:pt x="14821" y="2524"/>
                    <a:pt x="18535" y="6796"/>
                    <a:pt x="20361" y="11951"/>
                  </a:cubicBezTo>
                </a:path>
                <a:path w="20361" h="19162" stroke="0" extrusionOk="0">
                  <a:moveTo>
                    <a:pt x="9969" y="0"/>
                  </a:moveTo>
                  <a:cubicBezTo>
                    <a:pt x="14821" y="2524"/>
                    <a:pt x="18535" y="6796"/>
                    <a:pt x="20361" y="11951"/>
                  </a:cubicBezTo>
                  <a:lnTo>
                    <a:pt x="0" y="19162"/>
                  </a:lnTo>
                  <a:close/>
                </a:path>
              </a:pathLst>
            </a:custGeom>
            <a:noFill/>
            <a:ln w="31750">
              <a:solidFill>
                <a:srgbClr val="04926A"/>
              </a:solidFill>
              <a:round/>
              <a:headEnd/>
              <a:tailEnd type="arrow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57806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054006C3-354D-F28C-96DC-9FF18FD16632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5" name="PA-102232">
              <a:extLst>
                <a:ext uri="{FF2B5EF4-FFF2-40B4-BE49-F238E27FC236}">
                  <a16:creationId xmlns:a16="http://schemas.microsoft.com/office/drawing/2014/main" id="{5D6D6D17-0713-7ED2-3320-C860952B46E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1CA45EAE-A6A7-7259-9F52-38A8F4C64619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37" name="Rectangle 1">
                <a:extLst>
                  <a:ext uri="{FF2B5EF4-FFF2-40B4-BE49-F238E27FC236}">
                    <a16:creationId xmlns:a16="http://schemas.microsoft.com/office/drawing/2014/main" id="{CEA3A40D-3C9D-B3AC-60F8-F34317BFC872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Rectangle 1">
                <a:extLst>
                  <a:ext uri="{FF2B5EF4-FFF2-40B4-BE49-F238E27FC236}">
                    <a16:creationId xmlns:a16="http://schemas.microsoft.com/office/drawing/2014/main" id="{DF195500-68E5-AEC7-A0BF-DCB5E85F16D7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Rectangle 1">
                <a:extLst>
                  <a:ext uri="{FF2B5EF4-FFF2-40B4-BE49-F238E27FC236}">
                    <a16:creationId xmlns:a16="http://schemas.microsoft.com/office/drawing/2014/main" id="{7E348C3D-B2F9-2CA1-D4F0-69D5BF7BC37B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21">
                <a:extLst>
                  <a:ext uri="{FF2B5EF4-FFF2-40B4-BE49-F238E27FC236}">
                    <a16:creationId xmlns:a16="http://schemas.microsoft.com/office/drawing/2014/main" id="{7C7FA737-210F-AA8A-9DB4-A282FE983F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9591" y="1249112"/>
                <a:ext cx="50292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分析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是面积为</a:t>
                </a:r>
                <a:r>
                  <a:rPr kumimoji="1" lang="en-US" altLang="zh-CN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A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的平面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 </a:t>
                </a:r>
              </a:p>
            </p:txBody>
          </p:sp>
        </mc:Choice>
        <mc:Fallback xmlns="">
          <p:sp>
            <p:nvSpPr>
              <p:cNvPr id="2" name="Text Box 121">
                <a:extLst>
                  <a:ext uri="{FF2B5EF4-FFF2-40B4-BE49-F238E27FC236}">
                    <a16:creationId xmlns:a16="http://schemas.microsoft.com/office/drawing/2014/main" id="{7C7FA737-210F-AA8A-9DB4-A282FE983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9591" y="1249112"/>
                <a:ext cx="5029200" cy="519112"/>
              </a:xfrm>
              <a:prstGeom prst="rect">
                <a:avLst/>
              </a:prstGeom>
              <a:blipFill>
                <a:blip r:embed="rId7"/>
                <a:stretch>
                  <a:fillRect l="-2545"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127">
            <a:extLst>
              <a:ext uri="{FF2B5EF4-FFF2-40B4-BE49-F238E27FC236}">
                <a16:creationId xmlns:a16="http://schemas.microsoft.com/office/drawing/2014/main" id="{94C7C351-7D7D-A140-2A10-62EEC6EE3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591" y="1889554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法向量：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A00AA2C6-0904-143E-C588-68F47E604A30}"/>
                  </a:ext>
                </a:extLst>
              </p:cNvPr>
              <p:cNvSpPr txBox="1"/>
              <p:nvPr/>
            </p:nvSpPr>
            <p:spPr>
              <a:xfrm>
                <a:off x="3149599" y="1866899"/>
                <a:ext cx="4234067" cy="53490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=(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𝛽</m:t>
                          </m:r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𝛾</m:t>
                          </m:r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A00AA2C6-0904-143E-C588-68F47E604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599" y="1866899"/>
                <a:ext cx="4234067" cy="5349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F4BB6FF8-000C-4595-DD0F-51BAD9F86F03}"/>
                  </a:ext>
                </a:extLst>
              </p:cNvPr>
              <p:cNvSpPr txBox="1"/>
              <p:nvPr/>
            </p:nvSpPr>
            <p:spPr>
              <a:xfrm>
                <a:off x="4251287" y="2529996"/>
                <a:ext cx="463508" cy="55207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zh-CN" altLang="en-US" sz="2800" b="1" i="1" dirty="0"/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F4BB6FF8-000C-4595-DD0F-51BAD9F86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287" y="2529996"/>
                <a:ext cx="463508" cy="5520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02643D8-153F-4540-E559-7018A19104C0}"/>
                  </a:ext>
                </a:extLst>
              </p:cNvPr>
              <p:cNvSpPr/>
              <p:nvPr/>
            </p:nvSpPr>
            <p:spPr>
              <a:xfrm>
                <a:off x="1869592" y="2529997"/>
                <a:ext cx="238169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流速为常向量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02643D8-153F-4540-E559-7018A19104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592" y="2529997"/>
                <a:ext cx="2381696" cy="523220"/>
              </a:xfrm>
              <a:prstGeom prst="rect">
                <a:avLst/>
              </a:prstGeom>
              <a:blipFill>
                <a:blip r:embed="rId10"/>
                <a:stretch>
                  <a:fillRect t="-11628" r="-923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对象 31">
                <a:extLst>
                  <a:ext uri="{FF2B5EF4-FFF2-40B4-BE49-F238E27FC236}">
                    <a16:creationId xmlns:a16="http://schemas.microsoft.com/office/drawing/2014/main" id="{1B1F4F28-66D2-C14F-E677-40DDA457DCDA}"/>
                  </a:ext>
                </a:extLst>
              </p:cNvPr>
              <p:cNvSpPr txBox="1"/>
              <p:nvPr/>
            </p:nvSpPr>
            <p:spPr>
              <a:xfrm>
                <a:off x="1869591" y="3814989"/>
                <a:ext cx="2857500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𝜙</m:t>
                      </m:r>
                      <m:r>
                        <a:rPr kumimoji="1" lang="zh-CN" altLang="en-US" sz="2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𝐴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kumimoji="1" lang="zh-CN" altLang="en-US" sz="2800" b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</m:e>
                      </m:d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b="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对象 31">
                <a:extLst>
                  <a:ext uri="{FF2B5EF4-FFF2-40B4-BE49-F238E27FC236}">
                    <a16:creationId xmlns:a16="http://schemas.microsoft.com/office/drawing/2014/main" id="{1B1F4F28-66D2-C14F-E677-40DDA457D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591" y="3814989"/>
                <a:ext cx="2857500" cy="4699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122">
            <a:extLst>
              <a:ext uri="{FF2B5EF4-FFF2-40B4-BE49-F238E27FC236}">
                <a16:creationId xmlns:a16="http://schemas.microsoft.com/office/drawing/2014/main" id="{B510241F-3735-7465-34E5-924C4A53B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591" y="3174547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则流量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对象 33">
                <a:extLst>
                  <a:ext uri="{FF2B5EF4-FFF2-40B4-BE49-F238E27FC236}">
                    <a16:creationId xmlns:a16="http://schemas.microsoft.com/office/drawing/2014/main" id="{7363D276-A4B4-09BF-C0A1-4A5E497D616D}"/>
                  </a:ext>
                </a:extLst>
              </p:cNvPr>
              <p:cNvSpPr txBox="1"/>
              <p:nvPr/>
            </p:nvSpPr>
            <p:spPr>
              <a:xfrm>
                <a:off x="2228120" y="4406219"/>
                <a:ext cx="1632060" cy="393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</m:t>
                      </m:r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kumimoji="1" lang="zh-CN" altLang="en-US" sz="2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对象 33">
                <a:extLst>
                  <a:ext uri="{FF2B5EF4-FFF2-40B4-BE49-F238E27FC236}">
                    <a16:creationId xmlns:a16="http://schemas.microsoft.com/office/drawing/2014/main" id="{7363D276-A4B4-09BF-C0A1-4A5E497D6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120" y="4406219"/>
                <a:ext cx="1632060" cy="393700"/>
              </a:xfrm>
              <a:prstGeom prst="rect">
                <a:avLst/>
              </a:prstGeom>
              <a:blipFill>
                <a:blip r:embed="rId15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图片 39" descr="图示&#10;&#10;描述已自动生成">
            <a:extLst>
              <a:ext uri="{FF2B5EF4-FFF2-40B4-BE49-F238E27FC236}">
                <a16:creationId xmlns:a16="http://schemas.microsoft.com/office/drawing/2014/main" id="{BF4DB619-13E0-2236-C1D1-A488B157AD8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292" y="2443246"/>
            <a:ext cx="3659288" cy="235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7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32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69F4279B-E623-5A86-1862-A033A0412050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69F4279B-E623-5A86-1862-A033A04120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半闭框 35">
            <a:extLst>
              <a:ext uri="{FF2B5EF4-FFF2-40B4-BE49-F238E27FC236}">
                <a16:creationId xmlns:a16="http://schemas.microsoft.com/office/drawing/2014/main" id="{D5F5423E-E7C3-B7E7-E2D2-3B9BF1EDD4FB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半闭框 36">
            <a:extLst>
              <a:ext uri="{FF2B5EF4-FFF2-40B4-BE49-F238E27FC236}">
                <a16:creationId xmlns:a16="http://schemas.microsoft.com/office/drawing/2014/main" id="{1F798597-C53A-933A-AAA0-8123EA2B3CD2}"/>
              </a:ext>
            </a:extLst>
          </p:cNvPr>
          <p:cNvSpPr/>
          <p:nvPr/>
        </p:nvSpPr>
        <p:spPr>
          <a:xfrm flipH="1">
            <a:off x="10822895" y="53626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半闭框 37">
            <a:extLst>
              <a:ext uri="{FF2B5EF4-FFF2-40B4-BE49-F238E27FC236}">
                <a16:creationId xmlns:a16="http://schemas.microsoft.com/office/drawing/2014/main" id="{EDD8CEBD-BCD1-F2A1-C7D6-941DF059C195}"/>
              </a:ext>
            </a:extLst>
          </p:cNvPr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9" name="半闭框 38">
            <a:extLst>
              <a:ext uri="{FF2B5EF4-FFF2-40B4-BE49-F238E27FC236}">
                <a16:creationId xmlns:a16="http://schemas.microsoft.com/office/drawing/2014/main" id="{F65017FB-B811-43B4-F069-88E3491179BE}"/>
              </a:ext>
            </a:extLst>
          </p:cNvPr>
          <p:cNvSpPr/>
          <p:nvPr/>
        </p:nvSpPr>
        <p:spPr>
          <a:xfrm flipH="1" flipV="1">
            <a:off x="10823530" y="5647881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64">
                <a:extLst>
                  <a:ext uri="{FF2B5EF4-FFF2-40B4-BE49-F238E27FC236}">
                    <a16:creationId xmlns:a16="http://schemas.microsoft.com/office/drawing/2014/main" id="{6644C517-B49A-B983-9C57-89127303F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4207" y="717052"/>
                <a:ext cx="3733800" cy="533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对一般的有向曲面</a:t>
                </a:r>
                <a14:m>
                  <m:oMath xmlns:m="http://schemas.openxmlformats.org/officeDocument/2006/math">
                    <m:r>
                      <a:rPr kumimoji="1" lang="zh-CN" alt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</a:p>
            </p:txBody>
          </p:sp>
        </mc:Choice>
        <mc:Fallback xmlns="">
          <p:sp>
            <p:nvSpPr>
              <p:cNvPr id="2" name="Rectangle 64">
                <a:extLst>
                  <a:ext uri="{FF2B5EF4-FFF2-40B4-BE49-F238E27FC236}">
                    <a16:creationId xmlns:a16="http://schemas.microsoft.com/office/drawing/2014/main" id="{6644C517-B49A-B983-9C57-89127303F4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4207" y="717052"/>
                <a:ext cx="3733800" cy="533400"/>
              </a:xfrm>
              <a:prstGeom prst="rect">
                <a:avLst/>
              </a:prstGeom>
              <a:blipFill>
                <a:blip r:embed="rId3"/>
                <a:stretch>
                  <a:fillRect l="-2124" t="-1149" b="-137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65">
            <a:extLst>
              <a:ext uri="{FF2B5EF4-FFF2-40B4-BE49-F238E27FC236}">
                <a16:creationId xmlns:a16="http://schemas.microsoft.com/office/drawing/2014/main" id="{A3C5082B-AAA7-28C7-735E-86925AA20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7353" y="785922"/>
            <a:ext cx="601684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用“大化小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常代变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 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近似和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取极限”</a:t>
            </a:r>
            <a:endParaRPr kumimoji="1"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6A35FF35-9579-CB8A-739E-096BF15493ED}"/>
                  </a:ext>
                </a:extLst>
              </p:cNvPr>
              <p:cNvSpPr txBox="1"/>
              <p:nvPr/>
            </p:nvSpPr>
            <p:spPr>
              <a:xfrm>
                <a:off x="1662210" y="1611757"/>
                <a:ext cx="3098800" cy="9271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𝜙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  <m:r>
                                    <a:rPr kumimoji="1" lang="en-US" altLang="zh-CN" sz="2200" b="0" i="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⋅</m:t>
                              </m:r>
                              <m:r>
                                <a:rPr kumimoji="1" lang="zh-CN" altLang="en-US" sz="22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𝒏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​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6A35FF35-9579-CB8A-739E-096BF1549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210" y="1611757"/>
                <a:ext cx="3098800" cy="927100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87F9CE17-864E-1027-3F76-55F43D6A9FE0}"/>
                  </a:ext>
                </a:extLst>
              </p:cNvPr>
              <p:cNvSpPr txBox="1"/>
              <p:nvPr/>
            </p:nvSpPr>
            <p:spPr>
              <a:xfrm>
                <a:off x="2381757" y="2627875"/>
                <a:ext cx="5917108" cy="172026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其中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𝛾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𝒗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𝒊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𝒋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𝒌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87F9CE17-864E-1027-3F76-55F43D6A9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757" y="2627875"/>
                <a:ext cx="5917108" cy="17202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DC390D93-A5FE-13FC-9DD3-76BD1867C5C2}"/>
                  </a:ext>
                </a:extLst>
              </p:cNvPr>
              <p:cNvSpPr txBox="1"/>
              <p:nvPr/>
            </p:nvSpPr>
            <p:spPr>
              <a:xfrm>
                <a:off x="1954895" y="4223856"/>
                <a:ext cx="8369300" cy="8001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  <a:sym typeface="Symbol" panose="05050102010706020507" pitchFamily="18" charset="2"/>
                                </a:rPr>
                                <m:t>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𝛾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]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DC390D93-A5FE-13FC-9DD3-76BD1867C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895" y="4223856"/>
                <a:ext cx="8369300" cy="800100"/>
              </a:xfrm>
              <a:prstGeom prst="rect">
                <a:avLst/>
              </a:prstGeom>
              <a:blipFill>
                <a:blip r:embed="rId6"/>
                <a:stretch>
                  <a:fillRect b="-19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C10143FC-D004-9D6C-AEB7-B9D821263F2F}"/>
                  </a:ext>
                </a:extLst>
              </p:cNvPr>
              <p:cNvSpPr txBox="1"/>
              <p:nvPr/>
            </p:nvSpPr>
            <p:spPr>
              <a:xfrm>
                <a:off x="1954895" y="5197667"/>
                <a:ext cx="8559800" cy="8001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  <a:sym typeface="Symbol" panose="05050102010706020507" pitchFamily="18" charset="2"/>
                                </a:rPr>
                                <m:t>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𝑦𝑧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)(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𝑥𝑧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)(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].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C10143FC-D004-9D6C-AEB7-B9D821263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895" y="5197667"/>
                <a:ext cx="8559800" cy="800100"/>
              </a:xfrm>
              <a:prstGeom prst="rect">
                <a:avLst/>
              </a:prstGeom>
              <a:blipFill>
                <a:blip r:embed="rId7"/>
                <a:stretch>
                  <a:fillRect b="-19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>
            <a:extLst>
              <a:ext uri="{FF2B5EF4-FFF2-40B4-BE49-F238E27FC236}">
                <a16:creationId xmlns:a16="http://schemas.microsoft.com/office/drawing/2014/main" id="{63C6249B-2975-1494-2C18-F91E0C2ADDEB}"/>
              </a:ext>
            </a:extLst>
          </p:cNvPr>
          <p:cNvSpPr/>
          <p:nvPr/>
        </p:nvSpPr>
        <p:spPr>
          <a:xfrm>
            <a:off x="1622995" y="1239408"/>
            <a:ext cx="27238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的方法进行分析可得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918D1A8-508F-C6D3-6801-FBD047CC14D6}"/>
              </a:ext>
            </a:extLst>
          </p:cNvPr>
          <p:cNvCxnSpPr/>
          <p:nvPr/>
        </p:nvCxnSpPr>
        <p:spPr>
          <a:xfrm>
            <a:off x="2139412" y="2468320"/>
            <a:ext cx="8877" cy="19488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3BED92D-A4F3-6754-4F4E-F8424AE70697}"/>
              </a:ext>
            </a:extLst>
          </p:cNvPr>
          <p:cNvSpPr txBox="1"/>
          <p:nvPr/>
        </p:nvSpPr>
        <p:spPr bwMode="auto">
          <a:xfrm>
            <a:off x="1116868" y="754054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fontAlgn="base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pic>
        <p:nvPicPr>
          <p:cNvPr id="29" name="图片 28" descr="地图上有字&#10;&#10;描述已自动生成">
            <a:extLst>
              <a:ext uri="{FF2B5EF4-FFF2-40B4-BE49-F238E27FC236}">
                <a16:creationId xmlns:a16="http://schemas.microsoft.com/office/drawing/2014/main" id="{0956AC70-2500-3C3D-2AF0-053CD9200FB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864" y="1364411"/>
            <a:ext cx="2772171" cy="27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5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31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323387C-9253-C557-4CA3-90A1E8BB35FB}"/>
              </a:ext>
            </a:extLst>
          </p:cNvPr>
          <p:cNvSpPr txBox="1"/>
          <p:nvPr/>
        </p:nvSpPr>
        <p:spPr bwMode="auto">
          <a:xfrm>
            <a:off x="1353449" y="421296"/>
            <a:ext cx="1334020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4">
                <a:extLst>
                  <a:ext uri="{FF2B5EF4-FFF2-40B4-BE49-F238E27FC236}">
                    <a16:creationId xmlns:a16="http://schemas.microsoft.com/office/drawing/2014/main" id="{97D6281C-932F-4DDF-C2F7-2C0C4813A7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4234" y="956719"/>
                <a:ext cx="8305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定义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设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为光滑的有向曲面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函数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𝑅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 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在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上</a:t>
                </a:r>
              </a:p>
            </p:txBody>
          </p:sp>
        </mc:Choice>
        <mc:Fallback xmlns="">
          <p:sp>
            <p:nvSpPr>
              <p:cNvPr id="3" name="Text Box 4">
                <a:extLst>
                  <a:ext uri="{FF2B5EF4-FFF2-40B4-BE49-F238E27FC236}">
                    <a16:creationId xmlns:a16="http://schemas.microsoft.com/office/drawing/2014/main" id="{97D6281C-932F-4DDF-C2F7-2C0C4813A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4234" y="956719"/>
                <a:ext cx="8305800" cy="523220"/>
              </a:xfrm>
              <a:prstGeom prst="rect">
                <a:avLst/>
              </a:prstGeom>
              <a:blipFill>
                <a:blip r:embed="rId2"/>
                <a:stretch>
                  <a:fillRect l="-1467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6">
            <a:extLst>
              <a:ext uri="{FF2B5EF4-FFF2-40B4-BE49-F238E27FC236}">
                <a16:creationId xmlns:a16="http://schemas.microsoft.com/office/drawing/2014/main" id="{508FE301-D153-C13E-E979-53CEB1A46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234" y="1483795"/>
            <a:ext cx="1371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有界．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7">
                <a:extLst>
                  <a:ext uri="{FF2B5EF4-FFF2-40B4-BE49-F238E27FC236}">
                    <a16:creationId xmlns:a16="http://schemas.microsoft.com/office/drawing/2014/main" id="{C673C8B3-C6DE-440C-57A3-DFC33B3221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8634" y="1473166"/>
                <a:ext cx="7924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把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任意分成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块小曲面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同时又表示第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𝑖</m:t>
                    </m:r>
                  </m:oMath>
                </a14:m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Text Box 7">
                <a:extLst>
                  <a:ext uri="{FF2B5EF4-FFF2-40B4-BE49-F238E27FC236}">
                    <a16:creationId xmlns:a16="http://schemas.microsoft.com/office/drawing/2014/main" id="{C673C8B3-C6DE-440C-57A3-DFC33B322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8634" y="1473166"/>
                <a:ext cx="7924800" cy="523220"/>
              </a:xfrm>
              <a:prstGeom prst="rect">
                <a:avLst/>
              </a:prstGeom>
              <a:blipFill>
                <a:blip r:embed="rId3"/>
                <a:stretch>
                  <a:fillRect l="-1538"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8">
            <a:extLst>
              <a:ext uri="{FF2B5EF4-FFF2-40B4-BE49-F238E27FC236}">
                <a16:creationId xmlns:a16="http://schemas.microsoft.com/office/drawing/2014/main" id="{214C34C0-98FE-43F6-0C60-392FE9C7D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234" y="1989613"/>
            <a:ext cx="31294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块小曲面的面积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)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9">
                <a:extLst>
                  <a:ext uri="{FF2B5EF4-FFF2-40B4-BE49-F238E27FC236}">
                    <a16:creationId xmlns:a16="http://schemas.microsoft.com/office/drawing/2014/main" id="{BF7A3C35-B3A7-475E-9B46-F6A350AC62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7363" y="1994390"/>
                <a:ext cx="564625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𝑂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面上的投影为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𝑥𝑦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 </a:t>
                </a:r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" name="Text Box 9">
                <a:extLst>
                  <a:ext uri="{FF2B5EF4-FFF2-40B4-BE49-F238E27FC236}">
                    <a16:creationId xmlns:a16="http://schemas.microsoft.com/office/drawing/2014/main" id="{BF7A3C35-B3A7-475E-9B46-F6A350AC6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7363" y="1994390"/>
                <a:ext cx="5646259" cy="523220"/>
              </a:xfrm>
              <a:prstGeom prst="rect">
                <a:avLst/>
              </a:prstGeom>
              <a:blipFill>
                <a:blip r:embed="rId4"/>
                <a:stretch>
                  <a:fillRect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0">
                <a:extLst>
                  <a:ext uri="{FF2B5EF4-FFF2-40B4-BE49-F238E27FC236}">
                    <a16:creationId xmlns:a16="http://schemas.microsoft.com/office/drawing/2014/main" id="{867F8556-CBCD-3A37-D95D-7CA587D8C3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4234" y="2506060"/>
                <a:ext cx="564625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 dirty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  <a:sym typeface="Symbol" panose="05050102010706020507" pitchFamily="18" charset="2"/>
                          </a:rPr>
                          <m:t>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𝜂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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是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Δ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上任意取定的一点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 </a:t>
                </a:r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8" name="Text Box 10">
                <a:extLst>
                  <a:ext uri="{FF2B5EF4-FFF2-40B4-BE49-F238E27FC236}">
                    <a16:creationId xmlns:a16="http://schemas.microsoft.com/office/drawing/2014/main" id="{867F8556-CBCD-3A37-D95D-7CA587D8C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4234" y="2506060"/>
                <a:ext cx="5646259" cy="523220"/>
              </a:xfrm>
              <a:prstGeom prst="rect">
                <a:avLst/>
              </a:prstGeom>
              <a:blipFill>
                <a:blip r:embed="rId5"/>
                <a:stretch>
                  <a:fillRect t="-15116" r="-540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1">
            <a:extLst>
              <a:ext uri="{FF2B5EF4-FFF2-40B4-BE49-F238E27FC236}">
                <a16:creationId xmlns:a16="http://schemas.microsoft.com/office/drawing/2014/main" id="{9BD694A3-73F1-79CA-9493-5EF38ABB1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100" y="2518698"/>
            <a:ext cx="1447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作乘积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033AA48D-3F75-1E23-0DFF-754CFECC1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234" y="4264437"/>
            <a:ext cx="1371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并作和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5">
                <a:extLst>
                  <a:ext uri="{FF2B5EF4-FFF2-40B4-BE49-F238E27FC236}">
                    <a16:creationId xmlns:a16="http://schemas.microsoft.com/office/drawing/2014/main" id="{7C2CA412-47BE-E784-8774-455D306174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4234" y="5307490"/>
                <a:ext cx="741527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如果当各小块曲面的直径的最大值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zh-CN" altLang="en-US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时，</a:t>
                </a:r>
              </a:p>
            </p:txBody>
          </p:sp>
        </mc:Choice>
        <mc:Fallback xmlns="">
          <p:sp>
            <p:nvSpPr>
              <p:cNvPr id="11" name="Text Box 15">
                <a:extLst>
                  <a:ext uri="{FF2B5EF4-FFF2-40B4-BE49-F238E27FC236}">
                    <a16:creationId xmlns:a16="http://schemas.microsoft.com/office/drawing/2014/main" id="{7C2CA412-47BE-E784-8774-455D30617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4234" y="5307490"/>
                <a:ext cx="7415272" cy="523220"/>
              </a:xfrm>
              <a:prstGeom prst="rect">
                <a:avLst/>
              </a:prstGeom>
              <a:blipFill>
                <a:blip r:embed="rId6"/>
                <a:stretch>
                  <a:fillRect l="-1643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16">
            <a:extLst>
              <a:ext uri="{FF2B5EF4-FFF2-40B4-BE49-F238E27FC236}">
                <a16:creationId xmlns:a16="http://schemas.microsoft.com/office/drawing/2014/main" id="{5296B5A1-569E-CD2D-CA5C-637529335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2737" y="5295287"/>
            <a:ext cx="2133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这和的极限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7">
                <a:extLst>
                  <a:ext uri="{FF2B5EF4-FFF2-40B4-BE49-F238E27FC236}">
                    <a16:creationId xmlns:a16="http://schemas.microsoft.com/office/drawing/2014/main" id="{07945E20-F35F-5E7C-B20D-661EC28D3F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4234" y="5823937"/>
                <a:ext cx="8991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总存在，且与曲面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的分法及点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 dirty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  <a:sym typeface="Symbol" panose="05050102010706020507" pitchFamily="18" charset="2"/>
                          </a:rPr>
                          <m:t>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𝜂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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的取法无关，</a:t>
                </a:r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Text Box 17">
                <a:extLst>
                  <a:ext uri="{FF2B5EF4-FFF2-40B4-BE49-F238E27FC236}">
                    <a16:creationId xmlns:a16="http://schemas.microsoft.com/office/drawing/2014/main" id="{07945E20-F35F-5E7C-B20D-661EC28D3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4234" y="5823937"/>
                <a:ext cx="8991600" cy="523220"/>
              </a:xfrm>
              <a:prstGeom prst="rect">
                <a:avLst/>
              </a:prstGeom>
              <a:blipFill>
                <a:blip r:embed="rId7"/>
                <a:stretch>
                  <a:fillRect l="-1356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3">
                <a:extLst>
                  <a:ext uri="{FF2B5EF4-FFF2-40B4-BE49-F238E27FC236}">
                    <a16:creationId xmlns:a16="http://schemas.microsoft.com/office/drawing/2014/main" id="{BBC6C130-B7DF-87FB-5CFC-5497B8D00F5F}"/>
                  </a:ext>
                </a:extLst>
              </p:cNvPr>
              <p:cNvSpPr txBox="1"/>
              <p:nvPr/>
            </p:nvSpPr>
            <p:spPr>
              <a:xfrm>
                <a:off x="3626011" y="3043888"/>
                <a:ext cx="5533495" cy="482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)(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𝑖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1,2,⋯,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13">
                <a:extLst>
                  <a:ext uri="{FF2B5EF4-FFF2-40B4-BE49-F238E27FC236}">
                    <a16:creationId xmlns:a16="http://schemas.microsoft.com/office/drawing/2014/main" id="{BBC6C130-B7DF-87FB-5CFC-5497B8D00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011" y="3043888"/>
                <a:ext cx="5533495" cy="482600"/>
              </a:xfrm>
              <a:prstGeom prst="rect">
                <a:avLst/>
              </a:prstGeom>
              <a:blipFill>
                <a:blip r:embed="rId8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4">
                <a:extLst>
                  <a:ext uri="{FF2B5EF4-FFF2-40B4-BE49-F238E27FC236}">
                    <a16:creationId xmlns:a16="http://schemas.microsoft.com/office/drawing/2014/main" id="{B917DA6C-3E9F-E7CF-D091-B0645E4F83DB}"/>
                  </a:ext>
                </a:extLst>
              </p:cNvPr>
              <p:cNvSpPr txBox="1"/>
              <p:nvPr/>
            </p:nvSpPr>
            <p:spPr>
              <a:xfrm>
                <a:off x="4373134" y="3822130"/>
                <a:ext cx="3701852" cy="122544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𝜁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)(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对象 14">
                <a:extLst>
                  <a:ext uri="{FF2B5EF4-FFF2-40B4-BE49-F238E27FC236}">
                    <a16:creationId xmlns:a16="http://schemas.microsoft.com/office/drawing/2014/main" id="{B917DA6C-3E9F-E7CF-D091-B0645E4F8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134" y="3822130"/>
                <a:ext cx="3701852" cy="122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16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图文框 162">
            <a:extLst>
              <a:ext uri="{FF2B5EF4-FFF2-40B4-BE49-F238E27FC236}">
                <a16:creationId xmlns:a16="http://schemas.microsoft.com/office/drawing/2014/main" id="{3DF9AE1C-5531-5F12-59A3-E71A711F0C45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D00C447E-ECD8-FD15-B5AF-C9F474DA7704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2" name="Group 2">
            <a:extLst>
              <a:ext uri="{FF2B5EF4-FFF2-40B4-BE49-F238E27FC236}">
                <a16:creationId xmlns:a16="http://schemas.microsoft.com/office/drawing/2014/main" id="{BE837E91-7F66-1737-D28F-C85ED903BD52}"/>
              </a:ext>
            </a:extLst>
          </p:cNvPr>
          <p:cNvGrpSpPr>
            <a:grpSpLocks/>
          </p:cNvGrpSpPr>
          <p:nvPr/>
        </p:nvGrpSpPr>
        <p:grpSpPr bwMode="auto">
          <a:xfrm>
            <a:off x="3274867" y="3715565"/>
            <a:ext cx="443805" cy="685800"/>
            <a:chOff x="-108" y="1536"/>
            <a:chExt cx="378" cy="528"/>
          </a:xfrm>
        </p:grpSpPr>
        <p:sp>
          <p:nvSpPr>
            <p:cNvPr id="103" name="Rectangle 3">
              <a:extLst>
                <a:ext uri="{FF2B5EF4-FFF2-40B4-BE49-F238E27FC236}">
                  <a16:creationId xmlns:a16="http://schemas.microsoft.com/office/drawing/2014/main" id="{F696D5FC-1897-6F32-E6CA-14CB27A7F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8" y="1536"/>
              <a:ext cx="378" cy="240"/>
            </a:xfrm>
            <a:prstGeom prst="rect">
              <a:avLst/>
            </a:prstGeom>
            <a:solidFill>
              <a:srgbClr val="61DF70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AutoShape 4">
              <a:extLst>
                <a:ext uri="{FF2B5EF4-FFF2-40B4-BE49-F238E27FC236}">
                  <a16:creationId xmlns:a16="http://schemas.microsoft.com/office/drawing/2014/main" id="{C0B4E9B7-1C69-7DBD-FF2C-FF8CC3F4B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76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61DF70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对象 128">
                <a:extLst>
                  <a:ext uri="{FF2B5EF4-FFF2-40B4-BE49-F238E27FC236}">
                    <a16:creationId xmlns:a16="http://schemas.microsoft.com/office/drawing/2014/main" id="{CAF69A53-B971-7C42-F21A-591F3BF05986}"/>
                  </a:ext>
                </a:extLst>
              </p:cNvPr>
              <p:cNvSpPr txBox="1"/>
              <p:nvPr/>
            </p:nvSpPr>
            <p:spPr>
              <a:xfrm>
                <a:off x="3235324" y="2695021"/>
                <a:ext cx="7991845" cy="965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)​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  <a:sym typeface="Symbol" panose="05050102010706020507" pitchFamily="18" charset="2"/>
                                    </a:rPr>
                                    <m:t>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)(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𝑥𝑦</m:t>
                                  </m:r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,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9" name="对象 128">
                <a:extLst>
                  <a:ext uri="{FF2B5EF4-FFF2-40B4-BE49-F238E27FC236}">
                    <a16:creationId xmlns:a16="http://schemas.microsoft.com/office/drawing/2014/main" id="{CAF69A53-B971-7C42-F21A-591F3BF05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324" y="2695021"/>
                <a:ext cx="7991845" cy="965200"/>
              </a:xfrm>
              <a:prstGeom prst="rect">
                <a:avLst/>
              </a:prstGeom>
              <a:blipFill>
                <a:blip r:embed="rId2"/>
                <a:stretch>
                  <a:fillRect b="-29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ectangle 6">
            <a:extLst>
              <a:ext uri="{FF2B5EF4-FFF2-40B4-BE49-F238E27FC236}">
                <a16:creationId xmlns:a16="http://schemas.microsoft.com/office/drawing/2014/main" id="{0BF5B4E4-4F99-4348-E61E-9F56E1E21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010" y="1192691"/>
            <a:ext cx="982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记作</a:t>
            </a:r>
          </a:p>
        </p:txBody>
      </p:sp>
      <p:sp>
        <p:nvSpPr>
          <p:cNvPr id="98" name="Rectangle 10">
            <a:extLst>
              <a:ext uri="{FF2B5EF4-FFF2-40B4-BE49-F238E27FC236}">
                <a16:creationId xmlns:a16="http://schemas.microsoft.com/office/drawing/2014/main" id="{C79554A6-2D23-8471-7970-6E456C224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429" y="3080198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对象 98">
                <a:extLst>
                  <a:ext uri="{FF2B5EF4-FFF2-40B4-BE49-F238E27FC236}">
                    <a16:creationId xmlns:a16="http://schemas.microsoft.com/office/drawing/2014/main" id="{C2B91A1F-9305-C53A-BB19-B8A6B0C273C4}"/>
                  </a:ext>
                </a:extLst>
              </p:cNvPr>
              <p:cNvSpPr txBox="1"/>
              <p:nvPr/>
            </p:nvSpPr>
            <p:spPr>
              <a:xfrm>
                <a:off x="4464049" y="1643448"/>
                <a:ext cx="3514725" cy="126428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)​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, 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9" name="对象 98">
                <a:extLst>
                  <a:ext uri="{FF2B5EF4-FFF2-40B4-BE49-F238E27FC236}">
                    <a16:creationId xmlns:a16="http://schemas.microsoft.com/office/drawing/2014/main" id="{C2B91A1F-9305-C53A-BB19-B8A6B0C27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049" y="1643448"/>
                <a:ext cx="3514725" cy="12642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对象 99">
                <a:extLst>
                  <a:ext uri="{FF2B5EF4-FFF2-40B4-BE49-F238E27FC236}">
                    <a16:creationId xmlns:a16="http://schemas.microsoft.com/office/drawing/2014/main" id="{ACA8FC79-0044-F516-E51F-7E2FAFA34380}"/>
                  </a:ext>
                </a:extLst>
              </p:cNvPr>
              <p:cNvSpPr txBox="1"/>
              <p:nvPr/>
            </p:nvSpPr>
            <p:spPr>
              <a:xfrm>
                <a:off x="1701429" y="620397"/>
                <a:ext cx="8366495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则称此极限为函数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在有向曲面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上对坐标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0" name="对象 99">
                <a:extLst>
                  <a:ext uri="{FF2B5EF4-FFF2-40B4-BE49-F238E27FC236}">
                    <a16:creationId xmlns:a16="http://schemas.microsoft.com/office/drawing/2014/main" id="{ACA8FC79-0044-F516-E51F-7E2FAFA34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429" y="620397"/>
                <a:ext cx="8366495" cy="444500"/>
              </a:xfrm>
              <a:prstGeom prst="rect">
                <a:avLst/>
              </a:prstGeom>
              <a:blipFill>
                <a:blip r:embed="rId4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对象 100">
                <a:extLst>
                  <a:ext uri="{FF2B5EF4-FFF2-40B4-BE49-F238E27FC236}">
                    <a16:creationId xmlns:a16="http://schemas.microsoft.com/office/drawing/2014/main" id="{3DFDFD1C-FC83-6A1F-6030-6F8C4B316D43}"/>
                  </a:ext>
                </a:extLst>
              </p:cNvPr>
              <p:cNvSpPr txBox="1"/>
              <p:nvPr/>
            </p:nvSpPr>
            <p:spPr>
              <a:xfrm>
                <a:off x="1701429" y="1203737"/>
                <a:ext cx="5832644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的曲面积分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或第二类曲面积分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1" name="对象 100">
                <a:extLst>
                  <a:ext uri="{FF2B5EF4-FFF2-40B4-BE49-F238E27FC236}">
                    <a16:creationId xmlns:a16="http://schemas.microsoft.com/office/drawing/2014/main" id="{3DFDFD1C-FC83-6A1F-6030-6F8C4B316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429" y="1203737"/>
                <a:ext cx="5832644" cy="444500"/>
              </a:xfrm>
              <a:prstGeom prst="rect">
                <a:avLst/>
              </a:prstGeom>
              <a:blipFill>
                <a:blip r:embed="rId5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 Box 5" descr="大网格">
            <a:extLst>
              <a:ext uri="{FF2B5EF4-FFF2-40B4-BE49-F238E27FC236}">
                <a16:creationId xmlns:a16="http://schemas.microsoft.com/office/drawing/2014/main" id="{6E178336-01A2-9512-2E3B-18CC34EF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419" y="4383703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61DF70"/>
                </a:solidFill>
                <a:latin typeface="Cambria Math" panose="02040503050406030204" charset="0"/>
                <a:ea typeface="黑体" panose="02010609060101010101" pitchFamily="49" charset="-122"/>
              </a:rPr>
              <a:t>积分曲面</a:t>
            </a:r>
          </a:p>
        </p:txBody>
      </p:sp>
      <p:grpSp>
        <p:nvGrpSpPr>
          <p:cNvPr id="106" name="Group 7">
            <a:extLst>
              <a:ext uri="{FF2B5EF4-FFF2-40B4-BE49-F238E27FC236}">
                <a16:creationId xmlns:a16="http://schemas.microsoft.com/office/drawing/2014/main" id="{F4D9E71D-7123-0C14-C68C-CF773961F81D}"/>
              </a:ext>
            </a:extLst>
          </p:cNvPr>
          <p:cNvGrpSpPr>
            <a:grpSpLocks/>
          </p:cNvGrpSpPr>
          <p:nvPr/>
        </p:nvGrpSpPr>
        <p:grpSpPr bwMode="auto">
          <a:xfrm>
            <a:off x="6978528" y="2694606"/>
            <a:ext cx="3368734" cy="1698521"/>
            <a:chOff x="3840" y="748"/>
            <a:chExt cx="3628" cy="1459"/>
          </a:xfrm>
        </p:grpSpPr>
        <p:sp>
          <p:nvSpPr>
            <p:cNvPr id="107" name="Rectangle 8" descr="大网格">
              <a:extLst>
                <a:ext uri="{FF2B5EF4-FFF2-40B4-BE49-F238E27FC236}">
                  <a16:creationId xmlns:a16="http://schemas.microsoft.com/office/drawing/2014/main" id="{3E7B6A9D-84EF-C239-075D-DB325DE58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748"/>
              <a:ext cx="3628" cy="1086"/>
            </a:xfrm>
            <a:prstGeom prst="rect">
              <a:avLst/>
            </a:prstGeom>
            <a:noFill/>
            <a:ln w="381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AutoShape 9">
              <a:extLst>
                <a:ext uri="{FF2B5EF4-FFF2-40B4-BE49-F238E27FC236}">
                  <a16:creationId xmlns:a16="http://schemas.microsoft.com/office/drawing/2014/main" id="{19AB1D61-2414-343F-3BF7-5FA06F59F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825"/>
              <a:ext cx="96" cy="382"/>
            </a:xfrm>
            <a:prstGeom prst="downArrow">
              <a:avLst>
                <a:gd name="adj1" fmla="val 50000"/>
                <a:gd name="adj2" fmla="val 175000"/>
              </a:avLst>
            </a:prstGeom>
            <a:solidFill>
              <a:schemeClr val="tx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9" name="Text Box 10" descr="大网格">
            <a:extLst>
              <a:ext uri="{FF2B5EF4-FFF2-40B4-BE49-F238E27FC236}">
                <a16:creationId xmlns:a16="http://schemas.microsoft.com/office/drawing/2014/main" id="{47D26E9B-8D31-59D8-7996-4EA25B553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5405" y="4383703"/>
            <a:ext cx="61555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积分和</a:t>
            </a:r>
          </a:p>
        </p:txBody>
      </p:sp>
      <p:grpSp>
        <p:nvGrpSpPr>
          <p:cNvPr id="110" name="Group 11">
            <a:extLst>
              <a:ext uri="{FF2B5EF4-FFF2-40B4-BE49-F238E27FC236}">
                <a16:creationId xmlns:a16="http://schemas.microsoft.com/office/drawing/2014/main" id="{0E5390E5-B949-06DE-1F00-499E6791855C}"/>
              </a:ext>
            </a:extLst>
          </p:cNvPr>
          <p:cNvGrpSpPr>
            <a:grpSpLocks/>
          </p:cNvGrpSpPr>
          <p:nvPr/>
        </p:nvGrpSpPr>
        <p:grpSpPr bwMode="auto">
          <a:xfrm>
            <a:off x="3788440" y="2995123"/>
            <a:ext cx="1411654" cy="1403350"/>
            <a:chOff x="220" y="1056"/>
            <a:chExt cx="1445" cy="1056"/>
          </a:xfrm>
        </p:grpSpPr>
        <p:sp>
          <p:nvSpPr>
            <p:cNvPr id="111" name="Rectangle 12" descr="大网格">
              <a:extLst>
                <a:ext uri="{FF2B5EF4-FFF2-40B4-BE49-F238E27FC236}">
                  <a16:creationId xmlns:a16="http://schemas.microsoft.com/office/drawing/2014/main" id="{2435D17B-D6F6-6170-2934-50CBE4C74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" y="1056"/>
              <a:ext cx="1445" cy="576"/>
            </a:xfrm>
            <a:prstGeom prst="rect">
              <a:avLst/>
            </a:prstGeom>
            <a:noFill/>
            <a:ln w="38100" cap="sq">
              <a:solidFill>
                <a:srgbClr val="4A7BA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AutoShape 13">
              <a:extLst>
                <a:ext uri="{FF2B5EF4-FFF2-40B4-BE49-F238E27FC236}">
                  <a16:creationId xmlns:a16="http://schemas.microsoft.com/office/drawing/2014/main" id="{86A33C6A-F6C4-FCAB-5A31-C98F6253D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" y="1632"/>
              <a:ext cx="74" cy="480"/>
            </a:xfrm>
            <a:prstGeom prst="downArrow">
              <a:avLst>
                <a:gd name="adj1" fmla="val 50000"/>
                <a:gd name="adj2" fmla="val 250000"/>
              </a:avLst>
            </a:prstGeom>
            <a:solidFill>
              <a:srgbClr val="4A7BA8"/>
            </a:solidFill>
            <a:ln w="12700" cap="sq">
              <a:solidFill>
                <a:srgbClr val="4A7BA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3" name="Text Box 14" descr="大网格">
            <a:extLst>
              <a:ext uri="{FF2B5EF4-FFF2-40B4-BE49-F238E27FC236}">
                <a16:creationId xmlns:a16="http://schemas.microsoft.com/office/drawing/2014/main" id="{108CCA68-A14F-E0D2-3D60-96FF5776E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372" y="4383703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4A7BA8"/>
                </a:solidFill>
                <a:latin typeface="Cambria Math" panose="02040503050406030204" charset="0"/>
                <a:ea typeface="黑体" panose="02010609060101010101" pitchFamily="49" charset="-122"/>
              </a:rPr>
              <a:t>被积函数</a:t>
            </a:r>
          </a:p>
        </p:txBody>
      </p:sp>
      <p:grpSp>
        <p:nvGrpSpPr>
          <p:cNvPr id="114" name="Group 15">
            <a:extLst>
              <a:ext uri="{FF2B5EF4-FFF2-40B4-BE49-F238E27FC236}">
                <a16:creationId xmlns:a16="http://schemas.microsoft.com/office/drawing/2014/main" id="{6DBA45CD-2FF8-98A0-03C2-7A16A8EA9217}"/>
              </a:ext>
            </a:extLst>
          </p:cNvPr>
          <p:cNvGrpSpPr>
            <a:grpSpLocks/>
          </p:cNvGrpSpPr>
          <p:nvPr/>
        </p:nvGrpSpPr>
        <p:grpSpPr bwMode="auto">
          <a:xfrm>
            <a:off x="4177914" y="3186304"/>
            <a:ext cx="935977" cy="1157297"/>
            <a:chOff x="652" y="1248"/>
            <a:chExt cx="767" cy="921"/>
          </a:xfrm>
        </p:grpSpPr>
        <p:sp>
          <p:nvSpPr>
            <p:cNvPr id="115" name="Rectangle 16" descr="大网格">
              <a:extLst>
                <a:ext uri="{FF2B5EF4-FFF2-40B4-BE49-F238E27FC236}">
                  <a16:creationId xmlns:a16="http://schemas.microsoft.com/office/drawing/2014/main" id="{896DB5BD-1AF2-5487-9CD2-7C83291D2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1248"/>
              <a:ext cx="767" cy="288"/>
            </a:xfrm>
            <a:prstGeom prst="rect">
              <a:avLst/>
            </a:prstGeom>
            <a:noFill/>
            <a:ln w="254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6" name="AutoShape 17">
              <a:extLst>
                <a:ext uri="{FF2B5EF4-FFF2-40B4-BE49-F238E27FC236}">
                  <a16:creationId xmlns:a16="http://schemas.microsoft.com/office/drawing/2014/main" id="{0D34452B-91C3-EEB9-0119-A80756342B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540000" flipH="1">
              <a:off x="1223" y="1551"/>
              <a:ext cx="56" cy="618"/>
            </a:xfrm>
            <a:prstGeom prst="downArrow">
              <a:avLst>
                <a:gd name="adj1" fmla="val 50000"/>
                <a:gd name="adj2" fmla="val 375000"/>
              </a:avLst>
            </a:prstGeom>
            <a:solidFill>
              <a:schemeClr val="tx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7" name="Text Box 18" descr="大网格">
            <a:extLst>
              <a:ext uri="{FF2B5EF4-FFF2-40B4-BE49-F238E27FC236}">
                <a16:creationId xmlns:a16="http://schemas.microsoft.com/office/drawing/2014/main" id="{3EB4D070-59DB-DEFB-18CC-ED28D6A77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243" y="4383703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积分变量</a:t>
            </a:r>
          </a:p>
        </p:txBody>
      </p:sp>
      <p:sp>
        <p:nvSpPr>
          <p:cNvPr id="118" name="Text Box 19" descr="大网格">
            <a:extLst>
              <a:ext uri="{FF2B5EF4-FFF2-40B4-BE49-F238E27FC236}">
                <a16:creationId xmlns:a16="http://schemas.microsoft.com/office/drawing/2014/main" id="{050B782B-8BAA-9B3A-0954-7169259F0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1537" y="4383703"/>
            <a:ext cx="615553" cy="188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B0F0"/>
                </a:solidFill>
                <a:latin typeface="Cambria Math" panose="02040503050406030204" charset="0"/>
                <a:ea typeface="黑体" panose="02010609060101010101" pitchFamily="49" charset="-122"/>
              </a:rPr>
              <a:t>被积表达式</a:t>
            </a:r>
          </a:p>
        </p:txBody>
      </p:sp>
      <p:grpSp>
        <p:nvGrpSpPr>
          <p:cNvPr id="119" name="Group 20">
            <a:extLst>
              <a:ext uri="{FF2B5EF4-FFF2-40B4-BE49-F238E27FC236}">
                <a16:creationId xmlns:a16="http://schemas.microsoft.com/office/drawing/2014/main" id="{5C6304C0-6D98-5CB4-78A7-B4C8A4B7D0A4}"/>
              </a:ext>
            </a:extLst>
          </p:cNvPr>
          <p:cNvGrpSpPr>
            <a:grpSpLocks/>
          </p:cNvGrpSpPr>
          <p:nvPr/>
        </p:nvGrpSpPr>
        <p:grpSpPr bwMode="auto">
          <a:xfrm>
            <a:off x="3746359" y="2957602"/>
            <a:ext cx="2265844" cy="1419543"/>
            <a:chOff x="806" y="1929"/>
            <a:chExt cx="1273" cy="789"/>
          </a:xfrm>
        </p:grpSpPr>
        <p:sp>
          <p:nvSpPr>
            <p:cNvPr id="120" name="Rectangle 21" descr="大网格">
              <a:extLst>
                <a:ext uri="{FF2B5EF4-FFF2-40B4-BE49-F238E27FC236}">
                  <a16:creationId xmlns:a16="http://schemas.microsoft.com/office/drawing/2014/main" id="{B9F55E70-B75D-9777-3824-70AD74455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1929"/>
              <a:ext cx="1273" cy="460"/>
            </a:xfrm>
            <a:prstGeom prst="rect">
              <a:avLst/>
            </a:prstGeom>
            <a:noFill/>
            <a:ln w="38100" cap="sq">
              <a:solidFill>
                <a:srgbClr val="00B0F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1" name="Line 22">
              <a:extLst>
                <a:ext uri="{FF2B5EF4-FFF2-40B4-BE49-F238E27FC236}">
                  <a16:creationId xmlns:a16="http://schemas.microsoft.com/office/drawing/2014/main" id="{F1EE24CF-DC90-B10E-26E1-1171718F8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4" y="2394"/>
              <a:ext cx="0" cy="324"/>
            </a:xfrm>
            <a:prstGeom prst="line">
              <a:avLst/>
            </a:prstGeom>
            <a:noFill/>
            <a:ln w="38100" cap="sq">
              <a:solidFill>
                <a:srgbClr val="00B0F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grpSp>
        <p:nvGrpSpPr>
          <p:cNvPr id="122" name="Group 23">
            <a:extLst>
              <a:ext uri="{FF2B5EF4-FFF2-40B4-BE49-F238E27FC236}">
                <a16:creationId xmlns:a16="http://schemas.microsoft.com/office/drawing/2014/main" id="{3477CCAC-22BA-7908-6613-4BF9627C5D98}"/>
              </a:ext>
            </a:extLst>
          </p:cNvPr>
          <p:cNvGrpSpPr>
            <a:grpSpLocks/>
          </p:cNvGrpSpPr>
          <p:nvPr/>
        </p:nvGrpSpPr>
        <p:grpSpPr bwMode="auto">
          <a:xfrm>
            <a:off x="5129740" y="3046066"/>
            <a:ext cx="979515" cy="1371247"/>
            <a:chOff x="1632" y="1104"/>
            <a:chExt cx="895" cy="1105"/>
          </a:xfrm>
          <a:noFill/>
        </p:grpSpPr>
        <p:sp>
          <p:nvSpPr>
            <p:cNvPr id="123" name="Oval 24" descr="大网格">
              <a:extLst>
                <a:ext uri="{FF2B5EF4-FFF2-40B4-BE49-F238E27FC236}">
                  <a16:creationId xmlns:a16="http://schemas.microsoft.com/office/drawing/2014/main" id="{5B61A7CB-7D80-CB0D-1754-E36F03ADC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104"/>
              <a:ext cx="855" cy="480"/>
            </a:xfrm>
            <a:prstGeom prst="ellipse">
              <a:avLst/>
            </a:prstGeom>
            <a:grpFill/>
            <a:ln w="28575" cap="sq">
              <a:solidFill>
                <a:srgbClr val="33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AutoShape 25">
              <a:extLst>
                <a:ext uri="{FF2B5EF4-FFF2-40B4-BE49-F238E27FC236}">
                  <a16:creationId xmlns:a16="http://schemas.microsoft.com/office/drawing/2014/main" id="{AF5A2693-36DB-B57E-07FF-B5F2A25FE7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920000" flipH="1">
              <a:off x="2465" y="1509"/>
              <a:ext cx="62" cy="700"/>
            </a:xfrm>
            <a:prstGeom prst="downArrow">
              <a:avLst>
                <a:gd name="adj1" fmla="val 50000"/>
                <a:gd name="adj2" fmla="val 424194"/>
              </a:avLst>
            </a:prstGeom>
            <a:solidFill>
              <a:srgbClr val="3333CC"/>
            </a:solidFill>
            <a:ln w="1270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5" name="Text Box 26" descr="大网格">
            <a:extLst>
              <a:ext uri="{FF2B5EF4-FFF2-40B4-BE49-F238E27FC236}">
                <a16:creationId xmlns:a16="http://schemas.microsoft.com/office/drawing/2014/main" id="{F6040FC6-D6E4-E3D7-1AC2-BC6B2CFD0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221" y="4383703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3333CC"/>
                </a:solidFill>
                <a:latin typeface="Cambria Math" panose="02040503050406030204" charset="0"/>
                <a:ea typeface="黑体" panose="02010609060101010101" pitchFamily="49" charset="-122"/>
              </a:rPr>
              <a:t>面积投影</a:t>
            </a:r>
          </a:p>
        </p:txBody>
      </p:sp>
      <p:sp>
        <p:nvSpPr>
          <p:cNvPr id="126" name="AutoShape 9">
            <a:extLst>
              <a:ext uri="{FF2B5EF4-FFF2-40B4-BE49-F238E27FC236}">
                <a16:creationId xmlns:a16="http://schemas.microsoft.com/office/drawing/2014/main" id="{936B4CCE-DE20-A0A4-30C9-79192FF18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5506" y="3664695"/>
            <a:ext cx="89140" cy="782320"/>
          </a:xfrm>
          <a:prstGeom prst="downArrow">
            <a:avLst>
              <a:gd name="adj1" fmla="val 50000"/>
              <a:gd name="adj2" fmla="val 175000"/>
            </a:avLst>
          </a:prstGeom>
          <a:solidFill>
            <a:srgbClr val="04926A"/>
          </a:solidFill>
          <a:ln w="12700" cap="sq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27" name="Text Box 26" descr="大网格">
            <a:extLst>
              <a:ext uri="{FF2B5EF4-FFF2-40B4-BE49-F238E27FC236}">
                <a16:creationId xmlns:a16="http://schemas.microsoft.com/office/drawing/2014/main" id="{1A5A67EA-7ED5-C558-6699-B230CD97E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2300" y="4383703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面积投影</a:t>
            </a:r>
          </a:p>
        </p:txBody>
      </p:sp>
      <p:sp>
        <p:nvSpPr>
          <p:cNvPr id="128" name="Oval 24" descr="大网格">
            <a:extLst>
              <a:ext uri="{FF2B5EF4-FFF2-40B4-BE49-F238E27FC236}">
                <a16:creationId xmlns:a16="http://schemas.microsoft.com/office/drawing/2014/main" id="{74310DEA-F5DD-73E4-A88B-273DC1745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2890" y="3068755"/>
            <a:ext cx="1154372" cy="592755"/>
          </a:xfrm>
          <a:prstGeom prst="ellipse">
            <a:avLst/>
          </a:prstGeom>
          <a:noFill/>
          <a:ln w="28575" cap="sq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599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75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75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75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97" grpId="0"/>
      <p:bldP spid="98" grpId="0"/>
      <p:bldP spid="99" grpId="0"/>
      <p:bldP spid="100" grpId="0"/>
      <p:bldP spid="101" grpId="0"/>
      <p:bldP spid="105" grpId="0" autoUpdateAnimBg="0"/>
      <p:bldP spid="109" grpId="0" autoUpdateAnimBg="0"/>
      <p:bldP spid="113" grpId="0" autoUpdateAnimBg="0"/>
      <p:bldP spid="117" grpId="0" autoUpdateAnimBg="0"/>
      <p:bldP spid="118" grpId="0" autoUpdateAnimBg="0"/>
      <p:bldP spid="125" grpId="0" autoUpdateAnimBg="0"/>
      <p:bldP spid="126" grpId="0" animBg="1"/>
      <p:bldP spid="127" grpId="0" autoUpdateAnimBg="0"/>
      <p:bldP spid="1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A8D2B15-DF49-E9C7-0012-5D9429C95BDB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9" name="PA-102232">
              <a:extLst>
                <a:ext uri="{FF2B5EF4-FFF2-40B4-BE49-F238E27FC236}">
                  <a16:creationId xmlns:a16="http://schemas.microsoft.com/office/drawing/2014/main" id="{F7F44848-B920-8236-582E-990369230276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60E2082-E08C-85A0-5C68-5886C98BFC22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CF6A2EDB-30CE-3138-9B97-51B0565D5291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B0A2887D-423E-451F-E5CC-3EDBF17E8D1B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0B75B1EF-D759-BE4E-752A-2E477EEAD58A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250">
            <a:extLst>
              <a:ext uri="{FF2B5EF4-FFF2-40B4-BE49-F238E27FC236}">
                <a16:creationId xmlns:a16="http://schemas.microsoft.com/office/drawing/2014/main" id="{AC4ECCF5-6D94-2A17-25CD-F8505888C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753" y="712675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类似地可定义</a:t>
            </a:r>
          </a:p>
        </p:txBody>
      </p:sp>
      <p:sp>
        <p:nvSpPr>
          <p:cNvPr id="3" name="Text Box 254">
            <a:extLst>
              <a:ext uri="{FF2B5EF4-FFF2-40B4-BE49-F238E27FC236}">
                <a16:creationId xmlns:a16="http://schemas.microsoft.com/office/drawing/2014/main" id="{42C39A45-E90B-7634-1C52-2E765736A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7753" y="5377149"/>
            <a:ext cx="71443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以上两个曲面积分也称为第二类曲面积分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B251A285-2FAD-E7A2-A615-13EDF874A7DD}"/>
                  </a:ext>
                </a:extLst>
              </p:cNvPr>
              <p:cNvSpPr txBox="1"/>
              <p:nvPr/>
            </p:nvSpPr>
            <p:spPr>
              <a:xfrm>
                <a:off x="1967753" y="1307042"/>
                <a:ext cx="8803907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函数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𝑃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在有向曲面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上对坐标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的曲面积分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B251A285-2FAD-E7A2-A615-13EDF874A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53" y="1307042"/>
                <a:ext cx="8803907" cy="431800"/>
              </a:xfrm>
              <a:prstGeom prst="rect">
                <a:avLst/>
              </a:prstGeom>
              <a:blipFill>
                <a:blip r:embed="rId3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B37F000B-639B-2868-D02A-A40BC9F51ABC}"/>
                  </a:ext>
                </a:extLst>
              </p:cNvPr>
              <p:cNvSpPr txBox="1"/>
              <p:nvPr/>
            </p:nvSpPr>
            <p:spPr>
              <a:xfrm>
                <a:off x="1967753" y="3244282"/>
                <a:ext cx="8524240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函数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在有向曲面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上对坐标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的曲面积分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B37F000B-639B-2868-D02A-A40BC9F51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53" y="3244282"/>
                <a:ext cx="8524240" cy="431800"/>
              </a:xfrm>
              <a:prstGeom prst="rect">
                <a:avLst/>
              </a:prstGeom>
              <a:blipFill>
                <a:blip r:embed="rId4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0F1EA11F-F922-610D-86A9-E0D19F945751}"/>
                  </a:ext>
                </a:extLst>
              </p:cNvPr>
              <p:cNvSpPr txBox="1"/>
              <p:nvPr/>
            </p:nvSpPr>
            <p:spPr>
              <a:xfrm>
                <a:off x="1967753" y="1836826"/>
                <a:ext cx="8051800" cy="118906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)​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𝑃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  <a:sym typeface="Symbol" panose="05050102010706020507" pitchFamily="18" charset="2"/>
                                    </a:rPr>
                                    <m:t>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)(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𝑦𝑧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</m:e>
                          </m:nary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0F1EA11F-F922-610D-86A9-E0D19F945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53" y="1836826"/>
                <a:ext cx="8051800" cy="1189061"/>
              </a:xfrm>
              <a:prstGeom prst="rect">
                <a:avLst/>
              </a:prstGeom>
              <a:blipFill>
                <a:blip r:embed="rId5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30F304CB-0103-6099-8581-9FE146638B75}"/>
                  </a:ext>
                </a:extLst>
              </p:cNvPr>
              <p:cNvSpPr txBox="1"/>
              <p:nvPr/>
            </p:nvSpPr>
            <p:spPr>
              <a:xfrm>
                <a:off x="1967753" y="3963129"/>
                <a:ext cx="8685712" cy="118906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𝑄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)​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𝑄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  <a:sym typeface="Symbol" panose="05050102010706020507" pitchFamily="18" charset="2"/>
                                    </a:rPr>
                                    <m:t>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)(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𝑧𝑥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.</m:t>
                              </m:r>
                            </m:e>
                          </m:nary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30F304CB-0103-6099-8581-9FE146638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53" y="3963129"/>
                <a:ext cx="8685712" cy="1189061"/>
              </a:xfrm>
              <a:prstGeom prst="rect">
                <a:avLst/>
              </a:prstGeom>
              <a:blipFill>
                <a:blip r:embed="rId6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803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图文框 20">
            <a:extLst>
              <a:ext uri="{FF2B5EF4-FFF2-40B4-BE49-F238E27FC236}">
                <a16:creationId xmlns:a16="http://schemas.microsoft.com/office/drawing/2014/main" id="{E33AA308-2782-163E-664C-E9AFB8016972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52F828-BB8C-5AE8-285D-0E3231EC50C9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4">
                <a:extLst>
                  <a:ext uri="{FF2B5EF4-FFF2-40B4-BE49-F238E27FC236}">
                    <a16:creationId xmlns:a16="http://schemas.microsoft.com/office/drawing/2014/main" id="{8A2B3E75-303B-F8C8-8AA3-DE608DA227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8529" y="2893480"/>
                <a:ext cx="3810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2</m:t>
                        </m:r>
                      </m:e>
                    </m:d>
                    <m:r>
                      <a:rPr kumimoji="1" lang="en-US" altLang="zh-CN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 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组合形式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3" name="Text Box 4">
                <a:extLst>
                  <a:ext uri="{FF2B5EF4-FFF2-40B4-BE49-F238E27FC236}">
                    <a16:creationId xmlns:a16="http://schemas.microsoft.com/office/drawing/2014/main" id="{8A2B3E75-303B-F8C8-8AA3-DE608DA22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8529" y="2893480"/>
                <a:ext cx="3810000" cy="523220"/>
              </a:xfrm>
              <a:prstGeom prst="rect">
                <a:avLst/>
              </a:prstGeom>
              <a:blipFill>
                <a:blip r:embed="rId2"/>
                <a:stretch>
                  <a:fillRect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1DEDB41B-8C7C-3410-ABCB-2D7BB281E72B}"/>
                  </a:ext>
                </a:extLst>
              </p:cNvPr>
              <p:cNvSpPr txBox="1"/>
              <p:nvPr/>
            </p:nvSpPr>
            <p:spPr>
              <a:xfrm>
                <a:off x="1138529" y="3405901"/>
                <a:ext cx="8624408" cy="120259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1DEDB41B-8C7C-3410-ABCB-2D7BB281E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529" y="3405901"/>
                <a:ext cx="8624408" cy="12025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1F4B3D4D-A109-0D4C-BEF4-A5EBB49A5D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8529" y="1129728"/>
                <a:ext cx="3810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存在条件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1F4B3D4D-A109-0D4C-BEF4-A5EBB49A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8529" y="1129728"/>
                <a:ext cx="3810000" cy="523220"/>
              </a:xfrm>
              <a:prstGeom prst="rect">
                <a:avLst/>
              </a:prstGeom>
              <a:blipFill>
                <a:blip r:embed="rId4"/>
                <a:stretch>
                  <a:fillRect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2EC493D5-0620-D235-AA42-1ACB4E10FCCA}"/>
                  </a:ext>
                </a:extLst>
              </p:cNvPr>
              <p:cNvSpPr txBox="1"/>
              <p:nvPr/>
            </p:nvSpPr>
            <p:spPr>
              <a:xfrm>
                <a:off x="1138529" y="1564068"/>
                <a:ext cx="9302643" cy="132941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𝑃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在有向光滑曲面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上连续时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对坐标的曲面积分存在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2EC493D5-0620-D235-AA42-1ACB4E10F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529" y="1564068"/>
                <a:ext cx="9302643" cy="13294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4E447C24-7253-A4F6-C047-7F16101252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8529" y="4657233"/>
                <a:ext cx="3810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物理意义：</a:t>
                </a:r>
                <a:endParaRPr kumimoji="1" lang="en-US" altLang="zh-CN" sz="2800" dirty="0">
                  <a:solidFill>
                    <a:srgbClr val="04926A"/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4E447C24-7253-A4F6-C047-7F1610125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8529" y="4657233"/>
                <a:ext cx="3810000" cy="523220"/>
              </a:xfrm>
              <a:prstGeom prst="rect">
                <a:avLst/>
              </a:prstGeom>
              <a:blipFill>
                <a:blip r:embed="rId6"/>
                <a:stretch>
                  <a:fillRect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4524AFA4-5ABA-8FAC-0A85-7D20A808E5E6}"/>
                  </a:ext>
                </a:extLst>
              </p:cNvPr>
              <p:cNvSpPr txBox="1"/>
              <p:nvPr/>
            </p:nvSpPr>
            <p:spPr>
              <a:xfrm>
                <a:off x="1138529" y="5197368"/>
                <a:ext cx="10009071" cy="120259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𝜙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4524AFA4-5ABA-8FAC-0A85-7D20A808E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529" y="5197368"/>
                <a:ext cx="10009071" cy="12025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00F9479C-452A-A715-FFD1-65840E389EE9}"/>
              </a:ext>
            </a:extLst>
          </p:cNvPr>
          <p:cNvGrpSpPr/>
          <p:nvPr/>
        </p:nvGrpSpPr>
        <p:grpSpPr>
          <a:xfrm>
            <a:off x="1273000" y="495932"/>
            <a:ext cx="612775" cy="612775"/>
            <a:chOff x="1601" y="872"/>
            <a:chExt cx="965" cy="96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683B749-E447-A031-1E10-CCDE49A58821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62722DC-4441-8FD3-E500-5C9A180F8008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04C0EE3-2ACD-3D57-70BE-6F3D2DCB4382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339866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文框 15">
            <a:extLst>
              <a:ext uri="{FF2B5EF4-FFF2-40B4-BE49-F238E27FC236}">
                <a16:creationId xmlns:a16="http://schemas.microsoft.com/office/drawing/2014/main" id="{3F6C0AC8-8C84-E264-9B77-9F30FDBABF0C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8BB26C-7269-C207-F188-F4CF516B13AE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F1E9EFB1-653D-CFEC-000C-FE8D8B200A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5182" y="883222"/>
                <a:ext cx="2734165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4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向量形式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F1E9EFB1-653D-CFEC-000C-FE8D8B200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5182" y="883222"/>
                <a:ext cx="2734165" cy="519113"/>
              </a:xfrm>
              <a:prstGeom prst="rect">
                <a:avLst/>
              </a:prstGeom>
              <a:blipFill>
                <a:blip r:embed="rId2"/>
                <a:stretch>
                  <a:fillRect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>
                <a:extLst>
                  <a:ext uri="{FF2B5EF4-FFF2-40B4-BE49-F238E27FC236}">
                    <a16:creationId xmlns:a16="http://schemas.microsoft.com/office/drawing/2014/main" id="{F2F61C91-454A-3AA4-4532-BC69DCE995AB}"/>
                  </a:ext>
                </a:extLst>
              </p:cNvPr>
              <p:cNvSpPr txBox="1"/>
              <p:nvPr/>
            </p:nvSpPr>
            <p:spPr>
              <a:xfrm>
                <a:off x="3838307" y="4687176"/>
                <a:ext cx="2093780" cy="120316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kumimoji="1" lang="en-US" altLang="zh-CN" sz="280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A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𝑺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对象 2">
                <a:extLst>
                  <a:ext uri="{FF2B5EF4-FFF2-40B4-BE49-F238E27FC236}">
                    <a16:creationId xmlns:a16="http://schemas.microsoft.com/office/drawing/2014/main" id="{F2F61C91-454A-3AA4-4532-BC69DCE99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307" y="4687176"/>
                <a:ext cx="2093780" cy="1203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4107907F-3170-1459-EEF8-06826AF18A36}"/>
                  </a:ext>
                </a:extLst>
              </p:cNvPr>
              <p:cNvSpPr txBox="1"/>
              <p:nvPr/>
            </p:nvSpPr>
            <p:spPr>
              <a:xfrm>
                <a:off x="2380929" y="2791890"/>
                <a:ext cx="8296768" cy="174637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记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𝛼</m:t>
                              </m:r>
                            </m:e>
                          </m:func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𝛽</m:t>
                              </m:r>
                            </m:e>
                          </m:func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𝛾</m:t>
                              </m:r>
                            </m:e>
                          </m:func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为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正侧的单位法向量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𝑺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=(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,​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CN" sz="280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A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)).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4107907F-3170-1459-EEF8-06826AF18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929" y="2791890"/>
                <a:ext cx="8296768" cy="17463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93A10C0E-D24C-C01D-C6D9-C3FF1BAEA18F}"/>
                  </a:ext>
                </a:extLst>
              </p:cNvPr>
              <p:cNvSpPr txBox="1"/>
              <p:nvPr/>
            </p:nvSpPr>
            <p:spPr>
              <a:xfrm>
                <a:off x="1657082" y="1494838"/>
                <a:ext cx="8045263" cy="128324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93A10C0E-D24C-C01D-C6D9-C3FF1BAEA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082" y="1494838"/>
                <a:ext cx="8045263" cy="12832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9583AA75-141D-402D-5A4F-67058ECB5E82}"/>
                  </a:ext>
                </a:extLst>
              </p:cNvPr>
              <p:cNvSpPr txBox="1"/>
              <p:nvPr/>
            </p:nvSpPr>
            <p:spPr>
              <a:xfrm>
                <a:off x="1695182" y="4687177"/>
                <a:ext cx="2038510" cy="128324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kumimoji="1" lang="en-US" altLang="zh-CN" sz="280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A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⋅</m:t>
                          </m:r>
                          <m: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9583AA75-141D-402D-5A4F-67058ECB5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182" y="4687177"/>
                <a:ext cx="2038510" cy="1283248"/>
              </a:xfrm>
              <a:prstGeom prst="rect">
                <a:avLst/>
              </a:prstGeom>
              <a:blipFill>
                <a:blip r:embed="rId6"/>
                <a:stretch>
                  <a:fillRect r="-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F30C9A7-8EBF-EFB7-D64E-BDDEF60B0302}"/>
              </a:ext>
            </a:extLst>
          </p:cNvPr>
          <p:cNvCxnSpPr/>
          <p:nvPr/>
        </p:nvCxnSpPr>
        <p:spPr>
          <a:xfrm>
            <a:off x="1900216" y="2810840"/>
            <a:ext cx="0" cy="19901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98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04508FC-CDFC-BBDA-A5AB-A226137B0E11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文框 8">
            <a:extLst>
              <a:ext uri="{FF2B5EF4-FFF2-40B4-BE49-F238E27FC236}">
                <a16:creationId xmlns:a16="http://schemas.microsoft.com/office/drawing/2014/main" id="{A69A0642-1BDC-2837-0827-06999C1E658C}"/>
              </a:ext>
            </a:extLst>
          </p:cNvPr>
          <p:cNvSpPr/>
          <p:nvPr/>
        </p:nvSpPr>
        <p:spPr>
          <a:xfrm rot="5400000">
            <a:off x="2705095" y="-2639698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图文框 6">
            <a:extLst>
              <a:ext uri="{FF2B5EF4-FFF2-40B4-BE49-F238E27FC236}">
                <a16:creationId xmlns:a16="http://schemas.microsoft.com/office/drawing/2014/main" id="{E8186A62-B03B-6F0D-B7B9-AEFC0B0EE5D7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8C0E90-32DA-5D10-F605-01ED948A0323}"/>
              </a:ext>
            </a:extLst>
          </p:cNvPr>
          <p:cNvSpPr txBox="1"/>
          <p:nvPr/>
        </p:nvSpPr>
        <p:spPr bwMode="auto">
          <a:xfrm>
            <a:off x="1371928" y="432679"/>
            <a:ext cx="1356462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性质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2DF22F93-8604-13F8-C4E6-2C97070C6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658" y="5783526"/>
            <a:ext cx="7104797" cy="57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对坐标的曲面积分必须注意积分曲面的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侧！</a:t>
            </a:r>
            <a:endParaRPr kumimoji="1" lang="en-US" altLang="zh-CN" sz="2800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1419868E-42FA-2E7F-CAE6-3B1BF9C1CB2B}"/>
                  </a:ext>
                </a:extLst>
              </p:cNvPr>
              <p:cNvSpPr txBox="1"/>
              <p:nvPr/>
            </p:nvSpPr>
            <p:spPr>
              <a:xfrm>
                <a:off x="1954577" y="1424132"/>
                <a:ext cx="5066881" cy="143338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en-US" altLang="zh-CN" sz="28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en-US" altLang="zh-CN" sz="28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1419868E-42FA-2E7F-CAE6-3B1BF9C1C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577" y="1424132"/>
                <a:ext cx="5066881" cy="1433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5">
                <a:extLst>
                  <a:ext uri="{FF2B5EF4-FFF2-40B4-BE49-F238E27FC236}">
                    <a16:creationId xmlns:a16="http://schemas.microsoft.com/office/drawing/2014/main" id="{87D9EFF4-34A0-88AC-88C0-7D234B4C3492}"/>
                  </a:ext>
                </a:extLst>
              </p:cNvPr>
              <p:cNvSpPr txBox="1"/>
              <p:nvPr/>
            </p:nvSpPr>
            <p:spPr>
              <a:xfrm>
                <a:off x="1808325" y="2726715"/>
                <a:ext cx="9723623" cy="143338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en-US" altLang="zh-CN" sz="28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en-US" altLang="zh-CN" sz="28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对象 5">
                <a:extLst>
                  <a:ext uri="{FF2B5EF4-FFF2-40B4-BE49-F238E27FC236}">
                    <a16:creationId xmlns:a16="http://schemas.microsoft.com/office/drawing/2014/main" id="{87D9EFF4-34A0-88AC-88C0-7D234B4C3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325" y="2726715"/>
                <a:ext cx="9723623" cy="14333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5">
                <a:extLst>
                  <a:ext uri="{FF2B5EF4-FFF2-40B4-BE49-F238E27FC236}">
                    <a16:creationId xmlns:a16="http://schemas.microsoft.com/office/drawing/2014/main" id="{30EA5CAB-635B-F25C-F6C2-D374EA3F0449}"/>
                  </a:ext>
                </a:extLst>
              </p:cNvPr>
              <p:cNvSpPr txBox="1"/>
              <p:nvPr/>
            </p:nvSpPr>
            <p:spPr>
              <a:xfrm>
                <a:off x="1808325" y="4471516"/>
                <a:ext cx="9871760" cy="143338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p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对象 5">
                <a:extLst>
                  <a:ext uri="{FF2B5EF4-FFF2-40B4-BE49-F238E27FC236}">
                    <a16:creationId xmlns:a16="http://schemas.microsoft.com/office/drawing/2014/main" id="{30EA5CAB-635B-F25C-F6C2-D374EA3F0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325" y="4471516"/>
                <a:ext cx="9871760" cy="14333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4216016F-A15F-B514-772D-D114DAB93E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6083" y="900912"/>
                <a:ext cx="2000719" cy="5710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可加性</a:t>
                </a:r>
                <a:endParaRPr kumimoji="1" lang="en-US" altLang="zh-CN" sz="2800" dirty="0">
                  <a:solidFill>
                    <a:srgbClr val="04926A"/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4216016F-A15F-B514-772D-D114DAB93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6083" y="900912"/>
                <a:ext cx="2000719" cy="571024"/>
              </a:xfrm>
              <a:prstGeom prst="rect">
                <a:avLst/>
              </a:prstGeom>
              <a:blipFill>
                <a:blip r:embed="rId5"/>
                <a:stretch>
                  <a:fillRect t="-15054" r="-915" b="-182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B3FFF15B-FE03-984D-60E4-5CA4859563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6083" y="3986001"/>
                <a:ext cx="2000719" cy="5710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变号性</a:t>
                </a:r>
                <a:endParaRPr kumimoji="1" lang="en-US" altLang="zh-CN" sz="2800" dirty="0">
                  <a:solidFill>
                    <a:srgbClr val="04926A"/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B3FFF15B-FE03-984D-60E4-5CA485956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6083" y="3986001"/>
                <a:ext cx="2000719" cy="571024"/>
              </a:xfrm>
              <a:prstGeom prst="rect">
                <a:avLst/>
              </a:prstGeom>
              <a:blipFill>
                <a:blip r:embed="rId6"/>
                <a:stretch>
                  <a:fillRect t="-14894" r="-915" b="-170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1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utoUpdateAnimBg="0"/>
      <p:bldP spid="6" grpId="0"/>
      <p:bldP spid="10" grpId="0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74">
            <a:extLst>
              <a:ext uri="{FF2B5EF4-FFF2-40B4-BE49-F238E27FC236}">
                <a16:creationId xmlns:a16="http://schemas.microsoft.com/office/drawing/2014/main" id="{67EBB683-A56C-BCD2-064A-FFE16387F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299" y="3964911"/>
            <a:ext cx="8995441" cy="1993560"/>
          </a:xfrm>
          <a:prstGeom prst="rect">
            <a:avLst/>
          </a:prstGeom>
          <a:solidFill>
            <a:srgbClr val="04926A">
              <a:alpha val="42000"/>
            </a:srgbClr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9E67734-CCF0-84B1-772C-9E633267A535}"/>
              </a:ext>
            </a:extLst>
          </p:cNvPr>
          <p:cNvSpPr txBox="1">
            <a:spLocks noChangeArrowheads="1"/>
          </p:cNvSpPr>
          <p:nvPr/>
        </p:nvSpPr>
        <p:spPr>
          <a:xfrm>
            <a:off x="1003299" y="642680"/>
            <a:ext cx="6391275" cy="6349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三、对坐标的曲面积分的计算法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7B06C2DA-14D6-A6B8-6660-D9A486E698C2}"/>
                  </a:ext>
                </a:extLst>
              </p:cNvPr>
              <p:cNvSpPr txBox="1"/>
              <p:nvPr/>
            </p:nvSpPr>
            <p:spPr>
              <a:xfrm>
                <a:off x="6100578" y="1423055"/>
                <a:ext cx="5105244" cy="51737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所给出的有向曲面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7B06C2DA-14D6-A6B8-6660-D9A486E69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578" y="1423055"/>
                <a:ext cx="5105244" cy="5173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452A5EA7-9041-F23A-47E1-324E542798B6}"/>
                  </a:ext>
                </a:extLst>
              </p:cNvPr>
              <p:cNvSpPr txBox="1"/>
              <p:nvPr/>
            </p:nvSpPr>
            <p:spPr>
              <a:xfrm>
                <a:off x="6619109" y="2071262"/>
                <a:ext cx="4933950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若函数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上连续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452A5EA7-9041-F23A-47E1-324E54279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109" y="2071262"/>
                <a:ext cx="4933950" cy="431800"/>
              </a:xfrm>
              <a:prstGeom prst="rect">
                <a:avLst/>
              </a:prstGeom>
              <a:blipFill>
                <a:blip r:embed="rId3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8D88F99C-C612-B087-C647-928CA0A437DB}"/>
                  </a:ext>
                </a:extLst>
              </p:cNvPr>
              <p:cNvSpPr txBox="1"/>
              <p:nvPr/>
            </p:nvSpPr>
            <p:spPr>
              <a:xfrm>
                <a:off x="1774981" y="2579869"/>
                <a:ext cx="6384769" cy="120078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则曲面积分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存在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且有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8D88F99C-C612-B087-C647-928CA0A43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981" y="2579869"/>
                <a:ext cx="6384769" cy="1200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C5A7F4B1-25BC-DC58-C212-1E7677A6BD7F}"/>
                  </a:ext>
                </a:extLst>
              </p:cNvPr>
              <p:cNvSpPr txBox="1"/>
              <p:nvPr/>
            </p:nvSpPr>
            <p:spPr>
              <a:xfrm>
                <a:off x="2795986" y="4003174"/>
                <a:ext cx="7241688" cy="124636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=±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)]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C5A7F4B1-25BC-DC58-C212-1E7677A6B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986" y="4003174"/>
                <a:ext cx="7241688" cy="1246363"/>
              </a:xfrm>
              <a:prstGeom prst="rect">
                <a:avLst/>
              </a:prstGeom>
              <a:blipFill>
                <a:blip r:embed="rId6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1524C359-9088-55E7-C651-094E90CE28DB}"/>
                  </a:ext>
                </a:extLst>
              </p:cNvPr>
              <p:cNvSpPr txBox="1"/>
              <p:nvPr/>
            </p:nvSpPr>
            <p:spPr>
              <a:xfrm>
                <a:off x="1774981" y="2088078"/>
                <a:ext cx="5196568" cy="495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𝑥𝑂𝑦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面上的投影区域为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1524C359-9088-55E7-C651-094E90CE2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981" y="2088078"/>
                <a:ext cx="5196568" cy="495300"/>
              </a:xfrm>
              <a:prstGeom prst="rect">
                <a:avLst/>
              </a:prstGeom>
              <a:blipFill>
                <a:blip r:embed="rId7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A685DAC3-0D3F-46B5-7891-E229FF858A5D}"/>
                  </a:ext>
                </a:extLst>
              </p:cNvPr>
              <p:cNvSpPr txBox="1"/>
              <p:nvPr/>
            </p:nvSpPr>
            <p:spPr>
              <a:xfrm>
                <a:off x="3655200" y="5316375"/>
                <a:ext cx="5523261" cy="57176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为上侧取正号</m:t>
                      </m:r>
                      <m:r>
                        <a:rPr kumimoji="1" lang="zh-CN" altLang="en-US" sz="2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为下侧取负号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A685DAC3-0D3F-46B5-7891-E229FF858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200" y="5316375"/>
                <a:ext cx="5523261" cy="5717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6DF070C1-1A44-2C12-E50E-5B7AD950BDCC}"/>
              </a:ext>
            </a:extLst>
          </p:cNvPr>
          <p:cNvGrpSpPr/>
          <p:nvPr/>
        </p:nvGrpSpPr>
        <p:grpSpPr>
          <a:xfrm>
            <a:off x="1840978" y="1503000"/>
            <a:ext cx="4703445" cy="449580"/>
            <a:chOff x="1553" y="3802"/>
            <a:chExt cx="7407" cy="708"/>
          </a:xfrm>
        </p:grpSpPr>
        <p:sp>
          <p:nvSpPr>
            <p:cNvPr id="12" name="圆角矩形 21">
              <a:extLst>
                <a:ext uri="{FF2B5EF4-FFF2-40B4-BE49-F238E27FC236}">
                  <a16:creationId xmlns:a16="http://schemas.microsoft.com/office/drawing/2014/main" id="{29BFF1EE-B0D0-DDF1-49AD-53677ECFD810}"/>
                </a:ext>
              </a:extLst>
            </p:cNvPr>
            <p:cNvSpPr/>
            <p:nvPr/>
          </p:nvSpPr>
          <p:spPr>
            <a:xfrm>
              <a:off x="1553" y="3803"/>
              <a:ext cx="13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28">
                  <a:extLst>
                    <a:ext uri="{FF2B5EF4-FFF2-40B4-BE49-F238E27FC236}">
                      <a16:creationId xmlns:a16="http://schemas.microsoft.com/office/drawing/2014/main" id="{5C74CEBD-006B-B724-08A7-B28365F02D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0" y="3802"/>
                  <a:ext cx="7310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bIns="0">
                  <a:spAutoFit/>
                </a:bodyPr>
                <a:lstStyle>
                  <a:lvl1pPr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defRPr/>
                  </a:pPr>
                  <a:r>
                    <a:rPr kumimoji="1" lang="zh-CN" altLang="en-US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定理 </a:t>
                  </a:r>
                  <a:r>
                    <a:rPr kumimoji="1" lang="zh-CN" altLang="en-US" sz="2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 Math" panose="02040503050406030204" charset="0"/>
                      <a:ea typeface="黑体" panose="02010609060101010101" pitchFamily="49" charset="-122"/>
                    </a:rPr>
                    <a:t>设光滑曲面</a:t>
                  </a:r>
                  <a14:m>
                    <m:oMath xmlns:m="http://schemas.openxmlformats.org/officeDocument/2006/math">
                      <m:r>
                        <a:rPr kumimoji="1" lang="zh-CN" altLang="en-US" sz="28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</m:oMath>
                  </a14:m>
                  <a:r>
                    <a:rPr kumimoji="1" lang="zh-CN" altLang="en-US" sz="2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 Math" panose="02040503050406030204" charset="0"/>
                      <a:ea typeface="黑体" panose="02010609060101010101" pitchFamily="49" charset="-122"/>
                      <a:sym typeface="Symbol" panose="05050102010706020507" pitchFamily="18" charset="2"/>
                    </a:rPr>
                    <a:t>是</a:t>
                  </a:r>
                  <a:r>
                    <a:rPr kumimoji="1" lang="zh-CN" altLang="en-US" sz="2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 Math" panose="02040503050406030204" charset="0"/>
                      <a:ea typeface="黑体" panose="02010609060101010101" pitchFamily="49" charset="-122"/>
                    </a:rPr>
                    <a:t>由方程</a:t>
                  </a:r>
                  <a:endParaRPr kumimoji="1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charset="-122"/>
                  </a:endParaRPr>
                </a:p>
              </p:txBody>
            </p:sp>
          </mc:Choice>
          <mc:Fallback xmlns="">
            <p:sp>
              <p:nvSpPr>
                <p:cNvPr id="13" name="Text Box 28">
                  <a:extLst>
                    <a:ext uri="{FF2B5EF4-FFF2-40B4-BE49-F238E27FC236}">
                      <a16:creationId xmlns:a16="http://schemas.microsoft.com/office/drawing/2014/main" id="{5C74CEBD-006B-B724-08A7-B28365F02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50" y="3802"/>
                  <a:ext cx="7310" cy="679"/>
                </a:xfrm>
                <a:prstGeom prst="rect">
                  <a:avLst/>
                </a:prstGeom>
                <a:blipFill>
                  <a:blip r:embed="rId9"/>
                  <a:stretch>
                    <a:fillRect l="-4593" t="-30000" b="-5142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5925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07048AE-0B47-8150-0BBC-9138DD5E4C40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07048AE-0B47-8150-0BBC-9138DD5E4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半闭框 34">
            <a:extLst>
              <a:ext uri="{FF2B5EF4-FFF2-40B4-BE49-F238E27FC236}">
                <a16:creationId xmlns:a16="http://schemas.microsoft.com/office/drawing/2014/main" id="{C588C791-573C-CDC6-9CCF-232AB39AA400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半闭框 35">
            <a:extLst>
              <a:ext uri="{FF2B5EF4-FFF2-40B4-BE49-F238E27FC236}">
                <a16:creationId xmlns:a16="http://schemas.microsoft.com/office/drawing/2014/main" id="{7C6F8DA5-5F45-0013-76CF-71A326852614}"/>
              </a:ext>
            </a:extLst>
          </p:cNvPr>
          <p:cNvSpPr/>
          <p:nvPr/>
        </p:nvSpPr>
        <p:spPr>
          <a:xfrm flipH="1">
            <a:off x="10822895" y="53626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半闭框 36">
            <a:extLst>
              <a:ext uri="{FF2B5EF4-FFF2-40B4-BE49-F238E27FC236}">
                <a16:creationId xmlns:a16="http://schemas.microsoft.com/office/drawing/2014/main" id="{97232838-0B61-404C-40A4-89FB42F99D49}"/>
              </a:ext>
            </a:extLst>
          </p:cNvPr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8" name="半闭框 37">
            <a:extLst>
              <a:ext uri="{FF2B5EF4-FFF2-40B4-BE49-F238E27FC236}">
                <a16:creationId xmlns:a16="http://schemas.microsoft.com/office/drawing/2014/main" id="{253D2914-4261-723B-D096-29D9CD65776E}"/>
              </a:ext>
            </a:extLst>
          </p:cNvPr>
          <p:cNvSpPr/>
          <p:nvPr/>
        </p:nvSpPr>
        <p:spPr>
          <a:xfrm flipH="1" flipV="1">
            <a:off x="10823530" y="5647881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330">
            <a:extLst>
              <a:ext uri="{FF2B5EF4-FFF2-40B4-BE49-F238E27FC236}">
                <a16:creationId xmlns:a16="http://schemas.microsoft.com/office/drawing/2014/main" id="{20D32928-4100-AF1A-84C5-56B54C816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915" y="605769"/>
            <a:ext cx="108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9">
                <a:extLst>
                  <a:ext uri="{FF2B5EF4-FFF2-40B4-BE49-F238E27FC236}">
                    <a16:creationId xmlns:a16="http://schemas.microsoft.com/office/drawing/2014/main" id="{7D252C02-3697-9592-67D7-1B95969F2048}"/>
                  </a:ext>
                </a:extLst>
              </p:cNvPr>
              <p:cNvSpPr txBox="1"/>
              <p:nvPr/>
            </p:nvSpPr>
            <p:spPr bwMode="auto">
              <a:xfrm>
                <a:off x="2658514" y="1673893"/>
                <a:ext cx="6183861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)​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2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200" i="1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  <a:sym typeface="Symbol" panose="05050102010706020507" pitchFamily="18" charset="2"/>
                                    </a:rPr>
                                    <m:t>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)(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𝑥𝑦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9">
                <a:extLst>
                  <a:ext uri="{FF2B5EF4-FFF2-40B4-BE49-F238E27FC236}">
                    <a16:creationId xmlns:a16="http://schemas.microsoft.com/office/drawing/2014/main" id="{7D252C02-3697-9592-67D7-1B95969F2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8514" y="1673893"/>
                <a:ext cx="6183861" cy="965200"/>
              </a:xfrm>
              <a:prstGeom prst="rect">
                <a:avLst/>
              </a:prstGeom>
              <a:blipFill>
                <a:blip r:embed="rId3"/>
                <a:stretch>
                  <a:fillRect b="-25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4D01D0CA-0EA9-C186-B07F-79DAF61B0A7C}"/>
                  </a:ext>
                </a:extLst>
              </p:cNvPr>
              <p:cNvSpPr txBox="1"/>
              <p:nvPr/>
            </p:nvSpPr>
            <p:spPr>
              <a:xfrm>
                <a:off x="2658514" y="2750981"/>
                <a:ext cx="4438881" cy="9814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  <a:sym typeface="Symbol" panose="05050102010706020507" pitchFamily="18" charset="2"/>
                                </a:rPr>
                                <m:t>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)](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​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4D01D0CA-0EA9-C186-B07F-79DAF61B0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514" y="2750981"/>
                <a:ext cx="4438881" cy="9814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1A62385D-7136-A63C-ECE3-3EF840D5FFFC}"/>
                  </a:ext>
                </a:extLst>
              </p:cNvPr>
              <p:cNvSpPr txBox="1"/>
              <p:nvPr/>
            </p:nvSpPr>
            <p:spPr>
              <a:xfrm>
                <a:off x="2658514" y="3741745"/>
                <a:ext cx="3288260" cy="103581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)]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1A62385D-7136-A63C-ECE3-3EF840D5F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514" y="3741745"/>
                <a:ext cx="3288260" cy="10358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BE8666FA-C657-5044-A6DD-57A84B990A5E}"/>
                  </a:ext>
                </a:extLst>
              </p:cNvPr>
              <p:cNvSpPr txBox="1"/>
              <p:nvPr/>
            </p:nvSpPr>
            <p:spPr>
              <a:xfrm>
                <a:off x="2658514" y="624819"/>
                <a:ext cx="3446462" cy="4191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∵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取上侧时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cos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𝛾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&gt; 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BE8666FA-C657-5044-A6DD-57A84B990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514" y="624819"/>
                <a:ext cx="3446462" cy="419100"/>
              </a:xfrm>
              <a:prstGeom prst="rect">
                <a:avLst/>
              </a:prstGeom>
              <a:blipFill>
                <a:blip r:embed="rId6"/>
                <a:stretch>
                  <a:fillRect b="-15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D62EFAE5-6863-BBE3-77BF-9DCB74BB0241}"/>
                  </a:ext>
                </a:extLst>
              </p:cNvPr>
              <p:cNvSpPr txBox="1"/>
              <p:nvPr/>
            </p:nvSpPr>
            <p:spPr>
              <a:xfrm>
                <a:off x="6073077" y="616053"/>
                <a:ext cx="3187700" cy="4826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</m:t>
                      </m:r>
                      <m:r>
                        <a:rPr kumimoji="1" lang="zh-CN" altLang="en-US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=(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D62EFAE5-6863-BBE3-77BF-9DCB74BB0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077" y="616053"/>
                <a:ext cx="3187700" cy="482600"/>
              </a:xfrm>
              <a:prstGeom prst="rect">
                <a:avLst/>
              </a:prstGeom>
              <a:blipFill>
                <a:blip r:embed="rId7"/>
                <a:stretch>
                  <a:fillRect b="-5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8388B289-09A2-246B-CF29-F604448C79D6}"/>
                  </a:ext>
                </a:extLst>
              </p:cNvPr>
              <p:cNvSpPr txBox="1"/>
              <p:nvPr/>
            </p:nvSpPr>
            <p:spPr>
              <a:xfrm>
                <a:off x="2658514" y="1205844"/>
                <a:ext cx="5890063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又因为</m:t>
                      </m:r>
                      <m:d>
                        <m:dPr>
                          <m:ctrlPr>
                            <a:rPr kumimoji="1" lang="zh-CN" altLang="en-US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  <a:sym typeface="Symbol" panose="05050102010706020507" pitchFamily="18" charset="2"/>
                                </a:rPr>
                                <m:t>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是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上的一点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故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8388B289-09A2-246B-CF29-F604448C7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514" y="1205844"/>
                <a:ext cx="5890063" cy="444500"/>
              </a:xfrm>
              <a:prstGeom prst="rect">
                <a:avLst/>
              </a:prstGeom>
              <a:blipFill>
                <a:blip r:embed="rId8"/>
                <a:stretch>
                  <a:fillRect l="-725" b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9872471-069E-1CDF-B681-F222E7AC0CA6}"/>
                  </a:ext>
                </a:extLst>
              </p:cNvPr>
              <p:cNvSpPr txBox="1"/>
              <p:nvPr/>
            </p:nvSpPr>
            <p:spPr bwMode="auto">
              <a:xfrm>
                <a:off x="2658514" y="4796083"/>
                <a:ext cx="806631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同理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9872471-069E-1CDF-B681-F222E7AC0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8514" y="4796083"/>
                <a:ext cx="806631" cy="430887"/>
              </a:xfrm>
              <a:prstGeom prst="rect">
                <a:avLst/>
              </a:prstGeom>
              <a:blipFill>
                <a:blip r:embed="rId9"/>
                <a:stretch>
                  <a:fillRect l="-9848" t="-14286" r="-2273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>
                <a:extLst>
                  <a:ext uri="{FF2B5EF4-FFF2-40B4-BE49-F238E27FC236}">
                    <a16:creationId xmlns:a16="http://schemas.microsoft.com/office/drawing/2014/main" id="{ADCD2D2A-49DC-9C14-3211-8FA0BA3A6F46}"/>
                  </a:ext>
                </a:extLst>
              </p:cNvPr>
              <p:cNvSpPr txBox="1"/>
              <p:nvPr/>
            </p:nvSpPr>
            <p:spPr>
              <a:xfrm>
                <a:off x="3361776" y="4795650"/>
                <a:ext cx="2309895" cy="393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取下侧时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有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对象 10">
                <a:extLst>
                  <a:ext uri="{FF2B5EF4-FFF2-40B4-BE49-F238E27FC236}">
                    <a16:creationId xmlns:a16="http://schemas.microsoft.com/office/drawing/2014/main" id="{ADCD2D2A-49DC-9C14-3211-8FA0BA3A6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776" y="4795650"/>
                <a:ext cx="2309895" cy="393700"/>
              </a:xfrm>
              <a:prstGeom prst="rect">
                <a:avLst/>
              </a:prstGeom>
              <a:blipFill>
                <a:blip r:embed="rId10"/>
                <a:stretch>
                  <a:fillRect l="-1583" b="-23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extLst>
                  <a:ext uri="{FF2B5EF4-FFF2-40B4-BE49-F238E27FC236}">
                    <a16:creationId xmlns:a16="http://schemas.microsoft.com/office/drawing/2014/main" id="{9A0BD35A-A4BB-5566-CC6F-8B43D54B3C35}"/>
                  </a:ext>
                </a:extLst>
              </p:cNvPr>
              <p:cNvSpPr txBox="1"/>
              <p:nvPr/>
            </p:nvSpPr>
            <p:spPr>
              <a:xfrm>
                <a:off x="2658514" y="5236794"/>
                <a:ext cx="6502400" cy="103581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=−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)]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对象 11">
                <a:extLst>
                  <a:ext uri="{FF2B5EF4-FFF2-40B4-BE49-F238E27FC236}">
                    <a16:creationId xmlns:a16="http://schemas.microsoft.com/office/drawing/2014/main" id="{9A0BD35A-A4BB-5566-CC6F-8B43D54B3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514" y="5236794"/>
                <a:ext cx="6502400" cy="103581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CF3F128D-B74D-8159-E88B-19DD95CA4F21}"/>
              </a:ext>
            </a:extLst>
          </p:cNvPr>
          <p:cNvGrpSpPr/>
          <p:nvPr/>
        </p:nvGrpSpPr>
        <p:grpSpPr>
          <a:xfrm>
            <a:off x="9389569" y="5574565"/>
            <a:ext cx="716209" cy="360271"/>
            <a:chOff x="1553" y="3803"/>
            <a:chExt cx="1165" cy="579"/>
          </a:xfrm>
        </p:grpSpPr>
        <p:sp>
          <p:nvSpPr>
            <p:cNvPr id="13" name="圆角矩形 21">
              <a:extLst>
                <a:ext uri="{FF2B5EF4-FFF2-40B4-BE49-F238E27FC236}">
                  <a16:creationId xmlns:a16="http://schemas.microsoft.com/office/drawing/2014/main" id="{7B46C621-393A-3C50-0AC0-8C6AC1EDF43A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Text Box 28">
              <a:extLst>
                <a:ext uri="{FF2B5EF4-FFF2-40B4-BE49-F238E27FC236}">
                  <a16:creationId xmlns:a16="http://schemas.microsoft.com/office/drawing/2014/main" id="{DFEF2A47-B98E-5E7C-FE03-E04C80472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824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EE1D9D96-624B-4F80-DC41-9F71CA595F92}"/>
                  </a:ext>
                </a:extLst>
              </p:cNvPr>
              <p:cNvSpPr txBox="1"/>
              <p:nvPr/>
            </p:nvSpPr>
            <p:spPr bwMode="auto">
              <a:xfrm>
                <a:off x="1632601" y="988616"/>
                <a:ext cx="7150707" cy="559562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若曲面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)∈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则有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EE1D9D96-624B-4F80-DC41-9F71CA595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2601" y="988616"/>
                <a:ext cx="7150707" cy="5595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1F25FED0-8708-F70A-E480-23936DA03EF3}"/>
              </a:ext>
            </a:extLst>
          </p:cNvPr>
          <p:cNvSpPr txBox="1"/>
          <p:nvPr/>
        </p:nvSpPr>
        <p:spPr bwMode="auto">
          <a:xfrm>
            <a:off x="1531001" y="439996"/>
            <a:ext cx="68579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同理可证其他情形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于是得到如下计算方法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24C60186-8B3E-EFF9-75C4-ED72C6FEC959}"/>
                  </a:ext>
                </a:extLst>
              </p:cNvPr>
              <p:cNvSpPr txBox="1"/>
              <p:nvPr/>
            </p:nvSpPr>
            <p:spPr bwMode="auto">
              <a:xfrm>
                <a:off x="1632601" y="4686129"/>
                <a:ext cx="7150705" cy="559562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若曲面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)∈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则有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24C60186-8B3E-EFF9-75C4-ED72C6FEC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2601" y="4686129"/>
                <a:ext cx="7150705" cy="5595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34B2B124-3085-5AF6-86F0-129E386C3445}"/>
                  </a:ext>
                </a:extLst>
              </p:cNvPr>
              <p:cNvSpPr txBox="1"/>
              <p:nvPr/>
            </p:nvSpPr>
            <p:spPr bwMode="auto">
              <a:xfrm>
                <a:off x="1632601" y="2858992"/>
                <a:ext cx="7150706" cy="559563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若曲面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)∈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则有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34B2B124-3085-5AF6-86F0-129E386C3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2601" y="2858992"/>
                <a:ext cx="7150706" cy="5595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55">
            <a:extLst>
              <a:ext uri="{FF2B5EF4-FFF2-40B4-BE49-F238E27FC236}">
                <a16:creationId xmlns:a16="http://schemas.microsoft.com/office/drawing/2014/main" id="{0177B769-6686-A2CE-9C7E-BE5581742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9507" y="3531257"/>
            <a:ext cx="190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前正后负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0" name="Text Box 55">
            <a:extLst>
              <a:ext uri="{FF2B5EF4-FFF2-40B4-BE49-F238E27FC236}">
                <a16:creationId xmlns:a16="http://schemas.microsoft.com/office/drawing/2014/main" id="{305A4B2A-9800-C45B-17A0-96F51AF7B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9507" y="5396980"/>
            <a:ext cx="190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右正左负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1" name="Text Box 55">
            <a:extLst>
              <a:ext uri="{FF2B5EF4-FFF2-40B4-BE49-F238E27FC236}">
                <a16:creationId xmlns:a16="http://schemas.microsoft.com/office/drawing/2014/main" id="{3EF11C9C-AA5E-F90E-5CD2-0659C1326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9507" y="1687557"/>
            <a:ext cx="190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上正下负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extLst>
                  <a:ext uri="{FF2B5EF4-FFF2-40B4-BE49-F238E27FC236}">
                    <a16:creationId xmlns:a16="http://schemas.microsoft.com/office/drawing/2014/main" id="{EDFD21A3-1D9B-8AB5-E6D5-F08C06900BCD}"/>
                  </a:ext>
                </a:extLst>
              </p:cNvPr>
              <p:cNvSpPr txBox="1"/>
              <p:nvPr/>
            </p:nvSpPr>
            <p:spPr>
              <a:xfrm>
                <a:off x="1632601" y="1446138"/>
                <a:ext cx="7150705" cy="128629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0" i="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±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)]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对象 11">
                <a:extLst>
                  <a:ext uri="{FF2B5EF4-FFF2-40B4-BE49-F238E27FC236}">
                    <a16:creationId xmlns:a16="http://schemas.microsoft.com/office/drawing/2014/main" id="{EDFD21A3-1D9B-8AB5-E6D5-F08C06900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601" y="1446138"/>
                <a:ext cx="7150705" cy="12862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1">
                <a:extLst>
                  <a:ext uri="{FF2B5EF4-FFF2-40B4-BE49-F238E27FC236}">
                    <a16:creationId xmlns:a16="http://schemas.microsoft.com/office/drawing/2014/main" id="{0C38B865-907B-AE60-F68D-9989BA4B3C3E}"/>
                  </a:ext>
                </a:extLst>
              </p:cNvPr>
              <p:cNvSpPr txBox="1"/>
              <p:nvPr/>
            </p:nvSpPr>
            <p:spPr>
              <a:xfrm>
                <a:off x="1632601" y="3307475"/>
                <a:ext cx="7226906" cy="128629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0" i="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±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]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对象 11">
                <a:extLst>
                  <a:ext uri="{FF2B5EF4-FFF2-40B4-BE49-F238E27FC236}">
                    <a16:creationId xmlns:a16="http://schemas.microsoft.com/office/drawing/2014/main" id="{0C38B865-907B-AE60-F68D-9989BA4B3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601" y="3307475"/>
                <a:ext cx="7226906" cy="12862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1">
                <a:extLst>
                  <a:ext uri="{FF2B5EF4-FFF2-40B4-BE49-F238E27FC236}">
                    <a16:creationId xmlns:a16="http://schemas.microsoft.com/office/drawing/2014/main" id="{F11C3658-849B-6DFB-386F-DE66A04F1CC9}"/>
                  </a:ext>
                </a:extLst>
              </p:cNvPr>
              <p:cNvSpPr txBox="1"/>
              <p:nvPr/>
            </p:nvSpPr>
            <p:spPr>
              <a:xfrm>
                <a:off x="1632601" y="5151163"/>
                <a:ext cx="7226906" cy="128629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𝑄</m:t>
                          </m:r>
                          <m:d>
                            <m:d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0" i="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±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𝑧𝑥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𝑄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]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11">
                <a:extLst>
                  <a:ext uri="{FF2B5EF4-FFF2-40B4-BE49-F238E27FC236}">
                    <a16:creationId xmlns:a16="http://schemas.microsoft.com/office/drawing/2014/main" id="{F11C3658-849B-6DFB-386F-DE66A04F1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601" y="5151163"/>
                <a:ext cx="7226906" cy="12862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5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7" grpId="0" animBg="1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B3687E0-6E80-2E7E-BD92-AAC0E6B0C8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028F19-F782-50DF-14A6-FEF9C5986A43}"/>
              </a:ext>
            </a:extLst>
          </p:cNvPr>
          <p:cNvSpPr/>
          <p:nvPr/>
        </p:nvSpPr>
        <p:spPr>
          <a:xfrm>
            <a:off x="177165" y="1306830"/>
            <a:ext cx="11837670" cy="4287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34">
            <a:extLst>
              <a:ext uri="{FF2B5EF4-FFF2-40B4-BE49-F238E27FC236}">
                <a16:creationId xmlns:a16="http://schemas.microsoft.com/office/drawing/2014/main" id="{F699B762-F2AB-99C4-63B9-48A6C0F96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580" y="3213557"/>
            <a:ext cx="452884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口诀</a:t>
            </a:r>
            <a:r>
              <a:rPr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:  </a:t>
            </a:r>
            <a:r>
              <a:rPr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一投、二代、三定号</a:t>
            </a:r>
            <a:r>
              <a:rPr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09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3C3DAF8-B8F4-1223-79CE-D80B6804C2E6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3C3DAF8-B8F4-1223-79CE-D80B6804C2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半闭框 17">
            <a:extLst>
              <a:ext uri="{FF2B5EF4-FFF2-40B4-BE49-F238E27FC236}">
                <a16:creationId xmlns:a16="http://schemas.microsoft.com/office/drawing/2014/main" id="{6AD32FB8-2C02-E594-00DF-52EADF9A0F5A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半闭框 18">
            <a:extLst>
              <a:ext uri="{FF2B5EF4-FFF2-40B4-BE49-F238E27FC236}">
                <a16:creationId xmlns:a16="http://schemas.microsoft.com/office/drawing/2014/main" id="{5945E1A4-A915-D0D8-7CEC-B3240AF5A621}"/>
              </a:ext>
            </a:extLst>
          </p:cNvPr>
          <p:cNvSpPr/>
          <p:nvPr/>
        </p:nvSpPr>
        <p:spPr>
          <a:xfrm flipH="1">
            <a:off x="10822895" y="53626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半闭框 19">
            <a:extLst>
              <a:ext uri="{FF2B5EF4-FFF2-40B4-BE49-F238E27FC236}">
                <a16:creationId xmlns:a16="http://schemas.microsoft.com/office/drawing/2014/main" id="{31E5CC29-74DE-4295-E201-964370AC5F30}"/>
              </a:ext>
            </a:extLst>
          </p:cNvPr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1" name="半闭框 20">
            <a:extLst>
              <a:ext uri="{FF2B5EF4-FFF2-40B4-BE49-F238E27FC236}">
                <a16:creationId xmlns:a16="http://schemas.microsoft.com/office/drawing/2014/main" id="{CE03EDC5-A00F-EF0B-AE90-B6FBF604FF63}"/>
              </a:ext>
            </a:extLst>
          </p:cNvPr>
          <p:cNvSpPr/>
          <p:nvPr/>
        </p:nvSpPr>
        <p:spPr>
          <a:xfrm flipH="1" flipV="1">
            <a:off x="10823530" y="5647881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372">
            <a:extLst>
              <a:ext uri="{FF2B5EF4-FFF2-40B4-BE49-F238E27FC236}">
                <a16:creationId xmlns:a16="http://schemas.microsoft.com/office/drawing/2014/main" id="{B13485A1-33AD-9DBE-211E-F57E9E5AB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5481" y="2351073"/>
            <a:ext cx="7223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3" name="Rectangle 546">
            <a:extLst>
              <a:ext uri="{FF2B5EF4-FFF2-40B4-BE49-F238E27FC236}">
                <a16:creationId xmlns:a16="http://schemas.microsoft.com/office/drawing/2014/main" id="{818CDBC7-64E6-9107-6F82-AB1BCFA91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805" y="859551"/>
            <a:ext cx="3429000" cy="59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计算曲面积分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47">
                <a:extLst>
                  <a:ext uri="{FF2B5EF4-FFF2-40B4-BE49-F238E27FC236}">
                    <a16:creationId xmlns:a16="http://schemas.microsoft.com/office/drawing/2014/main" id="{84DF5972-D346-65F6-BFDD-15A759FFC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0182" y="1727535"/>
                <a:ext cx="8839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是正方体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0</a:t>
                </a:r>
                <a:r>
                  <a:rPr lang="en-US" altLang="zh-CN" sz="28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0</a:t>
                </a:r>
                <a:r>
                  <a:rPr lang="en-US" altLang="zh-CN" sz="28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0</a:t>
                </a:r>
                <a:r>
                  <a:rPr lang="en-US" altLang="zh-CN" sz="28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的整个表面的外侧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.</a:t>
                </a:r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Rectangle 547">
                <a:extLst>
                  <a:ext uri="{FF2B5EF4-FFF2-40B4-BE49-F238E27FC236}">
                    <a16:creationId xmlns:a16="http://schemas.microsoft.com/office/drawing/2014/main" id="{84DF5972-D346-65F6-BFDD-15A759FFC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0182" y="1727535"/>
                <a:ext cx="8839200" cy="523220"/>
              </a:xfrm>
              <a:prstGeom prst="rect">
                <a:avLst/>
              </a:prstGeom>
              <a:blipFill>
                <a:blip r:embed="rId3"/>
                <a:stretch>
                  <a:fillRect l="-1448" t="-15116" r="-207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58">
                <a:extLst>
                  <a:ext uri="{FF2B5EF4-FFF2-40B4-BE49-F238E27FC236}">
                    <a16:creationId xmlns:a16="http://schemas.microsoft.com/office/drawing/2014/main" id="{4AADF716-98BF-7B18-CA77-179D4A84C7CD}"/>
                  </a:ext>
                </a:extLst>
              </p:cNvPr>
              <p:cNvSpPr txBox="1"/>
              <p:nvPr/>
            </p:nvSpPr>
            <p:spPr bwMode="auto">
              <a:xfrm>
                <a:off x="4357883" y="571398"/>
                <a:ext cx="4978400" cy="11510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558">
                <a:extLst>
                  <a:ext uri="{FF2B5EF4-FFF2-40B4-BE49-F238E27FC236}">
                    <a16:creationId xmlns:a16="http://schemas.microsoft.com/office/drawing/2014/main" id="{4AADF716-98BF-7B18-CA77-179D4A84C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7883" y="571398"/>
                <a:ext cx="4978400" cy="1151030"/>
              </a:xfrm>
              <a:prstGeom prst="rect">
                <a:avLst/>
              </a:prstGeom>
              <a:blipFill>
                <a:blip r:embed="rId4"/>
                <a:stretch>
                  <a:fillRect b="-10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59">
                <a:extLst>
                  <a:ext uri="{FF2B5EF4-FFF2-40B4-BE49-F238E27FC236}">
                    <a16:creationId xmlns:a16="http://schemas.microsoft.com/office/drawing/2014/main" id="{80F89115-ABDC-3DE6-3EB7-4F5ADDDDF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9880" y="868049"/>
                <a:ext cx="133826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" name="Rectangle 559">
                <a:extLst>
                  <a:ext uri="{FF2B5EF4-FFF2-40B4-BE49-F238E27FC236}">
                    <a16:creationId xmlns:a16="http://schemas.microsoft.com/office/drawing/2014/main" id="{80F89115-ABDC-3DE6-3EB7-4F5ADDDDF5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99880" y="868049"/>
                <a:ext cx="1338262" cy="523220"/>
              </a:xfrm>
              <a:prstGeom prst="rect">
                <a:avLst/>
              </a:prstGeom>
              <a:blipFill>
                <a:blip r:embed="rId5"/>
                <a:stretch>
                  <a:fillRect l="-9545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60">
                <a:extLst>
                  <a:ext uri="{FF2B5EF4-FFF2-40B4-BE49-F238E27FC236}">
                    <a16:creationId xmlns:a16="http://schemas.microsoft.com/office/drawing/2014/main" id="{FD76407B-8617-355D-0CF2-FEFCA82A25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716" y="2405408"/>
                <a:ext cx="260508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zh-CN" alt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可分成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6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个部分：</a:t>
                </a:r>
              </a:p>
            </p:txBody>
          </p:sp>
        </mc:Choice>
        <mc:Fallback xmlns="">
          <p:sp>
            <p:nvSpPr>
              <p:cNvPr id="7" name="Text Box 560">
                <a:extLst>
                  <a:ext uri="{FF2B5EF4-FFF2-40B4-BE49-F238E27FC236}">
                    <a16:creationId xmlns:a16="http://schemas.microsoft.com/office/drawing/2014/main" id="{FD76407B-8617-355D-0CF2-FEFCA82A2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7716" y="2405408"/>
                <a:ext cx="2605089" cy="430887"/>
              </a:xfrm>
              <a:prstGeom prst="rect">
                <a:avLst/>
              </a:prstGeom>
              <a:blipFill>
                <a:blip r:embed="rId6"/>
                <a:stretch>
                  <a:fillRect l="-234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561">
                <a:extLst>
                  <a:ext uri="{FF2B5EF4-FFF2-40B4-BE49-F238E27FC236}">
                    <a16:creationId xmlns:a16="http://schemas.microsoft.com/office/drawing/2014/main" id="{C0000A2F-2742-6B5B-5255-F7014E1D23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716" y="2906442"/>
                <a:ext cx="460851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=0, 0</a:t>
                </a:r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的下侧</a:t>
                </a:r>
                <a14:m>
                  <m:oMath xmlns:m="http://schemas.openxmlformats.org/officeDocument/2006/math">
                    <m:r>
                      <a:rPr kumimoji="1" lang="zh-CN" altLang="en-US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8" name="Text Box 561">
                <a:extLst>
                  <a:ext uri="{FF2B5EF4-FFF2-40B4-BE49-F238E27FC236}">
                    <a16:creationId xmlns:a16="http://schemas.microsoft.com/office/drawing/2014/main" id="{C0000A2F-2742-6B5B-5255-F7014E1D2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7716" y="2906442"/>
                <a:ext cx="4608513" cy="430887"/>
              </a:xfrm>
              <a:prstGeom prst="rect">
                <a:avLst/>
              </a:prstGeom>
              <a:blipFill>
                <a:blip r:embed="rId7"/>
                <a:stretch>
                  <a:fillRect l="-132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562">
                <a:extLst>
                  <a:ext uri="{FF2B5EF4-FFF2-40B4-BE49-F238E27FC236}">
                    <a16:creationId xmlns:a16="http://schemas.microsoft.com/office/drawing/2014/main" id="{14FFC5EB-9A72-9CE3-807F-030BD88521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716" y="3438254"/>
                <a:ext cx="460851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</m:e>
                      <m:sub>
                        <m:r>
                          <a:rPr kumimoji="1" lang="en-US" altLang="zh-CN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0</a:t>
                </a:r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的上侧</a:t>
                </a:r>
                <a14:m>
                  <m:oMath xmlns:m="http://schemas.openxmlformats.org/officeDocument/2006/math">
                    <m:r>
                      <a:rPr kumimoji="1" lang="zh-CN" altLang="en-US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9" name="Text Box 562">
                <a:extLst>
                  <a:ext uri="{FF2B5EF4-FFF2-40B4-BE49-F238E27FC236}">
                    <a16:creationId xmlns:a16="http://schemas.microsoft.com/office/drawing/2014/main" id="{14FFC5EB-9A72-9CE3-807F-030BD8852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7716" y="3438254"/>
                <a:ext cx="4608513" cy="430887"/>
              </a:xfrm>
              <a:prstGeom prst="rect">
                <a:avLst/>
              </a:prstGeom>
              <a:blipFill>
                <a:blip r:embed="rId8"/>
                <a:stretch>
                  <a:fillRect l="-132" t="-14085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563">
                <a:extLst>
                  <a:ext uri="{FF2B5EF4-FFF2-40B4-BE49-F238E27FC236}">
                    <a16:creationId xmlns:a16="http://schemas.microsoft.com/office/drawing/2014/main" id="{2553ED21-C341-9549-DF51-91EDD90A1B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716" y="3970066"/>
                <a:ext cx="460851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</m:e>
                      <m:sub>
                        <m:r>
                          <a:rPr kumimoji="1" lang="en-US" altLang="zh-CN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=0, 0</a:t>
                </a:r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的后侧</a:t>
                </a:r>
                <a14:m>
                  <m:oMath xmlns:m="http://schemas.openxmlformats.org/officeDocument/2006/math">
                    <m:r>
                      <a:rPr kumimoji="1" lang="zh-CN" altLang="en-US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0" name="Text Box 563">
                <a:extLst>
                  <a:ext uri="{FF2B5EF4-FFF2-40B4-BE49-F238E27FC236}">
                    <a16:creationId xmlns:a16="http://schemas.microsoft.com/office/drawing/2014/main" id="{2553ED21-C341-9549-DF51-91EDD90A1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7716" y="3970066"/>
                <a:ext cx="4608513" cy="430887"/>
              </a:xfrm>
              <a:prstGeom prst="rect">
                <a:avLst/>
              </a:prstGeom>
              <a:blipFill>
                <a:blip r:embed="rId9"/>
                <a:stretch>
                  <a:fillRect l="-132" t="-12676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564">
                <a:extLst>
                  <a:ext uri="{FF2B5EF4-FFF2-40B4-BE49-F238E27FC236}">
                    <a16:creationId xmlns:a16="http://schemas.microsoft.com/office/drawing/2014/main" id="{B931E34F-7142-92FA-241B-AE5544F3CA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716" y="4501878"/>
                <a:ext cx="460851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</m:e>
                      <m:sub>
                        <m:r>
                          <a:rPr kumimoji="1" lang="en-US" altLang="zh-CN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4</m:t>
                        </m:r>
                      </m:sub>
                    </m:sSub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0</a:t>
                </a:r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的前侧</a:t>
                </a:r>
                <a14:m>
                  <m:oMath xmlns:m="http://schemas.openxmlformats.org/officeDocument/2006/math">
                    <m:r>
                      <a:rPr kumimoji="1" lang="zh-CN" altLang="en-US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1" name="Text Box 564">
                <a:extLst>
                  <a:ext uri="{FF2B5EF4-FFF2-40B4-BE49-F238E27FC236}">
                    <a16:creationId xmlns:a16="http://schemas.microsoft.com/office/drawing/2014/main" id="{B931E34F-7142-92FA-241B-AE5544F3C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7716" y="4501878"/>
                <a:ext cx="4608513" cy="430887"/>
              </a:xfrm>
              <a:prstGeom prst="rect">
                <a:avLst/>
              </a:prstGeom>
              <a:blipFill>
                <a:blip r:embed="rId10"/>
                <a:stretch>
                  <a:fillRect l="-132" t="-12676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565">
                <a:extLst>
                  <a:ext uri="{FF2B5EF4-FFF2-40B4-BE49-F238E27FC236}">
                    <a16:creationId xmlns:a16="http://schemas.microsoft.com/office/drawing/2014/main" id="{A4EE144C-0762-B642-459D-8C89EF04F2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716" y="5033690"/>
                <a:ext cx="460851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</m:e>
                      <m:sub>
                        <m:r>
                          <a:rPr kumimoji="1" lang="en-US" altLang="zh-CN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5</m:t>
                        </m:r>
                      </m:sub>
                    </m:sSub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=0, 0</a:t>
                </a:r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的左侧</a:t>
                </a:r>
                <a14:m>
                  <m:oMath xmlns:m="http://schemas.openxmlformats.org/officeDocument/2006/math">
                    <m:r>
                      <a:rPr kumimoji="1" lang="zh-CN" altLang="en-US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2" name="Text Box 565">
                <a:extLst>
                  <a:ext uri="{FF2B5EF4-FFF2-40B4-BE49-F238E27FC236}">
                    <a16:creationId xmlns:a16="http://schemas.microsoft.com/office/drawing/2014/main" id="{A4EE144C-0762-B642-459D-8C89EF04F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7716" y="5033690"/>
                <a:ext cx="4608513" cy="430887"/>
              </a:xfrm>
              <a:prstGeom prst="rect">
                <a:avLst/>
              </a:prstGeom>
              <a:blipFill>
                <a:blip r:embed="rId11"/>
                <a:stretch>
                  <a:fillRect l="-132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566">
                <a:extLst>
                  <a:ext uri="{FF2B5EF4-FFF2-40B4-BE49-F238E27FC236}">
                    <a16:creationId xmlns:a16="http://schemas.microsoft.com/office/drawing/2014/main" id="{6B182D0F-D288-E8AB-7AFD-2A3A8E8AA7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717" y="5565503"/>
                <a:ext cx="34926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</m:e>
                      <m:sub>
                        <m:r>
                          <a:rPr kumimoji="1" lang="en-US" altLang="zh-CN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6</m:t>
                        </m:r>
                      </m:sub>
                    </m:sSub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0</a:t>
                </a:r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的右侧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 Box 566">
                <a:extLst>
                  <a:ext uri="{FF2B5EF4-FFF2-40B4-BE49-F238E27FC236}">
                    <a16:creationId xmlns:a16="http://schemas.microsoft.com/office/drawing/2014/main" id="{6B182D0F-D288-E8AB-7AFD-2A3A8E8AA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7717" y="5565503"/>
                <a:ext cx="3492600" cy="430887"/>
              </a:xfrm>
              <a:prstGeom prst="rect">
                <a:avLst/>
              </a:prstGeom>
              <a:blipFill>
                <a:blip r:embed="rId12"/>
                <a:stretch>
                  <a:fillRect l="-175" t="-14085" b="-267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42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015E4DB-7B4B-DD58-0511-E59E5307ECBF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015E4DB-7B4B-DD58-0511-E59E5307E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半闭框 32">
            <a:extLst>
              <a:ext uri="{FF2B5EF4-FFF2-40B4-BE49-F238E27FC236}">
                <a16:creationId xmlns:a16="http://schemas.microsoft.com/office/drawing/2014/main" id="{E45F1F29-A97F-4446-BE09-949B433FD1BA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半闭框 33">
            <a:extLst>
              <a:ext uri="{FF2B5EF4-FFF2-40B4-BE49-F238E27FC236}">
                <a16:creationId xmlns:a16="http://schemas.microsoft.com/office/drawing/2014/main" id="{B7CCDEF0-8927-0C3A-A6FA-1B54AE4B5C7E}"/>
              </a:ext>
            </a:extLst>
          </p:cNvPr>
          <p:cNvSpPr/>
          <p:nvPr/>
        </p:nvSpPr>
        <p:spPr>
          <a:xfrm flipH="1">
            <a:off x="10822895" y="53626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半闭框 34">
            <a:extLst>
              <a:ext uri="{FF2B5EF4-FFF2-40B4-BE49-F238E27FC236}">
                <a16:creationId xmlns:a16="http://schemas.microsoft.com/office/drawing/2014/main" id="{B37643B9-6D73-7F30-F1BA-E3FA167B7D66}"/>
              </a:ext>
            </a:extLst>
          </p:cNvPr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6" name="半闭框 35">
            <a:extLst>
              <a:ext uri="{FF2B5EF4-FFF2-40B4-BE49-F238E27FC236}">
                <a16:creationId xmlns:a16="http://schemas.microsoft.com/office/drawing/2014/main" id="{38432C66-6F99-4A6A-AFCA-4585E5F4655C}"/>
              </a:ext>
            </a:extLst>
          </p:cNvPr>
          <p:cNvSpPr/>
          <p:nvPr/>
        </p:nvSpPr>
        <p:spPr>
          <a:xfrm flipH="1" flipV="1">
            <a:off x="10823530" y="5647881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4">
                <a:extLst>
                  <a:ext uri="{FF2B5EF4-FFF2-40B4-BE49-F238E27FC236}">
                    <a16:creationId xmlns:a16="http://schemas.microsoft.com/office/drawing/2014/main" id="{B3AC00A8-719D-D330-9CF6-EE003AA73A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1039" y="747259"/>
                <a:ext cx="369951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</m:e>
                      <m:sub>
                        <m:r>
                          <a:rPr kumimoji="1" lang="en-US" altLang="zh-CN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=0, 0</a:t>
                </a:r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  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的后侧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 Box 14">
                <a:extLst>
                  <a:ext uri="{FF2B5EF4-FFF2-40B4-BE49-F238E27FC236}">
                    <a16:creationId xmlns:a16="http://schemas.microsoft.com/office/drawing/2014/main" id="{B3AC00A8-719D-D330-9CF6-EE003AA73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1039" y="747259"/>
                <a:ext cx="3699512" cy="430887"/>
              </a:xfrm>
              <a:prstGeom prst="rect">
                <a:avLst/>
              </a:prstGeom>
              <a:blipFill>
                <a:blip r:embed="rId3"/>
                <a:stretch>
                  <a:fillRect l="-165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9CAEBB85-7B49-5364-9D5A-E7E666AC8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51379" y="747259"/>
                <a:ext cx="403461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</m:e>
                      <m:sub>
                        <m:r>
                          <a:rPr kumimoji="1" lang="en-US" altLang="zh-CN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4</m:t>
                        </m:r>
                      </m:sub>
                    </m:sSub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kumimoji="1" lang="en-US" altLang="zh-CN" sz="2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  <m:r>
                      <a:rPr kumimoji="1" lang="en-US" altLang="zh-CN" sz="2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0</a:t>
                </a:r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  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lang="en-US" altLang="zh-CN" sz="2200" dirty="0">
                    <a:latin typeface="宋体" panose="02010600030101010101" pitchFamily="2" charset="-122"/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的前侧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.</a:t>
                </a:r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Text Box 15">
                <a:extLst>
                  <a:ext uri="{FF2B5EF4-FFF2-40B4-BE49-F238E27FC236}">
                    <a16:creationId xmlns:a16="http://schemas.microsoft.com/office/drawing/2014/main" id="{9CAEBB85-7B49-5364-9D5A-E7E666AC8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1379" y="747259"/>
                <a:ext cx="4034611" cy="430887"/>
              </a:xfrm>
              <a:prstGeom prst="rect">
                <a:avLst/>
              </a:prstGeom>
              <a:blipFill>
                <a:blip r:embed="rId4"/>
                <a:stretch>
                  <a:fillRect l="-151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6">
                <a:extLst>
                  <a:ext uri="{FF2B5EF4-FFF2-40B4-BE49-F238E27FC236}">
                    <a16:creationId xmlns:a16="http://schemas.microsoft.com/office/drawing/2014/main" id="{82341335-BBD3-53C2-275A-47E667808E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564" y="1599850"/>
                <a:ext cx="7175541" cy="3759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</m:e>
                      <m:sub>
                        <m:r>
                          <a:rPr kumimoji="1" lang="en-US" altLang="zh-CN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</m:e>
                      <m:sub>
                        <m:r>
                          <a:rPr kumimoji="1" lang="en-US" altLang="zh-CN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外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其余曲面在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𝑂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面上的投影为零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所以</a:t>
                </a:r>
              </a:p>
              <a:p>
                <a:pPr algn="l"/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Rectangle 16">
                <a:extLst>
                  <a:ext uri="{FF2B5EF4-FFF2-40B4-BE49-F238E27FC236}">
                    <a16:creationId xmlns:a16="http://schemas.microsoft.com/office/drawing/2014/main" id="{82341335-BBD3-53C2-275A-47E667808E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3564" y="1599850"/>
                <a:ext cx="7175541" cy="375941"/>
              </a:xfrm>
              <a:prstGeom prst="rect">
                <a:avLst/>
              </a:prstGeom>
              <a:blipFill>
                <a:blip r:embed="rId5"/>
                <a:stretch>
                  <a:fillRect l="-1105" t="-661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9">
                <a:extLst>
                  <a:ext uri="{FF2B5EF4-FFF2-40B4-BE49-F238E27FC236}">
                    <a16:creationId xmlns:a16="http://schemas.microsoft.com/office/drawing/2014/main" id="{F7A470E2-3432-572E-193E-91EE8BD66D0F}"/>
                  </a:ext>
                </a:extLst>
              </p:cNvPr>
              <p:cNvSpPr txBox="1"/>
              <p:nvPr/>
            </p:nvSpPr>
            <p:spPr bwMode="auto">
              <a:xfrm>
                <a:off x="2514039" y="1878531"/>
                <a:ext cx="1387475" cy="9350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9">
                <a:extLst>
                  <a:ext uri="{FF2B5EF4-FFF2-40B4-BE49-F238E27FC236}">
                    <a16:creationId xmlns:a16="http://schemas.microsoft.com/office/drawing/2014/main" id="{F7A470E2-3432-572E-193E-91EE8BD66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039" y="1878531"/>
                <a:ext cx="1387475" cy="9350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0">
                <a:extLst>
                  <a:ext uri="{FF2B5EF4-FFF2-40B4-BE49-F238E27FC236}">
                    <a16:creationId xmlns:a16="http://schemas.microsoft.com/office/drawing/2014/main" id="{9036CFC9-A165-2FB4-36C7-D6022363DBED}"/>
                  </a:ext>
                </a:extLst>
              </p:cNvPr>
              <p:cNvSpPr txBox="1"/>
              <p:nvPr/>
            </p:nvSpPr>
            <p:spPr bwMode="auto">
              <a:xfrm>
                <a:off x="3845921" y="1888522"/>
                <a:ext cx="4322763" cy="9798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20">
                <a:extLst>
                  <a:ext uri="{FF2B5EF4-FFF2-40B4-BE49-F238E27FC236}">
                    <a16:creationId xmlns:a16="http://schemas.microsoft.com/office/drawing/2014/main" id="{9036CFC9-A165-2FB4-36C7-D6022363D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5921" y="1888522"/>
                <a:ext cx="4322763" cy="9798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1">
                <a:extLst>
                  <a:ext uri="{FF2B5EF4-FFF2-40B4-BE49-F238E27FC236}">
                    <a16:creationId xmlns:a16="http://schemas.microsoft.com/office/drawing/2014/main" id="{9A643347-9E7A-D6E5-BF40-5EF56574F62B}"/>
                  </a:ext>
                </a:extLst>
              </p:cNvPr>
              <p:cNvSpPr txBox="1"/>
              <p:nvPr/>
            </p:nvSpPr>
            <p:spPr bwMode="auto">
              <a:xfrm>
                <a:off x="3850685" y="2834949"/>
                <a:ext cx="4317999" cy="9969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=−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𝑦𝑧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𝑦𝑧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21">
                <a:extLst>
                  <a:ext uri="{FF2B5EF4-FFF2-40B4-BE49-F238E27FC236}">
                    <a16:creationId xmlns:a16="http://schemas.microsoft.com/office/drawing/2014/main" id="{9A643347-9E7A-D6E5-BF40-5EF56574F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0685" y="2834949"/>
                <a:ext cx="4317999" cy="9969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2">
                <a:extLst>
                  <a:ext uri="{FF2B5EF4-FFF2-40B4-BE49-F238E27FC236}">
                    <a16:creationId xmlns:a16="http://schemas.microsoft.com/office/drawing/2014/main" id="{74AE0514-57B0-463A-34F8-D0F1C6D97C7B}"/>
                  </a:ext>
                </a:extLst>
              </p:cNvPr>
              <p:cNvSpPr txBox="1"/>
              <p:nvPr/>
            </p:nvSpPr>
            <p:spPr bwMode="auto">
              <a:xfrm>
                <a:off x="7484503" y="3043234"/>
                <a:ext cx="83820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. 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22">
                <a:extLst>
                  <a:ext uri="{FF2B5EF4-FFF2-40B4-BE49-F238E27FC236}">
                    <a16:creationId xmlns:a16="http://schemas.microsoft.com/office/drawing/2014/main" id="{74AE0514-57B0-463A-34F8-D0F1C6D97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84503" y="3043234"/>
                <a:ext cx="838200" cy="51911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3">
            <a:extLst>
              <a:ext uri="{FF2B5EF4-FFF2-40B4-BE49-F238E27FC236}">
                <a16:creationId xmlns:a16="http://schemas.microsoft.com/office/drawing/2014/main" id="{B1869BF5-DB4D-1201-D2F8-CE32034EB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564" y="3871929"/>
            <a:ext cx="25209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类似地可得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4">
                <a:extLst>
                  <a:ext uri="{FF2B5EF4-FFF2-40B4-BE49-F238E27FC236}">
                    <a16:creationId xmlns:a16="http://schemas.microsoft.com/office/drawing/2014/main" id="{F3B394B8-4D78-6904-4463-E70A3D016223}"/>
                  </a:ext>
                </a:extLst>
              </p:cNvPr>
              <p:cNvSpPr txBox="1"/>
              <p:nvPr/>
            </p:nvSpPr>
            <p:spPr bwMode="auto">
              <a:xfrm>
                <a:off x="3540886" y="4326983"/>
                <a:ext cx="2555114" cy="990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24">
                <a:extLst>
                  <a:ext uri="{FF2B5EF4-FFF2-40B4-BE49-F238E27FC236}">
                    <a16:creationId xmlns:a16="http://schemas.microsoft.com/office/drawing/2014/main" id="{F3B394B8-4D78-6904-4463-E70A3D016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0886" y="4326983"/>
                <a:ext cx="2555114" cy="9906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5">
                <a:extLst>
                  <a:ext uri="{FF2B5EF4-FFF2-40B4-BE49-F238E27FC236}">
                    <a16:creationId xmlns:a16="http://schemas.microsoft.com/office/drawing/2014/main" id="{F9ED65C9-0EFE-71FE-17A6-D72C0DDB491D}"/>
                  </a:ext>
                </a:extLst>
              </p:cNvPr>
              <p:cNvSpPr txBox="1"/>
              <p:nvPr/>
            </p:nvSpPr>
            <p:spPr bwMode="auto">
              <a:xfrm>
                <a:off x="5663638" y="4323800"/>
                <a:ext cx="2520950" cy="8950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25">
                <a:extLst>
                  <a:ext uri="{FF2B5EF4-FFF2-40B4-BE49-F238E27FC236}">
                    <a16:creationId xmlns:a16="http://schemas.microsoft.com/office/drawing/2014/main" id="{F9ED65C9-0EFE-71FE-17A6-D72C0DDB4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63638" y="4323800"/>
                <a:ext cx="2520950" cy="895003"/>
              </a:xfrm>
              <a:prstGeom prst="rect">
                <a:avLst/>
              </a:prstGeom>
              <a:blipFill>
                <a:blip r:embed="rId11"/>
                <a:stretch>
                  <a:fillRect b="-27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26">
            <a:extLst>
              <a:ext uri="{FF2B5EF4-FFF2-40B4-BE49-F238E27FC236}">
                <a16:creationId xmlns:a16="http://schemas.microsoft.com/office/drawing/2014/main" id="{4C9707D1-DB5F-23DE-C6D6-1A1120C31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564" y="5493784"/>
            <a:ext cx="16573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7">
                <a:extLst>
                  <a:ext uri="{FF2B5EF4-FFF2-40B4-BE49-F238E27FC236}">
                    <a16:creationId xmlns:a16="http://schemas.microsoft.com/office/drawing/2014/main" id="{A25224D3-01B7-804F-8F9E-F4A991872C56}"/>
                  </a:ext>
                </a:extLst>
              </p:cNvPr>
              <p:cNvSpPr txBox="1"/>
              <p:nvPr/>
            </p:nvSpPr>
            <p:spPr bwMode="auto">
              <a:xfrm>
                <a:off x="3207776" y="5341750"/>
                <a:ext cx="4911725" cy="9906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=3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. 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27">
                <a:extLst>
                  <a:ext uri="{FF2B5EF4-FFF2-40B4-BE49-F238E27FC236}">
                    <a16:creationId xmlns:a16="http://schemas.microsoft.com/office/drawing/2014/main" id="{A25224D3-01B7-804F-8F9E-F4A991872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7776" y="5341750"/>
                <a:ext cx="4911725" cy="99060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ine 28">
            <a:extLst>
              <a:ext uri="{FF2B5EF4-FFF2-40B4-BE49-F238E27FC236}">
                <a16:creationId xmlns:a16="http://schemas.microsoft.com/office/drawing/2014/main" id="{7CDE3BD7-661B-9E99-A6E0-E1D0688167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1" y="1307646"/>
            <a:ext cx="952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63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21022B4-270B-D399-B02D-D9FB4D07B0CB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21022B4-270B-D399-B02D-D9FB4D07B0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半闭框 41">
            <a:extLst>
              <a:ext uri="{FF2B5EF4-FFF2-40B4-BE49-F238E27FC236}">
                <a16:creationId xmlns:a16="http://schemas.microsoft.com/office/drawing/2014/main" id="{4BABAC92-2419-1DAC-2EED-C50422A990C5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半闭框 42">
            <a:extLst>
              <a:ext uri="{FF2B5EF4-FFF2-40B4-BE49-F238E27FC236}">
                <a16:creationId xmlns:a16="http://schemas.microsoft.com/office/drawing/2014/main" id="{05BE677C-F746-DF70-8D07-08E7CEA2D75B}"/>
              </a:ext>
            </a:extLst>
          </p:cNvPr>
          <p:cNvSpPr/>
          <p:nvPr/>
        </p:nvSpPr>
        <p:spPr>
          <a:xfrm flipH="1">
            <a:off x="10822895" y="53626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半闭框 43">
            <a:extLst>
              <a:ext uri="{FF2B5EF4-FFF2-40B4-BE49-F238E27FC236}">
                <a16:creationId xmlns:a16="http://schemas.microsoft.com/office/drawing/2014/main" id="{CB83E164-B943-9874-A07C-C405F299B7E7}"/>
              </a:ext>
            </a:extLst>
          </p:cNvPr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5" name="半闭框 44">
            <a:extLst>
              <a:ext uri="{FF2B5EF4-FFF2-40B4-BE49-F238E27FC236}">
                <a16:creationId xmlns:a16="http://schemas.microsoft.com/office/drawing/2014/main" id="{7D37612B-E3C4-7B7F-16DC-F73327FC344B}"/>
              </a:ext>
            </a:extLst>
          </p:cNvPr>
          <p:cNvSpPr/>
          <p:nvPr/>
        </p:nvSpPr>
        <p:spPr>
          <a:xfrm flipH="1" flipV="1">
            <a:off x="10823530" y="5647881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7">
            <a:extLst>
              <a:ext uri="{FF2B5EF4-FFF2-40B4-BE49-F238E27FC236}">
                <a16:creationId xmlns:a16="http://schemas.microsoft.com/office/drawing/2014/main" id="{6D43A5E2-8652-3B0E-9DD2-8787762D0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144" y="4446179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0">
                <a:extLst>
                  <a:ext uri="{FF2B5EF4-FFF2-40B4-BE49-F238E27FC236}">
                    <a16:creationId xmlns:a16="http://schemas.microsoft.com/office/drawing/2014/main" id="{DE0CC2ED-A282-B0B1-69C0-708953AA7579}"/>
                  </a:ext>
                </a:extLst>
              </p:cNvPr>
              <p:cNvSpPr txBox="1"/>
              <p:nvPr/>
            </p:nvSpPr>
            <p:spPr bwMode="auto">
              <a:xfrm>
                <a:off x="2030609" y="4953524"/>
                <a:ext cx="5437130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: 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=−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en-US" altLang="zh-CN" sz="22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取下侧</m:t>
                      </m:r>
                      <m:r>
                        <a:rPr kumimoji="1" lang="zh-CN" altLang="en-US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0">
                <a:extLst>
                  <a:ext uri="{FF2B5EF4-FFF2-40B4-BE49-F238E27FC236}">
                    <a16:creationId xmlns:a16="http://schemas.microsoft.com/office/drawing/2014/main" id="{DE0CC2ED-A282-B0B1-69C0-708953AA7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0609" y="4953524"/>
                <a:ext cx="5437130" cy="571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1">
                <a:extLst>
                  <a:ext uri="{FF2B5EF4-FFF2-40B4-BE49-F238E27FC236}">
                    <a16:creationId xmlns:a16="http://schemas.microsoft.com/office/drawing/2014/main" id="{A72644B9-2502-766A-DDEC-9D787953074B}"/>
                  </a:ext>
                </a:extLst>
              </p:cNvPr>
              <p:cNvSpPr txBox="1"/>
              <p:nvPr/>
            </p:nvSpPr>
            <p:spPr bwMode="auto">
              <a:xfrm>
                <a:off x="2030608" y="5495158"/>
                <a:ext cx="5389839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: 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en-US" altLang="zh-CN" sz="22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取上侧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31">
                <a:extLst>
                  <a:ext uri="{FF2B5EF4-FFF2-40B4-BE49-F238E27FC236}">
                    <a16:creationId xmlns:a16="http://schemas.microsoft.com/office/drawing/2014/main" id="{A72644B9-2502-766A-DDEC-9D7879530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0608" y="5495158"/>
                <a:ext cx="5389839" cy="571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482E4809-DBFC-FF6A-0A66-9E6422499C33}"/>
              </a:ext>
            </a:extLst>
          </p:cNvPr>
          <p:cNvSpPr txBox="1">
            <a:spLocks noChangeArrowheads="1"/>
          </p:cNvSpPr>
          <p:nvPr/>
        </p:nvSpPr>
        <p:spPr>
          <a:xfrm>
            <a:off x="1219144" y="1047052"/>
            <a:ext cx="33528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 </a:t>
            </a:r>
            <a:r>
              <a:rPr kumimoji="1" lang="zh-CN" alt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计算曲面积分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C2DA00E1-752A-4311-90C0-D41F7BB20D6F}"/>
                  </a:ext>
                </a:extLst>
              </p:cNvPr>
              <p:cNvSpPr txBox="1"/>
              <p:nvPr/>
            </p:nvSpPr>
            <p:spPr bwMode="auto">
              <a:xfrm>
                <a:off x="4165041" y="641988"/>
                <a:ext cx="2278006" cy="12312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𝑥𝑦𝑧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C2DA00E1-752A-4311-90C0-D41F7BB20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5041" y="641988"/>
                <a:ext cx="2278006" cy="1231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">
                <a:extLst>
                  <a:ext uri="{FF2B5EF4-FFF2-40B4-BE49-F238E27FC236}">
                    <a16:creationId xmlns:a16="http://schemas.microsoft.com/office/drawing/2014/main" id="{97D53BD9-248E-3F47-5B93-0620B2F959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1133" y="1008677"/>
                <a:ext cx="2278006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为球面</a:t>
                </a:r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Text Box 4">
                <a:extLst>
                  <a:ext uri="{FF2B5EF4-FFF2-40B4-BE49-F238E27FC236}">
                    <a16:creationId xmlns:a16="http://schemas.microsoft.com/office/drawing/2014/main" id="{97D53BD9-248E-3F47-5B93-0620B2F95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1133" y="1008677"/>
                <a:ext cx="2278006" cy="519112"/>
              </a:xfrm>
              <a:prstGeom prst="rect">
                <a:avLst/>
              </a:prstGeom>
              <a:blipFill>
                <a:blip r:embed="rId7"/>
                <a:stretch>
                  <a:fillRect l="-5348" t="-15116" r="-1604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141EC761-A043-FD83-8729-7D250A10DFB0}"/>
                  </a:ext>
                </a:extLst>
              </p:cNvPr>
              <p:cNvSpPr txBox="1"/>
              <p:nvPr/>
            </p:nvSpPr>
            <p:spPr bwMode="auto">
              <a:xfrm>
                <a:off x="8293156" y="1021653"/>
                <a:ext cx="1050925" cy="550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141EC761-A043-FD83-8729-7D250A10D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93156" y="1021653"/>
                <a:ext cx="1050925" cy="5503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8">
                <a:extLst>
                  <a:ext uri="{FF2B5EF4-FFF2-40B4-BE49-F238E27FC236}">
                    <a16:creationId xmlns:a16="http://schemas.microsoft.com/office/drawing/2014/main" id="{C0574761-04AA-F675-49B5-2FE2DFE34244}"/>
                  </a:ext>
                </a:extLst>
              </p:cNvPr>
              <p:cNvSpPr txBox="1"/>
              <p:nvPr/>
            </p:nvSpPr>
            <p:spPr bwMode="auto">
              <a:xfrm>
                <a:off x="2030609" y="1831003"/>
                <a:ext cx="2366983" cy="5225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98">
                <a:extLst>
                  <a:ext uri="{FF2B5EF4-FFF2-40B4-BE49-F238E27FC236}">
                    <a16:creationId xmlns:a16="http://schemas.microsoft.com/office/drawing/2014/main" id="{C0574761-04AA-F675-49B5-2FE2DFE34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0609" y="1831003"/>
                <a:ext cx="2366983" cy="5225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12">
            <a:extLst>
              <a:ext uri="{FF2B5EF4-FFF2-40B4-BE49-F238E27FC236}">
                <a16:creationId xmlns:a16="http://schemas.microsoft.com/office/drawing/2014/main" id="{520DE37D-3CBD-6BCE-EF57-E3180EFDE2C4}"/>
              </a:ext>
            </a:extLst>
          </p:cNvPr>
          <p:cNvGrpSpPr>
            <a:grpSpLocks/>
          </p:cNvGrpSpPr>
          <p:nvPr/>
        </p:nvGrpSpPr>
        <p:grpSpPr bwMode="auto">
          <a:xfrm>
            <a:off x="2197572" y="3091553"/>
            <a:ext cx="5222876" cy="1196979"/>
            <a:chOff x="835" y="1203"/>
            <a:chExt cx="3290" cy="754"/>
          </a:xfrm>
        </p:grpSpPr>
        <p:sp>
          <p:nvSpPr>
            <p:cNvPr id="12" name="Rectangle 51">
              <a:extLst>
                <a:ext uri="{FF2B5EF4-FFF2-40B4-BE49-F238E27FC236}">
                  <a16:creationId xmlns:a16="http://schemas.microsoft.com/office/drawing/2014/main" id="{01A226B1-C525-12D0-3A35-DD8D7AA18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1248"/>
              <a:ext cx="3190" cy="709"/>
            </a:xfrm>
            <a:prstGeom prst="rect">
              <a:avLst/>
            </a:prstGeom>
            <a:solidFill>
              <a:srgbClr val="04926A">
                <a:alpha val="20000"/>
              </a:srgbClr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" name="Text Box 49">
              <a:extLst>
                <a:ext uri="{FF2B5EF4-FFF2-40B4-BE49-F238E27FC236}">
                  <a16:creationId xmlns:a16="http://schemas.microsoft.com/office/drawing/2014/main" id="{DF255F7E-7320-1602-6969-E318819E8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5" y="1408"/>
              <a:ext cx="15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rPr>
                <a:t>根据对称性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50">
                  <a:extLst>
                    <a:ext uri="{FF2B5EF4-FFF2-40B4-BE49-F238E27FC236}">
                      <a16:creationId xmlns:a16="http://schemas.microsoft.com/office/drawing/2014/main" id="{FF4A7488-0894-356E-02A4-1CC6B4FA936B}"/>
                    </a:ext>
                  </a:extLst>
                </p:cNvPr>
                <p:cNvSpPr txBox="1"/>
                <p:nvPr/>
              </p:nvSpPr>
              <p:spPr bwMode="auto">
                <a:xfrm>
                  <a:off x="2128" y="1203"/>
                  <a:ext cx="1997" cy="6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∬"/>
                            <m:limLoc m:val="undOvr"/>
                            <m:supHide m:val="on"/>
                            <m:ctrlPr>
                              <a:rPr kumimoji="1" lang="zh-CN" altLang="en-US" sz="28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𝛴</m:t>
                            </m:r>
                          </m:sub>
                          <m:sup/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𝑥𝑦𝑧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  <m:r>
                              <a:rPr kumimoji="1" lang="en-US" altLang="zh-CN" sz="2800" b="0" i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=0</m:t>
                            </m:r>
                          </m:e>
                        </m:nary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Object 50">
                  <a:extLst>
                    <a:ext uri="{FF2B5EF4-FFF2-40B4-BE49-F238E27FC236}">
                      <a16:creationId xmlns:a16="http://schemas.microsoft.com/office/drawing/2014/main" id="{FF4A7488-0894-356E-02A4-1CC6B4FA9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28" y="1203"/>
                  <a:ext cx="1997" cy="652"/>
                </a:xfrm>
                <a:prstGeom prst="rect">
                  <a:avLst/>
                </a:prstGeom>
                <a:blipFill>
                  <a:blip r:embed="rId10"/>
                  <a:stretch>
                    <a:fillRect b="-1235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 Box 48">
            <a:extLst>
              <a:ext uri="{FF2B5EF4-FFF2-40B4-BE49-F238E27FC236}">
                <a16:creationId xmlns:a16="http://schemas.microsoft.com/office/drawing/2014/main" id="{B0CD7482-D6A3-4F83-C9B7-5431AF6BC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0609" y="2516162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8000">
                        <a:gamma/>
                        <a:shade val="46275"/>
                        <a:invGamma/>
                      </a:srgbClr>
                    </a:gs>
                    <a:gs pos="50000">
                      <a:srgbClr val="008000"/>
                    </a:gs>
                    <a:gs pos="100000">
                      <a:srgbClr val="0080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思考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: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下述解法是否正确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:</a:t>
            </a:r>
          </a:p>
        </p:txBody>
      </p:sp>
      <p:grpSp>
        <p:nvGrpSpPr>
          <p:cNvPr id="16" name="Group 120">
            <a:extLst>
              <a:ext uri="{FF2B5EF4-FFF2-40B4-BE49-F238E27FC236}">
                <a16:creationId xmlns:a16="http://schemas.microsoft.com/office/drawing/2014/main" id="{FBBA5E6C-7EB4-EA8B-755D-BEF0A81EC237}"/>
              </a:ext>
            </a:extLst>
          </p:cNvPr>
          <p:cNvGrpSpPr>
            <a:grpSpLocks/>
          </p:cNvGrpSpPr>
          <p:nvPr/>
        </p:nvGrpSpPr>
        <p:grpSpPr bwMode="auto">
          <a:xfrm>
            <a:off x="6258678" y="3318699"/>
            <a:ext cx="287338" cy="730250"/>
            <a:chOff x="3696" y="2112"/>
            <a:chExt cx="227" cy="576"/>
          </a:xfrm>
        </p:grpSpPr>
        <p:sp>
          <p:nvSpPr>
            <p:cNvPr id="17" name="Line 121">
              <a:extLst>
                <a:ext uri="{FF2B5EF4-FFF2-40B4-BE49-F238E27FC236}">
                  <a16:creationId xmlns:a16="http://schemas.microsoft.com/office/drawing/2014/main" id="{1D56D3AA-1097-A8DC-9554-0B46F807CD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112"/>
              <a:ext cx="227" cy="576"/>
            </a:xfrm>
            <a:prstGeom prst="line">
              <a:avLst/>
            </a:prstGeom>
            <a:noFill/>
            <a:ln w="38100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" name="Line 122">
              <a:extLst>
                <a:ext uri="{FF2B5EF4-FFF2-40B4-BE49-F238E27FC236}">
                  <a16:creationId xmlns:a16="http://schemas.microsoft.com/office/drawing/2014/main" id="{E83B330E-78E6-1BAB-A9F7-86F3A8AB6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112"/>
              <a:ext cx="227" cy="576"/>
            </a:xfrm>
            <a:prstGeom prst="line">
              <a:avLst/>
            </a:prstGeom>
            <a:noFill/>
            <a:ln w="38100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8">
                <a:extLst>
                  <a:ext uri="{FF2B5EF4-FFF2-40B4-BE49-F238E27FC236}">
                    <a16:creationId xmlns:a16="http://schemas.microsoft.com/office/drawing/2014/main" id="{A5CDF280-AFD4-4B06-0B5D-2B4F0A1EBA03}"/>
                  </a:ext>
                </a:extLst>
              </p:cNvPr>
              <p:cNvSpPr txBox="1"/>
              <p:nvPr/>
            </p:nvSpPr>
            <p:spPr>
              <a:xfrm>
                <a:off x="2030609" y="4491265"/>
                <a:ext cx="2891113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把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分成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和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e>
                        <m:sub>
                          <m:r>
                            <a:rPr kumimoji="1" lang="en-US" altLang="zh-CN" sz="22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两部分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对象 18">
                <a:extLst>
                  <a:ext uri="{FF2B5EF4-FFF2-40B4-BE49-F238E27FC236}">
                    <a16:creationId xmlns:a16="http://schemas.microsoft.com/office/drawing/2014/main" id="{A5CDF280-AFD4-4B06-0B5D-2B4F0A1EB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609" y="4491265"/>
                <a:ext cx="2891113" cy="444500"/>
              </a:xfrm>
              <a:prstGeom prst="rect">
                <a:avLst/>
              </a:prstGeom>
              <a:blipFill>
                <a:blip r:embed="rId11"/>
                <a:stretch>
                  <a:fillRect l="-1266" r="-1266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9">
                <a:extLst>
                  <a:ext uri="{FF2B5EF4-FFF2-40B4-BE49-F238E27FC236}">
                    <a16:creationId xmlns:a16="http://schemas.microsoft.com/office/drawing/2014/main" id="{F476AC7A-CEBF-EA90-C68D-958E49ADA0B8}"/>
                  </a:ext>
                </a:extLst>
              </p:cNvPr>
              <p:cNvSpPr txBox="1"/>
              <p:nvPr/>
            </p:nvSpPr>
            <p:spPr>
              <a:xfrm>
                <a:off x="6837418" y="5015733"/>
                <a:ext cx="3962400" cy="10541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)∈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kumimoji="1" lang="zh-CN" altLang="en-US" sz="2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zh-CN" altLang="en-US" sz="2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zh-CN" altLang="en-US" sz="2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kumimoji="1" lang="zh-CN" altLang="en-US" sz="2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1,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</a:rPr>
                                  <m:t>≥</m:t>
                                </m:r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0, </m:t>
                                </m:r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</a:rPr>
                                  <m:t>≥</m:t>
                                </m:r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0.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对象 19">
                <a:extLst>
                  <a:ext uri="{FF2B5EF4-FFF2-40B4-BE49-F238E27FC236}">
                    <a16:creationId xmlns:a16="http://schemas.microsoft.com/office/drawing/2014/main" id="{F476AC7A-CEBF-EA90-C68D-958E49ADA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418" y="5015733"/>
                <a:ext cx="3962400" cy="10541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20">
                <a:extLst>
                  <a:ext uri="{FF2B5EF4-FFF2-40B4-BE49-F238E27FC236}">
                    <a16:creationId xmlns:a16="http://schemas.microsoft.com/office/drawing/2014/main" id="{0212BD3A-ABBE-384D-323E-7AACE4D09C65}"/>
                  </a:ext>
                </a:extLst>
              </p:cNvPr>
              <p:cNvSpPr txBox="1"/>
              <p:nvPr/>
            </p:nvSpPr>
            <p:spPr>
              <a:xfrm>
                <a:off x="4165041" y="1855227"/>
                <a:ext cx="4364810" cy="51504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外侧在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0,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0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的部分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对象 20">
                <a:extLst>
                  <a:ext uri="{FF2B5EF4-FFF2-40B4-BE49-F238E27FC236}">
                    <a16:creationId xmlns:a16="http://schemas.microsoft.com/office/drawing/2014/main" id="{0212BD3A-ABBE-384D-323E-7AACE4D09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041" y="1855227"/>
                <a:ext cx="4364810" cy="51504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 descr="卡通人物&#10;&#10;中度可信度描述已自动生成">
            <a:extLst>
              <a:ext uri="{FF2B5EF4-FFF2-40B4-BE49-F238E27FC236}">
                <a16:creationId xmlns:a16="http://schemas.microsoft.com/office/drawing/2014/main" id="{4CFA4870-80C0-CBF9-C19F-8B61A161C92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386" y="2102481"/>
            <a:ext cx="2407497" cy="265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5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2" grpId="0"/>
      <p:bldP spid="3" grpId="0"/>
      <p:bldP spid="4" grpId="0"/>
      <p:bldP spid="6" grpId="0"/>
      <p:bldP spid="7" grpId="0"/>
      <p:bldP spid="8" grpId="0"/>
      <p:bldP spid="9" grpId="0"/>
      <p:bldP spid="10" grpId="0"/>
      <p:bldP spid="15" grpId="0"/>
      <p:bldP spid="19" grpId="0"/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05CDBB9-13E5-E3E4-0E85-56584B25552D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05CDBB9-13E5-E3E4-0E85-56584B2555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半闭框 14">
            <a:extLst>
              <a:ext uri="{FF2B5EF4-FFF2-40B4-BE49-F238E27FC236}">
                <a16:creationId xmlns:a16="http://schemas.microsoft.com/office/drawing/2014/main" id="{1952B287-AA2D-2794-03C4-BB8CADB76D86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半闭框 15">
            <a:extLst>
              <a:ext uri="{FF2B5EF4-FFF2-40B4-BE49-F238E27FC236}">
                <a16:creationId xmlns:a16="http://schemas.microsoft.com/office/drawing/2014/main" id="{DBE66430-256C-14F7-D92C-6DBD29FEA9E3}"/>
              </a:ext>
            </a:extLst>
          </p:cNvPr>
          <p:cNvSpPr/>
          <p:nvPr/>
        </p:nvSpPr>
        <p:spPr>
          <a:xfrm flipH="1">
            <a:off x="10822895" y="53626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半闭框 16">
            <a:extLst>
              <a:ext uri="{FF2B5EF4-FFF2-40B4-BE49-F238E27FC236}">
                <a16:creationId xmlns:a16="http://schemas.microsoft.com/office/drawing/2014/main" id="{F2FFE19D-7F14-272F-F094-2F2886CCD9BE}"/>
              </a:ext>
            </a:extLst>
          </p:cNvPr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8" name="半闭框 17">
            <a:extLst>
              <a:ext uri="{FF2B5EF4-FFF2-40B4-BE49-F238E27FC236}">
                <a16:creationId xmlns:a16="http://schemas.microsoft.com/office/drawing/2014/main" id="{EC538A60-DBAE-6F91-8E6F-79A031F89217}"/>
              </a:ext>
            </a:extLst>
          </p:cNvPr>
          <p:cNvSpPr/>
          <p:nvPr/>
        </p:nvSpPr>
        <p:spPr>
          <a:xfrm flipH="1" flipV="1">
            <a:off x="10823530" y="5647881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8">
                <a:extLst>
                  <a:ext uri="{FF2B5EF4-FFF2-40B4-BE49-F238E27FC236}">
                    <a16:creationId xmlns:a16="http://schemas.microsoft.com/office/drawing/2014/main" id="{E1BF7494-1638-C4AE-AF34-E242F9A12E81}"/>
                  </a:ext>
                </a:extLst>
              </p:cNvPr>
              <p:cNvSpPr txBox="1"/>
              <p:nvPr/>
            </p:nvSpPr>
            <p:spPr bwMode="auto">
              <a:xfrm>
                <a:off x="1688306" y="964619"/>
                <a:ext cx="5564188" cy="9549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28">
                <a:extLst>
                  <a:ext uri="{FF2B5EF4-FFF2-40B4-BE49-F238E27FC236}">
                    <a16:creationId xmlns:a16="http://schemas.microsoft.com/office/drawing/2014/main" id="{E1BF7494-1638-C4AE-AF34-E242F9A12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8306" y="964619"/>
                <a:ext cx="5564188" cy="954938"/>
              </a:xfrm>
              <a:prstGeom prst="rect">
                <a:avLst/>
              </a:prstGeom>
              <a:blipFill>
                <a:blip r:embed="rId3"/>
                <a:stretch>
                  <a:fillRect b="-6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2">
                <a:extLst>
                  <a:ext uri="{FF2B5EF4-FFF2-40B4-BE49-F238E27FC236}">
                    <a16:creationId xmlns:a16="http://schemas.microsoft.com/office/drawing/2014/main" id="{25C1058A-3241-4009-6B03-ACABDA55FD36}"/>
                  </a:ext>
                </a:extLst>
              </p:cNvPr>
              <p:cNvSpPr txBox="1"/>
              <p:nvPr/>
            </p:nvSpPr>
            <p:spPr bwMode="auto">
              <a:xfrm>
                <a:off x="3212306" y="2261250"/>
                <a:ext cx="7634288" cy="9255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(−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2">
                <a:extLst>
                  <a:ext uri="{FF2B5EF4-FFF2-40B4-BE49-F238E27FC236}">
                    <a16:creationId xmlns:a16="http://schemas.microsoft.com/office/drawing/2014/main" id="{25C1058A-3241-4009-6B03-ACABDA55F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2306" y="2261250"/>
                <a:ext cx="7634288" cy="925512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3">
                <a:extLst>
                  <a:ext uri="{FF2B5EF4-FFF2-40B4-BE49-F238E27FC236}">
                    <a16:creationId xmlns:a16="http://schemas.microsoft.com/office/drawing/2014/main" id="{98F3D4EE-104D-114B-E81D-9F93958FE397}"/>
                  </a:ext>
                </a:extLst>
              </p:cNvPr>
              <p:cNvSpPr txBox="1"/>
              <p:nvPr/>
            </p:nvSpPr>
            <p:spPr bwMode="auto">
              <a:xfrm>
                <a:off x="3212306" y="3528455"/>
                <a:ext cx="3759200" cy="9255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33">
                <a:extLst>
                  <a:ext uri="{FF2B5EF4-FFF2-40B4-BE49-F238E27FC236}">
                    <a16:creationId xmlns:a16="http://schemas.microsoft.com/office/drawing/2014/main" id="{98F3D4EE-104D-114B-E81D-9F93958FE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2306" y="3528455"/>
                <a:ext cx="3759200" cy="925513"/>
              </a:xfrm>
              <a:prstGeom prst="rect">
                <a:avLst/>
              </a:prstGeom>
              <a:blipFill>
                <a:blip r:embed="rId5"/>
                <a:stretch>
                  <a:fillRect b="-78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4">
                <a:extLst>
                  <a:ext uri="{FF2B5EF4-FFF2-40B4-BE49-F238E27FC236}">
                    <a16:creationId xmlns:a16="http://schemas.microsoft.com/office/drawing/2014/main" id="{3F044589-6897-DF7E-A4C0-45DC95475792}"/>
                  </a:ext>
                </a:extLst>
              </p:cNvPr>
              <p:cNvSpPr txBox="1"/>
              <p:nvPr/>
            </p:nvSpPr>
            <p:spPr bwMode="auto">
              <a:xfrm>
                <a:off x="3212306" y="4795661"/>
                <a:ext cx="538480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𝜃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15</m:t>
                              </m:r>
                            </m:den>
                          </m:f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34">
                <a:extLst>
                  <a:ext uri="{FF2B5EF4-FFF2-40B4-BE49-F238E27FC236}">
                    <a16:creationId xmlns:a16="http://schemas.microsoft.com/office/drawing/2014/main" id="{3F044589-6897-DF7E-A4C0-45DC95475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2306" y="4795661"/>
                <a:ext cx="5384800" cy="1028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56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5">
                <a:extLst>
                  <a:ext uri="{FF2B5EF4-FFF2-40B4-BE49-F238E27FC236}">
                    <a16:creationId xmlns:a16="http://schemas.microsoft.com/office/drawing/2014/main" id="{3801C87C-C306-3958-E41E-F42475483A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0063" y="1085343"/>
                <a:ext cx="537738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设有向曲面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的方程为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),</a:t>
                </a:r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Text Box 5">
                <a:extLst>
                  <a:ext uri="{FF2B5EF4-FFF2-40B4-BE49-F238E27FC236}">
                    <a16:creationId xmlns:a16="http://schemas.microsoft.com/office/drawing/2014/main" id="{3801C87C-C306-3958-E41E-F42475483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0063" y="1085343"/>
                <a:ext cx="5377387" cy="523220"/>
              </a:xfrm>
              <a:prstGeom prst="rect">
                <a:avLst/>
              </a:prstGeom>
              <a:blipFill>
                <a:blip r:embed="rId5"/>
                <a:stretch>
                  <a:fillRect l="-2268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6">
                <a:extLst>
                  <a:ext uri="{FF2B5EF4-FFF2-40B4-BE49-F238E27FC236}">
                    <a16:creationId xmlns:a16="http://schemas.microsoft.com/office/drawing/2014/main" id="{B356F3F6-3148-203C-8743-1DAB7A9A1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0063" y="1672718"/>
                <a:ext cx="2946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d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(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也表示面积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).</a:t>
                </a:r>
              </a:p>
            </p:txBody>
          </p:sp>
        </mc:Choice>
        <mc:Fallback xmlns="">
          <p:sp>
            <p:nvSpPr>
              <p:cNvPr id="21" name="Text Box 6">
                <a:extLst>
                  <a:ext uri="{FF2B5EF4-FFF2-40B4-BE49-F238E27FC236}">
                    <a16:creationId xmlns:a16="http://schemas.microsoft.com/office/drawing/2014/main" id="{B356F3F6-3148-203C-8743-1DAB7A9A1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0063" y="1672718"/>
                <a:ext cx="2946400" cy="523220"/>
              </a:xfrm>
              <a:prstGeom prst="rect">
                <a:avLst/>
              </a:prstGeom>
              <a:blipFill>
                <a:blip r:embed="rId6"/>
                <a:stretch>
                  <a:fillRect l="-4141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8">
                <a:extLst>
                  <a:ext uri="{FF2B5EF4-FFF2-40B4-BE49-F238E27FC236}">
                    <a16:creationId xmlns:a16="http://schemas.microsoft.com/office/drawing/2014/main" id="{69451770-7465-C622-A18E-AD4C4EAA06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0063" y="2260093"/>
                <a:ext cx="5765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d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𝑂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面上的投影区域的面积</a:t>
                </a:r>
              </a:p>
            </p:txBody>
          </p:sp>
        </mc:Choice>
        <mc:Fallback xmlns="">
          <p:sp>
            <p:nvSpPr>
              <p:cNvPr id="22" name="Text Box 8">
                <a:extLst>
                  <a:ext uri="{FF2B5EF4-FFF2-40B4-BE49-F238E27FC236}">
                    <a16:creationId xmlns:a16="http://schemas.microsoft.com/office/drawing/2014/main" id="{69451770-7465-C622-A18E-AD4C4EAA0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0063" y="2260093"/>
                <a:ext cx="5765800" cy="523220"/>
              </a:xfrm>
              <a:prstGeom prst="rect">
                <a:avLst/>
              </a:prstGeom>
              <a:blipFill>
                <a:blip r:embed="rId7"/>
                <a:stretch>
                  <a:fillRect l="-2114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10">
            <a:extLst>
              <a:ext uri="{FF2B5EF4-FFF2-40B4-BE49-F238E27FC236}">
                <a16:creationId xmlns:a16="http://schemas.microsoft.com/office/drawing/2014/main" id="{7D4824C2-A3E0-D967-55CB-BE63E89A3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8682" y="1085343"/>
            <a:ext cx="2895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在其上取微面元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1">
                <a:extLst>
                  <a:ext uri="{FF2B5EF4-FFF2-40B4-BE49-F238E27FC236}">
                    <a16:creationId xmlns:a16="http://schemas.microsoft.com/office/drawing/2014/main" id="{C00DEAF3-0075-C178-71F7-11E193B4D2DC}"/>
                  </a:ext>
                </a:extLst>
              </p:cNvPr>
              <p:cNvSpPr txBox="1"/>
              <p:nvPr/>
            </p:nvSpPr>
            <p:spPr bwMode="auto">
              <a:xfrm>
                <a:off x="1750496" y="3886716"/>
                <a:ext cx="2792937" cy="11711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11">
                <a:extLst>
                  <a:ext uri="{FF2B5EF4-FFF2-40B4-BE49-F238E27FC236}">
                    <a16:creationId xmlns:a16="http://schemas.microsoft.com/office/drawing/2014/main" id="{C00DEAF3-0075-C178-71F7-11E193B4D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0496" y="3886716"/>
                <a:ext cx="2792937" cy="11711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29">
            <a:extLst>
              <a:ext uri="{FF2B5EF4-FFF2-40B4-BE49-F238E27FC236}">
                <a16:creationId xmlns:a16="http://schemas.microsoft.com/office/drawing/2014/main" id="{FCDA83F2-D393-8A98-DF99-86EA3B607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355" y="2838737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d</a:t>
            </a:r>
            <a:r>
              <a:rPr kumimoji="1" lang="en-US" altLang="zh-CN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30">
                <a:extLst>
                  <a:ext uri="{FF2B5EF4-FFF2-40B4-BE49-F238E27FC236}">
                    <a16:creationId xmlns:a16="http://schemas.microsoft.com/office/drawing/2014/main" id="{710C48EC-51A3-0548-E05B-10466DD168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6710" y="2838737"/>
                <a:ext cx="1371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Text Box 30">
                <a:extLst>
                  <a:ext uri="{FF2B5EF4-FFF2-40B4-BE49-F238E27FC236}">
                    <a16:creationId xmlns:a16="http://schemas.microsoft.com/office/drawing/2014/main" id="{710C48EC-51A3-0548-E05B-10466DD16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6710" y="2838737"/>
                <a:ext cx="1371600" cy="523220"/>
              </a:xfrm>
              <a:prstGeom prst="rect">
                <a:avLst/>
              </a:prstGeom>
              <a:blipFill>
                <a:blip r:embed="rId9"/>
                <a:stretch>
                  <a:fillRect l="-8889" t="-12791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31">
                <a:extLst>
                  <a:ext uri="{FF2B5EF4-FFF2-40B4-BE49-F238E27FC236}">
                    <a16:creationId xmlns:a16="http://schemas.microsoft.com/office/drawing/2014/main" id="{8935FF9C-02F7-369B-43FE-00DC4073BE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96000" y="2814643"/>
                <a:ext cx="2438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 d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80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kumimoji="1" lang="en-US" altLang="zh-CN" sz="2800" b="0" i="1" dirty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b="0" i="0" dirty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800" b="0" i="1" dirty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𝛾</m:t>
                            </m:r>
                          </m:e>
                        </m:func>
                      </m:e>
                    </m:d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8" name="Text Box 31">
                <a:extLst>
                  <a:ext uri="{FF2B5EF4-FFF2-40B4-BE49-F238E27FC236}">
                    <a16:creationId xmlns:a16="http://schemas.microsoft.com/office/drawing/2014/main" id="{8935FF9C-02F7-369B-43FE-00DC4073B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2814643"/>
                <a:ext cx="2438400" cy="523220"/>
              </a:xfrm>
              <a:prstGeom prst="rect">
                <a:avLst/>
              </a:prstGeom>
              <a:blipFill>
                <a:blip r:embed="rId10"/>
                <a:stretch>
                  <a:fillRect l="-5000" t="-12791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34">
                <a:extLst>
                  <a:ext uri="{FF2B5EF4-FFF2-40B4-BE49-F238E27FC236}">
                    <a16:creationId xmlns:a16="http://schemas.microsoft.com/office/drawing/2014/main" id="{109A31D1-D131-14E1-A4B4-D1A211614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0063" y="3434843"/>
                <a:ext cx="236122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取上侧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则</a:t>
                </a:r>
              </a:p>
            </p:txBody>
          </p:sp>
        </mc:Choice>
        <mc:Fallback xmlns="">
          <p:sp>
            <p:nvSpPr>
              <p:cNvPr id="29" name="Rectangle 34">
                <a:extLst>
                  <a:ext uri="{FF2B5EF4-FFF2-40B4-BE49-F238E27FC236}">
                    <a16:creationId xmlns:a16="http://schemas.microsoft.com/office/drawing/2014/main" id="{109A31D1-D131-14E1-A4B4-D1A211614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0063" y="3434843"/>
                <a:ext cx="2361224" cy="523220"/>
              </a:xfrm>
              <a:prstGeom prst="rect">
                <a:avLst/>
              </a:prstGeom>
              <a:blipFill>
                <a:blip r:embed="rId11"/>
                <a:stretch>
                  <a:fillRect l="-5168" t="-15116" r="-4393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35">
                <a:extLst>
                  <a:ext uri="{FF2B5EF4-FFF2-40B4-BE49-F238E27FC236}">
                    <a16:creationId xmlns:a16="http://schemas.microsoft.com/office/drawing/2014/main" id="{7761F284-D73D-D6A3-A023-F6F9DCAACD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737" y="3417381"/>
                <a:ext cx="3752637" cy="11695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 d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cos</a:t>
                </a:r>
                <a:r>
                  <a:rPr kumimoji="1" lang="en-US" altLang="zh-CN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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于是</a:t>
                </a:r>
              </a:p>
              <a:p>
                <a:pPr>
                  <a:spcBef>
                    <a:spcPct val="50000"/>
                  </a:spcBef>
                </a:pPr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Text Box 35">
                <a:extLst>
                  <a:ext uri="{FF2B5EF4-FFF2-40B4-BE49-F238E27FC236}">
                    <a16:creationId xmlns:a16="http://schemas.microsoft.com/office/drawing/2014/main" id="{7761F284-D73D-D6A3-A023-F6F9DCAAC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8737" y="3417381"/>
                <a:ext cx="3752637" cy="1169551"/>
              </a:xfrm>
              <a:prstGeom prst="rect">
                <a:avLst/>
              </a:prstGeom>
              <a:blipFill>
                <a:blip r:embed="rId12"/>
                <a:stretch>
                  <a:fillRect t="-73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7">
                <a:extLst>
                  <a:ext uri="{FF2B5EF4-FFF2-40B4-BE49-F238E27FC236}">
                    <a16:creationId xmlns:a16="http://schemas.microsoft.com/office/drawing/2014/main" id="{6B5CE16F-CFD0-09F7-DA1D-18CA454C2B5D}"/>
                  </a:ext>
                </a:extLst>
              </p:cNvPr>
              <p:cNvSpPr txBox="1"/>
              <p:nvPr/>
            </p:nvSpPr>
            <p:spPr bwMode="auto">
              <a:xfrm>
                <a:off x="4516717" y="3896242"/>
                <a:ext cx="4217455" cy="12085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d>
                            <m:d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,</m:t>
                                  </m:r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37">
                <a:extLst>
                  <a:ext uri="{FF2B5EF4-FFF2-40B4-BE49-F238E27FC236}">
                    <a16:creationId xmlns:a16="http://schemas.microsoft.com/office/drawing/2014/main" id="{6B5CE16F-CFD0-09F7-DA1D-18CA454C2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6717" y="3896242"/>
                <a:ext cx="4217455" cy="1208567"/>
              </a:xfrm>
              <a:prstGeom prst="rect">
                <a:avLst/>
              </a:prstGeom>
              <a:blipFill>
                <a:blip r:embed="rId13"/>
                <a:stretch>
                  <a:fillRect b="-50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8">
                <a:extLst>
                  <a:ext uri="{FF2B5EF4-FFF2-40B4-BE49-F238E27FC236}">
                    <a16:creationId xmlns:a16="http://schemas.microsoft.com/office/drawing/2014/main" id="{AD1913DC-595B-9A92-E952-7933C1DA150D}"/>
                  </a:ext>
                </a:extLst>
              </p:cNvPr>
              <p:cNvSpPr txBox="1"/>
              <p:nvPr/>
            </p:nvSpPr>
            <p:spPr bwMode="auto">
              <a:xfrm>
                <a:off x="4516977" y="5180530"/>
                <a:ext cx="3952875" cy="11711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𝛾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Object 38">
                <a:extLst>
                  <a:ext uri="{FF2B5EF4-FFF2-40B4-BE49-F238E27FC236}">
                    <a16:creationId xmlns:a16="http://schemas.microsoft.com/office/drawing/2014/main" id="{AD1913DC-595B-9A92-E952-7933C1DA1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6977" y="5180530"/>
                <a:ext cx="3952875" cy="11711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2">
            <a:extLst>
              <a:ext uri="{FF2B5EF4-FFF2-40B4-BE49-F238E27FC236}">
                <a16:creationId xmlns:a16="http://schemas.microsoft.com/office/drawing/2014/main" id="{AD70F7DB-CC4A-B48A-59C7-163C272F6D81}"/>
              </a:ext>
            </a:extLst>
          </p:cNvPr>
          <p:cNvSpPr txBox="1">
            <a:spLocks noChangeArrowheads="1"/>
          </p:cNvSpPr>
          <p:nvPr/>
        </p:nvSpPr>
        <p:spPr>
          <a:xfrm>
            <a:off x="928620" y="529322"/>
            <a:ext cx="5696824" cy="62477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五、两类曲面积分之间的联系</a:t>
            </a:r>
          </a:p>
        </p:txBody>
      </p:sp>
    </p:spTree>
    <p:extLst>
      <p:ext uri="{BB962C8B-B14F-4D97-AF65-F5344CB8AC3E}">
        <p14:creationId xmlns:p14="http://schemas.microsoft.com/office/powerpoint/2010/main" val="313445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>
            <a:extLst>
              <a:ext uri="{FF2B5EF4-FFF2-40B4-BE49-F238E27FC236}">
                <a16:creationId xmlns:a16="http://schemas.microsoft.com/office/drawing/2014/main" id="{DE8A88FD-DFC8-C915-0766-417AEB7EE8B6}"/>
              </a:ext>
            </a:extLst>
          </p:cNvPr>
          <p:cNvGrpSpPr/>
          <p:nvPr/>
        </p:nvGrpSpPr>
        <p:grpSpPr>
          <a:xfrm>
            <a:off x="-3175" y="-635"/>
            <a:ext cx="12195175" cy="6858000"/>
            <a:chOff x="-20" y="-21"/>
            <a:chExt cx="19205" cy="10800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33611B02-A6BA-4670-42D6-DE89E52D511A}"/>
                </a:ext>
              </a:extLst>
            </p:cNvPr>
            <p:cNvGrpSpPr/>
            <p:nvPr/>
          </p:nvGrpSpPr>
          <p:grpSpPr>
            <a:xfrm>
              <a:off x="-20" y="-21"/>
              <a:ext cx="19205" cy="10800"/>
              <a:chOff x="0" y="0"/>
              <a:chExt cx="19205" cy="10800"/>
            </a:xfrm>
          </p:grpSpPr>
          <p:sp>
            <p:nvSpPr>
              <p:cNvPr id="86" name="Rectangle 1">
                <a:extLst>
                  <a:ext uri="{FF2B5EF4-FFF2-40B4-BE49-F238E27FC236}">
                    <a16:creationId xmlns:a16="http://schemas.microsoft.com/office/drawing/2014/main" id="{3995D331-FD9A-95C3-B04F-0F7607A4C600}"/>
                  </a:ext>
                </a:extLst>
              </p:cNvPr>
              <p:cNvSpPr/>
              <p:nvPr/>
            </p:nvSpPr>
            <p:spPr>
              <a:xfrm>
                <a:off x="0" y="0"/>
                <a:ext cx="19205" cy="10800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/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PA-102231">
                <a:extLst>
                  <a:ext uri="{FF2B5EF4-FFF2-40B4-BE49-F238E27FC236}">
                    <a16:creationId xmlns:a16="http://schemas.microsoft.com/office/drawing/2014/main" id="{5971748B-7046-7790-60DE-777E16F5B02D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798" y="10042"/>
                <a:ext cx="8533" cy="169"/>
              </a:xfrm>
              <a:prstGeom prst="rect">
                <a:avLst/>
              </a:prstGeom>
              <a:solidFill>
                <a:srgbClr val="068884"/>
              </a:solidFill>
              <a:ln>
                <a:noFill/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88" name="PA-102231">
                <a:extLst>
                  <a:ext uri="{FF2B5EF4-FFF2-40B4-BE49-F238E27FC236}">
                    <a16:creationId xmlns:a16="http://schemas.microsoft.com/office/drawing/2014/main" id="{C801BABE-3C0E-DB81-EB75-C36C1D1D8CB0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9858" y="10050"/>
                <a:ext cx="8533" cy="162"/>
              </a:xfrm>
              <a:prstGeom prst="rect">
                <a:avLst/>
              </a:prstGeom>
              <a:solidFill>
                <a:srgbClr val="068884"/>
              </a:solidFill>
              <a:ln>
                <a:noFill/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</p:grpSp>
        <p:sp>
          <p:nvSpPr>
            <p:cNvPr id="85" name="矩形: 折角 16">
              <a:extLst>
                <a:ext uri="{FF2B5EF4-FFF2-40B4-BE49-F238E27FC236}">
                  <a16:creationId xmlns:a16="http://schemas.microsoft.com/office/drawing/2014/main" id="{5339A0C7-EE82-5A9A-482E-98733EB3739A}"/>
                </a:ext>
              </a:extLst>
            </p:cNvPr>
            <p:cNvSpPr/>
            <p:nvPr/>
          </p:nvSpPr>
          <p:spPr>
            <a:xfrm rot="10800000">
              <a:off x="230" y="248"/>
              <a:ext cx="18709" cy="10259"/>
            </a:xfrm>
            <a:prstGeom prst="foldedCorner">
              <a:avLst>
                <a:gd name="adj" fmla="val 10200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4D41C4E9-F2A4-6463-D01C-BE8BFC15DFFE}"/>
              </a:ext>
            </a:extLst>
          </p:cNvPr>
          <p:cNvGrpSpPr/>
          <p:nvPr/>
        </p:nvGrpSpPr>
        <p:grpSpPr>
          <a:xfrm>
            <a:off x="297498" y="239357"/>
            <a:ext cx="11738292" cy="6427310"/>
            <a:chOff x="297498" y="239357"/>
            <a:chExt cx="11738292" cy="6427310"/>
          </a:xfrm>
        </p:grpSpPr>
        <p:sp>
          <p:nvSpPr>
            <p:cNvPr id="90" name="Rectangle 1">
              <a:extLst>
                <a:ext uri="{FF2B5EF4-FFF2-40B4-BE49-F238E27FC236}">
                  <a16:creationId xmlns:a16="http://schemas.microsoft.com/office/drawing/2014/main" id="{BE350FA9-742F-E800-9837-FD5B42C10CDB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98AC85F-11C6-03CE-B4A6-028F241CB180}"/>
                </a:ext>
              </a:extLst>
            </p:cNvPr>
            <p:cNvSpPr/>
            <p:nvPr/>
          </p:nvSpPr>
          <p:spPr>
            <a:xfrm>
              <a:off x="476885" y="6358890"/>
              <a:ext cx="378460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五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坐标的曲面积分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92" name="Rectangle 1">
              <a:extLst>
                <a:ext uri="{FF2B5EF4-FFF2-40B4-BE49-F238E27FC236}">
                  <a16:creationId xmlns:a16="http://schemas.microsoft.com/office/drawing/2014/main" id="{17E135AF-6C60-C961-CC5F-F9935449DAAA}"/>
                </a:ext>
              </a:extLst>
            </p:cNvPr>
            <p:cNvSpPr/>
            <p:nvPr userDrawn="1"/>
          </p:nvSpPr>
          <p:spPr>
            <a:xfrm rot="2659048">
              <a:off x="9060538" y="323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9B229D80-043C-F273-B454-665509285EE4}"/>
                </a:ext>
              </a:extLst>
            </p:cNvPr>
            <p:cNvSpPr/>
            <p:nvPr/>
          </p:nvSpPr>
          <p:spPr>
            <a:xfrm>
              <a:off x="9315710" y="239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678966D1-6B34-FE52-1D23-F6896A76B0B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3555" y="393245"/>
              <a:ext cx="8290137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5AA91586-900C-F062-6329-DB588C3E54D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06700" y="6512242"/>
              <a:ext cx="922909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1">
                <a:extLst>
                  <a:ext uri="{FF2B5EF4-FFF2-40B4-BE49-F238E27FC236}">
                    <a16:creationId xmlns:a16="http://schemas.microsoft.com/office/drawing/2014/main" id="{8904BB6B-AA30-A479-A322-5CC7EE9303FE}"/>
                  </a:ext>
                </a:extLst>
              </p:cNvPr>
              <p:cNvSpPr txBox="1"/>
              <p:nvPr/>
            </p:nvSpPr>
            <p:spPr bwMode="auto">
              <a:xfrm>
                <a:off x="1691122" y="1838836"/>
                <a:ext cx="2740026" cy="11879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21">
                <a:extLst>
                  <a:ext uri="{FF2B5EF4-FFF2-40B4-BE49-F238E27FC236}">
                    <a16:creationId xmlns:a16="http://schemas.microsoft.com/office/drawing/2014/main" id="{8904BB6B-AA30-A479-A322-5CC7EE930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122" y="1838836"/>
                <a:ext cx="2740026" cy="1187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41">
                <a:extLst>
                  <a:ext uri="{FF2B5EF4-FFF2-40B4-BE49-F238E27FC236}">
                    <a16:creationId xmlns:a16="http://schemas.microsoft.com/office/drawing/2014/main" id="{025F1EDE-6F24-5D20-C624-6DA4BBD14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202" y="1371600"/>
                <a:ext cx="243977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取下侧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则</a:t>
                </a:r>
              </a:p>
            </p:txBody>
          </p:sp>
        </mc:Choice>
        <mc:Fallback xmlns="">
          <p:sp>
            <p:nvSpPr>
              <p:cNvPr id="7" name="Rectangle 41">
                <a:extLst>
                  <a:ext uri="{FF2B5EF4-FFF2-40B4-BE49-F238E27FC236}">
                    <a16:creationId xmlns:a16="http://schemas.microsoft.com/office/drawing/2014/main" id="{025F1EDE-6F24-5D20-C624-6DA4BBD146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202" y="1371600"/>
                <a:ext cx="2439770" cy="523220"/>
              </a:xfrm>
              <a:prstGeom prst="rect">
                <a:avLst/>
              </a:prstGeom>
              <a:blipFill>
                <a:blip r:embed="rId5"/>
                <a:stretch>
                  <a:fillRect l="-5250" t="-15116" r="-3750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2">
                <a:extLst>
                  <a:ext uri="{FF2B5EF4-FFF2-40B4-BE49-F238E27FC236}">
                    <a16:creationId xmlns:a16="http://schemas.microsoft.com/office/drawing/2014/main" id="{33F47AF7-7E25-3D66-CFA3-E99ED8B318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0471" y="1352939"/>
                <a:ext cx="30607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zh-CN" altLang="en-US" sz="2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m:rPr>
                        <m:sty m:val="p"/>
                      </m:rPr>
                      <a:rPr kumimoji="1" lang="zh-CN" altLang="en-US" sz="2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zh-CN" altLang="en-US" sz="2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−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d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cos</a:t>
                </a:r>
                <a:r>
                  <a:rPr kumimoji="1" lang="en-US" altLang="zh-CN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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 Box 42">
                <a:extLst>
                  <a:ext uri="{FF2B5EF4-FFF2-40B4-BE49-F238E27FC236}">
                    <a16:creationId xmlns:a16="http://schemas.microsoft.com/office/drawing/2014/main" id="{33F47AF7-7E25-3D66-CFA3-E99ED8B31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0471" y="1352939"/>
                <a:ext cx="3060700" cy="523220"/>
              </a:xfrm>
              <a:prstGeom prst="rect">
                <a:avLst/>
              </a:prstGeom>
              <a:blipFill>
                <a:blip r:embed="rId6"/>
                <a:stretch>
                  <a:fillRect t="-12791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43">
            <a:extLst>
              <a:ext uri="{FF2B5EF4-FFF2-40B4-BE49-F238E27FC236}">
                <a16:creationId xmlns:a16="http://schemas.microsoft.com/office/drawing/2014/main" id="{2EBAE261-3D1E-6FB1-503C-E6FF4BCAA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02" y="2142039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4">
                <a:extLst>
                  <a:ext uri="{FF2B5EF4-FFF2-40B4-BE49-F238E27FC236}">
                    <a16:creationId xmlns:a16="http://schemas.microsoft.com/office/drawing/2014/main" id="{6B85DBF6-5CCE-BA55-974A-0B37A164B7BF}"/>
                  </a:ext>
                </a:extLst>
              </p:cNvPr>
              <p:cNvSpPr txBox="1"/>
              <p:nvPr/>
            </p:nvSpPr>
            <p:spPr bwMode="auto">
              <a:xfrm>
                <a:off x="4451641" y="1841728"/>
                <a:ext cx="4422296" cy="12636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=−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44">
                <a:extLst>
                  <a:ext uri="{FF2B5EF4-FFF2-40B4-BE49-F238E27FC236}">
                    <a16:creationId xmlns:a16="http://schemas.microsoft.com/office/drawing/2014/main" id="{6B85DBF6-5CCE-BA55-974A-0B37A164B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1641" y="1841728"/>
                <a:ext cx="4422296" cy="1263601"/>
              </a:xfrm>
              <a:prstGeom prst="rect">
                <a:avLst/>
              </a:prstGeom>
              <a:blipFill>
                <a:blip r:embed="rId7"/>
                <a:stretch>
                  <a:fillRect b="-4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5">
                <a:extLst>
                  <a:ext uri="{FF2B5EF4-FFF2-40B4-BE49-F238E27FC236}">
                    <a16:creationId xmlns:a16="http://schemas.microsoft.com/office/drawing/2014/main" id="{71A41970-DDE6-DD8E-ADC6-EEB3D2065902}"/>
                  </a:ext>
                </a:extLst>
              </p:cNvPr>
              <p:cNvSpPr txBox="1"/>
              <p:nvPr/>
            </p:nvSpPr>
            <p:spPr bwMode="auto">
              <a:xfrm>
                <a:off x="4452285" y="3155407"/>
                <a:ext cx="3733800" cy="11879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d>
                            <m:d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𝛾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45">
                <a:extLst>
                  <a:ext uri="{FF2B5EF4-FFF2-40B4-BE49-F238E27FC236}">
                    <a16:creationId xmlns:a16="http://schemas.microsoft.com/office/drawing/2014/main" id="{71A41970-DDE6-DD8E-ADC6-EEB3D2065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2285" y="3155407"/>
                <a:ext cx="3733800" cy="11879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47">
            <a:extLst>
              <a:ext uri="{FF2B5EF4-FFF2-40B4-BE49-F238E27FC236}">
                <a16:creationId xmlns:a16="http://schemas.microsoft.com/office/drawing/2014/main" id="{10A0E7C5-438D-6676-F279-7BBEFF70E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943430" y="1219200"/>
            <a:ext cx="1037952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48">
                <a:extLst>
                  <a:ext uri="{FF2B5EF4-FFF2-40B4-BE49-F238E27FC236}">
                    <a16:creationId xmlns:a16="http://schemas.microsoft.com/office/drawing/2014/main" id="{C7A1B4EF-4CBF-E44D-B1D5-73D321E96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202" y="4480421"/>
                <a:ext cx="543396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因此无论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取上侧还是下侧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都有</a:t>
                </a:r>
              </a:p>
            </p:txBody>
          </p:sp>
        </mc:Choice>
        <mc:Fallback xmlns="">
          <p:sp>
            <p:nvSpPr>
              <p:cNvPr id="13" name="Rectangle 48">
                <a:extLst>
                  <a:ext uri="{FF2B5EF4-FFF2-40B4-BE49-F238E27FC236}">
                    <a16:creationId xmlns:a16="http://schemas.microsoft.com/office/drawing/2014/main" id="{C7A1B4EF-4CBF-E44D-B1D5-73D321E963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202" y="4480421"/>
                <a:ext cx="5433969" cy="523220"/>
              </a:xfrm>
              <a:prstGeom prst="rect">
                <a:avLst/>
              </a:prstGeom>
              <a:blipFill>
                <a:blip r:embed="rId9"/>
                <a:stretch>
                  <a:fillRect l="-2357" t="-16279" r="-224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9">
                <a:extLst>
                  <a:ext uri="{FF2B5EF4-FFF2-40B4-BE49-F238E27FC236}">
                    <a16:creationId xmlns:a16="http://schemas.microsoft.com/office/drawing/2014/main" id="{85FBC9D4-1265-8470-EBFC-72EAB9EF25FA}"/>
                  </a:ext>
                </a:extLst>
              </p:cNvPr>
              <p:cNvSpPr txBox="1"/>
              <p:nvPr/>
            </p:nvSpPr>
            <p:spPr bwMode="auto">
              <a:xfrm>
                <a:off x="1684791" y="5003641"/>
                <a:ext cx="6541069" cy="11480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𝛾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49">
                <a:extLst>
                  <a:ext uri="{FF2B5EF4-FFF2-40B4-BE49-F238E27FC236}">
                    <a16:creationId xmlns:a16="http://schemas.microsoft.com/office/drawing/2014/main" id="{85FBC9D4-1265-8470-EBFC-72EAB9EF2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4791" y="5003641"/>
                <a:ext cx="6541069" cy="1148059"/>
              </a:xfrm>
              <a:prstGeom prst="rect">
                <a:avLst/>
              </a:prstGeom>
              <a:blipFill>
                <a:blip r:embed="rId10"/>
                <a:stretch>
                  <a:fillRect b="-15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29">
            <a:extLst>
              <a:ext uri="{FF2B5EF4-FFF2-40B4-BE49-F238E27FC236}">
                <a16:creationId xmlns:a16="http://schemas.microsoft.com/office/drawing/2014/main" id="{EA4DF83F-AB34-1146-1EE0-BEC5685E0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1635" y="576780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d</a:t>
            </a:r>
            <a:r>
              <a:rPr kumimoji="1" lang="en-US" altLang="zh-CN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30">
                <a:extLst>
                  <a:ext uri="{FF2B5EF4-FFF2-40B4-BE49-F238E27FC236}">
                    <a16:creationId xmlns:a16="http://schemas.microsoft.com/office/drawing/2014/main" id="{6933151C-4DA9-5284-7CA4-BA1AFA5728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1751" y="568049"/>
                <a:ext cx="1371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Text Box 30">
                <a:extLst>
                  <a:ext uri="{FF2B5EF4-FFF2-40B4-BE49-F238E27FC236}">
                    <a16:creationId xmlns:a16="http://schemas.microsoft.com/office/drawing/2014/main" id="{6933151C-4DA9-5284-7CA4-BA1AFA572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1751" y="568049"/>
                <a:ext cx="1371600" cy="523220"/>
              </a:xfrm>
              <a:prstGeom prst="rect">
                <a:avLst/>
              </a:prstGeom>
              <a:blipFill>
                <a:blip r:embed="rId11"/>
                <a:stretch>
                  <a:fillRect l="-9333" t="-11628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31">
                <a:extLst>
                  <a:ext uri="{FF2B5EF4-FFF2-40B4-BE49-F238E27FC236}">
                    <a16:creationId xmlns:a16="http://schemas.microsoft.com/office/drawing/2014/main" id="{8CB98AB7-EB28-DBA8-D14B-239CF8AB09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7460" y="568049"/>
                <a:ext cx="2438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 d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zh-CN" altLang="en-US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𝛾</m:t>
                            </m:r>
                          </m:e>
                        </m:func>
                      </m:e>
                    </m:d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5" name="Text Box 31">
                <a:extLst>
                  <a:ext uri="{FF2B5EF4-FFF2-40B4-BE49-F238E27FC236}">
                    <a16:creationId xmlns:a16="http://schemas.microsoft.com/office/drawing/2014/main" id="{8CB98AB7-EB28-DBA8-D14B-239CF8AB0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7460" y="568049"/>
                <a:ext cx="2438400" cy="523220"/>
              </a:xfrm>
              <a:prstGeom prst="rect">
                <a:avLst/>
              </a:prstGeom>
              <a:blipFill>
                <a:blip r:embed="rId12"/>
                <a:stretch>
                  <a:fillRect l="-5000" t="-11628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328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1" grpId="0"/>
      <p:bldP spid="12" grpId="0" animBg="1"/>
      <p:bldP spid="13" grpId="0"/>
      <p:bldP spid="14" grpId="0"/>
      <p:bldP spid="33" grpId="0"/>
      <p:bldP spid="34" grpId="0"/>
      <p:bldP spid="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4BE10402-B0B0-941E-7760-94212E5789C5}"/>
              </a:ext>
            </a:extLst>
          </p:cNvPr>
          <p:cNvGrpSpPr/>
          <p:nvPr/>
        </p:nvGrpSpPr>
        <p:grpSpPr>
          <a:xfrm>
            <a:off x="-3175" y="-635"/>
            <a:ext cx="12195175" cy="6858000"/>
            <a:chOff x="-20" y="-21"/>
            <a:chExt cx="19205" cy="10800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E4BDE502-D417-5B84-6C7D-00EC99666E68}"/>
                </a:ext>
              </a:extLst>
            </p:cNvPr>
            <p:cNvGrpSpPr/>
            <p:nvPr/>
          </p:nvGrpSpPr>
          <p:grpSpPr>
            <a:xfrm>
              <a:off x="-20" y="-21"/>
              <a:ext cx="19205" cy="10800"/>
              <a:chOff x="0" y="0"/>
              <a:chExt cx="19205" cy="10800"/>
            </a:xfrm>
          </p:grpSpPr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89470EC1-4722-BB10-03CF-27ACB127E6D2}"/>
                  </a:ext>
                </a:extLst>
              </p:cNvPr>
              <p:cNvSpPr/>
              <p:nvPr/>
            </p:nvSpPr>
            <p:spPr>
              <a:xfrm>
                <a:off x="0" y="0"/>
                <a:ext cx="19205" cy="10800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/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PA-102231">
                <a:extLst>
                  <a:ext uri="{FF2B5EF4-FFF2-40B4-BE49-F238E27FC236}">
                    <a16:creationId xmlns:a16="http://schemas.microsoft.com/office/drawing/2014/main" id="{5D396A78-FB73-79D7-6BAC-5A41FAE80BC9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798" y="10042"/>
                <a:ext cx="8533" cy="169"/>
              </a:xfrm>
              <a:prstGeom prst="rect">
                <a:avLst/>
              </a:prstGeom>
              <a:solidFill>
                <a:srgbClr val="068884"/>
              </a:solidFill>
              <a:ln>
                <a:noFill/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20" name="PA-102231">
                <a:extLst>
                  <a:ext uri="{FF2B5EF4-FFF2-40B4-BE49-F238E27FC236}">
                    <a16:creationId xmlns:a16="http://schemas.microsoft.com/office/drawing/2014/main" id="{F3AC2215-A7EC-DB2B-B75E-731DC94B268F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9858" y="10050"/>
                <a:ext cx="8533" cy="162"/>
              </a:xfrm>
              <a:prstGeom prst="rect">
                <a:avLst/>
              </a:prstGeom>
              <a:solidFill>
                <a:srgbClr val="068884"/>
              </a:solidFill>
              <a:ln>
                <a:noFill/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</p:grpSp>
        <p:sp>
          <p:nvSpPr>
            <p:cNvPr id="17" name="矩形: 折角 16">
              <a:extLst>
                <a:ext uri="{FF2B5EF4-FFF2-40B4-BE49-F238E27FC236}">
                  <a16:creationId xmlns:a16="http://schemas.microsoft.com/office/drawing/2014/main" id="{BA8B09B7-0EE0-DD23-2025-C86E6F7B1B81}"/>
                </a:ext>
              </a:extLst>
            </p:cNvPr>
            <p:cNvSpPr/>
            <p:nvPr/>
          </p:nvSpPr>
          <p:spPr>
            <a:xfrm rot="10800000">
              <a:off x="230" y="248"/>
              <a:ext cx="18709" cy="10259"/>
            </a:xfrm>
            <a:prstGeom prst="foldedCorner">
              <a:avLst>
                <a:gd name="adj" fmla="val 10200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3A344F4-1ECE-221A-2EEC-BE7F35512ED2}"/>
              </a:ext>
            </a:extLst>
          </p:cNvPr>
          <p:cNvGrpSpPr/>
          <p:nvPr/>
        </p:nvGrpSpPr>
        <p:grpSpPr>
          <a:xfrm>
            <a:off x="297498" y="239357"/>
            <a:ext cx="11738292" cy="6427310"/>
            <a:chOff x="297498" y="239357"/>
            <a:chExt cx="11738292" cy="6427310"/>
          </a:xfrm>
        </p:grpSpPr>
        <p:sp>
          <p:nvSpPr>
            <p:cNvPr id="22" name="Rectangle 1">
              <a:extLst>
                <a:ext uri="{FF2B5EF4-FFF2-40B4-BE49-F238E27FC236}">
                  <a16:creationId xmlns:a16="http://schemas.microsoft.com/office/drawing/2014/main" id="{2C4524E5-0150-3DBD-3A41-F001C6AC94AA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1CF6648-E16A-FFD6-E1B1-2C3036D13478}"/>
                </a:ext>
              </a:extLst>
            </p:cNvPr>
            <p:cNvSpPr/>
            <p:nvPr/>
          </p:nvSpPr>
          <p:spPr>
            <a:xfrm>
              <a:off x="476885" y="6358890"/>
              <a:ext cx="378460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五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坐标的曲面积分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C784B26E-FEA8-4494-06C4-F62F6406957B}"/>
                </a:ext>
              </a:extLst>
            </p:cNvPr>
            <p:cNvSpPr/>
            <p:nvPr userDrawn="1"/>
          </p:nvSpPr>
          <p:spPr>
            <a:xfrm rot="2659048">
              <a:off x="9060538" y="323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CFE9F08-F377-07D0-E4A7-0F858A23CCB8}"/>
                </a:ext>
              </a:extLst>
            </p:cNvPr>
            <p:cNvSpPr/>
            <p:nvPr/>
          </p:nvSpPr>
          <p:spPr>
            <a:xfrm>
              <a:off x="9315710" y="239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5B8EB1C4-DA24-1570-E101-0661DE4D47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3555" y="393245"/>
              <a:ext cx="8290137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F8D79D4-3342-EB85-7949-8D0F9E2969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06700" y="6512242"/>
              <a:ext cx="922909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4">
            <a:extLst>
              <a:ext uri="{FF2B5EF4-FFF2-40B4-BE49-F238E27FC236}">
                <a16:creationId xmlns:a16="http://schemas.microsoft.com/office/drawing/2014/main" id="{46641637-D588-84A3-6EB4-F896F2CA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144" y="1734886"/>
            <a:ext cx="5867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类似地可推得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B13025EA-9459-9F5A-A446-A4368FD14ED4}"/>
                  </a:ext>
                </a:extLst>
              </p:cNvPr>
              <p:cNvSpPr txBox="1"/>
              <p:nvPr/>
            </p:nvSpPr>
            <p:spPr bwMode="auto">
              <a:xfrm>
                <a:off x="2860107" y="2090510"/>
                <a:ext cx="7362824" cy="11566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𝛼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B13025EA-9459-9F5A-A446-A4368FD14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0107" y="2090510"/>
                <a:ext cx="7362824" cy="1156684"/>
              </a:xfrm>
              <a:prstGeom prst="rect">
                <a:avLst/>
              </a:prstGeom>
              <a:blipFill>
                <a:blip r:embed="rId4"/>
                <a:stretch>
                  <a:fillRect b="-5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29AB8FCD-013B-A3F6-54D9-37C34BF6406A}"/>
                  </a:ext>
                </a:extLst>
              </p:cNvPr>
              <p:cNvSpPr txBox="1"/>
              <p:nvPr/>
            </p:nvSpPr>
            <p:spPr bwMode="auto">
              <a:xfrm>
                <a:off x="2860107" y="3214329"/>
                <a:ext cx="7362824" cy="1208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𝑄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𝑄</m:t>
                          </m:r>
                          <m:d>
                            <m:d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𝛽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. </m:t>
                          </m:r>
                        </m:e>
                      </m:nary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29AB8FCD-013B-A3F6-54D9-37C34BF64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0107" y="3214329"/>
                <a:ext cx="7362824" cy="12080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8">
            <a:extLst>
              <a:ext uri="{FF2B5EF4-FFF2-40B4-BE49-F238E27FC236}">
                <a16:creationId xmlns:a16="http://schemas.microsoft.com/office/drawing/2014/main" id="{060CC46F-CE9D-89A2-0F51-270BAAF91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200" y="1677736"/>
            <a:ext cx="1026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B6A57834-9922-E332-E0B1-5C3691A0B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144" y="4384317"/>
            <a:ext cx="76771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上述三式合并起来即得两类曲面积分之间的联系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22B295C7-4473-81A3-80EB-F3E0B90E5C61}"/>
                  </a:ext>
                </a:extLst>
              </p:cNvPr>
              <p:cNvSpPr txBox="1"/>
              <p:nvPr/>
            </p:nvSpPr>
            <p:spPr>
              <a:xfrm>
                <a:off x="965200" y="4932614"/>
                <a:ext cx="10261600" cy="1303992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𝑃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𝛼</m:t>
                              </m:r>
                            </m:e>
                          </m:func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𝑄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𝛽</m:t>
                              </m:r>
                            </m:e>
                          </m:func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𝛾</m:t>
                              </m:r>
                            </m:e>
                          </m:func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22B295C7-4473-81A3-80EB-F3E0B90E5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4932614"/>
                <a:ext cx="10261600" cy="13039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9">
                <a:extLst>
                  <a:ext uri="{FF2B5EF4-FFF2-40B4-BE49-F238E27FC236}">
                    <a16:creationId xmlns:a16="http://schemas.microsoft.com/office/drawing/2014/main" id="{6D076B2D-78EA-229D-F07E-28FFBD7F1EB8}"/>
                  </a:ext>
                </a:extLst>
              </p:cNvPr>
              <p:cNvSpPr txBox="1"/>
              <p:nvPr/>
            </p:nvSpPr>
            <p:spPr bwMode="auto">
              <a:xfrm>
                <a:off x="2860107" y="432602"/>
                <a:ext cx="6541069" cy="11480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𝑅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𝛾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49">
                <a:extLst>
                  <a:ext uri="{FF2B5EF4-FFF2-40B4-BE49-F238E27FC236}">
                    <a16:creationId xmlns:a16="http://schemas.microsoft.com/office/drawing/2014/main" id="{6D076B2D-78EA-229D-F07E-28FFBD7F1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0107" y="432602"/>
                <a:ext cx="6541069" cy="1148059"/>
              </a:xfrm>
              <a:prstGeom prst="rect">
                <a:avLst/>
              </a:prstGeom>
              <a:blipFill>
                <a:blip r:embed="rId7"/>
                <a:stretch>
                  <a:fillRect b="-15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94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 animBg="1"/>
      <p:bldP spid="7" grpId="0"/>
      <p:bldP spid="8" grpId="0" animBg="1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1420FF8E-DCE2-1744-DB09-401C8E5FEB7A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4" name="PA-102232">
              <a:extLst>
                <a:ext uri="{FF2B5EF4-FFF2-40B4-BE49-F238E27FC236}">
                  <a16:creationId xmlns:a16="http://schemas.microsoft.com/office/drawing/2014/main" id="{E5A45059-E0B5-308A-4B89-BDF7C5B14C8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CF103D8C-0E58-02ED-16FA-57C70020223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BF501351-4E40-57D6-A80E-F0460F29D4B4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1B4EF9E6-1F7D-0F29-25EF-03C64ED1789A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8A0075F2-7247-6148-B0CF-B3DF07CA1590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6">
            <a:extLst>
              <a:ext uri="{FF2B5EF4-FFF2-40B4-BE49-F238E27FC236}">
                <a16:creationId xmlns:a16="http://schemas.microsoft.com/office/drawing/2014/main" id="{6B51BBF7-DBEB-CF34-0A9D-5785E343C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5" y="762724"/>
            <a:ext cx="2971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向量形式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7">
                <a:extLst>
                  <a:ext uri="{FF2B5EF4-FFF2-40B4-BE49-F238E27FC236}">
                    <a16:creationId xmlns:a16="http://schemas.microsoft.com/office/drawing/2014/main" id="{ADBB0D90-BEC8-B8FD-14FF-14AF25128974}"/>
                  </a:ext>
                </a:extLst>
              </p:cNvPr>
              <p:cNvSpPr txBox="1"/>
              <p:nvPr/>
            </p:nvSpPr>
            <p:spPr bwMode="auto">
              <a:xfrm>
                <a:off x="2206625" y="1414683"/>
                <a:ext cx="7909940" cy="12428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𝑨</m:t>
                          </m:r>
                          <m:r>
                            <a:rPr kumimoji="1" lang="zh-CN" altLang="en-US" sz="2800" b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b="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𝑨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⋅</m:t>
                          </m:r>
                          <m: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 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或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 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𝑨</m:t>
                          </m:r>
                          <m:r>
                            <a:rPr kumimoji="1" lang="zh-CN" altLang="en-US" sz="2800" b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b="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7">
                <a:extLst>
                  <a:ext uri="{FF2B5EF4-FFF2-40B4-BE49-F238E27FC236}">
                    <a16:creationId xmlns:a16="http://schemas.microsoft.com/office/drawing/2014/main" id="{ADBB0D90-BEC8-B8FD-14FF-14AF25128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6625" y="1414683"/>
                <a:ext cx="7909940" cy="12428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07741C3C-AB17-0F21-E019-0AABA6BCBB28}"/>
                  </a:ext>
                </a:extLst>
              </p:cNvPr>
              <p:cNvSpPr txBox="1"/>
              <p:nvPr/>
            </p:nvSpPr>
            <p:spPr>
              <a:xfrm>
                <a:off x="2206625" y="2818950"/>
                <a:ext cx="711200" cy="381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其中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07741C3C-AB17-0F21-E019-0AABA6BCB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625" y="2818950"/>
                <a:ext cx="711200" cy="381000"/>
              </a:xfrm>
              <a:prstGeom prst="rect">
                <a:avLst/>
              </a:prstGeom>
              <a:blipFill>
                <a:blip r:embed="rId4"/>
                <a:stretch>
                  <a:fillRect r="-5983" b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CC6B0652-F5EF-FCBE-2285-3A61996FAB5C}"/>
                  </a:ext>
                </a:extLst>
              </p:cNvPr>
              <p:cNvSpPr txBox="1"/>
              <p:nvPr/>
            </p:nvSpPr>
            <p:spPr>
              <a:xfrm>
                <a:off x="2206625" y="4658146"/>
                <a:ext cx="8342226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𝑺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𝑆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（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）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称为有向曲面元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CC6B0652-F5EF-FCBE-2285-3A61996FA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625" y="4658146"/>
                <a:ext cx="8342226" cy="444500"/>
              </a:xfrm>
              <a:prstGeom prst="rect">
                <a:avLst/>
              </a:prstGeom>
              <a:blipFill>
                <a:blip r:embed="rId5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C683A7B5-B06E-5674-D4AA-0A8CB71B7DFF}"/>
                  </a:ext>
                </a:extLst>
              </p:cNvPr>
              <p:cNvSpPr txBox="1"/>
              <p:nvPr/>
            </p:nvSpPr>
            <p:spPr>
              <a:xfrm>
                <a:off x="2206625" y="5251335"/>
                <a:ext cx="4936968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为向量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</m:t>
                      </m:r>
                      <m:r>
                        <a:rPr kumimoji="1" lang="zh-CN" altLang="en-US" sz="28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上的投影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C683A7B5-B06E-5674-D4AA-0A8CB71B7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625" y="5251335"/>
                <a:ext cx="4936968" cy="444500"/>
              </a:xfrm>
              <a:prstGeom prst="rect">
                <a:avLst/>
              </a:prstGeom>
              <a:blipFill>
                <a:blip r:embed="rId6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87464B57-EB54-9541-A8C4-D5A20D58B02A}"/>
                  </a:ext>
                </a:extLst>
              </p:cNvPr>
              <p:cNvSpPr txBox="1"/>
              <p:nvPr/>
            </p:nvSpPr>
            <p:spPr>
              <a:xfrm>
                <a:off x="2206625" y="3196240"/>
                <a:ext cx="7909940" cy="140211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𝑨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={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𝑅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}, </m:t>
                      </m:r>
                      <m:r>
                        <a:rPr kumimoji="1" lang="zh-CN" altLang="en-US" sz="28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={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𝛽</m:t>
                          </m:r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𝛾</m:t>
                          </m:r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}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为有向曲面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处的单位法向量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87464B57-EB54-9541-A8C4-D5A20D58B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625" y="3196240"/>
                <a:ext cx="7909940" cy="14021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2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FE055507-5E34-7A0C-9FB7-3F9D5AD18806}"/>
                  </a:ext>
                </a:extLst>
              </p:cNvPr>
              <p:cNvSpPr/>
              <p:nvPr/>
            </p:nvSpPr>
            <p:spPr>
              <a:xfrm>
                <a:off x="687959" y="400050"/>
                <a:ext cx="10817352" cy="60723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FE055507-5E34-7A0C-9FB7-3F9D5AD188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400050"/>
                <a:ext cx="10817352" cy="60723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半闭框 37">
            <a:extLst>
              <a:ext uri="{FF2B5EF4-FFF2-40B4-BE49-F238E27FC236}">
                <a16:creationId xmlns:a16="http://schemas.microsoft.com/office/drawing/2014/main" id="{1064B3E5-4186-09F9-AEA1-7A7F8FB3F898}"/>
              </a:ext>
            </a:extLst>
          </p:cNvPr>
          <p:cNvSpPr/>
          <p:nvPr/>
        </p:nvSpPr>
        <p:spPr>
          <a:xfrm>
            <a:off x="687324" y="403406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半闭框 38">
            <a:extLst>
              <a:ext uri="{FF2B5EF4-FFF2-40B4-BE49-F238E27FC236}">
                <a16:creationId xmlns:a16="http://schemas.microsoft.com/office/drawing/2014/main" id="{A1FEF6D8-1D44-14FE-4BD7-3CF7EB0A3E3E}"/>
              </a:ext>
            </a:extLst>
          </p:cNvPr>
          <p:cNvSpPr/>
          <p:nvPr/>
        </p:nvSpPr>
        <p:spPr>
          <a:xfrm flipH="1">
            <a:off x="10822895" y="40342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>
            <a:extLst>
              <a:ext uri="{FF2B5EF4-FFF2-40B4-BE49-F238E27FC236}">
                <a16:creationId xmlns:a16="http://schemas.microsoft.com/office/drawing/2014/main" id="{8BE4A480-7E7B-C60F-DFE4-F249DA6E683F}"/>
              </a:ext>
            </a:extLst>
          </p:cNvPr>
          <p:cNvSpPr/>
          <p:nvPr/>
        </p:nvSpPr>
        <p:spPr>
          <a:xfrm flipV="1">
            <a:off x="687324" y="5795243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>
            <a:extLst>
              <a:ext uri="{FF2B5EF4-FFF2-40B4-BE49-F238E27FC236}">
                <a16:creationId xmlns:a16="http://schemas.microsoft.com/office/drawing/2014/main" id="{9D9CF37A-11D4-DB77-935B-EF68C82F756B}"/>
              </a:ext>
            </a:extLst>
          </p:cNvPr>
          <p:cNvSpPr/>
          <p:nvPr/>
        </p:nvSpPr>
        <p:spPr>
          <a:xfrm flipH="1" flipV="1">
            <a:off x="10823530" y="578048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Rectangle 70">
            <a:extLst>
              <a:ext uri="{FF2B5EF4-FFF2-40B4-BE49-F238E27FC236}">
                <a16:creationId xmlns:a16="http://schemas.microsoft.com/office/drawing/2014/main" id="{6A16A413-5153-4317-63B0-AE5491E87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5781" y="4087382"/>
            <a:ext cx="3048000" cy="1905000"/>
          </a:xfrm>
          <a:prstGeom prst="rect">
            <a:avLst/>
          </a:prstGeom>
          <a:solidFill>
            <a:srgbClr val="04926A">
              <a:alpha val="42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8">
                <a:extLst>
                  <a:ext uri="{FF2B5EF4-FFF2-40B4-BE49-F238E27FC236}">
                    <a16:creationId xmlns:a16="http://schemas.microsoft.com/office/drawing/2014/main" id="{3F4F3095-F419-C5B8-1BC7-E750AB7B14AD}"/>
                  </a:ext>
                </a:extLst>
              </p:cNvPr>
              <p:cNvSpPr txBox="1"/>
              <p:nvPr/>
            </p:nvSpPr>
            <p:spPr bwMode="auto">
              <a:xfrm>
                <a:off x="7904842" y="4127186"/>
                <a:ext cx="2822575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38">
                <a:extLst>
                  <a:ext uri="{FF2B5EF4-FFF2-40B4-BE49-F238E27FC236}">
                    <a16:creationId xmlns:a16="http://schemas.microsoft.com/office/drawing/2014/main" id="{3F4F3095-F419-C5B8-1BC7-E750AB7B1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04842" y="4127186"/>
                <a:ext cx="2822575" cy="939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A02DB91D-F1B0-C48B-0FC0-68B69FA2F2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38374" y="602080"/>
                <a:ext cx="168433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是</m:t>
                    </m:r>
                  </m:oMath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A02DB91D-F1B0-C48B-0FC0-68B69FA2F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8374" y="602080"/>
                <a:ext cx="1684337" cy="523220"/>
              </a:xfrm>
              <a:prstGeom prst="rect">
                <a:avLst/>
              </a:prstGeom>
              <a:blipFill>
                <a:blip r:embed="rId4"/>
                <a:stretch>
                  <a:fillRect l="-7220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39DF70D-59FD-EE1A-26A0-162B55E92C04}"/>
              </a:ext>
            </a:extLst>
          </p:cNvPr>
          <p:cNvSpPr txBox="1">
            <a:spLocks noChangeArrowheads="1"/>
          </p:cNvSpPr>
          <p:nvPr/>
        </p:nvSpPr>
        <p:spPr>
          <a:xfrm>
            <a:off x="1161143" y="647814"/>
            <a:ext cx="33528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计算曲面积分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8">
                <a:extLst>
                  <a:ext uri="{FF2B5EF4-FFF2-40B4-BE49-F238E27FC236}">
                    <a16:creationId xmlns:a16="http://schemas.microsoft.com/office/drawing/2014/main" id="{7DB96555-4C0A-1CE5-7E17-9EB192707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1143" y="2639975"/>
                <a:ext cx="50355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利用两类曲面积分的联系</a:t>
                </a:r>
                <a14:m>
                  <m:oMath xmlns:m="http://schemas.openxmlformats.org/officeDocument/2006/math">
                    <m:r>
                      <a:rPr kumimoji="1" lang="zh-CN" altLang="en-US" sz="2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有</a:t>
                </a:r>
              </a:p>
            </p:txBody>
          </p:sp>
        </mc:Choice>
        <mc:Fallback xmlns="">
          <p:sp>
            <p:nvSpPr>
              <p:cNvPr id="5" name="Text Box 28">
                <a:extLst>
                  <a:ext uri="{FF2B5EF4-FFF2-40B4-BE49-F238E27FC236}">
                    <a16:creationId xmlns:a16="http://schemas.microsoft.com/office/drawing/2014/main" id="{7DB96555-4C0A-1CE5-7E17-9EB192707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61143" y="2639975"/>
                <a:ext cx="5035550" cy="523220"/>
              </a:xfrm>
              <a:prstGeom prst="rect">
                <a:avLst/>
              </a:prstGeom>
              <a:blipFill>
                <a:blip r:embed="rId5"/>
                <a:stretch>
                  <a:fillRect l="-2418" t="-11628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9">
                <a:extLst>
                  <a:ext uri="{FF2B5EF4-FFF2-40B4-BE49-F238E27FC236}">
                    <a16:creationId xmlns:a16="http://schemas.microsoft.com/office/drawing/2014/main" id="{5FC58774-2C9D-6578-2FFB-6D8D44E0A7E8}"/>
                  </a:ext>
                </a:extLst>
              </p:cNvPr>
              <p:cNvSpPr txBox="1"/>
              <p:nvPr/>
            </p:nvSpPr>
            <p:spPr bwMode="auto">
              <a:xfrm>
                <a:off x="2862944" y="3003875"/>
                <a:ext cx="2882900" cy="11172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en-US" altLang="zh-CN" sz="2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29">
                <a:extLst>
                  <a:ext uri="{FF2B5EF4-FFF2-40B4-BE49-F238E27FC236}">
                    <a16:creationId xmlns:a16="http://schemas.microsoft.com/office/drawing/2014/main" id="{5FC58774-2C9D-6578-2FFB-6D8D44E0A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2944" y="3003875"/>
                <a:ext cx="2882900" cy="11172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1">
                <a:extLst>
                  <a:ext uri="{FF2B5EF4-FFF2-40B4-BE49-F238E27FC236}">
                    <a16:creationId xmlns:a16="http://schemas.microsoft.com/office/drawing/2014/main" id="{926E0E88-2F59-481E-1AF5-D3AAEC704B8F}"/>
                  </a:ext>
                </a:extLst>
              </p:cNvPr>
              <p:cNvSpPr txBox="1"/>
              <p:nvPr/>
            </p:nvSpPr>
            <p:spPr bwMode="auto">
              <a:xfrm>
                <a:off x="2885169" y="3800517"/>
                <a:ext cx="2155825" cy="12178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31">
                <a:extLst>
                  <a:ext uri="{FF2B5EF4-FFF2-40B4-BE49-F238E27FC236}">
                    <a16:creationId xmlns:a16="http://schemas.microsoft.com/office/drawing/2014/main" id="{926E0E88-2F59-481E-1AF5-D3AAEC704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5169" y="3800517"/>
                <a:ext cx="2155825" cy="12178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2">
                <a:extLst>
                  <a:ext uri="{FF2B5EF4-FFF2-40B4-BE49-F238E27FC236}">
                    <a16:creationId xmlns:a16="http://schemas.microsoft.com/office/drawing/2014/main" id="{A92B9CAF-E696-C57C-2459-173DA19670E0}"/>
                  </a:ext>
                </a:extLst>
              </p:cNvPr>
              <p:cNvSpPr txBox="1"/>
              <p:nvPr/>
            </p:nvSpPr>
            <p:spPr bwMode="auto">
              <a:xfrm>
                <a:off x="4571092" y="4027019"/>
                <a:ext cx="1325563" cy="5131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𝑆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32">
                <a:extLst>
                  <a:ext uri="{FF2B5EF4-FFF2-40B4-BE49-F238E27FC236}">
                    <a16:creationId xmlns:a16="http://schemas.microsoft.com/office/drawing/2014/main" id="{A92B9CAF-E696-C57C-2459-173DA1967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1092" y="4027019"/>
                <a:ext cx="1325563" cy="5131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4">
                <a:extLst>
                  <a:ext uri="{FF2B5EF4-FFF2-40B4-BE49-F238E27FC236}">
                    <a16:creationId xmlns:a16="http://schemas.microsoft.com/office/drawing/2014/main" id="{13442EFE-6373-3A33-92D6-56B2EB2202FE}"/>
                  </a:ext>
                </a:extLst>
              </p:cNvPr>
              <p:cNvSpPr txBox="1"/>
              <p:nvPr/>
            </p:nvSpPr>
            <p:spPr bwMode="auto">
              <a:xfrm>
                <a:off x="4593318" y="4743503"/>
                <a:ext cx="1892300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𝛼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𝛾</m:t>
                              </m:r>
                            </m:e>
                          </m:func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34">
                <a:extLst>
                  <a:ext uri="{FF2B5EF4-FFF2-40B4-BE49-F238E27FC236}">
                    <a16:creationId xmlns:a16="http://schemas.microsoft.com/office/drawing/2014/main" id="{13442EFE-6373-3A33-92D6-56B2EB220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3318" y="4743503"/>
                <a:ext cx="1892300" cy="901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54">
            <a:extLst>
              <a:ext uri="{FF2B5EF4-FFF2-40B4-BE49-F238E27FC236}">
                <a16:creationId xmlns:a16="http://schemas.microsoft.com/office/drawing/2014/main" id="{F3EC2AB6-51B1-07F6-A981-03FA0C2FE1F7}"/>
              </a:ext>
            </a:extLst>
          </p:cNvPr>
          <p:cNvGrpSpPr>
            <a:grpSpLocks/>
          </p:cNvGrpSpPr>
          <p:nvPr/>
        </p:nvGrpSpPr>
        <p:grpSpPr bwMode="auto">
          <a:xfrm>
            <a:off x="8627312" y="1077516"/>
            <a:ext cx="1981200" cy="2260600"/>
            <a:chOff x="4368" y="336"/>
            <a:chExt cx="1248" cy="14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20">
                  <a:extLst>
                    <a:ext uri="{FF2B5EF4-FFF2-40B4-BE49-F238E27FC236}">
                      <a16:creationId xmlns:a16="http://schemas.microsoft.com/office/drawing/2014/main" id="{315B98E4-64B2-9FBB-12B6-291F7664B5D9}"/>
                    </a:ext>
                  </a:extLst>
                </p:cNvPr>
                <p:cNvSpPr txBox="1"/>
                <p:nvPr/>
              </p:nvSpPr>
              <p:spPr bwMode="auto">
                <a:xfrm>
                  <a:off x="4869" y="1250"/>
                  <a:ext cx="159" cy="1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1" name="Object 20">
                  <a:extLst>
                    <a:ext uri="{FF2B5EF4-FFF2-40B4-BE49-F238E27FC236}">
                      <a16:creationId xmlns:a16="http://schemas.microsoft.com/office/drawing/2014/main" id="{315B98E4-64B2-9FBB-12B6-291F7664B5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69" y="1250"/>
                  <a:ext cx="159" cy="188"/>
                </a:xfrm>
                <a:prstGeom prst="rect">
                  <a:avLst/>
                </a:prstGeom>
                <a:blipFill>
                  <a:blip r:embed="rId10"/>
                  <a:stretch>
                    <a:fillRect r="-24390" b="-2653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22">
                  <a:extLst>
                    <a:ext uri="{FF2B5EF4-FFF2-40B4-BE49-F238E27FC236}">
                      <a16:creationId xmlns:a16="http://schemas.microsoft.com/office/drawing/2014/main" id="{3A9714D7-853A-5AA1-7586-66D04FD5426F}"/>
                    </a:ext>
                  </a:extLst>
                </p:cNvPr>
                <p:cNvSpPr txBox="1"/>
                <p:nvPr/>
              </p:nvSpPr>
              <p:spPr bwMode="auto">
                <a:xfrm>
                  <a:off x="5415" y="1257"/>
                  <a:ext cx="189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2" name="Object 22">
                  <a:extLst>
                    <a:ext uri="{FF2B5EF4-FFF2-40B4-BE49-F238E27FC236}">
                      <a16:creationId xmlns:a16="http://schemas.microsoft.com/office/drawing/2014/main" id="{3A9714D7-853A-5AA1-7586-66D04FD542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5" y="1257"/>
                  <a:ext cx="189" cy="220"/>
                </a:xfrm>
                <a:prstGeom prst="rect">
                  <a:avLst/>
                </a:prstGeom>
                <a:blipFill>
                  <a:blip r:embed="rId11"/>
                  <a:stretch>
                    <a:fillRect l="-4082" r="-16327" b="-3508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23">
                  <a:extLst>
                    <a:ext uri="{FF2B5EF4-FFF2-40B4-BE49-F238E27FC236}">
                      <a16:creationId xmlns:a16="http://schemas.microsoft.com/office/drawing/2014/main" id="{0805BB0E-04B9-0A1E-3E06-7E836783CBF2}"/>
                    </a:ext>
                  </a:extLst>
                </p:cNvPr>
                <p:cNvSpPr txBox="1"/>
                <p:nvPr/>
              </p:nvSpPr>
              <p:spPr bwMode="auto">
                <a:xfrm>
                  <a:off x="4680" y="1572"/>
                  <a:ext cx="169" cy="1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3" name="Object 23">
                  <a:extLst>
                    <a:ext uri="{FF2B5EF4-FFF2-40B4-BE49-F238E27FC236}">
                      <a16:creationId xmlns:a16="http://schemas.microsoft.com/office/drawing/2014/main" id="{0805BB0E-04B9-0A1E-3E06-7E836783CB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80" y="1572"/>
                  <a:ext cx="169" cy="188"/>
                </a:xfrm>
                <a:prstGeom prst="rect">
                  <a:avLst/>
                </a:prstGeom>
                <a:blipFill>
                  <a:blip r:embed="rId12"/>
                  <a:stretch>
                    <a:fillRect r="-13333" b="-2653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53">
              <a:extLst>
                <a:ext uri="{FF2B5EF4-FFF2-40B4-BE49-F238E27FC236}">
                  <a16:creationId xmlns:a16="http://schemas.microsoft.com/office/drawing/2014/main" id="{A259F68F-E46B-DED9-885C-C7DD909CCE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336"/>
              <a:ext cx="1248" cy="1392"/>
              <a:chOff x="4368" y="336"/>
              <a:chExt cx="1248" cy="139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Object 21">
                    <a:extLst>
                      <a:ext uri="{FF2B5EF4-FFF2-40B4-BE49-F238E27FC236}">
                        <a16:creationId xmlns:a16="http://schemas.microsoft.com/office/drawing/2014/main" id="{2D758321-5141-89C1-1281-C88F9C252D7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944" y="336"/>
                    <a:ext cx="232" cy="2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CN" altLang="en-US" sz="2200"/>
                  </a:p>
                </p:txBody>
              </p:sp>
            </mc:Choice>
            <mc:Fallback xmlns="">
              <p:sp>
                <p:nvSpPr>
                  <p:cNvPr id="16" name="Object 21">
                    <a:extLst>
                      <a:ext uri="{FF2B5EF4-FFF2-40B4-BE49-F238E27FC236}">
                        <a16:creationId xmlns:a16="http://schemas.microsoft.com/office/drawing/2014/main" id="{2D758321-5141-89C1-1281-C88F9C252D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44" y="336"/>
                    <a:ext cx="232" cy="2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3333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755B091D-B96E-D295-75CC-2E0C6EA45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8" y="720"/>
                <a:ext cx="1152" cy="576"/>
              </a:xfrm>
              <a:custGeom>
                <a:avLst/>
                <a:gdLst>
                  <a:gd name="T0" fmla="*/ 0 w 1152"/>
                  <a:gd name="T1" fmla="*/ 0 h 576"/>
                  <a:gd name="T2" fmla="*/ 288 w 1152"/>
                  <a:gd name="T3" fmla="*/ 432 h 576"/>
                  <a:gd name="T4" fmla="*/ 576 w 1152"/>
                  <a:gd name="T5" fmla="*/ 576 h 576"/>
                  <a:gd name="T6" fmla="*/ 864 w 1152"/>
                  <a:gd name="T7" fmla="*/ 432 h 576"/>
                  <a:gd name="T8" fmla="*/ 1152 w 1152"/>
                  <a:gd name="T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2" h="576">
                    <a:moveTo>
                      <a:pt x="0" y="0"/>
                    </a:moveTo>
                    <a:cubicBezTo>
                      <a:pt x="96" y="168"/>
                      <a:pt x="192" y="336"/>
                      <a:pt x="288" y="432"/>
                    </a:cubicBezTo>
                    <a:cubicBezTo>
                      <a:pt x="384" y="528"/>
                      <a:pt x="480" y="576"/>
                      <a:pt x="576" y="576"/>
                    </a:cubicBezTo>
                    <a:cubicBezTo>
                      <a:pt x="672" y="576"/>
                      <a:pt x="768" y="528"/>
                      <a:pt x="864" y="432"/>
                    </a:cubicBezTo>
                    <a:cubicBezTo>
                      <a:pt x="960" y="336"/>
                      <a:pt x="1056" y="168"/>
                      <a:pt x="1152" y="0"/>
                    </a:cubicBezTo>
                  </a:path>
                </a:pathLst>
              </a:custGeom>
              <a:solidFill>
                <a:srgbClr val="4A7BA8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4B27BDC-1169-C0AA-7FDC-BA03FD9A4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624"/>
                <a:ext cx="1152" cy="192"/>
              </a:xfrm>
              <a:prstGeom prst="ellipse">
                <a:avLst/>
              </a:prstGeom>
              <a:solidFill>
                <a:srgbClr val="04926A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57AF3AB6-C7B1-FE48-3EED-CC997556F0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56" y="720"/>
                <a:ext cx="960" cy="1008"/>
                <a:chOff x="4512" y="1056"/>
                <a:chExt cx="960" cy="1008"/>
              </a:xfrm>
            </p:grpSpPr>
            <p:sp>
              <p:nvSpPr>
                <p:cNvPr id="22" name="Line 9">
                  <a:extLst>
                    <a:ext uri="{FF2B5EF4-FFF2-40B4-BE49-F238E27FC236}">
                      <a16:creationId xmlns:a16="http://schemas.microsoft.com/office/drawing/2014/main" id="{21EF1AF0-EBE1-6792-C4B7-8BFA79F037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1632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23" name="Line 10">
                  <a:extLst>
                    <a:ext uri="{FF2B5EF4-FFF2-40B4-BE49-F238E27FC236}">
                      <a16:creationId xmlns:a16="http://schemas.microsoft.com/office/drawing/2014/main" id="{EA51E267-EACB-D75F-2FC8-C879C729C8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12" y="1632"/>
                  <a:ext cx="288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24" name="Line 11">
                  <a:extLst>
                    <a:ext uri="{FF2B5EF4-FFF2-40B4-BE49-F238E27FC236}">
                      <a16:creationId xmlns:a16="http://schemas.microsoft.com/office/drawing/2014/main" id="{FD1BE280-976A-C038-88EA-08D147D16C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00" y="1056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20" name="Line 19">
                <a:extLst>
                  <a:ext uri="{FF2B5EF4-FFF2-40B4-BE49-F238E27FC236}">
                    <a16:creationId xmlns:a16="http://schemas.microsoft.com/office/drawing/2014/main" id="{ABA5E675-BCE2-C36D-46A7-C6716B01B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44" y="43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bject 24">
                    <a:extLst>
                      <a:ext uri="{FF2B5EF4-FFF2-40B4-BE49-F238E27FC236}">
                        <a16:creationId xmlns:a16="http://schemas.microsoft.com/office/drawing/2014/main" id="{3E5DDC20-BE39-7863-5943-466F699AA128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944" y="596"/>
                    <a:ext cx="169" cy="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2200"/>
                  </a:p>
                </p:txBody>
              </p:sp>
            </mc:Choice>
            <mc:Fallback xmlns="">
              <p:sp>
                <p:nvSpPr>
                  <p:cNvPr id="21" name="Object 24">
                    <a:extLst>
                      <a:ext uri="{FF2B5EF4-FFF2-40B4-BE49-F238E27FC236}">
                        <a16:creationId xmlns:a16="http://schemas.microsoft.com/office/drawing/2014/main" id="{3E5DDC20-BE39-7863-5943-466F699AA1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44" y="596"/>
                    <a:ext cx="169" cy="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273" r="-27273" b="-15517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Line 35">
              <a:extLst>
                <a:ext uri="{FF2B5EF4-FFF2-40B4-BE49-F238E27FC236}">
                  <a16:creationId xmlns:a16="http://schemas.microsoft.com/office/drawing/2014/main" id="{7DA2E74B-D171-9C25-6D83-D77255D6E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008"/>
              <a:ext cx="24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37">
                <a:extLst>
                  <a:ext uri="{FF2B5EF4-FFF2-40B4-BE49-F238E27FC236}">
                    <a16:creationId xmlns:a16="http://schemas.microsoft.com/office/drawing/2014/main" id="{41657948-6C6E-E06F-A672-D2A16F5689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7638" y="5668025"/>
                <a:ext cx="161131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∴ 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原式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Text Box 37">
                <a:extLst>
                  <a:ext uri="{FF2B5EF4-FFF2-40B4-BE49-F238E27FC236}">
                    <a16:creationId xmlns:a16="http://schemas.microsoft.com/office/drawing/2014/main" id="{41657948-6C6E-E06F-A672-D2A16F568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7638" y="5668025"/>
                <a:ext cx="1611313" cy="430887"/>
              </a:xfrm>
              <a:prstGeom prst="rect">
                <a:avLst/>
              </a:prstGeom>
              <a:blipFill>
                <a:blip r:embed="rId15"/>
                <a:stretch>
                  <a:fillRect l="-4924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41">
                <a:extLst>
                  <a:ext uri="{FF2B5EF4-FFF2-40B4-BE49-F238E27FC236}">
                    <a16:creationId xmlns:a16="http://schemas.microsoft.com/office/drawing/2014/main" id="{35333210-5EC5-8291-DD85-6885DDC6CD7B}"/>
                  </a:ext>
                </a:extLst>
              </p:cNvPr>
              <p:cNvSpPr txBox="1"/>
              <p:nvPr/>
            </p:nvSpPr>
            <p:spPr bwMode="auto">
              <a:xfrm>
                <a:off x="4558932" y="5640279"/>
                <a:ext cx="723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(−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41">
                <a:extLst>
                  <a:ext uri="{FF2B5EF4-FFF2-40B4-BE49-F238E27FC236}">
                    <a16:creationId xmlns:a16="http://schemas.microsoft.com/office/drawing/2014/main" id="{35333210-5EC5-8291-DD85-6885DDC6C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8932" y="5640279"/>
                <a:ext cx="723900" cy="393700"/>
              </a:xfrm>
              <a:prstGeom prst="rect">
                <a:avLst/>
              </a:prstGeom>
              <a:blipFill>
                <a:blip r:embed="rId16"/>
                <a:stretch>
                  <a:fillRect l="-5882" r="-12605" b="-27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9">
                <a:extLst>
                  <a:ext uri="{FF2B5EF4-FFF2-40B4-BE49-F238E27FC236}">
                    <a16:creationId xmlns:a16="http://schemas.microsoft.com/office/drawing/2014/main" id="{52E5BA5D-DAD1-EB88-93E8-B1ACC79112F0}"/>
                  </a:ext>
                </a:extLst>
              </p:cNvPr>
              <p:cNvSpPr txBox="1"/>
              <p:nvPr/>
            </p:nvSpPr>
            <p:spPr bwMode="auto">
              <a:xfrm>
                <a:off x="3152407" y="5425511"/>
                <a:ext cx="1611313" cy="800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[(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39">
                <a:extLst>
                  <a:ext uri="{FF2B5EF4-FFF2-40B4-BE49-F238E27FC236}">
                    <a16:creationId xmlns:a16="http://schemas.microsoft.com/office/drawing/2014/main" id="{52E5BA5D-DAD1-EB88-93E8-B1ACC7911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52407" y="5425511"/>
                <a:ext cx="1611313" cy="800100"/>
              </a:xfrm>
              <a:prstGeom prst="rect">
                <a:avLst/>
              </a:prstGeom>
              <a:blipFill>
                <a:blip r:embed="rId17"/>
                <a:stretch>
                  <a:fillRect b="-152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40">
                <a:extLst>
                  <a:ext uri="{FF2B5EF4-FFF2-40B4-BE49-F238E27FC236}">
                    <a16:creationId xmlns:a16="http://schemas.microsoft.com/office/drawing/2014/main" id="{80C9CC23-3E41-167E-EC98-1EF5861BC7DE}"/>
                  </a:ext>
                </a:extLst>
              </p:cNvPr>
              <p:cNvSpPr txBox="1"/>
              <p:nvPr/>
            </p:nvSpPr>
            <p:spPr bwMode="auto">
              <a:xfrm>
                <a:off x="5204758" y="5640279"/>
                <a:ext cx="161290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40">
                <a:extLst>
                  <a:ext uri="{FF2B5EF4-FFF2-40B4-BE49-F238E27FC236}">
                    <a16:creationId xmlns:a16="http://schemas.microsoft.com/office/drawing/2014/main" id="{80C9CC23-3E41-167E-EC98-1EF5861BC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4758" y="5640279"/>
                <a:ext cx="1612900" cy="495300"/>
              </a:xfrm>
              <a:prstGeom prst="rect">
                <a:avLst/>
              </a:prstGeom>
              <a:blipFill>
                <a:blip r:embed="rId18"/>
                <a:stretch>
                  <a:fillRect l="-5682" t="-112346" b="-1604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3">
                <a:extLst>
                  <a:ext uri="{FF2B5EF4-FFF2-40B4-BE49-F238E27FC236}">
                    <a16:creationId xmlns:a16="http://schemas.microsoft.com/office/drawing/2014/main" id="{CDCA3669-436F-E8C5-9A57-8477372AE221}"/>
                  </a:ext>
                </a:extLst>
              </p:cNvPr>
              <p:cNvSpPr txBox="1"/>
              <p:nvPr/>
            </p:nvSpPr>
            <p:spPr bwMode="auto">
              <a:xfrm>
                <a:off x="4118812" y="302159"/>
                <a:ext cx="4215515" cy="1322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3">
                <a:extLst>
                  <a:ext uri="{FF2B5EF4-FFF2-40B4-BE49-F238E27FC236}">
                    <a16:creationId xmlns:a16="http://schemas.microsoft.com/office/drawing/2014/main" id="{CDCA3669-436F-E8C5-9A57-8477372AE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8812" y="302159"/>
                <a:ext cx="4215515" cy="13223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5">
            <a:extLst>
              <a:ext uri="{FF2B5EF4-FFF2-40B4-BE49-F238E27FC236}">
                <a16:creationId xmlns:a16="http://schemas.microsoft.com/office/drawing/2014/main" id="{EF2C4E00-7CE6-D478-BBD7-0BAE45F6A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843" y="1647489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旋转抛物面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6">
                <a:extLst>
                  <a:ext uri="{FF2B5EF4-FFF2-40B4-BE49-F238E27FC236}">
                    <a16:creationId xmlns:a16="http://schemas.microsoft.com/office/drawing/2014/main" id="{D419667F-31D4-E773-320B-F18448B53280}"/>
                  </a:ext>
                </a:extLst>
              </p:cNvPr>
              <p:cNvSpPr txBox="1"/>
              <p:nvPr/>
            </p:nvSpPr>
            <p:spPr bwMode="auto">
              <a:xfrm>
                <a:off x="3764643" y="1393369"/>
                <a:ext cx="3022600" cy="881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6">
                <a:extLst>
                  <a:ext uri="{FF2B5EF4-FFF2-40B4-BE49-F238E27FC236}">
                    <a16:creationId xmlns:a16="http://schemas.microsoft.com/office/drawing/2014/main" id="{D419667F-31D4-E773-320B-F18448B53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4643" y="1393369"/>
                <a:ext cx="3022600" cy="88106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7">
            <a:extLst>
              <a:ext uri="{FF2B5EF4-FFF2-40B4-BE49-F238E27FC236}">
                <a16:creationId xmlns:a16="http://schemas.microsoft.com/office/drawing/2014/main" id="{29D1C7C2-1D5D-D6DD-A805-59F93C639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693" y="1649076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介于平面 </a:t>
            </a:r>
            <a:r>
              <a:rPr kumimoji="1"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8">
                <a:extLst>
                  <a:ext uri="{FF2B5EF4-FFF2-40B4-BE49-F238E27FC236}">
                    <a16:creationId xmlns:a16="http://schemas.microsoft.com/office/drawing/2014/main" id="{9537FF61-0897-F24B-4AC8-006820BFBB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2668" y="2212239"/>
                <a:ext cx="6096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及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=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2</m:t>
                    </m:r>
                  </m:oMath>
                </a14:m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之间部分的下侧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.   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629DD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3" name="Text Box 8">
                <a:extLst>
                  <a:ext uri="{FF2B5EF4-FFF2-40B4-BE49-F238E27FC236}">
                    <a16:creationId xmlns:a16="http://schemas.microsoft.com/office/drawing/2014/main" id="{9537FF61-0897-F24B-4AC8-006820BFB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2668" y="2212239"/>
                <a:ext cx="6096000" cy="519112"/>
              </a:xfrm>
              <a:prstGeom prst="rect">
                <a:avLst/>
              </a:prstGeom>
              <a:blipFill>
                <a:blip r:embed="rId21"/>
                <a:stretch>
                  <a:fillRect l="-2000" t="-16471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3">
                <a:extLst>
                  <a:ext uri="{FF2B5EF4-FFF2-40B4-BE49-F238E27FC236}">
                    <a16:creationId xmlns:a16="http://schemas.microsoft.com/office/drawing/2014/main" id="{9D2C57DB-3895-05F2-3E86-4E149F010D71}"/>
                  </a:ext>
                </a:extLst>
              </p:cNvPr>
              <p:cNvSpPr txBox="1"/>
              <p:nvPr/>
            </p:nvSpPr>
            <p:spPr bwMode="auto">
              <a:xfrm>
                <a:off x="2878818" y="4643765"/>
                <a:ext cx="1858963" cy="9925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Object 33">
                <a:extLst>
                  <a:ext uri="{FF2B5EF4-FFF2-40B4-BE49-F238E27FC236}">
                    <a16:creationId xmlns:a16="http://schemas.microsoft.com/office/drawing/2014/main" id="{9D2C57DB-3895-05F2-3E86-4E149F010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8818" y="4643765"/>
                <a:ext cx="1858963" cy="99254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68">
                <a:extLst>
                  <a:ext uri="{FF2B5EF4-FFF2-40B4-BE49-F238E27FC236}">
                    <a16:creationId xmlns:a16="http://schemas.microsoft.com/office/drawing/2014/main" id="{14364E97-E938-E4F1-4843-D009DB5448D2}"/>
                  </a:ext>
                </a:extLst>
              </p:cNvPr>
              <p:cNvSpPr txBox="1"/>
              <p:nvPr/>
            </p:nvSpPr>
            <p:spPr bwMode="auto">
              <a:xfrm>
                <a:off x="7936591" y="5041586"/>
                <a:ext cx="2787650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𝛾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Object 68">
                <a:extLst>
                  <a:ext uri="{FF2B5EF4-FFF2-40B4-BE49-F238E27FC236}">
                    <a16:creationId xmlns:a16="http://schemas.microsoft.com/office/drawing/2014/main" id="{14364E97-E938-E4F1-4843-D009DB544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6591" y="5041586"/>
                <a:ext cx="2787650" cy="9398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85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" grpId="0"/>
      <p:bldP spid="4" grpId="0"/>
      <p:bldP spid="3" grpId="0"/>
      <p:bldP spid="5" grpId="0"/>
      <p:bldP spid="6" grpId="0"/>
      <p:bldP spid="7" grpId="0"/>
      <p:bldP spid="8" grpId="0"/>
      <p:bldP spid="9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7C815151-2372-2212-FF61-BF8BF55F2B34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7C815151-2372-2212-FF61-BF8BF55F2B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半闭框 57">
            <a:extLst>
              <a:ext uri="{FF2B5EF4-FFF2-40B4-BE49-F238E27FC236}">
                <a16:creationId xmlns:a16="http://schemas.microsoft.com/office/drawing/2014/main" id="{09F870DA-C5D2-929B-3EC9-C78953F44D5C}"/>
              </a:ext>
            </a:extLst>
          </p:cNvPr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9" name="半闭框 58">
            <a:extLst>
              <a:ext uri="{FF2B5EF4-FFF2-40B4-BE49-F238E27FC236}">
                <a16:creationId xmlns:a16="http://schemas.microsoft.com/office/drawing/2014/main" id="{B13488C0-2E30-E8FE-ED02-2F3F3FEC2D4A}"/>
              </a:ext>
            </a:extLst>
          </p:cNvPr>
          <p:cNvSpPr/>
          <p:nvPr/>
        </p:nvSpPr>
        <p:spPr>
          <a:xfrm flipH="1">
            <a:off x="10822895" y="53626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0" name="半闭框 59">
            <a:extLst>
              <a:ext uri="{FF2B5EF4-FFF2-40B4-BE49-F238E27FC236}">
                <a16:creationId xmlns:a16="http://schemas.microsoft.com/office/drawing/2014/main" id="{6E036347-2DA2-6075-A9DE-B3CA651F94F1}"/>
              </a:ext>
            </a:extLst>
          </p:cNvPr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61" name="半闭框 60">
            <a:extLst>
              <a:ext uri="{FF2B5EF4-FFF2-40B4-BE49-F238E27FC236}">
                <a16:creationId xmlns:a16="http://schemas.microsoft.com/office/drawing/2014/main" id="{620C02BE-E8BA-020A-9996-FE32E4CF910D}"/>
              </a:ext>
            </a:extLst>
          </p:cNvPr>
          <p:cNvSpPr/>
          <p:nvPr/>
        </p:nvSpPr>
        <p:spPr>
          <a:xfrm flipH="1" flipV="1">
            <a:off x="10823530" y="5647881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9">
                <a:extLst>
                  <a:ext uri="{FF2B5EF4-FFF2-40B4-BE49-F238E27FC236}">
                    <a16:creationId xmlns:a16="http://schemas.microsoft.com/office/drawing/2014/main" id="{734963C2-12FC-7D07-4D21-5992B1474648}"/>
                  </a:ext>
                </a:extLst>
              </p:cNvPr>
              <p:cNvSpPr txBox="1"/>
              <p:nvPr/>
            </p:nvSpPr>
            <p:spPr bwMode="auto">
              <a:xfrm>
                <a:off x="3074671" y="1704178"/>
                <a:ext cx="6293774" cy="7950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nary>
                        <m:naryPr>
                          <m:chr m:val="∬"/>
                          <m:supHide m:val="on"/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Times New Roman" panose="02020603050405020304" pitchFamily="18" charset="0"/>
                                      <a:ea typeface="黑体" panose="02010609060101010101" pitchFamily="49" charset="-122"/>
                                    </a:rPr>
                                    <m:t>                     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(−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29">
                <a:extLst>
                  <a:ext uri="{FF2B5EF4-FFF2-40B4-BE49-F238E27FC236}">
                    <a16:creationId xmlns:a16="http://schemas.microsoft.com/office/drawing/2014/main" id="{734963C2-12FC-7D07-4D21-5992B1474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4671" y="1704178"/>
                <a:ext cx="6293774" cy="795027"/>
              </a:xfrm>
              <a:prstGeom prst="rect">
                <a:avLst/>
              </a:prstGeom>
              <a:blipFill>
                <a:blip r:embed="rId3"/>
                <a:stretch>
                  <a:fillRect b="-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6213CC54-BCEA-F83B-AE90-D5E87493081A}"/>
                  </a:ext>
                </a:extLst>
              </p:cNvPr>
              <p:cNvSpPr txBox="1"/>
              <p:nvPr/>
            </p:nvSpPr>
            <p:spPr bwMode="auto">
              <a:xfrm>
                <a:off x="4448175" y="1680684"/>
                <a:ext cx="1854200" cy="852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4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6213CC54-BCEA-F83B-AE90-D5E874930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8175" y="1680684"/>
                <a:ext cx="1854200" cy="8524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26">
            <a:extLst>
              <a:ext uri="{FF2B5EF4-FFF2-40B4-BE49-F238E27FC236}">
                <a16:creationId xmlns:a16="http://schemas.microsoft.com/office/drawing/2014/main" id="{4014456B-248F-025A-0476-F1814C1AF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713" y="1870508"/>
            <a:ext cx="89916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原式</a:t>
            </a:r>
            <a:endParaRPr kumimoji="1" lang="en-US" altLang="zh-CN" sz="22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0">
                <a:extLst>
                  <a:ext uri="{FF2B5EF4-FFF2-40B4-BE49-F238E27FC236}">
                    <a16:creationId xmlns:a16="http://schemas.microsoft.com/office/drawing/2014/main" id="{F41B3DD5-FE26-51FF-B11C-F03694EECA96}"/>
                  </a:ext>
                </a:extLst>
              </p:cNvPr>
              <p:cNvSpPr txBox="1"/>
              <p:nvPr/>
            </p:nvSpPr>
            <p:spPr bwMode="auto">
              <a:xfrm>
                <a:off x="3359071" y="2566510"/>
                <a:ext cx="1892300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30">
                <a:extLst>
                  <a:ext uri="{FF2B5EF4-FFF2-40B4-BE49-F238E27FC236}">
                    <a16:creationId xmlns:a16="http://schemas.microsoft.com/office/drawing/2014/main" id="{F41B3DD5-FE26-51FF-B11C-F03694EEC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9071" y="2566510"/>
                <a:ext cx="1892300" cy="584200"/>
              </a:xfrm>
              <a:prstGeom prst="rect">
                <a:avLst/>
              </a:prstGeom>
              <a:blipFill>
                <a:blip r:embed="rId5"/>
                <a:stretch>
                  <a:fillRect b="-156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3">
                <a:extLst>
                  <a:ext uri="{FF2B5EF4-FFF2-40B4-BE49-F238E27FC236}">
                    <a16:creationId xmlns:a16="http://schemas.microsoft.com/office/drawing/2014/main" id="{EE7FF24B-A217-7C03-EF51-95DB674DF911}"/>
                  </a:ext>
                </a:extLst>
              </p:cNvPr>
              <p:cNvSpPr txBox="1"/>
              <p:nvPr/>
            </p:nvSpPr>
            <p:spPr bwMode="auto">
              <a:xfrm>
                <a:off x="3074671" y="3390900"/>
                <a:ext cx="54229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​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33">
                <a:extLst>
                  <a:ext uri="{FF2B5EF4-FFF2-40B4-BE49-F238E27FC236}">
                    <a16:creationId xmlns:a16="http://schemas.microsoft.com/office/drawing/2014/main" id="{EE7FF24B-A217-7C03-EF51-95DB674DF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4671" y="3390900"/>
                <a:ext cx="5422900" cy="889000"/>
              </a:xfrm>
              <a:prstGeom prst="rect">
                <a:avLst/>
              </a:prstGeom>
              <a:blipFill>
                <a:blip r:embed="rId6"/>
                <a:stretch>
                  <a:fillRect b="-12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34">
                <a:extLst>
                  <a:ext uri="{FF2B5EF4-FFF2-40B4-BE49-F238E27FC236}">
                    <a16:creationId xmlns:a16="http://schemas.microsoft.com/office/drawing/2014/main" id="{49C88CB4-CFE0-5463-3338-7E7E2AB3EE21}"/>
                  </a:ext>
                </a:extLst>
              </p:cNvPr>
              <p:cNvSpPr txBox="1"/>
              <p:nvPr/>
            </p:nvSpPr>
            <p:spPr bwMode="auto">
              <a:xfrm>
                <a:off x="4090035" y="4459763"/>
                <a:ext cx="3456624" cy="8708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𝜌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​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34">
                <a:extLst>
                  <a:ext uri="{FF2B5EF4-FFF2-40B4-BE49-F238E27FC236}">
                    <a16:creationId xmlns:a16="http://schemas.microsoft.com/office/drawing/2014/main" id="{49C88CB4-CFE0-5463-3338-7E7E2AB3E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0035" y="4459763"/>
                <a:ext cx="3456624" cy="8708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EF13C3E9-8E32-A76D-5B4A-4FCB4C328ADA}"/>
                  </a:ext>
                </a:extLst>
              </p:cNvPr>
              <p:cNvSpPr txBox="1"/>
              <p:nvPr/>
            </p:nvSpPr>
            <p:spPr bwMode="auto">
              <a:xfrm>
                <a:off x="3074671" y="4464050"/>
                <a:ext cx="135890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43">
                <a:extLst>
                  <a:ext uri="{FF2B5EF4-FFF2-40B4-BE49-F238E27FC236}">
                    <a16:creationId xmlns:a16="http://schemas.microsoft.com/office/drawing/2014/main" id="{EF13C3E9-8E32-A76D-5B4A-4FCB4C328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4671" y="4464050"/>
                <a:ext cx="1358900" cy="8255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55DBF1A3-053B-4205-E60F-A898067C39EC}"/>
                  </a:ext>
                </a:extLst>
              </p:cNvPr>
              <p:cNvSpPr txBox="1"/>
              <p:nvPr/>
            </p:nvSpPr>
            <p:spPr bwMode="auto">
              <a:xfrm>
                <a:off x="3074671" y="5473700"/>
                <a:ext cx="861060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=8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55DBF1A3-053B-4205-E60F-A898067C3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4671" y="5473700"/>
                <a:ext cx="86106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47">
                <a:extLst>
                  <a:ext uri="{FF2B5EF4-FFF2-40B4-BE49-F238E27FC236}">
                    <a16:creationId xmlns:a16="http://schemas.microsoft.com/office/drawing/2014/main" id="{71E67E5B-EB6A-4C19-5F1D-DA0CC26BB7C8}"/>
                  </a:ext>
                </a:extLst>
              </p:cNvPr>
              <p:cNvSpPr txBox="1"/>
              <p:nvPr/>
            </p:nvSpPr>
            <p:spPr bwMode="auto">
              <a:xfrm>
                <a:off x="4859735" y="2750660"/>
                <a:ext cx="12192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47">
                <a:extLst>
                  <a:ext uri="{FF2B5EF4-FFF2-40B4-BE49-F238E27FC236}">
                    <a16:creationId xmlns:a16="http://schemas.microsoft.com/office/drawing/2014/main" id="{71E67E5B-EB6A-4C19-5F1D-DA0CC26BB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9735" y="2750660"/>
                <a:ext cx="1219200" cy="431800"/>
              </a:xfrm>
              <a:prstGeom prst="rect">
                <a:avLst/>
              </a:prstGeom>
              <a:blipFill>
                <a:blip r:embed="rId10"/>
                <a:stretch>
                  <a:fillRect l="-30500" t="-128169" b="-1971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48">
                <a:extLst>
                  <a:ext uri="{FF2B5EF4-FFF2-40B4-BE49-F238E27FC236}">
                    <a16:creationId xmlns:a16="http://schemas.microsoft.com/office/drawing/2014/main" id="{378B9958-A663-9A41-57E6-BE0D90777C89}"/>
                  </a:ext>
                </a:extLst>
              </p:cNvPr>
              <p:cNvSpPr txBox="1"/>
              <p:nvPr/>
            </p:nvSpPr>
            <p:spPr bwMode="auto">
              <a:xfrm>
                <a:off x="2271713" y="995363"/>
                <a:ext cx="4597718" cy="700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将</m:t>
                      </m:r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代入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得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48">
                <a:extLst>
                  <a:ext uri="{FF2B5EF4-FFF2-40B4-BE49-F238E27FC236}">
                    <a16:creationId xmlns:a16="http://schemas.microsoft.com/office/drawing/2014/main" id="{378B9958-A663-9A41-57E6-BE0D90777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1713" y="995363"/>
                <a:ext cx="4597718" cy="7000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54">
            <a:extLst>
              <a:ext uri="{FF2B5EF4-FFF2-40B4-BE49-F238E27FC236}">
                <a16:creationId xmlns:a16="http://schemas.microsoft.com/office/drawing/2014/main" id="{1276DFE0-50A6-BF94-06B4-90FA741D477A}"/>
              </a:ext>
            </a:extLst>
          </p:cNvPr>
          <p:cNvGrpSpPr>
            <a:grpSpLocks/>
          </p:cNvGrpSpPr>
          <p:nvPr/>
        </p:nvGrpSpPr>
        <p:grpSpPr bwMode="auto">
          <a:xfrm>
            <a:off x="7851458" y="2289805"/>
            <a:ext cx="1981200" cy="2355850"/>
            <a:chOff x="4368" y="336"/>
            <a:chExt cx="1248" cy="14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20">
                  <a:extLst>
                    <a:ext uri="{FF2B5EF4-FFF2-40B4-BE49-F238E27FC236}">
                      <a16:creationId xmlns:a16="http://schemas.microsoft.com/office/drawing/2014/main" id="{B704336B-C8F6-D01C-D2EB-F2918969B337}"/>
                    </a:ext>
                  </a:extLst>
                </p:cNvPr>
                <p:cNvSpPr txBox="1"/>
                <p:nvPr/>
              </p:nvSpPr>
              <p:spPr bwMode="auto">
                <a:xfrm>
                  <a:off x="4896" y="1296"/>
                  <a:ext cx="169" cy="1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28" name="Object 20">
                  <a:extLst>
                    <a:ext uri="{FF2B5EF4-FFF2-40B4-BE49-F238E27FC236}">
                      <a16:creationId xmlns:a16="http://schemas.microsoft.com/office/drawing/2014/main" id="{B704336B-C8F6-D01C-D2EB-F2918969B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96" y="1296"/>
                  <a:ext cx="169" cy="18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22">
                  <a:extLst>
                    <a:ext uri="{FF2B5EF4-FFF2-40B4-BE49-F238E27FC236}">
                      <a16:creationId xmlns:a16="http://schemas.microsoft.com/office/drawing/2014/main" id="{89F19E2C-5365-2A84-95DF-FB1E5E3C6106}"/>
                    </a:ext>
                  </a:extLst>
                </p:cNvPr>
                <p:cNvSpPr txBox="1"/>
                <p:nvPr/>
              </p:nvSpPr>
              <p:spPr bwMode="auto">
                <a:xfrm>
                  <a:off x="5424" y="1344"/>
                  <a:ext cx="189" cy="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29" name="Object 22">
                  <a:extLst>
                    <a:ext uri="{FF2B5EF4-FFF2-40B4-BE49-F238E27FC236}">
                      <a16:creationId xmlns:a16="http://schemas.microsoft.com/office/drawing/2014/main" id="{89F19E2C-5365-2A84-95DF-FB1E5E3C6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24" y="1344"/>
                  <a:ext cx="189" cy="220"/>
                </a:xfrm>
                <a:prstGeom prst="rect">
                  <a:avLst/>
                </a:prstGeom>
                <a:blipFill>
                  <a:blip r:embed="rId13"/>
                  <a:stretch>
                    <a:fillRect b="-175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bject 23">
                  <a:extLst>
                    <a:ext uri="{FF2B5EF4-FFF2-40B4-BE49-F238E27FC236}">
                      <a16:creationId xmlns:a16="http://schemas.microsoft.com/office/drawing/2014/main" id="{ECA9C676-6120-7BA3-9977-9CDDF6E9ED03}"/>
                    </a:ext>
                  </a:extLst>
                </p:cNvPr>
                <p:cNvSpPr txBox="1"/>
                <p:nvPr/>
              </p:nvSpPr>
              <p:spPr bwMode="auto">
                <a:xfrm>
                  <a:off x="4752" y="1632"/>
                  <a:ext cx="169" cy="1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30" name="Object 23">
                  <a:extLst>
                    <a:ext uri="{FF2B5EF4-FFF2-40B4-BE49-F238E27FC236}">
                      <a16:creationId xmlns:a16="http://schemas.microsoft.com/office/drawing/2014/main" id="{ECA9C676-6120-7BA3-9977-9CDDF6E9ED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52" y="1632"/>
                  <a:ext cx="169" cy="18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Group 53">
              <a:extLst>
                <a:ext uri="{FF2B5EF4-FFF2-40B4-BE49-F238E27FC236}">
                  <a16:creationId xmlns:a16="http://schemas.microsoft.com/office/drawing/2014/main" id="{72DFFD97-F40D-F990-AF7E-DD08599CDE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336"/>
              <a:ext cx="1248" cy="1392"/>
              <a:chOff x="4368" y="336"/>
              <a:chExt cx="1248" cy="139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Object 21">
                    <a:extLst>
                      <a:ext uri="{FF2B5EF4-FFF2-40B4-BE49-F238E27FC236}">
                        <a16:creationId xmlns:a16="http://schemas.microsoft.com/office/drawing/2014/main" id="{606A261D-E5CB-C042-1D0F-2BFF0B423C47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944" y="336"/>
                    <a:ext cx="232" cy="2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33" name="Object 21">
                    <a:extLst>
                      <a:ext uri="{FF2B5EF4-FFF2-40B4-BE49-F238E27FC236}">
                        <a16:creationId xmlns:a16="http://schemas.microsoft.com/office/drawing/2014/main" id="{606A261D-E5CB-C042-1D0F-2BFF0B423C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44" y="336"/>
                    <a:ext cx="232" cy="2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Freeform 16">
                <a:extLst>
                  <a:ext uri="{FF2B5EF4-FFF2-40B4-BE49-F238E27FC236}">
                    <a16:creationId xmlns:a16="http://schemas.microsoft.com/office/drawing/2014/main" id="{F27E4AB3-254C-44B2-8BC6-9AB8EA8DF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8" y="720"/>
                <a:ext cx="1152" cy="576"/>
              </a:xfrm>
              <a:custGeom>
                <a:avLst/>
                <a:gdLst>
                  <a:gd name="T0" fmla="*/ 0 w 1152"/>
                  <a:gd name="T1" fmla="*/ 0 h 576"/>
                  <a:gd name="T2" fmla="*/ 288 w 1152"/>
                  <a:gd name="T3" fmla="*/ 432 h 576"/>
                  <a:gd name="T4" fmla="*/ 576 w 1152"/>
                  <a:gd name="T5" fmla="*/ 576 h 576"/>
                  <a:gd name="T6" fmla="*/ 864 w 1152"/>
                  <a:gd name="T7" fmla="*/ 432 h 576"/>
                  <a:gd name="T8" fmla="*/ 1152 w 1152"/>
                  <a:gd name="T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2" h="576">
                    <a:moveTo>
                      <a:pt x="0" y="0"/>
                    </a:moveTo>
                    <a:cubicBezTo>
                      <a:pt x="96" y="168"/>
                      <a:pt x="192" y="336"/>
                      <a:pt x="288" y="432"/>
                    </a:cubicBezTo>
                    <a:cubicBezTo>
                      <a:pt x="384" y="528"/>
                      <a:pt x="480" y="576"/>
                      <a:pt x="576" y="576"/>
                    </a:cubicBezTo>
                    <a:cubicBezTo>
                      <a:pt x="672" y="576"/>
                      <a:pt x="768" y="528"/>
                      <a:pt x="864" y="432"/>
                    </a:cubicBezTo>
                    <a:cubicBezTo>
                      <a:pt x="960" y="336"/>
                      <a:pt x="1056" y="168"/>
                      <a:pt x="1152" y="0"/>
                    </a:cubicBezTo>
                  </a:path>
                </a:pathLst>
              </a:custGeom>
              <a:solidFill>
                <a:srgbClr val="4A7BA8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35" name="Oval 17">
                <a:extLst>
                  <a:ext uri="{FF2B5EF4-FFF2-40B4-BE49-F238E27FC236}">
                    <a16:creationId xmlns:a16="http://schemas.microsoft.com/office/drawing/2014/main" id="{4E1EBD04-AE3B-2A95-7126-E3172C003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624"/>
                <a:ext cx="1152" cy="192"/>
              </a:xfrm>
              <a:prstGeom prst="ellipse">
                <a:avLst/>
              </a:prstGeom>
              <a:solidFill>
                <a:srgbClr val="04926A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grpSp>
            <p:nvGrpSpPr>
              <p:cNvPr id="36" name="Group 18">
                <a:extLst>
                  <a:ext uri="{FF2B5EF4-FFF2-40B4-BE49-F238E27FC236}">
                    <a16:creationId xmlns:a16="http://schemas.microsoft.com/office/drawing/2014/main" id="{7EE0201D-CBCC-687A-84C8-EC1D7D3132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56" y="720"/>
                <a:ext cx="960" cy="1008"/>
                <a:chOff x="4512" y="1056"/>
                <a:chExt cx="960" cy="1008"/>
              </a:xfrm>
            </p:grpSpPr>
            <p:sp>
              <p:nvSpPr>
                <p:cNvPr id="39" name="Line 9">
                  <a:extLst>
                    <a:ext uri="{FF2B5EF4-FFF2-40B4-BE49-F238E27FC236}">
                      <a16:creationId xmlns:a16="http://schemas.microsoft.com/office/drawing/2014/main" id="{CE5F845D-AC14-199F-012B-47884DF256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1632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40" name="Line 10">
                  <a:extLst>
                    <a:ext uri="{FF2B5EF4-FFF2-40B4-BE49-F238E27FC236}">
                      <a16:creationId xmlns:a16="http://schemas.microsoft.com/office/drawing/2014/main" id="{7D149115-5314-E604-127A-8F0FC46547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12" y="1632"/>
                  <a:ext cx="288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41" name="Line 11">
                  <a:extLst>
                    <a:ext uri="{FF2B5EF4-FFF2-40B4-BE49-F238E27FC236}">
                      <a16:creationId xmlns:a16="http://schemas.microsoft.com/office/drawing/2014/main" id="{B7083A9C-7B2B-6C89-59A6-CBEBE6744C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00" y="1056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37" name="Line 19">
                <a:extLst>
                  <a:ext uri="{FF2B5EF4-FFF2-40B4-BE49-F238E27FC236}">
                    <a16:creationId xmlns:a16="http://schemas.microsoft.com/office/drawing/2014/main" id="{BEA51060-94F2-C04D-18AB-D61CDFAE6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44" y="43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Object 24">
                    <a:extLst>
                      <a:ext uri="{FF2B5EF4-FFF2-40B4-BE49-F238E27FC236}">
                        <a16:creationId xmlns:a16="http://schemas.microsoft.com/office/drawing/2014/main" id="{D3830486-0DA9-6659-78CF-D0651995485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944" y="596"/>
                    <a:ext cx="169" cy="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600"/>
                  </a:p>
                </p:txBody>
              </p:sp>
            </mc:Choice>
            <mc:Fallback xmlns="">
              <p:sp>
                <p:nvSpPr>
                  <p:cNvPr id="38" name="Object 24">
                    <a:extLst>
                      <a:ext uri="{FF2B5EF4-FFF2-40B4-BE49-F238E27FC236}">
                        <a16:creationId xmlns:a16="http://schemas.microsoft.com/office/drawing/2014/main" id="{D3830486-0DA9-6659-78CF-D065199548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44" y="596"/>
                    <a:ext cx="169" cy="22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" name="Line 35">
              <a:extLst>
                <a:ext uri="{FF2B5EF4-FFF2-40B4-BE49-F238E27FC236}">
                  <a16:creationId xmlns:a16="http://schemas.microsoft.com/office/drawing/2014/main" id="{25BA1703-0A31-6F2A-4330-4497C24CF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008"/>
              <a:ext cx="24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021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6211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fdc9232b-9af6-4935-ba35-6661cd7202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4398</TotalTime>
  <Words>2325</Words>
  <Application>Microsoft Office PowerPoint</Application>
  <PresentationFormat>宽屏</PresentationFormat>
  <Paragraphs>298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Times New Roman</vt:lpstr>
      <vt:lpstr>Office 主题</vt:lpstr>
      <vt:lpstr>BMP 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490</cp:revision>
  <cp:lastPrinted>2023-06-08T01:47:12Z</cp:lastPrinted>
  <dcterms:created xsi:type="dcterms:W3CDTF">2022-03-21T05:54:00Z</dcterms:created>
  <dcterms:modified xsi:type="dcterms:W3CDTF">2023-07-06T03:03:46Z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2052-11.1.0.11744</vt:lpwstr>
  </property>
</Properties>
</file>