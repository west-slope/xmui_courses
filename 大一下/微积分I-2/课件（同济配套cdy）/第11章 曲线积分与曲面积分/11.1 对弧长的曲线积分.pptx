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30"/>
  </p:notesMasterIdLst>
  <p:handoutMasterIdLst>
    <p:handoutMasterId r:id="rId31"/>
  </p:handoutMasterIdLst>
  <p:sldIdLst>
    <p:sldId id="257" r:id="rId4"/>
    <p:sldId id="678" r:id="rId5"/>
    <p:sldId id="664" r:id="rId6"/>
    <p:sldId id="817" r:id="rId7"/>
    <p:sldId id="989" r:id="rId8"/>
    <p:sldId id="991" r:id="rId9"/>
    <p:sldId id="992" r:id="rId10"/>
    <p:sldId id="1011" r:id="rId11"/>
    <p:sldId id="1012" r:id="rId12"/>
    <p:sldId id="1013" r:id="rId13"/>
    <p:sldId id="1014" r:id="rId14"/>
    <p:sldId id="1015" r:id="rId15"/>
    <p:sldId id="1016" r:id="rId16"/>
    <p:sldId id="1034" r:id="rId17"/>
    <p:sldId id="1036" r:id="rId18"/>
    <p:sldId id="1037" r:id="rId19"/>
    <p:sldId id="1038" r:id="rId20"/>
    <p:sldId id="1042" r:id="rId21"/>
    <p:sldId id="1041" r:id="rId22"/>
    <p:sldId id="1040" r:id="rId23"/>
    <p:sldId id="1039" r:id="rId24"/>
    <p:sldId id="1043" r:id="rId25"/>
    <p:sldId id="1044" r:id="rId26"/>
    <p:sldId id="1045" r:id="rId27"/>
    <p:sldId id="1046" r:id="rId28"/>
    <p:sldId id="364" r:id="rId29"/>
  </p:sldIdLst>
  <p:sldSz cx="12192000" cy="6858000"/>
  <p:notesSz cx="9928225" cy="6797675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A9D18E"/>
    <a:srgbClr val="00926A"/>
    <a:srgbClr val="C5E0B4"/>
    <a:srgbClr val="019B4E"/>
    <a:srgbClr val="1D9D79"/>
    <a:srgbClr val="3333CC"/>
    <a:srgbClr val="335AE6"/>
    <a:srgbClr val="EE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7078" autoAdjust="0"/>
  </p:normalViewPr>
  <p:slideViewPr>
    <p:cSldViewPr snapToGrid="0" showGuides="1">
      <p:cViewPr varScale="1">
        <p:scale>
          <a:sx n="77" d="100"/>
          <a:sy n="77" d="100"/>
        </p:scale>
        <p:origin x="172" y="68"/>
      </p:cViewPr>
      <p:guideLst>
        <p:guide pos="3840"/>
        <p:guide orient="horz" pos="21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ags" Target="tags/tag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9294E0C-3D65-03D8-4091-95C912A52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33F10D-F9E8-8D22-977F-84681A376B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61C34-6C36-4319-A46B-BB551073C321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6E44E7-0D88-4AE1-4D27-D94FE6EA65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9AD3F8-6AF4-2EEC-19F8-CE4975A2B4D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3AE40-E968-4202-8EA4-C293C1D84F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375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6700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73127A9D-35A3-DD3C-0959-3056F686E1F4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20" name="Rectangle 1"/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1"/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</a:p>
          </p:txBody>
        </p:sp>
        <p:sp>
          <p:nvSpPr>
            <p:cNvPr id="14" name="矩形 13"/>
            <p:cNvSpPr/>
            <p:nvPr/>
          </p:nvSpPr>
          <p:spPr>
            <a:xfrm>
              <a:off x="9315710" y="112357"/>
              <a:ext cx="27029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曲线积分与曲面积分</a:t>
              </a: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E9388CA0-D8EB-470D-5AF5-07D7611F550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C201519-7F40-9FA3-E745-A5F474C2619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56C1C2C4-1371-8B2A-426E-05FD72CF2DFD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0" name="Rectangle 1">
              <a:extLst>
                <a:ext uri="{FF2B5EF4-FFF2-40B4-BE49-F238E27FC236}">
                  <a16:creationId xmlns:a16="http://schemas.microsoft.com/office/drawing/2014/main" id="{60136B5E-E128-7BC4-EA52-413B7026EDC0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">
              <a:extLst>
                <a:ext uri="{FF2B5EF4-FFF2-40B4-BE49-F238E27FC236}">
                  <a16:creationId xmlns:a16="http://schemas.microsoft.com/office/drawing/2014/main" id="{B7331E14-02F6-F10F-3A2D-35E5B82330F8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D18CC805-6E29-7683-ADCA-0354BB515D05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A4C12FB-0225-89F7-A480-5F301CE2BB8F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曲线积分与曲面积分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02AF9F00-70BC-1DA6-F5CF-1AA70D82B29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612D887-E2D2-1B72-0A16-64C5A3139B3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FDF2B30-900A-372D-FE61-3E59DBB51477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6" name="Rectangle 1">
              <a:extLst>
                <a:ext uri="{FF2B5EF4-FFF2-40B4-BE49-F238E27FC236}">
                  <a16:creationId xmlns:a16="http://schemas.microsoft.com/office/drawing/2014/main" id="{BA59E721-4F8A-A2B3-9167-36391EE1CB92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1">
              <a:extLst>
                <a:ext uri="{FF2B5EF4-FFF2-40B4-BE49-F238E27FC236}">
                  <a16:creationId xmlns:a16="http://schemas.microsoft.com/office/drawing/2014/main" id="{A09AA87F-4FD3-9243-B437-D787CE938FB7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CE5B12C-F2F8-A8E6-BC5B-F0E69105DA10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72CEE2E-D460-2E2B-B687-04A76FB51317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3E135DE-A790-243D-86A3-31A25EC1FC1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801CB77-A5E5-05E0-6FA7-FD72BFC37B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5DB5E3F-3716-5867-5168-A767E3D33D84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343DAE6B-6051-C8CE-8732-4C1316226213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8887ACA6-C359-A936-2126-6A86D0036EAA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A4E79BC-CF28-24D3-8B49-15D660436996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28248F8-7153-A746-0612-889ED9E47B17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2CB6A9B-E9D3-5741-2C26-AB16C55628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F8BF2AE-0F0B-56BD-807E-FCA91B75E09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4122838-1C6B-7092-12B1-5728E5D61892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6569CD3B-78C3-6D07-C664-DC1C1686E1F2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19B2D7DC-B12B-29F8-CE98-221BE9FCCD18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5EFB77D-F0E1-C02F-8C1E-FE721C00A9B0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F05927B-EAFD-D1D2-63CB-442001796E39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4B8C104-205A-196A-9D3F-BE0A5B1827B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43363BD-5BCB-6327-A9A4-7046888C8C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CD745158-044E-F972-EFD5-6CEEA71199DF}"/>
              </a:ext>
            </a:extLst>
          </p:cNvPr>
          <p:cNvGrpSpPr/>
          <p:nvPr userDrawn="1"/>
        </p:nvGrpSpPr>
        <p:grpSpPr>
          <a:xfrm>
            <a:off x="0" y="112357"/>
            <a:ext cx="12192000" cy="6629438"/>
            <a:chOff x="0" y="112357"/>
            <a:chExt cx="12192000" cy="6629438"/>
          </a:xfrm>
        </p:grpSpPr>
        <p:sp>
          <p:nvSpPr>
            <p:cNvPr id="19" name="Rectangle 1">
              <a:extLst>
                <a:ext uri="{FF2B5EF4-FFF2-40B4-BE49-F238E27FC236}">
                  <a16:creationId xmlns:a16="http://schemas.microsoft.com/office/drawing/2014/main" id="{29AA8536-841B-177A-D0D9-874D9E1FF7FA}"/>
                </a:ext>
              </a:extLst>
            </p:cNvPr>
            <p:cNvSpPr/>
            <p:nvPr userDrawn="1"/>
          </p:nvSpPr>
          <p:spPr>
            <a:xfrm>
              <a:off x="297498" y="6547704"/>
              <a:ext cx="82948" cy="81477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">
              <a:extLst>
                <a:ext uri="{FF2B5EF4-FFF2-40B4-BE49-F238E27FC236}">
                  <a16:creationId xmlns:a16="http://schemas.microsoft.com/office/drawing/2014/main" id="{0EFBC3DC-CBA2-68E1-BFB4-16107AA1EDE1}"/>
                </a:ext>
              </a:extLst>
            </p:cNvPr>
            <p:cNvSpPr/>
            <p:nvPr userDrawn="1"/>
          </p:nvSpPr>
          <p:spPr>
            <a:xfrm rot="2659048">
              <a:off x="9060538" y="196227"/>
              <a:ext cx="147664" cy="140036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73000"/>
                  </a:srgbClr>
                </a:gs>
                <a:gs pos="61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59AE52A-B2A5-0E8C-A056-C07FA1EE17EE}"/>
                </a:ext>
              </a:extLst>
            </p:cNvPr>
            <p:cNvSpPr/>
            <p:nvPr/>
          </p:nvSpPr>
          <p:spPr>
            <a:xfrm>
              <a:off x="476885" y="6435090"/>
              <a:ext cx="3784600" cy="306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第一节</a:t>
              </a:r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对弧长的曲线积分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5CE1DE68-687E-0330-EBC2-C88F67EACBE2}"/>
                </a:ext>
              </a:extLst>
            </p:cNvPr>
            <p:cNvSpPr/>
            <p:nvPr/>
          </p:nvSpPr>
          <p:spPr>
            <a:xfrm>
              <a:off x="9315710" y="112357"/>
              <a:ext cx="26773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第十一章   曲线积分于曲面积分</a:t>
              </a: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69B34153-A463-243F-112F-5719259E447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266245"/>
              <a:ext cx="8793692" cy="0"/>
            </a:xfrm>
            <a:prstGeom prst="line">
              <a:avLst/>
            </a:prstGeom>
            <a:ln>
              <a:solidFill>
                <a:srgbClr val="00926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F2EA13E1-3CAD-7742-3606-DC15B89D3E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810312" y="6588442"/>
              <a:ext cx="9381688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547617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7419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8138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3951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207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885617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0473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5218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183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4876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4292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66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8C9C68CC-DB9C-8493-2DDB-C05844CE7D7D}"/>
              </a:ext>
            </a:extLst>
          </p:cNvPr>
          <p:cNvSpPr/>
          <p:nvPr userDrawn="1"/>
        </p:nvSpPr>
        <p:spPr>
          <a:xfrm>
            <a:off x="297498" y="6596180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535CD43-69BB-1D9F-F705-13F3327BDB11}"/>
              </a:ext>
            </a:extLst>
          </p:cNvPr>
          <p:cNvSpPr/>
          <p:nvPr userDrawn="1"/>
        </p:nvSpPr>
        <p:spPr>
          <a:xfrm rot="2659048">
            <a:off x="1033688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5AE437-46D4-0EFF-07B9-9FAF44D82A68}"/>
              </a:ext>
            </a:extLst>
          </p:cNvPr>
          <p:cNvSpPr/>
          <p:nvPr userDrawn="1"/>
        </p:nvSpPr>
        <p:spPr>
          <a:xfrm>
            <a:off x="476828" y="6483030"/>
            <a:ext cx="262443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二重积分的概念与性质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0F0413A-1CCC-CEB4-481B-FD3332199F1A}"/>
              </a:ext>
            </a:extLst>
          </p:cNvPr>
          <p:cNvSpPr/>
          <p:nvPr userDrawn="1"/>
        </p:nvSpPr>
        <p:spPr>
          <a:xfrm>
            <a:off x="10592060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重积分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8885EC-62CB-033E-B106-A46F8DDB47E1}"/>
              </a:ext>
            </a:extLst>
          </p:cNvPr>
          <p:cNvCxnSpPr/>
          <p:nvPr userDrawn="1"/>
        </p:nvCxnSpPr>
        <p:spPr>
          <a:xfrm>
            <a:off x="-1" y="248584"/>
            <a:ext cx="10152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3FA9E9-6C5C-6C3A-4FF8-5B06997FB12B}"/>
              </a:ext>
            </a:extLst>
          </p:cNvPr>
          <p:cNvCxnSpPr>
            <a:cxnSpLocks/>
          </p:cNvCxnSpPr>
          <p:nvPr userDrawn="1"/>
        </p:nvCxnSpPr>
        <p:spPr>
          <a:xfrm>
            <a:off x="3162299" y="6636918"/>
            <a:ext cx="903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192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0.png"/><Relationship Id="rId21" Type="http://schemas.openxmlformats.org/officeDocument/2006/relationships/image" Target="../media/image5.jpe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15" Type="http://schemas.openxmlformats.org/officeDocument/2006/relationships/image" Target="../media/image17.png"/><Relationship Id="rId1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jpe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62.png"/><Relationship Id="rId21" Type="http://schemas.openxmlformats.org/officeDocument/2006/relationships/image" Target="../media/image77.png"/><Relationship Id="rId7" Type="http://schemas.openxmlformats.org/officeDocument/2006/relationships/image" Target="../media/image66.png"/><Relationship Id="rId12" Type="http://schemas.openxmlformats.org/officeDocument/2006/relationships/image" Target="../media/image680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5.png"/><Relationship Id="rId11" Type="http://schemas.openxmlformats.org/officeDocument/2006/relationships/image" Target="../media/image68.png"/><Relationship Id="rId5" Type="http://schemas.openxmlformats.org/officeDocument/2006/relationships/image" Target="../media/image64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10" Type="http://schemas.openxmlformats.org/officeDocument/2006/relationships/image" Target="../media/image660.png"/><Relationship Id="rId19" Type="http://schemas.openxmlformats.org/officeDocument/2006/relationships/image" Target="../media/image75.png"/><Relationship Id="rId4" Type="http://schemas.openxmlformats.org/officeDocument/2006/relationships/image" Target="../media/image63.png"/><Relationship Id="rId9" Type="http://schemas.openxmlformats.org/officeDocument/2006/relationships/image" Target="../media/image650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12" Type="http://schemas.openxmlformats.org/officeDocument/2006/relationships/image" Target="../media/image10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11" Type="http://schemas.openxmlformats.org/officeDocument/2006/relationships/image" Target="../media/image105.png"/><Relationship Id="rId10" Type="http://schemas.openxmlformats.org/officeDocument/2006/relationships/image" Target="../media/image104.png"/><Relationship Id="rId14" Type="http://schemas.openxmlformats.org/officeDocument/2006/relationships/image" Target="../media/image10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0.png"/><Relationship Id="rId7" Type="http://schemas.openxmlformats.org/officeDocument/2006/relationships/image" Target="../media/image98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5" Type="http://schemas.openxmlformats.org/officeDocument/2006/relationships/image" Target="../media/image124.png"/><Relationship Id="rId10" Type="http://schemas.openxmlformats.org/officeDocument/2006/relationships/image" Target="../media/image129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12" Type="http://schemas.openxmlformats.org/officeDocument/2006/relationships/image" Target="../media/image7.jpe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5" Type="http://schemas.openxmlformats.org/officeDocument/2006/relationships/image" Target="../media/image136.png"/><Relationship Id="rId10" Type="http://schemas.openxmlformats.org/officeDocument/2006/relationships/image" Target="../media/image141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13" Type="http://schemas.openxmlformats.org/officeDocument/2006/relationships/image" Target="../media/image164.png"/><Relationship Id="rId18" Type="http://schemas.openxmlformats.org/officeDocument/2006/relationships/image" Target="../media/image16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12" Type="http://schemas.openxmlformats.org/officeDocument/2006/relationships/image" Target="../media/image163.png"/><Relationship Id="rId17" Type="http://schemas.openxmlformats.org/officeDocument/2006/relationships/image" Target="../media/image168.png"/><Relationship Id="rId2" Type="http://schemas.openxmlformats.org/officeDocument/2006/relationships/image" Target="../media/image153.png"/><Relationship Id="rId16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62.png"/><Relationship Id="rId5" Type="http://schemas.openxmlformats.org/officeDocument/2006/relationships/image" Target="../media/image156.png"/><Relationship Id="rId15" Type="http://schemas.openxmlformats.org/officeDocument/2006/relationships/image" Target="../media/image16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Relationship Id="rId14" Type="http://schemas.openxmlformats.org/officeDocument/2006/relationships/image" Target="../media/image16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13" Type="http://schemas.openxmlformats.org/officeDocument/2006/relationships/image" Target="../media/image193.png"/><Relationship Id="rId3" Type="http://schemas.openxmlformats.org/officeDocument/2006/relationships/image" Target="../media/image183.png"/><Relationship Id="rId7" Type="http://schemas.openxmlformats.org/officeDocument/2006/relationships/image" Target="../media/image187.png"/><Relationship Id="rId12" Type="http://schemas.openxmlformats.org/officeDocument/2006/relationships/image" Target="../media/image192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6.png"/><Relationship Id="rId11" Type="http://schemas.openxmlformats.org/officeDocument/2006/relationships/image" Target="../media/image191.png"/><Relationship Id="rId5" Type="http://schemas.openxmlformats.org/officeDocument/2006/relationships/image" Target="../media/image185.png"/><Relationship Id="rId10" Type="http://schemas.openxmlformats.org/officeDocument/2006/relationships/image" Target="../media/image103.png"/><Relationship Id="rId4" Type="http://schemas.openxmlformats.org/officeDocument/2006/relationships/image" Target="../media/image184.png"/><Relationship Id="rId9" Type="http://schemas.openxmlformats.org/officeDocument/2006/relationships/image" Target="../media/image18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18" Type="http://schemas.openxmlformats.org/officeDocument/2006/relationships/image" Target="../media/image209.png"/><Relationship Id="rId3" Type="http://schemas.openxmlformats.org/officeDocument/2006/relationships/image" Target="../media/image195.png"/><Relationship Id="rId7" Type="http://schemas.openxmlformats.org/officeDocument/2006/relationships/image" Target="../media/image114.png"/><Relationship Id="rId12" Type="http://schemas.openxmlformats.org/officeDocument/2006/relationships/image" Target="../media/image8.png"/><Relationship Id="rId17" Type="http://schemas.openxmlformats.org/officeDocument/2006/relationships/image" Target="../media/image208.png"/><Relationship Id="rId2" Type="http://schemas.openxmlformats.org/officeDocument/2006/relationships/image" Target="../media/image194.png"/><Relationship Id="rId16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202.png"/><Relationship Id="rId5" Type="http://schemas.openxmlformats.org/officeDocument/2006/relationships/image" Target="../media/image197.png"/><Relationship Id="rId15" Type="http://schemas.openxmlformats.org/officeDocument/2006/relationships/image" Target="../media/image206.png"/><Relationship Id="rId10" Type="http://schemas.openxmlformats.org/officeDocument/2006/relationships/image" Target="../media/image201.png"/><Relationship Id="rId19" Type="http://schemas.openxmlformats.org/officeDocument/2006/relationships/image" Target="../media/image210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-244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33C2CE-C905-2846-8650-C5C8DB13E5AC}"/>
              </a:ext>
            </a:extLst>
          </p:cNvPr>
          <p:cNvSpPr/>
          <p:nvPr/>
        </p:nvSpPr>
        <p:spPr>
          <a:xfrm>
            <a:off x="789305" y="1908802"/>
            <a:ext cx="11083290" cy="4961748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62284D-899E-011F-23D8-3168522C1D2D}"/>
              </a:ext>
            </a:extLst>
          </p:cNvPr>
          <p:cNvSpPr/>
          <p:nvPr/>
        </p:nvSpPr>
        <p:spPr>
          <a:xfrm>
            <a:off x="629285" y="2052905"/>
            <a:ext cx="10923270" cy="48176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D777B1F-3CD3-3E05-03B7-290842DFE79B}"/>
              </a:ext>
            </a:extLst>
          </p:cNvPr>
          <p:cNvSpPr/>
          <p:nvPr/>
        </p:nvSpPr>
        <p:spPr>
          <a:xfrm>
            <a:off x="487045" y="2207501"/>
            <a:ext cx="10746105" cy="4663049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5037531" y="2665459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cxnSpLocks/>
          </p:cNvCxnSpPr>
          <p:nvPr/>
        </p:nvCxnSpPr>
        <p:spPr>
          <a:xfrm>
            <a:off x="1735983" y="3348297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 49"/>
          <p:cNvSpPr/>
          <p:nvPr/>
        </p:nvSpPr>
        <p:spPr>
          <a:xfrm>
            <a:off x="24609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</a:rPr>
              <a:t>一元函数积分学</a:t>
            </a: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B8D3E00D-8E36-4B80-EC28-2CF14DFA7C95}"/>
              </a:ext>
            </a:extLst>
          </p:cNvPr>
          <p:cNvGrpSpPr/>
          <p:nvPr/>
        </p:nvGrpSpPr>
        <p:grpSpPr>
          <a:xfrm>
            <a:off x="1504486" y="4799643"/>
            <a:ext cx="5360532" cy="619125"/>
            <a:chOff x="1504486" y="4815728"/>
            <a:chExt cx="5360532" cy="619125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853897" y="2466317"/>
              <a:ext cx="619125" cy="531794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547072" y="4909851"/>
              <a:ext cx="531794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/>
              <a:r>
                <a:rPr lang="zh-CN" altLang="en-US" sz="2400" b="1" dirty="0">
                  <a:solidFill>
                    <a:srgbClr val="04926A"/>
                  </a:solidFill>
                </a:rPr>
                <a:t>积分学     </a:t>
              </a:r>
              <a:r>
                <a:rPr lang="zh-CN" altLang="en-US" sz="2400" dirty="0"/>
                <a:t>定积分   二重积分   三重积分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1986375" y="577870"/>
            <a:ext cx="82192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第十一章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曲线积分与曲面积分</a:t>
            </a:r>
          </a:p>
        </p:txBody>
      </p:sp>
      <p:sp>
        <p:nvSpPr>
          <p:cNvPr id="5" name="右箭头 4"/>
          <p:cNvSpPr/>
          <p:nvPr/>
        </p:nvSpPr>
        <p:spPr>
          <a:xfrm>
            <a:off x="5486657" y="3953196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862540-B67A-1674-AB4B-27AC8296A336}"/>
              </a:ext>
            </a:extLst>
          </p:cNvPr>
          <p:cNvSpPr/>
          <p:nvPr/>
        </p:nvSpPr>
        <p:spPr>
          <a:xfrm>
            <a:off x="6568357" y="3847459"/>
            <a:ext cx="2880000" cy="461665"/>
          </a:xfrm>
          <a:prstGeom prst="rect">
            <a:avLst/>
          </a:prstGeom>
          <a:gradFill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lvl="0" algn="ctr"/>
            <a:r>
              <a:rPr lang="zh-CN" altLang="en-US" sz="2400" b="1" dirty="0">
                <a:solidFill>
                  <a:schemeClr val="bg1"/>
                </a:solidFill>
              </a:rPr>
              <a:t>多元函数积分学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8509881E-5C80-DE2B-4028-6515618CFFDA}"/>
              </a:ext>
            </a:extLst>
          </p:cNvPr>
          <p:cNvGrpSpPr/>
          <p:nvPr/>
        </p:nvGrpSpPr>
        <p:grpSpPr>
          <a:xfrm>
            <a:off x="7025038" y="4793304"/>
            <a:ext cx="1458356" cy="619125"/>
            <a:chOff x="723439" y="4629148"/>
            <a:chExt cx="1458356" cy="619125"/>
          </a:xfrm>
        </p:grpSpPr>
        <p:sp>
          <p:nvSpPr>
            <p:cNvPr id="56" name="矩形: 圆角 40">
              <a:extLst>
                <a:ext uri="{FF2B5EF4-FFF2-40B4-BE49-F238E27FC236}">
                  <a16:creationId xmlns:a16="http://schemas.microsoft.com/office/drawing/2014/main" id="{A4632266-497A-F13F-FA28-1F43175740E3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A2CAA016-0291-0BA7-2ED0-1E3167715254}"/>
                </a:ext>
              </a:extLst>
            </p:cNvPr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曲线积分</a:t>
              </a: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5EA19912-24F0-3ADE-D382-3D319606B1F9}"/>
              </a:ext>
            </a:extLst>
          </p:cNvPr>
          <p:cNvGrpSpPr/>
          <p:nvPr/>
        </p:nvGrpSpPr>
        <p:grpSpPr>
          <a:xfrm>
            <a:off x="1504488" y="5601241"/>
            <a:ext cx="5317945" cy="619125"/>
            <a:chOff x="1504488" y="5617326"/>
            <a:chExt cx="5317945" cy="619125"/>
          </a:xfrm>
        </p:grpSpPr>
        <p:sp>
          <p:nvSpPr>
            <p:cNvPr id="62" name="矩形: 圆角 40">
              <a:extLst>
                <a:ext uri="{FF2B5EF4-FFF2-40B4-BE49-F238E27FC236}">
                  <a16:creationId xmlns:a16="http://schemas.microsoft.com/office/drawing/2014/main" id="{79E044E3-4942-D10E-E2EC-72B14B2442C3}"/>
                </a:ext>
              </a:extLst>
            </p:cNvPr>
            <p:cNvSpPr/>
            <p:nvPr/>
          </p:nvSpPr>
          <p:spPr>
            <a:xfrm rot="16200000" flipV="1">
              <a:off x="3853898" y="3267916"/>
              <a:ext cx="619125" cy="531794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CFF85A1-1A5E-5FE0-8EC5-47256075509B}"/>
                </a:ext>
              </a:extLst>
            </p:cNvPr>
            <p:cNvSpPr/>
            <p:nvPr/>
          </p:nvSpPr>
          <p:spPr>
            <a:xfrm>
              <a:off x="1547071" y="5711445"/>
              <a:ext cx="518710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积分域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</a:t>
              </a:r>
              <a:r>
                <a: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   </a:t>
              </a:r>
              <a:r>
                <a:rPr lang="zh-CN" altLang="en-US" sz="2400" dirty="0"/>
                <a:t>区间域     平面域        空间域 </a:t>
              </a: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6CFB9525-D1CE-B133-DBD7-82947A2D0DB3}"/>
              </a:ext>
            </a:extLst>
          </p:cNvPr>
          <p:cNvGrpSpPr/>
          <p:nvPr/>
        </p:nvGrpSpPr>
        <p:grpSpPr>
          <a:xfrm>
            <a:off x="7025038" y="5601241"/>
            <a:ext cx="1458355" cy="619125"/>
            <a:chOff x="723439" y="4629148"/>
            <a:chExt cx="1458355" cy="619125"/>
          </a:xfrm>
        </p:grpSpPr>
        <p:sp>
          <p:nvSpPr>
            <p:cNvPr id="82" name="矩形: 圆角 40">
              <a:extLst>
                <a:ext uri="{FF2B5EF4-FFF2-40B4-BE49-F238E27FC236}">
                  <a16:creationId xmlns:a16="http://schemas.microsoft.com/office/drawing/2014/main" id="{FF16FE5E-4F76-2F84-7C18-54B6FAB5F06D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9B9AADE5-C1BE-2C1C-14F9-56C6C577B99A}"/>
                </a:ext>
              </a:extLst>
            </p:cNvPr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R="0" lvl="0" indent="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曲线域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1DCFC114-15E5-3F3A-6CF4-6FEAAFBDDA62}"/>
              </a:ext>
            </a:extLst>
          </p:cNvPr>
          <p:cNvGrpSpPr/>
          <p:nvPr/>
        </p:nvGrpSpPr>
        <p:grpSpPr>
          <a:xfrm>
            <a:off x="8685997" y="4793304"/>
            <a:ext cx="1458356" cy="619125"/>
            <a:chOff x="723439" y="4629148"/>
            <a:chExt cx="1458356" cy="619125"/>
          </a:xfrm>
        </p:grpSpPr>
        <p:sp>
          <p:nvSpPr>
            <p:cNvPr id="85" name="矩形: 圆角 40">
              <a:extLst>
                <a:ext uri="{FF2B5EF4-FFF2-40B4-BE49-F238E27FC236}">
                  <a16:creationId xmlns:a16="http://schemas.microsoft.com/office/drawing/2014/main" id="{CC672131-6499-9C49-6284-93314912DA7D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25BF8A06-AC78-D40F-63C9-28E245C32157}"/>
                </a:ext>
              </a:extLst>
            </p:cNvPr>
            <p:cNvSpPr/>
            <p:nvPr/>
          </p:nvSpPr>
          <p:spPr>
            <a:xfrm>
              <a:off x="766023" y="4723268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曲面积分</a:t>
              </a:r>
            </a:p>
          </p:txBody>
        </p: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695CDE97-620D-4A37-E5CA-6F1DFDAC8EDD}"/>
              </a:ext>
            </a:extLst>
          </p:cNvPr>
          <p:cNvGrpSpPr/>
          <p:nvPr/>
        </p:nvGrpSpPr>
        <p:grpSpPr>
          <a:xfrm>
            <a:off x="8685997" y="5601241"/>
            <a:ext cx="1458355" cy="619125"/>
            <a:chOff x="723439" y="4629148"/>
            <a:chExt cx="1458355" cy="619125"/>
          </a:xfrm>
        </p:grpSpPr>
        <p:sp>
          <p:nvSpPr>
            <p:cNvPr id="88" name="矩形: 圆角 40">
              <a:extLst>
                <a:ext uri="{FF2B5EF4-FFF2-40B4-BE49-F238E27FC236}">
                  <a16:creationId xmlns:a16="http://schemas.microsoft.com/office/drawing/2014/main" id="{85A2365A-A649-C86F-637C-6F6FF956B343}"/>
                </a:ext>
              </a:extLst>
            </p:cNvPr>
            <p:cNvSpPr/>
            <p:nvPr/>
          </p:nvSpPr>
          <p:spPr>
            <a:xfrm rot="16200000" flipV="1">
              <a:off x="1143054" y="4209533"/>
              <a:ext cx="619125" cy="145835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sz="2400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DAFED61F-E486-792F-5702-F6EE5B1F2BF7}"/>
                </a:ext>
              </a:extLst>
            </p:cNvPr>
            <p:cNvSpPr/>
            <p:nvPr/>
          </p:nvSpPr>
          <p:spPr>
            <a:xfrm>
              <a:off x="899373" y="4723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srgbClr val="04926A"/>
                  </a:solidFill>
                </a:rPr>
                <a:t>曲面域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第十一章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0934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F3975876-371D-E943-BDE0-7053794AE009}"/>
              </a:ext>
            </a:extLst>
          </p:cNvPr>
          <p:cNvSpPr/>
          <p:nvPr/>
        </p:nvSpPr>
        <p:spPr>
          <a:xfrm>
            <a:off x="945202" y="262184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对弧长的曲线积分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657142-156F-BC40-A369-9AC5D1511533}"/>
              </a:ext>
            </a:extLst>
          </p:cNvPr>
          <p:cNvSpPr/>
          <p:nvPr/>
        </p:nvSpPr>
        <p:spPr>
          <a:xfrm>
            <a:off x="945202" y="3469103"/>
            <a:ext cx="3935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格林公式及其应用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6321BC7-FF39-1E4C-A373-3F26FDA536D1}"/>
              </a:ext>
            </a:extLst>
          </p:cNvPr>
          <p:cNvSpPr/>
          <p:nvPr/>
        </p:nvSpPr>
        <p:spPr>
          <a:xfrm>
            <a:off x="6661652" y="2670489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对坐标的曲线积分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C3F917-6EB5-AF43-9C27-AC487099C634}"/>
              </a:ext>
            </a:extLst>
          </p:cNvPr>
          <p:cNvSpPr/>
          <p:nvPr/>
        </p:nvSpPr>
        <p:spPr>
          <a:xfrm>
            <a:off x="6661652" y="3470393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对面积的曲面积分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2BE5E46-5684-754B-A1A9-127A41F07D2F}"/>
              </a:ext>
            </a:extLst>
          </p:cNvPr>
          <p:cNvSpPr/>
          <p:nvPr/>
        </p:nvSpPr>
        <p:spPr>
          <a:xfrm>
            <a:off x="945202" y="4315067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kumimoji="1"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对坐标的曲面积分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DB2DEE-225F-E442-8E1E-33456E4415A2}"/>
              </a:ext>
            </a:extLst>
          </p:cNvPr>
          <p:cNvSpPr/>
          <p:nvPr/>
        </p:nvSpPr>
        <p:spPr>
          <a:xfrm>
            <a:off x="945202" y="5162322"/>
            <a:ext cx="56306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kumimoji="1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斯托克斯公式 环流量与旋度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624D60B-0ECD-E147-8CE1-4C5B182862BE}"/>
              </a:ext>
            </a:extLst>
          </p:cNvPr>
          <p:cNvSpPr/>
          <p:nvPr/>
        </p:nvSpPr>
        <p:spPr>
          <a:xfrm>
            <a:off x="6661652" y="4315067"/>
            <a:ext cx="42434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高斯公式 通量与散度</a:t>
            </a:r>
          </a:p>
        </p:txBody>
      </p:sp>
    </p:spTree>
    <p:extLst>
      <p:ext uri="{BB962C8B-B14F-4D97-AF65-F5344CB8AC3E}">
        <p14:creationId xmlns:p14="http://schemas.microsoft.com/office/powerpoint/2010/main" val="161032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624520"/>
            <a:ext cx="11536045" cy="496110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24811" y="589066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  对弧长的曲线积分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0D2B225-D912-E242-A79F-F30D15488F78}"/>
              </a:ext>
            </a:extLst>
          </p:cNvPr>
          <p:cNvGrpSpPr/>
          <p:nvPr/>
        </p:nvGrpSpPr>
        <p:grpSpPr>
          <a:xfrm>
            <a:off x="2920546" y="2029147"/>
            <a:ext cx="6350908" cy="901065"/>
            <a:chOff x="3376753" y="2223699"/>
            <a:chExt cx="6350908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223699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26981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noProof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问题的提出</a:t>
              </a:r>
              <a:endParaRPr lang="zh-CN" altLang="en-US" sz="28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99FF29E-F30C-9E40-B438-C641072C6A43}"/>
              </a:ext>
            </a:extLst>
          </p:cNvPr>
          <p:cNvGrpSpPr/>
          <p:nvPr/>
        </p:nvGrpSpPr>
        <p:grpSpPr>
          <a:xfrm>
            <a:off x="2920546" y="3134493"/>
            <a:ext cx="6350908" cy="901065"/>
            <a:chOff x="3376753" y="3448290"/>
            <a:chExt cx="6350908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3" y="3448290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592982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二、对弧长的曲线积分的概念与性质</a:t>
              </a:r>
              <a:endParaRPr lang="zh-CN" altLang="en-US" sz="2800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D45B5AA-5AC5-C841-870D-13B3475C9903}"/>
              </a:ext>
            </a:extLst>
          </p:cNvPr>
          <p:cNvGrpSpPr/>
          <p:nvPr/>
        </p:nvGrpSpPr>
        <p:grpSpPr>
          <a:xfrm>
            <a:off x="2920546" y="4239839"/>
            <a:ext cx="6350908" cy="901065"/>
            <a:chOff x="3376753" y="4508606"/>
            <a:chExt cx="6350908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3" y="4508606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697840"/>
              <a:ext cx="495840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三、对弧长的曲线积分的计算</a:t>
              </a:r>
              <a:endParaRPr lang="zh-CN" altLang="en-US" sz="2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556BD31-2CD3-6C40-8AF7-F4340BCD53C7}"/>
              </a:ext>
            </a:extLst>
          </p:cNvPr>
          <p:cNvGrpSpPr/>
          <p:nvPr/>
        </p:nvGrpSpPr>
        <p:grpSpPr>
          <a:xfrm>
            <a:off x="2920546" y="5345184"/>
            <a:ext cx="6350908" cy="901065"/>
            <a:chOff x="3376753" y="5607832"/>
            <a:chExt cx="6350908" cy="901065"/>
          </a:xfrm>
        </p:grpSpPr>
        <p:sp>
          <p:nvSpPr>
            <p:cNvPr id="19" name="矩形: 圆角 40">
              <a:extLst>
                <a:ext uri="{FF2B5EF4-FFF2-40B4-BE49-F238E27FC236}">
                  <a16:creationId xmlns:a16="http://schemas.microsoft.com/office/drawing/2014/main" id="{1B4BB066-7047-6F48-95C5-06881D033798}"/>
                </a:ext>
              </a:extLst>
            </p:cNvPr>
            <p:cNvSpPr/>
            <p:nvPr/>
          </p:nvSpPr>
          <p:spPr>
            <a:xfrm flipV="1">
              <a:off x="3376753" y="5607832"/>
              <a:ext cx="635090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A757599-500B-F64B-9D05-C440BA741A76}"/>
                </a:ext>
              </a:extLst>
            </p:cNvPr>
            <p:cNvSpPr/>
            <p:nvPr/>
          </p:nvSpPr>
          <p:spPr>
            <a:xfrm>
              <a:off x="3616931" y="5797066"/>
              <a:ext cx="359104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*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四、几何与物理意义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7064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EA76DCA8-9DB2-4C15-DB57-CBD4536CC2F9}"/>
              </a:ext>
            </a:extLst>
          </p:cNvPr>
          <p:cNvSpPr txBox="1">
            <a:spLocks/>
          </p:cNvSpPr>
          <p:nvPr/>
        </p:nvSpPr>
        <p:spPr>
          <a:xfrm>
            <a:off x="1094695" y="578714"/>
            <a:ext cx="3425602" cy="7032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一、问题的提出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36">
                <a:extLst>
                  <a:ext uri="{FF2B5EF4-FFF2-40B4-BE49-F238E27FC236}">
                    <a16:creationId xmlns:a16="http://schemas.microsoft.com/office/drawing/2014/main" id="{F91CBDF3-3FD1-9C66-7D22-92EE51BACDBC}"/>
                  </a:ext>
                </a:extLst>
              </p:cNvPr>
              <p:cNvSpPr txBox="1"/>
              <p:nvPr/>
            </p:nvSpPr>
            <p:spPr bwMode="auto">
              <a:xfrm>
                <a:off x="3010549" y="2099436"/>
                <a:ext cx="3010634" cy="4969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4" name="Object 36">
                <a:extLst>
                  <a:ext uri="{FF2B5EF4-FFF2-40B4-BE49-F238E27FC236}">
                    <a16:creationId xmlns:a16="http://schemas.microsoft.com/office/drawing/2014/main" id="{F91CBDF3-3FD1-9C66-7D22-92EE51BAC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0549" y="2099436"/>
                <a:ext cx="3010634" cy="49699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Box 37">
            <a:extLst>
              <a:ext uri="{FF2B5EF4-FFF2-40B4-BE49-F238E27FC236}">
                <a16:creationId xmlns:a16="http://schemas.microsoft.com/office/drawing/2014/main" id="{889F29F0-3341-F519-7DF4-52737F079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342" y="2077319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匀质之质量</a:t>
            </a:r>
          </a:p>
        </p:txBody>
      </p:sp>
      <p:sp>
        <p:nvSpPr>
          <p:cNvPr id="46" name="Text Box 38">
            <a:extLst>
              <a:ext uri="{FF2B5EF4-FFF2-40B4-BE49-F238E27FC236}">
                <a16:creationId xmlns:a16="http://schemas.microsoft.com/office/drawing/2014/main" id="{C3F02785-13F6-5E76-DFBA-1903F7F04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759" y="2781316"/>
            <a:ext cx="17870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大化小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Object 39">
                <a:extLst>
                  <a:ext uri="{FF2B5EF4-FFF2-40B4-BE49-F238E27FC236}">
                    <a16:creationId xmlns:a16="http://schemas.microsoft.com/office/drawing/2014/main" id="{05276C7B-F63C-E30F-7DB8-BF79E3F60A39}"/>
                  </a:ext>
                </a:extLst>
              </p:cNvPr>
              <p:cNvSpPr txBox="1"/>
              <p:nvPr/>
            </p:nvSpPr>
            <p:spPr bwMode="auto">
              <a:xfrm>
                <a:off x="3075116" y="2781316"/>
                <a:ext cx="4275871" cy="54086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,⋯,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→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Object 39">
                <a:extLst>
                  <a:ext uri="{FF2B5EF4-FFF2-40B4-BE49-F238E27FC236}">
                    <a16:creationId xmlns:a16="http://schemas.microsoft.com/office/drawing/2014/main" id="{05276C7B-F63C-E30F-7DB8-BF79E3F60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116" y="2781316"/>
                <a:ext cx="4275871" cy="54086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0">
                <a:extLst>
                  <a:ext uri="{FF2B5EF4-FFF2-40B4-BE49-F238E27FC236}">
                    <a16:creationId xmlns:a16="http://schemas.microsoft.com/office/drawing/2014/main" id="{0A40CC46-5480-2FF1-C9E0-15DC99DE86FC}"/>
                  </a:ext>
                </a:extLst>
              </p:cNvPr>
              <p:cNvSpPr txBox="1"/>
              <p:nvPr/>
            </p:nvSpPr>
            <p:spPr bwMode="auto">
              <a:xfrm>
                <a:off x="3075116" y="3437952"/>
                <a:ext cx="2922724" cy="5232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取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)∈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8" name="Object 40">
                <a:extLst>
                  <a:ext uri="{FF2B5EF4-FFF2-40B4-BE49-F238E27FC236}">
                    <a16:creationId xmlns:a16="http://schemas.microsoft.com/office/drawing/2014/main" id="{0A40CC46-5480-2FF1-C9E0-15DC99DE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116" y="3437952"/>
                <a:ext cx="2922724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bject 41">
                <a:extLst>
                  <a:ext uri="{FF2B5EF4-FFF2-40B4-BE49-F238E27FC236}">
                    <a16:creationId xmlns:a16="http://schemas.microsoft.com/office/drawing/2014/main" id="{CF956407-D7FE-2A69-0C0F-4C378DB5949C}"/>
                  </a:ext>
                </a:extLst>
              </p:cNvPr>
              <p:cNvSpPr txBox="1"/>
              <p:nvPr/>
            </p:nvSpPr>
            <p:spPr bwMode="auto">
              <a:xfrm>
                <a:off x="5682161" y="3437952"/>
                <a:ext cx="4151556" cy="5232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≈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)⋅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9" name="Object 41">
                <a:extLst>
                  <a:ext uri="{FF2B5EF4-FFF2-40B4-BE49-F238E27FC236}">
                    <a16:creationId xmlns:a16="http://schemas.microsoft.com/office/drawing/2014/main" id="{CF956407-D7FE-2A69-0C0F-4C378DB59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82161" y="3437952"/>
                <a:ext cx="4151556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 Box 42">
            <a:extLst>
              <a:ext uri="{FF2B5EF4-FFF2-40B4-BE49-F238E27FC236}">
                <a16:creationId xmlns:a16="http://schemas.microsoft.com/office/drawing/2014/main" id="{02AAFEED-8651-7240-A024-5BAA18E61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759" y="4331521"/>
            <a:ext cx="13774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近似和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43">
                <a:extLst>
                  <a:ext uri="{FF2B5EF4-FFF2-40B4-BE49-F238E27FC236}">
                    <a16:creationId xmlns:a16="http://schemas.microsoft.com/office/drawing/2014/main" id="{41E3EAD5-9723-278B-9AA5-D594A85461B8}"/>
                  </a:ext>
                </a:extLst>
              </p:cNvPr>
              <p:cNvSpPr txBox="1"/>
              <p:nvPr/>
            </p:nvSpPr>
            <p:spPr bwMode="auto">
              <a:xfrm>
                <a:off x="3075116" y="3937077"/>
                <a:ext cx="4094163" cy="131210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=1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)⋅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Δ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1" name="Object 43">
                <a:extLst>
                  <a:ext uri="{FF2B5EF4-FFF2-40B4-BE49-F238E27FC236}">
                    <a16:creationId xmlns:a16="http://schemas.microsoft.com/office/drawing/2014/main" id="{41E3EAD5-9723-278B-9AA5-D594A8546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116" y="3937077"/>
                <a:ext cx="4094163" cy="131210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 Box 44">
            <a:extLst>
              <a:ext uri="{FF2B5EF4-FFF2-40B4-BE49-F238E27FC236}">
                <a16:creationId xmlns:a16="http://schemas.microsoft.com/office/drawing/2014/main" id="{ADD7C9D1-9073-4645-3BDC-9F9E6164D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759" y="5418144"/>
            <a:ext cx="129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取极限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Object 45">
                <a:extLst>
                  <a:ext uri="{FF2B5EF4-FFF2-40B4-BE49-F238E27FC236}">
                    <a16:creationId xmlns:a16="http://schemas.microsoft.com/office/drawing/2014/main" id="{53F767C7-8A0D-EB05-B22F-B3BFF8E98873}"/>
                  </a:ext>
                </a:extLst>
              </p:cNvPr>
              <p:cNvSpPr txBox="1"/>
              <p:nvPr/>
            </p:nvSpPr>
            <p:spPr bwMode="auto">
              <a:xfrm>
                <a:off x="3075116" y="5021646"/>
                <a:ext cx="4417017" cy="131210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 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3" name="Object 45">
                <a:extLst>
                  <a:ext uri="{FF2B5EF4-FFF2-40B4-BE49-F238E27FC236}">
                    <a16:creationId xmlns:a16="http://schemas.microsoft.com/office/drawing/2014/main" id="{53F767C7-8A0D-EB05-B22F-B3BFF8E98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116" y="5021646"/>
                <a:ext cx="4417017" cy="131210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Box 38">
            <a:extLst>
              <a:ext uri="{FF2B5EF4-FFF2-40B4-BE49-F238E27FC236}">
                <a16:creationId xmlns:a16="http://schemas.microsoft.com/office/drawing/2014/main" id="{A7D9179C-0095-6C4B-734E-C4A356FC4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759" y="3437952"/>
            <a:ext cx="17870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常代变</a:t>
            </a:r>
          </a:p>
        </p:txBody>
      </p:sp>
      <p:sp>
        <p:nvSpPr>
          <p:cNvPr id="2" name="AutoShape 7">
            <a:extLst>
              <a:ext uri="{FF2B5EF4-FFF2-40B4-BE49-F238E27FC236}">
                <a16:creationId xmlns:a16="http://schemas.microsoft.com/office/drawing/2014/main" id="{BE6BD3D7-1FC5-B87C-F79E-70DF3B5F0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434" y="5266248"/>
            <a:ext cx="1268413" cy="457200"/>
          </a:xfrm>
          <a:prstGeom prst="wedgeRectCallout">
            <a:avLst>
              <a:gd name="adj1" fmla="val -86020"/>
              <a:gd name="adj2" fmla="val 48194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sym typeface="+mn-ea"/>
              </a:rPr>
              <a:t>精确值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3" name="AutoShape 7">
            <a:extLst>
              <a:ext uri="{FF2B5EF4-FFF2-40B4-BE49-F238E27FC236}">
                <a16:creationId xmlns:a16="http://schemas.microsoft.com/office/drawing/2014/main" id="{B66D29DF-DF63-6F6E-B708-3DB6A5044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279" y="4261865"/>
            <a:ext cx="1268413" cy="457200"/>
          </a:xfrm>
          <a:prstGeom prst="wedgeRectCallout">
            <a:avLst>
              <a:gd name="adj1" fmla="val -85269"/>
              <a:gd name="adj2" fmla="val 31527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charset="0"/>
                <a:ea typeface="黑体" panose="02010609060101010101" pitchFamily="49" charset="-122"/>
                <a:sym typeface="+mn-ea"/>
              </a:rPr>
              <a:t>近似值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E3218BC-0FAE-282B-5801-B1CDEA189E51}"/>
              </a:ext>
            </a:extLst>
          </p:cNvPr>
          <p:cNvGrpSpPr/>
          <p:nvPr/>
        </p:nvGrpSpPr>
        <p:grpSpPr>
          <a:xfrm>
            <a:off x="1205341" y="1455331"/>
            <a:ext cx="4221480" cy="448945"/>
            <a:chOff x="1553" y="3803"/>
            <a:chExt cx="6648" cy="707"/>
          </a:xfrm>
        </p:grpSpPr>
        <p:sp>
          <p:nvSpPr>
            <p:cNvPr id="5" name="圆角矩形 57">
              <a:extLst>
                <a:ext uri="{FF2B5EF4-FFF2-40B4-BE49-F238E27FC236}">
                  <a16:creationId xmlns:a16="http://schemas.microsoft.com/office/drawing/2014/main" id="{F7C162E3-CDAD-22FB-0FB0-A9390AC4011D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Box 28">
              <a:extLst>
                <a:ext uri="{FF2B5EF4-FFF2-40B4-BE49-F238E27FC236}">
                  <a16:creationId xmlns:a16="http://schemas.microsoft.com/office/drawing/2014/main" id="{60C6817D-60CD-5FA7-9ABF-F18AE92BF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6571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实例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  </a:t>
              </a:r>
              <a:r>
                <a:rPr kumimoji="1" lang="zh-CN" altLang="en-US" sz="2800" b="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rPr>
                <a:t>曲线形构件的质量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12" name="图片 11" descr="图示&#10;&#10;描述已自动生成">
            <a:extLst>
              <a:ext uri="{FF2B5EF4-FFF2-40B4-BE49-F238E27FC236}">
                <a16:creationId xmlns:a16="http://schemas.microsoft.com/office/drawing/2014/main" id="{AB54592B-8D77-33C5-9F10-C454A4144594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247" y="740883"/>
            <a:ext cx="3010633" cy="27529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4" grpId="0"/>
      <p:bldP spid="45" grpId="0" autoUpdateAnimBg="0"/>
      <p:bldP spid="46" grpId="0" autoUpdateAnimBg="0"/>
      <p:bldP spid="47" grpId="0"/>
      <p:bldP spid="48" grpId="0"/>
      <p:bldP spid="49" grpId="0"/>
      <p:bldP spid="50" grpId="0" autoUpdateAnimBg="0"/>
      <p:bldP spid="51" grpId="0"/>
      <p:bldP spid="52" grpId="0" autoUpdateAnimBg="0"/>
      <p:bldP spid="53" grpId="0"/>
      <p:bldP spid="57" grpId="0" autoUpdateAnimBg="0"/>
      <p:bldP spid="2" grpId="0" animBg="1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B1FC5-8519-FB59-016E-7A438CA091F4}"/>
              </a:ext>
            </a:extLst>
          </p:cNvPr>
          <p:cNvSpPr txBox="1">
            <a:spLocks/>
          </p:cNvSpPr>
          <p:nvPr/>
        </p:nvSpPr>
        <p:spPr>
          <a:xfrm>
            <a:off x="747037" y="755640"/>
            <a:ext cx="7331854" cy="651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二、对弧长的曲线积分的概念与性质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34AFDC54-4C89-6AE7-DE49-55B335C71CD5}"/>
                  </a:ext>
                </a:extLst>
              </p:cNvPr>
              <p:cNvSpPr txBox="1"/>
              <p:nvPr/>
            </p:nvSpPr>
            <p:spPr bwMode="auto">
              <a:xfrm>
                <a:off x="1260474" y="1924279"/>
                <a:ext cx="8730235" cy="41495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      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设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为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面内一条光滑曲线弧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函数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上有界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上的点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把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分成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个小段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设第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个小段的长度为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又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为第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个小段上任意取定的一点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作乘积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)⋅</m:t>
                      </m:r>
                      <m:r>
                        <m:rPr>
                          <m:sty m:val="p"/>
                        </m:rP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并作和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)⋅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34AFDC54-4C89-6AE7-DE49-55B335C71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0474" y="1924279"/>
                <a:ext cx="8730235" cy="41495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7">
            <a:extLst>
              <a:ext uri="{FF2B5EF4-FFF2-40B4-BE49-F238E27FC236}">
                <a16:creationId xmlns:a16="http://schemas.microsoft.com/office/drawing/2014/main" id="{B92F63DD-8F62-2E0D-6514-858AC9811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4" y="1460657"/>
            <a:ext cx="15855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F8DD4852-B64A-9CDE-1831-952B51E66F6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108" y="3666963"/>
            <a:ext cx="3010633" cy="27529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38E670D8-0280-3749-60B1-7DFCF2EE59B9}"/>
                  </a:ext>
                </a:extLst>
              </p:cNvPr>
              <p:cNvSpPr txBox="1"/>
              <p:nvPr/>
            </p:nvSpPr>
            <p:spPr bwMode="auto">
              <a:xfrm>
                <a:off x="2245938" y="348388"/>
                <a:ext cx="8336164" cy="5337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如果当各小弧段的长度的最大值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𝜆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→0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时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,  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这和的极限存在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且与曲线弧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的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分法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及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点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的取法无关，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则称此极限为函数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在曲线弧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上对弧长的曲线积分或第一类曲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 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线积分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,  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记作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,  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即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 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)⋅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38E670D8-0280-3749-60B1-7DFCF2EE5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938" y="348388"/>
                <a:ext cx="8336164" cy="53371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11">
            <a:extLst>
              <a:ext uri="{FF2B5EF4-FFF2-40B4-BE49-F238E27FC236}">
                <a16:creationId xmlns:a16="http://schemas.microsoft.com/office/drawing/2014/main" id="{1B729B5D-C026-2293-73C2-8470856B0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6" y="5006524"/>
            <a:ext cx="1047750" cy="0"/>
          </a:xfrm>
          <a:prstGeom prst="line">
            <a:avLst/>
          </a:prstGeom>
          <a:noFill/>
          <a:ln w="2540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EFF132F-BAA4-AA0B-88BC-D09BA928F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7025" y="4123873"/>
            <a:ext cx="2649814" cy="1200145"/>
          </a:xfrm>
          <a:prstGeom prst="rect">
            <a:avLst/>
          </a:prstGeom>
          <a:noFill/>
          <a:ln w="28575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279F2BD2-4E7B-F68A-1158-09389233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2446" y="3866246"/>
            <a:ext cx="1268413" cy="457200"/>
          </a:xfrm>
          <a:prstGeom prst="wedgeRectCallout">
            <a:avLst>
              <a:gd name="adj1" fmla="val -54481"/>
              <a:gd name="adj2" fmla="val 100277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被积函数</a:t>
            </a: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C8951E5A-3ECE-3968-C1EF-BE0E4BB77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432" y="5228362"/>
            <a:ext cx="1268413" cy="457200"/>
          </a:xfrm>
          <a:prstGeom prst="wedgeRectCallout">
            <a:avLst>
              <a:gd name="adj1" fmla="val -64243"/>
              <a:gd name="adj2" fmla="val -72640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积分弧段</a:t>
            </a:r>
          </a:p>
        </p:txBody>
      </p:sp>
      <p:sp>
        <p:nvSpPr>
          <p:cNvPr id="16" name="AutoShape 7">
            <a:extLst>
              <a:ext uri="{FF2B5EF4-FFF2-40B4-BE49-F238E27FC236}">
                <a16:creationId xmlns:a16="http://schemas.microsoft.com/office/drawing/2014/main" id="{8E0337E5-FB20-A7BE-211F-D58CB46C4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3568" y="4495345"/>
            <a:ext cx="1268413" cy="457200"/>
          </a:xfrm>
          <a:prstGeom prst="wedgeRectCallout">
            <a:avLst>
              <a:gd name="adj1" fmla="val -60489"/>
              <a:gd name="adj2" fmla="val 96110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积分和式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9">
                <a:extLst>
                  <a:ext uri="{FF2B5EF4-FFF2-40B4-BE49-F238E27FC236}">
                    <a16:creationId xmlns:a16="http://schemas.microsoft.com/office/drawing/2014/main" id="{F8459F43-7338-44D3-444D-04AC77D437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22359" y="1265484"/>
                <a:ext cx="471250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如果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是闭曲线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则记为</a:t>
                </a:r>
              </a:p>
            </p:txBody>
          </p:sp>
        </mc:Choice>
        <mc:Fallback xmlns="">
          <p:sp>
            <p:nvSpPr>
              <p:cNvPr id="4" name="Text Box 9">
                <a:extLst>
                  <a:ext uri="{FF2B5EF4-FFF2-40B4-BE49-F238E27FC236}">
                    <a16:creationId xmlns:a16="http://schemas.microsoft.com/office/drawing/2014/main" id="{F8459F43-7338-44D3-444D-04AC77D43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2359" y="1265484"/>
                <a:ext cx="4712504" cy="523220"/>
              </a:xfrm>
              <a:prstGeom prst="rect">
                <a:avLst/>
              </a:prstGeom>
              <a:blipFill>
                <a:blip r:embed="rId3"/>
                <a:stretch>
                  <a:fillRect t="-15294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32">
                <a:extLst>
                  <a:ext uri="{FF2B5EF4-FFF2-40B4-BE49-F238E27FC236}">
                    <a16:creationId xmlns:a16="http://schemas.microsoft.com/office/drawing/2014/main" id="{DC4B7FB2-FE6F-56F9-1FF8-FD7BDBB686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5483" y="3797311"/>
                <a:ext cx="433984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若在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上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≡1, </a:t>
                </a:r>
              </a:p>
            </p:txBody>
          </p:sp>
        </mc:Choice>
        <mc:Fallback xmlns="">
          <p:sp>
            <p:nvSpPr>
              <p:cNvPr id="7" name="Text Box 32">
                <a:extLst>
                  <a:ext uri="{FF2B5EF4-FFF2-40B4-BE49-F238E27FC236}">
                    <a16:creationId xmlns:a16="http://schemas.microsoft.com/office/drawing/2014/main" id="{DC4B7FB2-FE6F-56F9-1FF8-FD7BDBB68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5483" y="3797311"/>
                <a:ext cx="4339842" cy="523220"/>
              </a:xfrm>
              <a:prstGeom prst="rect">
                <a:avLst/>
              </a:prstGeom>
              <a:blipFill>
                <a:blip r:embed="rId4"/>
                <a:stretch>
                  <a:fillRect t="-15116" r="-182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33">
                <a:extLst>
                  <a:ext uri="{FF2B5EF4-FFF2-40B4-BE49-F238E27FC236}">
                    <a16:creationId xmlns:a16="http://schemas.microsoft.com/office/drawing/2014/main" id="{E0B4533E-449C-E12A-C9C2-9711ACF293F0}"/>
                  </a:ext>
                </a:extLst>
              </p:cNvPr>
              <p:cNvSpPr txBox="1"/>
              <p:nvPr/>
            </p:nvSpPr>
            <p:spPr bwMode="auto">
              <a:xfrm>
                <a:off x="6272986" y="3624139"/>
                <a:ext cx="3769487" cy="9887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问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ds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表示什么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Object 33">
                <a:extLst>
                  <a:ext uri="{FF2B5EF4-FFF2-40B4-BE49-F238E27FC236}">
                    <a16:creationId xmlns:a16="http://schemas.microsoft.com/office/drawing/2014/main" id="{E0B4533E-449C-E12A-C9C2-9711ACF29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72986" y="3624139"/>
                <a:ext cx="3769487" cy="9887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34">
                <a:extLst>
                  <a:ext uri="{FF2B5EF4-FFF2-40B4-BE49-F238E27FC236}">
                    <a16:creationId xmlns:a16="http://schemas.microsoft.com/office/drawing/2014/main" id="{B833AD07-0417-8CB3-6D73-87668F377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5483" y="4625733"/>
                <a:ext cx="790472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定积分是否可看作对弧长曲线积分的特例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? </a:t>
                </a:r>
              </a:p>
            </p:txBody>
          </p:sp>
        </mc:Choice>
        <mc:Fallback xmlns="">
          <p:sp>
            <p:nvSpPr>
              <p:cNvPr id="9" name="Text Box 34">
                <a:extLst>
                  <a:ext uri="{FF2B5EF4-FFF2-40B4-BE49-F238E27FC236}">
                    <a16:creationId xmlns:a16="http://schemas.microsoft.com/office/drawing/2014/main" id="{B833AD07-0417-8CB3-6D73-87668F377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5483" y="4625733"/>
                <a:ext cx="7904728" cy="523220"/>
              </a:xfrm>
              <a:prstGeom prst="rect">
                <a:avLst/>
              </a:prstGeom>
              <a:blipFill>
                <a:blip r:embed="rId6"/>
                <a:stretch>
                  <a:fillRect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35">
            <a:extLst>
              <a:ext uri="{FF2B5EF4-FFF2-40B4-BE49-F238E27FC236}">
                <a16:creationId xmlns:a16="http://schemas.microsoft.com/office/drawing/2014/main" id="{FAED40F1-532B-5B96-7B06-7FCD0B3A8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5516" y="5263158"/>
            <a:ext cx="747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否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!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37">
                <a:extLst>
                  <a:ext uri="{FF2B5EF4-FFF2-40B4-BE49-F238E27FC236}">
                    <a16:creationId xmlns:a16="http://schemas.microsoft.com/office/drawing/2014/main" id="{26940316-D9FE-4428-FFE5-217B1C2696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9085" y="5259796"/>
                <a:ext cx="512287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对弧长的曲线积分要求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0,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37">
                <a:extLst>
                  <a:ext uri="{FF2B5EF4-FFF2-40B4-BE49-F238E27FC236}">
                    <a16:creationId xmlns:a16="http://schemas.microsoft.com/office/drawing/2014/main" id="{26940316-D9FE-4428-FFE5-217B1C269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9085" y="5259796"/>
                <a:ext cx="5122877" cy="523220"/>
              </a:xfrm>
              <a:prstGeom prst="rect">
                <a:avLst/>
              </a:prstGeom>
              <a:blipFill>
                <a:blip r:embed="rId7"/>
                <a:stretch>
                  <a:fillRect l="-2378" t="-1511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8">
            <a:extLst>
              <a:ext uri="{FF2B5EF4-FFF2-40B4-BE49-F238E27FC236}">
                <a16:creationId xmlns:a16="http://schemas.microsoft.com/office/drawing/2014/main" id="{21A2376E-A62C-B8BC-2BED-C6740D3E9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8948" y="5234647"/>
            <a:ext cx="19800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但定积分中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39">
                <a:extLst>
                  <a:ext uri="{FF2B5EF4-FFF2-40B4-BE49-F238E27FC236}">
                    <a16:creationId xmlns:a16="http://schemas.microsoft.com/office/drawing/2014/main" id="{830646D4-C7A3-BA56-1999-057908AD3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59085" y="5842138"/>
                <a:ext cx="220092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可能为负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 Box 39">
                <a:extLst>
                  <a:ext uri="{FF2B5EF4-FFF2-40B4-BE49-F238E27FC236}">
                    <a16:creationId xmlns:a16="http://schemas.microsoft.com/office/drawing/2014/main" id="{830646D4-C7A3-BA56-1999-057908AD3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9085" y="5842138"/>
                <a:ext cx="2200924" cy="523220"/>
              </a:xfrm>
              <a:prstGeom prst="rect">
                <a:avLst/>
              </a:prstGeom>
              <a:blipFill>
                <a:blip r:embed="rId8"/>
                <a:stretch>
                  <a:fillRect t="-13953" r="-4709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对象 1">
            <a:extLst>
              <a:ext uri="{FF2B5EF4-FFF2-40B4-BE49-F238E27FC236}">
                <a16:creationId xmlns:a16="http://schemas.microsoft.com/office/drawing/2014/main" id="{173F95B8-9F17-B863-7555-52DA4A964E09}"/>
              </a:ext>
            </a:extLst>
          </p:cNvPr>
          <p:cNvSpPr txBox="1"/>
          <p:nvPr/>
        </p:nvSpPr>
        <p:spPr>
          <a:xfrm>
            <a:off x="7193648" y="3352800"/>
            <a:ext cx="914400" cy="34607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7">
                <a:extLst>
                  <a:ext uri="{FF2B5EF4-FFF2-40B4-BE49-F238E27FC236}">
                    <a16:creationId xmlns:a16="http://schemas.microsoft.com/office/drawing/2014/main" id="{EDF5A3B2-8C37-BEDB-6F28-C0B86A9239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5483" y="2284248"/>
                <a:ext cx="373371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 曲线形构件的质量</a:t>
                </a:r>
              </a:p>
            </p:txBody>
          </p:sp>
        </mc:Choice>
        <mc:Fallback xmlns="">
          <p:sp>
            <p:nvSpPr>
              <p:cNvPr id="20" name="Rectangle 7">
                <a:extLst>
                  <a:ext uri="{FF2B5EF4-FFF2-40B4-BE49-F238E27FC236}">
                    <a16:creationId xmlns:a16="http://schemas.microsoft.com/office/drawing/2014/main" id="{EDF5A3B2-8C37-BEDB-6F28-C0B86A923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5483" y="2284248"/>
                <a:ext cx="3733714" cy="523220"/>
              </a:xfrm>
              <a:prstGeom prst="rect">
                <a:avLst/>
              </a:prstGeom>
              <a:blipFill>
                <a:blip r:embed="rId9"/>
                <a:stretch>
                  <a:fillRect t="-15116" r="-2451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3">
                <a:extLst>
                  <a:ext uri="{FF2B5EF4-FFF2-40B4-BE49-F238E27FC236}">
                    <a16:creationId xmlns:a16="http://schemas.microsoft.com/office/drawing/2014/main" id="{32172FCE-CB2E-819D-D29E-2C7E3CD33539}"/>
                  </a:ext>
                </a:extLst>
              </p:cNvPr>
              <p:cNvSpPr txBox="1"/>
              <p:nvPr/>
            </p:nvSpPr>
            <p:spPr>
              <a:xfrm>
                <a:off x="6562882" y="1065800"/>
                <a:ext cx="2394937" cy="92293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对象 3">
                <a:extLst>
                  <a:ext uri="{FF2B5EF4-FFF2-40B4-BE49-F238E27FC236}">
                    <a16:creationId xmlns:a16="http://schemas.microsoft.com/office/drawing/2014/main" id="{32172FCE-CB2E-819D-D29E-2C7E3CD33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882" y="1065800"/>
                <a:ext cx="2394937" cy="92293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组合 22">
            <a:extLst>
              <a:ext uri="{FF2B5EF4-FFF2-40B4-BE49-F238E27FC236}">
                <a16:creationId xmlns:a16="http://schemas.microsoft.com/office/drawing/2014/main" id="{90E9A963-53A8-C88E-45B5-57198C0F1928}"/>
              </a:ext>
            </a:extLst>
          </p:cNvPr>
          <p:cNvGrpSpPr/>
          <p:nvPr/>
        </p:nvGrpSpPr>
        <p:grpSpPr>
          <a:xfrm>
            <a:off x="2358131" y="418516"/>
            <a:ext cx="647700" cy="647700"/>
            <a:chOff x="1567" y="838"/>
            <a:chExt cx="1020" cy="1020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A48FD193-3BB6-D67A-C7CE-FEE57ADD42C4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2712ACE-4296-2891-45EB-99ACE28868AF}"/>
                </a:ext>
              </a:extLst>
            </p:cNvPr>
            <p:cNvSpPr txBox="1"/>
            <p:nvPr/>
          </p:nvSpPr>
          <p:spPr bwMode="auto">
            <a:xfrm>
              <a:off x="1652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6D142EFB-A9E6-7FE5-FEFE-59591BC3F1F8}"/>
                </a:ext>
              </a:extLst>
            </p:cNvPr>
            <p:cNvSpPr/>
            <p:nvPr/>
          </p:nvSpPr>
          <p:spPr>
            <a:xfrm>
              <a:off x="1567" y="838"/>
              <a:ext cx="1020" cy="1020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对象 3">
                <a:extLst>
                  <a:ext uri="{FF2B5EF4-FFF2-40B4-BE49-F238E27FC236}">
                    <a16:creationId xmlns:a16="http://schemas.microsoft.com/office/drawing/2014/main" id="{DC8E20EA-F239-7768-D61C-D1188AFFF53D}"/>
                  </a:ext>
                </a:extLst>
              </p:cNvPr>
              <p:cNvSpPr txBox="1"/>
              <p:nvPr/>
            </p:nvSpPr>
            <p:spPr>
              <a:xfrm>
                <a:off x="5889311" y="2114062"/>
                <a:ext cx="4437473" cy="92293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zh-CN" sz="28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​</m:t>
                                  </m:r>
                                </m:e>
                              </m:func>
                            </m:fName>
                            <m: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对象 3">
                <a:extLst>
                  <a:ext uri="{FF2B5EF4-FFF2-40B4-BE49-F238E27FC236}">
                    <a16:creationId xmlns:a16="http://schemas.microsoft.com/office/drawing/2014/main" id="{DC8E20EA-F239-7768-D61C-D1188AFFF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9311" y="2114062"/>
                <a:ext cx="4437473" cy="92293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8FCCA256-FC02-2295-1455-E6CC61276E6E}"/>
              </a:ext>
            </a:extLst>
          </p:cNvPr>
          <p:cNvGrpSpPr/>
          <p:nvPr/>
        </p:nvGrpSpPr>
        <p:grpSpPr>
          <a:xfrm>
            <a:off x="2419091" y="3160820"/>
            <a:ext cx="962025" cy="448945"/>
            <a:chOff x="1553" y="3803"/>
            <a:chExt cx="1515" cy="707"/>
          </a:xfrm>
        </p:grpSpPr>
        <p:sp>
          <p:nvSpPr>
            <p:cNvPr id="3" name="圆角矩形 57">
              <a:extLst>
                <a:ext uri="{FF2B5EF4-FFF2-40B4-BE49-F238E27FC236}">
                  <a16:creationId xmlns:a16="http://schemas.microsoft.com/office/drawing/2014/main" id="{50546706-76EF-9914-4FE1-75E00395A386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382C6E1E-4A10-14AF-5694-DC41B397BC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思考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20" grpId="0"/>
      <p:bldP spid="21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91F151E7-00FE-3C2D-CBE0-62F52037A489}"/>
              </a:ext>
            </a:extLst>
          </p:cNvPr>
          <p:cNvGrpSpPr/>
          <p:nvPr/>
        </p:nvGrpSpPr>
        <p:grpSpPr>
          <a:xfrm>
            <a:off x="0" y="-181"/>
            <a:ext cx="12192000" cy="6863080"/>
            <a:chOff x="0" y="-181"/>
            <a:chExt cx="12192000" cy="6863080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71EA267-7C2F-B9C3-31D2-3143151F43E2}"/>
                </a:ext>
              </a:extLst>
            </p:cNvPr>
            <p:cNvGrpSpPr/>
            <p:nvPr/>
          </p:nvGrpSpPr>
          <p:grpSpPr>
            <a:xfrm>
              <a:off x="0" y="-181"/>
              <a:ext cx="12192000" cy="6863080"/>
              <a:chOff x="0" y="-8"/>
              <a:chExt cx="19200" cy="10808"/>
            </a:xfrm>
          </p:grpSpPr>
          <p:sp>
            <p:nvSpPr>
              <p:cNvPr id="41" name="Rectangle 1">
                <a:extLst>
                  <a:ext uri="{FF2B5EF4-FFF2-40B4-BE49-F238E27FC236}">
                    <a16:creationId xmlns:a16="http://schemas.microsoft.com/office/drawing/2014/main" id="{DD2AEDDC-E614-831F-BCEB-A74D1AFECC03}"/>
                  </a:ext>
                </a:extLst>
              </p:cNvPr>
              <p:cNvSpPr/>
              <p:nvPr/>
            </p:nvSpPr>
            <p:spPr>
              <a:xfrm>
                <a:off x="0" y="-8"/>
                <a:ext cx="19200" cy="10808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88000"/>
                    </a:srgbClr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圆角矩形 16">
                <a:extLst>
                  <a:ext uri="{FF2B5EF4-FFF2-40B4-BE49-F238E27FC236}">
                    <a16:creationId xmlns:a16="http://schemas.microsoft.com/office/drawing/2014/main" id="{534594FB-6A48-1949-6ECD-68E79D5431B2}"/>
                  </a:ext>
                </a:extLst>
              </p:cNvPr>
              <p:cNvSpPr/>
              <p:nvPr/>
            </p:nvSpPr>
            <p:spPr>
              <a:xfrm>
                <a:off x="354" y="310"/>
                <a:ext cx="18493" cy="10167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7908C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D850C970-9E2E-C155-ECDA-571D096F935D}"/>
                </a:ext>
              </a:extLst>
            </p:cNvPr>
            <p:cNvGrpSpPr/>
            <p:nvPr/>
          </p:nvGrpSpPr>
          <p:grpSpPr>
            <a:xfrm>
              <a:off x="0" y="239357"/>
              <a:ext cx="11993046" cy="6427310"/>
              <a:chOff x="0" y="239357"/>
              <a:chExt cx="11993046" cy="6427310"/>
            </a:xfrm>
          </p:grpSpPr>
          <p:sp>
            <p:nvSpPr>
              <p:cNvPr id="35" name="Rectangle 1">
                <a:extLst>
                  <a:ext uri="{FF2B5EF4-FFF2-40B4-BE49-F238E27FC236}">
                    <a16:creationId xmlns:a16="http://schemas.microsoft.com/office/drawing/2014/main" id="{7DFAC150-79E7-B41E-2F3B-F7F1B0F8D662}"/>
                  </a:ext>
                </a:extLst>
              </p:cNvPr>
              <p:cNvSpPr/>
              <p:nvPr userDrawn="1"/>
            </p:nvSpPr>
            <p:spPr>
              <a:xfrm>
                <a:off x="297498" y="6471504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0C428A5-B45D-1ACB-1E07-0323F4FFFAE0}"/>
                  </a:ext>
                </a:extLst>
              </p:cNvPr>
              <p:cNvSpPr/>
              <p:nvPr/>
            </p:nvSpPr>
            <p:spPr>
              <a:xfrm>
                <a:off x="476885" y="6358890"/>
                <a:ext cx="231671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第一节</a:t>
                </a:r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对弧长的曲线积分</a:t>
                </a:r>
              </a:p>
            </p:txBody>
          </p:sp>
          <p:sp>
            <p:nvSpPr>
              <p:cNvPr id="37" name="Rectangle 1">
                <a:extLst>
                  <a:ext uri="{FF2B5EF4-FFF2-40B4-BE49-F238E27FC236}">
                    <a16:creationId xmlns:a16="http://schemas.microsoft.com/office/drawing/2014/main" id="{3D6C5654-35D3-0D25-B233-AEAE35DF6C9E}"/>
                  </a:ext>
                </a:extLst>
              </p:cNvPr>
              <p:cNvSpPr/>
              <p:nvPr userDrawn="1"/>
            </p:nvSpPr>
            <p:spPr>
              <a:xfrm rot="2659048">
                <a:off x="9060538" y="323227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4C389063-E77D-B186-6A00-1DD3C32E0BB8}"/>
                  </a:ext>
                </a:extLst>
              </p:cNvPr>
              <p:cNvSpPr/>
              <p:nvPr/>
            </p:nvSpPr>
            <p:spPr>
              <a:xfrm>
                <a:off x="9315710" y="239357"/>
                <a:ext cx="267733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第十一章  曲线积分与曲面积分</a:t>
                </a:r>
              </a:p>
            </p:txBody>
          </p: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4014F61F-1EF0-10A7-6FCF-D33EDA92364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0" y="393245"/>
                <a:ext cx="8793692" cy="0"/>
              </a:xfrm>
              <a:prstGeom prst="line">
                <a:avLst/>
              </a:prstGeom>
              <a:ln>
                <a:solidFill>
                  <a:srgbClr val="00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63CE26F7-C742-1E0C-FCAF-C585B377DE6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774552" y="6512242"/>
                <a:ext cx="9180000" cy="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" name="Text Box 2">
            <a:extLst>
              <a:ext uri="{FF2B5EF4-FFF2-40B4-BE49-F238E27FC236}">
                <a16:creationId xmlns:a16="http://schemas.microsoft.com/office/drawing/2014/main" id="{230C2171-54A5-9BD7-9724-3C2432FD7F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256" y="933451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2E0E2476-9C8A-52B0-8072-A25B038F3B7F}"/>
                  </a:ext>
                </a:extLst>
              </p:cNvPr>
              <p:cNvSpPr txBox="1"/>
              <p:nvPr/>
            </p:nvSpPr>
            <p:spPr bwMode="auto">
              <a:xfrm>
                <a:off x="2624356" y="1558925"/>
                <a:ext cx="6999287" cy="1193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        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, 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在光滑曲线弧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上连续时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, </m:t>
                      </m:r>
                    </m:oMath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对弧长的曲线积分</m:t>
                      </m:r>
                      <m:nary>
                        <m:naryPr>
                          <m:supHide m:val="on"/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nary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存在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Object 3">
                <a:extLst>
                  <a:ext uri="{FF2B5EF4-FFF2-40B4-BE49-F238E27FC236}">
                    <a16:creationId xmlns:a16="http://schemas.microsoft.com/office/drawing/2014/main" id="{2E0E2476-9C8A-52B0-8072-A25B038F3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4356" y="1558925"/>
                <a:ext cx="6999287" cy="1193800"/>
              </a:xfrm>
              <a:prstGeom prst="rect">
                <a:avLst/>
              </a:prstGeom>
              <a:blipFill>
                <a:blip r:embed="rId2"/>
                <a:stretch>
                  <a:fillRect b="-168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Line 4">
            <a:extLst>
              <a:ext uri="{FF2B5EF4-FFF2-40B4-BE49-F238E27FC236}">
                <a16:creationId xmlns:a16="http://schemas.microsoft.com/office/drawing/2014/main" id="{5B6EA011-5C3F-7FBA-13C2-50A94E7C9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5074" y="2120900"/>
            <a:ext cx="752475" cy="0"/>
          </a:xfrm>
          <a:prstGeom prst="line">
            <a:avLst/>
          </a:prstGeom>
          <a:noFill/>
          <a:ln w="25400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2BAC3559-E345-C12C-A0EB-49AF3FF59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256" y="3006406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5E979F17-1543-8ED4-247F-C168C35E8D0F}"/>
                  </a:ext>
                </a:extLst>
              </p:cNvPr>
              <p:cNvSpPr txBox="1"/>
              <p:nvPr/>
            </p:nvSpPr>
            <p:spPr bwMode="auto">
              <a:xfrm>
                <a:off x="2618099" y="3559174"/>
                <a:ext cx="7177087" cy="1314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        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函数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在空间曲线弧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𝛤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上对弧</m:t>
                      </m:r>
                    </m:oMath>
                  </m:oMathPara>
                </a14:m>
                <a:endParaRPr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长的曲线积分</m:t>
                      </m:r>
                      <m:r>
                        <a:rPr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为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5E979F17-1543-8ED4-247F-C168C35E8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8099" y="3559174"/>
                <a:ext cx="7177087" cy="1314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1610F302-4ACD-933E-940A-35A3C2DAEBA5}"/>
                  </a:ext>
                </a:extLst>
              </p:cNvPr>
              <p:cNvSpPr txBox="1"/>
              <p:nvPr/>
            </p:nvSpPr>
            <p:spPr bwMode="auto">
              <a:xfrm>
                <a:off x="3133619" y="4759324"/>
                <a:ext cx="6762751" cy="1314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zh-CN" altLang="en-US" sz="2800" i="1" smtClean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𝑓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d</m:t>
                          </m:r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nary>
                      <m:r>
                        <a:rPr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𝜆</m:t>
                              </m:r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solidFill>
                                        <a:srgbClr val="04926A"/>
                                      </a:solidFill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𝜂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zh-CN" altLang="en-US" sz="2800" b="1" i="1" dirty="0">
                                      <a:solidFill>
                                        <a:srgbClr val="04926A"/>
                                      </a:solidFill>
                                      <a:latin typeface="Times New Roman" panose="02020603050405020304" pitchFamily="18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sz="2800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  <m:r>
                        <a:rPr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8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>
                  <a:solidFill>
                    <a:srgbClr val="04926A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Object 7">
                <a:extLst>
                  <a:ext uri="{FF2B5EF4-FFF2-40B4-BE49-F238E27FC236}">
                    <a16:creationId xmlns:a16="http://schemas.microsoft.com/office/drawing/2014/main" id="{1610F302-4ACD-933E-940A-35A3C2DAE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33619" y="4759324"/>
                <a:ext cx="6762751" cy="13144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4" grpId="0"/>
      <p:bldP spid="15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CEA02F0-8A9F-8617-3D8F-5ED826AC2E05}"/>
              </a:ext>
            </a:extLst>
          </p:cNvPr>
          <p:cNvGrpSpPr/>
          <p:nvPr/>
        </p:nvGrpSpPr>
        <p:grpSpPr>
          <a:xfrm>
            <a:off x="0" y="-181"/>
            <a:ext cx="12192000" cy="6863080"/>
            <a:chOff x="0" y="-181"/>
            <a:chExt cx="12192000" cy="6863080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B6B037B5-1E3B-DC97-9BBD-2C37730A77B7}"/>
                </a:ext>
              </a:extLst>
            </p:cNvPr>
            <p:cNvGrpSpPr/>
            <p:nvPr/>
          </p:nvGrpSpPr>
          <p:grpSpPr>
            <a:xfrm>
              <a:off x="0" y="-181"/>
              <a:ext cx="12192000" cy="6863080"/>
              <a:chOff x="0" y="-8"/>
              <a:chExt cx="19200" cy="10808"/>
            </a:xfrm>
          </p:grpSpPr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9417E55B-1F93-1EB1-8A18-BBC32CD2A288}"/>
                  </a:ext>
                </a:extLst>
              </p:cNvPr>
              <p:cNvSpPr/>
              <p:nvPr/>
            </p:nvSpPr>
            <p:spPr>
              <a:xfrm>
                <a:off x="0" y="-8"/>
                <a:ext cx="19200" cy="10808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88000"/>
                    </a:srgbClr>
                  </a:gs>
                  <a:gs pos="55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圆角矩形 16">
                <a:extLst>
                  <a:ext uri="{FF2B5EF4-FFF2-40B4-BE49-F238E27FC236}">
                    <a16:creationId xmlns:a16="http://schemas.microsoft.com/office/drawing/2014/main" id="{AF42C52D-CB20-0C28-9C8D-FB291699F74B}"/>
                  </a:ext>
                </a:extLst>
              </p:cNvPr>
              <p:cNvSpPr/>
              <p:nvPr/>
            </p:nvSpPr>
            <p:spPr>
              <a:xfrm>
                <a:off x="354" y="310"/>
                <a:ext cx="18493" cy="10167"/>
              </a:xfrm>
              <a:prstGeom prst="roundRect">
                <a:avLst>
                  <a:gd name="adj" fmla="val 3499"/>
                </a:avLst>
              </a:prstGeom>
              <a:solidFill>
                <a:schemeClr val="bg1"/>
              </a:solidFill>
              <a:ln>
                <a:solidFill>
                  <a:srgbClr val="17908C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0BAC922-6B3D-42BC-AD2D-3A81B9F3FD44}"/>
                </a:ext>
              </a:extLst>
            </p:cNvPr>
            <p:cNvGrpSpPr/>
            <p:nvPr/>
          </p:nvGrpSpPr>
          <p:grpSpPr>
            <a:xfrm>
              <a:off x="0" y="239357"/>
              <a:ext cx="11993046" cy="6427310"/>
              <a:chOff x="0" y="239357"/>
              <a:chExt cx="11993046" cy="6427310"/>
            </a:xfrm>
          </p:grpSpPr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8A0DFABB-6B73-8971-930C-747E478F4C90}"/>
                  </a:ext>
                </a:extLst>
              </p:cNvPr>
              <p:cNvSpPr/>
              <p:nvPr userDrawn="1"/>
            </p:nvSpPr>
            <p:spPr>
              <a:xfrm>
                <a:off x="297498" y="6471504"/>
                <a:ext cx="82948" cy="81477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96780B7-75E8-F664-00A3-180232F86CA3}"/>
                  </a:ext>
                </a:extLst>
              </p:cNvPr>
              <p:cNvSpPr/>
              <p:nvPr/>
            </p:nvSpPr>
            <p:spPr>
              <a:xfrm>
                <a:off x="476885" y="6358890"/>
                <a:ext cx="378460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第一节</a:t>
                </a:r>
                <a:r>
                  <a:rPr lang="en-US" altLang="zh-CN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</a:t>
                </a:r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对弧长的曲线积分</a:t>
                </a:r>
              </a:p>
            </p:txBody>
          </p:sp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56E80B9F-B1A8-4004-A3E9-1BE82CA76424}"/>
                  </a:ext>
                </a:extLst>
              </p:cNvPr>
              <p:cNvSpPr/>
              <p:nvPr userDrawn="1"/>
            </p:nvSpPr>
            <p:spPr>
              <a:xfrm rot="2659048">
                <a:off x="9060538" y="323227"/>
                <a:ext cx="147664" cy="140036"/>
              </a:xfrm>
              <a:prstGeom prst="rect">
                <a:avLst/>
              </a:prstGeom>
              <a:gradFill flip="none" rotWithShape="1">
                <a:gsLst>
                  <a:gs pos="0">
                    <a:srgbClr val="009E47">
                      <a:alpha val="73000"/>
                    </a:srgbClr>
                  </a:gs>
                  <a:gs pos="61000">
                    <a:srgbClr val="039463"/>
                  </a:gs>
                  <a:gs pos="100000">
                    <a:srgbClr val="068885"/>
                  </a:gs>
                </a:gsLst>
                <a:path path="circle">
                  <a:fillToRect t="100000" r="100000"/>
                </a:path>
                <a:tileRect l="-100000" b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A16C08D-5DAC-B9C9-13A0-0E954B5991E7}"/>
                  </a:ext>
                </a:extLst>
              </p:cNvPr>
              <p:cNvSpPr/>
              <p:nvPr/>
            </p:nvSpPr>
            <p:spPr>
              <a:xfrm>
                <a:off x="9315710" y="239357"/>
                <a:ext cx="267733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第十一章  曲线积分与曲面积分</a:t>
                </a:r>
              </a:p>
            </p:txBody>
          </p: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1146ADEB-BC71-3CB1-09C0-669B61FFD86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0" y="393245"/>
                <a:ext cx="8793692" cy="0"/>
              </a:xfrm>
              <a:prstGeom prst="line">
                <a:avLst/>
              </a:prstGeom>
              <a:ln>
                <a:solidFill>
                  <a:srgbClr val="00926A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49D37E23-D21A-7042-9525-2C6588A85D1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2846021" y="6512242"/>
                <a:ext cx="9121189" cy="0"/>
              </a:xfrm>
              <a:prstGeom prst="line">
                <a:avLst/>
              </a:prstGeom>
              <a:ln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Text Box 11">
            <a:extLst>
              <a:ext uri="{FF2B5EF4-FFF2-40B4-BE49-F238E27FC236}">
                <a16:creationId xmlns:a16="http://schemas.microsoft.com/office/drawing/2014/main" id="{5AB76A3F-621B-DA7B-420D-DBC5E0A4A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656" y="561161"/>
            <a:ext cx="13761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12">
                <a:extLst>
                  <a:ext uri="{FF2B5EF4-FFF2-40B4-BE49-F238E27FC236}">
                    <a16:creationId xmlns:a16="http://schemas.microsoft.com/office/drawing/2014/main" id="{0A8F33DF-1AB5-D551-CA26-888661E66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2281" y="1152490"/>
                <a:ext cx="386216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性质</a:t>
                </a:r>
                <a:r>
                  <a:rPr kumimoji="1" lang="en-US" altLang="zh-CN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1 </a:t>
                </a: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𝛼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𝛽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为常数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则</a:t>
                </a:r>
              </a:p>
            </p:txBody>
          </p:sp>
        </mc:Choice>
        <mc:Fallback xmlns="">
          <p:sp>
            <p:nvSpPr>
              <p:cNvPr id="4" name="Text Box 12">
                <a:extLst>
                  <a:ext uri="{FF2B5EF4-FFF2-40B4-BE49-F238E27FC236}">
                    <a16:creationId xmlns:a16="http://schemas.microsoft.com/office/drawing/2014/main" id="{0A8F33DF-1AB5-D551-CA26-888661E66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2281" y="1152490"/>
                <a:ext cx="3862169" cy="523220"/>
              </a:xfrm>
              <a:prstGeom prst="rect">
                <a:avLst/>
              </a:prstGeom>
              <a:blipFill>
                <a:blip r:embed="rId2"/>
                <a:stretch>
                  <a:fillRect l="-3155" t="-13953" r="-946" b="-2907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4">
                <a:extLst>
                  <a:ext uri="{FF2B5EF4-FFF2-40B4-BE49-F238E27FC236}">
                    <a16:creationId xmlns:a16="http://schemas.microsoft.com/office/drawing/2014/main" id="{0E62CFC8-2EF2-A213-3C31-B975ADF3CD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2280" y="2829325"/>
                <a:ext cx="408989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性质</a:t>
                </a:r>
                <a:r>
                  <a:rPr kumimoji="1" lang="en-US" altLang="zh-CN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2 </a:t>
                </a:r>
                <a14:m>
                  <m:oMath xmlns:m="http://schemas.openxmlformats.org/officeDocument/2006/math">
                    <m:r>
                      <a:rPr kumimoji="1" lang="zh-CN" altLang="en-US" sz="28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若</m:t>
                    </m:r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+</a:t>
                </a:r>
                <a:r>
                  <a:rPr kumimoji="1" lang="en-US" altLang="zh-CN" sz="2800" dirty="0"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:endPara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5" name="Text Box 14">
                <a:extLst>
                  <a:ext uri="{FF2B5EF4-FFF2-40B4-BE49-F238E27FC236}">
                    <a16:creationId xmlns:a16="http://schemas.microsoft.com/office/drawing/2014/main" id="{0E62CFC8-2EF2-A213-3C31-B975ADF3C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2280" y="2829325"/>
                <a:ext cx="4089895" cy="523220"/>
              </a:xfrm>
              <a:prstGeom prst="rect">
                <a:avLst/>
              </a:prstGeom>
              <a:blipFill>
                <a:blip r:embed="rId3"/>
                <a:stretch>
                  <a:fillRect l="-2981" t="-16279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16">
                <a:extLst>
                  <a:ext uri="{FF2B5EF4-FFF2-40B4-BE49-F238E27FC236}">
                    <a16:creationId xmlns:a16="http://schemas.microsoft.com/office/drawing/2014/main" id="{F35D8D1A-AC78-ECCB-88DC-E80FBC762E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62281" y="4687687"/>
                <a:ext cx="626464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性质</a:t>
                </a:r>
                <a:r>
                  <a:rPr kumimoji="1" lang="en-US" altLang="zh-CN" sz="2800" b="1" dirty="0">
                    <a:solidFill>
                      <a:srgbClr val="00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3 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设在</a:t>
                </a:r>
                <a14:m>
                  <m:oMath xmlns:m="http://schemas.openxmlformats.org/officeDocument/2006/math">
                    <m:r>
                      <a:rPr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上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𝑓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𝑦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sz="2800" dirty="0">
                    <a:latin typeface="宋体" panose="02010600030101010101" pitchFamily="2" charset="-122"/>
                  </a:rPr>
                  <a:t>≤</a:t>
                </a:r>
                <a:r>
                  <a:rPr lang="en-US" altLang="zh-CN" sz="2800" dirty="0">
                    <a:cs typeface="Cambria Math" panose="0204050305040603020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i="1" dirty="0">
                        <a:latin typeface="Cambria Math" panose="02040503050406030204" charset="0"/>
                        <a:cs typeface="Cambria Math" panose="02040503050406030204" charset="0"/>
                      </a:rPr>
                      <m:t>g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(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则</a:t>
                </a:r>
              </a:p>
            </p:txBody>
          </p:sp>
        </mc:Choice>
        <mc:Fallback xmlns="">
          <p:sp>
            <p:nvSpPr>
              <p:cNvPr id="6" name="Text Box 16">
                <a:extLst>
                  <a:ext uri="{FF2B5EF4-FFF2-40B4-BE49-F238E27FC236}">
                    <a16:creationId xmlns:a16="http://schemas.microsoft.com/office/drawing/2014/main" id="{F35D8D1A-AC78-ECCB-88DC-E80FBC762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2281" y="4687687"/>
                <a:ext cx="6264641" cy="523220"/>
              </a:xfrm>
              <a:prstGeom prst="rect">
                <a:avLst/>
              </a:prstGeom>
              <a:blipFill>
                <a:blip r:embed="rId4"/>
                <a:stretch>
                  <a:fillRect l="-1946" t="-17442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对象 1">
            <a:extLst>
              <a:ext uri="{FF2B5EF4-FFF2-40B4-BE49-F238E27FC236}">
                <a16:creationId xmlns:a16="http://schemas.microsoft.com/office/drawing/2014/main" id="{A50BDB56-9F58-2F74-79C2-B7E081D686C6}"/>
              </a:ext>
            </a:extLst>
          </p:cNvPr>
          <p:cNvSpPr txBox="1"/>
          <p:nvPr/>
        </p:nvSpPr>
        <p:spPr>
          <a:xfrm>
            <a:off x="5889625" y="3431263"/>
            <a:ext cx="914400" cy="34607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3">
                <a:extLst>
                  <a:ext uri="{FF2B5EF4-FFF2-40B4-BE49-F238E27FC236}">
                    <a16:creationId xmlns:a16="http://schemas.microsoft.com/office/drawing/2014/main" id="{179C98E1-D628-9EC5-9438-57F37A7200DA}"/>
                  </a:ext>
                </a:extLst>
              </p:cNvPr>
              <p:cNvSpPr txBox="1"/>
              <p:nvPr/>
            </p:nvSpPr>
            <p:spPr>
              <a:xfrm>
                <a:off x="2357448" y="3491906"/>
                <a:ext cx="6818970" cy="101421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对象 3">
                <a:extLst>
                  <a:ext uri="{FF2B5EF4-FFF2-40B4-BE49-F238E27FC236}">
                    <a16:creationId xmlns:a16="http://schemas.microsoft.com/office/drawing/2014/main" id="{179C98E1-D628-9EC5-9438-57F37A720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48" y="3491906"/>
                <a:ext cx="6818970" cy="10142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4">
                <a:extLst>
                  <a:ext uri="{FF2B5EF4-FFF2-40B4-BE49-F238E27FC236}">
                    <a16:creationId xmlns:a16="http://schemas.microsoft.com/office/drawing/2014/main" id="{7679571D-B399-EF29-1DCC-294ECC67129F}"/>
                  </a:ext>
                </a:extLst>
              </p:cNvPr>
              <p:cNvSpPr txBox="1"/>
              <p:nvPr/>
            </p:nvSpPr>
            <p:spPr>
              <a:xfrm>
                <a:off x="2357448" y="5230549"/>
                <a:ext cx="5214083" cy="88912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g</m:t>
                          </m:r>
                          <m:r>
                            <a:rPr lang="en-US" altLang="zh-CN" sz="2800" b="0" i="0" dirty="0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4">
                <a:extLst>
                  <a:ext uri="{FF2B5EF4-FFF2-40B4-BE49-F238E27FC236}">
                    <a16:creationId xmlns:a16="http://schemas.microsoft.com/office/drawing/2014/main" id="{7679571D-B399-EF29-1DCC-294ECC671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48" y="5230549"/>
                <a:ext cx="5214083" cy="889124"/>
              </a:xfrm>
              <a:prstGeom prst="rect">
                <a:avLst/>
              </a:prstGeom>
              <a:blipFill>
                <a:blip r:embed="rId6"/>
                <a:stretch>
                  <a:fillRect b="-3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对象 35">
                <a:extLst>
                  <a:ext uri="{FF2B5EF4-FFF2-40B4-BE49-F238E27FC236}">
                    <a16:creationId xmlns:a16="http://schemas.microsoft.com/office/drawing/2014/main" id="{772D0DA8-FCBB-405F-0BEA-496758035E98}"/>
                  </a:ext>
                </a:extLst>
              </p:cNvPr>
              <p:cNvSpPr txBox="1"/>
              <p:nvPr/>
            </p:nvSpPr>
            <p:spPr>
              <a:xfrm>
                <a:off x="2357448" y="1726838"/>
                <a:ext cx="9423400" cy="94913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)±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)]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±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800" i="1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g</m:t>
                          </m:r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对象 35">
                <a:extLst>
                  <a:ext uri="{FF2B5EF4-FFF2-40B4-BE49-F238E27FC236}">
                    <a16:creationId xmlns:a16="http://schemas.microsoft.com/office/drawing/2014/main" id="{772D0DA8-FCBB-405F-0BEA-496758035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448" y="1726838"/>
                <a:ext cx="9423400" cy="9491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  <p:bldP spid="9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0F0802C-1EB9-26AF-30B0-0F1F96C50214}"/>
              </a:ext>
            </a:extLst>
          </p:cNvPr>
          <p:cNvSpPr txBox="1">
            <a:spLocks/>
          </p:cNvSpPr>
          <p:nvPr/>
        </p:nvSpPr>
        <p:spPr>
          <a:xfrm>
            <a:off x="798226" y="517526"/>
            <a:ext cx="8690578" cy="47049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三、对弧长的曲线积分的计算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2">
                <a:extLst>
                  <a:ext uri="{FF2B5EF4-FFF2-40B4-BE49-F238E27FC236}">
                    <a16:creationId xmlns:a16="http://schemas.microsoft.com/office/drawing/2014/main" id="{57EB03DD-DD60-3E7F-FCEC-BEF1302B3B19}"/>
                  </a:ext>
                </a:extLst>
              </p:cNvPr>
              <p:cNvSpPr txBox="1"/>
              <p:nvPr/>
            </p:nvSpPr>
            <p:spPr>
              <a:xfrm>
                <a:off x="1725010" y="1438541"/>
                <a:ext cx="6050509" cy="70983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设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在曲线弧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上有定义且连续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对象 2">
                <a:extLst>
                  <a:ext uri="{FF2B5EF4-FFF2-40B4-BE49-F238E27FC236}">
                    <a16:creationId xmlns:a16="http://schemas.microsoft.com/office/drawing/2014/main" id="{57EB03DD-DD60-3E7F-FCEC-BEF1302B3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010" y="1438541"/>
                <a:ext cx="6050509" cy="7098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3">
                <a:extLst>
                  <a:ext uri="{FF2B5EF4-FFF2-40B4-BE49-F238E27FC236}">
                    <a16:creationId xmlns:a16="http://schemas.microsoft.com/office/drawing/2014/main" id="{BE089641-25E7-0FAB-90B6-411AAD069A6B}"/>
                  </a:ext>
                </a:extLst>
              </p:cNvPr>
              <p:cNvSpPr txBox="1"/>
              <p:nvPr/>
            </p:nvSpPr>
            <p:spPr>
              <a:xfrm>
                <a:off x="7418277" y="1438541"/>
                <a:ext cx="2611808" cy="4445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的参数方程为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对象 3">
                <a:extLst>
                  <a:ext uri="{FF2B5EF4-FFF2-40B4-BE49-F238E27FC236}">
                    <a16:creationId xmlns:a16="http://schemas.microsoft.com/office/drawing/2014/main" id="{BE089641-25E7-0FAB-90B6-411AAD069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277" y="1438541"/>
                <a:ext cx="2611808" cy="444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4">
                <a:extLst>
                  <a:ext uri="{FF2B5EF4-FFF2-40B4-BE49-F238E27FC236}">
                    <a16:creationId xmlns:a16="http://schemas.microsoft.com/office/drawing/2014/main" id="{176A043F-E2C7-8B7C-23BE-0FD9EDEBF7EA}"/>
                  </a:ext>
                </a:extLst>
              </p:cNvPr>
              <p:cNvSpPr txBox="1"/>
              <p:nvPr/>
            </p:nvSpPr>
            <p:spPr>
              <a:xfrm>
                <a:off x="3245977" y="2087461"/>
                <a:ext cx="4299051" cy="113967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𝜑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),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lang="el-GR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𝛹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dirty="0"/>
                                  <m:t> 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)</m:t>
                                </m:r>
                              </m:e>
                            </m:mr>
                          </m:m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    (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latin typeface="宋体" panose="02010600030101010101" pitchFamily="2" charset="-122"/>
                            </a:rPr>
                            <m:t>≤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latin typeface="宋体" panose="02010600030101010101" pitchFamily="2" charset="-122"/>
                            </a:rPr>
                            <m:t>≤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),</m:t>
                          </m:r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对象 4">
                <a:extLst>
                  <a:ext uri="{FF2B5EF4-FFF2-40B4-BE49-F238E27FC236}">
                    <a16:creationId xmlns:a16="http://schemas.microsoft.com/office/drawing/2014/main" id="{176A043F-E2C7-8B7C-23BE-0FD9EDEBF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5977" y="2087461"/>
                <a:ext cx="4299051" cy="11396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5">
                <a:extLst>
                  <a:ext uri="{FF2B5EF4-FFF2-40B4-BE49-F238E27FC236}">
                    <a16:creationId xmlns:a16="http://schemas.microsoft.com/office/drawing/2014/main" id="{D6810458-E8A8-C177-E487-61E882C99210}"/>
                  </a:ext>
                </a:extLst>
              </p:cNvPr>
              <p:cNvSpPr txBox="1"/>
              <p:nvPr/>
            </p:nvSpPr>
            <p:spPr>
              <a:xfrm>
                <a:off x="855361" y="5002240"/>
                <a:ext cx="10277096" cy="116256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𝜙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m:rPr>
                              <m:nor/>
                            </m:rPr>
                            <a:rPr lang="zh-CN" altLang="en-US" sz="2800" dirty="0"/>
                            <m:t>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  <m:r>
                                    <m:rPr>
                                      <m:nor/>
                                    </m:rPr>
                                    <a:rPr lang="zh-CN" altLang="en-US" sz="2800" dirty="0"/>
                                    <m:t> 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   (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5">
                <a:extLst>
                  <a:ext uri="{FF2B5EF4-FFF2-40B4-BE49-F238E27FC236}">
                    <a16:creationId xmlns:a16="http://schemas.microsoft.com/office/drawing/2014/main" id="{D6810458-E8A8-C177-E487-61E882C99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61" y="5002240"/>
                <a:ext cx="10277096" cy="11625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6">
                <a:extLst>
                  <a:ext uri="{FF2B5EF4-FFF2-40B4-BE49-F238E27FC236}">
                    <a16:creationId xmlns:a16="http://schemas.microsoft.com/office/drawing/2014/main" id="{8BA72456-FF9C-E631-7A0F-E7EC9CB35532}"/>
                  </a:ext>
                </a:extLst>
              </p:cNvPr>
              <p:cNvSpPr txBox="1"/>
              <p:nvPr/>
            </p:nvSpPr>
            <p:spPr>
              <a:xfrm>
                <a:off x="808110" y="3138444"/>
                <a:ext cx="3838864" cy="5191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其中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在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[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对象 6">
                <a:extLst>
                  <a:ext uri="{FF2B5EF4-FFF2-40B4-BE49-F238E27FC236}">
                    <a16:creationId xmlns:a16="http://schemas.microsoft.com/office/drawing/2014/main" id="{8BA72456-FF9C-E631-7A0F-E7EC9CB355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110" y="3138444"/>
                <a:ext cx="3838864" cy="5191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8">
                <a:extLst>
                  <a:ext uri="{FF2B5EF4-FFF2-40B4-BE49-F238E27FC236}">
                    <a16:creationId xmlns:a16="http://schemas.microsoft.com/office/drawing/2014/main" id="{0A1D1C47-384F-87FC-8B76-9438A9D354EE}"/>
                  </a:ext>
                </a:extLst>
              </p:cNvPr>
              <p:cNvSpPr txBox="1"/>
              <p:nvPr/>
            </p:nvSpPr>
            <p:spPr>
              <a:xfrm>
                <a:off x="798226" y="3807529"/>
                <a:ext cx="7413181" cy="97082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则曲线积分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存在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且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对象 8">
                <a:extLst>
                  <a:ext uri="{FF2B5EF4-FFF2-40B4-BE49-F238E27FC236}">
                    <a16:creationId xmlns:a16="http://schemas.microsoft.com/office/drawing/2014/main" id="{0A1D1C47-384F-87FC-8B76-9438A9D35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26" y="3807529"/>
                <a:ext cx="7413181" cy="9708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18">
                <a:extLst>
                  <a:ext uri="{FF2B5EF4-FFF2-40B4-BE49-F238E27FC236}">
                    <a16:creationId xmlns:a16="http://schemas.microsoft.com/office/drawing/2014/main" id="{0FD0BBF6-F236-9AF9-0270-91C0105EA731}"/>
                  </a:ext>
                </a:extLst>
              </p:cNvPr>
              <p:cNvSpPr txBox="1"/>
              <p:nvPr/>
            </p:nvSpPr>
            <p:spPr>
              <a:xfrm>
                <a:off x="4213369" y="3156484"/>
                <a:ext cx="7600950" cy="7098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上具有一阶连续导数</m:t>
                      </m:r>
                      <m:r>
                        <a:rPr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且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𝜑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′2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 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m:rPr>
                              <m:nor/>
                            </m:rPr>
                            <a:rPr lang="zh-CN" altLang="en-US" sz="2800" dirty="0"/>
                            <m:t> 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′2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)≠0,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对象 18">
                <a:extLst>
                  <a:ext uri="{FF2B5EF4-FFF2-40B4-BE49-F238E27FC236}">
                    <a16:creationId xmlns:a16="http://schemas.microsoft.com/office/drawing/2014/main" id="{0FD0BBF6-F236-9AF9-0270-91C0105EA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369" y="3156484"/>
                <a:ext cx="7600950" cy="7098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E8B82F49-1DA6-41DE-229F-0E5CCC9DA8C9}"/>
              </a:ext>
            </a:extLst>
          </p:cNvPr>
          <p:cNvGrpSpPr/>
          <p:nvPr/>
        </p:nvGrpSpPr>
        <p:grpSpPr>
          <a:xfrm>
            <a:off x="846584" y="1469129"/>
            <a:ext cx="901065" cy="448945"/>
            <a:chOff x="1238671" y="2327527"/>
            <a:chExt cx="901065" cy="448945"/>
          </a:xfrm>
        </p:grpSpPr>
        <p:sp>
          <p:nvSpPr>
            <p:cNvPr id="46" name="圆角矩形 21">
              <a:extLst>
                <a:ext uri="{FF2B5EF4-FFF2-40B4-BE49-F238E27FC236}">
                  <a16:creationId xmlns:a16="http://schemas.microsoft.com/office/drawing/2014/main" id="{573421A6-E234-5883-A4A3-B06EB8BD5F10}"/>
                </a:ext>
              </a:extLst>
            </p:cNvPr>
            <p:cNvSpPr/>
            <p:nvPr/>
          </p:nvSpPr>
          <p:spPr>
            <a:xfrm>
              <a:off x="1238671" y="2327527"/>
              <a:ext cx="899795" cy="448945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Box 28">
              <a:extLst>
                <a:ext uri="{FF2B5EF4-FFF2-40B4-BE49-F238E27FC236}">
                  <a16:creationId xmlns:a16="http://schemas.microsoft.com/office/drawing/2014/main" id="{CE3DF288-B3BE-E201-9833-60FA37A3A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096" y="2334512"/>
              <a:ext cx="802640" cy="4305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endPara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2" grpId="0"/>
      <p:bldP spid="13" grpId="0"/>
      <p:bldP spid="14" grpId="0" animBg="1"/>
      <p:bldP spid="15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52" name="矩形 58451">
            <a:extLst>
              <a:ext uri="{FF2B5EF4-FFF2-40B4-BE49-F238E27FC236}">
                <a16:creationId xmlns:a16="http://schemas.microsoft.com/office/drawing/2014/main" id="{243A3D82-EDC3-0762-A499-BE59AA301BE2}"/>
              </a:ext>
            </a:extLst>
          </p:cNvPr>
          <p:cNvSpPr/>
          <p:nvPr/>
        </p:nvSpPr>
        <p:spPr>
          <a:xfrm>
            <a:off x="687324" y="663574"/>
            <a:ext cx="10817225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454" name="半闭框 58453">
            <a:extLst>
              <a:ext uri="{FF2B5EF4-FFF2-40B4-BE49-F238E27FC236}">
                <a16:creationId xmlns:a16="http://schemas.microsoft.com/office/drawing/2014/main" id="{7A4C2C17-3468-B7D4-700D-B54739DAA958}"/>
              </a:ext>
            </a:extLst>
          </p:cNvPr>
          <p:cNvSpPr/>
          <p:nvPr/>
        </p:nvSpPr>
        <p:spPr>
          <a:xfrm>
            <a:off x="687324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456" name="半闭框 58455">
            <a:extLst>
              <a:ext uri="{FF2B5EF4-FFF2-40B4-BE49-F238E27FC236}">
                <a16:creationId xmlns:a16="http://schemas.microsoft.com/office/drawing/2014/main" id="{ECE0DBF4-AB0E-D03F-DF3F-5D5FBDD9FCBE}"/>
              </a:ext>
            </a:extLst>
          </p:cNvPr>
          <p:cNvSpPr/>
          <p:nvPr/>
        </p:nvSpPr>
        <p:spPr>
          <a:xfrm flipH="1">
            <a:off x="10823530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458" name="半闭框 58457">
            <a:extLst>
              <a:ext uri="{FF2B5EF4-FFF2-40B4-BE49-F238E27FC236}">
                <a16:creationId xmlns:a16="http://schemas.microsoft.com/office/drawing/2014/main" id="{EB065FA5-24FA-FF71-36CE-1661F8F5AD30}"/>
              </a:ext>
            </a:extLst>
          </p:cNvPr>
          <p:cNvSpPr/>
          <p:nvPr/>
        </p:nvSpPr>
        <p:spPr>
          <a:xfrm flipV="1">
            <a:off x="687324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460" name="半闭框 58459">
            <a:extLst>
              <a:ext uri="{FF2B5EF4-FFF2-40B4-BE49-F238E27FC236}">
                <a16:creationId xmlns:a16="http://schemas.microsoft.com/office/drawing/2014/main" id="{DBDDD8A5-DFD8-1BED-92F9-E1FDA5D848E1}"/>
              </a:ext>
            </a:extLst>
          </p:cNvPr>
          <p:cNvSpPr/>
          <p:nvPr/>
        </p:nvSpPr>
        <p:spPr>
          <a:xfrm flipH="1" flipV="1">
            <a:off x="10823530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Rectangle 330">
            <a:extLst>
              <a:ext uri="{FF2B5EF4-FFF2-40B4-BE49-F238E27FC236}">
                <a16:creationId xmlns:a16="http://schemas.microsoft.com/office/drawing/2014/main" id="{EB6D379F-CE47-88EB-0582-A0238F73B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341" y="1200944"/>
            <a:ext cx="108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345">
                <a:extLst>
                  <a:ext uri="{FF2B5EF4-FFF2-40B4-BE49-F238E27FC236}">
                    <a16:creationId xmlns:a16="http://schemas.microsoft.com/office/drawing/2014/main" id="{B28A0A3D-1461-AE98-5BFB-92C2FB70C1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8205" y="1171123"/>
                <a:ext cx="7094793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假定当参数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𝛼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  <a:sym typeface="Symbol" panose="05050102010706020507" pitchFamily="18" charset="2"/>
                  </a:rPr>
                  <a:t>变到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𝛽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  <a:sym typeface="Symbol" panose="05050102010706020507" pitchFamily="18" charset="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  <a:sym typeface="Symbol" panose="05050102010706020507" pitchFamily="18" charset="2"/>
                  </a:rPr>
                  <a:t>上的点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𝑀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  <a:sym typeface="Symbol" panose="05050102010706020507" pitchFamily="18" charset="2"/>
                  </a:rPr>
                  <a:t>依</a:t>
                </a:r>
              </a:p>
            </p:txBody>
          </p:sp>
        </mc:Choice>
        <mc:Fallback xmlns="">
          <p:sp>
            <p:nvSpPr>
              <p:cNvPr id="60" name="Text Box 345">
                <a:extLst>
                  <a:ext uri="{FF2B5EF4-FFF2-40B4-BE49-F238E27FC236}">
                    <a16:creationId xmlns:a16="http://schemas.microsoft.com/office/drawing/2014/main" id="{B28A0A3D-1461-AE98-5BFB-92C2FB70C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8205" y="1171123"/>
                <a:ext cx="7094793" cy="523220"/>
              </a:xfrm>
              <a:prstGeom prst="rect">
                <a:avLst/>
              </a:prstGeom>
              <a:blipFill>
                <a:blip r:embed="rId3"/>
                <a:stretch>
                  <a:fillRect l="-1718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346">
                <a:extLst>
                  <a:ext uri="{FF2B5EF4-FFF2-40B4-BE49-F238E27FC236}">
                    <a16:creationId xmlns:a16="http://schemas.microsoft.com/office/drawing/2014/main" id="{084444D1-426A-D395-D324-62E71CE8EA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8204" y="1799033"/>
                <a:ext cx="573327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点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𝐴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至点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𝐵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的方向描出曲线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en-US" altLang="zh-CN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61" name="Text Box 346">
                <a:extLst>
                  <a:ext uri="{FF2B5EF4-FFF2-40B4-BE49-F238E27FC236}">
                    <a16:creationId xmlns:a16="http://schemas.microsoft.com/office/drawing/2014/main" id="{084444D1-426A-D395-D324-62E71CE8E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8204" y="1799033"/>
                <a:ext cx="5733275" cy="523220"/>
              </a:xfrm>
              <a:prstGeom prst="rect">
                <a:avLst/>
              </a:prstGeom>
              <a:blipFill>
                <a:blip r:embed="rId4"/>
                <a:stretch>
                  <a:fillRect l="-2125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 Box 381">
                <a:extLst>
                  <a:ext uri="{FF2B5EF4-FFF2-40B4-BE49-F238E27FC236}">
                    <a16:creationId xmlns:a16="http://schemas.microsoft.com/office/drawing/2014/main" id="{EDB4A9A7-3F65-DE69-2F58-7B78D92D7C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8204" y="2426943"/>
                <a:ext cx="377463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zh-CN" altLang="en-US">
                        <a:latin typeface="Cambria Math" panose="02040503050406030204" pitchFamily="18" charset="0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b="0" dirty="0">
                    <a:latin typeface="Cambria Math" panose="02040503050406030204" pitchFamily="18" charset="0"/>
                    <a:cs typeface="黑体" panose="02010609060101010101" pitchFamily="49" charset="-122"/>
                  </a:rPr>
                  <a:t>上取一列点</a:t>
                </a:r>
              </a:p>
            </p:txBody>
          </p:sp>
        </mc:Choice>
        <mc:Fallback xmlns="">
          <p:sp>
            <p:nvSpPr>
              <p:cNvPr id="62" name="Text Box 381">
                <a:extLst>
                  <a:ext uri="{FF2B5EF4-FFF2-40B4-BE49-F238E27FC236}">
                    <a16:creationId xmlns:a16="http://schemas.microsoft.com/office/drawing/2014/main" id="{EDB4A9A7-3F65-DE69-2F58-7B78D92D7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78204" y="2426943"/>
                <a:ext cx="3774637" cy="523220"/>
              </a:xfrm>
              <a:prstGeom prst="rect">
                <a:avLst/>
              </a:prstGeom>
              <a:blipFill>
                <a:blip r:embed="rId5"/>
                <a:stretch>
                  <a:fillRect l="-3231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 Box 383">
            <a:extLst>
              <a:ext uri="{FF2B5EF4-FFF2-40B4-BE49-F238E27FC236}">
                <a16:creationId xmlns:a16="http://schemas.microsoft.com/office/drawing/2014/main" id="{92409C64-700B-089A-C110-18042C118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8205" y="3709076"/>
            <a:ext cx="48375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0" dirty="0">
                <a:latin typeface="Cambria Math" panose="02040503050406030204" pitchFamily="18" charset="0"/>
                <a:cs typeface="黑体" panose="02010609060101010101" pitchFamily="49" charset="-122"/>
              </a:rPr>
              <a:t>它们对应于一列单调增加的</a:t>
            </a:r>
          </a:p>
        </p:txBody>
      </p:sp>
      <p:sp>
        <p:nvSpPr>
          <p:cNvPr id="58368" name="Text Box 384">
            <a:extLst>
              <a:ext uri="{FF2B5EF4-FFF2-40B4-BE49-F238E27FC236}">
                <a16:creationId xmlns:a16="http://schemas.microsoft.com/office/drawing/2014/main" id="{2612070A-4814-4FBF-D389-E80360A1F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8205" y="4336986"/>
            <a:ext cx="18555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b="0" dirty="0">
                <a:latin typeface="Cambria Math" panose="02040503050406030204" pitchFamily="18" charset="0"/>
                <a:cs typeface="黑体" panose="02010609060101010101" pitchFamily="49" charset="-122"/>
              </a:rPr>
              <a:t>参数值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369" name="对象 1">
                <a:extLst>
                  <a:ext uri="{FF2B5EF4-FFF2-40B4-BE49-F238E27FC236}">
                    <a16:creationId xmlns:a16="http://schemas.microsoft.com/office/drawing/2014/main" id="{5C9DB3B4-3DF0-B79F-FB02-A87CAA8BB12E}"/>
                  </a:ext>
                </a:extLst>
              </p:cNvPr>
              <p:cNvSpPr txBox="1"/>
              <p:nvPr/>
            </p:nvSpPr>
            <p:spPr>
              <a:xfrm>
                <a:off x="1678204" y="3054853"/>
                <a:ext cx="5954163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,⋯,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8369" name="对象 1">
                <a:extLst>
                  <a:ext uri="{FF2B5EF4-FFF2-40B4-BE49-F238E27FC236}">
                    <a16:creationId xmlns:a16="http://schemas.microsoft.com/office/drawing/2014/main" id="{5C9DB3B4-3DF0-B79F-FB02-A87CAA8BB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04" y="3054853"/>
                <a:ext cx="5954163" cy="457200"/>
              </a:xfrm>
              <a:prstGeom prst="rect">
                <a:avLst/>
              </a:prstGeom>
              <a:blipFill>
                <a:blip r:embed="rId6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370" name="对象 2">
                <a:extLst>
                  <a:ext uri="{FF2B5EF4-FFF2-40B4-BE49-F238E27FC236}">
                    <a16:creationId xmlns:a16="http://schemas.microsoft.com/office/drawing/2014/main" id="{8BE99747-C549-A17C-7EDA-6F8F0B2E8056}"/>
                  </a:ext>
                </a:extLst>
              </p:cNvPr>
              <p:cNvSpPr txBox="1"/>
              <p:nvPr/>
            </p:nvSpPr>
            <p:spPr>
              <a:xfrm>
                <a:off x="1678205" y="4964895"/>
                <a:ext cx="6967202" cy="5426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&lt;⋯&lt;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&lt;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8370" name="对象 2">
                <a:extLst>
                  <a:ext uri="{FF2B5EF4-FFF2-40B4-BE49-F238E27FC236}">
                    <a16:creationId xmlns:a16="http://schemas.microsoft.com/office/drawing/2014/main" id="{8BE99747-C549-A17C-7EDA-6F8F0B2E8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205" y="4964895"/>
                <a:ext cx="6967202" cy="542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F8E8DC3C-8419-A7AE-D78B-3D57447EBAB6}"/>
              </a:ext>
            </a:extLst>
          </p:cNvPr>
          <p:cNvGrpSpPr/>
          <p:nvPr/>
        </p:nvGrpSpPr>
        <p:grpSpPr>
          <a:xfrm>
            <a:off x="7468449" y="1803908"/>
            <a:ext cx="3641390" cy="3175905"/>
            <a:chOff x="7468449" y="1803908"/>
            <a:chExt cx="3641390" cy="3175905"/>
          </a:xfrm>
        </p:grpSpPr>
        <p:sp>
          <p:nvSpPr>
            <p:cNvPr id="58423" name="任意多边形: 形状 58422">
              <a:extLst>
                <a:ext uri="{FF2B5EF4-FFF2-40B4-BE49-F238E27FC236}">
                  <a16:creationId xmlns:a16="http://schemas.microsoft.com/office/drawing/2014/main" id="{A1C3A2A8-3833-C4BD-69BD-43083380A2FE}"/>
                </a:ext>
              </a:extLst>
            </p:cNvPr>
            <p:cNvSpPr/>
            <p:nvPr/>
          </p:nvSpPr>
          <p:spPr>
            <a:xfrm>
              <a:off x="8436355" y="1946528"/>
              <a:ext cx="1545336" cy="2020824"/>
            </a:xfrm>
            <a:custGeom>
              <a:avLst/>
              <a:gdLst>
                <a:gd name="connsiteX0" fmla="*/ 0 w 1545336"/>
                <a:gd name="connsiteY0" fmla="*/ 2020824 h 2020824"/>
                <a:gd name="connsiteX1" fmla="*/ 201168 w 1545336"/>
                <a:gd name="connsiteY1" fmla="*/ 1901952 h 2020824"/>
                <a:gd name="connsiteX2" fmla="*/ 749808 w 1545336"/>
                <a:gd name="connsiteY2" fmla="*/ 1316736 h 2020824"/>
                <a:gd name="connsiteX3" fmla="*/ 1545336 w 1545336"/>
                <a:gd name="connsiteY3" fmla="*/ 0 h 2020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45336" h="2020824">
                  <a:moveTo>
                    <a:pt x="0" y="2020824"/>
                  </a:moveTo>
                  <a:cubicBezTo>
                    <a:pt x="38100" y="2020062"/>
                    <a:pt x="76200" y="2019300"/>
                    <a:pt x="201168" y="1901952"/>
                  </a:cubicBezTo>
                  <a:cubicBezTo>
                    <a:pt x="326136" y="1784604"/>
                    <a:pt x="525780" y="1633728"/>
                    <a:pt x="749808" y="1316736"/>
                  </a:cubicBezTo>
                  <a:cubicBezTo>
                    <a:pt x="973836" y="999744"/>
                    <a:pt x="1502664" y="190500"/>
                    <a:pt x="1545336" y="0"/>
                  </a:cubicBezTo>
                </a:path>
              </a:pathLst>
            </a:custGeom>
            <a:noFill/>
            <a:ln w="15875"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8371" name="Group 40">
              <a:extLst>
                <a:ext uri="{FF2B5EF4-FFF2-40B4-BE49-F238E27FC236}">
                  <a16:creationId xmlns:a16="http://schemas.microsoft.com/office/drawing/2014/main" id="{208F9A2D-8D0A-5BF5-E92F-B915AB5F7F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68449" y="1803908"/>
              <a:ext cx="3641390" cy="3175905"/>
              <a:chOff x="3193" y="415"/>
              <a:chExt cx="2534" cy="2093"/>
            </a:xfrm>
          </p:grpSpPr>
          <p:grpSp>
            <p:nvGrpSpPr>
              <p:cNvPr id="58372" name="Group 11">
                <a:extLst>
                  <a:ext uri="{FF2B5EF4-FFF2-40B4-BE49-F238E27FC236}">
                    <a16:creationId xmlns:a16="http://schemas.microsoft.com/office/drawing/2014/main" id="{3262F21D-FBBE-2D62-4760-6D8B451D31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93" y="566"/>
                <a:ext cx="2534" cy="1740"/>
                <a:chOff x="3337" y="1197"/>
                <a:chExt cx="2534" cy="1740"/>
              </a:xfrm>
            </p:grpSpPr>
            <p:sp>
              <p:nvSpPr>
                <p:cNvPr id="58397" name="Line 12">
                  <a:extLst>
                    <a:ext uri="{FF2B5EF4-FFF2-40B4-BE49-F238E27FC236}">
                      <a16:creationId xmlns:a16="http://schemas.microsoft.com/office/drawing/2014/main" id="{86FF8590-9D8A-71F8-FD1D-D854EC9E5E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92" y="2640"/>
                  <a:ext cx="2080" cy="0"/>
                </a:xfrm>
                <a:prstGeom prst="line">
                  <a:avLst/>
                </a:prstGeom>
                <a:noFill/>
                <a:ln w="28575">
                  <a:solidFill>
                    <a:srgbClr val="04926A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398" name="Line 13">
                  <a:extLst>
                    <a:ext uri="{FF2B5EF4-FFF2-40B4-BE49-F238E27FC236}">
                      <a16:creationId xmlns:a16="http://schemas.microsoft.com/office/drawing/2014/main" id="{790A5DA0-3E99-A7C6-F864-DA925C9274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1248"/>
                  <a:ext cx="0" cy="1510"/>
                </a:xfrm>
                <a:prstGeom prst="line">
                  <a:avLst/>
                </a:prstGeom>
                <a:noFill/>
                <a:ln w="28575">
                  <a:solidFill>
                    <a:schemeClr val="accent1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399" name="Object 14">
                      <a:extLst>
                        <a:ext uri="{FF2B5EF4-FFF2-40B4-BE49-F238E27FC236}">
                          <a16:creationId xmlns:a16="http://schemas.microsoft.com/office/drawing/2014/main" id="{4CFBFA04-B102-59E8-7345-CE3FFD702224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3349" y="2607"/>
                      <a:ext cx="135" cy="15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399" name="Object 14">
                      <a:extLst>
                        <a:ext uri="{FF2B5EF4-FFF2-40B4-BE49-F238E27FC236}">
                          <a16:creationId xmlns:a16="http://schemas.microsoft.com/office/drawing/2014/main" id="{4CFBFA04-B102-59E8-7345-CE3FFD7022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349" y="2607"/>
                      <a:ext cx="135" cy="15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50000" b="-31579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00" name="Object 15">
                      <a:extLst>
                        <a:ext uri="{FF2B5EF4-FFF2-40B4-BE49-F238E27FC236}">
                          <a16:creationId xmlns:a16="http://schemas.microsoft.com/office/drawing/2014/main" id="{1D146C82-21A4-46F3-3210-1BFECF21A056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5294" y="2613"/>
                      <a:ext cx="156" cy="1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400" name="Object 15">
                      <a:extLst>
                        <a:ext uri="{FF2B5EF4-FFF2-40B4-BE49-F238E27FC236}">
                          <a16:creationId xmlns:a16="http://schemas.microsoft.com/office/drawing/2014/main" id="{1D146C82-21A4-46F3-3210-1BFECF21A0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294" y="2613"/>
                      <a:ext cx="156" cy="14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13514" b="-27027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01" name="Object 16">
                      <a:extLst>
                        <a:ext uri="{FF2B5EF4-FFF2-40B4-BE49-F238E27FC236}">
                          <a16:creationId xmlns:a16="http://schemas.microsoft.com/office/drawing/2014/main" id="{097E7B3C-4819-0270-C07C-6A16D355EBA5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3337" y="1197"/>
                      <a:ext cx="158" cy="1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401" name="Object 16">
                      <a:extLst>
                        <a:ext uri="{FF2B5EF4-FFF2-40B4-BE49-F238E27FC236}">
                          <a16:creationId xmlns:a16="http://schemas.microsoft.com/office/drawing/2014/main" id="{097E7B3C-4819-0270-C07C-6A16D355EBA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337" y="1197"/>
                      <a:ext cx="158" cy="197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r="-21622" b="-16327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8402" name="Line 12">
                  <a:extLst>
                    <a:ext uri="{FF2B5EF4-FFF2-40B4-BE49-F238E27FC236}">
                      <a16:creationId xmlns:a16="http://schemas.microsoft.com/office/drawing/2014/main" id="{CCAB9C08-2908-67BF-04FD-D36A130D28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49" y="2910"/>
                  <a:ext cx="2387" cy="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50" name="Object 15">
                      <a:extLst>
                        <a:ext uri="{FF2B5EF4-FFF2-40B4-BE49-F238E27FC236}">
                          <a16:creationId xmlns:a16="http://schemas.microsoft.com/office/drawing/2014/main" id="{A9C4149D-586B-F482-0BD7-33B6D6178BF3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5715" y="2788"/>
                      <a:ext cx="156" cy="14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altLang="zh-CN" sz="16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zh-CN" altLang="en-US" sz="1600" dirty="0">
                        <a:solidFill>
                          <a:schemeClr val="accent2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450" name="Object 15">
                      <a:extLst>
                        <a:ext uri="{FF2B5EF4-FFF2-40B4-BE49-F238E27FC236}">
                          <a16:creationId xmlns:a16="http://schemas.microsoft.com/office/drawing/2014/main" id="{A9C4149D-586B-F482-0BD7-33B6D6178B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715" y="2788"/>
                      <a:ext cx="156" cy="14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r="-5556" b="-32432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373" name="Group 17">
                <a:extLst>
                  <a:ext uri="{FF2B5EF4-FFF2-40B4-BE49-F238E27FC236}">
                    <a16:creationId xmlns:a16="http://schemas.microsoft.com/office/drawing/2014/main" id="{F5E5EFFF-951E-7C5B-F7AC-843845BA53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43" y="415"/>
                <a:ext cx="2215" cy="2093"/>
                <a:chOff x="3587" y="1046"/>
                <a:chExt cx="2215" cy="20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395" name="Object 19">
                      <a:extLst>
                        <a:ext uri="{FF2B5EF4-FFF2-40B4-BE49-F238E27FC236}">
                          <a16:creationId xmlns:a16="http://schemas.microsoft.com/office/drawing/2014/main" id="{83061D1A-08B4-B500-3821-520337A5C78C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3587" y="2276"/>
                      <a:ext cx="664" cy="2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a14:m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a:t>=</a:t>
                      </a:r>
                      <a:r>
                        <a:rPr lang="en-US" altLang="zh-CN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a:t>A</a:t>
                      </a:r>
                      <a:endParaRPr lang="zh-CN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8395" name="Object 19">
                      <a:extLst>
                        <a:ext uri="{FF2B5EF4-FFF2-40B4-BE49-F238E27FC236}">
                          <a16:creationId xmlns:a16="http://schemas.microsoft.com/office/drawing/2014/main" id="{83061D1A-08B4-B500-3821-520337A5C78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587" y="2276"/>
                      <a:ext cx="664" cy="27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t="-5970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396" name="Object 20">
                      <a:extLst>
                        <a:ext uri="{FF2B5EF4-FFF2-40B4-BE49-F238E27FC236}">
                          <a16:creationId xmlns:a16="http://schemas.microsoft.com/office/drawing/2014/main" id="{01C418CF-5E35-2ECE-9EAA-B9253D8064E3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5098" y="1046"/>
                      <a:ext cx="704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zh-CN" altLang="en-US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396" name="Object 20">
                      <a:extLst>
                        <a:ext uri="{FF2B5EF4-FFF2-40B4-BE49-F238E27FC236}">
                          <a16:creationId xmlns:a16="http://schemas.microsoft.com/office/drawing/2014/main" id="{01C418CF-5E35-2ECE-9EAA-B9253D8064E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098" y="1046"/>
                      <a:ext cx="704" cy="223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35" name="Object 20">
                      <a:extLst>
                        <a:ext uri="{FF2B5EF4-FFF2-40B4-BE49-F238E27FC236}">
                          <a16:creationId xmlns:a16="http://schemas.microsoft.com/office/drawing/2014/main" id="{73DB73CE-FB39-CA28-D054-C7025AD5507B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3643" y="2916"/>
                      <a:ext cx="704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r>
                        <a:rPr kumimoji="1" lang="zh-CN" altLang="en-US" sz="1600" i="1" dirty="0">
                          <a:latin typeface="Cambria Math" panose="02040503050406030204" pitchFamily="18" charset="0"/>
                          <a:cs typeface="黑体" panose="02010609060101010101" pitchFamily="49" charset="-122"/>
                          <a:sym typeface="Symbol" panose="05050102010706020507" pitchFamily="18" charset="2"/>
                        </a:rPr>
                        <a:t></a:t>
                      </a:r>
                      <a:r>
                        <a:rPr kumimoji="1" lang="zh-CN" altLang="en-US" sz="1600" dirty="0">
                          <a:latin typeface="Cambria Math" panose="02040503050406030204" pitchFamily="18" charset="0"/>
                          <a:cs typeface="黑体" panose="02010609060101010101" pitchFamily="49" charset="-122"/>
                          <a:sym typeface="Symbol" panose="05050102010706020507" pitchFamily="18" charset="2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en-US" altLang="zh-CN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16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435" name="Object 20">
                      <a:extLst>
                        <a:ext uri="{FF2B5EF4-FFF2-40B4-BE49-F238E27FC236}">
                          <a16:creationId xmlns:a16="http://schemas.microsoft.com/office/drawing/2014/main" id="{73DB73CE-FB39-CA28-D054-C7025AD5507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643" y="2916"/>
                      <a:ext cx="704" cy="22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3012" t="-7143" b="-1964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36" name="Object 20">
                      <a:extLst>
                        <a:ext uri="{FF2B5EF4-FFF2-40B4-BE49-F238E27FC236}">
                          <a16:creationId xmlns:a16="http://schemas.microsoft.com/office/drawing/2014/main" id="{BD5BA03C-E523-83B7-FF83-77C4C68EF416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4074" y="2916"/>
                      <a:ext cx="186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436" name="Object 20">
                      <a:extLst>
                        <a:ext uri="{FF2B5EF4-FFF2-40B4-BE49-F238E27FC236}">
                          <a16:creationId xmlns:a16="http://schemas.microsoft.com/office/drawing/2014/main" id="{BD5BA03C-E523-83B7-FF83-77C4C68EF4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074" y="2916"/>
                      <a:ext cx="186" cy="223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r="-11364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37" name="Object 20">
                      <a:extLst>
                        <a:ext uri="{FF2B5EF4-FFF2-40B4-BE49-F238E27FC236}">
                          <a16:creationId xmlns:a16="http://schemas.microsoft.com/office/drawing/2014/main" id="{897B0EF3-CCC1-1560-5D77-E21D6CAF2CC3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4386" y="2916"/>
                      <a:ext cx="370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/>
                    </a:p>
                  </p:txBody>
                </p:sp>
              </mc:Choice>
              <mc:Fallback xmlns="">
                <p:sp>
                  <p:nvSpPr>
                    <p:cNvPr id="58437" name="Object 20">
                      <a:extLst>
                        <a:ext uri="{FF2B5EF4-FFF2-40B4-BE49-F238E27FC236}">
                          <a16:creationId xmlns:a16="http://schemas.microsoft.com/office/drawing/2014/main" id="{897B0EF3-CCC1-1560-5D77-E21D6CAF2C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386" y="2916"/>
                      <a:ext cx="370" cy="22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38" name="Object 20">
                      <a:extLst>
                        <a:ext uri="{FF2B5EF4-FFF2-40B4-BE49-F238E27FC236}">
                          <a16:creationId xmlns:a16="http://schemas.microsoft.com/office/drawing/2014/main" id="{D18234BB-96F5-6EC3-DFE4-5587048224A4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4631" y="2916"/>
                      <a:ext cx="186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438" name="Object 20">
                      <a:extLst>
                        <a:ext uri="{FF2B5EF4-FFF2-40B4-BE49-F238E27FC236}">
                          <a16:creationId xmlns:a16="http://schemas.microsoft.com/office/drawing/2014/main" id="{D18234BB-96F5-6EC3-DFE4-5587048224A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631" y="2916"/>
                      <a:ext cx="186" cy="223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r="-2273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40" name="Object 20">
                      <a:extLst>
                        <a:ext uri="{FF2B5EF4-FFF2-40B4-BE49-F238E27FC236}">
                          <a16:creationId xmlns:a16="http://schemas.microsoft.com/office/drawing/2014/main" id="{AA696450-A014-26E0-AC64-332732666C49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5078" y="2916"/>
                      <a:ext cx="550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zh-CN" altLang="en-US" sz="1600" i="1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kumimoji="1" lang="zh-CN" altLang="en-US" sz="16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=</m:t>
                            </m:r>
                            <m:r>
                              <a:rPr kumimoji="1" lang="zh-CN" altLang="en-US" sz="16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𝛽</m:t>
                            </m:r>
                          </m:oMath>
                        </m:oMathPara>
                      </a14:m>
                      <a:endParaRPr lang="zh-CN" altLang="en-US" sz="1600" i="1" dirty="0">
                        <a:solidFill>
                          <a:srgbClr val="A9D18E"/>
                        </a:solidFill>
                        <a:latin typeface="Cambria Math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58440" name="Object 20">
                      <a:extLst>
                        <a:ext uri="{FF2B5EF4-FFF2-40B4-BE49-F238E27FC236}">
                          <a16:creationId xmlns:a16="http://schemas.microsoft.com/office/drawing/2014/main" id="{AA696450-A014-26E0-AC64-332732666C4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5078" y="2916"/>
                      <a:ext cx="550" cy="223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10714"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449" name="Object 20">
                      <a:extLst>
                        <a:ext uri="{FF2B5EF4-FFF2-40B4-BE49-F238E27FC236}">
                          <a16:creationId xmlns:a16="http://schemas.microsoft.com/office/drawing/2014/main" id="{F939AD51-51C7-2F4E-2053-C5872FEA2DA1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4782" y="2916"/>
                      <a:ext cx="370" cy="22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16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600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/>
                    </a:p>
                  </p:txBody>
                </p:sp>
              </mc:Choice>
              <mc:Fallback xmlns="">
                <p:sp>
                  <p:nvSpPr>
                    <p:cNvPr id="58449" name="Object 20">
                      <a:extLst>
                        <a:ext uri="{FF2B5EF4-FFF2-40B4-BE49-F238E27FC236}">
                          <a16:creationId xmlns:a16="http://schemas.microsoft.com/office/drawing/2014/main" id="{F939AD51-51C7-2F4E-2053-C5872FEA2DA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782" y="2916"/>
                      <a:ext cx="370" cy="223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375" name="Group 21">
                <a:extLst>
                  <a:ext uri="{FF2B5EF4-FFF2-40B4-BE49-F238E27FC236}">
                    <a16:creationId xmlns:a16="http://schemas.microsoft.com/office/drawing/2014/main" id="{592E6323-606F-E292-B063-6284D5020E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64" y="501"/>
                <a:ext cx="606" cy="484"/>
                <a:chOff x="4508" y="1132"/>
                <a:chExt cx="606" cy="484"/>
              </a:xfrm>
            </p:grpSpPr>
            <p:sp>
              <p:nvSpPr>
                <p:cNvPr id="58392" name="Oval 22">
                  <a:extLst>
                    <a:ext uri="{FF2B5EF4-FFF2-40B4-BE49-F238E27FC236}">
                      <a16:creationId xmlns:a16="http://schemas.microsoft.com/office/drawing/2014/main" id="{CE0C9906-3006-2E00-9113-8A5C1E6FC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6" y="1132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393" name="Object 23">
                      <a:extLst>
                        <a:ext uri="{FF2B5EF4-FFF2-40B4-BE49-F238E27FC236}">
                          <a16:creationId xmlns:a16="http://schemas.microsoft.com/office/drawing/2014/main" id="{51322591-A26F-8E6D-0263-4FDCCF374AED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4508" y="1280"/>
                      <a:ext cx="539" cy="33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393" name="Object 23">
                      <a:extLst>
                        <a:ext uri="{FF2B5EF4-FFF2-40B4-BE49-F238E27FC236}">
                          <a16:creationId xmlns:a16="http://schemas.microsoft.com/office/drawing/2014/main" id="{51322591-A26F-8E6D-0263-4FDCCF374AE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508" y="1280"/>
                      <a:ext cx="539" cy="336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8434" name="Oval 22">
                  <a:extLst>
                    <a:ext uri="{FF2B5EF4-FFF2-40B4-BE49-F238E27FC236}">
                      <a16:creationId xmlns:a16="http://schemas.microsoft.com/office/drawing/2014/main" id="{26D4AE9E-F2FC-FC2B-8C1B-F0108FDCBB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0" y="135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</p:grpSp>
          <p:grpSp>
            <p:nvGrpSpPr>
              <p:cNvPr id="58376" name="Group 24">
                <a:extLst>
                  <a:ext uri="{FF2B5EF4-FFF2-40B4-BE49-F238E27FC236}">
                    <a16:creationId xmlns:a16="http://schemas.microsoft.com/office/drawing/2014/main" id="{3155CD44-8CD0-920C-A5EE-D57A1FD0E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7" y="1050"/>
                <a:ext cx="302" cy="288"/>
                <a:chOff x="4671" y="1681"/>
                <a:chExt cx="302" cy="288"/>
              </a:xfrm>
            </p:grpSpPr>
            <p:sp>
              <p:nvSpPr>
                <p:cNvPr id="58390" name="Oval 25">
                  <a:extLst>
                    <a:ext uri="{FF2B5EF4-FFF2-40B4-BE49-F238E27FC236}">
                      <a16:creationId xmlns:a16="http://schemas.microsoft.com/office/drawing/2014/main" id="{68BE6A0D-6833-4E43-EAEF-51B347B473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5" y="1771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391" name="Object 26">
                      <a:extLst>
                        <a:ext uri="{FF2B5EF4-FFF2-40B4-BE49-F238E27FC236}">
                          <a16:creationId xmlns:a16="http://schemas.microsoft.com/office/drawing/2014/main" id="{D863967C-3B98-9BD8-B5A1-A6F1571D8912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4671" y="1681"/>
                      <a:ext cx="302" cy="28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391" name="Object 26">
                      <a:extLst>
                        <a:ext uri="{FF2B5EF4-FFF2-40B4-BE49-F238E27FC236}">
                          <a16:creationId xmlns:a16="http://schemas.microsoft.com/office/drawing/2014/main" id="{D863967C-3B98-9BD8-B5A1-A6F1571D891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671" y="1681"/>
                      <a:ext cx="302" cy="2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377" name="Group 27">
                <a:extLst>
                  <a:ext uri="{FF2B5EF4-FFF2-40B4-BE49-F238E27FC236}">
                    <a16:creationId xmlns:a16="http://schemas.microsoft.com/office/drawing/2014/main" id="{53568DEF-FC20-2B58-018A-5446740847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55" y="1126"/>
                <a:ext cx="500" cy="297"/>
                <a:chOff x="4199" y="1757"/>
                <a:chExt cx="500" cy="297"/>
              </a:xfrm>
            </p:grpSpPr>
            <p:sp>
              <p:nvSpPr>
                <p:cNvPr id="58388" name="Oval 28">
                  <a:extLst>
                    <a:ext uri="{FF2B5EF4-FFF2-40B4-BE49-F238E27FC236}">
                      <a16:creationId xmlns:a16="http://schemas.microsoft.com/office/drawing/2014/main" id="{D4E36152-2ADF-515F-28CB-640AE31CDD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42" y="1961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389" name="Object 29">
                      <a:extLst>
                        <a:ext uri="{FF2B5EF4-FFF2-40B4-BE49-F238E27FC236}">
                          <a16:creationId xmlns:a16="http://schemas.microsoft.com/office/drawing/2014/main" id="{E96F8D5B-20B2-0310-5214-C66FD1F830BE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4199" y="1757"/>
                      <a:ext cx="500" cy="29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389" name="Object 29">
                      <a:extLst>
                        <a:ext uri="{FF2B5EF4-FFF2-40B4-BE49-F238E27FC236}">
                          <a16:creationId xmlns:a16="http://schemas.microsoft.com/office/drawing/2014/main" id="{E96F8D5B-20B2-0310-5214-C66FD1F830B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199" y="1757"/>
                      <a:ext cx="500" cy="297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8386" name="Oval 31">
                <a:extLst>
                  <a:ext uri="{FF2B5EF4-FFF2-40B4-BE49-F238E27FC236}">
                    <a16:creationId xmlns:a16="http://schemas.microsoft.com/office/drawing/2014/main" id="{4E257FBE-3585-2642-67F7-C423BEC8F4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1753"/>
                <a:ext cx="48" cy="48"/>
              </a:xfrm>
              <a:prstGeom prst="ellipse">
                <a:avLst/>
              </a:prstGeom>
              <a:solidFill>
                <a:srgbClr val="A9D18E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/>
              </a:p>
            </p:txBody>
          </p:sp>
          <p:grpSp>
            <p:nvGrpSpPr>
              <p:cNvPr id="58379" name="Group 33">
                <a:extLst>
                  <a:ext uri="{FF2B5EF4-FFF2-40B4-BE49-F238E27FC236}">
                    <a16:creationId xmlns:a16="http://schemas.microsoft.com/office/drawing/2014/main" id="{4E1D6FE3-4127-A5DB-0BD5-1E4A8A087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3" y="1697"/>
                <a:ext cx="1116" cy="609"/>
                <a:chOff x="3997" y="2328"/>
                <a:chExt cx="1116" cy="609"/>
              </a:xfrm>
            </p:grpSpPr>
            <p:sp>
              <p:nvSpPr>
                <p:cNvPr id="58384" name="Oval 34">
                  <a:extLst>
                    <a:ext uri="{FF2B5EF4-FFF2-40B4-BE49-F238E27FC236}">
                      <a16:creationId xmlns:a16="http://schemas.microsoft.com/office/drawing/2014/main" id="{BB7750AD-A014-C305-630B-7D992BFD1F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7" y="2451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8385" name="Object 35">
                      <a:extLst>
                        <a:ext uri="{FF2B5EF4-FFF2-40B4-BE49-F238E27FC236}">
                          <a16:creationId xmlns:a16="http://schemas.microsoft.com/office/drawing/2014/main" id="{1F0C4660-8F88-B85C-E52A-76129827475A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4139" y="2328"/>
                      <a:ext cx="377" cy="23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zh-CN" altLang="en-US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8385" name="Object 35">
                      <a:extLst>
                        <a:ext uri="{FF2B5EF4-FFF2-40B4-BE49-F238E27FC236}">
                          <a16:creationId xmlns:a16="http://schemas.microsoft.com/office/drawing/2014/main" id="{1F0C4660-8F88-B85C-E52A-76129827475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139" y="2328"/>
                      <a:ext cx="377" cy="237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8441" name="Oval 34">
                  <a:extLst>
                    <a:ext uri="{FF2B5EF4-FFF2-40B4-BE49-F238E27FC236}">
                      <a16:creationId xmlns:a16="http://schemas.microsoft.com/office/drawing/2014/main" id="{B501B7B0-6885-C0D9-FCCF-33B716082D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97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2" name="Oval 34">
                  <a:extLst>
                    <a:ext uri="{FF2B5EF4-FFF2-40B4-BE49-F238E27FC236}">
                      <a16:creationId xmlns:a16="http://schemas.microsoft.com/office/drawing/2014/main" id="{D020D8FF-BA29-D0D2-CAE2-07AF34D11A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20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3" name="Oval 34">
                  <a:extLst>
                    <a:ext uri="{FF2B5EF4-FFF2-40B4-BE49-F238E27FC236}">
                      <a16:creationId xmlns:a16="http://schemas.microsoft.com/office/drawing/2014/main" id="{92F0CD4E-EAAE-20FD-C2A1-320CBE533E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49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4" name="Oval 34">
                  <a:extLst>
                    <a:ext uri="{FF2B5EF4-FFF2-40B4-BE49-F238E27FC236}">
                      <a16:creationId xmlns:a16="http://schemas.microsoft.com/office/drawing/2014/main" id="{E8B53ABC-385F-1FB8-35E7-1B5D2B9B94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2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5" name="Oval 34">
                  <a:extLst>
                    <a:ext uri="{FF2B5EF4-FFF2-40B4-BE49-F238E27FC236}">
                      <a16:creationId xmlns:a16="http://schemas.microsoft.com/office/drawing/2014/main" id="{8E04DCB7-4295-65FD-3A54-B6A29077D4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42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  <p:sp>
              <p:nvSpPr>
                <p:cNvPr id="58446" name="Oval 34">
                  <a:extLst>
                    <a:ext uri="{FF2B5EF4-FFF2-40B4-BE49-F238E27FC236}">
                      <a16:creationId xmlns:a16="http://schemas.microsoft.com/office/drawing/2014/main" id="{A1556423-0E95-8F77-0D64-191BC5CB8A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5" y="2889"/>
                  <a:ext cx="48" cy="48"/>
                </a:xfrm>
                <a:prstGeom prst="ellipse">
                  <a:avLst/>
                </a:prstGeom>
                <a:solidFill>
                  <a:srgbClr val="A9D18E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/>
                </a:p>
              </p:txBody>
            </p:sp>
          </p:grpSp>
        </p:grpSp>
        <p:cxnSp>
          <p:nvCxnSpPr>
            <p:cNvPr id="58404" name="直接连接符 58403">
              <a:extLst>
                <a:ext uri="{FF2B5EF4-FFF2-40B4-BE49-F238E27FC236}">
                  <a16:creationId xmlns:a16="http://schemas.microsoft.com/office/drawing/2014/main" id="{F52101F3-A4DF-717D-E49D-AF82A5B56432}"/>
                </a:ext>
              </a:extLst>
            </p:cNvPr>
            <p:cNvCxnSpPr>
              <a:cxnSpLocks/>
              <a:stCxn id="58423" idx="0"/>
            </p:cNvCxnSpPr>
            <p:nvPr/>
          </p:nvCxnSpPr>
          <p:spPr>
            <a:xfrm>
              <a:off x="8436355" y="3967352"/>
              <a:ext cx="13528" cy="655872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05" name="直接连接符 58404">
              <a:extLst>
                <a:ext uri="{FF2B5EF4-FFF2-40B4-BE49-F238E27FC236}">
                  <a16:creationId xmlns:a16="http://schemas.microsoft.com/office/drawing/2014/main" id="{A6AF39F8-9C83-6CC2-21ED-4A41BAD4C0EF}"/>
                </a:ext>
              </a:extLst>
            </p:cNvPr>
            <p:cNvCxnSpPr>
              <a:cxnSpLocks/>
            </p:cNvCxnSpPr>
            <p:nvPr/>
          </p:nvCxnSpPr>
          <p:spPr>
            <a:xfrm>
              <a:off x="8616704" y="3861935"/>
              <a:ext cx="0" cy="770394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06" name="直接连接符 58405">
              <a:extLst>
                <a:ext uri="{FF2B5EF4-FFF2-40B4-BE49-F238E27FC236}">
                  <a16:creationId xmlns:a16="http://schemas.microsoft.com/office/drawing/2014/main" id="{01645040-5FBF-71B6-4ADF-93920E7E0738}"/>
                </a:ext>
              </a:extLst>
            </p:cNvPr>
            <p:cNvCxnSpPr>
              <a:cxnSpLocks/>
            </p:cNvCxnSpPr>
            <p:nvPr/>
          </p:nvCxnSpPr>
          <p:spPr>
            <a:xfrm>
              <a:off x="9227939" y="3221153"/>
              <a:ext cx="0" cy="1411176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08" name="直接连接符 58407">
              <a:extLst>
                <a:ext uri="{FF2B5EF4-FFF2-40B4-BE49-F238E27FC236}">
                  <a16:creationId xmlns:a16="http://schemas.microsoft.com/office/drawing/2014/main" id="{C5BC9D13-E1CA-38D0-3536-4331A3C45C84}"/>
                </a:ext>
              </a:extLst>
            </p:cNvPr>
            <p:cNvCxnSpPr>
              <a:cxnSpLocks/>
            </p:cNvCxnSpPr>
            <p:nvPr/>
          </p:nvCxnSpPr>
          <p:spPr>
            <a:xfrm>
              <a:off x="9421881" y="2898042"/>
              <a:ext cx="0" cy="1725182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10" name="直接连接符 58409">
              <a:extLst>
                <a:ext uri="{FF2B5EF4-FFF2-40B4-BE49-F238E27FC236}">
                  <a16:creationId xmlns:a16="http://schemas.microsoft.com/office/drawing/2014/main" id="{ED743D17-2383-D000-39AF-3CC789A61345}"/>
                </a:ext>
              </a:extLst>
            </p:cNvPr>
            <p:cNvCxnSpPr>
              <a:cxnSpLocks/>
            </p:cNvCxnSpPr>
            <p:nvPr/>
          </p:nvCxnSpPr>
          <p:spPr>
            <a:xfrm>
              <a:off x="9981481" y="1946528"/>
              <a:ext cx="0" cy="2685801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416" name="直接连接符 58415">
              <a:extLst>
                <a:ext uri="{FF2B5EF4-FFF2-40B4-BE49-F238E27FC236}">
                  <a16:creationId xmlns:a16="http://schemas.microsoft.com/office/drawing/2014/main" id="{9C5684DF-9C2B-E41C-AE55-0F4685F579F7}"/>
                </a:ext>
              </a:extLst>
            </p:cNvPr>
            <p:cNvCxnSpPr>
              <a:cxnSpLocks/>
            </p:cNvCxnSpPr>
            <p:nvPr/>
          </p:nvCxnSpPr>
          <p:spPr>
            <a:xfrm>
              <a:off x="9807575" y="2307493"/>
              <a:ext cx="0" cy="2324836"/>
            </a:xfrm>
            <a:prstGeom prst="line">
              <a:avLst/>
            </a:prstGeom>
            <a:ln>
              <a:solidFill>
                <a:schemeClr val="dk1"/>
              </a:solidFill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/>
      <p:bldP spid="61" grpId="0"/>
      <p:bldP spid="62" grpId="0"/>
      <p:bldP spid="63" grpId="0"/>
      <p:bldP spid="58368" grpId="0"/>
      <p:bldP spid="58369" grpId="0"/>
      <p:bldP spid="583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1C2A33-6A8B-8AA6-253E-605863C13553}"/>
              </a:ext>
            </a:extLst>
          </p:cNvPr>
          <p:cNvSpPr/>
          <p:nvPr/>
        </p:nvSpPr>
        <p:spPr>
          <a:xfrm>
            <a:off x="687324" y="663574"/>
            <a:ext cx="10817225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半闭框 2">
            <a:extLst>
              <a:ext uri="{FF2B5EF4-FFF2-40B4-BE49-F238E27FC236}">
                <a16:creationId xmlns:a16="http://schemas.microsoft.com/office/drawing/2014/main" id="{BEA37175-9613-999D-052F-2AFF9E609C1B}"/>
              </a:ext>
            </a:extLst>
          </p:cNvPr>
          <p:cNvSpPr/>
          <p:nvPr/>
        </p:nvSpPr>
        <p:spPr>
          <a:xfrm>
            <a:off x="687324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半闭框 4">
            <a:extLst>
              <a:ext uri="{FF2B5EF4-FFF2-40B4-BE49-F238E27FC236}">
                <a16:creationId xmlns:a16="http://schemas.microsoft.com/office/drawing/2014/main" id="{CF13ABAF-3275-9E90-9EA2-38695206F9CC}"/>
              </a:ext>
            </a:extLst>
          </p:cNvPr>
          <p:cNvSpPr/>
          <p:nvPr/>
        </p:nvSpPr>
        <p:spPr>
          <a:xfrm flipH="1">
            <a:off x="10823530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半闭框 6">
            <a:extLst>
              <a:ext uri="{FF2B5EF4-FFF2-40B4-BE49-F238E27FC236}">
                <a16:creationId xmlns:a16="http://schemas.microsoft.com/office/drawing/2014/main" id="{91E13FBF-B9C4-2986-3EE5-9E1E36C721ED}"/>
              </a:ext>
            </a:extLst>
          </p:cNvPr>
          <p:cNvSpPr/>
          <p:nvPr/>
        </p:nvSpPr>
        <p:spPr>
          <a:xfrm flipV="1">
            <a:off x="687324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半闭框 7">
            <a:extLst>
              <a:ext uri="{FF2B5EF4-FFF2-40B4-BE49-F238E27FC236}">
                <a16:creationId xmlns:a16="http://schemas.microsoft.com/office/drawing/2014/main" id="{A7303B9E-DC67-787D-224D-CC8787BD7CCE}"/>
              </a:ext>
            </a:extLst>
          </p:cNvPr>
          <p:cNvSpPr/>
          <p:nvPr/>
        </p:nvSpPr>
        <p:spPr>
          <a:xfrm flipH="1" flipV="1">
            <a:off x="10823530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F7EB2AEC-0515-BA6B-667B-A12FE9533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691" y="799215"/>
            <a:ext cx="18004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根据定义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1">
                <a:extLst>
                  <a:ext uri="{FF2B5EF4-FFF2-40B4-BE49-F238E27FC236}">
                    <a16:creationId xmlns:a16="http://schemas.microsoft.com/office/drawing/2014/main" id="{58995EC6-F096-B89B-62A0-A1A66911E442}"/>
                  </a:ext>
                </a:extLst>
              </p:cNvPr>
              <p:cNvSpPr txBox="1"/>
              <p:nvPr/>
            </p:nvSpPr>
            <p:spPr bwMode="auto">
              <a:xfrm>
                <a:off x="4453337" y="1208581"/>
                <a:ext cx="3566539" cy="13573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𝑓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黑体" panose="02010609060101010101" pitchFamily="49" charset="-122"/>
                                      <a:ea typeface="黑体" panose="02010609060101010101" pitchFamily="49" charset="-122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21">
                <a:extLst>
                  <a:ext uri="{FF2B5EF4-FFF2-40B4-BE49-F238E27FC236}">
                    <a16:creationId xmlns:a16="http://schemas.microsoft.com/office/drawing/2014/main" id="{58995EC6-F096-B89B-62A0-A1A66911E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3337" y="1208581"/>
                <a:ext cx="3566539" cy="1357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2">
                <a:extLst>
                  <a:ext uri="{FF2B5EF4-FFF2-40B4-BE49-F238E27FC236}">
                    <a16:creationId xmlns:a16="http://schemas.microsoft.com/office/drawing/2014/main" id="{40752B45-7F45-9586-B2EB-2F47C913FB36}"/>
                  </a:ext>
                </a:extLst>
              </p:cNvPr>
              <p:cNvSpPr txBox="1"/>
              <p:nvPr/>
            </p:nvSpPr>
            <p:spPr bwMode="auto">
              <a:xfrm>
                <a:off x="2627677" y="1378443"/>
                <a:ext cx="1571626" cy="8521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22">
                <a:extLst>
                  <a:ext uri="{FF2B5EF4-FFF2-40B4-BE49-F238E27FC236}">
                    <a16:creationId xmlns:a16="http://schemas.microsoft.com/office/drawing/2014/main" id="{40752B45-7F45-9586-B2EB-2F47C913FB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7677" y="1378443"/>
                <a:ext cx="1571626" cy="852168"/>
              </a:xfrm>
              <a:prstGeom prst="rect">
                <a:avLst/>
              </a:prstGeom>
              <a:blipFill>
                <a:blip r:embed="rId4"/>
                <a:stretch>
                  <a:fillRect r="-17054" b="-78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C5B8C37C-1A5D-58D1-C1D8-053E48EAC43A}"/>
                  </a:ext>
                </a:extLst>
              </p:cNvPr>
              <p:cNvSpPr txBox="1"/>
              <p:nvPr/>
            </p:nvSpPr>
            <p:spPr bwMode="auto">
              <a:xfrm>
                <a:off x="4988236" y="3167860"/>
                <a:ext cx="2338065" cy="5745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𝜏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∈[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𝑖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−1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],</m:t>
                    </m:r>
                  </m:oMath>
                </a14:m>
                <a:r>
                  <a:rPr kumimoji="1"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C5B8C37C-1A5D-58D1-C1D8-053E48EAC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8236" y="3167860"/>
                <a:ext cx="2338065" cy="574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3">
            <a:extLst>
              <a:ext uri="{FF2B5EF4-FFF2-40B4-BE49-F238E27FC236}">
                <a16:creationId xmlns:a16="http://schemas.microsoft.com/office/drawing/2014/main" id="{26B4F948-EA58-4B49-DE22-92AD1A07A5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913" y="3173256"/>
            <a:ext cx="609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1054317C-3C63-E337-6FDA-5108D36973AE}"/>
                  </a:ext>
                </a:extLst>
              </p:cNvPr>
              <p:cNvSpPr txBox="1"/>
              <p:nvPr/>
            </p:nvSpPr>
            <p:spPr bwMode="auto">
              <a:xfrm>
                <a:off x="2059372" y="3142732"/>
                <a:ext cx="1240438" cy="4476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黑体" panose="02010609060101010101" pitchFamily="49" charset="-122"/>
                              <a:ea typeface="黑体" panose="02010609060101010101" pitchFamily="49" charset="-122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𝜂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4">
                <a:extLst>
                  <a:ext uri="{FF2B5EF4-FFF2-40B4-BE49-F238E27FC236}">
                    <a16:creationId xmlns:a16="http://schemas.microsoft.com/office/drawing/2014/main" id="{1054317C-3C63-E337-6FDA-5108D3697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9372" y="3142732"/>
                <a:ext cx="1240438" cy="447675"/>
              </a:xfrm>
              <a:prstGeom prst="rect">
                <a:avLst/>
              </a:prstGeom>
              <a:blipFill>
                <a:blip r:embed="rId6"/>
                <a:stretch>
                  <a:fillRect b="-68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5">
                <a:extLst>
                  <a:ext uri="{FF2B5EF4-FFF2-40B4-BE49-F238E27FC236}">
                    <a16:creationId xmlns:a16="http://schemas.microsoft.com/office/drawing/2014/main" id="{7A8B4176-1FDA-D058-73B1-D08F02F10F31}"/>
                  </a:ext>
                </a:extLst>
              </p:cNvPr>
              <p:cNvSpPr txBox="1"/>
              <p:nvPr/>
            </p:nvSpPr>
            <p:spPr bwMode="auto">
              <a:xfrm>
                <a:off x="3105104" y="3770937"/>
                <a:ext cx="5283888" cy="12001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−1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5">
                <a:extLst>
                  <a:ext uri="{FF2B5EF4-FFF2-40B4-BE49-F238E27FC236}">
                    <a16:creationId xmlns:a16="http://schemas.microsoft.com/office/drawing/2014/main" id="{7A8B4176-1FDA-D058-73B1-D08F02F10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05104" y="3770937"/>
                <a:ext cx="5283888" cy="12001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31AF2111-AD23-53D9-61B6-47BD7D43EA21}"/>
                  </a:ext>
                </a:extLst>
              </p:cNvPr>
              <p:cNvSpPr txBox="1"/>
              <p:nvPr/>
            </p:nvSpPr>
            <p:spPr bwMode="auto">
              <a:xfrm>
                <a:off x="3681776" y="4980378"/>
                <a:ext cx="4212265" cy="979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31AF2111-AD23-53D9-61B6-47BD7D43E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81776" y="4980378"/>
                <a:ext cx="4212265" cy="9794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2">
            <a:extLst>
              <a:ext uri="{FF2B5EF4-FFF2-40B4-BE49-F238E27FC236}">
                <a16:creationId xmlns:a16="http://schemas.microsoft.com/office/drawing/2014/main" id="{DE60BB4E-9483-F18D-2283-6F27EADEC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691" y="2501523"/>
            <a:ext cx="34495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设各分点对应参数为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3">
                <a:extLst>
                  <a:ext uri="{FF2B5EF4-FFF2-40B4-BE49-F238E27FC236}">
                    <a16:creationId xmlns:a16="http://schemas.microsoft.com/office/drawing/2014/main" id="{75BF697D-0B50-490D-EB36-551156355778}"/>
                  </a:ext>
                </a:extLst>
              </p:cNvPr>
              <p:cNvSpPr txBox="1"/>
              <p:nvPr/>
            </p:nvSpPr>
            <p:spPr bwMode="auto">
              <a:xfrm>
                <a:off x="4924436" y="2508775"/>
                <a:ext cx="2821399" cy="4785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𝑖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=0,1,⋯,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𝑛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13">
                <a:extLst>
                  <a:ext uri="{FF2B5EF4-FFF2-40B4-BE49-F238E27FC236}">
                    <a16:creationId xmlns:a16="http://schemas.microsoft.com/office/drawing/2014/main" id="{75BF697D-0B50-490D-EB36-551156355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4436" y="2508775"/>
                <a:ext cx="2821399" cy="47855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 Box 14">
            <a:extLst>
              <a:ext uri="{FF2B5EF4-FFF2-40B4-BE49-F238E27FC236}">
                <a16:creationId xmlns:a16="http://schemas.microsoft.com/office/drawing/2014/main" id="{E46D3294-8079-D538-5398-AFD30074F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985" y="3187543"/>
            <a:ext cx="21835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对应参数为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6">
                <a:extLst>
                  <a:ext uri="{FF2B5EF4-FFF2-40B4-BE49-F238E27FC236}">
                    <a16:creationId xmlns:a16="http://schemas.microsoft.com/office/drawing/2014/main" id="{1B37F97C-8B69-AA12-C6DF-5391E7609A0E}"/>
                  </a:ext>
                </a:extLst>
              </p:cNvPr>
              <p:cNvSpPr txBox="1"/>
              <p:nvPr/>
            </p:nvSpPr>
            <p:spPr bwMode="auto">
              <a:xfrm>
                <a:off x="7961154" y="5181198"/>
                <a:ext cx="2281019" cy="5778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′</m:t>
                          </m:r>
                        </m:sup>
                      </m:sSub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∈[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].</m:t>
                      </m:r>
                    </m:oMath>
                  </m:oMathPara>
                </a14:m>
                <a:endParaRPr kumimoji="1"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16">
                <a:extLst>
                  <a:ext uri="{FF2B5EF4-FFF2-40B4-BE49-F238E27FC236}">
                    <a16:creationId xmlns:a16="http://schemas.microsoft.com/office/drawing/2014/main" id="{1B37F97C-8B69-AA12-C6DF-5391E7609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1154" y="5181198"/>
                <a:ext cx="2281019" cy="5778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  <p:bldP spid="10" grpId="0"/>
      <p:bldP spid="11" grpId="0"/>
      <p:bldP spid="12" grpId="0"/>
      <p:bldP spid="14" grpId="0"/>
      <p:bldP spid="15" grpId="0"/>
      <p:bldP spid="16" grpId="0"/>
      <p:bldP spid="22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4563C4C9-FD2C-B3C8-9C52-335DA24F49F7}"/>
              </a:ext>
            </a:extLst>
          </p:cNvPr>
          <p:cNvGrpSpPr/>
          <p:nvPr/>
        </p:nvGrpSpPr>
        <p:grpSpPr>
          <a:xfrm>
            <a:off x="687197" y="661222"/>
            <a:ext cx="10817606" cy="5535556"/>
            <a:chOff x="687070" y="660915"/>
            <a:chExt cx="10817606" cy="5535556"/>
          </a:xfrm>
        </p:grpSpPr>
        <p:sp>
          <p:nvSpPr>
            <p:cNvPr id="47" name="矩形 46"/>
            <p:cNvSpPr/>
            <p:nvPr/>
          </p:nvSpPr>
          <p:spPr>
            <a:xfrm>
              <a:off x="687070" y="663574"/>
              <a:ext cx="10817225" cy="55328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半闭框 47"/>
            <p:cNvSpPr/>
            <p:nvPr/>
          </p:nvSpPr>
          <p:spPr>
            <a:xfrm>
              <a:off x="687324" y="661529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半闭框 48"/>
            <p:cNvSpPr/>
            <p:nvPr/>
          </p:nvSpPr>
          <p:spPr>
            <a:xfrm flipH="1">
              <a:off x="10823530" y="660915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/>
            <p:cNvSpPr/>
            <p:nvPr/>
          </p:nvSpPr>
          <p:spPr>
            <a:xfrm flipV="1">
              <a:off x="687324" y="552295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/>
            <p:cNvSpPr/>
            <p:nvPr/>
          </p:nvSpPr>
          <p:spPr>
            <a:xfrm flipH="1" flipV="1">
              <a:off x="10823530" y="550308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7">
                <a:extLst>
                  <a:ext uri="{FF2B5EF4-FFF2-40B4-BE49-F238E27FC236}">
                    <a16:creationId xmlns:a16="http://schemas.microsoft.com/office/drawing/2014/main" id="{704055B2-C6D9-3E2F-0248-DD767CA55B00}"/>
                  </a:ext>
                </a:extLst>
              </p:cNvPr>
              <p:cNvSpPr txBox="1"/>
              <p:nvPr/>
            </p:nvSpPr>
            <p:spPr bwMode="auto">
              <a:xfrm>
                <a:off x="2515304" y="1465263"/>
                <a:ext cx="1574796" cy="13128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7">
                <a:extLst>
                  <a:ext uri="{FF2B5EF4-FFF2-40B4-BE49-F238E27FC236}">
                    <a16:creationId xmlns:a16="http://schemas.microsoft.com/office/drawing/2014/main" id="{704055B2-C6D9-3E2F-0248-DD767CA55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304" y="1465263"/>
                <a:ext cx="1574796" cy="1312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8">
                <a:extLst>
                  <a:ext uri="{FF2B5EF4-FFF2-40B4-BE49-F238E27FC236}">
                    <a16:creationId xmlns:a16="http://schemas.microsoft.com/office/drawing/2014/main" id="{A0F29761-3B28-4F7E-75FF-0E8E91E39190}"/>
                  </a:ext>
                </a:extLst>
              </p:cNvPr>
              <p:cNvSpPr txBox="1"/>
              <p:nvPr/>
            </p:nvSpPr>
            <p:spPr bwMode="auto">
              <a:xfrm>
                <a:off x="1972224" y="646383"/>
                <a:ext cx="2039562" cy="9667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en-US" altLang="zh-CN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​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8">
                <a:extLst>
                  <a:ext uri="{FF2B5EF4-FFF2-40B4-BE49-F238E27FC236}">
                    <a16:creationId xmlns:a16="http://schemas.microsoft.com/office/drawing/2014/main" id="{A0F29761-3B28-4F7E-75FF-0E8E91E39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2224" y="646383"/>
                <a:ext cx="2039562" cy="966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9">
                <a:extLst>
                  <a:ext uri="{FF2B5EF4-FFF2-40B4-BE49-F238E27FC236}">
                    <a16:creationId xmlns:a16="http://schemas.microsoft.com/office/drawing/2014/main" id="{861A5C45-A51E-46F5-EF22-751F764B3FEF}"/>
                  </a:ext>
                </a:extLst>
              </p:cNvPr>
              <p:cNvSpPr txBox="1"/>
              <p:nvPr/>
            </p:nvSpPr>
            <p:spPr bwMode="auto">
              <a:xfrm>
                <a:off x="6391975" y="1640627"/>
                <a:ext cx="3701706" cy="10143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Sup>
                            <m:sSub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</m:t>
                              </m:r>
                            </m:sup>
                          </m:sSub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9">
                <a:extLst>
                  <a:ext uri="{FF2B5EF4-FFF2-40B4-BE49-F238E27FC236}">
                    <a16:creationId xmlns:a16="http://schemas.microsoft.com/office/drawing/2014/main" id="{861A5C45-A51E-46F5-EF22-751F764B3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1975" y="1640627"/>
                <a:ext cx="3701706" cy="10143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6378CBEA-8A91-5DD6-D763-EE6D30B74278}"/>
                  </a:ext>
                </a:extLst>
              </p:cNvPr>
              <p:cNvSpPr txBox="1"/>
              <p:nvPr/>
            </p:nvSpPr>
            <p:spPr bwMode="auto">
              <a:xfrm>
                <a:off x="4090100" y="1796352"/>
                <a:ext cx="2453249" cy="5046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​​[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)]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10">
                <a:extLst>
                  <a:ext uri="{FF2B5EF4-FFF2-40B4-BE49-F238E27FC236}">
                    <a16:creationId xmlns:a16="http://schemas.microsoft.com/office/drawing/2014/main" id="{6378CBEA-8A91-5DD6-D763-EE6D30B74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0100" y="1796352"/>
                <a:ext cx="2453249" cy="5046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D9920351-95FE-551F-25E2-E970A131C41D}"/>
                  </a:ext>
                </a:extLst>
              </p:cNvPr>
              <p:cNvSpPr txBox="1"/>
              <p:nvPr/>
            </p:nvSpPr>
            <p:spPr bwMode="auto">
              <a:xfrm>
                <a:off x="2924876" y="2791220"/>
                <a:ext cx="4431219" cy="648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注意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连续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11">
                <a:extLst>
                  <a:ext uri="{FF2B5EF4-FFF2-40B4-BE49-F238E27FC236}">
                    <a16:creationId xmlns:a16="http://schemas.microsoft.com/office/drawing/2014/main" id="{D9920351-95FE-551F-25E2-E970A131C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24876" y="2791220"/>
                <a:ext cx="4431219" cy="648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15">
            <a:extLst>
              <a:ext uri="{FF2B5EF4-FFF2-40B4-BE49-F238E27FC236}">
                <a16:creationId xmlns:a16="http://schemas.microsoft.com/office/drawing/2014/main" id="{07B35694-C46D-0606-B9D7-443661C44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237" y="837788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p:sp>
        <p:nvSpPr>
          <p:cNvPr id="9" name="Line 18">
            <a:extLst>
              <a:ext uri="{FF2B5EF4-FFF2-40B4-BE49-F238E27FC236}">
                <a16:creationId xmlns:a16="http://schemas.microsoft.com/office/drawing/2014/main" id="{3A787EC8-BB41-E5A7-B523-1B8E33533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9512" y="2666141"/>
            <a:ext cx="0" cy="1008000"/>
          </a:xfrm>
          <a:prstGeom prst="line">
            <a:avLst/>
          </a:prstGeom>
          <a:ln>
            <a:solidFill>
              <a:srgbClr val="04926A"/>
            </a:solidFill>
            <a:headEnd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9">
                <a:extLst>
                  <a:ext uri="{FF2B5EF4-FFF2-40B4-BE49-F238E27FC236}">
                    <a16:creationId xmlns:a16="http://schemas.microsoft.com/office/drawing/2014/main" id="{F511E105-349F-D679-FC3D-042EC17BD29B}"/>
                  </a:ext>
                </a:extLst>
              </p:cNvPr>
              <p:cNvSpPr txBox="1"/>
              <p:nvPr/>
            </p:nvSpPr>
            <p:spPr bwMode="auto">
              <a:xfrm>
                <a:off x="2515303" y="3470958"/>
                <a:ext cx="1719125" cy="13128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𝜆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𝑛</m:t>
                              </m:r>
                            </m:sup>
                            <m:e>
                              <m:r>
                                <a:rPr kumimoji="1" lang="en-US" altLang="zh-CN" sz="2800" b="0" i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9">
                <a:extLst>
                  <a:ext uri="{FF2B5EF4-FFF2-40B4-BE49-F238E27FC236}">
                    <a16:creationId xmlns:a16="http://schemas.microsoft.com/office/drawing/2014/main" id="{F511E105-349F-D679-FC3D-042EC17BD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303" y="3470958"/>
                <a:ext cx="1719125" cy="13128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DC32C88E-02FB-D213-EA3B-1DD53B0F727B}"/>
                  </a:ext>
                </a:extLst>
              </p:cNvPr>
              <p:cNvSpPr txBox="1"/>
              <p:nvPr/>
            </p:nvSpPr>
            <p:spPr bwMode="auto">
              <a:xfrm>
                <a:off x="6319272" y="3848278"/>
                <a:ext cx="3778158" cy="5629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𝜏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DC32C88E-02FB-D213-EA3B-1DD53B0F7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9272" y="3848278"/>
                <a:ext cx="3778158" cy="5629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A7CD0CB4-E31E-9001-B15F-213C51F7E90E}"/>
                  </a:ext>
                </a:extLst>
              </p:cNvPr>
              <p:cNvSpPr txBox="1"/>
              <p:nvPr/>
            </p:nvSpPr>
            <p:spPr bwMode="auto">
              <a:xfrm>
                <a:off x="4006218" y="3860518"/>
                <a:ext cx="2566731" cy="4889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​​[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𝑖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)]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21">
                <a:extLst>
                  <a:ext uri="{FF2B5EF4-FFF2-40B4-BE49-F238E27FC236}">
                    <a16:creationId xmlns:a16="http://schemas.microsoft.com/office/drawing/2014/main" id="{A7CD0CB4-E31E-9001-B15F-213C51F7E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6218" y="3860518"/>
                <a:ext cx="2566731" cy="4889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038">
                <a:extLst>
                  <a:ext uri="{FF2B5EF4-FFF2-40B4-BE49-F238E27FC236}">
                    <a16:creationId xmlns:a16="http://schemas.microsoft.com/office/drawing/2014/main" id="{A02DC060-DD3C-AD51-97D5-E7752E9EC470}"/>
                  </a:ext>
                </a:extLst>
              </p:cNvPr>
              <p:cNvSpPr txBox="1"/>
              <p:nvPr/>
            </p:nvSpPr>
            <p:spPr bwMode="auto">
              <a:xfrm>
                <a:off x="2524829" y="5100827"/>
                <a:ext cx="1818568" cy="10932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038">
                <a:extLst>
                  <a:ext uri="{FF2B5EF4-FFF2-40B4-BE49-F238E27FC236}">
                    <a16:creationId xmlns:a16="http://schemas.microsoft.com/office/drawing/2014/main" id="{A02DC060-DD3C-AD51-97D5-E7752E9E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4829" y="5100827"/>
                <a:ext cx="1818568" cy="10932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041">
                <a:extLst>
                  <a:ext uri="{FF2B5EF4-FFF2-40B4-BE49-F238E27FC236}">
                    <a16:creationId xmlns:a16="http://schemas.microsoft.com/office/drawing/2014/main" id="{8252E97A-4986-BBCA-33C7-D238570F4CE2}"/>
                  </a:ext>
                </a:extLst>
              </p:cNvPr>
              <p:cNvSpPr txBox="1"/>
              <p:nvPr/>
            </p:nvSpPr>
            <p:spPr bwMode="auto">
              <a:xfrm>
                <a:off x="4304804" y="5044017"/>
                <a:ext cx="6290707" cy="11501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​​[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𝑡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fName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041">
                <a:extLst>
                  <a:ext uri="{FF2B5EF4-FFF2-40B4-BE49-F238E27FC236}">
                    <a16:creationId xmlns:a16="http://schemas.microsoft.com/office/drawing/2014/main" id="{8252E97A-4986-BBCA-33C7-D238570F4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4804" y="5044017"/>
                <a:ext cx="6290707" cy="11501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Box 1109">
            <a:extLst>
              <a:ext uri="{FF2B5EF4-FFF2-40B4-BE49-F238E27FC236}">
                <a16:creationId xmlns:a16="http://schemas.microsoft.com/office/drawing/2014/main" id="{17237414-4B43-DC30-1589-5799B5739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2237" y="4498807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 animBg="1"/>
      <p:bldP spid="8" grpId="0"/>
      <p:bldP spid="9" grpId="0" animBg="1"/>
      <p:bldP spid="10" grpId="0"/>
      <p:bldP spid="11" grpId="0"/>
      <p:bldP spid="12" grpId="0"/>
      <p:bldP spid="14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2C20849-88E6-3144-33A2-DD3348AA9B92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34188574-A72A-52DF-C353-5F6F0CC018F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8E400DE-D216-AA90-3BC8-F09AA8BA78AE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EF991979-82B5-F6C6-6B84-AFC410AC8669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 1">
                <a:extLst>
                  <a:ext uri="{FF2B5EF4-FFF2-40B4-BE49-F238E27FC236}">
                    <a16:creationId xmlns:a16="http://schemas.microsoft.com/office/drawing/2014/main" id="{CDB05AC6-A069-9C95-3412-FA913D5527D7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Rectangle 1">
                <a:extLst>
                  <a:ext uri="{FF2B5EF4-FFF2-40B4-BE49-F238E27FC236}">
                    <a16:creationId xmlns:a16="http://schemas.microsoft.com/office/drawing/2014/main" id="{DB5C5AA6-16CC-A80D-5ADC-EE703B92270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051">
                <a:extLst>
                  <a:ext uri="{FF2B5EF4-FFF2-40B4-BE49-F238E27FC236}">
                    <a16:creationId xmlns:a16="http://schemas.microsoft.com/office/drawing/2014/main" id="{75554CD3-306F-4E10-40E8-297F27658A0C}"/>
                  </a:ext>
                </a:extLst>
              </p:cNvPr>
              <p:cNvSpPr txBox="1"/>
              <p:nvPr/>
            </p:nvSpPr>
            <p:spPr bwMode="auto">
              <a:xfrm>
                <a:off x="1667626" y="1541920"/>
                <a:ext cx="6832756" cy="5839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定积分的下限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一定要小于上限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; 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1051">
                <a:extLst>
                  <a:ext uri="{FF2B5EF4-FFF2-40B4-BE49-F238E27FC236}">
                    <a16:creationId xmlns:a16="http://schemas.microsoft.com/office/drawing/2014/main" id="{75554CD3-306F-4E10-40E8-297F27658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7626" y="1541920"/>
                <a:ext cx="6832756" cy="5839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1083">
            <a:extLst>
              <a:ext uri="{FF2B5EF4-FFF2-40B4-BE49-F238E27FC236}">
                <a16:creationId xmlns:a16="http://schemas.microsoft.com/office/drawing/2014/main" id="{A780301B-116A-19ED-0CC2-4B268551E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870" y="2913779"/>
            <a:ext cx="19271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3.   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注意到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084">
                <a:extLst>
                  <a:ext uri="{FF2B5EF4-FFF2-40B4-BE49-F238E27FC236}">
                    <a16:creationId xmlns:a16="http://schemas.microsoft.com/office/drawing/2014/main" id="{838A51B4-1D98-FE94-C6A5-810DDEF3FE13}"/>
                  </a:ext>
                </a:extLst>
              </p:cNvPr>
              <p:cNvSpPr txBox="1"/>
              <p:nvPr/>
            </p:nvSpPr>
            <p:spPr bwMode="auto">
              <a:xfrm>
                <a:off x="3412950" y="3577252"/>
                <a:ext cx="3702049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+(</m:t>
                          </m:r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" name="Object 1084">
                <a:extLst>
                  <a:ext uri="{FF2B5EF4-FFF2-40B4-BE49-F238E27FC236}">
                    <a16:creationId xmlns:a16="http://schemas.microsoft.com/office/drawing/2014/main" id="{838A51B4-1D98-FE94-C6A5-810DDEF3F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2950" y="3577252"/>
                <a:ext cx="3702049" cy="584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085">
                <a:extLst>
                  <a:ext uri="{FF2B5EF4-FFF2-40B4-BE49-F238E27FC236}">
                    <a16:creationId xmlns:a16="http://schemas.microsoft.com/office/drawing/2014/main" id="{84113770-6F8F-97E3-289D-BBDA9165CFF3}"/>
                  </a:ext>
                </a:extLst>
              </p:cNvPr>
              <p:cNvSpPr txBox="1"/>
              <p:nvPr/>
            </p:nvSpPr>
            <p:spPr bwMode="auto">
              <a:xfrm>
                <a:off x="3873560" y="4339805"/>
                <a:ext cx="3634279" cy="584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)+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′2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</m:e>
                      </m:rad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fName>
                        <m:e>
                          <m: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1085">
                <a:extLst>
                  <a:ext uri="{FF2B5EF4-FFF2-40B4-BE49-F238E27FC236}">
                    <a16:creationId xmlns:a16="http://schemas.microsoft.com/office/drawing/2014/main" id="{84113770-6F8F-97E3-289D-BBDA9165C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3560" y="4339805"/>
                <a:ext cx="3634279" cy="584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1108">
            <a:extLst>
              <a:ext uri="{FF2B5EF4-FFF2-40B4-BE49-F238E27FC236}">
                <a16:creationId xmlns:a16="http://schemas.microsoft.com/office/drawing/2014/main" id="{37502F99-F158-FADA-218C-C3D2E4F4C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3652" y="5168452"/>
            <a:ext cx="61093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因此上述计算公式相当于“换元法”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1">
                <a:extLst>
                  <a:ext uri="{FF2B5EF4-FFF2-40B4-BE49-F238E27FC236}">
                    <a16:creationId xmlns:a16="http://schemas.microsoft.com/office/drawing/2014/main" id="{FC39583C-966F-918B-2F46-E377D3A91747}"/>
                  </a:ext>
                </a:extLst>
              </p:cNvPr>
              <p:cNvSpPr txBox="1"/>
              <p:nvPr/>
            </p:nvSpPr>
            <p:spPr>
              <a:xfrm>
                <a:off x="1669214" y="2256970"/>
                <a:ext cx="7418386" cy="523219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中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不彼此独立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而是相互有关的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对象 1">
                <a:extLst>
                  <a:ext uri="{FF2B5EF4-FFF2-40B4-BE49-F238E27FC236}">
                    <a16:creationId xmlns:a16="http://schemas.microsoft.com/office/drawing/2014/main" id="{FC39583C-966F-918B-2F46-E377D3A9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214" y="2256970"/>
                <a:ext cx="7418386" cy="52321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1668E8DA-0A78-7B58-B0F5-FA09BC07098F}"/>
              </a:ext>
            </a:extLst>
          </p:cNvPr>
          <p:cNvGrpSpPr/>
          <p:nvPr/>
        </p:nvGrpSpPr>
        <p:grpSpPr>
          <a:xfrm>
            <a:off x="1744400" y="920033"/>
            <a:ext cx="647700" cy="647700"/>
            <a:chOff x="1567" y="838"/>
            <a:chExt cx="1020" cy="1020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699926CB-9B07-600D-2F59-F99AB26F439F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C714EFC-6B25-9D07-D1A7-3A33A66BFC83}"/>
                </a:ext>
              </a:extLst>
            </p:cNvPr>
            <p:cNvSpPr txBox="1"/>
            <p:nvPr/>
          </p:nvSpPr>
          <p:spPr bwMode="auto">
            <a:xfrm>
              <a:off x="1652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D5401886-D252-0E00-E75F-DCE641FFF66C}"/>
                </a:ext>
              </a:extLst>
            </p:cNvPr>
            <p:cNvSpPr/>
            <p:nvPr/>
          </p:nvSpPr>
          <p:spPr>
            <a:xfrm>
              <a:off x="1567" y="838"/>
              <a:ext cx="1020" cy="1020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30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DCB7FE85-5D98-DEF3-8A81-4151B430C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890" y="555039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特殊情形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8">
                <a:extLst>
                  <a:ext uri="{FF2B5EF4-FFF2-40B4-BE49-F238E27FC236}">
                    <a16:creationId xmlns:a16="http://schemas.microsoft.com/office/drawing/2014/main" id="{34F24680-C4D8-4E2E-17D8-5551E81F9ECF}"/>
                  </a:ext>
                </a:extLst>
              </p:cNvPr>
              <p:cNvSpPr txBox="1"/>
              <p:nvPr/>
            </p:nvSpPr>
            <p:spPr bwMode="auto">
              <a:xfrm>
                <a:off x="1209090" y="1147571"/>
                <a:ext cx="2040722" cy="944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8">
                <a:extLst>
                  <a:ext uri="{FF2B5EF4-FFF2-40B4-BE49-F238E27FC236}">
                    <a16:creationId xmlns:a16="http://schemas.microsoft.com/office/drawing/2014/main" id="{34F24680-C4D8-4E2E-17D8-5551E81F9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9090" y="1147571"/>
                <a:ext cx="2040722" cy="9446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等号 27">
            <a:extLst>
              <a:ext uri="{FF2B5EF4-FFF2-40B4-BE49-F238E27FC236}">
                <a16:creationId xmlns:a16="http://schemas.microsoft.com/office/drawing/2014/main" id="{078BF4A7-94C5-05E0-7DD7-490A378A2FAB}"/>
              </a:ext>
            </a:extLst>
          </p:cNvPr>
          <p:cNvSpPr/>
          <p:nvPr/>
        </p:nvSpPr>
        <p:spPr>
          <a:xfrm>
            <a:off x="895185" y="2704831"/>
            <a:ext cx="2927515" cy="108000"/>
          </a:xfrm>
          <a:prstGeom prst="mathEqual">
            <a:avLst>
              <a:gd name="adj1" fmla="val 23520"/>
              <a:gd name="adj2" fmla="val 44544"/>
            </a:avLst>
          </a:prstGeom>
          <a:solidFill>
            <a:srgbClr val="04926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对象 21">
                <a:extLst>
                  <a:ext uri="{FF2B5EF4-FFF2-40B4-BE49-F238E27FC236}">
                    <a16:creationId xmlns:a16="http://schemas.microsoft.com/office/drawing/2014/main" id="{D153F069-0E3D-8059-3AFD-2102920C4EE6}"/>
                  </a:ext>
                </a:extLst>
              </p:cNvPr>
              <p:cNvSpPr txBox="1"/>
              <p:nvPr/>
            </p:nvSpPr>
            <p:spPr>
              <a:xfrm>
                <a:off x="1372510" y="2120631"/>
                <a:ext cx="2040723" cy="57600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对象 21">
                <a:extLst>
                  <a:ext uri="{FF2B5EF4-FFF2-40B4-BE49-F238E27FC236}">
                    <a16:creationId xmlns:a16="http://schemas.microsoft.com/office/drawing/2014/main" id="{D153F069-0E3D-8059-3AFD-2102920C4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510" y="2120631"/>
                <a:ext cx="2040723" cy="5760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对象 22">
                <a:extLst>
                  <a:ext uri="{FF2B5EF4-FFF2-40B4-BE49-F238E27FC236}">
                    <a16:creationId xmlns:a16="http://schemas.microsoft.com/office/drawing/2014/main" id="{B112DEA0-E074-1145-1DA8-982CDE47ABAA}"/>
                  </a:ext>
                </a:extLst>
              </p:cNvPr>
              <p:cNvSpPr txBox="1"/>
              <p:nvPr/>
            </p:nvSpPr>
            <p:spPr>
              <a:xfrm>
                <a:off x="1624542" y="2801772"/>
                <a:ext cx="1764770" cy="4694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𝑏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对象 22">
                <a:extLst>
                  <a:ext uri="{FF2B5EF4-FFF2-40B4-BE49-F238E27FC236}">
                    <a16:creationId xmlns:a16="http://schemas.microsoft.com/office/drawing/2014/main" id="{B112DEA0-E074-1145-1DA8-982CDE47A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42" y="2801772"/>
                <a:ext cx="1764770" cy="469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对象 23">
                <a:extLst>
                  <a:ext uri="{FF2B5EF4-FFF2-40B4-BE49-F238E27FC236}">
                    <a16:creationId xmlns:a16="http://schemas.microsoft.com/office/drawing/2014/main" id="{3C2499C0-3A23-6F36-FC0A-BE7EB698A71E}"/>
                  </a:ext>
                </a:extLst>
              </p:cNvPr>
              <p:cNvSpPr txBox="1"/>
              <p:nvPr/>
            </p:nvSpPr>
            <p:spPr>
              <a:xfrm>
                <a:off x="3674836" y="2186316"/>
                <a:ext cx="4575175" cy="109733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𝑏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对象 23">
                <a:extLst>
                  <a:ext uri="{FF2B5EF4-FFF2-40B4-BE49-F238E27FC236}">
                    <a16:creationId xmlns:a16="http://schemas.microsoft.com/office/drawing/2014/main" id="{3C2499C0-3A23-6F36-FC0A-BE7EB698A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836" y="2186316"/>
                <a:ext cx="4575175" cy="1097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等号 44">
            <a:extLst>
              <a:ext uri="{FF2B5EF4-FFF2-40B4-BE49-F238E27FC236}">
                <a16:creationId xmlns:a16="http://schemas.microsoft.com/office/drawing/2014/main" id="{85E9B1E4-F5F5-826F-4704-E343DD0E5CF6}"/>
              </a:ext>
            </a:extLst>
          </p:cNvPr>
          <p:cNvSpPr/>
          <p:nvPr/>
        </p:nvSpPr>
        <p:spPr>
          <a:xfrm>
            <a:off x="895185" y="4156206"/>
            <a:ext cx="2927515" cy="108000"/>
          </a:xfrm>
          <a:prstGeom prst="mathEqual">
            <a:avLst>
              <a:gd name="adj1" fmla="val 23520"/>
              <a:gd name="adj2" fmla="val 44544"/>
            </a:avLst>
          </a:prstGeom>
          <a:solidFill>
            <a:srgbClr val="04926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对象 25">
                <a:extLst>
                  <a:ext uri="{FF2B5EF4-FFF2-40B4-BE49-F238E27FC236}">
                    <a16:creationId xmlns:a16="http://schemas.microsoft.com/office/drawing/2014/main" id="{4F0B231C-9738-D1F8-BFC1-62958A356BCC}"/>
                  </a:ext>
                </a:extLst>
              </p:cNvPr>
              <p:cNvSpPr txBox="1"/>
              <p:nvPr/>
            </p:nvSpPr>
            <p:spPr>
              <a:xfrm>
                <a:off x="1388862" y="3610462"/>
                <a:ext cx="1947059" cy="58021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3" name="对象 25">
                <a:extLst>
                  <a:ext uri="{FF2B5EF4-FFF2-40B4-BE49-F238E27FC236}">
                    <a16:creationId xmlns:a16="http://schemas.microsoft.com/office/drawing/2014/main" id="{4F0B231C-9738-D1F8-BFC1-62958A356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862" y="3610462"/>
                <a:ext cx="1947059" cy="5802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对象 26">
                <a:extLst>
                  <a:ext uri="{FF2B5EF4-FFF2-40B4-BE49-F238E27FC236}">
                    <a16:creationId xmlns:a16="http://schemas.microsoft.com/office/drawing/2014/main" id="{78F99F5E-A9BD-3AD8-4CC2-73C6A9871B03}"/>
                  </a:ext>
                </a:extLst>
              </p:cNvPr>
              <p:cNvSpPr txBox="1"/>
              <p:nvPr/>
            </p:nvSpPr>
            <p:spPr>
              <a:xfrm>
                <a:off x="1624542" y="4201012"/>
                <a:ext cx="1842191" cy="6438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𝑐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𝑑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4" name="对象 26">
                <a:extLst>
                  <a:ext uri="{FF2B5EF4-FFF2-40B4-BE49-F238E27FC236}">
                    <a16:creationId xmlns:a16="http://schemas.microsoft.com/office/drawing/2014/main" id="{78F99F5E-A9BD-3AD8-4CC2-73C6A9871B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542" y="4201012"/>
                <a:ext cx="1842191" cy="6438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对象 27">
                <a:extLst>
                  <a:ext uri="{FF2B5EF4-FFF2-40B4-BE49-F238E27FC236}">
                    <a16:creationId xmlns:a16="http://schemas.microsoft.com/office/drawing/2014/main" id="{3737FD9A-2203-04BD-61E7-AE1B02CCD9BD}"/>
                  </a:ext>
                </a:extLst>
              </p:cNvPr>
              <p:cNvSpPr txBox="1"/>
              <p:nvPr/>
            </p:nvSpPr>
            <p:spPr>
              <a:xfrm>
                <a:off x="3674836" y="3600122"/>
                <a:ext cx="4575174" cy="109110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𝑐</m:t>
                          </m:r>
                        </m:sub>
                        <m:sup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𝑑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[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𝜑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]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5" name="对象 27">
                <a:extLst>
                  <a:ext uri="{FF2B5EF4-FFF2-40B4-BE49-F238E27FC236}">
                    <a16:creationId xmlns:a16="http://schemas.microsoft.com/office/drawing/2014/main" id="{3737FD9A-2203-04BD-61E7-AE1B02CCD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836" y="3600122"/>
                <a:ext cx="4575174" cy="10911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等号 55">
            <a:extLst>
              <a:ext uri="{FF2B5EF4-FFF2-40B4-BE49-F238E27FC236}">
                <a16:creationId xmlns:a16="http://schemas.microsoft.com/office/drawing/2014/main" id="{2E86EAF9-2441-B3D7-9969-F0BF50307A8E}"/>
              </a:ext>
            </a:extLst>
          </p:cNvPr>
          <p:cNvSpPr/>
          <p:nvPr/>
        </p:nvSpPr>
        <p:spPr>
          <a:xfrm>
            <a:off x="895185" y="5696544"/>
            <a:ext cx="2927515" cy="108000"/>
          </a:xfrm>
          <a:prstGeom prst="mathEqual">
            <a:avLst>
              <a:gd name="adj1" fmla="val 23520"/>
              <a:gd name="adj2" fmla="val 44544"/>
            </a:avLst>
          </a:prstGeom>
          <a:solidFill>
            <a:srgbClr val="04926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对象 29">
                <a:extLst>
                  <a:ext uri="{FF2B5EF4-FFF2-40B4-BE49-F238E27FC236}">
                    <a16:creationId xmlns:a16="http://schemas.microsoft.com/office/drawing/2014/main" id="{8074A27F-A411-6FDE-3A79-74A36E8C0934}"/>
                  </a:ext>
                </a:extLst>
              </p:cNvPr>
              <p:cNvSpPr txBox="1"/>
              <p:nvPr/>
            </p:nvSpPr>
            <p:spPr>
              <a:xfrm>
                <a:off x="1463646" y="5136246"/>
                <a:ext cx="1902755" cy="54425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𝑟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𝑟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7" name="对象 29">
                <a:extLst>
                  <a:ext uri="{FF2B5EF4-FFF2-40B4-BE49-F238E27FC236}">
                    <a16:creationId xmlns:a16="http://schemas.microsoft.com/office/drawing/2014/main" id="{8074A27F-A411-6FDE-3A79-74A36E8C0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646" y="5136246"/>
                <a:ext cx="1902755" cy="5442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对象 30">
                <a:extLst>
                  <a:ext uri="{FF2B5EF4-FFF2-40B4-BE49-F238E27FC236}">
                    <a16:creationId xmlns:a16="http://schemas.microsoft.com/office/drawing/2014/main" id="{C4BE07A3-F44B-E2A0-CE91-B7A4E1BC3B6B}"/>
                  </a:ext>
                </a:extLst>
              </p:cNvPr>
              <p:cNvSpPr txBox="1"/>
              <p:nvPr/>
            </p:nvSpPr>
            <p:spPr>
              <a:xfrm>
                <a:off x="1658591" y="5747237"/>
                <a:ext cx="2070728" cy="57375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8" name="对象 30">
                <a:extLst>
                  <a:ext uri="{FF2B5EF4-FFF2-40B4-BE49-F238E27FC236}">
                    <a16:creationId xmlns:a16="http://schemas.microsoft.com/office/drawing/2014/main" id="{C4BE07A3-F44B-E2A0-CE91-B7A4E1BC3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591" y="5747237"/>
                <a:ext cx="2070728" cy="57375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对象 31">
                <a:extLst>
                  <a:ext uri="{FF2B5EF4-FFF2-40B4-BE49-F238E27FC236}">
                    <a16:creationId xmlns:a16="http://schemas.microsoft.com/office/drawing/2014/main" id="{79488C09-CE93-F569-728B-CD563E695854}"/>
                  </a:ext>
                </a:extLst>
              </p:cNvPr>
              <p:cNvSpPr txBox="1"/>
              <p:nvPr/>
            </p:nvSpPr>
            <p:spPr>
              <a:xfrm>
                <a:off x="3674836" y="5139686"/>
                <a:ext cx="7755661" cy="113141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𝛽</m:t>
                          </m:r>
                        </m:sup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𝑟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𝑟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sin</m:t>
                              </m:r>
                            </m:fNam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)​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.​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9" name="对象 31">
                <a:extLst>
                  <a:ext uri="{FF2B5EF4-FFF2-40B4-BE49-F238E27FC236}">
                    <a16:creationId xmlns:a16="http://schemas.microsoft.com/office/drawing/2014/main" id="{79488C09-CE93-F569-728B-CD563E695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4836" y="5139686"/>
                <a:ext cx="7755661" cy="113141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  <p:bldP spid="28" grpId="0" animBg="1"/>
      <p:bldP spid="32" grpId="0"/>
      <p:bldP spid="33" grpId="0"/>
      <p:bldP spid="42" grpId="0"/>
      <p:bldP spid="45" grpId="0" animBg="1"/>
      <p:bldP spid="53" grpId="0"/>
      <p:bldP spid="54" grpId="0"/>
      <p:bldP spid="55" grpId="0"/>
      <p:bldP spid="56" grpId="0" animBg="1"/>
      <p:bldP spid="57" grpId="0"/>
      <p:bldP spid="58" grpId="0"/>
      <p:bldP spid="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88ADEDA-0446-3219-D7D1-DF026B48D601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8" name="PA-102232">
              <a:extLst>
                <a:ext uri="{FF2B5EF4-FFF2-40B4-BE49-F238E27FC236}">
                  <a16:creationId xmlns:a16="http://schemas.microsoft.com/office/drawing/2014/main" id="{898357B0-90FF-A937-5EAE-244F64CC740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D787BEFD-9259-1240-0FDF-C4C5F247FD29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F17D03AA-E35F-8808-CFD8-1B7DC0B18568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7C04E332-95C7-4CB2-DFCB-58AC25A0EA32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26751AFA-8E9B-D242-A6AA-414ACA88895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4A04903D-E811-3190-6C43-41074773FBED}"/>
                  </a:ext>
                </a:extLst>
              </p:cNvPr>
              <p:cNvSpPr txBox="1"/>
              <p:nvPr/>
            </p:nvSpPr>
            <p:spPr bwMode="auto">
              <a:xfrm>
                <a:off x="1667738" y="2166751"/>
                <a:ext cx="8068976" cy="7792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𝜑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𝜔</m:t>
                      </m:r>
                      <m:d>
                        <m:d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𝛽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) 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3">
                <a:extLst>
                  <a:ext uri="{FF2B5EF4-FFF2-40B4-BE49-F238E27FC236}">
                    <a16:creationId xmlns:a16="http://schemas.microsoft.com/office/drawing/2014/main" id="{4A04903D-E811-3190-6C43-41074773FB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7738" y="2166751"/>
                <a:ext cx="8068976" cy="7792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15">
            <a:extLst>
              <a:ext uri="{FF2B5EF4-FFF2-40B4-BE49-F238E27FC236}">
                <a16:creationId xmlns:a16="http://schemas.microsoft.com/office/drawing/2014/main" id="{91F35D87-27A2-5E58-0EB5-68298B9E0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738" y="3104634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4DE18141-0E51-753F-B27C-2632B4EF1A05}"/>
                  </a:ext>
                </a:extLst>
              </p:cNvPr>
              <p:cNvSpPr txBox="1"/>
              <p:nvPr/>
            </p:nvSpPr>
            <p:spPr bwMode="auto">
              <a:xfrm>
                <a:off x="2187485" y="2487694"/>
                <a:ext cx="8682762" cy="297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p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</m:t>
                          </m:r>
                          <m:r>
                            <a:rPr lang="el-GR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),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)]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𝛹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4DE18141-0E51-753F-B27C-2632B4EF1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7485" y="2487694"/>
                <a:ext cx="8682762" cy="29796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>
            <a:extLst>
              <a:ext uri="{FF2B5EF4-FFF2-40B4-BE49-F238E27FC236}">
                <a16:creationId xmlns:a16="http://schemas.microsoft.com/office/drawing/2014/main" id="{7861E2E9-F7C7-7C81-407B-23B39E0625E4}"/>
              </a:ext>
            </a:extLst>
          </p:cNvPr>
          <p:cNvGrpSpPr/>
          <p:nvPr/>
        </p:nvGrpSpPr>
        <p:grpSpPr>
          <a:xfrm>
            <a:off x="1737588" y="1477467"/>
            <a:ext cx="5530215" cy="448945"/>
            <a:chOff x="1553" y="3803"/>
            <a:chExt cx="8709" cy="707"/>
          </a:xfrm>
        </p:grpSpPr>
        <p:sp>
          <p:nvSpPr>
            <p:cNvPr id="17" name="圆角矩形 57">
              <a:extLst>
                <a:ext uri="{FF2B5EF4-FFF2-40B4-BE49-F238E27FC236}">
                  <a16:creationId xmlns:a16="http://schemas.microsoft.com/office/drawing/2014/main" id="{0E136DFC-11AA-3520-ED8F-2732E43561F1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Text Box 28">
              <a:extLst>
                <a:ext uri="{FF2B5EF4-FFF2-40B4-BE49-F238E27FC236}">
                  <a16:creationId xmlns:a16="http://schemas.microsoft.com/office/drawing/2014/main" id="{F027A592-ECE5-4820-6A36-F2EAB2A98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0" y="3804"/>
              <a:ext cx="863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推广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:  </a:t>
              </a:r>
              <a:r>
                <a:rPr kumimoji="1" lang="zh-CN" altLang="en-US" sz="2800" b="0" dirty="0">
                  <a:solidFill>
                    <a:schemeClr val="tx1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设空间曲线弧的参数方程为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23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utoUpdateAnimBg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FA6837AF-FD36-6695-B13A-CF3754B10D6D}"/>
              </a:ext>
            </a:extLst>
          </p:cNvPr>
          <p:cNvSpPr/>
          <p:nvPr/>
        </p:nvSpPr>
        <p:spPr>
          <a:xfrm>
            <a:off x="1078866" y="663574"/>
            <a:ext cx="10033634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半闭框 45">
            <a:extLst>
              <a:ext uri="{FF2B5EF4-FFF2-40B4-BE49-F238E27FC236}">
                <a16:creationId xmlns:a16="http://schemas.microsoft.com/office/drawing/2014/main" id="{86098270-B632-424E-99F9-C33867CA3458}"/>
              </a:ext>
            </a:extLst>
          </p:cNvPr>
          <p:cNvSpPr/>
          <p:nvPr/>
        </p:nvSpPr>
        <p:spPr>
          <a:xfrm>
            <a:off x="1078866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半闭框 47">
            <a:extLst>
              <a:ext uri="{FF2B5EF4-FFF2-40B4-BE49-F238E27FC236}">
                <a16:creationId xmlns:a16="http://schemas.microsoft.com/office/drawing/2014/main" id="{E3B71AFC-E982-ECEB-ACBD-6956E1AC1D4C}"/>
              </a:ext>
            </a:extLst>
          </p:cNvPr>
          <p:cNvSpPr/>
          <p:nvPr/>
        </p:nvSpPr>
        <p:spPr>
          <a:xfrm flipH="1">
            <a:off x="10431354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半闭框 49">
            <a:extLst>
              <a:ext uri="{FF2B5EF4-FFF2-40B4-BE49-F238E27FC236}">
                <a16:creationId xmlns:a16="http://schemas.microsoft.com/office/drawing/2014/main" id="{618507F4-CE6A-8490-0392-5D6356972D12}"/>
              </a:ext>
            </a:extLst>
          </p:cNvPr>
          <p:cNvSpPr/>
          <p:nvPr/>
        </p:nvSpPr>
        <p:spPr>
          <a:xfrm flipV="1">
            <a:off x="1078866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半闭框 51">
            <a:extLst>
              <a:ext uri="{FF2B5EF4-FFF2-40B4-BE49-F238E27FC236}">
                <a16:creationId xmlns:a16="http://schemas.microsoft.com/office/drawing/2014/main" id="{F5DBFFBC-426E-411E-5485-6858C480263F}"/>
              </a:ext>
            </a:extLst>
          </p:cNvPr>
          <p:cNvSpPr/>
          <p:nvPr/>
        </p:nvSpPr>
        <p:spPr>
          <a:xfrm flipH="1" flipV="1">
            <a:off x="10431354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ext Box 319">
            <a:extLst>
              <a:ext uri="{FF2B5EF4-FFF2-40B4-BE49-F238E27FC236}">
                <a16:creationId xmlns:a16="http://schemas.microsoft.com/office/drawing/2014/main" id="{157CD7E3-7B57-4E8C-3D7A-45890AF47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421" y="2525080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3" name="Rectangle 345">
            <a:extLst>
              <a:ext uri="{FF2B5EF4-FFF2-40B4-BE49-F238E27FC236}">
                <a16:creationId xmlns:a16="http://schemas.microsoft.com/office/drawing/2014/main" id="{8823EDDF-83E1-96E1-ED59-3996B6D10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670" y="991924"/>
            <a:ext cx="1828800" cy="52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kumimoji="1" lang="zh-CN" altLang="en-US" sz="2800" dirty="0">
                <a:solidFill>
                  <a:schemeClr val="tx1"/>
                </a:solidFill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47">
                <a:extLst>
                  <a:ext uri="{FF2B5EF4-FFF2-40B4-BE49-F238E27FC236}">
                    <a16:creationId xmlns:a16="http://schemas.microsoft.com/office/drawing/2014/main" id="{6F63F82F-E1C8-E41D-2ACB-3D9A62B79D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60751" y="983368"/>
                <a:ext cx="253457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是抛物线</a:t>
                </a:r>
              </a:p>
            </p:txBody>
          </p:sp>
        </mc:Choice>
        <mc:Fallback xmlns="">
          <p:sp>
            <p:nvSpPr>
              <p:cNvPr id="4" name="Text Box 347">
                <a:extLst>
                  <a:ext uri="{FF2B5EF4-FFF2-40B4-BE49-F238E27FC236}">
                    <a16:creationId xmlns:a16="http://schemas.microsoft.com/office/drawing/2014/main" id="{6F63F82F-E1C8-E41D-2ACB-3D9A62B79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0751" y="983368"/>
                <a:ext cx="2534579" cy="523220"/>
              </a:xfrm>
              <a:prstGeom prst="rect">
                <a:avLst/>
              </a:prstGeom>
              <a:blipFill>
                <a:blip r:embed="rId2"/>
                <a:stretch>
                  <a:fillRect l="-5048" t="-15116" r="-384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349">
                <a:extLst>
                  <a:ext uri="{FF2B5EF4-FFF2-40B4-BE49-F238E27FC236}">
                    <a16:creationId xmlns:a16="http://schemas.microsoft.com/office/drawing/2014/main" id="{9CC5CB32-CA56-0AED-3723-B96152173E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66045" y="1687841"/>
                <a:ext cx="434321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与点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𝐵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(1,1) 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之间的一段弧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.   </a:t>
                </a:r>
              </a:p>
            </p:txBody>
          </p:sp>
        </mc:Choice>
        <mc:Fallback xmlns="">
          <p:sp>
            <p:nvSpPr>
              <p:cNvPr id="5" name="Text Box 349">
                <a:extLst>
                  <a:ext uri="{FF2B5EF4-FFF2-40B4-BE49-F238E27FC236}">
                    <a16:creationId xmlns:a16="http://schemas.microsoft.com/office/drawing/2014/main" id="{9CC5CB32-CA56-0AED-3723-B96152173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6045" y="1687841"/>
                <a:ext cx="4343215" cy="523220"/>
              </a:xfrm>
              <a:prstGeom prst="rect">
                <a:avLst/>
              </a:prstGeom>
              <a:blipFill>
                <a:blip r:embed="rId3"/>
                <a:stretch>
                  <a:fillRect l="-2949" t="-16279" r="-814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357">
                <a:extLst>
                  <a:ext uri="{FF2B5EF4-FFF2-40B4-BE49-F238E27FC236}">
                    <a16:creationId xmlns:a16="http://schemas.microsoft.com/office/drawing/2014/main" id="{43242751-4EF6-B8B7-EFD0-5DE06F9028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4202" y="947008"/>
                <a:ext cx="2057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上点 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𝑂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(0,0)</a:t>
                </a:r>
              </a:p>
            </p:txBody>
          </p:sp>
        </mc:Choice>
        <mc:Fallback xmlns="">
          <p:sp>
            <p:nvSpPr>
              <p:cNvPr id="6" name="Text Box 357">
                <a:extLst>
                  <a:ext uri="{FF2B5EF4-FFF2-40B4-BE49-F238E27FC236}">
                    <a16:creationId xmlns:a16="http://schemas.microsoft.com/office/drawing/2014/main" id="{43242751-4EF6-B8B7-EFD0-5DE06F902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4202" y="947008"/>
                <a:ext cx="2057400" cy="523220"/>
              </a:xfrm>
              <a:prstGeom prst="rect">
                <a:avLst/>
              </a:prstGeom>
              <a:blipFill>
                <a:blip r:embed="rId4"/>
                <a:stretch>
                  <a:fillRect l="-6231" t="-15116" r="-2077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C840015F-CD7E-8AFB-A5B2-7929D56FDB39}"/>
                  </a:ext>
                </a:extLst>
              </p:cNvPr>
              <p:cNvSpPr txBox="1"/>
              <p:nvPr/>
            </p:nvSpPr>
            <p:spPr>
              <a:xfrm>
                <a:off x="6867401" y="929948"/>
                <a:ext cx="1486573" cy="51337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对象 8">
                <a:extLst>
                  <a:ext uri="{FF2B5EF4-FFF2-40B4-BE49-F238E27FC236}">
                    <a16:creationId xmlns:a16="http://schemas.microsoft.com/office/drawing/2014/main" id="{C840015F-CD7E-8AFB-A5B2-7929D56FD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401" y="929948"/>
                <a:ext cx="1486573" cy="5133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extLst>
                  <a:ext uri="{FF2B5EF4-FFF2-40B4-BE49-F238E27FC236}">
                    <a16:creationId xmlns:a16="http://schemas.microsoft.com/office/drawing/2014/main" id="{FC13201E-E483-3F42-6EE8-90F1377A2F9F}"/>
                  </a:ext>
                </a:extLst>
              </p:cNvPr>
              <p:cNvSpPr txBox="1"/>
              <p:nvPr/>
            </p:nvSpPr>
            <p:spPr>
              <a:xfrm>
                <a:off x="2466045" y="2576857"/>
                <a:ext cx="3220380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∵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: 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1),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对象 9">
                <a:extLst>
                  <a:ext uri="{FF2B5EF4-FFF2-40B4-BE49-F238E27FC236}">
                    <a16:creationId xmlns:a16="http://schemas.microsoft.com/office/drawing/2014/main" id="{FC13201E-E483-3F42-6EE8-90F1377A2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045" y="2576857"/>
                <a:ext cx="3220380" cy="46990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74C92933-2D4D-BFB6-37A1-6AFCB536081C}"/>
                  </a:ext>
                </a:extLst>
              </p:cNvPr>
              <p:cNvSpPr txBox="1"/>
              <p:nvPr/>
            </p:nvSpPr>
            <p:spPr>
              <a:xfrm>
                <a:off x="2459231" y="3220101"/>
                <a:ext cx="1569844" cy="89297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∴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</m:rad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​​</m:t>
                          </m:r>
                          <m:r>
                            <m:rPr>
                              <m:sty m:val="p"/>
                            </m:rPr>
                            <a:rPr kumimoji="1"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对象 10">
                <a:extLst>
                  <a:ext uri="{FF2B5EF4-FFF2-40B4-BE49-F238E27FC236}">
                    <a16:creationId xmlns:a16="http://schemas.microsoft.com/office/drawing/2014/main" id="{74C92933-2D4D-BFB6-37A1-6AFCB5360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231" y="3220101"/>
                <a:ext cx="1569844" cy="89297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5637430B-3D52-4966-418A-499A6067EC6C}"/>
                  </a:ext>
                </a:extLst>
              </p:cNvPr>
              <p:cNvSpPr txBox="1"/>
              <p:nvPr/>
            </p:nvSpPr>
            <p:spPr>
              <a:xfrm>
                <a:off x="3656304" y="3151881"/>
                <a:ext cx="2918823" cy="92599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1+(2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对象 11">
                <a:extLst>
                  <a:ext uri="{FF2B5EF4-FFF2-40B4-BE49-F238E27FC236}">
                    <a16:creationId xmlns:a16="http://schemas.microsoft.com/office/drawing/2014/main" id="{5637430B-3D52-4966-418A-499A6067E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304" y="3151881"/>
                <a:ext cx="2918823" cy="9259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>
                <a:extLst>
                  <a:ext uri="{FF2B5EF4-FFF2-40B4-BE49-F238E27FC236}">
                    <a16:creationId xmlns:a16="http://schemas.microsoft.com/office/drawing/2014/main" id="{1DDF0373-95F6-42F7-F548-C4CEC55190DA}"/>
                  </a:ext>
                </a:extLst>
              </p:cNvPr>
              <p:cNvSpPr txBox="1"/>
              <p:nvPr/>
            </p:nvSpPr>
            <p:spPr>
              <a:xfrm>
                <a:off x="2466046" y="4212666"/>
                <a:ext cx="2534579" cy="92599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​​1</m:t>
                          </m:r>
                        </m:sup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1+4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en-US" altLang="zh-CN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对象 12">
                <a:extLst>
                  <a:ext uri="{FF2B5EF4-FFF2-40B4-BE49-F238E27FC236}">
                    <a16:creationId xmlns:a16="http://schemas.microsoft.com/office/drawing/2014/main" id="{1DDF0373-95F6-42F7-F548-C4CEC5519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046" y="4212666"/>
                <a:ext cx="2534579" cy="9259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>
                <a:extLst>
                  <a:ext uri="{FF2B5EF4-FFF2-40B4-BE49-F238E27FC236}">
                    <a16:creationId xmlns:a16="http://schemas.microsoft.com/office/drawing/2014/main" id="{80F0FA0A-2EDF-62F9-67EF-417ABF268D57}"/>
                  </a:ext>
                </a:extLst>
              </p:cNvPr>
              <p:cNvSpPr txBox="1"/>
              <p:nvPr/>
            </p:nvSpPr>
            <p:spPr>
              <a:xfrm>
                <a:off x="4848432" y="4177462"/>
                <a:ext cx="2534579" cy="92599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12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(1+4​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对象 13">
                <a:extLst>
                  <a:ext uri="{FF2B5EF4-FFF2-40B4-BE49-F238E27FC236}">
                    <a16:creationId xmlns:a16="http://schemas.microsoft.com/office/drawing/2014/main" id="{80F0FA0A-2EDF-62F9-67EF-417ABF268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432" y="4177462"/>
                <a:ext cx="2534579" cy="92599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>
                <a:extLst>
                  <a:ext uri="{FF2B5EF4-FFF2-40B4-BE49-F238E27FC236}">
                    <a16:creationId xmlns:a16="http://schemas.microsoft.com/office/drawing/2014/main" id="{29EE1BDA-2564-B04A-0B6E-B125A7E0F2DE}"/>
                  </a:ext>
                </a:extLst>
              </p:cNvPr>
              <p:cNvSpPr txBox="1"/>
              <p:nvPr/>
            </p:nvSpPr>
            <p:spPr>
              <a:xfrm>
                <a:off x="2459231" y="5258682"/>
                <a:ext cx="2188040" cy="80874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12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(5</m:t>
                      </m:r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5</m:t>
                          </m:r>
                        </m:e>
                      </m:ra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−1) .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对象 14">
                <a:extLst>
                  <a:ext uri="{FF2B5EF4-FFF2-40B4-BE49-F238E27FC236}">
                    <a16:creationId xmlns:a16="http://schemas.microsoft.com/office/drawing/2014/main" id="{29EE1BDA-2564-B04A-0B6E-B125A7E0F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231" y="5258682"/>
                <a:ext cx="2188040" cy="8087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对象 10">
                <a:extLst>
                  <a:ext uri="{FF2B5EF4-FFF2-40B4-BE49-F238E27FC236}">
                    <a16:creationId xmlns:a16="http://schemas.microsoft.com/office/drawing/2014/main" id="{A12EC84B-0546-2EBE-AF9E-725634B18EC4}"/>
                  </a:ext>
                </a:extLst>
              </p:cNvPr>
              <p:cNvSpPr txBox="1"/>
              <p:nvPr/>
            </p:nvSpPr>
            <p:spPr>
              <a:xfrm>
                <a:off x="3172497" y="966805"/>
                <a:ext cx="1474774" cy="58187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naryPr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𝐿</m:t>
                        </m:r>
                      </m:sub>
                      <m:sup/>
                      <m:e>
                        <m:rad>
                          <m:radPr>
                            <m:degHide m:val="on"/>
                            <m:ctrlPr>
                              <a:rPr kumimoji="1" lang="zh-CN" altLang="en-US" sz="28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kumimoji="1" lang="zh-CN" altLang="en-US" sz="28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𝑦</m:t>
                            </m:r>
                          </m:e>
                        </m:rad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​​</m:t>
                        </m:r>
                        <m:r>
                          <m:rPr>
                            <m:sty m:val="p"/>
                          </m:rP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𝑠</m:t>
                        </m:r>
                      </m:e>
                    </m:nary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4" name="对象 10">
                <a:extLst>
                  <a:ext uri="{FF2B5EF4-FFF2-40B4-BE49-F238E27FC236}">
                    <a16:creationId xmlns:a16="http://schemas.microsoft.com/office/drawing/2014/main" id="{A12EC84B-0546-2EBE-AF9E-725634B18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497" y="966805"/>
                <a:ext cx="1474774" cy="581872"/>
              </a:xfrm>
              <a:prstGeom prst="rect">
                <a:avLst/>
              </a:prstGeom>
              <a:blipFill>
                <a:blip r:embed="rId13"/>
                <a:stretch>
                  <a:fillRect t="-11579" r="-4132" b="-1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 descr="图示&#10;&#10;描述已自动生成">
            <a:extLst>
              <a:ext uri="{FF2B5EF4-FFF2-40B4-BE49-F238E27FC236}">
                <a16:creationId xmlns:a16="http://schemas.microsoft.com/office/drawing/2014/main" id="{82FA6758-2EA2-9BDE-1661-C64F0F25B01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011" y="2619244"/>
            <a:ext cx="2726122" cy="2252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1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5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7DCE76A3-EBCB-CED2-DAF0-98E5A33996C5}"/>
              </a:ext>
            </a:extLst>
          </p:cNvPr>
          <p:cNvSpPr/>
          <p:nvPr/>
        </p:nvSpPr>
        <p:spPr>
          <a:xfrm>
            <a:off x="1078866" y="663574"/>
            <a:ext cx="10033634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半闭框 30">
            <a:extLst>
              <a:ext uri="{FF2B5EF4-FFF2-40B4-BE49-F238E27FC236}">
                <a16:creationId xmlns:a16="http://schemas.microsoft.com/office/drawing/2014/main" id="{EC440D45-3632-9472-52F0-C6A8557A11CA}"/>
              </a:ext>
            </a:extLst>
          </p:cNvPr>
          <p:cNvSpPr/>
          <p:nvPr/>
        </p:nvSpPr>
        <p:spPr>
          <a:xfrm>
            <a:off x="1078866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半闭框 32">
            <a:extLst>
              <a:ext uri="{FF2B5EF4-FFF2-40B4-BE49-F238E27FC236}">
                <a16:creationId xmlns:a16="http://schemas.microsoft.com/office/drawing/2014/main" id="{200E895B-3F2C-9877-B4CC-49FE59CF98B1}"/>
              </a:ext>
            </a:extLst>
          </p:cNvPr>
          <p:cNvSpPr/>
          <p:nvPr/>
        </p:nvSpPr>
        <p:spPr>
          <a:xfrm flipH="1">
            <a:off x="10431354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半闭框 34">
            <a:extLst>
              <a:ext uri="{FF2B5EF4-FFF2-40B4-BE49-F238E27FC236}">
                <a16:creationId xmlns:a16="http://schemas.microsoft.com/office/drawing/2014/main" id="{E1DFA133-7017-7CDD-2E18-6D10E83F5320}"/>
              </a:ext>
            </a:extLst>
          </p:cNvPr>
          <p:cNvSpPr/>
          <p:nvPr/>
        </p:nvSpPr>
        <p:spPr>
          <a:xfrm flipV="1">
            <a:off x="1078866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半闭框 36">
            <a:extLst>
              <a:ext uri="{FF2B5EF4-FFF2-40B4-BE49-F238E27FC236}">
                <a16:creationId xmlns:a16="http://schemas.microsoft.com/office/drawing/2014/main" id="{8ADA2B9A-9983-730F-1C0F-C33954A6BA91}"/>
              </a:ext>
            </a:extLst>
          </p:cNvPr>
          <p:cNvSpPr/>
          <p:nvPr/>
        </p:nvSpPr>
        <p:spPr>
          <a:xfrm flipH="1" flipV="1">
            <a:off x="10431354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20C2B3DC-6B20-4B08-7278-266BEE3B0B9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739899" y="841985"/>
                <a:ext cx="4623285" cy="592138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2  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计算半径为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𝑅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中心角为</a:t>
                </a:r>
              </a:p>
            </p:txBody>
          </p:sp>
        </mc:Choice>
        <mc:Fallback xmlns="">
          <p:sp>
            <p:nvSpPr>
              <p:cNvPr id="2" name="Rectangle 2">
                <a:extLst>
                  <a:ext uri="{FF2B5EF4-FFF2-40B4-BE49-F238E27FC236}">
                    <a16:creationId xmlns:a16="http://schemas.microsoft.com/office/drawing/2014/main" id="{20C2B3DC-6B20-4B08-7278-266BEE3B0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899" y="841985"/>
                <a:ext cx="4623285" cy="592138"/>
              </a:xfrm>
              <a:prstGeom prst="rect">
                <a:avLst/>
              </a:prstGeom>
              <a:blipFill>
                <a:blip r:embed="rId2"/>
                <a:stretch>
                  <a:fillRect l="-2635" t="-20619" b="-10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96224398-D7B6-6854-1184-084058FFF39D}"/>
                  </a:ext>
                </a:extLst>
              </p:cNvPr>
              <p:cNvSpPr txBox="1"/>
              <p:nvPr/>
            </p:nvSpPr>
            <p:spPr bwMode="auto">
              <a:xfrm>
                <a:off x="6043311" y="812618"/>
                <a:ext cx="576262" cy="4980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96224398-D7B6-6854-1184-084058FFF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43311" y="812618"/>
                <a:ext cx="576262" cy="498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E59FD80A-6932-A7A1-3E50-B2E04B9D30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95748" y="788344"/>
                <a:ext cx="34290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的圆弧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对于它的对</a:t>
                </a: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E59FD80A-6932-A7A1-3E50-B2E04B9D3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5748" y="788344"/>
                <a:ext cx="3429000" cy="519112"/>
              </a:xfrm>
              <a:prstGeom prst="rect">
                <a:avLst/>
              </a:prstGeom>
              <a:blipFill>
                <a:blip r:embed="rId4"/>
                <a:stretch>
                  <a:fillRect l="-3737" t="-15294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E2EEFE9A-1AB1-927D-2F3A-CECB1EF306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5162" y="1386831"/>
                <a:ext cx="73152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称轴的转动惯量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𝐼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(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设线密度</a:t>
                </a:r>
                <a:r>
                  <a:rPr kumimoji="1" lang="zh-CN" altLang="en-US" sz="2800" i="1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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  <a:sym typeface="Symbol" panose="05050102010706020507" pitchFamily="18" charset="2"/>
                  </a:rPr>
                  <a:t> 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= 1).  </a:t>
                </a:r>
              </a:p>
            </p:txBody>
          </p:sp>
        </mc:Choice>
        <mc:Fallback xmlns="">
          <p:sp>
            <p:nvSpPr>
              <p:cNvPr id="5" name="Text Box 6">
                <a:extLst>
                  <a:ext uri="{FF2B5EF4-FFF2-40B4-BE49-F238E27FC236}">
                    <a16:creationId xmlns:a16="http://schemas.microsoft.com/office/drawing/2014/main" id="{E2EEFE9A-1AB1-927D-2F3A-CECB1EF30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5162" y="1386831"/>
                <a:ext cx="7315200" cy="519113"/>
              </a:xfrm>
              <a:prstGeom prst="rect">
                <a:avLst/>
              </a:prstGeom>
              <a:blipFill>
                <a:blip r:embed="rId5"/>
                <a:stretch>
                  <a:fillRect l="-1667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8">
            <a:extLst>
              <a:ext uri="{FF2B5EF4-FFF2-40B4-BE49-F238E27FC236}">
                <a16:creationId xmlns:a16="http://schemas.microsoft.com/office/drawing/2014/main" id="{06C34BEB-DFAD-EA23-3B71-CB125F11E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75" y="1936952"/>
            <a:ext cx="529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en-US" altLang="zh-CN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0">
                <a:extLst>
                  <a:ext uri="{FF2B5EF4-FFF2-40B4-BE49-F238E27FC236}">
                    <a16:creationId xmlns:a16="http://schemas.microsoft.com/office/drawing/2014/main" id="{504254E6-E3C2-700C-7EC9-786F17F8FD34}"/>
                  </a:ext>
                </a:extLst>
              </p:cNvPr>
              <p:cNvSpPr txBox="1"/>
              <p:nvPr/>
            </p:nvSpPr>
            <p:spPr bwMode="auto">
              <a:xfrm>
                <a:off x="3016639" y="2361222"/>
                <a:ext cx="1666292" cy="774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𝐼</m:t>
                      </m:r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30">
                <a:extLst>
                  <a:ext uri="{FF2B5EF4-FFF2-40B4-BE49-F238E27FC236}">
                    <a16:creationId xmlns:a16="http://schemas.microsoft.com/office/drawing/2014/main" id="{504254E6-E3C2-700C-7EC9-786F17F8F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6639" y="2361222"/>
                <a:ext cx="1666292" cy="774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ine 32">
            <a:extLst>
              <a:ext uri="{FF2B5EF4-FFF2-40B4-BE49-F238E27FC236}">
                <a16:creationId xmlns:a16="http://schemas.microsoft.com/office/drawing/2014/main" id="{B233EA18-A57F-03D5-210C-2CC36CF34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6193" y="3052193"/>
            <a:ext cx="0" cy="1066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34">
                <a:extLst>
                  <a:ext uri="{FF2B5EF4-FFF2-40B4-BE49-F238E27FC236}">
                    <a16:creationId xmlns:a16="http://schemas.microsoft.com/office/drawing/2014/main" id="{E6346ED8-C85A-CB55-E012-63A5C7AF5DA9}"/>
                  </a:ext>
                </a:extLst>
              </p:cNvPr>
              <p:cNvSpPr txBox="1"/>
              <p:nvPr/>
            </p:nvSpPr>
            <p:spPr bwMode="auto">
              <a:xfrm>
                <a:off x="3210023" y="3950455"/>
                <a:ext cx="6486525" cy="774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𝑅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(−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𝜃</m:t>
                                  </m:r>
                                </m:e>
                              </m:func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+(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𝑅</m:t>
                              </m:r>
                              <m:func>
                                <m:func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𝜃</m:t>
                                  </m:r>
                                </m:e>
                              </m:func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34">
                <a:extLst>
                  <a:ext uri="{FF2B5EF4-FFF2-40B4-BE49-F238E27FC236}">
                    <a16:creationId xmlns:a16="http://schemas.microsoft.com/office/drawing/2014/main" id="{E6346ED8-C85A-CB55-E012-63A5C7AF5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0023" y="3950455"/>
                <a:ext cx="6486525" cy="774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5">
                <a:extLst>
                  <a:ext uri="{FF2B5EF4-FFF2-40B4-BE49-F238E27FC236}">
                    <a16:creationId xmlns:a16="http://schemas.microsoft.com/office/drawing/2014/main" id="{AA9A860D-2F1E-2986-7B34-EADF57EDFE35}"/>
                  </a:ext>
                </a:extLst>
              </p:cNvPr>
              <p:cNvSpPr txBox="1"/>
              <p:nvPr/>
            </p:nvSpPr>
            <p:spPr bwMode="auto">
              <a:xfrm>
                <a:off x="3210023" y="4784485"/>
                <a:ext cx="2335344" cy="831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𝑅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p>
                        <m:e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35">
                <a:extLst>
                  <a:ext uri="{FF2B5EF4-FFF2-40B4-BE49-F238E27FC236}">
                    <a16:creationId xmlns:a16="http://schemas.microsoft.com/office/drawing/2014/main" id="{AA9A860D-2F1E-2986-7B34-EADF57EDF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0023" y="4784485"/>
                <a:ext cx="2335344" cy="8318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6">
                <a:extLst>
                  <a:ext uri="{FF2B5EF4-FFF2-40B4-BE49-F238E27FC236}">
                    <a16:creationId xmlns:a16="http://schemas.microsoft.com/office/drawing/2014/main" id="{43904CEC-DC7A-9168-7544-10057237280C}"/>
                  </a:ext>
                </a:extLst>
              </p:cNvPr>
              <p:cNvSpPr txBox="1"/>
              <p:nvPr/>
            </p:nvSpPr>
            <p:spPr bwMode="auto">
              <a:xfrm>
                <a:off x="5382419" y="4729176"/>
                <a:ext cx="3035300" cy="9534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=2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𝑅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sSubSup>
                        <m:sSub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e>
                                  </m:func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𝜃</m:t>
                                  </m:r>
                                </m:num>
                                <m:den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36">
                <a:extLst>
                  <a:ext uri="{FF2B5EF4-FFF2-40B4-BE49-F238E27FC236}">
                    <a16:creationId xmlns:a16="http://schemas.microsoft.com/office/drawing/2014/main" id="{43904CEC-DC7A-9168-7544-100572372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2419" y="4729176"/>
                <a:ext cx="3035300" cy="9534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37">
                <a:extLst>
                  <a:ext uri="{FF2B5EF4-FFF2-40B4-BE49-F238E27FC236}">
                    <a16:creationId xmlns:a16="http://schemas.microsoft.com/office/drawing/2014/main" id="{BCAD1446-6FAA-582D-0C37-B4AD92073AE6}"/>
                  </a:ext>
                </a:extLst>
              </p:cNvPr>
              <p:cNvSpPr txBox="1"/>
              <p:nvPr/>
            </p:nvSpPr>
            <p:spPr bwMode="auto">
              <a:xfrm>
                <a:off x="3213585" y="5559169"/>
                <a:ext cx="31496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𝑅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𝛼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 ).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37">
                <a:extLst>
                  <a:ext uri="{FF2B5EF4-FFF2-40B4-BE49-F238E27FC236}">
                    <a16:creationId xmlns:a16="http://schemas.microsoft.com/office/drawing/2014/main" id="{BCAD1446-6FAA-582D-0C37-B4AD92073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3585" y="5559169"/>
                <a:ext cx="3149600" cy="469900"/>
              </a:xfrm>
              <a:prstGeom prst="rect">
                <a:avLst/>
              </a:prstGeom>
              <a:blipFill>
                <a:blip r:embed="rId10"/>
                <a:stretch>
                  <a:fillRect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Box 43">
            <a:extLst>
              <a:ext uri="{FF2B5EF4-FFF2-40B4-BE49-F238E27FC236}">
                <a16:creationId xmlns:a16="http://schemas.microsoft.com/office/drawing/2014/main" id="{5A9567C5-9A84-A12C-ACE1-44DDF6194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4265" y="1999952"/>
            <a:ext cx="52931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45">
                <a:extLst>
                  <a:ext uri="{FF2B5EF4-FFF2-40B4-BE49-F238E27FC236}">
                    <a16:creationId xmlns:a16="http://schemas.microsoft.com/office/drawing/2014/main" id="{C54BB1C0-CC0E-F5FA-F6F7-6633FED61A47}"/>
                  </a:ext>
                </a:extLst>
              </p:cNvPr>
              <p:cNvSpPr txBox="1"/>
              <p:nvPr/>
            </p:nvSpPr>
            <p:spPr bwMode="auto">
              <a:xfrm>
                <a:off x="3482427" y="3149029"/>
                <a:ext cx="4148132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𝑅</m:t>
                                </m:r>
                                <m:func>
                                  <m:func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𝑅</m:t>
                                </m:r>
                                <m:func>
                                  <m:func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 (−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𝛼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 )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45">
                <a:extLst>
                  <a:ext uri="{FF2B5EF4-FFF2-40B4-BE49-F238E27FC236}">
                    <a16:creationId xmlns:a16="http://schemas.microsoft.com/office/drawing/2014/main" id="{C54BB1C0-CC0E-F5FA-F6F7-6633FED61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2427" y="3149029"/>
                <a:ext cx="4148132" cy="9017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43">
            <a:extLst>
              <a:ext uri="{FF2B5EF4-FFF2-40B4-BE49-F238E27FC236}">
                <a16:creationId xmlns:a16="http://schemas.microsoft.com/office/drawing/2014/main" id="{07E01C9D-02DE-13FA-6BA5-1A0810312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162" y="1975350"/>
            <a:ext cx="24016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4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建立坐标系如图</a:t>
            </a:r>
            <a:r>
              <a:rPr kumimoji="1" lang="en-US" altLang="zh-CN" sz="24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,</a:t>
            </a:r>
            <a:endParaRPr kumimoji="1" lang="zh-CN" altLang="en-US" sz="22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pic>
        <p:nvPicPr>
          <p:cNvPr id="17" name="图片 16" descr="图示&#10;&#10;描述已自动生成">
            <a:extLst>
              <a:ext uri="{FF2B5EF4-FFF2-40B4-BE49-F238E27FC236}">
                <a16:creationId xmlns:a16="http://schemas.microsoft.com/office/drawing/2014/main" id="{3D02A846-A107-A587-0258-78144BA44692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515" y="1683794"/>
            <a:ext cx="2401617" cy="232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1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/>
      <p:bldP spid="13" grpId="0"/>
      <p:bldP spid="14" grpId="0"/>
      <p:bldP spid="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3B7BEE83-17CC-A485-C79B-5A6B2E20E6AD}"/>
              </a:ext>
            </a:extLst>
          </p:cNvPr>
          <p:cNvSpPr/>
          <p:nvPr/>
        </p:nvSpPr>
        <p:spPr>
          <a:xfrm>
            <a:off x="1078866" y="663574"/>
            <a:ext cx="10033634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半闭框 27">
            <a:extLst>
              <a:ext uri="{FF2B5EF4-FFF2-40B4-BE49-F238E27FC236}">
                <a16:creationId xmlns:a16="http://schemas.microsoft.com/office/drawing/2014/main" id="{51F7D069-5B77-33DD-A025-777ACA11DD7E}"/>
              </a:ext>
            </a:extLst>
          </p:cNvPr>
          <p:cNvSpPr/>
          <p:nvPr/>
        </p:nvSpPr>
        <p:spPr>
          <a:xfrm>
            <a:off x="1078866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半闭框 29">
            <a:extLst>
              <a:ext uri="{FF2B5EF4-FFF2-40B4-BE49-F238E27FC236}">
                <a16:creationId xmlns:a16="http://schemas.microsoft.com/office/drawing/2014/main" id="{C4FBE604-40FE-3BB6-1113-6C69633532CF}"/>
              </a:ext>
            </a:extLst>
          </p:cNvPr>
          <p:cNvSpPr/>
          <p:nvPr/>
        </p:nvSpPr>
        <p:spPr>
          <a:xfrm flipH="1">
            <a:off x="10431354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半闭框 31">
            <a:extLst>
              <a:ext uri="{FF2B5EF4-FFF2-40B4-BE49-F238E27FC236}">
                <a16:creationId xmlns:a16="http://schemas.microsoft.com/office/drawing/2014/main" id="{183ADEDD-7A58-2E9A-C5BB-9B054F120F78}"/>
              </a:ext>
            </a:extLst>
          </p:cNvPr>
          <p:cNvSpPr/>
          <p:nvPr/>
        </p:nvSpPr>
        <p:spPr>
          <a:xfrm flipV="1">
            <a:off x="1078866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半闭框 33">
            <a:extLst>
              <a:ext uri="{FF2B5EF4-FFF2-40B4-BE49-F238E27FC236}">
                <a16:creationId xmlns:a16="http://schemas.microsoft.com/office/drawing/2014/main" id="{DB8FD718-1D2F-2C4A-DBC0-791E41A1C062}"/>
              </a:ext>
            </a:extLst>
          </p:cNvPr>
          <p:cNvSpPr/>
          <p:nvPr/>
        </p:nvSpPr>
        <p:spPr>
          <a:xfrm flipH="1" flipV="1">
            <a:off x="10431354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2F919CA-8A53-574E-FE88-AFD623DB72F0}"/>
              </a:ext>
            </a:extLst>
          </p:cNvPr>
          <p:cNvSpPr txBox="1">
            <a:spLocks noChangeArrowheads="1"/>
          </p:cNvSpPr>
          <p:nvPr/>
        </p:nvSpPr>
        <p:spPr>
          <a:xfrm>
            <a:off x="1758948" y="923017"/>
            <a:ext cx="3156857" cy="50782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计算曲线积分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23F9EB2A-CCD1-6C15-CC54-AAC51F20972B}"/>
                  </a:ext>
                </a:extLst>
              </p:cNvPr>
              <p:cNvSpPr txBox="1"/>
              <p:nvPr/>
            </p:nvSpPr>
            <p:spPr bwMode="auto">
              <a:xfrm>
                <a:off x="4651373" y="681261"/>
                <a:ext cx="3486150" cy="9683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23F9EB2A-CCD1-6C15-CC54-AAC51F209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51373" y="681261"/>
                <a:ext cx="3486150" cy="968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36F35D44-26DE-F98C-44B2-2E576AC0E9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00986" y="882592"/>
                <a:ext cx="2794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𝛤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为螺旋线</a:t>
                </a: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36F35D44-26DE-F98C-44B2-2E576AC0E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00986" y="882592"/>
                <a:ext cx="2794000" cy="523220"/>
              </a:xfrm>
              <a:prstGeom prst="rect">
                <a:avLst/>
              </a:prstGeom>
              <a:blipFill>
                <a:blip r:embed="rId3"/>
                <a:stretch>
                  <a:fillRect l="-4367" t="-16279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7">
            <a:extLst>
              <a:ext uri="{FF2B5EF4-FFF2-40B4-BE49-F238E27FC236}">
                <a16:creationId xmlns:a16="http://schemas.microsoft.com/office/drawing/2014/main" id="{1578C28F-DA0D-D4E8-53E4-614E0787D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3698" y="1569436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的一段弧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D50471F2-1C05-782C-B209-D47CC5E0AA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8948" y="2203023"/>
            <a:ext cx="53495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D62E892F-1FA0-E305-7B5D-5EFBEF643B6F}"/>
                  </a:ext>
                </a:extLst>
              </p:cNvPr>
              <p:cNvSpPr txBox="1"/>
              <p:nvPr/>
            </p:nvSpPr>
            <p:spPr bwMode="auto">
              <a:xfrm>
                <a:off x="2486023" y="2121733"/>
                <a:ext cx="2959100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𝛤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D62E892F-1FA0-E305-7B5D-5EFBEF643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2121733"/>
                <a:ext cx="2959100" cy="723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03BAFAB5-8B5C-6AD4-6B9D-09158F825807}"/>
                  </a:ext>
                </a:extLst>
              </p:cNvPr>
              <p:cNvSpPr txBox="1"/>
              <p:nvPr/>
            </p:nvSpPr>
            <p:spPr bwMode="auto">
              <a:xfrm>
                <a:off x="2486023" y="2781534"/>
                <a:ext cx="50927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𝑘𝑡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Object 11">
                <a:extLst>
                  <a:ext uri="{FF2B5EF4-FFF2-40B4-BE49-F238E27FC236}">
                    <a16:creationId xmlns:a16="http://schemas.microsoft.com/office/drawing/2014/main" id="{03BAFAB5-8B5C-6AD4-6B9D-09158F825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2781534"/>
                <a:ext cx="5092700" cy="825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A04E18C0-8DBB-1DC7-AB6C-E6CA3CACEF60}"/>
                  </a:ext>
                </a:extLst>
              </p:cNvPr>
              <p:cNvSpPr txBox="1"/>
              <p:nvPr/>
            </p:nvSpPr>
            <p:spPr bwMode="auto">
              <a:xfrm>
                <a:off x="2486023" y="3859999"/>
                <a:ext cx="43307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Object 12">
                <a:extLst>
                  <a:ext uri="{FF2B5EF4-FFF2-40B4-BE49-F238E27FC236}">
                    <a16:creationId xmlns:a16="http://schemas.microsoft.com/office/drawing/2014/main" id="{A04E18C0-8DBB-1DC7-AB6C-E6CA3CACE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3859999"/>
                <a:ext cx="4330700" cy="8255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56BEDC2A-C617-7F1E-50D7-D610111F3C19}"/>
                  </a:ext>
                </a:extLst>
              </p:cNvPr>
              <p:cNvSpPr txBox="1"/>
              <p:nvPr/>
            </p:nvSpPr>
            <p:spPr bwMode="auto">
              <a:xfrm>
                <a:off x="2486023" y="4569497"/>
                <a:ext cx="3609978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</m:sSub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Object 13">
                <a:extLst>
                  <a:ext uri="{FF2B5EF4-FFF2-40B4-BE49-F238E27FC236}">
                    <a16:creationId xmlns:a16="http://schemas.microsoft.com/office/drawing/2014/main" id="{56BEDC2A-C617-7F1E-50D7-D610111F3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4569497"/>
                <a:ext cx="3609978" cy="101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4">
                <a:extLst>
                  <a:ext uri="{FF2B5EF4-FFF2-40B4-BE49-F238E27FC236}">
                    <a16:creationId xmlns:a16="http://schemas.microsoft.com/office/drawing/2014/main" id="{19C06404-7FAE-564C-F86B-DD15B886CD8E}"/>
                  </a:ext>
                </a:extLst>
              </p:cNvPr>
              <p:cNvSpPr txBox="1"/>
              <p:nvPr/>
            </p:nvSpPr>
            <p:spPr bwMode="auto">
              <a:xfrm>
                <a:off x="2486023" y="5437651"/>
                <a:ext cx="4264025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(3​​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Object 14">
                <a:extLst>
                  <a:ext uri="{FF2B5EF4-FFF2-40B4-BE49-F238E27FC236}">
                    <a16:creationId xmlns:a16="http://schemas.microsoft.com/office/drawing/2014/main" id="{19C06404-7FAE-564C-F86B-DD15B886C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6023" y="5437651"/>
                <a:ext cx="4264025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5">
                <a:extLst>
                  <a:ext uri="{FF2B5EF4-FFF2-40B4-BE49-F238E27FC236}">
                    <a16:creationId xmlns:a16="http://schemas.microsoft.com/office/drawing/2014/main" id="{509445CB-DDA1-4816-1770-FC4E2DCFD157}"/>
                  </a:ext>
                </a:extLst>
              </p:cNvPr>
              <p:cNvSpPr txBox="1"/>
              <p:nvPr/>
            </p:nvSpPr>
            <p:spPr bwMode="auto">
              <a:xfrm>
                <a:off x="3965573" y="3354478"/>
                <a:ext cx="4724400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func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Object 15">
                <a:extLst>
                  <a:ext uri="{FF2B5EF4-FFF2-40B4-BE49-F238E27FC236}">
                    <a16:creationId xmlns:a16="http://schemas.microsoft.com/office/drawing/2014/main" id="{509445CB-DDA1-4816-1770-FC4E2DCFD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5573" y="3354478"/>
                <a:ext cx="4724400" cy="558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8C04D705-2670-AA40-586B-55F2192CA30F}"/>
                  </a:ext>
                </a:extLst>
              </p:cNvPr>
              <p:cNvSpPr txBox="1"/>
              <p:nvPr/>
            </p:nvSpPr>
            <p:spPr bwMode="auto">
              <a:xfrm>
                <a:off x="2549523" y="1568642"/>
                <a:ext cx="7162800" cy="558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func>
                        <m:func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sin</m:t>
                          </m:r>
                        </m:fName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𝑡</m:t>
                          </m:r>
                        </m:e>
                      </m:fun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𝑘𝑡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 (0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</a:rPr>
                        <m:t>≤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m:rPr>
                          <m:sty m:val="p"/>
                        </m:rPr>
                        <a:rPr kumimoji="1" lang="zh-CN" altLang="en-US" sz="28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8C04D705-2670-AA40-586B-55F2192CA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9523" y="1568642"/>
                <a:ext cx="7162800" cy="5588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0486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5778C913-D03E-9BE4-EB5F-8CC2F7D89E38}"/>
              </a:ext>
            </a:extLst>
          </p:cNvPr>
          <p:cNvSpPr/>
          <p:nvPr/>
        </p:nvSpPr>
        <p:spPr>
          <a:xfrm>
            <a:off x="1078866" y="663574"/>
            <a:ext cx="10033634" cy="5532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半闭框 65">
            <a:extLst>
              <a:ext uri="{FF2B5EF4-FFF2-40B4-BE49-F238E27FC236}">
                <a16:creationId xmlns:a16="http://schemas.microsoft.com/office/drawing/2014/main" id="{CC1C3FE5-1C15-F310-38F6-7C6ED119EFCB}"/>
              </a:ext>
            </a:extLst>
          </p:cNvPr>
          <p:cNvSpPr/>
          <p:nvPr/>
        </p:nvSpPr>
        <p:spPr>
          <a:xfrm>
            <a:off x="1078866" y="661529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8" name="半闭框 67">
            <a:extLst>
              <a:ext uri="{FF2B5EF4-FFF2-40B4-BE49-F238E27FC236}">
                <a16:creationId xmlns:a16="http://schemas.microsoft.com/office/drawing/2014/main" id="{E0E24CBD-E7C3-5D68-CBC4-AAB3BD5C31D0}"/>
              </a:ext>
            </a:extLst>
          </p:cNvPr>
          <p:cNvSpPr/>
          <p:nvPr/>
        </p:nvSpPr>
        <p:spPr>
          <a:xfrm flipH="1">
            <a:off x="10431354" y="660915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0" name="半闭框 69">
            <a:extLst>
              <a:ext uri="{FF2B5EF4-FFF2-40B4-BE49-F238E27FC236}">
                <a16:creationId xmlns:a16="http://schemas.microsoft.com/office/drawing/2014/main" id="{219F0166-ACEA-844B-647F-1C23D1F59B82}"/>
              </a:ext>
            </a:extLst>
          </p:cNvPr>
          <p:cNvSpPr/>
          <p:nvPr/>
        </p:nvSpPr>
        <p:spPr>
          <a:xfrm flipV="1">
            <a:off x="1078866" y="55229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2" name="半闭框 71">
            <a:extLst>
              <a:ext uri="{FF2B5EF4-FFF2-40B4-BE49-F238E27FC236}">
                <a16:creationId xmlns:a16="http://schemas.microsoft.com/office/drawing/2014/main" id="{AF27C4E4-AEA0-7135-A8F8-DECD0C631008}"/>
              </a:ext>
            </a:extLst>
          </p:cNvPr>
          <p:cNvSpPr/>
          <p:nvPr/>
        </p:nvSpPr>
        <p:spPr>
          <a:xfrm flipH="1" flipV="1">
            <a:off x="10431354" y="55030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Group 32">
            <a:extLst>
              <a:ext uri="{FF2B5EF4-FFF2-40B4-BE49-F238E27FC236}">
                <a16:creationId xmlns:a16="http://schemas.microsoft.com/office/drawing/2014/main" id="{5460B7F2-8132-C402-C049-1DEDFA737991}"/>
              </a:ext>
            </a:extLst>
          </p:cNvPr>
          <p:cNvGrpSpPr>
            <a:grpSpLocks/>
          </p:cNvGrpSpPr>
          <p:nvPr/>
        </p:nvGrpSpPr>
        <p:grpSpPr bwMode="auto">
          <a:xfrm>
            <a:off x="7986083" y="2153131"/>
            <a:ext cx="2371725" cy="1528763"/>
            <a:chOff x="4052" y="1236"/>
            <a:chExt cx="1494" cy="963"/>
          </a:xfrm>
        </p:grpSpPr>
        <p:sp>
          <p:nvSpPr>
            <p:cNvPr id="3" name="Line 4">
              <a:extLst>
                <a:ext uri="{FF2B5EF4-FFF2-40B4-BE49-F238E27FC236}">
                  <a16:creationId xmlns:a16="http://schemas.microsoft.com/office/drawing/2014/main" id="{1B069C9F-EF37-D1C6-FAD3-C02D7BD1E6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4" y="2054"/>
              <a:ext cx="12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D391713E-95C7-5CB4-40A0-77DE3E8EBA52}"/>
                    </a:ext>
                  </a:extLst>
                </p:cNvPr>
                <p:cNvSpPr txBox="1"/>
                <p:nvPr/>
              </p:nvSpPr>
              <p:spPr bwMode="auto">
                <a:xfrm>
                  <a:off x="5386" y="2047"/>
                  <a:ext cx="160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4" name="Object 5">
                  <a:extLst>
                    <a:ext uri="{FF2B5EF4-FFF2-40B4-BE49-F238E27FC236}">
                      <a16:creationId xmlns:a16="http://schemas.microsoft.com/office/drawing/2014/main" id="{D391713E-95C7-5CB4-40A0-77DE3E8EBA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86" y="2047"/>
                  <a:ext cx="160" cy="152"/>
                </a:xfrm>
                <a:prstGeom prst="rect">
                  <a:avLst/>
                </a:prstGeom>
                <a:blipFill>
                  <a:blip r:embed="rId2"/>
                  <a:stretch>
                    <a:fillRect b="-1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Line 6">
              <a:extLst>
                <a:ext uri="{FF2B5EF4-FFF2-40B4-BE49-F238E27FC236}">
                  <a16:creationId xmlns:a16="http://schemas.microsoft.com/office/drawing/2014/main" id="{4BF00640-46D6-3D51-9908-E388C21677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1296"/>
              <a:ext cx="0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bject 7">
                  <a:extLst>
                    <a:ext uri="{FF2B5EF4-FFF2-40B4-BE49-F238E27FC236}">
                      <a16:creationId xmlns:a16="http://schemas.microsoft.com/office/drawing/2014/main" id="{76B6C636-16F0-F568-AB82-5CABDB350F3F}"/>
                    </a:ext>
                  </a:extLst>
                </p:cNvPr>
                <p:cNvSpPr txBox="1"/>
                <p:nvPr/>
              </p:nvSpPr>
              <p:spPr bwMode="auto">
                <a:xfrm>
                  <a:off x="4052" y="1236"/>
                  <a:ext cx="160" cy="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6" name="Object 7">
                  <a:extLst>
                    <a:ext uri="{FF2B5EF4-FFF2-40B4-BE49-F238E27FC236}">
                      <a16:creationId xmlns:a16="http://schemas.microsoft.com/office/drawing/2014/main" id="{76B6C636-16F0-F568-AB82-5CABDB350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52" y="1236"/>
                  <a:ext cx="160" cy="2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bject 8">
                  <a:extLst>
                    <a:ext uri="{FF2B5EF4-FFF2-40B4-BE49-F238E27FC236}">
                      <a16:creationId xmlns:a16="http://schemas.microsoft.com/office/drawing/2014/main" id="{D333FEA0-A7E3-2527-5131-7637B8719467}"/>
                    </a:ext>
                  </a:extLst>
                </p:cNvPr>
                <p:cNvSpPr txBox="1"/>
                <p:nvPr/>
              </p:nvSpPr>
              <p:spPr bwMode="auto">
                <a:xfrm>
                  <a:off x="4076" y="2010"/>
                  <a:ext cx="136" cy="1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" name="Object 8">
                  <a:extLst>
                    <a:ext uri="{FF2B5EF4-FFF2-40B4-BE49-F238E27FC236}">
                      <a16:creationId xmlns:a16="http://schemas.microsoft.com/office/drawing/2014/main" id="{D333FEA0-A7E3-2527-5131-7637B8719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76" y="2010"/>
                  <a:ext cx="136" cy="152"/>
                </a:xfrm>
                <a:prstGeom prst="rect">
                  <a:avLst/>
                </a:prstGeom>
                <a:blipFill>
                  <a:blip r:embed="rId4"/>
                  <a:stretch>
                    <a:fillRect r="-36111" b="-2820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21">
            <a:extLst>
              <a:ext uri="{FF2B5EF4-FFF2-40B4-BE49-F238E27FC236}">
                <a16:creationId xmlns:a16="http://schemas.microsoft.com/office/drawing/2014/main" id="{C2277959-F169-33E8-048D-2B235B4AD2F3}"/>
              </a:ext>
            </a:extLst>
          </p:cNvPr>
          <p:cNvGrpSpPr>
            <a:grpSpLocks/>
          </p:cNvGrpSpPr>
          <p:nvPr/>
        </p:nvGrpSpPr>
        <p:grpSpPr bwMode="auto">
          <a:xfrm>
            <a:off x="8341685" y="3075191"/>
            <a:ext cx="700089" cy="568325"/>
            <a:chOff x="552" y="3334"/>
            <a:chExt cx="441" cy="358"/>
          </a:xfrm>
        </p:grpSpPr>
        <p:sp>
          <p:nvSpPr>
            <p:cNvPr id="9" name="Arc 22">
              <a:extLst>
                <a:ext uri="{FF2B5EF4-FFF2-40B4-BE49-F238E27FC236}">
                  <a16:creationId xmlns:a16="http://schemas.microsoft.com/office/drawing/2014/main" id="{060793B8-FFB9-06D9-33D3-540D25A8E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3423"/>
              <a:ext cx="195" cy="141"/>
            </a:xfrm>
            <a:custGeom>
              <a:avLst/>
              <a:gdLst>
                <a:gd name="G0" fmla="+- 0 0 0"/>
                <a:gd name="G1" fmla="+- 15411 0 0"/>
                <a:gd name="G2" fmla="+- 21600 0 0"/>
                <a:gd name="T0" fmla="*/ 15135 w 21600"/>
                <a:gd name="T1" fmla="*/ 0 h 15411"/>
                <a:gd name="T2" fmla="*/ 21600 w 21600"/>
                <a:gd name="T3" fmla="*/ 15411 h 15411"/>
                <a:gd name="T4" fmla="*/ 0 w 21600"/>
                <a:gd name="T5" fmla="*/ 15411 h 15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411" fill="none" extrusionOk="0">
                  <a:moveTo>
                    <a:pt x="15134" y="0"/>
                  </a:moveTo>
                  <a:cubicBezTo>
                    <a:pt x="19270" y="4061"/>
                    <a:pt x="21600" y="9614"/>
                    <a:pt x="21600" y="15411"/>
                  </a:cubicBezTo>
                </a:path>
                <a:path w="21600" h="15411" stroke="0" extrusionOk="0">
                  <a:moveTo>
                    <a:pt x="15134" y="0"/>
                  </a:moveTo>
                  <a:cubicBezTo>
                    <a:pt x="19270" y="4061"/>
                    <a:pt x="21600" y="9614"/>
                    <a:pt x="21600" y="15411"/>
                  </a:cubicBezTo>
                  <a:lnTo>
                    <a:pt x="0" y="15411"/>
                  </a:lnTo>
                  <a:close/>
                </a:path>
              </a:pathLst>
            </a:custGeom>
            <a:noFill/>
            <a:ln w="19050">
              <a:solidFill>
                <a:srgbClr val="04926A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23">
                  <a:extLst>
                    <a:ext uri="{FF2B5EF4-FFF2-40B4-BE49-F238E27FC236}">
                      <a16:creationId xmlns:a16="http://schemas.microsoft.com/office/drawing/2014/main" id="{EC503982-CBD1-17DE-FD22-002E0B56A29D}"/>
                    </a:ext>
                  </a:extLst>
                </p:cNvPr>
                <p:cNvSpPr txBox="1"/>
                <p:nvPr/>
              </p:nvSpPr>
              <p:spPr bwMode="auto">
                <a:xfrm>
                  <a:off x="698" y="3334"/>
                  <a:ext cx="295" cy="3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kumimoji="1" lang="zh-CN" altLang="en-US" sz="16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zh-CN" altLang="en-US" sz="16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π</m:t>
                            </m:r>
                          </m:num>
                          <m:den>
                            <m:r>
                              <a:rPr kumimoji="1" lang="zh-CN" altLang="en-US" sz="16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Object 23">
                  <a:extLst>
                    <a:ext uri="{FF2B5EF4-FFF2-40B4-BE49-F238E27FC236}">
                      <a16:creationId xmlns:a16="http://schemas.microsoft.com/office/drawing/2014/main" id="{EC503982-CBD1-17DE-FD22-002E0B56A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" y="3334"/>
                  <a:ext cx="295" cy="358"/>
                </a:xfrm>
                <a:prstGeom prst="rect">
                  <a:avLst/>
                </a:prstGeom>
                <a:blipFill>
                  <a:blip r:embed="rId5"/>
                  <a:stretch>
                    <a:fillRect l="-54545" t="-81915" r="-100000" b="-9468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Arc 9">
            <a:extLst>
              <a:ext uri="{FF2B5EF4-FFF2-40B4-BE49-F238E27FC236}">
                <a16:creationId xmlns:a16="http://schemas.microsoft.com/office/drawing/2014/main" id="{2E4F12A0-C15B-A9B5-3363-7903BA5DD3A4}"/>
              </a:ext>
            </a:extLst>
          </p:cNvPr>
          <p:cNvSpPr>
            <a:spLocks/>
          </p:cNvSpPr>
          <p:nvPr/>
        </p:nvSpPr>
        <p:spPr bwMode="auto">
          <a:xfrm>
            <a:off x="8290884" y="2345219"/>
            <a:ext cx="1554163" cy="1108075"/>
          </a:xfrm>
          <a:custGeom>
            <a:avLst/>
            <a:gdLst>
              <a:gd name="G0" fmla="+- 0 0 0"/>
              <a:gd name="G1" fmla="+- 15411 0 0"/>
              <a:gd name="G2" fmla="+- 21600 0 0"/>
              <a:gd name="T0" fmla="*/ 15135 w 21600"/>
              <a:gd name="T1" fmla="*/ 0 h 15411"/>
              <a:gd name="T2" fmla="*/ 21600 w 21600"/>
              <a:gd name="T3" fmla="*/ 15411 h 15411"/>
              <a:gd name="T4" fmla="*/ 0 w 21600"/>
              <a:gd name="T5" fmla="*/ 15411 h 15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5411" fill="none" extrusionOk="0">
                <a:moveTo>
                  <a:pt x="15134" y="0"/>
                </a:moveTo>
                <a:cubicBezTo>
                  <a:pt x="19270" y="4061"/>
                  <a:pt x="21600" y="9614"/>
                  <a:pt x="21600" y="15411"/>
                </a:cubicBezTo>
              </a:path>
              <a:path w="21600" h="15411" stroke="0" extrusionOk="0">
                <a:moveTo>
                  <a:pt x="15134" y="0"/>
                </a:moveTo>
                <a:cubicBezTo>
                  <a:pt x="19270" y="4061"/>
                  <a:pt x="21600" y="9614"/>
                  <a:pt x="21600" y="15411"/>
                </a:cubicBezTo>
                <a:lnTo>
                  <a:pt x="0" y="15411"/>
                </a:lnTo>
                <a:close/>
              </a:path>
            </a:pathLst>
          </a:custGeom>
          <a:noFill/>
          <a:ln w="28575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1">
                <a:extLst>
                  <a:ext uri="{FF2B5EF4-FFF2-40B4-BE49-F238E27FC236}">
                    <a16:creationId xmlns:a16="http://schemas.microsoft.com/office/drawing/2014/main" id="{5CA83DBE-2E63-677C-3D9D-870EFDAFF1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15730" y="981969"/>
                <a:ext cx="481949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  </a:t>
                </a: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𝐿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是由极坐标系下曲线</a:t>
                </a:r>
              </a:p>
            </p:txBody>
          </p:sp>
        </mc:Choice>
        <mc:Fallback xmlns="">
          <p:sp>
            <p:nvSpPr>
              <p:cNvPr id="12" name="Text Box 11">
                <a:extLst>
                  <a:ext uri="{FF2B5EF4-FFF2-40B4-BE49-F238E27FC236}">
                    <a16:creationId xmlns:a16="http://schemas.microsoft.com/office/drawing/2014/main" id="{5CA83DBE-2E63-677C-3D9D-870EFDAFF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15730" y="981969"/>
                <a:ext cx="4819494" cy="523220"/>
              </a:xfrm>
              <a:prstGeom prst="rect">
                <a:avLst/>
              </a:prstGeom>
              <a:blipFill>
                <a:blip r:embed="rId6"/>
                <a:stretch>
                  <a:fillRect l="-2658" t="-15116" r="-127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3B583BF9-4293-810C-97C6-97501159F64E}"/>
                  </a:ext>
                </a:extLst>
              </p:cNvPr>
              <p:cNvSpPr txBox="1"/>
              <p:nvPr/>
            </p:nvSpPr>
            <p:spPr bwMode="auto">
              <a:xfrm>
                <a:off x="6406624" y="966228"/>
                <a:ext cx="110490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𝑟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3B583BF9-4293-810C-97C6-97501159F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6624" y="966228"/>
                <a:ext cx="1104900" cy="5191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86E6B3E5-50E8-217A-54F8-2EFFC0346504}"/>
                  </a:ext>
                </a:extLst>
              </p:cNvPr>
              <p:cNvSpPr txBox="1"/>
              <p:nvPr/>
            </p:nvSpPr>
            <p:spPr bwMode="auto">
              <a:xfrm>
                <a:off x="7416644" y="966228"/>
                <a:ext cx="1101724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86E6B3E5-50E8-217A-54F8-2EFFC0346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16644" y="966228"/>
                <a:ext cx="1101724" cy="5191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Box 14">
            <a:extLst>
              <a:ext uri="{FF2B5EF4-FFF2-40B4-BE49-F238E27FC236}">
                <a16:creationId xmlns:a16="http://schemas.microsoft.com/office/drawing/2014/main" id="{9C0A4051-AE3B-761C-CA51-9EEF0CE27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1411" y="966228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及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EBB50EF5-80CB-4A1F-F557-4E1DCB8317BB}"/>
                  </a:ext>
                </a:extLst>
              </p:cNvPr>
              <p:cNvSpPr txBox="1"/>
              <p:nvPr/>
            </p:nvSpPr>
            <p:spPr bwMode="auto">
              <a:xfrm>
                <a:off x="8703472" y="966228"/>
                <a:ext cx="2133600" cy="622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π</m:t>
                          </m:r>
                        </m:num>
                        <m:den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5">
                <a:extLst>
                  <a:ext uri="{FF2B5EF4-FFF2-40B4-BE49-F238E27FC236}">
                    <a16:creationId xmlns:a16="http://schemas.microsoft.com/office/drawing/2014/main" id="{EBB50EF5-80CB-4A1F-F557-4E1DCB831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03472" y="966228"/>
                <a:ext cx="2133600" cy="6223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16">
            <a:extLst>
              <a:ext uri="{FF2B5EF4-FFF2-40B4-BE49-F238E27FC236}">
                <a16:creationId xmlns:a16="http://schemas.microsoft.com/office/drawing/2014/main" id="{D66C4028-D2FF-D54A-6080-F9C393C90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1642" y="1634018"/>
            <a:ext cx="365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所围区域的边界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,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EFF3F82E-9F66-294A-52AC-2F6588D6A17E}"/>
                  </a:ext>
                </a:extLst>
              </p:cNvPr>
              <p:cNvSpPr txBox="1"/>
              <p:nvPr/>
            </p:nvSpPr>
            <p:spPr bwMode="auto">
              <a:xfrm>
                <a:off x="2876049" y="2394601"/>
                <a:ext cx="3276600" cy="9572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𝐼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ad>
                                <m:radPr>
                                  <m:degHide m:val="on"/>
                                  <m:ctrlPr>
                                    <a:rPr kumimoji="1" lang="zh-CN" altLang="en-US" sz="28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kumimoji="1" lang="zh-CN" altLang="en-US" sz="28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kumimoji="1" lang="zh-CN" altLang="en-US" sz="28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zh-CN" altLang="en-US" sz="28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kumimoji="1" lang="zh-CN" altLang="en-US" sz="28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sup>
                          </m:sSup>
                          <m:r>
                            <m:rPr>
                              <m:sty m:val="p"/>
                            </m:rP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Object 17">
                <a:extLst>
                  <a:ext uri="{FF2B5EF4-FFF2-40B4-BE49-F238E27FC236}">
                    <a16:creationId xmlns:a16="http://schemas.microsoft.com/office/drawing/2014/main" id="{EFF3F82E-9F66-294A-52AC-2F6588D6A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6049" y="2394601"/>
                <a:ext cx="3276600" cy="9572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8">
                <a:extLst>
                  <a:ext uri="{FF2B5EF4-FFF2-40B4-BE49-F238E27FC236}">
                    <a16:creationId xmlns:a16="http://schemas.microsoft.com/office/drawing/2014/main" id="{C412B3AB-13B2-EA26-9A3E-0ACF29E27C3C}"/>
                  </a:ext>
                </a:extLst>
              </p:cNvPr>
              <p:cNvSpPr txBox="1"/>
              <p:nvPr/>
            </p:nvSpPr>
            <p:spPr bwMode="auto">
              <a:xfrm>
                <a:off x="3067050" y="5196095"/>
                <a:ext cx="2628900" cy="7510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 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π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4</m:t>
                              </m:r>
                            </m:den>
                          </m:f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+2</m:t>
                          </m:r>
                        </m:e>
                      </m:d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e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−2.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8">
                <a:extLst>
                  <a:ext uri="{FF2B5EF4-FFF2-40B4-BE49-F238E27FC236}">
                    <a16:creationId xmlns:a16="http://schemas.microsoft.com/office/drawing/2014/main" id="{C412B3AB-13B2-EA26-9A3E-0ACF29E27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7050" y="5196095"/>
                <a:ext cx="2628900" cy="75105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ine 19">
            <a:extLst>
              <a:ext uri="{FF2B5EF4-FFF2-40B4-BE49-F238E27FC236}">
                <a16:creationId xmlns:a16="http://schemas.microsoft.com/office/drawing/2014/main" id="{A876768E-0891-575E-7850-097DB8832F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90884" y="2353156"/>
            <a:ext cx="1101725" cy="1101725"/>
          </a:xfrm>
          <a:prstGeom prst="line">
            <a:avLst/>
          </a:prstGeom>
          <a:noFill/>
          <a:ln w="28575">
            <a:solidFill>
              <a:srgbClr val="4A7BA8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D3B99108-8FCA-8497-B4EE-5C68AA5CE6FE}"/>
                  </a:ext>
                </a:extLst>
              </p:cNvPr>
              <p:cNvSpPr txBox="1"/>
              <p:nvPr/>
            </p:nvSpPr>
            <p:spPr bwMode="auto">
              <a:xfrm>
                <a:off x="9695028" y="3440316"/>
                <a:ext cx="317500" cy="2714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1" name="Object 20">
                <a:extLst>
                  <a:ext uri="{FF2B5EF4-FFF2-40B4-BE49-F238E27FC236}">
                    <a16:creationId xmlns:a16="http://schemas.microsoft.com/office/drawing/2014/main" id="{D3B99108-8FCA-8497-B4EE-5C68AA5C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95028" y="3440316"/>
                <a:ext cx="317500" cy="271459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Line 24">
            <a:extLst>
              <a:ext uri="{FF2B5EF4-FFF2-40B4-BE49-F238E27FC236}">
                <a16:creationId xmlns:a16="http://schemas.microsoft.com/office/drawing/2014/main" id="{345CD505-237D-5AB1-7E73-D22576AB3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0883" y="3440316"/>
            <a:ext cx="1544638" cy="0"/>
          </a:xfrm>
          <a:prstGeom prst="line">
            <a:avLst/>
          </a:prstGeom>
          <a:noFill/>
          <a:ln w="28575">
            <a:solidFill>
              <a:srgbClr val="A9D18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27014B3A-FFD8-DF74-DAF6-146F07C83E0F}"/>
                  </a:ext>
                </a:extLst>
              </p:cNvPr>
              <p:cNvSpPr txBox="1"/>
              <p:nvPr/>
            </p:nvSpPr>
            <p:spPr bwMode="auto">
              <a:xfrm>
                <a:off x="8427407" y="2440567"/>
                <a:ext cx="8128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3" name="Object 25">
                <a:extLst>
                  <a:ext uri="{FF2B5EF4-FFF2-40B4-BE49-F238E27FC236}">
                    <a16:creationId xmlns:a16="http://schemas.microsoft.com/office/drawing/2014/main" id="{27014B3A-FFD8-DF74-DAF6-146F07C83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27407" y="2440567"/>
                <a:ext cx="812800" cy="317500"/>
              </a:xfrm>
              <a:prstGeom prst="rect">
                <a:avLst/>
              </a:prstGeom>
              <a:blipFill>
                <a:blip r:embed="rId13"/>
                <a:stretch>
                  <a:fillRect b="-115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6">
                <a:extLst>
                  <a:ext uri="{FF2B5EF4-FFF2-40B4-BE49-F238E27FC236}">
                    <a16:creationId xmlns:a16="http://schemas.microsoft.com/office/drawing/2014/main" id="{18ED76FF-FAF2-A0AA-60E4-2C1798E0C0CA}"/>
                  </a:ext>
                </a:extLst>
              </p:cNvPr>
              <p:cNvSpPr txBox="1"/>
              <p:nvPr/>
            </p:nvSpPr>
            <p:spPr bwMode="auto">
              <a:xfrm>
                <a:off x="8648074" y="3424540"/>
                <a:ext cx="787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4" name="Object 26">
                <a:extLst>
                  <a:ext uri="{FF2B5EF4-FFF2-40B4-BE49-F238E27FC236}">
                    <a16:creationId xmlns:a16="http://schemas.microsoft.com/office/drawing/2014/main" id="{18ED76FF-FAF2-A0AA-60E4-2C1798E0C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48074" y="3424540"/>
                <a:ext cx="787400" cy="3937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27">
                <a:extLst>
                  <a:ext uri="{FF2B5EF4-FFF2-40B4-BE49-F238E27FC236}">
                    <a16:creationId xmlns:a16="http://schemas.microsoft.com/office/drawing/2014/main" id="{359EE2A5-6BC5-9B65-B24A-E8ED80D63262}"/>
                  </a:ext>
                </a:extLst>
              </p:cNvPr>
              <p:cNvSpPr txBox="1"/>
              <p:nvPr/>
            </p:nvSpPr>
            <p:spPr bwMode="auto">
              <a:xfrm>
                <a:off x="9695028" y="2525123"/>
                <a:ext cx="762000" cy="241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Object 27">
                <a:extLst>
                  <a:ext uri="{FF2B5EF4-FFF2-40B4-BE49-F238E27FC236}">
                    <a16:creationId xmlns:a16="http://schemas.microsoft.com/office/drawing/2014/main" id="{359EE2A5-6BC5-9B65-B24A-E8ED80D63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95028" y="2525123"/>
                <a:ext cx="762000" cy="241300"/>
              </a:xfrm>
              <a:prstGeom prst="rect">
                <a:avLst/>
              </a:prstGeom>
              <a:blipFill>
                <a:blip r:embed="rId15"/>
                <a:stretch>
                  <a:fillRect b="-175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 Box 28">
            <a:extLst>
              <a:ext uri="{FF2B5EF4-FFF2-40B4-BE49-F238E27FC236}">
                <a16:creationId xmlns:a16="http://schemas.microsoft.com/office/drawing/2014/main" id="{5B7FDDBD-5C9F-ABF9-FF63-019AB8196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470" y="3550422"/>
            <a:ext cx="5842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kumimoji="1" lang="zh-CN" altLang="en-US" sz="2800" dirty="0">
              <a:latin typeface="Cambria Math" panose="020405030504060302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29">
                <a:extLst>
                  <a:ext uri="{FF2B5EF4-FFF2-40B4-BE49-F238E27FC236}">
                    <a16:creationId xmlns:a16="http://schemas.microsoft.com/office/drawing/2014/main" id="{AF17FE8F-3920-4150-2E6F-840744F4253F}"/>
                  </a:ext>
                </a:extLst>
              </p:cNvPr>
              <p:cNvSpPr txBox="1"/>
              <p:nvPr/>
            </p:nvSpPr>
            <p:spPr bwMode="auto">
              <a:xfrm>
                <a:off x="2878138" y="4190185"/>
                <a:ext cx="1866900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𝐼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29">
                <a:extLst>
                  <a:ext uri="{FF2B5EF4-FFF2-40B4-BE49-F238E27FC236}">
                    <a16:creationId xmlns:a16="http://schemas.microsoft.com/office/drawing/2014/main" id="{AF17FE8F-3920-4150-2E6F-840744F42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8138" y="4190185"/>
                <a:ext cx="1866900" cy="8255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30">
                <a:extLst>
                  <a:ext uri="{FF2B5EF4-FFF2-40B4-BE49-F238E27FC236}">
                    <a16:creationId xmlns:a16="http://schemas.microsoft.com/office/drawing/2014/main" id="{1FD89129-05E0-F5AC-6C53-F8F946FC65A4}"/>
                  </a:ext>
                </a:extLst>
              </p:cNvPr>
              <p:cNvSpPr txBox="1"/>
              <p:nvPr/>
            </p:nvSpPr>
            <p:spPr bwMode="auto">
              <a:xfrm>
                <a:off x="4406900" y="4069535"/>
                <a:ext cx="18161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π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4</m:t>
                              </m:r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</m:t>
                              </m:r>
                            </m:sup>
                          </m:sSup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30">
                <a:extLst>
                  <a:ext uri="{FF2B5EF4-FFF2-40B4-BE49-F238E27FC236}">
                    <a16:creationId xmlns:a16="http://schemas.microsoft.com/office/drawing/2014/main" id="{1FD89129-05E0-F5AC-6C53-F8F946FC6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06900" y="4069535"/>
                <a:ext cx="1816100" cy="876300"/>
              </a:xfrm>
              <a:prstGeom prst="rect">
                <a:avLst/>
              </a:prstGeom>
              <a:blipFill>
                <a:blip r:embed="rId17"/>
                <a:stretch>
                  <a:fillRect b="-13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31">
                <a:extLst>
                  <a:ext uri="{FF2B5EF4-FFF2-40B4-BE49-F238E27FC236}">
                    <a16:creationId xmlns:a16="http://schemas.microsoft.com/office/drawing/2014/main" id="{CB736D49-149E-A23C-B77D-E9F8CD3130ED}"/>
                  </a:ext>
                </a:extLst>
              </p:cNvPr>
              <p:cNvSpPr txBox="1"/>
              <p:nvPr/>
            </p:nvSpPr>
            <p:spPr bwMode="auto">
              <a:xfrm>
                <a:off x="5946036" y="4069535"/>
                <a:ext cx="2679700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nary>
                        <m:nary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e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</m:rad>
                            </m:sup>
                          </m:sSup>
                        </m:e>
                      </m:nary>
                      <m:rad>
                        <m:radPr>
                          <m:deg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e>
                      </m:rad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31">
                <a:extLst>
                  <a:ext uri="{FF2B5EF4-FFF2-40B4-BE49-F238E27FC236}">
                    <a16:creationId xmlns:a16="http://schemas.microsoft.com/office/drawing/2014/main" id="{CB736D49-149E-A23C-B77D-E9F8CD313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6036" y="4069535"/>
                <a:ext cx="2679700" cy="876300"/>
              </a:xfrm>
              <a:prstGeom prst="rect">
                <a:avLst/>
              </a:prstGeom>
              <a:blipFill>
                <a:blip r:embed="rId18"/>
                <a:stretch>
                  <a:fillRect b="-13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 Box 28">
            <a:extLst>
              <a:ext uri="{FF2B5EF4-FFF2-40B4-BE49-F238E27FC236}">
                <a16:creationId xmlns:a16="http://schemas.microsoft.com/office/drawing/2014/main" id="{4B4B676E-77F7-3984-0B97-665F26E37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801" y="3618913"/>
            <a:ext cx="16224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分段积分</a:t>
            </a:r>
          </a:p>
        </p:txBody>
      </p:sp>
    </p:spTree>
    <p:extLst>
      <p:ext uri="{BB962C8B-B14F-4D97-AF65-F5344CB8AC3E}">
        <p14:creationId xmlns:p14="http://schemas.microsoft.com/office/powerpoint/2010/main" val="280141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  <p:bldP spid="21" grpId="0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6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AF5CE86-5132-D1FD-F6E4-AB0C4D20F8C9}"/>
              </a:ext>
            </a:extLst>
          </p:cNvPr>
          <p:cNvSpPr txBox="1">
            <a:spLocks noChangeArrowheads="1"/>
          </p:cNvSpPr>
          <p:nvPr/>
        </p:nvSpPr>
        <p:spPr>
          <a:xfrm>
            <a:off x="1343025" y="690714"/>
            <a:ext cx="4429125" cy="60411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四、几何与</a:t>
            </a:r>
            <a:r>
              <a:rPr lang="zh-CN" altLang="zh-CN" sz="3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物理意义</a:t>
            </a:r>
            <a:endParaRPr lang="zh-CN" altLang="en-US" sz="3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E15FE05A-32CE-EBE8-CC6E-678A7E71567A}"/>
                  </a:ext>
                </a:extLst>
              </p:cNvPr>
              <p:cNvSpPr txBox="1"/>
              <p:nvPr/>
            </p:nvSpPr>
            <p:spPr bwMode="auto">
              <a:xfrm>
                <a:off x="2061878" y="1294829"/>
                <a:ext cx="5627688" cy="6246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(1)  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𝜌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表示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的线密度时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, 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E15FE05A-32CE-EBE8-CC6E-678A7E715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878" y="1294829"/>
                <a:ext cx="5627688" cy="6246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940E19FE-87B4-83F5-C1CC-E53F489780A7}"/>
                  </a:ext>
                </a:extLst>
              </p:cNvPr>
              <p:cNvSpPr txBox="1"/>
              <p:nvPr/>
            </p:nvSpPr>
            <p:spPr bwMode="auto">
              <a:xfrm>
                <a:off x="3240645" y="1919439"/>
                <a:ext cx="3270154" cy="9652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𝜌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5">
                <a:extLst>
                  <a:ext uri="{FF2B5EF4-FFF2-40B4-BE49-F238E27FC236}">
                    <a16:creationId xmlns:a16="http://schemas.microsoft.com/office/drawing/2014/main" id="{940E19FE-87B4-83F5-C1CC-E53F48978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0645" y="1919439"/>
                <a:ext cx="3270154" cy="9652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9B606E35-6B5D-C6BB-B0B2-750108AFA225}"/>
                  </a:ext>
                </a:extLst>
              </p:cNvPr>
              <p:cNvSpPr txBox="1"/>
              <p:nvPr/>
            </p:nvSpPr>
            <p:spPr bwMode="auto">
              <a:xfrm>
                <a:off x="2061878" y="2760537"/>
                <a:ext cx="59917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(2)  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)≡1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时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弧长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9B606E35-6B5D-C6BB-B0B2-750108AFA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878" y="2760537"/>
                <a:ext cx="5991700" cy="1041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EC6500E3-BDC1-25AF-CCAF-886D833C3F5F}"/>
                  </a:ext>
                </a:extLst>
              </p:cNvPr>
              <p:cNvSpPr txBox="1"/>
              <p:nvPr/>
            </p:nvSpPr>
            <p:spPr bwMode="auto">
              <a:xfrm>
                <a:off x="2061878" y="3688208"/>
                <a:ext cx="5927692" cy="13722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(3)  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当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𝑓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表示立于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𝐿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上的</m:t>
                      </m:r>
                      <m:r>
                        <a:rPr kumimoji="1" lang="zh-CN" altLang="en-US" sz="28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</m:oMath>
                    <m:oMath xmlns:m="http://schemas.openxmlformats.org/officeDocument/2006/math"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       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柱面在点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处的高时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Object 7">
                <a:extLst>
                  <a:ext uri="{FF2B5EF4-FFF2-40B4-BE49-F238E27FC236}">
                    <a16:creationId xmlns:a16="http://schemas.microsoft.com/office/drawing/2014/main" id="{EC6500E3-BDC1-25AF-CCAF-886D833C3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1878" y="3688208"/>
                <a:ext cx="5927692" cy="13722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74C88AB5-C8CF-F334-7D05-0507F6B97C2B}"/>
                  </a:ext>
                </a:extLst>
              </p:cNvPr>
              <p:cNvSpPr txBox="1"/>
              <p:nvPr/>
            </p:nvSpPr>
            <p:spPr bwMode="auto">
              <a:xfrm>
                <a:off x="3171793" y="5056603"/>
                <a:ext cx="5025103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𝑆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柱面面积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𝑓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8">
                <a:extLst>
                  <a:ext uri="{FF2B5EF4-FFF2-40B4-BE49-F238E27FC236}">
                    <a16:creationId xmlns:a16="http://schemas.microsoft.com/office/drawing/2014/main" id="{74C88AB5-C8CF-F334-7D05-0507F6B97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1793" y="5056603"/>
                <a:ext cx="5025103" cy="1041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5670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A006C415-9871-18CA-9366-BFD3C54DAF3F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1" name="PA-102232">
              <a:extLst>
                <a:ext uri="{FF2B5EF4-FFF2-40B4-BE49-F238E27FC236}">
                  <a16:creationId xmlns:a16="http://schemas.microsoft.com/office/drawing/2014/main" id="{167725BB-A0E8-7327-6258-8B1D2510FD6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1146244-38E4-5844-1537-E3AA1BF6EBD0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356EF1E1-ED5A-3089-98BD-323580502B0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90A25AF2-4BCE-D218-6A9E-8D0569927596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C4468B7E-4879-FB98-3291-082232E820C6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CDAE6495-55DC-8090-818B-EC77BFAD5026}"/>
                  </a:ext>
                </a:extLst>
              </p:cNvPr>
              <p:cNvSpPr txBox="1"/>
              <p:nvPr/>
            </p:nvSpPr>
            <p:spPr bwMode="auto">
              <a:xfrm>
                <a:off x="2561908" y="1324610"/>
                <a:ext cx="6338887" cy="639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(4)  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曲线弧对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轴及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轴的转动惯量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, 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Object 2">
                <a:extLst>
                  <a:ext uri="{FF2B5EF4-FFF2-40B4-BE49-F238E27FC236}">
                    <a16:creationId xmlns:a16="http://schemas.microsoft.com/office/drawing/2014/main" id="{CDAE6495-55DC-8090-818B-EC77BFAD50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1908" y="1324610"/>
                <a:ext cx="6338887" cy="6397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015378D3-3431-234B-E786-2CB3C6896590}"/>
                  </a:ext>
                </a:extLst>
              </p:cNvPr>
              <p:cNvSpPr txBox="1"/>
              <p:nvPr/>
            </p:nvSpPr>
            <p:spPr bwMode="auto">
              <a:xfrm>
                <a:off x="3357245" y="2035492"/>
                <a:ext cx="5730875" cy="1042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,  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𝐼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𝐿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kumimoji="1" lang="zh-CN" altLang="en-US" sz="28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𝑠</m:t>
                          </m:r>
                        </m:e>
                      </m:nary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015378D3-3431-234B-E786-2CB3C6896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7245" y="2035492"/>
                <a:ext cx="5730875" cy="10429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70413E39-D954-F920-89CE-AFCDDE631993}"/>
                  </a:ext>
                </a:extLst>
              </p:cNvPr>
              <p:cNvSpPr txBox="1"/>
              <p:nvPr/>
            </p:nvSpPr>
            <p:spPr bwMode="auto">
              <a:xfrm>
                <a:off x="2561908" y="3317084"/>
                <a:ext cx="4668837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(5)  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曲线弧的重心坐标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 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Object 4">
                <a:extLst>
                  <a:ext uri="{FF2B5EF4-FFF2-40B4-BE49-F238E27FC236}">
                    <a16:creationId xmlns:a16="http://schemas.microsoft.com/office/drawing/2014/main" id="{70413E39-D954-F920-89CE-AFCDDE631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1908" y="3317084"/>
                <a:ext cx="4668837" cy="457200"/>
              </a:xfrm>
              <a:prstGeom prst="rect">
                <a:avLst/>
              </a:prstGeom>
              <a:blipFill>
                <a:blip r:embed="rId5"/>
                <a:stretch>
                  <a:fillRect b="-14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0543E6F4-E19C-5D23-C408-DC4A8CA0D6A0}"/>
                  </a:ext>
                </a:extLst>
              </p:cNvPr>
              <p:cNvSpPr txBox="1"/>
              <p:nvPr/>
            </p:nvSpPr>
            <p:spPr bwMode="auto">
              <a:xfrm>
                <a:off x="3357245" y="3978910"/>
                <a:ext cx="5334001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ba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</m:nary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,  </m:t>
                      </m:r>
                      <m:bar>
                        <m:barPr>
                          <m:pos m:val="top"/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</m:ba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supHide m:val="on"/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naryPr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𝐿</m:t>
                              </m:r>
                            </m:sub>
                            <m:sup/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kumimoji="1" lang="zh-CN" altLang="en-US" sz="2800" b="0" i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d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𝑠</m:t>
                              </m:r>
                            </m:e>
                          </m:nary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0543E6F4-E19C-5D23-C408-DC4A8CA0D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7245" y="3978910"/>
                <a:ext cx="5334001" cy="1219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51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3E7EB108-2542-C435-5ADE-51C25399006E}"/>
                  </a:ext>
                </a:extLst>
              </p:cNvPr>
              <p:cNvSpPr/>
              <p:nvPr/>
            </p:nvSpPr>
            <p:spPr>
              <a:xfrm>
                <a:off x="687324" y="529052"/>
                <a:ext cx="10817352" cy="579989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3E7EB108-2542-C435-5ADE-51C2539900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529052"/>
                <a:ext cx="10817352" cy="579989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半闭框 20">
            <a:extLst>
              <a:ext uri="{FF2B5EF4-FFF2-40B4-BE49-F238E27FC236}">
                <a16:creationId xmlns:a16="http://schemas.microsoft.com/office/drawing/2014/main" id="{6EF40BAC-8D7E-AA7B-84E8-F71B61369FCD}"/>
              </a:ext>
            </a:extLst>
          </p:cNvPr>
          <p:cNvSpPr/>
          <p:nvPr/>
        </p:nvSpPr>
        <p:spPr>
          <a:xfrm>
            <a:off x="687324" y="529052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半闭框 22">
            <a:extLst>
              <a:ext uri="{FF2B5EF4-FFF2-40B4-BE49-F238E27FC236}">
                <a16:creationId xmlns:a16="http://schemas.microsoft.com/office/drawing/2014/main" id="{EF1AAFCA-85F0-FF7B-CCA1-10DD56B3AAF9}"/>
              </a:ext>
            </a:extLst>
          </p:cNvPr>
          <p:cNvSpPr/>
          <p:nvPr/>
        </p:nvSpPr>
        <p:spPr>
          <a:xfrm flipH="1">
            <a:off x="10823530" y="529052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半闭框 24">
            <a:extLst>
              <a:ext uri="{FF2B5EF4-FFF2-40B4-BE49-F238E27FC236}">
                <a16:creationId xmlns:a16="http://schemas.microsoft.com/office/drawing/2014/main" id="{3E0A6BCF-6A8C-7671-4E94-B7C4101614D7}"/>
              </a:ext>
            </a:extLst>
          </p:cNvPr>
          <p:cNvSpPr/>
          <p:nvPr/>
        </p:nvSpPr>
        <p:spPr>
          <a:xfrm flipV="1">
            <a:off x="687324" y="5655432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27" name="半闭框 26">
            <a:extLst>
              <a:ext uri="{FF2B5EF4-FFF2-40B4-BE49-F238E27FC236}">
                <a16:creationId xmlns:a16="http://schemas.microsoft.com/office/drawing/2014/main" id="{1F0C9BC4-A73F-CE76-6ECE-7F2BAA8C1710}"/>
              </a:ext>
            </a:extLst>
          </p:cNvPr>
          <p:cNvSpPr/>
          <p:nvPr/>
        </p:nvSpPr>
        <p:spPr>
          <a:xfrm flipH="1" flipV="1">
            <a:off x="10823530" y="56355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9D510CA-E978-2E0A-D3E4-38BB7E34BD6B}"/>
              </a:ext>
            </a:extLst>
          </p:cNvPr>
          <p:cNvSpPr txBox="1">
            <a:spLocks noChangeArrowheads="1"/>
          </p:cNvSpPr>
          <p:nvPr/>
        </p:nvSpPr>
        <p:spPr>
          <a:xfrm>
            <a:off x="1721589" y="1015761"/>
            <a:ext cx="19050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</a:rPr>
              <a:t>计算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0566442C-9781-B2B8-4830-F0FA8EB7880B}"/>
                  </a:ext>
                </a:extLst>
              </p:cNvPr>
              <p:cNvSpPr txBox="1"/>
              <p:nvPr/>
            </p:nvSpPr>
            <p:spPr bwMode="auto">
              <a:xfrm>
                <a:off x="3258289" y="750648"/>
                <a:ext cx="1587500" cy="958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0566442C-9781-B2B8-4830-F0FA8EB78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8289" y="750648"/>
                <a:ext cx="1587500" cy="958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7617486E-9248-1D28-4517-9F96385400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414" y="945912"/>
                <a:ext cx="24384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𝛤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为球面              </a:t>
                </a:r>
              </a:p>
            </p:txBody>
          </p:sp>
        </mc:Choice>
        <mc:Fallback xmlns="">
          <p:sp>
            <p:nvSpPr>
              <p:cNvPr id="4" name="Text Box 5">
                <a:extLst>
                  <a:ext uri="{FF2B5EF4-FFF2-40B4-BE49-F238E27FC236}">
                    <a16:creationId xmlns:a16="http://schemas.microsoft.com/office/drawing/2014/main" id="{7617486E-9248-1D28-4517-9F9638540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12414" y="945912"/>
                <a:ext cx="2438400" cy="519113"/>
              </a:xfrm>
              <a:prstGeom prst="rect">
                <a:avLst/>
              </a:prstGeom>
              <a:blipFill>
                <a:blip r:embed="rId4"/>
                <a:stretch>
                  <a:fillRect l="-5000" t="-15294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8F0EEE34-0930-27D4-9FF9-F39523AC1B9D}"/>
                  </a:ext>
                </a:extLst>
              </p:cNvPr>
              <p:cNvSpPr txBox="1"/>
              <p:nvPr/>
            </p:nvSpPr>
            <p:spPr bwMode="auto">
              <a:xfrm>
                <a:off x="6569816" y="951467"/>
                <a:ext cx="3267075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6">
                <a:extLst>
                  <a:ext uri="{FF2B5EF4-FFF2-40B4-BE49-F238E27FC236}">
                    <a16:creationId xmlns:a16="http://schemas.microsoft.com/office/drawing/2014/main" id="{8F0EEE34-0930-27D4-9FF9-F39523AC1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9816" y="951467"/>
                <a:ext cx="3267075" cy="520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25">
            <a:extLst>
              <a:ext uri="{FF2B5EF4-FFF2-40B4-BE49-F238E27FC236}">
                <a16:creationId xmlns:a16="http://schemas.microsoft.com/office/drawing/2014/main" id="{F67B943D-2012-FE78-1D58-76DC348D35DD}"/>
              </a:ext>
            </a:extLst>
          </p:cNvPr>
          <p:cNvGrpSpPr>
            <a:grpSpLocks/>
          </p:cNvGrpSpPr>
          <p:nvPr/>
        </p:nvGrpSpPr>
        <p:grpSpPr bwMode="auto">
          <a:xfrm>
            <a:off x="2505814" y="1720064"/>
            <a:ext cx="6172200" cy="519112"/>
            <a:chOff x="54" y="701"/>
            <a:chExt cx="3888" cy="327"/>
          </a:xfrm>
        </p:grpSpPr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839D3669-CCD4-4406-2BED-15E4DAB1E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" y="701"/>
              <a:ext cx="38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</a:rPr>
                <a:t>被平面                            所截的圆周</a:t>
              </a:r>
              <a:r>
                <a: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</a:rPr>
                <a:t>.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bject 8">
                  <a:extLst>
                    <a:ext uri="{FF2B5EF4-FFF2-40B4-BE49-F238E27FC236}">
                      <a16:creationId xmlns:a16="http://schemas.microsoft.com/office/drawing/2014/main" id="{CCADD0E2-6B20-FD7A-066D-FF3EBBCC44A3}"/>
                    </a:ext>
                  </a:extLst>
                </p:cNvPr>
                <p:cNvSpPr txBox="1"/>
                <p:nvPr/>
              </p:nvSpPr>
              <p:spPr bwMode="auto">
                <a:xfrm>
                  <a:off x="755" y="701"/>
                  <a:ext cx="1610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𝑥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+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𝑧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=0</m:t>
                        </m:r>
                      </m:oMath>
                    </m:oMathPara>
                  </a14:m>
                  <a:endPara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Object 8">
                  <a:extLst>
                    <a:ext uri="{FF2B5EF4-FFF2-40B4-BE49-F238E27FC236}">
                      <a16:creationId xmlns:a16="http://schemas.microsoft.com/office/drawing/2014/main" id="{CCADD0E2-6B20-FD7A-066D-FF3EBBCC4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55" y="701"/>
                  <a:ext cx="1610" cy="31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F256DF65-6337-6FB1-D9FB-74ED05558699}"/>
                  </a:ext>
                </a:extLst>
              </p:cNvPr>
              <p:cNvSpPr txBox="1"/>
              <p:nvPr/>
            </p:nvSpPr>
            <p:spPr bwMode="auto">
              <a:xfrm>
                <a:off x="4125065" y="2624817"/>
                <a:ext cx="1254125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2">
                <a:extLst>
                  <a:ext uri="{FF2B5EF4-FFF2-40B4-BE49-F238E27FC236}">
                    <a16:creationId xmlns:a16="http://schemas.microsoft.com/office/drawing/2014/main" id="{F256DF65-6337-6FB1-D9FB-74ED05558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5065" y="2624817"/>
                <a:ext cx="1254125" cy="10033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9F57368B-3D22-C7C8-9C1E-DA88938103CD}"/>
                  </a:ext>
                </a:extLst>
              </p:cNvPr>
              <p:cNvSpPr txBox="1"/>
              <p:nvPr/>
            </p:nvSpPr>
            <p:spPr bwMode="auto">
              <a:xfrm>
                <a:off x="3802804" y="3446349"/>
                <a:ext cx="4429125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∴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5">
                <a:extLst>
                  <a:ext uri="{FF2B5EF4-FFF2-40B4-BE49-F238E27FC236}">
                    <a16:creationId xmlns:a16="http://schemas.microsoft.com/office/drawing/2014/main" id="{9F57368B-3D22-C7C8-9C1E-DA8893810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02804" y="3446349"/>
                <a:ext cx="4429125" cy="838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8">
                <a:extLst>
                  <a:ext uri="{FF2B5EF4-FFF2-40B4-BE49-F238E27FC236}">
                    <a16:creationId xmlns:a16="http://schemas.microsoft.com/office/drawing/2014/main" id="{8C97E1E6-DFC7-CD47-8BFA-679AAFD94630}"/>
                  </a:ext>
                </a:extLst>
              </p:cNvPr>
              <p:cNvSpPr txBox="1"/>
              <p:nvPr/>
            </p:nvSpPr>
            <p:spPr bwMode="auto">
              <a:xfrm>
                <a:off x="5064866" y="4317092"/>
                <a:ext cx="1739900" cy="9842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8">
                <a:extLst>
                  <a:ext uri="{FF2B5EF4-FFF2-40B4-BE49-F238E27FC236}">
                    <a16:creationId xmlns:a16="http://schemas.microsoft.com/office/drawing/2014/main" id="{8C97E1E6-DFC7-CD47-8BFA-679AAFD946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4866" y="4317092"/>
                <a:ext cx="1739900" cy="9842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9">
                <a:extLst>
                  <a:ext uri="{FF2B5EF4-FFF2-40B4-BE49-F238E27FC236}">
                    <a16:creationId xmlns:a16="http://schemas.microsoft.com/office/drawing/2014/main" id="{B7D7B4C4-3C4F-ED76-8F07-06B3EB8492FC}"/>
                  </a:ext>
                </a:extLst>
              </p:cNvPr>
              <p:cNvSpPr txBox="1"/>
              <p:nvPr/>
            </p:nvSpPr>
            <p:spPr bwMode="auto">
              <a:xfrm>
                <a:off x="6468214" y="4313123"/>
                <a:ext cx="2409825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kumimoji="1"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⋅2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9">
                <a:extLst>
                  <a:ext uri="{FF2B5EF4-FFF2-40B4-BE49-F238E27FC236}">
                    <a16:creationId xmlns:a16="http://schemas.microsoft.com/office/drawing/2014/main" id="{B7D7B4C4-3C4F-ED76-8F07-06B3EB849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68214" y="4313123"/>
                <a:ext cx="2409825" cy="850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20">
                <a:extLst>
                  <a:ext uri="{FF2B5EF4-FFF2-40B4-BE49-F238E27FC236}">
                    <a16:creationId xmlns:a16="http://schemas.microsoft.com/office/drawing/2014/main" id="{CC64675C-5EB0-496F-0BAF-35731D9D9C37}"/>
                  </a:ext>
                </a:extLst>
              </p:cNvPr>
              <p:cNvSpPr txBox="1"/>
              <p:nvPr/>
            </p:nvSpPr>
            <p:spPr bwMode="auto">
              <a:xfrm>
                <a:off x="5064866" y="5176763"/>
                <a:ext cx="12700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20">
                <a:extLst>
                  <a:ext uri="{FF2B5EF4-FFF2-40B4-BE49-F238E27FC236}">
                    <a16:creationId xmlns:a16="http://schemas.microsoft.com/office/drawing/2014/main" id="{CC64675C-5EB0-496F-0BAF-35731D9D9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4866" y="5176763"/>
                <a:ext cx="1270000" cy="838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6">
                <a:extLst>
                  <a:ext uri="{FF2B5EF4-FFF2-40B4-BE49-F238E27FC236}">
                    <a16:creationId xmlns:a16="http://schemas.microsoft.com/office/drawing/2014/main" id="{35EC9E85-6CC8-5DBC-791E-B70A660B2539}"/>
                  </a:ext>
                </a:extLst>
              </p:cNvPr>
              <p:cNvSpPr txBox="1"/>
              <p:nvPr/>
            </p:nvSpPr>
            <p:spPr bwMode="auto">
              <a:xfrm>
                <a:off x="5064864" y="2621642"/>
                <a:ext cx="1587500" cy="9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26">
                <a:extLst>
                  <a:ext uri="{FF2B5EF4-FFF2-40B4-BE49-F238E27FC236}">
                    <a16:creationId xmlns:a16="http://schemas.microsoft.com/office/drawing/2014/main" id="{35EC9E85-6CC8-5DBC-791E-B70A660B2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4864" y="2621642"/>
                <a:ext cx="1587500" cy="9366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7">
                <a:extLst>
                  <a:ext uri="{FF2B5EF4-FFF2-40B4-BE49-F238E27FC236}">
                    <a16:creationId xmlns:a16="http://schemas.microsoft.com/office/drawing/2014/main" id="{FCD42952-4947-D7F0-4975-BF760D7C062D}"/>
                  </a:ext>
                </a:extLst>
              </p:cNvPr>
              <p:cNvSpPr txBox="1"/>
              <p:nvPr/>
            </p:nvSpPr>
            <p:spPr bwMode="auto">
              <a:xfrm>
                <a:off x="6303115" y="2621642"/>
                <a:ext cx="1587500" cy="936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𝑧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en-US" altLang="zh-CN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27">
                <a:extLst>
                  <a:ext uri="{FF2B5EF4-FFF2-40B4-BE49-F238E27FC236}">
                    <a16:creationId xmlns:a16="http://schemas.microsoft.com/office/drawing/2014/main" id="{FCD42952-4947-D7F0-4975-BF760D7C0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03115" y="2621642"/>
                <a:ext cx="1587500" cy="9366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7BE4F678-B546-89EB-8AA2-A732BAE93E1C}"/>
              </a:ext>
            </a:extLst>
          </p:cNvPr>
          <p:cNvGrpSpPr/>
          <p:nvPr/>
        </p:nvGrpSpPr>
        <p:grpSpPr>
          <a:xfrm>
            <a:off x="1721589" y="2741042"/>
            <a:ext cx="2676525" cy="519113"/>
            <a:chOff x="2209800" y="2728342"/>
            <a:chExt cx="2676525" cy="519113"/>
          </a:xfrm>
        </p:grpSpPr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8F9FA8DF-0B1C-5AC8-0660-847578117E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728342"/>
              <a:ext cx="609599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</a:t>
              </a:r>
              <a:r>
                <a:rPr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17" name="Text Box 11">
              <a:extLst>
                <a:ext uri="{FF2B5EF4-FFF2-40B4-BE49-F238E27FC236}">
                  <a16:creationId xmlns:a16="http://schemas.microsoft.com/office/drawing/2014/main" id="{CBE2B4BA-D043-6E70-A34E-C304677803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8300" y="2747056"/>
              <a:ext cx="197802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lvl="0" fontAlgn="base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由对称性可知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338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40FFD65-D2F4-AD98-D10D-AD53C70779E2}"/>
                  </a:ext>
                </a:extLst>
              </p:cNvPr>
              <p:cNvSpPr/>
              <p:nvPr/>
            </p:nvSpPr>
            <p:spPr>
              <a:xfrm>
                <a:off x="687324" y="1791690"/>
                <a:ext cx="10817352" cy="43467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dirty="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40FFD65-D2F4-AD98-D10D-AD53C70779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24" y="1791690"/>
                <a:ext cx="10817352" cy="43467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9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半闭框 26">
            <a:extLst>
              <a:ext uri="{FF2B5EF4-FFF2-40B4-BE49-F238E27FC236}">
                <a16:creationId xmlns:a16="http://schemas.microsoft.com/office/drawing/2014/main" id="{0ABF6862-1372-38DD-D86B-7C50E7FE3ECF}"/>
              </a:ext>
            </a:extLst>
          </p:cNvPr>
          <p:cNvSpPr/>
          <p:nvPr/>
        </p:nvSpPr>
        <p:spPr>
          <a:xfrm>
            <a:off x="687324" y="1791690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半闭框 28">
            <a:extLst>
              <a:ext uri="{FF2B5EF4-FFF2-40B4-BE49-F238E27FC236}">
                <a16:creationId xmlns:a16="http://schemas.microsoft.com/office/drawing/2014/main" id="{C1B25530-7A60-8E27-5DFE-72235CE38BC8}"/>
              </a:ext>
            </a:extLst>
          </p:cNvPr>
          <p:cNvSpPr/>
          <p:nvPr/>
        </p:nvSpPr>
        <p:spPr>
          <a:xfrm flipH="1">
            <a:off x="10823530" y="179169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1" name="半闭框 30">
            <a:extLst>
              <a:ext uri="{FF2B5EF4-FFF2-40B4-BE49-F238E27FC236}">
                <a16:creationId xmlns:a16="http://schemas.microsoft.com/office/drawing/2014/main" id="{710382C6-B556-50D3-CAFE-C025D4C9A513}"/>
              </a:ext>
            </a:extLst>
          </p:cNvPr>
          <p:cNvSpPr/>
          <p:nvPr/>
        </p:nvSpPr>
        <p:spPr>
          <a:xfrm flipV="1">
            <a:off x="687324" y="5464932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33" name="半闭框 32">
            <a:extLst>
              <a:ext uri="{FF2B5EF4-FFF2-40B4-BE49-F238E27FC236}">
                <a16:creationId xmlns:a16="http://schemas.microsoft.com/office/drawing/2014/main" id="{D31617C5-1371-3221-923A-9E30FB134A96}"/>
              </a:ext>
            </a:extLst>
          </p:cNvPr>
          <p:cNvSpPr/>
          <p:nvPr/>
        </p:nvSpPr>
        <p:spPr>
          <a:xfrm flipH="1" flipV="1">
            <a:off x="10823530" y="544506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D817FA9E-1769-7B58-3702-33331D2C378D}"/>
                  </a:ext>
                </a:extLst>
              </p:cNvPr>
              <p:cNvSpPr txBox="1"/>
              <p:nvPr/>
            </p:nvSpPr>
            <p:spPr bwMode="auto">
              <a:xfrm>
                <a:off x="3578955" y="617593"/>
                <a:ext cx="4414838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−1</m:t>
                                </m:r>
                                <m:sSup>
                                  <m:sSup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+(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+1</m:t>
                                </m:r>
                                <m:sSup>
                                  <m:sSup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zh-CN" altLang="en-US" sz="28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kumimoji="1" lang="zh-CN" altLang="en-US" sz="28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kumimoji="1" lang="zh-CN" altLang="en-US" sz="28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D817FA9E-1769-7B58-3702-33331D2C3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8955" y="617593"/>
                <a:ext cx="4414838" cy="990600"/>
              </a:xfrm>
              <a:prstGeom prst="rect">
                <a:avLst/>
              </a:prstGeom>
              <a:blipFill>
                <a:blip r:embed="rId3"/>
                <a:stretch>
                  <a:fillRect r="-9392" b="-6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71A20C6D-C803-F191-2099-BE4571992267}"/>
                  </a:ext>
                </a:extLst>
              </p:cNvPr>
              <p:cNvSpPr txBox="1"/>
              <p:nvPr/>
            </p:nvSpPr>
            <p:spPr bwMode="auto">
              <a:xfrm>
                <a:off x="10109155" y="670058"/>
                <a:ext cx="1758950" cy="9398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?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5">
                <a:extLst>
                  <a:ext uri="{FF2B5EF4-FFF2-40B4-BE49-F238E27FC236}">
                    <a16:creationId xmlns:a16="http://schemas.microsoft.com/office/drawing/2014/main" id="{71A20C6D-C803-F191-2099-BE4571992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109155" y="670058"/>
                <a:ext cx="1758950" cy="9398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6">
            <a:extLst>
              <a:ext uri="{FF2B5EF4-FFF2-40B4-BE49-F238E27FC236}">
                <a16:creationId xmlns:a16="http://schemas.microsoft.com/office/drawing/2014/main" id="{07A0DDDA-5657-DFE7-936C-1EA9D991B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6766" y="2194013"/>
            <a:ext cx="4016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6A2F2251-B34A-5CA9-C56A-44E1C0A91FE2}"/>
                  </a:ext>
                </a:extLst>
              </p:cNvPr>
              <p:cNvSpPr txBox="1"/>
              <p:nvPr/>
            </p:nvSpPr>
            <p:spPr bwMode="auto">
              <a:xfrm>
                <a:off x="2757129" y="1825712"/>
                <a:ext cx="1549400" cy="1282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𝑋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−1</m:t>
                                </m:r>
                                <m:r>
                                  <a:rPr kumimoji="1" lang="en-US" altLang="zh-CN" sz="2200" b="0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𝑌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𝑦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+1,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𝑍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𝑧</m:t>
                                </m:r>
                                <m:r>
                                  <a:rPr kumimoji="1" lang="en-US" altLang="zh-CN" sz="2200" b="0" i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,</m:t>
                                </m:r>
                                <m:r>
                                  <m:rPr>
                                    <m:nor/>
                                  </m:rP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7">
                <a:extLst>
                  <a:ext uri="{FF2B5EF4-FFF2-40B4-BE49-F238E27FC236}">
                    <a16:creationId xmlns:a16="http://schemas.microsoft.com/office/drawing/2014/main" id="{6A2F2251-B34A-5CA9-C56A-44E1C0A91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7129" y="1825712"/>
                <a:ext cx="1549400" cy="1282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DC529F13-98B2-6A63-F373-A8D41239B3A5}"/>
                  </a:ext>
                </a:extLst>
              </p:cNvPr>
              <p:cNvSpPr txBox="1"/>
              <p:nvPr/>
            </p:nvSpPr>
            <p:spPr bwMode="auto">
              <a:xfrm>
                <a:off x="4397736" y="1949409"/>
                <a:ext cx="3487737" cy="1054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𝛤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𝑌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𝑍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cs typeface="黑体" panose="02010609060101010101" pitchFamily="49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    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𝑋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𝑌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+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𝑍</m:t>
                                </m:r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cs typeface="黑体" panose="02010609060101010101" pitchFamily="49" charset="-122"/>
                                  </a:rPr>
                                  <m:t>=0.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DC529F13-98B2-6A63-F373-A8D41239B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7736" y="1949409"/>
                <a:ext cx="3487737" cy="10541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29C5BD10-5B95-1E1F-E793-C204150BADE6}"/>
                  </a:ext>
                </a:extLst>
              </p:cNvPr>
              <p:cNvSpPr txBox="1"/>
              <p:nvPr/>
            </p:nvSpPr>
            <p:spPr bwMode="auto">
              <a:xfrm>
                <a:off x="2430797" y="3024969"/>
                <a:ext cx="1193800" cy="736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10">
                <a:extLst>
                  <a:ext uri="{FF2B5EF4-FFF2-40B4-BE49-F238E27FC236}">
                    <a16:creationId xmlns:a16="http://schemas.microsoft.com/office/drawing/2014/main" id="{29C5BD10-5B95-1E1F-E793-C204150BAD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0797" y="3024969"/>
                <a:ext cx="1193800" cy="736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569517E3-FCD3-4541-EE92-CF4725C1FB22}"/>
                  </a:ext>
                </a:extLst>
              </p:cNvPr>
              <p:cNvSpPr txBox="1"/>
              <p:nvPr/>
            </p:nvSpPr>
            <p:spPr bwMode="auto">
              <a:xfrm>
                <a:off x="3397980" y="3024969"/>
                <a:ext cx="2311400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𝑋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+1</m:t>
                          </m:r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569517E3-FCD3-4541-EE92-CF4725C1F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97980" y="3024969"/>
                <a:ext cx="2311400" cy="7239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C8ED3769-24CD-31AA-1C71-40FA2EEECDBC}"/>
                  </a:ext>
                </a:extLst>
              </p:cNvPr>
              <p:cNvSpPr txBox="1"/>
              <p:nvPr/>
            </p:nvSpPr>
            <p:spPr bwMode="auto">
              <a:xfrm>
                <a:off x="3401949" y="3804490"/>
                <a:ext cx="1334793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𝑋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Object 12">
                <a:extLst>
                  <a:ext uri="{FF2B5EF4-FFF2-40B4-BE49-F238E27FC236}">
                    <a16:creationId xmlns:a16="http://schemas.microsoft.com/office/drawing/2014/main" id="{C8ED3769-24CD-31AA-1C71-40FA2EEEC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1949" y="3804490"/>
                <a:ext cx="1334793" cy="723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C4C32E80-B1FC-EBA4-69C8-4D9B91F3C98A}"/>
                  </a:ext>
                </a:extLst>
              </p:cNvPr>
              <p:cNvSpPr txBox="1"/>
              <p:nvPr/>
            </p:nvSpPr>
            <p:spPr bwMode="auto">
              <a:xfrm>
                <a:off x="3404489" y="4620765"/>
                <a:ext cx="11938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sSup>
                        <m:sSup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e>
                        <m: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Object 13">
                <a:extLst>
                  <a:ext uri="{FF2B5EF4-FFF2-40B4-BE49-F238E27FC236}">
                    <a16:creationId xmlns:a16="http://schemas.microsoft.com/office/drawing/2014/main" id="{C4C32E80-B1FC-EBA4-69C8-4D9B91F3C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4489" y="4620765"/>
                <a:ext cx="1193800" cy="8509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8853EB8D-FAEC-90C6-3886-A6874D398F42}"/>
                  </a:ext>
                </a:extLst>
              </p:cNvPr>
              <p:cNvSpPr txBox="1"/>
              <p:nvPr/>
            </p:nvSpPr>
            <p:spPr bwMode="auto">
              <a:xfrm>
                <a:off x="3404489" y="5310636"/>
                <a:ext cx="23876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=2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  <m:d>
                        <m:dPr>
                          <m:ctrlPr>
                            <a:rPr kumimoji="1" lang="en-US" altLang="zh-CN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3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+1</m:t>
                          </m:r>
                        </m:e>
                      </m:d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" name="Object 14">
                <a:extLst>
                  <a:ext uri="{FF2B5EF4-FFF2-40B4-BE49-F238E27FC236}">
                    <a16:creationId xmlns:a16="http://schemas.microsoft.com/office/drawing/2014/main" id="{8853EB8D-FAEC-90C6-3886-A6874D398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4489" y="5310636"/>
                <a:ext cx="2387600" cy="8382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6891701A-7D2C-D571-6F38-F6E61B02CCE6}"/>
                  </a:ext>
                </a:extLst>
              </p:cNvPr>
              <p:cNvSpPr txBox="1"/>
              <p:nvPr/>
            </p:nvSpPr>
            <p:spPr bwMode="auto">
              <a:xfrm>
                <a:off x="4671551" y="3812428"/>
                <a:ext cx="1424449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+2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𝑋</m:t>
                          </m:r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15">
                <a:extLst>
                  <a:ext uri="{FF2B5EF4-FFF2-40B4-BE49-F238E27FC236}">
                    <a16:creationId xmlns:a16="http://schemas.microsoft.com/office/drawing/2014/main" id="{6891701A-7D2C-D571-6F38-F6E61B02C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1551" y="3812428"/>
                <a:ext cx="1424449" cy="7239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B7175F6A-8281-882D-52F1-42281E858B4D}"/>
                  </a:ext>
                </a:extLst>
              </p:cNvPr>
              <p:cNvSpPr txBox="1"/>
              <p:nvPr/>
            </p:nvSpPr>
            <p:spPr bwMode="auto">
              <a:xfrm>
                <a:off x="5930045" y="3812428"/>
                <a:ext cx="1168400" cy="723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nary>
                        <m:naryPr>
                          <m:chr m:val="∮"/>
                          <m:supHide m:val="on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naryPr>
                        <m:sub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𝛤</m:t>
                          </m:r>
                        </m:sub>
                        <m:sup/>
                        <m:e>
                          <m:r>
                            <a:rPr kumimoji="1" lang="en-US" altLang="zh-CN" sz="2200" b="0" i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 </m:t>
                          </m:r>
                        </m:e>
                      </m:nary>
                      <m:r>
                        <m:rPr>
                          <m:sty m:val="p"/>
                        </m:rP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d</m:t>
                      </m:r>
                      <m:r>
                        <a:rPr kumimoji="1" lang="zh-CN" altLang="en-US" sz="24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𝑠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Object 16">
                <a:extLst>
                  <a:ext uri="{FF2B5EF4-FFF2-40B4-BE49-F238E27FC236}">
                    <a16:creationId xmlns:a16="http://schemas.microsoft.com/office/drawing/2014/main" id="{B7175F6A-8281-882D-52F1-42281E858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0045" y="3812428"/>
                <a:ext cx="1168400" cy="7239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4C0CEBC4-F906-55A0-A833-9AC4F45952AE}"/>
                  </a:ext>
                </a:extLst>
              </p:cNvPr>
              <p:cNvSpPr txBox="1"/>
              <p:nvPr/>
            </p:nvSpPr>
            <p:spPr bwMode="auto">
              <a:xfrm>
                <a:off x="5827251" y="4792215"/>
                <a:ext cx="977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+2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17">
                <a:extLst>
                  <a:ext uri="{FF2B5EF4-FFF2-40B4-BE49-F238E27FC236}">
                    <a16:creationId xmlns:a16="http://schemas.microsoft.com/office/drawing/2014/main" id="{4C0CEBC4-F906-55A0-A833-9AC4F45952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7251" y="4792215"/>
                <a:ext cx="977900" cy="393700"/>
              </a:xfrm>
              <a:prstGeom prst="rect">
                <a:avLst/>
              </a:prstGeom>
              <a:blipFill>
                <a:blip r:embed="rId15"/>
                <a:stretch>
                  <a:fillRect b="-61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8">
            <a:extLst>
              <a:ext uri="{FF2B5EF4-FFF2-40B4-BE49-F238E27FC236}">
                <a16:creationId xmlns:a16="http://schemas.microsoft.com/office/drawing/2014/main" id="{DB77FE3D-331E-3FD5-6D25-0ADF05ACF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7915" y="4093415"/>
            <a:ext cx="1828800" cy="1203626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9">
                <a:extLst>
                  <a:ext uri="{FF2B5EF4-FFF2-40B4-BE49-F238E27FC236}">
                    <a16:creationId xmlns:a16="http://schemas.microsoft.com/office/drawing/2014/main" id="{3658905A-F872-36D0-852A-4B97142D3D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7915" y="4093415"/>
                <a:ext cx="1905000" cy="7694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圆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𝛤</m:t>
                    </m:r>
                  </m:oMath>
                </a14:m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的形心在原点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, </a:t>
                </a: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故</a:t>
                </a:r>
              </a:p>
            </p:txBody>
          </p:sp>
        </mc:Choice>
        <mc:Fallback xmlns="">
          <p:sp>
            <p:nvSpPr>
              <p:cNvPr id="19" name="Text Box 19">
                <a:extLst>
                  <a:ext uri="{FF2B5EF4-FFF2-40B4-BE49-F238E27FC236}">
                    <a16:creationId xmlns:a16="http://schemas.microsoft.com/office/drawing/2014/main" id="{3658905A-F872-36D0-852A-4B97142D3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7915" y="4093415"/>
                <a:ext cx="1905000" cy="769441"/>
              </a:xfrm>
              <a:prstGeom prst="rect">
                <a:avLst/>
              </a:prstGeom>
              <a:blipFill>
                <a:blip r:embed="rId16"/>
                <a:stretch>
                  <a:fillRect l="-4153" t="-7087" b="-149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">
                <a:extLst>
                  <a:ext uri="{FF2B5EF4-FFF2-40B4-BE49-F238E27FC236}">
                    <a16:creationId xmlns:a16="http://schemas.microsoft.com/office/drawing/2014/main" id="{E8EC5814-1165-F5D6-99EC-AE7379F1E021}"/>
                  </a:ext>
                </a:extLst>
              </p:cNvPr>
              <p:cNvSpPr txBox="1"/>
              <p:nvPr/>
            </p:nvSpPr>
            <p:spPr bwMode="auto">
              <a:xfrm>
                <a:off x="9228915" y="4773166"/>
                <a:ext cx="12192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𝑋</m:t>
                          </m:r>
                        </m:e>
                      </m:ba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Object 20">
                <a:extLst>
                  <a:ext uri="{FF2B5EF4-FFF2-40B4-BE49-F238E27FC236}">
                    <a16:creationId xmlns:a16="http://schemas.microsoft.com/office/drawing/2014/main" id="{E8EC5814-1165-F5D6-99EC-AE7379F1E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28915" y="4773166"/>
                <a:ext cx="1219200" cy="4572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2E92A8F1-ADCF-6F48-FC06-98F891B6D6FA}"/>
                  </a:ext>
                </a:extLst>
              </p:cNvPr>
              <p:cNvSpPr txBox="1"/>
              <p:nvPr/>
            </p:nvSpPr>
            <p:spPr bwMode="auto">
              <a:xfrm>
                <a:off x="4364767" y="4760465"/>
                <a:ext cx="18288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+2⋅</m:t>
                      </m:r>
                      <m:bar>
                        <m:barPr>
                          <m:pos m:val="top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bar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𝑋</m:t>
                          </m:r>
                        </m:e>
                      </m:ba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⋅2</m:t>
                      </m:r>
                      <m:r>
                        <m:rPr>
                          <m:sty m:val="p"/>
                        </m:rPr>
                        <a:rPr kumimoji="1" lang="zh-CN" altLang="en-US" sz="2200" i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𝑎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Object 21">
                <a:extLst>
                  <a:ext uri="{FF2B5EF4-FFF2-40B4-BE49-F238E27FC236}">
                    <a16:creationId xmlns:a16="http://schemas.microsoft.com/office/drawing/2014/main" id="{2E92A8F1-ADCF-6F48-FC06-98F891B6D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4767" y="4760465"/>
                <a:ext cx="1828800" cy="4572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36">
            <a:extLst>
              <a:ext uri="{FF2B5EF4-FFF2-40B4-BE49-F238E27FC236}">
                <a16:creationId xmlns:a16="http://schemas.microsoft.com/office/drawing/2014/main" id="{BE9B2A56-F17F-3EFF-18C8-DD69315B0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1329" y="867625"/>
            <a:ext cx="17732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, </a:t>
            </a:r>
            <a:r>
              <a:rPr kumimoji="1" lang="zh-CN" altLang="en-US" sz="2800" dirty="0">
                <a:latin typeface="Cambria Math" panose="020405030504060302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如何计算</a:t>
            </a:r>
          </a:p>
        </p:txBody>
      </p:sp>
      <p:sp>
        <p:nvSpPr>
          <p:cNvPr id="23" name="Text Box 6">
            <a:extLst>
              <a:ext uri="{FF2B5EF4-FFF2-40B4-BE49-F238E27FC236}">
                <a16:creationId xmlns:a16="http://schemas.microsoft.com/office/drawing/2014/main" id="{82D0356B-AF1D-0E47-A699-D4202D52C6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329" y="2130838"/>
            <a:ext cx="5794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CC54C3D-A893-C00B-57AC-38CF86575FF5}"/>
              </a:ext>
            </a:extLst>
          </p:cNvPr>
          <p:cNvGrpSpPr/>
          <p:nvPr/>
        </p:nvGrpSpPr>
        <p:grpSpPr>
          <a:xfrm>
            <a:off x="725405" y="908560"/>
            <a:ext cx="3094355" cy="448945"/>
            <a:chOff x="1553" y="3803"/>
            <a:chExt cx="4873" cy="707"/>
          </a:xfrm>
        </p:grpSpPr>
        <p:sp>
          <p:nvSpPr>
            <p:cNvPr id="24" name="圆角矩形 57">
              <a:extLst>
                <a:ext uri="{FF2B5EF4-FFF2-40B4-BE49-F238E27FC236}">
                  <a16:creationId xmlns:a16="http://schemas.microsoft.com/office/drawing/2014/main" id="{9D7CA597-E143-76EB-5562-10C5D571F5FE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 Box 28">
                  <a:extLst>
                    <a:ext uri="{FF2B5EF4-FFF2-40B4-BE49-F238E27FC236}">
                      <a16:creationId xmlns:a16="http://schemas.microsoft.com/office/drawing/2014/main" id="{78A6DE98-82B1-B43E-75BF-5F05808CBF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30" y="3804"/>
                  <a:ext cx="4796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 lIns="0" tIns="0" bIns="0">
                  <a:spAutoFit/>
                </a:bodyPr>
                <a:lstStyle>
                  <a:lvl1pPr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1pPr>
                  <a:lvl2pPr marL="742950" indent="-28575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2pPr>
                  <a:lvl3pPr marL="11430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3pPr>
                  <a:lvl4pPr marL="16002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4pPr>
                  <a:lvl5pPr marL="2057400" indent="-228600">
                    <a:lnSpc>
                      <a:spcPct val="85000"/>
                    </a:lnSpc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defRPr kumimoji="1" sz="2800" b="1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楷体_GB2312" pitchFamily="49" charset="-122"/>
                    </a:defRPr>
                  </a:lvl9pPr>
                </a:lstStyle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defRPr/>
                  </a:pPr>
                  <a:r>
                    <a:rPr kumimoji="1" lang="zh-CN" altLang="en-US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思考</a:t>
                  </a:r>
                  <a:r>
                    <a:rPr kumimoji="1" lang="en-US" altLang="zh-CN" i="0" u="none" strike="noStrike" kern="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</a:rPr>
                    <a:t>:  </a:t>
                  </a:r>
                  <a:r>
                    <a:rPr kumimoji="1" lang="zh-CN" altLang="en-US" sz="2800" b="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  <a:cs typeface="黑体" panose="02010609060101010101" pitchFamily="49" charset="-122"/>
                    </a:rPr>
                    <a:t>例</a:t>
                  </a:r>
                  <a:r>
                    <a:rPr kumimoji="1" lang="en-US" altLang="zh-CN" sz="2800" b="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  <a:cs typeface="黑体" panose="02010609060101010101" pitchFamily="49" charset="-122"/>
                    </a:rPr>
                    <a:t>5</a:t>
                  </a:r>
                  <a:r>
                    <a:rPr kumimoji="1" lang="zh-CN" altLang="en-US" sz="2800" b="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  <a:cs typeface="黑体" panose="02010609060101010101" pitchFamily="49" charset="-122"/>
                    </a:rPr>
                    <a:t>中</a:t>
                  </a:r>
                  <a14:m>
                    <m:oMath xmlns:m="http://schemas.openxmlformats.org/officeDocument/2006/math">
                      <m:r>
                        <a:rPr kumimoji="1"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𝛤</m:t>
                      </m:r>
                    </m:oMath>
                  </a14:m>
                  <a:r>
                    <a:rPr kumimoji="1" lang="zh-CN" altLang="en-US" sz="2800" b="0" dirty="0">
                      <a:solidFill>
                        <a:schemeClr val="tx1"/>
                      </a:solidFill>
                      <a:latin typeface="Cambria Math" panose="02040503050406030204" pitchFamily="18" charset="0"/>
                      <a:ea typeface="黑体" panose="02010609060101010101" pitchFamily="49" charset="-122"/>
                      <a:cs typeface="黑体" panose="02010609060101010101" pitchFamily="49" charset="-122"/>
                    </a:rPr>
                    <a:t>改为</a:t>
                  </a:r>
                  <a:endParaRPr kumimoji="1" lang="zh-CN" altLang="en-US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endParaRPr>
                </a:p>
              </p:txBody>
            </p:sp>
          </mc:Choice>
          <mc:Fallback xmlns="">
            <p:sp>
              <p:nvSpPr>
                <p:cNvPr id="26" name="Text Box 28">
                  <a:extLst>
                    <a:ext uri="{FF2B5EF4-FFF2-40B4-BE49-F238E27FC236}">
                      <a16:creationId xmlns:a16="http://schemas.microsoft.com/office/drawing/2014/main" id="{78A6DE98-82B1-B43E-75BF-5F05808CB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30" y="3804"/>
                  <a:ext cx="4796" cy="679"/>
                </a:xfrm>
                <a:prstGeom prst="rect">
                  <a:avLst/>
                </a:prstGeom>
                <a:blipFill>
                  <a:blip r:embed="rId19"/>
                  <a:stretch>
                    <a:fillRect l="-7000" t="-29577" r="-1000" b="-5070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2766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45600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ZkODBiMGY1YmQ1MDgyN2Q2NGE3YzQ0YzI2NDc4MmYifQ=="/>
  <p:tag name="KSO_WPP_MARK_KEY" val="fdc9232b-9af6-4935-ba35-6661cd7202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1702</Words>
  <Application>Microsoft Office PowerPoint</Application>
  <PresentationFormat>宽屏</PresentationFormat>
  <Paragraphs>266</Paragraphs>
  <Slides>26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Times New Roman</vt:lpstr>
      <vt:lpstr>Office 主题</vt:lpstr>
      <vt:lpstr>2_Office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454</cp:revision>
  <cp:lastPrinted>2023-06-08T01:46:11Z</cp:lastPrinted>
  <dcterms:created xsi:type="dcterms:W3CDTF">2022-03-21T05:54:00Z</dcterms:created>
  <dcterms:modified xsi:type="dcterms:W3CDTF">2023-07-06T02:49:11Z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C93CED513F0B46FCBF998E52C285068F</vt:lpwstr>
  </property>
  <property fmtid="{D5CDD505-2E9C-101B-9397-08002B2CF9AE}" pid="3" name="KSOProductBuildVer">
    <vt:lpwstr>2052-11.1.0.11744</vt:lpwstr>
  </property>
</Properties>
</file>