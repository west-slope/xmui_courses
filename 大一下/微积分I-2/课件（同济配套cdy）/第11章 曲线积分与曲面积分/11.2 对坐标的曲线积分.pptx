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7" r:id="rId2"/>
    <p:sldId id="1039" r:id="rId3"/>
    <p:sldId id="664" r:id="rId4"/>
    <p:sldId id="836" r:id="rId5"/>
    <p:sldId id="989" r:id="rId6"/>
    <p:sldId id="1011" r:id="rId7"/>
    <p:sldId id="1012" r:id="rId8"/>
    <p:sldId id="1013" r:id="rId9"/>
    <p:sldId id="1014" r:id="rId10"/>
    <p:sldId id="1015" r:id="rId11"/>
    <p:sldId id="1016" r:id="rId12"/>
    <p:sldId id="1017" r:id="rId13"/>
    <p:sldId id="1018" r:id="rId14"/>
    <p:sldId id="1019" r:id="rId15"/>
    <p:sldId id="1020" r:id="rId16"/>
    <p:sldId id="1021" r:id="rId17"/>
    <p:sldId id="1022" r:id="rId18"/>
    <p:sldId id="1023" r:id="rId19"/>
    <p:sldId id="1024" r:id="rId20"/>
    <p:sldId id="1025" r:id="rId21"/>
    <p:sldId id="1026" r:id="rId22"/>
    <p:sldId id="1027" r:id="rId23"/>
    <p:sldId id="1028" r:id="rId24"/>
    <p:sldId id="1029" r:id="rId25"/>
    <p:sldId id="1030" r:id="rId26"/>
    <p:sldId id="1031" r:id="rId27"/>
    <p:sldId id="1032" r:id="rId28"/>
    <p:sldId id="364" r:id="rId29"/>
  </p:sldIdLst>
  <p:sldSz cx="12192000" cy="6858000"/>
  <p:notesSz cx="9928225" cy="6797675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A9D18E"/>
    <a:srgbClr val="1D9D79"/>
    <a:srgbClr val="00926A"/>
    <a:srgbClr val="C5E0B4"/>
    <a:srgbClr val="019B4E"/>
    <a:srgbClr val="3333CC"/>
    <a:srgbClr val="335AE6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172" y="68"/>
      </p:cViewPr>
      <p:guideLst>
        <p:guide pos="3840"/>
        <p:guide orient="horz" pos="21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034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76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352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624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909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43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903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16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36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135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10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5557CFA-F509-7002-5DC6-8278497A2101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EE20A73D-0910-207A-3317-083AA3999C5B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5EB5A8C3-1C14-A320-2961-CA7117830EE3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37C784-903D-F578-B469-D6044248536A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00B79E9-B376-A8CD-FAFC-DA8D85CF7B60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EEDFE21-B298-B273-ED41-9CC086D820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2071E040-D8D8-8595-77CD-40CB3C4BA49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A6F96AF-08A9-A97D-B9F0-CB9BC2728422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5F1DEAD6-27B4-109C-444A-39004F9ECC70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D5F5780B-55B9-CD62-4B2F-FBA510C962F6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E97C66B-3589-690E-F456-E86DECD5CD2C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16459EF-071D-562D-3C60-8E48525DBD07}"/>
                </a:ext>
              </a:extLst>
            </p:cNvPr>
            <p:cNvSpPr/>
            <p:nvPr/>
          </p:nvSpPr>
          <p:spPr>
            <a:xfrm>
              <a:off x="9315710" y="112357"/>
              <a:ext cx="27029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F12C974-F873-4741-D39D-CD542C1F66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EAAE9CE-8A34-6E04-0962-D0FDF1A90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9D5E7B84-1240-E933-F88D-A92F75B0CF8D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5D5C5B78-81A9-50BA-ECE2-C14963DFC20F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E2051332-036D-B9F2-819C-82FC26179609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30EA9C3-41A2-BAC4-6A46-DBA667F2488E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08FA3-044B-767C-25EA-39A533895BFE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5A1C0CD-BED9-69A3-5272-148084C35E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C06382A-B9C7-F5CE-4E48-9F91E70602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10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24" Type="http://schemas.openxmlformats.org/officeDocument/2006/relationships/image" Target="../media/image5.jpeg"/><Relationship Id="rId5" Type="http://schemas.openxmlformats.org/officeDocument/2006/relationships/image" Target="../media/image19.png"/><Relationship Id="rId23" Type="http://schemas.openxmlformats.org/officeDocument/2006/relationships/image" Target="../media/image37.png"/><Relationship Id="rId4" Type="http://schemas.openxmlformats.org/officeDocument/2006/relationships/image" Target="../media/image18.png"/><Relationship Id="rId22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6.jpeg"/><Relationship Id="rId3" Type="http://schemas.openxmlformats.org/officeDocument/2006/relationships/image" Target="../media/image880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7.jpe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980.png"/><Relationship Id="rId9" Type="http://schemas.openxmlformats.org/officeDocument/2006/relationships/image" Target="../media/image10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81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8.jpe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8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9.jpe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png"/><Relationship Id="rId3" Type="http://schemas.openxmlformats.org/officeDocument/2006/relationships/image" Target="../media/image98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png"/><Relationship Id="rId3" Type="http://schemas.openxmlformats.org/officeDocument/2006/relationships/image" Target="../media/image981.png"/><Relationship Id="rId21" Type="http://schemas.openxmlformats.org/officeDocument/2006/relationships/image" Target="../media/image11.jpe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15" Type="http://schemas.openxmlformats.org/officeDocument/2006/relationships/image" Target="../media/image136.png"/><Relationship Id="rId19" Type="http://schemas.openxmlformats.org/officeDocument/2006/relationships/image" Target="../media/image1330.png"/><Relationship Id="rId14" Type="http://schemas.openxmlformats.org/officeDocument/2006/relationships/image" Target="../media/image1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51.png"/><Relationship Id="rId3" Type="http://schemas.openxmlformats.org/officeDocument/2006/relationships/image" Target="../media/image981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2.png"/><Relationship Id="rId10" Type="http://schemas.openxmlformats.org/officeDocument/2006/relationships/image" Target="../media/image148.png"/><Relationship Id="rId4" Type="http://schemas.openxmlformats.org/officeDocument/2006/relationships/image" Target="../media/image140.png"/><Relationship Id="rId9" Type="http://schemas.openxmlformats.org/officeDocument/2006/relationships/image" Target="../media/image146.png"/><Relationship Id="rId1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981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3" Type="http://schemas.openxmlformats.org/officeDocument/2006/relationships/image" Target="../media/image128.png"/><Relationship Id="rId21" Type="http://schemas.openxmlformats.org/officeDocument/2006/relationships/image" Target="../media/image1310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69.png"/><Relationship Id="rId25" Type="http://schemas.openxmlformats.org/officeDocument/2006/relationships/image" Target="../media/image17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56.png"/><Relationship Id="rId24" Type="http://schemas.openxmlformats.org/officeDocument/2006/relationships/image" Target="../media/image172.png"/><Relationship Id="rId5" Type="http://schemas.openxmlformats.org/officeDocument/2006/relationships/image" Target="../media/image160.png"/><Relationship Id="rId15" Type="http://schemas.openxmlformats.org/officeDocument/2006/relationships/image" Target="../media/image159.png"/><Relationship Id="rId23" Type="http://schemas.openxmlformats.org/officeDocument/2006/relationships/image" Target="../media/image171.png"/><Relationship Id="rId10" Type="http://schemas.openxmlformats.org/officeDocument/2006/relationships/image" Target="../media/image165.png"/><Relationship Id="rId9" Type="http://schemas.openxmlformats.org/officeDocument/2006/relationships/image" Target="../media/image164.png"/><Relationship Id="rId14" Type="http://schemas.openxmlformats.org/officeDocument/2006/relationships/image" Target="../media/image131.png"/><Relationship Id="rId22" Type="http://schemas.openxmlformats.org/officeDocument/2006/relationships/image" Target="../media/image170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.png"/><Relationship Id="rId18" Type="http://schemas.openxmlformats.org/officeDocument/2006/relationships/image" Target="../media/image1720.png"/><Relationship Id="rId3" Type="http://schemas.openxmlformats.org/officeDocument/2006/relationships/image" Target="../media/image981.png"/><Relationship Id="rId21" Type="http://schemas.openxmlformats.org/officeDocument/2006/relationships/image" Target="../media/image179.png"/><Relationship Id="rId7" Type="http://schemas.openxmlformats.org/officeDocument/2006/relationships/image" Target="../media/image178.png"/><Relationship Id="rId12" Type="http://schemas.openxmlformats.org/officeDocument/2006/relationships/image" Target="../media/image184.png"/><Relationship Id="rId17" Type="http://schemas.openxmlformats.org/officeDocument/2006/relationships/image" Target="../media/image17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88.png"/><Relationship Id="rId20" Type="http://schemas.openxmlformats.org/officeDocument/2006/relationships/image" Target="../media/image17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5" Type="http://schemas.openxmlformats.org/officeDocument/2006/relationships/image" Target="../media/image187.png"/><Relationship Id="rId19" Type="http://schemas.openxmlformats.org/officeDocument/2006/relationships/image" Target="../media/image1730.png"/><Relationship Id="rId4" Type="http://schemas.openxmlformats.org/officeDocument/2006/relationships/image" Target="../media/image174.png"/><Relationship Id="rId14" Type="http://schemas.openxmlformats.org/officeDocument/2006/relationships/image" Target="../media/image18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311.png"/><Relationship Id="rId4" Type="http://schemas.openxmlformats.org/officeDocument/2006/relationships/image" Target="../media/image19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13" Type="http://schemas.openxmlformats.org/officeDocument/2006/relationships/image" Target="../media/image207.png"/><Relationship Id="rId3" Type="http://schemas.openxmlformats.org/officeDocument/2006/relationships/image" Target="../media/image182.png"/><Relationship Id="rId7" Type="http://schemas.openxmlformats.org/officeDocument/2006/relationships/image" Target="../media/image194.png"/><Relationship Id="rId12" Type="http://schemas.openxmlformats.org/officeDocument/2006/relationships/image" Target="../media/image198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197.png"/><Relationship Id="rId5" Type="http://schemas.openxmlformats.org/officeDocument/2006/relationships/image" Target="../media/image199.png"/><Relationship Id="rId10" Type="http://schemas.openxmlformats.org/officeDocument/2006/relationships/image" Target="../media/image196.png"/><Relationship Id="rId4" Type="http://schemas.openxmlformats.org/officeDocument/2006/relationships/image" Target="../media/image189.png"/><Relationship Id="rId9" Type="http://schemas.openxmlformats.org/officeDocument/2006/relationships/image" Target="../media/image19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-244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33C2CE-C905-2846-8650-C5C8DB13E5AC}"/>
              </a:ext>
            </a:extLst>
          </p:cNvPr>
          <p:cNvSpPr/>
          <p:nvPr/>
        </p:nvSpPr>
        <p:spPr>
          <a:xfrm>
            <a:off x="789305" y="1908802"/>
            <a:ext cx="11083290" cy="4961748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62284D-899E-011F-23D8-3168522C1D2D}"/>
              </a:ext>
            </a:extLst>
          </p:cNvPr>
          <p:cNvSpPr/>
          <p:nvPr/>
        </p:nvSpPr>
        <p:spPr>
          <a:xfrm>
            <a:off x="629285" y="2052905"/>
            <a:ext cx="10923270" cy="48176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777B1F-3CD3-3E05-03B7-290842DFE79B}"/>
              </a:ext>
            </a:extLst>
          </p:cNvPr>
          <p:cNvSpPr/>
          <p:nvPr/>
        </p:nvSpPr>
        <p:spPr>
          <a:xfrm>
            <a:off x="487045" y="2207501"/>
            <a:ext cx="10746105" cy="4663049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5037531" y="2665459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cxnSpLocks/>
          </p:cNvCxnSpPr>
          <p:nvPr/>
        </p:nvCxnSpPr>
        <p:spPr>
          <a:xfrm>
            <a:off x="1735983" y="3348297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4609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一元函数积分学</a:t>
            </a: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8D3E00D-8E36-4B80-EC28-2CF14DFA7C95}"/>
              </a:ext>
            </a:extLst>
          </p:cNvPr>
          <p:cNvGrpSpPr/>
          <p:nvPr/>
        </p:nvGrpSpPr>
        <p:grpSpPr>
          <a:xfrm>
            <a:off x="1504486" y="4799643"/>
            <a:ext cx="5360532" cy="619125"/>
            <a:chOff x="1504486" y="4815728"/>
            <a:chExt cx="5360532" cy="619125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853897" y="2466317"/>
              <a:ext cx="619125" cy="531794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547072" y="4909851"/>
              <a:ext cx="53179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/>
              <a:r>
                <a:rPr lang="zh-CN" altLang="en-US" sz="2400" b="1" dirty="0">
                  <a:solidFill>
                    <a:srgbClr val="04926A"/>
                  </a:solidFill>
                </a:rPr>
                <a:t>积分学     </a:t>
              </a:r>
              <a:r>
                <a:rPr lang="zh-CN" altLang="en-US" sz="2400" dirty="0"/>
                <a:t>定积分   二重积分   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986375" y="577870"/>
            <a:ext cx="82192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第十一章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曲线积分与曲面积分</a:t>
            </a:r>
          </a:p>
        </p:txBody>
      </p:sp>
      <p:sp>
        <p:nvSpPr>
          <p:cNvPr id="5" name="右箭头 4"/>
          <p:cNvSpPr/>
          <p:nvPr/>
        </p:nvSpPr>
        <p:spPr>
          <a:xfrm>
            <a:off x="5486657" y="3953196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862540-B67A-1674-AB4B-27AC8296A336}"/>
              </a:ext>
            </a:extLst>
          </p:cNvPr>
          <p:cNvSpPr/>
          <p:nvPr/>
        </p:nvSpPr>
        <p:spPr>
          <a:xfrm>
            <a:off x="65683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</a:rPr>
              <a:t>多元函数积分学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509881E-5C80-DE2B-4028-6515618CFFDA}"/>
              </a:ext>
            </a:extLst>
          </p:cNvPr>
          <p:cNvGrpSpPr/>
          <p:nvPr/>
        </p:nvGrpSpPr>
        <p:grpSpPr>
          <a:xfrm>
            <a:off x="7025038" y="4793304"/>
            <a:ext cx="1458356" cy="619125"/>
            <a:chOff x="723439" y="4629148"/>
            <a:chExt cx="1458356" cy="619125"/>
          </a:xfrm>
        </p:grpSpPr>
        <p:sp>
          <p:nvSpPr>
            <p:cNvPr id="56" name="矩形: 圆角 40">
              <a:extLst>
                <a:ext uri="{FF2B5EF4-FFF2-40B4-BE49-F238E27FC236}">
                  <a16:creationId xmlns:a16="http://schemas.microsoft.com/office/drawing/2014/main" id="{A4632266-497A-F13F-FA28-1F43175740E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A2CAA016-0291-0BA7-2ED0-1E3167715254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曲线积分</a:t>
              </a: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5EA19912-24F0-3ADE-D382-3D319606B1F9}"/>
              </a:ext>
            </a:extLst>
          </p:cNvPr>
          <p:cNvGrpSpPr/>
          <p:nvPr/>
        </p:nvGrpSpPr>
        <p:grpSpPr>
          <a:xfrm>
            <a:off x="1504488" y="5601241"/>
            <a:ext cx="5317945" cy="619125"/>
            <a:chOff x="1504488" y="5617326"/>
            <a:chExt cx="5317945" cy="619125"/>
          </a:xfrm>
        </p:grpSpPr>
        <p:sp>
          <p:nvSpPr>
            <p:cNvPr id="62" name="矩形: 圆角 40">
              <a:extLst>
                <a:ext uri="{FF2B5EF4-FFF2-40B4-BE49-F238E27FC236}">
                  <a16:creationId xmlns:a16="http://schemas.microsoft.com/office/drawing/2014/main" id="{79E044E3-4942-D10E-E2EC-72B14B2442C3}"/>
                </a:ext>
              </a:extLst>
            </p:cNvPr>
            <p:cNvSpPr/>
            <p:nvPr/>
          </p:nvSpPr>
          <p:spPr>
            <a:xfrm rot="16200000" flipV="1">
              <a:off x="3853898" y="3267916"/>
              <a:ext cx="619125" cy="531794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CFF85A1-1A5E-5FE0-8EC5-47256075509B}"/>
                </a:ext>
              </a:extLst>
            </p:cNvPr>
            <p:cNvSpPr/>
            <p:nvPr/>
          </p:nvSpPr>
          <p:spPr>
            <a:xfrm>
              <a:off x="1547071" y="5711445"/>
              <a:ext cx="51871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积分域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  </a:t>
              </a:r>
              <a:r>
                <a:rPr lang="zh-CN" altLang="en-US" sz="2400" dirty="0"/>
                <a:t>区间域     平面域        空间域 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CFB9525-D1CE-B133-DBD7-82947A2D0DB3}"/>
              </a:ext>
            </a:extLst>
          </p:cNvPr>
          <p:cNvGrpSpPr/>
          <p:nvPr/>
        </p:nvGrpSpPr>
        <p:grpSpPr>
          <a:xfrm>
            <a:off x="7025038" y="5601241"/>
            <a:ext cx="1458355" cy="619125"/>
            <a:chOff x="723439" y="4629148"/>
            <a:chExt cx="1458355" cy="619125"/>
          </a:xfrm>
        </p:grpSpPr>
        <p:sp>
          <p:nvSpPr>
            <p:cNvPr id="82" name="矩形: 圆角 40">
              <a:extLst>
                <a:ext uri="{FF2B5EF4-FFF2-40B4-BE49-F238E27FC236}">
                  <a16:creationId xmlns:a16="http://schemas.microsoft.com/office/drawing/2014/main" id="{FF16FE5E-4F76-2F84-7C18-54B6FAB5F06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B9AADE5-C1BE-2C1C-14F9-56C6C577B99A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曲线域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DCFC114-15E5-3F3A-6CF4-6FEAAFBDDA62}"/>
              </a:ext>
            </a:extLst>
          </p:cNvPr>
          <p:cNvGrpSpPr/>
          <p:nvPr/>
        </p:nvGrpSpPr>
        <p:grpSpPr>
          <a:xfrm>
            <a:off x="8685997" y="4793304"/>
            <a:ext cx="1458356" cy="619125"/>
            <a:chOff x="723439" y="4629148"/>
            <a:chExt cx="1458356" cy="619125"/>
          </a:xfrm>
        </p:grpSpPr>
        <p:sp>
          <p:nvSpPr>
            <p:cNvPr id="85" name="矩形: 圆角 40">
              <a:extLst>
                <a:ext uri="{FF2B5EF4-FFF2-40B4-BE49-F238E27FC236}">
                  <a16:creationId xmlns:a16="http://schemas.microsoft.com/office/drawing/2014/main" id="{CC672131-6499-9C49-6284-93314912DA7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25BF8A06-AC78-D40F-63C9-28E245C32157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曲面积分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95CDE97-620D-4A37-E5CA-6F1DFDAC8EDD}"/>
              </a:ext>
            </a:extLst>
          </p:cNvPr>
          <p:cNvGrpSpPr/>
          <p:nvPr/>
        </p:nvGrpSpPr>
        <p:grpSpPr>
          <a:xfrm>
            <a:off x="8685997" y="5601241"/>
            <a:ext cx="1458355" cy="619125"/>
            <a:chOff x="723439" y="4629148"/>
            <a:chExt cx="1458355" cy="619125"/>
          </a:xfrm>
        </p:grpSpPr>
        <p:sp>
          <p:nvSpPr>
            <p:cNvPr id="88" name="矩形: 圆角 40">
              <a:extLst>
                <a:ext uri="{FF2B5EF4-FFF2-40B4-BE49-F238E27FC236}">
                  <a16:creationId xmlns:a16="http://schemas.microsoft.com/office/drawing/2014/main" id="{85A2365A-A649-C86F-637C-6F6FF956B34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AFED61F-E486-792F-5702-F6EE5B1F2BF7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曲面域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0934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62184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对弧长的曲线积分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469103"/>
            <a:ext cx="3935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格林公式及其应用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661652" y="267048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对坐标的曲线积分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661652" y="3470393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对面积的曲面积分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4315067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对坐标的曲面积分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5162322"/>
            <a:ext cx="5630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环流量与旋度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661652" y="4315067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高斯公式 通量与散度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1DEF2E-D34E-2343-B5CE-4C871413636B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第十一章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020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35895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24811" y="686345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对坐标的曲线积分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86D9470-445D-1A4E-8C79-4FABC6F415EB}"/>
              </a:ext>
            </a:extLst>
          </p:cNvPr>
          <p:cNvGrpSpPr/>
          <p:nvPr/>
        </p:nvGrpSpPr>
        <p:grpSpPr>
          <a:xfrm>
            <a:off x="2901589" y="2320979"/>
            <a:ext cx="6388823" cy="901065"/>
            <a:chOff x="3977908" y="1027772"/>
            <a:chExt cx="6388823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977908" y="1027772"/>
              <a:ext cx="6388823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4226328" y="1217006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一、对坐标的曲线积分的概念与性质</a:t>
              </a:r>
              <a:endParaRPr lang="zh-CN" altLang="en-US" sz="2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5AC671-4239-4442-839D-0B10800C5DE4}"/>
              </a:ext>
            </a:extLst>
          </p:cNvPr>
          <p:cNvGrpSpPr/>
          <p:nvPr/>
        </p:nvGrpSpPr>
        <p:grpSpPr>
          <a:xfrm>
            <a:off x="2901589" y="3756600"/>
            <a:ext cx="6388822" cy="901065"/>
            <a:chOff x="3977909" y="2138088"/>
            <a:chExt cx="6388822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977909" y="2138088"/>
              <a:ext cx="6388822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4218088" y="2327323"/>
              <a:ext cx="53864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二、对坐标的曲线积分的计算法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70228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C322D2C4-7121-A474-609D-2D1629909CF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674887B9-035D-5771-E3D6-3E08F01452D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E732D87B-8684-885B-F818-74F9EFB70EF9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3EE5AB09-2361-ACB7-9E88-7A710D1B05DE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E4DBB37F-76C0-E0CE-FDA0-E04953FC48D5}"/>
                </a:ext>
              </a:extLst>
            </p:cNvPr>
            <p:cNvSpPr/>
            <p:nvPr userDrawn="1"/>
          </p:nvSpPr>
          <p:spPr>
            <a:xfrm rot="2659048">
              <a:off x="9060538" y="323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ADB3479-4425-240C-0C19-4A2F58222033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3D3C1E7-A685-7713-489C-111B13B01CE0}"/>
                </a:ext>
              </a:extLst>
            </p:cNvPr>
            <p:cNvSpPr/>
            <p:nvPr/>
          </p:nvSpPr>
          <p:spPr>
            <a:xfrm>
              <a:off x="9315710" y="239357"/>
              <a:ext cx="27029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FC1B86A-E33B-862B-EBDE-B60AA79E1D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4790" y="393245"/>
              <a:ext cx="856890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D20862B-1BAA-CDDC-D3CF-EB7FC49B0F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186545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1FB44F9-D50A-EE5C-EFFD-DC55D1D80697}"/>
              </a:ext>
            </a:extLst>
          </p:cNvPr>
          <p:cNvSpPr txBox="1">
            <a:spLocks/>
          </p:cNvSpPr>
          <p:nvPr/>
        </p:nvSpPr>
        <p:spPr>
          <a:xfrm>
            <a:off x="1456422" y="1011413"/>
            <a:ext cx="5816833" cy="6256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一、对坐标的曲线积分的概念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97F139-D47A-02B9-379F-4D417B458CEA}"/>
              </a:ext>
            </a:extLst>
          </p:cNvPr>
          <p:cNvSpPr txBox="1"/>
          <p:nvPr/>
        </p:nvSpPr>
        <p:spPr bwMode="auto">
          <a:xfrm>
            <a:off x="1829123" y="1687561"/>
            <a:ext cx="1334020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</a:p>
        </p:txBody>
      </p:sp>
      <p:grpSp>
        <p:nvGrpSpPr>
          <p:cNvPr id="4" name="Group 58">
            <a:extLst>
              <a:ext uri="{FF2B5EF4-FFF2-40B4-BE49-F238E27FC236}">
                <a16:creationId xmlns:a16="http://schemas.microsoft.com/office/drawing/2014/main" id="{E1DCA832-8EA8-0F8A-357B-E258A8949EC7}"/>
              </a:ext>
            </a:extLst>
          </p:cNvPr>
          <p:cNvGrpSpPr>
            <a:grpSpLocks/>
          </p:cNvGrpSpPr>
          <p:nvPr/>
        </p:nvGrpSpPr>
        <p:grpSpPr bwMode="auto">
          <a:xfrm>
            <a:off x="7417537" y="1935636"/>
            <a:ext cx="3527425" cy="2578100"/>
            <a:chOff x="3280" y="540"/>
            <a:chExt cx="2222" cy="1624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4F8C5615-911A-9B8C-0FB4-E96ADFF25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990"/>
              <a:ext cx="19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263A7106-1E9F-CA19-742D-57A63DC90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598"/>
              <a:ext cx="0" cy="13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7">
                  <a:extLst>
                    <a:ext uri="{FF2B5EF4-FFF2-40B4-BE49-F238E27FC236}">
                      <a16:creationId xmlns:a16="http://schemas.microsoft.com/office/drawing/2014/main" id="{09655776-9D5C-EC7C-DB9C-9AFF1FB38161}"/>
                    </a:ext>
                  </a:extLst>
                </p:cNvPr>
                <p:cNvSpPr txBox="1"/>
                <p:nvPr/>
              </p:nvSpPr>
              <p:spPr bwMode="auto">
                <a:xfrm>
                  <a:off x="3298" y="1955"/>
                  <a:ext cx="158" cy="2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1600" i="1" dirty="0"/>
                </a:p>
              </p:txBody>
            </p:sp>
          </mc:Choice>
          <mc:Fallback xmlns="">
            <p:sp>
              <p:nvSpPr>
                <p:cNvPr id="12" name="Object 7">
                  <a:extLst>
                    <a:ext uri="{FF2B5EF4-FFF2-40B4-BE49-F238E27FC236}">
                      <a16:creationId xmlns:a16="http://schemas.microsoft.com/office/drawing/2014/main" id="{09655776-9D5C-EC7C-DB9C-9AFF1FB381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98" y="1955"/>
                  <a:ext cx="158" cy="209"/>
                </a:xfrm>
                <a:prstGeom prst="rect">
                  <a:avLst/>
                </a:prstGeom>
                <a:blipFill>
                  <a:blip r:embed="rId3"/>
                  <a:stretch>
                    <a:fillRect r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8">
                  <a:extLst>
                    <a:ext uri="{FF2B5EF4-FFF2-40B4-BE49-F238E27FC236}">
                      <a16:creationId xmlns:a16="http://schemas.microsoft.com/office/drawing/2014/main" id="{A12252EC-461A-D229-21E5-8B42A6F719DA}"/>
                    </a:ext>
                  </a:extLst>
                </p:cNvPr>
                <p:cNvSpPr txBox="1"/>
                <p:nvPr/>
              </p:nvSpPr>
              <p:spPr bwMode="auto">
                <a:xfrm>
                  <a:off x="5250" y="2007"/>
                  <a:ext cx="252" cy="1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3" name="Object 8">
                  <a:extLst>
                    <a:ext uri="{FF2B5EF4-FFF2-40B4-BE49-F238E27FC236}">
                      <a16:creationId xmlns:a16="http://schemas.microsoft.com/office/drawing/2014/main" id="{A12252EC-461A-D229-21E5-8B42A6F71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50" y="2007"/>
                  <a:ext cx="252" cy="151"/>
                </a:xfrm>
                <a:prstGeom prst="rect">
                  <a:avLst/>
                </a:prstGeom>
                <a:blipFill>
                  <a:blip r:embed="rId4"/>
                  <a:stretch>
                    <a:fillRect b="-205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9">
                  <a:extLst>
                    <a:ext uri="{FF2B5EF4-FFF2-40B4-BE49-F238E27FC236}">
                      <a16:creationId xmlns:a16="http://schemas.microsoft.com/office/drawing/2014/main" id="{BEC19171-CEA5-CF31-1E29-4663A80B370D}"/>
                    </a:ext>
                  </a:extLst>
                </p:cNvPr>
                <p:cNvSpPr txBox="1"/>
                <p:nvPr/>
              </p:nvSpPr>
              <p:spPr bwMode="auto">
                <a:xfrm>
                  <a:off x="3280" y="540"/>
                  <a:ext cx="158" cy="1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" name="Object 9">
                  <a:extLst>
                    <a:ext uri="{FF2B5EF4-FFF2-40B4-BE49-F238E27FC236}">
                      <a16:creationId xmlns:a16="http://schemas.microsoft.com/office/drawing/2014/main" id="{BEC19171-CEA5-CF31-1E29-4663A80B3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80" y="540"/>
                  <a:ext cx="158" cy="197"/>
                </a:xfrm>
                <a:prstGeom prst="rect">
                  <a:avLst/>
                </a:prstGeom>
                <a:blipFill>
                  <a:blip r:embed="rId5"/>
                  <a:stretch>
                    <a:fillRect r="-9756" b="-1176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rc 11">
              <a:extLst>
                <a:ext uri="{FF2B5EF4-FFF2-40B4-BE49-F238E27FC236}">
                  <a16:creationId xmlns:a16="http://schemas.microsoft.com/office/drawing/2014/main" id="{95A6DC88-312C-B034-FF90-EF59EB97BEC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44" y="845"/>
              <a:ext cx="1248" cy="1008"/>
            </a:xfrm>
            <a:custGeom>
              <a:avLst/>
              <a:gdLst>
                <a:gd name="G0" fmla="+- 21600 0 0"/>
                <a:gd name="G1" fmla="+- 1119 0 0"/>
                <a:gd name="G2" fmla="+- 21600 0 0"/>
                <a:gd name="T0" fmla="*/ 20123 w 21600"/>
                <a:gd name="T1" fmla="*/ 22668 h 22668"/>
                <a:gd name="T2" fmla="*/ 29 w 21600"/>
                <a:gd name="T3" fmla="*/ 0 h 22668"/>
                <a:gd name="T4" fmla="*/ 21600 w 21600"/>
                <a:gd name="T5" fmla="*/ 1119 h 22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668" fill="none" extrusionOk="0">
                  <a:moveTo>
                    <a:pt x="20122" y="22668"/>
                  </a:moveTo>
                  <a:cubicBezTo>
                    <a:pt x="8793" y="21891"/>
                    <a:pt x="0" y="12475"/>
                    <a:pt x="0" y="1119"/>
                  </a:cubicBezTo>
                  <a:cubicBezTo>
                    <a:pt x="0" y="745"/>
                    <a:pt x="9" y="372"/>
                    <a:pt x="29" y="0"/>
                  </a:cubicBezTo>
                </a:path>
                <a:path w="21600" h="22668" stroke="0" extrusionOk="0">
                  <a:moveTo>
                    <a:pt x="20122" y="22668"/>
                  </a:moveTo>
                  <a:cubicBezTo>
                    <a:pt x="8793" y="21891"/>
                    <a:pt x="0" y="12475"/>
                    <a:pt x="0" y="1119"/>
                  </a:cubicBezTo>
                  <a:cubicBezTo>
                    <a:pt x="0" y="745"/>
                    <a:pt x="9" y="372"/>
                    <a:pt x="29" y="0"/>
                  </a:cubicBezTo>
                  <a:lnTo>
                    <a:pt x="21600" y="1119"/>
                  </a:lnTo>
                  <a:close/>
                </a:path>
              </a:pathLst>
            </a:custGeom>
            <a:noFill/>
            <a:ln w="31750">
              <a:solidFill>
                <a:srgbClr val="A9D18E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12">
                  <a:extLst>
                    <a:ext uri="{FF2B5EF4-FFF2-40B4-BE49-F238E27FC236}">
                      <a16:creationId xmlns:a16="http://schemas.microsoft.com/office/drawing/2014/main" id="{E063FFCC-B585-4B0E-6102-0D52DAB4AA28}"/>
                    </a:ext>
                  </a:extLst>
                </p:cNvPr>
                <p:cNvSpPr txBox="1"/>
                <p:nvPr/>
              </p:nvSpPr>
              <p:spPr bwMode="auto">
                <a:xfrm>
                  <a:off x="3504" y="1750"/>
                  <a:ext cx="240" cy="2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0" name="Object 12">
                  <a:extLst>
                    <a:ext uri="{FF2B5EF4-FFF2-40B4-BE49-F238E27FC236}">
                      <a16:creationId xmlns:a16="http://schemas.microsoft.com/office/drawing/2014/main" id="{E063FFCC-B585-4B0E-6102-0D52DAB4A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4" y="1750"/>
                  <a:ext cx="240" cy="25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13">
                  <a:extLst>
                    <a:ext uri="{FF2B5EF4-FFF2-40B4-BE49-F238E27FC236}">
                      <a16:creationId xmlns:a16="http://schemas.microsoft.com/office/drawing/2014/main" id="{199E157C-94DB-0C6F-86E1-8C4C4723298D}"/>
                    </a:ext>
                  </a:extLst>
                </p:cNvPr>
                <p:cNvSpPr txBox="1"/>
                <p:nvPr/>
              </p:nvSpPr>
              <p:spPr bwMode="auto">
                <a:xfrm>
                  <a:off x="4800" y="646"/>
                  <a:ext cx="242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1" name="Object 13">
                  <a:extLst>
                    <a:ext uri="{FF2B5EF4-FFF2-40B4-BE49-F238E27FC236}">
                      <a16:creationId xmlns:a16="http://schemas.microsoft.com/office/drawing/2014/main" id="{199E157C-94DB-0C6F-86E1-8C4C472329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0" y="646"/>
                  <a:ext cx="242" cy="2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32">
                  <a:extLst>
                    <a:ext uri="{FF2B5EF4-FFF2-40B4-BE49-F238E27FC236}">
                      <a16:creationId xmlns:a16="http://schemas.microsoft.com/office/drawing/2014/main" id="{D7013CFA-2A2E-E9EE-DEC1-CF35212A95BA}"/>
                    </a:ext>
                  </a:extLst>
                </p:cNvPr>
                <p:cNvSpPr txBox="1"/>
                <p:nvPr/>
              </p:nvSpPr>
              <p:spPr bwMode="auto">
                <a:xfrm>
                  <a:off x="4558" y="914"/>
                  <a:ext cx="242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Object 32">
                  <a:extLst>
                    <a:ext uri="{FF2B5EF4-FFF2-40B4-BE49-F238E27FC236}">
                      <a16:creationId xmlns:a16="http://schemas.microsoft.com/office/drawing/2014/main" id="{D7013CFA-2A2E-E9EE-DEC1-CF35212A9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58" y="914"/>
                  <a:ext cx="242" cy="186"/>
                </a:xfrm>
                <a:prstGeom prst="rect">
                  <a:avLst/>
                </a:prstGeom>
                <a:blipFill>
                  <a:blip r:embed="rId8"/>
                  <a:stretch>
                    <a:fillRect b="-41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48">
                <a:extLst>
                  <a:ext uri="{FF2B5EF4-FFF2-40B4-BE49-F238E27FC236}">
                    <a16:creationId xmlns:a16="http://schemas.microsoft.com/office/drawing/2014/main" id="{67C013D2-273B-7402-7920-48D51210D230}"/>
                  </a:ext>
                </a:extLst>
              </p:cNvPr>
              <p:cNvSpPr txBox="1"/>
              <p:nvPr/>
            </p:nvSpPr>
            <p:spPr bwMode="auto">
              <a:xfrm>
                <a:off x="2246198" y="2500313"/>
                <a:ext cx="1638300" cy="5068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→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6" name="Object 48">
                <a:extLst>
                  <a:ext uri="{FF2B5EF4-FFF2-40B4-BE49-F238E27FC236}">
                    <a16:creationId xmlns:a16="http://schemas.microsoft.com/office/drawing/2014/main" id="{67C013D2-273B-7402-7920-48D51210D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198" y="2500313"/>
                <a:ext cx="1638300" cy="5068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49">
                <a:extLst>
                  <a:ext uri="{FF2B5EF4-FFF2-40B4-BE49-F238E27FC236}">
                    <a16:creationId xmlns:a16="http://schemas.microsoft.com/office/drawing/2014/main" id="{CF490188-E9CB-1850-8E57-75ED2C2064E9}"/>
                  </a:ext>
                </a:extLst>
              </p:cNvPr>
              <p:cNvSpPr txBox="1"/>
              <p:nvPr/>
            </p:nvSpPr>
            <p:spPr bwMode="auto">
              <a:xfrm>
                <a:off x="2246198" y="3043044"/>
                <a:ext cx="4906112" cy="5179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</m:oMath>
                  </m:oMathPara>
                </a14:m>
                <a:endParaRPr kumimoji="1" lang="zh-CN" altLang="en-US" sz="2800" b="1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8" name="Object 49">
                <a:extLst>
                  <a:ext uri="{FF2B5EF4-FFF2-40B4-BE49-F238E27FC236}">
                    <a16:creationId xmlns:a16="http://schemas.microsoft.com/office/drawing/2014/main" id="{CF490188-E9CB-1850-8E57-75ED2C206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198" y="3043044"/>
                <a:ext cx="4906112" cy="51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51">
                <a:extLst>
                  <a:ext uri="{FF2B5EF4-FFF2-40B4-BE49-F238E27FC236}">
                    <a16:creationId xmlns:a16="http://schemas.microsoft.com/office/drawing/2014/main" id="{1893DBA8-EA24-8F59-F792-0727252DE234}"/>
                  </a:ext>
                </a:extLst>
              </p:cNvPr>
              <p:cNvSpPr txBox="1"/>
              <p:nvPr/>
            </p:nvSpPr>
            <p:spPr bwMode="auto">
              <a:xfrm>
                <a:off x="2246198" y="5006517"/>
                <a:ext cx="186311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𝑭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常力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直线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0" name="Object 51">
                <a:extLst>
                  <a:ext uri="{FF2B5EF4-FFF2-40B4-BE49-F238E27FC236}">
                    <a16:creationId xmlns:a16="http://schemas.microsoft.com/office/drawing/2014/main" id="{1893DBA8-EA24-8F59-F792-0727252DE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198" y="5006517"/>
                <a:ext cx="1863113" cy="9271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对象 60">
                <a:extLst>
                  <a:ext uri="{FF2B5EF4-FFF2-40B4-BE49-F238E27FC236}">
                    <a16:creationId xmlns:a16="http://schemas.microsoft.com/office/drawing/2014/main" id="{F8783C31-D470-5665-00DC-32E4527124C5}"/>
                  </a:ext>
                </a:extLst>
              </p:cNvPr>
              <p:cNvSpPr txBox="1"/>
              <p:nvPr/>
            </p:nvSpPr>
            <p:spPr>
              <a:xfrm>
                <a:off x="2246198" y="3653311"/>
                <a:ext cx="4667987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求变力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𝑭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沿曲线所作的功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1" name="对象 60">
                <a:extLst>
                  <a:ext uri="{FF2B5EF4-FFF2-40B4-BE49-F238E27FC236}">
                    <a16:creationId xmlns:a16="http://schemas.microsoft.com/office/drawing/2014/main" id="{F8783C31-D470-5665-00DC-32E452712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198" y="3653311"/>
                <a:ext cx="4667987" cy="406400"/>
              </a:xfrm>
              <a:prstGeom prst="rect">
                <a:avLst/>
              </a:prstGeom>
              <a:blipFill>
                <a:blip r:embed="rId12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Line 83">
            <a:extLst>
              <a:ext uri="{FF2B5EF4-FFF2-40B4-BE49-F238E27FC236}">
                <a16:creationId xmlns:a16="http://schemas.microsoft.com/office/drawing/2014/main" id="{9DF8A28A-206A-AC94-B5A6-A3EA6EE3FE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4285" y="2352769"/>
            <a:ext cx="543165" cy="760158"/>
          </a:xfrm>
          <a:prstGeom prst="line">
            <a:avLst/>
          </a:prstGeom>
          <a:noFill/>
          <a:ln w="31750">
            <a:solidFill>
              <a:srgbClr val="04926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5" name="右箭头 49">
            <a:extLst>
              <a:ext uri="{FF2B5EF4-FFF2-40B4-BE49-F238E27FC236}">
                <a16:creationId xmlns:a16="http://schemas.microsoft.com/office/drawing/2014/main" id="{7EFE5790-EE09-CBAB-F845-D46AD4C0B052}"/>
              </a:ext>
            </a:extLst>
          </p:cNvPr>
          <p:cNvSpPr/>
          <p:nvPr/>
        </p:nvSpPr>
        <p:spPr>
          <a:xfrm>
            <a:off x="3590921" y="5352661"/>
            <a:ext cx="1626582" cy="234812"/>
          </a:xfrm>
          <a:prstGeom prst="rightArrow">
            <a:avLst>
              <a:gd name="adj1" fmla="val 50000"/>
              <a:gd name="adj2" fmla="val 199776"/>
            </a:avLst>
          </a:prstGeom>
          <a:solidFill>
            <a:srgbClr val="04926A"/>
          </a:solidFill>
          <a:ln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对象 65">
                <a:extLst>
                  <a:ext uri="{FF2B5EF4-FFF2-40B4-BE49-F238E27FC236}">
                    <a16:creationId xmlns:a16="http://schemas.microsoft.com/office/drawing/2014/main" id="{BFBC39AB-1E75-0EE9-FCA5-FF771F9CA10C}"/>
                  </a:ext>
                </a:extLst>
              </p:cNvPr>
              <p:cNvSpPr txBox="1"/>
              <p:nvPr/>
            </p:nvSpPr>
            <p:spPr>
              <a:xfrm>
                <a:off x="5242543" y="5127748"/>
                <a:ext cx="2528038" cy="56584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功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𝑊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𝑭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𝐴𝐵</m:t>
                          </m:r>
                        </m:e>
                      </m:ac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6" name="对象 65">
                <a:extLst>
                  <a:ext uri="{FF2B5EF4-FFF2-40B4-BE49-F238E27FC236}">
                    <a16:creationId xmlns:a16="http://schemas.microsoft.com/office/drawing/2014/main" id="{BFBC39AB-1E75-0EE9-FCA5-FF771F9CA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543" y="5127748"/>
                <a:ext cx="2528038" cy="5658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75">
            <a:extLst>
              <a:ext uri="{FF2B5EF4-FFF2-40B4-BE49-F238E27FC236}">
                <a16:creationId xmlns:a16="http://schemas.microsoft.com/office/drawing/2014/main" id="{C35E91FA-FB16-493B-4A3C-14B5D83ED65A}"/>
              </a:ext>
            </a:extLst>
          </p:cNvPr>
          <p:cNvGrpSpPr>
            <a:grpSpLocks/>
          </p:cNvGrpSpPr>
          <p:nvPr/>
        </p:nvGrpSpPr>
        <p:grpSpPr bwMode="auto">
          <a:xfrm>
            <a:off x="8531168" y="4745442"/>
            <a:ext cx="1830388" cy="1214438"/>
            <a:chOff x="3975" y="560"/>
            <a:chExt cx="1153" cy="765"/>
          </a:xfrm>
        </p:grpSpPr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D03F5782-1D59-C3AB-517C-D7773600B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2" y="1080"/>
              <a:ext cx="976" cy="0"/>
            </a:xfrm>
            <a:prstGeom prst="line">
              <a:avLst/>
            </a:prstGeom>
            <a:noFill/>
            <a:ln w="19050">
              <a:solidFill>
                <a:srgbClr val="A9D18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Rectangle 66">
              <a:extLst>
                <a:ext uri="{FF2B5EF4-FFF2-40B4-BE49-F238E27FC236}">
                  <a16:creationId xmlns:a16="http://schemas.microsoft.com/office/drawing/2014/main" id="{E611ECE9-9EE3-624D-393D-4D0021FD4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6" y="984"/>
              <a:ext cx="192" cy="192"/>
            </a:xfrm>
            <a:prstGeom prst="rect">
              <a:avLst/>
            </a:prstGeom>
            <a:solidFill>
              <a:schemeClr val="accent1">
                <a:alpha val="28999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E0A92A98-815A-50E8-9D3A-8F0502001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2" y="720"/>
              <a:ext cx="352" cy="36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68">
              <a:extLst>
                <a:ext uri="{FF2B5EF4-FFF2-40B4-BE49-F238E27FC236}">
                  <a16:creationId xmlns:a16="http://schemas.microsoft.com/office/drawing/2014/main" id="{08264D67-679C-A27C-49FC-A4E80AF8D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560"/>
              <a:ext cx="18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1" i="1" dirty="0">
                  <a:solidFill>
                    <a:srgbClr val="04926A"/>
                  </a:solidFill>
                  <a:latin typeface="Cambria Math" panose="02040503050406030204" pitchFamily="18" charset="0"/>
                </a:rPr>
                <a:t>F</a:t>
              </a:r>
            </a:p>
          </p:txBody>
        </p:sp>
        <p:sp>
          <p:nvSpPr>
            <p:cNvPr id="72" name="Oval 69">
              <a:extLst>
                <a:ext uri="{FF2B5EF4-FFF2-40B4-BE49-F238E27FC236}">
                  <a16:creationId xmlns:a16="http://schemas.microsoft.com/office/drawing/2014/main" id="{A7FFBD37-FC55-E6AE-D1E7-09E01461B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1048"/>
              <a:ext cx="48" cy="48"/>
            </a:xfrm>
            <a:prstGeom prst="ellipse">
              <a:avLst/>
            </a:prstGeom>
            <a:solidFill>
              <a:srgbClr val="04926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3" name="Oval 70">
              <a:extLst>
                <a:ext uri="{FF2B5EF4-FFF2-40B4-BE49-F238E27FC236}">
                  <a16:creationId xmlns:a16="http://schemas.microsoft.com/office/drawing/2014/main" id="{A4BA5039-7D5C-59FA-0CE2-C884232A4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" y="1056"/>
              <a:ext cx="48" cy="48"/>
            </a:xfrm>
            <a:prstGeom prst="ellipse">
              <a:avLst/>
            </a:prstGeom>
            <a:solidFill>
              <a:srgbClr val="04926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71">
              <a:extLst>
                <a:ext uri="{FF2B5EF4-FFF2-40B4-BE49-F238E27FC236}">
                  <a16:creationId xmlns:a16="http://schemas.microsoft.com/office/drawing/2014/main" id="{3BF1B45D-96C6-C92C-61AE-BCFE584E3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1112"/>
              <a:ext cx="28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1" dirty="0">
                  <a:solidFill>
                    <a:srgbClr val="000000"/>
                  </a:solidFill>
                  <a:latin typeface="Cambria Math" panose="02040503050406030204" pitchFamily="18" charset="0"/>
                </a:rPr>
                <a:t>A</a:t>
              </a:r>
            </a:p>
          </p:txBody>
        </p:sp>
        <p:sp>
          <p:nvSpPr>
            <p:cNvPr id="75" name="Text Box 72">
              <a:extLst>
                <a:ext uri="{FF2B5EF4-FFF2-40B4-BE49-F238E27FC236}">
                  <a16:creationId xmlns:a16="http://schemas.microsoft.com/office/drawing/2014/main" id="{1A3F1787-640B-A222-7506-0B396C817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1104"/>
              <a:ext cx="15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1" dirty="0">
                  <a:solidFill>
                    <a:srgbClr val="000000"/>
                  </a:solidFill>
                  <a:latin typeface="Cambria Math" panose="02040503050406030204" pitchFamily="18" charset="0"/>
                </a:rPr>
                <a:t>B</a:t>
              </a:r>
            </a:p>
          </p:txBody>
        </p:sp>
        <p:sp>
          <p:nvSpPr>
            <p:cNvPr id="76" name="Arc 73">
              <a:extLst>
                <a:ext uri="{FF2B5EF4-FFF2-40B4-BE49-F238E27FC236}">
                  <a16:creationId xmlns:a16="http://schemas.microsoft.com/office/drawing/2014/main" id="{BE483745-F0B5-7FCA-91A3-26D6BDCB5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944"/>
              <a:ext cx="48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Text Box 74">
              <a:extLst>
                <a:ext uri="{FF2B5EF4-FFF2-40B4-BE49-F238E27FC236}">
                  <a16:creationId xmlns:a16="http://schemas.microsoft.com/office/drawing/2014/main" id="{DE8BB71A-83B1-1E4E-B00D-5C8B39D25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891"/>
              <a:ext cx="28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1" dirty="0">
                  <a:solidFill>
                    <a:srgbClr val="A9D18E"/>
                  </a:solidFill>
                  <a:latin typeface="Cambria Math" panose="02040503050406030204" pitchFamily="18" charset="0"/>
                  <a:sym typeface="Symbol" panose="05050102010706020507" pitchFamily="18" charset="2"/>
                </a:rPr>
                <a:t></a:t>
              </a:r>
            </a:p>
          </p:txBody>
        </p:sp>
      </p:grpSp>
      <p:sp>
        <p:nvSpPr>
          <p:cNvPr id="29" name="椭圆 28">
            <a:extLst>
              <a:ext uri="{FF2B5EF4-FFF2-40B4-BE49-F238E27FC236}">
                <a16:creationId xmlns:a16="http://schemas.microsoft.com/office/drawing/2014/main" id="{2E61FD28-5937-DB38-0F85-EB068A4C2261}"/>
              </a:ext>
            </a:extLst>
          </p:cNvPr>
          <p:cNvSpPr/>
          <p:nvPr/>
        </p:nvSpPr>
        <p:spPr>
          <a:xfrm>
            <a:off x="8410679" y="3072021"/>
            <a:ext cx="107212" cy="107212"/>
          </a:xfrm>
          <a:prstGeom prst="ellipse">
            <a:avLst/>
          </a:prstGeom>
          <a:solidFill>
            <a:srgbClr val="049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48">
                <a:extLst>
                  <a:ext uri="{FF2B5EF4-FFF2-40B4-BE49-F238E27FC236}">
                    <a16:creationId xmlns:a16="http://schemas.microsoft.com/office/drawing/2014/main" id="{AF100182-2DEB-BFE7-8A01-A5C4FE91D70E}"/>
                  </a:ext>
                </a:extLst>
              </p:cNvPr>
              <p:cNvSpPr txBox="1"/>
              <p:nvPr/>
            </p:nvSpPr>
            <p:spPr bwMode="auto">
              <a:xfrm>
                <a:off x="8845816" y="1937037"/>
                <a:ext cx="1265238" cy="5068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1600" b="1" i="1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kumimoji="1" lang="zh-CN" altLang="en-US" sz="1600" i="1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1600" i="1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1600" i="1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1600" i="1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1600" i="1" smtClean="0">
                          <a:solidFill>
                            <a:srgbClr val="04926A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600" i="1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2" name="Object 48">
                <a:extLst>
                  <a:ext uri="{FF2B5EF4-FFF2-40B4-BE49-F238E27FC236}">
                    <a16:creationId xmlns:a16="http://schemas.microsoft.com/office/drawing/2014/main" id="{AF100182-2DEB-BFE7-8A01-A5C4FE91D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5816" y="1937037"/>
                <a:ext cx="1265238" cy="5068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AFF59130-0C60-DEFC-3DA0-7DBD5B1E4411}"/>
              </a:ext>
            </a:extLst>
          </p:cNvPr>
          <p:cNvGrpSpPr/>
          <p:nvPr/>
        </p:nvGrpSpPr>
        <p:grpSpPr>
          <a:xfrm>
            <a:off x="2369185" y="4448716"/>
            <a:ext cx="962025" cy="448945"/>
            <a:chOff x="1553" y="3803"/>
            <a:chExt cx="1515" cy="707"/>
          </a:xfrm>
        </p:grpSpPr>
        <p:sp>
          <p:nvSpPr>
            <p:cNvPr id="9" name="圆角矩形 57">
              <a:extLst>
                <a:ext uri="{FF2B5EF4-FFF2-40B4-BE49-F238E27FC236}">
                  <a16:creationId xmlns:a16="http://schemas.microsoft.com/office/drawing/2014/main" id="{085905AA-E59E-FFC6-7A0C-759C23725BF2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1834CBC2-33B8-5B19-6F05-21FF8D035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回顾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6" grpId="0"/>
      <p:bldP spid="58" grpId="0"/>
      <p:bldP spid="60" grpId="0"/>
      <p:bldP spid="61" grpId="0"/>
      <p:bldP spid="63" grpId="0" animBg="1"/>
      <p:bldP spid="65" grpId="0" animBg="1"/>
      <p:bldP spid="66" grpId="0"/>
      <p:bldP spid="29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3D15D972-C240-07F4-3662-6CD0CBF76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86" y="4426278"/>
            <a:ext cx="15708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近似和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125EE3FB-6E84-4EC7-42C5-21BF6F1AE16F}"/>
                  </a:ext>
                </a:extLst>
              </p:cNvPr>
              <p:cNvSpPr txBox="1"/>
              <p:nvPr/>
            </p:nvSpPr>
            <p:spPr bwMode="auto">
              <a:xfrm>
                <a:off x="3897920" y="4047685"/>
                <a:ext cx="5838603" cy="12403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]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125EE3FB-6E84-4EC7-42C5-21BF6F1AE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7920" y="4047685"/>
                <a:ext cx="5838603" cy="1240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8">
            <a:extLst>
              <a:ext uri="{FF2B5EF4-FFF2-40B4-BE49-F238E27FC236}">
                <a16:creationId xmlns:a16="http://schemas.microsoft.com/office/drawing/2014/main" id="{4D6DB940-0E26-DF55-80EE-C7DB0B57F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86" y="5558851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取极限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93D4C55C-4286-EB4D-8B3D-FD01CE01C7DC}"/>
                  </a:ext>
                </a:extLst>
              </p:cNvPr>
              <p:cNvSpPr txBox="1"/>
              <p:nvPr/>
            </p:nvSpPr>
            <p:spPr bwMode="auto">
              <a:xfrm>
                <a:off x="1914792" y="5159414"/>
                <a:ext cx="7140999" cy="13179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𝑊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[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𝑃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𝑄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93D4C55C-4286-EB4D-8B3D-FD01CE01C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4792" y="5159414"/>
                <a:ext cx="7140999" cy="13179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2">
                <a:extLst>
                  <a:ext uri="{FF2B5EF4-FFF2-40B4-BE49-F238E27FC236}">
                    <a16:creationId xmlns:a16="http://schemas.microsoft.com/office/drawing/2014/main" id="{0E2DB8A4-6CA5-A425-BE5B-0F9FFDB78FD3}"/>
                  </a:ext>
                </a:extLst>
              </p:cNvPr>
              <p:cNvSpPr txBox="1"/>
              <p:nvPr/>
            </p:nvSpPr>
            <p:spPr bwMode="auto">
              <a:xfrm>
                <a:off x="1933080" y="2215281"/>
                <a:ext cx="5654523" cy="535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取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12">
                <a:extLst>
                  <a:ext uri="{FF2B5EF4-FFF2-40B4-BE49-F238E27FC236}">
                    <a16:creationId xmlns:a16="http://schemas.microsoft.com/office/drawing/2014/main" id="{0E2DB8A4-6CA5-A425-BE5B-0F9FFDB78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3080" y="2215281"/>
                <a:ext cx="5654523" cy="535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AE2AC848-CD12-F42E-415D-8EA6F35693E3}"/>
                  </a:ext>
                </a:extLst>
              </p:cNvPr>
              <p:cNvSpPr txBox="1"/>
              <p:nvPr/>
            </p:nvSpPr>
            <p:spPr bwMode="auto">
              <a:xfrm>
                <a:off x="1933080" y="2776484"/>
                <a:ext cx="5663472" cy="13050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 ≈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)⋅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    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≈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AE2AC848-CD12-F42E-415D-8EA6F3569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3080" y="2776484"/>
                <a:ext cx="5663472" cy="13050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6">
                <a:extLst>
                  <a:ext uri="{FF2B5EF4-FFF2-40B4-BE49-F238E27FC236}">
                    <a16:creationId xmlns:a16="http://schemas.microsoft.com/office/drawing/2014/main" id="{259A825E-FA35-AEE2-0EA7-872C86E57978}"/>
                  </a:ext>
                </a:extLst>
              </p:cNvPr>
              <p:cNvSpPr txBox="1"/>
              <p:nvPr/>
            </p:nvSpPr>
            <p:spPr bwMode="auto">
              <a:xfrm>
                <a:off x="1914792" y="4044560"/>
                <a:ext cx="2374012" cy="12927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𝑊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16">
                <a:extLst>
                  <a:ext uri="{FF2B5EF4-FFF2-40B4-BE49-F238E27FC236}">
                    <a16:creationId xmlns:a16="http://schemas.microsoft.com/office/drawing/2014/main" id="{259A825E-FA35-AEE2-0EA7-872C86E57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4792" y="4044560"/>
                <a:ext cx="2374012" cy="12927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 Box 38">
            <a:extLst>
              <a:ext uri="{FF2B5EF4-FFF2-40B4-BE49-F238E27FC236}">
                <a16:creationId xmlns:a16="http://schemas.microsoft.com/office/drawing/2014/main" id="{268C2F24-D02F-AE2B-1BE2-39973519B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86" y="1565503"/>
            <a:ext cx="17870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常代变</a:t>
            </a:r>
          </a:p>
        </p:txBody>
      </p:sp>
      <p:sp>
        <p:nvSpPr>
          <p:cNvPr id="69" name="Text Box 52">
            <a:extLst>
              <a:ext uri="{FF2B5EF4-FFF2-40B4-BE49-F238E27FC236}">
                <a16:creationId xmlns:a16="http://schemas.microsoft.com/office/drawing/2014/main" id="{14030015-B388-45AA-51CD-606CF20BA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86" y="974886"/>
            <a:ext cx="14142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大化小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bject 53">
                <a:extLst>
                  <a:ext uri="{FF2B5EF4-FFF2-40B4-BE49-F238E27FC236}">
                    <a16:creationId xmlns:a16="http://schemas.microsoft.com/office/drawing/2014/main" id="{902A359C-5E87-1639-21E5-5247B96AD88A}"/>
                  </a:ext>
                </a:extLst>
              </p:cNvPr>
              <p:cNvSpPr txBox="1"/>
              <p:nvPr/>
            </p:nvSpPr>
            <p:spPr bwMode="auto">
              <a:xfrm>
                <a:off x="1914792" y="948375"/>
                <a:ext cx="7800150" cy="5216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),⋯,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0" name="Object 53">
                <a:extLst>
                  <a:ext uri="{FF2B5EF4-FFF2-40B4-BE49-F238E27FC236}">
                    <a16:creationId xmlns:a16="http://schemas.microsoft.com/office/drawing/2014/main" id="{902A359C-5E87-1639-21E5-5247B96AD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4792" y="948375"/>
                <a:ext cx="7800150" cy="52167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56">
                <a:extLst>
                  <a:ext uri="{FF2B5EF4-FFF2-40B4-BE49-F238E27FC236}">
                    <a16:creationId xmlns:a16="http://schemas.microsoft.com/office/drawing/2014/main" id="{FC3C7B4A-9193-A9D8-4D07-4EE44BFA15E1}"/>
                  </a:ext>
                </a:extLst>
              </p:cNvPr>
              <p:cNvSpPr txBox="1"/>
              <p:nvPr/>
            </p:nvSpPr>
            <p:spPr bwMode="auto">
              <a:xfrm>
                <a:off x="1914792" y="1481881"/>
                <a:ext cx="4280661" cy="6794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pos m:val="top"/>
                          <m:vertJc m:val="bot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+(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1" name="Object 56">
                <a:extLst>
                  <a:ext uri="{FF2B5EF4-FFF2-40B4-BE49-F238E27FC236}">
                    <a16:creationId xmlns:a16="http://schemas.microsoft.com/office/drawing/2014/main" id="{FC3C7B4A-9193-A9D8-4D07-4EE44BFA1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4792" y="1481881"/>
                <a:ext cx="4280661" cy="67947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 Box 50">
            <a:extLst>
              <a:ext uri="{FF2B5EF4-FFF2-40B4-BE49-F238E27FC236}">
                <a16:creationId xmlns:a16="http://schemas.microsoft.com/office/drawing/2014/main" id="{11992F2A-1BDB-1694-51AC-FDD114F11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86" y="384269"/>
            <a:ext cx="67112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解决方法：微元法</a:t>
            </a: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18CFEC15-88E7-DF80-AD40-5856A1E6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5566" y="5444117"/>
            <a:ext cx="1354829" cy="457200"/>
          </a:xfrm>
          <a:prstGeom prst="wedgeRectCallout">
            <a:avLst>
              <a:gd name="adj1" fmla="val -73031"/>
              <a:gd name="adj2" fmla="val 35694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</a:rPr>
              <a:t>精确值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45CEC6E1-80E2-20A0-9097-BA641EE8A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2526" y="4358333"/>
            <a:ext cx="1354829" cy="457200"/>
          </a:xfrm>
          <a:prstGeom prst="wedgeRectCallout">
            <a:avLst>
              <a:gd name="adj1" fmla="val -73031"/>
              <a:gd name="adj2" fmla="val 35694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</a:rPr>
              <a:t>近似值</a:t>
            </a:r>
          </a:p>
        </p:txBody>
      </p:sp>
      <p:pic>
        <p:nvPicPr>
          <p:cNvPr id="8" name="图片 7" descr="图示&#10;&#10;描述已自动生成">
            <a:extLst>
              <a:ext uri="{FF2B5EF4-FFF2-40B4-BE49-F238E27FC236}">
                <a16:creationId xmlns:a16="http://schemas.microsoft.com/office/drawing/2014/main" id="{76CA87E4-6D8C-00BA-9905-0FABB2922286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99" y="1679965"/>
            <a:ext cx="3033106" cy="2661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5" grpId="0"/>
      <p:bldP spid="18" grpId="0"/>
      <p:bldP spid="19" grpId="0"/>
      <p:bldP spid="22" grpId="0"/>
      <p:bldP spid="68" grpId="0"/>
      <p:bldP spid="69" grpId="0"/>
      <p:bldP spid="70" grpId="0"/>
      <p:bldP spid="71" grpId="0"/>
      <p:bldP spid="72" grpId="0"/>
      <p:bldP spid="4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>
            <a:extLst>
              <a:ext uri="{FF2B5EF4-FFF2-40B4-BE49-F238E27FC236}">
                <a16:creationId xmlns:a16="http://schemas.microsoft.com/office/drawing/2014/main" id="{2E630C3A-4E1E-FE8C-1150-C424B3878DCA}"/>
              </a:ext>
            </a:extLst>
          </p:cNvPr>
          <p:cNvSpPr/>
          <p:nvPr/>
        </p:nvSpPr>
        <p:spPr>
          <a:xfrm>
            <a:off x="1241071" y="2002866"/>
            <a:ext cx="9722485" cy="3978910"/>
          </a:xfrm>
          <a:prstGeom prst="rect">
            <a:avLst/>
          </a:prstGeom>
          <a:solidFill>
            <a:srgbClr val="03946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99FF8E-1DB5-F15F-4F6C-9EA4BFFD6BAD}"/>
              </a:ext>
            </a:extLst>
          </p:cNvPr>
          <p:cNvSpPr txBox="1">
            <a:spLocks/>
          </p:cNvSpPr>
          <p:nvPr/>
        </p:nvSpPr>
        <p:spPr>
          <a:xfrm>
            <a:off x="1147227" y="672447"/>
            <a:ext cx="6103782" cy="6138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二、对坐标的曲线积分的概念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57">
                <a:extLst>
                  <a:ext uri="{FF2B5EF4-FFF2-40B4-BE49-F238E27FC236}">
                    <a16:creationId xmlns:a16="http://schemas.microsoft.com/office/drawing/2014/main" id="{5BD84234-615D-60FF-E75B-35E89F93EE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8079" y="2094354"/>
                <a:ext cx="773179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定义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 设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𝑂</m:t>
                    </m:r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面内从点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到点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的一条有向光</a:t>
                </a:r>
              </a:p>
            </p:txBody>
          </p:sp>
        </mc:Choice>
        <mc:Fallback xmlns="">
          <p:sp>
            <p:nvSpPr>
              <p:cNvPr id="3" name="Text Box 57">
                <a:extLst>
                  <a:ext uri="{FF2B5EF4-FFF2-40B4-BE49-F238E27FC236}">
                    <a16:creationId xmlns:a16="http://schemas.microsoft.com/office/drawing/2014/main" id="{5BD84234-615D-60FF-E75B-35E89F93E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8079" y="2094354"/>
                <a:ext cx="7731796" cy="523220"/>
              </a:xfrm>
              <a:prstGeom prst="rect">
                <a:avLst/>
              </a:prstGeom>
              <a:blipFill>
                <a:blip r:embed="rId2"/>
                <a:stretch>
                  <a:fillRect l="-1656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8">
            <a:extLst>
              <a:ext uri="{FF2B5EF4-FFF2-40B4-BE49-F238E27FC236}">
                <a16:creationId xmlns:a16="http://schemas.microsoft.com/office/drawing/2014/main" id="{DF8ACA91-D58B-CE48-6BD2-834EF00E1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399" y="2733757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滑曲线弧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9">
                <a:extLst>
                  <a:ext uri="{FF2B5EF4-FFF2-40B4-BE49-F238E27FC236}">
                    <a16:creationId xmlns:a16="http://schemas.microsoft.com/office/drawing/2014/main" id="{1F126C9E-2E17-8A9B-1029-37F051F88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674" y="2722413"/>
                <a:ext cx="438725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𝑃</m:t>
                    </m:r>
                    <m:d>
                      <m:d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𝑄</m:t>
                    </m:r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𝐿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上有界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59">
                <a:extLst>
                  <a:ext uri="{FF2B5EF4-FFF2-40B4-BE49-F238E27FC236}">
                    <a16:creationId xmlns:a16="http://schemas.microsoft.com/office/drawing/2014/main" id="{1F126C9E-2E17-8A9B-1029-37F051F88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674" y="2722413"/>
                <a:ext cx="4387251" cy="523220"/>
              </a:xfrm>
              <a:prstGeom prst="rect">
                <a:avLst/>
              </a:prstGeom>
              <a:blipFill>
                <a:blip r:embed="rId3"/>
                <a:stretch>
                  <a:fillRect t="-16471" r="-4722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60">
                <a:extLst>
                  <a:ext uri="{FF2B5EF4-FFF2-40B4-BE49-F238E27FC236}">
                    <a16:creationId xmlns:a16="http://schemas.microsoft.com/office/drawing/2014/main" id="{E35AF584-7CBB-AF1B-2AF1-AADBC7C8F7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407" y="2704125"/>
                <a:ext cx="2514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𝐿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上沿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𝐿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</a:t>
                </a:r>
              </a:p>
            </p:txBody>
          </p:sp>
        </mc:Choice>
        <mc:Fallback xmlns="">
          <p:sp>
            <p:nvSpPr>
              <p:cNvPr id="6" name="Text Box 60">
                <a:extLst>
                  <a:ext uri="{FF2B5EF4-FFF2-40B4-BE49-F238E27FC236}">
                    <a16:creationId xmlns:a16="http://schemas.microsoft.com/office/drawing/2014/main" id="{E35AF584-7CBB-AF1B-2AF1-AADBC7C8F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4407" y="2704125"/>
                <a:ext cx="2514600" cy="523220"/>
              </a:xfrm>
              <a:prstGeom prst="rect">
                <a:avLst/>
              </a:prstGeom>
              <a:blipFill>
                <a:blip r:embed="rId4"/>
                <a:stretch>
                  <a:fillRect l="-4843"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1">
                <a:extLst>
                  <a:ext uri="{FF2B5EF4-FFF2-40B4-BE49-F238E27FC236}">
                    <a16:creationId xmlns:a16="http://schemas.microsoft.com/office/drawing/2014/main" id="{25101EFE-F4F4-61F1-1822-E9CD0E0FBD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6399" y="3378376"/>
                <a:ext cx="631130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方向任意插入一点列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⋯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7" name="Text Box 61">
                <a:extLst>
                  <a:ext uri="{FF2B5EF4-FFF2-40B4-BE49-F238E27FC236}">
                    <a16:creationId xmlns:a16="http://schemas.microsoft.com/office/drawing/2014/main" id="{25101EFE-F4F4-61F1-1822-E9CD0E0FB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6399" y="3378376"/>
                <a:ext cx="6311301" cy="523220"/>
              </a:xfrm>
              <a:prstGeom prst="rect">
                <a:avLst/>
              </a:prstGeom>
              <a:blipFill>
                <a:blip r:embed="rId5"/>
                <a:stretch>
                  <a:fillRect l="-2029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62">
                <a:extLst>
                  <a:ext uri="{FF2B5EF4-FFF2-40B4-BE49-F238E27FC236}">
                    <a16:creationId xmlns:a16="http://schemas.microsoft.com/office/drawing/2014/main" id="{433AA65A-F95B-9A42-BB5A-F4CDB978B2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72507" y="3388783"/>
                <a:ext cx="2438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把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𝐿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分成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个</a:t>
                </a:r>
              </a:p>
            </p:txBody>
          </p:sp>
        </mc:Choice>
        <mc:Fallback xmlns="">
          <p:sp>
            <p:nvSpPr>
              <p:cNvPr id="11" name="Text Box 62">
                <a:extLst>
                  <a:ext uri="{FF2B5EF4-FFF2-40B4-BE49-F238E27FC236}">
                    <a16:creationId xmlns:a16="http://schemas.microsoft.com/office/drawing/2014/main" id="{433AA65A-F95B-9A42-BB5A-F4CDB97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72507" y="3388783"/>
                <a:ext cx="2438400" cy="523220"/>
              </a:xfrm>
              <a:prstGeom prst="rect">
                <a:avLst/>
              </a:prstGeom>
              <a:blipFill>
                <a:blip r:embed="rId6"/>
                <a:stretch>
                  <a:fillRect l="-5000" t="-16279" r="-500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63">
            <a:extLst>
              <a:ext uri="{FF2B5EF4-FFF2-40B4-BE49-F238E27FC236}">
                <a16:creationId xmlns:a16="http://schemas.microsoft.com/office/drawing/2014/main" id="{20FFC8D2-4DDC-D37E-D5D0-F4A72E7F5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399" y="4027103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有向小弧段</a:t>
            </a:r>
          </a:p>
        </p:txBody>
      </p:sp>
      <p:grpSp>
        <p:nvGrpSpPr>
          <p:cNvPr id="13" name="Group 66">
            <a:extLst>
              <a:ext uri="{FF2B5EF4-FFF2-40B4-BE49-F238E27FC236}">
                <a16:creationId xmlns:a16="http://schemas.microsoft.com/office/drawing/2014/main" id="{120DB6B5-D3CD-49E5-A180-08D04AFBA57A}"/>
              </a:ext>
            </a:extLst>
          </p:cNvPr>
          <p:cNvGrpSpPr>
            <a:grpSpLocks/>
          </p:cNvGrpSpPr>
          <p:nvPr/>
        </p:nvGrpSpPr>
        <p:grpSpPr bwMode="auto">
          <a:xfrm>
            <a:off x="3787012" y="3879346"/>
            <a:ext cx="6384925" cy="719137"/>
            <a:chOff x="1392" y="2048"/>
            <a:chExt cx="4022" cy="4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64">
                  <a:extLst>
                    <a:ext uri="{FF2B5EF4-FFF2-40B4-BE49-F238E27FC236}">
                      <a16:creationId xmlns:a16="http://schemas.microsoft.com/office/drawing/2014/main" id="{B8342F29-1A92-7C95-135A-518F7F937935}"/>
                    </a:ext>
                  </a:extLst>
                </p:cNvPr>
                <p:cNvSpPr txBox="1"/>
                <p:nvPr/>
              </p:nvSpPr>
              <p:spPr bwMode="auto">
                <a:xfrm>
                  <a:off x="1392" y="2136"/>
                  <a:ext cx="402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8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8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=1, 2,⋯,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;</m:t>
                        </m:r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𝐴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𝐵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).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" name="Object 64">
                  <a:extLst>
                    <a:ext uri="{FF2B5EF4-FFF2-40B4-BE49-F238E27FC236}">
                      <a16:creationId xmlns:a16="http://schemas.microsoft.com/office/drawing/2014/main" id="{B8342F29-1A92-7C95-135A-518F7F937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2136"/>
                  <a:ext cx="4022" cy="3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rc 65">
              <a:extLst>
                <a:ext uri="{FF2B5EF4-FFF2-40B4-BE49-F238E27FC236}">
                  <a16:creationId xmlns:a16="http://schemas.microsoft.com/office/drawing/2014/main" id="{6596E2D6-4461-7122-18D4-BBE6E57718E0}"/>
                </a:ext>
              </a:extLst>
            </p:cNvPr>
            <p:cNvSpPr>
              <a:spLocks/>
            </p:cNvSpPr>
            <p:nvPr/>
          </p:nvSpPr>
          <p:spPr bwMode="auto">
            <a:xfrm rot="-1870031">
              <a:off x="1544" y="2048"/>
              <a:ext cx="432" cy="2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67">
                <a:extLst>
                  <a:ext uri="{FF2B5EF4-FFF2-40B4-BE49-F238E27FC236}">
                    <a16:creationId xmlns:a16="http://schemas.microsoft.com/office/drawing/2014/main" id="{BC19E4F3-CADA-F29A-7A10-F60AA8B4DD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6399" y="4671722"/>
                <a:ext cx="52946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设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8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</a:p>
            </p:txBody>
          </p:sp>
        </mc:Choice>
        <mc:Fallback xmlns="">
          <p:sp>
            <p:nvSpPr>
              <p:cNvPr id="19" name="Text Box 67">
                <a:extLst>
                  <a:ext uri="{FF2B5EF4-FFF2-40B4-BE49-F238E27FC236}">
                    <a16:creationId xmlns:a16="http://schemas.microsoft.com/office/drawing/2014/main" id="{BC19E4F3-CADA-F29A-7A10-F60AA8B4D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6399" y="4671722"/>
                <a:ext cx="5294610" cy="523220"/>
              </a:xfrm>
              <a:prstGeom prst="rect">
                <a:avLst/>
              </a:prstGeom>
              <a:blipFill>
                <a:blip r:embed="rId9"/>
                <a:stretch>
                  <a:fillRect l="-2419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68">
                <a:extLst>
                  <a:ext uri="{FF2B5EF4-FFF2-40B4-BE49-F238E27FC236}">
                    <a16:creationId xmlns:a16="http://schemas.microsoft.com/office/drawing/2014/main" id="{22DE5AF2-3636-1D4B-CDE7-92E2381F0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487" y="4712934"/>
                <a:ext cx="198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点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)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为</a:t>
                </a:r>
              </a:p>
            </p:txBody>
          </p:sp>
        </mc:Choice>
        <mc:Fallback xmlns="">
          <p:sp>
            <p:nvSpPr>
              <p:cNvPr id="20" name="Rectangle 68">
                <a:extLst>
                  <a:ext uri="{FF2B5EF4-FFF2-40B4-BE49-F238E27FC236}">
                    <a16:creationId xmlns:a16="http://schemas.microsoft.com/office/drawing/2014/main" id="{22DE5AF2-3636-1D4B-CDE7-92E2381F0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1487" y="4712934"/>
                <a:ext cx="1981200" cy="523220"/>
              </a:xfrm>
              <a:prstGeom prst="rect">
                <a:avLst/>
              </a:prstGeom>
              <a:blipFill>
                <a:blip r:embed="rId10"/>
                <a:stretch>
                  <a:fillRect l="-6462" t="-16279" r="-3385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72">
            <a:extLst>
              <a:ext uri="{FF2B5EF4-FFF2-40B4-BE49-F238E27FC236}">
                <a16:creationId xmlns:a16="http://schemas.microsoft.com/office/drawing/2014/main" id="{3D1D99FB-8512-430D-BC4A-335ADA03EF03}"/>
              </a:ext>
            </a:extLst>
          </p:cNvPr>
          <p:cNvGrpSpPr>
            <a:grpSpLocks/>
          </p:cNvGrpSpPr>
          <p:nvPr/>
        </p:nvGrpSpPr>
        <p:grpSpPr bwMode="auto">
          <a:xfrm>
            <a:off x="8605169" y="4593808"/>
            <a:ext cx="1222375" cy="709612"/>
            <a:chOff x="2975" y="3078"/>
            <a:chExt cx="770" cy="4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70">
                  <a:extLst>
                    <a:ext uri="{FF2B5EF4-FFF2-40B4-BE49-F238E27FC236}">
                      <a16:creationId xmlns:a16="http://schemas.microsoft.com/office/drawing/2014/main" id="{73A418C4-644F-C1BE-A3AB-C29B9659DC8C}"/>
                    </a:ext>
                  </a:extLst>
                </p:cNvPr>
                <p:cNvSpPr txBox="1"/>
                <p:nvPr/>
              </p:nvSpPr>
              <p:spPr bwMode="auto">
                <a:xfrm>
                  <a:off x="2975" y="3160"/>
                  <a:ext cx="770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Object 70">
                  <a:extLst>
                    <a:ext uri="{FF2B5EF4-FFF2-40B4-BE49-F238E27FC236}">
                      <a16:creationId xmlns:a16="http://schemas.microsoft.com/office/drawing/2014/main" id="{73A418C4-644F-C1BE-A3AB-C29B9659D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5" y="3160"/>
                  <a:ext cx="770" cy="3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Arc 71">
              <a:extLst>
                <a:ext uri="{FF2B5EF4-FFF2-40B4-BE49-F238E27FC236}">
                  <a16:creationId xmlns:a16="http://schemas.microsoft.com/office/drawing/2014/main" id="{DCDBB83B-1EE4-8BE9-2AD0-1C0F9FD78A3E}"/>
                </a:ext>
              </a:extLst>
            </p:cNvPr>
            <p:cNvSpPr>
              <a:spLocks/>
            </p:cNvSpPr>
            <p:nvPr/>
          </p:nvSpPr>
          <p:spPr bwMode="auto">
            <a:xfrm rot="19729969">
              <a:off x="3172" y="3078"/>
              <a:ext cx="398" cy="28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 Box 73">
            <a:extLst>
              <a:ext uri="{FF2B5EF4-FFF2-40B4-BE49-F238E27FC236}">
                <a16:creationId xmlns:a16="http://schemas.microsoft.com/office/drawing/2014/main" id="{6AB33AF7-0ACC-B4F5-10E1-43B1F7646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5861" y="4726567"/>
            <a:ext cx="58079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上</a:t>
            </a:r>
          </a:p>
        </p:txBody>
      </p:sp>
      <p:sp>
        <p:nvSpPr>
          <p:cNvPr id="28" name="Text Box 74">
            <a:extLst>
              <a:ext uri="{FF2B5EF4-FFF2-40B4-BE49-F238E27FC236}">
                <a16:creationId xmlns:a16="http://schemas.microsoft.com/office/drawing/2014/main" id="{414B6817-4E51-86FC-36C0-B35D3563F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399" y="5320451"/>
            <a:ext cx="29313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任意取定的点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9" name="Text Box 75">
            <a:extLst>
              <a:ext uri="{FF2B5EF4-FFF2-40B4-BE49-F238E27FC236}">
                <a16:creationId xmlns:a16="http://schemas.microsoft.com/office/drawing/2014/main" id="{895F3BED-4640-FC66-FB78-6CC231AA7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789" y="5320449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如果当各小弧段长度的最大值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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67B0105-EAE7-5871-5264-28BBC01B5281}"/>
              </a:ext>
            </a:extLst>
          </p:cNvPr>
          <p:cNvSpPr txBox="1"/>
          <p:nvPr/>
        </p:nvSpPr>
        <p:spPr bwMode="auto">
          <a:xfrm>
            <a:off x="1504990" y="1296703"/>
            <a:ext cx="1334020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/>
      <p:bldP spid="3" grpId="0"/>
      <p:bldP spid="4" grpId="0"/>
      <p:bldP spid="5" grpId="0"/>
      <p:bldP spid="6" grpId="0"/>
      <p:bldP spid="7" grpId="0"/>
      <p:bldP spid="11" grpId="0"/>
      <p:bldP spid="12" grpId="0"/>
      <p:bldP spid="19" grpId="0"/>
      <p:bldP spid="20" grpId="0"/>
      <p:bldP spid="27" grpId="0"/>
      <p:bldP spid="28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BF8715F-DAA5-4D75-ED6E-38C5A00B31E6}"/>
                  </a:ext>
                </a:extLst>
              </p:cNvPr>
              <p:cNvSpPr txBox="1"/>
              <p:nvPr/>
            </p:nvSpPr>
            <p:spPr bwMode="auto">
              <a:xfrm>
                <a:off x="1443651" y="410036"/>
                <a:ext cx="9978036" cy="12715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的极限总存在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且与曲线弧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分法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及点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BF8715F-DAA5-4D75-ED6E-38C5A00B3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51" y="410036"/>
                <a:ext cx="9978036" cy="12715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3">
            <a:extLst>
              <a:ext uri="{FF2B5EF4-FFF2-40B4-BE49-F238E27FC236}">
                <a16:creationId xmlns:a16="http://schemas.microsoft.com/office/drawing/2014/main" id="{9E63FE3B-3A13-B374-FD29-5B41C37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651" y="4477975"/>
            <a:ext cx="20234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类似地定义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8417BD9E-F5CB-14C4-8DE5-C3BC5FEB8980}"/>
                  </a:ext>
                </a:extLst>
              </p:cNvPr>
              <p:cNvSpPr txBox="1"/>
              <p:nvPr/>
            </p:nvSpPr>
            <p:spPr bwMode="auto">
              <a:xfrm>
                <a:off x="3297852" y="4101738"/>
                <a:ext cx="5799137" cy="1271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 sz="2800" i="1" dirty="0">
                                          <a:latin typeface="Cambria Math" panose="02040503050406030204" charset="0"/>
                                          <a:ea typeface="MS Mincho" panose="02020609040205080304" charset="-128"/>
                                          <a:cs typeface="Cambria Math" panose="02040503050406030204" charset="0"/>
                                          <a:sym typeface="Symbol" panose="05050102010706020507" pitchFamily="18" charset="2"/>
                                        </a:rPr>
                                        <m:t>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8417BD9E-F5CB-14C4-8DE5-C3BC5FEB8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7852" y="4101738"/>
                <a:ext cx="5799137" cy="12715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5136139A-4E5D-9994-CCFE-F60F77A4F5BD}"/>
                  </a:ext>
                </a:extLst>
              </p:cNvPr>
              <p:cNvSpPr txBox="1"/>
              <p:nvPr/>
            </p:nvSpPr>
            <p:spPr bwMode="auto">
              <a:xfrm>
                <a:off x="1443651" y="5496597"/>
                <a:ext cx="5915025" cy="5365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其中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叫做被积函数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5136139A-4E5D-9994-CCFE-F60F77A4F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51" y="5496597"/>
                <a:ext cx="5915025" cy="5365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ine 6">
            <a:extLst>
              <a:ext uri="{FF2B5EF4-FFF2-40B4-BE49-F238E27FC236}">
                <a16:creationId xmlns:a16="http://schemas.microsoft.com/office/drawing/2014/main" id="{FAE5A7A0-27A6-64C6-AE3D-7F699AF43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3475" y="6103023"/>
            <a:ext cx="1420812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9CF62953-A489-F3F4-E819-17FEEAD99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9373" y="6103023"/>
            <a:ext cx="1398588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F8B4131A-0803-32EE-EA0C-7B06C7601653}"/>
                  </a:ext>
                </a:extLst>
              </p:cNvPr>
              <p:cNvSpPr txBox="1"/>
              <p:nvPr/>
            </p:nvSpPr>
            <p:spPr bwMode="auto">
              <a:xfrm>
                <a:off x="7182462" y="5543031"/>
                <a:ext cx="3000375" cy="4996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叫积分弧段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F8B4131A-0803-32EE-EA0C-7B06C7601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2462" y="5543031"/>
                <a:ext cx="3000375" cy="4996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26883A26-6F00-B016-6F48-661792A7FD1F}"/>
                  </a:ext>
                </a:extLst>
              </p:cNvPr>
              <p:cNvSpPr txBox="1"/>
              <p:nvPr/>
            </p:nvSpPr>
            <p:spPr>
              <a:xfrm>
                <a:off x="2997199" y="2821051"/>
                <a:ext cx="6399213" cy="127158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𝑃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26883A26-6F00-B016-6F48-661792A7F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199" y="2821051"/>
                <a:ext cx="6399213" cy="12715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">
                <a:extLst>
                  <a:ext uri="{FF2B5EF4-FFF2-40B4-BE49-F238E27FC236}">
                    <a16:creationId xmlns:a16="http://schemas.microsoft.com/office/drawing/2014/main" id="{AAAB38C7-056E-10C9-9AD2-6701CDB67F82}"/>
                  </a:ext>
                </a:extLst>
              </p:cNvPr>
              <p:cNvSpPr txBox="1"/>
              <p:nvPr/>
            </p:nvSpPr>
            <p:spPr bwMode="auto">
              <a:xfrm>
                <a:off x="1443651" y="1718975"/>
                <a:ext cx="9417843" cy="539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的取法无关，则称此极限为函数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在有向曲线弧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上对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Object 2">
                <a:extLst>
                  <a:ext uri="{FF2B5EF4-FFF2-40B4-BE49-F238E27FC236}">
                    <a16:creationId xmlns:a16="http://schemas.microsoft.com/office/drawing/2014/main" id="{AAAB38C7-056E-10C9-9AD2-6701CDB67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51" y="1718975"/>
                <a:ext cx="9417843" cy="5390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C39335E8-3596-C14D-86BF-2B039A07DF2E}"/>
                  </a:ext>
                </a:extLst>
              </p:cNvPr>
              <p:cNvSpPr txBox="1"/>
              <p:nvPr/>
            </p:nvSpPr>
            <p:spPr bwMode="auto">
              <a:xfrm>
                <a:off x="1443652" y="2241519"/>
                <a:ext cx="7834310" cy="539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坐标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的曲线积分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或称第二类曲线积分）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记作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C39335E8-3596-C14D-86BF-2B039A07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52" y="2241519"/>
                <a:ext cx="7834310" cy="5390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16BC83C-9EF5-68DB-3EC6-DAA5A728A35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FE5BBC83-8883-8648-5600-C4B02ABE949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圆角矩形 12">
              <a:extLst>
                <a:ext uri="{FF2B5EF4-FFF2-40B4-BE49-F238E27FC236}">
                  <a16:creationId xmlns:a16="http://schemas.microsoft.com/office/drawing/2014/main" id="{77190351-6BAA-5BD1-2186-874ABCFDBF95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9DD0483B-E408-32E4-7BD2-EA4912FC527F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E39DD965-E142-8734-C028-83AEB82828D3}"/>
                </a:ext>
              </a:extLst>
            </p:cNvPr>
            <p:cNvSpPr/>
            <p:nvPr userDrawn="1"/>
          </p:nvSpPr>
          <p:spPr>
            <a:xfrm rot="2659048">
              <a:off x="9060538" y="323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48F1FE9-347D-5C19-2143-9EE9B7BDB139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026CBB5-9BCD-776D-3422-C84AB33D4D59}"/>
                </a:ext>
              </a:extLst>
            </p:cNvPr>
            <p:cNvSpPr/>
            <p:nvPr/>
          </p:nvSpPr>
          <p:spPr>
            <a:xfrm>
              <a:off x="9315710" y="239357"/>
              <a:ext cx="27029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F2794EE-62E0-5E50-CC20-9DD9A8B5D5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4790" y="393245"/>
              <a:ext cx="856890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C9F46EA-A064-0095-AE35-A805C54A50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186545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078D7711-7813-0432-027E-1324988CA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1325" y="3134311"/>
                <a:ext cx="38100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2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组合形式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078D7711-7813-0432-027E-1324988CA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1325" y="3134311"/>
                <a:ext cx="3810000" cy="519113"/>
              </a:xfrm>
              <a:prstGeom prst="rect">
                <a:avLst/>
              </a:prstGeom>
              <a:blipFill>
                <a:blip r:embed="rId2"/>
                <a:stretch>
                  <a:fillRect t="-15294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AA116680-C7E3-C2A2-1579-FCD8CB968432}"/>
                  </a:ext>
                </a:extLst>
              </p:cNvPr>
              <p:cNvSpPr txBox="1"/>
              <p:nvPr/>
            </p:nvSpPr>
            <p:spPr>
              <a:xfrm>
                <a:off x="2189233" y="3718231"/>
                <a:ext cx="8543926" cy="97789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. 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AA116680-C7E3-C2A2-1579-FCD8CB968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233" y="3718231"/>
                <a:ext cx="8543926" cy="9778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">
                <a:extLst>
                  <a:ext uri="{FF2B5EF4-FFF2-40B4-BE49-F238E27FC236}">
                    <a16:creationId xmlns:a16="http://schemas.microsoft.com/office/drawing/2014/main" id="{8DB00A01-3353-332F-CD84-D38C8EDA3A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625" y="1285928"/>
                <a:ext cx="3810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1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  <m:r>
                      <a:rPr kumimoji="1" lang="en-US" altLang="zh-CN" sz="2800" b="0" i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存在条件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6" name="Text Box 2">
                <a:extLst>
                  <a:ext uri="{FF2B5EF4-FFF2-40B4-BE49-F238E27FC236}">
                    <a16:creationId xmlns:a16="http://schemas.microsoft.com/office/drawing/2014/main" id="{8DB00A01-3353-332F-CD84-D38C8EDA3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8625" y="1285928"/>
                <a:ext cx="3810000" cy="519112"/>
              </a:xfrm>
              <a:prstGeom prst="rect">
                <a:avLst/>
              </a:prstGeom>
              <a:blipFill>
                <a:blip r:embed="rId4"/>
                <a:stretch>
                  <a:fillRect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1C024D7E-5B3E-052E-8351-B74E92B08862}"/>
                  </a:ext>
                </a:extLst>
              </p:cNvPr>
              <p:cNvSpPr txBox="1"/>
              <p:nvPr/>
            </p:nvSpPr>
            <p:spPr>
              <a:xfrm>
                <a:off x="2001591" y="1765117"/>
                <a:ext cx="9642475" cy="12893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在光滑曲线弧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上连续时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第二类曲线</m:t>
                      </m:r>
                    </m:oMath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积分存在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1C024D7E-5B3E-052E-8351-B74E92B08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591" y="1765117"/>
                <a:ext cx="9642475" cy="1289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CCD382F2-295E-9959-B350-461993927B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1325" y="4807540"/>
                <a:ext cx="38100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3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物理意义：</a:t>
                </a:r>
                <a:endParaRPr kumimoji="1" lang="en-US" altLang="zh-CN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CCD382F2-295E-9959-B350-46199392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1325" y="4807540"/>
                <a:ext cx="3810000" cy="519113"/>
              </a:xfrm>
              <a:prstGeom prst="rect">
                <a:avLst/>
              </a:prstGeom>
              <a:blipFill>
                <a:blip r:embed="rId6"/>
                <a:stretch>
                  <a:fillRect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0973C25C-8DE1-E6DD-F5B4-E01466363E4A}"/>
                  </a:ext>
                </a:extLst>
              </p:cNvPr>
              <p:cNvSpPr txBox="1"/>
              <p:nvPr/>
            </p:nvSpPr>
            <p:spPr>
              <a:xfrm>
                <a:off x="2189233" y="5438063"/>
                <a:ext cx="6235700" cy="97789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𝑊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0973C25C-8DE1-E6DD-F5B4-E01466363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233" y="5438063"/>
                <a:ext cx="6235700" cy="9778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445FBAC9-1EB9-15D4-8A32-E2CFF6E9B271}"/>
              </a:ext>
            </a:extLst>
          </p:cNvPr>
          <p:cNvGrpSpPr/>
          <p:nvPr/>
        </p:nvGrpSpPr>
        <p:grpSpPr>
          <a:xfrm>
            <a:off x="1390247" y="568800"/>
            <a:ext cx="612775" cy="612775"/>
            <a:chOff x="1601" y="872"/>
            <a:chExt cx="965" cy="96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63FD534-C20A-8309-7DA6-06D1F8EAD4A7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2DD1DDE-A923-4483-A11D-FC8F85C986DF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6980E16-C6D4-B102-1F4D-96309C586A6C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3EF07C32-7F90-B131-053F-EEC773EA6695}"/>
              </a:ext>
            </a:extLst>
          </p:cNvPr>
          <p:cNvGrpSpPr/>
          <p:nvPr/>
        </p:nvGrpSpPr>
        <p:grpSpPr>
          <a:xfrm>
            <a:off x="1930401" y="990600"/>
            <a:ext cx="8325522" cy="5132737"/>
            <a:chOff x="1649" y="2344"/>
            <a:chExt cx="15940" cy="743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03EEF61-68FE-8968-D7A7-6911F652030F}"/>
                </a:ext>
              </a:extLst>
            </p:cNvPr>
            <p:cNvSpPr/>
            <p:nvPr/>
          </p:nvSpPr>
          <p:spPr>
            <a:xfrm>
              <a:off x="1820" y="2495"/>
              <a:ext cx="15769" cy="72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AF2D7A6-BBE5-4CF1-4BBC-E52312AC3A76}"/>
                </a:ext>
              </a:extLst>
            </p:cNvPr>
            <p:cNvSpPr/>
            <p:nvPr/>
          </p:nvSpPr>
          <p:spPr>
            <a:xfrm>
              <a:off x="1649" y="2344"/>
              <a:ext cx="15769" cy="728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10" name="Text Box 6">
            <a:extLst>
              <a:ext uri="{FF2B5EF4-FFF2-40B4-BE49-F238E27FC236}">
                <a16:creationId xmlns:a16="http://schemas.microsoft.com/office/drawing/2014/main" id="{0F8CA14A-2196-D1A8-7F93-18EB6FB40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8662" y="1262369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4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  向量形式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: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5C88A1F-E398-45AC-824C-D35F82DD8D83}"/>
              </a:ext>
            </a:extLst>
          </p:cNvPr>
          <p:cNvCxnSpPr>
            <a:cxnSpLocks/>
          </p:cNvCxnSpPr>
          <p:nvPr/>
        </p:nvCxnSpPr>
        <p:spPr>
          <a:xfrm>
            <a:off x="3718887" y="3152639"/>
            <a:ext cx="11451" cy="1246189"/>
          </a:xfrm>
          <a:prstGeom prst="straightConnector1">
            <a:avLst/>
          </a:prstGeom>
          <a:ln w="12700">
            <a:solidFill>
              <a:srgbClr val="04926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8C179BBD-DC3C-80ED-C6F1-74AF795784E8}"/>
                  </a:ext>
                </a:extLst>
              </p:cNvPr>
              <p:cNvSpPr txBox="1"/>
              <p:nvPr/>
            </p:nvSpPr>
            <p:spPr>
              <a:xfrm>
                <a:off x="4138161" y="3140071"/>
                <a:ext cx="5653087" cy="14684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记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𝑭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8C179BBD-DC3C-80ED-C6F1-74AF79578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161" y="3140071"/>
                <a:ext cx="5653087" cy="1468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extLst>
                  <a:ext uri="{FF2B5EF4-FFF2-40B4-BE49-F238E27FC236}">
                    <a16:creationId xmlns:a16="http://schemas.microsoft.com/office/drawing/2014/main" id="{006E3525-D6AC-0E39-5CA6-EBD70423B981}"/>
                  </a:ext>
                </a:extLst>
              </p:cNvPr>
              <p:cNvSpPr txBox="1"/>
              <p:nvPr/>
            </p:nvSpPr>
            <p:spPr>
              <a:xfrm>
                <a:off x="3420612" y="1993669"/>
                <a:ext cx="3884612" cy="93421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对象 12">
                <a:extLst>
                  <a:ext uri="{FF2B5EF4-FFF2-40B4-BE49-F238E27FC236}">
                    <a16:creationId xmlns:a16="http://schemas.microsoft.com/office/drawing/2014/main" id="{006E3525-D6AC-0E39-5CA6-EBD70423B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612" y="1993669"/>
                <a:ext cx="3884612" cy="9342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extLst>
                  <a:ext uri="{FF2B5EF4-FFF2-40B4-BE49-F238E27FC236}">
                    <a16:creationId xmlns:a16="http://schemas.microsoft.com/office/drawing/2014/main" id="{55B6A90B-1C84-D5D6-9206-3EF122ACB645}"/>
                  </a:ext>
                </a:extLst>
              </p:cNvPr>
              <p:cNvSpPr txBox="1"/>
              <p:nvPr/>
            </p:nvSpPr>
            <p:spPr>
              <a:xfrm>
                <a:off x="3058662" y="4569284"/>
                <a:ext cx="2627312" cy="10525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𝑭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𝒓</m:t>
                          </m:r>
                        </m:e>
                      </m:nary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对象 13">
                <a:extLst>
                  <a:ext uri="{FF2B5EF4-FFF2-40B4-BE49-F238E27FC236}">
                    <a16:creationId xmlns:a16="http://schemas.microsoft.com/office/drawing/2014/main" id="{55B6A90B-1C84-D5D6-9206-3EF122ACB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62" y="4569284"/>
                <a:ext cx="2627312" cy="1052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C0ABCCF-D9A2-B54C-C395-DEF8F71164E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0CB343E8-E4CC-3C37-734B-6AFB1043BA1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8CD70B5C-7AFE-4F88-3684-539EA75933E3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A9B2618F-B4F7-6EF6-692F-950CB23B55F7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C04E6962-CEE4-9212-1336-CFFD01461FF7}"/>
                </a:ext>
              </a:extLst>
            </p:cNvPr>
            <p:cNvSpPr/>
            <p:nvPr userDrawn="1"/>
          </p:nvSpPr>
          <p:spPr>
            <a:xfrm rot="2659048">
              <a:off x="9060538" y="323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920B10A-0D43-A81C-B001-F09C3E47F218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2078A37-793C-81E7-0395-80EF4B429D71}"/>
                </a:ext>
              </a:extLst>
            </p:cNvPr>
            <p:cNvSpPr/>
            <p:nvPr/>
          </p:nvSpPr>
          <p:spPr>
            <a:xfrm>
              <a:off x="9315710" y="239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6FC0303-1CE2-2CCB-0BB9-774A8F192C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4790" y="393245"/>
              <a:ext cx="856890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3618377-EC7F-1164-C06F-1FCAB41494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186545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15ED6F02-4512-3799-D01B-E6BD37544E14}"/>
                  </a:ext>
                </a:extLst>
              </p:cNvPr>
              <p:cNvSpPr txBox="1"/>
              <p:nvPr/>
            </p:nvSpPr>
            <p:spPr bwMode="auto">
              <a:xfrm>
                <a:off x="2817359" y="1275215"/>
                <a:ext cx="6272212" cy="1328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𝑃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CN" altLang="en-US" sz="2800" i="1" dirty="0">
                              <a:latin typeface="Times New Roman" panose="020206030504050203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15ED6F02-4512-3799-D01B-E6BD37544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359" y="1275215"/>
                <a:ext cx="6272212" cy="1328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0621E8BA-B245-C7BD-DE24-DC502F8D97A8}"/>
                  </a:ext>
                </a:extLst>
              </p:cNvPr>
              <p:cNvSpPr txBox="1"/>
              <p:nvPr/>
            </p:nvSpPr>
            <p:spPr bwMode="auto">
              <a:xfrm>
                <a:off x="2817359" y="4927962"/>
                <a:ext cx="5805487" cy="10382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𝑨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𝒓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0621E8BA-B245-C7BD-DE24-DC502F8D9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359" y="4927962"/>
                <a:ext cx="5805487" cy="1038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385C002B-1A7D-1959-B7E9-E35540813915}"/>
                  </a:ext>
                </a:extLst>
              </p:cNvPr>
              <p:cNvSpPr txBox="1"/>
              <p:nvPr/>
            </p:nvSpPr>
            <p:spPr bwMode="auto">
              <a:xfrm>
                <a:off x="2817359" y="2533015"/>
                <a:ext cx="6391275" cy="1254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𝑄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CN" altLang="en-US" sz="2800" i="1" dirty="0">
                              <a:latin typeface="Times New Roman" panose="020206030504050203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385C002B-1A7D-1959-B7E9-E35540813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359" y="2533015"/>
                <a:ext cx="6391275" cy="12541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6924E84B-4995-6209-E83D-974EE9A76C94}"/>
                  </a:ext>
                </a:extLst>
              </p:cNvPr>
              <p:cNvSpPr txBox="1"/>
              <p:nvPr/>
            </p:nvSpPr>
            <p:spPr bwMode="auto">
              <a:xfrm>
                <a:off x="2817359" y="3716202"/>
                <a:ext cx="6637337" cy="12541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𝑅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CN" altLang="en-US" sz="2800" i="1" dirty="0">
                              <a:latin typeface="Times New Roman" panose="020206030504050203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6924E84B-4995-6209-E83D-974EE9A76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359" y="3716202"/>
                <a:ext cx="6637337" cy="12541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1D25566A-4AB8-80AB-1AF5-F4DD1D1242AA}"/>
                  </a:ext>
                </a:extLst>
              </p:cNvPr>
              <p:cNvSpPr txBox="1"/>
              <p:nvPr/>
            </p:nvSpPr>
            <p:spPr>
              <a:xfrm>
                <a:off x="2509385" y="5809521"/>
                <a:ext cx="9779054" cy="54610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其中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𝑨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𝑅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,  </m:t>
                      </m:r>
                      <m:r>
                        <m:rPr>
                          <m:sty m:val="p"/>
                        </m:rP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𝒔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1D25566A-4AB8-80AB-1AF5-F4DD1D124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385" y="5809521"/>
                <a:ext cx="9779054" cy="5461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312CF634-69BB-C41C-CC5E-252ABBD39DAF}"/>
              </a:ext>
            </a:extLst>
          </p:cNvPr>
          <p:cNvSpPr txBox="1"/>
          <p:nvPr/>
        </p:nvSpPr>
        <p:spPr bwMode="auto">
          <a:xfrm>
            <a:off x="2150349" y="437763"/>
            <a:ext cx="1334020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extLst>
                  <a:ext uri="{FF2B5EF4-FFF2-40B4-BE49-F238E27FC236}">
                    <a16:creationId xmlns:a16="http://schemas.microsoft.com/office/drawing/2014/main" id="{817BE529-2D2E-991C-F409-FCBFF148778D}"/>
                  </a:ext>
                </a:extLst>
              </p:cNvPr>
              <p:cNvSpPr txBox="1"/>
              <p:nvPr/>
            </p:nvSpPr>
            <p:spPr>
              <a:xfrm>
                <a:off x="2537960" y="878432"/>
                <a:ext cx="5573712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推广到空间有向曲线弧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的情形：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对象 16">
                <a:extLst>
                  <a:ext uri="{FF2B5EF4-FFF2-40B4-BE49-F238E27FC236}">
                    <a16:creationId xmlns:a16="http://schemas.microsoft.com/office/drawing/2014/main" id="{817BE529-2D2E-991C-F409-FCBFF1487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960" y="878432"/>
                <a:ext cx="5573712" cy="444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8" grpId="0"/>
      <p:bldP spid="13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DB59995-AE6A-8A2B-43F8-26D4A21D8C7B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5" name="PA-102232">
              <a:extLst>
                <a:ext uri="{FF2B5EF4-FFF2-40B4-BE49-F238E27FC236}">
                  <a16:creationId xmlns:a16="http://schemas.microsoft.com/office/drawing/2014/main" id="{1BC7FC8B-ADB0-7C00-F239-1AFA891FD18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CCCFAD-41C3-6DD3-0DB8-0DFBC5A4BD28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F832AD11-EAEC-5070-76F8-00301DA9596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C43EE9F8-A4A3-229E-8E86-F65D5D85CC82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EC387206-7D6F-F898-BF6F-6B819E57AABE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BB16635-723B-1D49-9B04-36CFC52A96A4}"/>
              </a:ext>
            </a:extLst>
          </p:cNvPr>
          <p:cNvSpPr txBox="1"/>
          <p:nvPr/>
        </p:nvSpPr>
        <p:spPr bwMode="auto">
          <a:xfrm>
            <a:off x="1667724" y="853423"/>
            <a:ext cx="1356462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性质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E94DB3B1-2354-1574-4AA5-852EF0FB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295" y="4972725"/>
            <a:ext cx="74744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对坐标的曲线积分必须注意积分弧段的</a:t>
            </a: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方向</a:t>
            </a:r>
            <a:r>
              <a:rPr lang="zh-CN" altLang="en-US" sz="2800" b="1" dirty="0">
                <a:solidFill>
                  <a:srgbClr val="04926A"/>
                </a:solidFill>
              </a:rPr>
              <a:t>！</a:t>
            </a:r>
            <a:endParaRPr lang="en-US" altLang="zh-CN" sz="2800" b="1" dirty="0">
              <a:solidFill>
                <a:srgbClr val="04926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8A4034-2595-F990-BD43-CFD3B442A1E9}"/>
                  </a:ext>
                </a:extLst>
              </p:cNvPr>
              <p:cNvSpPr txBox="1"/>
              <p:nvPr/>
            </p:nvSpPr>
            <p:spPr bwMode="auto">
              <a:xfrm>
                <a:off x="2063295" y="2025661"/>
                <a:ext cx="8160204" cy="1026756"/>
              </a:xfrm>
              <a:prstGeom prst="rect">
                <a:avLst/>
              </a:prstGeom>
              <a:noFill/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𝑃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.</m:t>
                              </m:r>
                            </m:e>
                          </m:nary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8A4034-2595-F990-BD43-CFD3B442A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295" y="2025661"/>
                <a:ext cx="8160204" cy="10267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013491-D38F-9134-08CB-48800605B400}"/>
                  </a:ext>
                </a:extLst>
              </p:cNvPr>
              <p:cNvSpPr txBox="1"/>
              <p:nvPr/>
            </p:nvSpPr>
            <p:spPr bwMode="auto">
              <a:xfrm>
                <a:off x="2063295" y="1421673"/>
                <a:ext cx="1750333" cy="523220"/>
              </a:xfrm>
              <a:prstGeom prst="rect">
                <a:avLst/>
              </a:prstGeom>
              <a:noFill/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e>
                      </m:d>
                      <m:r>
                        <a:rPr kumimoji="1"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可加性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013491-D38F-9134-08CB-48800605B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295" y="1421673"/>
                <a:ext cx="175033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BBA8DC-5871-F8FB-E2EA-7055EC614DC2}"/>
                  </a:ext>
                </a:extLst>
              </p:cNvPr>
              <p:cNvSpPr txBox="1"/>
              <p:nvPr/>
            </p:nvSpPr>
            <p:spPr bwMode="auto">
              <a:xfrm>
                <a:off x="2063295" y="3869750"/>
                <a:ext cx="5378904" cy="973343"/>
              </a:xfrm>
              <a:prstGeom prst="rect">
                <a:avLst/>
              </a:prstGeom>
              <a:noFill/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</m:e>
                      </m:nary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BBA8DC-5871-F8FB-E2EA-7055EC614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295" y="3869750"/>
                <a:ext cx="5378904" cy="9733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F696026-C5CA-69FA-F09F-34E5C420E094}"/>
                  </a:ext>
                </a:extLst>
              </p:cNvPr>
              <p:cNvSpPr txBox="1"/>
              <p:nvPr/>
            </p:nvSpPr>
            <p:spPr bwMode="auto">
              <a:xfrm>
                <a:off x="2063295" y="3179568"/>
                <a:ext cx="1750333" cy="523220"/>
              </a:xfrm>
              <a:prstGeom prst="rect">
                <a:avLst/>
              </a:prstGeom>
              <a:noFill/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变号性</a:t>
                </a:r>
                <a:endParaRPr kumimoji="1" lang="zh-CN" altLang="en-US" sz="2800" i="1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F696026-C5CA-69FA-F09F-34E5C420E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295" y="3179568"/>
                <a:ext cx="1750333" cy="523220"/>
              </a:xfrm>
              <a:prstGeom prst="rect">
                <a:avLst/>
              </a:prstGeom>
              <a:blipFill>
                <a:blip r:embed="rId7"/>
                <a:stretch>
                  <a:fillRect t="-16471" r="-6597" b="-29412"/>
                </a:stretch>
              </a:blipFill>
              <a:ln w="19050">
                <a:noFill/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43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CE42358-92EC-C64E-FE8A-C2768CA9714E}"/>
              </a:ext>
            </a:extLst>
          </p:cNvPr>
          <p:cNvSpPr txBox="1">
            <a:spLocks noChangeArrowheads="1"/>
          </p:cNvSpPr>
          <p:nvPr/>
        </p:nvSpPr>
        <p:spPr>
          <a:xfrm>
            <a:off x="970378" y="695727"/>
            <a:ext cx="5592347" cy="6853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三、对坐标的曲线积分的计算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8BD853D-B1FA-E795-D0A5-9DC103E5E14B}"/>
              </a:ext>
            </a:extLst>
          </p:cNvPr>
          <p:cNvGrpSpPr/>
          <p:nvPr/>
        </p:nvGrpSpPr>
        <p:grpSpPr>
          <a:xfrm>
            <a:off x="1723640" y="1809816"/>
            <a:ext cx="9954010" cy="3771834"/>
            <a:chOff x="807971" y="2209969"/>
            <a:chExt cx="9954010" cy="3771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5">
                  <a:extLst>
                    <a:ext uri="{FF2B5EF4-FFF2-40B4-BE49-F238E27FC236}">
                      <a16:creationId xmlns:a16="http://schemas.microsoft.com/office/drawing/2014/main" id="{AA7283C3-3442-D1FC-0E7E-108F31804E5B}"/>
                    </a:ext>
                  </a:extLst>
                </p:cNvPr>
                <p:cNvSpPr txBox="1"/>
                <p:nvPr/>
              </p:nvSpPr>
              <p:spPr bwMode="auto">
                <a:xfrm>
                  <a:off x="1874773" y="2209969"/>
                  <a:ext cx="8392292" cy="562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设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在曲线弧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𝐿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上有定义且连续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𝐿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的参数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Object 5">
                  <a:extLst>
                    <a:ext uri="{FF2B5EF4-FFF2-40B4-BE49-F238E27FC236}">
                      <a16:creationId xmlns:a16="http://schemas.microsoft.com/office/drawing/2014/main" id="{AA7283C3-3442-D1FC-0E7E-108F31804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4773" y="2209969"/>
                  <a:ext cx="8392292" cy="5623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5">
                  <a:extLst>
                    <a:ext uri="{FF2B5EF4-FFF2-40B4-BE49-F238E27FC236}">
                      <a16:creationId xmlns:a16="http://schemas.microsoft.com/office/drawing/2014/main" id="{0E4FFFF8-6F51-DE6D-FEDF-33787353FB48}"/>
                    </a:ext>
                  </a:extLst>
                </p:cNvPr>
                <p:cNvSpPr txBox="1"/>
                <p:nvPr/>
              </p:nvSpPr>
              <p:spPr bwMode="auto">
                <a:xfrm>
                  <a:off x="807972" y="2743709"/>
                  <a:ext cx="9495692" cy="9903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方程为</m:t>
                        </m:r>
                        <m:d>
                          <m:dPr>
                            <m:begChr m:val="{"/>
                            <m:endChr m:val=""/>
                            <m:ctrlPr>
                              <a:rPr kumimoji="1" lang="zh-CN" altLang="en-US" sz="28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eqArr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𝜑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lang="el-GR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𝛹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eqArr>
                          </m:e>
                        </m:d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当参数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单调地由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𝛼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变到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𝛽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时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点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</m:d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从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𝐿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Object 5">
                  <a:extLst>
                    <a:ext uri="{FF2B5EF4-FFF2-40B4-BE49-F238E27FC236}">
                      <a16:creationId xmlns:a16="http://schemas.microsoft.com/office/drawing/2014/main" id="{0E4FFFF8-6F51-DE6D-FEDF-33787353F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972" y="2743709"/>
                  <a:ext cx="9495692" cy="990375"/>
                </a:xfrm>
                <a:prstGeom prst="rect">
                  <a:avLst/>
                </a:prstGeom>
                <a:blipFill>
                  <a:blip r:embed="rId4"/>
                  <a:stretch>
                    <a:fillRect b="-6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4F8E37A-678E-842A-1144-0DD8D40EA2F9}"/>
                    </a:ext>
                  </a:extLst>
                </p:cNvPr>
                <p:cNvSpPr txBox="1"/>
                <p:nvPr/>
              </p:nvSpPr>
              <p:spPr bwMode="auto">
                <a:xfrm>
                  <a:off x="807971" y="3824270"/>
                  <a:ext cx="9954010" cy="601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的起点</m:t>
                        </m:r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𝐴</m:t>
                        </m:r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沿</m:t>
                        </m:r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𝐿</m:t>
                        </m:r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运动到终点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𝐵</m:t>
                        </m:r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1" lang="zh-CN" altLang="en-US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  <m:d>
                          <m:d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l-GR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𝛹</m:t>
                        </m:r>
                        <m:d>
                          <m:d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在以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𝛼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及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𝛽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为端点的闭区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4F8E37A-678E-842A-1144-0DD8D40EA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971" y="3824270"/>
                  <a:ext cx="9954010" cy="60115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5">
                  <a:extLst>
                    <a:ext uri="{FF2B5EF4-FFF2-40B4-BE49-F238E27FC236}">
                      <a16:creationId xmlns:a16="http://schemas.microsoft.com/office/drawing/2014/main" id="{2C80F7A5-7F5A-CCA5-3E25-FE56B998F1EE}"/>
                    </a:ext>
                  </a:extLst>
                </p:cNvPr>
                <p:cNvSpPr txBox="1"/>
                <p:nvPr/>
              </p:nvSpPr>
              <p:spPr bwMode="auto">
                <a:xfrm>
                  <a:off x="807971" y="4434947"/>
                  <a:ext cx="9495694" cy="504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间上具有一阶连续导</m:t>
                        </m:r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数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且</m:t>
                        </m:r>
                        <m:sSup>
                          <m:sSup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′2</m:t>
                            </m:r>
                          </m:sup>
                        </m:sSup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l-GR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𝛹</m:t>
                            </m:r>
                          </m:e>
                          <m: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′2</m:t>
                            </m:r>
                          </m:sup>
                        </m:sSup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)≠0,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则曲线积分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" name="Object 5">
                  <a:extLst>
                    <a:ext uri="{FF2B5EF4-FFF2-40B4-BE49-F238E27FC236}">
                      <a16:creationId xmlns:a16="http://schemas.microsoft.com/office/drawing/2014/main" id="{2C80F7A5-7F5A-CCA5-3E25-FE56B998F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971" y="4434947"/>
                  <a:ext cx="9495694" cy="5044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5">
                  <a:extLst>
                    <a:ext uri="{FF2B5EF4-FFF2-40B4-BE49-F238E27FC236}">
                      <a16:creationId xmlns:a16="http://schemas.microsoft.com/office/drawing/2014/main" id="{74D8B222-8B82-C093-BF1E-F3D62401B9D4}"/>
                    </a:ext>
                  </a:extLst>
                </p:cNvPr>
                <p:cNvSpPr txBox="1"/>
                <p:nvPr/>
              </p:nvSpPr>
              <p:spPr bwMode="auto">
                <a:xfrm>
                  <a:off x="807971" y="4965265"/>
                  <a:ext cx="8894830" cy="10165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pHide m:val="on"/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𝐿</m:t>
                            </m:r>
                          </m:sub>
                          <m:sup/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</m:nary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存在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且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3" name="Object 5">
                  <a:extLst>
                    <a:ext uri="{FF2B5EF4-FFF2-40B4-BE49-F238E27FC236}">
                      <a16:creationId xmlns:a16="http://schemas.microsoft.com/office/drawing/2014/main" id="{74D8B222-8B82-C093-BF1E-F3D62401B9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971" y="4965265"/>
                  <a:ext cx="8894830" cy="101653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945CFE3-5EE0-D02D-0EF1-DEBFC3A701A6}"/>
              </a:ext>
            </a:extLst>
          </p:cNvPr>
          <p:cNvGrpSpPr/>
          <p:nvPr/>
        </p:nvGrpSpPr>
        <p:grpSpPr>
          <a:xfrm>
            <a:off x="1849689" y="1874926"/>
            <a:ext cx="871855" cy="449580"/>
            <a:chOff x="1553" y="3802"/>
            <a:chExt cx="1373" cy="708"/>
          </a:xfrm>
        </p:grpSpPr>
        <p:sp>
          <p:nvSpPr>
            <p:cNvPr id="6" name="圆角矩形 21">
              <a:extLst>
                <a:ext uri="{FF2B5EF4-FFF2-40B4-BE49-F238E27FC236}">
                  <a16:creationId xmlns:a16="http://schemas.microsoft.com/office/drawing/2014/main" id="{CBA5B015-4F7B-02DD-409E-98B5ADB2030A}"/>
                </a:ext>
              </a:extLst>
            </p:cNvPr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6602934D-E0EC-BF91-F5DC-BAA3B971E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800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96E4FE1E-813A-5062-8205-86574F9494BC}"/>
              </a:ext>
            </a:extLst>
          </p:cNvPr>
          <p:cNvGrpSpPr/>
          <p:nvPr/>
        </p:nvGrpSpPr>
        <p:grpSpPr>
          <a:xfrm>
            <a:off x="1146175" y="2349500"/>
            <a:ext cx="9847199" cy="4029830"/>
            <a:chOff x="1649" y="2344"/>
            <a:chExt cx="15858" cy="742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B827DBF-A384-4048-5413-1A9E8034FD5E}"/>
                </a:ext>
              </a:extLst>
            </p:cNvPr>
            <p:cNvSpPr/>
            <p:nvPr/>
          </p:nvSpPr>
          <p:spPr>
            <a:xfrm>
              <a:off x="1738" y="2483"/>
              <a:ext cx="15769" cy="72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3B0E576-00CE-25D7-DFD7-EAD91DB7FC71}"/>
                </a:ext>
              </a:extLst>
            </p:cNvPr>
            <p:cNvSpPr/>
            <p:nvPr/>
          </p:nvSpPr>
          <p:spPr>
            <a:xfrm>
              <a:off x="1649" y="2344"/>
              <a:ext cx="15769" cy="728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26">
                <a:extLst>
                  <a:ext uri="{FF2B5EF4-FFF2-40B4-BE49-F238E27FC236}">
                    <a16:creationId xmlns:a16="http://schemas.microsoft.com/office/drawing/2014/main" id="{0CF357D8-AC53-D24D-5653-DB5C03754630}"/>
                  </a:ext>
                </a:extLst>
              </p:cNvPr>
              <p:cNvSpPr txBox="1"/>
              <p:nvPr/>
            </p:nvSpPr>
            <p:spPr bwMode="auto">
              <a:xfrm>
                <a:off x="1721983" y="362460"/>
                <a:ext cx="8904287" cy="195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𝛽</m:t>
                          </m:r>
                        </m:sup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{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)]</m:t>
                          </m:r>
                        </m:e>
                      </m:nary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[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)]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)}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1026">
                <a:extLst>
                  <a:ext uri="{FF2B5EF4-FFF2-40B4-BE49-F238E27FC236}">
                    <a16:creationId xmlns:a16="http://schemas.microsoft.com/office/drawing/2014/main" id="{0CF357D8-AC53-D24D-5653-DB5C03754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1983" y="362460"/>
                <a:ext cx="8904287" cy="195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1027">
            <a:extLst>
              <a:ext uri="{FF2B5EF4-FFF2-40B4-BE49-F238E27FC236}">
                <a16:creationId xmlns:a16="http://schemas.microsoft.com/office/drawing/2014/main" id="{6412B283-8DD3-7B02-7755-048C6E3F3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571" y="2378526"/>
            <a:ext cx="178162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特殊情形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28">
                <a:extLst>
                  <a:ext uri="{FF2B5EF4-FFF2-40B4-BE49-F238E27FC236}">
                    <a16:creationId xmlns:a16="http://schemas.microsoft.com/office/drawing/2014/main" id="{D375EA5F-D322-14FC-DC1B-6A19D7099995}"/>
                  </a:ext>
                </a:extLst>
              </p:cNvPr>
              <p:cNvSpPr txBox="1"/>
              <p:nvPr/>
            </p:nvSpPr>
            <p:spPr bwMode="auto">
              <a:xfrm>
                <a:off x="1760084" y="2859087"/>
                <a:ext cx="7050087" cy="582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(1) 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)  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起点为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终点为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𝑏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1028">
                <a:extLst>
                  <a:ext uri="{FF2B5EF4-FFF2-40B4-BE49-F238E27FC236}">
                    <a16:creationId xmlns:a16="http://schemas.microsoft.com/office/drawing/2014/main" id="{D375EA5F-D322-14FC-DC1B-6A19D7099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0084" y="2859087"/>
                <a:ext cx="7050087" cy="5826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029">
                <a:extLst>
                  <a:ext uri="{FF2B5EF4-FFF2-40B4-BE49-F238E27FC236}">
                    <a16:creationId xmlns:a16="http://schemas.microsoft.com/office/drawing/2014/main" id="{B1E022F6-6D57-C97F-A0A2-C583F7FE5067}"/>
                  </a:ext>
                </a:extLst>
              </p:cNvPr>
              <p:cNvSpPr txBox="1"/>
              <p:nvPr/>
            </p:nvSpPr>
            <p:spPr bwMode="auto">
              <a:xfrm>
                <a:off x="1760084" y="3374525"/>
                <a:ext cx="9126537" cy="1103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则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𝑏</m:t>
                          </m:r>
                        </m:sup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{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)]+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)]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)}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1029">
                <a:extLst>
                  <a:ext uri="{FF2B5EF4-FFF2-40B4-BE49-F238E27FC236}">
                    <a16:creationId xmlns:a16="http://schemas.microsoft.com/office/drawing/2014/main" id="{B1E022F6-6D57-C97F-A0A2-C583F7FE5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0084" y="3374525"/>
                <a:ext cx="9126537" cy="1103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30">
                <a:extLst>
                  <a:ext uri="{FF2B5EF4-FFF2-40B4-BE49-F238E27FC236}">
                    <a16:creationId xmlns:a16="http://schemas.microsoft.com/office/drawing/2014/main" id="{9C1D48A5-7695-A62E-1914-F88BFA1FDCC8}"/>
                  </a:ext>
                </a:extLst>
              </p:cNvPr>
              <p:cNvSpPr txBox="1"/>
              <p:nvPr/>
            </p:nvSpPr>
            <p:spPr bwMode="auto">
              <a:xfrm>
                <a:off x="1760084" y="4408354"/>
                <a:ext cx="7640637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(2) 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)  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起点为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𝑐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终点为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𝑑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1030">
                <a:extLst>
                  <a:ext uri="{FF2B5EF4-FFF2-40B4-BE49-F238E27FC236}">
                    <a16:creationId xmlns:a16="http://schemas.microsoft.com/office/drawing/2014/main" id="{9C1D48A5-7695-A62E-1914-F88BFA1FD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0084" y="4408354"/>
                <a:ext cx="7640637" cy="596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31">
                <a:extLst>
                  <a:ext uri="{FF2B5EF4-FFF2-40B4-BE49-F238E27FC236}">
                    <a16:creationId xmlns:a16="http://schemas.microsoft.com/office/drawing/2014/main" id="{CFA3067A-91AA-9FD2-2876-B5DB8ED274AF}"/>
                  </a:ext>
                </a:extLst>
              </p:cNvPr>
              <p:cNvSpPr txBox="1"/>
              <p:nvPr/>
            </p:nvSpPr>
            <p:spPr bwMode="auto">
              <a:xfrm>
                <a:off x="1760084" y="5055492"/>
                <a:ext cx="8828087" cy="1103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则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𝑐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𝑑</m:t>
                          </m:r>
                        </m:sup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{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)+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]}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031">
                <a:extLst>
                  <a:ext uri="{FF2B5EF4-FFF2-40B4-BE49-F238E27FC236}">
                    <a16:creationId xmlns:a16="http://schemas.microsoft.com/office/drawing/2014/main" id="{CFA3067A-91AA-9FD2-2876-B5DB8ED27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0084" y="5055492"/>
                <a:ext cx="8828087" cy="11033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35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>
            <a:extLst>
              <a:ext uri="{FF2B5EF4-FFF2-40B4-BE49-F238E27FC236}">
                <a16:creationId xmlns:a16="http://schemas.microsoft.com/office/drawing/2014/main" id="{10A96758-CA22-EF8C-A545-D44470F60B4C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FC6193-D38F-25F3-8561-05BD9B5400BF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06087D60-75E9-D181-2DAA-DA893F2AD928}"/>
                  </a:ext>
                </a:extLst>
              </p:cNvPr>
              <p:cNvSpPr txBox="1"/>
              <p:nvPr/>
            </p:nvSpPr>
            <p:spPr bwMode="auto">
              <a:xfrm>
                <a:off x="2443617" y="802851"/>
                <a:ext cx="8842601" cy="1511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(3) 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推广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𝜔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</m:e>
                          </m:eqAr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起点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𝛼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终点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𝛽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06087D60-75E9-D181-2DAA-DA893F2A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3617" y="802851"/>
                <a:ext cx="8842601" cy="1511300"/>
              </a:xfrm>
              <a:prstGeom prst="rect">
                <a:avLst/>
              </a:prstGeom>
              <a:blipFill>
                <a:blip r:embed="rId2"/>
                <a:stretch>
                  <a:fillRect b="-76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43AD9F-B0B3-2C9A-3791-9E34954834B0}"/>
              </a:ext>
            </a:extLst>
          </p:cNvPr>
          <p:cNvGrpSpPr/>
          <p:nvPr/>
        </p:nvGrpSpPr>
        <p:grpSpPr>
          <a:xfrm>
            <a:off x="1687484" y="2635278"/>
            <a:ext cx="8468433" cy="2566308"/>
            <a:chOff x="3604531" y="2423884"/>
            <a:chExt cx="6078311" cy="2566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3">
                  <a:extLst>
                    <a:ext uri="{FF2B5EF4-FFF2-40B4-BE49-F238E27FC236}">
                      <a16:creationId xmlns:a16="http://schemas.microsoft.com/office/drawing/2014/main" id="{8EB0D16C-99AB-A13A-0D44-A0009C2C7E13}"/>
                    </a:ext>
                  </a:extLst>
                </p:cNvPr>
                <p:cNvSpPr txBox="1"/>
                <p:nvPr/>
              </p:nvSpPr>
              <p:spPr bwMode="auto">
                <a:xfrm>
                  <a:off x="3629931" y="3221718"/>
                  <a:ext cx="4828269" cy="11733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nary>
                          <m:nary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𝛼</m:t>
                            </m:r>
                          </m:sub>
                          <m: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𝛽</m:t>
                            </m:r>
                          </m:sup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{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[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𝜑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),</m:t>
                            </m:r>
                            <m:r>
                              <a:rPr lang="el-GR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𝛹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),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)]</m:t>
                            </m:r>
                            <m:sSup>
                              <m:sSup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)+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[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𝜑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),</m:t>
                            </m:r>
                            <m:r>
                              <a:rPr lang="el-GR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𝛹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),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)]</m:t>
                            </m:r>
                            <m:sSup>
                              <m:sSup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l-GR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𝛹</m:t>
                                </m:r>
                              </m:e>
                              <m:sup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)+</m:t>
                            </m:r>
                          </m:e>
                        </m:nary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Object 3">
                  <a:extLst>
                    <a:ext uri="{FF2B5EF4-FFF2-40B4-BE49-F238E27FC236}">
                      <a16:creationId xmlns:a16="http://schemas.microsoft.com/office/drawing/2014/main" id="{8EB0D16C-99AB-A13A-0D44-A0009C2C7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29931" y="3221718"/>
                  <a:ext cx="4828269" cy="1173390"/>
                </a:xfrm>
                <a:prstGeom prst="rect">
                  <a:avLst/>
                </a:prstGeom>
                <a:blipFill>
                  <a:blip r:embed="rId3"/>
                  <a:stretch>
                    <a:fillRect r="-3699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3">
                  <a:extLst>
                    <a:ext uri="{FF2B5EF4-FFF2-40B4-BE49-F238E27FC236}">
                      <a16:creationId xmlns:a16="http://schemas.microsoft.com/office/drawing/2014/main" id="{7F7A39DF-0561-36E8-5C35-57A09A0AFCAD}"/>
                    </a:ext>
                  </a:extLst>
                </p:cNvPr>
                <p:cNvSpPr txBox="1"/>
                <p:nvPr/>
              </p:nvSpPr>
              <p:spPr bwMode="auto">
                <a:xfrm>
                  <a:off x="3604531" y="2423884"/>
                  <a:ext cx="3551010" cy="10051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pHide m:val="on"/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𝛤</m:t>
                            </m:r>
                          </m:sub>
                          <m:sup/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𝑃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</m:nary>
                      </m:oMath>
                    </m:oMathPara>
                  </a14:m>
                  <a:br>
                    <a:rPr kumimoji="1" lang="zh-CN" altLang="en-US" sz="2800" i="1" dirty="0">
                      <a:latin typeface="Cambria Math" panose="02040503050406030204" pitchFamily="18" charset="0"/>
                      <a:ea typeface="黑体" panose="02010609060101010101" pitchFamily="49" charset="-122"/>
                      <a:cs typeface="Cambria Math" panose="02040503050406030204" charset="0"/>
                    </a:rPr>
                  </a:br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" name="Object 3">
                  <a:extLst>
                    <a:ext uri="{FF2B5EF4-FFF2-40B4-BE49-F238E27FC236}">
                      <a16:creationId xmlns:a16="http://schemas.microsoft.com/office/drawing/2014/main" id="{7F7A39DF-0561-36E8-5C35-57A09A0AF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4531" y="2423884"/>
                  <a:ext cx="3551010" cy="10051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3">
                  <a:extLst>
                    <a:ext uri="{FF2B5EF4-FFF2-40B4-BE49-F238E27FC236}">
                      <a16:creationId xmlns:a16="http://schemas.microsoft.com/office/drawing/2014/main" id="{00BC9173-8AF0-3BE0-5F6F-5A8DE3F5D74D}"/>
                    </a:ext>
                  </a:extLst>
                </p:cNvPr>
                <p:cNvSpPr txBox="1"/>
                <p:nvPr/>
              </p:nvSpPr>
              <p:spPr bwMode="auto">
                <a:xfrm>
                  <a:off x="3975601" y="4395108"/>
                  <a:ext cx="5641068" cy="5950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  <m:r>
                          <a:rPr lang="el-GR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𝛹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𝜔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)]</m:t>
                        </m:r>
                        <m:sSup>
                          <m:sSup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)}</m:t>
                        </m:r>
                        <m:r>
                          <m:rPr>
                            <m:sty m:val="p"/>
                          </m:r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" name="Object 3">
                  <a:extLst>
                    <a:ext uri="{FF2B5EF4-FFF2-40B4-BE49-F238E27FC236}">
                      <a16:creationId xmlns:a16="http://schemas.microsoft.com/office/drawing/2014/main" id="{00BC9173-8AF0-3BE0-5F6F-5A8DE3F5D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5601" y="4395108"/>
                  <a:ext cx="5641068" cy="59508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8CC6F45A-10D4-93A2-7E94-E36A273FB47A}"/>
                </a:ext>
              </a:extLst>
            </p:cNvPr>
            <p:cNvSpPr txBox="1"/>
            <p:nvPr/>
          </p:nvSpPr>
          <p:spPr bwMode="auto">
            <a:xfrm>
              <a:off x="4041774" y="4395108"/>
              <a:ext cx="5641068" cy="5950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noAutofit/>
            </a:bodyPr>
            <a:lstStyle/>
            <a:p>
              <a:endParaRPr kumimoji="1" lang="zh-CN" altLang="en-US" sz="2800" i="1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263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1615CB9-48FA-B2B1-8446-4487A58B554D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1615CB9-48FA-B2B1-8446-4487A58B5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>
            <a:extLst>
              <a:ext uri="{FF2B5EF4-FFF2-40B4-BE49-F238E27FC236}">
                <a16:creationId xmlns:a16="http://schemas.microsoft.com/office/drawing/2014/main" id="{1E6AC9AD-767D-AEAF-2665-C8C2ECB082DF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E5E0C660-E6CF-9387-5271-CA095AB7D212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F3E27B15-D52A-B4F5-62A3-F22347A3A987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B389E7CA-E09B-1DD0-DC91-D7B5DD888B03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5C8B5AF-BD1C-727C-17F6-48E97C6FB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95" y="109840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A9BF6D5F-6796-1E39-A4D0-9C06083A82BE}"/>
                  </a:ext>
                </a:extLst>
              </p:cNvPr>
              <p:cNvSpPr txBox="1"/>
              <p:nvPr/>
            </p:nvSpPr>
            <p:spPr bwMode="auto">
              <a:xfrm>
                <a:off x="2219325" y="883308"/>
                <a:ext cx="7905750" cy="15446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计算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其中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为抛物线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(1,−1)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到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(1,1)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的一段弧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A9BF6D5F-6796-1E39-A4D0-9C06083A8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325" y="883308"/>
                <a:ext cx="7905750" cy="15446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1663C6A3-2865-AF2F-D601-53BBCED0681D}"/>
                  </a:ext>
                </a:extLst>
              </p:cNvPr>
              <p:cNvSpPr txBox="1"/>
              <p:nvPr/>
            </p:nvSpPr>
            <p:spPr bwMode="auto">
              <a:xfrm>
                <a:off x="2017140" y="4265285"/>
                <a:ext cx="4025520" cy="887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𝐴𝑂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𝑂𝐵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1663C6A3-2865-AF2F-D601-53BBCED06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7140" y="4265285"/>
                <a:ext cx="4025520" cy="887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9">
                <a:extLst>
                  <a:ext uri="{FF2B5EF4-FFF2-40B4-BE49-F238E27FC236}">
                    <a16:creationId xmlns:a16="http://schemas.microsoft.com/office/drawing/2014/main" id="{17AA04C2-0768-BCB6-0171-8E5F232CDCC9}"/>
                  </a:ext>
                </a:extLst>
              </p:cNvPr>
              <p:cNvSpPr txBox="1"/>
              <p:nvPr/>
            </p:nvSpPr>
            <p:spPr bwMode="auto">
              <a:xfrm>
                <a:off x="3191953" y="5154119"/>
                <a:ext cx="4592637" cy="10223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(−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rad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19">
                <a:extLst>
                  <a:ext uri="{FF2B5EF4-FFF2-40B4-BE49-F238E27FC236}">
                    <a16:creationId xmlns:a16="http://schemas.microsoft.com/office/drawing/2014/main" id="{17AA04C2-0768-BCB6-0171-8E5F232CD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1953" y="5154119"/>
                <a:ext cx="4592637" cy="1022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0">
                <a:extLst>
                  <a:ext uri="{FF2B5EF4-FFF2-40B4-BE49-F238E27FC236}">
                    <a16:creationId xmlns:a16="http://schemas.microsoft.com/office/drawing/2014/main" id="{1CDA8DF2-AF12-3306-1843-EE1349F74EB4}"/>
                  </a:ext>
                </a:extLst>
              </p:cNvPr>
              <p:cNvSpPr txBox="1"/>
              <p:nvPr/>
            </p:nvSpPr>
            <p:spPr bwMode="auto">
              <a:xfrm>
                <a:off x="6630098" y="5152697"/>
                <a:ext cx="1685228" cy="1022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20">
                <a:extLst>
                  <a:ext uri="{FF2B5EF4-FFF2-40B4-BE49-F238E27FC236}">
                    <a16:creationId xmlns:a16="http://schemas.microsoft.com/office/drawing/2014/main" id="{1CDA8DF2-AF12-3306-1843-EE1349F7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0098" y="5152697"/>
                <a:ext cx="1685228" cy="102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1">
                <a:extLst>
                  <a:ext uri="{FF2B5EF4-FFF2-40B4-BE49-F238E27FC236}">
                    <a16:creationId xmlns:a16="http://schemas.microsoft.com/office/drawing/2014/main" id="{35AEFBCD-B552-23D5-AA1B-B374BE511C5D}"/>
                  </a:ext>
                </a:extLst>
              </p:cNvPr>
              <p:cNvSpPr txBox="1"/>
              <p:nvPr/>
            </p:nvSpPr>
            <p:spPr bwMode="auto">
              <a:xfrm>
                <a:off x="8197944" y="5196320"/>
                <a:ext cx="887412" cy="10223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5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21">
                <a:extLst>
                  <a:ext uri="{FF2B5EF4-FFF2-40B4-BE49-F238E27FC236}">
                    <a16:creationId xmlns:a16="http://schemas.microsoft.com/office/drawing/2014/main" id="{35AEFBCD-B552-23D5-AA1B-B374BE511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97944" y="5196320"/>
                <a:ext cx="887412" cy="1022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1">
            <a:extLst>
              <a:ext uri="{FF2B5EF4-FFF2-40B4-BE49-F238E27FC236}">
                <a16:creationId xmlns:a16="http://schemas.microsoft.com/office/drawing/2014/main" id="{D233D7CB-A18D-7B33-2D4B-A428360C0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95" y="2474708"/>
            <a:ext cx="121236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8AD7CE16-C645-A264-4A26-A99F54660A46}"/>
                  </a:ext>
                </a:extLst>
              </p:cNvPr>
              <p:cNvSpPr txBox="1"/>
              <p:nvPr/>
            </p:nvSpPr>
            <p:spPr>
              <a:xfrm>
                <a:off x="3943794" y="2488171"/>
                <a:ext cx="2733675" cy="520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</m:t>
                      </m:r>
                      <m:groupChr>
                        <m:groupChrPr>
                          <m:chr m:val="⏜"/>
                          <m:pos m:val="top"/>
                          <m:vertJc m:val="bot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groupCh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𝐴𝑂</m:t>
                          </m:r>
                        </m:e>
                      </m:groupCh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groupChr>
                        <m:groupChrPr>
                          <m:chr m:val="⏜"/>
                          <m:pos m:val="top"/>
                          <m:vertJc m:val="bot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groupCh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𝑂𝐵</m:t>
                          </m:r>
                        </m:e>
                      </m:groupCh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8AD7CE16-C645-A264-4A26-A99F54660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794" y="2488171"/>
                <a:ext cx="2733675" cy="520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D1B53A5C-6009-7396-C6D1-728158C5C1E0}"/>
                  </a:ext>
                </a:extLst>
              </p:cNvPr>
              <p:cNvSpPr txBox="1"/>
              <p:nvPr/>
            </p:nvSpPr>
            <p:spPr>
              <a:xfrm>
                <a:off x="2219325" y="3061961"/>
                <a:ext cx="4356100" cy="520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groupChr>
                        <m:groupChrPr>
                          <m:chr m:val="⏜"/>
                          <m:pos m:val="top"/>
                          <m:vertJc m:val="bot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groupCh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𝐴𝑂</m:t>
                          </m:r>
                        </m:e>
                      </m:groupCh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ra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:1→0,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D1B53A5C-6009-7396-C6D1-728158C5C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25" y="3061961"/>
                <a:ext cx="4356100" cy="520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9C4116A5-BA5C-3D88-39A8-1D8215085F9E}"/>
                  </a:ext>
                </a:extLst>
              </p:cNvPr>
              <p:cNvSpPr txBox="1"/>
              <p:nvPr/>
            </p:nvSpPr>
            <p:spPr>
              <a:xfrm>
                <a:off x="2224087" y="3663623"/>
                <a:ext cx="4351337" cy="520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groupChr>
                        <m:groupChrPr>
                          <m:chr m:val="⏜"/>
                          <m:pos m:val="top"/>
                          <m:vertJc m:val="bot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groupCh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𝑂𝐵</m:t>
                          </m:r>
                        </m:e>
                      </m:groupCh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ra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:0→1.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9C4116A5-BA5C-3D88-39A8-1D8215085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087" y="3663623"/>
                <a:ext cx="4351337" cy="5207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1">
                <a:extLst>
                  <a:ext uri="{FF2B5EF4-FFF2-40B4-BE49-F238E27FC236}">
                    <a16:creationId xmlns:a16="http://schemas.microsoft.com/office/drawing/2014/main" id="{DD50BED5-2DB5-65F1-DC8F-89E9143833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9326" y="2537380"/>
                <a:ext cx="192711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取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为参数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, </a:t>
                </a: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则</a:t>
                </a:r>
              </a:p>
            </p:txBody>
          </p:sp>
        </mc:Choice>
        <mc:Fallback xmlns="">
          <p:sp>
            <p:nvSpPr>
              <p:cNvPr id="37" name="Text Box 11">
                <a:extLst>
                  <a:ext uri="{FF2B5EF4-FFF2-40B4-BE49-F238E27FC236}">
                    <a16:creationId xmlns:a16="http://schemas.microsoft.com/office/drawing/2014/main" id="{DD50BED5-2DB5-65F1-DC8F-89E91438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326" y="2537380"/>
                <a:ext cx="1927116" cy="430887"/>
              </a:xfrm>
              <a:prstGeom prst="rect">
                <a:avLst/>
              </a:prstGeom>
              <a:blipFill>
                <a:blip r:embed="rId12"/>
                <a:stretch>
                  <a:fillRect l="-4114" t="-14085" r="-633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 descr="图示&#10;&#10;描述已自动生成">
            <a:extLst>
              <a:ext uri="{FF2B5EF4-FFF2-40B4-BE49-F238E27FC236}">
                <a16:creationId xmlns:a16="http://schemas.microsoft.com/office/drawing/2014/main" id="{A494B9C8-9C9B-3D86-8592-4168784D08A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023" y="2037049"/>
            <a:ext cx="2287889" cy="295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3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19FA405-8505-EA74-D8FB-0D06FAE99D78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19FA405-8505-EA74-D8FB-0D06FAE99D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半闭框 11">
            <a:extLst>
              <a:ext uri="{FF2B5EF4-FFF2-40B4-BE49-F238E27FC236}">
                <a16:creationId xmlns:a16="http://schemas.microsoft.com/office/drawing/2014/main" id="{1ADC434C-0BC2-8FA7-09AC-9B76BFF6B75F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半闭框 13">
            <a:extLst>
              <a:ext uri="{FF2B5EF4-FFF2-40B4-BE49-F238E27FC236}">
                <a16:creationId xmlns:a16="http://schemas.microsoft.com/office/drawing/2014/main" id="{98213668-28A0-3E2C-F30C-DE1AD27D7C97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6D71584A-02F0-D62A-ADAF-324EAB5C5EC5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8" name="半闭框 17">
            <a:extLst>
              <a:ext uri="{FF2B5EF4-FFF2-40B4-BE49-F238E27FC236}">
                <a16:creationId xmlns:a16="http://schemas.microsoft.com/office/drawing/2014/main" id="{EBC33BAE-69B9-05F4-5D42-035C2C4E3AC9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4">
                <a:extLst>
                  <a:ext uri="{FF2B5EF4-FFF2-40B4-BE49-F238E27FC236}">
                    <a16:creationId xmlns:a16="http://schemas.microsoft.com/office/drawing/2014/main" id="{1F19B6BA-0AB6-FE76-BE98-396E75DD6666}"/>
                  </a:ext>
                </a:extLst>
              </p:cNvPr>
              <p:cNvSpPr txBox="1"/>
              <p:nvPr/>
            </p:nvSpPr>
            <p:spPr bwMode="auto">
              <a:xfrm>
                <a:off x="2670176" y="2526553"/>
                <a:ext cx="2674493" cy="7973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∴</m:t>
                      </m:r>
                      <m:nary>
                        <m:naryPr>
                          <m:supHide m:val="on"/>
                          <m:ctrlPr>
                            <a:rPr kumimoji="1" lang="zh-CN" altLang="en-US" sz="2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𝐴𝐵</m:t>
                          </m:r>
                        </m:sub>
                        <m:sup/>
                        <m:e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Object 14">
                <a:extLst>
                  <a:ext uri="{FF2B5EF4-FFF2-40B4-BE49-F238E27FC236}">
                    <a16:creationId xmlns:a16="http://schemas.microsoft.com/office/drawing/2014/main" id="{1F19B6BA-0AB6-FE76-BE98-396E75DD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0176" y="2526553"/>
                <a:ext cx="2674493" cy="7973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5">
                <a:extLst>
                  <a:ext uri="{FF2B5EF4-FFF2-40B4-BE49-F238E27FC236}">
                    <a16:creationId xmlns:a16="http://schemas.microsoft.com/office/drawing/2014/main" id="{F61C9D91-0CD5-AE46-A719-AA6CDB19F650}"/>
                  </a:ext>
                </a:extLst>
              </p:cNvPr>
              <p:cNvSpPr txBox="1"/>
              <p:nvPr/>
            </p:nvSpPr>
            <p:spPr bwMode="auto">
              <a:xfrm>
                <a:off x="3744469" y="3386533"/>
                <a:ext cx="23368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Object 15">
                <a:extLst>
                  <a:ext uri="{FF2B5EF4-FFF2-40B4-BE49-F238E27FC236}">
                    <a16:creationId xmlns:a16="http://schemas.microsoft.com/office/drawing/2014/main" id="{F61C9D91-0CD5-AE46-A719-AA6CDB19F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4469" y="3386533"/>
                <a:ext cx="2336800" cy="838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9">
                <a:extLst>
                  <a:ext uri="{FF2B5EF4-FFF2-40B4-BE49-F238E27FC236}">
                    <a16:creationId xmlns:a16="http://schemas.microsoft.com/office/drawing/2014/main" id="{3DC4092C-8002-B895-DFA3-708245E03210}"/>
                  </a:ext>
                </a:extLst>
              </p:cNvPr>
              <p:cNvSpPr txBox="1"/>
              <p:nvPr/>
            </p:nvSpPr>
            <p:spPr bwMode="auto">
              <a:xfrm>
                <a:off x="3744469" y="4349955"/>
                <a:ext cx="16002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trlPr>
                            <a:rPr kumimoji="1" lang="zh-CN" altLang="en-US" sz="2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bject 19">
                <a:extLst>
                  <a:ext uri="{FF2B5EF4-FFF2-40B4-BE49-F238E27FC236}">
                    <a16:creationId xmlns:a16="http://schemas.microsoft.com/office/drawing/2014/main" id="{3DC4092C-8002-B895-DFA3-708245E03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4469" y="4349955"/>
                <a:ext cx="1600200" cy="838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0">
                <a:extLst>
                  <a:ext uri="{FF2B5EF4-FFF2-40B4-BE49-F238E27FC236}">
                    <a16:creationId xmlns:a16="http://schemas.microsoft.com/office/drawing/2014/main" id="{902C890F-B414-D378-9C5F-A16750DBAF5A}"/>
                  </a:ext>
                </a:extLst>
              </p:cNvPr>
              <p:cNvSpPr txBox="1"/>
              <p:nvPr/>
            </p:nvSpPr>
            <p:spPr bwMode="auto">
              <a:xfrm>
                <a:off x="5344669" y="4411677"/>
                <a:ext cx="633413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5</m:t>
                          </m:r>
                        </m:den>
                      </m:f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20">
                <a:extLst>
                  <a:ext uri="{FF2B5EF4-FFF2-40B4-BE49-F238E27FC236}">
                    <a16:creationId xmlns:a16="http://schemas.microsoft.com/office/drawing/2014/main" id="{902C890F-B414-D378-9C5F-A16750DBA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4669" y="4411677"/>
                <a:ext cx="633413" cy="838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1">
            <a:extLst>
              <a:ext uri="{FF2B5EF4-FFF2-40B4-BE49-F238E27FC236}">
                <a16:creationId xmlns:a16="http://schemas.microsoft.com/office/drawing/2014/main" id="{99BCE0E1-EB0D-7AD0-3C60-D2A196C91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349" y="1893394"/>
            <a:ext cx="1317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22E41C39-5191-E4D9-8D79-BEC93F7956B2}"/>
                  </a:ext>
                </a:extLst>
              </p:cNvPr>
              <p:cNvSpPr txBox="1"/>
              <p:nvPr/>
            </p:nvSpPr>
            <p:spPr>
              <a:xfrm>
                <a:off x="4423571" y="1941939"/>
                <a:ext cx="3946526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: 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 , 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: −1→1.</m:t>
                      </m:r>
                    </m:oMath>
                  </m:oMathPara>
                </a14:m>
                <a:endParaRPr kumimoji="1" lang="zh-CN" altLang="en-US" sz="2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22E41C39-5191-E4D9-8D79-BEC93F79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571" y="1941939"/>
                <a:ext cx="3946526" cy="469900"/>
              </a:xfrm>
              <a:prstGeom prst="rect">
                <a:avLst/>
              </a:prstGeom>
              <a:blipFill>
                <a:blip r:embed="rId9"/>
                <a:stretch>
                  <a:fillRect l="-155"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1">
                <a:extLst>
                  <a:ext uri="{FF2B5EF4-FFF2-40B4-BE49-F238E27FC236}">
                    <a16:creationId xmlns:a16="http://schemas.microsoft.com/office/drawing/2014/main" id="{7D53CEF8-6C3F-C8C9-A73A-633D6F9D60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176" y="1942396"/>
                <a:ext cx="203010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取</a:t>
                </a:r>
                <a14:m>
                  <m:oMath xmlns:m="http://schemas.openxmlformats.org/officeDocument/2006/math">
                    <m:r>
                      <a:rPr kumimoji="1" lang="zh-CN" altLang="en-US" sz="2200" b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为参数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</a:p>
            </p:txBody>
          </p:sp>
        </mc:Choice>
        <mc:Fallback xmlns="">
          <p:sp>
            <p:nvSpPr>
              <p:cNvPr id="24" name="Text Box 11">
                <a:extLst>
                  <a:ext uri="{FF2B5EF4-FFF2-40B4-BE49-F238E27FC236}">
                    <a16:creationId xmlns:a16="http://schemas.microsoft.com/office/drawing/2014/main" id="{7D53CEF8-6C3F-C8C9-A73A-633D6F9D6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0176" y="1942396"/>
                <a:ext cx="2030109" cy="430887"/>
              </a:xfrm>
              <a:prstGeom prst="rect">
                <a:avLst/>
              </a:prstGeom>
              <a:blipFill>
                <a:blip r:embed="rId10"/>
                <a:stretch>
                  <a:fillRect l="-3904" t="-14286" b="-3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443B3971-2EBD-DB37-74C6-968F476D6B4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055" y="2153927"/>
            <a:ext cx="2251282" cy="29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4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1EA5387-EE7D-37EF-E9BC-F53B925A3AAA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1EA5387-EE7D-37EF-E9BC-F53B925A3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半闭框 4">
            <a:extLst>
              <a:ext uri="{FF2B5EF4-FFF2-40B4-BE49-F238E27FC236}">
                <a16:creationId xmlns:a16="http://schemas.microsoft.com/office/drawing/2014/main" id="{3ACAC6A7-CDCF-7DB3-AF48-08533D6F05A5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半闭框 6">
            <a:extLst>
              <a:ext uri="{FF2B5EF4-FFF2-40B4-BE49-F238E27FC236}">
                <a16:creationId xmlns:a16="http://schemas.microsoft.com/office/drawing/2014/main" id="{33CDD131-6643-E45F-0821-82FFB221AAC5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半闭框 8">
            <a:extLst>
              <a:ext uri="{FF2B5EF4-FFF2-40B4-BE49-F238E27FC236}">
                <a16:creationId xmlns:a16="http://schemas.microsoft.com/office/drawing/2014/main" id="{202C1596-E84A-3F61-C374-5AAE67585952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0" name="半闭框 19">
            <a:extLst>
              <a:ext uri="{FF2B5EF4-FFF2-40B4-BE49-F238E27FC236}">
                <a16:creationId xmlns:a16="http://schemas.microsoft.com/office/drawing/2014/main" id="{5DE21875-7F71-3774-A21D-B4D017170FF1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2B5AE05B-2816-E155-F54C-D851AF0FC8C0}"/>
                  </a:ext>
                </a:extLst>
              </p:cNvPr>
              <p:cNvSpPr txBox="1"/>
              <p:nvPr/>
            </p:nvSpPr>
            <p:spPr bwMode="auto">
              <a:xfrm>
                <a:off x="1716374" y="726283"/>
                <a:ext cx="4389151" cy="10080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计算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其中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为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2B5AE05B-2816-E155-F54C-D851AF0FC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6374" y="726283"/>
                <a:ext cx="4389151" cy="1008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">
            <a:extLst>
              <a:ext uri="{FF2B5EF4-FFF2-40B4-BE49-F238E27FC236}">
                <a16:creationId xmlns:a16="http://schemas.microsoft.com/office/drawing/2014/main" id="{EADEB5A1-A31E-28B7-92A2-6A6358E5A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090" y="9144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5132AE32-5C36-5934-0F3F-3AAEEAC69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090" y="3831826"/>
            <a:ext cx="590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6D791C96-2014-E702-09E3-13512AB83B9F}"/>
                  </a:ext>
                </a:extLst>
              </p:cNvPr>
              <p:cNvSpPr txBox="1"/>
              <p:nvPr/>
            </p:nvSpPr>
            <p:spPr bwMode="auto">
              <a:xfrm>
                <a:off x="2492375" y="3682600"/>
                <a:ext cx="3382963" cy="903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kumimoji="1" lang="zh-CN" altLang="en-US" sz="2200" b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 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∵</m:t>
                      </m:r>
                      <m:r>
                        <a:rPr kumimoji="1" lang="en-US" altLang="zh-CN" sz="2200" b="1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kumimoji="1" lang="zh-CN" altLang="en-US" sz="22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kumimoji="1" lang="zh-CN" altLang="en-US" sz="22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  <m:r>
                                    <a:rPr kumimoji="1" lang="zh-CN" altLang="en-US" sz="22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kumimoji="1" lang="zh-CN" altLang="en-US" sz="2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kumimoji="1" lang="zh-CN" altLang="en-US" sz="22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kumimoji="1" lang="zh-CN" altLang="en-US" sz="22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kumimoji="1" lang="en-US" altLang="zh-CN" sz="22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b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6D791C96-2014-E702-09E3-13512AB83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2375" y="3682600"/>
                <a:ext cx="3382963" cy="903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1921D7BE-79DE-D2D5-BA7F-C2572912B6FB}"/>
                  </a:ext>
                </a:extLst>
              </p:cNvPr>
              <p:cNvSpPr txBox="1"/>
              <p:nvPr/>
            </p:nvSpPr>
            <p:spPr bwMode="auto">
              <a:xfrm>
                <a:off x="3269680" y="4671423"/>
                <a:ext cx="2619375" cy="430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从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变到</m:t>
                      </m:r>
                      <m:r>
                        <m:rPr>
                          <m:sty m:val="p"/>
                        </m:rPr>
                        <a:rPr kumimoji="1" lang="zh-CN" altLang="en-US" sz="22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π</m:t>
                      </m:r>
                      <m:r>
                        <a:rPr kumimoji="1" lang="zh-CN" altLang="en-US" sz="2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b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1921D7BE-79DE-D2D5-BA7F-C2572912B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9680" y="4671423"/>
                <a:ext cx="2619375" cy="430212"/>
              </a:xfrm>
              <a:prstGeom prst="rect">
                <a:avLst/>
              </a:prstGeom>
              <a:blipFill>
                <a:blip r:embed="rId6"/>
                <a:stretch>
                  <a:fillRect l="-233" b="-126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8">
            <a:extLst>
              <a:ext uri="{FF2B5EF4-FFF2-40B4-BE49-F238E27FC236}">
                <a16:creationId xmlns:a16="http://schemas.microsoft.com/office/drawing/2014/main" id="{0C44DD21-8AED-13DE-CD20-DBB302C820C6}"/>
              </a:ext>
            </a:extLst>
          </p:cNvPr>
          <p:cNvGrpSpPr>
            <a:grpSpLocks/>
          </p:cNvGrpSpPr>
          <p:nvPr/>
        </p:nvGrpSpPr>
        <p:grpSpPr bwMode="auto">
          <a:xfrm>
            <a:off x="3178175" y="5233669"/>
            <a:ext cx="3981450" cy="604838"/>
            <a:chOff x="672" y="3264"/>
            <a:chExt cx="2508" cy="3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7">
                  <a:extLst>
                    <a:ext uri="{FF2B5EF4-FFF2-40B4-BE49-F238E27FC236}">
                      <a16:creationId xmlns:a16="http://schemas.microsoft.com/office/drawing/2014/main" id="{97551D4A-E183-CA37-7A73-D5179B89E730}"/>
                    </a:ext>
                  </a:extLst>
                </p:cNvPr>
                <p:cNvSpPr txBox="1"/>
                <p:nvPr/>
              </p:nvSpPr>
              <p:spPr bwMode="auto">
                <a:xfrm>
                  <a:off x="672" y="3264"/>
                  <a:ext cx="1152" cy="3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b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原式</m:t>
                        </m:r>
                        <m:r>
                          <a:rPr kumimoji="1" lang="zh-CN" altLang="en-US" sz="2200" b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kumimoji="1" lang="zh-CN" altLang="en-US" sz="22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kumimoji="1" lang="zh-CN" altLang="en-US" sz="22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zh-CN" altLang="en-US" sz="2200" b="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π</m:t>
                            </m:r>
                          </m:sup>
                          <m:e>
                            <m:r>
                              <a:rPr kumimoji="1" lang="en-US" altLang="zh-CN" sz="2200" b="1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kumimoji="1" lang="zh-CN" altLang="en-US" sz="2200" b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Object 7">
                  <a:extLst>
                    <a:ext uri="{FF2B5EF4-FFF2-40B4-BE49-F238E27FC236}">
                      <a16:creationId xmlns:a16="http://schemas.microsoft.com/office/drawing/2014/main" id="{97551D4A-E183-CA37-7A73-D5179B89E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" y="3264"/>
                  <a:ext cx="1152" cy="381"/>
                </a:xfrm>
                <a:prstGeom prst="rect">
                  <a:avLst/>
                </a:prstGeom>
                <a:blipFill>
                  <a:blip r:embed="rId7"/>
                  <a:stretch>
                    <a:fillRect b="-262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7">
                  <a:extLst>
                    <a:ext uri="{FF2B5EF4-FFF2-40B4-BE49-F238E27FC236}">
                      <a16:creationId xmlns:a16="http://schemas.microsoft.com/office/drawing/2014/main" id="{3361AF6E-3261-03BD-BE73-2D44415415B2}"/>
                    </a:ext>
                  </a:extLst>
                </p:cNvPr>
                <p:cNvSpPr txBox="1"/>
                <p:nvPr/>
              </p:nvSpPr>
              <p:spPr bwMode="auto">
                <a:xfrm>
                  <a:off x="1530" y="3364"/>
                  <a:ext cx="1650" cy="2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zh-CN" altLang="en-US" sz="22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kumimoji="1" lang="zh-CN" altLang="en-US" sz="22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zh-CN" altLang="en-US" sz="22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zh-CN" altLang="en-US" sz="22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zh-CN" altLang="en-US" sz="22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kumimoji="1" lang="zh-CN" altLang="en-US" sz="22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zh-CN" altLang="en-US" sz="22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kumimoji="1" lang="zh-CN" altLang="en-US" sz="22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(−</m:t>
                        </m:r>
                        <m:r>
                          <a:rPr kumimoji="1" lang="zh-CN" altLang="en-US" sz="22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kumimoji="1" lang="zh-CN" altLang="en-US" sz="22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kumimoji="1" lang="zh-CN" altLang="en-US" sz="22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zh-CN" altLang="en-US" sz="22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kumimoji="1" lang="zh-CN" altLang="en-US" sz="22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200" b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Object 17">
                  <a:extLst>
                    <a:ext uri="{FF2B5EF4-FFF2-40B4-BE49-F238E27FC236}">
                      <a16:creationId xmlns:a16="http://schemas.microsoft.com/office/drawing/2014/main" id="{3361AF6E-3261-03BD-BE73-2D4441541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30" y="3364"/>
                  <a:ext cx="1650" cy="257"/>
                </a:xfrm>
                <a:prstGeom prst="rect">
                  <a:avLst/>
                </a:prstGeom>
                <a:blipFill>
                  <a:blip r:embed="rId8"/>
                  <a:stretch>
                    <a:fillRect r="-6977" b="-253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">
                <a:extLst>
                  <a:ext uri="{FF2B5EF4-FFF2-40B4-BE49-F238E27FC236}">
                    <a16:creationId xmlns:a16="http://schemas.microsoft.com/office/drawing/2014/main" id="{6AE62D8A-34E0-167B-920E-FFE69CDDE771}"/>
                  </a:ext>
                </a:extLst>
              </p:cNvPr>
              <p:cNvSpPr txBox="1"/>
              <p:nvPr/>
            </p:nvSpPr>
            <p:spPr bwMode="auto">
              <a:xfrm>
                <a:off x="2492375" y="1727919"/>
                <a:ext cx="7870825" cy="1822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(1) 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半径为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、圆心为原点、按逆时针方向绕行</m:t>
                      </m:r>
                    </m:oMath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      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的上半圆周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(2) 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,0) 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轴到点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(−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,0)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的直线段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Object 2">
                <a:extLst>
                  <a:ext uri="{FF2B5EF4-FFF2-40B4-BE49-F238E27FC236}">
                    <a16:creationId xmlns:a16="http://schemas.microsoft.com/office/drawing/2014/main" id="{6AE62D8A-34E0-167B-920E-FFE69CDDE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2375" y="1727919"/>
                <a:ext cx="7870825" cy="18226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A48B35F0-20F7-4EFD-DE85-1B2748AE098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663" y="3848354"/>
            <a:ext cx="3072464" cy="186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1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BA6BAEC-C639-281C-1852-24E536A2037B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BA6BAEC-C639-281C-1852-24E536A203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半闭框 14">
            <a:extLst>
              <a:ext uri="{FF2B5EF4-FFF2-40B4-BE49-F238E27FC236}">
                <a16:creationId xmlns:a16="http://schemas.microsoft.com/office/drawing/2014/main" id="{B6878398-1344-1C32-BF36-6D0F7D7D945C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02D8DAB7-BEE6-514E-0BDC-DCC68044B16D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半闭框 18">
            <a:extLst>
              <a:ext uri="{FF2B5EF4-FFF2-40B4-BE49-F238E27FC236}">
                <a16:creationId xmlns:a16="http://schemas.microsoft.com/office/drawing/2014/main" id="{4C3A4CBF-F682-7F77-B42F-7B9A698E1DB6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1" name="半闭框 20">
            <a:extLst>
              <a:ext uri="{FF2B5EF4-FFF2-40B4-BE49-F238E27FC236}">
                <a16:creationId xmlns:a16="http://schemas.microsoft.com/office/drawing/2014/main" id="{E8ADECB8-CF4B-BF99-5927-8DACC3F85EBA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8">
                <a:extLst>
                  <a:ext uri="{FF2B5EF4-FFF2-40B4-BE49-F238E27FC236}">
                    <a16:creationId xmlns:a16="http://schemas.microsoft.com/office/drawing/2014/main" id="{803E70C9-B626-3D48-C313-8AE2B864D8A8}"/>
                  </a:ext>
                </a:extLst>
              </p:cNvPr>
              <p:cNvSpPr txBox="1"/>
              <p:nvPr/>
            </p:nvSpPr>
            <p:spPr bwMode="auto">
              <a:xfrm>
                <a:off x="6234026" y="1049034"/>
                <a:ext cx="1184878" cy="7362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8">
                <a:extLst>
                  <a:ext uri="{FF2B5EF4-FFF2-40B4-BE49-F238E27FC236}">
                    <a16:creationId xmlns:a16="http://schemas.microsoft.com/office/drawing/2014/main" id="{803E70C9-B626-3D48-C313-8AE2B864D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4026" y="1049034"/>
                <a:ext cx="1184878" cy="736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9">
                <a:extLst>
                  <a:ext uri="{FF2B5EF4-FFF2-40B4-BE49-F238E27FC236}">
                    <a16:creationId xmlns:a16="http://schemas.microsoft.com/office/drawing/2014/main" id="{E62B71EB-F10A-16CA-030F-7605C117137E}"/>
                  </a:ext>
                </a:extLst>
              </p:cNvPr>
              <p:cNvSpPr txBox="1"/>
              <p:nvPr/>
            </p:nvSpPr>
            <p:spPr bwMode="auto">
              <a:xfrm>
                <a:off x="1945450" y="2375719"/>
                <a:ext cx="2529795" cy="5710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(2) ∵ 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9">
                <a:extLst>
                  <a:ext uri="{FF2B5EF4-FFF2-40B4-BE49-F238E27FC236}">
                    <a16:creationId xmlns:a16="http://schemas.microsoft.com/office/drawing/2014/main" id="{E62B71EB-F10A-16CA-030F-7605C1171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5450" y="2375719"/>
                <a:ext cx="2529795" cy="5710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AE5BE44A-C827-28AC-EED1-6E97E9231DDD}"/>
                  </a:ext>
                </a:extLst>
              </p:cNvPr>
              <p:cNvSpPr txBox="1"/>
              <p:nvPr/>
            </p:nvSpPr>
            <p:spPr bwMode="auto">
              <a:xfrm>
                <a:off x="2686494" y="2949506"/>
                <a:ext cx="2529795" cy="4475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变到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AE5BE44A-C827-28AC-EED1-6E97E9231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6494" y="2949506"/>
                <a:ext cx="2529795" cy="447580"/>
              </a:xfrm>
              <a:prstGeom prst="rect">
                <a:avLst/>
              </a:prstGeom>
              <a:blipFill>
                <a:blip r:embed="rId6"/>
                <a:stretch>
                  <a:fillRect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B7AB2BC2-B064-F7C9-8526-04BCFC89E5D4}"/>
                  </a:ext>
                </a:extLst>
              </p:cNvPr>
              <p:cNvSpPr txBox="1"/>
              <p:nvPr/>
            </p:nvSpPr>
            <p:spPr bwMode="auto">
              <a:xfrm>
                <a:off x="2649250" y="3526965"/>
                <a:ext cx="2221240" cy="9101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原式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B7AB2BC2-B064-F7C9-8526-04BCFC89E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9250" y="3526965"/>
                <a:ext cx="2221240" cy="9101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2">
                <a:extLst>
                  <a:ext uri="{FF2B5EF4-FFF2-40B4-BE49-F238E27FC236}">
                    <a16:creationId xmlns:a16="http://schemas.microsoft.com/office/drawing/2014/main" id="{5A3DAAEA-9FB9-1FC1-7470-525CD5F6DB35}"/>
                  </a:ext>
                </a:extLst>
              </p:cNvPr>
              <p:cNvSpPr txBox="1"/>
              <p:nvPr/>
            </p:nvSpPr>
            <p:spPr bwMode="auto">
              <a:xfrm>
                <a:off x="4625259" y="3719773"/>
                <a:ext cx="816731" cy="5990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12">
                <a:extLst>
                  <a:ext uri="{FF2B5EF4-FFF2-40B4-BE49-F238E27FC236}">
                    <a16:creationId xmlns:a16="http://schemas.microsoft.com/office/drawing/2014/main" id="{5A3DAAEA-9FB9-1FC1-7470-525CD5F6D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5259" y="3719773"/>
                <a:ext cx="816731" cy="5990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3">
            <a:extLst>
              <a:ext uri="{FF2B5EF4-FFF2-40B4-BE49-F238E27FC236}">
                <a16:creationId xmlns:a16="http://schemas.microsoft.com/office/drawing/2014/main" id="{2C9B84D7-4305-151D-9AF7-1B5B18B37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869" y="4771895"/>
            <a:ext cx="7391400" cy="104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200" b="1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问题：被积函数相同，起点和终点也相同，但路径不同积分结果不同</a:t>
            </a:r>
            <a:r>
              <a:rPr kumimoji="1" lang="en-US" altLang="zh-CN" sz="2200" b="1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.</a:t>
            </a: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4D1A5AE1-A828-61C5-075D-065795DF9AB7}"/>
              </a:ext>
            </a:extLst>
          </p:cNvPr>
          <p:cNvGrpSpPr>
            <a:grpSpLocks/>
          </p:cNvGrpSpPr>
          <p:nvPr/>
        </p:nvGrpSpPr>
        <p:grpSpPr bwMode="auto">
          <a:xfrm>
            <a:off x="2686494" y="1027533"/>
            <a:ext cx="3964442" cy="824787"/>
            <a:chOff x="720" y="672"/>
            <a:chExt cx="1274" cy="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7">
                  <a:extLst>
                    <a:ext uri="{FF2B5EF4-FFF2-40B4-BE49-F238E27FC236}">
                      <a16:creationId xmlns:a16="http://schemas.microsoft.com/office/drawing/2014/main" id="{C39395D7-E8E9-ADDA-144A-FA88225E4C93}"/>
                    </a:ext>
                  </a:extLst>
                </p:cNvPr>
                <p:cNvSpPr txBox="1"/>
                <p:nvPr/>
              </p:nvSpPr>
              <p:spPr bwMode="auto">
                <a:xfrm>
                  <a:off x="720" y="672"/>
                  <a:ext cx="65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p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nary>
                          <m:nary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π</m:t>
                            </m:r>
                          </m:sup>
                          <m:e>
                            <m:r>
                              <a:rPr kumimoji="1" lang="en-US" altLang="zh-CN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Object 7">
                  <a:extLst>
                    <a:ext uri="{FF2B5EF4-FFF2-40B4-BE49-F238E27FC236}">
                      <a16:creationId xmlns:a16="http://schemas.microsoft.com/office/drawing/2014/main" id="{C39395D7-E8E9-ADDA-144A-FA88225E4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0" y="672"/>
                  <a:ext cx="651" cy="25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4">
                  <a:extLst>
                    <a:ext uri="{FF2B5EF4-FFF2-40B4-BE49-F238E27FC236}">
                      <a16:creationId xmlns:a16="http://schemas.microsoft.com/office/drawing/2014/main" id="{32219A33-57D7-B242-967D-C25BAC3D5571}"/>
                    </a:ext>
                  </a:extLst>
                </p:cNvPr>
                <p:cNvSpPr txBox="1"/>
                <p:nvPr/>
              </p:nvSpPr>
              <p:spPr bwMode="auto">
                <a:xfrm>
                  <a:off x="1046" y="733"/>
                  <a:ext cx="948" cy="1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(1−</m:t>
                        </m:r>
                        <m:func>
                          <m:func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𝜃</m:t>
                            </m:r>
                          </m:e>
                        </m:func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𝜃</m:t>
                            </m:r>
                          </m:e>
                        </m:func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" name="Object 14">
                  <a:extLst>
                    <a:ext uri="{FF2B5EF4-FFF2-40B4-BE49-F238E27FC236}">
                      <a16:creationId xmlns:a16="http://schemas.microsoft.com/office/drawing/2014/main" id="{32219A33-57D7-B242-967D-C25BAC3D5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6" y="733"/>
                  <a:ext cx="948" cy="132"/>
                </a:xfrm>
                <a:prstGeom prst="rect">
                  <a:avLst/>
                </a:prstGeom>
                <a:blipFill>
                  <a:blip r:embed="rId10"/>
                  <a:stretch>
                    <a:fillRect l="-1240" b="-183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图片 13" descr="图示&#10;&#10;描述已自动生成">
            <a:extLst>
              <a:ext uri="{FF2B5EF4-FFF2-40B4-BE49-F238E27FC236}">
                <a16:creationId xmlns:a16="http://schemas.microsoft.com/office/drawing/2014/main" id="{2B09CC1C-9E6B-6207-063E-7CFA332EAC9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012" y="2375719"/>
            <a:ext cx="2817449" cy="171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9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7FBBA9D-4D94-F89F-6A99-CBABD18F7C2A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7FBBA9D-4D94-F89F-6A99-CBABD18F7C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半闭框 17">
            <a:extLst>
              <a:ext uri="{FF2B5EF4-FFF2-40B4-BE49-F238E27FC236}">
                <a16:creationId xmlns:a16="http://schemas.microsoft.com/office/drawing/2014/main" id="{7CAD44A7-D92B-47AC-ED6B-BA599A762705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半闭框 18">
            <a:extLst>
              <a:ext uri="{FF2B5EF4-FFF2-40B4-BE49-F238E27FC236}">
                <a16:creationId xmlns:a16="http://schemas.microsoft.com/office/drawing/2014/main" id="{9A946C96-0EF0-915C-92CF-5563C0195778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半闭框 19">
            <a:extLst>
              <a:ext uri="{FF2B5EF4-FFF2-40B4-BE49-F238E27FC236}">
                <a16:creationId xmlns:a16="http://schemas.microsoft.com/office/drawing/2014/main" id="{4100B4F1-A7D7-260F-DF57-E510E0ACCD5A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1" name="半闭框 20">
            <a:extLst>
              <a:ext uri="{FF2B5EF4-FFF2-40B4-BE49-F238E27FC236}">
                <a16:creationId xmlns:a16="http://schemas.microsoft.com/office/drawing/2014/main" id="{E7C31C65-5001-C4C6-06CD-65DC4F56DD39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06D5177-F1C5-E575-DE2C-D6650D7E6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870" y="654506"/>
            <a:ext cx="77515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682DDDC-871C-C7DE-890A-09FAA0416D13}"/>
                  </a:ext>
                </a:extLst>
              </p:cNvPr>
              <p:cNvSpPr txBox="1"/>
              <p:nvPr/>
            </p:nvSpPr>
            <p:spPr bwMode="auto">
              <a:xfrm>
                <a:off x="2091871" y="294339"/>
                <a:ext cx="7871280" cy="3297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计算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其中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为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抛物线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𝑂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到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(1,1)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的一段弧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(2) 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抛物线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𝑂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到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(1,1)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的一段弧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(3) 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有向折线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𝑂𝐴𝐵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，这里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𝑂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依次是点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</m:t>
                      </m:r>
                    </m:oMath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       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(1,0),(1,1).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682DDDC-871C-C7DE-890A-09FAA0416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1871" y="294339"/>
                <a:ext cx="7871280" cy="3297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23">
            <a:extLst>
              <a:ext uri="{FF2B5EF4-FFF2-40B4-BE49-F238E27FC236}">
                <a16:creationId xmlns:a16="http://schemas.microsoft.com/office/drawing/2014/main" id="{57EBF24D-160E-6B2E-6EFE-B37EEED2F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870" y="3683075"/>
            <a:ext cx="63228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2B96DC78-1C2D-7006-ACDF-C4F8E72294A0}"/>
                  </a:ext>
                </a:extLst>
              </p:cNvPr>
              <p:cNvSpPr txBox="1"/>
              <p:nvPr/>
            </p:nvSpPr>
            <p:spPr bwMode="auto">
              <a:xfrm>
                <a:off x="2127705" y="3686633"/>
                <a:ext cx="3263900" cy="414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(1) 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化为对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的积分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2B96DC78-1C2D-7006-ACDF-C4F8E7229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7705" y="3686633"/>
                <a:ext cx="3263900" cy="414338"/>
              </a:xfrm>
              <a:prstGeom prst="rect">
                <a:avLst/>
              </a:prstGeom>
              <a:blipFill>
                <a:blip r:embed="rId9"/>
                <a:stretch>
                  <a:fillRect b="-1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5">
                <a:extLst>
                  <a:ext uri="{FF2B5EF4-FFF2-40B4-BE49-F238E27FC236}">
                    <a16:creationId xmlns:a16="http://schemas.microsoft.com/office/drawing/2014/main" id="{12F7FD61-71E7-4619-C17D-43E355F11A23}"/>
                  </a:ext>
                </a:extLst>
              </p:cNvPr>
              <p:cNvSpPr txBox="1"/>
              <p:nvPr/>
            </p:nvSpPr>
            <p:spPr bwMode="auto">
              <a:xfrm>
                <a:off x="2831166" y="4245415"/>
                <a:ext cx="3298825" cy="439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变到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25">
                <a:extLst>
                  <a:ext uri="{FF2B5EF4-FFF2-40B4-BE49-F238E27FC236}">
                    <a16:creationId xmlns:a16="http://schemas.microsoft.com/office/drawing/2014/main" id="{12F7FD61-71E7-4619-C17D-43E355F11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1166" y="4245415"/>
                <a:ext cx="3298825" cy="439738"/>
              </a:xfrm>
              <a:prstGeom prst="rect">
                <a:avLst/>
              </a:prstGeom>
              <a:blipFill>
                <a:blip r:embed="rId10"/>
                <a:stretch>
                  <a:fillRect l="-185" b="-95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6">
                <a:extLst>
                  <a:ext uri="{FF2B5EF4-FFF2-40B4-BE49-F238E27FC236}">
                    <a16:creationId xmlns:a16="http://schemas.microsoft.com/office/drawing/2014/main" id="{6AB1BC02-CD66-2F8A-C3B3-7276C858810B}"/>
                  </a:ext>
                </a:extLst>
              </p:cNvPr>
              <p:cNvSpPr txBox="1"/>
              <p:nvPr/>
            </p:nvSpPr>
            <p:spPr bwMode="auto">
              <a:xfrm>
                <a:off x="2803198" y="4671659"/>
                <a:ext cx="4095750" cy="604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原式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26">
                <a:extLst>
                  <a:ext uri="{FF2B5EF4-FFF2-40B4-BE49-F238E27FC236}">
                    <a16:creationId xmlns:a16="http://schemas.microsoft.com/office/drawing/2014/main" id="{6AB1BC02-CD66-2F8A-C3B3-7276C8588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3198" y="4671659"/>
                <a:ext cx="4095750" cy="604838"/>
              </a:xfrm>
              <a:prstGeom prst="rect">
                <a:avLst/>
              </a:prstGeom>
              <a:blipFill>
                <a:blip r:embed="rId11"/>
                <a:stretch>
                  <a:fillRect b="-31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7">
                <a:extLst>
                  <a:ext uri="{FF2B5EF4-FFF2-40B4-BE49-F238E27FC236}">
                    <a16:creationId xmlns:a16="http://schemas.microsoft.com/office/drawing/2014/main" id="{679BFDDA-1928-CF6A-176F-9470C256F1E9}"/>
                  </a:ext>
                </a:extLst>
              </p:cNvPr>
              <p:cNvSpPr txBox="1"/>
              <p:nvPr/>
            </p:nvSpPr>
            <p:spPr bwMode="auto">
              <a:xfrm>
                <a:off x="3444151" y="5435723"/>
                <a:ext cx="1490662" cy="846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=4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27">
                <a:extLst>
                  <a:ext uri="{FF2B5EF4-FFF2-40B4-BE49-F238E27FC236}">
                    <a16:creationId xmlns:a16="http://schemas.microsoft.com/office/drawing/2014/main" id="{679BFDDA-1928-CF6A-176F-9470C256F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4151" y="5435723"/>
                <a:ext cx="1490662" cy="846137"/>
              </a:xfrm>
              <a:prstGeom prst="rect">
                <a:avLst/>
              </a:prstGeom>
              <a:blipFill>
                <a:blip r:embed="rId12"/>
                <a:stretch>
                  <a:fillRect r="-16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8">
                <a:extLst>
                  <a:ext uri="{FF2B5EF4-FFF2-40B4-BE49-F238E27FC236}">
                    <a16:creationId xmlns:a16="http://schemas.microsoft.com/office/drawing/2014/main" id="{72F30365-CE4B-C2EF-C952-50927C0C0F63}"/>
                  </a:ext>
                </a:extLst>
              </p:cNvPr>
              <p:cNvSpPr txBox="1"/>
              <p:nvPr/>
            </p:nvSpPr>
            <p:spPr bwMode="auto">
              <a:xfrm>
                <a:off x="4937194" y="5648517"/>
                <a:ext cx="687388" cy="452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28">
                <a:extLst>
                  <a:ext uri="{FF2B5EF4-FFF2-40B4-BE49-F238E27FC236}">
                    <a16:creationId xmlns:a16="http://schemas.microsoft.com/office/drawing/2014/main" id="{72F30365-CE4B-C2EF-C952-50927C0C0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7194" y="5648517"/>
                <a:ext cx="687388" cy="4524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 descr="图示&#10;&#10;描述已自动生成">
            <a:extLst>
              <a:ext uri="{FF2B5EF4-FFF2-40B4-BE49-F238E27FC236}">
                <a16:creationId xmlns:a16="http://schemas.microsoft.com/office/drawing/2014/main" id="{0DA1741C-D7AE-5B0A-0E61-39BE1C1CF54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078" y="3478905"/>
            <a:ext cx="2681868" cy="262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4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4806EF4-919F-641E-372A-9117BAC01017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4806EF4-919F-641E-372A-9117BAC010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半闭框 24">
            <a:extLst>
              <a:ext uri="{FF2B5EF4-FFF2-40B4-BE49-F238E27FC236}">
                <a16:creationId xmlns:a16="http://schemas.microsoft.com/office/drawing/2014/main" id="{D97099BA-EF82-4EEE-1D5B-B25413631227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半闭框 26">
            <a:extLst>
              <a:ext uri="{FF2B5EF4-FFF2-40B4-BE49-F238E27FC236}">
                <a16:creationId xmlns:a16="http://schemas.microsoft.com/office/drawing/2014/main" id="{6A41C925-F8D5-980A-8ED4-78C14DCD6BF6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半闭框 28">
            <a:extLst>
              <a:ext uri="{FF2B5EF4-FFF2-40B4-BE49-F238E27FC236}">
                <a16:creationId xmlns:a16="http://schemas.microsoft.com/office/drawing/2014/main" id="{BD8604B1-F853-514B-7CE1-B7942088EE14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1" name="半闭框 30">
            <a:extLst>
              <a:ext uri="{FF2B5EF4-FFF2-40B4-BE49-F238E27FC236}">
                <a16:creationId xmlns:a16="http://schemas.microsoft.com/office/drawing/2014/main" id="{5E75CB24-B66C-F37C-34C5-56B2055817C1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0">
                <a:extLst>
                  <a:ext uri="{FF2B5EF4-FFF2-40B4-BE49-F238E27FC236}">
                    <a16:creationId xmlns:a16="http://schemas.microsoft.com/office/drawing/2014/main" id="{142D5242-8F04-6B83-A331-C015DC967F41}"/>
                  </a:ext>
                </a:extLst>
              </p:cNvPr>
              <p:cNvSpPr txBox="1"/>
              <p:nvPr/>
            </p:nvSpPr>
            <p:spPr bwMode="auto">
              <a:xfrm>
                <a:off x="2421504" y="775495"/>
                <a:ext cx="3287712" cy="414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化为对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的积分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20">
                <a:extLst>
                  <a:ext uri="{FF2B5EF4-FFF2-40B4-BE49-F238E27FC236}">
                    <a16:creationId xmlns:a16="http://schemas.microsoft.com/office/drawing/2014/main" id="{142D5242-8F04-6B83-A331-C015DC967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1504" y="775495"/>
                <a:ext cx="3287712" cy="414337"/>
              </a:xfrm>
              <a:prstGeom prst="rect">
                <a:avLst/>
              </a:prstGeom>
              <a:blipFill>
                <a:blip r:embed="rId12"/>
                <a:stretch>
                  <a:fillRect b="-1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4D6C4227-3C65-1DC5-309B-3821906AC758}"/>
                  </a:ext>
                </a:extLst>
              </p:cNvPr>
              <p:cNvSpPr txBox="1"/>
              <p:nvPr/>
            </p:nvSpPr>
            <p:spPr bwMode="auto">
              <a:xfrm>
                <a:off x="3104523" y="1406525"/>
                <a:ext cx="3571875" cy="439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变到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1 ,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4D6C4227-3C65-1DC5-309B-3821906AC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4523" y="1406525"/>
                <a:ext cx="3571875" cy="439737"/>
              </a:xfrm>
              <a:prstGeom prst="rect">
                <a:avLst/>
              </a:prstGeom>
              <a:blipFill>
                <a:blip r:embed="rId13"/>
                <a:stretch>
                  <a:fillRect l="-171" b="-97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BEF075E8-4D55-A81B-A35C-24FFFEF7C701}"/>
                  </a:ext>
                </a:extLst>
              </p:cNvPr>
              <p:cNvSpPr txBox="1"/>
              <p:nvPr/>
            </p:nvSpPr>
            <p:spPr bwMode="auto">
              <a:xfrm>
                <a:off x="3066419" y="1958181"/>
                <a:ext cx="4129095" cy="604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原式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BEF075E8-4D55-A81B-A35C-24FFFEF7C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6419" y="1958181"/>
                <a:ext cx="4129095" cy="604838"/>
              </a:xfrm>
              <a:prstGeom prst="rect">
                <a:avLst/>
              </a:prstGeom>
              <a:blipFill>
                <a:blip r:embed="rId14"/>
                <a:stretch>
                  <a:fillRect b="-323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77A95C8E-5B0C-9AFF-084D-F843E9E40B2F}"/>
                  </a:ext>
                </a:extLst>
              </p:cNvPr>
              <p:cNvSpPr txBox="1"/>
              <p:nvPr/>
            </p:nvSpPr>
            <p:spPr bwMode="auto">
              <a:xfrm>
                <a:off x="3697445" y="2824162"/>
                <a:ext cx="1387475" cy="604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=5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77A95C8E-5B0C-9AFF-084D-F843E9E40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7445" y="2824162"/>
                <a:ext cx="1387475" cy="604838"/>
              </a:xfrm>
              <a:prstGeom prst="rect">
                <a:avLst/>
              </a:prstGeom>
              <a:blipFill>
                <a:blip r:embed="rId15"/>
                <a:stretch>
                  <a:fillRect r="-10132" b="-31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4">
                <a:extLst>
                  <a:ext uri="{FF2B5EF4-FFF2-40B4-BE49-F238E27FC236}">
                    <a16:creationId xmlns:a16="http://schemas.microsoft.com/office/drawing/2014/main" id="{F92531A2-6459-C462-5B24-43A383AD1DC1}"/>
                  </a:ext>
                </a:extLst>
              </p:cNvPr>
              <p:cNvSpPr txBox="1"/>
              <p:nvPr/>
            </p:nvSpPr>
            <p:spPr bwMode="auto">
              <a:xfrm>
                <a:off x="5243674" y="3043237"/>
                <a:ext cx="517525" cy="273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24">
                <a:extLst>
                  <a:ext uri="{FF2B5EF4-FFF2-40B4-BE49-F238E27FC236}">
                    <a16:creationId xmlns:a16="http://schemas.microsoft.com/office/drawing/2014/main" id="{F92531A2-6459-C462-5B24-43A383AD1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3674" y="3043237"/>
                <a:ext cx="517525" cy="273050"/>
              </a:xfrm>
              <a:prstGeom prst="rect">
                <a:avLst/>
              </a:prstGeom>
              <a:blipFill>
                <a:blip r:embed="rId16"/>
                <a:stretch>
                  <a:fillRect r="-21176" b="-53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7">
                <a:extLst>
                  <a:ext uri="{FF2B5EF4-FFF2-40B4-BE49-F238E27FC236}">
                    <a16:creationId xmlns:a16="http://schemas.microsoft.com/office/drawing/2014/main" id="{C21D3BA7-2E64-D3BB-E06D-498BD329DFAB}"/>
                  </a:ext>
                </a:extLst>
              </p:cNvPr>
              <p:cNvSpPr txBox="1"/>
              <p:nvPr/>
            </p:nvSpPr>
            <p:spPr bwMode="auto">
              <a:xfrm>
                <a:off x="2421504" y="4481730"/>
                <a:ext cx="439738" cy="366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47">
                <a:extLst>
                  <a:ext uri="{FF2B5EF4-FFF2-40B4-BE49-F238E27FC236}">
                    <a16:creationId xmlns:a16="http://schemas.microsoft.com/office/drawing/2014/main" id="{C21D3BA7-2E64-D3BB-E06D-498BD329D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1504" y="4481730"/>
                <a:ext cx="439738" cy="366713"/>
              </a:xfrm>
              <a:prstGeom prst="rect">
                <a:avLst/>
              </a:prstGeom>
              <a:blipFill>
                <a:blip r:embed="rId19"/>
                <a:stretch>
                  <a:fillRect r="-4167" b="-1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8">
                <a:extLst>
                  <a:ext uri="{FF2B5EF4-FFF2-40B4-BE49-F238E27FC236}">
                    <a16:creationId xmlns:a16="http://schemas.microsoft.com/office/drawing/2014/main" id="{24C61C6B-A7D7-5FAD-487D-9ABB952002CC}"/>
                  </a:ext>
                </a:extLst>
              </p:cNvPr>
              <p:cNvSpPr txBox="1"/>
              <p:nvPr/>
            </p:nvSpPr>
            <p:spPr bwMode="auto">
              <a:xfrm>
                <a:off x="3061656" y="4140421"/>
                <a:ext cx="3571875" cy="178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原式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𝑂𝐴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      +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𝐴𝐵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Object 48">
                <a:extLst>
                  <a:ext uri="{FF2B5EF4-FFF2-40B4-BE49-F238E27FC236}">
                    <a16:creationId xmlns:a16="http://schemas.microsoft.com/office/drawing/2014/main" id="{24C61C6B-A7D7-5FAD-487D-9ABB95200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1656" y="4140421"/>
                <a:ext cx="3571875" cy="1789112"/>
              </a:xfrm>
              <a:prstGeom prst="rect">
                <a:avLst/>
              </a:prstGeom>
              <a:blipFill>
                <a:blip r:embed="rId20"/>
                <a:stretch>
                  <a:fillRect b="-20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 descr="图示&#10;&#10;描述已自动生成">
            <a:extLst>
              <a:ext uri="{FF2B5EF4-FFF2-40B4-BE49-F238E27FC236}">
                <a16:creationId xmlns:a16="http://schemas.microsoft.com/office/drawing/2014/main" id="{5DED0526-80B1-6B06-DBBF-3AB283EA929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237" y="1880596"/>
            <a:ext cx="2936888" cy="28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1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57EE4D8-EDC5-EB49-E8BE-6B234862B355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57EE4D8-EDC5-EB49-E8BE-6B234862B3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半闭框 23">
            <a:extLst>
              <a:ext uri="{FF2B5EF4-FFF2-40B4-BE49-F238E27FC236}">
                <a16:creationId xmlns:a16="http://schemas.microsoft.com/office/drawing/2014/main" id="{57AC8301-1CFC-D36E-11C8-FA4369001848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半闭框 25">
            <a:extLst>
              <a:ext uri="{FF2B5EF4-FFF2-40B4-BE49-F238E27FC236}">
                <a16:creationId xmlns:a16="http://schemas.microsoft.com/office/drawing/2014/main" id="{49711031-3981-DD7D-873A-396A7343DCE8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半闭框 27">
            <a:extLst>
              <a:ext uri="{FF2B5EF4-FFF2-40B4-BE49-F238E27FC236}">
                <a16:creationId xmlns:a16="http://schemas.microsoft.com/office/drawing/2014/main" id="{54573778-16C0-2C27-1015-3D7D4622315E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0" name="半闭框 29">
            <a:extLst>
              <a:ext uri="{FF2B5EF4-FFF2-40B4-BE49-F238E27FC236}">
                <a16:creationId xmlns:a16="http://schemas.microsoft.com/office/drawing/2014/main" id="{CAE5072A-28E2-893C-50F0-B59C782C7F59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A50808E6-EF66-C70A-949A-467A938D58DD}"/>
                  </a:ext>
                </a:extLst>
              </p:cNvPr>
              <p:cNvSpPr txBox="1"/>
              <p:nvPr/>
            </p:nvSpPr>
            <p:spPr bwMode="auto">
              <a:xfrm>
                <a:off x="1817074" y="1067479"/>
                <a:ext cx="1371600" cy="3984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在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𝑂𝐴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A50808E6-EF66-C70A-949A-467A938D5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7074" y="1067479"/>
                <a:ext cx="1371600" cy="398462"/>
              </a:xfrm>
              <a:prstGeom prst="rect">
                <a:avLst/>
              </a:prstGeom>
              <a:blipFill>
                <a:blip r:embed="rId4"/>
                <a:stretch>
                  <a:fillRect l="-3111" b="-230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2">
                <a:extLst>
                  <a:ext uri="{FF2B5EF4-FFF2-40B4-BE49-F238E27FC236}">
                    <a16:creationId xmlns:a16="http://schemas.microsoft.com/office/drawing/2014/main" id="{71585D8B-1A5C-B76E-B589-A09CB4A10843}"/>
                  </a:ext>
                </a:extLst>
              </p:cNvPr>
              <p:cNvSpPr txBox="1"/>
              <p:nvPr/>
            </p:nvSpPr>
            <p:spPr bwMode="auto">
              <a:xfrm>
                <a:off x="2920323" y="1053826"/>
                <a:ext cx="2906712" cy="414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变到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12">
                <a:extLst>
                  <a:ext uri="{FF2B5EF4-FFF2-40B4-BE49-F238E27FC236}">
                    <a16:creationId xmlns:a16="http://schemas.microsoft.com/office/drawing/2014/main" id="{71585D8B-1A5C-B76E-B589-A09CB4A10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0323" y="1053826"/>
                <a:ext cx="2906712" cy="414338"/>
              </a:xfrm>
              <a:prstGeom prst="rect">
                <a:avLst/>
              </a:prstGeom>
              <a:blipFill>
                <a:blip r:embed="rId5"/>
                <a:stretch>
                  <a:fillRect l="-210" b="-161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3">
                <a:extLst>
                  <a:ext uri="{FF2B5EF4-FFF2-40B4-BE49-F238E27FC236}">
                    <a16:creationId xmlns:a16="http://schemas.microsoft.com/office/drawing/2014/main" id="{32A0C043-CAE3-6139-AD98-7A77459A399A}"/>
                  </a:ext>
                </a:extLst>
              </p:cNvPr>
              <p:cNvSpPr txBox="1"/>
              <p:nvPr/>
            </p:nvSpPr>
            <p:spPr bwMode="auto">
              <a:xfrm>
                <a:off x="2204046" y="1470390"/>
                <a:ext cx="5718491" cy="888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𝑂𝐴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⋅0+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⋅0)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13">
                <a:extLst>
                  <a:ext uri="{FF2B5EF4-FFF2-40B4-BE49-F238E27FC236}">
                    <a16:creationId xmlns:a16="http://schemas.microsoft.com/office/drawing/2014/main" id="{32A0C043-CAE3-6139-AD98-7A77459A3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4046" y="1470390"/>
                <a:ext cx="5718491" cy="8883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4">
                <a:extLst>
                  <a:ext uri="{FF2B5EF4-FFF2-40B4-BE49-F238E27FC236}">
                    <a16:creationId xmlns:a16="http://schemas.microsoft.com/office/drawing/2014/main" id="{502A402E-B6CE-EE04-957D-994A0FFF0133}"/>
                  </a:ext>
                </a:extLst>
              </p:cNvPr>
              <p:cNvSpPr txBox="1"/>
              <p:nvPr/>
            </p:nvSpPr>
            <p:spPr bwMode="auto">
              <a:xfrm>
                <a:off x="4396700" y="2396248"/>
                <a:ext cx="643731" cy="401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14">
                <a:extLst>
                  <a:ext uri="{FF2B5EF4-FFF2-40B4-BE49-F238E27FC236}">
                    <a16:creationId xmlns:a16="http://schemas.microsoft.com/office/drawing/2014/main" id="{502A402E-B6CE-EE04-957D-994A0FFF0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6700" y="2396248"/>
                <a:ext cx="643731" cy="401638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5">
                <a:extLst>
                  <a:ext uri="{FF2B5EF4-FFF2-40B4-BE49-F238E27FC236}">
                    <a16:creationId xmlns:a16="http://schemas.microsoft.com/office/drawing/2014/main" id="{17963F71-80A4-CCA1-CF0E-4A3AD1DEB6A4}"/>
                  </a:ext>
                </a:extLst>
              </p:cNvPr>
              <p:cNvSpPr txBox="1"/>
              <p:nvPr/>
            </p:nvSpPr>
            <p:spPr bwMode="auto">
              <a:xfrm>
                <a:off x="1817074" y="2911630"/>
                <a:ext cx="1404937" cy="398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在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15">
                <a:extLst>
                  <a:ext uri="{FF2B5EF4-FFF2-40B4-BE49-F238E27FC236}">
                    <a16:creationId xmlns:a16="http://schemas.microsoft.com/office/drawing/2014/main" id="{17963F71-80A4-CCA1-CF0E-4A3AD1DEB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7074" y="2911630"/>
                <a:ext cx="1404937" cy="398463"/>
              </a:xfrm>
              <a:prstGeom prst="rect">
                <a:avLst/>
              </a:prstGeom>
              <a:blipFill>
                <a:blip r:embed="rId8"/>
                <a:stretch>
                  <a:fillRect l="-3030" b="-2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228758A0-FF9C-377B-7E89-A22532DC886A}"/>
                  </a:ext>
                </a:extLst>
              </p:cNvPr>
              <p:cNvSpPr txBox="1"/>
              <p:nvPr/>
            </p:nvSpPr>
            <p:spPr bwMode="auto">
              <a:xfrm>
                <a:off x="2899211" y="2902740"/>
                <a:ext cx="3168332" cy="401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1, 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变到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1 ,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228758A0-FF9C-377B-7E89-A22532DC8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9211" y="2902740"/>
                <a:ext cx="3168332" cy="401638"/>
              </a:xfrm>
              <a:prstGeom prst="rect">
                <a:avLst/>
              </a:prstGeom>
              <a:blipFill>
                <a:blip r:embed="rId9"/>
                <a:stretch>
                  <a:fillRect b="-212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A84BE723-816E-8A27-6267-675085A9B178}"/>
                  </a:ext>
                </a:extLst>
              </p:cNvPr>
              <p:cNvSpPr txBox="1"/>
              <p:nvPr/>
            </p:nvSpPr>
            <p:spPr bwMode="auto">
              <a:xfrm>
                <a:off x="2204234" y="3413542"/>
                <a:ext cx="4776153" cy="8531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𝐴𝐵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⋅0+1)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A84BE723-816E-8A27-6267-675085A9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4234" y="3413542"/>
                <a:ext cx="4776153" cy="8531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8">
                <a:extLst>
                  <a:ext uri="{FF2B5EF4-FFF2-40B4-BE49-F238E27FC236}">
                    <a16:creationId xmlns:a16="http://schemas.microsoft.com/office/drawing/2014/main" id="{EEF34127-A3A0-9940-926B-05E70D8D37B8}"/>
                  </a:ext>
                </a:extLst>
              </p:cNvPr>
              <p:cNvSpPr txBox="1"/>
              <p:nvPr/>
            </p:nvSpPr>
            <p:spPr bwMode="auto">
              <a:xfrm>
                <a:off x="6780200" y="3633254"/>
                <a:ext cx="625159" cy="3695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18">
                <a:extLst>
                  <a:ext uri="{FF2B5EF4-FFF2-40B4-BE49-F238E27FC236}">
                    <a16:creationId xmlns:a16="http://schemas.microsoft.com/office/drawing/2014/main" id="{EEF34127-A3A0-9940-926B-05E70D8D3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0200" y="3633254"/>
                <a:ext cx="625159" cy="369568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9">
                <a:extLst>
                  <a:ext uri="{FF2B5EF4-FFF2-40B4-BE49-F238E27FC236}">
                    <a16:creationId xmlns:a16="http://schemas.microsoft.com/office/drawing/2014/main" id="{3FAA0B3B-B7E9-B72B-5ACF-2AC82E305CAE}"/>
                  </a:ext>
                </a:extLst>
              </p:cNvPr>
              <p:cNvSpPr txBox="1"/>
              <p:nvPr/>
            </p:nvSpPr>
            <p:spPr bwMode="auto">
              <a:xfrm>
                <a:off x="2261385" y="4365745"/>
                <a:ext cx="2469578" cy="3825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原式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=0+1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19">
                <a:extLst>
                  <a:ext uri="{FF2B5EF4-FFF2-40B4-BE49-F238E27FC236}">
                    <a16:creationId xmlns:a16="http://schemas.microsoft.com/office/drawing/2014/main" id="{3FAA0B3B-B7E9-B72B-5ACF-2AC82E305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1385" y="4365745"/>
                <a:ext cx="2469578" cy="382588"/>
              </a:xfrm>
              <a:prstGeom prst="rect">
                <a:avLst/>
              </a:prstGeom>
              <a:blipFill>
                <a:blip r:embed="rId12"/>
                <a:stretch>
                  <a:fillRect b="-269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4D3B0546-321D-C808-608D-BDAC176E3F99}"/>
                  </a:ext>
                </a:extLst>
              </p:cNvPr>
              <p:cNvSpPr txBox="1"/>
              <p:nvPr/>
            </p:nvSpPr>
            <p:spPr bwMode="auto">
              <a:xfrm>
                <a:off x="4202245" y="4359876"/>
                <a:ext cx="608806" cy="382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4D3B0546-321D-C808-608D-BDAC176E3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2245" y="4359876"/>
                <a:ext cx="608806" cy="382587"/>
              </a:xfrm>
              <a:prstGeom prst="rect">
                <a:avLst/>
              </a:prstGeom>
              <a:blipFill>
                <a:blip r:embed="rId13"/>
                <a:stretch>
                  <a:fillRect r="-3000" b="-95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42">
            <a:extLst>
              <a:ext uri="{FF2B5EF4-FFF2-40B4-BE49-F238E27FC236}">
                <a16:creationId xmlns:a16="http://schemas.microsoft.com/office/drawing/2014/main" id="{4F453745-4C48-62FC-B3AD-016097B6A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074" y="5120350"/>
            <a:ext cx="7391400" cy="104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200" b="1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问题：被积函数相同，起点和终点也相同，但路径不同而积分结果相同</a:t>
            </a:r>
            <a:r>
              <a:rPr kumimoji="1" lang="en-US" altLang="zh-CN" sz="2200" b="1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.</a:t>
            </a:r>
          </a:p>
        </p:txBody>
      </p:sp>
      <p:pic>
        <p:nvPicPr>
          <p:cNvPr id="23" name="图片 22" descr="图示&#10;&#10;描述已自动生成">
            <a:extLst>
              <a:ext uri="{FF2B5EF4-FFF2-40B4-BE49-F238E27FC236}">
                <a16:creationId xmlns:a16="http://schemas.microsoft.com/office/drawing/2014/main" id="{E9F3BCC6-6DF1-9701-2B05-EB61BA1BDEC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962" y="1882298"/>
            <a:ext cx="2720972" cy="266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2F1E0A4-DFF3-518D-F105-4CD29E003F87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2F1E0A4-DFF3-518D-F105-4CD29E00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半闭框 11">
            <a:extLst>
              <a:ext uri="{FF2B5EF4-FFF2-40B4-BE49-F238E27FC236}">
                <a16:creationId xmlns:a16="http://schemas.microsoft.com/office/drawing/2014/main" id="{FE5FFB3C-0C2D-C13E-38E8-F8F6C571BA63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半闭框 13">
            <a:extLst>
              <a:ext uri="{FF2B5EF4-FFF2-40B4-BE49-F238E27FC236}">
                <a16:creationId xmlns:a16="http://schemas.microsoft.com/office/drawing/2014/main" id="{27767512-7AC1-DAEF-9E5F-42905F38ED2A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124C68CE-E845-FB7C-5206-40D7DDBDD62A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8" name="半闭框 17">
            <a:extLst>
              <a:ext uri="{FF2B5EF4-FFF2-40B4-BE49-F238E27FC236}">
                <a16:creationId xmlns:a16="http://schemas.microsoft.com/office/drawing/2014/main" id="{C27D9B34-79A2-15F2-84B0-0818D1116486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>
                <a:extLst>
                  <a:ext uri="{FF2B5EF4-FFF2-40B4-BE49-F238E27FC236}">
                    <a16:creationId xmlns:a16="http://schemas.microsoft.com/office/drawing/2014/main" id="{A9C86722-DB3C-8E63-0E8D-EB0CA124EB56}"/>
                  </a:ext>
                </a:extLst>
              </p:cNvPr>
              <p:cNvSpPr txBox="1"/>
              <p:nvPr/>
            </p:nvSpPr>
            <p:spPr>
              <a:xfrm>
                <a:off x="2078038" y="626518"/>
                <a:ext cx="8913812" cy="262880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计算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+3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其中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是从点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(3,2,1)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到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(0,0,0)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的直线段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对象 1">
                <a:extLst>
                  <a:ext uri="{FF2B5EF4-FFF2-40B4-BE49-F238E27FC236}">
                    <a16:creationId xmlns:a16="http://schemas.microsoft.com/office/drawing/2014/main" id="{A9C86722-DB3C-8E63-0E8D-EB0CA124E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038" y="626518"/>
                <a:ext cx="8913812" cy="2628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19B5BA96-77E6-CD3F-5618-1B41B2A9549E}"/>
              </a:ext>
            </a:extLst>
          </p:cNvPr>
          <p:cNvSpPr txBox="1"/>
          <p:nvPr/>
        </p:nvSpPr>
        <p:spPr bwMode="auto">
          <a:xfrm>
            <a:off x="1273690" y="1253111"/>
            <a:ext cx="9749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75FB8F-1716-02A5-B0B7-C6BDFA4CE4A1}"/>
              </a:ext>
            </a:extLst>
          </p:cNvPr>
          <p:cNvSpPr txBox="1"/>
          <p:nvPr/>
        </p:nvSpPr>
        <p:spPr bwMode="auto">
          <a:xfrm>
            <a:off x="1273690" y="3146953"/>
            <a:ext cx="6511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5AC60FA7-1EC3-FA27-77E0-FBABDBA106D5}"/>
                  </a:ext>
                </a:extLst>
              </p:cNvPr>
              <p:cNvSpPr txBox="1"/>
              <p:nvPr/>
            </p:nvSpPr>
            <p:spPr>
              <a:xfrm>
                <a:off x="2078038" y="2849136"/>
                <a:ext cx="6819900" cy="120942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直线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的参数方程为：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=3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从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变到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5AC60FA7-1EC3-FA27-77E0-FBABDBA10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038" y="2849136"/>
                <a:ext cx="6819900" cy="12094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9CFC6F72-0CF7-F0ED-7958-5347DB9E9C96}"/>
                  </a:ext>
                </a:extLst>
              </p:cNvPr>
              <p:cNvSpPr txBox="1"/>
              <p:nvPr/>
            </p:nvSpPr>
            <p:spPr>
              <a:xfrm>
                <a:off x="2078038" y="4058557"/>
                <a:ext cx="3949700" cy="622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+3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9CFC6F72-0CF7-F0ED-7958-5347DB9E9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038" y="4058557"/>
                <a:ext cx="3949700" cy="62230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1D6F540F-A8B5-523E-D6BC-3F16E6172B6D}"/>
                  </a:ext>
                </a:extLst>
              </p:cNvPr>
              <p:cNvSpPr txBox="1"/>
              <p:nvPr/>
            </p:nvSpPr>
            <p:spPr>
              <a:xfrm>
                <a:off x="2079498" y="4946986"/>
                <a:ext cx="5664200" cy="698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(3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⋅3+3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⋅2−(3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1D6F540F-A8B5-523E-D6BC-3F16E6172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98" y="4946986"/>
                <a:ext cx="5664200" cy="698500"/>
              </a:xfrm>
              <a:prstGeom prst="rect">
                <a:avLst/>
              </a:prstGeom>
              <a:blipFill>
                <a:blip r:embed="rId7"/>
                <a:stretch>
                  <a:fillRect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B4390061-BABF-1A92-87F9-35017E998492}"/>
                  </a:ext>
                </a:extLst>
              </p:cNvPr>
              <p:cNvSpPr txBox="1"/>
              <p:nvPr/>
            </p:nvSpPr>
            <p:spPr>
              <a:xfrm>
                <a:off x="7257161" y="4946986"/>
                <a:ext cx="3098800" cy="838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=87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87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4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B4390061-BABF-1A92-87F9-35017E998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161" y="4946986"/>
                <a:ext cx="30988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48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F920A2EC-7484-F83A-180A-801E28179963}"/>
                  </a:ext>
                </a:extLst>
              </p:cNvPr>
              <p:cNvSpPr/>
              <p:nvPr/>
            </p:nvSpPr>
            <p:spPr>
              <a:xfrm>
                <a:off x="699057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F920A2EC-7484-F83A-180A-801E28179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7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半闭框 39">
            <a:extLst>
              <a:ext uri="{FF2B5EF4-FFF2-40B4-BE49-F238E27FC236}">
                <a16:creationId xmlns:a16="http://schemas.microsoft.com/office/drawing/2014/main" id="{1DD7BFFA-8C22-42D5-84D1-0F4951586A56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半闭框 41">
            <a:extLst>
              <a:ext uri="{FF2B5EF4-FFF2-40B4-BE49-F238E27FC236}">
                <a16:creationId xmlns:a16="http://schemas.microsoft.com/office/drawing/2014/main" id="{7B129A95-4B0A-41C4-E795-CB830378B173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半闭框 43">
            <a:extLst>
              <a:ext uri="{FF2B5EF4-FFF2-40B4-BE49-F238E27FC236}">
                <a16:creationId xmlns:a16="http://schemas.microsoft.com/office/drawing/2014/main" id="{1BE4F4F1-3FC4-A799-5A7E-F78CD9041CC5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6" name="半闭框 45">
            <a:extLst>
              <a:ext uri="{FF2B5EF4-FFF2-40B4-BE49-F238E27FC236}">
                <a16:creationId xmlns:a16="http://schemas.microsoft.com/office/drawing/2014/main" id="{E834CBB7-84F7-71C6-FE0B-8A1EC3FE1D63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D68B0F48-E610-8656-D19B-D9A64314C733}"/>
                  </a:ext>
                </a:extLst>
              </p:cNvPr>
              <p:cNvSpPr txBox="1"/>
              <p:nvPr/>
            </p:nvSpPr>
            <p:spPr bwMode="auto">
              <a:xfrm>
                <a:off x="6157877" y="2734025"/>
                <a:ext cx="1314234" cy="5767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,0)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D68B0F48-E610-8656-D19B-D9A64314C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7877" y="2734025"/>
                <a:ext cx="1314234" cy="5767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>
            <a:extLst>
              <a:ext uri="{FF2B5EF4-FFF2-40B4-BE49-F238E27FC236}">
                <a16:creationId xmlns:a16="http://schemas.microsoft.com/office/drawing/2014/main" id="{19494A1A-983C-8C32-4408-3EF91D734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751" y="344588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沿椭圆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3A91B81D-6FDD-9B29-3A3F-FF1756CBE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8396" y="2734268"/>
            <a:ext cx="2111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此质点由点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8CE1A38D-558B-C9B3-58EB-76FF429AAEDD}"/>
                  </a:ext>
                </a:extLst>
              </p:cNvPr>
              <p:cNvSpPr txBox="1"/>
              <p:nvPr/>
            </p:nvSpPr>
            <p:spPr bwMode="auto">
              <a:xfrm>
                <a:off x="3672171" y="3145429"/>
                <a:ext cx="2273300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8CE1A38D-558B-C9B3-58EB-76FF429AA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2171" y="3145429"/>
                <a:ext cx="2273300" cy="9001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2">
            <a:extLst>
              <a:ext uri="{FF2B5EF4-FFF2-40B4-BE49-F238E27FC236}">
                <a16:creationId xmlns:a16="http://schemas.microsoft.com/office/drawing/2014/main" id="{AEFC37C7-55BB-1AE3-CA7F-BF3CC536D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098" y="3450459"/>
            <a:ext cx="29450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按逆时针方向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0F9AC443-B18A-E68A-7517-EA0BA0C33D47}"/>
                  </a:ext>
                </a:extLst>
              </p:cNvPr>
              <p:cNvSpPr txBox="1"/>
              <p:nvPr/>
            </p:nvSpPr>
            <p:spPr bwMode="auto">
              <a:xfrm>
                <a:off x="2437751" y="4041478"/>
                <a:ext cx="22733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移动到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𝑏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0F9AC443-B18A-E68A-7517-EA0BA0C3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7751" y="4041478"/>
                <a:ext cx="2273300" cy="431800"/>
              </a:xfrm>
              <a:prstGeom prst="rect">
                <a:avLst/>
              </a:prstGeom>
              <a:blipFill>
                <a:blip r:embed="rId7"/>
                <a:stretch>
                  <a:fillRect r="-536"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ine 14">
            <a:extLst>
              <a:ext uri="{FF2B5EF4-FFF2-40B4-BE49-F238E27FC236}">
                <a16:creationId xmlns:a16="http://schemas.microsoft.com/office/drawing/2014/main" id="{B86E11FA-9722-46B7-80E9-05E61E5DC2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24267" y="1627765"/>
            <a:ext cx="655638" cy="655638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Arc 15">
            <a:extLst>
              <a:ext uri="{FF2B5EF4-FFF2-40B4-BE49-F238E27FC236}">
                <a16:creationId xmlns:a16="http://schemas.microsoft.com/office/drawing/2014/main" id="{AF265B73-BA1D-6F3C-E113-0A868DE8B3CA}"/>
              </a:ext>
            </a:extLst>
          </p:cNvPr>
          <p:cNvSpPr>
            <a:spLocks/>
          </p:cNvSpPr>
          <p:nvPr/>
        </p:nvSpPr>
        <p:spPr bwMode="auto">
          <a:xfrm>
            <a:off x="8525818" y="2050040"/>
            <a:ext cx="1541463" cy="92868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4A7BA8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EC153D39-BD6C-EB81-EC8F-766B25BAD5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79818" y="2256416"/>
            <a:ext cx="671513" cy="563563"/>
          </a:xfrm>
          <a:prstGeom prst="line">
            <a:avLst/>
          </a:prstGeom>
          <a:noFill/>
          <a:ln w="19050">
            <a:solidFill>
              <a:srgbClr val="A9D18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6" name="Group 17">
            <a:extLst>
              <a:ext uri="{FF2B5EF4-FFF2-40B4-BE49-F238E27FC236}">
                <a16:creationId xmlns:a16="http://schemas.microsoft.com/office/drawing/2014/main" id="{F0E14395-EAD7-5D5D-3144-11F0EDBE2CE3}"/>
              </a:ext>
            </a:extLst>
          </p:cNvPr>
          <p:cNvGrpSpPr>
            <a:grpSpLocks/>
          </p:cNvGrpSpPr>
          <p:nvPr/>
        </p:nvGrpSpPr>
        <p:grpSpPr bwMode="auto">
          <a:xfrm>
            <a:off x="8174514" y="1324786"/>
            <a:ext cx="2538042" cy="2015440"/>
            <a:chOff x="3977" y="44"/>
            <a:chExt cx="1778" cy="14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18">
                  <a:extLst>
                    <a:ext uri="{FF2B5EF4-FFF2-40B4-BE49-F238E27FC236}">
                      <a16:creationId xmlns:a16="http://schemas.microsoft.com/office/drawing/2014/main" id="{F9564F6C-7B91-5256-E69E-712CC206953B}"/>
                    </a:ext>
                  </a:extLst>
                </p:cNvPr>
                <p:cNvSpPr txBox="1"/>
                <p:nvPr/>
              </p:nvSpPr>
              <p:spPr bwMode="auto">
                <a:xfrm>
                  <a:off x="4753" y="349"/>
                  <a:ext cx="6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" name="Object 18">
                  <a:extLst>
                    <a:ext uri="{FF2B5EF4-FFF2-40B4-BE49-F238E27FC236}">
                      <a16:creationId xmlns:a16="http://schemas.microsoft.com/office/drawing/2014/main" id="{F9564F6C-7B91-5256-E69E-712CC2069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53" y="349"/>
                  <a:ext cx="662" cy="2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88185AA3-30CC-304C-AE8A-DFB115485B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7" y="44"/>
              <a:ext cx="1778" cy="1409"/>
              <a:chOff x="3977" y="44"/>
              <a:chExt cx="1778" cy="1409"/>
            </a:xfrm>
          </p:grpSpPr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5349608F-3D23-5282-B06F-D524A20E5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199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8E0A81FB-CEE3-E4CF-0C41-4D6E7B0E9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19"/>
                <a:ext cx="0" cy="1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bject 22">
                    <a:extLst>
                      <a:ext uri="{FF2B5EF4-FFF2-40B4-BE49-F238E27FC236}">
                        <a16:creationId xmlns:a16="http://schemas.microsoft.com/office/drawing/2014/main" id="{0092B9A0-9B8D-DA6E-610B-08EA8269D3B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476" y="1214"/>
                    <a:ext cx="279" cy="23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1" name="Object 22">
                    <a:extLst>
                      <a:ext uri="{FF2B5EF4-FFF2-40B4-BE49-F238E27FC236}">
                        <a16:creationId xmlns:a16="http://schemas.microsoft.com/office/drawing/2014/main" id="{0092B9A0-9B8D-DA6E-610B-08EA8269D3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476" y="1214"/>
                    <a:ext cx="279" cy="23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bject 23">
                    <a:extLst>
                      <a:ext uri="{FF2B5EF4-FFF2-40B4-BE49-F238E27FC236}">
                        <a16:creationId xmlns:a16="http://schemas.microsoft.com/office/drawing/2014/main" id="{3285B5D9-EF3E-35E9-51F3-2B04A5FE95D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977" y="44"/>
                    <a:ext cx="247" cy="2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2" name="Object 23">
                    <a:extLst>
                      <a:ext uri="{FF2B5EF4-FFF2-40B4-BE49-F238E27FC236}">
                        <a16:creationId xmlns:a16="http://schemas.microsoft.com/office/drawing/2014/main" id="{3285B5D9-EF3E-35E9-51F3-2B04A5FE95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977" y="44"/>
                    <a:ext cx="247" cy="27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bject 24">
                    <a:extLst>
                      <a:ext uri="{FF2B5EF4-FFF2-40B4-BE49-F238E27FC236}">
                        <a16:creationId xmlns:a16="http://schemas.microsoft.com/office/drawing/2014/main" id="{CF7F5B86-A31A-9645-D76D-D80914BC16D0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006" y="1157"/>
                    <a:ext cx="249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3" name="Object 24">
                    <a:extLst>
                      <a:ext uri="{FF2B5EF4-FFF2-40B4-BE49-F238E27FC236}">
                        <a16:creationId xmlns:a16="http://schemas.microsoft.com/office/drawing/2014/main" id="{CF7F5B86-A31A-9645-D76D-D80914BC1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06" y="1157"/>
                    <a:ext cx="249" cy="27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5AD152BC-F8B8-F7DD-24DC-B27853CE1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1" y="675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6">
                <a:extLst>
                  <a:ext uri="{FF2B5EF4-FFF2-40B4-BE49-F238E27FC236}">
                    <a16:creationId xmlns:a16="http://schemas.microsoft.com/office/drawing/2014/main" id="{11027A3C-6D7E-ECA5-789C-550975FD9A1A}"/>
                  </a:ext>
                </a:extLst>
              </p:cNvPr>
              <p:cNvSpPr txBox="1"/>
              <p:nvPr/>
            </p:nvSpPr>
            <p:spPr bwMode="auto">
              <a:xfrm>
                <a:off x="9483290" y="3012654"/>
                <a:ext cx="903287" cy="36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Object 26">
                <a:extLst>
                  <a:ext uri="{FF2B5EF4-FFF2-40B4-BE49-F238E27FC236}">
                    <a16:creationId xmlns:a16="http://schemas.microsoft.com/office/drawing/2014/main" id="{11027A3C-6D7E-ECA5-789C-550975FD9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83290" y="3012654"/>
                <a:ext cx="903287" cy="3683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014EF382-2942-A9D2-B336-939D9720C263}"/>
                  </a:ext>
                </a:extLst>
              </p:cNvPr>
              <p:cNvSpPr txBox="1"/>
              <p:nvPr/>
            </p:nvSpPr>
            <p:spPr bwMode="auto">
              <a:xfrm>
                <a:off x="7774952" y="1873641"/>
                <a:ext cx="925513" cy="36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014EF382-2942-A9D2-B336-939D9720C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4952" y="1873641"/>
                <a:ext cx="925513" cy="3683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28">
            <a:extLst>
              <a:ext uri="{FF2B5EF4-FFF2-40B4-BE49-F238E27FC236}">
                <a16:creationId xmlns:a16="http://schemas.microsoft.com/office/drawing/2014/main" id="{5E8DDE48-D859-C1EC-9CC5-F78D5DDF0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396" y="479929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43">
                <a:extLst>
                  <a:ext uri="{FF2B5EF4-FFF2-40B4-BE49-F238E27FC236}">
                    <a16:creationId xmlns:a16="http://schemas.microsoft.com/office/drawing/2014/main" id="{8B1F0EAB-AA24-47F3-B286-3720F0BBADF6}"/>
                  </a:ext>
                </a:extLst>
              </p:cNvPr>
              <p:cNvSpPr txBox="1"/>
              <p:nvPr/>
            </p:nvSpPr>
            <p:spPr bwMode="auto">
              <a:xfrm>
                <a:off x="2447924" y="4785063"/>
                <a:ext cx="2623793" cy="5556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∵</m:t>
                      </m:r>
                      <m:acc>
                        <m:accPr>
                          <m:chr m:val="⃗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𝑂𝑀</m:t>
                          </m:r>
                        </m:e>
                      </m:ac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Object 43">
                <a:extLst>
                  <a:ext uri="{FF2B5EF4-FFF2-40B4-BE49-F238E27FC236}">
                    <a16:creationId xmlns:a16="http://schemas.microsoft.com/office/drawing/2014/main" id="{8B1F0EAB-AA24-47F3-B286-3720F0BBA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7924" y="4785063"/>
                <a:ext cx="2623793" cy="55560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8">
                <a:extLst>
                  <a:ext uri="{FF2B5EF4-FFF2-40B4-BE49-F238E27FC236}">
                    <a16:creationId xmlns:a16="http://schemas.microsoft.com/office/drawing/2014/main" id="{D7E1B932-5991-1C11-AE4A-7DA086133004}"/>
                  </a:ext>
                </a:extLst>
              </p:cNvPr>
              <p:cNvSpPr txBox="1"/>
              <p:nvPr/>
            </p:nvSpPr>
            <p:spPr bwMode="auto">
              <a:xfrm>
                <a:off x="4512995" y="4833323"/>
                <a:ext cx="2652006" cy="5556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𝑘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Object 58">
                <a:extLst>
                  <a:ext uri="{FF2B5EF4-FFF2-40B4-BE49-F238E27FC236}">
                    <a16:creationId xmlns:a16="http://schemas.microsoft.com/office/drawing/2014/main" id="{D7E1B932-5991-1C11-AE4A-7DA086133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2995" y="4833323"/>
                <a:ext cx="2652006" cy="555607"/>
              </a:xfrm>
              <a:prstGeom prst="rect">
                <a:avLst/>
              </a:prstGeom>
              <a:blipFill>
                <a:blip r:embed="rId15"/>
                <a:stretch>
                  <a:fillRect l="-2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61">
                <a:extLst>
                  <a:ext uri="{FF2B5EF4-FFF2-40B4-BE49-F238E27FC236}">
                    <a16:creationId xmlns:a16="http://schemas.microsoft.com/office/drawing/2014/main" id="{48C26AD5-E3CD-C72F-65C3-BB3C5AF9878D}"/>
                  </a:ext>
                </a:extLst>
              </p:cNvPr>
              <p:cNvSpPr txBox="1"/>
              <p:nvPr/>
            </p:nvSpPr>
            <p:spPr bwMode="auto">
              <a:xfrm>
                <a:off x="9106772" y="2524704"/>
                <a:ext cx="319087" cy="295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32" name="Object 61">
                <a:extLst>
                  <a:ext uri="{FF2B5EF4-FFF2-40B4-BE49-F238E27FC236}">
                    <a16:creationId xmlns:a16="http://schemas.microsoft.com/office/drawing/2014/main" id="{48C26AD5-E3CD-C72F-65C3-BB3C5AF98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06772" y="2524704"/>
                <a:ext cx="319087" cy="295275"/>
              </a:xfrm>
              <a:prstGeom prst="rect">
                <a:avLst/>
              </a:prstGeom>
              <a:blipFill>
                <a:blip r:embed="rId16"/>
                <a:stretch>
                  <a:fillRect b="-20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>
                <a:extLst>
                  <a:ext uri="{FF2B5EF4-FFF2-40B4-BE49-F238E27FC236}">
                    <a16:creationId xmlns:a16="http://schemas.microsoft.com/office/drawing/2014/main" id="{6510AD74-644D-9BF6-E510-4D2D5AB5787C}"/>
                  </a:ext>
                </a:extLst>
              </p:cNvPr>
              <p:cNvSpPr txBox="1"/>
              <p:nvPr/>
            </p:nvSpPr>
            <p:spPr>
              <a:xfrm>
                <a:off x="4791201" y="4049414"/>
                <a:ext cx="2945056" cy="499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求力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所作的功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7" name="对象 36">
                <a:extLst>
                  <a:ext uri="{FF2B5EF4-FFF2-40B4-BE49-F238E27FC236}">
                    <a16:creationId xmlns:a16="http://schemas.microsoft.com/office/drawing/2014/main" id="{6510AD74-644D-9BF6-E510-4D2D5AB57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201" y="4049414"/>
                <a:ext cx="2945056" cy="4996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4C12D6CE-9003-A9E9-C5D6-7397D8538915}"/>
              </a:ext>
            </a:extLst>
          </p:cNvPr>
          <p:cNvGrpSpPr/>
          <p:nvPr/>
        </p:nvGrpSpPr>
        <p:grpSpPr>
          <a:xfrm>
            <a:off x="1611927" y="834275"/>
            <a:ext cx="6779929" cy="2425392"/>
            <a:chOff x="1611927" y="834275"/>
            <a:chExt cx="6779929" cy="2425392"/>
          </a:xfrm>
        </p:grpSpPr>
        <p:sp>
          <p:nvSpPr>
            <p:cNvPr id="2" name="Text Box 2">
              <a:extLst>
                <a:ext uri="{FF2B5EF4-FFF2-40B4-BE49-F238E27FC236}">
                  <a16:creationId xmlns:a16="http://schemas.microsoft.com/office/drawing/2014/main" id="{318281DA-6D69-ABCA-BB69-166B3F1A8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7751" y="2090093"/>
              <a:ext cx="351430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原点</a:t>
              </a:r>
              <a:r>
                <a:rPr kumimoji="1"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O</a:t>
              </a:r>
              <a:r>
                <a: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 </a:t>
              </a: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的距离成正比</a:t>
              </a:r>
              <a:r>
                <a: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,</a:t>
              </a:r>
            </a:p>
          </p:txBody>
        </p:sp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21DC6800-235A-7941-828F-E930BEEF2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927" y="841505"/>
              <a:ext cx="83575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 </a:t>
              </a:r>
              <a:endPara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62B3034B-5ECC-F553-A66E-DA8082D88ABE}"/>
                    </a:ext>
                  </a:extLst>
                </p:cNvPr>
                <p:cNvSpPr txBox="1"/>
                <p:nvPr/>
              </p:nvSpPr>
              <p:spPr bwMode="auto">
                <a:xfrm>
                  <a:off x="4609298" y="841505"/>
                  <a:ext cx="1600200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点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𝑀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62B3034B-5ECC-F553-A66E-DA8082D88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9298" y="841505"/>
                  <a:ext cx="1600200" cy="431800"/>
                </a:xfrm>
                <a:prstGeom prst="rect">
                  <a:avLst/>
                </a:prstGeom>
                <a:blipFill>
                  <a:blip r:embed="rId21"/>
                  <a:stretch>
                    <a:fillRect b="-985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8FFEB199-F556-1D1E-9293-7C5ADCDD4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7502" y="854572"/>
              <a:ext cx="100012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处受</a:t>
              </a: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7758C64E-7FC7-835B-D415-62501920A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7751" y="2740555"/>
              <a:ext cx="21336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恒指向原点</a:t>
              </a:r>
              <a:r>
                <a: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.</a:t>
              </a: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44CC0BA-3AF1-B557-3504-1303BE1CA502}"/>
                </a:ext>
              </a:extLst>
            </p:cNvPr>
            <p:cNvGrpSpPr/>
            <p:nvPr/>
          </p:nvGrpSpPr>
          <p:grpSpPr>
            <a:xfrm>
              <a:off x="2437751" y="1482428"/>
              <a:ext cx="5954105" cy="495300"/>
              <a:chOff x="2437751" y="1482428"/>
              <a:chExt cx="5954105" cy="4953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对象 33">
                    <a:extLst>
                      <a:ext uri="{FF2B5EF4-FFF2-40B4-BE49-F238E27FC236}">
                        <a16:creationId xmlns:a16="http://schemas.microsoft.com/office/drawing/2014/main" id="{A9FF1743-F814-052A-99D9-9E3A4D854F46}"/>
                      </a:ext>
                    </a:extLst>
                  </p:cNvPr>
                  <p:cNvSpPr txBox="1"/>
                  <p:nvPr/>
                </p:nvSpPr>
                <p:spPr>
                  <a:xfrm>
                    <a:off x="2437751" y="1488844"/>
                    <a:ext cx="2812782" cy="469900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到力</m:t>
                          </m:r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𝑭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的作用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</m:oMath>
                      </m:oMathPara>
                    </a14:m>
                    <a:endParaRPr kumimoji="1" lang="zh-CN" altLang="en-US" sz="2800" dirty="0">
                      <a:latin typeface="Cambria Math" panose="02040503050406030204" pitchFamily="18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34" name="对象 33">
                    <a:extLst>
                      <a:ext uri="{FF2B5EF4-FFF2-40B4-BE49-F238E27FC236}">
                        <a16:creationId xmlns:a16="http://schemas.microsoft.com/office/drawing/2014/main" id="{A9FF1743-F814-052A-99D9-9E3A4D854F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7751" y="1488844"/>
                    <a:ext cx="2812782" cy="46990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对象 34">
                    <a:extLst>
                      <a:ext uri="{FF2B5EF4-FFF2-40B4-BE49-F238E27FC236}">
                        <a16:creationId xmlns:a16="http://schemas.microsoft.com/office/drawing/2014/main" id="{0CE93573-E0E6-A493-9941-6A2DA1FC052A}"/>
                      </a:ext>
                    </a:extLst>
                  </p:cNvPr>
                  <p:cNvSpPr txBox="1"/>
                  <p:nvPr/>
                </p:nvSpPr>
                <p:spPr>
                  <a:xfrm>
                    <a:off x="4618612" y="1482428"/>
                    <a:ext cx="3773244" cy="495300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𝑭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的大小与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到原</m:t>
                          </m:r>
                        </m:oMath>
                      </m:oMathPara>
                    </a14:m>
                    <a:endParaRPr kumimoji="1" lang="zh-CN" altLang="en-US" sz="2800" dirty="0">
                      <a:latin typeface="Cambria Math" panose="02040503050406030204" pitchFamily="18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35" name="对象 34">
                    <a:extLst>
                      <a:ext uri="{FF2B5EF4-FFF2-40B4-BE49-F238E27FC236}">
                        <a16:creationId xmlns:a16="http://schemas.microsoft.com/office/drawing/2014/main" id="{0CE93573-E0E6-A493-9941-6A2DA1FC05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8612" y="1482428"/>
                    <a:ext cx="3773244" cy="49530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对象 35">
                  <a:extLst>
                    <a:ext uri="{FF2B5EF4-FFF2-40B4-BE49-F238E27FC236}">
                      <a16:creationId xmlns:a16="http://schemas.microsoft.com/office/drawing/2014/main" id="{F519B433-8C0C-F65D-0F87-EEDD1484856B}"/>
                    </a:ext>
                  </a:extLst>
                </p:cNvPr>
                <p:cNvSpPr txBox="1"/>
                <p:nvPr/>
              </p:nvSpPr>
              <p:spPr>
                <a:xfrm>
                  <a:off x="5797996" y="2085678"/>
                  <a:ext cx="2233612" cy="4953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𝑭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的方向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6" name="对象 35">
                  <a:extLst>
                    <a:ext uri="{FF2B5EF4-FFF2-40B4-BE49-F238E27FC236}">
                      <a16:creationId xmlns:a16="http://schemas.microsoft.com/office/drawing/2014/main" id="{F519B433-8C0C-F65D-0F87-EEDD14848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7996" y="2085678"/>
                  <a:ext cx="2233612" cy="49530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Text Box 4">
              <a:extLst>
                <a:ext uri="{FF2B5EF4-FFF2-40B4-BE49-F238E27FC236}">
                  <a16:creationId xmlns:a16="http://schemas.microsoft.com/office/drawing/2014/main" id="{9E96770E-3E5D-F42C-A937-78FE36E2E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7751" y="834275"/>
              <a:ext cx="243987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rPr>
                <a:t>设一个质点在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Object 58">
                <a:extLst>
                  <a:ext uri="{FF2B5EF4-FFF2-40B4-BE49-F238E27FC236}">
                    <a16:creationId xmlns:a16="http://schemas.microsoft.com/office/drawing/2014/main" id="{5CBC9AC7-EB58-90A0-5B65-F5C00837F239}"/>
                  </a:ext>
                </a:extLst>
              </p:cNvPr>
              <p:cNvSpPr txBox="1"/>
              <p:nvPr/>
            </p:nvSpPr>
            <p:spPr bwMode="auto">
              <a:xfrm>
                <a:off x="2438538" y="5221431"/>
                <a:ext cx="5041762" cy="9686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𝑊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groupChr>
                            <m:groupChrPr>
                              <m:chr m:val="⏜"/>
                              <m:pos m:val="top"/>
                              <m:vertJc m:val="bot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/>
                                </m:rP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𝐵</m:t>
                              </m:r>
                            </m:e>
                          </m:groupChr>
                        </m:sub>
                        <m:sup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</m:sup>
                        <m:e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𝑭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𝒓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groupChr>
                                <m:groupChrPr>
                                  <m:chr m:val="⏜"/>
                                  <m:pos m:val="top"/>
                                  <m:vertJc m:val="bot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/>
                                    </m:rPr>
                                    <a:rPr kumimoji="1" lang="en-US" altLang="zh-CN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</m:groupChr>
                            </m:sub>
                            <m:sup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𝑘𝑥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𝑘𝑦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  <a:p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3" name="Object 58">
                <a:extLst>
                  <a:ext uri="{FF2B5EF4-FFF2-40B4-BE49-F238E27FC236}">
                    <a16:creationId xmlns:a16="http://schemas.microsoft.com/office/drawing/2014/main" id="{5CBC9AC7-EB58-90A0-5B65-F5C00837F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538" y="5221431"/>
                <a:ext cx="5041762" cy="96869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66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25" grpId="0"/>
      <p:bldP spid="26" grpId="0"/>
      <p:bldP spid="27" grpId="0"/>
      <p:bldP spid="29" grpId="0"/>
      <p:bldP spid="30" grpId="0"/>
      <p:bldP spid="32" grpId="0"/>
      <p:bldP spid="37" grpId="0"/>
      <p:bldP spid="1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723CAA90-8EEE-5646-5C43-8B4442FED85E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723CAA90-8EEE-5646-5C43-8B4442FED8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半闭框 92">
            <a:extLst>
              <a:ext uri="{FF2B5EF4-FFF2-40B4-BE49-F238E27FC236}">
                <a16:creationId xmlns:a16="http://schemas.microsoft.com/office/drawing/2014/main" id="{0C062D5A-EF84-1C37-C915-F80828459605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5" name="半闭框 94">
            <a:extLst>
              <a:ext uri="{FF2B5EF4-FFF2-40B4-BE49-F238E27FC236}">
                <a16:creationId xmlns:a16="http://schemas.microsoft.com/office/drawing/2014/main" id="{25274334-9013-092E-1BCD-4225B376E41C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7" name="半闭框 96">
            <a:extLst>
              <a:ext uri="{FF2B5EF4-FFF2-40B4-BE49-F238E27FC236}">
                <a16:creationId xmlns:a16="http://schemas.microsoft.com/office/drawing/2014/main" id="{4ADBC29C-3079-008C-F662-894DF2E8B29E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99" name="半闭框 98">
            <a:extLst>
              <a:ext uri="{FF2B5EF4-FFF2-40B4-BE49-F238E27FC236}">
                <a16:creationId xmlns:a16="http://schemas.microsoft.com/office/drawing/2014/main" id="{2D16327F-C15A-AC81-24A6-3C03EF1F511B}"/>
              </a:ext>
            </a:extLst>
          </p:cNvPr>
          <p:cNvSpPr/>
          <p:nvPr/>
        </p:nvSpPr>
        <p:spPr>
          <a:xfrm flipH="1" flipV="1">
            <a:off x="10824165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63">
            <a:extLst>
              <a:ext uri="{FF2B5EF4-FFF2-40B4-BE49-F238E27FC236}">
                <a16:creationId xmlns:a16="http://schemas.microsoft.com/office/drawing/2014/main" id="{16757B5E-34C3-E775-1006-F83248BFD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251" y="3771900"/>
            <a:ext cx="3220813" cy="19812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7">
                <a:extLst>
                  <a:ext uri="{FF2B5EF4-FFF2-40B4-BE49-F238E27FC236}">
                    <a16:creationId xmlns:a16="http://schemas.microsoft.com/office/drawing/2014/main" id="{DAFFC945-8FC1-8F23-74A5-F2B83CDFD9C6}"/>
                  </a:ext>
                </a:extLst>
              </p:cNvPr>
              <p:cNvSpPr txBox="1"/>
              <p:nvPr/>
            </p:nvSpPr>
            <p:spPr bwMode="auto">
              <a:xfrm>
                <a:off x="7491973" y="5101987"/>
                <a:ext cx="213360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bar>
                        <m:bar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barPr>
                        <m:e>
                          <m:r>
                            <m:rPr>
                              <m:nor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   </m:t>
                          </m:r>
                        </m:e>
                      </m:ba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67">
                <a:extLst>
                  <a:ext uri="{FF2B5EF4-FFF2-40B4-BE49-F238E27FC236}">
                    <a16:creationId xmlns:a16="http://schemas.microsoft.com/office/drawing/2014/main" id="{DAFFC945-8FC1-8F23-74A5-F2B83CDFD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1973" y="5101987"/>
                <a:ext cx="2133600" cy="558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68">
                <a:extLst>
                  <a:ext uri="{FF2B5EF4-FFF2-40B4-BE49-F238E27FC236}">
                    <a16:creationId xmlns:a16="http://schemas.microsoft.com/office/drawing/2014/main" id="{23EA5B60-7DD7-6DB0-D90B-D7485B8A65DF}"/>
                  </a:ext>
                </a:extLst>
              </p:cNvPr>
              <p:cNvSpPr txBox="1"/>
              <p:nvPr/>
            </p:nvSpPr>
            <p:spPr bwMode="auto">
              <a:xfrm>
                <a:off x="7993628" y="5132466"/>
                <a:ext cx="14478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𝑘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68">
                <a:extLst>
                  <a:ext uri="{FF2B5EF4-FFF2-40B4-BE49-F238E27FC236}">
                    <a16:creationId xmlns:a16="http://schemas.microsoft.com/office/drawing/2014/main" id="{23EA5B60-7DD7-6DB0-D90B-D7485B8A6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93628" y="5132466"/>
                <a:ext cx="1447800" cy="406400"/>
              </a:xfrm>
              <a:prstGeom prst="rect">
                <a:avLst/>
              </a:prstGeom>
              <a:blipFill>
                <a:blip r:embed="rId5"/>
                <a:stretch>
                  <a:fillRect l="-420"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74">
            <a:extLst>
              <a:ext uri="{FF2B5EF4-FFF2-40B4-BE49-F238E27FC236}">
                <a16:creationId xmlns:a16="http://schemas.microsoft.com/office/drawing/2014/main" id="{FCC185F9-CF18-A42B-FEE3-0ECBA04C8CE2}"/>
              </a:ext>
            </a:extLst>
          </p:cNvPr>
          <p:cNvGrpSpPr>
            <a:grpSpLocks/>
          </p:cNvGrpSpPr>
          <p:nvPr/>
        </p:nvGrpSpPr>
        <p:grpSpPr bwMode="auto">
          <a:xfrm>
            <a:off x="7062685" y="3898662"/>
            <a:ext cx="3124200" cy="1203325"/>
            <a:chOff x="3696" y="2409"/>
            <a:chExt cx="1968" cy="7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64">
                  <a:extLst>
                    <a:ext uri="{FF2B5EF4-FFF2-40B4-BE49-F238E27FC236}">
                      <a16:creationId xmlns:a16="http://schemas.microsoft.com/office/drawing/2014/main" id="{624E2403-5EBE-29F7-1D06-6480A0D9A1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2409"/>
                  <a:ext cx="1968" cy="7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200" dirty="0">
                      <a:solidFill>
                        <a:srgbClr val="04926A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思考</a:t>
                  </a:r>
                  <a:r>
                    <a:rPr kumimoji="1" lang="en-US" altLang="zh-CN" sz="2200" dirty="0">
                      <a:solidFill>
                        <a:srgbClr val="04926A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: </a:t>
                  </a:r>
                  <a:r>
                    <a:rPr kumimoji="1" lang="zh-CN" altLang="en-US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若题中</a:t>
                  </a:r>
                  <a14:m>
                    <m:oMath xmlns:m="http://schemas.openxmlformats.org/officeDocument/2006/math">
                      <m:r>
                        <a:rPr kumimoji="1" lang="zh-CN" altLang="en-US" sz="22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kumimoji="1" lang="zh-CN" altLang="en-US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的方向</a:t>
                  </a:r>
                </a:p>
                <a:p>
                  <a:pPr lvl="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改为与</a:t>
                  </a:r>
                  <a14:m>
                    <m:oMath xmlns:m="http://schemas.openxmlformats.org/officeDocument/2006/math"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𝑂𝑀</m:t>
                      </m:r>
                    </m:oMath>
                  </a14:m>
                  <a:r>
                    <a:rPr kumimoji="1" lang="zh-CN" altLang="en-US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垂直且与</a:t>
                  </a:r>
                  <a14:m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</m:oMath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轴夹锐角</a:t>
                  </a:r>
                  <a:r>
                    <a: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,</a:t>
                  </a:r>
                  <a:r>
                    <a:rPr kumimoji="1" lang="zh-CN" altLang="en-US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则 </a:t>
                  </a:r>
                </a:p>
              </p:txBody>
            </p:sp>
          </mc:Choice>
          <mc:Fallback xmlns="">
            <p:sp>
              <p:nvSpPr>
                <p:cNvPr id="6" name="Text Box 64">
                  <a:extLst>
                    <a:ext uri="{FF2B5EF4-FFF2-40B4-BE49-F238E27FC236}">
                      <a16:creationId xmlns:a16="http://schemas.microsoft.com/office/drawing/2014/main" id="{624E2403-5EBE-29F7-1D06-6480A0D9A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96" y="2409"/>
                  <a:ext cx="1968" cy="758"/>
                </a:xfrm>
                <a:prstGeom prst="rect">
                  <a:avLst/>
                </a:prstGeom>
                <a:blipFill>
                  <a:blip r:embed="rId6"/>
                  <a:stretch>
                    <a:fillRect l="-2539" t="-5076" b="-964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Line 70">
              <a:extLst>
                <a:ext uri="{FF2B5EF4-FFF2-40B4-BE49-F238E27FC236}">
                  <a16:creationId xmlns:a16="http://schemas.microsoft.com/office/drawing/2014/main" id="{A7F328C7-B85A-9F88-EFE9-6F1E9DADF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2" y="2683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8">
                <a:extLst>
                  <a:ext uri="{FF2B5EF4-FFF2-40B4-BE49-F238E27FC236}">
                    <a16:creationId xmlns:a16="http://schemas.microsoft.com/office/drawing/2014/main" id="{51D90248-DD32-EA95-E106-04C851D8F5D9}"/>
                  </a:ext>
                </a:extLst>
              </p:cNvPr>
              <p:cNvSpPr txBox="1"/>
              <p:nvPr/>
            </p:nvSpPr>
            <p:spPr bwMode="auto">
              <a:xfrm>
                <a:off x="1995508" y="1051483"/>
                <a:ext cx="4189743" cy="9218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∵</m:t>
                      </m:r>
                      <m:groupChr>
                        <m:groupChrPr>
                          <m:chr m:val="⏜"/>
                          <m:pos m:val="top"/>
                          <m:vertJc m:val="bot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groupChr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𝐴𝐵</m:t>
                          </m:r>
                        </m:e>
                      </m:groupCh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e>
                              </m:func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𝑏</m:t>
                              </m:r>
                              <m:func>
                                <m:func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e>
                              </m:func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: 0→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π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38">
                <a:extLst>
                  <a:ext uri="{FF2B5EF4-FFF2-40B4-BE49-F238E27FC236}">
                    <a16:creationId xmlns:a16="http://schemas.microsoft.com/office/drawing/2014/main" id="{51D90248-DD32-EA95-E106-04C851D8F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5508" y="1051483"/>
                <a:ext cx="4189743" cy="9218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14">
            <a:extLst>
              <a:ext uri="{FF2B5EF4-FFF2-40B4-BE49-F238E27FC236}">
                <a16:creationId xmlns:a16="http://schemas.microsoft.com/office/drawing/2014/main" id="{7D53D936-B2F0-A7FF-00B5-57C0CA5B70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96674" y="1380840"/>
            <a:ext cx="655638" cy="655638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Arc 15">
            <a:extLst>
              <a:ext uri="{FF2B5EF4-FFF2-40B4-BE49-F238E27FC236}">
                <a16:creationId xmlns:a16="http://schemas.microsoft.com/office/drawing/2014/main" id="{5D701ACE-B592-4491-F172-733AD54C323C}"/>
              </a:ext>
            </a:extLst>
          </p:cNvPr>
          <p:cNvSpPr>
            <a:spLocks/>
          </p:cNvSpPr>
          <p:nvPr/>
        </p:nvSpPr>
        <p:spPr bwMode="auto">
          <a:xfrm>
            <a:off x="7998225" y="1803115"/>
            <a:ext cx="1541463" cy="92868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4A7BA8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51F81488-FB29-5887-DFCF-2658B6105F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2225" y="2009491"/>
            <a:ext cx="671513" cy="563563"/>
          </a:xfrm>
          <a:prstGeom prst="line">
            <a:avLst/>
          </a:prstGeom>
          <a:noFill/>
          <a:ln w="19050">
            <a:solidFill>
              <a:srgbClr val="A9D18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EBD66EC-D5D7-F398-986D-7236FBFDE1BF}"/>
              </a:ext>
            </a:extLst>
          </p:cNvPr>
          <p:cNvGrpSpPr>
            <a:grpSpLocks/>
          </p:cNvGrpSpPr>
          <p:nvPr/>
        </p:nvGrpSpPr>
        <p:grpSpPr bwMode="auto">
          <a:xfrm>
            <a:off x="7725433" y="1122204"/>
            <a:ext cx="2512348" cy="2024023"/>
            <a:chOff x="4032" y="75"/>
            <a:chExt cx="1760" cy="14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8">
                  <a:extLst>
                    <a:ext uri="{FF2B5EF4-FFF2-40B4-BE49-F238E27FC236}">
                      <a16:creationId xmlns:a16="http://schemas.microsoft.com/office/drawing/2014/main" id="{19026466-CFAA-DD14-A589-98A2A54509B1}"/>
                    </a:ext>
                  </a:extLst>
                </p:cNvPr>
                <p:cNvSpPr txBox="1"/>
                <p:nvPr/>
              </p:nvSpPr>
              <p:spPr bwMode="auto">
                <a:xfrm>
                  <a:off x="4828" y="489"/>
                  <a:ext cx="627" cy="2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8" name="Object 18">
                  <a:extLst>
                    <a:ext uri="{FF2B5EF4-FFF2-40B4-BE49-F238E27FC236}">
                      <a16:creationId xmlns:a16="http://schemas.microsoft.com/office/drawing/2014/main" id="{19026466-CFAA-DD14-A589-98A2A5450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28" y="489"/>
                  <a:ext cx="627" cy="202"/>
                </a:xfrm>
                <a:prstGeom prst="rect">
                  <a:avLst/>
                </a:prstGeom>
                <a:blipFill>
                  <a:blip r:embed="rId11"/>
                  <a:stretch>
                    <a:fillRect b="-2708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E49A3AD4-A263-EC00-39B2-D46729C66F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75"/>
              <a:ext cx="1760" cy="1415"/>
              <a:chOff x="4032" y="75"/>
              <a:chExt cx="1760" cy="1415"/>
            </a:xfrm>
          </p:grpSpPr>
          <p:sp>
            <p:nvSpPr>
              <p:cNvPr id="20" name="Line 20">
                <a:extLst>
                  <a:ext uri="{FF2B5EF4-FFF2-40B4-BE49-F238E27FC236}">
                    <a16:creationId xmlns:a16="http://schemas.microsoft.com/office/drawing/2014/main" id="{4FB07452-A511-2C6C-C71D-1DE660596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199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1" name="Line 21">
                <a:extLst>
                  <a:ext uri="{FF2B5EF4-FFF2-40B4-BE49-F238E27FC236}">
                    <a16:creationId xmlns:a16="http://schemas.microsoft.com/office/drawing/2014/main" id="{303DB924-D3F1-1834-1C64-B16190521E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19"/>
                <a:ext cx="0" cy="1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bject 22">
                    <a:extLst>
                      <a:ext uri="{FF2B5EF4-FFF2-40B4-BE49-F238E27FC236}">
                        <a16:creationId xmlns:a16="http://schemas.microsoft.com/office/drawing/2014/main" id="{45C9368C-B335-933E-ED26-451D1F41641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530" y="1178"/>
                    <a:ext cx="262" cy="3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2" name="Object 22">
                    <a:extLst>
                      <a:ext uri="{FF2B5EF4-FFF2-40B4-BE49-F238E27FC236}">
                        <a16:creationId xmlns:a16="http://schemas.microsoft.com/office/drawing/2014/main" id="{45C9368C-B335-933E-ED26-451D1F4164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530" y="1178"/>
                    <a:ext cx="262" cy="3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bject 23">
                    <a:extLst>
                      <a:ext uri="{FF2B5EF4-FFF2-40B4-BE49-F238E27FC236}">
                        <a16:creationId xmlns:a16="http://schemas.microsoft.com/office/drawing/2014/main" id="{78AB2043-A183-0623-D81F-6D15BE79943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032" y="75"/>
                    <a:ext cx="162" cy="2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3" name="Object 23">
                    <a:extLst>
                      <a:ext uri="{FF2B5EF4-FFF2-40B4-BE49-F238E27FC236}">
                        <a16:creationId xmlns:a16="http://schemas.microsoft.com/office/drawing/2014/main" id="{78AB2043-A183-0623-D81F-6D15BE7994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32" y="75"/>
                    <a:ext cx="162" cy="20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8421" b="-2340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bject 24">
                    <a:extLst>
                      <a:ext uri="{FF2B5EF4-FFF2-40B4-BE49-F238E27FC236}">
                        <a16:creationId xmlns:a16="http://schemas.microsoft.com/office/drawing/2014/main" id="{18C5A3A3-EBA8-699A-698D-BC2910456C5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059" y="1167"/>
                    <a:ext cx="178" cy="2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4" name="Object 24">
                    <a:extLst>
                      <a:ext uri="{FF2B5EF4-FFF2-40B4-BE49-F238E27FC236}">
                        <a16:creationId xmlns:a16="http://schemas.microsoft.com/office/drawing/2014/main" id="{18C5A3A3-EBA8-699A-698D-BC2910456C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59" y="1167"/>
                    <a:ext cx="178" cy="20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7073" b="-6383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Oval 25">
                <a:extLst>
                  <a:ext uri="{FF2B5EF4-FFF2-40B4-BE49-F238E27FC236}">
                    <a16:creationId xmlns:a16="http://schemas.microsoft.com/office/drawing/2014/main" id="{59B00B6F-6F00-A4D6-B3A2-0CEF07987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1" y="675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6">
                <a:extLst>
                  <a:ext uri="{FF2B5EF4-FFF2-40B4-BE49-F238E27FC236}">
                    <a16:creationId xmlns:a16="http://schemas.microsoft.com/office/drawing/2014/main" id="{3DF97B05-25ED-AE9E-EC63-4B54E78E56E9}"/>
                  </a:ext>
                </a:extLst>
              </p:cNvPr>
              <p:cNvSpPr txBox="1"/>
              <p:nvPr/>
            </p:nvSpPr>
            <p:spPr bwMode="auto">
              <a:xfrm>
                <a:off x="9008359" y="2707480"/>
                <a:ext cx="903287" cy="36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6" name="Object 26">
                <a:extLst>
                  <a:ext uri="{FF2B5EF4-FFF2-40B4-BE49-F238E27FC236}">
                    <a16:creationId xmlns:a16="http://schemas.microsoft.com/office/drawing/2014/main" id="{3DF97B05-25ED-AE9E-EC63-4B54E78E5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8359" y="2707480"/>
                <a:ext cx="903287" cy="3683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7">
                <a:extLst>
                  <a:ext uri="{FF2B5EF4-FFF2-40B4-BE49-F238E27FC236}">
                    <a16:creationId xmlns:a16="http://schemas.microsoft.com/office/drawing/2014/main" id="{B2E2E097-A186-2379-296C-7075E1C36B2A}"/>
                  </a:ext>
                </a:extLst>
              </p:cNvPr>
              <p:cNvSpPr txBox="1"/>
              <p:nvPr/>
            </p:nvSpPr>
            <p:spPr bwMode="auto">
              <a:xfrm>
                <a:off x="7222578" y="1635034"/>
                <a:ext cx="925513" cy="36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7" name="Object 27">
                <a:extLst>
                  <a:ext uri="{FF2B5EF4-FFF2-40B4-BE49-F238E27FC236}">
                    <a16:creationId xmlns:a16="http://schemas.microsoft.com/office/drawing/2014/main" id="{B2E2E097-A186-2379-296C-7075E1C36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2578" y="1635034"/>
                <a:ext cx="925513" cy="3683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61">
                <a:extLst>
                  <a:ext uri="{FF2B5EF4-FFF2-40B4-BE49-F238E27FC236}">
                    <a16:creationId xmlns:a16="http://schemas.microsoft.com/office/drawing/2014/main" id="{E14959DA-9375-FBCA-5352-B0B43185E22E}"/>
                  </a:ext>
                </a:extLst>
              </p:cNvPr>
              <p:cNvSpPr txBox="1"/>
              <p:nvPr/>
            </p:nvSpPr>
            <p:spPr bwMode="auto">
              <a:xfrm>
                <a:off x="8701485" y="2155538"/>
                <a:ext cx="319087" cy="295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9" name="Object 61">
                <a:extLst>
                  <a:ext uri="{FF2B5EF4-FFF2-40B4-BE49-F238E27FC236}">
                    <a16:creationId xmlns:a16="http://schemas.microsoft.com/office/drawing/2014/main" id="{E14959DA-9375-FBCA-5352-B0B43185E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01485" y="2155538"/>
                <a:ext cx="319087" cy="295275"/>
              </a:xfrm>
              <a:prstGeom prst="rect">
                <a:avLst/>
              </a:prstGeom>
              <a:blipFill>
                <a:blip r:embed="rId17"/>
                <a:stretch>
                  <a:fillRect b="-41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5208A93A-7876-099D-C1A4-91F5F77EB462}"/>
              </a:ext>
            </a:extLst>
          </p:cNvPr>
          <p:cNvGrpSpPr/>
          <p:nvPr/>
        </p:nvGrpSpPr>
        <p:grpSpPr>
          <a:xfrm>
            <a:off x="1994704" y="2044815"/>
            <a:ext cx="5961979" cy="3555885"/>
            <a:chOff x="1994704" y="2044815"/>
            <a:chExt cx="5961979" cy="3555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30">
                  <a:extLst>
                    <a:ext uri="{FF2B5EF4-FFF2-40B4-BE49-F238E27FC236}">
                      <a16:creationId xmlns:a16="http://schemas.microsoft.com/office/drawing/2014/main" id="{A51EC30C-FA63-B074-DD38-AD7703EDF810}"/>
                    </a:ext>
                  </a:extLst>
                </p:cNvPr>
                <p:cNvSpPr txBox="1"/>
                <p:nvPr/>
              </p:nvSpPr>
              <p:spPr bwMode="auto">
                <a:xfrm>
                  <a:off x="2586658" y="2976563"/>
                  <a:ext cx="5370025" cy="723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𝑘</m:t>
                        </m:r>
                        <m:nary>
                          <m:nary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  <m:sup>
                            <m:f>
                              <m:f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(−</m:t>
                            </m:r>
                            <m:sSup>
                              <m:sSup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nary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" name="Object 30">
                  <a:extLst>
                    <a:ext uri="{FF2B5EF4-FFF2-40B4-BE49-F238E27FC236}">
                      <a16:creationId xmlns:a16="http://schemas.microsoft.com/office/drawing/2014/main" id="{A51EC30C-FA63-B074-DD38-AD7703EDF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6658" y="2976563"/>
                  <a:ext cx="5370025" cy="723900"/>
                </a:xfrm>
                <a:prstGeom prst="rect">
                  <a:avLst/>
                </a:prstGeom>
                <a:blipFill>
                  <a:blip r:embed="rId18"/>
                  <a:stretch>
                    <a:fillRect b="-2268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30">
                  <a:extLst>
                    <a:ext uri="{FF2B5EF4-FFF2-40B4-BE49-F238E27FC236}">
                      <a16:creationId xmlns:a16="http://schemas.microsoft.com/office/drawing/2014/main" id="{F92EB5BB-D781-73D6-C8FE-FDB76849F954}"/>
                    </a:ext>
                  </a:extLst>
                </p:cNvPr>
                <p:cNvSpPr txBox="1"/>
                <p:nvPr/>
              </p:nvSpPr>
              <p:spPr bwMode="auto">
                <a:xfrm>
                  <a:off x="2586658" y="3771900"/>
                  <a:ext cx="3721100" cy="723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𝑘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nary>
                          <m:nary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  <m:sup>
                            <m:f>
                              <m:f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func>
                              <m:func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</m:nary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" name="Object 30">
                  <a:extLst>
                    <a:ext uri="{FF2B5EF4-FFF2-40B4-BE49-F238E27FC236}">
                      <a16:creationId xmlns:a16="http://schemas.microsoft.com/office/drawing/2014/main" id="{F92EB5BB-D781-73D6-C8FE-FDB76849F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6658" y="3771900"/>
                  <a:ext cx="3721100" cy="723900"/>
                </a:xfrm>
                <a:prstGeom prst="rect">
                  <a:avLst/>
                </a:prstGeom>
                <a:blipFill>
                  <a:blip r:embed="rId19"/>
                  <a:stretch>
                    <a:fillRect b="-2184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30">
                  <a:extLst>
                    <a:ext uri="{FF2B5EF4-FFF2-40B4-BE49-F238E27FC236}">
                      <a16:creationId xmlns:a16="http://schemas.microsoft.com/office/drawing/2014/main" id="{084F1CE3-2345-FDA6-CA35-A6C114CFC246}"/>
                    </a:ext>
                  </a:extLst>
                </p:cNvPr>
                <p:cNvSpPr txBox="1"/>
                <p:nvPr/>
              </p:nvSpPr>
              <p:spPr bwMode="auto">
                <a:xfrm>
                  <a:off x="2586658" y="4762500"/>
                  <a:ext cx="1943100" cy="838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num>
                          <m:den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" name="Object 30">
                  <a:extLst>
                    <a:ext uri="{FF2B5EF4-FFF2-40B4-BE49-F238E27FC236}">
                      <a16:creationId xmlns:a16="http://schemas.microsoft.com/office/drawing/2014/main" id="{084F1CE3-2345-FDA6-CA35-A6C114CFC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6658" y="4762500"/>
                  <a:ext cx="1943100" cy="8382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Object 58">
                  <a:extLst>
                    <a:ext uri="{FF2B5EF4-FFF2-40B4-BE49-F238E27FC236}">
                      <a16:creationId xmlns:a16="http://schemas.microsoft.com/office/drawing/2014/main" id="{A114E9F1-56DA-CF9C-F6FD-91E72AD3AB1E}"/>
                    </a:ext>
                  </a:extLst>
                </p:cNvPr>
                <p:cNvSpPr txBox="1"/>
                <p:nvPr/>
              </p:nvSpPr>
              <p:spPr bwMode="auto">
                <a:xfrm>
                  <a:off x="1994704" y="2044815"/>
                  <a:ext cx="5041762" cy="9686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∴</m:t>
                        </m:r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𝑊</m:t>
                        </m:r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nary>
                          <m:nary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groupChr>
                              <m:groupChrPr>
                                <m:chr m:val="⏜"/>
                                <m:pos m:val="top"/>
                                <m:vertJc m:val="bot"/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brk/>
                                  </m:rP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𝐴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</m:e>
                            </m:groupChr>
                          </m:sub>
                          <m:sup>
                            <m:r>
                              <a:rPr kumimoji="1"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</m:t>
                            </m:r>
                          </m:sup>
                          <m:e>
                            <m:r>
                              <a:rPr kumimoji="1" lang="zh-CN" altLang="en-US" sz="22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𝑭</m:t>
                            </m:r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𝒓</m:t>
                            </m:r>
                            <m:r>
                              <a:rPr kumimoji="1"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=</m:t>
                            </m:r>
                            <m:nary>
                              <m:naryPr>
                                <m:ctrlP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naryPr>
                              <m:sub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/>
                                      </m:rP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𝐴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</m:groupChr>
                              </m:sub>
                              <m:sup>
                                <m: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 </m:t>
                                </m:r>
                              </m:sup>
                              <m:e>
                                <m: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𝑘𝑥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𝑘𝑦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</m:nary>
                          </m:e>
                        </m:nary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  <a:p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9" name="Object 58">
                  <a:extLst>
                    <a:ext uri="{FF2B5EF4-FFF2-40B4-BE49-F238E27FC236}">
                      <a16:creationId xmlns:a16="http://schemas.microsoft.com/office/drawing/2014/main" id="{A114E9F1-56DA-CF9C-F6FD-91E72AD3A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94704" y="2044815"/>
                  <a:ext cx="5041762" cy="96869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4853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9" grpId="0"/>
      <p:bldP spid="14" grpId="0" animBg="1"/>
      <p:bldP spid="15" grpId="0" animBg="1"/>
      <p:bldP spid="16" grpId="0" animBg="1"/>
      <p:bldP spid="26" grpId="0"/>
      <p:bldP spid="27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42563F62-181D-957E-EBD9-DDF1B6A1BBD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tangle 1">
              <a:extLst>
                <a:ext uri="{FF2B5EF4-FFF2-40B4-BE49-F238E27FC236}">
                  <a16:creationId xmlns:a16="http://schemas.microsoft.com/office/drawing/2014/main" id="{581228D9-7F2D-48C1-6B8D-8ED1C6C155D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圆角矩形 12">
              <a:extLst>
                <a:ext uri="{FF2B5EF4-FFF2-40B4-BE49-F238E27FC236}">
                  <a16:creationId xmlns:a16="http://schemas.microsoft.com/office/drawing/2014/main" id="{39D5C39B-5135-A2AA-DF57-CE91626B1A25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4150778F-E838-B152-F91C-EB6DD90C53D3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1">
              <a:extLst>
                <a:ext uri="{FF2B5EF4-FFF2-40B4-BE49-F238E27FC236}">
                  <a16:creationId xmlns:a16="http://schemas.microsoft.com/office/drawing/2014/main" id="{91D8C061-A548-504E-BECD-093846ACD160}"/>
                </a:ext>
              </a:extLst>
            </p:cNvPr>
            <p:cNvSpPr/>
            <p:nvPr userDrawn="1"/>
          </p:nvSpPr>
          <p:spPr>
            <a:xfrm rot="2659048">
              <a:off x="9060538" y="323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096474D-6F38-BDB4-52D7-E7C3853ECE35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172A954-2187-A313-E478-DF2B7513D8EF}"/>
                </a:ext>
              </a:extLst>
            </p:cNvPr>
            <p:cNvSpPr/>
            <p:nvPr/>
          </p:nvSpPr>
          <p:spPr>
            <a:xfrm>
              <a:off x="9315710" y="239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1011E1A-F240-67EE-7644-A852C06AB0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4790" y="393245"/>
              <a:ext cx="856890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92514C1-18EB-A247-F171-4F7D685651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186545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BC359719-1C62-8C76-D7FA-AA57CB4580F7}"/>
              </a:ext>
            </a:extLst>
          </p:cNvPr>
          <p:cNvSpPr txBox="1">
            <a:spLocks noChangeArrowheads="1"/>
          </p:cNvSpPr>
          <p:nvPr/>
        </p:nvSpPr>
        <p:spPr>
          <a:xfrm>
            <a:off x="1586139" y="656226"/>
            <a:ext cx="5738586" cy="5441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四、两类曲线积分之间的联系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122AA5F-8DD4-FD27-8C3F-2C9A299A8F02}"/>
                  </a:ext>
                </a:extLst>
              </p:cNvPr>
              <p:cNvSpPr txBox="1"/>
              <p:nvPr/>
            </p:nvSpPr>
            <p:spPr bwMode="auto">
              <a:xfrm>
                <a:off x="1586139" y="1347548"/>
                <a:ext cx="6700837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设有向平面曲线弧为</m:t>
                      </m:r>
                      <m:r>
                        <a:rPr kumimoji="1" lang="zh-CN" altLang="en-US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 b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：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b="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zh-CN" altLang="en-US" sz="2800" b="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b="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b="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b="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122AA5F-8DD4-FD27-8C3F-2C9A299A8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6139" y="1347548"/>
                <a:ext cx="6700837" cy="1003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65A73733-3898-3DB8-57E3-473A6B28BDAF}"/>
                  </a:ext>
                </a:extLst>
              </p:cNvPr>
              <p:cNvSpPr txBox="1"/>
              <p:nvPr/>
            </p:nvSpPr>
            <p:spPr bwMode="auto">
              <a:xfrm>
                <a:off x="1586139" y="2652201"/>
                <a:ext cx="7146925" cy="430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上点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处的切线向量的方向角为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65A73733-3898-3DB8-57E3-473A6B28B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6139" y="2652201"/>
                <a:ext cx="7146925" cy="430213"/>
              </a:xfrm>
              <a:prstGeom prst="rect">
                <a:avLst/>
              </a:prstGeom>
              <a:blipFill>
                <a:blip r:embed="rId3"/>
                <a:stretch>
                  <a:fillRect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4CAAD7DF-1611-A0D4-382D-F314AB0CFDA8}"/>
                  </a:ext>
                </a:extLst>
              </p:cNvPr>
              <p:cNvSpPr txBox="1"/>
              <p:nvPr/>
            </p:nvSpPr>
            <p:spPr bwMode="auto">
              <a:xfrm>
                <a:off x="1586139" y="3428375"/>
                <a:ext cx="7670456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则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𝑃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𝑄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4CAAD7DF-1611-A0D4-382D-F314AB0CF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6139" y="3428375"/>
                <a:ext cx="7670456" cy="101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>
            <a:extLst>
              <a:ext uri="{FF2B5EF4-FFF2-40B4-BE49-F238E27FC236}">
                <a16:creationId xmlns:a16="http://schemas.microsoft.com/office/drawing/2014/main" id="{4AB04FAE-22F8-5E94-6FD3-8E5B45B61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139" y="5048855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6795394D-ABE6-F6F0-7D8B-65A2FA3681D6}"/>
                  </a:ext>
                </a:extLst>
              </p:cNvPr>
              <p:cNvSpPr txBox="1"/>
              <p:nvPr/>
            </p:nvSpPr>
            <p:spPr bwMode="auto">
              <a:xfrm>
                <a:off x="2319564" y="4761931"/>
                <a:ext cx="4689900" cy="1139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6795394D-ABE6-F6F0-7D8B-65A2FA368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9564" y="4761931"/>
                <a:ext cx="4689900" cy="11398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9BD909DD-E7E4-7FB7-36F6-977BB083B40D}"/>
                  </a:ext>
                </a:extLst>
              </p:cNvPr>
              <p:cNvSpPr txBox="1"/>
              <p:nvPr/>
            </p:nvSpPr>
            <p:spPr bwMode="auto">
              <a:xfrm>
                <a:off x="6598482" y="4761932"/>
                <a:ext cx="4722812" cy="11398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𝛽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9BD909DD-E7E4-7FB7-36F6-977BB083B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98482" y="4761932"/>
                <a:ext cx="4722812" cy="11398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5A3BA228-CABD-FD66-6734-BC926312930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FF5FB3E9-1822-261B-14C3-D1F55F8FB41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圆角矩形 12">
              <a:extLst>
                <a:ext uri="{FF2B5EF4-FFF2-40B4-BE49-F238E27FC236}">
                  <a16:creationId xmlns:a16="http://schemas.microsoft.com/office/drawing/2014/main" id="{EBDAD222-F5A6-5C11-1018-A38746CAE311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Rectangle 1">
              <a:extLst>
                <a:ext uri="{FF2B5EF4-FFF2-40B4-BE49-F238E27FC236}">
                  <a16:creationId xmlns:a16="http://schemas.microsoft.com/office/drawing/2014/main" id="{E08EF618-CCB1-C92D-F615-D835BC01EB87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Rectangle 1">
              <a:extLst>
                <a:ext uri="{FF2B5EF4-FFF2-40B4-BE49-F238E27FC236}">
                  <a16:creationId xmlns:a16="http://schemas.microsoft.com/office/drawing/2014/main" id="{C4591F89-3DEF-4E5D-2930-9987BD7DE235}"/>
                </a:ext>
              </a:extLst>
            </p:cNvPr>
            <p:cNvSpPr/>
            <p:nvPr userDrawn="1"/>
          </p:nvSpPr>
          <p:spPr>
            <a:xfrm rot="2659048">
              <a:off x="9060538" y="323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7A82E77A-4E23-4858-0B6A-AFDB4902BF3F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对坐标的曲线积分</a:t>
              </a: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151B4FDC-173E-2AF5-7005-E070855752FE}"/>
                </a:ext>
              </a:extLst>
            </p:cNvPr>
            <p:cNvSpPr/>
            <p:nvPr/>
          </p:nvSpPr>
          <p:spPr>
            <a:xfrm>
              <a:off x="9315710" y="239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7AD0913-32EB-ECCD-8764-5040D23CF5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4790" y="393245"/>
              <a:ext cx="856890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39840FE-D51A-0E5F-6CB1-88740F9BDC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186545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1">
            <a:extLst>
              <a:ext uri="{FF2B5EF4-FFF2-40B4-BE49-F238E27FC236}">
                <a16:creationId xmlns:a16="http://schemas.microsoft.com/office/drawing/2014/main" id="{8742C684-47F8-A2CE-BBC3-C254BEAADD5E}"/>
              </a:ext>
            </a:extLst>
          </p:cNvPr>
          <p:cNvGrpSpPr>
            <a:grpSpLocks/>
          </p:cNvGrpSpPr>
          <p:nvPr/>
        </p:nvGrpSpPr>
        <p:grpSpPr bwMode="auto">
          <a:xfrm>
            <a:off x="1555751" y="546471"/>
            <a:ext cx="5181600" cy="519113"/>
            <a:chOff x="432" y="3408"/>
            <a:chExt cx="3264" cy="3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 Box 9">
                  <a:extLst>
                    <a:ext uri="{FF2B5EF4-FFF2-40B4-BE49-F238E27FC236}">
                      <a16:creationId xmlns:a16="http://schemas.microsoft.com/office/drawing/2014/main" id="{D51E8F4C-EB01-E3BD-F76B-27AEF167A3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326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</m:oMath>
                  </a14:m>
                  <a:r>
                    <a:rPr kumimoji="1" lang="zh-CN" altLang="en-US" sz="2800" dirty="0">
                      <a:solidFill>
                        <a:srgbClr val="04926A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可以推广到空间曲线     上</a:t>
                  </a:r>
                  <a14:m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a14:m>
                  <a:endParaRPr kumimoji="1"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Text Box 9">
                  <a:extLst>
                    <a:ext uri="{FF2B5EF4-FFF2-40B4-BE49-F238E27FC236}">
                      <a16:creationId xmlns:a16="http://schemas.microsoft.com/office/drawing/2014/main" id="{D51E8F4C-EB01-E3BD-F76B-27AEF167A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" y="3408"/>
                  <a:ext cx="3264" cy="327"/>
                </a:xfrm>
                <a:prstGeom prst="rect">
                  <a:avLst/>
                </a:prstGeom>
                <a:blipFill>
                  <a:blip r:embed="rId2"/>
                  <a:stretch>
                    <a:fillRect t="-16471" b="-2941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10">
                  <a:extLst>
                    <a:ext uri="{FF2B5EF4-FFF2-40B4-BE49-F238E27FC236}">
                      <a16:creationId xmlns:a16="http://schemas.microsoft.com/office/drawing/2014/main" id="{2F6104B4-36C1-FFDB-17D2-2E5201310B8A}"/>
                    </a:ext>
                  </a:extLst>
                </p:cNvPr>
                <p:cNvSpPr txBox="1"/>
                <p:nvPr/>
              </p:nvSpPr>
              <p:spPr bwMode="auto">
                <a:xfrm>
                  <a:off x="2599" y="3419"/>
                  <a:ext cx="227" cy="2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4926A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Object 10">
                  <a:extLst>
                    <a:ext uri="{FF2B5EF4-FFF2-40B4-BE49-F238E27FC236}">
                      <a16:creationId xmlns:a16="http://schemas.microsoft.com/office/drawing/2014/main" id="{2F6104B4-36C1-FFDB-17D2-2E5201310B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9" y="3419"/>
                  <a:ext cx="227" cy="2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952A77FA-07B0-1B16-35EC-F9D102B2D9A1}"/>
                  </a:ext>
                </a:extLst>
              </p:cNvPr>
              <p:cNvSpPr txBox="1"/>
              <p:nvPr/>
            </p:nvSpPr>
            <p:spPr bwMode="auto">
              <a:xfrm>
                <a:off x="1525588" y="1166018"/>
                <a:ext cx="7790122" cy="430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上点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处的切线向量的方向角为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𝛾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b="1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952A77FA-07B0-1B16-35EC-F9D102B2D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5588" y="1166018"/>
                <a:ext cx="7790122" cy="430212"/>
              </a:xfrm>
              <a:prstGeom prst="rect">
                <a:avLst/>
              </a:prstGeom>
              <a:blipFill>
                <a:blip r:embed="rId4"/>
                <a:stretch>
                  <a:fillRect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F7ACA08-FAA4-5FD2-381E-3A15B9188933}"/>
                  </a:ext>
                </a:extLst>
              </p:cNvPr>
              <p:cNvSpPr txBox="1"/>
              <p:nvPr/>
            </p:nvSpPr>
            <p:spPr bwMode="auto">
              <a:xfrm>
                <a:off x="1525588" y="1668476"/>
                <a:ext cx="9434512" cy="9657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</m:e>
                      </m:nary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𝑃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𝛽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F7ACA08-FAA4-5FD2-381E-3A15B9188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5588" y="1668476"/>
                <a:ext cx="9434512" cy="9657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16C1E37D-57E1-BE7A-06A6-837C25659290}"/>
                  </a:ext>
                </a:extLst>
              </p:cNvPr>
              <p:cNvSpPr txBox="1"/>
              <p:nvPr/>
            </p:nvSpPr>
            <p:spPr bwMode="auto">
              <a:xfrm>
                <a:off x="4062283" y="2642485"/>
                <a:ext cx="1749425" cy="9657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𝝉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16C1E37D-57E1-BE7A-06A6-837C2565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2283" y="2642485"/>
                <a:ext cx="1749425" cy="965708"/>
              </a:xfrm>
              <a:prstGeom prst="rect">
                <a:avLst/>
              </a:prstGeom>
              <a:blipFill>
                <a:blip r:embed="rId6"/>
                <a:stretch>
                  <a:fillRect r="-34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E2411A9D-7074-CD65-C546-0C4CD006B666}"/>
                  </a:ext>
                </a:extLst>
              </p:cNvPr>
              <p:cNvSpPr txBox="1"/>
              <p:nvPr/>
            </p:nvSpPr>
            <p:spPr bwMode="auto">
              <a:xfrm>
                <a:off x="5811708" y="2632960"/>
                <a:ext cx="1704971" cy="9657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1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𝒓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E2411A9D-7074-CD65-C546-0C4CD006B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1708" y="2632960"/>
                <a:ext cx="1704971" cy="9657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F03D09F9-CDB0-166D-021F-C232817EB8C3}"/>
                  </a:ext>
                </a:extLst>
              </p:cNvPr>
              <p:cNvSpPr txBox="1"/>
              <p:nvPr/>
            </p:nvSpPr>
            <p:spPr bwMode="auto">
              <a:xfrm>
                <a:off x="7396034" y="2632960"/>
                <a:ext cx="1585912" cy="975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𝜏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F03D09F9-CDB0-166D-021F-C232817EB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6034" y="2632960"/>
                <a:ext cx="1585912" cy="975233"/>
              </a:xfrm>
              <a:prstGeom prst="rect">
                <a:avLst/>
              </a:prstGeom>
              <a:blipFill>
                <a:blip r:embed="rId8"/>
                <a:stretch>
                  <a:fillRect r="-38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8">
            <a:extLst>
              <a:ext uri="{FF2B5EF4-FFF2-40B4-BE49-F238E27FC236}">
                <a16:creationId xmlns:a16="http://schemas.microsoft.com/office/drawing/2014/main" id="{D76D97DC-35D7-FE5C-898B-B3DE05164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949" y="2851243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可用向量表示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7BBEEA2-7DF9-3ABB-DE25-9B219C41FBFD}"/>
              </a:ext>
            </a:extLst>
          </p:cNvPr>
          <p:cNvGrpSpPr>
            <a:grpSpLocks/>
          </p:cNvGrpSpPr>
          <p:nvPr/>
        </p:nvGrpSpPr>
        <p:grpSpPr bwMode="auto">
          <a:xfrm>
            <a:off x="2027819" y="2633575"/>
            <a:ext cx="2968625" cy="365126"/>
            <a:chOff x="768" y="1536"/>
            <a:chExt cx="1870" cy="230"/>
          </a:xfrm>
        </p:grpSpPr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869750E2-EA86-9523-6E30-469077602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536"/>
              <a:ext cx="1870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CEA752F7-5F14-B2E3-FC52-E5C2459D8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536"/>
              <a:ext cx="207" cy="23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2">
                <a:extLst>
                  <a:ext uri="{FF2B5EF4-FFF2-40B4-BE49-F238E27FC236}">
                    <a16:creationId xmlns:a16="http://schemas.microsoft.com/office/drawing/2014/main" id="{2792DF4C-28AC-56BA-B2AE-2C6EFA00C788}"/>
                  </a:ext>
                </a:extLst>
              </p:cNvPr>
              <p:cNvSpPr txBox="1"/>
              <p:nvPr/>
            </p:nvSpPr>
            <p:spPr bwMode="auto">
              <a:xfrm>
                <a:off x="1546227" y="3632401"/>
                <a:ext cx="3340098" cy="5467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其中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𝑨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={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},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2">
                <a:extLst>
                  <a:ext uri="{FF2B5EF4-FFF2-40B4-BE49-F238E27FC236}">
                    <a16:creationId xmlns:a16="http://schemas.microsoft.com/office/drawing/2014/main" id="{2792DF4C-28AC-56BA-B2AE-2C6EFA00C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6227" y="3632401"/>
                <a:ext cx="3340098" cy="546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BCAFA863-D2F8-3FB4-146B-82042212A027}"/>
                  </a:ext>
                </a:extLst>
              </p:cNvPr>
              <p:cNvSpPr txBox="1"/>
              <p:nvPr/>
            </p:nvSpPr>
            <p:spPr bwMode="auto">
              <a:xfrm>
                <a:off x="4489400" y="3633196"/>
                <a:ext cx="4352925" cy="5269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𝝉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={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𝛽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𝛾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},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BCAFA863-D2F8-3FB4-146B-82042212A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9400" y="3633196"/>
                <a:ext cx="4352925" cy="5269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93414F29-976B-B395-8D86-B5B76B95470A}"/>
                  </a:ext>
                </a:extLst>
              </p:cNvPr>
              <p:cNvSpPr txBox="1"/>
              <p:nvPr/>
            </p:nvSpPr>
            <p:spPr bwMode="auto">
              <a:xfrm>
                <a:off x="1556023" y="5062856"/>
                <a:ext cx="4152900" cy="392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𝝉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={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93414F29-976B-B395-8D86-B5B76B954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023" y="5062856"/>
                <a:ext cx="4152900" cy="392112"/>
              </a:xfrm>
              <a:prstGeom prst="rect">
                <a:avLst/>
              </a:prstGeom>
              <a:blipFill>
                <a:blip r:embed="rId11"/>
                <a:stretch>
                  <a:fillRect b="-203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6">
            <a:extLst>
              <a:ext uri="{FF2B5EF4-FFF2-40B4-BE49-F238E27FC236}">
                <a16:creationId xmlns:a16="http://schemas.microsoft.com/office/drawing/2014/main" id="{0ABBFFBB-624F-5F80-7767-2B1230C92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0118" y="5088414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有向曲线元；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A78D01B8-A3E9-4440-0F30-ED9CB8D911C3}"/>
                  </a:ext>
                </a:extLst>
              </p:cNvPr>
              <p:cNvSpPr txBox="1"/>
              <p:nvPr/>
            </p:nvSpPr>
            <p:spPr bwMode="auto">
              <a:xfrm>
                <a:off x="1559197" y="5677888"/>
                <a:ext cx="496887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𝜏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为向量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𝑨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在向量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𝝉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上的投影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A78D01B8-A3E9-4440-0F30-ED9CB8D91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197" y="5677888"/>
                <a:ext cx="4968875" cy="469900"/>
              </a:xfrm>
              <a:prstGeom prst="rect">
                <a:avLst/>
              </a:prstGeom>
              <a:blipFill>
                <a:blip r:embed="rId12"/>
                <a:stretch>
                  <a:fillRect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20">
            <a:extLst>
              <a:ext uri="{FF2B5EF4-FFF2-40B4-BE49-F238E27FC236}">
                <a16:creationId xmlns:a16="http://schemas.microsoft.com/office/drawing/2014/main" id="{AC318D30-443A-76AA-34BC-A3E45CB333BD}"/>
              </a:ext>
            </a:extLst>
          </p:cNvPr>
          <p:cNvGrpSpPr>
            <a:grpSpLocks/>
          </p:cNvGrpSpPr>
          <p:nvPr/>
        </p:nvGrpSpPr>
        <p:grpSpPr bwMode="auto">
          <a:xfrm>
            <a:off x="4254500" y="4117780"/>
            <a:ext cx="4881563" cy="747714"/>
            <a:chOff x="3308" y="2247"/>
            <a:chExt cx="3075" cy="4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14">
                  <a:extLst>
                    <a:ext uri="{FF2B5EF4-FFF2-40B4-BE49-F238E27FC236}">
                      <a16:creationId xmlns:a16="http://schemas.microsoft.com/office/drawing/2014/main" id="{0E3AE7F8-7C90-2006-DDEF-A7E05A69DE6B}"/>
                    </a:ext>
                  </a:extLst>
                </p:cNvPr>
                <p:cNvSpPr txBox="1"/>
                <p:nvPr/>
              </p:nvSpPr>
              <p:spPr bwMode="auto">
                <a:xfrm>
                  <a:off x="3308" y="2391"/>
                  <a:ext cx="3075" cy="327"/>
                </a:xfrm>
                <a:prstGeom prst="rect">
                  <a:avLst/>
                </a:prstGeom>
                <a:noFill/>
                <a:ln w="9525">
                  <a:solidFill>
                    <a:srgbClr val="04926A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no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𝛤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上点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处的单位切向量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Object 14">
                  <a:extLst>
                    <a:ext uri="{FF2B5EF4-FFF2-40B4-BE49-F238E27FC236}">
                      <a16:creationId xmlns:a16="http://schemas.microsoft.com/office/drawing/2014/main" id="{0E3AE7F8-7C90-2006-DDEF-A7E05A69DE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08" y="2391"/>
                  <a:ext cx="3075" cy="3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solidFill>
                    <a:srgbClr val="04926A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8F9F2BE8-9FFE-1E53-EB46-23DD506BE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5" y="2247"/>
              <a:ext cx="0" cy="144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235002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4" grpId="0"/>
      <p:bldP spid="15" grpId="0"/>
      <p:bldP spid="16" grpId="0"/>
      <p:bldP spid="17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7749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2652</TotalTime>
  <Words>2112</Words>
  <Application>Microsoft Office PowerPoint</Application>
  <PresentationFormat>宽屏</PresentationFormat>
  <Paragraphs>275</Paragraphs>
  <Slides>28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黑体</vt:lpstr>
      <vt:lpstr>华文中宋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469</cp:revision>
  <cp:lastPrinted>2023-06-08T01:46:26Z</cp:lastPrinted>
  <dcterms:created xsi:type="dcterms:W3CDTF">2022-03-21T05:54:00Z</dcterms:created>
  <dcterms:modified xsi:type="dcterms:W3CDTF">2023-07-06T02:50:31Z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