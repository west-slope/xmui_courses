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678" r:id="rId3"/>
    <p:sldId id="664" r:id="rId4"/>
    <p:sldId id="836" r:id="rId5"/>
    <p:sldId id="811" r:id="rId6"/>
    <p:sldId id="812" r:id="rId7"/>
    <p:sldId id="813" r:id="rId8"/>
    <p:sldId id="814" r:id="rId9"/>
    <p:sldId id="815" r:id="rId10"/>
    <p:sldId id="816" r:id="rId11"/>
    <p:sldId id="817" r:id="rId12"/>
    <p:sldId id="848" r:id="rId13"/>
    <p:sldId id="849" r:id="rId14"/>
    <p:sldId id="850" r:id="rId15"/>
    <p:sldId id="851" r:id="rId16"/>
    <p:sldId id="852" r:id="rId17"/>
    <p:sldId id="853" r:id="rId18"/>
    <p:sldId id="854" r:id="rId19"/>
    <p:sldId id="364" r:id="rId20"/>
  </p:sldIdLst>
  <p:sldSz cx="12192000" cy="6858000"/>
  <p:notesSz cx="9928225" cy="6797675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3333CC"/>
    <a:srgbClr val="C5E0B4"/>
    <a:srgbClr val="4A7BA8"/>
    <a:srgbClr val="1D9D79"/>
    <a:srgbClr val="A9D18E"/>
    <a:srgbClr val="00926A"/>
    <a:srgbClr val="019B4E"/>
    <a:srgbClr val="335AE6"/>
    <a:srgbClr val="EE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87" autoAdjust="0"/>
    <p:restoredTop sz="97078" autoAdjust="0"/>
  </p:normalViewPr>
  <p:slideViewPr>
    <p:cSldViewPr snapToGrid="0" showGuides="1">
      <p:cViewPr varScale="1">
        <p:scale>
          <a:sx n="77" d="100"/>
          <a:sy n="77" d="100"/>
        </p:scale>
        <p:origin x="312" y="68"/>
      </p:cViewPr>
      <p:guideLst>
        <p:guide pos="3840"/>
        <p:guide orient="horz" pos="21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CE6CCEB-7414-EB8C-F454-2C7CEB114A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0F7528-E102-E7DC-F15D-E7FC467D4B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316E-0229-4088-B440-750FAFB3F269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B119C6-5E85-6389-7249-A0C2FEA858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EFF23B-C713-943C-CB1B-A7442D5B18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BD6EC-37CC-4D41-AD30-E03811552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6416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89E1D9-3CDB-672D-EB3B-2B2623AD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2">
            <a:extLst>
              <a:ext uri="{FF2B5EF4-FFF2-40B4-BE49-F238E27FC236}">
                <a16:creationId xmlns:a16="http://schemas.microsoft.com/office/drawing/2014/main" id="{4C24B2B5-BF09-BEBF-0A7E-A6CE0EB37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5A00FF4D-DAE3-04F5-DE57-CF2D41D29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376E657-9ED9-2C19-0549-5F9B13282EC1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A1AE7F9D-602D-5705-E088-F6AAD78CCE9F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E375DAD5-3165-CA4A-2B6A-F0158B41A153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5DB1936-D272-1659-29AF-AE64D6C93AC0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对面积的曲面积分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310EB57-07BD-760B-4D3A-BB7B252B8A30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037C4D9-72A4-7A86-381F-8D98D2154FA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A814339-CD02-56BD-9C91-12CEEE9DD17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>
            <a:extLst>
              <a:ext uri="{FF2B5EF4-FFF2-40B4-BE49-F238E27FC236}">
                <a16:creationId xmlns:a16="http://schemas.microsoft.com/office/drawing/2014/main" id="{7FD81FA7-074E-E865-A87D-DA5EDF8E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10" name="页脚占位符 2">
            <a:extLst>
              <a:ext uri="{FF2B5EF4-FFF2-40B4-BE49-F238E27FC236}">
                <a16:creationId xmlns:a16="http://schemas.microsoft.com/office/drawing/2014/main" id="{7EF30894-DEE7-705E-35C6-FA233349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8B7CAB7B-F6DF-D2FC-32CE-4CC8F0F4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1A6F828-F589-6A31-2D56-089123EA6498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0BC3EA44-44C2-7542-B982-8CEB81CB7DD4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A0D0BC7F-8E6F-0DEA-CEEB-2A3CF17E9C70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1692C18-1EE1-5FB7-5F0E-1A683A43454D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对面积的曲面积分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D41C6BB-C874-76AD-7BC5-D9A1F6D19228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7D97CC5B-9E98-C933-5BF1-9CB844FD73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C15F5C-4BFE-CD9E-37C5-093C07A213C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>
            <a:extLst>
              <a:ext uri="{FF2B5EF4-FFF2-40B4-BE49-F238E27FC236}">
                <a16:creationId xmlns:a16="http://schemas.microsoft.com/office/drawing/2014/main" id="{930BCB2D-195E-9CE5-E966-0DB8B402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20" name="页脚占位符 2">
            <a:extLst>
              <a:ext uri="{FF2B5EF4-FFF2-40B4-BE49-F238E27FC236}">
                <a16:creationId xmlns:a16="http://schemas.microsoft.com/office/drawing/2014/main" id="{5326FF50-967E-3EAB-E382-C77C2963F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1" name="灯片编号占位符 3">
            <a:extLst>
              <a:ext uri="{FF2B5EF4-FFF2-40B4-BE49-F238E27FC236}">
                <a16:creationId xmlns:a16="http://schemas.microsoft.com/office/drawing/2014/main" id="{86BEB3A3-B2E4-DCB5-4CC3-B55E7DAE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3397FAB-B924-ED05-27EF-CC5901C630D4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B3AB00B3-FC66-711F-62CA-AE90C8180ACA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2C41B2D4-AA14-CBE8-E355-196CCCA0BB90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2E21575-2635-DCFD-4D50-AE26594C98F0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对面积的曲面积分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C2AF7BD-F1C9-3AD1-D90C-2F0BB45548D2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C28D6E4-F6F7-73E9-AFE4-DCACB8A786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9DC0652-4D20-710F-514F-32173422D2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A087F8E6-160C-9FC4-AEA7-A026D048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01B8A16B-BC51-5BFB-BB78-DFEAEAE9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10811BDE-5220-5EE2-B50C-3BB44AA29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FA3DA79-0AB3-6D67-F314-91071F7A3466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D8E204F2-25FD-1545-503B-71F5985B6A21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060FE7B5-9662-6E11-E223-E6EDF639DBA1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628D9D9-D909-B018-30E6-AEA98B2739FD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对面积的曲面积分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515DE28-1DEB-8C31-0B5F-8F97E96A4230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AE92642-F35F-54ED-8DA4-D2D61861A3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5C511A4E-6111-C2B2-47B6-ACD062239BF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D8EEA51-0312-E887-B7ED-7949204A7129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DD3F4703-127E-F68D-6FA3-0B96B83C85FA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1">
              <a:extLst>
                <a:ext uri="{FF2B5EF4-FFF2-40B4-BE49-F238E27FC236}">
                  <a16:creationId xmlns:a16="http://schemas.microsoft.com/office/drawing/2014/main" id="{ADBD84C2-4C36-0C1A-D3A7-71A2B894C825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3B7A434-9DAF-D739-347D-09024FCDEF48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对面积的曲面积分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4B4A9C4-0D51-58E8-C0E8-365999B19091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849EA28-9FE7-D824-125F-B2EAB6FEBE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9720276-B259-A3E5-5F0D-422C4B7002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88442"/>
              <a:ext cx="941070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4.png"/><Relationship Id="rId12" Type="http://schemas.openxmlformats.org/officeDocument/2006/relationships/image" Target="../media/image30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114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5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png"/><Relationship Id="rId5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12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8.png"/><Relationship Id="rId11" Type="http://schemas.openxmlformats.org/officeDocument/2006/relationships/image" Target="../media/image74.png"/><Relationship Id="rId5" Type="http://schemas.openxmlformats.org/officeDocument/2006/relationships/image" Target="../media/image22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13.jpeg"/><Relationship Id="rId4" Type="http://schemas.openxmlformats.org/officeDocument/2006/relationships/image" Target="../media/image76.png"/><Relationship Id="rId9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3.png"/><Relationship Id="rId7" Type="http://schemas.openxmlformats.org/officeDocument/2006/relationships/image" Target="../media/image81.png"/><Relationship Id="rId12" Type="http://schemas.openxmlformats.org/officeDocument/2006/relationships/image" Target="../media/image9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89.png"/><Relationship Id="rId4" Type="http://schemas.openxmlformats.org/officeDocument/2006/relationships/image" Target="../media/image84.png"/><Relationship Id="rId9" Type="http://schemas.openxmlformats.org/officeDocument/2006/relationships/image" Target="../media/image87.png"/><Relationship Id="rId1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94.png"/><Relationship Id="rId7" Type="http://schemas.openxmlformats.org/officeDocument/2006/relationships/image" Target="../media/image67.png"/><Relationship Id="rId12" Type="http://schemas.openxmlformats.org/officeDocument/2006/relationships/image" Target="../media/image104.png"/><Relationship Id="rId17" Type="http://schemas.openxmlformats.org/officeDocument/2006/relationships/image" Target="../media/image108.png"/><Relationship Id="rId2" Type="http://schemas.openxmlformats.org/officeDocument/2006/relationships/image" Target="../media/image23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5" Type="http://schemas.openxmlformats.org/officeDocument/2006/relationships/image" Target="../media/image107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-244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33C2CE-C905-2846-8650-C5C8DB13E5AC}"/>
              </a:ext>
            </a:extLst>
          </p:cNvPr>
          <p:cNvSpPr/>
          <p:nvPr/>
        </p:nvSpPr>
        <p:spPr>
          <a:xfrm>
            <a:off x="789305" y="1908802"/>
            <a:ext cx="11083290" cy="4961748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62284D-899E-011F-23D8-3168522C1D2D}"/>
              </a:ext>
            </a:extLst>
          </p:cNvPr>
          <p:cNvSpPr/>
          <p:nvPr/>
        </p:nvSpPr>
        <p:spPr>
          <a:xfrm>
            <a:off x="629285" y="2052905"/>
            <a:ext cx="10923270" cy="48176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777B1F-3CD3-3E05-03B7-290842DFE79B}"/>
              </a:ext>
            </a:extLst>
          </p:cNvPr>
          <p:cNvSpPr/>
          <p:nvPr/>
        </p:nvSpPr>
        <p:spPr>
          <a:xfrm>
            <a:off x="487045" y="2207501"/>
            <a:ext cx="10746105" cy="4663049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5037531" y="2665459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>
            <a:cxnSpLocks/>
          </p:cNvCxnSpPr>
          <p:nvPr/>
        </p:nvCxnSpPr>
        <p:spPr>
          <a:xfrm>
            <a:off x="1735983" y="3348297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460957" y="3847459"/>
            <a:ext cx="2880000" cy="461665"/>
          </a:xfrm>
          <a:prstGeom prst="rect">
            <a:avLst/>
          </a:pr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一元函数积分学</a:t>
            </a: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B8D3E00D-8E36-4B80-EC28-2CF14DFA7C95}"/>
              </a:ext>
            </a:extLst>
          </p:cNvPr>
          <p:cNvGrpSpPr/>
          <p:nvPr/>
        </p:nvGrpSpPr>
        <p:grpSpPr>
          <a:xfrm>
            <a:off x="1504486" y="4799643"/>
            <a:ext cx="5360532" cy="619125"/>
            <a:chOff x="1504486" y="4815728"/>
            <a:chExt cx="5360532" cy="619125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853897" y="2466317"/>
              <a:ext cx="619125" cy="531794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547072" y="4909851"/>
              <a:ext cx="53179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/>
              <a:r>
                <a:rPr lang="zh-CN" altLang="en-US" sz="2400" b="1" dirty="0">
                  <a:solidFill>
                    <a:srgbClr val="04926A"/>
                  </a:solidFill>
                </a:rPr>
                <a:t>积分学     </a:t>
              </a:r>
              <a:r>
                <a:rPr lang="zh-CN" altLang="en-US" sz="2400" dirty="0"/>
                <a:t>定积分   二重积分   三重积分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1986375" y="577870"/>
            <a:ext cx="82192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第十一章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曲线积分与曲面积分</a:t>
            </a:r>
          </a:p>
        </p:txBody>
      </p:sp>
      <p:sp>
        <p:nvSpPr>
          <p:cNvPr id="5" name="右箭头 4"/>
          <p:cNvSpPr/>
          <p:nvPr/>
        </p:nvSpPr>
        <p:spPr>
          <a:xfrm>
            <a:off x="5486657" y="3953196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862540-B67A-1674-AB4B-27AC8296A336}"/>
              </a:ext>
            </a:extLst>
          </p:cNvPr>
          <p:cNvSpPr/>
          <p:nvPr/>
        </p:nvSpPr>
        <p:spPr>
          <a:xfrm>
            <a:off x="6568357" y="3847459"/>
            <a:ext cx="2880000" cy="461665"/>
          </a:xfrm>
          <a:prstGeom prst="rect">
            <a:avLst/>
          </a:pr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</a:rPr>
              <a:t>多元函数积分学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509881E-5C80-DE2B-4028-6515618CFFDA}"/>
              </a:ext>
            </a:extLst>
          </p:cNvPr>
          <p:cNvGrpSpPr/>
          <p:nvPr/>
        </p:nvGrpSpPr>
        <p:grpSpPr>
          <a:xfrm>
            <a:off x="7025038" y="4793304"/>
            <a:ext cx="1458356" cy="619125"/>
            <a:chOff x="723439" y="4629148"/>
            <a:chExt cx="1458356" cy="619125"/>
          </a:xfrm>
        </p:grpSpPr>
        <p:sp>
          <p:nvSpPr>
            <p:cNvPr id="56" name="矩形: 圆角 40">
              <a:extLst>
                <a:ext uri="{FF2B5EF4-FFF2-40B4-BE49-F238E27FC236}">
                  <a16:creationId xmlns:a16="http://schemas.microsoft.com/office/drawing/2014/main" id="{A4632266-497A-F13F-FA28-1F43175740E3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A2CAA016-0291-0BA7-2ED0-1E3167715254}"/>
                </a:ext>
              </a:extLst>
            </p:cNvPr>
            <p:cNvSpPr/>
            <p:nvPr/>
          </p:nvSpPr>
          <p:spPr>
            <a:xfrm>
              <a:off x="766023" y="47232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曲线积分</a:t>
              </a: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5EA19912-24F0-3ADE-D382-3D319606B1F9}"/>
              </a:ext>
            </a:extLst>
          </p:cNvPr>
          <p:cNvGrpSpPr/>
          <p:nvPr/>
        </p:nvGrpSpPr>
        <p:grpSpPr>
          <a:xfrm>
            <a:off x="1504488" y="5601241"/>
            <a:ext cx="5317945" cy="619125"/>
            <a:chOff x="1504488" y="5617326"/>
            <a:chExt cx="5317945" cy="619125"/>
          </a:xfrm>
        </p:grpSpPr>
        <p:sp>
          <p:nvSpPr>
            <p:cNvPr id="62" name="矩形: 圆角 40">
              <a:extLst>
                <a:ext uri="{FF2B5EF4-FFF2-40B4-BE49-F238E27FC236}">
                  <a16:creationId xmlns:a16="http://schemas.microsoft.com/office/drawing/2014/main" id="{79E044E3-4942-D10E-E2EC-72B14B2442C3}"/>
                </a:ext>
              </a:extLst>
            </p:cNvPr>
            <p:cNvSpPr/>
            <p:nvPr/>
          </p:nvSpPr>
          <p:spPr>
            <a:xfrm rot="16200000" flipV="1">
              <a:off x="3853898" y="3267916"/>
              <a:ext cx="619125" cy="531794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CFF85A1-1A5E-5FE0-8EC5-47256075509B}"/>
                </a:ext>
              </a:extLst>
            </p:cNvPr>
            <p:cNvSpPr/>
            <p:nvPr/>
          </p:nvSpPr>
          <p:spPr>
            <a:xfrm>
              <a:off x="1547071" y="5711445"/>
              <a:ext cx="51871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积分域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   </a:t>
              </a:r>
              <a:r>
                <a:rPr lang="zh-CN" altLang="en-US" sz="2400" dirty="0"/>
                <a:t>区间域     平面域        空间域 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CFB9525-D1CE-B133-DBD7-82947A2D0DB3}"/>
              </a:ext>
            </a:extLst>
          </p:cNvPr>
          <p:cNvGrpSpPr/>
          <p:nvPr/>
        </p:nvGrpSpPr>
        <p:grpSpPr>
          <a:xfrm>
            <a:off x="7025038" y="5601241"/>
            <a:ext cx="1458355" cy="619125"/>
            <a:chOff x="723439" y="4629148"/>
            <a:chExt cx="1458355" cy="619125"/>
          </a:xfrm>
        </p:grpSpPr>
        <p:sp>
          <p:nvSpPr>
            <p:cNvPr id="82" name="矩形: 圆角 40">
              <a:extLst>
                <a:ext uri="{FF2B5EF4-FFF2-40B4-BE49-F238E27FC236}">
                  <a16:creationId xmlns:a16="http://schemas.microsoft.com/office/drawing/2014/main" id="{FF16FE5E-4F76-2F84-7C18-54B6FAB5F06D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9B9AADE5-C1BE-2C1C-14F9-56C6C577B99A}"/>
                </a:ext>
              </a:extLst>
            </p:cNvPr>
            <p:cNvSpPr/>
            <p:nvPr/>
          </p:nvSpPr>
          <p:spPr>
            <a:xfrm>
              <a:off x="899373" y="4723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曲线域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1DCFC114-15E5-3F3A-6CF4-6FEAAFBDDA62}"/>
              </a:ext>
            </a:extLst>
          </p:cNvPr>
          <p:cNvGrpSpPr/>
          <p:nvPr/>
        </p:nvGrpSpPr>
        <p:grpSpPr>
          <a:xfrm>
            <a:off x="8685997" y="4793304"/>
            <a:ext cx="1458356" cy="619125"/>
            <a:chOff x="723439" y="4629148"/>
            <a:chExt cx="1458356" cy="619125"/>
          </a:xfrm>
        </p:grpSpPr>
        <p:sp>
          <p:nvSpPr>
            <p:cNvPr id="85" name="矩形: 圆角 40">
              <a:extLst>
                <a:ext uri="{FF2B5EF4-FFF2-40B4-BE49-F238E27FC236}">
                  <a16:creationId xmlns:a16="http://schemas.microsoft.com/office/drawing/2014/main" id="{CC672131-6499-9C49-6284-93314912DA7D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25BF8A06-AC78-D40F-63C9-28E245C32157}"/>
                </a:ext>
              </a:extLst>
            </p:cNvPr>
            <p:cNvSpPr/>
            <p:nvPr/>
          </p:nvSpPr>
          <p:spPr>
            <a:xfrm>
              <a:off x="766023" y="47232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曲面积分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695CDE97-620D-4A37-E5CA-6F1DFDAC8EDD}"/>
              </a:ext>
            </a:extLst>
          </p:cNvPr>
          <p:cNvGrpSpPr/>
          <p:nvPr/>
        </p:nvGrpSpPr>
        <p:grpSpPr>
          <a:xfrm>
            <a:off x="8685997" y="5601241"/>
            <a:ext cx="1458355" cy="619125"/>
            <a:chOff x="723439" y="4629148"/>
            <a:chExt cx="1458355" cy="619125"/>
          </a:xfrm>
        </p:grpSpPr>
        <p:sp>
          <p:nvSpPr>
            <p:cNvPr id="88" name="矩形: 圆角 40">
              <a:extLst>
                <a:ext uri="{FF2B5EF4-FFF2-40B4-BE49-F238E27FC236}">
                  <a16:creationId xmlns:a16="http://schemas.microsoft.com/office/drawing/2014/main" id="{85A2365A-A649-C86F-637C-6F6FF956B343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AFED61F-E486-792F-5702-F6EE5B1F2BF7}"/>
                </a:ext>
              </a:extLst>
            </p:cNvPr>
            <p:cNvSpPr/>
            <p:nvPr/>
          </p:nvSpPr>
          <p:spPr>
            <a:xfrm>
              <a:off x="899373" y="4723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曲面域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0934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621849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对弧长的曲线积分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469103"/>
            <a:ext cx="3935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格林公式及其应用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661652" y="2670489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对坐标的曲线积分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661652" y="3470393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对面积的曲面积分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4315067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对坐标的曲面积分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5162322"/>
            <a:ext cx="5630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环流量与旋度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661652" y="4315067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高斯公式 通量与散度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3DB6B2-EC5F-1D4D-B5C8-187E065B460D}"/>
              </a:ext>
            </a:extLst>
          </p:cNvPr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第十一章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072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35895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563897" y="686345"/>
            <a:ext cx="506420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对面积的曲面积分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86D9470-445D-1A4E-8C79-4FABC6F415EB}"/>
              </a:ext>
            </a:extLst>
          </p:cNvPr>
          <p:cNvGrpSpPr/>
          <p:nvPr/>
        </p:nvGrpSpPr>
        <p:grpSpPr>
          <a:xfrm>
            <a:off x="2901589" y="2320979"/>
            <a:ext cx="6388823" cy="901065"/>
            <a:chOff x="3977908" y="1027772"/>
            <a:chExt cx="6388823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977908" y="1027772"/>
              <a:ext cx="6388823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4226328" y="1217006"/>
              <a:ext cx="5929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一、对面积的曲面积分的概念与性质</a:t>
              </a:r>
              <a:endParaRPr lang="zh-CN" altLang="en-US" sz="2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5AC671-4239-4442-839D-0B10800C5DE4}"/>
              </a:ext>
            </a:extLst>
          </p:cNvPr>
          <p:cNvGrpSpPr/>
          <p:nvPr/>
        </p:nvGrpSpPr>
        <p:grpSpPr>
          <a:xfrm>
            <a:off x="2901589" y="3756600"/>
            <a:ext cx="6388822" cy="901065"/>
            <a:chOff x="3977909" y="2138088"/>
            <a:chExt cx="6388822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977909" y="2138088"/>
              <a:ext cx="6388822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4218088" y="2327323"/>
              <a:ext cx="53864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二、对面积的曲面积分的计算法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1102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392AB7A5-9D76-3D5A-703C-C3031B030C80}"/>
              </a:ext>
            </a:extLst>
          </p:cNvPr>
          <p:cNvSpPr txBox="1">
            <a:spLocks noChangeArrowheads="1"/>
          </p:cNvSpPr>
          <p:nvPr/>
        </p:nvSpPr>
        <p:spPr>
          <a:xfrm>
            <a:off x="1172856" y="595022"/>
            <a:ext cx="6864819" cy="6660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一、对面积的曲面积分的概念与性质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35FD8093-686B-0169-3D16-998AAF46091E}"/>
                  </a:ext>
                </a:extLst>
              </p:cNvPr>
              <p:cNvSpPr txBox="1"/>
              <p:nvPr/>
            </p:nvSpPr>
            <p:spPr>
              <a:xfrm>
                <a:off x="1970810" y="1878119"/>
                <a:ext cx="8061455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设曲面形构件具有连续面密度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求其质量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35FD8093-686B-0169-3D16-998AAF460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810" y="1878119"/>
                <a:ext cx="8061455" cy="444500"/>
              </a:xfrm>
              <a:prstGeom prst="rect">
                <a:avLst/>
              </a:prstGeom>
              <a:blipFill>
                <a:blip r:embed="rId2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Box 23">
            <a:extLst>
              <a:ext uri="{FF2B5EF4-FFF2-40B4-BE49-F238E27FC236}">
                <a16:creationId xmlns:a16="http://schemas.microsoft.com/office/drawing/2014/main" id="{3DDA57FE-012A-124E-4D53-2EE1AB6D5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810" y="2379817"/>
            <a:ext cx="5486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类似求平面薄板质量的思想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采用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825BF049-17F4-5CF3-41D0-0CB3CD722738}"/>
                  </a:ext>
                </a:extLst>
              </p:cNvPr>
              <p:cNvSpPr txBox="1"/>
              <p:nvPr/>
            </p:nvSpPr>
            <p:spPr bwMode="auto">
              <a:xfrm>
                <a:off x="4516133" y="4218383"/>
                <a:ext cx="2771775" cy="47148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825BF049-17F4-5CF3-41D0-0CB3CD722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6133" y="4218383"/>
                <a:ext cx="2771775" cy="471488"/>
              </a:xfrm>
              <a:prstGeom prst="rect">
                <a:avLst/>
              </a:prstGeom>
              <a:blipFill>
                <a:blip r:embed="rId3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25">
            <a:extLst>
              <a:ext uri="{FF2B5EF4-FFF2-40B4-BE49-F238E27FC236}">
                <a16:creationId xmlns:a16="http://schemas.microsoft.com/office/drawing/2014/main" id="{F04DA99B-17C9-F203-8CFC-E1625DE89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010" y="3468177"/>
            <a:ext cx="1219200" cy="519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可得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6">
                <a:extLst>
                  <a:ext uri="{FF2B5EF4-FFF2-40B4-BE49-F238E27FC236}">
                    <a16:creationId xmlns:a16="http://schemas.microsoft.com/office/drawing/2014/main" id="{F0511A14-920F-560D-732C-30192974C6AE}"/>
                  </a:ext>
                </a:extLst>
              </p:cNvPr>
              <p:cNvSpPr txBox="1"/>
              <p:nvPr/>
            </p:nvSpPr>
            <p:spPr bwMode="auto">
              <a:xfrm>
                <a:off x="3996157" y="3873896"/>
                <a:ext cx="652461" cy="1219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Object 26">
                <a:extLst>
                  <a:ext uri="{FF2B5EF4-FFF2-40B4-BE49-F238E27FC236}">
                    <a16:creationId xmlns:a16="http://schemas.microsoft.com/office/drawing/2014/main" id="{F0511A14-920F-560D-732C-30192974C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6157" y="3873896"/>
                <a:ext cx="652461" cy="1219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7">
                <a:extLst>
                  <a:ext uri="{FF2B5EF4-FFF2-40B4-BE49-F238E27FC236}">
                    <a16:creationId xmlns:a16="http://schemas.microsoft.com/office/drawing/2014/main" id="{3C7CF866-A7A7-7C59-AA0A-D790A20A3322}"/>
                  </a:ext>
                </a:extLst>
              </p:cNvPr>
              <p:cNvSpPr txBox="1"/>
              <p:nvPr/>
            </p:nvSpPr>
            <p:spPr bwMode="auto">
              <a:xfrm>
                <a:off x="3465093" y="4150124"/>
                <a:ext cx="622300" cy="65246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Object 27">
                <a:extLst>
                  <a:ext uri="{FF2B5EF4-FFF2-40B4-BE49-F238E27FC236}">
                    <a16:creationId xmlns:a16="http://schemas.microsoft.com/office/drawing/2014/main" id="{3C7CF866-A7A7-7C59-AA0A-D790A20A3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5093" y="4150124"/>
                <a:ext cx="622300" cy="652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8">
                <a:extLst>
                  <a:ext uri="{FF2B5EF4-FFF2-40B4-BE49-F238E27FC236}">
                    <a16:creationId xmlns:a16="http://schemas.microsoft.com/office/drawing/2014/main" id="{D94BE225-9501-EF10-AA2A-BBAA4D366487}"/>
                  </a:ext>
                </a:extLst>
              </p:cNvPr>
              <p:cNvSpPr txBox="1"/>
              <p:nvPr/>
            </p:nvSpPr>
            <p:spPr bwMode="auto">
              <a:xfrm>
                <a:off x="2754848" y="4240609"/>
                <a:ext cx="863040" cy="42703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28">
                <a:extLst>
                  <a:ext uri="{FF2B5EF4-FFF2-40B4-BE49-F238E27FC236}">
                    <a16:creationId xmlns:a16="http://schemas.microsoft.com/office/drawing/2014/main" id="{D94BE225-9501-EF10-AA2A-BBAA4D366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4848" y="4240609"/>
                <a:ext cx="863040" cy="4270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Box 34">
            <a:extLst>
              <a:ext uri="{FF2B5EF4-FFF2-40B4-BE49-F238E27FC236}">
                <a16:creationId xmlns:a16="http://schemas.microsoft.com/office/drawing/2014/main" id="{831CFF53-1DF2-41C4-86BC-66F6DEBFB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154" y="2939663"/>
            <a:ext cx="5638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 “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大化小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常代变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近似和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求极限” </a:t>
            </a:r>
          </a:p>
        </p:txBody>
      </p:sp>
      <p:sp>
        <p:nvSpPr>
          <p:cNvPr id="41" name="Text Box 35">
            <a:extLst>
              <a:ext uri="{FF2B5EF4-FFF2-40B4-BE49-F238E27FC236}">
                <a16:creationId xmlns:a16="http://schemas.microsoft.com/office/drawing/2014/main" id="{0A670087-F58D-BE6D-027F-4B4847F58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810" y="3484450"/>
            <a:ext cx="1447800" cy="519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的方法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37">
                <a:extLst>
                  <a:ext uri="{FF2B5EF4-FFF2-40B4-BE49-F238E27FC236}">
                    <a16:creationId xmlns:a16="http://schemas.microsoft.com/office/drawing/2014/main" id="{896795A3-5F28-93F2-1401-E95247F8D1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0810" y="5178026"/>
                <a:ext cx="50508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其中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  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𝜆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表示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小块曲面的直径的</a:t>
                </a:r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Text Box 37">
                <a:extLst>
                  <a:ext uri="{FF2B5EF4-FFF2-40B4-BE49-F238E27FC236}">
                    <a16:creationId xmlns:a16="http://schemas.microsoft.com/office/drawing/2014/main" id="{896795A3-5F28-93F2-1401-E95247F8D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0810" y="5178026"/>
                <a:ext cx="5050870" cy="523220"/>
              </a:xfrm>
              <a:prstGeom prst="rect">
                <a:avLst/>
              </a:prstGeom>
              <a:blipFill>
                <a:blip r:embed="rId7"/>
                <a:stretch>
                  <a:fillRect l="-2413" t="-15116" r="-1086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 Box 38">
            <a:extLst>
              <a:ext uri="{FF2B5EF4-FFF2-40B4-BE49-F238E27FC236}">
                <a16:creationId xmlns:a16="http://schemas.microsoft.com/office/drawing/2014/main" id="{4B63EBD3-1652-CF9A-1386-8A1B2DA66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810" y="5696151"/>
            <a:ext cx="86132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最大值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曲面的直径为其上任意两点间距离的最大者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). 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1509BA4E-2BEF-A768-932C-D85B7B7B7CD0}"/>
              </a:ext>
            </a:extLst>
          </p:cNvPr>
          <p:cNvSpPr txBox="1"/>
          <p:nvPr/>
        </p:nvSpPr>
        <p:spPr bwMode="auto">
          <a:xfrm>
            <a:off x="1523135" y="1228239"/>
            <a:ext cx="1334020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引例</a:t>
            </a: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B71DD87E-0DBB-8600-DA05-8F00DCB428D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791" y="2441558"/>
            <a:ext cx="2932313" cy="29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32" grpId="0"/>
      <p:bldP spid="33" grpId="0"/>
      <p:bldP spid="34" grpId="0"/>
      <p:bldP spid="35" grpId="0"/>
      <p:bldP spid="36" grpId="0"/>
      <p:bldP spid="37" grpId="0"/>
      <p:bldP spid="40" grpId="0"/>
      <p:bldP spid="41" grpId="0"/>
      <p:bldP spid="43" grpId="0"/>
      <p:bldP spid="44" grpId="0"/>
      <p:bldP spid="1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A260E647-CF71-FB59-99BD-69B73EE958A7}"/>
              </a:ext>
            </a:extLst>
          </p:cNvPr>
          <p:cNvGrpSpPr/>
          <p:nvPr/>
        </p:nvGrpSpPr>
        <p:grpSpPr>
          <a:xfrm>
            <a:off x="-3175" y="-635"/>
            <a:ext cx="12195175" cy="6858000"/>
            <a:chOff x="-3175" y="-635"/>
            <a:chExt cx="12195175" cy="6858000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70099CBD-52BF-BE9C-F1AB-11DC782D2C76}"/>
                </a:ext>
              </a:extLst>
            </p:cNvPr>
            <p:cNvGrpSpPr/>
            <p:nvPr/>
          </p:nvGrpSpPr>
          <p:grpSpPr>
            <a:xfrm>
              <a:off x="-3175" y="-635"/>
              <a:ext cx="12195175" cy="6858000"/>
              <a:chOff x="-20" y="-21"/>
              <a:chExt cx="19205" cy="10800"/>
            </a:xfrm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2C58D2C2-93BC-C24A-896C-6F7DE113AB3E}"/>
                  </a:ext>
                </a:extLst>
              </p:cNvPr>
              <p:cNvGrpSpPr/>
              <p:nvPr/>
            </p:nvGrpSpPr>
            <p:grpSpPr>
              <a:xfrm>
                <a:off x="-20" y="-21"/>
                <a:ext cx="19205" cy="10800"/>
                <a:chOff x="0" y="0"/>
                <a:chExt cx="19205" cy="10800"/>
              </a:xfrm>
            </p:grpSpPr>
            <p:sp>
              <p:nvSpPr>
                <p:cNvPr id="43" name="Rectangle 1">
                  <a:extLst>
                    <a:ext uri="{FF2B5EF4-FFF2-40B4-BE49-F238E27FC236}">
                      <a16:creationId xmlns:a16="http://schemas.microsoft.com/office/drawing/2014/main" id="{0180A49D-BD1C-EC45-0B02-BC19B446DB8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205" cy="10800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9E47"/>
                    </a:gs>
                    <a:gs pos="55000">
                      <a:srgbClr val="039463"/>
                    </a:gs>
                    <a:gs pos="100000">
                      <a:srgbClr val="068885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PA-102231">
                  <a:extLst>
                    <a:ext uri="{FF2B5EF4-FFF2-40B4-BE49-F238E27FC236}">
                      <a16:creationId xmlns:a16="http://schemas.microsoft.com/office/drawing/2014/main" id="{F763D9BE-DFEE-CEE4-2A9E-69A820E2706F}"/>
                    </a:ext>
                  </a:extLst>
                </p:cNvPr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798" y="10042"/>
                  <a:ext cx="8533" cy="169"/>
                </a:xfrm>
                <a:prstGeom prst="rect">
                  <a:avLst/>
                </a:prstGeom>
                <a:solidFill>
                  <a:srgbClr val="068884"/>
                </a:solidFill>
                <a:ln>
                  <a:noFill/>
                </a:ln>
                <a:effectLst>
                  <a:outerShdw blurRad="203200" dist="63500" dir="30000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ln>
                      <a:solidFill>
                        <a:schemeClr val="bg1">
                          <a:lumMod val="95000"/>
                        </a:schemeClr>
                      </a:solidFill>
                    </a:ln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PA-102231">
                  <a:extLst>
                    <a:ext uri="{FF2B5EF4-FFF2-40B4-BE49-F238E27FC236}">
                      <a16:creationId xmlns:a16="http://schemas.microsoft.com/office/drawing/2014/main" id="{7F96A9CF-8235-0559-C2AA-D84C3D1FBAE3}"/>
                    </a:ext>
                  </a:extLst>
                </p:cNvPr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9858" y="10050"/>
                  <a:ext cx="8533" cy="162"/>
                </a:xfrm>
                <a:prstGeom prst="rect">
                  <a:avLst/>
                </a:prstGeom>
                <a:solidFill>
                  <a:srgbClr val="068884"/>
                </a:solidFill>
                <a:ln>
                  <a:noFill/>
                </a:ln>
                <a:effectLst>
                  <a:outerShdw blurRad="203200" dist="63500" dir="30000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ln>
                      <a:solidFill>
                        <a:schemeClr val="bg1">
                          <a:lumMod val="95000"/>
                        </a:schemeClr>
                      </a:solidFill>
                    </a:ln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矩形: 折角 16">
                <a:extLst>
                  <a:ext uri="{FF2B5EF4-FFF2-40B4-BE49-F238E27FC236}">
                    <a16:creationId xmlns:a16="http://schemas.microsoft.com/office/drawing/2014/main" id="{45165B4B-522D-966B-E9C1-A51E5B4B7E4B}"/>
                  </a:ext>
                </a:extLst>
              </p:cNvPr>
              <p:cNvSpPr/>
              <p:nvPr/>
            </p:nvSpPr>
            <p:spPr>
              <a:xfrm rot="10800000">
                <a:off x="230" y="248"/>
                <a:ext cx="18709" cy="10259"/>
              </a:xfrm>
              <a:prstGeom prst="foldedCorner">
                <a:avLst>
                  <a:gd name="adj" fmla="val 10200"/>
                </a:avLst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0" name="Rectangle 1">
              <a:extLst>
                <a:ext uri="{FF2B5EF4-FFF2-40B4-BE49-F238E27FC236}">
                  <a16:creationId xmlns:a16="http://schemas.microsoft.com/office/drawing/2014/main" id="{FDD2A51B-18B2-9B13-A7D2-53DAEF58D4F0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1">
              <a:extLst>
                <a:ext uri="{FF2B5EF4-FFF2-40B4-BE49-F238E27FC236}">
                  <a16:creationId xmlns:a16="http://schemas.microsoft.com/office/drawing/2014/main" id="{C01F5D0A-301F-B47C-E830-3CC6F9F662C2}"/>
                </a:ext>
              </a:extLst>
            </p:cNvPr>
            <p:cNvSpPr/>
            <p:nvPr userDrawn="1"/>
          </p:nvSpPr>
          <p:spPr>
            <a:xfrm rot="2659048">
              <a:off x="9060538" y="3105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DA8B192-79DE-4D86-E8AC-5614AF2DBD7B}"/>
                </a:ext>
              </a:extLst>
            </p:cNvPr>
            <p:cNvSpPr/>
            <p:nvPr/>
          </p:nvSpPr>
          <p:spPr>
            <a:xfrm>
              <a:off x="476885" y="63588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对面积的曲面积分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9D667E96-0B5D-D762-FA81-39B54652AEA2}"/>
                </a:ext>
              </a:extLst>
            </p:cNvPr>
            <p:cNvSpPr/>
            <p:nvPr/>
          </p:nvSpPr>
          <p:spPr>
            <a:xfrm>
              <a:off x="9315710" y="2266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A44FA3B-4CDA-5134-D40F-9825D65E52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3555" y="380545"/>
              <a:ext cx="8290137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66D07D4F-3E72-FF96-0469-DC8511F8125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12242"/>
              <a:ext cx="925449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28842C37-755D-96A9-7D58-EE8C7C294DE6}"/>
              </a:ext>
            </a:extLst>
          </p:cNvPr>
          <p:cNvSpPr txBox="1"/>
          <p:nvPr/>
        </p:nvSpPr>
        <p:spPr bwMode="auto">
          <a:xfrm>
            <a:off x="1304405" y="492641"/>
            <a:ext cx="1334020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对象 22">
                <a:extLst>
                  <a:ext uri="{FF2B5EF4-FFF2-40B4-BE49-F238E27FC236}">
                    <a16:creationId xmlns:a16="http://schemas.microsoft.com/office/drawing/2014/main" id="{EE6BE73F-A195-4191-3EE9-D914EA9BB461}"/>
                  </a:ext>
                </a:extLst>
              </p:cNvPr>
              <p:cNvSpPr txBox="1"/>
              <p:nvPr/>
            </p:nvSpPr>
            <p:spPr>
              <a:xfrm>
                <a:off x="1706862" y="1015861"/>
                <a:ext cx="9675514" cy="183938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设曲面</m:t>
                      </m:r>
                      <m:r>
                        <a:rPr kumimoji="1" lang="zh-CN" altLang="en-US" sz="28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是光滑的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函数</m:t>
                      </m:r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上有界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把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任意分成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个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小块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（"/>
                          <m:endChr m:val="）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同时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也表示第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小块曲面的面积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设点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为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上任意取定的点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作乘积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)⋅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并作和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对象 22">
                <a:extLst>
                  <a:ext uri="{FF2B5EF4-FFF2-40B4-BE49-F238E27FC236}">
                    <a16:creationId xmlns:a16="http://schemas.microsoft.com/office/drawing/2014/main" id="{EE6BE73F-A195-4191-3EE9-D914EA9BB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862" y="1015861"/>
                <a:ext cx="9675514" cy="18393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对象 23">
                <a:extLst>
                  <a:ext uri="{FF2B5EF4-FFF2-40B4-BE49-F238E27FC236}">
                    <a16:creationId xmlns:a16="http://schemas.microsoft.com/office/drawing/2014/main" id="{C87BED6E-986E-2346-9952-0C7A9A24FFF1}"/>
                  </a:ext>
                </a:extLst>
              </p:cNvPr>
              <p:cNvSpPr txBox="1"/>
              <p:nvPr/>
            </p:nvSpPr>
            <p:spPr>
              <a:xfrm>
                <a:off x="3376613" y="2708722"/>
                <a:ext cx="5395912" cy="12985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  <a:sym typeface="Symbol" panose="05050102010706020507" pitchFamily="18" charset="2"/>
                                </a:rPr>
                                <m:t>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)⋅</m:t>
                          </m:r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𝑖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=1,2,⋯,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对象 23">
                <a:extLst>
                  <a:ext uri="{FF2B5EF4-FFF2-40B4-BE49-F238E27FC236}">
                    <a16:creationId xmlns:a16="http://schemas.microsoft.com/office/drawing/2014/main" id="{C87BED6E-986E-2346-9952-0C7A9A24F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613" y="2708722"/>
                <a:ext cx="5395912" cy="12985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22">
                <a:extLst>
                  <a:ext uri="{FF2B5EF4-FFF2-40B4-BE49-F238E27FC236}">
                    <a16:creationId xmlns:a16="http://schemas.microsoft.com/office/drawing/2014/main" id="{1EF60221-A84A-EFD3-0BE7-122BCEB68C5D}"/>
                  </a:ext>
                </a:extLst>
              </p:cNvPr>
              <p:cNvSpPr txBox="1"/>
              <p:nvPr/>
            </p:nvSpPr>
            <p:spPr>
              <a:xfrm>
                <a:off x="1706861" y="3974050"/>
                <a:ext cx="9432194" cy="228989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如果当各小块曲面的直径的最大值</a:t>
                </a:r>
                <a:r>
                  <a:rPr kumimoji="1" lang="en-US" altLang="zh-CN" sz="28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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→0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时这和式的极限总存在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且与曲面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的分法及点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  <a:sym typeface="Symbol" panose="05050102010706020507" pitchFamily="18" charset="2"/>
                          </a:rPr>
                          <m:t>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𝜂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</m:t>
                        </m:r>
                      </m:e>
                      <m:sub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的取法无关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那么称此极限为函数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𝑓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在曲面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上对面积的</a:t>
                </a:r>
                <a:r>
                  <a:rPr kumimoji="1" lang="zh-CN" altLang="en-US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曲面积分或第一类曲面积分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800" dirty="0">
                  <a:solidFill>
                    <a:srgbClr val="04926A"/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对象 22">
                <a:extLst>
                  <a:ext uri="{FF2B5EF4-FFF2-40B4-BE49-F238E27FC236}">
                    <a16:creationId xmlns:a16="http://schemas.microsoft.com/office/drawing/2014/main" id="{1EF60221-A84A-EFD3-0BE7-122BCEB68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861" y="3974050"/>
                <a:ext cx="9432194" cy="2289890"/>
              </a:xfrm>
              <a:prstGeom prst="rect">
                <a:avLst/>
              </a:prstGeom>
              <a:blipFill>
                <a:blip r:embed="rId6"/>
                <a:stretch>
                  <a:fillRect l="-1357" t="-798" b="-55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177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A5FD1B7A-9B06-4AFC-FCFD-7BA564AEFD61}"/>
              </a:ext>
            </a:extLst>
          </p:cNvPr>
          <p:cNvGrpSpPr/>
          <p:nvPr/>
        </p:nvGrpSpPr>
        <p:grpSpPr>
          <a:xfrm>
            <a:off x="-3175" y="-635"/>
            <a:ext cx="12195175" cy="6858000"/>
            <a:chOff x="-3175" y="-635"/>
            <a:chExt cx="12195175" cy="6858000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0A457577-74CF-73DE-465E-232C64242798}"/>
                </a:ext>
              </a:extLst>
            </p:cNvPr>
            <p:cNvGrpSpPr/>
            <p:nvPr/>
          </p:nvGrpSpPr>
          <p:grpSpPr>
            <a:xfrm>
              <a:off x="-3175" y="-635"/>
              <a:ext cx="12195175" cy="6858000"/>
              <a:chOff x="-20" y="-21"/>
              <a:chExt cx="19205" cy="10800"/>
            </a:xfrm>
          </p:grpSpPr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4D7F2FFA-7197-CF1D-F884-12B4B30C1D26}"/>
                  </a:ext>
                </a:extLst>
              </p:cNvPr>
              <p:cNvGrpSpPr/>
              <p:nvPr/>
            </p:nvGrpSpPr>
            <p:grpSpPr>
              <a:xfrm>
                <a:off x="-20" y="-21"/>
                <a:ext cx="19205" cy="10800"/>
                <a:chOff x="0" y="0"/>
                <a:chExt cx="19205" cy="10800"/>
              </a:xfrm>
            </p:grpSpPr>
            <p:sp>
              <p:nvSpPr>
                <p:cNvPr id="58" name="Rectangle 1">
                  <a:extLst>
                    <a:ext uri="{FF2B5EF4-FFF2-40B4-BE49-F238E27FC236}">
                      <a16:creationId xmlns:a16="http://schemas.microsoft.com/office/drawing/2014/main" id="{4CC13934-CA0A-842E-0E2F-82DBEF4CEFC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205" cy="10800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9E47"/>
                    </a:gs>
                    <a:gs pos="55000">
                      <a:srgbClr val="039463"/>
                    </a:gs>
                    <a:gs pos="100000">
                      <a:srgbClr val="068885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PA-102231">
                  <a:extLst>
                    <a:ext uri="{FF2B5EF4-FFF2-40B4-BE49-F238E27FC236}">
                      <a16:creationId xmlns:a16="http://schemas.microsoft.com/office/drawing/2014/main" id="{107E3914-CEF0-0B8A-66CD-10CC388E313F}"/>
                    </a:ext>
                  </a:extLst>
                </p:cNvPr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798" y="10042"/>
                  <a:ext cx="8533" cy="169"/>
                </a:xfrm>
                <a:prstGeom prst="rect">
                  <a:avLst/>
                </a:prstGeom>
                <a:solidFill>
                  <a:srgbClr val="068884"/>
                </a:solidFill>
                <a:ln>
                  <a:noFill/>
                </a:ln>
                <a:effectLst>
                  <a:outerShdw blurRad="203200" dist="63500" dir="30000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ln>
                      <a:solidFill>
                        <a:schemeClr val="bg1">
                          <a:lumMod val="95000"/>
                        </a:schemeClr>
                      </a:solidFill>
                    </a:ln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PA-102231">
                  <a:extLst>
                    <a:ext uri="{FF2B5EF4-FFF2-40B4-BE49-F238E27FC236}">
                      <a16:creationId xmlns:a16="http://schemas.microsoft.com/office/drawing/2014/main" id="{57F89743-9CC1-0D98-4C0A-0827446D508F}"/>
                    </a:ext>
                  </a:extLst>
                </p:cNvPr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9858" y="10050"/>
                  <a:ext cx="8533" cy="162"/>
                </a:xfrm>
                <a:prstGeom prst="rect">
                  <a:avLst/>
                </a:prstGeom>
                <a:solidFill>
                  <a:srgbClr val="068884"/>
                </a:solidFill>
                <a:ln>
                  <a:noFill/>
                </a:ln>
                <a:effectLst>
                  <a:outerShdw blurRad="203200" dist="63500" dir="30000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ln>
                      <a:solidFill>
                        <a:schemeClr val="bg1">
                          <a:lumMod val="95000"/>
                        </a:schemeClr>
                      </a:solidFill>
                    </a:ln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7" name="矩形: 折角 16">
                <a:extLst>
                  <a:ext uri="{FF2B5EF4-FFF2-40B4-BE49-F238E27FC236}">
                    <a16:creationId xmlns:a16="http://schemas.microsoft.com/office/drawing/2014/main" id="{31852D79-0825-1FD8-F04B-D30FB921741F}"/>
                  </a:ext>
                </a:extLst>
              </p:cNvPr>
              <p:cNvSpPr/>
              <p:nvPr/>
            </p:nvSpPr>
            <p:spPr>
              <a:xfrm rot="10800000">
                <a:off x="230" y="248"/>
                <a:ext cx="18709" cy="10259"/>
              </a:xfrm>
              <a:prstGeom prst="foldedCorner">
                <a:avLst>
                  <a:gd name="adj" fmla="val 10200"/>
                </a:avLst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0" name="Rectangle 1">
              <a:extLst>
                <a:ext uri="{FF2B5EF4-FFF2-40B4-BE49-F238E27FC236}">
                  <a16:creationId xmlns:a16="http://schemas.microsoft.com/office/drawing/2014/main" id="{A8E8E2AB-CA9F-A70D-9906-967E0CC69A46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1">
              <a:extLst>
                <a:ext uri="{FF2B5EF4-FFF2-40B4-BE49-F238E27FC236}">
                  <a16:creationId xmlns:a16="http://schemas.microsoft.com/office/drawing/2014/main" id="{2BF563BC-0A66-AF2A-1FBB-C05E268E6BD7}"/>
                </a:ext>
              </a:extLst>
            </p:cNvPr>
            <p:cNvSpPr/>
            <p:nvPr userDrawn="1"/>
          </p:nvSpPr>
          <p:spPr>
            <a:xfrm rot="2659048">
              <a:off x="9060538" y="3105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4FA4A14E-B3CD-6022-06EE-E557AC140EC4}"/>
                </a:ext>
              </a:extLst>
            </p:cNvPr>
            <p:cNvSpPr/>
            <p:nvPr/>
          </p:nvSpPr>
          <p:spPr>
            <a:xfrm>
              <a:off x="476885" y="63588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对面积的曲面积分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F5322F9-E2EC-495B-C369-A4A08633306B}"/>
                </a:ext>
              </a:extLst>
            </p:cNvPr>
            <p:cNvSpPr/>
            <p:nvPr/>
          </p:nvSpPr>
          <p:spPr>
            <a:xfrm>
              <a:off x="9315710" y="2266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BCFE7F6-7208-2447-65CD-414BCD79EB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3555" y="380545"/>
              <a:ext cx="8290137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2AA9CD0F-D716-2A8B-2327-FF40B5F176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12242"/>
              <a:ext cx="925449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B1AAF95E-B7A7-3045-DCAB-D56B4E3C39B9}"/>
                  </a:ext>
                </a:extLst>
              </p:cNvPr>
              <p:cNvSpPr txBox="1"/>
              <p:nvPr/>
            </p:nvSpPr>
            <p:spPr>
              <a:xfrm>
                <a:off x="2449209" y="913578"/>
                <a:ext cx="3970642" cy="12062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记为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B1AAF95E-B7A7-3045-DCAB-D56B4E3C3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209" y="913578"/>
                <a:ext cx="3970642" cy="1206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06">
            <a:extLst>
              <a:ext uri="{FF2B5EF4-FFF2-40B4-BE49-F238E27FC236}">
                <a16:creationId xmlns:a16="http://schemas.microsoft.com/office/drawing/2014/main" id="{303D4B3D-17CD-33B5-1EC3-01A2BA2DD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997" y="2720757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即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EDB4A38F-0E14-2B21-E486-CA85271C8B45}"/>
              </a:ext>
            </a:extLst>
          </p:cNvPr>
          <p:cNvGrpSpPr>
            <a:grpSpLocks/>
          </p:cNvGrpSpPr>
          <p:nvPr/>
        </p:nvGrpSpPr>
        <p:grpSpPr bwMode="auto">
          <a:xfrm>
            <a:off x="3259237" y="3299926"/>
            <a:ext cx="443805" cy="685800"/>
            <a:chOff x="-108" y="1536"/>
            <a:chExt cx="378" cy="528"/>
          </a:xfrm>
          <a:solidFill>
            <a:srgbClr val="04926A"/>
          </a:solidFill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89758987-F92E-FE2E-0FF1-6D36E6944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8" y="1536"/>
              <a:ext cx="378" cy="240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AutoShape 4">
              <a:extLst>
                <a:ext uri="{FF2B5EF4-FFF2-40B4-BE49-F238E27FC236}">
                  <a16:creationId xmlns:a16="http://schemas.microsoft.com/office/drawing/2014/main" id="{FF9AA6B6-3B2C-28DE-3ABC-F40D225BE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76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4926A">
                <a:alpha val="42000"/>
              </a:srgbClr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" name="Text Box 5" descr="大网格">
            <a:extLst>
              <a:ext uri="{FF2B5EF4-FFF2-40B4-BE49-F238E27FC236}">
                <a16:creationId xmlns:a16="http://schemas.microsoft.com/office/drawing/2014/main" id="{900B807E-2637-06D3-3D48-B10697438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4110" y="4036039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积分曲面</a:t>
            </a:r>
          </a:p>
        </p:txBody>
      </p:sp>
      <p:grpSp>
        <p:nvGrpSpPr>
          <p:cNvPr id="16" name="Group 7">
            <a:extLst>
              <a:ext uri="{FF2B5EF4-FFF2-40B4-BE49-F238E27FC236}">
                <a16:creationId xmlns:a16="http://schemas.microsoft.com/office/drawing/2014/main" id="{9F860F28-D39D-CFAD-EBE1-72365130B32D}"/>
              </a:ext>
            </a:extLst>
          </p:cNvPr>
          <p:cNvGrpSpPr>
            <a:grpSpLocks/>
          </p:cNvGrpSpPr>
          <p:nvPr/>
        </p:nvGrpSpPr>
        <p:grpSpPr bwMode="auto">
          <a:xfrm>
            <a:off x="6730196" y="2326132"/>
            <a:ext cx="2947179" cy="1688042"/>
            <a:chOff x="3225" y="-283"/>
            <a:chExt cx="3174" cy="1450"/>
          </a:xfrm>
        </p:grpSpPr>
        <p:sp>
          <p:nvSpPr>
            <p:cNvPr id="17" name="Rectangle 8" descr="大网格">
              <a:extLst>
                <a:ext uri="{FF2B5EF4-FFF2-40B4-BE49-F238E27FC236}">
                  <a16:creationId xmlns:a16="http://schemas.microsoft.com/office/drawing/2014/main" id="{2492212A-336E-A5D4-CA21-81A9CFA9D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5" y="-283"/>
              <a:ext cx="3174" cy="1089"/>
            </a:xfrm>
            <a:prstGeom prst="rect">
              <a:avLst/>
            </a:prstGeom>
            <a:noFill/>
            <a:ln w="381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AutoShape 9">
              <a:extLst>
                <a:ext uri="{FF2B5EF4-FFF2-40B4-BE49-F238E27FC236}">
                  <a16:creationId xmlns:a16="http://schemas.microsoft.com/office/drawing/2014/main" id="{71FDB62A-211F-A763-242D-E94F74EC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806"/>
              <a:ext cx="96" cy="361"/>
            </a:xfrm>
            <a:prstGeom prst="downArrow">
              <a:avLst>
                <a:gd name="adj1" fmla="val 50000"/>
                <a:gd name="adj2" fmla="val 175000"/>
              </a:avLst>
            </a:prstGeom>
            <a:solidFill>
              <a:schemeClr val="tx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sp>
        <p:nvSpPr>
          <p:cNvPr id="20" name="Text Box 10" descr="大网格">
            <a:extLst>
              <a:ext uri="{FF2B5EF4-FFF2-40B4-BE49-F238E27FC236}">
                <a16:creationId xmlns:a16="http://schemas.microsoft.com/office/drawing/2014/main" id="{F5C234D3-12DE-0262-5301-3A0C571E3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4140" y="4036039"/>
            <a:ext cx="61555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Cambria Math" panose="02040503050406030204" charset="0"/>
                <a:ea typeface="黑体" panose="02010609060101010101" pitchFamily="49" charset="-122"/>
              </a:rPr>
              <a:t>积分和</a:t>
            </a: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6B41FFCB-F4F0-6446-372C-28FA8EE5112B}"/>
              </a:ext>
            </a:extLst>
          </p:cNvPr>
          <p:cNvGrpSpPr>
            <a:grpSpLocks/>
          </p:cNvGrpSpPr>
          <p:nvPr/>
        </p:nvGrpSpPr>
        <p:grpSpPr bwMode="auto">
          <a:xfrm>
            <a:off x="3819928" y="2534462"/>
            <a:ext cx="1411654" cy="1403350"/>
            <a:chOff x="220" y="1056"/>
            <a:chExt cx="1445" cy="1056"/>
          </a:xfrm>
        </p:grpSpPr>
        <p:sp>
          <p:nvSpPr>
            <p:cNvPr id="22" name="Rectangle 12" descr="大网格">
              <a:extLst>
                <a:ext uri="{FF2B5EF4-FFF2-40B4-BE49-F238E27FC236}">
                  <a16:creationId xmlns:a16="http://schemas.microsoft.com/office/drawing/2014/main" id="{58ED3867-87B6-75CB-CC61-583D539B6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" y="1056"/>
              <a:ext cx="1445" cy="576"/>
            </a:xfrm>
            <a:prstGeom prst="rect">
              <a:avLst/>
            </a:prstGeom>
            <a:noFill/>
            <a:ln w="38100" cap="sq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AutoShape 13">
              <a:extLst>
                <a:ext uri="{FF2B5EF4-FFF2-40B4-BE49-F238E27FC236}">
                  <a16:creationId xmlns:a16="http://schemas.microsoft.com/office/drawing/2014/main" id="{E64E235C-470E-6DFE-FDE9-FBFF567DC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632"/>
              <a:ext cx="48" cy="480"/>
            </a:xfrm>
            <a:prstGeom prst="downArrow">
              <a:avLst>
                <a:gd name="adj1" fmla="val 50000"/>
                <a:gd name="adj2" fmla="val 250000"/>
              </a:avLst>
            </a:prstGeom>
            <a:solidFill>
              <a:schemeClr val="accent2"/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sp>
        <p:nvSpPr>
          <p:cNvPr id="24" name="Text Box 14" descr="大网格">
            <a:extLst>
              <a:ext uri="{FF2B5EF4-FFF2-40B4-BE49-F238E27FC236}">
                <a16:creationId xmlns:a16="http://schemas.microsoft.com/office/drawing/2014/main" id="{387F802E-BC4B-BFC9-6185-3D94AC86C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8496" y="4036039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accent2"/>
                </a:solidFill>
                <a:latin typeface="Cambria Math" panose="02040503050406030204" charset="0"/>
                <a:ea typeface="黑体" panose="02010609060101010101" pitchFamily="49" charset="-122"/>
              </a:rPr>
              <a:t>被积函数</a:t>
            </a:r>
          </a:p>
        </p:txBody>
      </p:sp>
      <p:grpSp>
        <p:nvGrpSpPr>
          <p:cNvPr id="25" name="Group 15">
            <a:extLst>
              <a:ext uri="{FF2B5EF4-FFF2-40B4-BE49-F238E27FC236}">
                <a16:creationId xmlns:a16="http://schemas.microsoft.com/office/drawing/2014/main" id="{A0350A41-2636-4AF1-379A-0F6610B72FB4}"/>
              </a:ext>
            </a:extLst>
          </p:cNvPr>
          <p:cNvGrpSpPr>
            <a:grpSpLocks/>
          </p:cNvGrpSpPr>
          <p:nvPr/>
        </p:nvGrpSpPr>
        <p:grpSpPr bwMode="auto">
          <a:xfrm>
            <a:off x="4267923" y="2777625"/>
            <a:ext cx="1038483" cy="1217613"/>
            <a:chOff x="735" y="1248"/>
            <a:chExt cx="851" cy="969"/>
          </a:xfrm>
        </p:grpSpPr>
        <p:sp>
          <p:nvSpPr>
            <p:cNvPr id="26" name="Rectangle 16" descr="大网格">
              <a:extLst>
                <a:ext uri="{FF2B5EF4-FFF2-40B4-BE49-F238E27FC236}">
                  <a16:creationId xmlns:a16="http://schemas.microsoft.com/office/drawing/2014/main" id="{49DEED96-3C63-BF1E-C07D-DB0C8BBE6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248"/>
              <a:ext cx="705" cy="288"/>
            </a:xfrm>
            <a:prstGeom prst="rect">
              <a:avLst/>
            </a:prstGeom>
            <a:noFill/>
            <a:ln w="19050" cap="sq">
              <a:solidFill>
                <a:srgbClr val="C5E0B4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17">
              <a:extLst>
                <a:ext uri="{FF2B5EF4-FFF2-40B4-BE49-F238E27FC236}">
                  <a16:creationId xmlns:a16="http://schemas.microsoft.com/office/drawing/2014/main" id="{511D0276-CCD1-CFA8-EC69-21E7FCFEFB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75677">
              <a:off x="1538" y="1497"/>
              <a:ext cx="48" cy="720"/>
            </a:xfrm>
            <a:prstGeom prst="downArrow">
              <a:avLst>
                <a:gd name="adj1" fmla="val 50000"/>
                <a:gd name="adj2" fmla="val 375000"/>
              </a:avLst>
            </a:prstGeom>
            <a:solidFill>
              <a:srgbClr val="C5E0B4"/>
            </a:solidFill>
            <a:ln w="12700" cap="sq">
              <a:solidFill>
                <a:srgbClr val="C5E0B4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" name="Text Box 18" descr="大网格">
            <a:extLst>
              <a:ext uri="{FF2B5EF4-FFF2-40B4-BE49-F238E27FC236}">
                <a16:creationId xmlns:a16="http://schemas.microsoft.com/office/drawing/2014/main" id="{8EB77EDA-9334-7EC5-D6D7-0030ACFD7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5161" y="4036039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C5E0B4"/>
                </a:solidFill>
                <a:latin typeface="Cambria Math" panose="02040503050406030204" charset="0"/>
                <a:ea typeface="黑体" panose="02010609060101010101" pitchFamily="49" charset="-122"/>
              </a:rPr>
              <a:t>积分变量</a:t>
            </a:r>
          </a:p>
        </p:txBody>
      </p:sp>
      <p:sp>
        <p:nvSpPr>
          <p:cNvPr id="29" name="Text Box 19" descr="大网格">
            <a:extLst>
              <a:ext uri="{FF2B5EF4-FFF2-40B4-BE49-F238E27FC236}">
                <a16:creationId xmlns:a16="http://schemas.microsoft.com/office/drawing/2014/main" id="{01F79123-7F78-369B-F085-8F96D02A8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962" y="4036039"/>
            <a:ext cx="615553" cy="188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B0F0"/>
                </a:solidFill>
                <a:latin typeface="Cambria Math" panose="02040503050406030204" charset="0"/>
                <a:ea typeface="黑体" panose="02010609060101010101" pitchFamily="49" charset="-122"/>
              </a:rPr>
              <a:t>被积表达式</a:t>
            </a:r>
          </a:p>
        </p:txBody>
      </p:sp>
      <p:grpSp>
        <p:nvGrpSpPr>
          <p:cNvPr id="30" name="Group 20">
            <a:extLst>
              <a:ext uri="{FF2B5EF4-FFF2-40B4-BE49-F238E27FC236}">
                <a16:creationId xmlns:a16="http://schemas.microsoft.com/office/drawing/2014/main" id="{191DEBAA-AE40-60DF-4013-DC5ADFF7703D}"/>
              </a:ext>
            </a:extLst>
          </p:cNvPr>
          <p:cNvGrpSpPr>
            <a:grpSpLocks/>
          </p:cNvGrpSpPr>
          <p:nvPr/>
        </p:nvGrpSpPr>
        <p:grpSpPr bwMode="auto">
          <a:xfrm>
            <a:off x="3854226" y="2512134"/>
            <a:ext cx="2260504" cy="1486112"/>
            <a:chOff x="784" y="1920"/>
            <a:chExt cx="1270" cy="826"/>
          </a:xfrm>
        </p:grpSpPr>
        <p:sp>
          <p:nvSpPr>
            <p:cNvPr id="31" name="Rectangle 21" descr="大网格">
              <a:extLst>
                <a:ext uri="{FF2B5EF4-FFF2-40B4-BE49-F238E27FC236}">
                  <a16:creationId xmlns:a16="http://schemas.microsoft.com/office/drawing/2014/main" id="{273F41FD-BA84-8E5A-77C9-49DE64BC6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" y="1920"/>
              <a:ext cx="1035" cy="460"/>
            </a:xfrm>
            <a:prstGeom prst="rect">
              <a:avLst/>
            </a:prstGeom>
            <a:noFill/>
            <a:ln w="38100" cap="sq">
              <a:solidFill>
                <a:srgbClr val="00B0F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2">
              <a:extLst>
                <a:ext uri="{FF2B5EF4-FFF2-40B4-BE49-F238E27FC236}">
                  <a16:creationId xmlns:a16="http://schemas.microsoft.com/office/drawing/2014/main" id="{3B38B9B9-DB9B-7BB0-C6FF-FC1B86782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8" y="2380"/>
              <a:ext cx="236" cy="366"/>
            </a:xfrm>
            <a:prstGeom prst="line">
              <a:avLst/>
            </a:prstGeom>
            <a:noFill/>
            <a:ln w="38100" cap="sq">
              <a:solidFill>
                <a:srgbClr val="00B0F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" name="Group 23">
            <a:extLst>
              <a:ext uri="{FF2B5EF4-FFF2-40B4-BE49-F238E27FC236}">
                <a16:creationId xmlns:a16="http://schemas.microsoft.com/office/drawing/2014/main" id="{1B70C3D0-C9D4-9230-A945-8B0D9C886F12}"/>
              </a:ext>
            </a:extLst>
          </p:cNvPr>
          <p:cNvGrpSpPr>
            <a:grpSpLocks/>
          </p:cNvGrpSpPr>
          <p:nvPr/>
        </p:nvGrpSpPr>
        <p:grpSpPr bwMode="auto">
          <a:xfrm rot="795106">
            <a:off x="5127032" y="2730480"/>
            <a:ext cx="1860836" cy="811580"/>
            <a:chOff x="1632" y="1104"/>
            <a:chExt cx="1690" cy="654"/>
          </a:xfrm>
        </p:grpSpPr>
        <p:sp>
          <p:nvSpPr>
            <p:cNvPr id="34" name="Oval 24" descr="大网格">
              <a:extLst>
                <a:ext uri="{FF2B5EF4-FFF2-40B4-BE49-F238E27FC236}">
                  <a16:creationId xmlns:a16="http://schemas.microsoft.com/office/drawing/2014/main" id="{E85E977E-7A3A-53BE-E7D2-D539479B5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104"/>
              <a:ext cx="528" cy="480"/>
            </a:xfrm>
            <a:prstGeom prst="ellipse">
              <a:avLst/>
            </a:prstGeom>
            <a:noFill/>
            <a:ln w="28575" cap="sq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AutoShape 25">
              <a:extLst>
                <a:ext uri="{FF2B5EF4-FFF2-40B4-BE49-F238E27FC236}">
                  <a16:creationId xmlns:a16="http://schemas.microsoft.com/office/drawing/2014/main" id="{8C011550-373C-790C-EADD-5DD22D10E5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650697">
              <a:off x="2656" y="1091"/>
              <a:ext cx="68" cy="1265"/>
            </a:xfrm>
            <a:prstGeom prst="downArrow">
              <a:avLst>
                <a:gd name="adj1" fmla="val 50000"/>
                <a:gd name="adj2" fmla="val 424194"/>
              </a:avLst>
            </a:prstGeom>
            <a:solidFill>
              <a:srgbClr val="3333CC"/>
            </a:solidFill>
            <a:ln w="1270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" name="Text Box 26" descr="大网格">
            <a:extLst>
              <a:ext uri="{FF2B5EF4-FFF2-40B4-BE49-F238E27FC236}">
                <a16:creationId xmlns:a16="http://schemas.microsoft.com/office/drawing/2014/main" id="{E3AF983F-C9C2-9EB5-2331-7F4D7C1B6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673" y="4036039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3333CC"/>
                </a:solidFill>
                <a:latin typeface="Cambria Math" panose="02040503050406030204" charset="0"/>
                <a:ea typeface="黑体" panose="02010609060101010101" pitchFamily="49" charset="-122"/>
              </a:rPr>
              <a:t>面积元素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对象 36">
                <a:extLst>
                  <a:ext uri="{FF2B5EF4-FFF2-40B4-BE49-F238E27FC236}">
                    <a16:creationId xmlns:a16="http://schemas.microsoft.com/office/drawing/2014/main" id="{BBDF2CC3-77FA-BCBC-2937-216C9AEF3FC4}"/>
                  </a:ext>
                </a:extLst>
              </p:cNvPr>
              <p:cNvSpPr txBox="1"/>
              <p:nvPr/>
            </p:nvSpPr>
            <p:spPr>
              <a:xfrm>
                <a:off x="3220997" y="2309388"/>
                <a:ext cx="6757987" cy="134595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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对象 36">
                <a:extLst>
                  <a:ext uri="{FF2B5EF4-FFF2-40B4-BE49-F238E27FC236}">
                    <a16:creationId xmlns:a16="http://schemas.microsoft.com/office/drawing/2014/main" id="{BBDF2CC3-77FA-BCBC-2937-216C9AEF3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997" y="2309388"/>
                <a:ext cx="6757987" cy="13459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57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75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 autoUpdateAnimBg="0"/>
      <p:bldP spid="20" grpId="0" autoUpdateAnimBg="0"/>
      <p:bldP spid="24" grpId="0" autoUpdateAnimBg="0"/>
      <p:bldP spid="28" grpId="0" autoUpdateAnimBg="0"/>
      <p:bldP spid="29" grpId="0" autoUpdateAnimBg="0"/>
      <p:bldP spid="36" grpId="0" autoUpdateAnimBg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862AC8E1-5737-B39A-1499-7E718FDEDABE}"/>
              </a:ext>
            </a:extLst>
          </p:cNvPr>
          <p:cNvGrpSpPr/>
          <p:nvPr/>
        </p:nvGrpSpPr>
        <p:grpSpPr>
          <a:xfrm>
            <a:off x="-3175" y="-635"/>
            <a:ext cx="12195175" cy="6858000"/>
            <a:chOff x="-3175" y="-635"/>
            <a:chExt cx="12195175" cy="6858000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73642D25-BD8F-617F-FF63-4E4D63730D20}"/>
                </a:ext>
              </a:extLst>
            </p:cNvPr>
            <p:cNvGrpSpPr/>
            <p:nvPr/>
          </p:nvGrpSpPr>
          <p:grpSpPr>
            <a:xfrm>
              <a:off x="-3175" y="-635"/>
              <a:ext cx="12195175" cy="6858000"/>
              <a:chOff x="-20" y="-21"/>
              <a:chExt cx="19205" cy="10800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D3E650E-01DE-B1AD-2312-3020A0F93B57}"/>
                  </a:ext>
                </a:extLst>
              </p:cNvPr>
              <p:cNvGrpSpPr/>
              <p:nvPr/>
            </p:nvGrpSpPr>
            <p:grpSpPr>
              <a:xfrm>
                <a:off x="-20" y="-21"/>
                <a:ext cx="19205" cy="10800"/>
                <a:chOff x="0" y="0"/>
                <a:chExt cx="19205" cy="10800"/>
              </a:xfrm>
            </p:grpSpPr>
            <p:sp>
              <p:nvSpPr>
                <p:cNvPr id="66" name="Rectangle 1">
                  <a:extLst>
                    <a:ext uri="{FF2B5EF4-FFF2-40B4-BE49-F238E27FC236}">
                      <a16:creationId xmlns:a16="http://schemas.microsoft.com/office/drawing/2014/main" id="{60BA3B3C-E1B2-0A9A-B86D-9CB0BCA8DF1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205" cy="10800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9E47"/>
                    </a:gs>
                    <a:gs pos="55000">
                      <a:srgbClr val="039463"/>
                    </a:gs>
                    <a:gs pos="100000">
                      <a:srgbClr val="068885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PA-102231">
                  <a:extLst>
                    <a:ext uri="{FF2B5EF4-FFF2-40B4-BE49-F238E27FC236}">
                      <a16:creationId xmlns:a16="http://schemas.microsoft.com/office/drawing/2014/main" id="{B9493372-2000-D813-0F69-A02FE8A3B6FE}"/>
                    </a:ext>
                  </a:extLst>
                </p:cNvPr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798" y="10042"/>
                  <a:ext cx="8533" cy="169"/>
                </a:xfrm>
                <a:prstGeom prst="rect">
                  <a:avLst/>
                </a:prstGeom>
                <a:solidFill>
                  <a:srgbClr val="068884"/>
                </a:solidFill>
                <a:ln>
                  <a:noFill/>
                </a:ln>
                <a:effectLst>
                  <a:outerShdw blurRad="203200" dist="63500" dir="30000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ln>
                      <a:solidFill>
                        <a:schemeClr val="bg1">
                          <a:lumMod val="95000"/>
                        </a:schemeClr>
                      </a:solidFill>
                    </a:ln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PA-102231">
                  <a:extLst>
                    <a:ext uri="{FF2B5EF4-FFF2-40B4-BE49-F238E27FC236}">
                      <a16:creationId xmlns:a16="http://schemas.microsoft.com/office/drawing/2014/main" id="{B876E9F8-E5B9-00FF-05D3-BF5C2420305C}"/>
                    </a:ext>
                  </a:extLst>
                </p:cNvPr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9858" y="10050"/>
                  <a:ext cx="8533" cy="162"/>
                </a:xfrm>
                <a:prstGeom prst="rect">
                  <a:avLst/>
                </a:prstGeom>
                <a:solidFill>
                  <a:srgbClr val="068884"/>
                </a:solidFill>
                <a:ln>
                  <a:noFill/>
                </a:ln>
                <a:effectLst>
                  <a:outerShdw blurRad="203200" dist="63500" dir="30000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ln>
                      <a:solidFill>
                        <a:schemeClr val="bg1">
                          <a:lumMod val="95000"/>
                        </a:schemeClr>
                      </a:solidFill>
                    </a:ln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5" name="矩形: 折角 16">
                <a:extLst>
                  <a:ext uri="{FF2B5EF4-FFF2-40B4-BE49-F238E27FC236}">
                    <a16:creationId xmlns:a16="http://schemas.microsoft.com/office/drawing/2014/main" id="{361CB684-F61D-B5E4-38EB-F645FDBD3914}"/>
                  </a:ext>
                </a:extLst>
              </p:cNvPr>
              <p:cNvSpPr/>
              <p:nvPr/>
            </p:nvSpPr>
            <p:spPr>
              <a:xfrm rot="10800000">
                <a:off x="230" y="248"/>
                <a:ext cx="18709" cy="10259"/>
              </a:xfrm>
              <a:prstGeom prst="foldedCorner">
                <a:avLst>
                  <a:gd name="adj" fmla="val 10200"/>
                </a:avLst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8" name="Rectangle 1">
              <a:extLst>
                <a:ext uri="{FF2B5EF4-FFF2-40B4-BE49-F238E27FC236}">
                  <a16:creationId xmlns:a16="http://schemas.microsoft.com/office/drawing/2014/main" id="{BE3E59B5-AFA1-324D-91A7-D03211DAFF52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>
              <a:extLst>
                <a:ext uri="{FF2B5EF4-FFF2-40B4-BE49-F238E27FC236}">
                  <a16:creationId xmlns:a16="http://schemas.microsoft.com/office/drawing/2014/main" id="{2191ACD3-14C4-38FA-4F8C-FA6C76ABCA36}"/>
                </a:ext>
              </a:extLst>
            </p:cNvPr>
            <p:cNvSpPr/>
            <p:nvPr userDrawn="1"/>
          </p:nvSpPr>
          <p:spPr>
            <a:xfrm rot="2659048">
              <a:off x="9060538" y="3105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223B1A88-212F-2835-7F01-4BA85CAE8CC3}"/>
                </a:ext>
              </a:extLst>
            </p:cNvPr>
            <p:cNvSpPr/>
            <p:nvPr/>
          </p:nvSpPr>
          <p:spPr>
            <a:xfrm>
              <a:off x="476885" y="63588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对面积的曲面积分</a:t>
              </a: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F458117A-BE13-03CF-D558-C59C99FF9194}"/>
                </a:ext>
              </a:extLst>
            </p:cNvPr>
            <p:cNvSpPr/>
            <p:nvPr/>
          </p:nvSpPr>
          <p:spPr>
            <a:xfrm>
              <a:off x="9315710" y="226657"/>
              <a:ext cx="27029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D97E8AAA-DAF9-7D5A-D232-21DE1F3B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3555" y="380545"/>
              <a:ext cx="8290137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B5C6FDC3-F790-3E2F-E119-3938E01DB6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12242"/>
              <a:ext cx="925449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 Box 9">
            <a:extLst>
              <a:ext uri="{FF2B5EF4-FFF2-40B4-BE49-F238E27FC236}">
                <a16:creationId xmlns:a16="http://schemas.microsoft.com/office/drawing/2014/main" id="{89E411E1-CBE9-BEEE-13BA-5CB3C88D1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807" y="1783462"/>
            <a:ext cx="63451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3">
                <a:extLst>
                  <a:ext uri="{FF2B5EF4-FFF2-40B4-BE49-F238E27FC236}">
                    <a16:creationId xmlns:a16="http://schemas.microsoft.com/office/drawing/2014/main" id="{5F76A066-9968-F614-58F9-9847620E7086}"/>
                  </a:ext>
                </a:extLst>
              </p:cNvPr>
              <p:cNvSpPr txBox="1"/>
              <p:nvPr/>
            </p:nvSpPr>
            <p:spPr bwMode="auto">
              <a:xfrm>
                <a:off x="5310369" y="3629110"/>
                <a:ext cx="5014224" cy="12346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问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el-GR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表示什么？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33">
                <a:extLst>
                  <a:ext uri="{FF2B5EF4-FFF2-40B4-BE49-F238E27FC236}">
                    <a16:creationId xmlns:a16="http://schemas.microsoft.com/office/drawing/2014/main" id="{5F76A066-9968-F614-58F9-9847620E7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0369" y="3629110"/>
                <a:ext cx="5014224" cy="1234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34">
                <a:extLst>
                  <a:ext uri="{FF2B5EF4-FFF2-40B4-BE49-F238E27FC236}">
                    <a16:creationId xmlns:a16="http://schemas.microsoft.com/office/drawing/2014/main" id="{BAC67D4A-4428-B4A6-D1AB-385A06E49E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8930" y="4800426"/>
                <a:ext cx="796230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kumimoji="1" lang="zh-CN" altLang="en-US" sz="2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二重积分是否可看作对面积曲面积分的特例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? </a:t>
                </a:r>
              </a:p>
            </p:txBody>
          </p:sp>
        </mc:Choice>
        <mc:Fallback xmlns="">
          <p:sp>
            <p:nvSpPr>
              <p:cNvPr id="25" name="Text Box 34">
                <a:extLst>
                  <a:ext uri="{FF2B5EF4-FFF2-40B4-BE49-F238E27FC236}">
                    <a16:creationId xmlns:a16="http://schemas.microsoft.com/office/drawing/2014/main" id="{BAC67D4A-4428-B4A6-D1AB-385A06E49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930" y="4800426"/>
                <a:ext cx="7962308" cy="523220"/>
              </a:xfrm>
              <a:prstGeom prst="rect">
                <a:avLst/>
              </a:prstGeom>
              <a:blipFill>
                <a:blip r:embed="rId5"/>
                <a:stretch>
                  <a:fillRect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35">
            <a:extLst>
              <a:ext uri="{FF2B5EF4-FFF2-40B4-BE49-F238E27FC236}">
                <a16:creationId xmlns:a16="http://schemas.microsoft.com/office/drawing/2014/main" id="{4C3D5A9F-7D2C-ECC2-43BC-1DB8A8171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930" y="5601503"/>
            <a:ext cx="724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否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37">
                <a:extLst>
                  <a:ext uri="{FF2B5EF4-FFF2-40B4-BE49-F238E27FC236}">
                    <a16:creationId xmlns:a16="http://schemas.microsoft.com/office/drawing/2014/main" id="{7CEBEF8C-F60C-95E9-E401-17E836EDC3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2403" y="5587216"/>
                <a:ext cx="503913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对面积的曲线积分要求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d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𝑆</m:t>
                    </m:r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</a:rPr>
                  <a:t>≥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0 ,</a:t>
                </a:r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Text Box 37">
                <a:extLst>
                  <a:ext uri="{FF2B5EF4-FFF2-40B4-BE49-F238E27FC236}">
                    <a16:creationId xmlns:a16="http://schemas.microsoft.com/office/drawing/2014/main" id="{7CEBEF8C-F60C-95E9-E401-17E836EDC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2403" y="5587216"/>
                <a:ext cx="5039136" cy="523220"/>
              </a:xfrm>
              <a:prstGeom prst="rect">
                <a:avLst/>
              </a:prstGeom>
              <a:blipFill>
                <a:blip r:embed="rId6"/>
                <a:stretch>
                  <a:fillRect l="-2418" t="-16471" r="-145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38">
            <a:extLst>
              <a:ext uri="{FF2B5EF4-FFF2-40B4-BE49-F238E27FC236}">
                <a16:creationId xmlns:a16="http://schemas.microsoft.com/office/drawing/2014/main" id="{3A7AC243-1BCC-1544-71B9-B2C2CC376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185" y="5581593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但二重积分中</a:t>
            </a:r>
          </a:p>
        </p:txBody>
      </p:sp>
      <p:sp>
        <p:nvSpPr>
          <p:cNvPr id="29" name="对象 28">
            <a:extLst>
              <a:ext uri="{FF2B5EF4-FFF2-40B4-BE49-F238E27FC236}">
                <a16:creationId xmlns:a16="http://schemas.microsoft.com/office/drawing/2014/main" id="{C71F06D5-6380-57F0-A9E6-EB30734DFC76}"/>
              </a:ext>
            </a:extLst>
          </p:cNvPr>
          <p:cNvSpPr txBox="1"/>
          <p:nvPr/>
        </p:nvSpPr>
        <p:spPr>
          <a:xfrm>
            <a:off x="5972629" y="3585028"/>
            <a:ext cx="914400" cy="34607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7">
                <a:extLst>
                  <a:ext uri="{FF2B5EF4-FFF2-40B4-BE49-F238E27FC236}">
                    <a16:creationId xmlns:a16="http://schemas.microsoft.com/office/drawing/2014/main" id="{DBBA67CF-F122-3ABB-0C20-7AC498008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930" y="2340221"/>
                <a:ext cx="368549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kumimoji="1" lang="zh-CN" altLang="en-US" sz="2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曲面形构件的质量</a:t>
                </a:r>
              </a:p>
            </p:txBody>
          </p:sp>
        </mc:Choice>
        <mc:Fallback xmlns="">
          <p:sp>
            <p:nvSpPr>
              <p:cNvPr id="30" name="Rectangle 7">
                <a:extLst>
                  <a:ext uri="{FF2B5EF4-FFF2-40B4-BE49-F238E27FC236}">
                    <a16:creationId xmlns:a16="http://schemas.microsoft.com/office/drawing/2014/main" id="{DBBA67CF-F122-3ABB-0C20-7AC4980081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930" y="2340221"/>
                <a:ext cx="3685496" cy="523220"/>
              </a:xfrm>
              <a:prstGeom prst="rect">
                <a:avLst/>
              </a:prstGeom>
              <a:blipFill>
                <a:blip r:embed="rId7"/>
                <a:stretch>
                  <a:fillRect t="-16279" r="-662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对象 30">
                <a:extLst>
                  <a:ext uri="{FF2B5EF4-FFF2-40B4-BE49-F238E27FC236}">
                    <a16:creationId xmlns:a16="http://schemas.microsoft.com/office/drawing/2014/main" id="{E509E27E-5B03-7AE3-B1F9-500FC1B87BE3}"/>
                  </a:ext>
                </a:extLst>
              </p:cNvPr>
              <p:cNvSpPr txBox="1"/>
              <p:nvPr/>
            </p:nvSpPr>
            <p:spPr>
              <a:xfrm>
                <a:off x="5319401" y="953101"/>
                <a:ext cx="2601982" cy="121809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对象 30">
                <a:extLst>
                  <a:ext uri="{FF2B5EF4-FFF2-40B4-BE49-F238E27FC236}">
                    <a16:creationId xmlns:a16="http://schemas.microsoft.com/office/drawing/2014/main" id="{E509E27E-5B03-7AE3-B1F9-500FC1B87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401" y="953101"/>
                <a:ext cx="2601982" cy="12180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对象 32">
                <a:extLst>
                  <a:ext uri="{FF2B5EF4-FFF2-40B4-BE49-F238E27FC236}">
                    <a16:creationId xmlns:a16="http://schemas.microsoft.com/office/drawing/2014/main" id="{6F7B049F-EA37-83D7-6CFE-E83CBF99F32B}"/>
                  </a:ext>
                </a:extLst>
              </p:cNvPr>
              <p:cNvSpPr txBox="1"/>
              <p:nvPr/>
            </p:nvSpPr>
            <p:spPr>
              <a:xfrm>
                <a:off x="1258930" y="1222405"/>
                <a:ext cx="4575813" cy="4064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如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果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是闭曲面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则记为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3" name="对象 32">
                <a:extLst>
                  <a:ext uri="{FF2B5EF4-FFF2-40B4-BE49-F238E27FC236}">
                    <a16:creationId xmlns:a16="http://schemas.microsoft.com/office/drawing/2014/main" id="{6F7B049F-EA37-83D7-6CFE-E83CBF99F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30" y="1222405"/>
                <a:ext cx="4575813" cy="406400"/>
              </a:xfrm>
              <a:prstGeom prst="rect">
                <a:avLst/>
              </a:prstGeom>
              <a:blipFill>
                <a:blip r:embed="rId9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对象 33">
                <a:extLst>
                  <a:ext uri="{FF2B5EF4-FFF2-40B4-BE49-F238E27FC236}">
                    <a16:creationId xmlns:a16="http://schemas.microsoft.com/office/drawing/2014/main" id="{A14A088E-B928-0471-FF5E-9FDD689263CD}"/>
                  </a:ext>
                </a:extLst>
              </p:cNvPr>
              <p:cNvSpPr txBox="1"/>
              <p:nvPr/>
            </p:nvSpPr>
            <p:spPr>
              <a:xfrm>
                <a:off x="1258930" y="3906549"/>
                <a:ext cx="4647338" cy="47583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若在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)≡1,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对象 33">
                <a:extLst>
                  <a:ext uri="{FF2B5EF4-FFF2-40B4-BE49-F238E27FC236}">
                    <a16:creationId xmlns:a16="http://schemas.microsoft.com/office/drawing/2014/main" id="{A14A088E-B928-0471-FF5E-9FDD68926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30" y="3906549"/>
                <a:ext cx="4647338" cy="4758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对象 34">
                <a:extLst>
                  <a:ext uri="{FF2B5EF4-FFF2-40B4-BE49-F238E27FC236}">
                    <a16:creationId xmlns:a16="http://schemas.microsoft.com/office/drawing/2014/main" id="{8D2251CA-401C-A53B-F27E-7179B79A962A}"/>
                  </a:ext>
                </a:extLst>
              </p:cNvPr>
              <p:cNvSpPr txBox="1"/>
              <p:nvPr/>
            </p:nvSpPr>
            <p:spPr>
              <a:xfrm>
                <a:off x="8939613" y="5552559"/>
                <a:ext cx="2402114" cy="52039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可能为负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对象 34">
                <a:extLst>
                  <a:ext uri="{FF2B5EF4-FFF2-40B4-BE49-F238E27FC236}">
                    <a16:creationId xmlns:a16="http://schemas.microsoft.com/office/drawing/2014/main" id="{8D2251CA-401C-A53B-F27E-7179B79A9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613" y="5552559"/>
                <a:ext cx="2402114" cy="5203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组合 50">
            <a:extLst>
              <a:ext uri="{FF2B5EF4-FFF2-40B4-BE49-F238E27FC236}">
                <a16:creationId xmlns:a16="http://schemas.microsoft.com/office/drawing/2014/main" id="{6AF0E7A2-E773-B925-FA2D-008261B82DBB}"/>
              </a:ext>
            </a:extLst>
          </p:cNvPr>
          <p:cNvGrpSpPr/>
          <p:nvPr/>
        </p:nvGrpSpPr>
        <p:grpSpPr>
          <a:xfrm>
            <a:off x="1258931" y="508720"/>
            <a:ext cx="612775" cy="612775"/>
            <a:chOff x="1601" y="872"/>
            <a:chExt cx="965" cy="965"/>
          </a:xfrm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35BF9FA6-D597-1C8D-670A-0CDD70D7ED96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C38A367-D889-368D-CEC4-AFDA709964B6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60551852-C989-62BB-D18E-1C0F007F5AC6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对象 30">
                <a:extLst>
                  <a:ext uri="{FF2B5EF4-FFF2-40B4-BE49-F238E27FC236}">
                    <a16:creationId xmlns:a16="http://schemas.microsoft.com/office/drawing/2014/main" id="{D2FFEC35-C630-9EDD-20E7-D5DA35008B4E}"/>
                  </a:ext>
                </a:extLst>
              </p:cNvPr>
              <p:cNvSpPr txBox="1"/>
              <p:nvPr/>
            </p:nvSpPr>
            <p:spPr>
              <a:xfrm>
                <a:off x="4695372" y="2052213"/>
                <a:ext cx="3468914" cy="113553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𝑀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5" name="对象 30">
                <a:extLst>
                  <a:ext uri="{FF2B5EF4-FFF2-40B4-BE49-F238E27FC236}">
                    <a16:creationId xmlns:a16="http://schemas.microsoft.com/office/drawing/2014/main" id="{D2FFEC35-C630-9EDD-20E7-D5DA35008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372" y="2052213"/>
                <a:ext cx="3468914" cy="1135536"/>
              </a:xfrm>
              <a:prstGeom prst="rect">
                <a:avLst/>
              </a:prstGeom>
              <a:blipFill>
                <a:blip r:embed="rId12"/>
                <a:stretch>
                  <a:fillRect b="-2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B1455A6E-F7C0-7E40-6B3F-904F5011E8F9}"/>
              </a:ext>
            </a:extLst>
          </p:cNvPr>
          <p:cNvGrpSpPr/>
          <p:nvPr/>
        </p:nvGrpSpPr>
        <p:grpSpPr>
          <a:xfrm>
            <a:off x="1351323" y="3223437"/>
            <a:ext cx="962025" cy="448945"/>
            <a:chOff x="1553" y="3803"/>
            <a:chExt cx="1515" cy="707"/>
          </a:xfrm>
        </p:grpSpPr>
        <p:sp>
          <p:nvSpPr>
            <p:cNvPr id="3" name="圆角矩形 57">
              <a:extLst>
                <a:ext uri="{FF2B5EF4-FFF2-40B4-BE49-F238E27FC236}">
                  <a16:creationId xmlns:a16="http://schemas.microsoft.com/office/drawing/2014/main" id="{3D1542AB-75A8-6FB2-B172-C4B058A839C1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DE1EB108-156F-422F-D252-F2F8D9138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思考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407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30" grpId="0"/>
      <p:bldP spid="31" grpId="0"/>
      <p:bldP spid="33" grpId="0"/>
      <p:bldP spid="34" grpId="0"/>
      <p:bldP spid="35" grpId="0"/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D88B935B-91B2-A612-B72A-34E4E68CC4B0}"/>
              </a:ext>
            </a:extLst>
          </p:cNvPr>
          <p:cNvGrpSpPr/>
          <p:nvPr/>
        </p:nvGrpSpPr>
        <p:grpSpPr>
          <a:xfrm>
            <a:off x="-3175" y="-635"/>
            <a:ext cx="12195175" cy="6858000"/>
            <a:chOff x="-3175" y="-635"/>
            <a:chExt cx="12195175" cy="6858000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88330679-26C6-CC36-D5B2-37ED9D0CB19C}"/>
                </a:ext>
              </a:extLst>
            </p:cNvPr>
            <p:cNvGrpSpPr/>
            <p:nvPr/>
          </p:nvGrpSpPr>
          <p:grpSpPr>
            <a:xfrm>
              <a:off x="-3175" y="-635"/>
              <a:ext cx="12195175" cy="6858000"/>
              <a:chOff x="-20" y="-21"/>
              <a:chExt cx="19205" cy="10800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8FF3A4F5-A0CA-1586-0391-D2D384A5AD1F}"/>
                  </a:ext>
                </a:extLst>
              </p:cNvPr>
              <p:cNvGrpSpPr/>
              <p:nvPr/>
            </p:nvGrpSpPr>
            <p:grpSpPr>
              <a:xfrm>
                <a:off x="-20" y="-21"/>
                <a:ext cx="19205" cy="10800"/>
                <a:chOff x="0" y="0"/>
                <a:chExt cx="19205" cy="10800"/>
              </a:xfrm>
            </p:grpSpPr>
            <p:sp>
              <p:nvSpPr>
                <p:cNvPr id="66" name="Rectangle 1">
                  <a:extLst>
                    <a:ext uri="{FF2B5EF4-FFF2-40B4-BE49-F238E27FC236}">
                      <a16:creationId xmlns:a16="http://schemas.microsoft.com/office/drawing/2014/main" id="{4A17F987-955C-251D-5311-FB9FC3B0582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205" cy="10800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9E47"/>
                    </a:gs>
                    <a:gs pos="55000">
                      <a:srgbClr val="039463"/>
                    </a:gs>
                    <a:gs pos="100000">
                      <a:srgbClr val="068885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PA-102231">
                  <a:extLst>
                    <a:ext uri="{FF2B5EF4-FFF2-40B4-BE49-F238E27FC236}">
                      <a16:creationId xmlns:a16="http://schemas.microsoft.com/office/drawing/2014/main" id="{B83F7A68-D66A-0EA2-9BE4-548DACE7FD43}"/>
                    </a:ext>
                  </a:extLst>
                </p:cNvPr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798" y="10042"/>
                  <a:ext cx="8533" cy="169"/>
                </a:xfrm>
                <a:prstGeom prst="rect">
                  <a:avLst/>
                </a:prstGeom>
                <a:solidFill>
                  <a:srgbClr val="068884"/>
                </a:solidFill>
                <a:ln>
                  <a:noFill/>
                </a:ln>
                <a:effectLst>
                  <a:outerShdw blurRad="203200" dist="63500" dir="30000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ln>
                      <a:solidFill>
                        <a:schemeClr val="bg1">
                          <a:lumMod val="95000"/>
                        </a:schemeClr>
                      </a:solidFill>
                    </a:ln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PA-102231">
                  <a:extLst>
                    <a:ext uri="{FF2B5EF4-FFF2-40B4-BE49-F238E27FC236}">
                      <a16:creationId xmlns:a16="http://schemas.microsoft.com/office/drawing/2014/main" id="{D233CB1F-86B7-C94C-CF91-A34EC66423A5}"/>
                    </a:ext>
                  </a:extLst>
                </p:cNvPr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9858" y="10050"/>
                  <a:ext cx="8533" cy="162"/>
                </a:xfrm>
                <a:prstGeom prst="rect">
                  <a:avLst/>
                </a:prstGeom>
                <a:solidFill>
                  <a:srgbClr val="068884"/>
                </a:solidFill>
                <a:ln>
                  <a:noFill/>
                </a:ln>
                <a:effectLst>
                  <a:outerShdw blurRad="203200" dist="63500" dir="30000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ln>
                      <a:solidFill>
                        <a:schemeClr val="bg1">
                          <a:lumMod val="95000"/>
                        </a:schemeClr>
                      </a:solidFill>
                    </a:ln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5" name="矩形: 折角 16">
                <a:extLst>
                  <a:ext uri="{FF2B5EF4-FFF2-40B4-BE49-F238E27FC236}">
                    <a16:creationId xmlns:a16="http://schemas.microsoft.com/office/drawing/2014/main" id="{49785DAB-7413-FF2C-8529-9E6DD22422AD}"/>
                  </a:ext>
                </a:extLst>
              </p:cNvPr>
              <p:cNvSpPr/>
              <p:nvPr/>
            </p:nvSpPr>
            <p:spPr>
              <a:xfrm rot="10800000">
                <a:off x="230" y="248"/>
                <a:ext cx="18709" cy="10259"/>
              </a:xfrm>
              <a:prstGeom prst="foldedCorner">
                <a:avLst>
                  <a:gd name="adj" fmla="val 10200"/>
                </a:avLst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8" name="Rectangle 1">
              <a:extLst>
                <a:ext uri="{FF2B5EF4-FFF2-40B4-BE49-F238E27FC236}">
                  <a16:creationId xmlns:a16="http://schemas.microsoft.com/office/drawing/2014/main" id="{283633B5-BEA5-AF2E-7ADB-FACB41C63CB0}"/>
                </a:ext>
              </a:extLst>
            </p:cNvPr>
            <p:cNvSpPr/>
            <p:nvPr userDrawn="1"/>
          </p:nvSpPr>
          <p:spPr>
            <a:xfrm>
              <a:off x="297498" y="64715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1">
              <a:extLst>
                <a:ext uri="{FF2B5EF4-FFF2-40B4-BE49-F238E27FC236}">
                  <a16:creationId xmlns:a16="http://schemas.microsoft.com/office/drawing/2014/main" id="{4E48A362-05D3-B0F2-59FA-1233A690DF22}"/>
                </a:ext>
              </a:extLst>
            </p:cNvPr>
            <p:cNvSpPr/>
            <p:nvPr userDrawn="1"/>
          </p:nvSpPr>
          <p:spPr>
            <a:xfrm rot="2659048">
              <a:off x="9060538" y="3105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46E652DC-B49B-C2AF-FCE1-379FAD88423D}"/>
                </a:ext>
              </a:extLst>
            </p:cNvPr>
            <p:cNvSpPr/>
            <p:nvPr/>
          </p:nvSpPr>
          <p:spPr>
            <a:xfrm>
              <a:off x="476885" y="63588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对面积的曲面积分</a:t>
              </a: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1ACA3F5F-AF95-7EBA-CB49-133880FBAE6A}"/>
                </a:ext>
              </a:extLst>
            </p:cNvPr>
            <p:cNvSpPr/>
            <p:nvPr/>
          </p:nvSpPr>
          <p:spPr>
            <a:xfrm>
              <a:off x="9315710" y="2266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CE9C85A-A9B4-DE6D-11D2-D672F65BE6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03555" y="380545"/>
              <a:ext cx="8290137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AB7F9C26-43E5-0885-088B-2F1DB27C3B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81300" y="6512242"/>
              <a:ext cx="925449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8B270434-3B09-47EE-BDDE-AF03B5976BB3}"/>
              </a:ext>
            </a:extLst>
          </p:cNvPr>
          <p:cNvSpPr txBox="1"/>
          <p:nvPr/>
        </p:nvSpPr>
        <p:spPr bwMode="auto">
          <a:xfrm>
            <a:off x="1584787" y="539234"/>
            <a:ext cx="1356462" cy="523220"/>
          </a:xfrm>
          <a:prstGeom prst="rect">
            <a:avLst/>
          </a:prstGeom>
          <a:noFill/>
          <a:ln w="19050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9">
                <a:extLst>
                  <a:ext uri="{FF2B5EF4-FFF2-40B4-BE49-F238E27FC236}">
                    <a16:creationId xmlns:a16="http://schemas.microsoft.com/office/drawing/2014/main" id="{18E812D3-E4FC-3243-D74C-00BB32F95212}"/>
                  </a:ext>
                </a:extLst>
              </p:cNvPr>
              <p:cNvSpPr txBox="1"/>
              <p:nvPr/>
            </p:nvSpPr>
            <p:spPr bwMode="auto">
              <a:xfrm>
                <a:off x="1597487" y="3231312"/>
                <a:ext cx="5012863" cy="5232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可分为分片光滑的曲面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及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 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Object 9">
                <a:extLst>
                  <a:ext uri="{FF2B5EF4-FFF2-40B4-BE49-F238E27FC236}">
                    <a16:creationId xmlns:a16="http://schemas.microsoft.com/office/drawing/2014/main" id="{18E812D3-E4FC-3243-D74C-00BB32F95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7487" y="3231312"/>
                <a:ext cx="5012863" cy="523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对象 40">
                <a:extLst>
                  <a:ext uri="{FF2B5EF4-FFF2-40B4-BE49-F238E27FC236}">
                    <a16:creationId xmlns:a16="http://schemas.microsoft.com/office/drawing/2014/main" id="{C01FC8AD-B844-03FE-20E8-6F3A315B4A58}"/>
                  </a:ext>
                </a:extLst>
              </p:cNvPr>
              <p:cNvSpPr txBox="1"/>
              <p:nvPr/>
            </p:nvSpPr>
            <p:spPr>
              <a:xfrm>
                <a:off x="1597487" y="3675303"/>
                <a:ext cx="7890816" cy="104266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en-US" altLang="zh-CN" sz="22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1" name="对象 40">
                <a:extLst>
                  <a:ext uri="{FF2B5EF4-FFF2-40B4-BE49-F238E27FC236}">
                    <a16:creationId xmlns:a16="http://schemas.microsoft.com/office/drawing/2014/main" id="{C01FC8AD-B844-03FE-20E8-6F3A315B4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487" y="3675303"/>
                <a:ext cx="7890816" cy="10426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Box 22">
            <a:extLst>
              <a:ext uri="{FF2B5EF4-FFF2-40B4-BE49-F238E27FC236}">
                <a16:creationId xmlns:a16="http://schemas.microsoft.com/office/drawing/2014/main" id="{C909D213-2F6A-FF6F-A746-85E0EC165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487" y="1283404"/>
            <a:ext cx="76188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性质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1  (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积分的存在性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)</a:t>
            </a:r>
            <a:endParaRPr kumimoji="1" lang="zh-CN" altLang="en-US" sz="2800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对象 42">
                <a:extLst>
                  <a:ext uri="{FF2B5EF4-FFF2-40B4-BE49-F238E27FC236}">
                    <a16:creationId xmlns:a16="http://schemas.microsoft.com/office/drawing/2014/main" id="{74CD599F-B22D-DE0E-0E92-8E74EFC0B48F}"/>
                  </a:ext>
                </a:extLst>
              </p:cNvPr>
              <p:cNvSpPr txBox="1"/>
              <p:nvPr/>
            </p:nvSpPr>
            <p:spPr>
              <a:xfrm>
                <a:off x="1597487" y="1756051"/>
                <a:ext cx="6946438" cy="97421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若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上连续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则曲面积分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存在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3" name="对象 42">
                <a:extLst>
                  <a:ext uri="{FF2B5EF4-FFF2-40B4-BE49-F238E27FC236}">
                    <a16:creationId xmlns:a16="http://schemas.microsoft.com/office/drawing/2014/main" id="{74CD599F-B22D-DE0E-0E92-8E74EFC0B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487" y="1756051"/>
                <a:ext cx="6946438" cy="9742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矩形 43">
            <a:extLst>
              <a:ext uri="{FF2B5EF4-FFF2-40B4-BE49-F238E27FC236}">
                <a16:creationId xmlns:a16="http://schemas.microsoft.com/office/drawing/2014/main" id="{ACB61FFA-F5D8-427F-0EA2-5D262AA1B4BD}"/>
              </a:ext>
            </a:extLst>
          </p:cNvPr>
          <p:cNvSpPr/>
          <p:nvPr/>
        </p:nvSpPr>
        <p:spPr>
          <a:xfrm>
            <a:off x="1597487" y="2647566"/>
            <a:ext cx="4765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性质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2 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对积分域的可加性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)</a:t>
            </a:r>
            <a:endParaRPr kumimoji="1" lang="zh-CN" altLang="en-US" sz="2800" dirty="0">
              <a:solidFill>
                <a:srgbClr val="04926A"/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  <p:sp>
        <p:nvSpPr>
          <p:cNvPr id="45" name="Text Box 26">
            <a:extLst>
              <a:ext uri="{FF2B5EF4-FFF2-40B4-BE49-F238E27FC236}">
                <a16:creationId xmlns:a16="http://schemas.microsoft.com/office/drawing/2014/main" id="{144E0723-9D2D-0FCC-CAC2-9BE9198F0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487" y="4697634"/>
            <a:ext cx="31459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性质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3  (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线性性质</a:t>
            </a:r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) 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对象 45">
                <a:extLst>
                  <a:ext uri="{FF2B5EF4-FFF2-40B4-BE49-F238E27FC236}">
                    <a16:creationId xmlns:a16="http://schemas.microsoft.com/office/drawing/2014/main" id="{67577D7B-4C03-67FC-B772-FD164EDFDA21}"/>
                  </a:ext>
                </a:extLst>
              </p:cNvPr>
              <p:cNvSpPr txBox="1"/>
              <p:nvPr/>
            </p:nvSpPr>
            <p:spPr>
              <a:xfrm>
                <a:off x="1597487" y="5267200"/>
                <a:ext cx="9891296" cy="104266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)±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2400" i="1" dirty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g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4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 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±</m:t>
                          </m:r>
                        </m:e>
                      </m:nary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4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kumimoji="1" lang="en-US" altLang="zh-CN" sz="24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对象 45">
                <a:extLst>
                  <a:ext uri="{FF2B5EF4-FFF2-40B4-BE49-F238E27FC236}">
                    <a16:creationId xmlns:a16="http://schemas.microsoft.com/office/drawing/2014/main" id="{67577D7B-4C03-67FC-B772-FD164EDFD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487" y="5267200"/>
                <a:ext cx="9891296" cy="10426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Box 26">
                <a:extLst>
                  <a:ext uri="{FF2B5EF4-FFF2-40B4-BE49-F238E27FC236}">
                    <a16:creationId xmlns:a16="http://schemas.microsoft.com/office/drawing/2014/main" id="{D3D1592B-2F46-C324-E49E-03B39377AF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5677" y="4769928"/>
                <a:ext cx="257282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𝑘</m:t>
                        </m:r>
                      </m:e>
                      <m:sub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𝑘</m:t>
                        </m:r>
                      </m:e>
                      <m:sub>
                        <m:r>
                          <a:rPr kumimoji="1" lang="zh-CN" altLang="en-US" sz="22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是常数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则</a:t>
                </a:r>
              </a:p>
            </p:txBody>
          </p:sp>
        </mc:Choice>
        <mc:Fallback xmlns="">
          <p:sp>
            <p:nvSpPr>
              <p:cNvPr id="55" name="Text Box 26">
                <a:extLst>
                  <a:ext uri="{FF2B5EF4-FFF2-40B4-BE49-F238E27FC236}">
                    <a16:creationId xmlns:a16="http://schemas.microsoft.com/office/drawing/2014/main" id="{D3D1592B-2F46-C324-E49E-03B39377A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5677" y="4769928"/>
                <a:ext cx="2572824" cy="430887"/>
              </a:xfrm>
              <a:prstGeom prst="rect">
                <a:avLst/>
              </a:prstGeom>
              <a:blipFill>
                <a:blip r:embed="rId8"/>
                <a:stretch>
                  <a:fillRect l="-3081" t="-12676" r="-1422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993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>
            <a:extLst>
              <a:ext uri="{FF2B5EF4-FFF2-40B4-BE49-F238E27FC236}">
                <a16:creationId xmlns:a16="http://schemas.microsoft.com/office/drawing/2014/main" id="{9B0C634A-FCB7-EA13-AB79-D99441BA5FD3}"/>
              </a:ext>
            </a:extLst>
          </p:cNvPr>
          <p:cNvSpPr txBox="1">
            <a:spLocks noChangeArrowheads="1"/>
          </p:cNvSpPr>
          <p:nvPr/>
        </p:nvSpPr>
        <p:spPr>
          <a:xfrm>
            <a:off x="614363" y="562538"/>
            <a:ext cx="6502400" cy="6442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二、对面积的曲面积分的计算法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295">
                <a:extLst>
                  <a:ext uri="{FF2B5EF4-FFF2-40B4-BE49-F238E27FC236}">
                    <a16:creationId xmlns:a16="http://schemas.microsoft.com/office/drawing/2014/main" id="{FA82B03D-3E55-2C6C-A03A-6CE0847A84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0054" y="2401202"/>
                <a:ext cx="637617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给出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𝐷𝑥𝑦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𝑂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面上的投影区域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Text Box 295">
                <a:extLst>
                  <a:ext uri="{FF2B5EF4-FFF2-40B4-BE49-F238E27FC236}">
                    <a16:creationId xmlns:a16="http://schemas.microsoft.com/office/drawing/2014/main" id="{FA82B03D-3E55-2C6C-A03A-6CE0847A8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0054" y="2401202"/>
                <a:ext cx="6376171" cy="523220"/>
              </a:xfrm>
              <a:prstGeom prst="rect">
                <a:avLst/>
              </a:prstGeom>
              <a:blipFill>
                <a:blip r:embed="rId2"/>
                <a:stretch>
                  <a:fillRect l="-1912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296">
            <a:extLst>
              <a:ext uri="{FF2B5EF4-FFF2-40B4-BE49-F238E27FC236}">
                <a16:creationId xmlns:a16="http://schemas.microsoft.com/office/drawing/2014/main" id="{B9264ABA-B329-29E1-E9C8-85A59156C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054" y="3102006"/>
            <a:ext cx="13564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若函数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对象 30">
                <a:extLst>
                  <a:ext uri="{FF2B5EF4-FFF2-40B4-BE49-F238E27FC236}">
                    <a16:creationId xmlns:a16="http://schemas.microsoft.com/office/drawing/2014/main" id="{3A7E6CD5-B982-06EB-F10A-4C991FECEA4C}"/>
                  </a:ext>
                </a:extLst>
              </p:cNvPr>
              <p:cNvSpPr txBox="1"/>
              <p:nvPr/>
            </p:nvSpPr>
            <p:spPr>
              <a:xfrm>
                <a:off x="1528763" y="1806097"/>
                <a:ext cx="4254030" cy="5496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),  (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)∈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对象 30">
                <a:extLst>
                  <a:ext uri="{FF2B5EF4-FFF2-40B4-BE49-F238E27FC236}">
                    <a16:creationId xmlns:a16="http://schemas.microsoft.com/office/drawing/2014/main" id="{3A7E6CD5-B982-06EB-F10A-4C991FECE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763" y="1806097"/>
                <a:ext cx="4254030" cy="549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对象 31">
                <a:extLst>
                  <a:ext uri="{FF2B5EF4-FFF2-40B4-BE49-F238E27FC236}">
                    <a16:creationId xmlns:a16="http://schemas.microsoft.com/office/drawing/2014/main" id="{C6CF85E8-B3D9-9318-B65C-D763718724C6}"/>
                  </a:ext>
                </a:extLst>
              </p:cNvPr>
              <p:cNvSpPr txBox="1"/>
              <p:nvPr/>
            </p:nvSpPr>
            <p:spPr>
              <a:xfrm>
                <a:off x="2593704" y="3101163"/>
                <a:ext cx="5302521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 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在</m:t>
                      </m:r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上连续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则曲面积分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对象 31">
                <a:extLst>
                  <a:ext uri="{FF2B5EF4-FFF2-40B4-BE49-F238E27FC236}">
                    <a16:creationId xmlns:a16="http://schemas.microsoft.com/office/drawing/2014/main" id="{C6CF85E8-B3D9-9318-B65C-D76371872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704" y="3101163"/>
                <a:ext cx="5302521" cy="431800"/>
              </a:xfrm>
              <a:prstGeom prst="rect">
                <a:avLst/>
              </a:prstGeom>
              <a:blipFill>
                <a:blip r:embed="rId4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32">
                <a:extLst>
                  <a:ext uri="{FF2B5EF4-FFF2-40B4-BE49-F238E27FC236}">
                    <a16:creationId xmlns:a16="http://schemas.microsoft.com/office/drawing/2014/main" id="{E622F80B-149C-0E72-9CF9-94AD26BD78A2}"/>
                  </a:ext>
                </a:extLst>
              </p:cNvPr>
              <p:cNvSpPr txBox="1"/>
              <p:nvPr/>
            </p:nvSpPr>
            <p:spPr>
              <a:xfrm>
                <a:off x="1520054" y="3565331"/>
                <a:ext cx="4128271" cy="122580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存在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且有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对象 32">
                <a:extLst>
                  <a:ext uri="{FF2B5EF4-FFF2-40B4-BE49-F238E27FC236}">
                    <a16:creationId xmlns:a16="http://schemas.microsoft.com/office/drawing/2014/main" id="{E622F80B-149C-0E72-9CF9-94AD26BD7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054" y="3565331"/>
                <a:ext cx="4128271" cy="12258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对象 33">
                <a:extLst>
                  <a:ext uri="{FF2B5EF4-FFF2-40B4-BE49-F238E27FC236}">
                    <a16:creationId xmlns:a16="http://schemas.microsoft.com/office/drawing/2014/main" id="{76AB4999-21C4-8E51-E83A-0F69179F96CF}"/>
                  </a:ext>
                </a:extLst>
              </p:cNvPr>
              <p:cNvSpPr txBox="1"/>
              <p:nvPr/>
            </p:nvSpPr>
            <p:spPr>
              <a:xfrm>
                <a:off x="1520054" y="4887968"/>
                <a:ext cx="10252846" cy="139740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)+</m:t>
                              </m:r>
                              <m:sSubSup>
                                <m:sSub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对象 33">
                <a:extLst>
                  <a:ext uri="{FF2B5EF4-FFF2-40B4-BE49-F238E27FC236}">
                    <a16:creationId xmlns:a16="http://schemas.microsoft.com/office/drawing/2014/main" id="{76AB4999-21C4-8E51-E83A-0F69179F9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054" y="4887968"/>
                <a:ext cx="10252846" cy="13974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62A45DA5-C322-ECB0-5A25-9756DF643F5D}"/>
              </a:ext>
            </a:extLst>
          </p:cNvPr>
          <p:cNvGrpSpPr/>
          <p:nvPr/>
        </p:nvGrpSpPr>
        <p:grpSpPr>
          <a:xfrm>
            <a:off x="1520054" y="1227945"/>
            <a:ext cx="4429125" cy="449580"/>
            <a:chOff x="1553" y="3802"/>
            <a:chExt cx="6975" cy="708"/>
          </a:xfrm>
        </p:grpSpPr>
        <p:sp>
          <p:nvSpPr>
            <p:cNvPr id="3" name="圆角矩形 21">
              <a:extLst>
                <a:ext uri="{FF2B5EF4-FFF2-40B4-BE49-F238E27FC236}">
                  <a16:creationId xmlns:a16="http://schemas.microsoft.com/office/drawing/2014/main" id="{2E85EE38-C3FD-A30E-32C2-B44968D8333C}"/>
                </a:ext>
              </a:extLst>
            </p:cNvPr>
            <p:cNvSpPr/>
            <p:nvPr/>
          </p:nvSpPr>
          <p:spPr>
            <a:xfrm>
              <a:off x="1553" y="3803"/>
              <a:ext cx="13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 Box 28">
                  <a:extLst>
                    <a:ext uri="{FF2B5EF4-FFF2-40B4-BE49-F238E27FC236}">
                      <a16:creationId xmlns:a16="http://schemas.microsoft.com/office/drawing/2014/main" id="{A5A1E42B-E1EA-0624-1C84-D4C4E68C9F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0" y="3802"/>
                  <a:ext cx="6878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bIns="0">
                  <a:spAutoFit/>
                </a:bodyPr>
                <a:lstStyle>
                  <a:lvl1pPr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defRPr/>
                  </a:pPr>
                  <a:r>
                    <a:rPr kumimoji="1" lang="zh-CN" altLang="en-US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定理  </a:t>
                  </a:r>
                  <a:r>
                    <a:rPr kumimoji="1" lang="zh-CN" altLang="en-US" sz="2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 Math" panose="02040503050406030204" charset="0"/>
                      <a:ea typeface="黑体" panose="02010609060101010101" pitchFamily="49" charset="-122"/>
                    </a:rPr>
                    <a:t>设光滑曲面</a:t>
                  </a:r>
                  <a14:m>
                    <m:oMath xmlns:m="http://schemas.openxmlformats.org/officeDocument/2006/math">
                      <m:r>
                        <a:rPr kumimoji="1" lang="zh-CN" altLang="en-US" sz="2800" b="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𝛴</m:t>
                      </m:r>
                    </m:oMath>
                  </a14:m>
                  <a:r>
                    <a:rPr kumimoji="1" lang="zh-CN" altLang="en-US" sz="2800" b="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Cambria Math" panose="02040503050406030204" charset="0"/>
                      <a:ea typeface="黑体" panose="02010609060101010101" pitchFamily="49" charset="-122"/>
                    </a:rPr>
                    <a:t>由方程</a:t>
                  </a:r>
                  <a:endParaRPr kumimoji="1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微软雅黑" panose="020B0503020204020204" charset="-122"/>
                  </a:endParaRPr>
                </a:p>
              </p:txBody>
            </p:sp>
          </mc:Choice>
          <mc:Fallback xmlns="">
            <p:sp>
              <p:nvSpPr>
                <p:cNvPr id="4" name="Text Box 28">
                  <a:extLst>
                    <a:ext uri="{FF2B5EF4-FFF2-40B4-BE49-F238E27FC236}">
                      <a16:creationId xmlns:a16="http://schemas.microsoft.com/office/drawing/2014/main" id="{A5A1E42B-E1EA-0624-1C84-D4C4E68C9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50" y="3802"/>
                  <a:ext cx="6878" cy="679"/>
                </a:xfrm>
                <a:prstGeom prst="rect">
                  <a:avLst/>
                </a:prstGeom>
                <a:blipFill>
                  <a:blip r:embed="rId8"/>
                  <a:stretch>
                    <a:fillRect l="-4881" t="-29577" b="-5070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DA913242-F0EE-18CE-C76B-CAC75596603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25" y="1443527"/>
            <a:ext cx="2932313" cy="29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9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E4DF4A7-3026-357F-DEA7-D581585B791E}"/>
              </a:ext>
            </a:extLst>
          </p:cNvPr>
          <p:cNvGrpSpPr/>
          <p:nvPr/>
        </p:nvGrpSpPr>
        <p:grpSpPr>
          <a:xfrm>
            <a:off x="0" y="-1"/>
            <a:ext cx="12202794" cy="6858001"/>
            <a:chOff x="0" y="-1"/>
            <a:chExt cx="12202794" cy="6858001"/>
          </a:xfrm>
        </p:grpSpPr>
        <p:sp>
          <p:nvSpPr>
            <p:cNvPr id="4" name="图文框 3">
              <a:extLst>
                <a:ext uri="{FF2B5EF4-FFF2-40B4-BE49-F238E27FC236}">
                  <a16:creationId xmlns:a16="http://schemas.microsoft.com/office/drawing/2014/main" id="{1FC33ACE-136B-294B-28C1-D57BBA4499FB}"/>
                </a:ext>
              </a:extLst>
            </p:cNvPr>
            <p:cNvSpPr/>
            <p:nvPr/>
          </p:nvSpPr>
          <p:spPr>
            <a:xfrm rot="5400000">
              <a:off x="2705095" y="-2639699"/>
              <a:ext cx="6858001" cy="12137397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100000">
                  <a:srgbClr val="007434">
                    <a:alpha val="10000"/>
                  </a:srgbClr>
                </a:gs>
                <a:gs pos="4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2AD5E2D-9850-7C1A-2822-FB040AE9906C}"/>
                </a:ext>
              </a:extLst>
            </p:cNvPr>
            <p:cNvSpPr/>
            <p:nvPr/>
          </p:nvSpPr>
          <p:spPr>
            <a:xfrm rot="16200000" flipH="1">
              <a:off x="-3338945" y="3338945"/>
              <a:ext cx="6858000" cy="180109"/>
            </a:xfrm>
            <a:prstGeom prst="rect">
              <a:avLst/>
            </a:prstGeom>
            <a:gradFill flip="none" rotWithShape="1">
              <a:gsLst>
                <a:gs pos="100000">
                  <a:srgbClr val="2C8894">
                    <a:alpha val="55000"/>
                  </a:srgbClr>
                </a:gs>
                <a:gs pos="55000">
                  <a:srgbClr val="389479">
                    <a:alpha val="87000"/>
                  </a:srgbClr>
                </a:gs>
                <a:gs pos="0">
                  <a:srgbClr val="3F9B67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Rectangle 330">
            <a:extLst>
              <a:ext uri="{FF2B5EF4-FFF2-40B4-BE49-F238E27FC236}">
                <a16:creationId xmlns:a16="http://schemas.microsoft.com/office/drawing/2014/main" id="{F1CCFE86-5622-9395-197A-9D2D07CC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672" y="675619"/>
            <a:ext cx="108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b="1" kern="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9">
                <a:extLst>
                  <a:ext uri="{FF2B5EF4-FFF2-40B4-BE49-F238E27FC236}">
                    <a16:creationId xmlns:a16="http://schemas.microsoft.com/office/drawing/2014/main" id="{30CB20C1-D059-DBA4-FE2C-4CEAF5D8008C}"/>
                  </a:ext>
                </a:extLst>
              </p:cNvPr>
              <p:cNvSpPr txBox="1"/>
              <p:nvPr/>
            </p:nvSpPr>
            <p:spPr bwMode="auto">
              <a:xfrm>
                <a:off x="2061747" y="2190599"/>
                <a:ext cx="6181725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𝑆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​</m:t>
                              </m:r>
                            </m:e>
                          </m:func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𝜁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39">
                <a:extLst>
                  <a:ext uri="{FF2B5EF4-FFF2-40B4-BE49-F238E27FC236}">
                    <a16:creationId xmlns:a16="http://schemas.microsoft.com/office/drawing/2014/main" id="{30CB20C1-D059-DBA4-FE2C-4CEAF5D80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1747" y="2190599"/>
                <a:ext cx="6181725" cy="965200"/>
              </a:xfrm>
              <a:prstGeom prst="rect">
                <a:avLst/>
              </a:prstGeom>
              <a:blipFill>
                <a:blip r:embed="rId2"/>
                <a:stretch>
                  <a:fillRect b="-18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>
            <a:extLst>
              <a:ext uri="{FF2B5EF4-FFF2-40B4-BE49-F238E27FC236}">
                <a16:creationId xmlns:a16="http://schemas.microsoft.com/office/drawing/2014/main" id="{0F3B7542-B8AF-D03F-8293-7A6236E390EA}"/>
              </a:ext>
            </a:extLst>
          </p:cNvPr>
          <p:cNvSpPr/>
          <p:nvPr/>
        </p:nvSpPr>
        <p:spPr>
          <a:xfrm>
            <a:off x="7056022" y="1223267"/>
            <a:ext cx="330571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2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利用二重积分的中值定理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对象 27">
                <a:extLst>
                  <a:ext uri="{FF2B5EF4-FFF2-40B4-BE49-F238E27FC236}">
                    <a16:creationId xmlns:a16="http://schemas.microsoft.com/office/drawing/2014/main" id="{5F005D40-A632-091A-10F7-40BF30BF2027}"/>
                  </a:ext>
                </a:extLst>
              </p:cNvPr>
              <p:cNvSpPr txBox="1"/>
              <p:nvPr/>
            </p:nvSpPr>
            <p:spPr>
              <a:xfrm>
                <a:off x="2674522" y="3160121"/>
                <a:ext cx="7983953" cy="108416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))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1+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22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)+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2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22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 (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对象 27">
                <a:extLst>
                  <a:ext uri="{FF2B5EF4-FFF2-40B4-BE49-F238E27FC236}">
                    <a16:creationId xmlns:a16="http://schemas.microsoft.com/office/drawing/2014/main" id="{5F005D40-A632-091A-10F7-40BF30BF2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522" y="3160121"/>
                <a:ext cx="7983953" cy="1084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对象 28">
                <a:extLst>
                  <a:ext uri="{FF2B5EF4-FFF2-40B4-BE49-F238E27FC236}">
                    <a16:creationId xmlns:a16="http://schemas.microsoft.com/office/drawing/2014/main" id="{192E3AD7-E840-B670-020A-065BE956BCD8}"/>
                  </a:ext>
                </a:extLst>
              </p:cNvPr>
              <p:cNvSpPr txBox="1"/>
              <p:nvPr/>
            </p:nvSpPr>
            <p:spPr>
              <a:xfrm>
                <a:off x="2674522" y="4232629"/>
                <a:ext cx="7983953" cy="100196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 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200" i="1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))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1+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)+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 (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对象 28">
                <a:extLst>
                  <a:ext uri="{FF2B5EF4-FFF2-40B4-BE49-F238E27FC236}">
                    <a16:creationId xmlns:a16="http://schemas.microsoft.com/office/drawing/2014/main" id="{192E3AD7-E840-B670-020A-065BE956B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522" y="4232629"/>
                <a:ext cx="7983953" cy="1001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对象 29">
                <a:extLst>
                  <a:ext uri="{FF2B5EF4-FFF2-40B4-BE49-F238E27FC236}">
                    <a16:creationId xmlns:a16="http://schemas.microsoft.com/office/drawing/2014/main" id="{A8EE9A1F-4D2B-FA49-45B9-E16FE02CE9E2}"/>
                  </a:ext>
                </a:extLst>
              </p:cNvPr>
              <p:cNvSpPr txBox="1"/>
              <p:nvPr/>
            </p:nvSpPr>
            <p:spPr>
              <a:xfrm>
                <a:off x="2674522" y="5298955"/>
                <a:ext cx="6574253" cy="10802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)]⋅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)+</m:t>
                              </m:r>
                              <m:sSubSup>
                                <m:sSub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对象 29">
                <a:extLst>
                  <a:ext uri="{FF2B5EF4-FFF2-40B4-BE49-F238E27FC236}">
                    <a16:creationId xmlns:a16="http://schemas.microsoft.com/office/drawing/2014/main" id="{A8EE9A1F-4D2B-FA49-45B9-E16FE02CE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522" y="5298955"/>
                <a:ext cx="6574253" cy="1080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对象 30">
                <a:extLst>
                  <a:ext uri="{FF2B5EF4-FFF2-40B4-BE49-F238E27FC236}">
                    <a16:creationId xmlns:a16="http://schemas.microsoft.com/office/drawing/2014/main" id="{840C19EB-550D-E597-7D73-253129C5FBFC}"/>
                  </a:ext>
                </a:extLst>
              </p:cNvPr>
              <p:cNvSpPr txBox="1"/>
              <p:nvPr/>
            </p:nvSpPr>
            <p:spPr>
              <a:xfrm>
                <a:off x="2061747" y="478769"/>
                <a:ext cx="5981700" cy="9271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∵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)+</m:t>
                              </m:r>
                              <m:sSubSup>
                                <m:sSub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对象 30">
                <a:extLst>
                  <a:ext uri="{FF2B5EF4-FFF2-40B4-BE49-F238E27FC236}">
                    <a16:creationId xmlns:a16="http://schemas.microsoft.com/office/drawing/2014/main" id="{840C19EB-550D-E597-7D73-253129C5F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747" y="478769"/>
                <a:ext cx="5981700" cy="927100"/>
              </a:xfrm>
              <a:prstGeom prst="rect">
                <a:avLst/>
              </a:prstGeom>
              <a:blipFill>
                <a:blip r:embed="rId6"/>
                <a:stretch>
                  <a:fillRect b="-7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对象 31">
                <a:extLst>
                  <a:ext uri="{FF2B5EF4-FFF2-40B4-BE49-F238E27FC236}">
                    <a16:creationId xmlns:a16="http://schemas.microsoft.com/office/drawing/2014/main" id="{28379FE5-9195-89CD-1140-F18F04CA7E69}"/>
                  </a:ext>
                </a:extLst>
              </p:cNvPr>
              <p:cNvSpPr txBox="1"/>
              <p:nvPr/>
            </p:nvSpPr>
            <p:spPr>
              <a:xfrm>
                <a:off x="2674522" y="1505373"/>
                <a:ext cx="5245100" cy="83400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1+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22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)+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200" i="1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US" altLang="zh-CN" sz="22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 (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对象 31">
                <a:extLst>
                  <a:ext uri="{FF2B5EF4-FFF2-40B4-BE49-F238E27FC236}">
                    <a16:creationId xmlns:a16="http://schemas.microsoft.com/office/drawing/2014/main" id="{28379FE5-9195-89CD-1140-F18F04CA7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522" y="1505373"/>
                <a:ext cx="5245100" cy="8340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32">
                <a:extLst>
                  <a:ext uri="{FF2B5EF4-FFF2-40B4-BE49-F238E27FC236}">
                    <a16:creationId xmlns:a16="http://schemas.microsoft.com/office/drawing/2014/main" id="{D9078373-350C-30C5-495E-D734A75E0D72}"/>
                  </a:ext>
                </a:extLst>
              </p:cNvPr>
              <p:cNvSpPr txBox="1"/>
              <p:nvPr/>
            </p:nvSpPr>
            <p:spPr>
              <a:xfrm>
                <a:off x="9465847" y="5534984"/>
                <a:ext cx="736600" cy="43053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证毕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/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对象 32">
                <a:extLst>
                  <a:ext uri="{FF2B5EF4-FFF2-40B4-BE49-F238E27FC236}">
                    <a16:creationId xmlns:a16="http://schemas.microsoft.com/office/drawing/2014/main" id="{D9078373-350C-30C5-495E-D734A75E0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847" y="5534984"/>
                <a:ext cx="736600" cy="430530"/>
              </a:xfrm>
              <a:prstGeom prst="rect">
                <a:avLst/>
              </a:prstGeom>
              <a:blipFill>
                <a:blip r:embed="rId8"/>
                <a:stretch>
                  <a:fillRect l="-5785" r="-6612" b="-1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43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/>
      <p:bldP spid="27" grpId="0"/>
      <p:bldP spid="28" grpId="0"/>
      <p:bldP spid="29" grpId="0"/>
      <p:bldP spid="30" grpId="0"/>
      <p:bldP spid="31" grpId="0"/>
      <p:bldP spid="32" grpId="0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1EAE081-CFFB-9886-4784-4BF30A33A39A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3" name="PA-102232">
              <a:extLst>
                <a:ext uri="{FF2B5EF4-FFF2-40B4-BE49-F238E27FC236}">
                  <a16:creationId xmlns:a16="http://schemas.microsoft.com/office/drawing/2014/main" id="{8413538D-B472-7093-EDDA-31AE314A6CB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DB16D70-2DA8-8571-A79C-D0AB505CC0AC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93F6C0B6-DB94-1264-535B-0500DD89F28F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56B0746F-E274-13D5-6E74-136FAC7790E3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F772247C-A4F8-3BEE-901D-2C2A012352E1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9A33CAAA-6C89-218E-01D1-D6068AD11C43}"/>
                  </a:ext>
                </a:extLst>
              </p:cNvPr>
              <p:cNvSpPr txBox="1"/>
              <p:nvPr/>
            </p:nvSpPr>
            <p:spPr bwMode="auto">
              <a:xfrm>
                <a:off x="2214939" y="3440686"/>
                <a:ext cx="8222786" cy="13185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9A33CAAA-6C89-218E-01D1-D6068AD11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4939" y="3440686"/>
                <a:ext cx="8222786" cy="13185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03630F25-1EB9-F042-D4D5-C0DCE6F70EC7}"/>
                  </a:ext>
                </a:extLst>
              </p:cNvPr>
              <p:cNvSpPr txBox="1"/>
              <p:nvPr/>
            </p:nvSpPr>
            <p:spPr bwMode="auto">
              <a:xfrm>
                <a:off x="2214939" y="2260200"/>
                <a:ext cx="2327275" cy="12049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5">
                <a:extLst>
                  <a:ext uri="{FF2B5EF4-FFF2-40B4-BE49-F238E27FC236}">
                    <a16:creationId xmlns:a16="http://schemas.microsoft.com/office/drawing/2014/main" id="{03630F25-1EB9-F042-D4D5-C0DCE6F70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4939" y="2260200"/>
                <a:ext cx="2327275" cy="1204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7">
            <a:extLst>
              <a:ext uri="{FF2B5EF4-FFF2-40B4-BE49-F238E27FC236}">
                <a16:creationId xmlns:a16="http://schemas.microsoft.com/office/drawing/2014/main" id="{F057A9E2-1014-88E8-3FD7-CC4E0173B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289" y="2562516"/>
            <a:ext cx="914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29809C61-1814-D370-DC03-B6F8A7A57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3134" y="4333274"/>
            <a:ext cx="571130" cy="385569"/>
          </a:xfrm>
          <a:prstGeom prst="ellips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9633F229-3443-F650-2C0C-E0F16B83A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540" y="3793556"/>
            <a:ext cx="1069604" cy="464428"/>
          </a:xfrm>
          <a:prstGeom prst="ellips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9A7612A4-0A08-A99E-528A-BC36C57BE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267" y="3613307"/>
            <a:ext cx="4893358" cy="848078"/>
          </a:xfrm>
          <a:prstGeom prst="ellips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D88CA30A-2021-0DBB-9B08-D592FE292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2564" y="3440686"/>
            <a:ext cx="224580" cy="892587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66F2087A-6460-7A24-1D6C-525E53C9E5DF}"/>
              </a:ext>
            </a:extLst>
          </p:cNvPr>
          <p:cNvSpPr>
            <a:spLocks noChangeShapeType="1"/>
          </p:cNvSpPr>
          <p:nvPr/>
        </p:nvSpPr>
        <p:spPr bwMode="auto">
          <a:xfrm rot="20757962">
            <a:off x="4041144" y="2942116"/>
            <a:ext cx="216258" cy="890958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D03F0492-B7D5-0174-AFF5-0B0E76D66360}"/>
              </a:ext>
            </a:extLst>
          </p:cNvPr>
          <p:cNvSpPr>
            <a:spLocks noChangeShapeType="1"/>
          </p:cNvSpPr>
          <p:nvPr/>
        </p:nvSpPr>
        <p:spPr bwMode="auto">
          <a:xfrm rot="18994465">
            <a:off x="4904443" y="2513115"/>
            <a:ext cx="548711" cy="1662006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0E9BDF-32EA-E2B0-41CF-2E6E6818340E}"/>
              </a:ext>
            </a:extLst>
          </p:cNvPr>
          <p:cNvSpPr txBox="1"/>
          <p:nvPr/>
        </p:nvSpPr>
        <p:spPr bwMode="auto">
          <a:xfrm>
            <a:off x="1679289" y="963430"/>
            <a:ext cx="37753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于是得到如下计算方法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AC6D7CE-E81B-BBDF-47E9-A924D7722950}"/>
              </a:ext>
            </a:extLst>
          </p:cNvPr>
          <p:cNvGrpSpPr/>
          <p:nvPr/>
        </p:nvGrpSpPr>
        <p:grpSpPr>
          <a:xfrm>
            <a:off x="1779950" y="1694009"/>
            <a:ext cx="4375827" cy="531953"/>
            <a:chOff x="1547721" y="1386432"/>
            <a:chExt cx="4375827" cy="531953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35D8F61-814F-4222-D22F-34D14E2701AE}"/>
                </a:ext>
              </a:extLst>
            </p:cNvPr>
            <p:cNvSpPr txBox="1"/>
            <p:nvPr/>
          </p:nvSpPr>
          <p:spPr>
            <a:xfrm>
              <a:off x="1547721" y="1395165"/>
              <a:ext cx="4256275" cy="523220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</p:spPr>
          <p:txBody>
            <a:bodyPr wrap="square" rtlCol="0" anchor="t">
              <a:spAutoFit/>
            </a:bodyPr>
            <a:lstStyle/>
            <a:p>
              <a:endPara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CFF9EE0-33B3-9366-1EF0-6A008AA2CF50}"/>
                    </a:ext>
                  </a:extLst>
                </p:cNvPr>
                <p:cNvSpPr txBox="1"/>
                <p:nvPr/>
              </p:nvSpPr>
              <p:spPr>
                <a:xfrm>
                  <a:off x="1562961" y="1386432"/>
                  <a:ext cx="4360587" cy="52322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（"/>
                            <m:endChr m:val="）"/>
                            <m:ctrlPr>
                              <a:rPr kumimoji="1" lang="zh-CN" altLang="en-US" sz="28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zh-CN" altLang="en-US" sz="280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e>
                        </m:d>
                        <m:r>
                          <a:rPr kumimoji="1" lang="en-US" altLang="zh-CN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  </m:t>
                        </m:r>
                        <m:r>
                          <a:rPr kumimoji="1" lang="zh-CN" altLang="en-US" sz="28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若曲面</m:t>
                        </m:r>
                        <m:r>
                          <a:rPr kumimoji="1" lang="zh-CN" altLang="en-US" sz="2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  <m:r>
                          <a:rPr kumimoji="1" lang="zh-CN" altLang="en-US" sz="28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: </m:t>
                        </m:r>
                        <m:r>
                          <a:rPr kumimoji="1" lang="zh-CN" altLang="en-US" sz="28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𝑧</m:t>
                        </m:r>
                        <m:r>
                          <a:rPr kumimoji="1" lang="zh-CN" altLang="en-US" sz="28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zh-CN" altLang="en-US" sz="28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𝑧</m:t>
                        </m:r>
                        <m:d>
                          <m:dPr>
                            <m:ctrlPr>
                              <a:rPr kumimoji="1" lang="zh-CN" altLang="en-US" sz="28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zh-CN" altLang="en-US" sz="280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zh-CN" altLang="en-US" sz="280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,</m:t>
                            </m:r>
                            <m:r>
                              <a:rPr kumimoji="1" lang="zh-CN" altLang="en-US" sz="280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CFF9EE0-33B3-9366-1EF0-6A008AA2C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2961" y="1386432"/>
                  <a:ext cx="436058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FEE97A5-E45B-5D91-2580-0A3733700688}"/>
                  </a:ext>
                </a:extLst>
              </p:cNvPr>
              <p:cNvSpPr txBox="1"/>
              <p:nvPr/>
            </p:nvSpPr>
            <p:spPr>
              <a:xfrm>
                <a:off x="1779137" y="5055120"/>
                <a:ext cx="5677640" cy="52322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 wrap="square" rtlCol="0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2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一代二投三换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m:rPr>
                          <m:nor/>
                        </m:rPr>
                        <a:rPr kumimoji="1" lang="zh-CN" altLang="en-US" sz="2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面积分化为二重积分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FEE97A5-E45B-5D91-2580-0A3733700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137" y="5055120"/>
                <a:ext cx="567764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08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E31028A-E108-703F-852F-931DADC8009B}"/>
              </a:ext>
            </a:extLst>
          </p:cNvPr>
          <p:cNvGrpSpPr/>
          <p:nvPr/>
        </p:nvGrpSpPr>
        <p:grpSpPr>
          <a:xfrm>
            <a:off x="0" y="-1"/>
            <a:ext cx="12202794" cy="6858001"/>
            <a:chOff x="0" y="-1"/>
            <a:chExt cx="12202794" cy="6858001"/>
          </a:xfrm>
        </p:grpSpPr>
        <p:sp>
          <p:nvSpPr>
            <p:cNvPr id="3" name="图文框 2">
              <a:extLst>
                <a:ext uri="{FF2B5EF4-FFF2-40B4-BE49-F238E27FC236}">
                  <a16:creationId xmlns:a16="http://schemas.microsoft.com/office/drawing/2014/main" id="{951D1D7B-6FFD-B4B0-E956-AF7445FFD207}"/>
                </a:ext>
              </a:extLst>
            </p:cNvPr>
            <p:cNvSpPr/>
            <p:nvPr/>
          </p:nvSpPr>
          <p:spPr>
            <a:xfrm rot="5400000">
              <a:off x="2705095" y="-2639699"/>
              <a:ext cx="6858001" cy="12137397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100000">
                  <a:srgbClr val="007434">
                    <a:alpha val="10000"/>
                  </a:srgbClr>
                </a:gs>
                <a:gs pos="4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5919158-9019-836C-10CE-0B62F32ED930}"/>
                </a:ext>
              </a:extLst>
            </p:cNvPr>
            <p:cNvSpPr/>
            <p:nvPr/>
          </p:nvSpPr>
          <p:spPr>
            <a:xfrm rot="16200000" flipH="1">
              <a:off x="-3338945" y="3338945"/>
              <a:ext cx="6858000" cy="180109"/>
            </a:xfrm>
            <a:prstGeom prst="rect">
              <a:avLst/>
            </a:prstGeom>
            <a:gradFill flip="none" rotWithShape="1">
              <a:gsLst>
                <a:gs pos="100000">
                  <a:srgbClr val="2C8894">
                    <a:alpha val="55000"/>
                  </a:srgbClr>
                </a:gs>
                <a:gs pos="55000">
                  <a:srgbClr val="389479">
                    <a:alpha val="87000"/>
                  </a:srgbClr>
                </a:gs>
                <a:gs pos="0">
                  <a:srgbClr val="3F9B67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C972122F-BBD9-5D9D-81E3-98E4497CB05F}"/>
                  </a:ext>
                </a:extLst>
              </p:cNvPr>
              <p:cNvSpPr txBox="1"/>
              <p:nvPr/>
            </p:nvSpPr>
            <p:spPr bwMode="auto">
              <a:xfrm>
                <a:off x="2255898" y="5132704"/>
                <a:ext cx="7145338" cy="1272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𝑥𝑧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)+</m:t>
                              </m:r>
                              <m:sSubSup>
                                <m:sSub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C972122F-BBD9-5D9D-81E3-98E4497CB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5898" y="5132704"/>
                <a:ext cx="7145338" cy="1272362"/>
              </a:xfrm>
              <a:prstGeom prst="rect">
                <a:avLst/>
              </a:prstGeom>
              <a:blipFill>
                <a:blip r:embed="rId2"/>
                <a:stretch>
                  <a:fillRect r="-74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4CBD6F95-6841-A8F0-FB03-58A6D4A3214A}"/>
                  </a:ext>
                </a:extLst>
              </p:cNvPr>
              <p:cNvSpPr txBox="1"/>
              <p:nvPr/>
            </p:nvSpPr>
            <p:spPr bwMode="auto">
              <a:xfrm>
                <a:off x="2713098" y="4016633"/>
                <a:ext cx="2327275" cy="11714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4CBD6F95-6841-A8F0-FB03-58A6D4A32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3098" y="4016633"/>
                <a:ext cx="2327275" cy="11714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7">
            <a:extLst>
              <a:ext uri="{FF2B5EF4-FFF2-40B4-BE49-F238E27FC236}">
                <a16:creationId xmlns:a16="http://schemas.microsoft.com/office/drawing/2014/main" id="{92884E23-361D-7153-057B-4F3E69A26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98" y="4340773"/>
            <a:ext cx="914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F5DFA28C-D0D0-E4FC-7D11-D9B234C8A6A0}"/>
                  </a:ext>
                </a:extLst>
              </p:cNvPr>
              <p:cNvSpPr txBox="1"/>
              <p:nvPr/>
            </p:nvSpPr>
            <p:spPr bwMode="auto">
              <a:xfrm>
                <a:off x="2255898" y="2137403"/>
                <a:ext cx="7848134" cy="12676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𝑦𝑧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)+</m:t>
                              </m:r>
                              <m:sSubSup>
                                <m:sSub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kumimoji="1" lang="zh-CN" altLang="en-US" sz="28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,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F5DFA28C-D0D0-E4FC-7D11-D9B234C8A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5898" y="2137403"/>
                <a:ext cx="7848134" cy="12676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147BADA6-1CDC-D2B6-F067-A47BE8033246}"/>
                  </a:ext>
                </a:extLst>
              </p:cNvPr>
              <p:cNvSpPr txBox="1"/>
              <p:nvPr/>
            </p:nvSpPr>
            <p:spPr bwMode="auto">
              <a:xfrm>
                <a:off x="2713098" y="1017082"/>
                <a:ext cx="2327275" cy="11567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147BADA6-1CDC-D2B6-F067-A47BE8033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3098" y="1017082"/>
                <a:ext cx="2327275" cy="1156701"/>
              </a:xfrm>
              <a:prstGeom prst="rect">
                <a:avLst/>
              </a:prstGeom>
              <a:blipFill>
                <a:blip r:embed="rId5"/>
                <a:stretch>
                  <a:fillRect b="-5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7">
            <a:extLst>
              <a:ext uri="{FF2B5EF4-FFF2-40B4-BE49-F238E27FC236}">
                <a16:creationId xmlns:a16="http://schemas.microsoft.com/office/drawing/2014/main" id="{3DF15052-A4F0-1853-B6C1-41033A473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898" y="1394779"/>
            <a:ext cx="914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EC04B4F-7B0B-7965-CB72-E40440191ECD}"/>
              </a:ext>
            </a:extLst>
          </p:cNvPr>
          <p:cNvGrpSpPr/>
          <p:nvPr/>
        </p:nvGrpSpPr>
        <p:grpSpPr>
          <a:xfrm>
            <a:off x="2354513" y="521509"/>
            <a:ext cx="4670620" cy="531953"/>
            <a:chOff x="1547721" y="1386432"/>
            <a:chExt cx="4670620" cy="531953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A67404D-D437-69F0-7CF5-1A2713F80BBC}"/>
                </a:ext>
              </a:extLst>
            </p:cNvPr>
            <p:cNvSpPr txBox="1"/>
            <p:nvPr/>
          </p:nvSpPr>
          <p:spPr>
            <a:xfrm>
              <a:off x="1547721" y="1395165"/>
              <a:ext cx="4256275" cy="523220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</p:spPr>
          <p:txBody>
            <a:bodyPr wrap="square" rtlCol="0" anchor="t">
              <a:spAutoFit/>
            </a:bodyPr>
            <a:lstStyle/>
            <a:p>
              <a:endPara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8275F158-2560-6B12-F5B1-98E911CCA0BE}"/>
                    </a:ext>
                  </a:extLst>
                </p:cNvPr>
                <p:cNvSpPr txBox="1"/>
                <p:nvPr/>
              </p:nvSpPr>
              <p:spPr>
                <a:xfrm>
                  <a:off x="1562961" y="1386432"/>
                  <a:ext cx="4655380" cy="52322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（"/>
                            <m:endChr m:val="）"/>
                            <m:ctrlPr>
                              <a:rPr kumimoji="1" lang="zh-CN" altLang="en-US" sz="28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b="0" i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e>
                        </m:d>
                        <m:r>
                          <a:rPr kumimoji="1" lang="en-US" altLang="zh-CN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  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若曲面</m:t>
                        </m:r>
                        <m: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: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8275F158-2560-6B12-F5B1-98E911CCA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2961" y="1386432"/>
                  <a:ext cx="465538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7598452-8873-C9F6-F896-7BF4A8A29BBB}"/>
              </a:ext>
            </a:extLst>
          </p:cNvPr>
          <p:cNvGrpSpPr/>
          <p:nvPr/>
        </p:nvGrpSpPr>
        <p:grpSpPr>
          <a:xfrm>
            <a:off x="2354513" y="3502010"/>
            <a:ext cx="4256275" cy="531953"/>
            <a:chOff x="1547721" y="1386432"/>
            <a:chExt cx="4256275" cy="531953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7F5339A-9D17-6AD6-742C-DBD9DBF5B393}"/>
                </a:ext>
              </a:extLst>
            </p:cNvPr>
            <p:cNvSpPr txBox="1"/>
            <p:nvPr/>
          </p:nvSpPr>
          <p:spPr>
            <a:xfrm>
              <a:off x="1547721" y="1395165"/>
              <a:ext cx="4256275" cy="523220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</p:spPr>
          <p:txBody>
            <a:bodyPr wrap="square" rtlCol="0" anchor="t">
              <a:spAutoFit/>
            </a:bodyPr>
            <a:lstStyle/>
            <a:p>
              <a:endPara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DFEF027-AC34-0D94-8AED-34D3B872F916}"/>
                    </a:ext>
                  </a:extLst>
                </p:cNvPr>
                <p:cNvSpPr txBox="1"/>
                <p:nvPr/>
              </p:nvSpPr>
              <p:spPr>
                <a:xfrm>
                  <a:off x="1562961" y="1386432"/>
                  <a:ext cx="4187695" cy="52322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（"/>
                            <m:endChr m:val="）"/>
                            <m:ctrlPr>
                              <a:rPr kumimoji="1" lang="zh-CN" altLang="en-US" sz="280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b="0" i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e>
                        </m:d>
                        <m:r>
                          <a:rPr kumimoji="1" lang="en-US" altLang="zh-CN" sz="28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  </m:t>
                        </m:r>
                        <m:r>
                          <a:rPr kumimoji="1" lang="zh-CN" altLang="en-US" sz="28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若曲面</m:t>
                        </m:r>
                        <m:r>
                          <a:rPr kumimoji="1" lang="zh-CN" altLang="en-US" sz="2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𝛴</m:t>
                        </m:r>
                        <m:r>
                          <a:rPr kumimoji="1" lang="zh-CN" altLang="en-US" sz="280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pitchFamily="49" charset="-122"/>
                          </a:rPr>
                          <m:t>: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DFEF027-AC34-0D94-8AED-34D3B872F9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2961" y="1386432"/>
                  <a:ext cx="4187695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2122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D3D5D85-9294-C903-41BA-84DB0622CF06}"/>
              </a:ext>
            </a:extLst>
          </p:cNvPr>
          <p:cNvGrpSpPr/>
          <p:nvPr/>
        </p:nvGrpSpPr>
        <p:grpSpPr>
          <a:xfrm>
            <a:off x="0" y="-1"/>
            <a:ext cx="12202794" cy="6858001"/>
            <a:chOff x="0" y="-1"/>
            <a:chExt cx="12202794" cy="6858001"/>
          </a:xfrm>
        </p:grpSpPr>
        <p:sp>
          <p:nvSpPr>
            <p:cNvPr id="25" name="图文框 24">
              <a:extLst>
                <a:ext uri="{FF2B5EF4-FFF2-40B4-BE49-F238E27FC236}">
                  <a16:creationId xmlns:a16="http://schemas.microsoft.com/office/drawing/2014/main" id="{4A3C7B01-A2BD-5C13-9B09-3D9B1224BE9D}"/>
                </a:ext>
              </a:extLst>
            </p:cNvPr>
            <p:cNvSpPr/>
            <p:nvPr/>
          </p:nvSpPr>
          <p:spPr>
            <a:xfrm rot="5400000">
              <a:off x="2705095" y="-2639699"/>
              <a:ext cx="6858001" cy="12137397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100000">
                  <a:srgbClr val="007434">
                    <a:alpha val="10000"/>
                  </a:srgbClr>
                </a:gs>
                <a:gs pos="4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AE9F35B-8E37-F7F7-681D-EA18F37C66B2}"/>
                </a:ext>
              </a:extLst>
            </p:cNvPr>
            <p:cNvSpPr/>
            <p:nvPr/>
          </p:nvSpPr>
          <p:spPr>
            <a:xfrm rot="16200000" flipH="1">
              <a:off x="-3338945" y="3338945"/>
              <a:ext cx="6858000" cy="180109"/>
            </a:xfrm>
            <a:prstGeom prst="rect">
              <a:avLst/>
            </a:prstGeom>
            <a:gradFill flip="none" rotWithShape="1">
              <a:gsLst>
                <a:gs pos="100000">
                  <a:srgbClr val="2C8894">
                    <a:alpha val="55000"/>
                  </a:srgbClr>
                </a:gs>
                <a:gs pos="55000">
                  <a:srgbClr val="389479">
                    <a:alpha val="87000"/>
                  </a:srgbClr>
                </a:gs>
                <a:gs pos="0">
                  <a:srgbClr val="3F9B67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ext Box 9">
            <a:extLst>
              <a:ext uri="{FF2B5EF4-FFF2-40B4-BE49-F238E27FC236}">
                <a16:creationId xmlns:a16="http://schemas.microsoft.com/office/drawing/2014/main" id="{34735052-17A6-D477-9446-53B331B94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96" y="933169"/>
            <a:ext cx="40719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(4) </a:t>
            </a:r>
            <a:r>
              <a:rPr kumimoji="1" lang="zh-CN" altLang="en-US" sz="2800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pitchFamily="49" charset="-122"/>
              </a:rPr>
              <a:t>若曲面的参数方程为 </a:t>
            </a:r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8CE192CC-DA55-4861-761F-FAB7080B7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96" y="3739927"/>
            <a:ext cx="11430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2BF81808-90A9-D753-C0E7-E84B091A826D}"/>
                  </a:ext>
                </a:extLst>
              </p:cNvPr>
              <p:cNvSpPr txBox="1"/>
              <p:nvPr/>
            </p:nvSpPr>
            <p:spPr>
              <a:xfrm>
                <a:off x="791896" y="1623595"/>
                <a:ext cx="4856878" cy="17819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6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6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) ,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) ,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𝑢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𝑣</m:t>
                                </m:r>
                                <m:r>
                                  <a:rPr kumimoji="1" lang="zh-CN" altLang="en-US" sz="26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) ,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zh-CN" altLang="en-US" sz="2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   (</m:t>
                      </m:r>
                      <m:r>
                        <a:rPr kumimoji="1" lang="zh-CN" altLang="en-US" sz="2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𝑢</m:t>
                      </m:r>
                      <m:r>
                        <a:rPr kumimoji="1" lang="zh-CN" altLang="en-US" sz="2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𝑣</m:t>
                      </m:r>
                      <m:r>
                        <a:rPr kumimoji="1" lang="zh-CN" altLang="en-US" sz="2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)∈</m:t>
                      </m:r>
                      <m:sSub>
                        <m:sSubPr>
                          <m:ctrlPr>
                            <a:rPr kumimoji="1" lang="zh-CN" altLang="en-US" sz="26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𝑢𝑣</m:t>
                          </m:r>
                        </m:sub>
                      </m:sSub>
                      <m:r>
                        <a:rPr kumimoji="1" lang="zh-CN" altLang="en-US" sz="2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 ,</m:t>
                      </m:r>
                    </m:oMath>
                  </m:oMathPara>
                </a14:m>
                <a:endParaRPr kumimoji="1" lang="zh-CN" altLang="en-US" sz="2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对象 3">
                <a:extLst>
                  <a:ext uri="{FF2B5EF4-FFF2-40B4-BE49-F238E27FC236}">
                    <a16:creationId xmlns:a16="http://schemas.microsoft.com/office/drawing/2014/main" id="{2BF81808-90A9-D753-C0E7-E84B091A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896" y="1623595"/>
                <a:ext cx="4856878" cy="17819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67217213-CF35-9285-20BB-BA4749E68D69}"/>
                  </a:ext>
                </a:extLst>
              </p:cNvPr>
              <p:cNvSpPr txBox="1"/>
              <p:nvPr/>
            </p:nvSpPr>
            <p:spPr>
              <a:xfrm>
                <a:off x="1325603" y="3405515"/>
                <a:ext cx="2359302" cy="121198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6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6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4">
                <a:extLst>
                  <a:ext uri="{FF2B5EF4-FFF2-40B4-BE49-F238E27FC236}">
                    <a16:creationId xmlns:a16="http://schemas.microsoft.com/office/drawing/2014/main" id="{67217213-CF35-9285-20BB-BA4749E68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603" y="3405515"/>
                <a:ext cx="2359302" cy="12119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FDE86889-9595-829B-9A8B-BA423C58DE96}"/>
                  </a:ext>
                </a:extLst>
              </p:cNvPr>
              <p:cNvSpPr txBox="1"/>
              <p:nvPr/>
            </p:nvSpPr>
            <p:spPr>
              <a:xfrm>
                <a:off x="791896" y="4512851"/>
                <a:ext cx="10887301" cy="147883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6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6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6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6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6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𝑢𝑣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))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6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6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kumimoji="1" lang="zh-CN" altLang="en-US" sz="26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kumimoji="1" lang="zh-CN" altLang="en-US" sz="26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𝜕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(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𝑦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𝑧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𝜕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(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𝑢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𝑣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kumimoji="1" lang="zh-CN" altLang="en-US" sz="26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6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6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kumimoji="1" lang="zh-CN" altLang="en-US" sz="26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kumimoji="1" lang="zh-CN" altLang="en-US" sz="26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𝜕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(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𝑧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𝑥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𝜕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(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𝑢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𝑣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kumimoji="1" lang="zh-CN" altLang="en-US" sz="26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6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6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kumimoji="1" lang="zh-CN" altLang="en-US" sz="26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kumimoji="1" lang="zh-CN" altLang="en-US" sz="26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黑体" panose="02010609060101010101" pitchFamily="49" charset="-122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𝜕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(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𝑥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𝑦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𝜕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(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𝑢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𝑣</m:t>
                                          </m:r>
                                          <m:r>
                                            <a:rPr kumimoji="1" lang="zh-CN" altLang="en-US" sz="260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charset="0"/>
                                              <a:ea typeface="黑体" panose="02010609060101010101" pitchFamily="49" charset="-122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kumimoji="1" lang="zh-CN" altLang="en-US" sz="26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𝑢</m:t>
                          </m:r>
                          <m:r>
                            <m:rPr>
                              <m:sty m:val="p"/>
                            </m:rP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𝑣</m:t>
                          </m:r>
                          <m:r>
                            <a:rPr kumimoji="1" lang="zh-CN" altLang="en-US" sz="26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对象 5">
                <a:extLst>
                  <a:ext uri="{FF2B5EF4-FFF2-40B4-BE49-F238E27FC236}">
                    <a16:creationId xmlns:a16="http://schemas.microsoft.com/office/drawing/2014/main" id="{FDE86889-9595-829B-9A8B-BA423C58D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896" y="4512851"/>
                <a:ext cx="10887301" cy="14788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79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4CF41DC0-8AF7-BCCB-EAEC-0D003C7E1D52}"/>
              </a:ext>
            </a:extLst>
          </p:cNvPr>
          <p:cNvGrpSpPr/>
          <p:nvPr/>
        </p:nvGrpSpPr>
        <p:grpSpPr>
          <a:xfrm>
            <a:off x="687324" y="536260"/>
            <a:ext cx="10817987" cy="5805004"/>
            <a:chOff x="687324" y="536260"/>
            <a:chExt cx="10817987" cy="58050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02CAF364-DF18-0B5F-A38E-DDAC8E20173A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02CAF364-DF18-0B5F-A38E-DDAC8E2017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半闭框 16">
              <a:extLst>
                <a:ext uri="{FF2B5EF4-FFF2-40B4-BE49-F238E27FC236}">
                  <a16:creationId xmlns:a16="http://schemas.microsoft.com/office/drawing/2014/main" id="{C6C0F258-FBBD-5AA2-4B93-810E56558066}"/>
                </a:ext>
              </a:extLst>
            </p:cNvPr>
            <p:cNvSpPr/>
            <p:nvPr/>
          </p:nvSpPr>
          <p:spPr>
            <a:xfrm>
              <a:off x="687324" y="53626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2DD41AE2-DEC6-093E-7DE5-E97E1BFFDF64}"/>
                </a:ext>
              </a:extLst>
            </p:cNvPr>
            <p:cNvSpPr/>
            <p:nvPr/>
          </p:nvSpPr>
          <p:spPr>
            <a:xfrm flipH="1">
              <a:off x="10822895" y="53626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半闭框 18">
              <a:extLst>
                <a:ext uri="{FF2B5EF4-FFF2-40B4-BE49-F238E27FC236}">
                  <a16:creationId xmlns:a16="http://schemas.microsoft.com/office/drawing/2014/main" id="{7E3D093C-FE60-DE69-67DC-550E08A0894D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0" name="半闭框 19">
              <a:extLst>
                <a:ext uri="{FF2B5EF4-FFF2-40B4-BE49-F238E27FC236}">
                  <a16:creationId xmlns:a16="http://schemas.microsoft.com/office/drawing/2014/main" id="{33CCE4C0-E109-62B6-4391-D5E05FFB01AE}"/>
                </a:ext>
              </a:extLst>
            </p:cNvPr>
            <p:cNvSpPr/>
            <p:nvPr/>
          </p:nvSpPr>
          <p:spPr>
            <a:xfrm flipH="1" flipV="1">
              <a:off x="10823530" y="5647881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Box 372">
            <a:extLst>
              <a:ext uri="{FF2B5EF4-FFF2-40B4-BE49-F238E27FC236}">
                <a16:creationId xmlns:a16="http://schemas.microsoft.com/office/drawing/2014/main" id="{63747D72-B01B-CC38-DE71-C335723B0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650" y="2651594"/>
            <a:ext cx="7223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3" name="Rectangle 432">
            <a:extLst>
              <a:ext uri="{FF2B5EF4-FFF2-40B4-BE49-F238E27FC236}">
                <a16:creationId xmlns:a16="http://schemas.microsoft.com/office/drawing/2014/main" id="{CF94DF27-BD32-0430-2B5B-AFE2FAAC7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650" y="1004184"/>
            <a:ext cx="86836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33">
                <a:extLst>
                  <a:ext uri="{FF2B5EF4-FFF2-40B4-BE49-F238E27FC236}">
                    <a16:creationId xmlns:a16="http://schemas.microsoft.com/office/drawing/2014/main" id="{57CEF550-6B28-AF37-4BEC-53D52305D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13162" y="998468"/>
                <a:ext cx="2438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为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球面</a:t>
                </a:r>
              </a:p>
            </p:txBody>
          </p:sp>
        </mc:Choice>
        <mc:Fallback xmlns="">
          <p:sp>
            <p:nvSpPr>
              <p:cNvPr id="4" name="Text Box 433">
                <a:extLst>
                  <a:ext uri="{FF2B5EF4-FFF2-40B4-BE49-F238E27FC236}">
                    <a16:creationId xmlns:a16="http://schemas.microsoft.com/office/drawing/2014/main" id="{57CEF550-6B28-AF37-4BEC-53D52305D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3162" y="998468"/>
                <a:ext cx="2438400" cy="523220"/>
              </a:xfrm>
              <a:prstGeom prst="rect">
                <a:avLst/>
              </a:prstGeom>
              <a:blipFill>
                <a:blip r:embed="rId3"/>
                <a:stretch>
                  <a:fillRect l="-5250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34">
                <a:extLst>
                  <a:ext uri="{FF2B5EF4-FFF2-40B4-BE49-F238E27FC236}">
                    <a16:creationId xmlns:a16="http://schemas.microsoft.com/office/drawing/2014/main" id="{EB8AEBED-B0D9-23BE-F90C-D05B33BC22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8842" y="2032597"/>
                <a:ext cx="610553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被平面</a:t>
                </a: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h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(0 &lt;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h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&lt;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) </a:t>
                </a: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截出的顶部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.  </a:t>
                </a:r>
              </a:p>
            </p:txBody>
          </p:sp>
        </mc:Choice>
        <mc:Fallback xmlns="">
          <p:sp>
            <p:nvSpPr>
              <p:cNvPr id="5" name="Text Box 434">
                <a:extLst>
                  <a:ext uri="{FF2B5EF4-FFF2-40B4-BE49-F238E27FC236}">
                    <a16:creationId xmlns:a16="http://schemas.microsoft.com/office/drawing/2014/main" id="{EB8AEBED-B0D9-23BE-F90C-D05B33BC2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8842" y="2032597"/>
                <a:ext cx="6105533" cy="523220"/>
              </a:xfrm>
              <a:prstGeom prst="rect">
                <a:avLst/>
              </a:prstGeom>
              <a:blipFill>
                <a:blip r:embed="rId4"/>
                <a:stretch>
                  <a:fillRect l="-2098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35">
                <a:extLst>
                  <a:ext uri="{FF2B5EF4-FFF2-40B4-BE49-F238E27FC236}">
                    <a16:creationId xmlns:a16="http://schemas.microsoft.com/office/drawing/2014/main" id="{00F919A4-856C-FB3F-882F-5122662E2F2E}"/>
                  </a:ext>
                </a:extLst>
              </p:cNvPr>
              <p:cNvSpPr txBox="1"/>
              <p:nvPr/>
            </p:nvSpPr>
            <p:spPr bwMode="auto">
              <a:xfrm>
                <a:off x="4435237" y="711407"/>
                <a:ext cx="1158876" cy="11928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𝑆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den>
                          </m:f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435">
                <a:extLst>
                  <a:ext uri="{FF2B5EF4-FFF2-40B4-BE49-F238E27FC236}">
                    <a16:creationId xmlns:a16="http://schemas.microsoft.com/office/drawing/2014/main" id="{00F919A4-856C-FB3F-882F-5122662E2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5237" y="711407"/>
                <a:ext cx="1158876" cy="11928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36">
                <a:extLst>
                  <a:ext uri="{FF2B5EF4-FFF2-40B4-BE49-F238E27FC236}">
                    <a16:creationId xmlns:a16="http://schemas.microsoft.com/office/drawing/2014/main" id="{31C8A266-5D7F-D259-DADB-0C6E630692F8}"/>
                  </a:ext>
                </a:extLst>
              </p:cNvPr>
              <p:cNvSpPr txBox="1"/>
              <p:nvPr/>
            </p:nvSpPr>
            <p:spPr bwMode="auto">
              <a:xfrm>
                <a:off x="7643336" y="1000753"/>
                <a:ext cx="3008323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436">
                <a:extLst>
                  <a:ext uri="{FF2B5EF4-FFF2-40B4-BE49-F238E27FC236}">
                    <a16:creationId xmlns:a16="http://schemas.microsoft.com/office/drawing/2014/main" id="{31C8A266-5D7F-D259-DADB-0C6E63069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43336" y="1000753"/>
                <a:ext cx="300832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437">
                <a:extLst>
                  <a:ext uri="{FF2B5EF4-FFF2-40B4-BE49-F238E27FC236}">
                    <a16:creationId xmlns:a16="http://schemas.microsoft.com/office/drawing/2014/main" id="{BCAD0014-FE11-49AD-F9F9-187A6E8FE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842" y="2719986"/>
                <a:ext cx="165989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20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的方程为</a:t>
                </a:r>
              </a:p>
            </p:txBody>
          </p:sp>
        </mc:Choice>
        <mc:Fallback xmlns="">
          <p:sp>
            <p:nvSpPr>
              <p:cNvPr id="8" name="Rectangle 437">
                <a:extLst>
                  <a:ext uri="{FF2B5EF4-FFF2-40B4-BE49-F238E27FC236}">
                    <a16:creationId xmlns:a16="http://schemas.microsoft.com/office/drawing/2014/main" id="{BCAD0014-FE11-49AD-F9F9-187A6E8FEC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8842" y="2719986"/>
                <a:ext cx="1659890" cy="430887"/>
              </a:xfrm>
              <a:prstGeom prst="rect">
                <a:avLst/>
              </a:prstGeom>
              <a:blipFill>
                <a:blip r:embed="rId7"/>
                <a:stretch>
                  <a:fillRect l="-368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38">
                <a:extLst>
                  <a:ext uri="{FF2B5EF4-FFF2-40B4-BE49-F238E27FC236}">
                    <a16:creationId xmlns:a16="http://schemas.microsoft.com/office/drawing/2014/main" id="{8F5B7A1E-DD09-23D9-D62D-4922214B484F}"/>
                  </a:ext>
                </a:extLst>
              </p:cNvPr>
              <p:cNvSpPr txBox="1"/>
              <p:nvPr/>
            </p:nvSpPr>
            <p:spPr bwMode="auto">
              <a:xfrm>
                <a:off x="2239963" y="3255097"/>
                <a:ext cx="2710982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en-US" altLang="zh-CN" sz="22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438">
                <a:extLst>
                  <a:ext uri="{FF2B5EF4-FFF2-40B4-BE49-F238E27FC236}">
                    <a16:creationId xmlns:a16="http://schemas.microsoft.com/office/drawing/2014/main" id="{8F5B7A1E-DD09-23D9-D62D-4922214B4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9963" y="3255097"/>
                <a:ext cx="27109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439">
                <a:extLst>
                  <a:ext uri="{FF2B5EF4-FFF2-40B4-BE49-F238E27FC236}">
                    <a16:creationId xmlns:a16="http://schemas.microsoft.com/office/drawing/2014/main" id="{AC6842C3-3891-E51F-E3E3-6DE9A185CF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8842" y="3928581"/>
                <a:ext cx="367712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它在</a:t>
                </a:r>
                <a14:m>
                  <m:oMath xmlns:m="http://schemas.openxmlformats.org/officeDocument/2006/math">
                    <m:r>
                      <a:rPr kumimoji="1" lang="en-US" altLang="zh-CN" sz="2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𝑂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 面上的投影区域为</a:t>
                </a:r>
              </a:p>
            </p:txBody>
          </p:sp>
        </mc:Choice>
        <mc:Fallback xmlns="">
          <p:sp>
            <p:nvSpPr>
              <p:cNvPr id="10" name="Text Box 439">
                <a:extLst>
                  <a:ext uri="{FF2B5EF4-FFF2-40B4-BE49-F238E27FC236}">
                    <a16:creationId xmlns:a16="http://schemas.microsoft.com/office/drawing/2014/main" id="{AC6842C3-3891-E51F-E3E3-6DE9A185C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8842" y="3928581"/>
                <a:ext cx="3677126" cy="430887"/>
              </a:xfrm>
              <a:prstGeom prst="rect">
                <a:avLst/>
              </a:prstGeom>
              <a:blipFill>
                <a:blip r:embed="rId9"/>
                <a:stretch>
                  <a:fillRect l="-2156" t="-12676" r="-332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40">
                <a:extLst>
                  <a:ext uri="{FF2B5EF4-FFF2-40B4-BE49-F238E27FC236}">
                    <a16:creationId xmlns:a16="http://schemas.microsoft.com/office/drawing/2014/main" id="{4E281F5B-11A1-3A99-3A00-964266A34BF6}"/>
                  </a:ext>
                </a:extLst>
              </p:cNvPr>
              <p:cNvSpPr txBox="1"/>
              <p:nvPr/>
            </p:nvSpPr>
            <p:spPr bwMode="auto">
              <a:xfrm>
                <a:off x="2228842" y="4547578"/>
                <a:ext cx="3409315" cy="453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 :  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440">
                <a:extLst>
                  <a:ext uri="{FF2B5EF4-FFF2-40B4-BE49-F238E27FC236}">
                    <a16:creationId xmlns:a16="http://schemas.microsoft.com/office/drawing/2014/main" id="{4E281F5B-11A1-3A99-3A00-964266A34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8842" y="4547578"/>
                <a:ext cx="3409315" cy="453138"/>
              </a:xfrm>
              <a:prstGeom prst="rect">
                <a:avLst/>
              </a:prstGeom>
              <a:blipFill>
                <a:blip r:embed="rId10"/>
                <a:stretch>
                  <a:fillRect l="-179" b="-94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441">
            <a:extLst>
              <a:ext uri="{FF2B5EF4-FFF2-40B4-BE49-F238E27FC236}">
                <a16:creationId xmlns:a16="http://schemas.microsoft.com/office/drawing/2014/main" id="{4C290BD6-F000-05E0-9B99-73325489C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42" y="5211183"/>
            <a:ext cx="49879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442">
                <a:extLst>
                  <a:ext uri="{FF2B5EF4-FFF2-40B4-BE49-F238E27FC236}">
                    <a16:creationId xmlns:a16="http://schemas.microsoft.com/office/drawing/2014/main" id="{1BB92430-63C4-D4CE-B9DD-ED0657D3EBA8}"/>
                  </a:ext>
                </a:extLst>
              </p:cNvPr>
              <p:cNvSpPr txBox="1"/>
              <p:nvPr/>
            </p:nvSpPr>
            <p:spPr bwMode="auto">
              <a:xfrm>
                <a:off x="2628070" y="5000818"/>
                <a:ext cx="4304346" cy="9886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442">
                <a:extLst>
                  <a:ext uri="{FF2B5EF4-FFF2-40B4-BE49-F238E27FC236}">
                    <a16:creationId xmlns:a16="http://schemas.microsoft.com/office/drawing/2014/main" id="{1BB92430-63C4-D4CE-B9DD-ED0657D3E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8070" y="5000818"/>
                <a:ext cx="4304346" cy="98869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432">
            <a:extLst>
              <a:ext uri="{FF2B5EF4-FFF2-40B4-BE49-F238E27FC236}">
                <a16:creationId xmlns:a16="http://schemas.microsoft.com/office/drawing/2014/main" id="{ED11713D-5FA7-4454-B8C3-D778CA3CC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42" y="963002"/>
            <a:ext cx="23971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计算曲面积分</a:t>
            </a:r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3F53F57B-1F44-836D-21FC-4E886DE82EE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644" y="2887146"/>
            <a:ext cx="2914376" cy="265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8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92CEC3EC-EC31-9483-5A38-A80C55A33A54}"/>
              </a:ext>
            </a:extLst>
          </p:cNvPr>
          <p:cNvGrpSpPr/>
          <p:nvPr/>
        </p:nvGrpSpPr>
        <p:grpSpPr>
          <a:xfrm>
            <a:off x="687324" y="536260"/>
            <a:ext cx="10817987" cy="5805004"/>
            <a:chOff x="687324" y="536260"/>
            <a:chExt cx="10817987" cy="58050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19489E9-1B45-9535-C069-63342827A4CC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519489E9-1B45-9535-C069-63342827A4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7D5379CE-7EB1-1B04-5660-C0975E9F316C}"/>
                </a:ext>
              </a:extLst>
            </p:cNvPr>
            <p:cNvSpPr/>
            <p:nvPr/>
          </p:nvSpPr>
          <p:spPr>
            <a:xfrm>
              <a:off x="687324" y="53626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715AB88C-B7D1-A7C8-6909-D82F60394884}"/>
                </a:ext>
              </a:extLst>
            </p:cNvPr>
            <p:cNvSpPr/>
            <p:nvPr/>
          </p:nvSpPr>
          <p:spPr>
            <a:xfrm flipH="1">
              <a:off x="10822895" y="53626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24309D2C-F6E4-475A-1FFA-0BA480B2471E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6" name="半闭框 15">
              <a:extLst>
                <a:ext uri="{FF2B5EF4-FFF2-40B4-BE49-F238E27FC236}">
                  <a16:creationId xmlns:a16="http://schemas.microsoft.com/office/drawing/2014/main" id="{2867E8D3-63D0-8024-4304-BC3A9B3E3E32}"/>
                </a:ext>
              </a:extLst>
            </p:cNvPr>
            <p:cNvSpPr/>
            <p:nvPr/>
          </p:nvSpPr>
          <p:spPr>
            <a:xfrm flipH="1" flipV="1">
              <a:off x="10823530" y="5647881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Box 22">
            <a:extLst>
              <a:ext uri="{FF2B5EF4-FFF2-40B4-BE49-F238E27FC236}">
                <a16:creationId xmlns:a16="http://schemas.microsoft.com/office/drawing/2014/main" id="{BA1903F2-C167-7489-D04C-9119AC7DD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695" y="988814"/>
            <a:ext cx="8382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所以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3">
                <a:extLst>
                  <a:ext uri="{FF2B5EF4-FFF2-40B4-BE49-F238E27FC236}">
                    <a16:creationId xmlns:a16="http://schemas.microsoft.com/office/drawing/2014/main" id="{47002C1F-7F57-81CD-74C9-B0130D22B00B}"/>
                  </a:ext>
                </a:extLst>
              </p:cNvPr>
              <p:cNvSpPr txBox="1"/>
              <p:nvPr/>
            </p:nvSpPr>
            <p:spPr bwMode="auto">
              <a:xfrm>
                <a:off x="2754311" y="803146"/>
                <a:ext cx="838294" cy="920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𝑆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23">
                <a:extLst>
                  <a:ext uri="{FF2B5EF4-FFF2-40B4-BE49-F238E27FC236}">
                    <a16:creationId xmlns:a16="http://schemas.microsoft.com/office/drawing/2014/main" id="{47002C1F-7F57-81CD-74C9-B0130D22B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4311" y="803146"/>
                <a:ext cx="838294" cy="920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4">
                <a:extLst>
                  <a:ext uri="{FF2B5EF4-FFF2-40B4-BE49-F238E27FC236}">
                    <a16:creationId xmlns:a16="http://schemas.microsoft.com/office/drawing/2014/main" id="{7381B2DD-C1F9-92B5-DBC3-D6BE28FB40C5}"/>
                  </a:ext>
                </a:extLst>
              </p:cNvPr>
              <p:cNvSpPr txBox="1"/>
              <p:nvPr/>
            </p:nvSpPr>
            <p:spPr bwMode="auto">
              <a:xfrm>
                <a:off x="3605122" y="807990"/>
                <a:ext cx="2427287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24">
                <a:extLst>
                  <a:ext uri="{FF2B5EF4-FFF2-40B4-BE49-F238E27FC236}">
                    <a16:creationId xmlns:a16="http://schemas.microsoft.com/office/drawing/2014/main" id="{7381B2DD-C1F9-92B5-DBC3-D6BE28FB4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5122" y="807990"/>
                <a:ext cx="2427287" cy="101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5">
                <a:extLst>
                  <a:ext uri="{FF2B5EF4-FFF2-40B4-BE49-F238E27FC236}">
                    <a16:creationId xmlns:a16="http://schemas.microsoft.com/office/drawing/2014/main" id="{318183C0-E6A5-A38D-3876-44CAE5C8671A}"/>
                  </a:ext>
                </a:extLst>
              </p:cNvPr>
              <p:cNvSpPr txBox="1"/>
              <p:nvPr/>
            </p:nvSpPr>
            <p:spPr bwMode="auto">
              <a:xfrm>
                <a:off x="2754311" y="1989523"/>
                <a:ext cx="1788553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𝐷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𝜃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25">
                <a:extLst>
                  <a:ext uri="{FF2B5EF4-FFF2-40B4-BE49-F238E27FC236}">
                    <a16:creationId xmlns:a16="http://schemas.microsoft.com/office/drawing/2014/main" id="{318183C0-E6A5-A38D-3876-44CAE5C86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4311" y="1989523"/>
                <a:ext cx="1788553" cy="101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7">
                <a:extLst>
                  <a:ext uri="{FF2B5EF4-FFF2-40B4-BE49-F238E27FC236}">
                    <a16:creationId xmlns:a16="http://schemas.microsoft.com/office/drawing/2014/main" id="{4733AE2D-F935-B616-1DCD-52FC86BC0E13}"/>
                  </a:ext>
                </a:extLst>
              </p:cNvPr>
              <p:cNvSpPr txBox="1"/>
              <p:nvPr/>
            </p:nvSpPr>
            <p:spPr bwMode="auto">
              <a:xfrm>
                <a:off x="2754311" y="3219131"/>
                <a:ext cx="3455988" cy="920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nary>
                        <m:nary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sup>
                        <m:e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𝜌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 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𝜌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27">
                <a:extLst>
                  <a:ext uri="{FF2B5EF4-FFF2-40B4-BE49-F238E27FC236}">
                    <a16:creationId xmlns:a16="http://schemas.microsoft.com/office/drawing/2014/main" id="{4733AE2D-F935-B616-1DCD-52FC86BC0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4311" y="3219131"/>
                <a:ext cx="3455988" cy="9207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8">
                <a:extLst>
                  <a:ext uri="{FF2B5EF4-FFF2-40B4-BE49-F238E27FC236}">
                    <a16:creationId xmlns:a16="http://schemas.microsoft.com/office/drawing/2014/main" id="{32F8B481-E409-E7D1-DCEA-55389298D020}"/>
                  </a:ext>
                </a:extLst>
              </p:cNvPr>
              <p:cNvSpPr txBox="1"/>
              <p:nvPr/>
            </p:nvSpPr>
            <p:spPr bwMode="auto">
              <a:xfrm>
                <a:off x="2754311" y="4541551"/>
                <a:ext cx="4002835" cy="892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sSubSup>
                        <m:sSub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(</m:t>
                                  </m:r>
                                </m:e>
                              </m:func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sup>
                      </m:sSubSup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28">
                <a:extLst>
                  <a:ext uri="{FF2B5EF4-FFF2-40B4-BE49-F238E27FC236}">
                    <a16:creationId xmlns:a16="http://schemas.microsoft.com/office/drawing/2014/main" id="{32F8B481-E409-E7D1-DCEA-55389298D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4311" y="4541551"/>
                <a:ext cx="4002835" cy="8921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9">
                <a:extLst>
                  <a:ext uri="{FF2B5EF4-FFF2-40B4-BE49-F238E27FC236}">
                    <a16:creationId xmlns:a16="http://schemas.microsoft.com/office/drawing/2014/main" id="{9E28D64A-B806-B376-FAD8-B85DBC730B9E}"/>
                  </a:ext>
                </a:extLst>
              </p:cNvPr>
              <p:cNvSpPr txBox="1"/>
              <p:nvPr/>
            </p:nvSpPr>
            <p:spPr bwMode="auto">
              <a:xfrm>
                <a:off x="2754311" y="5592173"/>
                <a:ext cx="1672012" cy="6445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=2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𝑎</m:t>
                      </m:r>
                      <m:func>
                        <m:func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kumimoji="1" lang="zh-CN" altLang="en-US" sz="22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. 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29">
                <a:extLst>
                  <a:ext uri="{FF2B5EF4-FFF2-40B4-BE49-F238E27FC236}">
                    <a16:creationId xmlns:a16="http://schemas.microsoft.com/office/drawing/2014/main" id="{9E28D64A-B806-B376-FAD8-B85DBC730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4311" y="5592173"/>
                <a:ext cx="1672012" cy="6445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0">
                <a:extLst>
                  <a:ext uri="{FF2B5EF4-FFF2-40B4-BE49-F238E27FC236}">
                    <a16:creationId xmlns:a16="http://schemas.microsoft.com/office/drawing/2014/main" id="{0BC26186-04AE-A995-6747-9DE56544C33F}"/>
                  </a:ext>
                </a:extLst>
              </p:cNvPr>
              <p:cNvSpPr txBox="1"/>
              <p:nvPr/>
            </p:nvSpPr>
            <p:spPr bwMode="auto">
              <a:xfrm>
                <a:off x="7174369" y="4090171"/>
                <a:ext cx="3229426" cy="892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:  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𝜃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π</m:t>
                                </m:r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 ,       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kumimoji="1" lang="zh-CN" altLang="en-US" sz="220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charset="0"/>
                                    <a:ea typeface="黑体" panose="02010609060101010101" pitchFamily="49" charset="-122"/>
                                  </a:rPr>
                                  <m:t>𝜌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</a:rPr>
                                  <m:t>≤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kumimoji="1" lang="zh-CN" altLang="en-US" sz="22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kumimoji="1" lang="zh-CN" altLang="en-US" sz="2200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zh-CN" altLang="en-US" sz="220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kumimoji="1" lang="zh-CN" altLang="en-US" sz="220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zh-CN" altLang="en-US" sz="2200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charset="0"/>
                                        <a:ea typeface="黑体" panose="02010609060101010101" pitchFamily="49" charset="-122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kumimoji="1" lang="zh-CN" altLang="en-US" sz="2200" i="1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zh-CN" altLang="en-US" sz="220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r>
                                          <a:rPr kumimoji="1" lang="zh-CN" altLang="en-US" sz="2200">
                                            <a:solidFill>
                                              <a:schemeClr val="tx1">
                                                <a:lumMod val="95000"/>
                                                <a:lumOff val="5000"/>
                                              </a:schemeClr>
                                            </a:solidFill>
                                            <a:latin typeface="Cambria Math" panose="02040503050406030204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30">
                <a:extLst>
                  <a:ext uri="{FF2B5EF4-FFF2-40B4-BE49-F238E27FC236}">
                    <a16:creationId xmlns:a16="http://schemas.microsoft.com/office/drawing/2014/main" id="{0BC26186-04AE-A995-6747-9DE56544C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74369" y="4090171"/>
                <a:ext cx="3229426" cy="892175"/>
              </a:xfrm>
              <a:prstGeom prst="rect">
                <a:avLst/>
              </a:prstGeom>
              <a:blipFill>
                <a:blip r:embed="rId9"/>
                <a:stretch>
                  <a:fillRect b="-27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 descr="图示&#10;&#10;描述已自动生成">
            <a:extLst>
              <a:ext uri="{FF2B5EF4-FFF2-40B4-BE49-F238E27FC236}">
                <a16:creationId xmlns:a16="http://schemas.microsoft.com/office/drawing/2014/main" id="{9C8E4B6A-2DAF-1B17-FAA8-205C58E4BAE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201" y="1141411"/>
            <a:ext cx="2812694" cy="255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8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8A8B01BE-D2BC-C98A-DABA-DE3D8A00B6D7}"/>
              </a:ext>
            </a:extLst>
          </p:cNvPr>
          <p:cNvGrpSpPr/>
          <p:nvPr/>
        </p:nvGrpSpPr>
        <p:grpSpPr>
          <a:xfrm>
            <a:off x="687324" y="536260"/>
            <a:ext cx="10817987" cy="5805004"/>
            <a:chOff x="687324" y="536260"/>
            <a:chExt cx="10817987" cy="58050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47E8B3A5-71F1-19C8-D361-928FA76D6C18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47E8B3A5-71F1-19C8-D361-928FA76D6C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半闭框 21">
              <a:extLst>
                <a:ext uri="{FF2B5EF4-FFF2-40B4-BE49-F238E27FC236}">
                  <a16:creationId xmlns:a16="http://schemas.microsoft.com/office/drawing/2014/main" id="{D16C30E1-69C9-89DD-2E6B-815EB45AFA77}"/>
                </a:ext>
              </a:extLst>
            </p:cNvPr>
            <p:cNvSpPr/>
            <p:nvPr/>
          </p:nvSpPr>
          <p:spPr>
            <a:xfrm>
              <a:off x="687324" y="53626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半闭框 22">
              <a:extLst>
                <a:ext uri="{FF2B5EF4-FFF2-40B4-BE49-F238E27FC236}">
                  <a16:creationId xmlns:a16="http://schemas.microsoft.com/office/drawing/2014/main" id="{44F85CF8-8ACC-119E-AA93-F32FC665C11B}"/>
                </a:ext>
              </a:extLst>
            </p:cNvPr>
            <p:cNvSpPr/>
            <p:nvPr/>
          </p:nvSpPr>
          <p:spPr>
            <a:xfrm flipH="1">
              <a:off x="10822895" y="53626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半闭框 23">
              <a:extLst>
                <a:ext uri="{FF2B5EF4-FFF2-40B4-BE49-F238E27FC236}">
                  <a16:creationId xmlns:a16="http://schemas.microsoft.com/office/drawing/2014/main" id="{40E4DE24-E555-7860-4576-F3E2B411F1B1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5" name="半闭框 24">
              <a:extLst>
                <a:ext uri="{FF2B5EF4-FFF2-40B4-BE49-F238E27FC236}">
                  <a16:creationId xmlns:a16="http://schemas.microsoft.com/office/drawing/2014/main" id="{5CC0DC5C-2ECD-6434-976B-66C652D85454}"/>
                </a:ext>
              </a:extLst>
            </p:cNvPr>
            <p:cNvSpPr/>
            <p:nvPr/>
          </p:nvSpPr>
          <p:spPr>
            <a:xfrm flipH="1" flipV="1">
              <a:off x="10823530" y="5647881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Box 372">
            <a:extLst>
              <a:ext uri="{FF2B5EF4-FFF2-40B4-BE49-F238E27FC236}">
                <a16:creationId xmlns:a16="http://schemas.microsoft.com/office/drawing/2014/main" id="{94459643-DF2D-46F9-6E7A-FA95D9B2E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315" y="2307318"/>
            <a:ext cx="7223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3" name="Rectangle 454">
            <a:extLst>
              <a:ext uri="{FF2B5EF4-FFF2-40B4-BE49-F238E27FC236}">
                <a16:creationId xmlns:a16="http://schemas.microsoft.com/office/drawing/2014/main" id="{8DE67D84-902D-8D37-547A-3B40C97C2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864" y="603260"/>
            <a:ext cx="76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55">
                <a:extLst>
                  <a:ext uri="{FF2B5EF4-FFF2-40B4-BE49-F238E27FC236}">
                    <a16:creationId xmlns:a16="http://schemas.microsoft.com/office/drawing/2014/main" id="{57A972C9-F9D9-9C0D-5E5A-CA7CF20A5B64}"/>
                  </a:ext>
                </a:extLst>
              </p:cNvPr>
              <p:cNvSpPr txBox="1"/>
              <p:nvPr/>
            </p:nvSpPr>
            <p:spPr bwMode="auto">
              <a:xfrm>
                <a:off x="3315325" y="432217"/>
                <a:ext cx="1735138" cy="11824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Σ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𝑥𝑦𝑧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55">
                <a:extLst>
                  <a:ext uri="{FF2B5EF4-FFF2-40B4-BE49-F238E27FC236}">
                    <a16:creationId xmlns:a16="http://schemas.microsoft.com/office/drawing/2014/main" id="{57A972C9-F9D9-9C0D-5E5A-CA7CF20A5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5325" y="432217"/>
                <a:ext cx="1735138" cy="11824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56">
                <a:extLst>
                  <a:ext uri="{FF2B5EF4-FFF2-40B4-BE49-F238E27FC236}">
                    <a16:creationId xmlns:a16="http://schemas.microsoft.com/office/drawing/2014/main" id="{C9D68081-6BA1-145F-1A8C-FE508147D9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7514" y="731590"/>
                <a:ext cx="3048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是由平面</a:t>
                </a:r>
              </a:p>
            </p:txBody>
          </p:sp>
        </mc:Choice>
        <mc:Fallback xmlns="">
          <p:sp>
            <p:nvSpPr>
              <p:cNvPr id="5" name="Text Box 456">
                <a:extLst>
                  <a:ext uri="{FF2B5EF4-FFF2-40B4-BE49-F238E27FC236}">
                    <a16:creationId xmlns:a16="http://schemas.microsoft.com/office/drawing/2014/main" id="{C9D68081-6BA1-145F-1A8C-FE508147D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7514" y="731590"/>
                <a:ext cx="3048000" cy="523220"/>
              </a:xfrm>
              <a:prstGeom prst="rect">
                <a:avLst/>
              </a:prstGeom>
              <a:blipFill>
                <a:blip r:embed="rId4"/>
                <a:stretch>
                  <a:fillRect l="-4200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457">
            <a:extLst>
              <a:ext uri="{FF2B5EF4-FFF2-40B4-BE49-F238E27FC236}">
                <a16:creationId xmlns:a16="http://schemas.microsoft.com/office/drawing/2014/main" id="{5CF175A3-46F6-788C-1887-9BFDB423E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864" y="1662649"/>
            <a:ext cx="51466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坐标面所围成的四面体的表面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7" name="Text Box 458">
            <a:extLst>
              <a:ext uri="{FF2B5EF4-FFF2-40B4-BE49-F238E27FC236}">
                <a16:creationId xmlns:a16="http://schemas.microsoft.com/office/drawing/2014/main" id="{64DDAEC3-C783-D08F-ADF0-EEF6A55E5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715" y="2352236"/>
            <a:ext cx="609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设</a:t>
            </a:r>
            <a:endParaRPr kumimoji="1"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59">
                <a:extLst>
                  <a:ext uri="{FF2B5EF4-FFF2-40B4-BE49-F238E27FC236}">
                    <a16:creationId xmlns:a16="http://schemas.microsoft.com/office/drawing/2014/main" id="{628E84DB-0E34-1904-F56A-A658F03513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0715" y="2966131"/>
                <a:ext cx="54102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 0 ,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+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+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= 0 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上的部分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</a:rPr>
                  <a:t>则</a:t>
                </a:r>
              </a:p>
            </p:txBody>
          </p:sp>
        </mc:Choice>
        <mc:Fallback xmlns="">
          <p:sp>
            <p:nvSpPr>
              <p:cNvPr id="8" name="Text Box 459">
                <a:extLst>
                  <a:ext uri="{FF2B5EF4-FFF2-40B4-BE49-F238E27FC236}">
                    <a16:creationId xmlns:a16="http://schemas.microsoft.com/office/drawing/2014/main" id="{628E84DB-0E34-1904-F56A-A658F0351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0715" y="2966131"/>
                <a:ext cx="5410200" cy="430887"/>
              </a:xfrm>
              <a:prstGeom prst="rect">
                <a:avLst/>
              </a:prstGeom>
              <a:blipFill>
                <a:blip r:embed="rId5"/>
                <a:stretch>
                  <a:fillRect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60">
                <a:extLst>
                  <a:ext uri="{FF2B5EF4-FFF2-40B4-BE49-F238E27FC236}">
                    <a16:creationId xmlns:a16="http://schemas.microsoft.com/office/drawing/2014/main" id="{17622BAB-C1DF-1E1E-DB82-15C9BB3A9502}"/>
                  </a:ext>
                </a:extLst>
              </p:cNvPr>
              <p:cNvSpPr txBox="1"/>
              <p:nvPr/>
            </p:nvSpPr>
            <p:spPr bwMode="auto">
              <a:xfrm>
                <a:off x="2937101" y="2350181"/>
                <a:ext cx="2128838" cy="539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e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e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e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e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460">
                <a:extLst>
                  <a:ext uri="{FF2B5EF4-FFF2-40B4-BE49-F238E27FC236}">
                    <a16:creationId xmlns:a16="http://schemas.microsoft.com/office/drawing/2014/main" id="{17622BAB-C1DF-1E1E-DB82-15C9BB3A9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7101" y="2350181"/>
                <a:ext cx="2128838" cy="539750"/>
              </a:xfrm>
              <a:prstGeom prst="rect">
                <a:avLst/>
              </a:prstGeom>
              <a:blipFill>
                <a:blip r:embed="rId6"/>
                <a:stretch>
                  <a:fillRect l="-2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61">
                <a:extLst>
                  <a:ext uri="{FF2B5EF4-FFF2-40B4-BE49-F238E27FC236}">
                    <a16:creationId xmlns:a16="http://schemas.microsoft.com/office/drawing/2014/main" id="{AE58F52A-8BE9-E41F-6840-88873325487F}"/>
                  </a:ext>
                </a:extLst>
              </p:cNvPr>
              <p:cNvSpPr txBox="1"/>
              <p:nvPr/>
            </p:nvSpPr>
            <p:spPr bwMode="auto">
              <a:xfrm>
                <a:off x="2495776" y="4433429"/>
                <a:ext cx="1860550" cy="930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𝛴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𝑥𝑦𝑧</m:t>
                          </m:r>
                          <m:r>
                            <m:rPr>
                              <m:sty m:val="p"/>
                            </m:rP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461">
                <a:extLst>
                  <a:ext uri="{FF2B5EF4-FFF2-40B4-BE49-F238E27FC236}">
                    <a16:creationId xmlns:a16="http://schemas.microsoft.com/office/drawing/2014/main" id="{AE58F52A-8BE9-E41F-6840-888733254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776" y="4433429"/>
                <a:ext cx="1860550" cy="930275"/>
              </a:xfrm>
              <a:prstGeom prst="rect">
                <a:avLst/>
              </a:prstGeom>
              <a:blipFill>
                <a:blip r:embed="rId7"/>
                <a:stretch>
                  <a:fillRect b="-32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62">
                <a:extLst>
                  <a:ext uri="{FF2B5EF4-FFF2-40B4-BE49-F238E27FC236}">
                    <a16:creationId xmlns:a16="http://schemas.microsoft.com/office/drawing/2014/main" id="{FB0D5C25-C20D-ECBE-382E-DE47C56580E7}"/>
                  </a:ext>
                </a:extLst>
              </p:cNvPr>
              <p:cNvSpPr txBox="1"/>
              <p:nvPr/>
            </p:nvSpPr>
            <p:spPr bwMode="auto">
              <a:xfrm>
                <a:off x="3994376" y="5432222"/>
                <a:ext cx="2759075" cy="839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1−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sup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(1−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 b="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b="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462">
                <a:extLst>
                  <a:ext uri="{FF2B5EF4-FFF2-40B4-BE49-F238E27FC236}">
                    <a16:creationId xmlns:a16="http://schemas.microsoft.com/office/drawing/2014/main" id="{FB0D5C25-C20D-ECBE-382E-DE47C5658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4376" y="5432222"/>
                <a:ext cx="2759075" cy="8397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463">
                <a:extLst>
                  <a:ext uri="{FF2B5EF4-FFF2-40B4-BE49-F238E27FC236}">
                    <a16:creationId xmlns:a16="http://schemas.microsoft.com/office/drawing/2014/main" id="{BCA8B887-8738-6CA2-31C8-C83E9F9BA887}"/>
                  </a:ext>
                </a:extLst>
              </p:cNvPr>
              <p:cNvSpPr txBox="1"/>
              <p:nvPr/>
            </p:nvSpPr>
            <p:spPr bwMode="auto">
              <a:xfrm>
                <a:off x="6542315" y="5494020"/>
                <a:ext cx="1498600" cy="809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120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463">
                <a:extLst>
                  <a:ext uri="{FF2B5EF4-FFF2-40B4-BE49-F238E27FC236}">
                    <a16:creationId xmlns:a16="http://schemas.microsoft.com/office/drawing/2014/main" id="{BCA8B887-8738-6CA2-31C8-C83E9F9BA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2315" y="5494020"/>
                <a:ext cx="1498600" cy="8096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464">
                <a:extLst>
                  <a:ext uri="{FF2B5EF4-FFF2-40B4-BE49-F238E27FC236}">
                    <a16:creationId xmlns:a16="http://schemas.microsoft.com/office/drawing/2014/main" id="{5DE95735-C342-EAE0-6775-BF25BF6E736E}"/>
                  </a:ext>
                </a:extLst>
              </p:cNvPr>
              <p:cNvSpPr txBox="1"/>
              <p:nvPr/>
            </p:nvSpPr>
            <p:spPr bwMode="auto">
              <a:xfrm>
                <a:off x="7545813" y="713592"/>
                <a:ext cx="2330451" cy="479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=1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464">
                <a:extLst>
                  <a:ext uri="{FF2B5EF4-FFF2-40B4-BE49-F238E27FC236}">
                    <a16:creationId xmlns:a16="http://schemas.microsoft.com/office/drawing/2014/main" id="{5DE95735-C342-EAE0-6775-BF25BF6E7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5813" y="713592"/>
                <a:ext cx="2330451" cy="4794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465">
            <a:extLst>
              <a:ext uri="{FF2B5EF4-FFF2-40B4-BE49-F238E27FC236}">
                <a16:creationId xmlns:a16="http://schemas.microsoft.com/office/drawing/2014/main" id="{CB66C637-7767-FA6E-2399-7F22F7938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0186" y="738516"/>
            <a:ext cx="533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  <a:sym typeface="Symbol" panose="05050102010706020507" pitchFamily="18" charset="2"/>
              </a:rPr>
              <a:t>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66">
                <a:extLst>
                  <a:ext uri="{FF2B5EF4-FFF2-40B4-BE49-F238E27FC236}">
                    <a16:creationId xmlns:a16="http://schemas.microsoft.com/office/drawing/2014/main" id="{1B73D1BA-0154-9B47-0BAE-3060011B4EF3}"/>
                  </a:ext>
                </a:extLst>
              </p:cNvPr>
              <p:cNvSpPr txBox="1"/>
              <p:nvPr/>
            </p:nvSpPr>
            <p:spPr bwMode="auto">
              <a:xfrm>
                <a:off x="2495776" y="5432222"/>
                <a:ext cx="1770063" cy="839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e>
                      </m:rad>
                      <m:nary>
                        <m:nary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1</m:t>
                          </m:r>
                        </m:sup>
                        <m:e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466">
                <a:extLst>
                  <a:ext uri="{FF2B5EF4-FFF2-40B4-BE49-F238E27FC236}">
                    <a16:creationId xmlns:a16="http://schemas.microsoft.com/office/drawing/2014/main" id="{1B73D1BA-0154-9B47-0BAE-3060011B4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776" y="5432222"/>
                <a:ext cx="1770063" cy="8397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67">
                <a:extLst>
                  <a:ext uri="{FF2B5EF4-FFF2-40B4-BE49-F238E27FC236}">
                    <a16:creationId xmlns:a16="http://schemas.microsoft.com/office/drawing/2014/main" id="{E0D8D290-9188-1404-109D-EB9B1EFFAFBB}"/>
                  </a:ext>
                </a:extLst>
              </p:cNvPr>
              <p:cNvSpPr txBox="1"/>
              <p:nvPr/>
            </p:nvSpPr>
            <p:spPr bwMode="auto">
              <a:xfrm>
                <a:off x="3384777" y="3473218"/>
                <a:ext cx="4260849" cy="10153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𝛴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kumimoji="1" lang="en-US" altLang="zh-CN" sz="22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</m:nary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𝛴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kumimoji="1" lang="en-US" altLang="zh-CN" sz="22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</m:nary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𝛴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kumimoji="1" lang="en-US" altLang="zh-CN" sz="22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</m:nary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𝛴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pitchFamily="49" charset="-122"/>
                                    </a:rPr>
                                    <m:t>4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kumimoji="1" lang="en-US" altLang="zh-CN" sz="22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</m:nary>
                        </m:e>
                      </m: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𝑥𝑦𝑧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𝑆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467">
                <a:extLst>
                  <a:ext uri="{FF2B5EF4-FFF2-40B4-BE49-F238E27FC236}">
                    <a16:creationId xmlns:a16="http://schemas.microsoft.com/office/drawing/2014/main" id="{E0D8D290-9188-1404-109D-EB9B1EFFA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4777" y="3473218"/>
                <a:ext cx="4260849" cy="101530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468">
            <a:extLst>
              <a:ext uri="{FF2B5EF4-FFF2-40B4-BE49-F238E27FC236}">
                <a16:creationId xmlns:a16="http://schemas.microsoft.com/office/drawing/2014/main" id="{D2FBFD8B-ACFB-5EC8-BAD7-61F35CE6F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723" y="3684356"/>
            <a:ext cx="120898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  </a:t>
            </a: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原式 </a:t>
            </a:r>
            <a:r>
              <a:rPr kumimoji="1"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469">
                <a:extLst>
                  <a:ext uri="{FF2B5EF4-FFF2-40B4-BE49-F238E27FC236}">
                    <a16:creationId xmlns:a16="http://schemas.microsoft.com/office/drawing/2014/main" id="{F36E6874-FCB6-48BA-AD21-C408D39AF9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21439" y="2359706"/>
                <a:ext cx="514985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分别表示</a:t>
                </a:r>
                <a14:m>
                  <m:oMath xmlns:m="http://schemas.openxmlformats.org/officeDocument/2006/math">
                    <m:r>
                      <a:rPr kumimoji="1" lang="en-US" altLang="zh-CN" sz="2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𝛴</m:t>
                    </m:r>
                    <m:r>
                      <a:rPr kumimoji="1" lang="en-US" altLang="zh-CN" sz="2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在平面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= 0 ,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= 0, </a:t>
                </a:r>
                <a:endParaRPr kumimoji="1" lang="en-US" altLang="zh-CN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Text Box 469">
                <a:extLst>
                  <a:ext uri="{FF2B5EF4-FFF2-40B4-BE49-F238E27FC236}">
                    <a16:creationId xmlns:a16="http://schemas.microsoft.com/office/drawing/2014/main" id="{F36E6874-FCB6-48BA-AD21-C408D39AF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439" y="2359706"/>
                <a:ext cx="5149850" cy="430887"/>
              </a:xfrm>
              <a:prstGeom prst="rect">
                <a:avLst/>
              </a:prstGeom>
              <a:blipFill>
                <a:blip r:embed="rId13"/>
                <a:stretch>
                  <a:fillRect l="-1538" t="-14085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454">
            <a:extLst>
              <a:ext uri="{FF2B5EF4-FFF2-40B4-BE49-F238E27FC236}">
                <a16:creationId xmlns:a16="http://schemas.microsoft.com/office/drawing/2014/main" id="{E7080E58-793E-F58A-DB5C-AB0BEDACD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864" y="603260"/>
            <a:ext cx="96996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7" name="图片 26" descr="图片包含 游戏机, 伞&#10;&#10;描述已自动生成">
            <a:extLst>
              <a:ext uri="{FF2B5EF4-FFF2-40B4-BE49-F238E27FC236}">
                <a16:creationId xmlns:a16="http://schemas.microsoft.com/office/drawing/2014/main" id="{D59E59F4-6C34-E166-5E8F-35C93F9F0BB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163" y="2889931"/>
            <a:ext cx="2542808" cy="257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7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3B37E3F5-4951-23AE-9EB4-C74BED3A2591}"/>
              </a:ext>
            </a:extLst>
          </p:cNvPr>
          <p:cNvGrpSpPr/>
          <p:nvPr/>
        </p:nvGrpSpPr>
        <p:grpSpPr>
          <a:xfrm>
            <a:off x="687324" y="536260"/>
            <a:ext cx="10817987" cy="5805004"/>
            <a:chOff x="687324" y="536260"/>
            <a:chExt cx="10817987" cy="58050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CBA53ED5-45C9-596B-59DD-64987AA025A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CBA53ED5-45C9-596B-59DD-64987AA025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C6BF2415-10ED-5CB0-B5DB-38114C63FBAC}"/>
                </a:ext>
              </a:extLst>
            </p:cNvPr>
            <p:cNvSpPr/>
            <p:nvPr/>
          </p:nvSpPr>
          <p:spPr>
            <a:xfrm>
              <a:off x="687324" y="53626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6C326726-4590-A055-45CD-4933BBF9FCF4}"/>
                </a:ext>
              </a:extLst>
            </p:cNvPr>
            <p:cNvSpPr/>
            <p:nvPr/>
          </p:nvSpPr>
          <p:spPr>
            <a:xfrm flipH="1">
              <a:off x="10822895" y="53626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E8C6779C-CF7D-A8E8-5164-0DB535EB4803}"/>
                </a:ext>
              </a:extLst>
            </p:cNvPr>
            <p:cNvSpPr/>
            <p:nvPr/>
          </p:nvSpPr>
          <p:spPr>
            <a:xfrm flipV="1">
              <a:off x="687324" y="566264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FFA6CE62-04FF-3D07-07E9-AAEB4202AE45}"/>
                </a:ext>
              </a:extLst>
            </p:cNvPr>
            <p:cNvSpPr/>
            <p:nvPr/>
          </p:nvSpPr>
          <p:spPr>
            <a:xfrm flipH="1" flipV="1">
              <a:off x="10823530" y="5647881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F655C82B-5FBC-9468-1B78-DD12F421C2B5}"/>
              </a:ext>
            </a:extLst>
          </p:cNvPr>
          <p:cNvSpPr txBox="1">
            <a:spLocks noChangeArrowheads="1"/>
          </p:cNvSpPr>
          <p:nvPr/>
        </p:nvSpPr>
        <p:spPr>
          <a:xfrm>
            <a:off x="1820409" y="834007"/>
            <a:ext cx="893762" cy="592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528D0E83-F197-DCC7-68CD-EE728A78EE13}"/>
                  </a:ext>
                </a:extLst>
              </p:cNvPr>
              <p:cNvSpPr txBox="1"/>
              <p:nvPr/>
            </p:nvSpPr>
            <p:spPr bwMode="auto">
              <a:xfrm>
                <a:off x="3361078" y="554351"/>
                <a:ext cx="3359150" cy="11628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528D0E83-F197-DCC7-68CD-EE728A78E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1078" y="554351"/>
                <a:ext cx="3359150" cy="11628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E695538A-C986-E853-0E7E-75A02AD4B6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44001" y="850418"/>
                <a:ext cx="2268626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𝛴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是球面</a:t>
                </a:r>
              </a:p>
            </p:txBody>
          </p:sp>
        </mc:Choice>
        <mc:Fallback xmlns="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E695538A-C986-E853-0E7E-75A02AD4B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4001" y="850418"/>
                <a:ext cx="2268626" cy="519113"/>
              </a:xfrm>
              <a:prstGeom prst="rect">
                <a:avLst/>
              </a:prstGeom>
              <a:blipFill>
                <a:blip r:embed="rId4"/>
                <a:stretch>
                  <a:fillRect l="-5376" t="-16471" r="-215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CB1657BF-C107-7570-3CBC-A3C8BC48D418}"/>
                  </a:ext>
                </a:extLst>
              </p:cNvPr>
              <p:cNvSpPr txBox="1"/>
              <p:nvPr/>
            </p:nvSpPr>
            <p:spPr bwMode="auto">
              <a:xfrm>
                <a:off x="8499611" y="834007"/>
                <a:ext cx="1533525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CB1657BF-C107-7570-3CBC-A3C8BC48D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99611" y="834007"/>
                <a:ext cx="1533525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7">
            <a:extLst>
              <a:ext uri="{FF2B5EF4-FFF2-40B4-BE49-F238E27FC236}">
                <a16:creationId xmlns:a16="http://schemas.microsoft.com/office/drawing/2014/main" id="{2498891A-4E22-3D40-CB17-4CD61CD6F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2571" y="2710090"/>
            <a:ext cx="2743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利用对称性可知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02932476-B943-8A3A-B633-9AA85E39DCD3}"/>
                  </a:ext>
                </a:extLst>
              </p:cNvPr>
              <p:cNvSpPr txBox="1"/>
              <p:nvPr/>
            </p:nvSpPr>
            <p:spPr bwMode="auto">
              <a:xfrm>
                <a:off x="4603296" y="2480694"/>
                <a:ext cx="4330700" cy="9786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2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02932476-B943-8A3A-B633-9AA85E39D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3296" y="2480694"/>
                <a:ext cx="4330700" cy="9786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A79680AC-F53E-C6ED-EEDF-5E6D05E06ECD}"/>
                  </a:ext>
                </a:extLst>
              </p:cNvPr>
              <p:cNvSpPr txBox="1"/>
              <p:nvPr/>
            </p:nvSpPr>
            <p:spPr bwMode="auto">
              <a:xfrm>
                <a:off x="3666671" y="4067573"/>
                <a:ext cx="3794125" cy="9786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A79680AC-F53E-C6ED-EEDF-5E6D05E06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6671" y="4067573"/>
                <a:ext cx="3794125" cy="9786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5FCD1038-4A24-9BF7-CEC5-6E0FA0790C8D}"/>
                  </a:ext>
                </a:extLst>
              </p:cNvPr>
              <p:cNvSpPr txBox="1"/>
              <p:nvPr/>
            </p:nvSpPr>
            <p:spPr bwMode="auto">
              <a:xfrm>
                <a:off x="2612571" y="3237139"/>
                <a:ext cx="4330700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∴</m:t>
                      </m:r>
                      <m:r>
                        <a:rPr kumimoji="1" lang="en-US" altLang="zh-CN" sz="22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𝐼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5FCD1038-4A24-9BF7-CEC5-6E0FA0790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2571" y="3237139"/>
                <a:ext cx="4330700" cy="9398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6831E85D-98D2-0080-B42E-F3BBFD36A36C}"/>
                  </a:ext>
                </a:extLst>
              </p:cNvPr>
              <p:cNvSpPr txBox="1"/>
              <p:nvPr/>
            </p:nvSpPr>
            <p:spPr bwMode="auto">
              <a:xfrm>
                <a:off x="6193971" y="3236034"/>
                <a:ext cx="3060700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4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6831E85D-98D2-0080-B42E-F3BBFD36A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3971" y="3236034"/>
                <a:ext cx="3060700" cy="939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2">
                <a:extLst>
                  <a:ext uri="{FF2B5EF4-FFF2-40B4-BE49-F238E27FC236}">
                    <a16:creationId xmlns:a16="http://schemas.microsoft.com/office/drawing/2014/main" id="{97E58DCF-7ABD-39E2-E64E-B88D65EBD044}"/>
                  </a:ext>
                </a:extLst>
              </p:cNvPr>
              <p:cNvSpPr txBox="1"/>
              <p:nvPr/>
            </p:nvSpPr>
            <p:spPr bwMode="auto">
              <a:xfrm>
                <a:off x="3333296" y="4908171"/>
                <a:ext cx="1676400" cy="10065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=4</m:t>
                      </m:r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2">
                <a:extLst>
                  <a:ext uri="{FF2B5EF4-FFF2-40B4-BE49-F238E27FC236}">
                    <a16:creationId xmlns:a16="http://schemas.microsoft.com/office/drawing/2014/main" id="{97E58DCF-7ABD-39E2-E64E-B88D65EBD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3296" y="4908171"/>
                <a:ext cx="1676400" cy="100659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F86F44C7-94D9-48CC-3AF4-4E8706C8836A}"/>
                  </a:ext>
                </a:extLst>
              </p:cNvPr>
              <p:cNvSpPr txBox="1"/>
              <p:nvPr/>
            </p:nvSpPr>
            <p:spPr bwMode="auto">
              <a:xfrm>
                <a:off x="4736086" y="4904013"/>
                <a:ext cx="2070100" cy="9397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=4⋅</m:t>
                      </m:r>
                      <m:bar>
                        <m:barPr>
                          <m:pos m:val="top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bar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ba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⋅</m:t>
                      </m:r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F86F44C7-94D9-48CC-3AF4-4E8706C88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6086" y="4904013"/>
                <a:ext cx="2070100" cy="9397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495281E4-6F48-9A54-8DEE-BC18B593DE15}"/>
                  </a:ext>
                </a:extLst>
              </p:cNvPr>
              <p:cNvSpPr txBox="1"/>
              <p:nvPr/>
            </p:nvSpPr>
            <p:spPr bwMode="auto">
              <a:xfrm>
                <a:off x="3333296" y="5763815"/>
                <a:ext cx="340659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=4⋅1⋅4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e>
                      </m:rad>
                      <m:sSup>
                        <m:sSup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=48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4">
                <a:extLst>
                  <a:ext uri="{FF2B5EF4-FFF2-40B4-BE49-F238E27FC236}">
                    <a16:creationId xmlns:a16="http://schemas.microsoft.com/office/drawing/2014/main" id="{495281E4-6F48-9A54-8DEE-BC18B593D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3296" y="5763815"/>
                <a:ext cx="3406590" cy="4318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42">
            <a:extLst>
              <a:ext uri="{FF2B5EF4-FFF2-40B4-BE49-F238E27FC236}">
                <a16:creationId xmlns:a16="http://schemas.microsoft.com/office/drawing/2014/main" id="{3A589D97-AE43-657A-7CB6-8B372536B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2571" y="2189390"/>
            <a:ext cx="16700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显然球心为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3">
                <a:extLst>
                  <a:ext uri="{FF2B5EF4-FFF2-40B4-BE49-F238E27FC236}">
                    <a16:creationId xmlns:a16="http://schemas.microsoft.com/office/drawing/2014/main" id="{23459EEA-BC68-6549-4AD4-9B96E0FB0386}"/>
                  </a:ext>
                </a:extLst>
              </p:cNvPr>
              <p:cNvSpPr txBox="1"/>
              <p:nvPr/>
            </p:nvSpPr>
            <p:spPr bwMode="auto">
              <a:xfrm>
                <a:off x="4052900" y="2152676"/>
                <a:ext cx="10160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(1,1,1),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43">
                <a:extLst>
                  <a:ext uri="{FF2B5EF4-FFF2-40B4-BE49-F238E27FC236}">
                    <a16:creationId xmlns:a16="http://schemas.microsoft.com/office/drawing/2014/main" id="{23459EEA-BC68-6549-4AD4-9B96E0FB0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2900" y="2152676"/>
                <a:ext cx="1016000" cy="406400"/>
              </a:xfrm>
              <a:prstGeom prst="rect">
                <a:avLst/>
              </a:prstGeom>
              <a:blipFill>
                <a:blip r:embed="rId13"/>
                <a:stretch>
                  <a:fillRect l="-4192" r="-1198"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44">
            <a:extLst>
              <a:ext uri="{FF2B5EF4-FFF2-40B4-BE49-F238E27FC236}">
                <a16:creationId xmlns:a16="http://schemas.microsoft.com/office/drawing/2014/main" id="{20EBD8BE-290E-4154-B126-532A525EC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094" y="2176654"/>
            <a:ext cx="1371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pitchFamily="49" charset="-122"/>
              </a:rPr>
              <a:t>半径为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45">
                <a:extLst>
                  <a:ext uri="{FF2B5EF4-FFF2-40B4-BE49-F238E27FC236}">
                    <a16:creationId xmlns:a16="http://schemas.microsoft.com/office/drawing/2014/main" id="{1A9BC356-1071-983B-9C0D-469CF6ED7F92}"/>
                  </a:ext>
                </a:extLst>
              </p:cNvPr>
              <p:cNvSpPr txBox="1"/>
              <p:nvPr/>
            </p:nvSpPr>
            <p:spPr bwMode="auto">
              <a:xfrm>
                <a:off x="5806152" y="2150821"/>
                <a:ext cx="469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pitchFamily="49" charset="-122"/>
                            </a:rPr>
                            <m:t>3</m:t>
                          </m:r>
                        </m:e>
                      </m:rad>
                      <m:r>
                        <a:rPr kumimoji="1" lang="zh-CN" altLang="en-US" sz="2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45">
                <a:extLst>
                  <a:ext uri="{FF2B5EF4-FFF2-40B4-BE49-F238E27FC236}">
                    <a16:creationId xmlns:a16="http://schemas.microsoft.com/office/drawing/2014/main" id="{1A9BC356-1071-983B-9C0D-469CF6ED7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6152" y="2150821"/>
                <a:ext cx="469900" cy="3937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ine 47">
            <a:extLst>
              <a:ext uri="{FF2B5EF4-FFF2-40B4-BE49-F238E27FC236}">
                <a16:creationId xmlns:a16="http://schemas.microsoft.com/office/drawing/2014/main" id="{E58827E6-1D9D-15DF-7817-EF941EAE43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0621" y="4105636"/>
            <a:ext cx="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Rectangle 40">
            <a:extLst>
              <a:ext uri="{FF2B5EF4-FFF2-40B4-BE49-F238E27FC236}">
                <a16:creationId xmlns:a16="http://schemas.microsoft.com/office/drawing/2014/main" id="{808E9754-F3CD-35BF-1556-3594ECF5B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220" y="4105636"/>
            <a:ext cx="2672232" cy="1940015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8">
                <a:extLst>
                  <a:ext uri="{FF2B5EF4-FFF2-40B4-BE49-F238E27FC236}">
                    <a16:creationId xmlns:a16="http://schemas.microsoft.com/office/drawing/2014/main" id="{C7FEFF67-BFFE-F0B5-98E5-B43793CFB552}"/>
                  </a:ext>
                </a:extLst>
              </p:cNvPr>
              <p:cNvSpPr txBox="1"/>
              <p:nvPr/>
            </p:nvSpPr>
            <p:spPr bwMode="auto">
              <a:xfrm>
                <a:off x="7528220" y="5139091"/>
                <a:ext cx="83876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ba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Object 38">
                <a:extLst>
                  <a:ext uri="{FF2B5EF4-FFF2-40B4-BE49-F238E27FC236}">
                    <a16:creationId xmlns:a16="http://schemas.microsoft.com/office/drawing/2014/main" id="{C7FEFF67-BFFE-F0B5-98E5-B43793CFB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28220" y="5139091"/>
                <a:ext cx="838760" cy="4064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39">
            <a:extLst>
              <a:ext uri="{FF2B5EF4-FFF2-40B4-BE49-F238E27FC236}">
                <a16:creationId xmlns:a16="http://schemas.microsoft.com/office/drawing/2014/main" id="{CDD6903A-64EC-46A1-B6D8-6573B60A1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8220" y="4250221"/>
            <a:ext cx="2514600" cy="45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利用重心公式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52">
                <a:extLst>
                  <a:ext uri="{FF2B5EF4-FFF2-40B4-BE49-F238E27FC236}">
                    <a16:creationId xmlns:a16="http://schemas.microsoft.com/office/drawing/2014/main" id="{0F704A7C-CADD-0F7E-0304-D51191938FF9}"/>
                  </a:ext>
                </a:extLst>
              </p:cNvPr>
              <p:cNvSpPr txBox="1"/>
              <p:nvPr/>
            </p:nvSpPr>
            <p:spPr bwMode="auto">
              <a:xfrm>
                <a:off x="8045745" y="4666937"/>
                <a:ext cx="1498600" cy="800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Object 52">
                <a:extLst>
                  <a:ext uri="{FF2B5EF4-FFF2-40B4-BE49-F238E27FC236}">
                    <a16:creationId xmlns:a16="http://schemas.microsoft.com/office/drawing/2014/main" id="{0F704A7C-CADD-0F7E-0304-D51191938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5745" y="4666937"/>
                <a:ext cx="1498600" cy="800100"/>
              </a:xfrm>
              <a:prstGeom prst="rect">
                <a:avLst/>
              </a:prstGeom>
              <a:blipFill>
                <a:blip r:embed="rId16"/>
                <a:stretch>
                  <a:fillRect b="-68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ine 53">
            <a:extLst>
              <a:ext uri="{FF2B5EF4-FFF2-40B4-BE49-F238E27FC236}">
                <a16:creationId xmlns:a16="http://schemas.microsoft.com/office/drawing/2014/main" id="{EA83FEA9-0FD7-1446-1B3C-CD90A75FC4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27773" y="4747847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54">
                <a:extLst>
                  <a:ext uri="{FF2B5EF4-FFF2-40B4-BE49-F238E27FC236}">
                    <a16:creationId xmlns:a16="http://schemas.microsoft.com/office/drawing/2014/main" id="{ADC43D1A-C9FA-67CC-51B9-AABA0503FD94}"/>
                  </a:ext>
                </a:extLst>
              </p:cNvPr>
              <p:cNvSpPr txBox="1"/>
              <p:nvPr/>
            </p:nvSpPr>
            <p:spPr bwMode="auto">
              <a:xfrm>
                <a:off x="8870415" y="5055002"/>
                <a:ext cx="1295400" cy="800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𝛴</m:t>
                          </m:r>
                        </m:sub>
                        <m:sup/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lang="zh-CN" altLang="en-US" sz="22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Object 54">
                <a:extLst>
                  <a:ext uri="{FF2B5EF4-FFF2-40B4-BE49-F238E27FC236}">
                    <a16:creationId xmlns:a16="http://schemas.microsoft.com/office/drawing/2014/main" id="{ADC43D1A-C9FA-67CC-51B9-AABA0503F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70415" y="5055002"/>
                <a:ext cx="1295400" cy="800100"/>
              </a:xfrm>
              <a:prstGeom prst="rect">
                <a:avLst/>
              </a:prstGeom>
              <a:blipFill>
                <a:blip r:embed="rId17"/>
                <a:stretch>
                  <a:fillRect b="-68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57">
                <a:extLst>
                  <a:ext uri="{FF2B5EF4-FFF2-40B4-BE49-F238E27FC236}">
                    <a16:creationId xmlns:a16="http://schemas.microsoft.com/office/drawing/2014/main" id="{99C4C541-D88A-6F10-65A7-CC73732CB7E1}"/>
                  </a:ext>
                </a:extLst>
              </p:cNvPr>
              <p:cNvSpPr txBox="1"/>
              <p:nvPr/>
            </p:nvSpPr>
            <p:spPr bwMode="auto">
              <a:xfrm>
                <a:off x="2612571" y="1636972"/>
                <a:ext cx="3449637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=2(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Object 57">
                <a:extLst>
                  <a:ext uri="{FF2B5EF4-FFF2-40B4-BE49-F238E27FC236}">
                    <a16:creationId xmlns:a16="http://schemas.microsoft.com/office/drawing/2014/main" id="{99C4C541-D88A-6F10-65A7-CC73732CB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2571" y="1636972"/>
                <a:ext cx="3449637" cy="5334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2">
            <a:extLst>
              <a:ext uri="{FF2B5EF4-FFF2-40B4-BE49-F238E27FC236}">
                <a16:creationId xmlns:a16="http://schemas.microsoft.com/office/drawing/2014/main" id="{7A6E3596-FCB2-0064-5651-4D56BD9688EA}"/>
              </a:ext>
            </a:extLst>
          </p:cNvPr>
          <p:cNvSpPr txBox="1">
            <a:spLocks noChangeArrowheads="1"/>
          </p:cNvSpPr>
          <p:nvPr/>
        </p:nvSpPr>
        <p:spPr>
          <a:xfrm>
            <a:off x="2612571" y="834007"/>
            <a:ext cx="1054100" cy="5921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57" name="Text Box 42">
            <a:extLst>
              <a:ext uri="{FF2B5EF4-FFF2-40B4-BE49-F238E27FC236}">
                <a16:creationId xmlns:a16="http://schemas.microsoft.com/office/drawing/2014/main" id="{5A58D472-5EF6-01D8-0D6F-7B125DAD1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409" y="2178942"/>
            <a:ext cx="7817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406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 animBg="1"/>
      <p:bldP spid="24" grpId="0"/>
      <p:bldP spid="25" grpId="0"/>
      <p:bldP spid="56" grpId="0"/>
      <p:bldP spid="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0912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fdc9232b-9af6-4935-ba35-6661cd7202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3411</TotalTime>
  <Words>1142</Words>
  <Application>Microsoft Office PowerPoint</Application>
  <PresentationFormat>宽屏</PresentationFormat>
  <Paragraphs>184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472</cp:revision>
  <cp:lastPrinted>2023-06-08T01:46:55Z</cp:lastPrinted>
  <dcterms:created xsi:type="dcterms:W3CDTF">2022-03-21T05:54:00Z</dcterms:created>
  <dcterms:modified xsi:type="dcterms:W3CDTF">2023-07-06T02:54:59Z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2052-11.1.0.11744</vt:lpwstr>
  </property>
</Properties>
</file>