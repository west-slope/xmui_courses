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31"/>
  </p:notesMasterIdLst>
  <p:sldIdLst>
    <p:sldId id="257" r:id="rId2"/>
    <p:sldId id="678" r:id="rId3"/>
    <p:sldId id="664" r:id="rId4"/>
    <p:sldId id="817" r:id="rId5"/>
    <p:sldId id="288" r:id="rId6"/>
    <p:sldId id="289" r:id="rId7"/>
    <p:sldId id="313" r:id="rId8"/>
    <p:sldId id="290" r:id="rId9"/>
    <p:sldId id="291" r:id="rId10"/>
    <p:sldId id="316" r:id="rId11"/>
    <p:sldId id="317" r:id="rId12"/>
    <p:sldId id="318" r:id="rId13"/>
    <p:sldId id="319" r:id="rId14"/>
    <p:sldId id="320" r:id="rId15"/>
    <p:sldId id="322" r:id="rId16"/>
    <p:sldId id="323" r:id="rId17"/>
    <p:sldId id="325" r:id="rId18"/>
    <p:sldId id="327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8" r:id="rId28"/>
    <p:sldId id="339" r:id="rId29"/>
    <p:sldId id="364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CDE9E1"/>
    <a:srgbClr val="0000FF"/>
    <a:srgbClr val="0D1C8B"/>
    <a:srgbClr val="66CCFF"/>
    <a:srgbClr val="FFCCFF"/>
    <a:srgbClr val="EBEBE9"/>
    <a:srgbClr val="B80808"/>
    <a:srgbClr val="FDF4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62" d="100"/>
          <a:sy n="62" d="100"/>
        </p:scale>
        <p:origin x="800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3CE9F-6DF1-47AB-967F-6DB8BDE9AD5C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14667-E850-4DE6-A138-CB0C7C807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28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38E0D-8E30-4612-8FB2-85B8FA4D2DD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662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14667-E850-4DE6-A138-CB0C7C80752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231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fontAlgn="auto">
              <a:lnSpc>
                <a:spcPct val="300000"/>
              </a:lnSpc>
              <a:defRPr sz="4400" b="1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F4AB9ED-1D05-4BFE-88C1-4CB6637899D9}" type="slidenum">
              <a:rPr kumimoji="1" lang="en-US" altLang="zh-CN" sz="1200" smtClean="0">
                <a:solidFill>
                  <a:prstClr val="black">
                    <a:tint val="75000"/>
                  </a:prstClr>
                </a:solidFill>
                <a:ea typeface="楷体_GB2312" pitchFamily="49" charset="-122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5839352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9D559E1-CC6D-422A-8024-BA1DE275B266}" type="slidenum">
              <a:rPr kumimoji="1" lang="en-US" altLang="zh-CN" sz="1200" smtClean="0">
                <a:solidFill>
                  <a:prstClr val="black">
                    <a:tint val="75000"/>
                  </a:prstClr>
                </a:solidFill>
                <a:ea typeface="楷体_GB2312" pitchFamily="49" charset="-122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2227318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F8A6DF3-AD78-4EE1-878F-930E8A4CAC48}" type="slidenum">
              <a:rPr kumimoji="1" lang="en-US" altLang="zh-CN" sz="1200" smtClean="0">
                <a:solidFill>
                  <a:prstClr val="black">
                    <a:tint val="75000"/>
                  </a:prstClr>
                </a:solidFill>
                <a:ea typeface="楷体_GB2312" pitchFamily="49" charset="-122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8691654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3CD722B-B5B5-4D9D-9BE9-E1C114B40EBD}" type="slidenum">
              <a:rPr kumimoji="1" lang="en-US" altLang="zh-CN" sz="1200" smtClean="0">
                <a:solidFill>
                  <a:prstClr val="black">
                    <a:tint val="75000"/>
                  </a:prstClr>
                </a:solidFill>
                <a:ea typeface="楷体_GB2312" pitchFamily="49" charset="-122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819562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3AB375A-189E-4073-8262-E58C66B6B4DC}" type="slidenum">
              <a:rPr kumimoji="1" lang="en-US" altLang="zh-CN" sz="1200" smtClean="0">
                <a:solidFill>
                  <a:prstClr val="black">
                    <a:tint val="75000"/>
                  </a:prstClr>
                </a:solidFill>
                <a:ea typeface="楷体_GB2312" pitchFamily="49" charset="-122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3725973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3ABD09C-3C38-4483-9D3A-E1685C3B889F}" type="slidenum">
              <a:rPr kumimoji="1" lang="en-US" altLang="zh-CN" sz="1200" smtClean="0">
                <a:solidFill>
                  <a:prstClr val="black">
                    <a:tint val="75000"/>
                  </a:prstClr>
                </a:solidFill>
                <a:ea typeface="楷体_GB2312" pitchFamily="49" charset="-122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6" name="动作按钮: 后退或前一项 5">
            <a:hlinkClick r:id="" action="ppaction://hlinkshowjump?jump=previousslide" highlightClick="1"/>
          </p:cNvPr>
          <p:cNvSpPr/>
          <p:nvPr/>
        </p:nvSpPr>
        <p:spPr>
          <a:xfrm>
            <a:off x="10566200" y="6366510"/>
            <a:ext cx="360000" cy="360000"/>
          </a:xfrm>
          <a:prstGeom prst="actionButtonBackPrevious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前进或下一项 6">
            <a:hlinkClick r:id="" action="ppaction://hlinkshowjump?jump=nextslide" highlightClick="1"/>
          </p:cNvPr>
          <p:cNvSpPr/>
          <p:nvPr/>
        </p:nvSpPr>
        <p:spPr>
          <a:xfrm>
            <a:off x="11013440" y="6366510"/>
            <a:ext cx="360000" cy="360000"/>
          </a:xfrm>
          <a:prstGeom prst="actionButtonForwardNex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动作按钮: 第一张 7">
            <a:hlinkClick r:id="" action="ppaction://hlinkshowjump?jump=firstslide" highlightClick="1"/>
          </p:cNvPr>
          <p:cNvSpPr/>
          <p:nvPr/>
        </p:nvSpPr>
        <p:spPr>
          <a:xfrm>
            <a:off x="11462820" y="6366510"/>
            <a:ext cx="360000" cy="360000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动作按钮: 后退或前一项 8">
            <a:hlinkClick r:id="" action="ppaction://hlinkshowjump?jump=previousslide" highlightClick="1"/>
          </p:cNvPr>
          <p:cNvSpPr/>
          <p:nvPr/>
        </p:nvSpPr>
        <p:spPr>
          <a:xfrm>
            <a:off x="10566200" y="6366510"/>
            <a:ext cx="360000" cy="360000"/>
          </a:xfrm>
          <a:prstGeom prst="actionButtonBackPrevious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动作按钮: 前进或下一项 9">
            <a:hlinkClick r:id="" action="ppaction://hlinkshowjump?jump=nextslide" highlightClick="1"/>
          </p:cNvPr>
          <p:cNvSpPr/>
          <p:nvPr/>
        </p:nvSpPr>
        <p:spPr>
          <a:xfrm>
            <a:off x="11013440" y="6366510"/>
            <a:ext cx="360000" cy="360000"/>
          </a:xfrm>
          <a:prstGeom prst="actionButtonForwardNex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动作按钮: 第一张 10">
            <a:hlinkClick r:id="" action="ppaction://hlinkshowjump?jump=firstslide" highlightClick="1"/>
          </p:cNvPr>
          <p:cNvSpPr/>
          <p:nvPr/>
        </p:nvSpPr>
        <p:spPr>
          <a:xfrm>
            <a:off x="11462820" y="6366510"/>
            <a:ext cx="360000" cy="360000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棱台 15"/>
          <p:cNvSpPr/>
          <p:nvPr/>
        </p:nvSpPr>
        <p:spPr>
          <a:xfrm>
            <a:off x="1" y="-27160"/>
            <a:ext cx="540000" cy="6885160"/>
          </a:xfrm>
          <a:prstGeom prst="bevel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/>
          </a:p>
          <a:p>
            <a:pPr algn="ctr"/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39141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544245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C0DCD5-29BC-48A9-B612-5CB838140719}" type="slidenum">
              <a:rPr kumimoji="1" lang="en-US" altLang="zh-CN" sz="1200" smtClean="0">
                <a:solidFill>
                  <a:prstClr val="black">
                    <a:tint val="75000"/>
                  </a:prstClr>
                </a:solidFill>
                <a:ea typeface="楷体_GB2312" pitchFamily="49" charset="-122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9735193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2C6E756-2FFC-42A5-8E8C-7EBDFA0DE2D2}" type="slidenum">
              <a:rPr kumimoji="1" lang="en-US" altLang="zh-CN" sz="1200" smtClean="0">
                <a:solidFill>
                  <a:prstClr val="black">
                    <a:tint val="75000"/>
                  </a:prstClr>
                </a:solidFill>
                <a:ea typeface="楷体_GB2312" pitchFamily="49" charset="-122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8175890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b="0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96C991C-66E0-47C4-A155-B5CA8EEB9EF4}" type="slidenum">
              <a:rPr kumimoji="1" lang="en-US" altLang="zh-CN" sz="1200" smtClean="0">
                <a:solidFill>
                  <a:prstClr val="black">
                    <a:tint val="75000"/>
                  </a:prstClr>
                </a:solidFill>
                <a:ea typeface="楷体_GB2312" pitchFamily="49" charset="-122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7928816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b="1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7FB5768-7557-4951-948E-E6F448191156}" type="slidenum">
              <a:rPr kumimoji="1" lang="en-US" altLang="zh-CN" sz="1200" smtClean="0">
                <a:solidFill>
                  <a:prstClr val="black">
                    <a:tint val="75000"/>
                  </a:prstClr>
                </a:solidFill>
                <a:ea typeface="楷体_GB2312" pitchFamily="49" charset="-122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CN" sz="1200" dirty="0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8588978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144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52B5A670-0D31-8423-B992-28730BA1C3B9}"/>
              </a:ext>
            </a:extLst>
          </p:cNvPr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92D006B-0911-8C46-E420-CEF45A08CB6E}"/>
              </a:ext>
            </a:extLst>
          </p:cNvPr>
          <p:cNvSpPr/>
          <p:nvPr userDrawn="1"/>
        </p:nvSpPr>
        <p:spPr>
          <a:xfrm rot="2659048">
            <a:off x="10387309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A35D09-4EE5-0ECE-6BC6-36332065DB11}"/>
              </a:ext>
            </a:extLst>
          </p:cNvPr>
          <p:cNvSpPr/>
          <p:nvPr userDrawn="1"/>
        </p:nvSpPr>
        <p:spPr>
          <a:xfrm>
            <a:off x="476828" y="6435405"/>
            <a:ext cx="32159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第八节  </a:t>
            </a:r>
            <a:r>
              <a:rPr lang="zh-CN" altLang="en-US" sz="1400" i="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一般周期的函数的傅里叶级数 </a:t>
            </a:r>
            <a:endParaRPr lang="zh-CN" altLang="en-US" sz="1400" i="0" kern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BFEF67-802A-C10E-BA0C-59965925B569}"/>
              </a:ext>
            </a:extLst>
          </p:cNvPr>
          <p:cNvSpPr/>
          <p:nvPr userDrawn="1"/>
        </p:nvSpPr>
        <p:spPr>
          <a:xfrm>
            <a:off x="10642481" y="112357"/>
            <a:ext cx="13147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第十二章 级数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DC54FB0-2354-CA97-3276-70155D3868FC}"/>
              </a:ext>
            </a:extLst>
          </p:cNvPr>
          <p:cNvCxnSpPr/>
          <p:nvPr userDrawn="1"/>
        </p:nvCxnSpPr>
        <p:spPr>
          <a:xfrm>
            <a:off x="-8390" y="235576"/>
            <a:ext cx="10152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24086E-4B98-8513-2C01-6B48BC42A3E3}"/>
              </a:ext>
            </a:extLst>
          </p:cNvPr>
          <p:cNvCxnSpPr/>
          <p:nvPr userDrawn="1"/>
        </p:nvCxnSpPr>
        <p:spPr>
          <a:xfrm>
            <a:off x="3642219" y="6590950"/>
            <a:ext cx="853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3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ransition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11.png"/><Relationship Id="rId7" Type="http://schemas.openxmlformats.org/officeDocument/2006/relationships/image" Target="../media/image51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5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3.png"/><Relationship Id="rId10" Type="http://schemas.openxmlformats.org/officeDocument/2006/relationships/image" Target="../media/image37.png"/><Relationship Id="rId19" Type="http://schemas.openxmlformats.org/officeDocument/2006/relationships/image" Target="../media/image4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1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69.png"/><Relationship Id="rId3" Type="http://schemas.openxmlformats.org/officeDocument/2006/relationships/image" Target="../media/image41.png"/><Relationship Id="rId7" Type="http://schemas.openxmlformats.org/officeDocument/2006/relationships/image" Target="../media/image64.png"/><Relationship Id="rId1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9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41.png"/><Relationship Id="rId7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41.png"/><Relationship Id="rId7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41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png"/><Relationship Id="rId18" Type="http://schemas.openxmlformats.org/officeDocument/2006/relationships/image" Target="../media/image89.png"/><Relationship Id="rId3" Type="http://schemas.openxmlformats.org/officeDocument/2006/relationships/image" Target="../media/image41.png"/><Relationship Id="rId12" Type="http://schemas.openxmlformats.org/officeDocument/2006/relationships/image" Target="../media/image119.png"/><Relationship Id="rId17" Type="http://schemas.openxmlformats.org/officeDocument/2006/relationships/image" Target="../media/image88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79.png"/><Relationship Id="rId19" Type="http://schemas.openxmlformats.org/officeDocument/2006/relationships/image" Target="../media/image90.png"/><Relationship Id="rId1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3" Type="http://schemas.openxmlformats.org/officeDocument/2006/relationships/image" Target="../media/image41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5" Type="http://schemas.openxmlformats.org/officeDocument/2006/relationships/image" Target="../media/image138.png"/><Relationship Id="rId10" Type="http://schemas.openxmlformats.org/officeDocument/2006/relationships/image" Target="../media/image143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41.png"/><Relationship Id="rId7" Type="http://schemas.openxmlformats.org/officeDocument/2006/relationships/image" Target="../media/image1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41.png"/><Relationship Id="rId7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41.png"/><Relationship Id="rId7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3" Type="http://schemas.openxmlformats.org/officeDocument/2006/relationships/image" Target="../media/image41.png"/><Relationship Id="rId7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png"/><Relationship Id="rId10" Type="http://schemas.openxmlformats.org/officeDocument/2006/relationships/image" Target="../media/image7.jpeg"/><Relationship Id="rId4" Type="http://schemas.openxmlformats.org/officeDocument/2006/relationships/image" Target="../media/image1330.png"/><Relationship Id="rId9" Type="http://schemas.openxmlformats.org/officeDocument/2006/relationships/image" Target="../media/image18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76.png"/><Relationship Id="rId3" Type="http://schemas.openxmlformats.org/officeDocument/2006/relationships/image" Target="../media/image41.png"/><Relationship Id="rId7" Type="http://schemas.openxmlformats.org/officeDocument/2006/relationships/image" Target="../media/image184.png"/><Relationship Id="rId12" Type="http://schemas.openxmlformats.org/officeDocument/2006/relationships/image" Target="../media/image175.png"/><Relationship Id="rId17" Type="http://schemas.openxmlformats.org/officeDocument/2006/relationships/image" Target="../media/image192.png"/><Relationship Id="rId16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5" Type="http://schemas.openxmlformats.org/officeDocument/2006/relationships/image" Target="../media/image190.png"/><Relationship Id="rId10" Type="http://schemas.openxmlformats.org/officeDocument/2006/relationships/image" Target="../media/image18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8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911DBC-1FAD-4D97-B103-31706F53C01F}"/>
              </a:ext>
            </a:extLst>
          </p:cNvPr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92BA65-1B2C-CE34-028B-FCA681F8EFC2}"/>
              </a:ext>
            </a:extLst>
          </p:cNvPr>
          <p:cNvSpPr/>
          <p:nvPr/>
        </p:nvSpPr>
        <p:spPr>
          <a:xfrm>
            <a:off x="789305" y="2015490"/>
            <a:ext cx="11150600" cy="48577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859A1D-2015-E6C4-DBAA-BDB4F78CEFFB}"/>
              </a:ext>
            </a:extLst>
          </p:cNvPr>
          <p:cNvSpPr/>
          <p:nvPr/>
        </p:nvSpPr>
        <p:spPr>
          <a:xfrm>
            <a:off x="629285" y="2156460"/>
            <a:ext cx="10989310" cy="471678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DDE570-5EFC-83BB-543D-6B7890B39460}"/>
              </a:ext>
            </a:extLst>
          </p:cNvPr>
          <p:cNvSpPr/>
          <p:nvPr/>
        </p:nvSpPr>
        <p:spPr>
          <a:xfrm>
            <a:off x="487045" y="2307590"/>
            <a:ext cx="10810875" cy="45656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41">
            <a:extLst>
              <a:ext uri="{FF2B5EF4-FFF2-40B4-BE49-F238E27FC236}">
                <a16:creationId xmlns:a16="http://schemas.microsoft.com/office/drawing/2014/main" id="{BA081A6E-F0FD-CC45-A2F8-28A9B0F8152F}"/>
              </a:ext>
            </a:extLst>
          </p:cNvPr>
          <p:cNvSpPr/>
          <p:nvPr/>
        </p:nvSpPr>
        <p:spPr>
          <a:xfrm flipH="1">
            <a:off x="5062827" y="278705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639E9A1-D115-D6E9-AEFF-93FFA0F982D1}"/>
              </a:ext>
            </a:extLst>
          </p:cNvPr>
          <p:cNvCxnSpPr/>
          <p:nvPr/>
        </p:nvCxnSpPr>
        <p:spPr>
          <a:xfrm>
            <a:off x="1884573" y="3690235"/>
            <a:ext cx="8179865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18147C8-FA78-6091-71EB-8D15A6FAE435}"/>
              </a:ext>
            </a:extLst>
          </p:cNvPr>
          <p:cNvGrpSpPr/>
          <p:nvPr/>
        </p:nvGrpSpPr>
        <p:grpSpPr>
          <a:xfrm>
            <a:off x="1884680" y="4335145"/>
            <a:ext cx="3651250" cy="1964690"/>
            <a:chOff x="3663" y="6990"/>
            <a:chExt cx="5750" cy="3094"/>
          </a:xfrm>
        </p:grpSpPr>
        <p:sp>
          <p:nvSpPr>
            <p:cNvPr id="15" name="矩形: 圆角 40">
              <a:extLst>
                <a:ext uri="{FF2B5EF4-FFF2-40B4-BE49-F238E27FC236}">
                  <a16:creationId xmlns:a16="http://schemas.microsoft.com/office/drawing/2014/main" id="{E85A41C6-30B9-B3F9-1E62-A61E73545F0F}"/>
                </a:ext>
              </a:extLst>
            </p:cNvPr>
            <p:cNvSpPr/>
            <p:nvPr/>
          </p:nvSpPr>
          <p:spPr>
            <a:xfrm rot="16200000" flipV="1">
              <a:off x="5205" y="5876"/>
              <a:ext cx="2666" cy="5750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B755B60-959E-2695-E853-0342B63ACB01}"/>
                </a:ext>
              </a:extLst>
            </p:cNvPr>
            <p:cNvSpPr/>
            <p:nvPr/>
          </p:nvSpPr>
          <p:spPr>
            <a:xfrm>
              <a:off x="5550" y="6990"/>
              <a:ext cx="235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无穷级数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3DD9B2C-370A-6EE8-BAEE-AAA32CB688A5}"/>
                    </a:ext>
                  </a:extLst>
                </p:cNvPr>
                <p:cNvSpPr/>
                <p:nvPr/>
              </p:nvSpPr>
              <p:spPr>
                <a:xfrm>
                  <a:off x="4985" y="7945"/>
                  <a:ext cx="3106" cy="189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数项级</m:t>
                        </m:r>
                      </m:oMath>
                    </m:oMathPara>
                  </a14:m>
                  <a:endPara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幂级数</m:t>
                        </m:r>
                      </m:oMath>
                    </m:oMathPara>
                  </a14:m>
                  <a:endPara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傅里叶级数</m:t>
                        </m:r>
                      </m:oMath>
                    </m:oMathPara>
                  </a14:m>
                  <a:endPara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3DD9B2C-370A-6EE8-BAEE-AAA32CB688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5" y="7945"/>
                  <a:ext cx="3106" cy="1890"/>
                </a:xfrm>
                <a:prstGeom prst="rect">
                  <a:avLst/>
                </a:prstGeom>
                <a:blipFill>
                  <a:blip r:embed="rId2"/>
                  <a:stretch>
                    <a:fillRect b="-4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E137E18D-2152-43D5-A6A5-55E82208D544}"/>
              </a:ext>
            </a:extLst>
          </p:cNvPr>
          <p:cNvSpPr/>
          <p:nvPr/>
        </p:nvSpPr>
        <p:spPr>
          <a:xfrm>
            <a:off x="3713480" y="884555"/>
            <a:ext cx="47650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第十二章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66E014E-1D5B-2618-C27C-5E330C0A1D54}"/>
              </a:ext>
            </a:extLst>
          </p:cNvPr>
          <p:cNvGrpSpPr/>
          <p:nvPr/>
        </p:nvGrpSpPr>
        <p:grpSpPr>
          <a:xfrm>
            <a:off x="5991860" y="4340235"/>
            <a:ext cx="3651250" cy="1964690"/>
            <a:chOff x="3663" y="6990"/>
            <a:chExt cx="5750" cy="3094"/>
          </a:xfrm>
        </p:grpSpPr>
        <p:sp>
          <p:nvSpPr>
            <p:cNvPr id="30" name="矩形: 圆角 40">
              <a:extLst>
                <a:ext uri="{FF2B5EF4-FFF2-40B4-BE49-F238E27FC236}">
                  <a16:creationId xmlns:a16="http://schemas.microsoft.com/office/drawing/2014/main" id="{D9697280-8F51-BD3F-7928-2BC100FE3446}"/>
                </a:ext>
              </a:extLst>
            </p:cNvPr>
            <p:cNvSpPr/>
            <p:nvPr/>
          </p:nvSpPr>
          <p:spPr>
            <a:xfrm rot="16200000" flipV="1">
              <a:off x="5205" y="5876"/>
              <a:ext cx="2666" cy="5750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650B897-3868-FEF2-FFDB-E9C9F17958B6}"/>
                </a:ext>
              </a:extLst>
            </p:cNvPr>
            <p:cNvSpPr/>
            <p:nvPr/>
          </p:nvSpPr>
          <p:spPr>
            <a:xfrm>
              <a:off x="4838" y="6990"/>
              <a:ext cx="37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研究函数的工具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19C995D-EA69-9AF7-84B2-4A1496C4F73E}"/>
                </a:ext>
              </a:extLst>
            </p:cNvPr>
            <p:cNvSpPr/>
            <p:nvPr/>
          </p:nvSpPr>
          <p:spPr>
            <a:xfrm>
              <a:off x="5324" y="7937"/>
              <a:ext cx="2803" cy="18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表示函数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研究函数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数值计算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EBC6063-7660-654F-9C1E-E094B591762F}"/>
              </a:ext>
            </a:extLst>
          </p:cNvPr>
          <p:cNvSpPr/>
          <p:nvPr/>
        </p:nvSpPr>
        <p:spPr>
          <a:xfrm>
            <a:off x="945202" y="2326548"/>
            <a:ext cx="4767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常数项级数的概念和性质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3BB7C3-377F-6F44-BF79-2630D53C23F2}"/>
              </a:ext>
            </a:extLst>
          </p:cNvPr>
          <p:cNvSpPr/>
          <p:nvPr/>
        </p:nvSpPr>
        <p:spPr>
          <a:xfrm>
            <a:off x="945202" y="3187197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幂级数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A59EBE-FB23-8945-A07D-4636B842A383}"/>
              </a:ext>
            </a:extLst>
          </p:cNvPr>
          <p:cNvSpPr/>
          <p:nvPr/>
        </p:nvSpPr>
        <p:spPr>
          <a:xfrm>
            <a:off x="6146076" y="2326548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常数项级数的审敛法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77DC3F-7586-3543-B3CA-DB69D78A3711}"/>
              </a:ext>
            </a:extLst>
          </p:cNvPr>
          <p:cNvSpPr/>
          <p:nvPr/>
        </p:nvSpPr>
        <p:spPr>
          <a:xfrm>
            <a:off x="6146076" y="3188487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函数展开成幂级数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115371-884C-1342-8914-73E090F41BA7}"/>
              </a:ext>
            </a:extLst>
          </p:cNvPr>
          <p:cNvSpPr/>
          <p:nvPr/>
        </p:nvSpPr>
        <p:spPr>
          <a:xfrm>
            <a:off x="945202" y="4047845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函数的幂级数展开式的应用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78E4ABC-4FE6-B24F-927F-6ADBAFAA1731}"/>
              </a:ext>
            </a:extLst>
          </p:cNvPr>
          <p:cNvSpPr/>
          <p:nvPr/>
        </p:nvSpPr>
        <p:spPr>
          <a:xfrm>
            <a:off x="6146076" y="3930399"/>
            <a:ext cx="5532284" cy="1135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函数项级数的一致收敛性及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一致收敛级数的基本性质 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1DAA95B-470C-074B-A0FA-40B8C9BD35CB}"/>
              </a:ext>
            </a:extLst>
          </p:cNvPr>
          <p:cNvSpPr/>
          <p:nvPr/>
        </p:nvSpPr>
        <p:spPr>
          <a:xfrm>
            <a:off x="945202" y="5482852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傅里叶级数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B57F56C-092B-1546-9C56-0C4A1E985B15}"/>
              </a:ext>
            </a:extLst>
          </p:cNvPr>
          <p:cNvSpPr/>
          <p:nvPr/>
        </p:nvSpPr>
        <p:spPr>
          <a:xfrm>
            <a:off x="6146076" y="5482852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b="1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一般周期函数</a:t>
            </a:r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的傅里叶级数 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4618947-F17D-034C-8CE1-58F913A4C706}"/>
              </a:ext>
            </a:extLst>
          </p:cNvPr>
          <p:cNvSpPr/>
          <p:nvPr/>
        </p:nvSpPr>
        <p:spPr>
          <a:xfrm>
            <a:off x="4875153" y="69115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第十二章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1820465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952090"/>
            <a:ext cx="11536045" cy="33391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2598889" y="752672"/>
            <a:ext cx="6994223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第八节 </a:t>
            </a:r>
            <a:r>
              <a:rPr kumimoji="1" lang="zh-CN" altLang="en-US" sz="3200" b="1" dirty="0">
                <a:solidFill>
                  <a:schemeClr val="bg1"/>
                </a:solidFill>
                <a:latin typeface="+mj-ea"/>
                <a:ea typeface="+mj-ea"/>
                <a:cs typeface="+mn-ea"/>
                <a:sym typeface="+mn-lt"/>
              </a:rPr>
              <a:t>一般周期的函数的傅里叶级数 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F20C651-824C-3A4C-A342-D9EE1355CB49}"/>
              </a:ext>
            </a:extLst>
          </p:cNvPr>
          <p:cNvGrpSpPr/>
          <p:nvPr/>
        </p:nvGrpSpPr>
        <p:grpSpPr>
          <a:xfrm>
            <a:off x="2835943" y="2507386"/>
            <a:ext cx="6520114" cy="901065"/>
            <a:chOff x="3376754" y="2223697"/>
            <a:chExt cx="6520114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376754" y="2223697"/>
              <a:ext cx="652011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DFF17138-8605-1774-D008-6AE81E15D8D9}"/>
                    </a:ext>
                  </a:extLst>
                </p:cNvPr>
                <p:cNvSpPr/>
                <p:nvPr/>
              </p:nvSpPr>
              <p:spPr>
                <a:xfrm>
                  <a:off x="3616931" y="2412933"/>
                  <a:ext cx="609192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/>
                  <a:r>
                    <a:rPr lang="zh-CN" altLang="en-US" sz="2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一、以 </a:t>
                  </a:r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</a:t>
                  </a:r>
                  <a14:m>
                    <m:oMath xmlns:m="http://schemas.openxmlformats.org/officeDocument/2006/math">
                      <m:r>
                        <a:rPr kumimoji="1" lang="en-US" altLang="zh-CN" sz="2800" b="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+mn-lt"/>
                        </a:rPr>
                        <m:t>𝑙</m:t>
                      </m:r>
                      <m:r>
                        <a:rPr kumimoji="1"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+mn-lt"/>
                        </a:rPr>
                        <m:t> </m:t>
                      </m:r>
                    </m:oMath>
                  </a14:m>
                  <a:r>
                    <a:rPr lang="zh-CN" altLang="en-US" sz="28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为周期的</a:t>
                  </a:r>
                  <a:r>
                    <a:rPr lang="zh-CN" altLang="en-US" sz="2800" b="1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lt"/>
                    </a:rPr>
                    <a:t>函数的傅里叶展开</a:t>
                  </a:r>
                  <a:endPara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DFF17138-8605-1774-D008-6AE81E15D8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6931" y="2412933"/>
                  <a:ext cx="6091924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2083" t="-11905" r="-1250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7F3AB54-A0F2-9F4C-BF1C-E7EF8EA48EBE}"/>
              </a:ext>
            </a:extLst>
          </p:cNvPr>
          <p:cNvGrpSpPr/>
          <p:nvPr/>
        </p:nvGrpSpPr>
        <p:grpSpPr>
          <a:xfrm>
            <a:off x="2835943" y="3917305"/>
            <a:ext cx="6520113" cy="901065"/>
            <a:chOff x="3376753" y="3448290"/>
            <a:chExt cx="6520113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376753" y="3448290"/>
              <a:ext cx="6520113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616931" y="3637526"/>
              <a:ext cx="449353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傅里叶级数的复数形式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9815121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FDBA1B1-772A-A418-1B25-90B9D2AD3AAE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3F459CF0-8DC2-97EA-FDE8-7F9490D1215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8C0AE42-6E40-57CD-1CE0-7B6046FD87D7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F7AD54C9-E740-48FE-D53F-BFB396E2BCDE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6AC0DBBE-9E3E-34F0-BF8C-A6A213E9FC38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6F4B358-721A-EBDD-5002-A8832BA1A16C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674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2736856" y="867470"/>
                <a:ext cx="6934200" cy="685800"/>
              </a:xfrm>
              <a:noFill/>
              <a:ln/>
              <a:extLst>
                <a:ext uri="{909E8E84-426E-40DD-AFC4-6F175D3DCCD1}">
                  <a14:hiddenFill>
                    <a:solidFill>
                      <a:srgbClr val="0033CC"/>
                    </a:solidFill>
                  </a14:hiddenFill>
                </a:ext>
                <a:ext uri="{91240B29-F687-4F45-9708-019B960494DF}">
                  <a14:hiddenLine w="76200" cmpd="tri">
                    <a:solidFill>
                      <a:srgbClr val="33CC33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normAutofit/>
              </a:bodyPr>
              <a:lstStyle/>
              <a:p>
                <a:pPr algn="l"/>
                <a:r>
                  <a:rPr lang="zh-CN" altLang="en-US" sz="32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一、以 </a:t>
                </a:r>
                <a:r>
                  <a:rPr lang="en-US" altLang="zh-CN" sz="3200" b="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2</a:t>
                </a:r>
                <a14:m>
                  <m:oMath xmlns:m="http://schemas.openxmlformats.org/officeDocument/2006/math">
                    <m:r>
                      <a:rPr kumimoji="1" lang="en-US" altLang="zh-CN" sz="3200" b="0" i="1" dirty="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sym typeface="+mn-lt"/>
                      </a:rPr>
                      <m:t>𝑙</m:t>
                    </m:r>
                  </m:oMath>
                </a14:m>
                <a:r>
                  <a:rPr lang="en-US" altLang="zh-CN" sz="3200" b="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 </a:t>
                </a:r>
                <a:r>
                  <a:rPr lang="zh-CN" altLang="en-US" sz="32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为周期的函数的傅里叶展开</a:t>
                </a:r>
              </a:p>
            </p:txBody>
          </p:sp>
        </mc:Choice>
        <mc:Fallback xmlns="">
          <p:sp>
            <p:nvSpPr>
              <p:cNvPr id="2867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736856" y="867470"/>
                <a:ext cx="6934200" cy="685800"/>
              </a:xfrm>
              <a:blipFill>
                <a:blip r:embed="rId3"/>
                <a:stretch>
                  <a:fillRect l="-2287" t="-18584" r="-2023" b="-6195"/>
                </a:stretch>
              </a:blipFill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0033CC"/>
                    </a:solidFill>
                  </a14:hiddenFill>
                </a:ext>
                <a:ext uri="{91240B29-F687-4F45-9708-019B960494DF}">
                  <a14:hiddenLine xmlns:a14="http://schemas.microsoft.com/office/drawing/2010/main" w="76200" cmpd="tri">
                    <a:solidFill>
                      <a:srgbClr val="33CC33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Text Box 4"/>
              <p:cNvSpPr txBox="1">
                <a:spLocks noChangeArrowheads="1"/>
              </p:cNvSpPr>
              <p:nvPr/>
            </p:nvSpPr>
            <p:spPr bwMode="auto">
              <a:xfrm>
                <a:off x="3537804" y="1678643"/>
                <a:ext cx="45720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周期为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sym typeface="+mn-lt"/>
                  </a:rPr>
                  <a:t>2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+mn-lt"/>
                      </a:rPr>
                      <m:t>𝑙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sym typeface="+mn-lt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函数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2867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37804" y="1678643"/>
                <a:ext cx="4572000" cy="523220"/>
              </a:xfrm>
              <a:prstGeom prst="rect">
                <a:avLst/>
              </a:prstGeom>
              <a:blipFill>
                <a:blip r:embed="rId4"/>
                <a:stretch>
                  <a:fillRect l="-2667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4833205" y="2426355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变量代换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86" name="Object 14"/>
              <p:cNvSpPr txBox="1"/>
              <p:nvPr/>
            </p:nvSpPr>
            <p:spPr bwMode="auto">
              <a:xfrm>
                <a:off x="6347975" y="2273567"/>
                <a:ext cx="1437125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68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47975" y="2273567"/>
                <a:ext cx="1437125" cy="838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00" name="AutoShape 28"/>
          <p:cNvSpPr>
            <a:spLocks noChangeArrowheads="1"/>
          </p:cNvSpPr>
          <p:nvPr/>
        </p:nvSpPr>
        <p:spPr bwMode="auto">
          <a:xfrm>
            <a:off x="4575761" y="2350155"/>
            <a:ext cx="179387" cy="838200"/>
          </a:xfrm>
          <a:prstGeom prst="downArrow">
            <a:avLst>
              <a:gd name="adj1" fmla="val 50000"/>
              <a:gd name="adj2" fmla="val 116814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</p:spPr>
        <p:txBody>
          <a:bodyPr vert="eaVert"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/>
              <a:cs typeface="Times New Roman" panose="02020603050405020304" pitchFamily="18" charset="0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704" name="Text Box 32"/>
              <p:cNvSpPr txBox="1">
                <a:spLocks noChangeArrowheads="1"/>
              </p:cNvSpPr>
              <p:nvPr/>
            </p:nvSpPr>
            <p:spPr bwMode="auto">
              <a:xfrm>
                <a:off x="4833205" y="4117043"/>
                <a:ext cx="400917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作傅里叶展开</a:t>
                </a:r>
              </a:p>
            </p:txBody>
          </p:sp>
        </mc:Choice>
        <mc:Fallback xmlns="">
          <p:sp>
            <p:nvSpPr>
              <p:cNvPr id="28704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3205" y="4117043"/>
                <a:ext cx="4009170" cy="523220"/>
              </a:xfrm>
              <a:prstGeom prst="rect">
                <a:avLst/>
              </a:prstGeom>
              <a:blipFill>
                <a:blip r:embed="rId6"/>
                <a:stretch>
                  <a:fillRect l="-3191"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05" name="AutoShape 33"/>
          <p:cNvSpPr>
            <a:spLocks noChangeArrowheads="1"/>
          </p:cNvSpPr>
          <p:nvPr/>
        </p:nvSpPr>
        <p:spPr bwMode="auto">
          <a:xfrm>
            <a:off x="4575761" y="4026555"/>
            <a:ext cx="179388" cy="838200"/>
          </a:xfrm>
          <a:prstGeom prst="downArrow">
            <a:avLst>
              <a:gd name="adj1" fmla="val 50000"/>
              <a:gd name="adj2" fmla="val 116814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</p:spPr>
        <p:txBody>
          <a:bodyPr vert="eaVert"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/>
              <a:cs typeface="Times New Roman" panose="02020603050405020304" pitchFamily="18" charset="0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707" name="Text Box 35"/>
              <p:cNvSpPr txBox="1">
                <a:spLocks noChangeArrowheads="1"/>
              </p:cNvSpPr>
              <p:nvPr/>
            </p:nvSpPr>
            <p:spPr bwMode="auto">
              <a:xfrm>
                <a:off x="3537804" y="5017155"/>
                <a:ext cx="383454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的傅里叶展开式</a:t>
                </a:r>
              </a:p>
            </p:txBody>
          </p:sp>
        </mc:Choice>
        <mc:Fallback xmlns="">
          <p:sp>
            <p:nvSpPr>
              <p:cNvPr id="28707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37804" y="5017155"/>
                <a:ext cx="3834546" cy="523220"/>
              </a:xfrm>
              <a:prstGeom prst="rect">
                <a:avLst/>
              </a:prstGeom>
              <a:blipFill>
                <a:blip r:embed="rId7"/>
                <a:stretch>
                  <a:fillRect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3537804" y="3326466"/>
                <a:ext cx="3428999" cy="52943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周期为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CN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函数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804" y="3326466"/>
                <a:ext cx="3428999" cy="5294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324152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nimBg="1"/>
      <p:bldP spid="28676" grpId="0" autoUpdateAnimBg="0"/>
      <p:bldP spid="28684" grpId="0" autoUpdateAnimBg="0"/>
      <p:bldP spid="28686" grpId="0"/>
      <p:bldP spid="28704" grpId="0" autoUpdateAnimBg="0"/>
      <p:bldP spid="28707" grpId="0" autoUpdateAnimBg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210" name="Text Box 18"/>
              <p:cNvSpPr txBox="1">
                <a:spLocks noChangeArrowheads="1"/>
              </p:cNvSpPr>
              <p:nvPr/>
            </p:nvSpPr>
            <p:spPr bwMode="auto">
              <a:xfrm>
                <a:off x="2634762" y="483393"/>
                <a:ext cx="8015654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设周期为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sym typeface="+mn-lt"/>
                  </a:rPr>
                  <a:t>2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的周期函数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满足收敛定理条件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21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4762" y="483393"/>
                <a:ext cx="8015654" cy="519113"/>
              </a:xfrm>
              <a:prstGeom prst="rect">
                <a:avLst/>
              </a:prstGeom>
              <a:blipFill>
                <a:blip r:embed="rId2"/>
                <a:stretch>
                  <a:fillRect l="-1521" t="-15294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12" name="Text Box 20"/>
          <p:cNvSpPr txBox="1">
            <a:spLocks noChangeArrowheads="1"/>
          </p:cNvSpPr>
          <p:nvPr/>
        </p:nvSpPr>
        <p:spPr bwMode="auto">
          <a:xfrm>
            <a:off x="2634762" y="1026682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则它的傅里叶展开式为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13" name="Object 21"/>
              <p:cNvSpPr txBox="1"/>
              <p:nvPr/>
            </p:nvSpPr>
            <p:spPr bwMode="auto">
              <a:xfrm>
                <a:off x="2672862" y="1535816"/>
                <a:ext cx="8183613" cy="13694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altLang="zh-CN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8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13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2862" y="1535816"/>
                <a:ext cx="8183613" cy="13694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15" name="Object 23"/>
              <p:cNvSpPr txBox="1"/>
              <p:nvPr/>
            </p:nvSpPr>
            <p:spPr bwMode="auto">
              <a:xfrm>
                <a:off x="2886592" y="3507952"/>
                <a:ext cx="1222792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15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6592" y="3507952"/>
                <a:ext cx="1222792" cy="927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16" name="Object 24"/>
              <p:cNvSpPr txBox="1"/>
              <p:nvPr/>
            </p:nvSpPr>
            <p:spPr bwMode="auto">
              <a:xfrm>
                <a:off x="2884110" y="4265296"/>
                <a:ext cx="6111435" cy="11749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16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4110" y="4265296"/>
                <a:ext cx="6111435" cy="11749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18" name="Text Box 26"/>
          <p:cNvSpPr txBox="1">
            <a:spLocks noChangeArrowheads="1"/>
          </p:cNvSpPr>
          <p:nvPr/>
        </p:nvSpPr>
        <p:spPr bwMode="auto">
          <a:xfrm>
            <a:off x="2634762" y="2705106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22" name="Object 30"/>
              <p:cNvSpPr txBox="1"/>
              <p:nvPr/>
            </p:nvSpPr>
            <p:spPr bwMode="auto">
              <a:xfrm>
                <a:off x="3716287" y="3286514"/>
                <a:ext cx="1431056" cy="10688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22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6287" y="3286514"/>
                <a:ext cx="1431056" cy="10688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23" name="Object 31"/>
              <p:cNvSpPr txBox="1"/>
              <p:nvPr/>
            </p:nvSpPr>
            <p:spPr bwMode="auto">
              <a:xfrm>
                <a:off x="3924551" y="3165228"/>
                <a:ext cx="4488697" cy="12465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23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4551" y="3165228"/>
                <a:ext cx="4488697" cy="12465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24" name="Object 32"/>
              <p:cNvSpPr txBox="1"/>
              <p:nvPr/>
            </p:nvSpPr>
            <p:spPr bwMode="auto">
              <a:xfrm>
                <a:off x="6997231" y="3409000"/>
                <a:ext cx="4060777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=0, 1, 2,⋯),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24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97231" y="3409000"/>
                <a:ext cx="4060777" cy="393700"/>
              </a:xfrm>
              <a:prstGeom prst="rect">
                <a:avLst/>
              </a:prstGeom>
              <a:blipFill>
                <a:blip r:embed="rId8"/>
                <a:stretch>
                  <a:fillRect b="-215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25" name="Object 33"/>
              <p:cNvSpPr txBox="1"/>
              <p:nvPr/>
            </p:nvSpPr>
            <p:spPr bwMode="auto">
              <a:xfrm>
                <a:off x="6997231" y="4534262"/>
                <a:ext cx="2664619" cy="567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=1, 2,⋯).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25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97231" y="4534262"/>
                <a:ext cx="2664619" cy="56732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27" name="AutoShape 35"/>
          <p:cNvSpPr>
            <a:spLocks/>
          </p:cNvSpPr>
          <p:nvPr/>
        </p:nvSpPr>
        <p:spPr bwMode="auto">
          <a:xfrm>
            <a:off x="2723887" y="3596956"/>
            <a:ext cx="160224" cy="2460944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3020342" y="5295848"/>
                <a:ext cx="5691457" cy="138515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342" y="5295848"/>
                <a:ext cx="5691457" cy="138515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A5CEF79C-3E3F-3B70-12FE-C17B787EDB47}"/>
              </a:ext>
            </a:extLst>
          </p:cNvPr>
          <p:cNvGrpSpPr/>
          <p:nvPr/>
        </p:nvGrpSpPr>
        <p:grpSpPr>
          <a:xfrm>
            <a:off x="1591337" y="545843"/>
            <a:ext cx="1012825" cy="449580"/>
            <a:chOff x="1553" y="3802"/>
            <a:chExt cx="1595" cy="708"/>
          </a:xfrm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ADD07A57-E6C4-AAD5-9029-E46259E6B166}"/>
                </a:ext>
              </a:extLst>
            </p:cNvPr>
            <p:cNvSpPr/>
            <p:nvPr/>
          </p:nvSpPr>
          <p:spPr>
            <a:xfrm>
              <a:off x="1553" y="3803"/>
              <a:ext cx="1595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Text Box 28">
              <a:extLst>
                <a:ext uri="{FF2B5EF4-FFF2-40B4-BE49-F238E27FC236}">
                  <a16:creationId xmlns:a16="http://schemas.microsoft.com/office/drawing/2014/main" id="{94D1F581-2814-946C-2F50-46F43C922A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954267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0" grpId="0" autoUpdateAnimBg="0"/>
      <p:bldP spid="8212" grpId="0" autoUpdateAnimBg="0"/>
      <p:bldP spid="8213" grpId="0"/>
      <p:bldP spid="8215" grpId="0"/>
      <p:bldP spid="8216" grpId="0"/>
      <p:bldP spid="8218" grpId="0" autoUpdateAnimBg="0"/>
      <p:bldP spid="8222" grpId="0"/>
      <p:bldP spid="8223" grpId="0"/>
      <p:bldP spid="8224" grpId="0"/>
      <p:bldP spid="8225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52" name="Object 12"/>
              <p:cNvSpPr txBox="1"/>
              <p:nvPr/>
            </p:nvSpPr>
            <p:spPr bwMode="auto">
              <a:xfrm>
                <a:off x="1871516" y="1065417"/>
                <a:ext cx="3734203" cy="14506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5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1516" y="1065417"/>
                <a:ext cx="3734203" cy="1450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3" name="Object 13"/>
              <p:cNvSpPr txBox="1"/>
              <p:nvPr/>
            </p:nvSpPr>
            <p:spPr bwMode="auto">
              <a:xfrm>
                <a:off x="2672189" y="2350068"/>
                <a:ext cx="6802011" cy="11960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=1, 2,⋯).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5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2189" y="2350068"/>
                <a:ext cx="6802011" cy="1196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1871516" y="2659464"/>
            <a:ext cx="931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7" name="Object 17"/>
              <p:cNvSpPr txBox="1"/>
              <p:nvPr/>
            </p:nvSpPr>
            <p:spPr bwMode="auto">
              <a:xfrm>
                <a:off x="4019988" y="1281154"/>
                <a:ext cx="1872298" cy="8699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5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9988" y="1281154"/>
                <a:ext cx="1872298" cy="8699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63" name="Rectangle 23"/>
              <p:cNvSpPr>
                <a:spLocks noChangeArrowheads="1"/>
              </p:cNvSpPr>
              <p:nvPr/>
            </p:nvSpPr>
            <p:spPr bwMode="auto">
              <a:xfrm>
                <a:off x="1871516" y="3517465"/>
                <a:ext cx="5358776" cy="533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当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85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为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偶函数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mbria Math" panose="02040503050406030204" pitchFamily="18" charset="0"/>
                  <a:ea typeface="黑体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10263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1516" y="3517465"/>
                <a:ext cx="5358776" cy="533400"/>
              </a:xfrm>
              <a:prstGeom prst="rect">
                <a:avLst/>
              </a:prstGeom>
              <a:blipFill>
                <a:blip r:embed="rId5"/>
                <a:stretch>
                  <a:fillRect l="-2275" t="-13636" b="-261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65" name="Object 25"/>
              <p:cNvSpPr txBox="1"/>
              <p:nvPr/>
            </p:nvSpPr>
            <p:spPr bwMode="auto">
              <a:xfrm>
                <a:off x="2457664" y="4259134"/>
                <a:ext cx="2395147" cy="10521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6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7664" y="4259134"/>
                <a:ext cx="2395147" cy="10521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7" name="Text Box 27"/>
          <p:cNvSpPr txBox="1">
            <a:spLocks noChangeArrowheads="1"/>
          </p:cNvSpPr>
          <p:nvPr/>
        </p:nvSpPr>
        <p:spPr bwMode="auto">
          <a:xfrm>
            <a:off x="1871516" y="5655155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8" name="Object 28"/>
              <p:cNvSpPr txBox="1"/>
              <p:nvPr/>
            </p:nvSpPr>
            <p:spPr bwMode="auto">
              <a:xfrm>
                <a:off x="4374505" y="4041241"/>
                <a:ext cx="2930094" cy="15068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68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4505" y="4041241"/>
                <a:ext cx="2930094" cy="15068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69" name="Object 29"/>
              <p:cNvSpPr txBox="1"/>
              <p:nvPr/>
            </p:nvSpPr>
            <p:spPr bwMode="auto">
              <a:xfrm>
                <a:off x="5423889" y="4260800"/>
                <a:ext cx="2668734" cy="10537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69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3889" y="4260800"/>
                <a:ext cx="2668734" cy="10537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77" name="Text Box 37"/>
              <p:cNvSpPr txBox="1">
                <a:spLocks noChangeArrowheads="1"/>
              </p:cNvSpPr>
              <p:nvPr/>
            </p:nvSpPr>
            <p:spPr bwMode="auto">
              <a:xfrm>
                <a:off x="1871516" y="492130"/>
                <a:ext cx="320369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当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为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奇函数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85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10277" name="Text 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1516" y="492130"/>
                <a:ext cx="3203698" cy="523220"/>
              </a:xfrm>
              <a:prstGeom prst="rect">
                <a:avLst/>
              </a:prstGeom>
              <a:blipFill>
                <a:blip r:embed="rId9"/>
                <a:stretch>
                  <a:fillRect l="-3802" t="-16279" r="-760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697589" y="5305462"/>
                <a:ext cx="8343594" cy="119601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=0,1, 2,⋯).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589" y="5305462"/>
                <a:ext cx="8343594" cy="11960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5256994" y="1399323"/>
                <a:ext cx="2687661" cy="70901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6994" y="1399323"/>
                <a:ext cx="2687661" cy="70901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7063056" y="4418023"/>
                <a:ext cx="2930094" cy="73501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056" y="4418023"/>
                <a:ext cx="2930094" cy="7350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340239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2" grpId="0"/>
      <p:bldP spid="10253" grpId="0"/>
      <p:bldP spid="10254" grpId="0"/>
      <p:bldP spid="10257" grpId="0"/>
      <p:bldP spid="10263" grpId="0"/>
      <p:bldP spid="10265" grpId="0"/>
      <p:bldP spid="10267" grpId="0"/>
      <p:bldP spid="10268" grpId="0"/>
      <p:bldP spid="10269" grpId="0"/>
      <p:bldP spid="10277" grpId="0"/>
      <p:bldP spid="2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32667C4-7F85-0F67-55C8-2BDF8CD32171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46B957B3-5715-3D75-5B4D-0B999FA5E214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0B76ED94-A00F-7B84-0F07-99159409E577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59530743-9A1D-CF50-FAB8-3E581C5BDE1C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63C3909E-6B76-B528-855E-958FA60977F2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E01C228E-E43C-35F6-AFAF-F32E1F91CC37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11940" y="656715"/>
            <a:ext cx="2438400" cy="533400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证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令</a:t>
            </a:r>
            <a:endParaRPr lang="zh-CN" altLang="en-US" sz="2200" b="0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699" name="Object 3"/>
              <p:cNvSpPr txBox="1"/>
              <p:nvPr/>
            </p:nvSpPr>
            <p:spPr bwMode="auto">
              <a:xfrm>
                <a:off x="3682853" y="565412"/>
                <a:ext cx="1314230" cy="7391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69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82853" y="565412"/>
                <a:ext cx="1314230" cy="7391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01" name="Text Box 5"/>
              <p:cNvSpPr txBox="1">
                <a:spLocks noChangeArrowheads="1"/>
              </p:cNvSpPr>
              <p:nvPr/>
            </p:nvSpPr>
            <p:spPr bwMode="auto">
              <a:xfrm>
                <a:off x="4631075" y="704377"/>
                <a:ext cx="723293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则</a:t>
                </a:r>
              </a:p>
            </p:txBody>
          </p:sp>
        </mc:Choice>
        <mc:Fallback xmlns="">
          <p:sp>
            <p:nvSpPr>
              <p:cNvPr id="29701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31075" y="704377"/>
                <a:ext cx="723293" cy="430887"/>
              </a:xfrm>
              <a:prstGeom prst="rect">
                <a:avLst/>
              </a:prstGeom>
              <a:blipFill>
                <a:blip r:embed="rId5"/>
                <a:stretch>
                  <a:fillRect t="-1428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02" name="Object 6"/>
              <p:cNvSpPr txBox="1"/>
              <p:nvPr/>
            </p:nvSpPr>
            <p:spPr bwMode="auto">
              <a:xfrm>
                <a:off x="5130536" y="676525"/>
                <a:ext cx="1693896" cy="5727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0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30536" y="676525"/>
                <a:ext cx="1693896" cy="5727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03" name="Object 7"/>
              <p:cNvSpPr txBox="1"/>
              <p:nvPr/>
            </p:nvSpPr>
            <p:spPr bwMode="auto">
              <a:xfrm>
                <a:off x="7119588" y="675965"/>
                <a:ext cx="1846507" cy="514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∈[−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0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9588" y="675965"/>
                <a:ext cx="1846507" cy="5141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3294213" y="1400041"/>
            <a:ext cx="11389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05" name="Object 9"/>
              <p:cNvSpPr txBox="1"/>
              <p:nvPr/>
            </p:nvSpPr>
            <p:spPr bwMode="auto">
              <a:xfrm>
                <a:off x="3695951" y="1395905"/>
                <a:ext cx="1197410" cy="5727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0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5951" y="1395905"/>
                <a:ext cx="1197410" cy="572744"/>
              </a:xfrm>
              <a:prstGeom prst="rect">
                <a:avLst/>
              </a:prstGeom>
              <a:blipFill>
                <a:blip r:embed="rId8"/>
                <a:stretch>
                  <a:fillRect l="-5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06" name="Object 10"/>
              <p:cNvSpPr txBox="1"/>
              <p:nvPr/>
            </p:nvSpPr>
            <p:spPr bwMode="auto">
              <a:xfrm>
                <a:off x="5195620" y="1193285"/>
                <a:ext cx="1443247" cy="8907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𝑙𝑧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den>
                          </m:f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0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5620" y="1193285"/>
                <a:ext cx="1443247" cy="8907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6441517" y="1397717"/>
            <a:ext cx="140184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08" name="Object 12"/>
              <p:cNvSpPr txBox="1"/>
              <p:nvPr/>
            </p:nvSpPr>
            <p:spPr bwMode="auto">
              <a:xfrm>
                <a:off x="3695951" y="2133936"/>
                <a:ext cx="3737992" cy="10114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08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5951" y="2133936"/>
                <a:ext cx="3737992" cy="101145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09" name="Object 13"/>
              <p:cNvSpPr txBox="1"/>
              <p:nvPr/>
            </p:nvSpPr>
            <p:spPr bwMode="auto">
              <a:xfrm>
                <a:off x="6998856" y="2131696"/>
                <a:ext cx="2010840" cy="10114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𝑙𝑧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0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98856" y="2131696"/>
                <a:ext cx="2010840" cy="10114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10" name="Object 14"/>
              <p:cNvSpPr txBox="1"/>
              <p:nvPr/>
            </p:nvSpPr>
            <p:spPr bwMode="auto">
              <a:xfrm>
                <a:off x="4978676" y="3031137"/>
                <a:ext cx="1652571" cy="8925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𝑙𝑧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10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8676" y="3031137"/>
                <a:ext cx="1652571" cy="89257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11" name="Object 15"/>
              <p:cNvSpPr txBox="1"/>
              <p:nvPr/>
            </p:nvSpPr>
            <p:spPr bwMode="auto">
              <a:xfrm>
                <a:off x="6105614" y="3239246"/>
                <a:ext cx="1270422" cy="5548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11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5614" y="3239246"/>
                <a:ext cx="1270422" cy="5548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13" name="Text Box 17"/>
          <p:cNvSpPr txBox="1">
            <a:spLocks noChangeArrowheads="1"/>
          </p:cNvSpPr>
          <p:nvPr/>
        </p:nvSpPr>
        <p:spPr bwMode="auto">
          <a:xfrm>
            <a:off x="3294213" y="3920389"/>
            <a:ext cx="166469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所以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14" name="Object 18"/>
              <p:cNvSpPr txBox="1"/>
              <p:nvPr/>
            </p:nvSpPr>
            <p:spPr bwMode="auto">
              <a:xfrm>
                <a:off x="3888234" y="3919517"/>
                <a:ext cx="778763" cy="4393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14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8234" y="3919517"/>
                <a:ext cx="778763" cy="439380"/>
              </a:xfrm>
              <a:prstGeom prst="rect">
                <a:avLst/>
              </a:prstGeom>
              <a:blipFill>
                <a:blip r:embed="rId14"/>
                <a:stretch>
                  <a:fillRect l="-781" b="-16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15" name="Text Box 19"/>
          <p:cNvSpPr txBox="1">
            <a:spLocks noChangeArrowheads="1"/>
          </p:cNvSpPr>
          <p:nvPr/>
        </p:nvSpPr>
        <p:spPr bwMode="auto">
          <a:xfrm>
            <a:off x="7721689" y="3937153"/>
            <a:ext cx="197875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且它满足收敛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16" name="Text Box 20"/>
              <p:cNvSpPr txBox="1">
                <a:spLocks noChangeArrowheads="1"/>
              </p:cNvSpPr>
              <p:nvPr/>
            </p:nvSpPr>
            <p:spPr bwMode="auto">
              <a:xfrm>
                <a:off x="3294213" y="4469886"/>
                <a:ext cx="1499669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定理条件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29716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4213" y="4469886"/>
                <a:ext cx="1499669" cy="430887"/>
              </a:xfrm>
              <a:prstGeom prst="rect">
                <a:avLst/>
              </a:prstGeom>
              <a:blipFill>
                <a:blip r:embed="rId15"/>
                <a:stretch>
                  <a:fillRect l="-5285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4518803" y="4446563"/>
            <a:ext cx="285723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将它展成傅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里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叶级数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18" name="Object 22"/>
              <p:cNvSpPr txBox="1"/>
              <p:nvPr/>
            </p:nvSpPr>
            <p:spPr bwMode="auto">
              <a:xfrm>
                <a:off x="3784885" y="4913406"/>
                <a:ext cx="6304653" cy="14318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𝑛𝑧</m:t>
                                  </m:r>
                                </m:e>
                              </m:func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𝑛𝑧</m:t>
                                  </m:r>
                                </m:e>
                              </m:func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18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4885" y="4913406"/>
                <a:ext cx="6304653" cy="143186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19" name="Text Box 23"/>
              <p:cNvSpPr txBox="1">
                <a:spLocks noChangeArrowheads="1"/>
              </p:cNvSpPr>
              <p:nvPr/>
            </p:nvSpPr>
            <p:spPr bwMode="auto">
              <a:xfrm>
                <a:off x="7083039" y="5814767"/>
                <a:ext cx="33226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1" lang="zh-CN" altLang="en-US" sz="220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+mn-lt"/>
                            </a:rPr>
                            <m:t>在</m:t>
                          </m:r>
                          <m: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zh-CN" altLang="zh-CN" sz="220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+mn-lt"/>
                            </a:rPr>
                            <m:t>的连续点处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19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3039" y="5814767"/>
                <a:ext cx="3322600" cy="430887"/>
              </a:xfrm>
              <a:prstGeom prst="rect">
                <a:avLst/>
              </a:prstGeom>
              <a:blipFill>
                <a:blip r:embed="rId17"/>
                <a:stretch>
                  <a:fillRect b="-112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29" name="Object 33"/>
              <p:cNvSpPr txBox="1"/>
              <p:nvPr/>
            </p:nvSpPr>
            <p:spPr bwMode="auto">
              <a:xfrm>
                <a:off x="4571938" y="1388281"/>
                <a:ext cx="846948" cy="5727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29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1938" y="1388281"/>
                <a:ext cx="846948" cy="572744"/>
              </a:xfrm>
              <a:prstGeom prst="rect">
                <a:avLst/>
              </a:prstGeom>
              <a:blipFill>
                <a:blip r:embed="rId18"/>
                <a:stretch>
                  <a:fillRect l="-50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32" name="Text Box 36"/>
          <p:cNvSpPr txBox="1">
            <a:spLocks noChangeArrowheads="1"/>
          </p:cNvSpPr>
          <p:nvPr/>
        </p:nvSpPr>
        <p:spPr bwMode="auto">
          <a:xfrm>
            <a:off x="6475040" y="682917"/>
            <a:ext cx="140184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变成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4479227" y="3954454"/>
                <a:ext cx="3432424" cy="55484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是以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CN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为周期的周期函数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227" y="3954454"/>
                <a:ext cx="3432424" cy="554846"/>
              </a:xfrm>
              <a:prstGeom prst="rect">
                <a:avLst/>
              </a:prstGeom>
              <a:blipFill>
                <a:blip r:embed="rId19"/>
                <a:stretch>
                  <a:fillRect l="-1243" r="-12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59228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9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699" grpId="0"/>
      <p:bldP spid="29701" grpId="0" autoUpdateAnimBg="0"/>
      <p:bldP spid="29702" grpId="0"/>
      <p:bldP spid="29703" grpId="0"/>
      <p:bldP spid="29704" grpId="0" autoUpdateAnimBg="0"/>
      <p:bldP spid="29705" grpId="0"/>
      <p:bldP spid="29706" grpId="0"/>
      <p:bldP spid="29707" grpId="0" autoUpdateAnimBg="0"/>
      <p:bldP spid="29708" grpId="0"/>
      <p:bldP spid="29709" grpId="0"/>
      <p:bldP spid="29710" grpId="0"/>
      <p:bldP spid="29711" grpId="0"/>
      <p:bldP spid="29713" grpId="0" build="p" autoUpdateAnimBg="0"/>
      <p:bldP spid="29714" grpId="0"/>
      <p:bldP spid="29715" grpId="0" autoUpdateAnimBg="0"/>
      <p:bldP spid="29716" grpId="0" autoUpdateAnimBg="0"/>
      <p:bldP spid="29717" grpId="0" autoUpdateAnimBg="0"/>
      <p:bldP spid="29718" grpId="0"/>
      <p:bldP spid="29719" grpId="0" autoUpdateAnimBg="0"/>
      <p:bldP spid="29729" grpId="0"/>
      <p:bldP spid="29732" grpId="0" autoUpdateAnimBg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6DDAEE0C-CC34-F867-623E-BB97D2E35262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01896927-A997-36AF-4AF0-CAE65B6EA9E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AABD23BE-317C-E16E-C3CA-FB7D0FE638F2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08FE74A4-6165-E263-D493-909504C3F9B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330FA1B2-5423-E572-5900-F1A3676AFECB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FD1A770E-CE75-42E1-A74E-FC8E5A7CD2E4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40" name="Object 24"/>
              <p:cNvSpPr txBox="1"/>
              <p:nvPr/>
            </p:nvSpPr>
            <p:spPr bwMode="auto">
              <a:xfrm>
                <a:off x="3574040" y="573741"/>
                <a:ext cx="3504588" cy="895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40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4040" y="573741"/>
                <a:ext cx="3504588" cy="895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41" name="Text Box 25"/>
          <p:cNvSpPr txBox="1">
            <a:spLocks noChangeArrowheads="1"/>
          </p:cNvSpPr>
          <p:nvPr/>
        </p:nvSpPr>
        <p:spPr bwMode="auto">
          <a:xfrm>
            <a:off x="2718424" y="1174465"/>
            <a:ext cx="1219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42" name="Object 26"/>
              <p:cNvSpPr txBox="1"/>
              <p:nvPr/>
            </p:nvSpPr>
            <p:spPr bwMode="auto">
              <a:xfrm>
                <a:off x="3574040" y="1369383"/>
                <a:ext cx="3387358" cy="9191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4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4040" y="1369383"/>
                <a:ext cx="3387358" cy="9191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4572925" y="2462323"/>
            <a:ext cx="53219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令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4A66AC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45" name="Object 29"/>
              <p:cNvSpPr txBox="1"/>
              <p:nvPr/>
            </p:nvSpPr>
            <p:spPr bwMode="auto">
              <a:xfrm>
                <a:off x="4929504" y="2341415"/>
                <a:ext cx="10795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45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9504" y="2341415"/>
                <a:ext cx="1079500" cy="850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47" name="Object 31"/>
              <p:cNvSpPr txBox="1"/>
              <p:nvPr/>
            </p:nvSpPr>
            <p:spPr bwMode="auto">
              <a:xfrm>
                <a:off x="3574040" y="3155300"/>
                <a:ext cx="10668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47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4040" y="3155300"/>
                <a:ext cx="1066800" cy="927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48" name="Object 32"/>
              <p:cNvSpPr txBox="1"/>
              <p:nvPr/>
            </p:nvSpPr>
            <p:spPr bwMode="auto">
              <a:xfrm>
                <a:off x="3574040" y="3963506"/>
                <a:ext cx="39243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22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48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4040" y="3963506"/>
                <a:ext cx="3924300" cy="927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53" name="Line 37"/>
          <p:cNvSpPr>
            <a:spLocks noChangeShapeType="1"/>
          </p:cNvSpPr>
          <p:nvPr/>
        </p:nvSpPr>
        <p:spPr bwMode="auto">
          <a:xfrm>
            <a:off x="4495424" y="2270551"/>
            <a:ext cx="0" cy="83185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54" name="Object 38"/>
              <p:cNvSpPr txBox="1"/>
              <p:nvPr/>
            </p:nvSpPr>
            <p:spPr bwMode="auto">
              <a:xfrm>
                <a:off x="3574040" y="4798071"/>
                <a:ext cx="5616575" cy="10843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54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4040" y="4798071"/>
                <a:ext cx="5616575" cy="10843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55" name="Object 39"/>
              <p:cNvSpPr txBox="1"/>
              <p:nvPr/>
            </p:nvSpPr>
            <p:spPr bwMode="auto">
              <a:xfrm>
                <a:off x="7227228" y="759153"/>
                <a:ext cx="2805112" cy="7531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=0, 1, 2,⋯),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55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27228" y="759153"/>
                <a:ext cx="2805112" cy="753157"/>
              </a:xfrm>
              <a:prstGeom prst="rect">
                <a:avLst/>
              </a:prstGeom>
              <a:blipFill>
                <a:blip r:embed="rId10"/>
                <a:stretch>
                  <a:fillRect l="-15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56" name="Object 40"/>
              <p:cNvSpPr txBox="1"/>
              <p:nvPr/>
            </p:nvSpPr>
            <p:spPr bwMode="auto">
              <a:xfrm>
                <a:off x="7227228" y="1550063"/>
                <a:ext cx="2964278" cy="628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=1, 2, 3,⋯).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56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27228" y="1550063"/>
                <a:ext cx="2964278" cy="628650"/>
              </a:xfrm>
              <a:prstGeom prst="rect">
                <a:avLst/>
              </a:prstGeom>
              <a:blipFill>
                <a:blip r:embed="rId11"/>
                <a:stretch>
                  <a:fillRect l="-14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57" name="Object 41"/>
              <p:cNvSpPr txBox="1"/>
              <p:nvPr/>
            </p:nvSpPr>
            <p:spPr bwMode="auto">
              <a:xfrm>
                <a:off x="7227228" y="3324742"/>
                <a:ext cx="2712036" cy="7230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=0, 1, 2,⋯),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57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27228" y="3324742"/>
                <a:ext cx="2712036" cy="723068"/>
              </a:xfrm>
              <a:prstGeom prst="rect">
                <a:avLst/>
              </a:prstGeom>
              <a:blipFill>
                <a:blip r:embed="rId12"/>
                <a:stretch>
                  <a:fillRect l="-15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59" name="Object 43"/>
              <p:cNvSpPr txBox="1"/>
              <p:nvPr/>
            </p:nvSpPr>
            <p:spPr bwMode="auto">
              <a:xfrm>
                <a:off x="7227228" y="4177796"/>
                <a:ext cx="3005766" cy="647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=1, 2, 3,⋯).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59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27228" y="4177796"/>
                <a:ext cx="3005766" cy="647700"/>
              </a:xfrm>
              <a:prstGeom prst="rect">
                <a:avLst/>
              </a:prstGeom>
              <a:blipFill>
                <a:blip r:embed="rId13"/>
                <a:stretch>
                  <a:fillRect l="-14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61" name="Object 45"/>
              <p:cNvSpPr txBox="1"/>
              <p:nvPr/>
            </p:nvSpPr>
            <p:spPr bwMode="auto">
              <a:xfrm>
                <a:off x="4572925" y="3103508"/>
                <a:ext cx="3237572" cy="9864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61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925" y="3103508"/>
                <a:ext cx="3237572" cy="98648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66" name="AutoShape 50"/>
          <p:cNvSpPr>
            <a:spLocks/>
          </p:cNvSpPr>
          <p:nvPr/>
        </p:nvSpPr>
        <p:spPr bwMode="auto">
          <a:xfrm>
            <a:off x="3450654" y="839343"/>
            <a:ext cx="193675" cy="1143000"/>
          </a:xfrm>
          <a:prstGeom prst="leftBrace">
            <a:avLst>
              <a:gd name="adj1" fmla="val 4918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9267" name="AutoShape 51"/>
          <p:cNvSpPr>
            <a:spLocks/>
          </p:cNvSpPr>
          <p:nvPr/>
        </p:nvSpPr>
        <p:spPr bwMode="auto">
          <a:xfrm>
            <a:off x="3450654" y="3377253"/>
            <a:ext cx="205183" cy="1315443"/>
          </a:xfrm>
          <a:prstGeom prst="leftBrace">
            <a:avLst>
              <a:gd name="adj1" fmla="val 5901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56"/>
              <p:cNvSpPr txBox="1">
                <a:spLocks noChangeArrowheads="1"/>
              </p:cNvSpPr>
              <p:nvPr/>
            </p:nvSpPr>
            <p:spPr bwMode="auto">
              <a:xfrm>
                <a:off x="2718424" y="5818725"/>
                <a:ext cx="504127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/>
                  <a:t>类似地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200" dirty="0"/>
                  <a:t> 可以证明定理的其余部分</a:t>
                </a:r>
                <a:r>
                  <a:rPr lang="en-US" altLang="zh-CN" sz="2200" dirty="0"/>
                  <a:t>.</a:t>
                </a:r>
              </a:p>
            </p:txBody>
          </p:sp>
        </mc:Choice>
        <mc:Fallback xmlns="">
          <p:sp>
            <p:nvSpPr>
              <p:cNvPr id="21" name="Text 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8424" y="5818725"/>
                <a:ext cx="5041273" cy="430887"/>
              </a:xfrm>
              <a:prstGeom prst="rect">
                <a:avLst/>
              </a:prstGeom>
              <a:blipFill>
                <a:blip r:embed="rId15"/>
                <a:stretch>
                  <a:fillRect l="-1572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51"/>
              <p:cNvSpPr txBox="1">
                <a:spLocks noChangeArrowheads="1"/>
              </p:cNvSpPr>
              <p:nvPr/>
            </p:nvSpPr>
            <p:spPr bwMode="auto">
              <a:xfrm>
                <a:off x="5874101" y="2478132"/>
                <a:ext cx="308927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并注意到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 =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22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74101" y="2478132"/>
                <a:ext cx="3089275" cy="430887"/>
              </a:xfrm>
              <a:prstGeom prst="rect">
                <a:avLst/>
              </a:prstGeom>
              <a:blipFill>
                <a:blip r:embed="rId16"/>
                <a:stretch>
                  <a:fillRect l="-2569"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F8DCABBF-A39D-A335-F556-B63BC23305C7}"/>
              </a:ext>
            </a:extLst>
          </p:cNvPr>
          <p:cNvGrpSpPr/>
          <p:nvPr/>
        </p:nvGrpSpPr>
        <p:grpSpPr>
          <a:xfrm>
            <a:off x="7320304" y="5853431"/>
            <a:ext cx="716209" cy="360271"/>
            <a:chOff x="1553" y="3803"/>
            <a:chExt cx="1165" cy="579"/>
          </a:xfrm>
        </p:grpSpPr>
        <p:sp>
          <p:nvSpPr>
            <p:cNvPr id="4" name="圆角矩形 21">
              <a:extLst>
                <a:ext uri="{FF2B5EF4-FFF2-40B4-BE49-F238E27FC236}">
                  <a16:creationId xmlns:a16="http://schemas.microsoft.com/office/drawing/2014/main" id="{AF4B106C-5535-8269-7E1C-3594441205CC}"/>
                </a:ext>
              </a:extLst>
            </p:cNvPr>
            <p:cNvSpPr/>
            <p:nvPr/>
          </p:nvSpPr>
          <p:spPr>
            <a:xfrm>
              <a:off x="1553" y="3803"/>
              <a:ext cx="1131" cy="579"/>
            </a:xfrm>
            <a:prstGeom prst="roundRect">
              <a:avLst>
                <a:gd name="adj" fmla="val 0"/>
              </a:avLst>
            </a:prstGeom>
            <a:solidFill>
              <a:srgbClr val="04926A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Text Box 28">
              <a:extLst>
                <a:ext uri="{FF2B5EF4-FFF2-40B4-BE49-F238E27FC236}">
                  <a16:creationId xmlns:a16="http://schemas.microsoft.com/office/drawing/2014/main" id="{8D20C66D-2D99-1914-AF55-B50EF7BF7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17"/>
              <a:ext cx="1068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+mj-cs"/>
                </a:rPr>
                <a:t>证毕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147186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0" grpId="0"/>
      <p:bldP spid="9241" grpId="0"/>
      <p:bldP spid="9242" grpId="0"/>
      <p:bldP spid="9244" grpId="0" autoUpdateAnimBg="0"/>
      <p:bldP spid="9245" grpId="0"/>
      <p:bldP spid="9247" grpId="0"/>
      <p:bldP spid="9248" grpId="0"/>
      <p:bldP spid="9254" grpId="0"/>
      <p:bldP spid="9255" grpId="0"/>
      <p:bldP spid="9256" grpId="0"/>
      <p:bldP spid="9257" grpId="0"/>
      <p:bldP spid="9259" grpId="0"/>
      <p:bldP spid="9261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33553B7E-44D2-7C9F-BAAD-B07F9E64D129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2BE4BC47-7FBC-AF23-0B82-08E4F5DB17EC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0768991A-CB8F-2C40-C2C5-5BFB62D030F8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D873EA9D-42E6-51C8-E0E0-5AD263A3D6B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FFACF581-D9FD-F4E4-4F3C-F4F4B98BB6AC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id="{1387206B-3E09-CCD0-6005-3E8BC5BA2C49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634" name="Text Box 586"/>
          <p:cNvSpPr txBox="1">
            <a:spLocks noChangeArrowheads="1"/>
          </p:cNvSpPr>
          <p:nvPr/>
        </p:nvSpPr>
        <p:spPr bwMode="auto">
          <a:xfrm>
            <a:off x="1631687" y="3415732"/>
            <a:ext cx="6511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6" name="Text Box 608"/>
              <p:cNvSpPr txBox="1">
                <a:spLocks noChangeArrowheads="1"/>
              </p:cNvSpPr>
              <p:nvPr/>
            </p:nvSpPr>
            <p:spPr bwMode="auto">
              <a:xfrm>
                <a:off x="2329830" y="3441791"/>
                <a:ext cx="65532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先求傅里叶系数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在这里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= 2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sz="2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56" name="Text Box 6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9830" y="3441791"/>
                <a:ext cx="6553200" cy="461665"/>
              </a:xfrm>
              <a:prstGeom prst="rect">
                <a:avLst/>
              </a:prstGeom>
              <a:blipFill>
                <a:blip r:embed="rId4"/>
                <a:stretch>
                  <a:fillRect l="-1209" t="-8000" b="-253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0" name="Rectangle 612"/>
          <p:cNvSpPr>
            <a:spLocks noChangeArrowheads="1"/>
          </p:cNvSpPr>
          <p:nvPr/>
        </p:nvSpPr>
        <p:spPr bwMode="auto">
          <a:xfrm>
            <a:off x="1631687" y="914580"/>
            <a:ext cx="1143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1" name="Text Box 613"/>
              <p:cNvSpPr txBox="1">
                <a:spLocks noChangeArrowheads="1"/>
              </p:cNvSpPr>
              <p:nvPr/>
            </p:nvSpPr>
            <p:spPr bwMode="auto">
              <a:xfrm>
                <a:off x="2329830" y="894603"/>
                <a:ext cx="5638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是周期为 </a:t>
                </a:r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4 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的周期函数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61" name="Text Box 6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9830" y="894603"/>
                <a:ext cx="5638800" cy="523220"/>
              </a:xfrm>
              <a:prstGeom prst="rect">
                <a:avLst/>
              </a:prstGeom>
              <a:blipFill>
                <a:blip r:embed="rId5"/>
                <a:stretch>
                  <a:fillRect l="-2162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4" name="Text Box 616"/>
          <p:cNvSpPr txBox="1">
            <a:spLocks noChangeArrowheads="1"/>
          </p:cNvSpPr>
          <p:nvPr/>
        </p:nvSpPr>
        <p:spPr bwMode="auto">
          <a:xfrm>
            <a:off x="2329830" y="1834187"/>
            <a:ext cx="3352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上的表达式为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5" name="Text Box 617"/>
              <p:cNvSpPr txBox="1">
                <a:spLocks noChangeArrowheads="1"/>
              </p:cNvSpPr>
              <p:nvPr/>
            </p:nvSpPr>
            <p:spPr bwMode="auto">
              <a:xfrm>
                <a:off x="2329830" y="2717665"/>
                <a:ext cx="5105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展开成傅里叶级数</a:t>
                </a:r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665" name="Text Box 6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9830" y="2717665"/>
                <a:ext cx="5105400" cy="523220"/>
              </a:xfrm>
              <a:prstGeom prst="rect">
                <a:avLst/>
              </a:prstGeom>
              <a:blipFill>
                <a:blip r:embed="rId6"/>
                <a:stretch>
                  <a:fillRect l="-2387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6" name="Text Box 618"/>
              <p:cNvSpPr txBox="1">
                <a:spLocks noChangeArrowheads="1"/>
              </p:cNvSpPr>
              <p:nvPr/>
            </p:nvSpPr>
            <p:spPr bwMode="auto">
              <a:xfrm>
                <a:off x="8473702" y="1839049"/>
                <a:ext cx="2667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常数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 0).</a:t>
                </a:r>
              </a:p>
            </p:txBody>
          </p:sp>
        </mc:Choice>
        <mc:Fallback xmlns="">
          <p:sp>
            <p:nvSpPr>
              <p:cNvPr id="2666" name="Text Box 6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3702" y="1839049"/>
                <a:ext cx="2667000" cy="523220"/>
              </a:xfrm>
              <a:prstGeom prst="rect">
                <a:avLst/>
              </a:prstGeom>
              <a:blipFill>
                <a:blip r:embed="rId7"/>
                <a:stretch>
                  <a:fillRect l="-4566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4514359" y="1555371"/>
                <a:ext cx="4207803" cy="1016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0,  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&lt;0,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,     0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&lt;2 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359" y="1555371"/>
                <a:ext cx="4207803" cy="1016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329829" y="4063904"/>
                <a:ext cx="3628487" cy="9202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829" y="4063904"/>
                <a:ext cx="3628487" cy="9202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5149229" y="4012552"/>
                <a:ext cx="4152900" cy="1041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=0  (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≠0);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229" y="4012552"/>
                <a:ext cx="4152900" cy="1041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2329830" y="5310218"/>
                <a:ext cx="3628486" cy="103724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830" y="5310218"/>
                <a:ext cx="3628486" cy="10372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2806728" y="5117961"/>
                <a:ext cx="3628487" cy="104139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6728" y="5117961"/>
                <a:ext cx="3628487" cy="10413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5621970" y="5332775"/>
                <a:ext cx="1790992" cy="91498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970" y="5332775"/>
                <a:ext cx="1790992" cy="9149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7200318" y="906378"/>
                <a:ext cx="2129519" cy="61085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它在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[−2,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318" y="906378"/>
                <a:ext cx="2129519" cy="61085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634967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4" grpId="0"/>
      <p:bldP spid="2656" grpId="0"/>
      <p:bldP spid="2660" grpId="0"/>
      <p:bldP spid="2661" grpId="0"/>
      <p:bldP spid="2664" grpId="0"/>
      <p:bldP spid="2665" grpId="0"/>
      <p:bldP spid="2666" grpId="0"/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F8298A6-A464-293A-16A6-D5BAC96F6769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7B566866-8FD3-6A74-EE73-E8BA793A4529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004212AA-E451-861D-2432-B3CFD50FC505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25055F19-AC5D-6392-DDBE-3BE3FFB1DFE9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82CEC43E-AD16-C721-7758-0DCCD0160091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C7B1ACA2-C540-D5E7-D607-CC5412AC665D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457" name="Text Box 49"/>
              <p:cNvSpPr txBox="1">
                <a:spLocks noChangeArrowheads="1"/>
              </p:cNvSpPr>
              <p:nvPr/>
            </p:nvSpPr>
            <p:spPr bwMode="auto">
              <a:xfrm>
                <a:off x="2880696" y="3521488"/>
                <a:ext cx="51054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的傅里叶级数为</a:t>
                </a:r>
              </a:p>
            </p:txBody>
          </p:sp>
        </mc:Choice>
        <mc:Fallback xmlns="">
          <p:sp>
            <p:nvSpPr>
              <p:cNvPr id="17457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0696" y="3521488"/>
                <a:ext cx="5105400" cy="430887"/>
              </a:xfrm>
              <a:prstGeom prst="rect">
                <a:avLst/>
              </a:prstGeom>
              <a:blipFill>
                <a:blip r:embed="rId4"/>
                <a:stretch>
                  <a:fillRect l="-1553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880696" y="991834"/>
                <a:ext cx="3289300" cy="850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696" y="991834"/>
                <a:ext cx="3289300" cy="850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880696" y="4211714"/>
                <a:ext cx="6655041" cy="939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696" y="4211714"/>
                <a:ext cx="6655041" cy="939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4511060" y="5396272"/>
                <a:ext cx="4953000" cy="393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&lt;+∞ ; 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≠0, ±2, ±4, ⋯).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060" y="5396272"/>
                <a:ext cx="4953000" cy="393700"/>
              </a:xfrm>
              <a:prstGeom prst="rect">
                <a:avLst/>
              </a:prstGeom>
              <a:blipFill>
                <a:blip r:embed="rId7"/>
                <a:stretch>
                  <a:fillRect l="-738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3247257" y="2301832"/>
                <a:ext cx="2900169" cy="86505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257" y="2301832"/>
                <a:ext cx="2900169" cy="8650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5488812" y="2113950"/>
                <a:ext cx="3289300" cy="1447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altLang="en-US" sz="22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den>
                                </m:f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,    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=1,3,5,⋯  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0,  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=2,4,6,⋯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812" y="2113950"/>
                <a:ext cx="3289300" cy="14478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5692160" y="940370"/>
                <a:ext cx="2590800" cy="1041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160" y="940370"/>
                <a:ext cx="2590800" cy="1041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87555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57" grpId="0"/>
      <p:bldP spid="2" grpId="0"/>
      <p:bldP spid="3" grpId="0"/>
      <p:bldP spid="4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A6379F2-A6D4-0028-1099-70D265C1134C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2EC3C7AF-5EA4-85FA-DCF1-9BC4CC4B7EF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2642638-A6EC-9FCA-0941-CFB73BEBE3D1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964D0557-39B1-A7DD-F5F8-778164459D52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9C0F1261-1869-ABFE-78B1-3AC1EF44F49D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B79CD1C9-DA91-6F38-4EFE-A4ED4A33EC8C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537" name="Text Box 105"/>
          <p:cNvSpPr txBox="1">
            <a:spLocks noChangeArrowheads="1"/>
          </p:cNvSpPr>
          <p:nvPr/>
        </p:nvSpPr>
        <p:spPr bwMode="auto">
          <a:xfrm>
            <a:off x="3807179" y="1457030"/>
            <a:ext cx="41767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和函数的图形如下</a:t>
            </a:r>
          </a:p>
        </p:txBody>
      </p:sp>
      <p:pic>
        <p:nvPicPr>
          <p:cNvPr id="10" name="图片 9" descr="图表, 箱线图&#10;&#10;描述已自动生成">
            <a:extLst>
              <a:ext uri="{FF2B5EF4-FFF2-40B4-BE49-F238E27FC236}">
                <a16:creationId xmlns:a16="http://schemas.microsoft.com/office/drawing/2014/main" id="{94618F0F-C335-3119-2637-32AE6410A3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897" y="2344492"/>
            <a:ext cx="3927565" cy="253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159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3AC46528-CC9F-6DEF-3CB1-BB4DE63A1A55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6" name="PA-102232">
              <a:extLst>
                <a:ext uri="{FF2B5EF4-FFF2-40B4-BE49-F238E27FC236}">
                  <a16:creationId xmlns:a16="http://schemas.microsoft.com/office/drawing/2014/main" id="{3687D3CD-4DF2-DCD0-281B-C60936622B3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E345FBE-DE5E-E857-D524-156AEFC00E74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2AF58336-C75B-BEB2-5B37-8EB200F00D1D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1">
                <a:extLst>
                  <a:ext uri="{FF2B5EF4-FFF2-40B4-BE49-F238E27FC236}">
                    <a16:creationId xmlns:a16="http://schemas.microsoft.com/office/drawing/2014/main" id="{A77E69A4-00DE-D3EB-34B1-014F329E9691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FC18D0B9-01EF-CD5E-D4F2-80AAD2E09FB8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484" name="Text Box 4"/>
              <p:cNvSpPr txBox="1">
                <a:spLocks noChangeArrowheads="1"/>
              </p:cNvSpPr>
              <p:nvPr/>
            </p:nvSpPr>
            <p:spPr bwMode="auto">
              <a:xfrm>
                <a:off x="1753902" y="645447"/>
                <a:ext cx="431958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的傅里叶展开式</a:t>
                </a:r>
              </a:p>
            </p:txBody>
          </p:sp>
        </mc:Choice>
        <mc:Fallback xmlns="">
          <p:sp>
            <p:nvSpPr>
              <p:cNvPr id="2048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3902" y="645447"/>
                <a:ext cx="4319587" cy="523220"/>
              </a:xfrm>
              <a:prstGeom prst="rect">
                <a:avLst/>
              </a:prstGeom>
              <a:blipFill>
                <a:blip r:embed="rId3"/>
                <a:stretch>
                  <a:fillRect l="-2966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6" name="Text Box 6"/>
              <p:cNvSpPr txBox="1">
                <a:spLocks noChangeArrowheads="1"/>
              </p:cNvSpPr>
              <p:nvPr/>
            </p:nvSpPr>
            <p:spPr bwMode="auto">
              <a:xfrm>
                <a:off x="1753902" y="2796809"/>
                <a:ext cx="388778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中令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 1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得</a:t>
                </a:r>
              </a:p>
            </p:txBody>
          </p:sp>
        </mc:Choice>
        <mc:Fallback xmlns="">
          <p:sp>
            <p:nvSpPr>
              <p:cNvPr id="2048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3902" y="2796809"/>
                <a:ext cx="3887787" cy="523220"/>
              </a:xfrm>
              <a:prstGeom prst="rect">
                <a:avLst/>
              </a:prstGeom>
              <a:blipFill>
                <a:blip r:embed="rId4"/>
                <a:stretch>
                  <a:fillRect l="-3297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1753902" y="5172503"/>
            <a:ext cx="863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269841" y="1527285"/>
                <a:ext cx="8739709" cy="125238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841" y="1527285"/>
                <a:ext cx="8739709" cy="12523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269841" y="3537971"/>
                <a:ext cx="8392048" cy="122118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841" y="3537971"/>
                <a:ext cx="8392048" cy="12211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2269841" y="4878873"/>
                <a:ext cx="6073792" cy="122118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−⋯+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841" y="4878873"/>
                <a:ext cx="6073792" cy="12211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63636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6" grpId="0"/>
      <p:bldP spid="20488" grpId="0"/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69A2239-34B8-C52C-62F0-623A46F33EF4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BBC3B480-EA73-6BD5-8616-C69C124C1223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C93182C1-2D1C-1904-0491-CAC78A384ED3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E10C7CB0-E4F7-6211-F8B6-D8210E1D73FC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937F8346-D190-A9BD-F5E1-40517F88BC6A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1E21C18F-29D2-1BAC-0A29-749337F473D6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634" name="Text Box 586"/>
          <p:cNvSpPr txBox="1">
            <a:spLocks noChangeArrowheads="1"/>
          </p:cNvSpPr>
          <p:nvPr/>
        </p:nvSpPr>
        <p:spPr bwMode="auto">
          <a:xfrm>
            <a:off x="1423214" y="5061194"/>
            <a:ext cx="6511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 </a:t>
            </a:r>
          </a:p>
        </p:txBody>
      </p:sp>
      <p:sp>
        <p:nvSpPr>
          <p:cNvPr id="2668" name="Rectangle 620"/>
          <p:cNvSpPr>
            <a:spLocks noChangeArrowheads="1"/>
          </p:cNvSpPr>
          <p:nvPr/>
        </p:nvSpPr>
        <p:spPr bwMode="auto">
          <a:xfrm>
            <a:off x="1423214" y="1293644"/>
            <a:ext cx="1143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669" name="Text Box 621"/>
          <p:cNvSpPr txBox="1">
            <a:spLocks noChangeArrowheads="1"/>
          </p:cNvSpPr>
          <p:nvPr/>
        </p:nvSpPr>
        <p:spPr bwMode="auto">
          <a:xfrm>
            <a:off x="2154358" y="1293644"/>
            <a:ext cx="3505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将如图所示的函数 </a:t>
            </a:r>
          </a:p>
        </p:txBody>
      </p:sp>
      <p:sp>
        <p:nvSpPr>
          <p:cNvPr id="2671" name="Text Box 623"/>
          <p:cNvSpPr txBox="1">
            <a:spLocks noChangeArrowheads="1"/>
          </p:cNvSpPr>
          <p:nvPr/>
        </p:nvSpPr>
        <p:spPr bwMode="auto">
          <a:xfrm>
            <a:off x="2154358" y="4006508"/>
            <a:ext cx="58547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分别展开成正弦级数和余弦级数</a:t>
            </a:r>
            <a:r>
              <a:rPr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80" name="Text Box 632"/>
              <p:cNvSpPr txBox="1">
                <a:spLocks noChangeArrowheads="1"/>
              </p:cNvSpPr>
              <p:nvPr/>
            </p:nvSpPr>
            <p:spPr bwMode="auto">
              <a:xfrm>
                <a:off x="2154358" y="5083754"/>
                <a:ext cx="396081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进行奇延拓</a:t>
                </a:r>
              </a:p>
            </p:txBody>
          </p:sp>
        </mc:Choice>
        <mc:Fallback xmlns="">
          <p:sp>
            <p:nvSpPr>
              <p:cNvPr id="2680" name="Text Box 6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4358" y="5083754"/>
                <a:ext cx="3960812" cy="430887"/>
              </a:xfrm>
              <a:prstGeom prst="rect">
                <a:avLst/>
              </a:prstGeom>
              <a:blipFill>
                <a:blip r:embed="rId4"/>
                <a:stretch>
                  <a:fillRect l="-2000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154358" y="2005082"/>
                <a:ext cx="6515846" cy="1874195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𝑝𝑥</m:t>
                                    </m:r>
                                  </m:num>
                                  <m:den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,          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f>
                                  <m:f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,        </m:t>
                                </m:r>
                                <m:f>
                                  <m:fPr>
                                    <m:ctrlPr>
                                      <a:rPr lang="zh-CN" altLang="en-US" sz="28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,   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358" y="2005082"/>
                <a:ext cx="6515846" cy="18741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 descr="图表, 折线图&#10;&#10;描述已自动生成">
            <a:extLst>
              <a:ext uri="{FF2B5EF4-FFF2-40B4-BE49-F238E27FC236}">
                <a16:creationId xmlns:a16="http://schemas.microsoft.com/office/drawing/2014/main" id="{DCF45137-F15F-92B0-6D1D-F7BF132878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569" y="2851492"/>
            <a:ext cx="3575832" cy="235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4694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4" grpId="0"/>
      <p:bldP spid="2668" grpId="0"/>
      <p:bldP spid="2669" grpId="0"/>
      <p:bldP spid="2671" grpId="0"/>
      <p:bldP spid="2680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9BACED7-5C1C-AC99-EBCB-901653E78C26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5A371B82-36D2-09C0-BE68-8308B23DFDED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0FE9EBC6-EE70-7011-F44B-49B880ECCDE1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680886DC-EC10-7863-FD22-36F8C10CC7D5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73B1C461-ED5A-D4A6-2DD3-D1AB2478593E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FE0BD43E-B675-7CAF-4704-2CBF3D008EE3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18540" name="Text Box 108"/>
          <p:cNvSpPr txBox="1">
            <a:spLocks noChangeArrowheads="1"/>
          </p:cNvSpPr>
          <p:nvPr/>
        </p:nvSpPr>
        <p:spPr bwMode="auto">
          <a:xfrm>
            <a:off x="2906722" y="824289"/>
            <a:ext cx="547211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/>
              <a:t>下面计算傅里叶系数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41" name="Object 109"/>
              <p:cNvSpPr txBox="1"/>
              <p:nvPr/>
            </p:nvSpPr>
            <p:spPr bwMode="auto">
              <a:xfrm>
                <a:off x="2926565" y="1395393"/>
                <a:ext cx="4440261" cy="10521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541" name="Object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6565" y="1395393"/>
                <a:ext cx="4440261" cy="10521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42" name="Object 110"/>
              <p:cNvSpPr txBox="1"/>
              <p:nvPr/>
            </p:nvSpPr>
            <p:spPr bwMode="auto">
              <a:xfrm>
                <a:off x="3295713" y="2495669"/>
                <a:ext cx="3385026" cy="12283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𝑝𝑥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542" name="Object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5713" y="2495669"/>
                <a:ext cx="3385026" cy="1228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43" name="Object 111"/>
              <p:cNvSpPr txBox="1"/>
              <p:nvPr/>
            </p:nvSpPr>
            <p:spPr bwMode="auto">
              <a:xfrm>
                <a:off x="5828178" y="2607790"/>
                <a:ext cx="3912722" cy="12283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543" name="Object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8178" y="2607790"/>
                <a:ext cx="3912722" cy="1228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44" name="Object 112"/>
              <p:cNvSpPr txBox="1"/>
              <p:nvPr/>
            </p:nvSpPr>
            <p:spPr bwMode="auto">
              <a:xfrm>
                <a:off x="3295713" y="3749348"/>
                <a:ext cx="3546616" cy="11623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544" name="Object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5713" y="3749348"/>
                <a:ext cx="3546616" cy="11623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45" name="Object 113"/>
              <p:cNvSpPr txBox="1"/>
              <p:nvPr/>
            </p:nvSpPr>
            <p:spPr bwMode="auto">
              <a:xfrm>
                <a:off x="5667267" y="3874421"/>
                <a:ext cx="4313451" cy="11623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545" name="Object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67267" y="3874421"/>
                <a:ext cx="4313451" cy="11623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46" name="Object 114"/>
              <p:cNvSpPr txBox="1"/>
              <p:nvPr/>
            </p:nvSpPr>
            <p:spPr bwMode="auto">
              <a:xfrm>
                <a:off x="3295713" y="5009775"/>
                <a:ext cx="3546616" cy="12283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546" name="Object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5713" y="5009775"/>
                <a:ext cx="3546616" cy="1228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47" name="Object 115"/>
              <p:cNvSpPr txBox="1"/>
              <p:nvPr/>
            </p:nvSpPr>
            <p:spPr bwMode="auto">
              <a:xfrm>
                <a:off x="5667267" y="5013129"/>
                <a:ext cx="4255720" cy="12249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+(−1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547" name="Object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67267" y="5013129"/>
                <a:ext cx="4255720" cy="12249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152849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40" grpId="0"/>
      <p:bldP spid="18541" grpId="0"/>
      <p:bldP spid="18542" grpId="0"/>
      <p:bldP spid="18543" grpId="0"/>
      <p:bldP spid="18544" grpId="0"/>
      <p:bldP spid="18545" grpId="0"/>
      <p:bldP spid="18546" grpId="0"/>
      <p:bldP spid="185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D439BD0-E3AE-E57C-1544-0118B4E24639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A5A11953-35A1-753A-E7D2-D720BE6882E4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35340B03-FFA6-52A4-1095-5CD3CE443260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634CDAF5-B9F0-A42E-BDB9-AE0AEDA2B1C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C4A531FE-6B0D-4B7E-8C95-6E42E21F7014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FA5BFF5F-2486-A99E-F19B-6986F17912F5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464" name="Object 8"/>
              <p:cNvSpPr txBox="1"/>
              <p:nvPr/>
            </p:nvSpPr>
            <p:spPr bwMode="auto">
              <a:xfrm>
                <a:off x="2807644" y="722282"/>
                <a:ext cx="3155020" cy="11422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46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7644" y="722282"/>
                <a:ext cx="3155020" cy="11422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5" name="Object 9"/>
              <p:cNvSpPr txBox="1"/>
              <p:nvPr/>
            </p:nvSpPr>
            <p:spPr bwMode="auto">
              <a:xfrm>
                <a:off x="5605236" y="717049"/>
                <a:ext cx="3866732" cy="11297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+(−1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46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05236" y="717049"/>
                <a:ext cx="3866732" cy="11297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6" name="Line 10"/>
          <p:cNvSpPr>
            <a:spLocks noChangeShapeType="1"/>
          </p:cNvSpPr>
          <p:nvPr/>
        </p:nvSpPr>
        <p:spPr bwMode="auto">
          <a:xfrm>
            <a:off x="1703388" y="1811656"/>
            <a:ext cx="8785225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7" name="Text Box 11"/>
              <p:cNvSpPr txBox="1">
                <a:spLocks noChangeArrowheads="1"/>
              </p:cNvSpPr>
              <p:nvPr/>
            </p:nvSpPr>
            <p:spPr bwMode="auto">
              <a:xfrm>
                <a:off x="2822576" y="1927268"/>
                <a:ext cx="505142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= 2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为偶数时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200" baseline="-250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zh-CN" altLang="en-US" sz="2200" i="1" baseline="-25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= 0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lang="zh-CN" altLang="en-US" sz="2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467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2576" y="1927268"/>
                <a:ext cx="5051425" cy="430887"/>
              </a:xfrm>
              <a:prstGeom prst="rect">
                <a:avLst/>
              </a:prstGeom>
              <a:blipFill>
                <a:blip r:embed="rId6"/>
                <a:stretch>
                  <a:fillRect l="-1568" t="-14085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8" name="Text Box 12"/>
              <p:cNvSpPr txBox="1">
                <a:spLocks noChangeArrowheads="1"/>
              </p:cNvSpPr>
              <p:nvPr/>
            </p:nvSpPr>
            <p:spPr bwMode="auto">
              <a:xfrm>
                <a:off x="6105627" y="1929552"/>
                <a:ext cx="447516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= 2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– 1 </a:t>
                </a: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为奇数时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468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5627" y="1929552"/>
                <a:ext cx="4475162" cy="430887"/>
              </a:xfrm>
              <a:prstGeom prst="rect">
                <a:avLst/>
              </a:prstGeom>
              <a:blipFill>
                <a:blip r:embed="rId7"/>
                <a:stretch>
                  <a:fillRect l="-1771"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9" name="Object 13"/>
              <p:cNvSpPr txBox="1"/>
              <p:nvPr/>
            </p:nvSpPr>
            <p:spPr bwMode="auto">
              <a:xfrm>
                <a:off x="3177314" y="2435666"/>
                <a:ext cx="4475162" cy="12527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(2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46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7314" y="2435666"/>
                <a:ext cx="4475162" cy="12527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0" name="Object 14"/>
              <p:cNvSpPr txBox="1"/>
              <p:nvPr/>
            </p:nvSpPr>
            <p:spPr bwMode="auto">
              <a:xfrm>
                <a:off x="3921616" y="3562310"/>
                <a:ext cx="3702285" cy="12913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𝑝𝑙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470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1616" y="3562310"/>
                <a:ext cx="3702285" cy="129135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1" name="Object 15"/>
              <p:cNvSpPr txBox="1"/>
              <p:nvPr/>
            </p:nvSpPr>
            <p:spPr bwMode="auto">
              <a:xfrm>
                <a:off x="7199308" y="3520678"/>
                <a:ext cx="2256567" cy="12064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𝑝𝑙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471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99308" y="3520678"/>
                <a:ext cx="2256567" cy="1206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2" name="Text Box 16"/>
              <p:cNvSpPr txBox="1">
                <a:spLocks noChangeArrowheads="1"/>
              </p:cNvSpPr>
              <p:nvPr/>
            </p:nvSpPr>
            <p:spPr bwMode="auto">
              <a:xfrm>
                <a:off x="2822576" y="4553309"/>
                <a:ext cx="572452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所以 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的正弦级数展开式为</a:t>
                </a:r>
              </a:p>
            </p:txBody>
          </p:sp>
        </mc:Choice>
        <mc:Fallback xmlns="">
          <p:sp>
            <p:nvSpPr>
              <p:cNvPr id="19472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2576" y="4553309"/>
                <a:ext cx="5724525" cy="430887"/>
              </a:xfrm>
              <a:prstGeom prst="rect">
                <a:avLst/>
              </a:prstGeom>
              <a:blipFill>
                <a:blip r:embed="rId11"/>
                <a:stretch>
                  <a:fillRect l="-1384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3" name="Object 17"/>
              <p:cNvSpPr txBox="1"/>
              <p:nvPr/>
            </p:nvSpPr>
            <p:spPr bwMode="auto">
              <a:xfrm>
                <a:off x="3203483" y="5090013"/>
                <a:ext cx="6853236" cy="11149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𝑝𝑙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(−1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(2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   (0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47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3483" y="5090013"/>
                <a:ext cx="6853236" cy="111496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708193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4" grpId="0"/>
      <p:bldP spid="19465" grpId="0"/>
      <p:bldP spid="19466" grpId="0" animBg="1"/>
      <p:bldP spid="19467" grpId="0"/>
      <p:bldP spid="19468" grpId="0"/>
      <p:bldP spid="19469" grpId="0"/>
      <p:bldP spid="19470" grpId="0"/>
      <p:bldP spid="19471" grpId="0"/>
      <p:bldP spid="19472" grpId="0"/>
      <p:bldP spid="1947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E49BF0D-B3B5-D5DF-9C4C-F02E43082574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1C1D2C60-7247-D931-F318-4A9D0D0E6AE4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B61562E7-3BCD-74E3-F42C-125B85B6F873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6E40CC8F-202C-B345-6D93-D0CED2378835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239F17D3-69AA-6CB1-AB6D-0E6A24D5BE5B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32944283-02EB-6649-E64F-258BB150A905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508" name="Text Box 4"/>
              <p:cNvSpPr txBox="1">
                <a:spLocks noChangeArrowheads="1"/>
              </p:cNvSpPr>
              <p:nvPr/>
            </p:nvSpPr>
            <p:spPr bwMode="auto">
              <a:xfrm>
                <a:off x="2296518" y="877273"/>
                <a:ext cx="496887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再求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的余弦级数展开式</a:t>
                </a:r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150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6518" y="877273"/>
                <a:ext cx="4968875" cy="430887"/>
              </a:xfrm>
              <a:prstGeom prst="rect">
                <a:avLst/>
              </a:prstGeom>
              <a:blipFill>
                <a:blip r:embed="rId12"/>
                <a:stretch>
                  <a:fillRect l="-1595" t="-14085" b="-267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09" name="Text Box 5"/>
              <p:cNvSpPr txBox="1">
                <a:spLocks noChangeArrowheads="1"/>
              </p:cNvSpPr>
              <p:nvPr/>
            </p:nvSpPr>
            <p:spPr bwMode="auto">
              <a:xfrm>
                <a:off x="6014989" y="864215"/>
                <a:ext cx="377929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为此对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作偶延拓</a:t>
                </a:r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1509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4989" y="864215"/>
                <a:ext cx="3779293" cy="430887"/>
              </a:xfrm>
              <a:prstGeom prst="rect">
                <a:avLst/>
              </a:prstGeom>
              <a:blipFill>
                <a:blip r:embed="rId13"/>
                <a:stretch>
                  <a:fillRect l="-2097"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19" name="Text Box 15"/>
              <p:cNvSpPr txBox="1">
                <a:spLocks noChangeArrowheads="1"/>
              </p:cNvSpPr>
              <p:nvPr/>
            </p:nvSpPr>
            <p:spPr bwMode="auto">
              <a:xfrm>
                <a:off x="2280285" y="1387465"/>
                <a:ext cx="854324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偶延拓后所得函数是周期为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的周期函数</a:t>
                </a:r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en-US" sz="2200" dirty="0"/>
                  <a:t>下面计算傅里叶系数</a:t>
                </a:r>
              </a:p>
            </p:txBody>
          </p:sp>
        </mc:Choice>
        <mc:Fallback xmlns="">
          <p:sp>
            <p:nvSpPr>
              <p:cNvPr id="21519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0285" y="1387465"/>
                <a:ext cx="8543245" cy="430887"/>
              </a:xfrm>
              <a:prstGeom prst="rect">
                <a:avLst/>
              </a:prstGeom>
              <a:blipFill>
                <a:blip r:embed="rId14"/>
                <a:stretch>
                  <a:fillRect l="-927"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33C5E3C3-B7BC-88FE-FCAE-B91FEB9D59D7}"/>
                  </a:ext>
                </a:extLst>
              </p:cNvPr>
              <p:cNvSpPr txBox="1"/>
              <p:nvPr/>
            </p:nvSpPr>
            <p:spPr bwMode="auto">
              <a:xfrm>
                <a:off x="2538254" y="1702699"/>
                <a:ext cx="5750778" cy="13577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33C5E3C3-B7BC-88FE-FCAE-B91FEB9D5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8254" y="1702699"/>
                <a:ext cx="5750778" cy="13577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6">
                <a:extLst>
                  <a:ext uri="{FF2B5EF4-FFF2-40B4-BE49-F238E27FC236}">
                    <a16:creationId xmlns:a16="http://schemas.microsoft.com/office/drawing/2014/main" id="{D5CB9247-7DE0-98B6-A640-A07C0DD5BDA2}"/>
                  </a:ext>
                </a:extLst>
              </p:cNvPr>
              <p:cNvSpPr txBox="1"/>
              <p:nvPr/>
            </p:nvSpPr>
            <p:spPr bwMode="auto">
              <a:xfrm>
                <a:off x="2948778" y="2441129"/>
                <a:ext cx="4555856" cy="1238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𝑝𝑥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" name="Object 6">
                <a:extLst>
                  <a:ext uri="{FF2B5EF4-FFF2-40B4-BE49-F238E27FC236}">
                    <a16:creationId xmlns:a16="http://schemas.microsoft.com/office/drawing/2014/main" id="{D5CB9247-7DE0-98B6-A640-A07C0DD5B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8778" y="2441129"/>
                <a:ext cx="4555856" cy="123873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8">
                <a:extLst>
                  <a:ext uri="{FF2B5EF4-FFF2-40B4-BE49-F238E27FC236}">
                    <a16:creationId xmlns:a16="http://schemas.microsoft.com/office/drawing/2014/main" id="{14F1E7D7-3B3C-F498-8A2B-A770C8028997}"/>
                  </a:ext>
                </a:extLst>
              </p:cNvPr>
              <p:cNvSpPr txBox="1"/>
              <p:nvPr/>
            </p:nvSpPr>
            <p:spPr bwMode="auto">
              <a:xfrm>
                <a:off x="2948778" y="3387710"/>
                <a:ext cx="5682854" cy="13747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sSubSup>
                        <m:sSub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den>
                              </m:f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2200" i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π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b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" name="Object 8">
                <a:extLst>
                  <a:ext uri="{FF2B5EF4-FFF2-40B4-BE49-F238E27FC236}">
                    <a16:creationId xmlns:a16="http://schemas.microsoft.com/office/drawing/2014/main" id="{14F1E7D7-3B3C-F498-8A2B-A770C8028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8778" y="3387710"/>
                <a:ext cx="5682854" cy="137473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0">
                <a:extLst>
                  <a:ext uri="{FF2B5EF4-FFF2-40B4-BE49-F238E27FC236}">
                    <a16:creationId xmlns:a16="http://schemas.microsoft.com/office/drawing/2014/main" id="{83907281-0396-DB11-208F-ABBE7261CEDD}"/>
                  </a:ext>
                </a:extLst>
              </p:cNvPr>
              <p:cNvSpPr txBox="1"/>
              <p:nvPr/>
            </p:nvSpPr>
            <p:spPr bwMode="auto">
              <a:xfrm>
                <a:off x="2948778" y="4870529"/>
                <a:ext cx="3798494" cy="9239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𝑝𝑙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" name="Object 10">
                <a:extLst>
                  <a:ext uri="{FF2B5EF4-FFF2-40B4-BE49-F238E27FC236}">
                    <a16:creationId xmlns:a16="http://schemas.microsoft.com/office/drawing/2014/main" id="{83907281-0396-DB11-208F-ABBE7261C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8778" y="4870529"/>
                <a:ext cx="3798494" cy="92392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2">
                <a:extLst>
                  <a:ext uri="{FF2B5EF4-FFF2-40B4-BE49-F238E27FC236}">
                    <a16:creationId xmlns:a16="http://schemas.microsoft.com/office/drawing/2014/main" id="{6458B1BA-13E5-7545-B09E-8EB2D923C340}"/>
                  </a:ext>
                </a:extLst>
              </p:cNvPr>
              <p:cNvSpPr txBox="1"/>
              <p:nvPr/>
            </p:nvSpPr>
            <p:spPr bwMode="auto">
              <a:xfrm>
                <a:off x="5685702" y="4670647"/>
                <a:ext cx="3948112" cy="13414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𝑝𝑙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200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e>
                                      <m:sup>
                                        <m: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,    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=1,3,5,⋯  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0,           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=2,4,6,⋯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" name="Object 12">
                <a:extLst>
                  <a:ext uri="{FF2B5EF4-FFF2-40B4-BE49-F238E27FC236}">
                    <a16:creationId xmlns:a16="http://schemas.microsoft.com/office/drawing/2014/main" id="{6458B1BA-13E5-7545-B09E-8EB2D923C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85702" y="4670647"/>
                <a:ext cx="3948112" cy="134143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54039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  <p:bldP spid="21509" grpId="0"/>
      <p:bldP spid="21519" grpId="0"/>
      <p:bldP spid="15" grpId="0"/>
      <p:bldP spid="16" grpId="0"/>
      <p:bldP spid="17" grpId="0"/>
      <p:bldP spid="18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DCC0F25-EAD3-FE2A-EDEF-A8850571ACB3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A7310096-A055-A454-5299-4F06B897A191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931062AC-5484-0985-26EE-A67B7CDD55BC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3B908F6E-5D2A-C146-FBE3-EC4023DBA45C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9CDF057B-9699-FBBE-02A5-F1342664DD0F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A2B00C32-5C27-F38D-7501-03457C11CC75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556" name="Object 4"/>
              <p:cNvSpPr txBox="1"/>
              <p:nvPr/>
            </p:nvSpPr>
            <p:spPr bwMode="auto">
              <a:xfrm>
                <a:off x="3784309" y="988265"/>
                <a:ext cx="5168754" cy="14860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𝑝𝑙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200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e>
                                      <m:sup>
                                        <m: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,    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=1,3,5,⋯  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0,           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=2,4,6,⋯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55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4309" y="988265"/>
                <a:ext cx="5168754" cy="14860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1667669" y="2489789"/>
            <a:ext cx="8856662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8" name="Object 6"/>
              <p:cNvSpPr txBox="1"/>
              <p:nvPr/>
            </p:nvSpPr>
            <p:spPr bwMode="auto">
              <a:xfrm>
                <a:off x="3784309" y="2703813"/>
                <a:ext cx="3298806" cy="10988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𝑝𝑥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𝑝𝑙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55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4309" y="2703813"/>
                <a:ext cx="3298806" cy="10988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2410675" y="3078063"/>
            <a:ext cx="863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60" name="Text Box 8"/>
              <p:cNvSpPr txBox="1">
                <a:spLocks noChangeArrowheads="1"/>
              </p:cNvSpPr>
              <p:nvPr/>
            </p:nvSpPr>
            <p:spPr bwMode="auto">
              <a:xfrm>
                <a:off x="2410676" y="4059403"/>
                <a:ext cx="4292658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的余弦级数展开式为</a:t>
                </a:r>
              </a:p>
            </p:txBody>
          </p:sp>
        </mc:Choice>
        <mc:Fallback xmlns="">
          <p:sp>
            <p:nvSpPr>
              <p:cNvPr id="23560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0676" y="4059403"/>
                <a:ext cx="4292658" cy="430887"/>
              </a:xfrm>
              <a:prstGeom prst="rect">
                <a:avLst/>
              </a:prstGeom>
              <a:blipFill>
                <a:blip r:embed="rId6"/>
                <a:stretch>
                  <a:fillRect l="-1844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61" name="Object 9"/>
              <p:cNvSpPr txBox="1"/>
              <p:nvPr/>
            </p:nvSpPr>
            <p:spPr bwMode="auto">
              <a:xfrm>
                <a:off x="2410675" y="4804969"/>
                <a:ext cx="7579360" cy="9493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𝑝𝑙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𝑝𝑙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56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0675" y="4804969"/>
                <a:ext cx="7579360" cy="949325"/>
              </a:xfrm>
              <a:prstGeom prst="rect">
                <a:avLst/>
              </a:prstGeom>
              <a:blipFill>
                <a:blip r:embed="rId7"/>
                <a:stretch>
                  <a:fillRect b="-12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630929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/>
      <p:bldP spid="23557" grpId="0" animBg="1"/>
      <p:bldP spid="23558" grpId="0"/>
      <p:bldP spid="23559" grpId="0"/>
      <p:bldP spid="23560" grpId="0"/>
      <p:bldP spid="2356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8DBAE22-662B-9CA6-8E43-03E30FA5F324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8AB32F93-9999-B79E-E31A-1FA1D27B3FA3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E323A742-ED77-2ACB-7A87-21536AC146D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24B2342B-A203-5C50-0466-A57EAA757D3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DE54A9B7-3778-49B6-EFD6-4B748CFF2DE5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9B321805-1A89-8938-CEB6-45FC1B077B9B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604" name="Object 4"/>
              <p:cNvSpPr txBox="1"/>
              <p:nvPr/>
            </p:nvSpPr>
            <p:spPr bwMode="auto">
              <a:xfrm>
                <a:off x="2448048" y="1211043"/>
                <a:ext cx="7899277" cy="12320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𝑝𝑙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𝑝𝑙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2(2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   (0</m:t>
                      </m:r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0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8048" y="1211043"/>
                <a:ext cx="7899277" cy="12320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05" name="Text Box 5"/>
              <p:cNvSpPr txBox="1">
                <a:spLocks noChangeArrowheads="1"/>
              </p:cNvSpPr>
              <p:nvPr/>
            </p:nvSpPr>
            <p:spPr bwMode="auto">
              <a:xfrm>
                <a:off x="2448048" y="692150"/>
                <a:ext cx="496728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的余弦级数展开式</a:t>
                </a:r>
              </a:p>
            </p:txBody>
          </p:sp>
        </mc:Choice>
        <mc:Fallback xmlns="">
          <p:sp>
            <p:nvSpPr>
              <p:cNvPr id="2560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8048" y="692150"/>
                <a:ext cx="4967287" cy="430887"/>
              </a:xfrm>
              <a:prstGeom prst="rect">
                <a:avLst/>
              </a:prstGeom>
              <a:blipFill>
                <a:blip r:embed="rId5"/>
                <a:stretch>
                  <a:fillRect l="-1597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06" name="Text Box 6"/>
              <p:cNvSpPr txBox="1">
                <a:spLocks noChangeArrowheads="1"/>
              </p:cNvSpPr>
              <p:nvPr/>
            </p:nvSpPr>
            <p:spPr bwMode="auto">
              <a:xfrm>
                <a:off x="2448048" y="2574925"/>
                <a:ext cx="2295524" cy="453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中令 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= 0</a:t>
                </a:r>
                <a14:m>
                  <m:oMath xmlns:m="http://schemas.openxmlformats.org/officeDocument/2006/math">
                    <m:r>
                      <a:rPr kumimoji="1" lang="en-US" altLang="zh-CN" sz="24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则得</a:t>
                </a:r>
              </a:p>
            </p:txBody>
          </p:sp>
        </mc:Choice>
        <mc:Fallback xmlns="">
          <p:sp>
            <p:nvSpPr>
              <p:cNvPr id="2560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8048" y="2574925"/>
                <a:ext cx="2295524" cy="453137"/>
              </a:xfrm>
              <a:prstGeom prst="rect">
                <a:avLst/>
              </a:prstGeom>
              <a:blipFill>
                <a:blip r:embed="rId6"/>
                <a:stretch>
                  <a:fillRect l="-3457" t="-8000" b="-253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07" name="Object 7"/>
              <p:cNvSpPr txBox="1"/>
              <p:nvPr/>
            </p:nvSpPr>
            <p:spPr bwMode="auto">
              <a:xfrm>
                <a:off x="4432421" y="2311267"/>
                <a:ext cx="2944814" cy="1167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0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2421" y="2311267"/>
                <a:ext cx="2944814" cy="1167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2448048" y="3465967"/>
            <a:ext cx="3048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由此还可导出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9" name="Object 9"/>
              <p:cNvSpPr txBox="1"/>
              <p:nvPr/>
            </p:nvSpPr>
            <p:spPr bwMode="auto">
              <a:xfrm>
                <a:off x="3203770" y="3987658"/>
                <a:ext cx="2118385" cy="16184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0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3770" y="3987658"/>
                <a:ext cx="2118385" cy="16184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11" name="Object 11"/>
              <p:cNvSpPr txBox="1"/>
              <p:nvPr/>
            </p:nvSpPr>
            <p:spPr bwMode="auto">
              <a:xfrm>
                <a:off x="8158254" y="3987658"/>
                <a:ext cx="1641434" cy="12471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58254" y="3987658"/>
                <a:ext cx="1641434" cy="12471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13" name="Object 13"/>
              <p:cNvSpPr txBox="1"/>
              <p:nvPr/>
            </p:nvSpPr>
            <p:spPr bwMode="auto">
              <a:xfrm>
                <a:off x="6250038" y="4025758"/>
                <a:ext cx="2370381" cy="14582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1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50038" y="4025758"/>
                <a:ext cx="2370381" cy="14582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14" name="Object 14"/>
              <p:cNvSpPr txBox="1"/>
              <p:nvPr/>
            </p:nvSpPr>
            <p:spPr bwMode="auto">
              <a:xfrm>
                <a:off x="4023641" y="3987658"/>
                <a:ext cx="2944813" cy="14516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1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23641" y="3987658"/>
                <a:ext cx="2944813" cy="14516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15" name="Object 15"/>
              <p:cNvSpPr txBox="1"/>
              <p:nvPr/>
            </p:nvSpPr>
            <p:spPr bwMode="auto">
              <a:xfrm>
                <a:off x="7476731" y="4051812"/>
                <a:ext cx="846582" cy="9929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76731" y="4051812"/>
                <a:ext cx="846582" cy="99295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16" name="Object 16"/>
              <p:cNvSpPr txBox="1"/>
              <p:nvPr/>
            </p:nvSpPr>
            <p:spPr bwMode="auto">
              <a:xfrm>
                <a:off x="2686638" y="5140270"/>
                <a:ext cx="3534508" cy="976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∴   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1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6638" y="5140270"/>
                <a:ext cx="3534508" cy="97631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94767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  <p:bldP spid="25605" grpId="0"/>
      <p:bldP spid="25606" grpId="0"/>
      <p:bldP spid="25607" grpId="0"/>
      <p:bldP spid="25608" grpId="0"/>
      <p:bldP spid="25609" grpId="0"/>
      <p:bldP spid="25611" grpId="0"/>
      <p:bldP spid="25613" grpId="0"/>
      <p:bldP spid="25614" grpId="0"/>
      <p:bldP spid="25615" grpId="0"/>
      <p:bldP spid="256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05" name="Rectangle 17"/>
          <p:cNvSpPr>
            <a:spLocks noChangeArrowheads="1"/>
          </p:cNvSpPr>
          <p:nvPr/>
        </p:nvSpPr>
        <p:spPr bwMode="auto">
          <a:xfrm>
            <a:off x="1598553" y="490324"/>
            <a:ext cx="63944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二、傅里叶级数的复数形式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706" name="Text Box 18"/>
              <p:cNvSpPr txBox="1">
                <a:spLocks noChangeArrowheads="1"/>
              </p:cNvSpPr>
              <p:nvPr/>
            </p:nvSpPr>
            <p:spPr bwMode="auto">
              <a:xfrm>
                <a:off x="2634742" y="1232419"/>
                <a:ext cx="8077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在电子技术中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经常用到傅里叶级数的复数形式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470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4742" y="1232419"/>
                <a:ext cx="8077200" cy="523220"/>
              </a:xfrm>
              <a:prstGeom prst="rect">
                <a:avLst/>
              </a:prstGeom>
              <a:blipFill>
                <a:blip r:embed="rId2"/>
                <a:stretch>
                  <a:fillRect l="-1509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707" name="Text Box 19"/>
          <p:cNvSpPr txBox="1">
            <a:spLocks noChangeArrowheads="1"/>
          </p:cNvSpPr>
          <p:nvPr/>
        </p:nvSpPr>
        <p:spPr bwMode="auto">
          <a:xfrm>
            <a:off x="2634742" y="1810999"/>
            <a:ext cx="7391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下面我们来推导傅里叶级数的复数形式</a:t>
            </a:r>
            <a:r>
              <a:rPr lang="en-US" altLang="zh-CN" sz="2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708" name="Text Box 20"/>
              <p:cNvSpPr txBox="1">
                <a:spLocks noChangeArrowheads="1"/>
              </p:cNvSpPr>
              <p:nvPr/>
            </p:nvSpPr>
            <p:spPr bwMode="auto">
              <a:xfrm>
                <a:off x="2634742" y="2421396"/>
                <a:ext cx="835523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设周期为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的周期函数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的傅里叶级数为</a:t>
                </a:r>
              </a:p>
            </p:txBody>
          </p:sp>
        </mc:Choice>
        <mc:Fallback xmlns="">
          <p:sp>
            <p:nvSpPr>
              <p:cNvPr id="114708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4742" y="2421396"/>
                <a:ext cx="8355232" cy="523220"/>
              </a:xfrm>
              <a:prstGeom prst="rect">
                <a:avLst/>
              </a:prstGeom>
              <a:blipFill>
                <a:blip r:embed="rId3"/>
                <a:stretch>
                  <a:fillRect l="-1459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709" name="Object 21"/>
              <p:cNvSpPr txBox="1"/>
              <p:nvPr/>
            </p:nvSpPr>
            <p:spPr bwMode="auto">
              <a:xfrm>
                <a:off x="3560767" y="2927961"/>
                <a:ext cx="7512147" cy="1501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4709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0767" y="2927961"/>
                <a:ext cx="7512147" cy="1501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710" name="Text Box 22"/>
          <p:cNvSpPr txBox="1">
            <a:spLocks noChangeArrowheads="1"/>
          </p:cNvSpPr>
          <p:nvPr/>
        </p:nvSpPr>
        <p:spPr bwMode="auto">
          <a:xfrm>
            <a:off x="2634742" y="4493506"/>
            <a:ext cx="1676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711" name="Object 23"/>
              <p:cNvSpPr txBox="1"/>
              <p:nvPr/>
            </p:nvSpPr>
            <p:spPr bwMode="auto">
              <a:xfrm>
                <a:off x="3560767" y="4179870"/>
                <a:ext cx="7226299" cy="100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=0,1,2,⋯),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4711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0767" y="4179870"/>
                <a:ext cx="7226299" cy="1007500"/>
              </a:xfrm>
              <a:prstGeom prst="rect">
                <a:avLst/>
              </a:prstGeom>
              <a:blipFill>
                <a:blip r:embed="rId5"/>
                <a:stretch>
                  <a:fillRect b="-60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712" name="Object 24"/>
              <p:cNvSpPr txBox="1"/>
              <p:nvPr/>
            </p:nvSpPr>
            <p:spPr bwMode="auto">
              <a:xfrm>
                <a:off x="3560767" y="5281317"/>
                <a:ext cx="7748417" cy="955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func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=1,2,3,⋯).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4712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0767" y="5281317"/>
                <a:ext cx="7748417" cy="955675"/>
              </a:xfrm>
              <a:prstGeom prst="rect">
                <a:avLst/>
              </a:prstGeom>
              <a:blipFill>
                <a:blip r:embed="rId6"/>
                <a:stretch>
                  <a:fillRect b="-63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922285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05" grpId="0"/>
      <p:bldP spid="114706" grpId="0"/>
      <p:bldP spid="114707" grpId="0"/>
      <p:bldP spid="114708" grpId="0"/>
      <p:bldP spid="114709" grpId="0"/>
      <p:bldP spid="114710" grpId="0"/>
      <p:bldP spid="114711" grpId="0"/>
      <p:bldP spid="1147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9BB033C-D7BB-6010-BA60-C9485272F350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2972A35C-8FEC-AB5C-46D2-E64EA14B03EF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2D22DA55-7817-D6C2-61D0-A91F0E9F0BC7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157991C9-26EB-A03A-9E47-10271BFCD98E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0097F53A-648C-2451-F4A8-5918C0BDD061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58B3C157-52BA-94CB-AECA-4CE8188AF54C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678" name="Object 14"/>
              <p:cNvSpPr txBox="1"/>
              <p:nvPr/>
            </p:nvSpPr>
            <p:spPr bwMode="auto">
              <a:xfrm>
                <a:off x="3092938" y="646834"/>
                <a:ext cx="5936762" cy="12622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367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2938" y="646834"/>
                <a:ext cx="5936762" cy="1262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679" name="Line 15"/>
          <p:cNvSpPr>
            <a:spLocks noChangeShapeType="1"/>
          </p:cNvSpPr>
          <p:nvPr/>
        </p:nvSpPr>
        <p:spPr bwMode="auto">
          <a:xfrm>
            <a:off x="1529862" y="1742784"/>
            <a:ext cx="89916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680" name="Text Box 16"/>
              <p:cNvSpPr txBox="1">
                <a:spLocks noChangeArrowheads="1"/>
              </p:cNvSpPr>
              <p:nvPr/>
            </p:nvSpPr>
            <p:spPr bwMode="auto">
              <a:xfrm>
                <a:off x="2314053" y="1955359"/>
                <a:ext cx="37338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/>
                  <a:t>利用欧拉公式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得</a:t>
                </a:r>
              </a:p>
            </p:txBody>
          </p:sp>
        </mc:Choice>
        <mc:Fallback xmlns="">
          <p:sp>
            <p:nvSpPr>
              <p:cNvPr id="113680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4053" y="1955359"/>
                <a:ext cx="3733800" cy="430887"/>
              </a:xfrm>
              <a:prstGeom prst="rect">
                <a:avLst/>
              </a:prstGeom>
              <a:blipFill>
                <a:blip r:embed="rId5"/>
                <a:stretch>
                  <a:fillRect l="-2124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681" name="Object 17"/>
              <p:cNvSpPr txBox="1"/>
              <p:nvPr/>
            </p:nvSpPr>
            <p:spPr bwMode="auto">
              <a:xfrm>
                <a:off x="2342628" y="2534340"/>
                <a:ext cx="4994763" cy="10005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3681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2628" y="2534340"/>
                <a:ext cx="4994763" cy="10005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682" name="Text Box 18"/>
          <p:cNvSpPr txBox="1">
            <a:spLocks noChangeArrowheads="1"/>
          </p:cNvSpPr>
          <p:nvPr/>
        </p:nvSpPr>
        <p:spPr bwMode="auto">
          <a:xfrm>
            <a:off x="2314053" y="3472542"/>
            <a:ext cx="1371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/>
              <a:t>于是有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683" name="Object 19"/>
              <p:cNvSpPr txBox="1"/>
              <p:nvPr/>
            </p:nvSpPr>
            <p:spPr bwMode="auto">
              <a:xfrm>
                <a:off x="2380728" y="3597276"/>
                <a:ext cx="8271363" cy="16088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endParaRPr lang="en-US" altLang="zh-CN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f>
                                        <m:f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22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π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den>
                                      </m:f>
                                    </m:sup>
                                  </m:s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f>
                                        <m:f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22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π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den>
                                      </m:f>
                                    </m:sup>
                                  </m:sSup>
                                </m:e>
                              </m:d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f>
                                        <m:f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22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π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den>
                                      </m:f>
                                    </m:sup>
                                  </m:sSup>
                                  <m:r>
                                    <a:rPr lang="en-US" altLang="zh-CN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f>
                                        <m:f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22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π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den>
                                      </m:f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3683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0728" y="3597276"/>
                <a:ext cx="8271363" cy="16088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684" name="Object 20"/>
              <p:cNvSpPr txBox="1"/>
              <p:nvPr/>
            </p:nvSpPr>
            <p:spPr bwMode="auto">
              <a:xfrm>
                <a:off x="3005564" y="5081116"/>
                <a:ext cx="6209614" cy="1171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3684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5564" y="5081116"/>
                <a:ext cx="6209614" cy="11715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295247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3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8" grpId="0"/>
      <p:bldP spid="113679" grpId="0" animBg="1"/>
      <p:bldP spid="113680" grpId="0"/>
      <p:bldP spid="113681" grpId="0"/>
      <p:bldP spid="113682" grpId="0"/>
      <p:bldP spid="113683" grpId="0"/>
      <p:bldP spid="11368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4980CF-9D78-182A-699B-7A9317934B8E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89F6EB8A-FB28-1693-7971-AFA128C31400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63E0D02D-580E-8D45-01A1-23D1003D8A9E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DC9409C2-3C22-502C-2A62-7DAEE6247B9D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94B80406-ACCF-76F5-15AF-5DB949CD4BAC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A08CA0B6-7614-B50B-095B-EEBA93D192EF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5723" name="Object 11"/>
              <p:cNvSpPr txBox="1"/>
              <p:nvPr/>
            </p:nvSpPr>
            <p:spPr bwMode="auto">
              <a:xfrm>
                <a:off x="2958312" y="719834"/>
                <a:ext cx="6630976" cy="12355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572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8312" y="719834"/>
                <a:ext cx="6630976" cy="1235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724" name="Line 12"/>
          <p:cNvSpPr>
            <a:spLocks noChangeShapeType="1"/>
          </p:cNvSpPr>
          <p:nvPr/>
        </p:nvSpPr>
        <p:spPr bwMode="auto">
          <a:xfrm>
            <a:off x="1600200" y="1896690"/>
            <a:ext cx="89916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200"/>
          </a:p>
        </p:txBody>
      </p:sp>
      <p:sp>
        <p:nvSpPr>
          <p:cNvPr id="115725" name="Text Box 13"/>
          <p:cNvSpPr txBox="1">
            <a:spLocks noChangeArrowheads="1"/>
          </p:cNvSpPr>
          <p:nvPr/>
        </p:nvSpPr>
        <p:spPr bwMode="auto">
          <a:xfrm>
            <a:off x="2339149" y="2264229"/>
            <a:ext cx="838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/>
              <a:t>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726" name="Object 14"/>
              <p:cNvSpPr txBox="1"/>
              <p:nvPr/>
            </p:nvSpPr>
            <p:spPr bwMode="auto">
              <a:xfrm>
                <a:off x="2931164" y="2061817"/>
                <a:ext cx="7059783" cy="8719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=1,2,3,⋯)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572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1164" y="2061817"/>
                <a:ext cx="7059783" cy="8719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727" name="Text Box 15"/>
          <p:cNvSpPr txBox="1">
            <a:spLocks noChangeArrowheads="1"/>
          </p:cNvSpPr>
          <p:nvPr/>
        </p:nvSpPr>
        <p:spPr bwMode="auto">
          <a:xfrm>
            <a:off x="2339149" y="3204919"/>
            <a:ext cx="1066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/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728" name="Object 16"/>
              <p:cNvSpPr txBox="1"/>
              <p:nvPr/>
            </p:nvSpPr>
            <p:spPr bwMode="auto">
              <a:xfrm>
                <a:off x="2931165" y="2921556"/>
                <a:ext cx="5126208" cy="11066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572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1165" y="2921556"/>
                <a:ext cx="5126208" cy="11066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729" name="Object 17"/>
              <p:cNvSpPr txBox="1"/>
              <p:nvPr/>
            </p:nvSpPr>
            <p:spPr bwMode="auto">
              <a:xfrm>
                <a:off x="3733386" y="4043557"/>
                <a:ext cx="5762261" cy="11066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5729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3386" y="4043557"/>
                <a:ext cx="5762261" cy="11066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730" name="Object 18"/>
              <p:cNvSpPr txBox="1"/>
              <p:nvPr/>
            </p:nvSpPr>
            <p:spPr bwMode="auto">
              <a:xfrm>
                <a:off x="3733386" y="5109285"/>
                <a:ext cx="2402885" cy="12028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5730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3386" y="5109285"/>
                <a:ext cx="2402885" cy="12028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731" name="AutoShape 19"/>
          <p:cNvSpPr>
            <a:spLocks noChangeArrowheads="1"/>
          </p:cNvSpPr>
          <p:nvPr/>
        </p:nvSpPr>
        <p:spPr bwMode="auto">
          <a:xfrm>
            <a:off x="6621703" y="5395560"/>
            <a:ext cx="3002423" cy="506308"/>
          </a:xfrm>
          <a:prstGeom prst="wedgeRectCallout">
            <a:avLst>
              <a:gd name="adj1" fmla="val -71718"/>
              <a:gd name="adj2" fmla="val -3125"/>
            </a:avLst>
          </a:prstGeom>
          <a:solidFill>
            <a:srgbClr val="04926A">
              <a:alpha val="42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200" dirty="0"/>
              <a:t>傅里叶级数的复数形式</a:t>
            </a:r>
          </a:p>
        </p:txBody>
      </p:sp>
    </p:spTree>
    <p:extLst>
      <p:ext uri="{BB962C8B-B14F-4D97-AF65-F5344CB8AC3E}">
        <p14:creationId xmlns:p14="http://schemas.microsoft.com/office/powerpoint/2010/main" val="273174882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1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23" grpId="0"/>
      <p:bldP spid="115724" grpId="0" animBg="1"/>
      <p:bldP spid="115725" grpId="0"/>
      <p:bldP spid="115726" grpId="0"/>
      <p:bldP spid="115727" grpId="0"/>
      <p:bldP spid="115728" grpId="0"/>
      <p:bldP spid="115729" grpId="0"/>
      <p:bldP spid="115730" grpId="0"/>
      <p:bldP spid="1157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53776760-94BF-5CDE-0DEE-2AD5213C84C8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C4A5AB3-2F41-47AE-31E4-4A5277ECC52F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0EE4E32C-7E90-0E26-42B2-19519D71AECC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3919CE1D-58A5-2115-AAF5-A6BC4B05AC9C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98557ED1-7084-6568-F9A6-A6B2A2E0DD69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A3F6DEA9-CD5E-CAE4-B214-898AB391BE44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740" name="Text Box 4"/>
              <p:cNvSpPr txBox="1">
                <a:spLocks noChangeArrowheads="1"/>
              </p:cNvSpPr>
              <p:nvPr/>
            </p:nvSpPr>
            <p:spPr bwMode="auto">
              <a:xfrm>
                <a:off x="2859713" y="751734"/>
                <a:ext cx="540385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/>
                  <a:t>下面来推导系数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的表达式</a:t>
                </a:r>
                <a:r>
                  <a:rPr lang="en-US" altLang="zh-CN" sz="2200" dirty="0"/>
                  <a:t>.</a:t>
                </a:r>
                <a:endParaRPr lang="en-US" altLang="zh-CN" sz="22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16740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9713" y="751734"/>
                <a:ext cx="5403850" cy="430887"/>
              </a:xfrm>
              <a:prstGeom prst="rect">
                <a:avLst/>
              </a:prstGeom>
              <a:blipFill>
                <a:blip r:embed="rId4"/>
                <a:stretch>
                  <a:fillRect l="-1466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745" name="Object 9"/>
              <p:cNvSpPr txBox="1"/>
              <p:nvPr/>
            </p:nvSpPr>
            <p:spPr bwMode="auto">
              <a:xfrm>
                <a:off x="3852179" y="1274954"/>
                <a:ext cx="3453176" cy="10189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674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2179" y="1274954"/>
                <a:ext cx="3453176" cy="10189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746" name="Object 10"/>
              <p:cNvSpPr txBox="1"/>
              <p:nvPr/>
            </p:nvSpPr>
            <p:spPr bwMode="auto">
              <a:xfrm>
                <a:off x="2859714" y="2149123"/>
                <a:ext cx="2186692" cy="9428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674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9714" y="2149123"/>
                <a:ext cx="2186692" cy="9428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747" name="Object 11"/>
              <p:cNvSpPr txBox="1"/>
              <p:nvPr/>
            </p:nvSpPr>
            <p:spPr bwMode="auto">
              <a:xfrm>
                <a:off x="3208353" y="3043055"/>
                <a:ext cx="6280743" cy="1157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  <m:nary>
                                <m:nary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p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func>
                                    <m:func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2200" i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π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den>
                                      </m:f>
                                    </m:e>
                                  </m:func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674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8353" y="3043055"/>
                <a:ext cx="6280743" cy="11572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748" name="Object 12"/>
              <p:cNvSpPr txBox="1"/>
              <p:nvPr/>
            </p:nvSpPr>
            <p:spPr bwMode="auto">
              <a:xfrm>
                <a:off x="3208353" y="4124853"/>
                <a:ext cx="5203552" cy="1070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2200" i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π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den>
                                      </m:f>
                                    </m:e>
                                  </m:func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func>
                                    <m:func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2200" i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π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6748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8353" y="4124853"/>
                <a:ext cx="5203552" cy="10703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749" name="Object 13"/>
              <p:cNvSpPr txBox="1"/>
              <p:nvPr/>
            </p:nvSpPr>
            <p:spPr bwMode="auto">
              <a:xfrm>
                <a:off x="3208354" y="5197294"/>
                <a:ext cx="5314388" cy="10175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=1,2,3,⋯);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674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8354" y="5197294"/>
                <a:ext cx="5314388" cy="10175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08455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0" grpId="0"/>
      <p:bldP spid="116745" grpId="0"/>
      <p:bldP spid="116746" grpId="0"/>
      <p:bldP spid="116747" grpId="0"/>
      <p:bldP spid="116748" grpId="0"/>
      <p:bldP spid="11674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3D393EB-99CE-F250-3C1A-BCF9B0D46467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4549A033-D500-8CC1-49D8-88A3B9337DB3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6C3F5F42-D97D-63A3-1C02-425DE768C1E4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555C58BC-31C2-04B5-3E00-286AD7F9840E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B983779C-24E8-C860-2CD2-33E4AC4F87BB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16DA5AF3-C155-4E9E-6FD9-13E8BF9B1941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7774" name="Object 14"/>
              <p:cNvSpPr txBox="1"/>
              <p:nvPr/>
            </p:nvSpPr>
            <p:spPr bwMode="auto">
              <a:xfrm>
                <a:off x="2088744" y="910995"/>
                <a:ext cx="3650078" cy="9903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777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8744" y="910995"/>
                <a:ext cx="3650078" cy="9903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775" name="Object 15"/>
              <p:cNvSpPr txBox="1"/>
              <p:nvPr/>
            </p:nvSpPr>
            <p:spPr bwMode="auto">
              <a:xfrm>
                <a:off x="5190240" y="904568"/>
                <a:ext cx="5594320" cy="10305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=1,2,3,⋯);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777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0240" y="904568"/>
                <a:ext cx="5594320" cy="10305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776" name="Line 16"/>
          <p:cNvSpPr>
            <a:spLocks noChangeShapeType="1"/>
          </p:cNvSpPr>
          <p:nvPr/>
        </p:nvSpPr>
        <p:spPr bwMode="auto">
          <a:xfrm>
            <a:off x="1163222" y="1974994"/>
            <a:ext cx="9865557" cy="394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200"/>
          </a:p>
        </p:txBody>
      </p:sp>
      <p:sp>
        <p:nvSpPr>
          <p:cNvPr id="117777" name="Text Box 17"/>
          <p:cNvSpPr txBox="1">
            <a:spLocks noChangeArrowheads="1"/>
          </p:cNvSpPr>
          <p:nvPr/>
        </p:nvSpPr>
        <p:spPr bwMode="auto">
          <a:xfrm>
            <a:off x="3289300" y="2219999"/>
            <a:ext cx="2057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/>
              <a:t>同理可得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778" name="Object 18"/>
              <p:cNvSpPr txBox="1"/>
              <p:nvPr/>
            </p:nvSpPr>
            <p:spPr bwMode="auto">
              <a:xfrm>
                <a:off x="3289300" y="2797090"/>
                <a:ext cx="5577680" cy="11036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=1,2,3,⋯).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7778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9300" y="2797090"/>
                <a:ext cx="5577680" cy="11036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779" name="Text Box 19"/>
          <p:cNvSpPr txBox="1">
            <a:spLocks noChangeArrowheads="1"/>
          </p:cNvSpPr>
          <p:nvPr/>
        </p:nvSpPr>
        <p:spPr bwMode="auto">
          <a:xfrm>
            <a:off x="3289300" y="3911245"/>
            <a:ext cx="3810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/>
              <a:t>上述三式可合并为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780" name="Object 20"/>
              <p:cNvSpPr txBox="1"/>
              <p:nvPr/>
            </p:nvSpPr>
            <p:spPr bwMode="auto">
              <a:xfrm>
                <a:off x="3289300" y="4570665"/>
                <a:ext cx="5984080" cy="9910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=0,±1,±2,⋯).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778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9300" y="4570665"/>
                <a:ext cx="5984080" cy="9910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781" name="AutoShape 21"/>
          <p:cNvSpPr>
            <a:spLocks noChangeArrowheads="1"/>
          </p:cNvSpPr>
          <p:nvPr/>
        </p:nvSpPr>
        <p:spPr bwMode="auto">
          <a:xfrm>
            <a:off x="5574815" y="5378962"/>
            <a:ext cx="3078185" cy="452311"/>
          </a:xfrm>
          <a:prstGeom prst="wedgeRectCallout">
            <a:avLst>
              <a:gd name="adj1" fmla="val -73800"/>
              <a:gd name="adj2" fmla="val -45156"/>
            </a:avLst>
          </a:prstGeom>
          <a:solidFill>
            <a:srgbClr val="04926A">
              <a:alpha val="42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200" dirty="0"/>
              <a:t>傅里叶系数的复数形式</a:t>
            </a:r>
          </a:p>
        </p:txBody>
      </p:sp>
    </p:spTree>
    <p:extLst>
      <p:ext uri="{BB962C8B-B14F-4D97-AF65-F5344CB8AC3E}">
        <p14:creationId xmlns:p14="http://schemas.microsoft.com/office/powerpoint/2010/main" val="205770672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7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7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7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17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74" grpId="0"/>
      <p:bldP spid="117775" grpId="0"/>
      <p:bldP spid="117776" grpId="0" animBg="1"/>
      <p:bldP spid="117777" grpId="0"/>
      <p:bldP spid="117778" grpId="0"/>
      <p:bldP spid="117779" grpId="0"/>
      <p:bldP spid="117780" grpId="0"/>
      <p:bldP spid="11778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8A36375-2C5F-6C7E-9819-E2FCFC4D99F7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54221447-6280-E296-3B6B-C435483326C9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6E046121-C2E4-181E-344C-B149CB1095F0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FB64F7CB-61BB-EE68-F0ED-5A3BBF7AE3E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6AABAAF4-507D-2FF6-3F52-474C6209045E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0188EC37-A5AC-CA01-DDF8-71F55A47E13F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8796" name="Text Box 12"/>
              <p:cNvSpPr txBox="1">
                <a:spLocks noChangeArrowheads="1"/>
              </p:cNvSpPr>
              <p:nvPr/>
            </p:nvSpPr>
            <p:spPr bwMode="auto">
              <a:xfrm>
                <a:off x="3248025" y="1910846"/>
                <a:ext cx="52578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的傅里叶级数的复数形式为</a:t>
                </a:r>
              </a:p>
            </p:txBody>
          </p:sp>
        </mc:Choice>
        <mc:Fallback xmlns="">
          <p:sp>
            <p:nvSpPr>
              <p:cNvPr id="11879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8025" y="1910846"/>
                <a:ext cx="5257800" cy="430887"/>
              </a:xfrm>
              <a:prstGeom prst="rect">
                <a:avLst/>
              </a:prstGeom>
              <a:blipFill>
                <a:blip r:embed="rId4"/>
                <a:stretch>
                  <a:fillRect l="-1508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797" name="Object 13"/>
              <p:cNvSpPr txBox="1"/>
              <p:nvPr/>
            </p:nvSpPr>
            <p:spPr bwMode="auto">
              <a:xfrm>
                <a:off x="3267075" y="2764921"/>
                <a:ext cx="3211511" cy="11530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879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7075" y="2764921"/>
                <a:ext cx="3211511" cy="11530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798" name="Object 14"/>
              <p:cNvSpPr txBox="1"/>
              <p:nvPr/>
            </p:nvSpPr>
            <p:spPr bwMode="auto">
              <a:xfrm>
                <a:off x="3267075" y="4113452"/>
                <a:ext cx="6043611" cy="10387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=0,±1,±2,⋯).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879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7075" y="4113452"/>
                <a:ext cx="6043611" cy="10387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26063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6" grpId="0"/>
      <p:bldP spid="118797" grpId="0"/>
      <p:bldP spid="11879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F9C06FD-9DB6-D05A-DDFA-03E5F53FB91F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03004C95-F154-68ED-BDFA-E4314BF466F6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79707EFC-2FC3-1BDB-4680-3590B3020616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9F7DB4D3-50C9-0974-48EA-0592005E2F24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F74C94E3-01D0-BFD8-EBFA-0FC3FFCC8E07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CC370647-E593-BDBC-3B4A-1F21D3969A2F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2231408" y="1833381"/>
            <a:ext cx="34659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ym typeface="Symbol" panose="05050102010706020507" pitchFamily="18" charset="2"/>
              </a:rPr>
              <a:t>形式</a:t>
            </a:r>
            <a:r>
              <a:rPr kumimoji="1" lang="zh-CN" altLang="en-US" sz="2800" dirty="0"/>
              <a:t>的傅里叶级数</a:t>
            </a:r>
            <a:r>
              <a:rPr kumimoji="1" lang="en-US" altLang="zh-CN" sz="2800" dirty="0"/>
              <a:t>.  </a:t>
            </a:r>
            <a:endParaRPr kumimoji="1" lang="en-US" altLang="zh-CN" sz="28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909" name="Rectangle 5"/>
              <p:cNvSpPr>
                <a:spLocks noChangeArrowheads="1"/>
              </p:cNvSpPr>
              <p:nvPr/>
            </p:nvSpPr>
            <p:spPr bwMode="auto">
              <a:xfrm>
                <a:off x="1305989" y="1103270"/>
                <a:ext cx="9580021" cy="533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   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把宽为 </a:t>
                </a:r>
                <a:r>
                  <a:rPr lang="zh-CN" altLang="en-US" sz="2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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高为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,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周期为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的矩形波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sz="2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Symbol" panose="05050102010706020507" pitchFamily="18" charset="2"/>
                          </a:rPr>
                          <m:t>如图</m:t>
                        </m:r>
                      </m:e>
                    </m:d>
                    <m:r>
                      <a:rPr lang="en-US" altLang="zh-CN" sz="2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展成复数</a:t>
                </a:r>
              </a:p>
            </p:txBody>
          </p:sp>
        </mc:Choice>
        <mc:Fallback xmlns="">
          <p:sp>
            <p:nvSpPr>
              <p:cNvPr id="12390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5989" y="1103270"/>
                <a:ext cx="9580021" cy="533400"/>
              </a:xfrm>
              <a:prstGeom prst="rect">
                <a:avLst/>
              </a:prstGeom>
              <a:blipFill>
                <a:blip r:embed="rId4"/>
                <a:stretch>
                  <a:fillRect l="-1272" t="-13793" b="-321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 Box 635"/>
          <p:cNvSpPr txBox="1">
            <a:spLocks noChangeArrowheads="1"/>
          </p:cNvSpPr>
          <p:nvPr/>
        </p:nvSpPr>
        <p:spPr bwMode="auto">
          <a:xfrm>
            <a:off x="1305989" y="2805261"/>
            <a:ext cx="7381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636"/>
              <p:cNvSpPr txBox="1"/>
              <p:nvPr/>
            </p:nvSpPr>
            <p:spPr bwMode="auto">
              <a:xfrm>
                <a:off x="3668933" y="2652564"/>
                <a:ext cx="1308100" cy="660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" name="Object 6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8933" y="2652564"/>
                <a:ext cx="1308100" cy="660400"/>
              </a:xfrm>
              <a:prstGeom prst="rect">
                <a:avLst/>
              </a:prstGeom>
              <a:blipFill>
                <a:blip r:embed="rId6"/>
                <a:stretch>
                  <a:fillRect b="-370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637"/>
              <p:cNvSpPr txBox="1"/>
              <p:nvPr/>
            </p:nvSpPr>
            <p:spPr bwMode="auto">
              <a:xfrm>
                <a:off x="2231409" y="4775840"/>
                <a:ext cx="1110144" cy="4769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9" name="Object 6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1409" y="4775840"/>
                <a:ext cx="1110144" cy="476963"/>
              </a:xfrm>
              <a:prstGeom prst="rect">
                <a:avLst/>
              </a:prstGeom>
              <a:blipFill>
                <a:blip r:embed="rId7"/>
                <a:stretch>
                  <a:fillRect b="-63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Box 638"/>
          <p:cNvSpPr txBox="1">
            <a:spLocks noChangeArrowheads="1"/>
          </p:cNvSpPr>
          <p:nvPr/>
        </p:nvSpPr>
        <p:spPr bwMode="auto">
          <a:xfrm>
            <a:off x="2231408" y="3582693"/>
            <a:ext cx="4191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内矩形波的函数表达式为</a:t>
            </a:r>
          </a:p>
        </p:txBody>
      </p:sp>
      <p:sp>
        <p:nvSpPr>
          <p:cNvPr id="51" name="AutoShape 639"/>
          <p:cNvSpPr>
            <a:spLocks/>
          </p:cNvSpPr>
          <p:nvPr/>
        </p:nvSpPr>
        <p:spPr bwMode="auto">
          <a:xfrm>
            <a:off x="3208244" y="4421728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640"/>
              <p:cNvSpPr txBox="1"/>
              <p:nvPr/>
            </p:nvSpPr>
            <p:spPr bwMode="auto">
              <a:xfrm>
                <a:off x="3396400" y="4229243"/>
                <a:ext cx="2611437" cy="7096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 , −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2" name="Object 6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6400" y="4229243"/>
                <a:ext cx="2611437" cy="7096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641"/>
              <p:cNvSpPr txBox="1"/>
              <p:nvPr/>
            </p:nvSpPr>
            <p:spPr bwMode="auto">
              <a:xfrm>
                <a:off x="3396400" y="5119793"/>
                <a:ext cx="4483100" cy="7096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0 , 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 , </m:t>
                      </m:r>
                      <m:f>
                        <m:f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3" name="Object 6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6400" y="5119793"/>
                <a:ext cx="4483100" cy="7096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674"/>
          <p:cNvSpPr>
            <a:spLocks noChangeArrowheads="1"/>
          </p:cNvSpPr>
          <p:nvPr/>
        </p:nvSpPr>
        <p:spPr bwMode="auto">
          <a:xfrm>
            <a:off x="2231408" y="2827925"/>
            <a:ext cx="159530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在一个周期</a:t>
            </a:r>
          </a:p>
        </p:txBody>
      </p:sp>
      <p:pic>
        <p:nvPicPr>
          <p:cNvPr id="10" name="图片 9" descr="图表, 箱线图&#10;&#10;描述已自动生成">
            <a:extLst>
              <a:ext uri="{FF2B5EF4-FFF2-40B4-BE49-F238E27FC236}">
                <a16:creationId xmlns:a16="http://schemas.microsoft.com/office/drawing/2014/main" id="{930FE116-C548-0E39-42FE-60AB939B0C2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407" y="2866228"/>
            <a:ext cx="3932513" cy="174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6591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/>
      <p:bldP spid="123909" grpId="0"/>
      <p:bldP spid="47" grpId="0"/>
      <p:bldP spid="48" grpId="0"/>
      <p:bldP spid="49" grpId="0"/>
      <p:bldP spid="50" grpId="0"/>
      <p:bldP spid="52" grpId="0"/>
      <p:bldP spid="53" grpId="0"/>
      <p:bldP spid="5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A4A8977-FCC4-5C4D-CCCB-4E0164D89CF6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96902AB1-5878-5269-CFC3-93BCF7EB1AEB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F461EECF-65DF-C191-D90D-8525CD2B6F49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761053EB-4F6D-B78E-C1B7-068BE8B4216F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9BB30C50-A5AD-5C33-B3D9-4554498AEF66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D47DB38A-F60E-4CC5-8257-0CBCE28D727E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465" name="Text Box 57"/>
          <p:cNvSpPr txBox="1">
            <a:spLocks noChangeArrowheads="1"/>
          </p:cNvSpPr>
          <p:nvPr/>
        </p:nvSpPr>
        <p:spPr bwMode="auto">
          <a:xfrm>
            <a:off x="2352458" y="928909"/>
            <a:ext cx="5029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/>
              <a:t>它的复数形式的傅里叶系数为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66" name="Object 58"/>
              <p:cNvSpPr txBox="1"/>
              <p:nvPr/>
            </p:nvSpPr>
            <p:spPr bwMode="auto">
              <a:xfrm>
                <a:off x="4582701" y="1510615"/>
                <a:ext cx="1853267" cy="11118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66" name="Object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2701" y="1510615"/>
                <a:ext cx="1853267" cy="11118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67" name="Object 59"/>
              <p:cNvSpPr txBox="1"/>
              <p:nvPr/>
            </p:nvSpPr>
            <p:spPr bwMode="auto">
              <a:xfrm>
                <a:off x="6026857" y="1643621"/>
                <a:ext cx="974725" cy="9159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67" name="Object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26857" y="1643621"/>
                <a:ext cx="974725" cy="9159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68" name="Object 60"/>
              <p:cNvSpPr txBox="1"/>
              <p:nvPr/>
            </p:nvSpPr>
            <p:spPr bwMode="auto">
              <a:xfrm>
                <a:off x="2403381" y="1480173"/>
                <a:ext cx="3073400" cy="11978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68" name="Objec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3381" y="1480173"/>
                <a:ext cx="3073400" cy="11978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69" name="Object 61"/>
              <p:cNvSpPr txBox="1"/>
              <p:nvPr/>
            </p:nvSpPr>
            <p:spPr bwMode="auto">
              <a:xfrm>
                <a:off x="3008595" y="2755261"/>
                <a:ext cx="3073400" cy="990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type m:val="li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f>
                            <m:fPr>
                              <m:type m:val="li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func>
                            </m:sup>
                          </m:sSup>
                        </m:fName>
                        <m:e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69" name="Object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8595" y="2755261"/>
                <a:ext cx="3073400" cy="990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70" name="Object 62"/>
              <p:cNvSpPr txBox="1"/>
              <p:nvPr/>
            </p:nvSpPr>
            <p:spPr bwMode="auto">
              <a:xfrm>
                <a:off x="2384909" y="2984515"/>
                <a:ext cx="1117600" cy="809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70" name="Object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4909" y="2984515"/>
                <a:ext cx="1117600" cy="8096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71" name="Object 63"/>
              <p:cNvSpPr txBox="1"/>
              <p:nvPr/>
            </p:nvSpPr>
            <p:spPr bwMode="auto">
              <a:xfrm>
                <a:off x="5761249" y="2762826"/>
                <a:ext cx="3155950" cy="12089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type m:val="li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f>
                            <m:fPr>
                              <m:type m:val="li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π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func>
                                </m:sup>
                              </m:sSup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71" name="Object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1249" y="2762826"/>
                <a:ext cx="3155950" cy="12089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72" name="Object 64"/>
              <p:cNvSpPr txBox="1"/>
              <p:nvPr/>
            </p:nvSpPr>
            <p:spPr bwMode="auto">
              <a:xfrm>
                <a:off x="2758858" y="5175642"/>
                <a:ext cx="2108200" cy="901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72" name="Object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8858" y="5175642"/>
                <a:ext cx="2108200" cy="9017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73" name="Object 65"/>
              <p:cNvSpPr txBox="1"/>
              <p:nvPr/>
            </p:nvSpPr>
            <p:spPr bwMode="auto">
              <a:xfrm>
                <a:off x="4620823" y="5332842"/>
                <a:ext cx="3265046" cy="473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=±1 , ±2 , ⋯ ).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73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0823" y="5332842"/>
                <a:ext cx="3265046" cy="473075"/>
              </a:xfrm>
              <a:prstGeom prst="rect">
                <a:avLst/>
              </a:prstGeom>
              <a:blipFill>
                <a:blip r:embed="rId11"/>
                <a:stretch>
                  <a:fillRect l="-1119"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74" name="Object 66"/>
              <p:cNvSpPr txBox="1"/>
              <p:nvPr/>
            </p:nvSpPr>
            <p:spPr bwMode="auto">
              <a:xfrm>
                <a:off x="2739201" y="4035015"/>
                <a:ext cx="3958209" cy="10095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den>
                          </m:f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  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74" name="Object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9201" y="4035015"/>
                <a:ext cx="3958209" cy="100957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75" name="Object 67"/>
              <p:cNvSpPr txBox="1"/>
              <p:nvPr/>
            </p:nvSpPr>
            <p:spPr bwMode="auto">
              <a:xfrm>
                <a:off x="5890545" y="4175035"/>
                <a:ext cx="4017963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altLang="en-US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den>
                    </m:f>
                  </m:oMath>
                </a14:m>
                <a:r>
                  <a:rPr lang="zh-CN" altLang="en-US" sz="22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"/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</m:mr>
                          <m:mr>
                            <m:e/>
                          </m:mr>
                        </m:m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                  </m:t>
                        </m:r>
                      </m:e>
                    </m:d>
                    <m:sSub>
                      <m:sSub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]"/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</m:m>
                          </m:e>
                        </m:d>
                      </m:e>
                      <m:sub>
                        <m: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75" name="Object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90545" y="4175035"/>
                <a:ext cx="4017963" cy="9525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76" name="Object 68"/>
              <p:cNvSpPr txBox="1"/>
              <p:nvPr/>
            </p:nvSpPr>
            <p:spPr bwMode="auto">
              <a:xfrm>
                <a:off x="4383898" y="4112117"/>
                <a:ext cx="1269546" cy="7329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altLang="zh-CN" sz="22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func>
                            </m:sup>
                          </m:sSup>
                        </m:fName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76" name="Object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3898" y="4112117"/>
                <a:ext cx="1269546" cy="7329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77" name="Object 69"/>
              <p:cNvSpPr txBox="1"/>
              <p:nvPr/>
            </p:nvSpPr>
            <p:spPr bwMode="auto">
              <a:xfrm>
                <a:off x="5509334" y="4067606"/>
                <a:ext cx="687131" cy="6588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num>
                        <m:den>
                          <m:r>
                            <a:rPr lang="zh-CN" alt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7477" name="Object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9334" y="4067606"/>
                <a:ext cx="687131" cy="658865"/>
              </a:xfrm>
              <a:prstGeom prst="rect">
                <a:avLst/>
              </a:prstGeom>
              <a:blipFill>
                <a:blip r:embed="rId15"/>
                <a:stretch>
                  <a:fillRect l="-27679" t="-52778" r="-23214" b="-296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78" name="Object 70"/>
              <p:cNvSpPr txBox="1"/>
              <p:nvPr/>
            </p:nvSpPr>
            <p:spPr bwMode="auto">
              <a:xfrm>
                <a:off x="5479706" y="4553835"/>
                <a:ext cx="956262" cy="7635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num>
                        <m:den>
                          <m:r>
                            <a:rPr lang="zh-CN" alt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7478" name="Object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79706" y="4553835"/>
                <a:ext cx="956262" cy="763587"/>
              </a:xfrm>
              <a:prstGeom prst="rect">
                <a:avLst/>
              </a:prstGeom>
              <a:blipFill>
                <a:blip r:embed="rId16"/>
                <a:stretch>
                  <a:fillRect l="-7643" t="-45600" b="-12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79" name="Object 71"/>
              <p:cNvSpPr txBox="1"/>
              <p:nvPr/>
            </p:nvSpPr>
            <p:spPr bwMode="auto">
              <a:xfrm>
                <a:off x="7238799" y="4172281"/>
                <a:ext cx="2128319" cy="6460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func>
                            </m:sup>
                          </m:sSup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func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func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79" name="Object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8799" y="4172281"/>
                <a:ext cx="2128319" cy="64603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182864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65" grpId="0"/>
      <p:bldP spid="17466" grpId="0"/>
      <p:bldP spid="17467" grpId="0"/>
      <p:bldP spid="17468" grpId="0"/>
      <p:bldP spid="17469" grpId="0"/>
      <p:bldP spid="17470" grpId="0"/>
      <p:bldP spid="17471" grpId="0"/>
      <p:bldP spid="17472" grpId="0"/>
      <p:bldP spid="17473" grpId="0"/>
      <p:bldP spid="17474" grpId="0"/>
      <p:bldP spid="17475" grpId="0"/>
      <p:bldP spid="17476" grpId="0"/>
      <p:bldP spid="17477" grpId="0"/>
      <p:bldP spid="17478" grpId="0"/>
      <p:bldP spid="1747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E6CEB6B-AF47-20B6-5526-C895CDC53F56}"/>
              </a:ext>
            </a:extLst>
          </p:cNvPr>
          <p:cNvGrpSpPr/>
          <p:nvPr/>
        </p:nvGrpSpPr>
        <p:grpSpPr>
          <a:xfrm>
            <a:off x="687324" y="1477819"/>
            <a:ext cx="10817987" cy="4017818"/>
            <a:chOff x="687324" y="1477819"/>
            <a:chExt cx="10817987" cy="40178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4032EABA-FAD6-DC9E-2AA6-2A0118CDE8DB}"/>
                    </a:ext>
                  </a:extLst>
                </p:cNvPr>
                <p:cNvSpPr/>
                <p:nvPr/>
              </p:nvSpPr>
              <p:spPr>
                <a:xfrm>
                  <a:off x="687959" y="1477819"/>
                  <a:ext cx="10817352" cy="40178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4032EABA-FAD6-DC9E-2AA6-2A0118CDE8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1477819"/>
                  <a:ext cx="10817352" cy="401781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A0FBCE34-4A93-526F-3DBA-9F73F9672D18}"/>
                </a:ext>
              </a:extLst>
            </p:cNvPr>
            <p:cNvSpPr/>
            <p:nvPr/>
          </p:nvSpPr>
          <p:spPr>
            <a:xfrm>
              <a:off x="687324" y="1477819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8EADD672-0765-3D78-F41B-B1A3C53A1312}"/>
                </a:ext>
              </a:extLst>
            </p:cNvPr>
            <p:cNvSpPr/>
            <p:nvPr/>
          </p:nvSpPr>
          <p:spPr>
            <a:xfrm flipH="1">
              <a:off x="10823530" y="1477819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B05389F1-FBB5-CEA3-4E56-332BFEE8B7FD}"/>
                </a:ext>
              </a:extLst>
            </p:cNvPr>
            <p:cNvSpPr/>
            <p:nvPr/>
          </p:nvSpPr>
          <p:spPr>
            <a:xfrm flipV="1">
              <a:off x="687324" y="482212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FFB70DA0-2126-A5A4-64B3-A08A772DFD51}"/>
                </a:ext>
              </a:extLst>
            </p:cNvPr>
            <p:cNvSpPr/>
            <p:nvPr/>
          </p:nvSpPr>
          <p:spPr>
            <a:xfrm flipH="1" flipV="1">
              <a:off x="10823530" y="480225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548" name="Object 116"/>
              <p:cNvSpPr txBox="1"/>
              <p:nvPr/>
            </p:nvSpPr>
            <p:spPr bwMode="auto">
              <a:xfrm>
                <a:off x="2417827" y="2447075"/>
                <a:ext cx="2095500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∴  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548" name="Object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7827" y="2447075"/>
                <a:ext cx="2095500" cy="825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49" name="Object 117"/>
              <p:cNvSpPr txBox="1"/>
              <p:nvPr/>
            </p:nvSpPr>
            <p:spPr bwMode="auto">
              <a:xfrm>
                <a:off x="4346826" y="2312329"/>
                <a:ext cx="3475038" cy="1298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≠0</m:t>
                              </m:r>
                            </m:e>
                          </m:eqAr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func>
                            </m:sup>
                          </m:sSup>
                        </m:fName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549" name="Object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6826" y="2312329"/>
                <a:ext cx="3475038" cy="12985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50" name="Object 118"/>
              <p:cNvSpPr txBox="1"/>
              <p:nvPr/>
            </p:nvSpPr>
            <p:spPr bwMode="auto">
              <a:xfrm>
                <a:off x="5724446" y="3914262"/>
                <a:ext cx="4481736" cy="866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≠±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=0, ±1, ⋯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550" name="Object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4446" y="3914262"/>
                <a:ext cx="4481736" cy="866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04305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48" grpId="0"/>
      <p:bldP spid="18549" grpId="0"/>
      <p:bldP spid="1855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020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cuilh纯白模板 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cuilh纯白模板 </Template>
  <TotalTime>1344</TotalTime>
  <Words>1498</Words>
  <Application>Microsoft Office PowerPoint</Application>
  <PresentationFormat>宽屏</PresentationFormat>
  <Paragraphs>259</Paragraphs>
  <Slides>29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Calisto MT</vt:lpstr>
      <vt:lpstr>Cambria Math</vt:lpstr>
      <vt:lpstr>cuilh纯白模板 </vt:lpstr>
      <vt:lpstr>PowerPoint 演示文稿</vt:lpstr>
      <vt:lpstr>PowerPoint 演示文稿</vt:lpstr>
      <vt:lpstr>PowerPoint 演示文稿</vt:lpstr>
      <vt:lpstr>PowerPoint 演示文稿</vt:lpstr>
      <vt:lpstr>一、以 2l 为周期的函数的傅里叶展开</vt:lpstr>
      <vt:lpstr>PowerPoint 演示文稿</vt:lpstr>
      <vt:lpstr>PowerPoint 演示文稿</vt:lpstr>
      <vt:lpstr>证   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cui;崔丽鸿</dc:creator>
  <cp:lastModifiedBy>yang fan</cp:lastModifiedBy>
  <cp:revision>131</cp:revision>
  <dcterms:created xsi:type="dcterms:W3CDTF">2021-12-25T10:05:44Z</dcterms:created>
  <dcterms:modified xsi:type="dcterms:W3CDTF">2023-07-06T07:25:10Z</dcterms:modified>
</cp:coreProperties>
</file>