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33"/>
  </p:notesMasterIdLst>
  <p:sldIdLst>
    <p:sldId id="257" r:id="rId2"/>
    <p:sldId id="678" r:id="rId3"/>
    <p:sldId id="664" r:id="rId4"/>
    <p:sldId id="817" r:id="rId5"/>
    <p:sldId id="288" r:id="rId6"/>
    <p:sldId id="289" r:id="rId7"/>
    <p:sldId id="290" r:id="rId8"/>
    <p:sldId id="291" r:id="rId9"/>
    <p:sldId id="292" r:id="rId10"/>
    <p:sldId id="293" r:id="rId11"/>
    <p:sldId id="319" r:id="rId12"/>
    <p:sldId id="320" r:id="rId13"/>
    <p:sldId id="321" r:id="rId14"/>
    <p:sldId id="322" r:id="rId15"/>
    <p:sldId id="295" r:id="rId16"/>
    <p:sldId id="296" r:id="rId17"/>
    <p:sldId id="297" r:id="rId18"/>
    <p:sldId id="298" r:id="rId19"/>
    <p:sldId id="299" r:id="rId20"/>
    <p:sldId id="300" r:id="rId21"/>
    <p:sldId id="325" r:id="rId22"/>
    <p:sldId id="326" r:id="rId23"/>
    <p:sldId id="327" r:id="rId24"/>
    <p:sldId id="328" r:id="rId25"/>
    <p:sldId id="323" r:id="rId26"/>
    <p:sldId id="324" r:id="rId27"/>
    <p:sldId id="304" r:id="rId28"/>
    <p:sldId id="305" r:id="rId29"/>
    <p:sldId id="306" r:id="rId30"/>
    <p:sldId id="307" r:id="rId31"/>
    <p:sldId id="364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7BA8"/>
    <a:srgbClr val="04926A"/>
    <a:srgbClr val="EBEBE9"/>
    <a:srgbClr val="CDE9E1"/>
    <a:srgbClr val="FFFFFF"/>
    <a:srgbClr val="0000FF"/>
    <a:srgbClr val="FFCCFF"/>
    <a:srgbClr val="66CCFF"/>
    <a:srgbClr val="FF00FF"/>
    <a:srgbClr val="0D1C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49" autoAdjust="0"/>
  </p:normalViewPr>
  <p:slideViewPr>
    <p:cSldViewPr snapToGrid="0">
      <p:cViewPr varScale="1">
        <p:scale>
          <a:sx n="66" d="100"/>
          <a:sy n="66" d="100"/>
        </p:scale>
        <p:origin x="640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01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0B2D8-6C04-4066-B512-F2009C133489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3C49D-2B5E-4CF8-918D-DA76462ED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78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A89E31-5792-4D9E-967F-719F9288E23B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 Math" panose="020405030504060302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运行时</a:t>
            </a:r>
            <a:r>
              <a:rPr lang="en-US" altLang="zh-CN" dirty="0"/>
              <a:t>, </a:t>
            </a:r>
            <a:r>
              <a:rPr lang="zh-CN" altLang="en-US" dirty="0"/>
              <a:t>点击相片</a:t>
            </a:r>
            <a:r>
              <a:rPr lang="en-US" altLang="zh-CN" dirty="0"/>
              <a:t>, </a:t>
            </a:r>
            <a:r>
              <a:rPr lang="zh-CN" altLang="en-US" dirty="0"/>
              <a:t>或按钮“阿贝尔” 可显示阿贝尔简介</a:t>
            </a:r>
            <a:r>
              <a:rPr lang="en-US" altLang="zh-CN" dirty="0"/>
              <a:t>, </a:t>
            </a:r>
            <a:r>
              <a:rPr lang="zh-CN" altLang="en-US" dirty="0"/>
              <a:t>并自动返回</a:t>
            </a:r>
            <a:r>
              <a:rPr lang="en-US" altLang="zh-C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65799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83883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210133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596458"/>
      </p:ext>
    </p:extLst>
  </p:cSld>
  <p:clrMapOvr>
    <a:masterClrMapping/>
  </p:clrMapOvr>
  <p:transition>
    <p:wipe dir="r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9875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A8924852-F4C0-9600-7889-0F1095675D86}"/>
              </a:ext>
            </a:extLst>
          </p:cNvPr>
          <p:cNvSpPr/>
          <p:nvPr userDrawn="1"/>
        </p:nvSpPr>
        <p:spPr>
          <a:xfrm>
            <a:off x="297498" y="6548555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3DD3553-2E63-3531-E54B-7AAA5FC4795D}"/>
              </a:ext>
            </a:extLst>
          </p:cNvPr>
          <p:cNvSpPr/>
          <p:nvPr userDrawn="1"/>
        </p:nvSpPr>
        <p:spPr>
          <a:xfrm rot="2659048">
            <a:off x="10181311" y="196227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92D0763-98C2-6831-D93B-5D3A8DE415DE}"/>
              </a:ext>
            </a:extLst>
          </p:cNvPr>
          <p:cNvSpPr/>
          <p:nvPr userDrawn="1"/>
        </p:nvSpPr>
        <p:spPr>
          <a:xfrm>
            <a:off x="476828" y="6435405"/>
            <a:ext cx="14205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第三节  幂级数 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65B38F-FD67-2D8B-5896-9E5D07F7C156}"/>
              </a:ext>
            </a:extLst>
          </p:cNvPr>
          <p:cNvSpPr/>
          <p:nvPr userDrawn="1"/>
        </p:nvSpPr>
        <p:spPr>
          <a:xfrm>
            <a:off x="10477286" y="112357"/>
            <a:ext cx="13676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第十二章  级数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7CA8A60-3284-121F-1F08-5E967359079F}"/>
              </a:ext>
            </a:extLst>
          </p:cNvPr>
          <p:cNvCxnSpPr/>
          <p:nvPr userDrawn="1"/>
        </p:nvCxnSpPr>
        <p:spPr>
          <a:xfrm>
            <a:off x="0" y="275644"/>
            <a:ext cx="98933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6DC1E1C-C7D4-B0B6-ABA1-0AAD316FA87F}"/>
              </a:ext>
            </a:extLst>
          </p:cNvPr>
          <p:cNvCxnSpPr/>
          <p:nvPr userDrawn="1"/>
        </p:nvCxnSpPr>
        <p:spPr>
          <a:xfrm>
            <a:off x="1951668" y="6613460"/>
            <a:ext cx="10260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909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6" r:id="rId2"/>
    <p:sldLayoutId id="2147483678" r:id="rId3"/>
    <p:sldLayoutId id="2147483679" r:id="rId4"/>
  </p:sldLayoutIdLst>
  <p:transition>
    <p:wipe dir="r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11.png"/><Relationship Id="rId7" Type="http://schemas.openxmlformats.org/officeDocument/2006/relationships/image" Target="../media/image8.png"/><Relationship Id="rId2" Type="http://schemas.openxmlformats.org/officeDocument/2006/relationships/image" Target="../media/image3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72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10.png"/><Relationship Id="rId2" Type="http://schemas.openxmlformats.org/officeDocument/2006/relationships/image" Target="../media/image64.png"/><Relationship Id="rId16" Type="http://schemas.openxmlformats.org/officeDocument/2006/relationships/image" Target="../media/image700.png"/><Relationship Id="rId20" Type="http://schemas.openxmlformats.org/officeDocument/2006/relationships/image" Target="../media/image7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6.png"/><Relationship Id="rId10" Type="http://schemas.openxmlformats.org/officeDocument/2006/relationships/image" Target="../media/image72.png"/><Relationship Id="rId19" Type="http://schemas.openxmlformats.org/officeDocument/2006/relationships/image" Target="../media/image730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68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0.png"/><Relationship Id="rId7" Type="http://schemas.openxmlformats.org/officeDocument/2006/relationships/image" Target="../media/image80.png"/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3" Type="http://schemas.openxmlformats.org/officeDocument/2006/relationships/image" Target="../media/image410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5" Type="http://schemas.openxmlformats.org/officeDocument/2006/relationships/image" Target="../media/image109.png"/><Relationship Id="rId10" Type="http://schemas.openxmlformats.org/officeDocument/2006/relationships/image" Target="../media/image104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410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37.png"/><Relationship Id="rId3" Type="http://schemas.openxmlformats.org/officeDocument/2006/relationships/image" Target="../media/image410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17" Type="http://schemas.openxmlformats.org/officeDocument/2006/relationships/image" Target="../media/image141.png"/><Relationship Id="rId16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5" Type="http://schemas.openxmlformats.org/officeDocument/2006/relationships/image" Target="../media/image13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Relationship Id="rId14" Type="http://schemas.openxmlformats.org/officeDocument/2006/relationships/image" Target="../media/image1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13" Type="http://schemas.openxmlformats.org/officeDocument/2006/relationships/image" Target="../media/image151.png"/><Relationship Id="rId3" Type="http://schemas.openxmlformats.org/officeDocument/2006/relationships/image" Target="../media/image410.png"/><Relationship Id="rId7" Type="http://schemas.openxmlformats.org/officeDocument/2006/relationships/image" Target="../media/image145.png"/><Relationship Id="rId12" Type="http://schemas.openxmlformats.org/officeDocument/2006/relationships/image" Target="../media/image150.png"/><Relationship Id="rId16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4.png"/><Relationship Id="rId11" Type="http://schemas.openxmlformats.org/officeDocument/2006/relationships/image" Target="../media/image149.png"/><Relationship Id="rId5" Type="http://schemas.openxmlformats.org/officeDocument/2006/relationships/image" Target="../media/image143.png"/><Relationship Id="rId15" Type="http://schemas.openxmlformats.org/officeDocument/2006/relationships/image" Target="../media/image153.png"/><Relationship Id="rId10" Type="http://schemas.openxmlformats.org/officeDocument/2006/relationships/image" Target="../media/image148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Relationship Id="rId14" Type="http://schemas.openxmlformats.org/officeDocument/2006/relationships/image" Target="../media/image15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4.png"/><Relationship Id="rId18" Type="http://schemas.openxmlformats.org/officeDocument/2006/relationships/image" Target="../media/image169.png"/><Relationship Id="rId3" Type="http://schemas.openxmlformats.org/officeDocument/2006/relationships/image" Target="../media/image410.pn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17" Type="http://schemas.openxmlformats.org/officeDocument/2006/relationships/image" Target="../media/image168.png"/><Relationship Id="rId16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11" Type="http://schemas.openxmlformats.org/officeDocument/2006/relationships/image" Target="../media/image162.png"/><Relationship Id="rId5" Type="http://schemas.openxmlformats.org/officeDocument/2006/relationships/image" Target="../media/image156.png"/><Relationship Id="rId15" Type="http://schemas.openxmlformats.org/officeDocument/2006/relationships/image" Target="../media/image166.png"/><Relationship Id="rId10" Type="http://schemas.openxmlformats.org/officeDocument/2006/relationships/image" Target="../media/image161.png"/><Relationship Id="rId4" Type="http://schemas.openxmlformats.org/officeDocument/2006/relationships/image" Target="../media/image155.png"/><Relationship Id="rId9" Type="http://schemas.openxmlformats.org/officeDocument/2006/relationships/image" Target="../media/image160.png"/><Relationship Id="rId14" Type="http://schemas.openxmlformats.org/officeDocument/2006/relationships/image" Target="../media/image16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7" Type="http://schemas.openxmlformats.org/officeDocument/2006/relationships/image" Target="../media/image189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4" Type="http://schemas.openxmlformats.org/officeDocument/2006/relationships/image" Target="../media/image186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51.png"/><Relationship Id="rId18" Type="http://schemas.openxmlformats.org/officeDocument/2006/relationships/image" Target="../media/image1900.png"/><Relationship Id="rId26" Type="http://schemas.openxmlformats.org/officeDocument/2006/relationships/image" Target="../media/image1830.png"/><Relationship Id="rId3" Type="http://schemas.openxmlformats.org/officeDocument/2006/relationships/image" Target="../media/image191.png"/><Relationship Id="rId21" Type="http://schemas.openxmlformats.org/officeDocument/2006/relationships/image" Target="../media/image1930.png"/><Relationship Id="rId34" Type="http://schemas.openxmlformats.org/officeDocument/2006/relationships/image" Target="../media/image203.png"/><Relationship Id="rId7" Type="http://schemas.openxmlformats.org/officeDocument/2006/relationships/image" Target="../media/image195.png"/><Relationship Id="rId12" Type="http://schemas.openxmlformats.org/officeDocument/2006/relationships/image" Target="../media/image1841.png"/><Relationship Id="rId17" Type="http://schemas.openxmlformats.org/officeDocument/2006/relationships/image" Target="../media/image1890.png"/><Relationship Id="rId25" Type="http://schemas.openxmlformats.org/officeDocument/2006/relationships/image" Target="../media/image1820.png"/><Relationship Id="rId33" Type="http://schemas.openxmlformats.org/officeDocument/2006/relationships/image" Target="../media/image202.png"/><Relationship Id="rId2" Type="http://schemas.openxmlformats.org/officeDocument/2006/relationships/image" Target="../media/image190.png"/><Relationship Id="rId16" Type="http://schemas.openxmlformats.org/officeDocument/2006/relationships/image" Target="../media/image1880.png"/><Relationship Id="rId20" Type="http://schemas.openxmlformats.org/officeDocument/2006/relationships/image" Target="../media/image1920.png"/><Relationship Id="rId29" Type="http://schemas.openxmlformats.org/officeDocument/2006/relationships/image" Target="../media/image19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4.png"/><Relationship Id="rId11" Type="http://schemas.openxmlformats.org/officeDocument/2006/relationships/image" Target="../media/image1831.png"/><Relationship Id="rId24" Type="http://schemas.openxmlformats.org/officeDocument/2006/relationships/image" Target="../media/image1960.png"/><Relationship Id="rId32" Type="http://schemas.openxmlformats.org/officeDocument/2006/relationships/image" Target="../media/image201.png"/><Relationship Id="rId5" Type="http://schemas.openxmlformats.org/officeDocument/2006/relationships/image" Target="../media/image193.png"/><Relationship Id="rId15" Type="http://schemas.openxmlformats.org/officeDocument/2006/relationships/image" Target="../media/image1870.png"/><Relationship Id="rId23" Type="http://schemas.openxmlformats.org/officeDocument/2006/relationships/image" Target="../media/image1950.png"/><Relationship Id="rId28" Type="http://schemas.openxmlformats.org/officeDocument/2006/relationships/image" Target="../media/image1850.png"/><Relationship Id="rId36" Type="http://schemas.openxmlformats.org/officeDocument/2006/relationships/image" Target="../media/image205.png"/><Relationship Id="rId10" Type="http://schemas.openxmlformats.org/officeDocument/2006/relationships/image" Target="../media/image1821.png"/><Relationship Id="rId19" Type="http://schemas.openxmlformats.org/officeDocument/2006/relationships/image" Target="../media/image1910.png"/><Relationship Id="rId31" Type="http://schemas.openxmlformats.org/officeDocument/2006/relationships/image" Target="../media/image200.png"/><Relationship Id="rId4" Type="http://schemas.openxmlformats.org/officeDocument/2006/relationships/image" Target="../media/image192.png"/><Relationship Id="rId9" Type="http://schemas.openxmlformats.org/officeDocument/2006/relationships/image" Target="../media/image1810.png"/><Relationship Id="rId14" Type="http://schemas.openxmlformats.org/officeDocument/2006/relationships/image" Target="../media/image1860.png"/><Relationship Id="rId22" Type="http://schemas.openxmlformats.org/officeDocument/2006/relationships/image" Target="../media/image1940.png"/><Relationship Id="rId27" Type="http://schemas.openxmlformats.org/officeDocument/2006/relationships/image" Target="../media/image1840.png"/><Relationship Id="rId30" Type="http://schemas.openxmlformats.org/officeDocument/2006/relationships/image" Target="../media/image199.png"/><Relationship Id="rId35" Type="http://schemas.openxmlformats.org/officeDocument/2006/relationships/image" Target="../media/image204.png"/><Relationship Id="rId8" Type="http://schemas.openxmlformats.org/officeDocument/2006/relationships/image" Target="../media/image19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3" Type="http://schemas.openxmlformats.org/officeDocument/2006/relationships/image" Target="../media/image206.png"/><Relationship Id="rId7" Type="http://schemas.openxmlformats.org/officeDocument/2006/relationships/image" Target="../media/image210.png"/><Relationship Id="rId2" Type="http://schemas.openxmlformats.org/officeDocument/2006/relationships/image" Target="../media/image19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9.png"/><Relationship Id="rId5" Type="http://schemas.openxmlformats.org/officeDocument/2006/relationships/image" Target="../media/image208.png"/><Relationship Id="rId10" Type="http://schemas.openxmlformats.org/officeDocument/2006/relationships/image" Target="../media/image213.png"/><Relationship Id="rId4" Type="http://schemas.openxmlformats.org/officeDocument/2006/relationships/image" Target="../media/image207.png"/><Relationship Id="rId9" Type="http://schemas.openxmlformats.org/officeDocument/2006/relationships/image" Target="../media/image21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23.png"/><Relationship Id="rId3" Type="http://schemas.openxmlformats.org/officeDocument/2006/relationships/image" Target="../media/image2130.png"/><Relationship Id="rId7" Type="http://schemas.openxmlformats.org/officeDocument/2006/relationships/image" Target="../media/image217.png"/><Relationship Id="rId12" Type="http://schemas.openxmlformats.org/officeDocument/2006/relationships/image" Target="../media/image222.png"/><Relationship Id="rId2" Type="http://schemas.openxmlformats.org/officeDocument/2006/relationships/image" Target="../media/image21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6.png"/><Relationship Id="rId11" Type="http://schemas.openxmlformats.org/officeDocument/2006/relationships/image" Target="../media/image221.png"/><Relationship Id="rId5" Type="http://schemas.openxmlformats.org/officeDocument/2006/relationships/image" Target="../media/image215.png"/><Relationship Id="rId10" Type="http://schemas.openxmlformats.org/officeDocument/2006/relationships/image" Target="../media/image220.png"/><Relationship Id="rId4" Type="http://schemas.openxmlformats.org/officeDocument/2006/relationships/image" Target="../media/image214.png"/><Relationship Id="rId9" Type="http://schemas.openxmlformats.org/officeDocument/2006/relationships/image" Target="../media/image2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0.png"/><Relationship Id="rId7" Type="http://schemas.openxmlformats.org/officeDocument/2006/relationships/image" Target="../media/image172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8.png"/><Relationship Id="rId5" Type="http://schemas.openxmlformats.org/officeDocument/2006/relationships/image" Target="../media/image171.png"/><Relationship Id="rId4" Type="http://schemas.openxmlformats.org/officeDocument/2006/relationships/image" Target="../media/image226.png"/><Relationship Id="rId9" Type="http://schemas.openxmlformats.org/officeDocument/2006/relationships/image" Target="../media/image2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7" Type="http://schemas.openxmlformats.org/officeDocument/2006/relationships/image" Target="../media/image17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6" Type="http://schemas.openxmlformats.org/officeDocument/2006/relationships/image" Target="../media/image235.png"/><Relationship Id="rId5" Type="http://schemas.openxmlformats.org/officeDocument/2006/relationships/image" Target="../media/image23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179.png"/><Relationship Id="rId3" Type="http://schemas.openxmlformats.org/officeDocument/2006/relationships/image" Target="../media/image410.png"/><Relationship Id="rId7" Type="http://schemas.openxmlformats.org/officeDocument/2006/relationships/image" Target="../media/image241.png"/><Relationship Id="rId12" Type="http://schemas.openxmlformats.org/officeDocument/2006/relationships/image" Target="../media/image1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11" Type="http://schemas.openxmlformats.org/officeDocument/2006/relationships/image" Target="../media/image245.png"/><Relationship Id="rId5" Type="http://schemas.openxmlformats.org/officeDocument/2006/relationships/image" Target="../media/image239.png"/><Relationship Id="rId15" Type="http://schemas.openxmlformats.org/officeDocument/2006/relationships/image" Target="../media/image249.png"/><Relationship Id="rId10" Type="http://schemas.openxmlformats.org/officeDocument/2006/relationships/image" Target="../media/image177.png"/><Relationship Id="rId4" Type="http://schemas.openxmlformats.org/officeDocument/2006/relationships/image" Target="../media/image1730.png"/><Relationship Id="rId9" Type="http://schemas.openxmlformats.org/officeDocument/2006/relationships/image" Target="../media/image243.png"/><Relationship Id="rId14" Type="http://schemas.openxmlformats.org/officeDocument/2006/relationships/image" Target="../media/image18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png"/><Relationship Id="rId13" Type="http://schemas.openxmlformats.org/officeDocument/2006/relationships/image" Target="../media/image259.png"/><Relationship Id="rId3" Type="http://schemas.openxmlformats.org/officeDocument/2006/relationships/image" Target="../media/image410.png"/><Relationship Id="rId7" Type="http://schemas.openxmlformats.org/officeDocument/2006/relationships/image" Target="../media/image181.png"/><Relationship Id="rId12" Type="http://schemas.openxmlformats.org/officeDocument/2006/relationships/image" Target="../media/image2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2.png"/><Relationship Id="rId11" Type="http://schemas.openxmlformats.org/officeDocument/2006/relationships/image" Target="../media/image182.png"/><Relationship Id="rId5" Type="http://schemas.openxmlformats.org/officeDocument/2006/relationships/image" Target="../media/image251.png"/><Relationship Id="rId10" Type="http://schemas.openxmlformats.org/officeDocument/2006/relationships/image" Target="../media/image256.png"/><Relationship Id="rId4" Type="http://schemas.openxmlformats.org/officeDocument/2006/relationships/image" Target="../media/image250.png"/><Relationship Id="rId9" Type="http://schemas.openxmlformats.org/officeDocument/2006/relationships/image" Target="../media/image25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png"/><Relationship Id="rId13" Type="http://schemas.openxmlformats.org/officeDocument/2006/relationships/image" Target="../media/image268.png"/><Relationship Id="rId3" Type="http://schemas.openxmlformats.org/officeDocument/2006/relationships/image" Target="../media/image410.png"/><Relationship Id="rId7" Type="http://schemas.openxmlformats.org/officeDocument/2006/relationships/image" Target="../media/image224.png"/><Relationship Id="rId12" Type="http://schemas.openxmlformats.org/officeDocument/2006/relationships/image" Target="../media/image2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2.png"/><Relationship Id="rId11" Type="http://schemas.openxmlformats.org/officeDocument/2006/relationships/image" Target="../media/image2630.png"/><Relationship Id="rId5" Type="http://schemas.openxmlformats.org/officeDocument/2006/relationships/image" Target="../media/image183.png"/><Relationship Id="rId15" Type="http://schemas.openxmlformats.org/officeDocument/2006/relationships/image" Target="../media/image270.png"/><Relationship Id="rId10" Type="http://schemas.openxmlformats.org/officeDocument/2006/relationships/image" Target="../media/image266.png"/><Relationship Id="rId4" Type="http://schemas.openxmlformats.org/officeDocument/2006/relationships/image" Target="../media/image260.png"/><Relationship Id="rId9" Type="http://schemas.openxmlformats.org/officeDocument/2006/relationships/image" Target="../media/image265.png"/><Relationship Id="rId14" Type="http://schemas.openxmlformats.org/officeDocument/2006/relationships/image" Target="../media/image26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13" Type="http://schemas.openxmlformats.org/officeDocument/2006/relationships/image" Target="../media/image280.png"/><Relationship Id="rId3" Type="http://schemas.openxmlformats.org/officeDocument/2006/relationships/image" Target="../media/image410.png"/><Relationship Id="rId7" Type="http://schemas.openxmlformats.org/officeDocument/2006/relationships/image" Target="../media/image227.png"/><Relationship Id="rId12" Type="http://schemas.openxmlformats.org/officeDocument/2006/relationships/image" Target="../media/image2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3.png"/><Relationship Id="rId11" Type="http://schemas.openxmlformats.org/officeDocument/2006/relationships/image" Target="../media/image278.png"/><Relationship Id="rId5" Type="http://schemas.openxmlformats.org/officeDocument/2006/relationships/image" Target="../media/image225.png"/><Relationship Id="rId15" Type="http://schemas.openxmlformats.org/officeDocument/2006/relationships/image" Target="../media/image282.png"/><Relationship Id="rId10" Type="http://schemas.openxmlformats.org/officeDocument/2006/relationships/image" Target="../media/image277.png"/><Relationship Id="rId4" Type="http://schemas.openxmlformats.org/officeDocument/2006/relationships/image" Target="../media/image271.png"/><Relationship Id="rId9" Type="http://schemas.openxmlformats.org/officeDocument/2006/relationships/image" Target="../media/image276.png"/><Relationship Id="rId14" Type="http://schemas.openxmlformats.org/officeDocument/2006/relationships/image" Target="../media/image28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911DBC-1FAD-4D97-B103-31706F53C01F}"/>
              </a:ext>
            </a:extLst>
          </p:cNvPr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92BA65-1B2C-CE34-028B-FCA681F8EFC2}"/>
              </a:ext>
            </a:extLst>
          </p:cNvPr>
          <p:cNvSpPr/>
          <p:nvPr/>
        </p:nvSpPr>
        <p:spPr>
          <a:xfrm>
            <a:off x="789305" y="2015490"/>
            <a:ext cx="11150600" cy="485775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859A1D-2015-E6C4-DBAA-BDB4F78CEFFB}"/>
              </a:ext>
            </a:extLst>
          </p:cNvPr>
          <p:cNvSpPr/>
          <p:nvPr/>
        </p:nvSpPr>
        <p:spPr>
          <a:xfrm>
            <a:off x="629285" y="2156460"/>
            <a:ext cx="10989310" cy="471678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DDE570-5EFC-83BB-543D-6B7890B39460}"/>
              </a:ext>
            </a:extLst>
          </p:cNvPr>
          <p:cNvSpPr/>
          <p:nvPr/>
        </p:nvSpPr>
        <p:spPr>
          <a:xfrm>
            <a:off x="487045" y="2307590"/>
            <a:ext cx="10810875" cy="456565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41">
            <a:extLst>
              <a:ext uri="{FF2B5EF4-FFF2-40B4-BE49-F238E27FC236}">
                <a16:creationId xmlns:a16="http://schemas.microsoft.com/office/drawing/2014/main" id="{BA081A6E-F0FD-CC45-A2F8-28A9B0F8152F}"/>
              </a:ext>
            </a:extLst>
          </p:cNvPr>
          <p:cNvSpPr/>
          <p:nvPr/>
        </p:nvSpPr>
        <p:spPr>
          <a:xfrm flipH="1">
            <a:off x="5062827" y="278705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639E9A1-D115-D6E9-AEFF-93FFA0F982D1}"/>
              </a:ext>
            </a:extLst>
          </p:cNvPr>
          <p:cNvCxnSpPr/>
          <p:nvPr/>
        </p:nvCxnSpPr>
        <p:spPr>
          <a:xfrm>
            <a:off x="1884573" y="3690235"/>
            <a:ext cx="8179865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18147C8-FA78-6091-71EB-8D15A6FAE435}"/>
              </a:ext>
            </a:extLst>
          </p:cNvPr>
          <p:cNvGrpSpPr/>
          <p:nvPr/>
        </p:nvGrpSpPr>
        <p:grpSpPr>
          <a:xfrm>
            <a:off x="1884680" y="4335145"/>
            <a:ext cx="3651250" cy="1964690"/>
            <a:chOff x="3663" y="6990"/>
            <a:chExt cx="5750" cy="3094"/>
          </a:xfrm>
        </p:grpSpPr>
        <p:sp>
          <p:nvSpPr>
            <p:cNvPr id="15" name="矩形: 圆角 40">
              <a:extLst>
                <a:ext uri="{FF2B5EF4-FFF2-40B4-BE49-F238E27FC236}">
                  <a16:creationId xmlns:a16="http://schemas.microsoft.com/office/drawing/2014/main" id="{E85A41C6-30B9-B3F9-1E62-A61E73545F0F}"/>
                </a:ext>
              </a:extLst>
            </p:cNvPr>
            <p:cNvSpPr/>
            <p:nvPr/>
          </p:nvSpPr>
          <p:spPr>
            <a:xfrm rot="16200000" flipV="1">
              <a:off x="5205" y="5876"/>
              <a:ext cx="2666" cy="5750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B755B60-959E-2695-E853-0342B63ACB01}"/>
                </a:ext>
              </a:extLst>
            </p:cNvPr>
            <p:cNvSpPr/>
            <p:nvPr/>
          </p:nvSpPr>
          <p:spPr>
            <a:xfrm>
              <a:off x="5550" y="6990"/>
              <a:ext cx="235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无穷级数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23DD9B2C-370A-6EE8-BAEE-AAA32CB688A5}"/>
                    </a:ext>
                  </a:extLst>
                </p:cNvPr>
                <p:cNvSpPr/>
                <p:nvPr/>
              </p:nvSpPr>
              <p:spPr>
                <a:xfrm>
                  <a:off x="4985" y="7945"/>
                  <a:ext cx="3106" cy="189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数项级</m:t>
                        </m:r>
                      </m:oMath>
                    </m:oMathPara>
                  </a14:m>
                  <a:endPara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幂级数</m:t>
                        </m:r>
                      </m:oMath>
                    </m:oMathPara>
                  </a14:m>
                  <a:endPara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傅里叶级数</m:t>
                        </m:r>
                      </m:oMath>
                    </m:oMathPara>
                  </a14:m>
                  <a:endPara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23DD9B2C-370A-6EE8-BAEE-AAA32CB688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5" y="7945"/>
                  <a:ext cx="3106" cy="1890"/>
                </a:xfrm>
                <a:prstGeom prst="rect">
                  <a:avLst/>
                </a:prstGeom>
                <a:blipFill>
                  <a:blip r:embed="rId2"/>
                  <a:stretch>
                    <a:fillRect b="-40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E137E18D-2152-43D5-A6A5-55E82208D544}"/>
              </a:ext>
            </a:extLst>
          </p:cNvPr>
          <p:cNvSpPr/>
          <p:nvPr/>
        </p:nvSpPr>
        <p:spPr>
          <a:xfrm>
            <a:off x="3713480" y="884555"/>
            <a:ext cx="47650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第十二章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66E014E-1D5B-2618-C27C-5E330C0A1D54}"/>
              </a:ext>
            </a:extLst>
          </p:cNvPr>
          <p:cNvGrpSpPr/>
          <p:nvPr/>
        </p:nvGrpSpPr>
        <p:grpSpPr>
          <a:xfrm>
            <a:off x="5991860" y="4340235"/>
            <a:ext cx="3651250" cy="1964690"/>
            <a:chOff x="3663" y="6990"/>
            <a:chExt cx="5750" cy="3094"/>
          </a:xfrm>
        </p:grpSpPr>
        <p:sp>
          <p:nvSpPr>
            <p:cNvPr id="30" name="矩形: 圆角 40">
              <a:extLst>
                <a:ext uri="{FF2B5EF4-FFF2-40B4-BE49-F238E27FC236}">
                  <a16:creationId xmlns:a16="http://schemas.microsoft.com/office/drawing/2014/main" id="{D9697280-8F51-BD3F-7928-2BC100FE3446}"/>
                </a:ext>
              </a:extLst>
            </p:cNvPr>
            <p:cNvSpPr/>
            <p:nvPr/>
          </p:nvSpPr>
          <p:spPr>
            <a:xfrm rot="16200000" flipV="1">
              <a:off x="5205" y="5876"/>
              <a:ext cx="2666" cy="5750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650B897-3868-FEF2-FFDB-E9C9F17958B6}"/>
                </a:ext>
              </a:extLst>
            </p:cNvPr>
            <p:cNvSpPr/>
            <p:nvPr/>
          </p:nvSpPr>
          <p:spPr>
            <a:xfrm>
              <a:off x="4838" y="6990"/>
              <a:ext cx="3776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研究函数的工具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19C995D-EA69-9AF7-84B2-4A1496C4F73E}"/>
                </a:ext>
              </a:extLst>
            </p:cNvPr>
            <p:cNvSpPr/>
            <p:nvPr/>
          </p:nvSpPr>
          <p:spPr>
            <a:xfrm>
              <a:off x="5324" y="7946"/>
              <a:ext cx="2803" cy="18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表示函数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研究函数</a:t>
              </a:r>
            </a:p>
            <a:p>
              <a:pPr algn="ctr"/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数值计算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5798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EBC6063-7660-654F-9C1E-E094B591762F}"/>
              </a:ext>
            </a:extLst>
          </p:cNvPr>
          <p:cNvSpPr/>
          <p:nvPr/>
        </p:nvSpPr>
        <p:spPr>
          <a:xfrm>
            <a:off x="945202" y="2326548"/>
            <a:ext cx="4767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常数项级数的概念和性质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3BB7C3-377F-6F44-BF79-2630D53C23F2}"/>
              </a:ext>
            </a:extLst>
          </p:cNvPr>
          <p:cNvSpPr/>
          <p:nvPr/>
        </p:nvSpPr>
        <p:spPr>
          <a:xfrm>
            <a:off x="945202" y="3187197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幂级数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A59EBE-FB23-8945-A07D-4636B842A383}"/>
              </a:ext>
            </a:extLst>
          </p:cNvPr>
          <p:cNvSpPr/>
          <p:nvPr/>
        </p:nvSpPr>
        <p:spPr>
          <a:xfrm>
            <a:off x="6146076" y="2326548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常数项级数的审敛法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C77DC3F-7586-3543-B3CA-DB69D78A3711}"/>
              </a:ext>
            </a:extLst>
          </p:cNvPr>
          <p:cNvSpPr/>
          <p:nvPr/>
        </p:nvSpPr>
        <p:spPr>
          <a:xfrm>
            <a:off x="6146076" y="3188487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函数展开成幂级数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115371-884C-1342-8914-73E090F41BA7}"/>
              </a:ext>
            </a:extLst>
          </p:cNvPr>
          <p:cNvSpPr/>
          <p:nvPr/>
        </p:nvSpPr>
        <p:spPr>
          <a:xfrm>
            <a:off x="945202" y="4047845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函数的幂级数展开式的应用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78E4ABC-4FE6-B24F-927F-6ADBAFAA1731}"/>
              </a:ext>
            </a:extLst>
          </p:cNvPr>
          <p:cNvSpPr/>
          <p:nvPr/>
        </p:nvSpPr>
        <p:spPr>
          <a:xfrm>
            <a:off x="6146076" y="3930399"/>
            <a:ext cx="5532284" cy="1135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函数项级数的一致收敛性及 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一致收敛级数的基本性质 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1DAA95B-470C-074B-A0FA-40B8C9BD35CB}"/>
              </a:ext>
            </a:extLst>
          </p:cNvPr>
          <p:cNvSpPr/>
          <p:nvPr/>
        </p:nvSpPr>
        <p:spPr>
          <a:xfrm>
            <a:off x="945202" y="5482852"/>
            <a:ext cx="4906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傅里叶级数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B57F56C-092B-1546-9C56-0C4A1E985B15}"/>
              </a:ext>
            </a:extLst>
          </p:cNvPr>
          <p:cNvSpPr/>
          <p:nvPr/>
        </p:nvSpPr>
        <p:spPr>
          <a:xfrm>
            <a:off x="6146076" y="5482852"/>
            <a:ext cx="5481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一般周期函数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的傅里叶级数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4618947-F17D-034C-8CE1-58F913A4C706}"/>
              </a:ext>
            </a:extLst>
          </p:cNvPr>
          <p:cNvSpPr/>
          <p:nvPr/>
        </p:nvSpPr>
        <p:spPr>
          <a:xfrm>
            <a:off x="4875153" y="69115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第十二章</a:t>
            </a:r>
            <a:endParaRPr kumimoji="1" lang="zh-CN" altLang="en-US" sz="44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3574210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731523"/>
            <a:ext cx="11536045" cy="42898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4711647" y="686345"/>
            <a:ext cx="2768707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第三节 幂</a:t>
            </a:r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03A1013-9E23-564F-B39E-B9737CB81803}"/>
              </a:ext>
            </a:extLst>
          </p:cNvPr>
          <p:cNvGrpSpPr/>
          <p:nvPr/>
        </p:nvGrpSpPr>
        <p:grpSpPr>
          <a:xfrm>
            <a:off x="3980862" y="2223699"/>
            <a:ext cx="4230277" cy="901065"/>
            <a:chOff x="3376753" y="2223699"/>
            <a:chExt cx="4230277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376753" y="2223699"/>
              <a:ext cx="4230277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3616931" y="2412933"/>
              <a:ext cx="377539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lang="zh-CN" altLang="en-US" sz="2800" b="1" noProof="0" dirty="0">
                  <a:solidFill>
                    <a:schemeClr val="dk1"/>
                  </a:solidFill>
                  <a:latin typeface="+mj-ea"/>
                  <a:ea typeface="+mj-ea"/>
                </a:rPr>
                <a:t>函数项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级数的概念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D87A6B5-D72E-204A-939F-C500EC9F2155}"/>
              </a:ext>
            </a:extLst>
          </p:cNvPr>
          <p:cNvGrpSpPr/>
          <p:nvPr/>
        </p:nvGrpSpPr>
        <p:grpSpPr>
          <a:xfrm>
            <a:off x="3980863" y="3448290"/>
            <a:ext cx="4230276" cy="901065"/>
            <a:chOff x="3376754" y="3448290"/>
            <a:chExt cx="4230276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376754" y="3448290"/>
              <a:ext cx="4230276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3616931" y="3637526"/>
              <a:ext cx="388279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二、幂级数及其收敛性 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1500E83-8E6F-4043-9B35-D6F61672086E}"/>
              </a:ext>
            </a:extLst>
          </p:cNvPr>
          <p:cNvGrpSpPr/>
          <p:nvPr/>
        </p:nvGrpSpPr>
        <p:grpSpPr>
          <a:xfrm>
            <a:off x="3980862" y="4664250"/>
            <a:ext cx="4230277" cy="901065"/>
            <a:chOff x="3376753" y="4664250"/>
            <a:chExt cx="4230277" cy="901065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F0C1625A-8AFB-064E-8114-6A8BDB4CCB0A}"/>
                </a:ext>
              </a:extLst>
            </p:cNvPr>
            <p:cNvSpPr/>
            <p:nvPr/>
          </p:nvSpPr>
          <p:spPr>
            <a:xfrm flipV="1">
              <a:off x="3376753" y="4664250"/>
              <a:ext cx="4230277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81D9E1D-1020-F744-A3FA-7B32C6575660}"/>
                </a:ext>
              </a:extLst>
            </p:cNvPr>
            <p:cNvSpPr/>
            <p:nvPr/>
          </p:nvSpPr>
          <p:spPr>
            <a:xfrm>
              <a:off x="3616931" y="4853484"/>
              <a:ext cx="305724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三、幂级数的运算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454436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3074"/>
          <p:cNvSpPr>
            <a:spLocks noGrp="1" noChangeArrowheads="1"/>
          </p:cNvSpPr>
          <p:nvPr>
            <p:ph type="title" idx="4294967295"/>
          </p:nvPr>
        </p:nvSpPr>
        <p:spPr>
          <a:xfrm>
            <a:off x="1055914" y="506625"/>
            <a:ext cx="4572000" cy="685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99CC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 函数项级数的概念</a:t>
            </a:r>
          </a:p>
        </p:txBody>
      </p:sp>
      <p:sp>
        <p:nvSpPr>
          <p:cNvPr id="61444" name="Text Box 3076"/>
          <p:cNvSpPr txBox="1">
            <a:spLocks noChangeArrowheads="1"/>
          </p:cNvSpPr>
          <p:nvPr/>
        </p:nvSpPr>
        <p:spPr bwMode="auto">
          <a:xfrm>
            <a:off x="1993372" y="1018517"/>
            <a:ext cx="76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45" name="Object 3077"/>
              <p:cNvSpPr txBox="1"/>
              <p:nvPr/>
            </p:nvSpPr>
            <p:spPr bwMode="auto">
              <a:xfrm>
                <a:off x="3252827" y="1435954"/>
                <a:ext cx="6909229" cy="12637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)=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)+⋯+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)+⋯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1445" name="Object 30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2827" y="1435954"/>
                <a:ext cx="6909229" cy="12637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46" name="Text Box 3078"/>
              <p:cNvSpPr txBox="1">
                <a:spLocks noChangeArrowheads="1"/>
              </p:cNvSpPr>
              <p:nvPr/>
            </p:nvSpPr>
            <p:spPr bwMode="auto">
              <a:xfrm>
                <a:off x="1993372" y="2633005"/>
                <a:ext cx="60960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为定义在区间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上的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函数项级数</a:t>
                </a: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61446" name="Text Box 30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3372" y="2633005"/>
                <a:ext cx="6096000" cy="519113"/>
              </a:xfrm>
              <a:prstGeom prst="rect">
                <a:avLst/>
              </a:prstGeom>
              <a:blipFill>
                <a:blip r:embed="rId3"/>
                <a:stretch>
                  <a:fillRect l="-2100"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47" name="Text Box 3079"/>
          <p:cNvSpPr txBox="1">
            <a:spLocks noChangeArrowheads="1"/>
          </p:cNvSpPr>
          <p:nvPr/>
        </p:nvSpPr>
        <p:spPr bwMode="auto">
          <a:xfrm>
            <a:off x="1993372" y="3414055"/>
            <a:ext cx="836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48" name="Object 3080"/>
              <p:cNvSpPr txBox="1"/>
              <p:nvPr/>
            </p:nvSpPr>
            <p:spPr bwMode="auto">
              <a:xfrm>
                <a:off x="2443754" y="3389570"/>
                <a:ext cx="1240484" cy="5514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1448" name="Object 30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3754" y="3389570"/>
                <a:ext cx="1240484" cy="5514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49" name="Text Box 3081"/>
          <p:cNvSpPr txBox="1">
            <a:spLocks noChangeArrowheads="1"/>
          </p:cNvSpPr>
          <p:nvPr/>
        </p:nvSpPr>
        <p:spPr bwMode="auto">
          <a:xfrm>
            <a:off x="3501320" y="3421871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若常数项级数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50" name="Object 3082"/>
              <p:cNvSpPr txBox="1"/>
              <p:nvPr/>
            </p:nvSpPr>
            <p:spPr bwMode="auto">
              <a:xfrm>
                <a:off x="5729399" y="3029987"/>
                <a:ext cx="1788358" cy="1354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1450" name="Object 30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9399" y="3029987"/>
                <a:ext cx="1788358" cy="13541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51" name="Text Box 3083"/>
          <p:cNvSpPr txBox="1">
            <a:spLocks noChangeArrowheads="1"/>
          </p:cNvSpPr>
          <p:nvPr/>
        </p:nvSpPr>
        <p:spPr bwMode="auto">
          <a:xfrm>
            <a:off x="10168359" y="3436798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敛点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  <p:sp>
        <p:nvSpPr>
          <p:cNvPr id="61452" name="Text Box 3084"/>
          <p:cNvSpPr txBox="1">
            <a:spLocks noChangeArrowheads="1"/>
          </p:cNvSpPr>
          <p:nvPr/>
        </p:nvSpPr>
        <p:spPr bwMode="auto">
          <a:xfrm>
            <a:off x="1993372" y="4190545"/>
            <a:ext cx="548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所有收敛点的全体称为其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收敛域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;</a:t>
            </a:r>
          </a:p>
        </p:txBody>
      </p:sp>
      <p:sp>
        <p:nvSpPr>
          <p:cNvPr id="61453" name="Text Box 3085"/>
          <p:cNvSpPr txBox="1">
            <a:spLocks noChangeArrowheads="1"/>
          </p:cNvSpPr>
          <p:nvPr/>
        </p:nvSpPr>
        <p:spPr bwMode="auto">
          <a:xfrm>
            <a:off x="1993372" y="5031637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若常数项级数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54" name="Object 3086"/>
              <p:cNvSpPr txBox="1"/>
              <p:nvPr/>
            </p:nvSpPr>
            <p:spPr bwMode="auto">
              <a:xfrm>
                <a:off x="4207924" y="4633687"/>
                <a:ext cx="2364541" cy="13332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1454" name="Object 30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7924" y="4633687"/>
                <a:ext cx="2364541" cy="13332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455" name="Text Box 3087"/>
              <p:cNvSpPr txBox="1">
                <a:spLocks noChangeArrowheads="1"/>
              </p:cNvSpPr>
              <p:nvPr/>
            </p:nvSpPr>
            <p:spPr bwMode="auto">
              <a:xfrm>
                <a:off x="5390195" y="1013973"/>
                <a:ext cx="48006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为定义在区间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上的函数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称</a:t>
                </a:r>
              </a:p>
            </p:txBody>
          </p:sp>
        </mc:Choice>
        <mc:Fallback xmlns="">
          <p:sp>
            <p:nvSpPr>
              <p:cNvPr id="61455" name="Text Box 30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0195" y="1013973"/>
                <a:ext cx="4800600" cy="519113"/>
              </a:xfrm>
              <a:prstGeom prst="rect">
                <a:avLst/>
              </a:prstGeom>
              <a:blipFill>
                <a:blip r:embed="rId7"/>
                <a:stretch>
                  <a:fillRect l="-2538" t="-15294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56" name="Text Box 3088"/>
          <p:cNvSpPr txBox="1">
            <a:spLocks noChangeArrowheads="1"/>
          </p:cNvSpPr>
          <p:nvPr/>
        </p:nvSpPr>
        <p:spPr bwMode="auto">
          <a:xfrm>
            <a:off x="7403582" y="3433105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收敛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  <p:sp>
        <p:nvSpPr>
          <p:cNvPr id="61457" name="Text Box 3089"/>
          <p:cNvSpPr txBox="1">
            <a:spLocks noChangeArrowheads="1"/>
          </p:cNvSpPr>
          <p:nvPr/>
        </p:nvSpPr>
        <p:spPr bwMode="auto">
          <a:xfrm>
            <a:off x="5837549" y="5031247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发散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  <p:sp>
        <p:nvSpPr>
          <p:cNvPr id="61458" name="Text Box 3090"/>
          <p:cNvSpPr txBox="1">
            <a:spLocks noChangeArrowheads="1"/>
          </p:cNvSpPr>
          <p:nvPr/>
        </p:nvSpPr>
        <p:spPr bwMode="auto">
          <a:xfrm>
            <a:off x="9417965" y="5020777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所有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1" name="Object 3093"/>
              <p:cNvSpPr txBox="1"/>
              <p:nvPr/>
            </p:nvSpPr>
            <p:spPr bwMode="auto">
              <a:xfrm>
                <a:off x="8267244" y="3458925"/>
                <a:ext cx="1143000" cy="4969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1461" name="Object 30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67244" y="3458925"/>
                <a:ext cx="1143000" cy="4969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62" name="Text Box 3094"/>
          <p:cNvSpPr txBox="1">
            <a:spLocks noChangeArrowheads="1"/>
          </p:cNvSpPr>
          <p:nvPr/>
        </p:nvSpPr>
        <p:spPr bwMode="auto">
          <a:xfrm>
            <a:off x="9122441" y="3452574"/>
            <a:ext cx="1343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为其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收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5" name="Object 3097"/>
              <p:cNvSpPr txBox="1"/>
              <p:nvPr/>
            </p:nvSpPr>
            <p:spPr bwMode="auto">
              <a:xfrm>
                <a:off x="6679684" y="5030302"/>
                <a:ext cx="1295398" cy="6175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称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1465" name="Object 30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79684" y="5030302"/>
                <a:ext cx="1295398" cy="61753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66" name="Text Box 3098"/>
          <p:cNvSpPr txBox="1">
            <a:spLocks noChangeArrowheads="1"/>
          </p:cNvSpPr>
          <p:nvPr/>
        </p:nvSpPr>
        <p:spPr bwMode="auto">
          <a:xfrm>
            <a:off x="7499660" y="5029726"/>
            <a:ext cx="2149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为其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发散点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7" name="Object 3099"/>
              <p:cNvSpPr txBox="1"/>
              <p:nvPr/>
            </p:nvSpPr>
            <p:spPr bwMode="auto">
              <a:xfrm>
                <a:off x="2393422" y="988808"/>
                <a:ext cx="3184379" cy="6386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1467" name="Object 30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3422" y="988808"/>
                <a:ext cx="3184379" cy="63860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68" name="Text Box 3100"/>
          <p:cNvSpPr txBox="1">
            <a:spLocks noChangeArrowheads="1"/>
          </p:cNvSpPr>
          <p:nvPr/>
        </p:nvSpPr>
        <p:spPr bwMode="auto">
          <a:xfrm>
            <a:off x="1993372" y="5853646"/>
            <a:ext cx="487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发散点的全体称为其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发散域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157240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1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1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1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 animBg="1"/>
      <p:bldP spid="61444" grpId="0" autoUpdateAnimBg="0"/>
      <p:bldP spid="61445" grpId="0"/>
      <p:bldP spid="61446" grpId="0" autoUpdateAnimBg="0"/>
      <p:bldP spid="61447" grpId="0" autoUpdateAnimBg="0"/>
      <p:bldP spid="61448" grpId="0"/>
      <p:bldP spid="61449" grpId="0" autoUpdateAnimBg="0"/>
      <p:bldP spid="61450" grpId="0"/>
      <p:bldP spid="61451" grpId="0" autoUpdateAnimBg="0"/>
      <p:bldP spid="61452" grpId="0" autoUpdateAnimBg="0"/>
      <p:bldP spid="61453" grpId="0" autoUpdateAnimBg="0"/>
      <p:bldP spid="61454" grpId="0"/>
      <p:bldP spid="61455" grpId="0" autoUpdateAnimBg="0"/>
      <p:bldP spid="61456" grpId="0" autoUpdateAnimBg="0"/>
      <p:bldP spid="61457" grpId="0" autoUpdateAnimBg="0"/>
      <p:bldP spid="61458" grpId="0" autoUpdateAnimBg="0"/>
      <p:bldP spid="61461" grpId="0"/>
      <p:bldP spid="61462" grpId="0" build="p" autoUpdateAnimBg="0" advAuto="0"/>
      <p:bldP spid="61465" grpId="0"/>
      <p:bldP spid="61466" grpId="0" build="p" autoUpdateAnimBg="0" advAuto="0"/>
      <p:bldP spid="61467" grpId="0"/>
      <p:bldP spid="6146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Object 3"/>
              <p:cNvSpPr txBox="1"/>
              <p:nvPr/>
            </p:nvSpPr>
            <p:spPr bwMode="auto">
              <a:xfrm>
                <a:off x="8211367" y="477426"/>
                <a:ext cx="1265506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19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11367" y="477426"/>
                <a:ext cx="1265506" cy="5191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2147165" y="1014994"/>
            <a:ext cx="426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为级数的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和函数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并写成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7" name="Object 5"/>
              <p:cNvSpPr txBox="1"/>
              <p:nvPr/>
            </p:nvSpPr>
            <p:spPr bwMode="auto">
              <a:xfrm>
                <a:off x="3577384" y="1507874"/>
                <a:ext cx="3294185" cy="12766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19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7384" y="1507874"/>
                <a:ext cx="3294185" cy="12766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2147165" y="2782333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若用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9" name="Object 7"/>
              <p:cNvSpPr txBox="1"/>
              <p:nvPr/>
            </p:nvSpPr>
            <p:spPr bwMode="auto">
              <a:xfrm>
                <a:off x="2935347" y="2772978"/>
                <a:ext cx="1345418" cy="623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19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5347" y="2772978"/>
                <a:ext cx="1345418" cy="623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0" name="Object 8"/>
              <p:cNvSpPr txBox="1"/>
              <p:nvPr/>
            </p:nvSpPr>
            <p:spPr bwMode="auto">
              <a:xfrm>
                <a:off x="3577384" y="3309542"/>
                <a:ext cx="3778348" cy="13366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0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7384" y="3309542"/>
                <a:ext cx="3778348" cy="13366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2147165" y="4578172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令余项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03" name="Object 11"/>
              <p:cNvSpPr txBox="1"/>
              <p:nvPr/>
            </p:nvSpPr>
            <p:spPr bwMode="auto">
              <a:xfrm>
                <a:off x="3290165" y="4562429"/>
                <a:ext cx="4383063" cy="8953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0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0165" y="4562429"/>
                <a:ext cx="4383063" cy="8953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2147165" y="5126665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则在收敛域上有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05" name="Object 13"/>
              <p:cNvSpPr txBox="1"/>
              <p:nvPr/>
            </p:nvSpPr>
            <p:spPr bwMode="auto">
              <a:xfrm>
                <a:off x="3577384" y="5672502"/>
                <a:ext cx="4305300" cy="7384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0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7384" y="5672502"/>
                <a:ext cx="4305300" cy="7384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6" name="Object 14"/>
              <p:cNvSpPr txBox="1"/>
              <p:nvPr/>
            </p:nvSpPr>
            <p:spPr bwMode="auto">
              <a:xfrm>
                <a:off x="6574971" y="5666517"/>
                <a:ext cx="3232052" cy="8953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0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74971" y="5666517"/>
                <a:ext cx="3232052" cy="8953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07" name="Text Box 15"/>
              <p:cNvSpPr txBox="1">
                <a:spLocks noChangeArrowheads="1"/>
              </p:cNvSpPr>
              <p:nvPr/>
            </p:nvSpPr>
            <p:spPr bwMode="auto">
              <a:xfrm>
                <a:off x="3877817" y="2804974"/>
                <a:ext cx="51054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表示函数项级数前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项的和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即</a:t>
                </a:r>
              </a:p>
            </p:txBody>
          </p:sp>
        </mc:Choice>
        <mc:Fallback xmlns="">
          <p:sp>
            <p:nvSpPr>
              <p:cNvPr id="8207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77817" y="2804974"/>
                <a:ext cx="5105400" cy="519113"/>
              </a:xfrm>
              <a:prstGeom prst="rect">
                <a:avLst/>
              </a:prstGeom>
              <a:blipFill>
                <a:blip r:embed="rId9"/>
                <a:stretch>
                  <a:fillRect l="-2387" t="-15294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11" name="Text Box 19"/>
              <p:cNvSpPr txBox="1">
                <a:spLocks noChangeArrowheads="1"/>
              </p:cNvSpPr>
              <p:nvPr/>
            </p:nvSpPr>
            <p:spPr bwMode="auto">
              <a:xfrm>
                <a:off x="2147165" y="494078"/>
                <a:ext cx="6564313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在收敛域上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函数项级数的和是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的函数  </a:t>
                </a:r>
              </a:p>
            </p:txBody>
          </p:sp>
        </mc:Choice>
        <mc:Fallback xmlns="">
          <p:sp>
            <p:nvSpPr>
              <p:cNvPr id="8211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7165" y="494078"/>
                <a:ext cx="6564313" cy="519113"/>
              </a:xfrm>
              <a:prstGeom prst="rect">
                <a:avLst/>
              </a:prstGeom>
              <a:blipFill>
                <a:blip r:embed="rId10"/>
                <a:stretch>
                  <a:fillRect l="-1857" t="-15294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12" name="Text Box 20"/>
          <p:cNvSpPr txBox="1">
            <a:spLocks noChangeArrowheads="1"/>
          </p:cNvSpPr>
          <p:nvPr/>
        </p:nvSpPr>
        <p:spPr bwMode="auto">
          <a:xfrm>
            <a:off x="9115754" y="494078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称它</a:t>
            </a:r>
          </a:p>
        </p:txBody>
      </p:sp>
    </p:spTree>
    <p:extLst>
      <p:ext uri="{BB962C8B-B14F-4D97-AF65-F5344CB8AC3E}">
        <p14:creationId xmlns:p14="http://schemas.microsoft.com/office/powerpoint/2010/main" val="284877439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/>
      <p:bldP spid="8196" grpId="0" autoUpdateAnimBg="0"/>
      <p:bldP spid="8197" grpId="0"/>
      <p:bldP spid="8198" grpId="0" autoUpdateAnimBg="0"/>
      <p:bldP spid="8199" grpId="0"/>
      <p:bldP spid="8200" grpId="0"/>
      <p:bldP spid="8201" grpId="0" autoUpdateAnimBg="0"/>
      <p:bldP spid="8203" grpId="0"/>
      <p:bldP spid="8204" grpId="0" autoUpdateAnimBg="0"/>
      <p:bldP spid="8205" grpId="0"/>
      <p:bldP spid="8206" grpId="0"/>
      <p:bldP spid="8207" grpId="0" autoUpdateAnimBg="0"/>
      <p:bldP spid="8211" grpId="0"/>
      <p:bldP spid="8212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55497" y="889756"/>
            <a:ext cx="2743200" cy="533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b="0" dirty="0">
                <a:solidFill>
                  <a:schemeClr val="tx1"/>
                </a:solidFill>
                <a:ea typeface="黑体" panose="02010609060101010101" pitchFamily="49" charset="-122"/>
              </a:rPr>
              <a:t>等比级数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2455497" y="1714430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它的收敛域是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1" name="Object 5"/>
              <p:cNvSpPr txBox="1"/>
              <p:nvPr/>
            </p:nvSpPr>
            <p:spPr bwMode="auto">
              <a:xfrm>
                <a:off x="4651718" y="1694939"/>
                <a:ext cx="2030655" cy="754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(−1 , 1 ),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2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1718" y="1694939"/>
                <a:ext cx="2030655" cy="7546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25" name="Object 9"/>
              <p:cNvSpPr txBox="1"/>
              <p:nvPr/>
            </p:nvSpPr>
            <p:spPr bwMode="auto">
              <a:xfrm>
                <a:off x="4339454" y="480279"/>
                <a:ext cx="5855384" cy="1279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2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39454" y="480279"/>
                <a:ext cx="5855384" cy="1279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26" name="Object 10"/>
              <p:cNvSpPr txBox="1"/>
              <p:nvPr/>
            </p:nvSpPr>
            <p:spPr bwMode="auto">
              <a:xfrm>
                <a:off x="3405773" y="2181742"/>
                <a:ext cx="3276600" cy="15333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26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5773" y="2181742"/>
                <a:ext cx="3276600" cy="15333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2455497" y="3402770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它的发散域是</a:t>
            </a: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8073169" y="3409207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或写作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9" name="Object 13"/>
              <p:cNvSpPr txBox="1"/>
              <p:nvPr/>
            </p:nvSpPr>
            <p:spPr bwMode="auto">
              <a:xfrm>
                <a:off x="9181281" y="3380684"/>
                <a:ext cx="1463861" cy="5323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29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81281" y="3380684"/>
                <a:ext cx="1463861" cy="5323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32" name="Text Box 16"/>
          <p:cNvSpPr txBox="1">
            <a:spLocks noChangeArrowheads="1"/>
          </p:cNvSpPr>
          <p:nvPr/>
        </p:nvSpPr>
        <p:spPr bwMode="auto">
          <a:xfrm>
            <a:off x="2455497" y="4272441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33" name="Object 17"/>
              <p:cNvSpPr txBox="1"/>
              <p:nvPr/>
            </p:nvSpPr>
            <p:spPr bwMode="auto">
              <a:xfrm>
                <a:off x="3404174" y="3890487"/>
                <a:ext cx="3810000" cy="18093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≠0),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33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4174" y="3890487"/>
                <a:ext cx="3810000" cy="18093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37" name="Object 21"/>
              <p:cNvSpPr txBox="1"/>
              <p:nvPr/>
            </p:nvSpPr>
            <p:spPr bwMode="auto">
              <a:xfrm>
                <a:off x="5806892" y="5144412"/>
                <a:ext cx="3689363" cy="9037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)=∞,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37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06892" y="5144412"/>
                <a:ext cx="3689363" cy="9037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38" name="Text Box 22"/>
          <p:cNvSpPr txBox="1">
            <a:spLocks noChangeArrowheads="1"/>
          </p:cNvSpPr>
          <p:nvPr/>
        </p:nvSpPr>
        <p:spPr bwMode="auto">
          <a:xfrm>
            <a:off x="8429455" y="5143009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级数发散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;</a:t>
            </a:r>
          </a:p>
        </p:txBody>
      </p:sp>
      <p:sp>
        <p:nvSpPr>
          <p:cNvPr id="9243" name="Text Box 27"/>
          <p:cNvSpPr txBox="1">
            <a:spLocks noChangeArrowheads="1"/>
          </p:cNvSpPr>
          <p:nvPr/>
        </p:nvSpPr>
        <p:spPr bwMode="auto">
          <a:xfrm>
            <a:off x="2455497" y="5818088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所以级数的收敛域仅为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44" name="Object 28"/>
              <p:cNvSpPr txBox="1"/>
              <p:nvPr/>
            </p:nvSpPr>
            <p:spPr bwMode="auto">
              <a:xfrm>
                <a:off x="6076487" y="5798336"/>
                <a:ext cx="2019213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44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76487" y="5798336"/>
                <a:ext cx="2019213" cy="4699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23" name="Object 7"/>
              <p:cNvSpPr txBox="1"/>
              <p:nvPr/>
            </p:nvSpPr>
            <p:spPr bwMode="auto">
              <a:xfrm>
                <a:off x="6242735" y="1713989"/>
                <a:ext cx="3625605" cy="754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∈(−1 , 1 )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2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42735" y="1713989"/>
                <a:ext cx="3625605" cy="7546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49" name="Text Box 33"/>
          <p:cNvSpPr txBox="1">
            <a:spLocks noChangeArrowheads="1"/>
          </p:cNvSpPr>
          <p:nvPr/>
        </p:nvSpPr>
        <p:spPr bwMode="auto">
          <a:xfrm>
            <a:off x="9182001" y="1709710"/>
            <a:ext cx="1695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有和函数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41" name="Object 25"/>
              <p:cNvSpPr txBox="1"/>
              <p:nvPr/>
            </p:nvSpPr>
            <p:spPr bwMode="auto">
              <a:xfrm>
                <a:off x="7067044" y="4269540"/>
                <a:ext cx="3304043" cy="4714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时收敛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41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67044" y="4269540"/>
                <a:ext cx="3304043" cy="4714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36" name="Object 20"/>
              <p:cNvSpPr txBox="1"/>
              <p:nvPr/>
            </p:nvSpPr>
            <p:spPr bwMode="auto">
              <a:xfrm>
                <a:off x="2455497" y="5149592"/>
                <a:ext cx="3477851" cy="7379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但当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 0&lt;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≠1 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36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5497" y="5149592"/>
                <a:ext cx="3477851" cy="73796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22">
                <a:extLst>
                  <a:ext uri="{FF2B5EF4-FFF2-40B4-BE49-F238E27FC236}">
                    <a16:creationId xmlns:a16="http://schemas.microsoft.com/office/drawing/2014/main" id="{99D81063-45BB-9ADE-5E48-449AD04E36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8943" y="3376302"/>
                <a:ext cx="38100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altLang="zh-CN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−1</m:t>
                    </m:r>
                  </m:oMath>
                </a14:m>
                <a:r>
                  <a:rPr lang="en-US" altLang="zh-CN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] 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及 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[ 1,+ </a:t>
                </a:r>
                <a14:m>
                  <m:oMath xmlns:m="http://schemas.openxmlformats.org/officeDocument/2006/math">
                    <m:r>
                      <a:rPr lang="en-US" altLang="zh-CN" sz="2800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a:rPr lang="en-US" altLang="zh-CN" sz="2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800" b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 Box 22">
                <a:extLst>
                  <a:ext uri="{FF2B5EF4-FFF2-40B4-BE49-F238E27FC236}">
                    <a16:creationId xmlns:a16="http://schemas.microsoft.com/office/drawing/2014/main" id="{99D81063-45BB-9ADE-5E48-449AD04E3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8943" y="3376302"/>
                <a:ext cx="3810000" cy="523220"/>
              </a:xfrm>
              <a:prstGeom prst="rect">
                <a:avLst/>
              </a:prstGeom>
              <a:blipFill>
                <a:blip r:embed="rId12"/>
                <a:stretch>
                  <a:fillRect t="-16279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2BBBD287-1D03-858A-5EED-DD0E3DE9D259}"/>
              </a:ext>
            </a:extLst>
          </p:cNvPr>
          <p:cNvGrpSpPr/>
          <p:nvPr/>
        </p:nvGrpSpPr>
        <p:grpSpPr>
          <a:xfrm>
            <a:off x="1411557" y="914070"/>
            <a:ext cx="1231265" cy="449580"/>
            <a:chOff x="1553" y="3802"/>
            <a:chExt cx="1939" cy="708"/>
          </a:xfrm>
        </p:grpSpPr>
        <p:sp>
          <p:nvSpPr>
            <p:cNvPr id="3" name="圆角矩形 21">
              <a:extLst>
                <a:ext uri="{FF2B5EF4-FFF2-40B4-BE49-F238E27FC236}">
                  <a16:creationId xmlns:a16="http://schemas.microsoft.com/office/drawing/2014/main" id="{208EB84B-6641-8F0D-44A7-351A4AF02469}"/>
                </a:ext>
              </a:extLst>
            </p:cNvPr>
            <p:cNvSpPr/>
            <p:nvPr/>
          </p:nvSpPr>
          <p:spPr>
            <a:xfrm>
              <a:off x="1553" y="3803"/>
              <a:ext cx="155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Text Box 28">
              <a:extLst>
                <a:ext uri="{FF2B5EF4-FFF2-40B4-BE49-F238E27FC236}">
                  <a16:creationId xmlns:a16="http://schemas.microsoft.com/office/drawing/2014/main" id="{39031660-7BCB-60ED-4868-807D6857F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02"/>
              <a:ext cx="1842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例如，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323DB9C0-0BF2-E883-480C-FA8654764854}"/>
              </a:ext>
            </a:extLst>
          </p:cNvPr>
          <p:cNvGrpSpPr/>
          <p:nvPr/>
        </p:nvGrpSpPr>
        <p:grpSpPr>
          <a:xfrm>
            <a:off x="1411557" y="4324731"/>
            <a:ext cx="1231265" cy="449580"/>
            <a:chOff x="1553" y="3802"/>
            <a:chExt cx="1939" cy="708"/>
          </a:xfrm>
        </p:grpSpPr>
        <p:sp>
          <p:nvSpPr>
            <p:cNvPr id="6" name="圆角矩形 21">
              <a:extLst>
                <a:ext uri="{FF2B5EF4-FFF2-40B4-BE49-F238E27FC236}">
                  <a16:creationId xmlns:a16="http://schemas.microsoft.com/office/drawing/2014/main" id="{9087D95F-699A-74C3-7B0A-D6166E2AD61F}"/>
                </a:ext>
              </a:extLst>
            </p:cNvPr>
            <p:cNvSpPr/>
            <p:nvPr/>
          </p:nvSpPr>
          <p:spPr>
            <a:xfrm>
              <a:off x="1553" y="3803"/>
              <a:ext cx="155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Text Box 28">
              <a:extLst>
                <a:ext uri="{FF2B5EF4-FFF2-40B4-BE49-F238E27FC236}">
                  <a16:creationId xmlns:a16="http://schemas.microsoft.com/office/drawing/2014/main" id="{D1E330FA-2D76-DE40-CFE4-E7DF64B44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02"/>
              <a:ext cx="1842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又如，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713399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20" grpId="0" autoUpdateAnimBg="0"/>
      <p:bldP spid="9221" grpId="0"/>
      <p:bldP spid="9225" grpId="0"/>
      <p:bldP spid="9226" grpId="0"/>
      <p:bldP spid="9227" grpId="0" autoUpdateAnimBg="0"/>
      <p:bldP spid="9228" grpId="0" autoUpdateAnimBg="0"/>
      <p:bldP spid="9229" grpId="0"/>
      <p:bldP spid="9232" grpId="0" autoUpdateAnimBg="0"/>
      <p:bldP spid="9233" grpId="0"/>
      <p:bldP spid="9237" grpId="0"/>
      <p:bldP spid="9238" grpId="0" build="p" autoUpdateAnimBg="0"/>
      <p:bldP spid="9243" grpId="0" autoUpdateAnimBg="0"/>
      <p:bldP spid="9244" grpId="0"/>
      <p:bldP spid="9223" grpId="0"/>
      <p:bldP spid="9249" grpId="0" build="p" autoUpdateAnimBg="0" advAuto="0"/>
      <p:bldP spid="9241" grpId="0"/>
      <p:bldP spid="9236" grpId="0"/>
      <p:bldP spid="22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32719" y="456762"/>
            <a:ext cx="4724400" cy="6858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二、幂级数及其收敛性  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124414" y="1321857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形如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4" name="Object 4"/>
              <p:cNvSpPr txBox="1"/>
              <p:nvPr/>
            </p:nvSpPr>
            <p:spPr bwMode="auto">
              <a:xfrm>
                <a:off x="2947667" y="943517"/>
                <a:ext cx="2695526" cy="14658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4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7667" y="943517"/>
                <a:ext cx="2695526" cy="14658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5" name="Object 5"/>
              <p:cNvSpPr txBox="1"/>
              <p:nvPr/>
            </p:nvSpPr>
            <p:spPr bwMode="auto">
              <a:xfrm>
                <a:off x="5423193" y="1295757"/>
                <a:ext cx="5832230" cy="825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4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3193" y="1295757"/>
                <a:ext cx="5832230" cy="825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2124414" y="2493501"/>
            <a:ext cx="452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的函数项级数称为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幂级数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 </a:t>
            </a: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6175347" y="2502039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其中数列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7" name="Object 7"/>
              <p:cNvSpPr txBox="1"/>
              <p:nvPr/>
            </p:nvSpPr>
            <p:spPr bwMode="auto">
              <a:xfrm>
                <a:off x="7711025" y="2460546"/>
                <a:ext cx="3054350" cy="8538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=0,1,⋯)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4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11025" y="2460546"/>
                <a:ext cx="3054350" cy="8538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2124414" y="3515902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下面着重讨论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51" name="Object 11"/>
              <p:cNvSpPr txBox="1"/>
              <p:nvPr/>
            </p:nvSpPr>
            <p:spPr bwMode="auto">
              <a:xfrm>
                <a:off x="4378155" y="3515902"/>
                <a:ext cx="1784350" cy="6336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5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8155" y="3515902"/>
                <a:ext cx="1784350" cy="633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2" name="Object 12"/>
              <p:cNvSpPr txBox="1"/>
              <p:nvPr/>
            </p:nvSpPr>
            <p:spPr bwMode="auto">
              <a:xfrm>
                <a:off x="2942935" y="4019760"/>
                <a:ext cx="1639497" cy="1257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5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2935" y="4019760"/>
                <a:ext cx="1639497" cy="12573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3" name="Object 13"/>
              <p:cNvSpPr txBox="1"/>
              <p:nvPr/>
            </p:nvSpPr>
            <p:spPr bwMode="auto">
              <a:xfrm>
                <a:off x="4327722" y="4374219"/>
                <a:ext cx="6437653" cy="9080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5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7722" y="4374219"/>
                <a:ext cx="6437653" cy="9080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3205382" y="54487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幂级数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55" name="Object 15"/>
              <p:cNvSpPr txBox="1"/>
              <p:nvPr/>
            </p:nvSpPr>
            <p:spPr bwMode="auto">
              <a:xfrm>
                <a:off x="4356808" y="5083179"/>
                <a:ext cx="3900170" cy="1257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5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56808" y="5083179"/>
                <a:ext cx="3900170" cy="12573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59" name="Text Box 19"/>
          <p:cNvSpPr txBox="1">
            <a:spLocks noChangeArrowheads="1"/>
          </p:cNvSpPr>
          <p:nvPr/>
        </p:nvSpPr>
        <p:spPr bwMode="auto">
          <a:xfrm>
            <a:off x="2124414" y="2996790"/>
            <a:ext cx="307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为幂级数的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系数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10262" name="Text Box 22"/>
          <p:cNvSpPr txBox="1">
            <a:spLocks noChangeArrowheads="1"/>
          </p:cNvSpPr>
          <p:nvPr/>
        </p:nvSpPr>
        <p:spPr bwMode="auto">
          <a:xfrm>
            <a:off x="8113004" y="5445003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即是此种情形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5470818" y="3503202"/>
            <a:ext cx="1784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的情形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64" name="Object 24"/>
              <p:cNvSpPr txBox="1"/>
              <p:nvPr/>
            </p:nvSpPr>
            <p:spPr bwMode="auto">
              <a:xfrm>
                <a:off x="5867402" y="1927642"/>
                <a:ext cx="4148797" cy="749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6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7402" y="1927642"/>
                <a:ext cx="4148797" cy="7493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65" name="Text Box 25"/>
          <p:cNvSpPr txBox="1">
            <a:spLocks noChangeArrowheads="1"/>
          </p:cNvSpPr>
          <p:nvPr/>
        </p:nvSpPr>
        <p:spPr bwMode="auto">
          <a:xfrm>
            <a:off x="10217455" y="2444547"/>
            <a:ext cx="628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称 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D500A78-9704-F226-5759-E2BEA7FE2C39}"/>
              </a:ext>
            </a:extLst>
          </p:cNvPr>
          <p:cNvGrpSpPr/>
          <p:nvPr/>
        </p:nvGrpSpPr>
        <p:grpSpPr>
          <a:xfrm>
            <a:off x="2236958" y="5501705"/>
            <a:ext cx="1231265" cy="449580"/>
            <a:chOff x="1553" y="3802"/>
            <a:chExt cx="1939" cy="708"/>
          </a:xfrm>
        </p:grpSpPr>
        <p:sp>
          <p:nvSpPr>
            <p:cNvPr id="3" name="圆角矩形 21">
              <a:extLst>
                <a:ext uri="{FF2B5EF4-FFF2-40B4-BE49-F238E27FC236}">
                  <a16:creationId xmlns:a16="http://schemas.microsoft.com/office/drawing/2014/main" id="{4D9A3C0E-252E-6672-8B2D-BE1A8744CB0C}"/>
                </a:ext>
              </a:extLst>
            </p:cNvPr>
            <p:cNvSpPr/>
            <p:nvPr/>
          </p:nvSpPr>
          <p:spPr>
            <a:xfrm>
              <a:off x="1553" y="3803"/>
              <a:ext cx="155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Text Box 28">
              <a:extLst>
                <a:ext uri="{FF2B5EF4-FFF2-40B4-BE49-F238E27FC236}">
                  <a16:creationId xmlns:a16="http://schemas.microsoft.com/office/drawing/2014/main" id="{3AFDF434-F9CE-1873-E27A-3A4C4CAAD7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02"/>
              <a:ext cx="1842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例如，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999146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2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43" grpId="0" autoUpdateAnimBg="0"/>
      <p:bldP spid="10244" grpId="0"/>
      <p:bldP spid="10245" grpId="0"/>
      <p:bldP spid="10246" grpId="0" autoUpdateAnimBg="0"/>
      <p:bldP spid="10248" grpId="0" autoUpdateAnimBg="0"/>
      <p:bldP spid="10247" grpId="0"/>
      <p:bldP spid="10250" grpId="0" build="p" autoUpdateAnimBg="0"/>
      <p:bldP spid="10251" grpId="0"/>
      <p:bldP spid="10252" grpId="0"/>
      <p:bldP spid="10253" grpId="0"/>
      <p:bldP spid="10254" grpId="0" autoUpdateAnimBg="0"/>
      <p:bldP spid="10255" grpId="0"/>
      <p:bldP spid="10259" grpId="0" autoUpdateAnimBg="0"/>
      <p:bldP spid="10262" grpId="0" autoUpdateAnimBg="0"/>
      <p:bldP spid="10263" grpId="0" build="p" autoUpdateAnimBg="0" advAuto="0"/>
      <p:bldP spid="10264" grpId="0"/>
      <p:bldP spid="10265" grpId="0" build="p" autoUpdateAnimBg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15" name="Rectangle 27"/>
          <p:cNvSpPr>
            <a:spLocks noGrp="1" noChangeArrowheads="1"/>
          </p:cNvSpPr>
          <p:nvPr>
            <p:ph type="title" idx="4294967295"/>
          </p:nvPr>
        </p:nvSpPr>
        <p:spPr>
          <a:xfrm>
            <a:off x="2552932" y="916193"/>
            <a:ext cx="2714477" cy="509418"/>
          </a:xfrm>
          <a:prstGeom prst="rect">
            <a:avLst/>
          </a:prstGeom>
        </p:spPr>
        <p:txBody>
          <a:bodyPr/>
          <a:lstStyle/>
          <a:p>
            <a:pPr algn="l"/>
            <a:r>
              <a:rPr kumimoji="1" lang="zh-CN" altLang="en-US" sz="2800" b="0" dirty="0">
                <a:solidFill>
                  <a:prstClr val="black"/>
                </a:solidFill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（阿贝尔定理）</a:t>
            </a:r>
            <a:endParaRPr kumimoji="1" lang="en-US" altLang="zh-CN" sz="2800" b="0" dirty="0">
              <a:solidFill>
                <a:prstClr val="black"/>
              </a:solidFill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3516" name="Text Box 28"/>
          <p:cNvSpPr txBox="1">
            <a:spLocks noChangeArrowheads="1"/>
          </p:cNvSpPr>
          <p:nvPr/>
        </p:nvSpPr>
        <p:spPr bwMode="auto">
          <a:xfrm>
            <a:off x="4947019" y="885236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若幂级数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517" name="Object 29"/>
              <p:cNvSpPr txBox="1"/>
              <p:nvPr/>
            </p:nvSpPr>
            <p:spPr bwMode="auto">
              <a:xfrm>
                <a:off x="6429108" y="464413"/>
                <a:ext cx="1896325" cy="13889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517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29108" y="464413"/>
                <a:ext cx="1896325" cy="1388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518" name="Object 30"/>
              <p:cNvSpPr txBox="1"/>
              <p:nvPr/>
            </p:nvSpPr>
            <p:spPr bwMode="auto">
              <a:xfrm>
                <a:off x="2683023" y="1706100"/>
                <a:ext cx="3152139" cy="7038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点收敛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518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3023" y="1706100"/>
                <a:ext cx="3152139" cy="7038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519" name="Text Box 31"/>
          <p:cNvSpPr txBox="1">
            <a:spLocks noChangeArrowheads="1"/>
          </p:cNvSpPr>
          <p:nvPr/>
        </p:nvSpPr>
        <p:spPr bwMode="auto">
          <a:xfrm>
            <a:off x="5397500" y="1706100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则对满足不等式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520" name="Object 32"/>
              <p:cNvSpPr txBox="1"/>
              <p:nvPr/>
            </p:nvSpPr>
            <p:spPr bwMode="auto">
              <a:xfrm>
                <a:off x="7966391" y="1672452"/>
                <a:ext cx="2162176" cy="8477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520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66391" y="1672452"/>
                <a:ext cx="2162176" cy="8477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521" name="Text Box 33"/>
              <p:cNvSpPr txBox="1">
                <a:spLocks noChangeArrowheads="1"/>
              </p:cNvSpPr>
              <p:nvPr/>
            </p:nvSpPr>
            <p:spPr bwMode="auto">
              <a:xfrm>
                <a:off x="2683023" y="2258940"/>
                <a:ext cx="46609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的一切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幂级数都绝对收敛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63521" name="Text 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3023" y="2258940"/>
                <a:ext cx="4660900" cy="519113"/>
              </a:xfrm>
              <a:prstGeom prst="rect">
                <a:avLst/>
              </a:prstGeom>
              <a:blipFill>
                <a:blip r:embed="rId6"/>
                <a:stretch>
                  <a:fillRect l="-2614"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522" name="Text Box 34"/>
          <p:cNvSpPr txBox="1">
            <a:spLocks noChangeArrowheads="1"/>
          </p:cNvSpPr>
          <p:nvPr/>
        </p:nvSpPr>
        <p:spPr bwMode="auto">
          <a:xfrm>
            <a:off x="2683023" y="279948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反之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若当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523" name="Object 35"/>
              <p:cNvSpPr txBox="1"/>
              <p:nvPr/>
            </p:nvSpPr>
            <p:spPr bwMode="auto">
              <a:xfrm>
                <a:off x="4345236" y="2768437"/>
                <a:ext cx="2022291" cy="961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523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5236" y="2768437"/>
                <a:ext cx="2022291" cy="96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524" name="Object 36"/>
              <p:cNvSpPr txBox="1"/>
              <p:nvPr/>
            </p:nvSpPr>
            <p:spPr bwMode="auto">
              <a:xfrm>
                <a:off x="2683023" y="3347624"/>
                <a:ext cx="1785425" cy="8335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524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3023" y="3347624"/>
                <a:ext cx="1785425" cy="8335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525" name="Text Box 37"/>
              <p:cNvSpPr txBox="1">
                <a:spLocks noChangeArrowheads="1"/>
              </p:cNvSpPr>
              <p:nvPr/>
            </p:nvSpPr>
            <p:spPr bwMode="auto">
              <a:xfrm>
                <a:off x="4195933" y="3349396"/>
                <a:ext cx="4587875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的一切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该幂级数也发散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. </a:t>
                </a:r>
              </a:p>
            </p:txBody>
          </p:sp>
        </mc:Choice>
        <mc:Fallback xmlns="">
          <p:sp>
            <p:nvSpPr>
              <p:cNvPr id="63525" name="Text 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5933" y="3349396"/>
                <a:ext cx="4587875" cy="519113"/>
              </a:xfrm>
              <a:prstGeom prst="rect">
                <a:avLst/>
              </a:prstGeom>
              <a:blipFill>
                <a:blip r:embed="rId9"/>
                <a:stretch>
                  <a:fillRect l="-2656" t="-15116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526" name="Text Box 38"/>
          <p:cNvSpPr txBox="1">
            <a:spLocks noChangeArrowheads="1"/>
          </p:cNvSpPr>
          <p:nvPr/>
        </p:nvSpPr>
        <p:spPr bwMode="auto">
          <a:xfrm>
            <a:off x="5459144" y="279948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时该幂级数发散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  <p:sp>
        <p:nvSpPr>
          <p:cNvPr id="63527" name="Text Box 39"/>
          <p:cNvSpPr txBox="1">
            <a:spLocks noChangeArrowheads="1"/>
          </p:cNvSpPr>
          <p:nvPr/>
        </p:nvSpPr>
        <p:spPr bwMode="auto">
          <a:xfrm>
            <a:off x="8144484" y="27994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则对满足不等式</a:t>
            </a:r>
          </a:p>
        </p:txBody>
      </p:sp>
      <p:sp>
        <p:nvSpPr>
          <p:cNvPr id="63528" name="Text Box 40"/>
          <p:cNvSpPr txBox="1">
            <a:spLocks noChangeArrowheads="1"/>
          </p:cNvSpPr>
          <p:nvPr/>
        </p:nvSpPr>
        <p:spPr bwMode="auto">
          <a:xfrm>
            <a:off x="1911863" y="4128500"/>
            <a:ext cx="1447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  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529" name="Object 41"/>
              <p:cNvSpPr txBox="1"/>
              <p:nvPr/>
            </p:nvSpPr>
            <p:spPr bwMode="auto">
              <a:xfrm>
                <a:off x="3023285" y="3890960"/>
                <a:ext cx="1219200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3529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3285" y="3890960"/>
                <a:ext cx="1219200" cy="10287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530" name="Object 42"/>
              <p:cNvSpPr txBox="1"/>
              <p:nvPr/>
            </p:nvSpPr>
            <p:spPr bwMode="auto">
              <a:xfrm>
                <a:off x="5739423" y="4184923"/>
                <a:ext cx="2171700" cy="774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sSubSup>
                        <m:sSub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3530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9423" y="4184923"/>
                <a:ext cx="2171700" cy="7747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531" name="Text Box 43"/>
          <p:cNvSpPr txBox="1">
            <a:spLocks noChangeArrowheads="1"/>
          </p:cNvSpPr>
          <p:nvPr/>
        </p:nvSpPr>
        <p:spPr bwMode="auto">
          <a:xfrm>
            <a:off x="4183221" y="4208284"/>
            <a:ext cx="1295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收敛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  <p:sp>
        <p:nvSpPr>
          <p:cNvPr id="63532" name="Text Box 44"/>
          <p:cNvSpPr txBox="1">
            <a:spLocks noChangeArrowheads="1"/>
          </p:cNvSpPr>
          <p:nvPr/>
        </p:nvSpPr>
        <p:spPr bwMode="auto">
          <a:xfrm>
            <a:off x="4846161" y="4208284"/>
            <a:ext cx="1447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则必有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538" name="Object 50"/>
              <p:cNvSpPr txBox="1"/>
              <p:nvPr/>
            </p:nvSpPr>
            <p:spPr bwMode="auto">
              <a:xfrm>
                <a:off x="4408488" y="4933391"/>
                <a:ext cx="3684586" cy="5592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d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=1, 2,⋯).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3538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8488" y="4933391"/>
                <a:ext cx="3684586" cy="5592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539" name="Text Box 51"/>
          <p:cNvSpPr txBox="1">
            <a:spLocks noChangeArrowheads="1"/>
          </p:cNvSpPr>
          <p:nvPr/>
        </p:nvSpPr>
        <p:spPr bwMode="auto">
          <a:xfrm>
            <a:off x="7529671" y="4208284"/>
            <a:ext cx="1752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于是存在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551" name="Text Box 63"/>
              <p:cNvSpPr txBox="1">
                <a:spLocks noChangeArrowheads="1"/>
              </p:cNvSpPr>
              <p:nvPr/>
            </p:nvSpPr>
            <p:spPr bwMode="auto">
              <a:xfrm>
                <a:off x="2683023" y="4945074"/>
                <a:ext cx="1904852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常数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sz="22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&gt; 0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使</a:t>
                </a:r>
              </a:p>
            </p:txBody>
          </p:sp>
        </mc:Choice>
        <mc:Fallback xmlns="">
          <p:sp>
            <p:nvSpPr>
              <p:cNvPr id="63551" name="Text 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3023" y="4945074"/>
                <a:ext cx="1904852" cy="430887"/>
              </a:xfrm>
              <a:prstGeom prst="rect">
                <a:avLst/>
              </a:prstGeom>
              <a:blipFill>
                <a:blip r:embed="rId13"/>
                <a:stretch>
                  <a:fillRect l="-4153" t="-14085" r="-2236" b="-281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AC249EFD-A977-E6FC-EEDF-9CF290DD1674}"/>
              </a:ext>
            </a:extLst>
          </p:cNvPr>
          <p:cNvGrpSpPr/>
          <p:nvPr/>
        </p:nvGrpSpPr>
        <p:grpSpPr>
          <a:xfrm>
            <a:off x="1490094" y="904127"/>
            <a:ext cx="1238885" cy="449580"/>
            <a:chOff x="1553" y="3802"/>
            <a:chExt cx="1951" cy="708"/>
          </a:xfrm>
        </p:grpSpPr>
        <p:sp>
          <p:nvSpPr>
            <p:cNvPr id="3" name="圆角矩形 3">
              <a:extLst>
                <a:ext uri="{FF2B5EF4-FFF2-40B4-BE49-F238E27FC236}">
                  <a16:creationId xmlns:a16="http://schemas.microsoft.com/office/drawing/2014/main" id="{140DDD65-873E-EBE9-4F1A-B7371720C412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Text Box 28">
              <a:extLst>
                <a:ext uri="{FF2B5EF4-FFF2-40B4-BE49-F238E27FC236}">
                  <a16:creationId xmlns:a16="http://schemas.microsoft.com/office/drawing/2014/main" id="{5F60C9B8-0F56-7912-8AC7-BBB542098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794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905800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3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3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3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3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3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3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3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3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3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3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3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3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3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15" grpId="0"/>
      <p:bldP spid="63516" grpId="0" autoUpdateAnimBg="0"/>
      <p:bldP spid="63517" grpId="0"/>
      <p:bldP spid="63518" grpId="0"/>
      <p:bldP spid="63519" grpId="0" autoUpdateAnimBg="0"/>
      <p:bldP spid="63520" grpId="0"/>
      <p:bldP spid="63521" grpId="0" autoUpdateAnimBg="0"/>
      <p:bldP spid="63522" grpId="0" autoUpdateAnimBg="0"/>
      <p:bldP spid="63523" grpId="0"/>
      <p:bldP spid="63524" grpId="0"/>
      <p:bldP spid="63525" grpId="0" autoUpdateAnimBg="0"/>
      <p:bldP spid="63526" grpId="0" autoUpdateAnimBg="0"/>
      <p:bldP spid="63527" grpId="0" autoUpdateAnimBg="0"/>
      <p:bldP spid="63528" grpId="0" autoUpdateAnimBg="0"/>
      <p:bldP spid="63529" grpId="0"/>
      <p:bldP spid="63530" grpId="0"/>
      <p:bldP spid="63531" grpId="0" autoUpdateAnimBg="0"/>
      <p:bldP spid="63532" grpId="0" autoUpdateAnimBg="0"/>
      <p:bldP spid="63538" grpId="0"/>
      <p:bldP spid="63539" grpId="0" autoUpdateAnimBg="0"/>
      <p:bldP spid="6355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8425" name="Object 57"/>
              <p:cNvSpPr txBox="1"/>
              <p:nvPr/>
            </p:nvSpPr>
            <p:spPr bwMode="auto">
              <a:xfrm>
                <a:off x="4503256" y="1772923"/>
                <a:ext cx="2286000" cy="12252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|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d>
                                    <m:dPr>
                                      <m:begChr m:val="|"/>
                                      <m:endChr m:val=""/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zh-CN" altLang="en-US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altLang="en-US" sz="22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425" name="Object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03256" y="1772923"/>
                <a:ext cx="2286000" cy="12252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26" name="Text Box 58"/>
          <p:cNvSpPr txBox="1">
            <a:spLocks noChangeArrowheads="1"/>
          </p:cNvSpPr>
          <p:nvPr/>
        </p:nvSpPr>
        <p:spPr bwMode="auto">
          <a:xfrm>
            <a:off x="5973568" y="2086654"/>
            <a:ext cx="1219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收敛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427" name="Object 59"/>
              <p:cNvSpPr txBox="1"/>
              <p:nvPr/>
            </p:nvSpPr>
            <p:spPr bwMode="auto">
              <a:xfrm>
                <a:off x="6692170" y="1787351"/>
                <a:ext cx="1727200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427" name="Object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92170" y="1787351"/>
                <a:ext cx="1727200" cy="1041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29" name="Text Box 61"/>
          <p:cNvSpPr txBox="1">
            <a:spLocks noChangeArrowheads="1"/>
          </p:cNvSpPr>
          <p:nvPr/>
        </p:nvSpPr>
        <p:spPr bwMode="auto">
          <a:xfrm>
            <a:off x="2725738" y="2943438"/>
            <a:ext cx="3733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故原幂级数绝对收敛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58435" name="Text Box 67"/>
          <p:cNvSpPr txBox="1">
            <a:spLocks noChangeArrowheads="1"/>
          </p:cNvSpPr>
          <p:nvPr/>
        </p:nvSpPr>
        <p:spPr bwMode="auto">
          <a:xfrm>
            <a:off x="8179035" y="2086874"/>
            <a:ext cx="110158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也收敛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  <p:sp>
        <p:nvSpPr>
          <p:cNvPr id="58438" name="Text Box 70"/>
          <p:cNvSpPr txBox="1">
            <a:spLocks noChangeArrowheads="1"/>
          </p:cNvSpPr>
          <p:nvPr/>
        </p:nvSpPr>
        <p:spPr bwMode="auto">
          <a:xfrm>
            <a:off x="2725738" y="3477715"/>
            <a:ext cx="1981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反之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若当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439" name="Object 71"/>
              <p:cNvSpPr txBox="1"/>
              <p:nvPr/>
            </p:nvSpPr>
            <p:spPr bwMode="auto">
              <a:xfrm>
                <a:off x="4099333" y="3482514"/>
                <a:ext cx="1398907" cy="572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439" name="Object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9333" y="3482514"/>
                <a:ext cx="1398907" cy="5721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40" name="Text Box 72"/>
          <p:cNvSpPr txBox="1">
            <a:spLocks noChangeArrowheads="1"/>
          </p:cNvSpPr>
          <p:nvPr/>
        </p:nvSpPr>
        <p:spPr bwMode="auto">
          <a:xfrm>
            <a:off x="4962525" y="3491896"/>
            <a:ext cx="230063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时该幂级数发散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  <p:sp>
        <p:nvSpPr>
          <p:cNvPr id="58441" name="Text Box 73"/>
          <p:cNvSpPr txBox="1">
            <a:spLocks noChangeArrowheads="1"/>
          </p:cNvSpPr>
          <p:nvPr/>
        </p:nvSpPr>
        <p:spPr bwMode="auto">
          <a:xfrm>
            <a:off x="7019925" y="3477715"/>
            <a:ext cx="251222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下面用反证法证之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58444" name="Text Box 76"/>
          <p:cNvSpPr txBox="1">
            <a:spLocks noChangeArrowheads="1"/>
          </p:cNvSpPr>
          <p:nvPr/>
        </p:nvSpPr>
        <p:spPr bwMode="auto">
          <a:xfrm>
            <a:off x="2725738" y="4053978"/>
            <a:ext cx="2057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假设有一点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445" name="Object 77"/>
              <p:cNvSpPr txBox="1"/>
              <p:nvPr/>
            </p:nvSpPr>
            <p:spPr bwMode="auto">
              <a:xfrm>
                <a:off x="4217072" y="3988393"/>
                <a:ext cx="874762" cy="715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445" name="Object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7072" y="3988393"/>
                <a:ext cx="874762" cy="7151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446" name="Object 78"/>
              <p:cNvSpPr txBox="1"/>
              <p:nvPr/>
            </p:nvSpPr>
            <p:spPr bwMode="auto">
              <a:xfrm>
                <a:off x="5206270" y="4014965"/>
                <a:ext cx="14859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446" name="Object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6270" y="4014965"/>
                <a:ext cx="1485900" cy="469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447" name="Object 79"/>
              <p:cNvSpPr txBox="1"/>
              <p:nvPr/>
            </p:nvSpPr>
            <p:spPr bwMode="auto">
              <a:xfrm>
                <a:off x="5684618" y="4582337"/>
                <a:ext cx="560387" cy="5937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447" name="Object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84618" y="4582337"/>
                <a:ext cx="560387" cy="5937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49" name="Text Box 81"/>
          <p:cNvSpPr txBox="1">
            <a:spLocks noChangeArrowheads="1"/>
          </p:cNvSpPr>
          <p:nvPr/>
        </p:nvSpPr>
        <p:spPr bwMode="auto">
          <a:xfrm>
            <a:off x="2725738" y="5697040"/>
            <a:ext cx="2057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满足不等式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450" name="Object 82"/>
              <p:cNvSpPr txBox="1"/>
              <p:nvPr/>
            </p:nvSpPr>
            <p:spPr bwMode="auto">
              <a:xfrm>
                <a:off x="4168775" y="5672642"/>
                <a:ext cx="13716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450" name="Object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8775" y="5672642"/>
                <a:ext cx="1371600" cy="4699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52" name="Text Box 84"/>
          <p:cNvSpPr txBox="1">
            <a:spLocks noChangeArrowheads="1"/>
          </p:cNvSpPr>
          <p:nvPr/>
        </p:nvSpPr>
        <p:spPr bwMode="auto">
          <a:xfrm>
            <a:off x="4230688" y="5160465"/>
            <a:ext cx="1905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所以若当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453" name="Object 85"/>
              <p:cNvSpPr txBox="1"/>
              <p:nvPr/>
            </p:nvSpPr>
            <p:spPr bwMode="auto">
              <a:xfrm>
                <a:off x="5378403" y="5129846"/>
                <a:ext cx="1336722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453" name="Object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8403" y="5129846"/>
                <a:ext cx="1336722" cy="5207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54" name="Text Box 86"/>
          <p:cNvSpPr txBox="1">
            <a:spLocks noChangeArrowheads="1"/>
          </p:cNvSpPr>
          <p:nvPr/>
        </p:nvSpPr>
        <p:spPr bwMode="auto">
          <a:xfrm>
            <a:off x="4629322" y="4068159"/>
            <a:ext cx="1143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满足</a:t>
            </a:r>
          </a:p>
        </p:txBody>
      </p:sp>
      <p:sp>
        <p:nvSpPr>
          <p:cNvPr id="58455" name="Text Box 87"/>
          <p:cNvSpPr txBox="1">
            <a:spLocks noChangeArrowheads="1"/>
          </p:cNvSpPr>
          <p:nvPr/>
        </p:nvSpPr>
        <p:spPr bwMode="auto">
          <a:xfrm>
            <a:off x="6583168" y="4039690"/>
            <a:ext cx="2971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且使级数收敛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  <p:sp>
        <p:nvSpPr>
          <p:cNvPr id="58456" name="Text Box 88"/>
          <p:cNvSpPr txBox="1">
            <a:spLocks noChangeArrowheads="1"/>
          </p:cNvSpPr>
          <p:nvPr/>
        </p:nvSpPr>
        <p:spPr bwMode="auto">
          <a:xfrm>
            <a:off x="2725738" y="4601665"/>
            <a:ext cx="2438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面的证明可知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  <p:sp>
        <p:nvSpPr>
          <p:cNvPr id="58458" name="Text Box 90"/>
          <p:cNvSpPr txBox="1">
            <a:spLocks noChangeArrowheads="1"/>
          </p:cNvSpPr>
          <p:nvPr/>
        </p:nvSpPr>
        <p:spPr bwMode="auto">
          <a:xfrm>
            <a:off x="4510357" y="4601665"/>
            <a:ext cx="183959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级数在点</a:t>
            </a:r>
          </a:p>
        </p:txBody>
      </p:sp>
      <p:sp>
        <p:nvSpPr>
          <p:cNvPr id="58460" name="Text Box 92"/>
          <p:cNvSpPr txBox="1">
            <a:spLocks noChangeArrowheads="1"/>
          </p:cNvSpPr>
          <p:nvPr/>
        </p:nvSpPr>
        <p:spPr bwMode="auto">
          <a:xfrm>
            <a:off x="2725738" y="5159349"/>
            <a:ext cx="2438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故假设不真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461" name="Text Box 93"/>
              <p:cNvSpPr txBox="1">
                <a:spLocks noChangeArrowheads="1"/>
              </p:cNvSpPr>
              <p:nvPr/>
            </p:nvSpPr>
            <p:spPr bwMode="auto">
              <a:xfrm>
                <a:off x="5371557" y="5701306"/>
                <a:ext cx="41910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原幂级数也</a:t>
                </a:r>
                <a:r>
                  <a:rPr kumimoji="1" lang="zh-CN" alt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发散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85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852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.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58461" name="Text Box 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1557" y="5701306"/>
                <a:ext cx="4191000" cy="430887"/>
              </a:xfrm>
              <a:prstGeom prst="rect">
                <a:avLst/>
              </a:prstGeom>
              <a:blipFill>
                <a:blip r:embed="rId10"/>
                <a:stretch>
                  <a:fillRect l="-1890" t="-12676" b="-281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462" name="Text Box 94"/>
          <p:cNvSpPr txBox="1">
            <a:spLocks noChangeArrowheads="1"/>
          </p:cNvSpPr>
          <p:nvPr/>
        </p:nvSpPr>
        <p:spPr bwMode="auto">
          <a:xfrm>
            <a:off x="6274152" y="5159349"/>
            <a:ext cx="193514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时幂级数发散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  <p:sp>
        <p:nvSpPr>
          <p:cNvPr id="58463" name="Text Box 95"/>
          <p:cNvSpPr txBox="1">
            <a:spLocks noChangeArrowheads="1"/>
          </p:cNvSpPr>
          <p:nvPr/>
        </p:nvSpPr>
        <p:spPr bwMode="auto">
          <a:xfrm>
            <a:off x="8105058" y="5159349"/>
            <a:ext cx="162401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则对一切</a:t>
            </a:r>
          </a:p>
        </p:txBody>
      </p:sp>
      <p:sp>
        <p:nvSpPr>
          <p:cNvPr id="58464" name="Text Box 96"/>
          <p:cNvSpPr txBox="1">
            <a:spLocks noChangeArrowheads="1"/>
          </p:cNvSpPr>
          <p:nvPr/>
        </p:nvSpPr>
        <p:spPr bwMode="auto">
          <a:xfrm>
            <a:off x="8360179" y="4039942"/>
            <a:ext cx="103105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则由前</a:t>
            </a:r>
          </a:p>
        </p:txBody>
      </p:sp>
      <p:sp>
        <p:nvSpPr>
          <p:cNvPr id="58465" name="Text Box 97"/>
          <p:cNvSpPr txBox="1">
            <a:spLocks noChangeArrowheads="1"/>
          </p:cNvSpPr>
          <p:nvPr/>
        </p:nvSpPr>
        <p:spPr bwMode="auto">
          <a:xfrm>
            <a:off x="6090208" y="4601665"/>
            <a:ext cx="152570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也应收敛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 </a:t>
            </a:r>
          </a:p>
        </p:txBody>
      </p:sp>
      <p:sp>
        <p:nvSpPr>
          <p:cNvPr id="58466" name="Text Box 98"/>
          <p:cNvSpPr txBox="1">
            <a:spLocks noChangeArrowheads="1"/>
          </p:cNvSpPr>
          <p:nvPr/>
        </p:nvSpPr>
        <p:spPr bwMode="auto">
          <a:xfrm>
            <a:off x="7279359" y="4601665"/>
            <a:ext cx="166584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与所设矛盾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468" name="Object 100"/>
              <p:cNvSpPr txBox="1"/>
              <p:nvPr/>
            </p:nvSpPr>
            <p:spPr bwMode="auto">
              <a:xfrm>
                <a:off x="2725738" y="718686"/>
                <a:ext cx="2890153" cy="1041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bSup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bSup>
                                </m:den>
                              </m:f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468" name="Object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5738" y="718686"/>
                <a:ext cx="2890153" cy="104140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469" name="Object 101"/>
              <p:cNvSpPr txBox="1"/>
              <p:nvPr/>
            </p:nvSpPr>
            <p:spPr bwMode="auto">
              <a:xfrm>
                <a:off x="5203826" y="676880"/>
                <a:ext cx="2349500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469" name="Object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3826" y="676880"/>
                <a:ext cx="2349500" cy="10414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470" name="Object 102"/>
              <p:cNvSpPr txBox="1"/>
              <p:nvPr/>
            </p:nvSpPr>
            <p:spPr bwMode="auto">
              <a:xfrm>
                <a:off x="7166533" y="728592"/>
                <a:ext cx="1608925" cy="976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den>
                                  </m:f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58470" name="Object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6533" y="728592"/>
                <a:ext cx="1608925" cy="97683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5B559643-AD3A-95A4-A686-794ECCD9C575}"/>
              </a:ext>
            </a:extLst>
          </p:cNvPr>
          <p:cNvGrpSpPr/>
          <p:nvPr/>
        </p:nvGrpSpPr>
        <p:grpSpPr>
          <a:xfrm>
            <a:off x="2725738" y="2072833"/>
            <a:ext cx="1981200" cy="453854"/>
            <a:chOff x="1801813" y="1870314"/>
            <a:chExt cx="1981200" cy="453854"/>
          </a:xfrm>
        </p:grpSpPr>
        <p:sp>
          <p:nvSpPr>
            <p:cNvPr id="58423" name="Text Box 55"/>
            <p:cNvSpPr txBox="1">
              <a:spLocks noChangeArrowheads="1"/>
            </p:cNvSpPr>
            <p:nvPr/>
          </p:nvSpPr>
          <p:spPr bwMode="auto">
            <a:xfrm>
              <a:off x="1801813" y="1893281"/>
              <a:ext cx="1981200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当                 时</a:t>
              </a:r>
              <a:r>
                <a: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,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17AB2378-D2C7-47B9-E204-838781F66803}"/>
                    </a:ext>
                  </a:extLst>
                </p:cNvPr>
                <p:cNvSpPr txBox="1"/>
                <p:nvPr/>
              </p:nvSpPr>
              <p:spPr bwMode="auto">
                <a:xfrm>
                  <a:off x="2091373" y="1870314"/>
                  <a:ext cx="1257299" cy="4308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kumimoji="1" lang="en-US" altLang="zh-CN" sz="22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altLang="zh-CN" sz="2200" dirty="0"/>
                    <a:t>|</a:t>
                  </a:r>
                  <a:r>
                    <a:rPr lang="zh-CN" altLang="en-US" sz="2200" dirty="0">
                      <a:latin typeface="宋体" panose="02010600030101010101" pitchFamily="2" charset="-122"/>
                      <a:ea typeface="宋体" panose="02010600030101010101" pitchFamily="2" charset="-122"/>
                    </a:rPr>
                    <a:t>＜</a:t>
                  </a:r>
                  <a14:m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altLang="zh-CN" sz="2200" baseline="-25000" dirty="0"/>
                    <a:t>0</a:t>
                  </a:r>
                  <a:r>
                    <a:rPr lang="en-US" altLang="zh-CN" sz="2200" dirty="0"/>
                    <a:t>|</a:t>
                  </a:r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17AB2378-D2C7-47B9-E204-838781F668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91373" y="1870314"/>
                  <a:ext cx="1257299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3398" t="-14085" r="-5340" b="-2394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4187ECC-97DC-4D88-1CD2-B2CC31CE9A2C}"/>
              </a:ext>
            </a:extLst>
          </p:cNvPr>
          <p:cNvGrpSpPr/>
          <p:nvPr/>
        </p:nvGrpSpPr>
        <p:grpSpPr>
          <a:xfrm>
            <a:off x="8499477" y="5727456"/>
            <a:ext cx="716209" cy="360271"/>
            <a:chOff x="1553" y="3803"/>
            <a:chExt cx="1165" cy="579"/>
          </a:xfrm>
        </p:grpSpPr>
        <p:sp>
          <p:nvSpPr>
            <p:cNvPr id="5" name="圆角矩形 21">
              <a:extLst>
                <a:ext uri="{FF2B5EF4-FFF2-40B4-BE49-F238E27FC236}">
                  <a16:creationId xmlns:a16="http://schemas.microsoft.com/office/drawing/2014/main" id="{F6E4F3AC-5392-CFA6-2B37-BB4129B6E391}"/>
                </a:ext>
              </a:extLst>
            </p:cNvPr>
            <p:cNvSpPr/>
            <p:nvPr/>
          </p:nvSpPr>
          <p:spPr>
            <a:xfrm>
              <a:off x="1553" y="3803"/>
              <a:ext cx="1131" cy="579"/>
            </a:xfrm>
            <a:prstGeom prst="roundRect">
              <a:avLst>
                <a:gd name="adj" fmla="val 0"/>
              </a:avLst>
            </a:prstGeom>
            <a:solidFill>
              <a:srgbClr val="04926A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ext Box 28">
              <a:extLst>
                <a:ext uri="{FF2B5EF4-FFF2-40B4-BE49-F238E27FC236}">
                  <a16:creationId xmlns:a16="http://schemas.microsoft.com/office/drawing/2014/main" id="{DE2B946F-5CDA-7378-DB31-8ED5D34566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17"/>
              <a:ext cx="1068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+mj-cs"/>
                </a:rPr>
                <a:t>证毕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61626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8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8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8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8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8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8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84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8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8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25" grpId="0"/>
      <p:bldP spid="58426" grpId="0" autoUpdateAnimBg="0"/>
      <p:bldP spid="58427" grpId="0"/>
      <p:bldP spid="58429" grpId="0" autoUpdateAnimBg="0"/>
      <p:bldP spid="58435" grpId="0" build="p" autoUpdateAnimBg="0" advAuto="0"/>
      <p:bldP spid="58438" grpId="0" build="p" autoUpdateAnimBg="0"/>
      <p:bldP spid="58439" grpId="0"/>
      <p:bldP spid="58440" grpId="0" build="p" autoUpdateAnimBg="0" advAuto="0"/>
      <p:bldP spid="58441" grpId="0" build="p" autoUpdateAnimBg="0"/>
      <p:bldP spid="58444" grpId="0" autoUpdateAnimBg="0"/>
      <p:bldP spid="58445" grpId="0"/>
      <p:bldP spid="58446" grpId="0"/>
      <p:bldP spid="58447" grpId="0"/>
      <p:bldP spid="58449" grpId="0" autoUpdateAnimBg="0"/>
      <p:bldP spid="58450" grpId="0"/>
      <p:bldP spid="58452" grpId="0" build="p" autoUpdateAnimBg="0"/>
      <p:bldP spid="58453" grpId="0"/>
      <p:bldP spid="58454" grpId="0" autoUpdateAnimBg="0"/>
      <p:bldP spid="58455" grpId="0" autoUpdateAnimBg="0"/>
      <p:bldP spid="58456" grpId="0" autoUpdateAnimBg="0"/>
      <p:bldP spid="58458" grpId="0" autoUpdateAnimBg="0"/>
      <p:bldP spid="58460" grpId="0" autoUpdateAnimBg="0"/>
      <p:bldP spid="58461" grpId="0" autoUpdateAnimBg="0"/>
      <p:bldP spid="58462" grpId="0" build="p" autoUpdateAnimBg="0" advAuto="0"/>
      <p:bldP spid="58463" grpId="0" build="p" autoUpdateAnimBg="0"/>
      <p:bldP spid="58464" grpId="0" build="p" autoUpdateAnimBg="0"/>
      <p:bldP spid="58465" grpId="0" build="p" autoUpdateAnimBg="0" advAuto="0"/>
      <p:bldP spid="58466" grpId="0" build="p" autoUpdateAnimBg="0"/>
      <p:bldP spid="58468" grpId="0"/>
      <p:bldP spid="58469" grpId="0"/>
      <p:bldP spid="5847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031"/>
          <p:cNvSpPr>
            <a:spLocks/>
          </p:cNvSpPr>
          <p:nvPr/>
        </p:nvSpPr>
        <p:spPr bwMode="auto">
          <a:xfrm>
            <a:off x="6866180" y="4186051"/>
            <a:ext cx="1944687" cy="458787"/>
          </a:xfrm>
          <a:custGeom>
            <a:avLst/>
            <a:gdLst>
              <a:gd name="G0" fmla="+- 21284 0 0"/>
              <a:gd name="G1" fmla="+- 21600 0 0"/>
              <a:gd name="G2" fmla="+- 21600 0 0"/>
              <a:gd name="T0" fmla="*/ 0 w 28315"/>
              <a:gd name="T1" fmla="*/ 17918 h 21600"/>
              <a:gd name="T2" fmla="*/ 28315 w 28315"/>
              <a:gd name="T3" fmla="*/ 1176 h 21600"/>
              <a:gd name="T4" fmla="*/ 21284 w 2831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315" h="21600" fill="none" extrusionOk="0">
                <a:moveTo>
                  <a:pt x="0" y="17918"/>
                </a:moveTo>
                <a:cubicBezTo>
                  <a:pt x="1791" y="7563"/>
                  <a:pt x="10775" y="0"/>
                  <a:pt x="21284" y="0"/>
                </a:cubicBezTo>
                <a:cubicBezTo>
                  <a:pt x="23676" y="0"/>
                  <a:pt x="26052" y="397"/>
                  <a:pt x="28314" y="1176"/>
                </a:cubicBezTo>
              </a:path>
              <a:path w="28315" h="21600" stroke="0" extrusionOk="0">
                <a:moveTo>
                  <a:pt x="0" y="17918"/>
                </a:moveTo>
                <a:cubicBezTo>
                  <a:pt x="1791" y="7563"/>
                  <a:pt x="10775" y="0"/>
                  <a:pt x="21284" y="0"/>
                </a:cubicBezTo>
                <a:cubicBezTo>
                  <a:pt x="23676" y="0"/>
                  <a:pt x="26052" y="397"/>
                  <a:pt x="28314" y="1176"/>
                </a:cubicBezTo>
                <a:lnTo>
                  <a:pt x="21284" y="21600"/>
                </a:lnTo>
                <a:close/>
              </a:path>
            </a:pathLst>
          </a:custGeom>
          <a:noFill/>
          <a:ln w="444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rc 1032"/>
          <p:cNvSpPr>
            <a:spLocks/>
          </p:cNvSpPr>
          <p:nvPr/>
        </p:nvSpPr>
        <p:spPr bwMode="auto">
          <a:xfrm>
            <a:off x="2514842" y="4186051"/>
            <a:ext cx="1981200" cy="4746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4353"/>
              <a:gd name="T2" fmla="*/ 21424 w 21600"/>
              <a:gd name="T3" fmla="*/ 24353 h 24353"/>
              <a:gd name="T4" fmla="*/ 0 w 21600"/>
              <a:gd name="T5" fmla="*/ 21600 h 24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353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20"/>
                  <a:pt x="21541" y="23440"/>
                  <a:pt x="21423" y="24352"/>
                </a:cubicBezTo>
              </a:path>
              <a:path w="21600" h="24353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20"/>
                  <a:pt x="21541" y="23440"/>
                  <a:pt x="21423" y="24352"/>
                </a:cubicBezTo>
                <a:lnTo>
                  <a:pt x="0" y="21600"/>
                </a:lnTo>
                <a:close/>
              </a:path>
            </a:pathLst>
          </a:custGeom>
          <a:noFill/>
          <a:ln w="444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Arc 1033"/>
          <p:cNvSpPr>
            <a:spLocks/>
          </p:cNvSpPr>
          <p:nvPr/>
        </p:nvSpPr>
        <p:spPr bwMode="auto">
          <a:xfrm>
            <a:off x="4496042" y="4186051"/>
            <a:ext cx="2362200" cy="468312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10 w 43200"/>
              <a:gd name="T1" fmla="*/ 22273 h 22273"/>
              <a:gd name="T2" fmla="*/ 43200 w 43200"/>
              <a:gd name="T3" fmla="*/ 21600 h 22273"/>
              <a:gd name="T4" fmla="*/ 21600 w 43200"/>
              <a:gd name="T5" fmla="*/ 21600 h 22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22273" fill="none" extrusionOk="0">
                <a:moveTo>
                  <a:pt x="10" y="22272"/>
                </a:moveTo>
                <a:cubicBezTo>
                  <a:pt x="3" y="22048"/>
                  <a:pt x="0" y="2182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199" y="9670"/>
                  <a:pt x="43199" y="21599"/>
                </a:cubicBezTo>
              </a:path>
              <a:path w="43200" h="22273" stroke="0" extrusionOk="0">
                <a:moveTo>
                  <a:pt x="10" y="22272"/>
                </a:moveTo>
                <a:cubicBezTo>
                  <a:pt x="3" y="22048"/>
                  <a:pt x="0" y="2182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199" y="9670"/>
                  <a:pt x="43199" y="21599"/>
                </a:cubicBezTo>
                <a:lnTo>
                  <a:pt x="21600" y="21600"/>
                </a:lnTo>
                <a:close/>
              </a:path>
            </a:pathLst>
          </a:custGeom>
          <a:noFill/>
          <a:ln w="44450">
            <a:solidFill>
              <a:srgbClr val="4A7BA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dirty="0">
              <a:solidFill>
                <a:srgbClr val="0070C0"/>
              </a:solidFill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1034"/>
          <p:cNvSpPr>
            <a:spLocks noChangeShapeType="1"/>
          </p:cNvSpPr>
          <p:nvPr/>
        </p:nvSpPr>
        <p:spPr bwMode="auto">
          <a:xfrm>
            <a:off x="2362442" y="4643251"/>
            <a:ext cx="6705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035"/>
              <p:cNvSpPr txBox="1"/>
              <p:nvPr/>
            </p:nvSpPr>
            <p:spPr bwMode="auto">
              <a:xfrm>
                <a:off x="9107730" y="4543238"/>
                <a:ext cx="485774" cy="5232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Object 10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07730" y="4543238"/>
                <a:ext cx="485774" cy="5232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037"/>
              <p:cNvSpPr txBox="1"/>
              <p:nvPr/>
            </p:nvSpPr>
            <p:spPr bwMode="auto">
              <a:xfrm flipH="1">
                <a:off x="5481198" y="4352598"/>
                <a:ext cx="276226" cy="3825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Object 10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5481198" y="4352598"/>
                <a:ext cx="276226" cy="3825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38"/>
              <p:cNvSpPr txBox="1"/>
              <p:nvPr/>
            </p:nvSpPr>
            <p:spPr bwMode="auto">
              <a:xfrm flipH="1">
                <a:off x="6378023" y="4352081"/>
                <a:ext cx="273050" cy="4556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</m:oMath>
                  </m:oMathPara>
                </a14:m>
                <a:endParaRPr lang="zh-CN" altLang="en-US" sz="2800" dirty="0">
                  <a:solidFill>
                    <a:srgbClr val="4A7BA8"/>
                  </a:solidFill>
                </a:endParaRPr>
              </a:p>
            </p:txBody>
          </p:sp>
        </mc:Choice>
        <mc:Fallback xmlns="">
          <p:sp>
            <p:nvSpPr>
              <p:cNvPr id="9" name="Object 10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6378023" y="4352081"/>
                <a:ext cx="273050" cy="4556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39"/>
              <p:cNvSpPr txBox="1"/>
              <p:nvPr/>
            </p:nvSpPr>
            <p:spPr bwMode="auto">
              <a:xfrm flipH="1">
                <a:off x="6018417" y="4351416"/>
                <a:ext cx="344487" cy="4556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</m:oMath>
                  </m:oMathPara>
                </a14:m>
                <a:endParaRPr lang="zh-CN" altLang="en-US" sz="2800" dirty="0">
                  <a:solidFill>
                    <a:srgbClr val="4A7BA8"/>
                  </a:solidFill>
                </a:endParaRPr>
              </a:p>
            </p:txBody>
          </p:sp>
        </mc:Choice>
        <mc:Fallback xmlns="">
          <p:sp>
            <p:nvSpPr>
              <p:cNvPr id="10" name="Object 10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6018417" y="4351416"/>
                <a:ext cx="344487" cy="4556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40"/>
              <p:cNvSpPr txBox="1"/>
              <p:nvPr/>
            </p:nvSpPr>
            <p:spPr bwMode="auto">
              <a:xfrm flipH="1">
                <a:off x="7233665" y="4328720"/>
                <a:ext cx="279438" cy="5232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</m:oMath>
                  </m:oMathPara>
                </a14:m>
                <a:endParaRPr lang="zh-CN" altLang="en-US" sz="2800" dirty="0">
                  <a:solidFill>
                    <a:srgbClr val="04926A"/>
                  </a:solidFill>
                </a:endParaRPr>
              </a:p>
            </p:txBody>
          </p:sp>
        </mc:Choice>
        <mc:Fallback xmlns="">
          <p:sp>
            <p:nvSpPr>
              <p:cNvPr id="11" name="Object 10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7233665" y="4328720"/>
                <a:ext cx="27943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c 1041"/>
          <p:cNvSpPr>
            <a:spLocks/>
          </p:cNvSpPr>
          <p:nvPr/>
        </p:nvSpPr>
        <p:spPr bwMode="auto">
          <a:xfrm>
            <a:off x="2514842" y="4262251"/>
            <a:ext cx="1447800" cy="3984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4353"/>
              <a:gd name="T2" fmla="*/ 21424 w 21600"/>
              <a:gd name="T3" fmla="*/ 24353 h 24353"/>
              <a:gd name="T4" fmla="*/ 0 w 21600"/>
              <a:gd name="T5" fmla="*/ 21600 h 24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353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20"/>
                  <a:pt x="21541" y="23440"/>
                  <a:pt x="21423" y="24352"/>
                </a:cubicBezTo>
              </a:path>
              <a:path w="21600" h="24353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20"/>
                  <a:pt x="21541" y="23440"/>
                  <a:pt x="21423" y="24352"/>
                </a:cubicBezTo>
                <a:lnTo>
                  <a:pt x="0" y="21600"/>
                </a:lnTo>
                <a:close/>
              </a:path>
            </a:pathLst>
          </a:custGeom>
          <a:noFill/>
          <a:ln w="444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Arc 1042"/>
          <p:cNvSpPr>
            <a:spLocks/>
          </p:cNvSpPr>
          <p:nvPr/>
        </p:nvSpPr>
        <p:spPr bwMode="auto">
          <a:xfrm>
            <a:off x="7391642" y="4262251"/>
            <a:ext cx="1368425" cy="3810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568 w 24670"/>
              <a:gd name="T1" fmla="*/ 26519 h 26519"/>
              <a:gd name="T2" fmla="*/ 24670 w 24670"/>
              <a:gd name="T3" fmla="*/ 219 h 26519"/>
              <a:gd name="T4" fmla="*/ 21600 w 24670"/>
              <a:gd name="T5" fmla="*/ 21600 h 26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670" h="26519" fill="none" extrusionOk="0">
                <a:moveTo>
                  <a:pt x="567" y="26519"/>
                </a:moveTo>
                <a:cubicBezTo>
                  <a:pt x="190" y="24906"/>
                  <a:pt x="0" y="2325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2627" y="0"/>
                  <a:pt x="23653" y="73"/>
                  <a:pt x="24669" y="219"/>
                </a:cubicBezTo>
              </a:path>
              <a:path w="24670" h="26519" stroke="0" extrusionOk="0">
                <a:moveTo>
                  <a:pt x="567" y="26519"/>
                </a:moveTo>
                <a:cubicBezTo>
                  <a:pt x="190" y="24906"/>
                  <a:pt x="0" y="2325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2627" y="0"/>
                  <a:pt x="23653" y="73"/>
                  <a:pt x="24669" y="219"/>
                </a:cubicBezTo>
                <a:lnTo>
                  <a:pt x="21600" y="21600"/>
                </a:lnTo>
                <a:close/>
              </a:path>
            </a:pathLst>
          </a:custGeom>
          <a:noFill/>
          <a:ln w="444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043"/>
              <p:cNvSpPr txBox="1"/>
              <p:nvPr/>
            </p:nvSpPr>
            <p:spPr bwMode="auto">
              <a:xfrm flipH="1">
                <a:off x="3797507" y="4338845"/>
                <a:ext cx="292062" cy="4683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</m:oMath>
                  </m:oMathPara>
                </a14:m>
                <a:endParaRPr lang="zh-CN" altLang="en-US" sz="2800" dirty="0">
                  <a:solidFill>
                    <a:srgbClr val="04926A"/>
                  </a:solidFill>
                </a:endParaRPr>
              </a:p>
            </p:txBody>
          </p:sp>
        </mc:Choice>
        <mc:Fallback xmlns="">
          <p:sp>
            <p:nvSpPr>
              <p:cNvPr id="14" name="Object 10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3797507" y="4338845"/>
                <a:ext cx="292062" cy="4683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c 1044"/>
          <p:cNvSpPr>
            <a:spLocks/>
          </p:cNvSpPr>
          <p:nvPr/>
        </p:nvSpPr>
        <p:spPr bwMode="auto">
          <a:xfrm>
            <a:off x="7772642" y="4414651"/>
            <a:ext cx="990600" cy="227012"/>
          </a:xfrm>
          <a:custGeom>
            <a:avLst/>
            <a:gdLst>
              <a:gd name="G0" fmla="+- 21440 0 0"/>
              <a:gd name="G1" fmla="+- 21599 0 0"/>
              <a:gd name="G2" fmla="+- 21600 0 0"/>
              <a:gd name="T0" fmla="*/ 0 w 21440"/>
              <a:gd name="T1" fmla="*/ 18971 h 21599"/>
              <a:gd name="T2" fmla="*/ 21250 w 21440"/>
              <a:gd name="T3" fmla="*/ 0 h 21599"/>
              <a:gd name="T4" fmla="*/ 21440 w 21440"/>
              <a:gd name="T5" fmla="*/ 21599 h 21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440" h="21599" fill="none" extrusionOk="0">
                <a:moveTo>
                  <a:pt x="0" y="18971"/>
                </a:moveTo>
                <a:cubicBezTo>
                  <a:pt x="1319" y="8210"/>
                  <a:pt x="10409" y="95"/>
                  <a:pt x="21249" y="-1"/>
                </a:cubicBezTo>
              </a:path>
              <a:path w="21440" h="21599" stroke="0" extrusionOk="0">
                <a:moveTo>
                  <a:pt x="0" y="18971"/>
                </a:moveTo>
                <a:cubicBezTo>
                  <a:pt x="1319" y="8210"/>
                  <a:pt x="10409" y="95"/>
                  <a:pt x="21249" y="-1"/>
                </a:cubicBezTo>
                <a:lnTo>
                  <a:pt x="21440" y="21599"/>
                </a:lnTo>
                <a:close/>
              </a:path>
            </a:pathLst>
          </a:custGeom>
          <a:noFill/>
          <a:ln w="444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rc 1045"/>
          <p:cNvSpPr>
            <a:spLocks/>
          </p:cNvSpPr>
          <p:nvPr/>
        </p:nvSpPr>
        <p:spPr bwMode="auto">
          <a:xfrm>
            <a:off x="2591042" y="4414651"/>
            <a:ext cx="990600" cy="228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61 w 21600"/>
              <a:gd name="T1" fmla="*/ 0 h 24353"/>
              <a:gd name="T2" fmla="*/ 21424 w 21600"/>
              <a:gd name="T3" fmla="*/ 24353 h 24353"/>
              <a:gd name="T4" fmla="*/ 0 w 21600"/>
              <a:gd name="T5" fmla="*/ 21600 h 243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353" fill="none" extrusionOk="0">
                <a:moveTo>
                  <a:pt x="60" y="0"/>
                </a:moveTo>
                <a:cubicBezTo>
                  <a:pt x="11966" y="33"/>
                  <a:pt x="21600" y="9694"/>
                  <a:pt x="21600" y="21600"/>
                </a:cubicBezTo>
                <a:cubicBezTo>
                  <a:pt x="21600" y="22520"/>
                  <a:pt x="21541" y="23440"/>
                  <a:pt x="21423" y="24352"/>
                </a:cubicBezTo>
              </a:path>
              <a:path w="21600" h="24353" stroke="0" extrusionOk="0">
                <a:moveTo>
                  <a:pt x="60" y="0"/>
                </a:moveTo>
                <a:cubicBezTo>
                  <a:pt x="11966" y="33"/>
                  <a:pt x="21600" y="9694"/>
                  <a:pt x="21600" y="21600"/>
                </a:cubicBezTo>
                <a:cubicBezTo>
                  <a:pt x="21600" y="22520"/>
                  <a:pt x="21541" y="23440"/>
                  <a:pt x="21423" y="24352"/>
                </a:cubicBezTo>
                <a:lnTo>
                  <a:pt x="0" y="21600"/>
                </a:lnTo>
                <a:close/>
              </a:path>
            </a:pathLst>
          </a:custGeom>
          <a:noFill/>
          <a:ln w="4445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046"/>
              <p:cNvSpPr txBox="1"/>
              <p:nvPr/>
            </p:nvSpPr>
            <p:spPr bwMode="auto">
              <a:xfrm flipH="1">
                <a:off x="7618655" y="4328720"/>
                <a:ext cx="254000" cy="4413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</m:oMath>
                  </m:oMathPara>
                </a14:m>
                <a:endParaRPr lang="zh-CN" altLang="en-US" sz="2800" dirty="0">
                  <a:solidFill>
                    <a:srgbClr val="04926A"/>
                  </a:solidFill>
                </a:endParaRPr>
              </a:p>
            </p:txBody>
          </p:sp>
        </mc:Choice>
        <mc:Fallback xmlns="">
          <p:sp>
            <p:nvSpPr>
              <p:cNvPr id="17" name="Object 10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7618655" y="4328720"/>
                <a:ext cx="254000" cy="4413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047"/>
              <p:cNvSpPr txBox="1"/>
              <p:nvPr/>
            </p:nvSpPr>
            <p:spPr bwMode="auto">
              <a:xfrm flipH="1">
                <a:off x="3418753" y="4338845"/>
                <a:ext cx="250031" cy="4413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</m:oMath>
                  </m:oMathPara>
                </a14:m>
                <a:endParaRPr lang="zh-CN" altLang="en-US" sz="2800" dirty="0">
                  <a:solidFill>
                    <a:srgbClr val="04926A"/>
                  </a:solidFill>
                </a:endParaRPr>
              </a:p>
            </p:txBody>
          </p:sp>
        </mc:Choice>
        <mc:Fallback xmlns="">
          <p:sp>
            <p:nvSpPr>
              <p:cNvPr id="18" name="Object 10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3418753" y="4338845"/>
                <a:ext cx="250031" cy="4413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048"/>
              <p:cNvSpPr txBox="1"/>
              <p:nvPr/>
            </p:nvSpPr>
            <p:spPr bwMode="auto">
              <a:xfrm flipH="1">
                <a:off x="6685204" y="4350810"/>
                <a:ext cx="321448" cy="4850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Object 10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6685204" y="4350810"/>
                <a:ext cx="321448" cy="48509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049"/>
              <p:cNvSpPr txBox="1"/>
              <p:nvPr/>
            </p:nvSpPr>
            <p:spPr bwMode="auto">
              <a:xfrm flipH="1">
                <a:off x="4317584" y="4346255"/>
                <a:ext cx="299356" cy="4235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Object 10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4317584" y="4346255"/>
                <a:ext cx="299356" cy="4235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c 1050"/>
          <p:cNvSpPr>
            <a:spLocks/>
          </p:cNvSpPr>
          <p:nvPr/>
        </p:nvSpPr>
        <p:spPr bwMode="auto">
          <a:xfrm>
            <a:off x="4781792" y="4312742"/>
            <a:ext cx="1758950" cy="315913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10 w 43200"/>
              <a:gd name="T1" fmla="*/ 22273 h 22273"/>
              <a:gd name="T2" fmla="*/ 43200 w 43200"/>
              <a:gd name="T3" fmla="*/ 21601 h 22273"/>
              <a:gd name="T4" fmla="*/ 21600 w 43200"/>
              <a:gd name="T5" fmla="*/ 21600 h 222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22273" fill="none" extrusionOk="0">
                <a:moveTo>
                  <a:pt x="10" y="22272"/>
                </a:moveTo>
                <a:cubicBezTo>
                  <a:pt x="3" y="22048"/>
                  <a:pt x="0" y="2182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1600"/>
                  <a:pt x="43199" y="21600"/>
                  <a:pt x="43199" y="21600"/>
                </a:cubicBezTo>
              </a:path>
              <a:path w="43200" h="22273" stroke="0" extrusionOk="0">
                <a:moveTo>
                  <a:pt x="10" y="22272"/>
                </a:moveTo>
                <a:cubicBezTo>
                  <a:pt x="3" y="22048"/>
                  <a:pt x="0" y="21824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1600"/>
                  <a:pt x="43199" y="21600"/>
                  <a:pt x="43199" y="21600"/>
                </a:cubicBezTo>
                <a:lnTo>
                  <a:pt x="21600" y="21600"/>
                </a:lnTo>
                <a:close/>
              </a:path>
            </a:pathLst>
          </a:custGeom>
          <a:noFill/>
          <a:ln w="44450">
            <a:solidFill>
              <a:srgbClr val="4A7BA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dirty="0">
              <a:solidFill>
                <a:srgbClr val="0070C0"/>
              </a:solidFill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rc 1051"/>
          <p:cNvSpPr>
            <a:spLocks/>
          </p:cNvSpPr>
          <p:nvPr/>
        </p:nvSpPr>
        <p:spPr bwMode="auto">
          <a:xfrm>
            <a:off x="5105642" y="4414651"/>
            <a:ext cx="1066800" cy="230187"/>
          </a:xfrm>
          <a:custGeom>
            <a:avLst/>
            <a:gdLst>
              <a:gd name="G0" fmla="+- 21556 0 0"/>
              <a:gd name="G1" fmla="+- 21600 0 0"/>
              <a:gd name="G2" fmla="+- 21600 0 0"/>
              <a:gd name="T0" fmla="*/ 0 w 43156"/>
              <a:gd name="T1" fmla="*/ 20221 h 21600"/>
              <a:gd name="T2" fmla="*/ 43156 w 43156"/>
              <a:gd name="T3" fmla="*/ 21600 h 21600"/>
              <a:gd name="T4" fmla="*/ 21556 w 43156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56" h="21600" fill="none" extrusionOk="0">
                <a:moveTo>
                  <a:pt x="0" y="20221"/>
                </a:moveTo>
                <a:cubicBezTo>
                  <a:pt x="727" y="8850"/>
                  <a:pt x="10162" y="0"/>
                  <a:pt x="21556" y="0"/>
                </a:cubicBezTo>
                <a:cubicBezTo>
                  <a:pt x="33485" y="0"/>
                  <a:pt x="43156" y="9670"/>
                  <a:pt x="43156" y="21600"/>
                </a:cubicBezTo>
              </a:path>
              <a:path w="43156" h="21600" stroke="0" extrusionOk="0">
                <a:moveTo>
                  <a:pt x="0" y="20221"/>
                </a:moveTo>
                <a:cubicBezTo>
                  <a:pt x="727" y="8850"/>
                  <a:pt x="10162" y="0"/>
                  <a:pt x="21556" y="0"/>
                </a:cubicBezTo>
                <a:cubicBezTo>
                  <a:pt x="33485" y="0"/>
                  <a:pt x="43156" y="9670"/>
                  <a:pt x="43156" y="21600"/>
                </a:cubicBezTo>
                <a:lnTo>
                  <a:pt x="21556" y="21600"/>
                </a:lnTo>
                <a:close/>
              </a:path>
            </a:pathLst>
          </a:custGeom>
          <a:noFill/>
          <a:ln w="44450">
            <a:solidFill>
              <a:srgbClr val="4A7BA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dirty="0">
              <a:solidFill>
                <a:srgbClr val="0070C0"/>
              </a:solidFill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1052"/>
              <p:cNvSpPr txBox="1"/>
              <p:nvPr/>
            </p:nvSpPr>
            <p:spPr bwMode="auto">
              <a:xfrm flipH="1">
                <a:off x="4939939" y="4351185"/>
                <a:ext cx="299356" cy="4850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</m:oMath>
                  </m:oMathPara>
                </a14:m>
                <a:endParaRPr lang="zh-CN" altLang="en-US" sz="2800" dirty="0">
                  <a:solidFill>
                    <a:srgbClr val="4A7BA8"/>
                  </a:solidFill>
                </a:endParaRPr>
              </a:p>
            </p:txBody>
          </p:sp>
        </mc:Choice>
        <mc:Fallback xmlns="">
          <p:sp>
            <p:nvSpPr>
              <p:cNvPr id="23" name="Object 10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4939939" y="4351185"/>
                <a:ext cx="299356" cy="4850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1053"/>
              <p:cNvSpPr txBox="1"/>
              <p:nvPr/>
            </p:nvSpPr>
            <p:spPr bwMode="auto">
              <a:xfrm flipH="1">
                <a:off x="4616218" y="4354159"/>
                <a:ext cx="290710" cy="4683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</m:oMath>
                  </m:oMathPara>
                </a14:m>
                <a:endParaRPr lang="zh-CN" altLang="en-US" sz="2800" dirty="0">
                  <a:solidFill>
                    <a:srgbClr val="4A7BA8"/>
                  </a:solidFill>
                </a:endParaRPr>
              </a:p>
            </p:txBody>
          </p:sp>
        </mc:Choice>
        <mc:Fallback xmlns="">
          <p:sp>
            <p:nvSpPr>
              <p:cNvPr id="24" name="Object 10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4616218" y="4354159"/>
                <a:ext cx="290710" cy="46831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054"/>
              <p:cNvSpPr txBox="1"/>
              <p:nvPr/>
            </p:nvSpPr>
            <p:spPr bwMode="auto">
              <a:xfrm>
                <a:off x="4045192" y="4692463"/>
                <a:ext cx="596900" cy="3159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" name="Object 10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45192" y="4692463"/>
                <a:ext cx="596900" cy="315912"/>
              </a:xfrm>
              <a:prstGeom prst="rect">
                <a:avLst/>
              </a:prstGeom>
              <a:blipFill>
                <a:blip r:embed="rId14"/>
                <a:stretch>
                  <a:fillRect b="-269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1055"/>
              <p:cNvSpPr txBox="1"/>
              <p:nvPr/>
            </p:nvSpPr>
            <p:spPr bwMode="auto">
              <a:xfrm>
                <a:off x="6670917" y="4707097"/>
                <a:ext cx="471109" cy="5426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6" name="Object 10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70917" y="4707097"/>
                <a:ext cx="471109" cy="54262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Box 1056"/>
          <p:cNvSpPr txBox="1">
            <a:spLocks noChangeArrowheads="1"/>
          </p:cNvSpPr>
          <p:nvPr/>
        </p:nvSpPr>
        <p:spPr bwMode="auto">
          <a:xfrm>
            <a:off x="991506" y="3169389"/>
            <a:ext cx="202332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几何说明</a:t>
            </a:r>
          </a:p>
        </p:txBody>
      </p:sp>
      <p:sp>
        <p:nvSpPr>
          <p:cNvPr id="28" name="Text Box 1058"/>
          <p:cNvSpPr txBox="1">
            <a:spLocks noChangeArrowheads="1"/>
          </p:cNvSpPr>
          <p:nvPr/>
        </p:nvSpPr>
        <p:spPr bwMode="auto">
          <a:xfrm>
            <a:off x="4991342" y="3608201"/>
            <a:ext cx="1905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收敛区域</a:t>
            </a:r>
          </a:p>
        </p:txBody>
      </p:sp>
      <p:sp>
        <p:nvSpPr>
          <p:cNvPr id="29" name="Text Box 1059"/>
          <p:cNvSpPr txBox="1">
            <a:spLocks noChangeArrowheads="1"/>
          </p:cNvSpPr>
          <p:nvPr/>
        </p:nvSpPr>
        <p:spPr bwMode="auto">
          <a:xfrm>
            <a:off x="7355130" y="4697426"/>
            <a:ext cx="1752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发散区域</a:t>
            </a:r>
          </a:p>
        </p:txBody>
      </p:sp>
      <p:sp>
        <p:nvSpPr>
          <p:cNvPr id="30" name="Text Box 1060"/>
          <p:cNvSpPr txBox="1">
            <a:spLocks noChangeArrowheads="1"/>
          </p:cNvSpPr>
          <p:nvPr/>
        </p:nvSpPr>
        <p:spPr bwMode="auto">
          <a:xfrm>
            <a:off x="2147932" y="4669099"/>
            <a:ext cx="1905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发散区域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对象 36"/>
              <p:cNvSpPr txBox="1"/>
              <p:nvPr/>
            </p:nvSpPr>
            <p:spPr>
              <a:xfrm>
                <a:off x="5413579" y="4728976"/>
                <a:ext cx="596900" cy="54445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" name="对象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579" y="4728976"/>
                <a:ext cx="596900" cy="54445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Box 141"/>
              <p:cNvSpPr txBox="1">
                <a:spLocks noChangeArrowheads="1"/>
              </p:cNvSpPr>
              <p:nvPr/>
            </p:nvSpPr>
            <p:spPr bwMode="auto">
              <a:xfrm>
                <a:off x="2186032" y="937245"/>
                <a:ext cx="153352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表明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sz="2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Text Box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6032" y="937245"/>
                <a:ext cx="1533525" cy="523220"/>
              </a:xfrm>
              <a:prstGeom prst="rect">
                <a:avLst/>
              </a:prstGeom>
              <a:blipFill>
                <a:blip r:embed="rId17"/>
                <a:stretch>
                  <a:fillRect l="-8367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对象 44"/>
              <p:cNvSpPr txBox="1"/>
              <p:nvPr/>
            </p:nvSpPr>
            <p:spPr>
              <a:xfrm>
                <a:off x="991506" y="1677912"/>
                <a:ext cx="10419443" cy="5080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（"/>
                          <m:endChr m:val="）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如果幂级数在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处收敛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则在开区间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−|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|,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内处处收敛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5" name="对象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506" y="1677912"/>
                <a:ext cx="10419443" cy="5080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对象 45"/>
              <p:cNvSpPr txBox="1"/>
              <p:nvPr/>
            </p:nvSpPr>
            <p:spPr>
              <a:xfrm>
                <a:off x="991506" y="2357978"/>
                <a:ext cx="10571844" cy="5080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（"/>
                          <m:endChr m:val="）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如果幂级数在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处发散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则在闭区间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−|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|,|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外处处发散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6" name="对象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506" y="2357978"/>
                <a:ext cx="10571844" cy="508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44"/>
              <p:cNvSpPr txBox="1">
                <a:spLocks noChangeArrowheads="1"/>
              </p:cNvSpPr>
              <p:nvPr/>
            </p:nvSpPr>
            <p:spPr bwMode="auto">
              <a:xfrm>
                <a:off x="991506" y="5406155"/>
                <a:ext cx="796318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其中 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±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表示幂级数收敛与发散的分界点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47" name="Text 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1506" y="5406155"/>
                <a:ext cx="7963180" cy="523220"/>
              </a:xfrm>
              <a:prstGeom prst="rect">
                <a:avLst/>
              </a:prstGeom>
              <a:blipFill>
                <a:blip r:embed="rId20"/>
                <a:stretch>
                  <a:fillRect l="-1608" t="-16279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DC70E076-C2B3-1F47-00D6-40BC283678CF}"/>
              </a:ext>
            </a:extLst>
          </p:cNvPr>
          <p:cNvGrpSpPr/>
          <p:nvPr/>
        </p:nvGrpSpPr>
        <p:grpSpPr>
          <a:xfrm>
            <a:off x="1077810" y="991305"/>
            <a:ext cx="1108222" cy="449580"/>
            <a:chOff x="1553" y="3802"/>
            <a:chExt cx="1928" cy="708"/>
          </a:xfrm>
        </p:grpSpPr>
        <p:sp>
          <p:nvSpPr>
            <p:cNvPr id="31" name="圆角矩形 3">
              <a:extLst>
                <a:ext uri="{FF2B5EF4-FFF2-40B4-BE49-F238E27FC236}">
                  <a16:creationId xmlns:a16="http://schemas.microsoft.com/office/drawing/2014/main" id="{FD8A2632-4849-FD6E-3962-F85C4E3E64CA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Text Box 28">
              <a:extLst>
                <a:ext uri="{FF2B5EF4-FFF2-40B4-BE49-F238E27FC236}">
                  <a16:creationId xmlns:a16="http://schemas.microsoft.com/office/drawing/2014/main" id="{32F253ED-4339-7A06-5BAE-3EE4FCD3B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625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293219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8" grpId="0"/>
      <p:bldP spid="9" grpId="0"/>
      <p:bldP spid="10" grpId="0"/>
      <p:bldP spid="11" grpId="0"/>
      <p:bldP spid="12" grpId="0" animBg="1"/>
      <p:bldP spid="13" grpId="0" animBg="1"/>
      <p:bldP spid="14" grpId="0"/>
      <p:bldP spid="15" grpId="0" animBg="1"/>
      <p:bldP spid="16" grpId="0" animBg="1"/>
      <p:bldP spid="17" grpId="0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7" grpId="0"/>
      <p:bldP spid="42" grpId="0"/>
      <p:bldP spid="45" grpId="0"/>
      <p:bldP spid="46" grpId="0"/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209" name="Text Box 49"/>
              <p:cNvSpPr txBox="1">
                <a:spLocks noChangeArrowheads="1"/>
              </p:cNvSpPr>
              <p:nvPr/>
            </p:nvSpPr>
            <p:spPr bwMode="auto">
              <a:xfrm>
                <a:off x="2425517" y="786962"/>
                <a:ext cx="6934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从上面的几何说明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得到下述重要结论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lang="zh-CN" altLang="en-US" sz="2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209" name="Text 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5517" y="786962"/>
                <a:ext cx="6934200" cy="523220"/>
              </a:xfrm>
              <a:prstGeom prst="rect">
                <a:avLst/>
              </a:prstGeom>
              <a:blipFill>
                <a:blip r:embed="rId2"/>
                <a:stretch>
                  <a:fillRect l="-1847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211" name="Text Box 51"/>
          <p:cNvSpPr txBox="1">
            <a:spLocks noChangeArrowheads="1"/>
          </p:cNvSpPr>
          <p:nvPr/>
        </p:nvSpPr>
        <p:spPr bwMode="auto">
          <a:xfrm>
            <a:off x="2425517" y="1776334"/>
            <a:ext cx="3200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如果幂级数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12" name="Object 52"/>
              <p:cNvSpPr txBox="1"/>
              <p:nvPr/>
            </p:nvSpPr>
            <p:spPr bwMode="auto">
              <a:xfrm>
                <a:off x="4312969" y="1372949"/>
                <a:ext cx="2266952" cy="16201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212" name="Object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2969" y="1372949"/>
                <a:ext cx="2266952" cy="16201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213" name="Text Box 53"/>
              <p:cNvSpPr txBox="1">
                <a:spLocks noChangeArrowheads="1"/>
              </p:cNvSpPr>
              <p:nvPr/>
            </p:nvSpPr>
            <p:spPr bwMode="auto">
              <a:xfrm>
                <a:off x="5744368" y="1776334"/>
                <a:ext cx="4495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不是仅在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= 0 </a:t>
                </a: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一点收敛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zh-CN" altLang="en-US" sz="2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213" name="Text 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44368" y="1776334"/>
                <a:ext cx="4495800" cy="523220"/>
              </a:xfrm>
              <a:prstGeom prst="rect">
                <a:avLst/>
              </a:prstGeom>
              <a:blipFill>
                <a:blip r:embed="rId4"/>
                <a:stretch>
                  <a:fillRect l="-2710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214" name="Text Box 54"/>
              <p:cNvSpPr txBox="1">
                <a:spLocks noChangeArrowheads="1"/>
              </p:cNvSpPr>
              <p:nvPr/>
            </p:nvSpPr>
            <p:spPr bwMode="auto">
              <a:xfrm>
                <a:off x="2425517" y="2823786"/>
                <a:ext cx="5029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也不是在整个数轴上都收敛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zh-CN" altLang="en-US" sz="2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214" name="Text 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5517" y="2823786"/>
                <a:ext cx="5029200" cy="523220"/>
              </a:xfrm>
              <a:prstGeom prst="rect">
                <a:avLst/>
              </a:prstGeom>
              <a:blipFill>
                <a:blip r:embed="rId5"/>
                <a:stretch>
                  <a:fillRect l="-2545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215" name="Text Box 55"/>
          <p:cNvSpPr txBox="1">
            <a:spLocks noChangeArrowheads="1"/>
          </p:cNvSpPr>
          <p:nvPr/>
        </p:nvSpPr>
        <p:spPr bwMode="auto">
          <a:xfrm>
            <a:off x="6870700" y="2823786"/>
            <a:ext cx="4114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则必有一个确定的正数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16" name="Text Box 56"/>
              <p:cNvSpPr txBox="1">
                <a:spLocks noChangeArrowheads="1"/>
              </p:cNvSpPr>
              <p:nvPr/>
            </p:nvSpPr>
            <p:spPr bwMode="auto">
              <a:xfrm>
                <a:off x="2450917" y="3516631"/>
                <a:ext cx="2590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存在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使得</a:t>
                </a:r>
              </a:p>
            </p:txBody>
          </p:sp>
        </mc:Choice>
        <mc:Fallback xmlns="">
          <p:sp>
            <p:nvSpPr>
              <p:cNvPr id="92216" name="Text 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0917" y="3516631"/>
                <a:ext cx="2590800" cy="523220"/>
              </a:xfrm>
              <a:prstGeom prst="rect">
                <a:avLst/>
              </a:prstGeom>
              <a:blipFill>
                <a:blip r:embed="rId6"/>
                <a:stretch>
                  <a:fillRect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217" name="Text Box 57"/>
              <p:cNvSpPr txBox="1">
                <a:spLocks noChangeArrowheads="1"/>
              </p:cNvSpPr>
              <p:nvPr/>
            </p:nvSpPr>
            <p:spPr bwMode="auto">
              <a:xfrm>
                <a:off x="2425517" y="4212274"/>
                <a:ext cx="6019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当 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|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| &lt;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幂级数绝对收敛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lang="zh-CN" altLang="en-US" sz="2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217" name="Text 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5517" y="4212274"/>
                <a:ext cx="6019800" cy="523220"/>
              </a:xfrm>
              <a:prstGeom prst="rect">
                <a:avLst/>
              </a:prstGeom>
              <a:blipFill>
                <a:blip r:embed="rId7"/>
                <a:stretch>
                  <a:fillRect l="-2128" t="-1627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218" name="Text Box 58"/>
              <p:cNvSpPr txBox="1">
                <a:spLocks noChangeArrowheads="1"/>
              </p:cNvSpPr>
              <p:nvPr/>
            </p:nvSpPr>
            <p:spPr bwMode="auto">
              <a:xfrm>
                <a:off x="2425517" y="4938596"/>
                <a:ext cx="6019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当 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|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| &gt;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幂级数发散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lang="zh-CN" altLang="en-US" sz="2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218" name="Text 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25517" y="4938596"/>
                <a:ext cx="6019800" cy="523220"/>
              </a:xfrm>
              <a:prstGeom prst="rect">
                <a:avLst/>
              </a:prstGeom>
              <a:blipFill>
                <a:blip r:embed="rId8"/>
                <a:stretch>
                  <a:fillRect l="-2128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425517" y="5594035"/>
                <a:ext cx="8379008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与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kumimoji="1" lang="en-US" altLang="zh-CN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kumimoji="1" lang="en-US" altLang="zh-CN" sz="2800" smtClean="0">
                          <a:solidFill>
                            <a:schemeClr val="bg1"/>
                          </a:solidFill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幂级数可能收敛也可能发散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517" y="5594035"/>
                <a:ext cx="8379008" cy="431800"/>
              </a:xfrm>
              <a:prstGeom prst="rect">
                <a:avLst/>
              </a:prstGeom>
              <a:blipFill>
                <a:blip r:embed="rId9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B2D03EC5-D0A6-6F5A-2BAE-700772E98C5B}"/>
              </a:ext>
            </a:extLst>
          </p:cNvPr>
          <p:cNvGrpSpPr/>
          <p:nvPr/>
        </p:nvGrpSpPr>
        <p:grpSpPr>
          <a:xfrm>
            <a:off x="1590543" y="1813985"/>
            <a:ext cx="866775" cy="448945"/>
            <a:chOff x="1553" y="3803"/>
            <a:chExt cx="1365" cy="707"/>
          </a:xfrm>
        </p:grpSpPr>
        <p:sp>
          <p:nvSpPr>
            <p:cNvPr id="4" name="圆角矩形 51">
              <a:extLst>
                <a:ext uri="{FF2B5EF4-FFF2-40B4-BE49-F238E27FC236}">
                  <a16:creationId xmlns:a16="http://schemas.microsoft.com/office/drawing/2014/main" id="{241B6775-09A5-2448-2261-DBD1D5856400}"/>
                </a:ext>
              </a:extLst>
            </p:cNvPr>
            <p:cNvSpPr/>
            <p:nvPr/>
          </p:nvSpPr>
          <p:spPr>
            <a:xfrm>
              <a:off x="1553" y="3803"/>
              <a:ext cx="130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Text Box 28">
              <a:extLst>
                <a:ext uri="{FF2B5EF4-FFF2-40B4-BE49-F238E27FC236}">
                  <a16:creationId xmlns:a16="http://schemas.microsoft.com/office/drawing/2014/main" id="{FC7CDA90-6F1A-1111-64E4-DEE016415C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3814"/>
              <a:ext cx="1264" cy="6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推论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704140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2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2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2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9" grpId="0"/>
      <p:bldP spid="92211" grpId="0"/>
      <p:bldP spid="92212" grpId="0"/>
      <p:bldP spid="92213" grpId="0"/>
      <p:bldP spid="92214" grpId="0"/>
      <p:bldP spid="92215" grpId="0"/>
      <p:bldP spid="92216" grpId="0"/>
      <p:bldP spid="92217" grpId="0"/>
      <p:bldP spid="92218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BB030B85-0F59-5E03-A574-26D8C855308B}"/>
              </a:ext>
            </a:extLst>
          </p:cNvPr>
          <p:cNvGrpSpPr/>
          <p:nvPr/>
        </p:nvGrpSpPr>
        <p:grpSpPr>
          <a:xfrm>
            <a:off x="698121" y="1022408"/>
            <a:ext cx="10659110" cy="2148205"/>
            <a:chOff x="786" y="8358"/>
            <a:chExt cx="16786" cy="3383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E907BB98-5FEF-3FB5-1B89-6957C7E1125D}"/>
                </a:ext>
              </a:extLst>
            </p:cNvPr>
            <p:cNvSpPr/>
            <p:nvPr/>
          </p:nvSpPr>
          <p:spPr>
            <a:xfrm>
              <a:off x="1660" y="8358"/>
              <a:ext cx="15912" cy="3383"/>
            </a:xfrm>
            <a:prstGeom prst="rect">
              <a:avLst/>
            </a:prstGeom>
            <a:solidFill>
              <a:srgbClr val="039462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74D652F7-F60E-CEA6-657A-BDF89CCDFFAC}"/>
                </a:ext>
              </a:extLst>
            </p:cNvPr>
            <p:cNvGrpSpPr/>
            <p:nvPr/>
          </p:nvGrpSpPr>
          <p:grpSpPr>
            <a:xfrm>
              <a:off x="786" y="9455"/>
              <a:ext cx="1962" cy="1417"/>
              <a:chOff x="-299570" y="1438949"/>
              <a:chExt cx="1882603" cy="900000"/>
            </a:xfrm>
          </p:grpSpPr>
          <p:sp>
            <p:nvSpPr>
              <p:cNvPr id="12" name="PA-102231">
                <a:extLst>
                  <a:ext uri="{FF2B5EF4-FFF2-40B4-BE49-F238E27FC236}">
                    <a16:creationId xmlns:a16="http://schemas.microsoft.com/office/drawing/2014/main" id="{9680F492-8496-2C45-DE65-3A030C2274BA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>
                <a:off x="-299570" y="1438949"/>
                <a:ext cx="1882603" cy="900000"/>
              </a:xfrm>
              <a:prstGeom prst="rect">
                <a:avLst/>
              </a:prstGeom>
              <a:solidFill>
                <a:schemeClr val="bg1"/>
              </a:solidFill>
              <a:ln w="19050">
                <a:gradFill>
                  <a:gsLst>
                    <a:gs pos="5000">
                      <a:srgbClr val="17A45E"/>
                    </a:gs>
                    <a:gs pos="56000">
                      <a:srgbClr val="039267"/>
                    </a:gs>
                    <a:gs pos="100000">
                      <a:srgbClr val="068983"/>
                    </a:gs>
                  </a:gsLst>
                  <a:lin ang="10800000" scaled="0"/>
                </a:gradFill>
              </a:ln>
              <a:effectLst>
                <a:outerShdw blurRad="203200" dist="63500" dir="3000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cs typeface="+mn-ea"/>
                  <a:sym typeface="+mn-lt"/>
                </a:endParaRPr>
              </a:p>
            </p:txBody>
          </p:sp>
          <p:sp>
            <p:nvSpPr>
              <p:cNvPr id="13" name="Rectangle 167">
                <a:extLst>
                  <a:ext uri="{FF2B5EF4-FFF2-40B4-BE49-F238E27FC236}">
                    <a16:creationId xmlns:a16="http://schemas.microsoft.com/office/drawing/2014/main" id="{87062B42-728B-D0C0-30B0-58C8BE5726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560" y="1685575"/>
                <a:ext cx="1085171" cy="43098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定义</a:t>
                </a:r>
                <a:endParaRPr kumimoji="1" lang="en-US" altLang="zh-CN" sz="2800" b="1" dirty="0">
                  <a:solidFill>
                    <a:srgbClr val="04926A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413" name="Text Box 61"/>
              <p:cNvSpPr txBox="1">
                <a:spLocks noChangeArrowheads="1"/>
              </p:cNvSpPr>
              <p:nvPr/>
            </p:nvSpPr>
            <p:spPr bwMode="auto">
              <a:xfrm>
                <a:off x="1997396" y="1188259"/>
                <a:ext cx="5410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正数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称为幂级数的</a:t>
                </a:r>
                <a:r>
                  <a:rPr lang="zh-CN" altLang="en-US" sz="2800" b="1" dirty="0">
                    <a:solidFill>
                      <a:srgbClr val="04926A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收敛半径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0413" name="Text 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7396" y="1188259"/>
                <a:ext cx="5410200" cy="523220"/>
              </a:xfrm>
              <a:prstGeom prst="rect">
                <a:avLst/>
              </a:prstGeom>
              <a:blipFill>
                <a:blip r:embed="rId3"/>
                <a:stretch>
                  <a:fillRect l="-2368" t="-1627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415" name="Text Box 63"/>
          <p:cNvSpPr txBox="1">
            <a:spLocks noChangeArrowheads="1"/>
          </p:cNvSpPr>
          <p:nvPr/>
        </p:nvSpPr>
        <p:spPr bwMode="auto">
          <a:xfrm>
            <a:off x="1997396" y="1837383"/>
            <a:ext cx="3581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幂级数的</a:t>
            </a:r>
            <a:r>
              <a:rPr lang="zh-CN" altLang="en-US" sz="2800" b="1" dirty="0">
                <a:solidFill>
                  <a:srgbClr val="04926A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收敛区间</a:t>
            </a:r>
            <a:r>
              <a:rPr lang="en-US" altLang="zh-CN" sz="2800" b="1" dirty="0">
                <a:solidFill>
                  <a:srgbClr val="04926A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416" name="Text Box 64"/>
              <p:cNvSpPr txBox="1">
                <a:spLocks noChangeArrowheads="1"/>
              </p:cNvSpPr>
              <p:nvPr/>
            </p:nvSpPr>
            <p:spPr bwMode="auto">
              <a:xfrm>
                <a:off x="5015322" y="1821520"/>
                <a:ext cx="619410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幂级数的收敛域是以下四个区间之一</a:t>
                </a:r>
                <a14:m>
                  <m:oMath xmlns:m="http://schemas.openxmlformats.org/officeDocument/2006/math">
                    <m:r>
                      <a:rPr kumimoji="1" lang="en-US" altLang="zh-CN" sz="2800" b="0" i="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 </m:t>
                    </m:r>
                    <m:r>
                      <m:rPr>
                        <m:nor/>
                      </m:rP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lang="zh-CN" altLang="en-US" sz="2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0416" name="Text 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5322" y="1821520"/>
                <a:ext cx="6194104" cy="523220"/>
              </a:xfrm>
              <a:prstGeom prst="rect">
                <a:avLst/>
              </a:prstGeom>
              <a:blipFill>
                <a:blip r:embed="rId4"/>
                <a:stretch>
                  <a:fillRect l="-2067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6845294" y="1184254"/>
                <a:ext cx="3427531" cy="60235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开区间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称为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294" y="1184254"/>
                <a:ext cx="3427531" cy="6023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1997396" y="2428720"/>
                <a:ext cx="6194104" cy="65623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), [−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), (−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], [−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396" y="2428720"/>
                <a:ext cx="6194104" cy="6562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19"/>
          <p:cNvSpPr txBox="1">
            <a:spLocks noChangeArrowheads="1"/>
          </p:cNvSpPr>
          <p:nvPr/>
        </p:nvSpPr>
        <p:spPr bwMode="auto">
          <a:xfrm>
            <a:off x="2167730" y="5239211"/>
            <a:ext cx="5410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如何求幂级数的收敛半径</a:t>
            </a:r>
            <a:r>
              <a:rPr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2167730" y="3545452"/>
                <a:ext cx="5875709" cy="84210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（"/>
                          <m:endChr m:val="）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幂级数只在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处收敛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730" y="3545452"/>
                <a:ext cx="5875709" cy="8421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2167730" y="4201888"/>
                <a:ext cx="5858170" cy="89473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（"/>
                          <m:endChr m:val="）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幂级数对一切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都收敛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730" y="4201888"/>
                <a:ext cx="5858170" cy="89473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7898705" y="3535515"/>
                <a:ext cx="3192176" cy="92105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收敛区间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=0;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8705" y="3535515"/>
                <a:ext cx="3192176" cy="9210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>
              <a:xfrm>
                <a:off x="6817881" y="3549614"/>
                <a:ext cx="1262839" cy="76315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7881" y="3549614"/>
                <a:ext cx="1262839" cy="76315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对象 32"/>
              <p:cNvSpPr txBox="1"/>
              <p:nvPr/>
            </p:nvSpPr>
            <p:spPr>
              <a:xfrm>
                <a:off x="7936805" y="4210457"/>
                <a:ext cx="3754709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收敛区间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(−∞,+∞).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" name="对象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805" y="4210457"/>
                <a:ext cx="3754709" cy="444500"/>
              </a:xfrm>
              <a:prstGeom prst="rect">
                <a:avLst/>
              </a:prstGeom>
              <a:blipFill>
                <a:blip r:embed="rId11"/>
                <a:stretch>
                  <a:fillRect b="-6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对象 33"/>
              <p:cNvSpPr txBox="1"/>
              <p:nvPr/>
            </p:nvSpPr>
            <p:spPr>
              <a:xfrm>
                <a:off x="6520387" y="4210457"/>
                <a:ext cx="1648706" cy="73684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=+∞,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4" name="对象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0387" y="4210457"/>
                <a:ext cx="1648706" cy="73684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>
            <a:extLst>
              <a:ext uri="{FF2B5EF4-FFF2-40B4-BE49-F238E27FC236}">
                <a16:creationId xmlns:a16="http://schemas.microsoft.com/office/drawing/2014/main" id="{4D5DEF3A-1AFB-0207-E33E-064B7549F4A3}"/>
              </a:ext>
            </a:extLst>
          </p:cNvPr>
          <p:cNvGrpSpPr/>
          <p:nvPr/>
        </p:nvGrpSpPr>
        <p:grpSpPr>
          <a:xfrm>
            <a:off x="1258490" y="3588295"/>
            <a:ext cx="871855" cy="449580"/>
            <a:chOff x="1553" y="3802"/>
            <a:chExt cx="1373" cy="708"/>
          </a:xfrm>
        </p:grpSpPr>
        <p:sp>
          <p:nvSpPr>
            <p:cNvPr id="16" name="圆角矩形 21">
              <a:extLst>
                <a:ext uri="{FF2B5EF4-FFF2-40B4-BE49-F238E27FC236}">
                  <a16:creationId xmlns:a16="http://schemas.microsoft.com/office/drawing/2014/main" id="{2D4B1969-3B03-A6F3-BA59-8FE4AFECB225}"/>
                </a:ext>
              </a:extLst>
            </p:cNvPr>
            <p:cNvSpPr/>
            <p:nvPr/>
          </p:nvSpPr>
          <p:spPr>
            <a:xfrm>
              <a:off x="1553" y="3803"/>
              <a:ext cx="130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Text Box 28">
              <a:extLst>
                <a:ext uri="{FF2B5EF4-FFF2-40B4-BE49-F238E27FC236}">
                  <a16:creationId xmlns:a16="http://schemas.microsoft.com/office/drawing/2014/main" id="{7822A187-1403-0A84-209B-E7DBD5E25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02"/>
              <a:ext cx="127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规定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685BA0F-798D-8B67-00E4-5D9F3DCA6EE3}"/>
              </a:ext>
            </a:extLst>
          </p:cNvPr>
          <p:cNvGrpSpPr/>
          <p:nvPr/>
        </p:nvGrpSpPr>
        <p:grpSpPr>
          <a:xfrm>
            <a:off x="1258490" y="5296361"/>
            <a:ext cx="871855" cy="449580"/>
            <a:chOff x="1553" y="3802"/>
            <a:chExt cx="1373" cy="708"/>
          </a:xfrm>
        </p:grpSpPr>
        <p:sp>
          <p:nvSpPr>
            <p:cNvPr id="19" name="圆角矩形 21">
              <a:extLst>
                <a:ext uri="{FF2B5EF4-FFF2-40B4-BE49-F238E27FC236}">
                  <a16:creationId xmlns:a16="http://schemas.microsoft.com/office/drawing/2014/main" id="{C41BE76C-62CC-F1CB-BA7D-20B1540B5357}"/>
                </a:ext>
              </a:extLst>
            </p:cNvPr>
            <p:cNvSpPr/>
            <p:nvPr/>
          </p:nvSpPr>
          <p:spPr>
            <a:xfrm>
              <a:off x="1553" y="3803"/>
              <a:ext cx="130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Text Box 28">
              <a:extLst>
                <a:ext uri="{FF2B5EF4-FFF2-40B4-BE49-F238E27FC236}">
                  <a16:creationId xmlns:a16="http://schemas.microsoft.com/office/drawing/2014/main" id="{94775169-BBD4-AACC-EE9A-317D907188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02"/>
              <a:ext cx="127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问题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427369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0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13" grpId="0"/>
      <p:bldP spid="100415" grpId="0"/>
      <p:bldP spid="100416" grpId="0"/>
      <p:bldP spid="3" grpId="0"/>
      <p:bldP spid="4" grpId="0"/>
      <p:bldP spid="25" grpId="0"/>
      <p:bldP spid="5" grpId="0"/>
      <p:bldP spid="6" grpId="0"/>
      <p:bldP spid="7" grpId="0"/>
      <p:bldP spid="8" grpId="0"/>
      <p:bldP spid="33" grpId="0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25" name="Text Box 49"/>
          <p:cNvSpPr txBox="1">
            <a:spLocks noChangeArrowheads="1"/>
          </p:cNvSpPr>
          <p:nvPr/>
        </p:nvSpPr>
        <p:spPr bwMode="auto">
          <a:xfrm>
            <a:off x="2385785" y="1142708"/>
            <a:ext cx="1066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如果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434" name="Text Box 58"/>
              <p:cNvSpPr txBox="1">
                <a:spLocks noChangeArrowheads="1"/>
              </p:cNvSpPr>
              <p:nvPr/>
            </p:nvSpPr>
            <p:spPr bwMode="auto">
              <a:xfrm>
                <a:off x="2385785" y="2303446"/>
                <a:ext cx="402238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+1 </a:t>
                </a: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是幂级数</a:t>
                </a:r>
              </a:p>
            </p:txBody>
          </p:sp>
        </mc:Choice>
        <mc:Fallback xmlns="">
          <p:sp>
            <p:nvSpPr>
              <p:cNvPr id="101434" name="Text 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5785" y="2303446"/>
                <a:ext cx="4022383" cy="523220"/>
              </a:xfrm>
              <a:prstGeom prst="rect">
                <a:avLst/>
              </a:prstGeom>
              <a:blipFill>
                <a:blip r:embed="rId2"/>
                <a:stretch>
                  <a:fillRect l="-3030" t="-16279" r="-2727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435" name="Text Box 59"/>
              <p:cNvSpPr txBox="1">
                <a:spLocks noChangeArrowheads="1"/>
              </p:cNvSpPr>
              <p:nvPr/>
            </p:nvSpPr>
            <p:spPr bwMode="auto">
              <a:xfrm>
                <a:off x="7638705" y="2303446"/>
                <a:ext cx="3759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的相邻两项的系数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zh-CN" altLang="en-US" sz="2800" dirty="0">
                  <a:latin typeface="Cambria Math" panose="020405030504060302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01435" name="Text 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38705" y="2303446"/>
                <a:ext cx="3759200" cy="523220"/>
              </a:xfrm>
              <a:prstGeom prst="rect">
                <a:avLst/>
              </a:prstGeom>
              <a:blipFill>
                <a:blip r:embed="rId3"/>
                <a:stretch>
                  <a:fillRect l="-3241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436" name="Text Box 60"/>
          <p:cNvSpPr txBox="1">
            <a:spLocks noChangeArrowheads="1"/>
          </p:cNvSpPr>
          <p:nvPr/>
        </p:nvSpPr>
        <p:spPr bwMode="auto">
          <a:xfrm>
            <a:off x="2385785" y="3191826"/>
            <a:ext cx="37211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这幂级数的收敛半径</a:t>
            </a:r>
          </a:p>
        </p:txBody>
      </p:sp>
      <p:sp>
        <p:nvSpPr>
          <p:cNvPr id="101439" name="Rectangle 63"/>
          <p:cNvSpPr>
            <a:spLocks noChangeArrowheads="1"/>
          </p:cNvSpPr>
          <p:nvPr/>
        </p:nvSpPr>
        <p:spPr bwMode="auto">
          <a:xfrm>
            <a:off x="10639634" y="2303446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3159761" y="856151"/>
                <a:ext cx="3575052" cy="150346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9761" y="856151"/>
                <a:ext cx="3575052" cy="1503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6262850" y="1911579"/>
                <a:ext cx="1143000" cy="9271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850" y="1911579"/>
                <a:ext cx="1143000" cy="927100"/>
              </a:xfrm>
              <a:prstGeom prst="rect">
                <a:avLst/>
              </a:prstGeom>
              <a:blipFill>
                <a:blip r:embed="rId5"/>
                <a:stretch>
                  <a:fillRect r="-23936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4645474" y="3893496"/>
                <a:ext cx="4788812" cy="218799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𝜌</m:t>
                                    </m:r>
                                  </m:den>
                                </m:f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 ,      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≠0 ,    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+∞ ,    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=0 ,    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0 ,      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=+∞ .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474" y="3893496"/>
                <a:ext cx="4788812" cy="21879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60AE23F3-3002-EF84-CE82-B7402F2346A5}"/>
              </a:ext>
            </a:extLst>
          </p:cNvPr>
          <p:cNvGrpSpPr/>
          <p:nvPr/>
        </p:nvGrpSpPr>
        <p:grpSpPr>
          <a:xfrm>
            <a:off x="1209541" y="1169478"/>
            <a:ext cx="1122017" cy="449580"/>
            <a:chOff x="1553" y="3802"/>
            <a:chExt cx="1952" cy="708"/>
          </a:xfrm>
        </p:grpSpPr>
        <p:sp>
          <p:nvSpPr>
            <p:cNvPr id="6" name="圆角矩形 3">
              <a:extLst>
                <a:ext uri="{FF2B5EF4-FFF2-40B4-BE49-F238E27FC236}">
                  <a16:creationId xmlns:a16="http://schemas.microsoft.com/office/drawing/2014/main" id="{C8C9FAB9-6BEC-E608-9D7C-5EB4503D60C3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Text Box 28">
              <a:extLst>
                <a:ext uri="{FF2B5EF4-FFF2-40B4-BE49-F238E27FC236}">
                  <a16:creationId xmlns:a16="http://schemas.microsoft.com/office/drawing/2014/main" id="{900EADEB-2F6C-78C2-4593-927E0D15F0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795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449418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1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25" grpId="0"/>
      <p:bldP spid="101434" grpId="0"/>
      <p:bldP spid="101435" grpId="0"/>
      <p:bldP spid="101436" grpId="0"/>
      <p:bldP spid="101439" grpId="0"/>
      <p:bldP spid="2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8A291F2-04CF-8118-49E2-D7B15E076F7D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9EADAEED-1AA3-DBF4-832A-A431FB348B65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B04BC228-F072-175D-B7DB-0A700427854B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1CEE098B-24DB-5FBF-4B3E-EB1C83CD61B3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AAF6F2F8-A55A-3DE2-010C-C358062A1BA8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A7CBA75D-F478-EB77-D622-752A2E14E13B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403" name="Object 67"/>
              <p:cNvSpPr txBox="1"/>
              <p:nvPr/>
            </p:nvSpPr>
            <p:spPr bwMode="auto">
              <a:xfrm>
                <a:off x="3267305" y="997772"/>
                <a:ext cx="4505325" cy="1079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403" name="Object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7305" y="997772"/>
                <a:ext cx="4505325" cy="10795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56" name="Text Box 20"/>
          <p:cNvSpPr txBox="1">
            <a:spLocks noChangeArrowheads="1"/>
          </p:cNvSpPr>
          <p:nvPr/>
        </p:nvSpPr>
        <p:spPr bwMode="auto">
          <a:xfrm>
            <a:off x="2753394" y="1251404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60" name="Text Box 24"/>
              <p:cNvSpPr txBox="1">
                <a:spLocks noChangeArrowheads="1"/>
              </p:cNvSpPr>
              <p:nvPr/>
            </p:nvSpPr>
            <p:spPr bwMode="auto">
              <a:xfrm>
                <a:off x="2745425" y="2031578"/>
                <a:ext cx="228599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begChr m:val="（"/>
                        <m:endChr m:val="）"/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  若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≠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0,</a:t>
                </a:r>
              </a:p>
            </p:txBody>
          </p:sp>
        </mc:Choice>
        <mc:Fallback xmlns="">
          <p:sp>
            <p:nvSpPr>
              <p:cNvPr id="14360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5425" y="2031578"/>
                <a:ext cx="2285998" cy="430887"/>
              </a:xfrm>
              <a:prstGeom prst="rect">
                <a:avLst/>
              </a:prstGeom>
              <a:blipFill>
                <a:blip r:embed="rId5"/>
                <a:stretch>
                  <a:fillRect t="-12676" b="-281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63" name="Text Box 27"/>
          <p:cNvSpPr txBox="1">
            <a:spLocks noChangeArrowheads="1"/>
          </p:cNvSpPr>
          <p:nvPr/>
        </p:nvSpPr>
        <p:spPr bwMode="auto">
          <a:xfrm>
            <a:off x="4324141" y="2030942"/>
            <a:ext cx="3962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则根据比值审敛法可知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:</a:t>
            </a:r>
          </a:p>
        </p:txBody>
      </p: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3267305" y="2597206"/>
            <a:ext cx="762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66" name="Object 30"/>
              <p:cNvSpPr txBox="1"/>
              <p:nvPr/>
            </p:nvSpPr>
            <p:spPr bwMode="auto">
              <a:xfrm>
                <a:off x="3610205" y="2576053"/>
                <a:ext cx="1371600" cy="473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366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0205" y="2576053"/>
                <a:ext cx="1371600" cy="473075"/>
              </a:xfrm>
              <a:prstGeom prst="rect">
                <a:avLst/>
              </a:prstGeom>
              <a:blipFill>
                <a:blip r:embed="rId6"/>
                <a:stretch>
                  <a:fillRect l="-444" b="-25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69" name="Text Box 33"/>
          <p:cNvSpPr txBox="1">
            <a:spLocks noChangeArrowheads="1"/>
          </p:cNvSpPr>
          <p:nvPr/>
        </p:nvSpPr>
        <p:spPr bwMode="auto">
          <a:xfrm>
            <a:off x="6554061" y="2597206"/>
            <a:ext cx="2133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原级数收敛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;</a:t>
            </a:r>
          </a:p>
        </p:txBody>
      </p:sp>
      <p:sp>
        <p:nvSpPr>
          <p:cNvPr id="14370" name="Text Box 34"/>
          <p:cNvSpPr txBox="1">
            <a:spLocks noChangeArrowheads="1"/>
          </p:cNvSpPr>
          <p:nvPr/>
        </p:nvSpPr>
        <p:spPr bwMode="auto">
          <a:xfrm>
            <a:off x="3267305" y="3344298"/>
            <a:ext cx="685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71" name="Object 35"/>
              <p:cNvSpPr txBox="1"/>
              <p:nvPr/>
            </p:nvSpPr>
            <p:spPr bwMode="auto">
              <a:xfrm>
                <a:off x="3610205" y="3348726"/>
                <a:ext cx="1384300" cy="473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&gt;1,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371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0205" y="3348726"/>
                <a:ext cx="1384300" cy="473075"/>
              </a:xfrm>
              <a:prstGeom prst="rect">
                <a:avLst/>
              </a:prstGeom>
              <a:blipFill>
                <a:blip r:embed="rId7"/>
                <a:stretch>
                  <a:fillRect l="-441" b="-12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76" name="Text Box 40"/>
          <p:cNvSpPr txBox="1">
            <a:spLocks noChangeArrowheads="1"/>
          </p:cNvSpPr>
          <p:nvPr/>
        </p:nvSpPr>
        <p:spPr bwMode="auto">
          <a:xfrm>
            <a:off x="6554061" y="3344298"/>
            <a:ext cx="2133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原级数发散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65" name="Object 29"/>
              <p:cNvSpPr txBox="1"/>
              <p:nvPr/>
            </p:nvSpPr>
            <p:spPr bwMode="auto">
              <a:xfrm>
                <a:off x="7403584" y="1208695"/>
                <a:ext cx="1158875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365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03584" y="1208695"/>
                <a:ext cx="1158875" cy="508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67" name="Text Box 31"/>
          <p:cNvSpPr txBox="1">
            <a:spLocks noChangeArrowheads="1"/>
          </p:cNvSpPr>
          <p:nvPr/>
        </p:nvSpPr>
        <p:spPr bwMode="auto">
          <a:xfrm>
            <a:off x="4769076" y="2597206"/>
            <a:ext cx="685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68" name="Object 32"/>
              <p:cNvSpPr txBox="1"/>
              <p:nvPr/>
            </p:nvSpPr>
            <p:spPr bwMode="auto">
              <a:xfrm>
                <a:off x="5146108" y="2406278"/>
                <a:ext cx="1384300" cy="8073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368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6108" y="2406278"/>
                <a:ext cx="1384300" cy="80736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86" name="Text Box 50"/>
          <p:cNvSpPr txBox="1">
            <a:spLocks noChangeArrowheads="1"/>
          </p:cNvSpPr>
          <p:nvPr/>
        </p:nvSpPr>
        <p:spPr bwMode="auto">
          <a:xfrm>
            <a:off x="6112692" y="2597206"/>
            <a:ext cx="53732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时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  <p:sp>
        <p:nvSpPr>
          <p:cNvPr id="14372" name="Text Box 36"/>
          <p:cNvSpPr txBox="1">
            <a:spLocks noChangeArrowheads="1"/>
          </p:cNvSpPr>
          <p:nvPr/>
        </p:nvSpPr>
        <p:spPr bwMode="auto">
          <a:xfrm>
            <a:off x="4769076" y="3344298"/>
            <a:ext cx="7858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即</a:t>
            </a:r>
          </a:p>
        </p:txBody>
      </p:sp>
      <p:sp>
        <p:nvSpPr>
          <p:cNvPr id="14387" name="Text Box 51"/>
          <p:cNvSpPr txBox="1">
            <a:spLocks noChangeArrowheads="1"/>
          </p:cNvSpPr>
          <p:nvPr/>
        </p:nvSpPr>
        <p:spPr bwMode="auto">
          <a:xfrm>
            <a:off x="6112692" y="3344298"/>
            <a:ext cx="53732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时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405" name="Object 69"/>
              <p:cNvSpPr txBox="1"/>
              <p:nvPr/>
            </p:nvSpPr>
            <p:spPr bwMode="auto">
              <a:xfrm>
                <a:off x="5146108" y="3189891"/>
                <a:ext cx="1384300" cy="7994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405" name="Object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6108" y="3189891"/>
                <a:ext cx="1384300" cy="79942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5"/>
              <p:cNvSpPr txBox="1">
                <a:spLocks noChangeArrowheads="1"/>
              </p:cNvSpPr>
              <p:nvPr/>
            </p:nvSpPr>
            <p:spPr bwMode="auto">
              <a:xfrm>
                <a:off x="2745425" y="4834241"/>
                <a:ext cx="18669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begChr m:val="（"/>
                        <m:endChr m:val="）"/>
                        <m:ctrlPr>
                          <a:rPr lang="zh-CN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若</a:t>
                </a:r>
              </a:p>
            </p:txBody>
          </p:sp>
        </mc:Choice>
        <mc:Fallback xmlns="">
          <p:sp>
            <p:nvSpPr>
              <p:cNvPr id="31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5425" y="4834241"/>
                <a:ext cx="1866900" cy="430887"/>
              </a:xfrm>
              <a:prstGeom prst="rect">
                <a:avLst/>
              </a:prstGeom>
              <a:blipFill>
                <a:blip r:embed="rId11"/>
                <a:stretch>
                  <a:fillRect t="-14085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6"/>
              <p:cNvSpPr txBox="1"/>
              <p:nvPr/>
            </p:nvSpPr>
            <p:spPr bwMode="auto">
              <a:xfrm>
                <a:off x="3617879" y="4819134"/>
                <a:ext cx="1115843" cy="5163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7879" y="4819134"/>
                <a:ext cx="1115843" cy="516330"/>
              </a:xfrm>
              <a:prstGeom prst="rect">
                <a:avLst/>
              </a:prstGeom>
              <a:blipFill>
                <a:blip r:embed="rId12"/>
                <a:stretch>
                  <a:fillRect l="-54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Box 16"/>
          <p:cNvSpPr txBox="1">
            <a:spLocks noChangeArrowheads="1"/>
          </p:cNvSpPr>
          <p:nvPr/>
        </p:nvSpPr>
        <p:spPr bwMode="auto">
          <a:xfrm>
            <a:off x="4408567" y="4834241"/>
            <a:ext cx="4800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则根据比值审敛法可知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  <p:sp>
        <p:nvSpPr>
          <p:cNvPr id="35" name="Text Box 17"/>
          <p:cNvSpPr txBox="1">
            <a:spLocks noChangeArrowheads="1"/>
          </p:cNvSpPr>
          <p:nvPr/>
        </p:nvSpPr>
        <p:spPr bwMode="auto">
          <a:xfrm>
            <a:off x="3253630" y="5338001"/>
            <a:ext cx="2057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绝对收敛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 Box 67"/>
              <p:cNvSpPr txBox="1">
                <a:spLocks noChangeArrowheads="1"/>
              </p:cNvSpPr>
              <p:nvPr/>
            </p:nvSpPr>
            <p:spPr bwMode="auto">
              <a:xfrm>
                <a:off x="7351034" y="4834241"/>
                <a:ext cx="27432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对任意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原级数</a:t>
                </a:r>
              </a:p>
            </p:txBody>
          </p:sp>
        </mc:Choice>
        <mc:Fallback xmlns="">
          <p:sp>
            <p:nvSpPr>
              <p:cNvPr id="40" name="Text 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1034" y="4834241"/>
                <a:ext cx="2743200" cy="430887"/>
              </a:xfrm>
              <a:prstGeom prst="rect">
                <a:avLst/>
              </a:prstGeom>
              <a:blipFill>
                <a:blip r:embed="rId13"/>
                <a:stretch>
                  <a:fillRect l="-2889" t="-14085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 Box 68"/>
          <p:cNvSpPr txBox="1">
            <a:spLocks noChangeArrowheads="1"/>
          </p:cNvSpPr>
          <p:nvPr/>
        </p:nvSpPr>
        <p:spPr bwMode="auto">
          <a:xfrm>
            <a:off x="4506559" y="5337424"/>
            <a:ext cx="1143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因此</a:t>
            </a:r>
          </a:p>
        </p:txBody>
      </p:sp>
      <p:sp>
        <p:nvSpPr>
          <p:cNvPr id="43" name="Text Box 93"/>
          <p:cNvSpPr txBox="1">
            <a:spLocks noChangeArrowheads="1"/>
          </p:cNvSpPr>
          <p:nvPr/>
        </p:nvSpPr>
        <p:spPr bwMode="auto">
          <a:xfrm>
            <a:off x="3267305" y="4121810"/>
            <a:ext cx="3733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因此级数的收敛半径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94"/>
              <p:cNvSpPr txBox="1"/>
              <p:nvPr/>
            </p:nvSpPr>
            <p:spPr bwMode="auto">
              <a:xfrm>
                <a:off x="5869797" y="3956044"/>
                <a:ext cx="1385033" cy="10584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4" name="Object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9797" y="3956044"/>
                <a:ext cx="1385033" cy="105841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Object 7"/>
              <p:cNvSpPr txBox="1"/>
              <p:nvPr/>
            </p:nvSpPr>
            <p:spPr bwMode="auto">
              <a:xfrm>
                <a:off x="5148192" y="5335841"/>
                <a:ext cx="1707895" cy="6073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=∞.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8192" y="5335841"/>
                <a:ext cx="1707895" cy="607339"/>
              </a:xfrm>
              <a:prstGeom prst="rect">
                <a:avLst/>
              </a:prstGeom>
              <a:blipFill>
                <a:blip r:embed="rId15"/>
                <a:stretch>
                  <a:fillRect l="-3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875767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3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03" grpId="0"/>
      <p:bldP spid="14356" grpId="0" build="p" autoUpdateAnimBg="0"/>
      <p:bldP spid="14360" grpId="0" build="p" autoUpdateAnimBg="0"/>
      <p:bldP spid="14363" grpId="0" build="p" autoUpdateAnimBg="0"/>
      <p:bldP spid="14364" grpId="0" build="p" autoUpdateAnimBg="0"/>
      <p:bldP spid="14366" grpId="0"/>
      <p:bldP spid="14369" grpId="0" build="p" autoUpdateAnimBg="0"/>
      <p:bldP spid="14370" grpId="0" build="p" autoUpdateAnimBg="0"/>
      <p:bldP spid="14371" grpId="0"/>
      <p:bldP spid="14376" grpId="0" build="p" autoUpdateAnimBg="0"/>
      <p:bldP spid="14365" grpId="0"/>
      <p:bldP spid="14367" grpId="0" build="p" autoUpdateAnimBg="0"/>
      <p:bldP spid="14368" grpId="0"/>
      <p:bldP spid="14386" grpId="0" build="p" autoUpdateAnimBg="0" advAuto="0"/>
      <p:bldP spid="14372" grpId="0" build="p" autoUpdateAnimBg="0"/>
      <p:bldP spid="14387" grpId="0" build="p" autoUpdateAnimBg="0" advAuto="0"/>
      <p:bldP spid="14405" grpId="0"/>
      <p:bldP spid="31" grpId="0" autoUpdateAnimBg="0"/>
      <p:bldP spid="32" grpId="0"/>
      <p:bldP spid="33" grpId="0" autoUpdateAnimBg="0"/>
      <p:bldP spid="35" grpId="0" autoUpdateAnimBg="0"/>
      <p:bldP spid="40" grpId="0" autoUpdateAnimBg="0"/>
      <p:bldP spid="41" grpId="0" autoUpdateAnimBg="0"/>
      <p:bldP spid="43" grpId="0"/>
      <p:bldP spid="44" grpId="0"/>
      <p:bldP spid="4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E2AFB03-C042-9AC9-E082-B3A67DB3837A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6586794D-C955-550C-9C75-5078B03750B6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824BFDB-48BC-A689-1E5B-189E54A39FB3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4C718B55-6F65-EAE6-E659-9D56E80997A3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1A842FEB-9CED-50C9-9239-6E5532FB07FA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474C0558-7DDA-38A5-4212-69E95516966A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432" name="Rectangle 72"/>
          <p:cNvSpPr>
            <a:spLocks noChangeArrowheads="1"/>
          </p:cNvSpPr>
          <p:nvPr/>
        </p:nvSpPr>
        <p:spPr bwMode="auto">
          <a:xfrm>
            <a:off x="3395345" y="3753400"/>
            <a:ext cx="5659800" cy="1300200"/>
          </a:xfrm>
          <a:prstGeom prst="rect">
            <a:avLst/>
          </a:prstGeom>
          <a:noFill/>
          <a:ln w="28575">
            <a:solidFill>
              <a:srgbClr val="04926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0052A4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33" name="Object 73"/>
              <p:cNvSpPr txBox="1"/>
              <p:nvPr/>
            </p:nvSpPr>
            <p:spPr bwMode="auto">
              <a:xfrm>
                <a:off x="3729887" y="3854807"/>
                <a:ext cx="1219200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5433" name="Object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29887" y="3854807"/>
                <a:ext cx="1219200" cy="1041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46" name="Text Box 86"/>
          <p:cNvSpPr txBox="1">
            <a:spLocks noChangeArrowheads="1"/>
          </p:cNvSpPr>
          <p:nvPr/>
        </p:nvSpPr>
        <p:spPr bwMode="auto">
          <a:xfrm>
            <a:off x="4851117" y="4160063"/>
            <a:ext cx="2438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的收敛半径为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48" name="Text Box 88"/>
              <p:cNvSpPr txBox="1">
                <a:spLocks noChangeArrowheads="1"/>
              </p:cNvSpPr>
              <p:nvPr/>
            </p:nvSpPr>
            <p:spPr bwMode="auto">
              <a:xfrm>
                <a:off x="3286329" y="2944102"/>
                <a:ext cx="27432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1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说明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200" b="1" dirty="0">
                        <a:solidFill>
                          <a:srgbClr val="04926A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据此定理</a:t>
                </a:r>
              </a:p>
            </p:txBody>
          </p:sp>
        </mc:Choice>
        <mc:Fallback xmlns="">
          <p:sp>
            <p:nvSpPr>
              <p:cNvPr id="15448" name="Text 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6329" y="2944102"/>
                <a:ext cx="2743200" cy="430887"/>
              </a:xfrm>
              <a:prstGeom prst="rect">
                <a:avLst/>
              </a:prstGeom>
              <a:blipFill>
                <a:blip r:embed="rId4"/>
                <a:stretch>
                  <a:fillRect l="-2889" t="-14085" b="-225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52" name="Object 92"/>
              <p:cNvSpPr txBox="1"/>
              <p:nvPr/>
            </p:nvSpPr>
            <p:spPr bwMode="auto">
              <a:xfrm>
                <a:off x="6619137" y="3962757"/>
                <a:ext cx="2692277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5452" name="Object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19137" y="3962757"/>
                <a:ext cx="2692277" cy="10287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20"/>
              <p:cNvSpPr txBox="1">
                <a:spLocks noChangeArrowheads="1"/>
              </p:cNvSpPr>
              <p:nvPr/>
            </p:nvSpPr>
            <p:spPr bwMode="auto">
              <a:xfrm>
                <a:off x="2788786" y="1570501"/>
                <a:ext cx="12954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begChr m:val="（"/>
                        <m:endChr m:val="）"/>
                        <m:ctrlPr>
                          <a:rPr lang="zh-CN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 若</a:t>
                </a:r>
              </a:p>
            </p:txBody>
          </p:sp>
        </mc:Choice>
        <mc:Fallback xmlns="">
          <p:sp>
            <p:nvSpPr>
              <p:cNvPr id="22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8786" y="1570501"/>
                <a:ext cx="1295400" cy="430887"/>
              </a:xfrm>
              <a:prstGeom prst="rect">
                <a:avLst/>
              </a:prstGeom>
              <a:blipFill>
                <a:blip r:embed="rId6"/>
                <a:stretch>
                  <a:fillRect t="-14286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21"/>
              <p:cNvSpPr txBox="1"/>
              <p:nvPr/>
            </p:nvSpPr>
            <p:spPr bwMode="auto">
              <a:xfrm>
                <a:off x="3642647" y="1552781"/>
                <a:ext cx="1549279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=∞,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3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2647" y="1552781"/>
                <a:ext cx="1549279" cy="519113"/>
              </a:xfrm>
              <a:prstGeom prst="rect">
                <a:avLst/>
              </a:prstGeom>
              <a:blipFill>
                <a:blip r:embed="rId7"/>
                <a:stretch>
                  <a:fillRect l="-7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24"/>
              <p:cNvSpPr txBox="1">
                <a:spLocks noChangeArrowheads="1"/>
              </p:cNvSpPr>
              <p:nvPr/>
            </p:nvSpPr>
            <p:spPr bwMode="auto">
              <a:xfrm>
                <a:off x="4538321" y="1570102"/>
                <a:ext cx="61722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则对除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= 0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以外的一切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原级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数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发散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</a:t>
                </a:r>
              </a:p>
            </p:txBody>
          </p:sp>
        </mc:Choice>
        <mc:Fallback xmlns="">
          <p:sp>
            <p:nvSpPr>
              <p:cNvPr id="24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8321" y="1570102"/>
                <a:ext cx="6172200" cy="430887"/>
              </a:xfrm>
              <a:prstGeom prst="rect">
                <a:avLst/>
              </a:prstGeom>
              <a:blipFill>
                <a:blip r:embed="rId8"/>
                <a:stretch>
                  <a:fillRect l="-1283" t="-14286" b="-285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2"/>
              <p:cNvSpPr txBox="1"/>
              <p:nvPr/>
            </p:nvSpPr>
            <p:spPr bwMode="auto">
              <a:xfrm>
                <a:off x="3934029" y="2252807"/>
                <a:ext cx="1295400" cy="5068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5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4029" y="2252807"/>
                <a:ext cx="1295400" cy="506807"/>
              </a:xfrm>
              <a:prstGeom prst="rect">
                <a:avLst/>
              </a:prstGeom>
              <a:blipFill>
                <a:blip r:embed="rId9"/>
                <a:stretch>
                  <a:fillRect l="-4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Box 69"/>
          <p:cNvSpPr txBox="1">
            <a:spLocks noChangeArrowheads="1"/>
          </p:cNvSpPr>
          <p:nvPr/>
        </p:nvSpPr>
        <p:spPr bwMode="auto">
          <a:xfrm>
            <a:off x="3286329" y="2252807"/>
            <a:ext cx="1295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因此 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9928803-B20D-ED0C-F3E5-5BB344E5995F}"/>
              </a:ext>
            </a:extLst>
          </p:cNvPr>
          <p:cNvGrpSpPr/>
          <p:nvPr/>
        </p:nvGrpSpPr>
        <p:grpSpPr>
          <a:xfrm>
            <a:off x="5028721" y="2276271"/>
            <a:ext cx="716209" cy="360271"/>
            <a:chOff x="1553" y="3803"/>
            <a:chExt cx="1165" cy="579"/>
          </a:xfrm>
        </p:grpSpPr>
        <p:sp>
          <p:nvSpPr>
            <p:cNvPr id="11" name="圆角矩形 21">
              <a:extLst>
                <a:ext uri="{FF2B5EF4-FFF2-40B4-BE49-F238E27FC236}">
                  <a16:creationId xmlns:a16="http://schemas.microsoft.com/office/drawing/2014/main" id="{79C8C2C7-4F3C-8211-5F50-38021820A9A7}"/>
                </a:ext>
              </a:extLst>
            </p:cNvPr>
            <p:cNvSpPr/>
            <p:nvPr/>
          </p:nvSpPr>
          <p:spPr>
            <a:xfrm>
              <a:off x="1553" y="3803"/>
              <a:ext cx="1131" cy="579"/>
            </a:xfrm>
            <a:prstGeom prst="roundRect">
              <a:avLst>
                <a:gd name="adj" fmla="val 0"/>
              </a:avLst>
            </a:prstGeom>
            <a:solidFill>
              <a:srgbClr val="04926A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Text Box 28">
              <a:extLst>
                <a:ext uri="{FF2B5EF4-FFF2-40B4-BE49-F238E27FC236}">
                  <a16:creationId xmlns:a16="http://schemas.microsoft.com/office/drawing/2014/main" id="{349B482B-6777-D872-BBE2-8E23F4343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17"/>
              <a:ext cx="1068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+mj-cs"/>
                </a:rPr>
                <a:t>证毕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099801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33" grpId="0"/>
      <p:bldP spid="15446" grpId="0" autoUpdateAnimBg="0"/>
      <p:bldP spid="15448" grpId="0" autoUpdateAnimBg="0"/>
      <p:bldP spid="15452" grpId="0"/>
      <p:bldP spid="22" grpId="0" autoUpdateAnimBg="0"/>
      <p:bldP spid="23" grpId="0"/>
      <p:bldP spid="24" grpId="0" autoUpdateAnimBg="0"/>
      <p:bldP spid="25" grpId="0"/>
      <p:bldP spid="2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1BE40A0-18C4-A5AE-F01C-4F5AA9E4E452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4053211C-8B8D-442E-5BFE-6AA77F99459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FC9AA309-998F-CAB4-5356-2071E2633FF6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BFB5C975-E905-F4F3-18EA-42E604BF0E04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C2691B9A-D031-765D-3F39-A04A4D48BD93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5C7EC4BD-30BA-A407-CB35-DB5CDDFDFE3F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733" name="Text Box 37"/>
              <p:cNvSpPr txBox="1">
                <a:spLocks noChangeArrowheads="1"/>
              </p:cNvSpPr>
              <p:nvPr/>
            </p:nvSpPr>
            <p:spPr bwMode="auto">
              <a:xfrm>
                <a:off x="2931318" y="5004933"/>
                <a:ext cx="20447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对端点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200" dirty="0">
                    <a:latin typeface="Cambria Math" panose="02040503050406030204" pitchFamily="18" charset="0"/>
                  </a:rPr>
                  <a:t>=</a:t>
                </a:r>
                <a:r>
                  <a:rPr lang="zh-CN" altLang="en-US" sz="2200" dirty="0">
                    <a:latin typeface="Cambria Math" panose="02040503050406030204" pitchFamily="18" charset="0"/>
                  </a:rPr>
                  <a:t>－</a:t>
                </a:r>
                <a:r>
                  <a:rPr lang="en-US" altLang="zh-CN" sz="2200" dirty="0">
                    <a:latin typeface="Cambria Math" panose="02040503050406030204" pitchFamily="18" charset="0"/>
                  </a:rPr>
                  <a:t>1,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29733" name="Text 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1318" y="5004933"/>
                <a:ext cx="2044700" cy="430887"/>
              </a:xfrm>
              <a:prstGeom prst="rect">
                <a:avLst/>
              </a:prstGeom>
              <a:blipFill>
                <a:blip r:embed="rId4"/>
                <a:stretch>
                  <a:fillRect l="-3881" t="-14085" b="-281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34" name="Object 38"/>
              <p:cNvSpPr txBox="1"/>
              <p:nvPr/>
            </p:nvSpPr>
            <p:spPr bwMode="auto">
              <a:xfrm>
                <a:off x="2975166" y="2492576"/>
                <a:ext cx="2537245" cy="10614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zh-CN" altLang="en-US" sz="22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den>
                                  </m:f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</m:m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34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5166" y="2492576"/>
                <a:ext cx="2537245" cy="1061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16" name="Object 20"/>
              <p:cNvSpPr txBox="1"/>
              <p:nvPr/>
            </p:nvSpPr>
            <p:spPr bwMode="auto">
              <a:xfrm>
                <a:off x="4387844" y="620839"/>
                <a:ext cx="5764664" cy="11465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−⋯+(−1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9716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7844" y="620839"/>
                <a:ext cx="5764664" cy="1146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17" name="Text Box 21"/>
          <p:cNvSpPr txBox="1">
            <a:spLocks noChangeArrowheads="1"/>
          </p:cNvSpPr>
          <p:nvPr/>
        </p:nvSpPr>
        <p:spPr bwMode="auto">
          <a:xfrm>
            <a:off x="2931318" y="1626495"/>
            <a:ext cx="373618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的收敛半径及收敛域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29718" name="Text Box 22"/>
          <p:cNvSpPr txBox="1">
            <a:spLocks noChangeArrowheads="1"/>
          </p:cNvSpPr>
          <p:nvPr/>
        </p:nvSpPr>
        <p:spPr bwMode="auto">
          <a:xfrm>
            <a:off x="1907485" y="2727320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20" name="Object 24"/>
              <p:cNvSpPr txBox="1"/>
              <p:nvPr/>
            </p:nvSpPr>
            <p:spPr bwMode="auto">
              <a:xfrm>
                <a:off x="5870210" y="2994222"/>
                <a:ext cx="827712" cy="8134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20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70210" y="2994222"/>
                <a:ext cx="827712" cy="8134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21" name="Object 25"/>
              <p:cNvSpPr txBox="1"/>
              <p:nvPr/>
            </p:nvSpPr>
            <p:spPr bwMode="auto">
              <a:xfrm>
                <a:off x="6111247" y="2183231"/>
                <a:ext cx="412750" cy="8134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21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247" y="2183231"/>
                <a:ext cx="412750" cy="81347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22" name="Object 26"/>
              <p:cNvSpPr txBox="1"/>
              <p:nvPr/>
            </p:nvSpPr>
            <p:spPr bwMode="auto">
              <a:xfrm>
                <a:off x="6745598" y="2756271"/>
                <a:ext cx="1346200" cy="7087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2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45598" y="2756271"/>
                <a:ext cx="1346200" cy="70870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24" name="Text Box 28"/>
              <p:cNvSpPr txBox="1">
                <a:spLocks noChangeArrowheads="1"/>
              </p:cNvSpPr>
              <p:nvPr/>
            </p:nvSpPr>
            <p:spPr bwMode="auto">
              <a:xfrm>
                <a:off x="2931319" y="3982460"/>
                <a:ext cx="4074538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对端点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CN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= 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1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 </a:t>
                </a:r>
                <a:r>
                  <a:rPr kumimoji="1" lang="zh-CN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级数为交错级数</a:t>
                </a: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29724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31319" y="3982460"/>
                <a:ext cx="4074538" cy="430887"/>
              </a:xfrm>
              <a:prstGeom prst="rect">
                <a:avLst/>
              </a:prstGeom>
              <a:blipFill>
                <a:blip r:embed="rId10"/>
                <a:stretch>
                  <a:fillRect l="-1946" t="-12676" b="-281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725" name="Object 29"/>
              <p:cNvSpPr txBox="1"/>
              <p:nvPr/>
            </p:nvSpPr>
            <p:spPr bwMode="auto">
              <a:xfrm>
                <a:off x="6510623" y="3682765"/>
                <a:ext cx="1905000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25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10623" y="3682765"/>
                <a:ext cx="1905000" cy="10287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26" name="Text Box 30"/>
          <p:cNvSpPr txBox="1">
            <a:spLocks noChangeArrowheads="1"/>
          </p:cNvSpPr>
          <p:nvPr/>
        </p:nvSpPr>
        <p:spPr bwMode="auto">
          <a:xfrm>
            <a:off x="8330814" y="3974071"/>
            <a:ext cx="1219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收敛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;</a:t>
            </a:r>
            <a:r>
              <a:rPr kumimoji="1" lang="zh-CN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9727" name="Text Box 31"/>
          <p:cNvSpPr txBox="1">
            <a:spLocks noChangeArrowheads="1"/>
          </p:cNvSpPr>
          <p:nvPr/>
        </p:nvSpPr>
        <p:spPr bwMode="auto">
          <a:xfrm>
            <a:off x="4758575" y="5004933"/>
            <a:ext cx="111163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级数为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29" name="Object 33"/>
              <p:cNvSpPr txBox="1"/>
              <p:nvPr/>
            </p:nvSpPr>
            <p:spPr bwMode="auto">
              <a:xfrm>
                <a:off x="5628499" y="4700587"/>
                <a:ext cx="1641138" cy="11600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29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28499" y="4700587"/>
                <a:ext cx="1641138" cy="116003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30" name="Text Box 34"/>
          <p:cNvSpPr txBox="1">
            <a:spLocks noChangeArrowheads="1"/>
          </p:cNvSpPr>
          <p:nvPr/>
        </p:nvSpPr>
        <p:spPr bwMode="auto">
          <a:xfrm>
            <a:off x="6652753" y="5004933"/>
            <a:ext cx="1295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发散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31" name="Object 35"/>
              <p:cNvSpPr txBox="1"/>
              <p:nvPr/>
            </p:nvSpPr>
            <p:spPr bwMode="auto">
              <a:xfrm>
                <a:off x="4396261" y="5768934"/>
                <a:ext cx="1498379" cy="45791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(−1, 1].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31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6261" y="5768934"/>
                <a:ext cx="1498379" cy="457915"/>
              </a:xfrm>
              <a:prstGeom prst="rect">
                <a:avLst/>
              </a:prstGeom>
              <a:blipFill>
                <a:blip r:embed="rId13"/>
                <a:stretch>
                  <a:fillRect l="-2439" b="-13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32" name="Text Box 36"/>
          <p:cNvSpPr txBox="1">
            <a:spLocks noChangeArrowheads="1"/>
          </p:cNvSpPr>
          <p:nvPr/>
        </p:nvSpPr>
        <p:spPr bwMode="auto">
          <a:xfrm>
            <a:off x="2931318" y="5787573"/>
            <a:ext cx="164113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故收敛域为</a:t>
            </a:r>
          </a:p>
        </p:txBody>
      </p:sp>
      <p:sp>
        <p:nvSpPr>
          <p:cNvPr id="29735" name="Rectangle 39"/>
          <p:cNvSpPr>
            <a:spLocks noGrp="1" noChangeArrowheads="1"/>
          </p:cNvSpPr>
          <p:nvPr>
            <p:ph type="title" idx="4294967295"/>
          </p:nvPr>
        </p:nvSpPr>
        <p:spPr>
          <a:xfrm>
            <a:off x="1905000" y="978880"/>
            <a:ext cx="2700323" cy="447724"/>
          </a:xfrm>
          <a:prstGeom prst="rect">
            <a:avLst/>
          </a:prstGeom>
        </p:spPr>
        <p:txBody>
          <a:bodyPr/>
          <a:lstStyle/>
          <a:p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  </a:t>
            </a:r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求幂级数</a:t>
            </a:r>
            <a:endParaRPr lang="zh-CN" altLang="en-US" sz="2800" b="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37" name="Object 41"/>
              <p:cNvSpPr txBox="1"/>
              <p:nvPr/>
            </p:nvSpPr>
            <p:spPr bwMode="auto">
              <a:xfrm>
                <a:off x="5008247" y="2756179"/>
                <a:ext cx="2265987" cy="6744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</m:num>
                            <m:den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9737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8247" y="2756179"/>
                <a:ext cx="2265987" cy="67445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38" name="Text Box 42"/>
          <p:cNvSpPr txBox="1">
            <a:spLocks noChangeArrowheads="1"/>
          </p:cNvSpPr>
          <p:nvPr/>
        </p:nvSpPr>
        <p:spPr bwMode="auto">
          <a:xfrm>
            <a:off x="5805488" y="1498701"/>
            <a:ext cx="27443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22338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9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33" grpId="0" autoUpdateAnimBg="0"/>
      <p:bldP spid="29734" grpId="0"/>
      <p:bldP spid="29716" grpId="0"/>
      <p:bldP spid="29717" grpId="0" autoUpdateAnimBg="0"/>
      <p:bldP spid="29718" grpId="0" autoUpdateAnimBg="0"/>
      <p:bldP spid="29720" grpId="0"/>
      <p:bldP spid="29721" grpId="0"/>
      <p:bldP spid="29722" grpId="0"/>
      <p:bldP spid="29724" grpId="0" autoUpdateAnimBg="0"/>
      <p:bldP spid="29725" grpId="0"/>
      <p:bldP spid="29726" grpId="0" autoUpdateAnimBg="0"/>
      <p:bldP spid="29727" grpId="0" autoUpdateAnimBg="0"/>
      <p:bldP spid="29729" grpId="0"/>
      <p:bldP spid="29730" grpId="0" autoUpdateAnimBg="0"/>
      <p:bldP spid="29731" grpId="0"/>
      <p:bldP spid="29732" grpId="0" autoUpdateAnimBg="0"/>
      <p:bldP spid="29735" grpId="0"/>
      <p:bldP spid="29737" grpId="0"/>
      <p:bldP spid="29738" grpId="0" build="p" autoUpdateAnimBg="0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837F510D-7E78-901C-4237-8AB643C9E01B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BC09D96C-AF9C-A66B-A8EE-33D91391A54A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F744F7E4-128F-4DCE-1D72-22C5A546A667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1CD91847-8450-2F48-B094-0C04FEBE7FC7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BA56976B-DA1C-F771-3BB7-0058F221F2F6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CF68EBE3-39AC-2DA9-FB16-42F565D3EA96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386" name="Rectangle 2"/>
              <p:cNvSpPr>
                <a:spLocks noGrp="1" noChangeArrowheads="1"/>
              </p:cNvSpPr>
              <p:nvPr>
                <p:ph type="title" idx="4294967295"/>
              </p:nvPr>
            </p:nvSpPr>
            <p:spPr>
              <a:xfrm>
                <a:off x="2014611" y="824615"/>
                <a:ext cx="5004213" cy="685800"/>
              </a:xfrm>
              <a:prstGeom prst="rect">
                <a:avLst/>
              </a:prstGeom>
            </p:spPr>
            <p:txBody>
              <a:bodyPr/>
              <a:lstStyle/>
              <a:p>
                <a:pPr algn="l"/>
                <a:r>
                  <a:rPr lang="zh-CN" altLang="en-US" sz="280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例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 </a:t>
                </a:r>
                <a:r>
                  <a:rPr lang="en-US" altLang="zh-CN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</a:t>
                </a:r>
                <a:r>
                  <a:rPr lang="en-US" altLang="zh-CN" sz="2800" dirty="0">
                    <a:ea typeface="黑体" panose="02010609060101010101" pitchFamily="49" charset="-122"/>
                  </a:rPr>
                  <a:t> </a:t>
                </a:r>
                <a:r>
                  <a:rPr lang="zh-CN" altLang="en-US" sz="2800" b="0" dirty="0">
                    <a:solidFill>
                      <a:schemeClr val="tx1"/>
                    </a:solidFill>
                    <a:ea typeface="黑体" panose="02010609060101010101" pitchFamily="49" charset="-122"/>
                  </a:rPr>
                  <a:t>求下列幂级数的收敛域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lang="en-US" altLang="zh-CN" sz="2800" b="0" dirty="0"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386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 idx="4294967295"/>
              </p:nvPr>
            </p:nvSpPr>
            <p:spPr>
              <a:xfrm>
                <a:off x="2014611" y="824615"/>
                <a:ext cx="5004213" cy="685800"/>
              </a:xfrm>
              <a:prstGeom prst="rect">
                <a:avLst/>
              </a:prstGeom>
              <a:blipFill>
                <a:blip r:embed="rId4"/>
                <a:stretch>
                  <a:fillRect l="-2436" t="-6195" b="-6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87" name="Object 3"/>
              <p:cNvSpPr txBox="1"/>
              <p:nvPr/>
            </p:nvSpPr>
            <p:spPr bwMode="auto">
              <a:xfrm>
                <a:off x="2907470" y="1485568"/>
                <a:ext cx="5280855" cy="13542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(1)  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; (2)  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e>
                      </m:nary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38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7470" y="1485568"/>
                <a:ext cx="5280855" cy="13542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2014611" y="3179101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200" dirty="0">
              <a:solidFill>
                <a:srgbClr val="000000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9" name="Object 5"/>
              <p:cNvSpPr txBox="1"/>
              <p:nvPr/>
            </p:nvSpPr>
            <p:spPr bwMode="auto">
              <a:xfrm>
                <a:off x="3441400" y="3032862"/>
                <a:ext cx="4670425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∵  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</m:num>
                            <m:den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38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1400" y="3032862"/>
                <a:ext cx="4670425" cy="10287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0" name="Object 6"/>
              <p:cNvSpPr txBox="1"/>
              <p:nvPr/>
            </p:nvSpPr>
            <p:spPr bwMode="auto">
              <a:xfrm>
                <a:off x="7019459" y="2730877"/>
                <a:ext cx="506437" cy="6256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39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9459" y="2730877"/>
                <a:ext cx="506437" cy="625605"/>
              </a:xfrm>
              <a:prstGeom prst="rect">
                <a:avLst/>
              </a:prstGeom>
              <a:blipFill>
                <a:blip r:embed="rId7"/>
                <a:stretch>
                  <a:fillRect b="-77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2" name="Object 8"/>
              <p:cNvSpPr txBox="1"/>
              <p:nvPr/>
            </p:nvSpPr>
            <p:spPr bwMode="auto">
              <a:xfrm>
                <a:off x="7760110" y="3237524"/>
                <a:ext cx="25146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39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60110" y="3237524"/>
                <a:ext cx="2514600" cy="8509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3" name="Object 9"/>
              <p:cNvSpPr txBox="1"/>
              <p:nvPr/>
            </p:nvSpPr>
            <p:spPr bwMode="auto">
              <a:xfrm>
                <a:off x="9506100" y="3241298"/>
                <a:ext cx="685800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=∞,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39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06100" y="3241298"/>
                <a:ext cx="685800" cy="317500"/>
              </a:xfrm>
              <a:prstGeom prst="rect">
                <a:avLst/>
              </a:prstGeom>
              <a:blipFill>
                <a:blip r:embed="rId9"/>
                <a:stretch>
                  <a:fillRect r="-2655" b="-230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2890911" y="4239437"/>
            <a:ext cx="2590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所以收敛域为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95" name="Object 11"/>
              <p:cNvSpPr txBox="1"/>
              <p:nvPr/>
            </p:nvSpPr>
            <p:spPr bwMode="auto">
              <a:xfrm>
                <a:off x="4632141" y="4212260"/>
                <a:ext cx="1651001" cy="430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(−∞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+∞).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39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32141" y="4212260"/>
                <a:ext cx="1651001" cy="430887"/>
              </a:xfrm>
              <a:prstGeom prst="rect">
                <a:avLst/>
              </a:prstGeom>
              <a:blipFill>
                <a:blip r:embed="rId10"/>
                <a:stretch>
                  <a:fillRect l="-2583" b="-183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2890911" y="4921682"/>
            <a:ext cx="838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仿宋_GB2312" pitchFamily="49" charset="-122"/>
                <a:cs typeface="+mn-cs"/>
              </a:rPr>
              <a:t>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97" name="Object 13"/>
              <p:cNvSpPr txBox="1"/>
              <p:nvPr/>
            </p:nvSpPr>
            <p:spPr bwMode="auto">
              <a:xfrm>
                <a:off x="3447750" y="4831402"/>
                <a:ext cx="4822825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∵  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</m:mr>
                                <m:mr>
                                  <m:e/>
                                </m:mr>
                              </m:m>
                            </m:e>
                          </m:d>
                        </m:e>
                      </m:func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m:rPr>
                                  <m:nor/>
                                </m:r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</m:t>
                              </m:r>
                            </m:num>
                            <m:den>
                              <m:r>
                                <a:rPr lang="en-US" altLang="zh-CN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39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7750" y="4831402"/>
                <a:ext cx="4822825" cy="9525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8" name="Object 14"/>
              <p:cNvSpPr txBox="1"/>
              <p:nvPr/>
            </p:nvSpPr>
            <p:spPr bwMode="auto">
              <a:xfrm>
                <a:off x="7170034" y="4732496"/>
                <a:ext cx="465040" cy="4516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398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70034" y="4732496"/>
                <a:ext cx="465040" cy="45166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9" name="Object 15"/>
              <p:cNvSpPr txBox="1"/>
              <p:nvPr/>
            </p:nvSpPr>
            <p:spPr bwMode="auto">
              <a:xfrm>
                <a:off x="6806655" y="5165525"/>
                <a:ext cx="1195856" cy="403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+1)!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399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06655" y="5165525"/>
                <a:ext cx="1195856" cy="403225"/>
              </a:xfrm>
              <a:prstGeom prst="rect">
                <a:avLst/>
              </a:prstGeom>
              <a:blipFill>
                <a:blip r:embed="rId13"/>
                <a:stretch>
                  <a:fillRect l="-3571" b="-253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00" name="Object 16"/>
              <p:cNvSpPr txBox="1"/>
              <p:nvPr/>
            </p:nvSpPr>
            <p:spPr bwMode="auto">
              <a:xfrm>
                <a:off x="7834110" y="4782265"/>
                <a:ext cx="16256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400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34110" y="4782265"/>
                <a:ext cx="1625600" cy="8509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01" name="Object 17"/>
              <p:cNvSpPr txBox="1"/>
              <p:nvPr/>
            </p:nvSpPr>
            <p:spPr bwMode="auto">
              <a:xfrm>
                <a:off x="9360256" y="4953222"/>
                <a:ext cx="5969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2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401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60256" y="4953222"/>
                <a:ext cx="596900" cy="393700"/>
              </a:xfrm>
              <a:prstGeom prst="rect">
                <a:avLst/>
              </a:prstGeom>
              <a:blipFill>
                <a:blip r:embed="rId15"/>
                <a:stretch>
                  <a:fillRect r="-5102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02" name="Text Box 18"/>
              <p:cNvSpPr txBox="1">
                <a:spLocks noChangeArrowheads="1"/>
              </p:cNvSpPr>
              <p:nvPr/>
            </p:nvSpPr>
            <p:spPr bwMode="auto">
              <a:xfrm>
                <a:off x="2890911" y="5713510"/>
                <a:ext cx="47244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所以级数仅在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2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= 0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处收敛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640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0911" y="5713510"/>
                <a:ext cx="4724400" cy="430887"/>
              </a:xfrm>
              <a:prstGeom prst="rect">
                <a:avLst/>
              </a:prstGeom>
              <a:blipFill>
                <a:blip r:embed="rId16"/>
                <a:stretch>
                  <a:fillRect l="-1677" t="-12676" b="-281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6806655" y="874329"/>
            <a:ext cx="2286000" cy="528638"/>
          </a:xfrm>
          <a:prstGeom prst="rect">
            <a:avLst/>
          </a:prstGeom>
          <a:solidFill>
            <a:srgbClr val="CDE9E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规定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: 0 ! =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07" name="Object 23"/>
              <p:cNvSpPr txBox="1"/>
              <p:nvPr/>
            </p:nvSpPr>
            <p:spPr bwMode="auto">
              <a:xfrm>
                <a:off x="6657369" y="3491948"/>
                <a:ext cx="1211693" cy="8105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+1)!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407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7369" y="3491948"/>
                <a:ext cx="1211693" cy="81055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12">
            <a:extLst>
              <a:ext uri="{FF2B5EF4-FFF2-40B4-BE49-F238E27FC236}">
                <a16:creationId xmlns:a16="http://schemas.microsoft.com/office/drawing/2014/main" id="{A8CEB07E-FE4A-E13F-1FA6-C7C4075C3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0911" y="3223214"/>
            <a:ext cx="838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仿宋_GB2312" pitchFamily="49" charset="-122"/>
                <a:cs typeface="+mn-cs"/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4661355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/>
      <p:bldP spid="16387" grpId="0"/>
      <p:bldP spid="16388" grpId="0" autoUpdateAnimBg="0"/>
      <p:bldP spid="16389" grpId="0"/>
      <p:bldP spid="16390" grpId="0"/>
      <p:bldP spid="16392" grpId="0"/>
      <p:bldP spid="16393" grpId="0"/>
      <p:bldP spid="16394" grpId="0" autoUpdateAnimBg="0"/>
      <p:bldP spid="16395" grpId="0"/>
      <p:bldP spid="16396" grpId="0" autoUpdateAnimBg="0"/>
      <p:bldP spid="16397" grpId="0"/>
      <p:bldP spid="16398" grpId="0"/>
      <p:bldP spid="16399" grpId="0"/>
      <p:bldP spid="16400" grpId="0"/>
      <p:bldP spid="16401" grpId="0"/>
      <p:bldP spid="16402" grpId="0" autoUpdateAnimBg="0"/>
      <p:bldP spid="16405" grpId="0" animBg="1" autoUpdateAnimBg="0"/>
      <p:bldP spid="16407" grpId="0"/>
      <p:bldP spid="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9FC2EB0-D4EB-864C-0A53-902BFE1EDD3B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62D3326F-5234-1F4F-F9B3-D758D9312F81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5E84CEBE-0A73-7931-6796-80A3F8F9129B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F4B5FA83-2DBB-8BC4-865F-6BBD9D30C39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C212BF4B-F16B-87C7-235D-12D2873D902F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7B8F206F-4D3A-59BA-DD91-3BB3C8BEBE7D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95510" y="943887"/>
            <a:ext cx="990600" cy="533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Object 3"/>
              <p:cNvSpPr txBox="1"/>
              <p:nvPr/>
            </p:nvSpPr>
            <p:spPr bwMode="auto">
              <a:xfrm>
                <a:off x="2926987" y="540665"/>
                <a:ext cx="4375151" cy="13668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求幂级数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)!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41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6987" y="540665"/>
                <a:ext cx="4375151" cy="13668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6470381" y="890685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的收敛半径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2095509" y="1719339"/>
            <a:ext cx="749720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 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级数缺少奇次幂项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不能直接应用定理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2,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2881617" y="2217966"/>
            <a:ext cx="4038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比值审敛法求收敛半径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5" name="Object 7"/>
              <p:cNvSpPr txBox="1"/>
              <p:nvPr/>
            </p:nvSpPr>
            <p:spPr bwMode="auto">
              <a:xfrm>
                <a:off x="3503067" y="2941141"/>
                <a:ext cx="5384800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     </m:t>
                              </m:r>
                            </m:num>
                            <m:den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1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3067" y="2941141"/>
                <a:ext cx="5384800" cy="10287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6" name="Object 8"/>
              <p:cNvSpPr txBox="1"/>
              <p:nvPr/>
            </p:nvSpPr>
            <p:spPr bwMode="auto">
              <a:xfrm>
                <a:off x="6184518" y="2527034"/>
                <a:ext cx="2387611" cy="8410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[2(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+1)]</m:t>
                          </m:r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+1) !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1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84518" y="2527034"/>
                <a:ext cx="2387611" cy="8410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7" name="Object 9"/>
              <p:cNvSpPr txBox="1"/>
              <p:nvPr/>
            </p:nvSpPr>
            <p:spPr bwMode="auto">
              <a:xfrm>
                <a:off x="6803818" y="3336496"/>
                <a:ext cx="993775" cy="8683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 [2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 !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1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03818" y="3336496"/>
                <a:ext cx="993775" cy="8683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9" name="Object 11"/>
              <p:cNvSpPr txBox="1"/>
              <p:nvPr/>
            </p:nvSpPr>
            <p:spPr bwMode="auto">
              <a:xfrm>
                <a:off x="5274717" y="4190338"/>
                <a:ext cx="39116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)(2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+2)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+1 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1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74717" y="4190338"/>
                <a:ext cx="3911600" cy="965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20" name="Object 12"/>
              <p:cNvSpPr txBox="1"/>
              <p:nvPr/>
            </p:nvSpPr>
            <p:spPr bwMode="auto">
              <a:xfrm>
                <a:off x="8551317" y="4356421"/>
                <a:ext cx="10414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20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51317" y="4356421"/>
                <a:ext cx="1041400" cy="4699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22" name="Object 14"/>
              <p:cNvSpPr txBox="1"/>
              <p:nvPr/>
            </p:nvSpPr>
            <p:spPr bwMode="auto">
              <a:xfrm>
                <a:off x="2875757" y="5103856"/>
                <a:ext cx="1744991" cy="4387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 4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22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5757" y="5103856"/>
                <a:ext cx="1744991" cy="438709"/>
              </a:xfrm>
              <a:prstGeom prst="rect">
                <a:avLst/>
              </a:prstGeom>
              <a:blipFill>
                <a:blip r:embed="rId10"/>
                <a:stretch>
                  <a:fillRect l="-2448" b="-97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5429031" y="5111678"/>
            <a:ext cx="170532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时级数收敛</a:t>
            </a:r>
          </a:p>
        </p:txBody>
      </p:sp>
      <p:sp>
        <p:nvSpPr>
          <p:cNvPr id="17426" name="Text Box 18"/>
          <p:cNvSpPr txBox="1">
            <a:spLocks noChangeArrowheads="1"/>
          </p:cNvSpPr>
          <p:nvPr/>
        </p:nvSpPr>
        <p:spPr bwMode="auto">
          <a:xfrm>
            <a:off x="5429031" y="5778492"/>
            <a:ext cx="169139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时级数发散  </a:t>
            </a:r>
          </a:p>
        </p:txBody>
      </p:sp>
      <p:sp>
        <p:nvSpPr>
          <p:cNvPr id="17427" name="Text Box 19"/>
          <p:cNvSpPr txBox="1">
            <a:spLocks noChangeArrowheads="1"/>
          </p:cNvSpPr>
          <p:nvPr/>
        </p:nvSpPr>
        <p:spPr bwMode="auto">
          <a:xfrm>
            <a:off x="7135762" y="5401919"/>
            <a:ext cx="2514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故收敛半径为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28" name="Object 20"/>
              <p:cNvSpPr txBox="1"/>
              <p:nvPr/>
            </p:nvSpPr>
            <p:spPr bwMode="auto">
              <a:xfrm>
                <a:off x="8867015" y="5229319"/>
                <a:ext cx="1041400" cy="8292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28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67015" y="5229319"/>
                <a:ext cx="1041400" cy="8292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36" name="Object 28"/>
              <p:cNvSpPr txBox="1"/>
              <p:nvPr/>
            </p:nvSpPr>
            <p:spPr bwMode="auto">
              <a:xfrm>
                <a:off x="4239170" y="4966499"/>
                <a:ext cx="1705327" cy="8092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36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39170" y="4966499"/>
                <a:ext cx="1705327" cy="80923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37" name="Object 29"/>
              <p:cNvSpPr txBox="1"/>
              <p:nvPr/>
            </p:nvSpPr>
            <p:spPr bwMode="auto">
              <a:xfrm>
                <a:off x="2854293" y="5733297"/>
                <a:ext cx="1691395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 4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37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4293" y="5733297"/>
                <a:ext cx="1691395" cy="519113"/>
              </a:xfrm>
              <a:prstGeom prst="rect">
                <a:avLst/>
              </a:prstGeom>
              <a:blipFill>
                <a:blip r:embed="rId13"/>
                <a:stretch>
                  <a:fillRect l="-21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39" name="Object 31"/>
              <p:cNvSpPr txBox="1"/>
              <p:nvPr/>
            </p:nvSpPr>
            <p:spPr bwMode="auto">
              <a:xfrm>
                <a:off x="4229055" y="5585842"/>
                <a:ext cx="1525793" cy="8092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39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29055" y="5585842"/>
                <a:ext cx="1525793" cy="80923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40" name="Object 32"/>
              <p:cNvSpPr txBox="1"/>
              <p:nvPr/>
            </p:nvSpPr>
            <p:spPr bwMode="auto">
              <a:xfrm>
                <a:off x="7645464" y="2674358"/>
                <a:ext cx="1355504" cy="430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40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45464" y="2674358"/>
                <a:ext cx="1355504" cy="4308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41" name="Object 33"/>
              <p:cNvSpPr txBox="1"/>
              <p:nvPr/>
            </p:nvSpPr>
            <p:spPr bwMode="auto">
              <a:xfrm>
                <a:off x="7576592" y="3502123"/>
                <a:ext cx="993775" cy="5547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41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76592" y="3502123"/>
                <a:ext cx="993775" cy="55473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42" name="Text Box 34"/>
          <p:cNvSpPr txBox="1">
            <a:spLocks noChangeArrowheads="1"/>
          </p:cNvSpPr>
          <p:nvPr/>
        </p:nvSpPr>
        <p:spPr bwMode="auto">
          <a:xfrm>
            <a:off x="7598910" y="1766568"/>
            <a:ext cx="131318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故直接由</a:t>
            </a:r>
          </a:p>
        </p:txBody>
      </p:sp>
      <p:sp>
        <p:nvSpPr>
          <p:cNvPr id="17444" name="AutoShape 36"/>
          <p:cNvSpPr>
            <a:spLocks/>
          </p:cNvSpPr>
          <p:nvPr/>
        </p:nvSpPr>
        <p:spPr bwMode="auto">
          <a:xfrm>
            <a:off x="6986537" y="5207615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022820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7411" grpId="0"/>
      <p:bldP spid="17412" grpId="0"/>
      <p:bldP spid="17413" grpId="0" autoUpdateAnimBg="0"/>
      <p:bldP spid="17414" grpId="0" autoUpdateAnimBg="0"/>
      <p:bldP spid="17415" grpId="0"/>
      <p:bldP spid="17416" grpId="0"/>
      <p:bldP spid="17417" grpId="0"/>
      <p:bldP spid="17419" grpId="0"/>
      <p:bldP spid="17420" grpId="0"/>
      <p:bldP spid="17422" grpId="0"/>
      <p:bldP spid="17423" grpId="0" autoUpdateAnimBg="0"/>
      <p:bldP spid="17426" grpId="0" autoUpdateAnimBg="0"/>
      <p:bldP spid="17427" grpId="0" autoUpdateAnimBg="0"/>
      <p:bldP spid="17428" grpId="0"/>
      <p:bldP spid="17436" grpId="0"/>
      <p:bldP spid="17437" grpId="0"/>
      <p:bldP spid="17439" grpId="0"/>
      <p:bldP spid="17440" grpId="0"/>
      <p:bldP spid="17441" grpId="0"/>
      <p:bldP spid="17442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89812FB-CADD-F6E0-9676-AF895E39C433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C56F1147-2B96-47EB-B8D7-EFE96A1C15E3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554821B0-8562-8245-A548-B9AE36C17569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2EAF5850-03FC-5320-E031-47426D5E3A9A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3826765F-E242-6FF8-974B-06B9F8359006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AD80DAD6-4C55-9B06-715B-DED8BB77A00E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61535" y="920269"/>
            <a:ext cx="914400" cy="533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5" name="Object 3"/>
              <p:cNvSpPr txBox="1"/>
              <p:nvPr/>
            </p:nvSpPr>
            <p:spPr bwMode="auto">
              <a:xfrm>
                <a:off x="2646644" y="520457"/>
                <a:ext cx="4016373" cy="1406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求幂级数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43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6644" y="520457"/>
                <a:ext cx="4016373" cy="14060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6142685" y="858442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的收敛域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1861535" y="1902171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 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令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8" name="Object 6"/>
              <p:cNvSpPr txBox="1"/>
              <p:nvPr/>
            </p:nvSpPr>
            <p:spPr bwMode="auto">
              <a:xfrm>
                <a:off x="2994965" y="1972313"/>
                <a:ext cx="2057399" cy="5900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3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4965" y="1972313"/>
                <a:ext cx="2057399" cy="5900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4253421" y="1961233"/>
            <a:ext cx="2057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级数变为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40" name="Object 8"/>
              <p:cNvSpPr txBox="1"/>
              <p:nvPr/>
            </p:nvSpPr>
            <p:spPr bwMode="auto">
              <a:xfrm>
                <a:off x="5406478" y="1671744"/>
                <a:ext cx="16002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4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06478" y="1671744"/>
                <a:ext cx="1600200" cy="927100"/>
              </a:xfrm>
              <a:prstGeom prst="rect">
                <a:avLst/>
              </a:prstGeom>
              <a:blipFill>
                <a:blip r:embed="rId6"/>
                <a:stretch>
                  <a:fillRect b="-39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41" name="Object 9"/>
              <p:cNvSpPr txBox="1"/>
              <p:nvPr/>
            </p:nvSpPr>
            <p:spPr bwMode="auto">
              <a:xfrm>
                <a:off x="2646644" y="2708330"/>
                <a:ext cx="3465513" cy="1028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4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6644" y="2708330"/>
                <a:ext cx="3465513" cy="10287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42" name="Object 10"/>
              <p:cNvSpPr txBox="1"/>
              <p:nvPr/>
            </p:nvSpPr>
            <p:spPr bwMode="auto">
              <a:xfrm>
                <a:off x="5720805" y="2656605"/>
                <a:ext cx="539750" cy="7445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4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0805" y="2656605"/>
                <a:ext cx="539750" cy="7445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43" name="Object 11"/>
              <p:cNvSpPr txBox="1"/>
              <p:nvPr/>
            </p:nvSpPr>
            <p:spPr bwMode="auto">
              <a:xfrm>
                <a:off x="6041981" y="3161802"/>
                <a:ext cx="1326378" cy="6752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4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41981" y="3161802"/>
                <a:ext cx="1326378" cy="67524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44" name="Object 12"/>
              <p:cNvSpPr txBox="1"/>
              <p:nvPr/>
            </p:nvSpPr>
            <p:spPr bwMode="auto">
              <a:xfrm>
                <a:off x="7286054" y="2697630"/>
                <a:ext cx="25146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44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86054" y="2697630"/>
                <a:ext cx="2514600" cy="965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45" name="Object 13"/>
              <p:cNvSpPr txBox="1"/>
              <p:nvPr/>
            </p:nvSpPr>
            <p:spPr bwMode="auto">
              <a:xfrm>
                <a:off x="9711676" y="2856693"/>
                <a:ext cx="1024499" cy="5075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4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11676" y="2856693"/>
                <a:ext cx="1024499" cy="5075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46" name="Text Box 14"/>
              <p:cNvSpPr txBox="1">
                <a:spLocks noChangeArrowheads="1"/>
              </p:cNvSpPr>
              <p:nvPr/>
            </p:nvSpPr>
            <p:spPr bwMode="auto">
              <a:xfrm>
                <a:off x="2652360" y="3903120"/>
                <a:ext cx="31242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= 2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时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级数为</a:t>
                </a:r>
              </a:p>
            </p:txBody>
          </p:sp>
        </mc:Choice>
        <mc:Fallback xmlns="">
          <p:sp>
            <p:nvSpPr>
              <p:cNvPr id="18446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2360" y="3903120"/>
                <a:ext cx="3124200" cy="430887"/>
              </a:xfrm>
              <a:prstGeom prst="rect">
                <a:avLst/>
              </a:prstGeom>
              <a:blipFill>
                <a:blip r:embed="rId12"/>
                <a:stretch>
                  <a:fillRect l="-2534" t="-12676" b="-281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47" name="Object 15"/>
              <p:cNvSpPr txBox="1"/>
              <p:nvPr/>
            </p:nvSpPr>
            <p:spPr bwMode="auto">
              <a:xfrm>
                <a:off x="4837075" y="3623185"/>
                <a:ext cx="1222453" cy="13327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47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7075" y="3623185"/>
                <a:ext cx="1222453" cy="133270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5679422" y="3903120"/>
            <a:ext cx="2209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此级数发散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49" name="Text Box 17"/>
              <p:cNvSpPr txBox="1">
                <a:spLocks noChangeArrowheads="1"/>
              </p:cNvSpPr>
              <p:nvPr/>
            </p:nvSpPr>
            <p:spPr bwMode="auto">
              <a:xfrm>
                <a:off x="2652360" y="4820612"/>
                <a:ext cx="34290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kumimoji="1" lang="en-US" altLang="zh-CN" sz="2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= – 2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时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级数为</a:t>
                </a:r>
              </a:p>
            </p:txBody>
          </p:sp>
        </mc:Choice>
        <mc:Fallback xmlns="">
          <p:sp>
            <p:nvSpPr>
              <p:cNvPr id="18449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2360" y="4820612"/>
                <a:ext cx="3429000" cy="430887"/>
              </a:xfrm>
              <a:prstGeom prst="rect">
                <a:avLst/>
              </a:prstGeom>
              <a:blipFill>
                <a:blip r:embed="rId14"/>
                <a:stretch>
                  <a:fillRect l="-2309" t="-14286" b="-285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50" name="Object 18"/>
              <p:cNvSpPr txBox="1"/>
              <p:nvPr/>
            </p:nvSpPr>
            <p:spPr bwMode="auto">
              <a:xfrm>
                <a:off x="5044152" y="4540250"/>
                <a:ext cx="1822940" cy="12171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(−1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50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44152" y="4540250"/>
                <a:ext cx="1822940" cy="121710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51" name="Text Box 19"/>
          <p:cNvSpPr txBox="1">
            <a:spLocks noChangeArrowheads="1"/>
          </p:cNvSpPr>
          <p:nvPr/>
        </p:nvSpPr>
        <p:spPr bwMode="auto">
          <a:xfrm>
            <a:off x="6434278" y="4820612"/>
            <a:ext cx="290988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此级数条件收敛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;</a:t>
            </a:r>
          </a:p>
        </p:txBody>
      </p:sp>
      <p:sp>
        <p:nvSpPr>
          <p:cNvPr id="18452" name="Text Box 20"/>
          <p:cNvSpPr txBox="1">
            <a:spLocks noChangeArrowheads="1"/>
          </p:cNvSpPr>
          <p:nvPr/>
        </p:nvSpPr>
        <p:spPr bwMode="auto">
          <a:xfrm>
            <a:off x="2652360" y="5463297"/>
            <a:ext cx="3657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因此级数的收敛域为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53" name="Object 21"/>
              <p:cNvSpPr txBox="1"/>
              <p:nvPr/>
            </p:nvSpPr>
            <p:spPr bwMode="auto">
              <a:xfrm>
                <a:off x="5238078" y="5460667"/>
                <a:ext cx="1922272" cy="5656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&lt;2,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53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38078" y="5460667"/>
                <a:ext cx="1922272" cy="56569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54" name="Text Box 22"/>
          <p:cNvSpPr txBox="1">
            <a:spLocks noChangeArrowheads="1"/>
          </p:cNvSpPr>
          <p:nvPr/>
        </p:nvSpPr>
        <p:spPr bwMode="auto">
          <a:xfrm>
            <a:off x="6668555" y="5463297"/>
            <a:ext cx="3429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故原级数的收敛域为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55" name="Object 23"/>
              <p:cNvSpPr txBox="1"/>
              <p:nvPr/>
            </p:nvSpPr>
            <p:spPr bwMode="auto">
              <a:xfrm>
                <a:off x="2646644" y="5835422"/>
                <a:ext cx="259715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−1&lt;2,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55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6644" y="5835422"/>
                <a:ext cx="2597150" cy="393700"/>
              </a:xfrm>
              <a:prstGeom prst="rect">
                <a:avLst/>
              </a:prstGeom>
              <a:blipFill>
                <a:blip r:embed="rId17"/>
                <a:stretch>
                  <a:fillRect b="-1076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56" name="Text Box 24"/>
          <p:cNvSpPr txBox="1">
            <a:spLocks noChangeArrowheads="1"/>
          </p:cNvSpPr>
          <p:nvPr/>
        </p:nvSpPr>
        <p:spPr bwMode="auto">
          <a:xfrm>
            <a:off x="4614811" y="5851935"/>
            <a:ext cx="7239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57" name="Object 25"/>
              <p:cNvSpPr txBox="1"/>
              <p:nvPr/>
            </p:nvSpPr>
            <p:spPr bwMode="auto">
              <a:xfrm>
                <a:off x="4976761" y="5829289"/>
                <a:ext cx="1922272" cy="6508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&lt;3.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8457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76761" y="5829289"/>
                <a:ext cx="1922272" cy="65088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60" name="Line 28"/>
          <p:cNvSpPr>
            <a:spLocks noChangeShapeType="1"/>
          </p:cNvSpPr>
          <p:nvPr/>
        </p:nvSpPr>
        <p:spPr bwMode="auto">
          <a:xfrm flipH="1">
            <a:off x="5856858" y="2733950"/>
            <a:ext cx="762000" cy="1066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451769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/>
      <p:bldP spid="18435" grpId="0"/>
      <p:bldP spid="18436" grpId="0"/>
      <p:bldP spid="18437" grpId="0" autoUpdateAnimBg="0"/>
      <p:bldP spid="18438" grpId="0"/>
      <p:bldP spid="18439" grpId="0" autoUpdateAnimBg="0"/>
      <p:bldP spid="18440" grpId="0"/>
      <p:bldP spid="18441" grpId="0"/>
      <p:bldP spid="18442" grpId="0"/>
      <p:bldP spid="18443" grpId="0"/>
      <p:bldP spid="18444" grpId="0"/>
      <p:bldP spid="18445" grpId="0"/>
      <p:bldP spid="18446" grpId="0" autoUpdateAnimBg="0"/>
      <p:bldP spid="18447" grpId="0"/>
      <p:bldP spid="18448" grpId="0" autoUpdateAnimBg="0"/>
      <p:bldP spid="18449" grpId="0" autoUpdateAnimBg="0"/>
      <p:bldP spid="18450" grpId="0"/>
      <p:bldP spid="18451" grpId="0" autoUpdateAnimBg="0"/>
      <p:bldP spid="18452" grpId="0" autoUpdateAnimBg="0"/>
      <p:bldP spid="18453" grpId="0"/>
      <p:bldP spid="18454" grpId="0" autoUpdateAnimBg="0"/>
      <p:bldP spid="18455" grpId="0"/>
      <p:bldP spid="18456" grpId="0" autoUpdateAnimBg="0"/>
      <p:bldP spid="1845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80883" y="790436"/>
            <a:ext cx="4595670" cy="721403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三、幂级数的运算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817767" y="1511839"/>
            <a:ext cx="3070934" cy="523220"/>
          </a:xfrm>
          <a:prstGeom prst="rect">
            <a:avLst/>
          </a:prstGeom>
          <a:noFill/>
          <a:ln w="28575">
            <a:noFill/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代数运算性质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1234859" y="3808513"/>
            <a:ext cx="2209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加减法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04" name="Object 12"/>
              <p:cNvSpPr txBox="1"/>
              <p:nvPr/>
            </p:nvSpPr>
            <p:spPr bwMode="auto">
              <a:xfrm>
                <a:off x="6476693" y="5712114"/>
                <a:ext cx="4103583" cy="8318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其中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204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6693" y="5712114"/>
                <a:ext cx="4103583" cy="8318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1234859" y="2231671"/>
                <a:ext cx="8145260" cy="145773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的收敛半径各为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859" y="2231671"/>
                <a:ext cx="8145260" cy="1457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8563216" y="2580576"/>
                <a:ext cx="3655353" cy="83181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216" y="2580576"/>
                <a:ext cx="3655353" cy="8318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1573265" y="4469888"/>
                <a:ext cx="4420390" cy="137683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265" y="4469888"/>
                <a:ext cx="4420390" cy="13768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4732233" y="4460180"/>
                <a:ext cx="3186351" cy="171057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2233" y="4460180"/>
                <a:ext cx="3186351" cy="17105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6779263" y="4810488"/>
                <a:ext cx="3801013" cy="62332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263" y="4810488"/>
                <a:ext cx="3801013" cy="6233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107671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197" grpId="0"/>
      <p:bldP spid="8198" grpId="0"/>
      <p:bldP spid="8204" grpId="0"/>
      <p:bldP spid="2" grpId="0"/>
      <p:bldP spid="3" grpId="0"/>
      <p:bldP spid="4" grpId="0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106" name="Text Box 2"/>
              <p:cNvSpPr txBox="1">
                <a:spLocks noChangeArrowheads="1"/>
              </p:cNvSpPr>
              <p:nvPr/>
            </p:nvSpPr>
            <p:spPr bwMode="auto">
              <a:xfrm>
                <a:off x="2197100" y="384403"/>
                <a:ext cx="2209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zh-CN" altLang="en-US" sz="2800" b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altLang="zh-CN" sz="2800" dirty="0">
                    <a:solidFill>
                      <a:srgbClr val="04926A"/>
                    </a:solidFill>
                  </a:rPr>
                  <a:t>2</a:t>
                </a:r>
                <a14:m>
                  <m:oMath xmlns:m="http://schemas.openxmlformats.org/officeDocument/2006/math">
                    <m:r>
                      <a:rPr lang="zh-CN" altLang="en-US" sz="2800" b="1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>
                    <a:solidFill>
                      <a:srgbClr val="04926A"/>
                    </a:solidFill>
                  </a:rPr>
                  <a:t> 乘法</a:t>
                </a:r>
              </a:p>
            </p:txBody>
          </p:sp>
        </mc:Choice>
        <mc:Fallback xmlns="">
          <p:sp>
            <p:nvSpPr>
              <p:cNvPr id="47106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7100" y="384403"/>
                <a:ext cx="2209800" cy="523220"/>
              </a:xfrm>
              <a:prstGeom prst="rect">
                <a:avLst/>
              </a:prstGeom>
              <a:blipFill>
                <a:blip r:embed="rId2"/>
                <a:stretch>
                  <a:fillRect t="-13953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07" name="Object 3"/>
              <p:cNvSpPr txBox="1"/>
              <p:nvPr/>
            </p:nvSpPr>
            <p:spPr bwMode="auto">
              <a:xfrm>
                <a:off x="2197100" y="947638"/>
                <a:ext cx="4152900" cy="12207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10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7100" y="947638"/>
                <a:ext cx="4152900" cy="12207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08" name="Object 4"/>
              <p:cNvSpPr txBox="1"/>
              <p:nvPr/>
            </p:nvSpPr>
            <p:spPr bwMode="auto">
              <a:xfrm>
                <a:off x="6108156" y="950020"/>
                <a:ext cx="3053275" cy="12652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10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08156" y="950020"/>
                <a:ext cx="3053275" cy="12652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09" name="Object 5"/>
              <p:cNvSpPr txBox="1"/>
              <p:nvPr/>
            </p:nvSpPr>
            <p:spPr bwMode="auto">
              <a:xfrm>
                <a:off x="8090510" y="1313556"/>
                <a:ext cx="2410242" cy="7874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10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90510" y="1313556"/>
                <a:ext cx="2410242" cy="7874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10" name="Text Box 6"/>
              <p:cNvSpPr txBox="1">
                <a:spLocks noChangeArrowheads="1"/>
              </p:cNvSpPr>
              <p:nvPr/>
            </p:nvSpPr>
            <p:spPr bwMode="auto">
              <a:xfrm>
                <a:off x="2197100" y="2458218"/>
                <a:ext cx="1219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zh-CN" altLang="en-US" sz="2800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zh-CN" sz="2800" dirty="0">
                    <a:solidFill>
                      <a:srgbClr val="04926A"/>
                    </a:solidFill>
                  </a:rPr>
                  <a:t>其中</a:t>
                </a:r>
                <a:endParaRPr lang="zh-CN" altLang="en-US" sz="2800" dirty="0">
                  <a:solidFill>
                    <a:srgbClr val="04926A"/>
                  </a:solidFill>
                </a:endParaRPr>
              </a:p>
            </p:txBody>
          </p:sp>
        </mc:Choice>
        <mc:Fallback xmlns="">
          <p:sp>
            <p:nvSpPr>
              <p:cNvPr id="47110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7100" y="2458218"/>
                <a:ext cx="1219200" cy="523220"/>
              </a:xfrm>
              <a:prstGeom prst="rect">
                <a:avLst/>
              </a:prstGeom>
              <a:blipFill>
                <a:blip r:embed="rId6"/>
                <a:stretch>
                  <a:fillRect t="-13953" r="-2500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11" name="Object 7"/>
              <p:cNvSpPr txBox="1"/>
              <p:nvPr/>
            </p:nvSpPr>
            <p:spPr bwMode="auto">
              <a:xfrm>
                <a:off x="3213295" y="2405424"/>
                <a:ext cx="630428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11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3295" y="2405424"/>
                <a:ext cx="6304280" cy="457200"/>
              </a:xfrm>
              <a:prstGeom prst="rect">
                <a:avLst/>
              </a:prstGeom>
              <a:blipFill>
                <a:blip r:embed="rId7"/>
                <a:stretch>
                  <a:fillRect b="-4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138" name="Group 34"/>
          <p:cNvGrpSpPr>
            <a:grpSpLocks/>
          </p:cNvGrpSpPr>
          <p:nvPr/>
        </p:nvGrpSpPr>
        <p:grpSpPr bwMode="auto">
          <a:xfrm>
            <a:off x="4406900" y="3830746"/>
            <a:ext cx="2743200" cy="2289175"/>
            <a:chOff x="2112" y="1296"/>
            <a:chExt cx="1728" cy="1442"/>
          </a:xfrm>
        </p:grpSpPr>
        <p:sp>
          <p:nvSpPr>
            <p:cNvPr id="47139" name="Line 35"/>
            <p:cNvSpPr>
              <a:spLocks noChangeShapeType="1"/>
            </p:cNvSpPr>
            <p:nvPr/>
          </p:nvSpPr>
          <p:spPr bwMode="auto">
            <a:xfrm flipH="1">
              <a:off x="2160" y="1344"/>
              <a:ext cx="336" cy="194"/>
            </a:xfrm>
            <a:prstGeom prst="line">
              <a:avLst/>
            </a:prstGeom>
            <a:noFill/>
            <a:ln w="31750">
              <a:solidFill>
                <a:srgbClr val="4A7BA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FF"/>
                </a:solidFill>
              </a:endParaRPr>
            </a:p>
          </p:txBody>
        </p:sp>
        <p:sp>
          <p:nvSpPr>
            <p:cNvPr id="47140" name="Line 36"/>
            <p:cNvSpPr>
              <a:spLocks noChangeShapeType="1"/>
            </p:cNvSpPr>
            <p:nvPr/>
          </p:nvSpPr>
          <p:spPr bwMode="auto">
            <a:xfrm flipH="1">
              <a:off x="2832" y="1344"/>
              <a:ext cx="336" cy="194"/>
            </a:xfrm>
            <a:prstGeom prst="line">
              <a:avLst/>
            </a:prstGeom>
            <a:noFill/>
            <a:ln w="31750">
              <a:solidFill>
                <a:srgbClr val="4A7BA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FF"/>
                </a:solidFill>
              </a:endParaRPr>
            </a:p>
          </p:txBody>
        </p:sp>
        <p:sp>
          <p:nvSpPr>
            <p:cNvPr id="47141" name="Line 37"/>
            <p:cNvSpPr>
              <a:spLocks noChangeShapeType="1"/>
            </p:cNvSpPr>
            <p:nvPr/>
          </p:nvSpPr>
          <p:spPr bwMode="auto">
            <a:xfrm flipH="1">
              <a:off x="2112" y="1776"/>
              <a:ext cx="336" cy="194"/>
            </a:xfrm>
            <a:prstGeom prst="line">
              <a:avLst/>
            </a:prstGeom>
            <a:noFill/>
            <a:ln w="31750">
              <a:solidFill>
                <a:srgbClr val="4A7BA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FF"/>
                </a:solidFill>
              </a:endParaRPr>
            </a:p>
          </p:txBody>
        </p:sp>
        <p:sp>
          <p:nvSpPr>
            <p:cNvPr id="47142" name="Line 38"/>
            <p:cNvSpPr>
              <a:spLocks noChangeShapeType="1"/>
            </p:cNvSpPr>
            <p:nvPr/>
          </p:nvSpPr>
          <p:spPr bwMode="auto">
            <a:xfrm flipH="1">
              <a:off x="3504" y="1296"/>
              <a:ext cx="336" cy="194"/>
            </a:xfrm>
            <a:prstGeom prst="line">
              <a:avLst/>
            </a:prstGeom>
            <a:noFill/>
            <a:ln w="31750">
              <a:solidFill>
                <a:srgbClr val="4A7BA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FF"/>
                </a:solidFill>
              </a:endParaRPr>
            </a:p>
          </p:txBody>
        </p:sp>
        <p:sp>
          <p:nvSpPr>
            <p:cNvPr id="47143" name="Line 39"/>
            <p:cNvSpPr>
              <a:spLocks noChangeShapeType="1"/>
            </p:cNvSpPr>
            <p:nvPr/>
          </p:nvSpPr>
          <p:spPr bwMode="auto">
            <a:xfrm flipH="1">
              <a:off x="2160" y="2160"/>
              <a:ext cx="336" cy="194"/>
            </a:xfrm>
            <a:prstGeom prst="line">
              <a:avLst/>
            </a:prstGeom>
            <a:noFill/>
            <a:ln w="31750">
              <a:solidFill>
                <a:srgbClr val="4A7BA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FF"/>
                </a:solidFill>
              </a:endParaRPr>
            </a:p>
          </p:txBody>
        </p:sp>
        <p:sp>
          <p:nvSpPr>
            <p:cNvPr id="47144" name="Line 40"/>
            <p:cNvSpPr>
              <a:spLocks noChangeShapeType="1"/>
            </p:cNvSpPr>
            <p:nvPr/>
          </p:nvSpPr>
          <p:spPr bwMode="auto">
            <a:xfrm flipH="1">
              <a:off x="2832" y="1774"/>
              <a:ext cx="336" cy="194"/>
            </a:xfrm>
            <a:prstGeom prst="line">
              <a:avLst/>
            </a:prstGeom>
            <a:noFill/>
            <a:ln w="31750">
              <a:solidFill>
                <a:srgbClr val="4A7BA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FF"/>
                </a:solidFill>
              </a:endParaRPr>
            </a:p>
          </p:txBody>
        </p:sp>
        <p:sp>
          <p:nvSpPr>
            <p:cNvPr id="47145" name="Line 41"/>
            <p:cNvSpPr>
              <a:spLocks noChangeShapeType="1"/>
            </p:cNvSpPr>
            <p:nvPr/>
          </p:nvSpPr>
          <p:spPr bwMode="auto">
            <a:xfrm flipH="1">
              <a:off x="3504" y="2160"/>
              <a:ext cx="336" cy="194"/>
            </a:xfrm>
            <a:prstGeom prst="line">
              <a:avLst/>
            </a:prstGeom>
            <a:noFill/>
            <a:ln w="31750">
              <a:solidFill>
                <a:srgbClr val="4A7BA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FF"/>
                </a:solidFill>
              </a:endParaRPr>
            </a:p>
          </p:txBody>
        </p:sp>
        <p:sp>
          <p:nvSpPr>
            <p:cNvPr id="47146" name="Line 42"/>
            <p:cNvSpPr>
              <a:spLocks noChangeShapeType="1"/>
            </p:cNvSpPr>
            <p:nvPr/>
          </p:nvSpPr>
          <p:spPr bwMode="auto">
            <a:xfrm flipH="1">
              <a:off x="2832" y="2158"/>
              <a:ext cx="336" cy="194"/>
            </a:xfrm>
            <a:prstGeom prst="line">
              <a:avLst/>
            </a:prstGeom>
            <a:noFill/>
            <a:ln w="31750">
              <a:solidFill>
                <a:srgbClr val="4A7BA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FF"/>
                </a:solidFill>
              </a:endParaRPr>
            </a:p>
          </p:txBody>
        </p:sp>
        <p:sp>
          <p:nvSpPr>
            <p:cNvPr id="47147" name="Line 43"/>
            <p:cNvSpPr>
              <a:spLocks noChangeShapeType="1"/>
            </p:cNvSpPr>
            <p:nvPr/>
          </p:nvSpPr>
          <p:spPr bwMode="auto">
            <a:xfrm flipH="1">
              <a:off x="3504" y="1728"/>
              <a:ext cx="336" cy="194"/>
            </a:xfrm>
            <a:prstGeom prst="line">
              <a:avLst/>
            </a:prstGeom>
            <a:noFill/>
            <a:ln w="31750">
              <a:solidFill>
                <a:srgbClr val="4A7BA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FF"/>
                </a:solidFill>
              </a:endParaRPr>
            </a:p>
          </p:txBody>
        </p:sp>
        <p:sp>
          <p:nvSpPr>
            <p:cNvPr id="47148" name="Line 44"/>
            <p:cNvSpPr>
              <a:spLocks noChangeShapeType="1"/>
            </p:cNvSpPr>
            <p:nvPr/>
          </p:nvSpPr>
          <p:spPr bwMode="auto">
            <a:xfrm flipH="1">
              <a:off x="2112" y="2542"/>
              <a:ext cx="336" cy="194"/>
            </a:xfrm>
            <a:prstGeom prst="line">
              <a:avLst/>
            </a:prstGeom>
            <a:noFill/>
            <a:ln w="31750">
              <a:solidFill>
                <a:srgbClr val="4A7BA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FF"/>
                </a:solidFill>
              </a:endParaRPr>
            </a:p>
          </p:txBody>
        </p:sp>
        <p:sp>
          <p:nvSpPr>
            <p:cNvPr id="47149" name="Line 45"/>
            <p:cNvSpPr>
              <a:spLocks noChangeShapeType="1"/>
            </p:cNvSpPr>
            <p:nvPr/>
          </p:nvSpPr>
          <p:spPr bwMode="auto">
            <a:xfrm flipH="1">
              <a:off x="2832" y="2544"/>
              <a:ext cx="336" cy="194"/>
            </a:xfrm>
            <a:prstGeom prst="line">
              <a:avLst/>
            </a:prstGeom>
            <a:noFill/>
            <a:ln w="31750">
              <a:solidFill>
                <a:srgbClr val="4A7BA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00FF"/>
                </a:solidFill>
              </a:endParaRPr>
            </a:p>
          </p:txBody>
        </p:sp>
      </p:grpSp>
      <p:sp>
        <p:nvSpPr>
          <p:cNvPr id="47150" name="Text Box 46"/>
          <p:cNvSpPr txBox="1">
            <a:spLocks noChangeArrowheads="1"/>
          </p:cNvSpPr>
          <p:nvPr/>
        </p:nvSpPr>
        <p:spPr bwMode="auto">
          <a:xfrm>
            <a:off x="2271658" y="3932954"/>
            <a:ext cx="6096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</a:rPr>
              <a:t>柯西乘积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51" name="Object 47"/>
              <p:cNvSpPr txBox="1"/>
              <p:nvPr/>
            </p:nvSpPr>
            <p:spPr bwMode="auto">
              <a:xfrm>
                <a:off x="3873500" y="2985730"/>
                <a:ext cx="4902200" cy="5767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</a:rPr>
                        <m:t>1  </m:t>
                      </m:r>
                      <m:r>
                        <a:rPr lang="en-US" altLang="zh-CN" sz="2800" b="0" i="1" smtClean="0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zh-CN" altLang="en-US" sz="2800" i="1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</a:rPr>
                        <m:t>   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4A7BA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4A7BA8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4A7BA8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4A7BA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4A7BA8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4A7BA8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</a:rPr>
                        <m:t> ⋯</m:t>
                      </m:r>
                    </m:oMath>
                  </m:oMathPara>
                </a14:m>
                <a:endParaRPr lang="zh-CN" altLang="en-US" sz="2800" dirty="0">
                  <a:solidFill>
                    <a:srgbClr val="4A7BA8"/>
                  </a:solidFill>
                </a:endParaRPr>
              </a:p>
            </p:txBody>
          </p:sp>
        </mc:Choice>
        <mc:Fallback xmlns="">
          <p:sp>
            <p:nvSpPr>
              <p:cNvPr id="47151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73500" y="2985730"/>
                <a:ext cx="4902200" cy="5767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7080F2CE-63A4-2081-F9E3-8C3235553C44}"/>
              </a:ext>
            </a:extLst>
          </p:cNvPr>
          <p:cNvGrpSpPr/>
          <p:nvPr/>
        </p:nvGrpSpPr>
        <p:grpSpPr>
          <a:xfrm>
            <a:off x="3559186" y="3502133"/>
            <a:ext cx="5491774" cy="3046576"/>
            <a:chOff x="3190886" y="3354779"/>
            <a:chExt cx="5491774" cy="3046576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ECAB2A03-6BE5-6F74-0381-8832C0B44991}"/>
                </a:ext>
              </a:extLst>
            </p:cNvPr>
            <p:cNvGrpSpPr/>
            <p:nvPr/>
          </p:nvGrpSpPr>
          <p:grpSpPr>
            <a:xfrm>
              <a:off x="3190886" y="3354779"/>
              <a:ext cx="5491774" cy="2767012"/>
              <a:chOff x="3190886" y="3354779"/>
              <a:chExt cx="5491774" cy="2767012"/>
            </a:xfrm>
          </p:grpSpPr>
          <p:grpSp>
            <p:nvGrpSpPr>
              <p:cNvPr id="47112" name="Group 8"/>
              <p:cNvGrpSpPr>
                <a:grpSpLocks/>
              </p:cNvGrpSpPr>
              <p:nvPr/>
            </p:nvGrpSpPr>
            <p:grpSpPr bwMode="auto">
              <a:xfrm>
                <a:off x="3190886" y="3354779"/>
                <a:ext cx="4962536" cy="2767012"/>
                <a:chOff x="1530" y="1056"/>
                <a:chExt cx="3126" cy="174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13" name="Object 9"/>
                    <p:cNvSpPr txBox="1"/>
                    <p:nvPr/>
                  </p:nvSpPr>
                  <p:spPr bwMode="auto">
                    <a:xfrm>
                      <a:off x="1530" y="1092"/>
                      <a:ext cx="416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47113" name="Object 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530" y="1092"/>
                      <a:ext cx="416" cy="288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r="-15596" b="-400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14" name="Object 10"/>
                    <p:cNvSpPr txBox="1"/>
                    <p:nvPr/>
                  </p:nvSpPr>
                  <p:spPr bwMode="auto">
                    <a:xfrm>
                      <a:off x="2410" y="1056"/>
                      <a:ext cx="399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47114" name="Object 1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2410" y="1056"/>
                      <a:ext cx="399" cy="288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r="-19231" b="-5333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15" name="Object 11"/>
                    <p:cNvSpPr txBox="1"/>
                    <p:nvPr/>
                  </p:nvSpPr>
                  <p:spPr bwMode="auto">
                    <a:xfrm>
                      <a:off x="3057" y="1056"/>
                      <a:ext cx="416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47115" name="Object 1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057" y="1056"/>
                      <a:ext cx="416" cy="288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r="-15741" b="-5333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16" name="Object 12"/>
                    <p:cNvSpPr txBox="1"/>
                    <p:nvPr/>
                  </p:nvSpPr>
                  <p:spPr bwMode="auto">
                    <a:xfrm>
                      <a:off x="3760" y="1056"/>
                      <a:ext cx="416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47116" name="Object 1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760" y="1056"/>
                      <a:ext cx="416" cy="288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r="-14679" b="-5333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17" name="Object 13"/>
                    <p:cNvSpPr txBox="1"/>
                    <p:nvPr/>
                  </p:nvSpPr>
                  <p:spPr bwMode="auto">
                    <a:xfrm>
                      <a:off x="1530" y="1524"/>
                      <a:ext cx="399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800"/>
                    </a:p>
                  </p:txBody>
                </p:sp>
              </mc:Choice>
              <mc:Fallback xmlns="">
                <p:sp>
                  <p:nvSpPr>
                    <p:cNvPr id="47117" name="Object 1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530" y="1524"/>
                      <a:ext cx="399" cy="288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r="-19231" b="-5333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18" name="Object 14"/>
                    <p:cNvSpPr txBox="1"/>
                    <p:nvPr/>
                  </p:nvSpPr>
                  <p:spPr bwMode="auto">
                    <a:xfrm>
                      <a:off x="2410" y="1488"/>
                      <a:ext cx="391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800"/>
                    </a:p>
                  </p:txBody>
                </p:sp>
              </mc:Choice>
              <mc:Fallback xmlns="">
                <p:sp>
                  <p:nvSpPr>
                    <p:cNvPr id="47118" name="Object 1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2410" y="1488"/>
                      <a:ext cx="391" cy="288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r="-20792" b="-400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19" name="Object 15"/>
                    <p:cNvSpPr txBox="1"/>
                    <p:nvPr/>
                  </p:nvSpPr>
                  <p:spPr bwMode="auto">
                    <a:xfrm>
                      <a:off x="3057" y="1488"/>
                      <a:ext cx="40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800"/>
                    </a:p>
                  </p:txBody>
                </p:sp>
              </mc:Choice>
              <mc:Fallback xmlns="">
                <p:sp>
                  <p:nvSpPr>
                    <p:cNvPr id="47119" name="Object 1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057" y="1488"/>
                      <a:ext cx="408" cy="288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r="-16038" b="-400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20" name="Object 16"/>
                    <p:cNvSpPr txBox="1"/>
                    <p:nvPr/>
                  </p:nvSpPr>
                  <p:spPr bwMode="auto">
                    <a:xfrm>
                      <a:off x="3760" y="1488"/>
                      <a:ext cx="40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800" dirty="0"/>
                    </a:p>
                  </p:txBody>
                </p:sp>
              </mc:Choice>
              <mc:Fallback xmlns="">
                <p:sp>
                  <p:nvSpPr>
                    <p:cNvPr id="47120" name="Object 1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760" y="1488"/>
                      <a:ext cx="408" cy="288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r="-16038" b="-400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21" name="Object 17"/>
                    <p:cNvSpPr txBox="1"/>
                    <p:nvPr/>
                  </p:nvSpPr>
                  <p:spPr bwMode="auto">
                    <a:xfrm>
                      <a:off x="1530" y="1908"/>
                      <a:ext cx="416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800"/>
                    </a:p>
                  </p:txBody>
                </p:sp>
              </mc:Choice>
              <mc:Fallback xmlns="">
                <p:sp>
                  <p:nvSpPr>
                    <p:cNvPr id="47121" name="Object 1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530" y="1908"/>
                      <a:ext cx="416" cy="288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r="-15596" b="-5333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22" name="Object 18"/>
                    <p:cNvSpPr txBox="1"/>
                    <p:nvPr/>
                  </p:nvSpPr>
                  <p:spPr bwMode="auto">
                    <a:xfrm>
                      <a:off x="2410" y="1872"/>
                      <a:ext cx="40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800"/>
                    </a:p>
                  </p:txBody>
                </p:sp>
              </mc:Choice>
              <mc:Fallback xmlns="">
                <p:sp>
                  <p:nvSpPr>
                    <p:cNvPr id="47122" name="Object 1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2410" y="1872"/>
                      <a:ext cx="408" cy="288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r="-16981" b="-400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23" name="Object 19"/>
                    <p:cNvSpPr txBox="1"/>
                    <p:nvPr/>
                  </p:nvSpPr>
                  <p:spPr bwMode="auto">
                    <a:xfrm>
                      <a:off x="3057" y="1872"/>
                      <a:ext cx="416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800"/>
                    </a:p>
                  </p:txBody>
                </p:sp>
              </mc:Choice>
              <mc:Fallback xmlns="">
                <p:sp>
                  <p:nvSpPr>
                    <p:cNvPr id="47123" name="Object 1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057" y="1872"/>
                      <a:ext cx="416" cy="288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r="-15741" b="-400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24" name="Object 20"/>
                    <p:cNvSpPr txBox="1"/>
                    <p:nvPr/>
                  </p:nvSpPr>
                  <p:spPr bwMode="auto">
                    <a:xfrm>
                      <a:off x="3760" y="1872"/>
                      <a:ext cx="416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800"/>
                    </a:p>
                  </p:txBody>
                </p:sp>
              </mc:Choice>
              <mc:Fallback xmlns="">
                <p:sp>
                  <p:nvSpPr>
                    <p:cNvPr id="47124" name="Object 2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760" y="1872"/>
                      <a:ext cx="416" cy="288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 r="-14679" b="-400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25" name="Object 21"/>
                    <p:cNvSpPr txBox="1"/>
                    <p:nvPr/>
                  </p:nvSpPr>
                  <p:spPr bwMode="auto">
                    <a:xfrm>
                      <a:off x="1530" y="2292"/>
                      <a:ext cx="416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800"/>
                    </a:p>
                  </p:txBody>
                </p:sp>
              </mc:Choice>
              <mc:Fallback xmlns="">
                <p:sp>
                  <p:nvSpPr>
                    <p:cNvPr id="47125" name="Object 2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530" y="2292"/>
                      <a:ext cx="416" cy="288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r="-15596" b="-5333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26" name="Object 22"/>
                    <p:cNvSpPr txBox="1"/>
                    <p:nvPr/>
                  </p:nvSpPr>
                  <p:spPr bwMode="auto">
                    <a:xfrm>
                      <a:off x="2410" y="2256"/>
                      <a:ext cx="408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800"/>
                    </a:p>
                  </p:txBody>
                </p:sp>
              </mc:Choice>
              <mc:Fallback xmlns="">
                <p:sp>
                  <p:nvSpPr>
                    <p:cNvPr id="47126" name="Object 2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2410" y="2256"/>
                      <a:ext cx="408" cy="288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r="-16981" b="-400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27" name="Object 23"/>
                    <p:cNvSpPr txBox="1"/>
                    <p:nvPr/>
                  </p:nvSpPr>
                  <p:spPr bwMode="auto">
                    <a:xfrm>
                      <a:off x="3057" y="2256"/>
                      <a:ext cx="416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800"/>
                    </a:p>
                  </p:txBody>
                </p:sp>
              </mc:Choice>
              <mc:Fallback xmlns="">
                <p:sp>
                  <p:nvSpPr>
                    <p:cNvPr id="47127" name="Object 2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057" y="2256"/>
                      <a:ext cx="416" cy="288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 r="-15741" b="-400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28" name="Object 24"/>
                    <p:cNvSpPr txBox="1"/>
                    <p:nvPr/>
                  </p:nvSpPr>
                  <p:spPr bwMode="auto">
                    <a:xfrm>
                      <a:off x="3760" y="2304"/>
                      <a:ext cx="416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2800"/>
                    </a:p>
                  </p:txBody>
                </p:sp>
              </mc:Choice>
              <mc:Fallback xmlns="">
                <p:sp>
                  <p:nvSpPr>
                    <p:cNvPr id="47128" name="Object 2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760" y="2304"/>
                      <a:ext cx="416" cy="288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r="-14679" b="-5333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29" name="Object 25"/>
                    <p:cNvSpPr txBox="1"/>
                    <p:nvPr/>
                  </p:nvSpPr>
                  <p:spPr bwMode="auto">
                    <a:xfrm>
                      <a:off x="4416" y="1200"/>
                      <a:ext cx="223" cy="6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 fontScale="25000" lnSpcReduction="20000"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 xmlns="">
                <p:sp>
                  <p:nvSpPr>
                    <p:cNvPr id="47129" name="Object 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416" y="1200"/>
                      <a:ext cx="223" cy="63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b="-1875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30" name="Object 26"/>
                    <p:cNvSpPr txBox="1"/>
                    <p:nvPr/>
                  </p:nvSpPr>
                  <p:spPr bwMode="auto">
                    <a:xfrm>
                      <a:off x="4433" y="2016"/>
                      <a:ext cx="223" cy="6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 fontScale="25000" lnSpcReduction="20000"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 xmlns="">
                <p:sp>
                  <p:nvSpPr>
                    <p:cNvPr id="47130" name="Object 2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433" y="2016"/>
                      <a:ext cx="223" cy="63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 b="-17647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31" name="Object 27"/>
                    <p:cNvSpPr txBox="1"/>
                    <p:nvPr/>
                  </p:nvSpPr>
                  <p:spPr bwMode="auto">
                    <a:xfrm>
                      <a:off x="3857" y="2736"/>
                      <a:ext cx="223" cy="6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 fontScale="25000" lnSpcReduction="20000"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 xmlns="">
                <p:sp>
                  <p:nvSpPr>
                    <p:cNvPr id="47131" name="Object 2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857" y="2736"/>
                      <a:ext cx="223" cy="63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 b="-1875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32" name="Object 28"/>
                    <p:cNvSpPr txBox="1"/>
                    <p:nvPr/>
                  </p:nvSpPr>
                  <p:spPr bwMode="auto">
                    <a:xfrm>
                      <a:off x="3216" y="2736"/>
                      <a:ext cx="223" cy="6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 fontScale="25000" lnSpcReduction="20000"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 xmlns="">
                <p:sp>
                  <p:nvSpPr>
                    <p:cNvPr id="47132" name="Object 2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216" y="2736"/>
                      <a:ext cx="223" cy="63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b="-1875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33" name="Object 29"/>
                    <p:cNvSpPr txBox="1"/>
                    <p:nvPr/>
                  </p:nvSpPr>
                  <p:spPr bwMode="auto">
                    <a:xfrm>
                      <a:off x="2561" y="2736"/>
                      <a:ext cx="223" cy="6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 fontScale="25000" lnSpcReduction="20000"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 xmlns="">
                <p:sp>
                  <p:nvSpPr>
                    <p:cNvPr id="47133" name="Object 2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2561" y="2736"/>
                      <a:ext cx="223" cy="63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b="-1875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34" name="Object 30"/>
                    <p:cNvSpPr txBox="1"/>
                    <p:nvPr/>
                  </p:nvSpPr>
                  <p:spPr bwMode="auto">
                    <a:xfrm>
                      <a:off x="1824" y="2736"/>
                      <a:ext cx="223" cy="6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 fontScale="25000" lnSpcReduction="20000"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 xmlns="">
                <p:sp>
                  <p:nvSpPr>
                    <p:cNvPr id="47134" name="Object 3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824" y="2736"/>
                      <a:ext cx="223" cy="63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b="-1875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35" name="Object 31"/>
                    <p:cNvSpPr txBox="1"/>
                    <p:nvPr/>
                  </p:nvSpPr>
                  <p:spPr bwMode="auto">
                    <a:xfrm>
                      <a:off x="4433" y="1632"/>
                      <a:ext cx="223" cy="6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 fontScale="25000" lnSpcReduction="20000"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 xmlns="">
                <p:sp>
                  <p:nvSpPr>
                    <p:cNvPr id="47135" name="Object 3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433" y="1632"/>
                      <a:ext cx="223" cy="63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 b="-17647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36" name="Object 32"/>
                    <p:cNvSpPr txBox="1"/>
                    <p:nvPr/>
                  </p:nvSpPr>
                  <p:spPr bwMode="auto">
                    <a:xfrm>
                      <a:off x="4416" y="2400"/>
                      <a:ext cx="223" cy="6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 fontScale="25000" lnSpcReduction="20000"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 xmlns="">
                <p:sp>
                  <p:nvSpPr>
                    <p:cNvPr id="47136" name="Object 3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416" y="2400"/>
                      <a:ext cx="223" cy="63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 b="-17647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137" name="Object 33"/>
                    <p:cNvSpPr txBox="1"/>
                    <p:nvPr/>
                  </p:nvSpPr>
                  <p:spPr bwMode="auto">
                    <a:xfrm>
                      <a:off x="4433" y="2736"/>
                      <a:ext cx="223" cy="6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 fontScale="25000" lnSpcReduction="20000"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 xmlns="">
                <p:sp>
                  <p:nvSpPr>
                    <p:cNvPr id="47137" name="Object 3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433" y="2736"/>
                      <a:ext cx="223" cy="63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 b="-1875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Object 47">
                    <a:extLst>
                      <a:ext uri="{FF2B5EF4-FFF2-40B4-BE49-F238E27FC236}">
                        <a16:creationId xmlns:a16="http://schemas.microsoft.com/office/drawing/2014/main" id="{2DB9CB5D-5306-2E66-EEF8-171C9C276F46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680456" y="3482604"/>
                    <a:ext cx="1002204" cy="57672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4" name="Object 47">
                    <a:extLst>
                      <a:ext uri="{FF2B5EF4-FFF2-40B4-BE49-F238E27FC236}">
                        <a16:creationId xmlns:a16="http://schemas.microsoft.com/office/drawing/2014/main" id="{2DB9CB5D-5306-2E66-EEF8-171C9C276F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680456" y="3482604"/>
                    <a:ext cx="1002204" cy="576729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Object 47">
                    <a:extLst>
                      <a:ext uri="{FF2B5EF4-FFF2-40B4-BE49-F238E27FC236}">
                        <a16:creationId xmlns:a16="http://schemas.microsoft.com/office/drawing/2014/main" id="{2299681B-793A-59DA-161A-F5ED3CED5728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680456" y="4071311"/>
                    <a:ext cx="1002204" cy="57672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5" name="Object 47">
                    <a:extLst>
                      <a:ext uri="{FF2B5EF4-FFF2-40B4-BE49-F238E27FC236}">
                        <a16:creationId xmlns:a16="http://schemas.microsoft.com/office/drawing/2014/main" id="{2299681B-793A-59DA-161A-F5ED3CED57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680456" y="4071311"/>
                    <a:ext cx="1002204" cy="576729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Object 47">
                    <a:extLst>
                      <a:ext uri="{FF2B5EF4-FFF2-40B4-BE49-F238E27FC236}">
                        <a16:creationId xmlns:a16="http://schemas.microsoft.com/office/drawing/2014/main" id="{7321D22E-8764-AA6E-E2E8-689B1A44FED6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680456" y="4678072"/>
                    <a:ext cx="1002204" cy="57672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6" name="Object 47">
                    <a:extLst>
                      <a:ext uri="{FF2B5EF4-FFF2-40B4-BE49-F238E27FC236}">
                        <a16:creationId xmlns:a16="http://schemas.microsoft.com/office/drawing/2014/main" id="{7321D22E-8764-AA6E-E2E8-689B1A44FE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680456" y="4678072"/>
                    <a:ext cx="1002204" cy="576729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Object 47">
                    <a:extLst>
                      <a:ext uri="{FF2B5EF4-FFF2-40B4-BE49-F238E27FC236}">
                        <a16:creationId xmlns:a16="http://schemas.microsoft.com/office/drawing/2014/main" id="{498CD08F-FE09-19B8-665B-31FE99718CC9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680456" y="5412179"/>
                    <a:ext cx="1002204" cy="57672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zh-CN" altLang="en-US" sz="2800" dirty="0"/>
                  </a:p>
                </p:txBody>
              </p:sp>
            </mc:Choice>
            <mc:Fallback xmlns="">
              <p:sp>
                <p:nvSpPr>
                  <p:cNvPr id="7" name="Object 47">
                    <a:extLst>
                      <a:ext uri="{FF2B5EF4-FFF2-40B4-BE49-F238E27FC236}">
                        <a16:creationId xmlns:a16="http://schemas.microsoft.com/office/drawing/2014/main" id="{498CD08F-FE09-19B8-665B-31FE99718C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680456" y="5412179"/>
                    <a:ext cx="1002204" cy="576729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bject 47">
                  <a:extLst>
                    <a:ext uri="{FF2B5EF4-FFF2-40B4-BE49-F238E27FC236}">
                      <a16:creationId xmlns:a16="http://schemas.microsoft.com/office/drawing/2014/main" id="{214A0FAF-A4D3-3A54-4DB4-7A84209BFFED}"/>
                    </a:ext>
                  </a:extLst>
                </p:cNvPr>
                <p:cNvSpPr txBox="1"/>
                <p:nvPr/>
              </p:nvSpPr>
              <p:spPr bwMode="auto">
                <a:xfrm>
                  <a:off x="3298404" y="5824626"/>
                  <a:ext cx="1002204" cy="5767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" name="Object 47">
                  <a:extLst>
                    <a:ext uri="{FF2B5EF4-FFF2-40B4-BE49-F238E27FC236}">
                      <a16:creationId xmlns:a16="http://schemas.microsoft.com/office/drawing/2014/main" id="{214A0FAF-A4D3-3A54-4DB4-7A84209BFF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98404" y="5824626"/>
                  <a:ext cx="1002204" cy="576729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bject 47">
                  <a:extLst>
                    <a:ext uri="{FF2B5EF4-FFF2-40B4-BE49-F238E27FC236}">
                      <a16:creationId xmlns:a16="http://schemas.microsoft.com/office/drawing/2014/main" id="{E6A4A42D-9A6A-4B2D-BD67-E4C4DE752A32}"/>
                    </a:ext>
                  </a:extLst>
                </p:cNvPr>
                <p:cNvSpPr txBox="1"/>
                <p:nvPr/>
              </p:nvSpPr>
              <p:spPr bwMode="auto">
                <a:xfrm>
                  <a:off x="4805892" y="5824626"/>
                  <a:ext cx="1002204" cy="5767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" name="Object 47">
                  <a:extLst>
                    <a:ext uri="{FF2B5EF4-FFF2-40B4-BE49-F238E27FC236}">
                      <a16:creationId xmlns:a16="http://schemas.microsoft.com/office/drawing/2014/main" id="{E6A4A42D-9A6A-4B2D-BD67-E4C4DE752A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05892" y="5824626"/>
                  <a:ext cx="1002204" cy="576729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47">
                  <a:extLst>
                    <a:ext uri="{FF2B5EF4-FFF2-40B4-BE49-F238E27FC236}">
                      <a16:creationId xmlns:a16="http://schemas.microsoft.com/office/drawing/2014/main" id="{D39CF8BE-1491-683A-DD30-61F628A35FBB}"/>
                    </a:ext>
                  </a:extLst>
                </p:cNvPr>
                <p:cNvSpPr txBox="1"/>
                <p:nvPr/>
              </p:nvSpPr>
              <p:spPr bwMode="auto">
                <a:xfrm>
                  <a:off x="5829806" y="5824626"/>
                  <a:ext cx="1002204" cy="5767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" name="Object 47">
                  <a:extLst>
                    <a:ext uri="{FF2B5EF4-FFF2-40B4-BE49-F238E27FC236}">
                      <a16:creationId xmlns:a16="http://schemas.microsoft.com/office/drawing/2014/main" id="{D39CF8BE-1491-683A-DD30-61F628A35F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29806" y="5824626"/>
                  <a:ext cx="1002204" cy="576729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47">
                  <a:extLst>
                    <a:ext uri="{FF2B5EF4-FFF2-40B4-BE49-F238E27FC236}">
                      <a16:creationId xmlns:a16="http://schemas.microsoft.com/office/drawing/2014/main" id="{C6D41261-40DC-F435-96DC-33948EE6659B}"/>
                    </a:ext>
                  </a:extLst>
                </p:cNvPr>
                <p:cNvSpPr txBox="1"/>
                <p:nvPr/>
              </p:nvSpPr>
              <p:spPr bwMode="auto">
                <a:xfrm>
                  <a:off x="6947223" y="5824626"/>
                  <a:ext cx="1002204" cy="5767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" name="Object 47">
                  <a:extLst>
                    <a:ext uri="{FF2B5EF4-FFF2-40B4-BE49-F238E27FC236}">
                      <a16:creationId xmlns:a16="http://schemas.microsoft.com/office/drawing/2014/main" id="{C6D41261-40DC-F435-96DC-33948EE665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47223" y="5824626"/>
                  <a:ext cx="1002204" cy="576729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0727977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7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4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  <p:bldP spid="47107" grpId="0"/>
      <p:bldP spid="47108" grpId="0"/>
      <p:bldP spid="47109" grpId="0"/>
      <p:bldP spid="47110" grpId="0" autoUpdateAnimBg="0"/>
      <p:bldP spid="47111" grpId="0"/>
      <p:bldP spid="47150" grpId="0" autoUpdateAnimBg="0"/>
      <p:bldP spid="4715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3" name="Text Box 47"/>
          <p:cNvSpPr txBox="1">
            <a:spLocks noChangeArrowheads="1"/>
          </p:cNvSpPr>
          <p:nvPr/>
        </p:nvSpPr>
        <p:spPr bwMode="auto">
          <a:xfrm>
            <a:off x="974181" y="306690"/>
            <a:ext cx="16012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(3)  </a:t>
            </a: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除法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46" name="Object 50"/>
              <p:cNvSpPr txBox="1"/>
              <p:nvPr/>
            </p:nvSpPr>
            <p:spPr bwMode="auto">
              <a:xfrm>
                <a:off x="1609785" y="1668514"/>
                <a:ext cx="22098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≠0,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9746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9785" y="1668514"/>
                <a:ext cx="2209800" cy="927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3255645" y="1306386"/>
                <a:ext cx="3962401" cy="147119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645" y="1306386"/>
                <a:ext cx="3962401" cy="1471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 Box 314"/>
              <p:cNvSpPr txBox="1">
                <a:spLocks noChangeArrowheads="1"/>
              </p:cNvSpPr>
              <p:nvPr/>
            </p:nvSpPr>
            <p:spPr bwMode="auto">
              <a:xfrm>
                <a:off x="7030300" y="1655230"/>
                <a:ext cx="3962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/>
                  <a:t>商的系数可以这样确定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9" name="Text Box 3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30300" y="1655230"/>
                <a:ext cx="3962400" cy="523220"/>
              </a:xfrm>
              <a:prstGeom prst="rect">
                <a:avLst/>
              </a:prstGeom>
              <a:blipFill>
                <a:blip r:embed="rId4"/>
                <a:stretch>
                  <a:fillRect l="-3077" t="-15294" b="-305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1609785" y="4635092"/>
                <a:ext cx="3688036" cy="147245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85" y="4635092"/>
                <a:ext cx="3688036" cy="14724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1609785" y="3286552"/>
                <a:ext cx="5306765" cy="134938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9785" y="3286552"/>
                <a:ext cx="5306765" cy="13493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右箭头 5"/>
          <p:cNvSpPr/>
          <p:nvPr/>
        </p:nvSpPr>
        <p:spPr>
          <a:xfrm>
            <a:off x="5149056" y="4916059"/>
            <a:ext cx="2068990" cy="870012"/>
          </a:xfrm>
          <a:prstGeom prst="rightArrow">
            <a:avLst>
              <a:gd name="adj1" fmla="val 50000"/>
              <a:gd name="adj2" fmla="val 43431"/>
            </a:avLst>
          </a:prstGeom>
          <a:solidFill>
            <a:srgbClr val="CDE9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4926A"/>
                </a:solidFill>
              </a:rPr>
              <a:t>比较系数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7218046" y="4192560"/>
                <a:ext cx="3962400" cy="191499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⋯⋯⋯⋯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8046" y="4192560"/>
                <a:ext cx="3962400" cy="19149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>
              <a:xfrm>
                <a:off x="5032311" y="5995583"/>
                <a:ext cx="4724085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依次解方程求出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zh-CN" altLang="en-US" sz="28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11" y="5995583"/>
                <a:ext cx="4724085" cy="457200"/>
              </a:xfrm>
              <a:prstGeom prst="rect">
                <a:avLst/>
              </a:prstGeom>
              <a:blipFill>
                <a:blip r:embed="rId8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1">
                <a:extLst>
                  <a:ext uri="{FF2B5EF4-FFF2-40B4-BE49-F238E27FC236}">
                    <a16:creationId xmlns:a16="http://schemas.microsoft.com/office/drawing/2014/main" id="{AE962EDF-1596-7B92-52E3-07FBC0035BAB}"/>
                  </a:ext>
                </a:extLst>
              </p:cNvPr>
              <p:cNvSpPr txBox="1"/>
              <p:nvPr/>
            </p:nvSpPr>
            <p:spPr>
              <a:xfrm>
                <a:off x="3403239" y="1933622"/>
                <a:ext cx="1601239" cy="147119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1">
                <a:extLst>
                  <a:ext uri="{FF2B5EF4-FFF2-40B4-BE49-F238E27FC236}">
                    <a16:creationId xmlns:a16="http://schemas.microsoft.com/office/drawing/2014/main" id="{AE962EDF-1596-7B92-52E3-07FBC0035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239" y="1933622"/>
                <a:ext cx="1601239" cy="14711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1">
                <a:extLst>
                  <a:ext uri="{FF2B5EF4-FFF2-40B4-BE49-F238E27FC236}">
                    <a16:creationId xmlns:a16="http://schemas.microsoft.com/office/drawing/2014/main" id="{4961DB94-F9C9-FBE9-45B3-6145F1ACD30A}"/>
                  </a:ext>
                </a:extLst>
              </p:cNvPr>
              <p:cNvSpPr txBox="1"/>
              <p:nvPr/>
            </p:nvSpPr>
            <p:spPr>
              <a:xfrm>
                <a:off x="3420660" y="661868"/>
                <a:ext cx="1601239" cy="1471194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对象 1">
                <a:extLst>
                  <a:ext uri="{FF2B5EF4-FFF2-40B4-BE49-F238E27FC236}">
                    <a16:creationId xmlns:a16="http://schemas.microsoft.com/office/drawing/2014/main" id="{4961DB94-F9C9-FBE9-45B3-6145F1ACD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660" y="661868"/>
                <a:ext cx="1601239" cy="14711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600398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43" grpId="0"/>
      <p:bldP spid="29746" grpId="0"/>
      <p:bldP spid="2" grpId="0"/>
      <p:bldP spid="39" grpId="0"/>
      <p:bldP spid="4" grpId="0"/>
      <p:bldP spid="5" grpId="0"/>
      <p:bldP spid="6" grpId="0" animBg="1"/>
      <p:bldP spid="7" grpId="0"/>
      <p:bldP spid="8" grpId="0"/>
      <p:bldP spid="3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1"/>
          <p:cNvSpPr txBox="1">
            <a:spLocks noChangeArrowheads="1"/>
          </p:cNvSpPr>
          <p:nvPr/>
        </p:nvSpPr>
        <p:spPr bwMode="auto">
          <a:xfrm>
            <a:off x="1397000" y="445715"/>
            <a:ext cx="90656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相除后的收敛区间可能比原来两级数的收敛区间小得多</a:t>
            </a:r>
            <a:r>
              <a:rPr lang="en-US" altLang="zh-CN" sz="2800" b="1" dirty="0">
                <a:solidFill>
                  <a:srgbClr val="04926A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/>
              <p:cNvSpPr txBox="1"/>
              <p:nvPr/>
            </p:nvSpPr>
            <p:spPr bwMode="auto">
              <a:xfrm>
                <a:off x="3043434" y="933762"/>
                <a:ext cx="3419424" cy="13598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3434" y="933762"/>
                <a:ext cx="3419424" cy="13598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7"/>
              <p:cNvSpPr txBox="1"/>
              <p:nvPr/>
            </p:nvSpPr>
            <p:spPr bwMode="auto">
              <a:xfrm>
                <a:off x="3011893" y="2264901"/>
                <a:ext cx="2085189" cy="13964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1893" y="2264901"/>
                <a:ext cx="2085189" cy="13964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/>
              <p:cNvSpPr txBox="1"/>
              <p:nvPr/>
            </p:nvSpPr>
            <p:spPr bwMode="auto">
              <a:xfrm>
                <a:off x="5751433" y="1293410"/>
                <a:ext cx="5579872" cy="8066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=1, 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=1, 2, ⋯ )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51433" y="1293410"/>
                <a:ext cx="5579872" cy="8066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9"/>
              <p:cNvSpPr txBox="1"/>
              <p:nvPr/>
            </p:nvSpPr>
            <p:spPr bwMode="auto">
              <a:xfrm>
                <a:off x="5477030" y="2329253"/>
                <a:ext cx="4367002" cy="12469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=1, </m:t>
                                </m:r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=−1,   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=0, 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=2, 3, ⋯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77030" y="2329253"/>
                <a:ext cx="4367002" cy="12469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2596529" y="3547928"/>
            <a:ext cx="358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它们的收敛半径均为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1"/>
              <p:cNvSpPr txBox="1"/>
              <p:nvPr/>
            </p:nvSpPr>
            <p:spPr bwMode="auto">
              <a:xfrm>
                <a:off x="5863042" y="3552692"/>
                <a:ext cx="1460502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=∞,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63042" y="3552692"/>
                <a:ext cx="1460502" cy="393700"/>
              </a:xfrm>
              <a:prstGeom prst="rect">
                <a:avLst/>
              </a:prstGeom>
              <a:blipFill>
                <a:blip r:embed="rId6"/>
                <a:stretch>
                  <a:fillRect b="-156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7055968" y="3542506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但是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3"/>
              <p:cNvSpPr txBox="1"/>
              <p:nvPr/>
            </p:nvSpPr>
            <p:spPr bwMode="auto">
              <a:xfrm>
                <a:off x="3011893" y="4250618"/>
                <a:ext cx="1295401" cy="990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1893" y="4250618"/>
                <a:ext cx="1295401" cy="990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4"/>
              <p:cNvSpPr txBox="1"/>
              <p:nvPr/>
            </p:nvSpPr>
            <p:spPr bwMode="auto">
              <a:xfrm>
                <a:off x="6087889" y="4618743"/>
                <a:ext cx="4673992" cy="736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87889" y="4618743"/>
                <a:ext cx="4673992" cy="7367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2596529" y="5861834"/>
            <a:ext cx="362621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其收敛半径只是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6"/>
              <p:cNvSpPr txBox="1"/>
              <p:nvPr/>
            </p:nvSpPr>
            <p:spPr bwMode="auto">
              <a:xfrm>
                <a:off x="5190417" y="5861834"/>
                <a:ext cx="1310696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90417" y="5861834"/>
                <a:ext cx="1310696" cy="393700"/>
              </a:xfrm>
              <a:prstGeom prst="rect">
                <a:avLst/>
              </a:prstGeom>
              <a:blipFill>
                <a:blip r:embed="rId9"/>
                <a:stretch>
                  <a:fillRect b="-31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7"/>
              <p:cNvSpPr txBox="1"/>
              <p:nvPr/>
            </p:nvSpPr>
            <p:spPr bwMode="auto">
              <a:xfrm>
                <a:off x="4467594" y="1293687"/>
                <a:ext cx="1263700" cy="6461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7594" y="1293687"/>
                <a:ext cx="1263700" cy="6461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8"/>
              <p:cNvSpPr txBox="1"/>
              <p:nvPr/>
            </p:nvSpPr>
            <p:spPr bwMode="auto">
              <a:xfrm>
                <a:off x="4407917" y="2628495"/>
                <a:ext cx="1566101" cy="5863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7917" y="2628495"/>
                <a:ext cx="1566101" cy="58635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ine 19"/>
          <p:cNvSpPr>
            <a:spLocks noChangeShapeType="1"/>
          </p:cNvSpPr>
          <p:nvPr/>
        </p:nvSpPr>
        <p:spPr bwMode="auto">
          <a:xfrm flipH="1">
            <a:off x="3366821" y="4315704"/>
            <a:ext cx="10668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20"/>
              <p:cNvSpPr txBox="1"/>
              <p:nvPr/>
            </p:nvSpPr>
            <p:spPr bwMode="auto">
              <a:xfrm>
                <a:off x="3850552" y="4803070"/>
                <a:ext cx="1294941" cy="11239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0552" y="4803070"/>
                <a:ext cx="1294941" cy="112394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1"/>
              <p:cNvSpPr txBox="1"/>
              <p:nvPr/>
            </p:nvSpPr>
            <p:spPr bwMode="auto">
              <a:xfrm>
                <a:off x="4788549" y="4407599"/>
                <a:ext cx="1511012" cy="14427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8549" y="4407599"/>
                <a:ext cx="1511012" cy="144276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2596529" y="1343799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设 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D435765-38AD-A707-D6F7-EB2F1382A488}"/>
              </a:ext>
            </a:extLst>
          </p:cNvPr>
          <p:cNvGrpSpPr/>
          <p:nvPr/>
        </p:nvGrpSpPr>
        <p:grpSpPr>
          <a:xfrm>
            <a:off x="1467340" y="1379170"/>
            <a:ext cx="1231265" cy="449580"/>
            <a:chOff x="1553" y="3802"/>
            <a:chExt cx="1939" cy="708"/>
          </a:xfrm>
        </p:grpSpPr>
        <p:sp>
          <p:nvSpPr>
            <p:cNvPr id="23" name="圆角矩形 21">
              <a:extLst>
                <a:ext uri="{FF2B5EF4-FFF2-40B4-BE49-F238E27FC236}">
                  <a16:creationId xmlns:a16="http://schemas.microsoft.com/office/drawing/2014/main" id="{845D2463-5557-7922-1BE6-E6DE461146B4}"/>
                </a:ext>
              </a:extLst>
            </p:cNvPr>
            <p:cNvSpPr/>
            <p:nvPr/>
          </p:nvSpPr>
          <p:spPr>
            <a:xfrm>
              <a:off x="1553" y="3803"/>
              <a:ext cx="150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Text Box 28">
              <a:extLst>
                <a:ext uri="{FF2B5EF4-FFF2-40B4-BE49-F238E27FC236}">
                  <a16:creationId xmlns:a16="http://schemas.microsoft.com/office/drawing/2014/main" id="{6FD1F0E1-7178-257F-1BB9-A2513D40FA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02"/>
              <a:ext cx="1842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例如，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824475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/>
      <p:bldP spid="6" grpId="0"/>
      <p:bldP spid="7" grpId="0"/>
      <p:bldP spid="8" grpId="0"/>
      <p:bldP spid="9" grpId="0" autoUpdateAnimBg="0"/>
      <p:bldP spid="10" grpId="0"/>
      <p:bldP spid="11" grpId="0" autoUpdateAnimBg="0"/>
      <p:bldP spid="12" grpId="0"/>
      <p:bldP spid="13" grpId="0"/>
      <p:bldP spid="14" grpId="0" autoUpdateAnimBg="0"/>
      <p:bldP spid="15" grpId="0"/>
      <p:bldP spid="16" grpId="0"/>
      <p:bldP spid="17" grpId="0"/>
      <p:bldP spid="19" grpId="0"/>
      <p:bldP spid="20" grpId="0"/>
      <p:bldP spid="21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60" name="Text Box 36"/>
          <p:cNvSpPr txBox="1">
            <a:spLocks noChangeArrowheads="1"/>
          </p:cNvSpPr>
          <p:nvPr/>
        </p:nvSpPr>
        <p:spPr bwMode="auto">
          <a:xfrm>
            <a:off x="1148020" y="459431"/>
            <a:ext cx="4894864" cy="523220"/>
          </a:xfrm>
          <a:prstGeom prst="rect">
            <a:avLst/>
          </a:prstGeom>
          <a:noFill/>
          <a:ln w="28575">
            <a:noFill/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和函数的分析运算性质</a:t>
            </a:r>
          </a:p>
        </p:txBody>
      </p:sp>
      <p:sp>
        <p:nvSpPr>
          <p:cNvPr id="103461" name="Text Box 37"/>
          <p:cNvSpPr txBox="1">
            <a:spLocks noChangeArrowheads="1"/>
          </p:cNvSpPr>
          <p:nvPr/>
        </p:nvSpPr>
        <p:spPr bwMode="auto">
          <a:xfrm>
            <a:off x="1561845" y="1274457"/>
            <a:ext cx="25844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+mn-ea"/>
              </a:rPr>
              <a:t>性质</a:t>
            </a:r>
            <a:r>
              <a:rPr lang="en-US" altLang="zh-CN" sz="2800" b="1" dirty="0">
                <a:solidFill>
                  <a:srgbClr val="04926A"/>
                </a:solidFill>
                <a:latin typeface="+mn-ea"/>
              </a:rPr>
              <a:t>1</a:t>
            </a:r>
            <a:r>
              <a:rPr lang="en-US" altLang="zh-CN" sz="2800" dirty="0">
                <a:latin typeface="+mn-ea"/>
              </a:rPr>
              <a:t>  </a:t>
            </a:r>
            <a:r>
              <a:rPr lang="zh-CN" altLang="en-US" sz="2800" dirty="0">
                <a:latin typeface="+mn-ea"/>
              </a:rPr>
              <a:t>幂级数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463" name="Text Box 39"/>
              <p:cNvSpPr txBox="1">
                <a:spLocks noChangeArrowheads="1"/>
              </p:cNvSpPr>
              <p:nvPr/>
            </p:nvSpPr>
            <p:spPr bwMode="auto">
              <a:xfrm>
                <a:off x="5461145" y="1274457"/>
                <a:ext cx="5791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的和函数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𝑠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在其收敛域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上连续</a:t>
                </a:r>
                <a:r>
                  <a:rPr lang="en-US" altLang="zh-CN" sz="2800" dirty="0">
                    <a:latin typeface="+mn-ea"/>
                  </a:rPr>
                  <a:t>.</a:t>
                </a: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CN" sz="28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463" name="Text 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1145" y="1274457"/>
                <a:ext cx="5791200" cy="523220"/>
              </a:xfrm>
              <a:prstGeom prst="rect">
                <a:avLst/>
              </a:prstGeom>
              <a:blipFill>
                <a:blip r:embed="rId2"/>
                <a:stretch>
                  <a:fillRect l="-2211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68" name="Text Box 44"/>
              <p:cNvSpPr txBox="1">
                <a:spLocks noChangeArrowheads="1"/>
              </p:cNvSpPr>
              <p:nvPr/>
            </p:nvSpPr>
            <p:spPr bwMode="auto">
              <a:xfrm>
                <a:off x="1485645" y="3387534"/>
                <a:ext cx="433631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+mn-ea"/>
                  </a:rPr>
                  <a:t>上可积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有逐项积分公式</a:t>
                </a:r>
              </a:p>
            </p:txBody>
          </p:sp>
        </mc:Choice>
        <mc:Fallback xmlns="">
          <p:sp>
            <p:nvSpPr>
              <p:cNvPr id="103468" name="Text 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5645" y="3387534"/>
                <a:ext cx="4336310" cy="523220"/>
              </a:xfrm>
              <a:prstGeom prst="rect">
                <a:avLst/>
              </a:prstGeom>
              <a:blipFill>
                <a:blip r:embed="rId3"/>
                <a:stretch>
                  <a:fillRect l="-2954" t="-1511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471" name="Text Box 47"/>
          <p:cNvSpPr txBox="1">
            <a:spLocks noChangeArrowheads="1"/>
          </p:cNvSpPr>
          <p:nvPr/>
        </p:nvSpPr>
        <p:spPr bwMode="auto">
          <a:xfrm>
            <a:off x="1574945" y="5439223"/>
            <a:ext cx="3886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+mn-ea"/>
              </a:rPr>
              <a:t>并且收敛半径不变</a:t>
            </a:r>
            <a:r>
              <a:rPr lang="en-US" altLang="zh-CN" sz="2800" dirty="0">
                <a:latin typeface="+mn-ea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3957428" y="895557"/>
                <a:ext cx="2152836" cy="129880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28" y="895557"/>
                <a:ext cx="2152836" cy="12988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37"/>
          <p:cNvSpPr txBox="1">
            <a:spLocks noChangeArrowheads="1"/>
          </p:cNvSpPr>
          <p:nvPr/>
        </p:nvSpPr>
        <p:spPr bwMode="auto">
          <a:xfrm>
            <a:off x="1561845" y="2411188"/>
            <a:ext cx="25844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+mn-ea"/>
              </a:rPr>
              <a:t>性质</a:t>
            </a:r>
            <a:r>
              <a:rPr lang="en-US" altLang="zh-CN" sz="2800" b="1" dirty="0">
                <a:solidFill>
                  <a:srgbClr val="04926A"/>
                </a:solidFill>
                <a:latin typeface="+mn-ea"/>
              </a:rPr>
              <a:t>2  </a:t>
            </a:r>
            <a:r>
              <a:rPr lang="zh-CN" altLang="en-US" sz="2800" dirty="0">
                <a:latin typeface="+mn-ea"/>
              </a:rPr>
              <a:t>幂级数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39"/>
              <p:cNvSpPr txBox="1">
                <a:spLocks noChangeArrowheads="1"/>
              </p:cNvSpPr>
              <p:nvPr/>
            </p:nvSpPr>
            <p:spPr bwMode="auto">
              <a:xfrm>
                <a:off x="5461145" y="2411188"/>
                <a:ext cx="4724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的和函数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𝑠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在其收敛域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altLang="zh-CN" sz="28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 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1145" y="2411188"/>
                <a:ext cx="4724400" cy="523220"/>
              </a:xfrm>
              <a:prstGeom prst="rect">
                <a:avLst/>
              </a:prstGeom>
              <a:blipFill>
                <a:blip r:embed="rId5"/>
                <a:stretch>
                  <a:fillRect l="-2710" t="-16471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对象 17"/>
              <p:cNvSpPr txBox="1"/>
              <p:nvPr/>
            </p:nvSpPr>
            <p:spPr>
              <a:xfrm>
                <a:off x="3957428" y="2092257"/>
                <a:ext cx="2152835" cy="128675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对象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7428" y="2092257"/>
                <a:ext cx="2152835" cy="12867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701378" y="3919280"/>
                <a:ext cx="11041443" cy="1286359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nary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nary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e>
                          </m:nary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kumimoji="1" lang="en-US" altLang="zh-CN" sz="2800">
                              <a:latin typeface="Cambria Math" panose="02040503050406030204" charset="0"/>
                              <a:ea typeface="黑体" panose="02010609060101010101" pitchFamily="49" charset="-122"/>
                              <a:cs typeface="Cambria Math" panose="02040503050406030204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378" y="3919280"/>
                <a:ext cx="11041443" cy="12863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对象 4"/>
          <p:cNvSpPr txBox="1"/>
          <p:nvPr/>
        </p:nvSpPr>
        <p:spPr>
          <a:xfrm>
            <a:off x="3085116" y="5088353"/>
            <a:ext cx="4641006" cy="1391075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34"/>
              <p:cNvSpPr txBox="1">
                <a:spLocks noChangeArrowheads="1"/>
              </p:cNvSpPr>
              <p:nvPr/>
            </p:nvSpPr>
            <p:spPr bwMode="auto">
              <a:xfrm>
                <a:off x="7677996" y="5350967"/>
                <a:ext cx="3373515" cy="830997"/>
              </a:xfrm>
              <a:prstGeom prst="rect">
                <a:avLst/>
              </a:prstGeom>
              <a:solidFill>
                <a:srgbClr val="CDE9E1"/>
              </a:solidFill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4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注</a:t>
                </a:r>
                <a:r>
                  <a:rPr kumimoji="1" lang="en-US" altLang="zh-CN" sz="24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: </a:t>
                </a:r>
                <a:r>
                  <a:rPr kumimoji="1" lang="zh-CN" altLang="en-US" sz="24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逐项积分时</a:t>
                </a:r>
                <a14:m>
                  <m:oMath xmlns:m="http://schemas.openxmlformats.org/officeDocument/2006/math">
                    <m:r>
                      <a:rPr kumimoji="1" lang="en-US" altLang="zh-CN" sz="2400" b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zh-CN" altLang="en-US" sz="24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 运算前后端点处的敛散性不变</a:t>
                </a:r>
                <a:r>
                  <a:rPr kumimoji="1" lang="en-US" altLang="zh-CN" sz="2400" dirty="0">
                    <a:solidFill>
                      <a:srgbClr val="04926A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1" name="Text 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77996" y="5350967"/>
                <a:ext cx="3373515" cy="830997"/>
              </a:xfrm>
              <a:prstGeom prst="rect">
                <a:avLst/>
              </a:prstGeom>
              <a:blipFill>
                <a:blip r:embed="rId9"/>
                <a:stretch>
                  <a:fillRect l="-2893" t="-8088" r="-362" b="-161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361825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3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3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60" grpId="0"/>
      <p:bldP spid="103461" grpId="0"/>
      <p:bldP spid="103463" grpId="0"/>
      <p:bldP spid="103468" grpId="0"/>
      <p:bldP spid="103471" grpId="0"/>
      <p:bldP spid="2" grpId="0"/>
      <p:bldP spid="16" grpId="0"/>
      <p:bldP spid="17" grpId="0"/>
      <p:bldP spid="18" grpId="0"/>
      <p:bldP spid="4" grpId="0"/>
      <p:bldP spid="5" grpId="0"/>
      <p:bldP spid="2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5DDBC741-2D94-1B3D-152A-D416B5113214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7" name="PA-102232">
              <a:extLst>
                <a:ext uri="{FF2B5EF4-FFF2-40B4-BE49-F238E27FC236}">
                  <a16:creationId xmlns:a16="http://schemas.microsoft.com/office/drawing/2014/main" id="{EA4AE04D-E64D-C90B-AF4C-03828047AD88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1B1BFF8E-AD39-660E-EB7F-A9F0A519A155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9" name="Rectangle 1">
                <a:extLst>
                  <a:ext uri="{FF2B5EF4-FFF2-40B4-BE49-F238E27FC236}">
                    <a16:creationId xmlns:a16="http://schemas.microsoft.com/office/drawing/2014/main" id="{D3D8FF45-53EE-007F-A0BB-4E3BEA37FDA2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DC1A868A-9BA9-396D-B8CA-08C69B6CF77C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B08A42A9-4823-8F66-4523-8D8CEEE24617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04472" name="Text Box 24"/>
          <p:cNvSpPr txBox="1">
            <a:spLocks noChangeArrowheads="1"/>
          </p:cNvSpPr>
          <p:nvPr/>
        </p:nvSpPr>
        <p:spPr bwMode="auto">
          <a:xfrm>
            <a:off x="1951210" y="1247480"/>
            <a:ext cx="25844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b="1" dirty="0">
                <a:solidFill>
                  <a:srgbClr val="04926A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3  </a:t>
            </a: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幂级数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474" name="Text Box 26"/>
              <p:cNvSpPr txBox="1">
                <a:spLocks noChangeArrowheads="1"/>
              </p:cNvSpPr>
              <p:nvPr/>
            </p:nvSpPr>
            <p:spPr bwMode="auto">
              <a:xfrm>
                <a:off x="5627214" y="1247480"/>
                <a:ext cx="4724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的和函数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𝑠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在其收敛区间</a:t>
                </a:r>
                <a:endParaRPr lang="zh-CN" altLang="en-US" sz="28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47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27214" y="1247480"/>
                <a:ext cx="4724400" cy="523220"/>
              </a:xfrm>
              <a:prstGeom prst="rect">
                <a:avLst/>
              </a:prstGeom>
              <a:blipFill>
                <a:blip r:embed="rId3"/>
                <a:stretch>
                  <a:fillRect l="-2581" t="-16471" b="-329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475" name="Text Box 27"/>
          <p:cNvSpPr txBox="1">
            <a:spLocks noChangeArrowheads="1"/>
          </p:cNvSpPr>
          <p:nvPr/>
        </p:nvSpPr>
        <p:spPr bwMode="auto">
          <a:xfrm>
            <a:off x="4221849" y="2193682"/>
            <a:ext cx="33165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有逐项求导公式</a:t>
            </a:r>
          </a:p>
        </p:txBody>
      </p:sp>
      <p:sp>
        <p:nvSpPr>
          <p:cNvPr id="104476" name="Text Box 28"/>
          <p:cNvSpPr txBox="1">
            <a:spLocks noChangeArrowheads="1"/>
          </p:cNvSpPr>
          <p:nvPr/>
        </p:nvSpPr>
        <p:spPr bwMode="auto">
          <a:xfrm>
            <a:off x="1953027" y="4453400"/>
            <a:ext cx="3429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并且收敛半径不变</a:t>
            </a:r>
            <a:r>
              <a:rPr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4177131" y="848557"/>
                <a:ext cx="2110154" cy="136417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131" y="848557"/>
                <a:ext cx="2110154" cy="13641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1882102" y="2193682"/>
                <a:ext cx="3072573" cy="107501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内可导</m:t>
                      </m:r>
                      <m:r>
                        <a:rPr kumimoji="1" lang="en-US" altLang="zh-CN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2102" y="2193682"/>
                <a:ext cx="3072573" cy="10750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1951209" y="2927404"/>
                <a:ext cx="10869641" cy="156229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 (|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en-US" altLang="zh-CN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  <a:p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209" y="2927404"/>
                <a:ext cx="10869641" cy="15622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对象 4"/>
          <p:cNvSpPr txBox="1"/>
          <p:nvPr/>
        </p:nvSpPr>
        <p:spPr>
          <a:xfrm>
            <a:off x="5215145" y="4309378"/>
            <a:ext cx="4799599" cy="9271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7550793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4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4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72" grpId="0"/>
      <p:bldP spid="104474" grpId="0"/>
      <p:bldP spid="104475" grpId="0"/>
      <p:bldP spid="104476" grpId="0"/>
      <p:bldP spid="2" grpId="0"/>
      <p:bldP spid="3" grpId="0"/>
      <p:bldP spid="4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71958CD-1E39-D4A8-B8CB-C67759A802C5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7BF53D27-FFFB-BACE-86E8-0DA66CDF77D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AC043010-0DC7-5B0F-A780-93598E37940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2CD3A8AF-DA15-C039-28A8-DF89273805FA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0AA85AB4-2BA4-40A5-820E-635E91BD9A1A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44F9FD48-A93B-82DC-90C5-38199F326C1A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534" name="Text Box 6"/>
              <p:cNvSpPr txBox="1">
                <a:spLocks noChangeArrowheads="1"/>
              </p:cNvSpPr>
              <p:nvPr/>
            </p:nvSpPr>
            <p:spPr bwMode="auto">
              <a:xfrm>
                <a:off x="1904511" y="1850404"/>
                <a:ext cx="61722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由例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2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可知级数的收敛半径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22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＝</a:t>
                </a:r>
                <a:r>
                  <a:rPr lang="en-US" altLang="zh-CN" sz="22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+∞.</a:t>
                </a:r>
              </a:p>
            </p:txBody>
          </p:sp>
        </mc:Choice>
        <mc:Fallback xmlns="">
          <p:sp>
            <p:nvSpPr>
              <p:cNvPr id="22534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4511" y="1850404"/>
                <a:ext cx="6172200" cy="519113"/>
              </a:xfrm>
              <a:prstGeom prst="rect">
                <a:avLst/>
              </a:prstGeom>
              <a:blipFill>
                <a:blip r:embed="rId4"/>
                <a:stretch>
                  <a:fillRect l="-1974" t="-1294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04511" y="966590"/>
            <a:ext cx="912397" cy="519113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1" name="Object 3"/>
              <p:cNvSpPr txBox="1"/>
              <p:nvPr/>
            </p:nvSpPr>
            <p:spPr bwMode="auto">
              <a:xfrm>
                <a:off x="2817543" y="560592"/>
                <a:ext cx="3543300" cy="15674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求幂级数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53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7543" y="560592"/>
                <a:ext cx="3543300" cy="15674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35" name="Object 7"/>
              <p:cNvSpPr txBox="1"/>
              <p:nvPr/>
            </p:nvSpPr>
            <p:spPr bwMode="auto">
              <a:xfrm>
                <a:off x="3220014" y="2353530"/>
                <a:ext cx="2145203" cy="10573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3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0014" y="2353530"/>
                <a:ext cx="2145203" cy="10573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36" name="Object 8"/>
              <p:cNvSpPr txBox="1"/>
              <p:nvPr/>
            </p:nvSpPr>
            <p:spPr bwMode="auto">
              <a:xfrm>
                <a:off x="5031275" y="2623420"/>
                <a:ext cx="3637183" cy="615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( −∞&lt;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&lt;+∞ ),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3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31275" y="2623420"/>
                <a:ext cx="3637183" cy="615750"/>
              </a:xfrm>
              <a:prstGeom prst="rect">
                <a:avLst/>
              </a:prstGeom>
              <a:blipFill>
                <a:blip r:embed="rId7"/>
                <a:stretch>
                  <a:fillRect l="-10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2817543" y="3661728"/>
            <a:ext cx="762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8" name="Object 10"/>
              <p:cNvSpPr txBox="1"/>
              <p:nvPr/>
            </p:nvSpPr>
            <p:spPr bwMode="auto">
              <a:xfrm>
                <a:off x="3220014" y="3387536"/>
                <a:ext cx="2603500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−1)!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3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20014" y="3387536"/>
                <a:ext cx="2603500" cy="1041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39" name="Object 11"/>
              <p:cNvSpPr txBox="1"/>
              <p:nvPr/>
            </p:nvSpPr>
            <p:spPr bwMode="auto">
              <a:xfrm>
                <a:off x="5696317" y="3391059"/>
                <a:ext cx="1181100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3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96317" y="3391059"/>
                <a:ext cx="1181100" cy="10414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40" name="Object 12"/>
              <p:cNvSpPr txBox="1"/>
              <p:nvPr/>
            </p:nvSpPr>
            <p:spPr bwMode="auto">
              <a:xfrm>
                <a:off x="6849867" y="3658150"/>
                <a:ext cx="1740193" cy="430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40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49867" y="3658150"/>
                <a:ext cx="1740193" cy="430887"/>
              </a:xfrm>
              <a:prstGeom prst="rect">
                <a:avLst/>
              </a:prstGeom>
              <a:blipFill>
                <a:blip r:embed="rId10"/>
                <a:stretch>
                  <a:fillRect b="-183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41" name="Object 13"/>
              <p:cNvSpPr txBox="1"/>
              <p:nvPr/>
            </p:nvSpPr>
            <p:spPr bwMode="auto">
              <a:xfrm>
                <a:off x="7903865" y="3655396"/>
                <a:ext cx="2892865" cy="6429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( −∞&lt;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&lt;+∞ )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41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03865" y="3655396"/>
                <a:ext cx="2892865" cy="642904"/>
              </a:xfrm>
              <a:prstGeom prst="rect">
                <a:avLst/>
              </a:prstGeom>
              <a:blipFill>
                <a:blip r:embed="rId11"/>
                <a:stretch>
                  <a:fillRect l="-14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2817543" y="4512531"/>
            <a:ext cx="990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故有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43" name="Object 15"/>
              <p:cNvSpPr txBox="1"/>
              <p:nvPr/>
            </p:nvSpPr>
            <p:spPr bwMode="auto">
              <a:xfrm>
                <a:off x="3457671" y="4496079"/>
                <a:ext cx="2365843" cy="5284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endChr m:val="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43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7671" y="4496079"/>
                <a:ext cx="2365843" cy="528442"/>
              </a:xfrm>
              <a:prstGeom prst="rect">
                <a:avLst/>
              </a:prstGeom>
              <a:blipFill>
                <a:blip r:embed="rId12"/>
                <a:stretch>
                  <a:fillRect l="-17784" t="-102326" b="-14069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44" name="Object 16"/>
              <p:cNvSpPr txBox="1"/>
              <p:nvPr/>
            </p:nvSpPr>
            <p:spPr bwMode="auto">
              <a:xfrm>
                <a:off x="3727272" y="4982746"/>
                <a:ext cx="18542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44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27272" y="4982746"/>
                <a:ext cx="1854200" cy="469900"/>
              </a:xfrm>
              <a:prstGeom prst="rect">
                <a:avLst/>
              </a:prstGeom>
              <a:blipFill>
                <a:blip r:embed="rId13"/>
                <a:stretch>
                  <a:fillRect b="-129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47" name="Object 19"/>
              <p:cNvSpPr txBox="1"/>
              <p:nvPr/>
            </p:nvSpPr>
            <p:spPr bwMode="auto">
              <a:xfrm>
                <a:off x="2817543" y="5547165"/>
                <a:ext cx="34163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由</m:t>
                      </m:r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得</m:t>
                      </m:r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47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17543" y="5547165"/>
                <a:ext cx="3416300" cy="520700"/>
              </a:xfrm>
              <a:prstGeom prst="rect">
                <a:avLst/>
              </a:prstGeom>
              <a:blipFill>
                <a:blip r:embed="rId14"/>
                <a:stretch>
                  <a:fillRect l="-10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5865032" y="5553383"/>
            <a:ext cx="1143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故得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51" name="Object 23"/>
              <p:cNvSpPr txBox="1"/>
              <p:nvPr/>
            </p:nvSpPr>
            <p:spPr bwMode="auto">
              <a:xfrm>
                <a:off x="6471105" y="5249576"/>
                <a:ext cx="1854200" cy="1117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51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1105" y="5249576"/>
                <a:ext cx="1854200" cy="11176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53" name="Text Box 25"/>
          <p:cNvSpPr txBox="1">
            <a:spLocks noChangeArrowheads="1"/>
          </p:cNvSpPr>
          <p:nvPr/>
        </p:nvSpPr>
        <p:spPr bwMode="auto">
          <a:xfrm>
            <a:off x="5453190" y="927624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的和函数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22554" name="Text Box 26"/>
          <p:cNvSpPr txBox="1">
            <a:spLocks noChangeArrowheads="1"/>
          </p:cNvSpPr>
          <p:nvPr/>
        </p:nvSpPr>
        <p:spPr bwMode="auto">
          <a:xfrm>
            <a:off x="2817543" y="4987978"/>
            <a:ext cx="103105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因此得</a:t>
            </a:r>
          </a:p>
        </p:txBody>
      </p:sp>
      <p:sp>
        <p:nvSpPr>
          <p:cNvPr id="22555" name="Text Box 27"/>
          <p:cNvSpPr txBox="1">
            <a:spLocks noChangeArrowheads="1"/>
          </p:cNvSpPr>
          <p:nvPr/>
        </p:nvSpPr>
        <p:spPr bwMode="auto">
          <a:xfrm>
            <a:off x="7144727" y="1921823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设</a:t>
            </a:r>
          </a:p>
        </p:txBody>
      </p:sp>
    </p:spTree>
    <p:extLst>
      <p:ext uri="{BB962C8B-B14F-4D97-AF65-F5344CB8AC3E}">
        <p14:creationId xmlns:p14="http://schemas.microsoft.com/office/powerpoint/2010/main" val="24968273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 autoUpdateAnimBg="0"/>
      <p:bldP spid="22530" grpId="0"/>
      <p:bldP spid="22531" grpId="0"/>
      <p:bldP spid="22535" grpId="0"/>
      <p:bldP spid="22536" grpId="0"/>
      <p:bldP spid="22537" grpId="0" autoUpdateAnimBg="0"/>
      <p:bldP spid="22538" grpId="0"/>
      <p:bldP spid="22539" grpId="0"/>
      <p:bldP spid="22540" grpId="0"/>
      <p:bldP spid="22541" grpId="0"/>
      <p:bldP spid="22542" grpId="0" autoUpdateAnimBg="0"/>
      <p:bldP spid="22543" grpId="0"/>
      <p:bldP spid="22544" grpId="0"/>
      <p:bldP spid="22547" grpId="0"/>
      <p:bldP spid="22550" grpId="0" autoUpdateAnimBg="0"/>
      <p:bldP spid="22551" grpId="0"/>
      <p:bldP spid="22553" grpId="0"/>
      <p:bldP spid="22554" grpId="0" build="p" autoUpdateAnimBg="0"/>
      <p:bldP spid="22555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0C122D1-C112-D046-9A53-3340CCD38E9B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4CDE1BAF-055C-E9EC-747B-66E5B68792B1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C9BDC812-0A1C-08D4-A260-C6D2A195463B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4B9AE5E6-F1F8-DD2B-2616-B025EB40C84A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831549ED-72F4-E4D6-F915-CA672A7C7811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4F9B67B6-EE1F-D098-9627-D3176E6B2EF2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44405" y="1205983"/>
            <a:ext cx="2438400" cy="4572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l"/>
            <a:r>
              <a:rPr lang="zh-CN" altLang="en-US" sz="31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31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 </a:t>
            </a:r>
            <a:endParaRPr lang="en-US" altLang="zh-CN" sz="28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5" name="Object 3"/>
              <p:cNvSpPr txBox="1"/>
              <p:nvPr/>
            </p:nvSpPr>
            <p:spPr bwMode="auto">
              <a:xfrm>
                <a:off x="3315782" y="781149"/>
                <a:ext cx="4867423" cy="15517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求幂级数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55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5782" y="781149"/>
                <a:ext cx="4867423" cy="15517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6014875" y="1138514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的和函数</a:t>
            </a: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2610933" y="2033071"/>
            <a:ext cx="598936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易求出幂级数的收敛半径为 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1,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9" name="Text Box 7"/>
              <p:cNvSpPr txBox="1">
                <a:spLocks noChangeArrowheads="1"/>
              </p:cNvSpPr>
              <p:nvPr/>
            </p:nvSpPr>
            <p:spPr bwMode="auto">
              <a:xfrm>
                <a:off x="7070268" y="2096219"/>
                <a:ext cx="2453156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CN" altLang="en-US" sz="2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＝</a:t>
                </a:r>
                <a:r>
                  <a:rPr kumimoji="1" lang="en-US" altLang="zh-CN" sz="2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±1 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时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级数发</a:t>
                </a:r>
              </a:p>
            </p:txBody>
          </p:sp>
        </mc:Choice>
        <mc:Fallback xmlns="">
          <p:sp>
            <p:nvSpPr>
              <p:cNvPr id="23559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70268" y="2096219"/>
                <a:ext cx="2453156" cy="430887"/>
              </a:xfrm>
              <a:prstGeom prst="rect">
                <a:avLst/>
              </a:prstGeom>
              <a:blipFill>
                <a:blip r:embed="rId5"/>
                <a:stretch>
                  <a:fillRect t="-14085" b="-267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58" name="Object 6"/>
              <p:cNvSpPr txBox="1"/>
              <p:nvPr/>
            </p:nvSpPr>
            <p:spPr bwMode="auto">
              <a:xfrm>
                <a:off x="3318811" y="2609090"/>
                <a:ext cx="28194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故当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−1 , 1</m:t>
                          </m:r>
                        </m:e>
                      </m:d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355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8811" y="2609090"/>
                <a:ext cx="2819400" cy="444500"/>
              </a:xfrm>
              <a:prstGeom prst="rect">
                <a:avLst/>
              </a:prstGeom>
              <a:blipFill>
                <a:blip r:embed="rId6"/>
                <a:stretch>
                  <a:fillRect l="-1512" b="-82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61" name="Object 9"/>
              <p:cNvSpPr txBox="1"/>
              <p:nvPr/>
            </p:nvSpPr>
            <p:spPr bwMode="auto">
              <a:xfrm>
                <a:off x="3927159" y="3088472"/>
                <a:ext cx="2133600" cy="11517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356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27159" y="3088472"/>
                <a:ext cx="2133600" cy="1151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62" name="Object 10"/>
              <p:cNvSpPr txBox="1"/>
              <p:nvPr/>
            </p:nvSpPr>
            <p:spPr bwMode="auto">
              <a:xfrm>
                <a:off x="4533363" y="4168900"/>
                <a:ext cx="2133600" cy="1216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356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3363" y="4168900"/>
                <a:ext cx="2133600" cy="12160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63" name="Object 11"/>
              <p:cNvSpPr txBox="1"/>
              <p:nvPr/>
            </p:nvSpPr>
            <p:spPr bwMode="auto">
              <a:xfrm>
                <a:off x="4532728" y="5241214"/>
                <a:ext cx="2070100" cy="1309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356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2728" y="5241214"/>
                <a:ext cx="2070100" cy="13096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64" name="Object 12"/>
              <p:cNvSpPr txBox="1"/>
              <p:nvPr/>
            </p:nvSpPr>
            <p:spPr bwMode="auto">
              <a:xfrm>
                <a:off x="6134548" y="5315303"/>
                <a:ext cx="2465754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3564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34548" y="5315303"/>
                <a:ext cx="2465754" cy="1016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65" name="Object 13"/>
              <p:cNvSpPr txBox="1"/>
              <p:nvPr/>
            </p:nvSpPr>
            <p:spPr bwMode="auto">
              <a:xfrm>
                <a:off x="7439228" y="1161867"/>
                <a:ext cx="8382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56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39228" y="1161867"/>
                <a:ext cx="838200" cy="406400"/>
              </a:xfrm>
              <a:prstGeom prst="rect">
                <a:avLst/>
              </a:prstGeom>
              <a:blipFill>
                <a:blip r:embed="rId11"/>
                <a:stretch>
                  <a:fillRect b="-181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67" name="Object 15"/>
              <p:cNvSpPr txBox="1"/>
              <p:nvPr/>
            </p:nvSpPr>
            <p:spPr bwMode="auto">
              <a:xfrm>
                <a:off x="5854413" y="3086135"/>
                <a:ext cx="2512836" cy="12087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3567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54413" y="3086135"/>
                <a:ext cx="2512836" cy="120870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68" name="Object 16"/>
              <p:cNvSpPr txBox="1"/>
              <p:nvPr/>
            </p:nvSpPr>
            <p:spPr bwMode="auto">
              <a:xfrm>
                <a:off x="6104573" y="4125701"/>
                <a:ext cx="2320769" cy="11264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3568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04573" y="4125701"/>
                <a:ext cx="2320769" cy="11264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69" name="Text Box 17"/>
          <p:cNvSpPr txBox="1">
            <a:spLocks noChangeArrowheads="1"/>
          </p:cNvSpPr>
          <p:nvPr/>
        </p:nvSpPr>
        <p:spPr bwMode="auto">
          <a:xfrm>
            <a:off x="8966207" y="2041664"/>
            <a:ext cx="6815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散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03855402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  <p:bldP spid="23555" grpId="0"/>
      <p:bldP spid="23556" grpId="0"/>
      <p:bldP spid="23557" grpId="0" autoUpdateAnimBg="0"/>
      <p:bldP spid="23559" grpId="0" autoUpdateAnimBg="0"/>
      <p:bldP spid="23558" grpId="0"/>
      <p:bldP spid="23561" grpId="0"/>
      <p:bldP spid="23562" grpId="0"/>
      <p:bldP spid="23563" grpId="0"/>
      <p:bldP spid="23564" grpId="0"/>
      <p:bldP spid="23565" grpId="0"/>
      <p:bldP spid="23567" grpId="0"/>
      <p:bldP spid="23568" grpId="0"/>
      <p:bldP spid="23569" grpId="0" build="p" autoUpdateAnimBg="0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6944F96-5884-0234-9226-3A770887542E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8CA246D6-8644-01EB-A740-7EA435532815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608E18E1-95B8-236C-EB0D-C516D6EC5A02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3B47A904-8C94-2E92-074F-80D755E43AA7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9E96F1B3-5F54-A300-3BC5-5AAF3259CF2B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5781DCA4-D48E-9DDC-ACC8-47C6275918E8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58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81970" y="1168445"/>
            <a:ext cx="2286000" cy="4572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  </a:t>
            </a:r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求级数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3" name="Object 3"/>
              <p:cNvSpPr txBox="1"/>
              <p:nvPr/>
            </p:nvSpPr>
            <p:spPr bwMode="auto">
              <a:xfrm>
                <a:off x="4493775" y="707142"/>
                <a:ext cx="1587485" cy="13795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584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3775" y="707142"/>
                <a:ext cx="1587485" cy="13795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6014100" y="1107893"/>
            <a:ext cx="169538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的和函数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5" name="Object 5"/>
              <p:cNvSpPr txBox="1"/>
              <p:nvPr/>
            </p:nvSpPr>
            <p:spPr bwMode="auto">
              <a:xfrm>
                <a:off x="7460149" y="1112984"/>
                <a:ext cx="992624" cy="5758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584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60149" y="1112984"/>
                <a:ext cx="992624" cy="5758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2581970" y="2023674"/>
            <a:ext cx="647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易求出幂级数的收敛半径为 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1,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7" name="Object 7"/>
              <p:cNvSpPr txBox="1"/>
              <p:nvPr/>
            </p:nvSpPr>
            <p:spPr bwMode="auto">
              <a:xfrm>
                <a:off x="7024421" y="2086736"/>
                <a:ext cx="24892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且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时级数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584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24421" y="2086736"/>
                <a:ext cx="2489200" cy="444500"/>
              </a:xfrm>
              <a:prstGeom prst="rect">
                <a:avLst/>
              </a:prstGeom>
              <a:blipFill>
                <a:blip r:embed="rId6"/>
                <a:stretch>
                  <a:fillRect l="-978" b="-95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48" name="Object 8"/>
              <p:cNvSpPr txBox="1"/>
              <p:nvPr/>
            </p:nvSpPr>
            <p:spPr bwMode="auto">
              <a:xfrm>
                <a:off x="3357359" y="3097711"/>
                <a:ext cx="2197100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584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7359" y="3097711"/>
                <a:ext cx="2197100" cy="1041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49" name="Object 9"/>
              <p:cNvSpPr txBox="1"/>
              <p:nvPr/>
            </p:nvSpPr>
            <p:spPr bwMode="auto">
              <a:xfrm>
                <a:off x="3994644" y="4238252"/>
                <a:ext cx="2641795" cy="12170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584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4644" y="4238252"/>
                <a:ext cx="2641795" cy="12170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50" name="Object 10"/>
              <p:cNvSpPr txBox="1"/>
              <p:nvPr/>
            </p:nvSpPr>
            <p:spPr bwMode="auto">
              <a:xfrm>
                <a:off x="6249719" y="4237340"/>
                <a:ext cx="2759867" cy="13547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585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49719" y="4237340"/>
                <a:ext cx="2759867" cy="13547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51" name="Object 11"/>
              <p:cNvSpPr txBox="1"/>
              <p:nvPr/>
            </p:nvSpPr>
            <p:spPr bwMode="auto">
              <a:xfrm>
                <a:off x="3994644" y="5422607"/>
                <a:ext cx="2926713" cy="12170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585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4644" y="5422607"/>
                <a:ext cx="2926713" cy="121702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872" name="Group 32"/>
          <p:cNvGrpSpPr>
            <a:grpSpLocks/>
          </p:cNvGrpSpPr>
          <p:nvPr/>
        </p:nvGrpSpPr>
        <p:grpSpPr bwMode="auto">
          <a:xfrm>
            <a:off x="5995843" y="5595555"/>
            <a:ext cx="4070350" cy="508001"/>
            <a:chOff x="2476" y="3388"/>
            <a:chExt cx="2000" cy="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53" name="Object 13"/>
                <p:cNvSpPr txBox="1"/>
                <p:nvPr/>
              </p:nvSpPr>
              <p:spPr bwMode="auto">
                <a:xfrm>
                  <a:off x="2476" y="3388"/>
                  <a:ext cx="2000" cy="3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(0&lt;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&lt;1</m:t>
                        </m:r>
                        <m:r>
                          <m:rPr>
                            <m:nor/>
                          </m:rPr>
                          <a:rPr lang="zh-CN" altLang="en-US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        </m:t>
                        </m:r>
                        <m:r>
                          <m:rPr>
                            <m:nor/>
                          </m:rPr>
                          <a:rPr lang="en-US" altLang="zh-CN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m:rPr>
                            <m:nor/>
                          </m:rPr>
                          <a:rPr lang="zh-CN" altLang="en-US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35853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76" y="3388"/>
                  <a:ext cx="2000" cy="320"/>
                </a:xfrm>
                <a:prstGeom prst="rect">
                  <a:avLst/>
                </a:prstGeom>
                <a:blipFill>
                  <a:blip r:embed="rId11"/>
                  <a:stretch>
                    <a:fillRect l="-89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854" name="Object 14"/>
                <p:cNvSpPr txBox="1"/>
                <p:nvPr/>
              </p:nvSpPr>
              <p:spPr bwMode="auto">
                <a:xfrm>
                  <a:off x="3429" y="3402"/>
                  <a:ext cx="727" cy="2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35854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29" y="3402"/>
                  <a:ext cx="727" cy="26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855" name="Text Box 15"/>
            <p:cNvSpPr txBox="1">
              <a:spLocks noChangeArrowheads="1"/>
            </p:cNvSpPr>
            <p:nvPr/>
          </p:nvSpPr>
          <p:spPr bwMode="auto">
            <a:xfrm>
              <a:off x="3262" y="3394"/>
              <a:ext cx="37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及</a:t>
              </a:r>
            </a:p>
          </p:txBody>
        </p:sp>
      </p:grpSp>
      <p:sp>
        <p:nvSpPr>
          <p:cNvPr id="35862" name="Text Box 22"/>
          <p:cNvSpPr txBox="1">
            <a:spLocks noChangeArrowheads="1"/>
          </p:cNvSpPr>
          <p:nvPr/>
        </p:nvSpPr>
        <p:spPr bwMode="auto">
          <a:xfrm>
            <a:off x="3308586" y="2593136"/>
            <a:ext cx="1219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收敛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63" name="Object 23"/>
              <p:cNvSpPr txBox="1"/>
              <p:nvPr/>
            </p:nvSpPr>
            <p:spPr bwMode="auto">
              <a:xfrm>
                <a:off x="4060269" y="2570456"/>
                <a:ext cx="25400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则当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≠0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有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586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0269" y="2570456"/>
                <a:ext cx="2540000" cy="457200"/>
              </a:xfrm>
              <a:prstGeom prst="rect">
                <a:avLst/>
              </a:prstGeom>
              <a:blipFill>
                <a:blip r:embed="rId13"/>
                <a:stretch>
                  <a:fillRect l="-1679" b="-5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68" name="Object 28"/>
              <p:cNvSpPr txBox="1"/>
              <p:nvPr/>
            </p:nvSpPr>
            <p:spPr bwMode="auto">
              <a:xfrm>
                <a:off x="5436525" y="3112756"/>
                <a:ext cx="1968500" cy="11926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5868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6525" y="3112756"/>
                <a:ext cx="1968500" cy="119265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70" name="Object 30"/>
              <p:cNvSpPr txBox="1"/>
              <p:nvPr/>
            </p:nvSpPr>
            <p:spPr bwMode="auto">
              <a:xfrm>
                <a:off x="7243559" y="3004806"/>
                <a:ext cx="2489200" cy="12652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nary>
                        <m:naryPr>
                          <m:limLoc m:val="undOvr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5870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43559" y="3004806"/>
                <a:ext cx="2489200" cy="12652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065483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5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5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  <p:bldP spid="35843" grpId="0"/>
      <p:bldP spid="35844" grpId="0"/>
      <p:bldP spid="35845" grpId="0"/>
      <p:bldP spid="35846" grpId="0" autoUpdateAnimBg="0"/>
      <p:bldP spid="35847" grpId="0"/>
      <p:bldP spid="35848" grpId="0"/>
      <p:bldP spid="35849" grpId="0"/>
      <p:bldP spid="35850" grpId="0"/>
      <p:bldP spid="35851" grpId="0"/>
      <p:bldP spid="35862" grpId="0" autoUpdateAnimBg="0"/>
      <p:bldP spid="35863" grpId="0"/>
      <p:bldP spid="35868" grpId="0"/>
      <p:bldP spid="3587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0898642-C6F1-47C2-12BF-46FDB686BEB1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FF065C6F-F526-D8D6-E6D7-DF38E531FE74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9E84BA17-F3F3-9063-3D1A-C0D98C4CA541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9DF7FAC4-BED3-FF7F-BFB4-BB490F58530B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D6B64A80-D1B8-4629-3140-76FAE9030F91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09D41910-9924-00E3-B8A1-003A57FAD776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636" name="Object 60"/>
              <p:cNvSpPr txBox="1"/>
              <p:nvPr/>
            </p:nvSpPr>
            <p:spPr bwMode="auto">
              <a:xfrm>
                <a:off x="6651445" y="3958774"/>
                <a:ext cx="3365500" cy="6502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∈[−1,0)∪(0,1),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636" name="Object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1445" y="3958774"/>
                <a:ext cx="3365500" cy="6502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86" name="Object 10"/>
              <p:cNvSpPr txBox="1"/>
              <p:nvPr/>
            </p:nvSpPr>
            <p:spPr bwMode="auto">
              <a:xfrm>
                <a:off x="3661635" y="1512380"/>
                <a:ext cx="1171575" cy="600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586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1635" y="1512380"/>
                <a:ext cx="1171575" cy="6000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91" name="Object 15"/>
              <p:cNvSpPr txBox="1"/>
              <p:nvPr/>
            </p:nvSpPr>
            <p:spPr bwMode="auto">
              <a:xfrm>
                <a:off x="4258917" y="1357173"/>
                <a:ext cx="2654554" cy="11015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591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8917" y="1357173"/>
                <a:ext cx="2654554" cy="11015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2889681" y="3201948"/>
            <a:ext cx="4419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因此由和函数的连续性得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01" name="Object 25"/>
              <p:cNvSpPr txBox="1"/>
              <p:nvPr/>
            </p:nvSpPr>
            <p:spPr bwMode="auto">
              <a:xfrm>
                <a:off x="3648935" y="4328159"/>
                <a:ext cx="2047338" cy="8581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601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8935" y="4328159"/>
                <a:ext cx="2047338" cy="8581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17" name="Text Box 41"/>
          <p:cNvSpPr txBox="1">
            <a:spLocks noChangeArrowheads="1"/>
          </p:cNvSpPr>
          <p:nvPr/>
        </p:nvSpPr>
        <p:spPr bwMode="auto">
          <a:xfrm>
            <a:off x="2889681" y="2431893"/>
            <a:ext cx="838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18" name="Object 42"/>
              <p:cNvSpPr txBox="1"/>
              <p:nvPr/>
            </p:nvSpPr>
            <p:spPr bwMode="auto">
              <a:xfrm>
                <a:off x="3661635" y="2418158"/>
                <a:ext cx="949325" cy="623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618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1635" y="2418158"/>
                <a:ext cx="949325" cy="6238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19" name="Object 43"/>
              <p:cNvSpPr txBox="1"/>
              <p:nvPr/>
            </p:nvSpPr>
            <p:spPr bwMode="auto">
              <a:xfrm>
                <a:off x="4823684" y="2208695"/>
                <a:ext cx="31496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619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23684" y="2208695"/>
                <a:ext cx="3149600" cy="9144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21" name="Object 45"/>
              <p:cNvSpPr txBox="1"/>
              <p:nvPr/>
            </p:nvSpPr>
            <p:spPr bwMode="auto">
              <a:xfrm>
                <a:off x="4807381" y="3803583"/>
                <a:ext cx="2470150" cy="8581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621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7381" y="3803583"/>
                <a:ext cx="2470150" cy="8581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22" name="Object 46"/>
              <p:cNvSpPr txBox="1"/>
              <p:nvPr/>
            </p:nvSpPr>
            <p:spPr bwMode="auto">
              <a:xfrm>
                <a:off x="5009193" y="4776535"/>
                <a:ext cx="719103" cy="8581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1 ,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622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09193" y="4776535"/>
                <a:ext cx="719103" cy="858163"/>
              </a:xfrm>
              <a:prstGeom prst="rect">
                <a:avLst/>
              </a:prstGeom>
              <a:blipFill>
                <a:blip r:embed="rId11"/>
                <a:stretch>
                  <a:fillRect l="-8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23" name="Object 47"/>
              <p:cNvSpPr txBox="1"/>
              <p:nvPr/>
            </p:nvSpPr>
            <p:spPr bwMode="auto">
              <a:xfrm>
                <a:off x="6651445" y="4736226"/>
                <a:ext cx="1409702" cy="4771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623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51445" y="4736226"/>
                <a:ext cx="1409702" cy="47710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26" name="Object 50"/>
              <p:cNvSpPr txBox="1"/>
              <p:nvPr/>
            </p:nvSpPr>
            <p:spPr bwMode="auto">
              <a:xfrm>
                <a:off x="4249530" y="2423417"/>
                <a:ext cx="949325" cy="623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626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9530" y="2423417"/>
                <a:ext cx="949325" cy="62388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30" name="Text Box 54"/>
          <p:cNvSpPr txBox="1">
            <a:spLocks noChangeArrowheads="1"/>
          </p:cNvSpPr>
          <p:nvPr/>
        </p:nvSpPr>
        <p:spPr bwMode="auto">
          <a:xfrm>
            <a:off x="8700995" y="2321444"/>
            <a:ext cx="18473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4631" name="Group 55"/>
          <p:cNvGrpSpPr>
            <a:grpSpLocks/>
          </p:cNvGrpSpPr>
          <p:nvPr/>
        </p:nvGrpSpPr>
        <p:grpSpPr bwMode="auto">
          <a:xfrm>
            <a:off x="6321623" y="1511184"/>
            <a:ext cx="4137025" cy="508000"/>
            <a:chOff x="1054" y="3671"/>
            <a:chExt cx="2606" cy="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32" name="Object 56"/>
                <p:cNvSpPr txBox="1"/>
                <p:nvPr/>
              </p:nvSpPr>
              <p:spPr bwMode="auto">
                <a:xfrm>
                  <a:off x="1054" y="3671"/>
                  <a:ext cx="2606" cy="3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(0&lt;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&lt;1</m:t>
                        </m:r>
                        <m:r>
                          <m:rPr>
                            <m:nor/>
                          </m:rPr>
                          <a:rPr lang="zh-CN" altLang="en-US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       </m:t>
                        </m:r>
                        <m:r>
                          <m:rPr>
                            <m:nor/>
                          </m:rPr>
                          <a:rPr lang="en-US" altLang="zh-CN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m:rPr>
                            <m:nor/>
                          </m:rPr>
                          <a:rPr lang="zh-CN" altLang="en-US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4632" name="Object 5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4" y="3671"/>
                  <a:ext cx="2606" cy="320"/>
                </a:xfrm>
                <a:prstGeom prst="rect">
                  <a:avLst/>
                </a:prstGeom>
                <a:blipFill>
                  <a:blip r:embed="rId14"/>
                  <a:stretch>
                    <a:fillRect l="-884" b="-120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633" name="Object 57"/>
                <p:cNvSpPr txBox="1"/>
                <p:nvPr/>
              </p:nvSpPr>
              <p:spPr bwMode="auto">
                <a:xfrm>
                  <a:off x="2196" y="3671"/>
                  <a:ext cx="896" cy="26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=−1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24633" name="Object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96" y="3671"/>
                  <a:ext cx="896" cy="26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634" name="Text Box 58"/>
            <p:cNvSpPr txBox="1">
              <a:spLocks noChangeArrowheads="1"/>
            </p:cNvSpPr>
            <p:nvPr/>
          </p:nvSpPr>
          <p:spPr bwMode="auto">
            <a:xfrm>
              <a:off x="2017" y="3689"/>
              <a:ext cx="37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及</a:t>
              </a:r>
            </a:p>
          </p:txBody>
        </p:sp>
      </p:grpSp>
      <p:sp>
        <p:nvSpPr>
          <p:cNvPr id="24641" name="AutoShape 65"/>
          <p:cNvSpPr>
            <a:spLocks/>
          </p:cNvSpPr>
          <p:nvPr/>
        </p:nvSpPr>
        <p:spPr bwMode="auto">
          <a:xfrm>
            <a:off x="4618126" y="3967068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056510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36" grpId="0"/>
      <p:bldP spid="24586" grpId="0"/>
      <p:bldP spid="24591" grpId="0"/>
      <p:bldP spid="24600" grpId="0" autoUpdateAnimBg="0"/>
      <p:bldP spid="24601" grpId="0"/>
      <p:bldP spid="24617" grpId="0" autoUpdateAnimBg="0"/>
      <p:bldP spid="24618" grpId="0"/>
      <p:bldP spid="24619" grpId="0"/>
      <p:bldP spid="24621" grpId="0"/>
      <p:bldP spid="24622" grpId="0"/>
      <p:bldP spid="24623" grpId="0"/>
      <p:bldP spid="246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5846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cuilh纯白模板 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cuilh纯白模板 </Template>
  <TotalTime>1851</TotalTime>
  <Words>2305</Words>
  <Application>Microsoft Office PowerPoint</Application>
  <PresentationFormat>宽屏</PresentationFormat>
  <Paragraphs>511</Paragraphs>
  <Slides>31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Calisto MT</vt:lpstr>
      <vt:lpstr>Cambria Math</vt:lpstr>
      <vt:lpstr>cuilh纯白模板 </vt:lpstr>
      <vt:lpstr>PowerPoint 演示文稿</vt:lpstr>
      <vt:lpstr>PowerPoint 演示文稿</vt:lpstr>
      <vt:lpstr>PowerPoint 演示文稿</vt:lpstr>
      <vt:lpstr>PowerPoint 演示文稿</vt:lpstr>
      <vt:lpstr>一、 函数项级数的概念</vt:lpstr>
      <vt:lpstr>PowerPoint 演示文稿</vt:lpstr>
      <vt:lpstr>等比级数</vt:lpstr>
      <vt:lpstr>二、幂级数及其收敛性  </vt:lpstr>
      <vt:lpstr>（阿贝尔定理）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例1   求幂级数</vt:lpstr>
      <vt:lpstr>例2   求下列幂级数的收敛域":"</vt:lpstr>
      <vt:lpstr>例3</vt:lpstr>
      <vt:lpstr>例4 </vt:lpstr>
      <vt:lpstr>三、幂级数的运算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例5 </vt:lpstr>
      <vt:lpstr>例6 </vt:lpstr>
      <vt:lpstr>例7  求级数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cui;崔丽鸿</dc:creator>
  <cp:lastModifiedBy>yang fan</cp:lastModifiedBy>
  <cp:revision>147</cp:revision>
  <dcterms:created xsi:type="dcterms:W3CDTF">2021-12-25T10:05:44Z</dcterms:created>
  <dcterms:modified xsi:type="dcterms:W3CDTF">2023-07-06T07:23:29Z</dcterms:modified>
</cp:coreProperties>
</file>