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1"/>
  </p:notesMasterIdLst>
  <p:handoutMasterIdLst>
    <p:handoutMasterId r:id="rId32"/>
  </p:handoutMasterIdLst>
  <p:sldIdLst>
    <p:sldId id="257" r:id="rId2"/>
    <p:sldId id="818" r:id="rId3"/>
    <p:sldId id="664" r:id="rId4"/>
    <p:sldId id="817" r:id="rId5"/>
    <p:sldId id="321" r:id="rId6"/>
    <p:sldId id="317" r:id="rId7"/>
    <p:sldId id="320" r:id="rId8"/>
    <p:sldId id="314" r:id="rId9"/>
    <p:sldId id="290" r:id="rId10"/>
    <p:sldId id="322" r:id="rId11"/>
    <p:sldId id="292" r:id="rId12"/>
    <p:sldId id="319" r:id="rId13"/>
    <p:sldId id="293" r:id="rId14"/>
    <p:sldId id="323" r:id="rId15"/>
    <p:sldId id="294" r:id="rId16"/>
    <p:sldId id="296" r:id="rId17"/>
    <p:sldId id="297" r:id="rId18"/>
    <p:sldId id="338" r:id="rId19"/>
    <p:sldId id="298" r:id="rId20"/>
    <p:sldId id="299" r:id="rId21"/>
    <p:sldId id="324" r:id="rId22"/>
    <p:sldId id="332" r:id="rId23"/>
    <p:sldId id="327" r:id="rId24"/>
    <p:sldId id="329" r:id="rId25"/>
    <p:sldId id="333" r:id="rId26"/>
    <p:sldId id="334" r:id="rId27"/>
    <p:sldId id="302" r:id="rId28"/>
    <p:sldId id="303" r:id="rId29"/>
    <p:sldId id="364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FFFFFF"/>
    <a:srgbClr val="CDE9E1"/>
    <a:srgbClr val="96D1C0"/>
    <a:srgbClr val="0000FF"/>
    <a:srgbClr val="FFCCFF"/>
    <a:srgbClr val="FF00FF"/>
    <a:srgbClr val="B80808"/>
    <a:srgbClr val="66CCFF"/>
    <a:srgbClr val="0D1C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62" d="100"/>
          <a:sy n="62" d="100"/>
        </p:scale>
        <p:origin x="800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30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4083FB82-398A-3B67-4952-50A779EC24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3FEAD6-010E-8E17-C01D-35FD7CCD64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B28A49-E50C-43A1-A018-0A87F1C62F86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09DD8A1-F4CB-6865-6523-A401D6DBD7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592321-C8DB-505F-2BA4-71D1CD3776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494147-2AAB-44ED-B687-7003FE90DD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835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A6DD93-F3B5-4D3D-B130-4F4F4088AAF4}" type="datetimeFigureOut">
              <a:rPr lang="zh-CN" altLang="en-US" smtClean="0"/>
              <a:t>2023/7/6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38E0D-8E30-4612-8FB2-85B8FA4D2D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3826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38E0D-8E30-4612-8FB2-85B8FA4D2D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281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38E0D-8E30-4612-8FB2-85B8FA4D2D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25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38E0D-8E30-4612-8FB2-85B8FA4D2DD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51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38E0D-8E30-4612-8FB2-85B8FA4D2DD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3702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B32E8B5-DDEB-4AA3-9F6F-83BC15E108E2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mbria Math" panose="020405030504060302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07881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F38E0D-8E30-4612-8FB2-85B8FA4D2DDD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06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97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24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102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641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E0877CDB-6DB6-6210-B479-DDA5790BEF27}"/>
              </a:ext>
            </a:extLst>
          </p:cNvPr>
          <p:cNvSpPr/>
          <p:nvPr userDrawn="1"/>
        </p:nvSpPr>
        <p:spPr>
          <a:xfrm>
            <a:off x="297498" y="6548555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6B176BE2-1B61-0992-5909-F5C71C71224F}"/>
              </a:ext>
            </a:extLst>
          </p:cNvPr>
          <p:cNvSpPr/>
          <p:nvPr userDrawn="1"/>
        </p:nvSpPr>
        <p:spPr>
          <a:xfrm rot="2659048">
            <a:off x="10329437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53BA5B2-59A1-BAC4-8E27-2C04C4CBF248}"/>
              </a:ext>
            </a:extLst>
          </p:cNvPr>
          <p:cNvSpPr/>
          <p:nvPr userDrawn="1"/>
        </p:nvSpPr>
        <p:spPr>
          <a:xfrm>
            <a:off x="370812" y="6435405"/>
            <a:ext cx="22124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函数展开成幂级数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BD43EE-5B22-8375-312D-76752282BF9D}"/>
              </a:ext>
            </a:extLst>
          </p:cNvPr>
          <p:cNvSpPr/>
          <p:nvPr userDrawn="1"/>
        </p:nvSpPr>
        <p:spPr>
          <a:xfrm>
            <a:off x="10594094" y="112357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第十二章  级数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5E02FA0-63D1-F67D-9E38-DC5A33380354}"/>
              </a:ext>
            </a:extLst>
          </p:cNvPr>
          <p:cNvCxnSpPr/>
          <p:nvPr userDrawn="1"/>
        </p:nvCxnSpPr>
        <p:spPr>
          <a:xfrm>
            <a:off x="0" y="249535"/>
            <a:ext cx="10041622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F021583-FC0C-106D-2101-E25FF54B219E}"/>
              </a:ext>
            </a:extLst>
          </p:cNvPr>
          <p:cNvCxnSpPr/>
          <p:nvPr userDrawn="1"/>
        </p:nvCxnSpPr>
        <p:spPr>
          <a:xfrm>
            <a:off x="2719431" y="6608465"/>
            <a:ext cx="9468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3394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6" r:id="rId2"/>
    <p:sldLayoutId id="2147483678" r:id="rId3"/>
    <p:sldLayoutId id="214748367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5.png"/><Relationship Id="rId5" Type="http://schemas.openxmlformats.org/officeDocument/2006/relationships/image" Target="../media/image31.png"/><Relationship Id="rId15" Type="http://schemas.openxmlformats.org/officeDocument/2006/relationships/image" Target="../media/image42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411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image" Target="../media/image50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18" Type="http://schemas.openxmlformats.org/officeDocument/2006/relationships/image" Target="../media/image91.png"/><Relationship Id="rId26" Type="http://schemas.openxmlformats.org/officeDocument/2006/relationships/image" Target="../media/image99.png"/><Relationship Id="rId21" Type="http://schemas.openxmlformats.org/officeDocument/2006/relationships/image" Target="../media/image94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17" Type="http://schemas.openxmlformats.org/officeDocument/2006/relationships/image" Target="../media/image90.png"/><Relationship Id="rId25" Type="http://schemas.openxmlformats.org/officeDocument/2006/relationships/image" Target="../media/image98.png"/><Relationship Id="rId2" Type="http://schemas.openxmlformats.org/officeDocument/2006/relationships/image" Target="../media/image50.png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29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24" Type="http://schemas.openxmlformats.org/officeDocument/2006/relationships/image" Target="../media/image97.png"/><Relationship Id="rId5" Type="http://schemas.openxmlformats.org/officeDocument/2006/relationships/image" Target="../media/image78.png"/><Relationship Id="rId15" Type="http://schemas.openxmlformats.org/officeDocument/2006/relationships/image" Target="../media/image88.png"/><Relationship Id="rId23" Type="http://schemas.openxmlformats.org/officeDocument/2006/relationships/image" Target="../media/image96.png"/><Relationship Id="rId28" Type="http://schemas.openxmlformats.org/officeDocument/2006/relationships/image" Target="../media/image101.png"/><Relationship Id="rId10" Type="http://schemas.openxmlformats.org/officeDocument/2006/relationships/image" Target="../media/image83.png"/><Relationship Id="rId19" Type="http://schemas.openxmlformats.org/officeDocument/2006/relationships/image" Target="../media/image92.png"/><Relationship Id="rId4" Type="http://schemas.openxmlformats.org/officeDocument/2006/relationships/image" Target="../media/image77.png"/><Relationship Id="rId9" Type="http://schemas.openxmlformats.org/officeDocument/2006/relationships/image" Target="../media/image40.png"/><Relationship Id="rId14" Type="http://schemas.openxmlformats.org/officeDocument/2006/relationships/image" Target="../media/image87.png"/><Relationship Id="rId22" Type="http://schemas.openxmlformats.org/officeDocument/2006/relationships/image" Target="../media/image95.png"/><Relationship Id="rId27" Type="http://schemas.openxmlformats.org/officeDocument/2006/relationships/image" Target="../media/image1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13" Type="http://schemas.openxmlformats.org/officeDocument/2006/relationships/image" Target="../media/image75.png"/><Relationship Id="rId3" Type="http://schemas.openxmlformats.org/officeDocument/2006/relationships/image" Target="../media/image103.png"/><Relationship Id="rId7" Type="http://schemas.openxmlformats.org/officeDocument/2006/relationships/image" Target="../media/image106.png"/><Relationship Id="rId12" Type="http://schemas.openxmlformats.org/officeDocument/2006/relationships/image" Target="../media/image111.png"/><Relationship Id="rId2" Type="http://schemas.openxmlformats.org/officeDocument/2006/relationships/image" Target="../media/image50.png"/><Relationship Id="rId16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11" Type="http://schemas.openxmlformats.org/officeDocument/2006/relationships/image" Target="../media/image110.png"/><Relationship Id="rId15" Type="http://schemas.openxmlformats.org/officeDocument/2006/relationships/image" Target="../media/image114.png"/><Relationship Id="rId10" Type="http://schemas.openxmlformats.org/officeDocument/2006/relationships/image" Target="../media/image109.png"/><Relationship Id="rId4" Type="http://schemas.openxmlformats.org/officeDocument/2006/relationships/image" Target="../media/image104.png"/><Relationship Id="rId9" Type="http://schemas.openxmlformats.org/officeDocument/2006/relationships/image" Target="../media/image108.png"/><Relationship Id="rId14" Type="http://schemas.openxmlformats.org/officeDocument/2006/relationships/image" Target="../media/image11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5.png"/><Relationship Id="rId3" Type="http://schemas.openxmlformats.org/officeDocument/2006/relationships/image" Target="../media/image50.png"/><Relationship Id="rId7" Type="http://schemas.openxmlformats.org/officeDocument/2006/relationships/image" Target="../media/image119.png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11" Type="http://schemas.openxmlformats.org/officeDocument/2006/relationships/image" Target="../media/image123.png"/><Relationship Id="rId5" Type="http://schemas.openxmlformats.org/officeDocument/2006/relationships/image" Target="../media/image117.png"/><Relationship Id="rId10" Type="http://schemas.openxmlformats.org/officeDocument/2006/relationships/image" Target="../media/image122.png"/><Relationship Id="rId4" Type="http://schemas.openxmlformats.org/officeDocument/2006/relationships/image" Target="../media/image116.png"/><Relationship Id="rId9" Type="http://schemas.openxmlformats.org/officeDocument/2006/relationships/image" Target="../media/image121.png"/><Relationship Id="rId14" Type="http://schemas.openxmlformats.org/officeDocument/2006/relationships/image" Target="../media/image1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3" Type="http://schemas.openxmlformats.org/officeDocument/2006/relationships/image" Target="../media/image41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3" Type="http://schemas.openxmlformats.org/officeDocument/2006/relationships/image" Target="../media/image144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image" Target="../media/image143.png"/><Relationship Id="rId16" Type="http://schemas.openxmlformats.org/officeDocument/2006/relationships/image" Target="../media/image157.png"/><Relationship Id="rId20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10" Type="http://schemas.openxmlformats.org/officeDocument/2006/relationships/image" Target="../media/image151.png"/><Relationship Id="rId19" Type="http://schemas.openxmlformats.org/officeDocument/2006/relationships/image" Target="../media/image160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5.png"/><Relationship Id="rId5" Type="http://schemas.openxmlformats.org/officeDocument/2006/relationships/image" Target="../media/image1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7" Type="http://schemas.openxmlformats.org/officeDocument/2006/relationships/image" Target="../media/image165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Relationship Id="rId9" Type="http://schemas.openxmlformats.org/officeDocument/2006/relationships/image" Target="../media/image17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7" Type="http://schemas.openxmlformats.org/officeDocument/2006/relationships/image" Target="../media/image17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0" Type="http://schemas.openxmlformats.org/officeDocument/2006/relationships/image" Target="../media/image178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26" Type="http://schemas.openxmlformats.org/officeDocument/2006/relationships/image" Target="../media/image204.png"/><Relationship Id="rId3" Type="http://schemas.openxmlformats.org/officeDocument/2006/relationships/image" Target="../media/image181.png"/><Relationship Id="rId21" Type="http://schemas.openxmlformats.org/officeDocument/2006/relationships/image" Target="../media/image199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5" Type="http://schemas.openxmlformats.org/officeDocument/2006/relationships/image" Target="../media/image203.png"/><Relationship Id="rId2" Type="http://schemas.openxmlformats.org/officeDocument/2006/relationships/image" Target="../media/image180.png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29" Type="http://schemas.openxmlformats.org/officeDocument/2006/relationships/image" Target="../media/image20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24" Type="http://schemas.openxmlformats.org/officeDocument/2006/relationships/image" Target="../media/image202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23" Type="http://schemas.openxmlformats.org/officeDocument/2006/relationships/image" Target="../media/image201.png"/><Relationship Id="rId28" Type="http://schemas.openxmlformats.org/officeDocument/2006/relationships/image" Target="../media/image206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Relationship Id="rId22" Type="http://schemas.openxmlformats.org/officeDocument/2006/relationships/image" Target="../media/image200.png"/><Relationship Id="rId27" Type="http://schemas.openxmlformats.org/officeDocument/2006/relationships/image" Target="../media/image20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12" Type="http://schemas.openxmlformats.org/officeDocument/2006/relationships/image" Target="../media/image218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2.png"/><Relationship Id="rId11" Type="http://schemas.openxmlformats.org/officeDocument/2006/relationships/image" Target="../media/image217.png"/><Relationship Id="rId5" Type="http://schemas.openxmlformats.org/officeDocument/2006/relationships/image" Target="../media/image211.png"/><Relationship Id="rId10" Type="http://schemas.openxmlformats.org/officeDocument/2006/relationships/image" Target="../media/image216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png"/><Relationship Id="rId13" Type="http://schemas.openxmlformats.org/officeDocument/2006/relationships/image" Target="../media/image230.png"/><Relationship Id="rId18" Type="http://schemas.openxmlformats.org/officeDocument/2006/relationships/image" Target="../media/image235.png"/><Relationship Id="rId3" Type="http://schemas.openxmlformats.org/officeDocument/2006/relationships/image" Target="../media/image220.png"/><Relationship Id="rId21" Type="http://schemas.openxmlformats.org/officeDocument/2006/relationships/image" Target="../media/image238.png"/><Relationship Id="rId7" Type="http://schemas.openxmlformats.org/officeDocument/2006/relationships/image" Target="../media/image219.png"/><Relationship Id="rId12" Type="http://schemas.openxmlformats.org/officeDocument/2006/relationships/image" Target="../media/image229.png"/><Relationship Id="rId17" Type="http://schemas.openxmlformats.org/officeDocument/2006/relationships/image" Target="../media/image234.png"/><Relationship Id="rId2" Type="http://schemas.openxmlformats.org/officeDocument/2006/relationships/image" Target="../media/image50.png"/><Relationship Id="rId16" Type="http://schemas.openxmlformats.org/officeDocument/2006/relationships/image" Target="../media/image233.png"/><Relationship Id="rId20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3.png"/><Relationship Id="rId11" Type="http://schemas.openxmlformats.org/officeDocument/2006/relationships/image" Target="../media/image228.png"/><Relationship Id="rId5" Type="http://schemas.openxmlformats.org/officeDocument/2006/relationships/image" Target="../media/image222.png"/><Relationship Id="rId15" Type="http://schemas.openxmlformats.org/officeDocument/2006/relationships/image" Target="../media/image232.png"/><Relationship Id="rId10" Type="http://schemas.openxmlformats.org/officeDocument/2006/relationships/image" Target="../media/image227.png"/><Relationship Id="rId19" Type="http://schemas.openxmlformats.org/officeDocument/2006/relationships/image" Target="../media/image236.png"/><Relationship Id="rId4" Type="http://schemas.openxmlformats.org/officeDocument/2006/relationships/image" Target="../media/image221.png"/><Relationship Id="rId9" Type="http://schemas.openxmlformats.org/officeDocument/2006/relationships/image" Target="../media/image226.png"/><Relationship Id="rId14" Type="http://schemas.openxmlformats.org/officeDocument/2006/relationships/image" Target="../media/image23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png"/><Relationship Id="rId13" Type="http://schemas.openxmlformats.org/officeDocument/2006/relationships/image" Target="../media/image247.png"/><Relationship Id="rId18" Type="http://schemas.openxmlformats.org/officeDocument/2006/relationships/image" Target="../media/image253.png"/><Relationship Id="rId3" Type="http://schemas.openxmlformats.org/officeDocument/2006/relationships/image" Target="../media/image50.png"/><Relationship Id="rId21" Type="http://schemas.openxmlformats.org/officeDocument/2006/relationships/image" Target="../media/image255.png"/><Relationship Id="rId7" Type="http://schemas.openxmlformats.org/officeDocument/2006/relationships/image" Target="../media/image242.png"/><Relationship Id="rId12" Type="http://schemas.openxmlformats.org/officeDocument/2006/relationships/image" Target="../media/image246.png"/><Relationship Id="rId17" Type="http://schemas.openxmlformats.org/officeDocument/2006/relationships/image" Target="../media/image249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1.png"/><Relationship Id="rId20" Type="http://schemas.openxmlformats.org/officeDocument/2006/relationships/image" Target="../media/image2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1.png"/><Relationship Id="rId11" Type="http://schemas.openxmlformats.org/officeDocument/2006/relationships/image" Target="../media/image244.png"/><Relationship Id="rId5" Type="http://schemas.openxmlformats.org/officeDocument/2006/relationships/image" Target="../media/image240.png"/><Relationship Id="rId15" Type="http://schemas.openxmlformats.org/officeDocument/2006/relationships/image" Target="../media/image250.png"/><Relationship Id="rId23" Type="http://schemas.openxmlformats.org/officeDocument/2006/relationships/image" Target="../media/image258.png"/><Relationship Id="rId10" Type="http://schemas.openxmlformats.org/officeDocument/2006/relationships/image" Target="../media/image245.png"/><Relationship Id="rId19" Type="http://schemas.openxmlformats.org/officeDocument/2006/relationships/image" Target="../media/image254.png"/><Relationship Id="rId4" Type="http://schemas.openxmlformats.org/officeDocument/2006/relationships/image" Target="../media/image239.png"/><Relationship Id="rId9" Type="http://schemas.openxmlformats.org/officeDocument/2006/relationships/image" Target="../media/image225.png"/><Relationship Id="rId14" Type="http://schemas.openxmlformats.org/officeDocument/2006/relationships/image" Target="../media/image248.png"/><Relationship Id="rId22" Type="http://schemas.openxmlformats.org/officeDocument/2006/relationships/image" Target="../media/image25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911DBC-1FAD-4D97-B103-31706F53C01F}"/>
              </a:ext>
            </a:extLst>
          </p:cNvPr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92BA65-1B2C-CE34-028B-FCA681F8EFC2}"/>
              </a:ext>
            </a:extLst>
          </p:cNvPr>
          <p:cNvSpPr/>
          <p:nvPr/>
        </p:nvSpPr>
        <p:spPr>
          <a:xfrm>
            <a:off x="789305" y="2015490"/>
            <a:ext cx="11150600" cy="48577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859A1D-2015-E6C4-DBAA-BDB4F78CEFFB}"/>
              </a:ext>
            </a:extLst>
          </p:cNvPr>
          <p:cNvSpPr/>
          <p:nvPr/>
        </p:nvSpPr>
        <p:spPr>
          <a:xfrm>
            <a:off x="629285" y="2156460"/>
            <a:ext cx="10989310" cy="471678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DDE570-5EFC-83BB-543D-6B7890B39460}"/>
              </a:ext>
            </a:extLst>
          </p:cNvPr>
          <p:cNvSpPr/>
          <p:nvPr/>
        </p:nvSpPr>
        <p:spPr>
          <a:xfrm>
            <a:off x="487045" y="2307590"/>
            <a:ext cx="10810875" cy="456565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41">
            <a:extLst>
              <a:ext uri="{FF2B5EF4-FFF2-40B4-BE49-F238E27FC236}">
                <a16:creationId xmlns:a16="http://schemas.microsoft.com/office/drawing/2014/main" id="{BA081A6E-F0FD-CC45-A2F8-28A9B0F8152F}"/>
              </a:ext>
            </a:extLst>
          </p:cNvPr>
          <p:cNvSpPr/>
          <p:nvPr/>
        </p:nvSpPr>
        <p:spPr>
          <a:xfrm flipH="1">
            <a:off x="5062827" y="278705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639E9A1-D115-D6E9-AEFF-93FFA0F982D1}"/>
              </a:ext>
            </a:extLst>
          </p:cNvPr>
          <p:cNvCxnSpPr/>
          <p:nvPr/>
        </p:nvCxnSpPr>
        <p:spPr>
          <a:xfrm>
            <a:off x="1884573" y="3690235"/>
            <a:ext cx="8179865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E18147C8-FA78-6091-71EB-8D15A6FAE435}"/>
              </a:ext>
            </a:extLst>
          </p:cNvPr>
          <p:cNvGrpSpPr/>
          <p:nvPr/>
        </p:nvGrpSpPr>
        <p:grpSpPr>
          <a:xfrm>
            <a:off x="1884680" y="4335145"/>
            <a:ext cx="3651250" cy="1964690"/>
            <a:chOff x="3663" y="6990"/>
            <a:chExt cx="5750" cy="3094"/>
          </a:xfrm>
        </p:grpSpPr>
        <p:sp>
          <p:nvSpPr>
            <p:cNvPr id="15" name="矩形: 圆角 40">
              <a:extLst>
                <a:ext uri="{FF2B5EF4-FFF2-40B4-BE49-F238E27FC236}">
                  <a16:creationId xmlns:a16="http://schemas.microsoft.com/office/drawing/2014/main" id="{E85A41C6-30B9-B3F9-1E62-A61E73545F0F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B755B60-959E-2695-E853-0342B63ACB01}"/>
                </a:ext>
              </a:extLst>
            </p:cNvPr>
            <p:cNvSpPr/>
            <p:nvPr/>
          </p:nvSpPr>
          <p:spPr>
            <a:xfrm>
              <a:off x="5550" y="6990"/>
              <a:ext cx="2351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无穷级数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/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数项级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幂级数</m:t>
                        </m:r>
                      </m:oMath>
                    </m:oMathPara>
                  </a14:m>
                  <a:endParaRPr lang="en-US" altLang="zh-CN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zh-CN" altLang="en-US" sz="2400" b="1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傅里叶级数</m:t>
                        </m:r>
                      </m:oMath>
                    </m:oMathPara>
                  </a14:m>
                  <a:endParaRPr lang="zh-CN" altLang="en-US" sz="2400" b="1" dirty="0">
                    <a:latin typeface="宋体" panose="02010600030101010101" pitchFamily="2" charset="-122"/>
                    <a:ea typeface="宋体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23DD9B2C-370A-6EE8-BAEE-AAA32CB688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5" y="7945"/>
                  <a:ext cx="3106" cy="1890"/>
                </a:xfrm>
                <a:prstGeom prst="rect">
                  <a:avLst/>
                </a:prstGeom>
                <a:blipFill>
                  <a:blip r:embed="rId2"/>
                  <a:stretch>
                    <a:fillRect b="-406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E137E18D-2152-43D5-A6A5-55E82208D544}"/>
              </a:ext>
            </a:extLst>
          </p:cNvPr>
          <p:cNvSpPr/>
          <p:nvPr/>
        </p:nvSpPr>
        <p:spPr>
          <a:xfrm>
            <a:off x="3713480" y="884555"/>
            <a:ext cx="476504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r>
              <a:rPr lang="en-US" altLang="zh-CN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</a:t>
            </a:r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en-US" altLang="zh-CN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6E014E-1D5B-2618-C27C-5E330C0A1D54}"/>
              </a:ext>
            </a:extLst>
          </p:cNvPr>
          <p:cNvGrpSpPr/>
          <p:nvPr/>
        </p:nvGrpSpPr>
        <p:grpSpPr>
          <a:xfrm>
            <a:off x="5991860" y="4340235"/>
            <a:ext cx="3651250" cy="1964690"/>
            <a:chOff x="3663" y="6990"/>
            <a:chExt cx="5750" cy="3094"/>
          </a:xfrm>
        </p:grpSpPr>
        <p:sp>
          <p:nvSpPr>
            <p:cNvPr id="30" name="矩形: 圆角 40">
              <a:extLst>
                <a:ext uri="{FF2B5EF4-FFF2-40B4-BE49-F238E27FC236}">
                  <a16:creationId xmlns:a16="http://schemas.microsoft.com/office/drawing/2014/main" id="{D9697280-8F51-BD3F-7928-2BC100FE3446}"/>
                </a:ext>
              </a:extLst>
            </p:cNvPr>
            <p:cNvSpPr/>
            <p:nvPr/>
          </p:nvSpPr>
          <p:spPr>
            <a:xfrm rot="16200000" flipV="1">
              <a:off x="5205" y="5876"/>
              <a:ext cx="2666" cy="5750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650B897-3868-FEF2-FFDB-E9C9F17958B6}"/>
                </a:ext>
              </a:extLst>
            </p:cNvPr>
            <p:cNvSpPr/>
            <p:nvPr/>
          </p:nvSpPr>
          <p:spPr>
            <a:xfrm>
              <a:off x="4838" y="6990"/>
              <a:ext cx="37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研究函数的工具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19C995D-EA69-9AF7-84B2-4A1496C4F73E}"/>
                </a:ext>
              </a:extLst>
            </p:cNvPr>
            <p:cNvSpPr/>
            <p:nvPr/>
          </p:nvSpPr>
          <p:spPr>
            <a:xfrm>
              <a:off x="5590" y="7937"/>
              <a:ext cx="2803" cy="18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表示函数</a:t>
              </a:r>
            </a:p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研究函数</a:t>
              </a:r>
            </a:p>
            <a:p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数值计算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图文框 19"/>
          <p:cNvSpPr/>
          <p:nvPr/>
        </p:nvSpPr>
        <p:spPr>
          <a:xfrm>
            <a:off x="0" y="11150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36号-正文宋楷" panose="00000500000000000000" pitchFamily="2" charset="-122"/>
              <a:ea typeface="字魂36号-正文宋楷" panose="00000500000000000000" pitchFamily="2" charset="-122"/>
              <a:cs typeface="+mn-cs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8611"/>
            <a:ext cx="6996430" cy="6860540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-6985" y="-47904"/>
            <a:ext cx="12289790" cy="691705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PA-102232"/>
          <p:cNvSpPr/>
          <p:nvPr>
            <p:custDataLst>
              <p:tags r:id="rId1"/>
            </p:custDataLst>
          </p:nvPr>
        </p:nvSpPr>
        <p:spPr>
          <a:xfrm>
            <a:off x="378053" y="250074"/>
            <a:ext cx="11536045" cy="639762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10" name="PA-文本框 8"/>
          <p:cNvSpPr txBox="1"/>
          <p:nvPr>
            <p:custDataLst>
              <p:tags r:id="rId2"/>
            </p:custDataLst>
          </p:nvPr>
        </p:nvSpPr>
        <p:spPr>
          <a:xfrm>
            <a:off x="876000" y="638872"/>
            <a:ext cx="306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GB" altLang="zh-CN" sz="7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C</a:t>
            </a:r>
            <a:r>
              <a:rPr kumimoji="1" lang="en-GB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Calisto MT" panose="02040603050505030304" pitchFamily="18" charset="0"/>
                <a:ea typeface="宋体" panose="02010600030101010101" pitchFamily="2" charset="-122"/>
                <a:cs typeface="+mn-ea"/>
                <a:sym typeface="+mn-lt"/>
              </a:rPr>
              <a:t>ONTENTS</a:t>
            </a:r>
          </a:p>
        </p:txBody>
      </p:sp>
      <p:sp>
        <p:nvSpPr>
          <p:cNvPr id="2" name="矩形 1"/>
          <p:cNvSpPr/>
          <p:nvPr/>
        </p:nvSpPr>
        <p:spPr>
          <a:xfrm>
            <a:off x="1769401" y="516286"/>
            <a:ext cx="151515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D9D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rPr>
              <a:t>目  录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 rot="5400000" flipH="1">
            <a:off x="6082748" y="-3357984"/>
            <a:ext cx="26504" cy="1044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EBC6063-7660-654F-9C1E-E094B591762F}"/>
              </a:ext>
            </a:extLst>
          </p:cNvPr>
          <p:cNvSpPr/>
          <p:nvPr/>
        </p:nvSpPr>
        <p:spPr>
          <a:xfrm>
            <a:off x="945202" y="2326548"/>
            <a:ext cx="47676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常数项级数的概念和性质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33BB7C3-377F-6F44-BF79-2630D53C23F2}"/>
              </a:ext>
            </a:extLst>
          </p:cNvPr>
          <p:cNvSpPr/>
          <p:nvPr/>
        </p:nvSpPr>
        <p:spPr>
          <a:xfrm>
            <a:off x="945202" y="3187197"/>
            <a:ext cx="23054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幂级数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0A59EBE-FB23-8945-A07D-4636B842A383}"/>
              </a:ext>
            </a:extLst>
          </p:cNvPr>
          <p:cNvSpPr/>
          <p:nvPr/>
        </p:nvSpPr>
        <p:spPr>
          <a:xfrm>
            <a:off x="6146076" y="2326548"/>
            <a:ext cx="4152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常数项级数的审敛法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C77DC3F-7586-3543-B3CA-DB69D78A3711}"/>
              </a:ext>
            </a:extLst>
          </p:cNvPr>
          <p:cNvSpPr/>
          <p:nvPr/>
        </p:nvSpPr>
        <p:spPr>
          <a:xfrm>
            <a:off x="6146076" y="3188487"/>
            <a:ext cx="533463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 函数展开成幂级数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B115371-884C-1342-8914-73E090F41BA7}"/>
              </a:ext>
            </a:extLst>
          </p:cNvPr>
          <p:cNvSpPr/>
          <p:nvPr/>
        </p:nvSpPr>
        <p:spPr>
          <a:xfrm>
            <a:off x="945202" y="4047845"/>
            <a:ext cx="520382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第五节   函数的幂级数展开式的应用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78E4ABC-4FE6-B24F-927F-6ADBAFAA1731}"/>
              </a:ext>
            </a:extLst>
          </p:cNvPr>
          <p:cNvSpPr/>
          <p:nvPr/>
        </p:nvSpPr>
        <p:spPr>
          <a:xfrm>
            <a:off x="6146076" y="3930399"/>
            <a:ext cx="5532284" cy="1135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函数项级数的一致收敛性及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        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一致收敛级数的基本性质 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1DAA95B-470C-074B-A0FA-40B8C9BD35CB}"/>
              </a:ext>
            </a:extLst>
          </p:cNvPr>
          <p:cNvSpPr/>
          <p:nvPr/>
        </p:nvSpPr>
        <p:spPr>
          <a:xfrm>
            <a:off x="945202" y="5482852"/>
            <a:ext cx="49060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第七节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傅里叶级数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57F56C-092B-1546-9C56-0C4A1E985B15}"/>
              </a:ext>
            </a:extLst>
          </p:cNvPr>
          <p:cNvSpPr/>
          <p:nvPr/>
        </p:nvSpPr>
        <p:spPr>
          <a:xfrm>
            <a:off x="6146076" y="5482852"/>
            <a:ext cx="54819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第八节  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一般周期函数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的傅里叶级数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4618947-F17D-034C-8CE1-58F913A4C706}"/>
              </a:ext>
            </a:extLst>
          </p:cNvPr>
          <p:cNvSpPr/>
          <p:nvPr/>
        </p:nvSpPr>
        <p:spPr>
          <a:xfrm>
            <a:off x="4875153" y="691154"/>
            <a:ext cx="244169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4400" b="1" dirty="0">
                <a:solidFill>
                  <a:srgbClr val="1D9D7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第十二章</a:t>
            </a:r>
            <a:endParaRPr kumimoji="1" lang="zh-CN" altLang="en-US" sz="4400" b="1" dirty="0">
              <a:solidFill>
                <a:srgbClr val="1D9D7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9035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952090"/>
            <a:ext cx="11536045" cy="33391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24810" y="752672"/>
            <a:ext cx="4942380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第四节  函数展开成幂</a:t>
            </a:r>
            <a:r>
              <a:rPr kumimoji="1"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F20C651-824C-3A4C-A342-D9EE1355CB49}"/>
              </a:ext>
            </a:extLst>
          </p:cNvPr>
          <p:cNvGrpSpPr/>
          <p:nvPr/>
        </p:nvGrpSpPr>
        <p:grpSpPr>
          <a:xfrm>
            <a:off x="3969801" y="2507387"/>
            <a:ext cx="4252398" cy="901065"/>
            <a:chOff x="3376754" y="2223698"/>
            <a:chExt cx="4252398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376754" y="2223698"/>
              <a:ext cx="425239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616931" y="2412933"/>
              <a:ext cx="244650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一、泰勒级数 </a:t>
              </a: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17F3AB54-A0F2-9F4C-BF1C-E7EF8EA48EBE}"/>
              </a:ext>
            </a:extLst>
          </p:cNvPr>
          <p:cNvGrpSpPr/>
          <p:nvPr/>
        </p:nvGrpSpPr>
        <p:grpSpPr>
          <a:xfrm>
            <a:off x="3969801" y="3917306"/>
            <a:ext cx="4252398" cy="901065"/>
            <a:chOff x="3376754" y="3448291"/>
            <a:chExt cx="4252398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376754" y="3448291"/>
              <a:ext cx="425239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616931" y="3637526"/>
              <a:ext cx="3882794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二、函数展开成幂级数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98174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57453" y="452001"/>
            <a:ext cx="2853198" cy="576219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一、泰勒级数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4"/>
              <p:cNvSpPr txBox="1">
                <a:spLocks noChangeArrowheads="1"/>
              </p:cNvSpPr>
              <p:nvPr/>
            </p:nvSpPr>
            <p:spPr bwMode="auto">
              <a:xfrm>
                <a:off x="1072341" y="1711975"/>
                <a:ext cx="25146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在收敛域内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29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2341" y="1711975"/>
                <a:ext cx="2514600" cy="519113"/>
              </a:xfrm>
              <a:prstGeom prst="rect">
                <a:avLst/>
              </a:prstGeom>
              <a:blipFill>
                <a:blip r:embed="rId2"/>
                <a:stretch>
                  <a:fillRect l="-5097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7082252" y="1715403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和函数</a:t>
            </a:r>
          </a:p>
        </p:txBody>
      </p:sp>
      <p:grpSp>
        <p:nvGrpSpPr>
          <p:cNvPr id="34" name="Group 35"/>
          <p:cNvGrpSpPr>
            <a:grpSpLocks/>
          </p:cNvGrpSpPr>
          <p:nvPr/>
        </p:nvGrpSpPr>
        <p:grpSpPr bwMode="auto">
          <a:xfrm>
            <a:off x="5660131" y="1514866"/>
            <a:ext cx="1371600" cy="519112"/>
            <a:chOff x="2496" y="1713"/>
            <a:chExt cx="864" cy="327"/>
          </a:xfrm>
        </p:grpSpPr>
        <p:sp>
          <p:nvSpPr>
            <p:cNvPr id="35" name="Text Box 12"/>
            <p:cNvSpPr txBox="1">
              <a:spLocks noChangeArrowheads="1"/>
            </p:cNvSpPr>
            <p:nvPr/>
          </p:nvSpPr>
          <p:spPr bwMode="auto">
            <a:xfrm>
              <a:off x="2496" y="1713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求 和</a:t>
              </a:r>
            </a:p>
          </p:txBody>
        </p:sp>
        <p:sp>
          <p:nvSpPr>
            <p:cNvPr id="36" name="Line 7"/>
            <p:cNvSpPr>
              <a:spLocks noChangeShapeType="1"/>
            </p:cNvSpPr>
            <p:nvPr/>
          </p:nvSpPr>
          <p:spPr bwMode="auto">
            <a:xfrm>
              <a:off x="2496" y="202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5641081" y="2086366"/>
            <a:ext cx="1466850" cy="519112"/>
            <a:chOff x="2484" y="2073"/>
            <a:chExt cx="924" cy="327"/>
          </a:xfrm>
        </p:grpSpPr>
        <p:sp>
          <p:nvSpPr>
            <p:cNvPr id="38" name="Text Box 8"/>
            <p:cNvSpPr txBox="1">
              <a:spLocks noChangeArrowheads="1"/>
            </p:cNvSpPr>
            <p:nvPr/>
          </p:nvSpPr>
          <p:spPr bwMode="auto">
            <a:xfrm>
              <a:off x="2496" y="2073"/>
              <a:ext cx="9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rPr>
                <a:t>展 开</a:t>
              </a:r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 bwMode="auto">
            <a:xfrm flipH="1">
              <a:off x="2484" y="2077"/>
              <a:ext cx="864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40" name="Text Box 14"/>
          <p:cNvSpPr txBox="1">
            <a:spLocks noChangeArrowheads="1"/>
          </p:cNvSpPr>
          <p:nvPr/>
        </p:nvSpPr>
        <p:spPr bwMode="auto">
          <a:xfrm>
            <a:off x="6864764" y="2076841"/>
            <a:ext cx="43497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600" b="1" dirty="0">
                <a:solidFill>
                  <a:srgbClr val="04926A"/>
                </a:solidFill>
                <a:ea typeface="楷体_GB2312" pitchFamily="49" charset="-122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对象 40"/>
              <p:cNvSpPr txBox="1"/>
              <p:nvPr/>
            </p:nvSpPr>
            <p:spPr>
              <a:xfrm>
                <a:off x="3015322" y="1372291"/>
                <a:ext cx="3510118" cy="1511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幂级数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1" name="对象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5322" y="1372291"/>
                <a:ext cx="3510118" cy="1511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 Box 8"/>
              <p:cNvSpPr txBox="1">
                <a:spLocks noChangeArrowheads="1"/>
              </p:cNvSpPr>
              <p:nvPr/>
            </p:nvSpPr>
            <p:spPr bwMode="auto">
              <a:xfrm>
                <a:off x="6789302" y="3553255"/>
                <a:ext cx="4951700" cy="2553474"/>
              </a:xfrm>
              <a:prstGeom prst="ellipse">
                <a:avLst/>
              </a:prstGeom>
              <a:solidFill>
                <a:srgbClr val="96D1C0"/>
              </a:solidFill>
              <a:ln w="9525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即对给定的函数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)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是否能找到幂级数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 在其收敛域内恰好以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)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为和函数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89302" y="3553255"/>
                <a:ext cx="4951700" cy="255347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04926A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7">
            <a:extLst>
              <a:ext uri="{FF2B5EF4-FFF2-40B4-BE49-F238E27FC236}">
                <a16:creationId xmlns:a16="http://schemas.microsoft.com/office/drawing/2014/main" id="{C9F7A306-F102-4364-0A38-B2D436CFC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9658" y="788267"/>
            <a:ext cx="1984250" cy="914601"/>
          </a:xfrm>
          <a:prstGeom prst="wedgeRectCallout">
            <a:avLst>
              <a:gd name="adj1" fmla="val -92835"/>
              <a:gd name="adj2" fmla="val 42448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latin typeface="+mn-ea"/>
              </a:rPr>
              <a:t>在第三节中</a:t>
            </a:r>
            <a:endParaRPr lang="en-US" altLang="zh-CN" sz="28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已经讨论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D2A1A33-E0A2-54F1-C5C6-302620CF18A0}"/>
              </a:ext>
            </a:extLst>
          </p:cNvPr>
          <p:cNvGrpSpPr/>
          <p:nvPr/>
        </p:nvGrpSpPr>
        <p:grpSpPr>
          <a:xfrm>
            <a:off x="985755" y="4167191"/>
            <a:ext cx="5670845" cy="1325602"/>
            <a:chOff x="2314947" y="-1002028"/>
            <a:chExt cx="5670909" cy="132556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73F0F39-97C7-070D-3E46-220889DEF712}"/>
                </a:ext>
              </a:extLst>
            </p:cNvPr>
            <p:cNvSpPr/>
            <p:nvPr/>
          </p:nvSpPr>
          <p:spPr>
            <a:xfrm>
              <a:off x="2584485" y="-1002028"/>
              <a:ext cx="5401371" cy="1325562"/>
            </a:xfrm>
            <a:prstGeom prst="rect">
              <a:avLst/>
            </a:prstGeom>
            <a:pattFill prst="lt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19050">
              <a:gradFill>
                <a:gsLst>
                  <a:gs pos="0">
                    <a:schemeClr val="bg1"/>
                  </a:gs>
                  <a:gs pos="20000">
                    <a:srgbClr val="A9D18E"/>
                  </a:gs>
                  <a:gs pos="100000">
                    <a:srgbClr val="04926A"/>
                  </a:gs>
                </a:gsLst>
                <a:lin ang="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D3A6704B-21F3-D4F8-DF8B-2AA665D63E17}"/>
                </a:ext>
              </a:extLst>
            </p:cNvPr>
            <p:cNvGrpSpPr/>
            <p:nvPr/>
          </p:nvGrpSpPr>
          <p:grpSpPr>
            <a:xfrm>
              <a:off x="2314947" y="-962801"/>
              <a:ext cx="1054476" cy="1209040"/>
              <a:chOff x="3124947" y="976151"/>
              <a:chExt cx="1054476" cy="1209040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02BDBA49-5E1B-5741-5F6D-3222A633571C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 rot="900000">
                <a:off x="3621893" y="1224761"/>
                <a:ext cx="557530" cy="805180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0AFBCC12-DC93-3CDF-F774-43367804C286}"/>
                  </a:ext>
                </a:extLst>
              </p:cNvPr>
              <p:cNvSpPr txBox="1"/>
              <p:nvPr/>
            </p:nvSpPr>
            <p:spPr>
              <a:xfrm>
                <a:off x="3124947" y="976151"/>
                <a:ext cx="837565" cy="1209040"/>
              </a:xfrm>
              <a:custGeom>
                <a:avLst/>
                <a:gdLst/>
                <a:ahLst/>
                <a:cxnLst/>
                <a:rect l="l" t="t" r="r" b="b"/>
                <a:pathLst>
                  <a:path w="562502" h="812155">
                    <a:moveTo>
                      <a:pt x="257655" y="620500"/>
                    </a:moveTo>
                    <a:cubicBezTo>
                      <a:pt x="319902" y="626389"/>
                      <a:pt x="353866" y="659088"/>
                      <a:pt x="359548" y="718598"/>
                    </a:cubicBezTo>
                    <a:cubicBezTo>
                      <a:pt x="353576" y="775122"/>
                      <a:pt x="319674" y="806308"/>
                      <a:pt x="257842" y="812155"/>
                    </a:cubicBezTo>
                    <a:cubicBezTo>
                      <a:pt x="195968" y="806349"/>
                      <a:pt x="162066" y="775101"/>
                      <a:pt x="156136" y="718411"/>
                    </a:cubicBezTo>
                    <a:cubicBezTo>
                      <a:pt x="161776" y="659026"/>
                      <a:pt x="195615" y="626389"/>
                      <a:pt x="257655" y="620500"/>
                    </a:cubicBezTo>
                    <a:close/>
                    <a:moveTo>
                      <a:pt x="284590" y="0"/>
                    </a:moveTo>
                    <a:cubicBezTo>
                      <a:pt x="464364" y="5433"/>
                      <a:pt x="556967" y="70417"/>
                      <a:pt x="562400" y="194952"/>
                    </a:cubicBezTo>
                    <a:cubicBezTo>
                      <a:pt x="565095" y="272916"/>
                      <a:pt x="514895" y="336822"/>
                      <a:pt x="411800" y="386669"/>
                    </a:cubicBezTo>
                    <a:cubicBezTo>
                      <a:pt x="319736" y="427932"/>
                      <a:pt x="278908" y="492999"/>
                      <a:pt x="289318" y="581870"/>
                    </a:cubicBezTo>
                    <a:lnTo>
                      <a:pt x="223566" y="581870"/>
                    </a:lnTo>
                    <a:cubicBezTo>
                      <a:pt x="215065" y="491921"/>
                      <a:pt x="239968" y="417689"/>
                      <a:pt x="298275" y="359175"/>
                    </a:cubicBezTo>
                    <a:cubicBezTo>
                      <a:pt x="362264" y="292822"/>
                      <a:pt x="391646" y="234660"/>
                      <a:pt x="386420" y="184688"/>
                    </a:cubicBezTo>
                    <a:cubicBezTo>
                      <a:pt x="386420" y="98140"/>
                      <a:pt x="351005" y="54865"/>
                      <a:pt x="280173" y="54865"/>
                    </a:cubicBezTo>
                    <a:cubicBezTo>
                      <a:pt x="225225" y="49681"/>
                      <a:pt x="190390" y="97663"/>
                      <a:pt x="175668" y="198809"/>
                    </a:cubicBezTo>
                    <a:cubicBezTo>
                      <a:pt x="169821" y="248573"/>
                      <a:pt x="139962" y="273455"/>
                      <a:pt x="86092" y="273455"/>
                    </a:cubicBezTo>
                    <a:cubicBezTo>
                      <a:pt x="28697" y="273455"/>
                      <a:pt x="0" y="248407"/>
                      <a:pt x="0" y="198311"/>
                    </a:cubicBezTo>
                    <a:cubicBezTo>
                      <a:pt x="13478" y="74232"/>
                      <a:pt x="108341" y="8128"/>
                      <a:pt x="28459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/>
                  </a:gs>
                  <a:gs pos="20000">
                    <a:srgbClr val="C5E0B4"/>
                  </a:gs>
                  <a:gs pos="100000">
                    <a:srgbClr val="04926A"/>
                  </a:gs>
                </a:gsLst>
                <a:lin ang="0" scaled="0"/>
              </a:gradFill>
              <a:ln>
                <a:noFill/>
              </a:ln>
              <a:effectLst>
                <a:outerShdw dist="63500" dir="2700000" algn="tl" rotWithShape="0">
                  <a:srgbClr val="E3F0DB"/>
                </a:outerShdw>
              </a:effectLst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endParaRPr lang="zh-CN" altLang="en-US" sz="8000" b="1" dirty="0">
                  <a:latin typeface="方正粗雅宋_GBK" panose="02000000000000000000" pitchFamily="2" charset="-122"/>
                  <a:ea typeface="方正粗雅宋_GBK" panose="02000000000000000000" pitchFamily="2" charset="-122"/>
                </a:endParaRPr>
              </a:p>
            </p:txBody>
          </p:sp>
        </p:grp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82D7B53-F2ED-9237-107B-17B337CD16B5}"/>
                </a:ext>
              </a:extLst>
            </p:cNvPr>
            <p:cNvSpPr/>
            <p:nvPr/>
          </p:nvSpPr>
          <p:spPr>
            <a:xfrm>
              <a:off x="3432896" y="-634894"/>
              <a:ext cx="1085850" cy="4996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 eaLnBrk="0" fontAlgn="base" hangingPunct="0">
                <a:lnSpc>
                  <a:spcPct val="150000"/>
                </a:lnSpc>
                <a:spcAft>
                  <a:spcPct val="0"/>
                </a:spcAft>
                <a:defRPr/>
              </a:pPr>
              <a:r>
                <a:rPr kumimoji="1" lang="zh-CN" altLang="en-US" sz="20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问题</a:t>
              </a:r>
              <a:r>
                <a:rPr kumimoji="1" lang="en-US" altLang="zh-CN" sz="20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:</a:t>
              </a:r>
              <a:endParaRPr kumimoji="1" lang="zh-CN" altLang="en-US" sz="20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5">
                <a:extLst>
                  <a:ext uri="{FF2B5EF4-FFF2-40B4-BE49-F238E27FC236}">
                    <a16:creationId xmlns:a16="http://schemas.microsoft.com/office/drawing/2014/main" id="{FA1C5A90-6C2B-A75E-5E3F-7B88DE9D197E}"/>
                  </a:ext>
                </a:extLst>
              </p:cNvPr>
              <p:cNvSpPr txBox="1"/>
              <p:nvPr/>
            </p:nvSpPr>
            <p:spPr>
              <a:xfrm>
                <a:off x="2775002" y="4332648"/>
                <a:ext cx="3896360" cy="99758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如果能展开</m:t>
                      </m:r>
                      <m:r>
                        <a:rPr kumimoji="1" lang="en-US" altLang="zh-CN" sz="20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则系数</m:t>
                      </m:r>
                      <m:r>
                        <a:rPr lang="zh-CN" altLang="en-US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是什么</m:t>
                      </m:r>
                      <m:r>
                        <a:rPr lang="en-US" altLang="zh-CN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?</m:t>
                      </m:r>
                    </m:oMath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2.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展开式是否唯一</m:t>
                      </m:r>
                      <m:r>
                        <a:rPr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?</m:t>
                      </m:r>
                    </m:oMath>
                    <m:oMath xmlns:m="http://schemas.openxmlformats.org/officeDocument/2006/math"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3.</m:t>
                      </m:r>
                      <m:r>
                        <a:rPr lang="zh-CN" alt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展开的条件是什么</m:t>
                      </m:r>
                      <m:r>
                        <a:rPr lang="en-US" altLang="zh-CN" sz="2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en-US" altLang="zh-CN" sz="20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  <a:sym typeface="+mn-ea"/>
                        </a:rPr>
                        <m:t>?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8" name="对象 5">
                <a:extLst>
                  <a:ext uri="{FF2B5EF4-FFF2-40B4-BE49-F238E27FC236}">
                    <a16:creationId xmlns:a16="http://schemas.microsoft.com/office/drawing/2014/main" id="{FA1C5A90-6C2B-A75E-5E3F-7B88DE9D1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002" y="4332648"/>
                <a:ext cx="3896360" cy="997585"/>
              </a:xfrm>
              <a:prstGeom prst="rect">
                <a:avLst/>
              </a:prstGeom>
              <a:blipFill>
                <a:blip r:embed="rId5"/>
                <a:stretch>
                  <a:fillRect b="-67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AutoShape 7">
            <a:extLst>
              <a:ext uri="{FF2B5EF4-FFF2-40B4-BE49-F238E27FC236}">
                <a16:creationId xmlns:a16="http://schemas.microsoft.com/office/drawing/2014/main" id="{08504902-762C-7FC9-D8D5-FFF69E22E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9658" y="2439110"/>
            <a:ext cx="2516005" cy="914602"/>
          </a:xfrm>
          <a:prstGeom prst="wedgeRectCallout">
            <a:avLst>
              <a:gd name="adj1" fmla="val -85183"/>
              <a:gd name="adj2" fmla="val -35706"/>
            </a:avLst>
          </a:prstGeom>
          <a:solidFill>
            <a:srgbClr val="04926A">
              <a:alpha val="42000"/>
            </a:srgbClr>
          </a:solidFill>
          <a:ln w="12700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dirty="0">
                <a:latin typeface="+mn-ea"/>
              </a:rPr>
              <a:t>本节讨论函数</a:t>
            </a:r>
            <a:endParaRPr lang="en-US" altLang="zh-CN" sz="2800" dirty="0">
              <a:latin typeface="+mn-ea"/>
            </a:endParaRPr>
          </a:p>
          <a:p>
            <a:pPr algn="ctr"/>
            <a:r>
              <a:rPr lang="zh-CN" altLang="en-US" sz="2800" dirty="0">
                <a:latin typeface="+mn-ea"/>
              </a:rPr>
              <a:t>展开成幂级数</a:t>
            </a:r>
          </a:p>
        </p:txBody>
      </p:sp>
    </p:spTree>
    <p:extLst>
      <p:ext uri="{BB962C8B-B14F-4D97-AF65-F5344CB8AC3E}">
        <p14:creationId xmlns:p14="http://schemas.microsoft.com/office/powerpoint/2010/main" val="407573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 build="p" autoUpdateAnimBg="0"/>
      <p:bldP spid="31" grpId="0"/>
      <p:bldP spid="40" grpId="0"/>
      <p:bldP spid="41" grpId="0"/>
      <p:bldP spid="42" grpId="0" animBg="1" autoUpdateAnimBg="0"/>
      <p:bldP spid="5" grpId="0" animBg="1"/>
      <p:bldP spid="8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CD425094-F238-2A17-9C28-58F57397D1E1}"/>
              </a:ext>
            </a:extLst>
          </p:cNvPr>
          <p:cNvGrpSpPr/>
          <p:nvPr/>
        </p:nvGrpSpPr>
        <p:grpSpPr>
          <a:xfrm>
            <a:off x="521335" y="494665"/>
            <a:ext cx="11149330" cy="5612765"/>
            <a:chOff x="838" y="906"/>
            <a:chExt cx="17558" cy="8839"/>
          </a:xfrm>
        </p:grpSpPr>
        <p:sp>
          <p:nvSpPr>
            <p:cNvPr id="16" name="PA-102232">
              <a:extLst>
                <a:ext uri="{FF2B5EF4-FFF2-40B4-BE49-F238E27FC236}">
                  <a16:creationId xmlns:a16="http://schemas.microsoft.com/office/drawing/2014/main" id="{090664BA-F121-74EE-4601-C8B526B8076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4CBAC2A3-839A-D2D5-2F95-F17B63C8424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8" name="Rectangle 1">
                <a:extLst>
                  <a:ext uri="{FF2B5EF4-FFF2-40B4-BE49-F238E27FC236}">
                    <a16:creationId xmlns:a16="http://schemas.microsoft.com/office/drawing/2014/main" id="{0BD60BB4-9FA9-D982-E85E-461A8529DFE6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" name="Rectangle 1">
                <a:extLst>
                  <a:ext uri="{FF2B5EF4-FFF2-40B4-BE49-F238E27FC236}">
                    <a16:creationId xmlns:a16="http://schemas.microsoft.com/office/drawing/2014/main" id="{E69DDC15-D0FA-C818-44E3-D066BA2C6DE8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Rectangle 1">
                <a:extLst>
                  <a:ext uri="{FF2B5EF4-FFF2-40B4-BE49-F238E27FC236}">
                    <a16:creationId xmlns:a16="http://schemas.microsoft.com/office/drawing/2014/main" id="{008FD550-CCA3-4B89-083C-C42D920D1E84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2668413" y="1321469"/>
                <a:ext cx="8696273" cy="850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在点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的某邻域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内能展开成幂级数</m:t>
                      </m:r>
                      <m:r>
                        <a:rPr kumimoji="1" lang="en-US" altLang="zh-CN" sz="2800">
                          <a:latin typeface="Cambria Math" panose="02040503050406030204" charset="0"/>
                          <a:ea typeface="黑体" panose="02010609060101010101" pitchFamily="49" charset="-122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413" y="1321469"/>
                <a:ext cx="8696273" cy="850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2668413" y="1886383"/>
                <a:ext cx="5186049" cy="1185549"/>
              </a:xfrm>
              <a:prstGeom prst="rect">
                <a:avLst/>
              </a:prstGeom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413" y="1886383"/>
                <a:ext cx="5186049" cy="11855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6517380" y="2219357"/>
                <a:ext cx="3116315" cy="68810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则其系数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380" y="2219357"/>
                <a:ext cx="3116315" cy="688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 bwMode="auto">
          <a:xfrm>
            <a:off x="2668413" y="4497606"/>
            <a:ext cx="325121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r>
              <a:rPr lang="zh-CN" altLang="zh-CN" sz="2800" dirty="0"/>
              <a:t>且展开式是唯一的</a:t>
            </a:r>
            <a:r>
              <a:rPr lang="en-US" altLang="zh-CN" sz="2800" dirty="0"/>
              <a:t>.</a:t>
            </a:r>
            <a:endParaRPr lang="zh-CN" altLang="zh-C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2768681" y="3198804"/>
                <a:ext cx="6427285" cy="1064800"/>
              </a:xfrm>
              <a:prstGeom prst="rect">
                <a:avLst/>
              </a:prstGeom>
              <a:solidFill>
                <a:srgbClr val="CDE9E1"/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)  (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=0,1,2,⋯)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681" y="3198804"/>
                <a:ext cx="6427285" cy="1064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12F709C9-CC26-889B-03BB-811F5AAA1069}"/>
              </a:ext>
            </a:extLst>
          </p:cNvPr>
          <p:cNvGrpSpPr/>
          <p:nvPr/>
        </p:nvGrpSpPr>
        <p:grpSpPr>
          <a:xfrm>
            <a:off x="1451568" y="1380774"/>
            <a:ext cx="1138226" cy="449580"/>
            <a:chOff x="1553" y="3802"/>
            <a:chExt cx="1928" cy="708"/>
          </a:xfrm>
        </p:grpSpPr>
        <p:sp>
          <p:nvSpPr>
            <p:cNvPr id="9" name="圆角矩形 3">
              <a:extLst>
                <a:ext uri="{FF2B5EF4-FFF2-40B4-BE49-F238E27FC236}">
                  <a16:creationId xmlns:a16="http://schemas.microsoft.com/office/drawing/2014/main" id="{A2103F9B-D8CB-88F0-5CC5-0B8DB86178E8}"/>
                </a:ext>
              </a:extLst>
            </p:cNvPr>
            <p:cNvSpPr/>
            <p:nvPr/>
          </p:nvSpPr>
          <p:spPr>
            <a:xfrm>
              <a:off x="1553" y="3803"/>
              <a:ext cx="192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Text Box 28">
              <a:extLst>
                <a:ext uri="{FF2B5EF4-FFF2-40B4-BE49-F238E27FC236}">
                  <a16:creationId xmlns:a16="http://schemas.microsoft.com/office/drawing/2014/main" id="{0C67877E-7BE7-CFD2-EB77-C94AF7535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625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332210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1D2B6C48-B1E7-CB64-E7F5-8F0184D65FE1}"/>
              </a:ext>
            </a:extLst>
          </p:cNvPr>
          <p:cNvGrpSpPr/>
          <p:nvPr/>
        </p:nvGrpSpPr>
        <p:grpSpPr>
          <a:xfrm>
            <a:off x="687324" y="53582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B0079030-F45D-9359-1970-7B2AF88E30E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F76A215B-CFCB-1D05-2096-A45FD7A040B8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CCDD7C9B-43D8-B756-383C-10143275C25D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EECF6565-9C75-0FC8-1AEF-DC0624A8275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E22EF907-51BE-13DE-CA75-A84F50B5C428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 Box 1026"/>
          <p:cNvSpPr txBox="1">
            <a:spLocks noChangeArrowheads="1"/>
          </p:cNvSpPr>
          <p:nvPr/>
        </p:nvSpPr>
        <p:spPr bwMode="auto">
          <a:xfrm>
            <a:off x="1683004" y="1085706"/>
            <a:ext cx="1143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030"/>
              <p:cNvSpPr txBox="1"/>
              <p:nvPr/>
            </p:nvSpPr>
            <p:spPr bwMode="auto">
              <a:xfrm>
                <a:off x="2647815" y="1096394"/>
                <a:ext cx="8397875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Object 10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7815" y="1096394"/>
                <a:ext cx="8397875" cy="482600"/>
              </a:xfrm>
              <a:prstGeom prst="rect">
                <a:avLst/>
              </a:prstGeom>
              <a:blipFill>
                <a:blip r:embed="rId4"/>
                <a:stretch>
                  <a:fillRect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10"/>
              <p:cNvSpPr txBox="1">
                <a:spLocks noChangeArrowheads="1"/>
              </p:cNvSpPr>
              <p:nvPr/>
            </p:nvSpPr>
            <p:spPr bwMode="auto">
              <a:xfrm>
                <a:off x="2647815" y="1705916"/>
                <a:ext cx="32766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逐项求导任意次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得</a:t>
                </a:r>
              </a:p>
            </p:txBody>
          </p:sp>
        </mc:Choice>
        <mc:Fallback xmlns="">
          <p:sp>
            <p:nvSpPr>
              <p:cNvPr id="5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7815" y="1705916"/>
                <a:ext cx="3276600" cy="430887"/>
              </a:xfrm>
              <a:prstGeom prst="rect">
                <a:avLst/>
              </a:prstGeom>
              <a:blipFill>
                <a:blip r:embed="rId5"/>
                <a:stretch>
                  <a:fillRect l="-2416" t="-14085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2647815" y="2234875"/>
                <a:ext cx="7162800" cy="482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815" y="2234875"/>
                <a:ext cx="7162800" cy="482600"/>
              </a:xfrm>
              <a:prstGeom prst="rect">
                <a:avLst/>
              </a:prstGeom>
              <a:blipFill>
                <a:blip r:embed="rId6"/>
                <a:stretch>
                  <a:fillRect l="-511" b="-63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2647815" y="2758007"/>
                <a:ext cx="1075535" cy="46855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815" y="2758007"/>
                <a:ext cx="1075535" cy="46855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2647815" y="3322775"/>
                <a:ext cx="6718300" cy="4826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!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⋅⋯⋅3⋅2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815" y="3322775"/>
                <a:ext cx="6718300" cy="482600"/>
              </a:xfrm>
              <a:prstGeom prst="rect">
                <a:avLst/>
              </a:prstGeom>
              <a:blipFill>
                <a:blip r:embed="rId8"/>
                <a:stretch>
                  <a:fillRect l="-544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2647815" y="3967768"/>
                <a:ext cx="2349500" cy="457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即得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815" y="3967768"/>
                <a:ext cx="2349500" cy="457200"/>
              </a:xfrm>
              <a:prstGeom prst="rect">
                <a:avLst/>
              </a:prstGeom>
              <a:blipFill>
                <a:blip r:embed="rId9"/>
                <a:stretch>
                  <a:fillRect l="-1813"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对象 9"/>
              <p:cNvSpPr txBox="1"/>
              <p:nvPr/>
            </p:nvSpPr>
            <p:spPr>
              <a:xfrm>
                <a:off x="3611952" y="4443747"/>
                <a:ext cx="5029200" cy="8509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)  (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=0,1,2,⋯).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对象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952" y="4443747"/>
                <a:ext cx="5029200" cy="8509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7"/>
              <p:cNvSpPr txBox="1">
                <a:spLocks noChangeArrowheads="1"/>
              </p:cNvSpPr>
              <p:nvPr/>
            </p:nvSpPr>
            <p:spPr bwMode="auto">
              <a:xfrm>
                <a:off x="2647815" y="5313427"/>
                <a:ext cx="358140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泰勒系数是唯一的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2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7815" y="5313427"/>
                <a:ext cx="3581400" cy="430887"/>
              </a:xfrm>
              <a:prstGeom prst="rect">
                <a:avLst/>
              </a:prstGeom>
              <a:blipFill>
                <a:blip r:embed="rId11"/>
                <a:stretch>
                  <a:fillRect l="-2211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对象 12"/>
              <p:cNvSpPr txBox="1"/>
              <p:nvPr/>
            </p:nvSpPr>
            <p:spPr>
              <a:xfrm>
                <a:off x="5021946" y="5272743"/>
                <a:ext cx="3678840" cy="66027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的展开式是唯一的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. 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1946" y="5272743"/>
                <a:ext cx="3678840" cy="66027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组合 20">
            <a:extLst>
              <a:ext uri="{FF2B5EF4-FFF2-40B4-BE49-F238E27FC236}">
                <a16:creationId xmlns:a16="http://schemas.microsoft.com/office/drawing/2014/main" id="{39E758E0-A36A-C4F4-BDFB-0C31CB3578ED}"/>
              </a:ext>
            </a:extLst>
          </p:cNvPr>
          <p:cNvGrpSpPr/>
          <p:nvPr/>
        </p:nvGrpSpPr>
        <p:grpSpPr>
          <a:xfrm>
            <a:off x="9507161" y="5333698"/>
            <a:ext cx="716209" cy="360271"/>
            <a:chOff x="1553" y="3803"/>
            <a:chExt cx="1165" cy="579"/>
          </a:xfrm>
        </p:grpSpPr>
        <p:sp>
          <p:nvSpPr>
            <p:cNvPr id="22" name="圆角矩形 21">
              <a:extLst>
                <a:ext uri="{FF2B5EF4-FFF2-40B4-BE49-F238E27FC236}">
                  <a16:creationId xmlns:a16="http://schemas.microsoft.com/office/drawing/2014/main" id="{0825030F-6E55-BFDE-9296-720955F9CF5C}"/>
                </a:ext>
              </a:extLst>
            </p:cNvPr>
            <p:cNvSpPr/>
            <p:nvPr/>
          </p:nvSpPr>
          <p:spPr>
            <a:xfrm>
              <a:off x="1553" y="3803"/>
              <a:ext cx="1131" cy="579"/>
            </a:xfrm>
            <a:prstGeom prst="roundRect">
              <a:avLst>
                <a:gd name="adj" fmla="val 0"/>
              </a:avLst>
            </a:prstGeom>
            <a:solidFill>
              <a:srgbClr val="04926A">
                <a:alpha val="4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Text Box 28">
              <a:extLst>
                <a:ext uri="{FF2B5EF4-FFF2-40B4-BE49-F238E27FC236}">
                  <a16:creationId xmlns:a16="http://schemas.microsoft.com/office/drawing/2014/main" id="{31089617-1FAB-A435-3C3E-F05AA01F08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0" y="3817"/>
              <a:ext cx="1068" cy="5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sz="2200" b="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pitchFamily="49" charset="-122"/>
                  <a:cs typeface="+mj-cs"/>
                </a:rPr>
                <a:t>证毕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862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3BFBD385-BAEB-8249-9921-CCD968C4EBDC}"/>
              </a:ext>
            </a:extLst>
          </p:cNvPr>
          <p:cNvGrpSpPr/>
          <p:nvPr/>
        </p:nvGrpSpPr>
        <p:grpSpPr>
          <a:xfrm>
            <a:off x="513080" y="546100"/>
            <a:ext cx="10645140" cy="5736590"/>
            <a:chOff x="808" y="860"/>
            <a:chExt cx="16764" cy="9034"/>
          </a:xfrm>
        </p:grpSpPr>
        <p:sp>
          <p:nvSpPr>
            <p:cNvPr id="8" name="Rectangle 1">
              <a:extLst>
                <a:ext uri="{FF2B5EF4-FFF2-40B4-BE49-F238E27FC236}">
                  <a16:creationId xmlns:a16="http://schemas.microsoft.com/office/drawing/2014/main" id="{4CB42CB5-E522-36F0-31E7-FAC49D5652CC}"/>
                </a:ext>
              </a:extLst>
            </p:cNvPr>
            <p:cNvSpPr/>
            <p:nvPr/>
          </p:nvSpPr>
          <p:spPr>
            <a:xfrm>
              <a:off x="1660" y="860"/>
              <a:ext cx="15912" cy="9034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E4E1B87-FB87-0EB4-B369-B8EAF2676618}"/>
                </a:ext>
              </a:extLst>
            </p:cNvPr>
            <p:cNvGrpSpPr/>
            <p:nvPr/>
          </p:nvGrpSpPr>
          <p:grpSpPr>
            <a:xfrm>
              <a:off x="808" y="4669"/>
              <a:ext cx="1703" cy="1417"/>
              <a:chOff x="-277332" y="-1600502"/>
              <a:chExt cx="1633641" cy="900000"/>
            </a:xfrm>
          </p:grpSpPr>
          <p:sp>
            <p:nvSpPr>
              <p:cNvPr id="10" name="PA-102231">
                <a:extLst>
                  <a:ext uri="{FF2B5EF4-FFF2-40B4-BE49-F238E27FC236}">
                    <a16:creationId xmlns:a16="http://schemas.microsoft.com/office/drawing/2014/main" id="{B04F3987-7BF9-23A1-7BBC-71E82DF24EAA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-277332" y="-1600502"/>
                <a:ext cx="1633641" cy="900000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11" name="Rectangle 167">
                <a:extLst>
                  <a:ext uri="{FF2B5EF4-FFF2-40B4-BE49-F238E27FC236}">
                    <a16:creationId xmlns:a16="http://schemas.microsoft.com/office/drawing/2014/main" id="{F85A3D33-D91C-F4F2-F572-39D7CA857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69724" y="-1365718"/>
                <a:ext cx="1085171" cy="43098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6138" name="Text Box 122"/>
              <p:cNvSpPr txBox="1">
                <a:spLocks noChangeArrowheads="1"/>
              </p:cNvSpPr>
              <p:nvPr/>
            </p:nvSpPr>
            <p:spPr bwMode="auto">
              <a:xfrm>
                <a:off x="1685037" y="718487"/>
                <a:ext cx="893533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设函数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的某一邻域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内具有任意阶导数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lang="zh-CN" altLang="en-US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138" name="Text 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5037" y="718487"/>
                <a:ext cx="8935338" cy="523220"/>
              </a:xfrm>
              <a:prstGeom prst="rect">
                <a:avLst/>
              </a:prstGeom>
              <a:blipFill>
                <a:blip r:embed="rId3"/>
                <a:stretch>
                  <a:fillRect l="-1364" t="-16279" b="-31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140" name="Text Box 124"/>
          <p:cNvSpPr txBox="1">
            <a:spLocks noChangeArrowheads="1"/>
          </p:cNvSpPr>
          <p:nvPr/>
        </p:nvSpPr>
        <p:spPr bwMode="auto">
          <a:xfrm>
            <a:off x="1685037" y="1403997"/>
            <a:ext cx="2286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则称幂级数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145" name="Text Box 129"/>
              <p:cNvSpPr txBox="1">
                <a:spLocks noChangeArrowheads="1"/>
              </p:cNvSpPr>
              <p:nvPr/>
            </p:nvSpPr>
            <p:spPr bwMode="auto">
              <a:xfrm>
                <a:off x="1685037" y="3800810"/>
                <a:ext cx="5257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在点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处的泰勒级数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145" name="Text Box 1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5037" y="3800810"/>
                <a:ext cx="5257800" cy="523220"/>
              </a:xfrm>
              <a:prstGeom prst="rect">
                <a:avLst/>
              </a:prstGeom>
              <a:blipFill>
                <a:blip r:embed="rId4"/>
                <a:stretch>
                  <a:fillRect l="-2317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146" name="Text Box 130"/>
          <p:cNvSpPr txBox="1">
            <a:spLocks noChangeArrowheads="1"/>
          </p:cNvSpPr>
          <p:nvPr/>
        </p:nvSpPr>
        <p:spPr bwMode="auto">
          <a:xfrm>
            <a:off x="6351507" y="3792861"/>
            <a:ext cx="2667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Cambria Math" panose="02040503050406030204" pitchFamily="18" charset="0"/>
                <a:cs typeface="Times New Roman" panose="02020603050405020304" pitchFamily="18" charset="0"/>
              </a:rPr>
              <a:t>而称幂级数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151" name="Text Box 135"/>
              <p:cNvSpPr txBox="1">
                <a:spLocks noChangeArrowheads="1"/>
              </p:cNvSpPr>
              <p:nvPr/>
            </p:nvSpPr>
            <p:spPr bwMode="auto">
              <a:xfrm>
                <a:off x="1685037" y="5547598"/>
                <a:ext cx="5257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en-US" altLang="zh-CN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的麦克劳林级数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6151" name="Text Box 1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5037" y="5547598"/>
                <a:ext cx="5257800" cy="523220"/>
              </a:xfrm>
              <a:prstGeom prst="rect">
                <a:avLst/>
              </a:prstGeom>
              <a:blipFill>
                <a:blip r:embed="rId5"/>
                <a:stretch>
                  <a:fillRect l="-2317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150006" y="2026692"/>
                <a:ext cx="1549911" cy="57065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006" y="2026692"/>
                <a:ext cx="1549911" cy="5706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3458181" y="2032339"/>
                <a:ext cx="3167209" cy="570652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181" y="2032339"/>
                <a:ext cx="3167209" cy="57065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6164645" y="1823050"/>
                <a:ext cx="3537840" cy="11245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645" y="1823050"/>
                <a:ext cx="3537840" cy="11245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对象 4"/>
              <p:cNvSpPr txBox="1"/>
              <p:nvPr/>
            </p:nvSpPr>
            <p:spPr>
              <a:xfrm>
                <a:off x="5777035" y="2741839"/>
                <a:ext cx="5593156" cy="11245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035" y="2741839"/>
                <a:ext cx="5593156" cy="11245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2150006" y="4483365"/>
                <a:ext cx="7751661" cy="8890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″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(0)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006" y="4483365"/>
                <a:ext cx="7751661" cy="889000"/>
              </a:xfrm>
              <a:prstGeom prst="rect">
                <a:avLst/>
              </a:prstGeom>
              <a:blipFill>
                <a:blip r:embed="rId10"/>
                <a:stretch>
                  <a:fillRect b="-41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16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6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6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138" grpId="0"/>
      <p:bldP spid="86140" grpId="0"/>
      <p:bldP spid="86145" grpId="0"/>
      <p:bldP spid="86146" grpId="0"/>
      <p:bldP spid="86151" grpId="0"/>
      <p:bldP spid="2" grpId="0"/>
      <p:bldP spid="3" grpId="0"/>
      <p:bldP spid="4" grpId="0"/>
      <p:bldP spid="5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19" name="Text Box 3"/>
              <p:cNvSpPr txBox="1">
                <a:spLocks noChangeArrowheads="1"/>
              </p:cNvSpPr>
              <p:nvPr/>
            </p:nvSpPr>
            <p:spPr bwMode="auto">
              <a:xfrm>
                <a:off x="9370963" y="752919"/>
                <a:ext cx="18288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各阶导数</a:t>
                </a:r>
                <a14:m>
                  <m:oMath xmlns:m="http://schemas.openxmlformats.org/officeDocument/2006/math">
                    <m:r>
                      <a:rPr kumimoji="1" lang="en-US" altLang="zh-CN" sz="2800" smtClean="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9219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70963" y="752919"/>
                <a:ext cx="1828800" cy="519112"/>
              </a:xfrm>
              <a:prstGeom prst="rect">
                <a:avLst/>
              </a:prstGeom>
              <a:blipFill>
                <a:blip r:embed="rId3"/>
                <a:stretch>
                  <a:fillRect l="-6667" t="-16471" b="-294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7" name="Object 11"/>
              <p:cNvSpPr txBox="1"/>
              <p:nvPr/>
            </p:nvSpPr>
            <p:spPr bwMode="auto">
              <a:xfrm>
                <a:off x="7434440" y="745803"/>
                <a:ext cx="1276399" cy="6234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27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34440" y="745803"/>
                <a:ext cx="1276399" cy="6234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1" name="Text Box 5"/>
              <p:cNvSpPr txBox="1">
                <a:spLocks noChangeArrowheads="1"/>
              </p:cNvSpPr>
              <p:nvPr/>
            </p:nvSpPr>
            <p:spPr bwMode="auto">
              <a:xfrm>
                <a:off x="2562728" y="1398408"/>
                <a:ext cx="7634653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在该邻域内能展开成泰勒级数的</a:t>
                </a: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充要</a:t>
                </a:r>
              </a:p>
            </p:txBody>
          </p:sp>
        </mc:Choice>
        <mc:Fallback xmlns="">
          <p:sp>
            <p:nvSpPr>
              <p:cNvPr id="9221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2728" y="1398408"/>
                <a:ext cx="7634653" cy="523220"/>
              </a:xfrm>
              <a:prstGeom prst="rect">
                <a:avLst/>
              </a:prstGeom>
              <a:blipFill>
                <a:blip r:embed="rId5"/>
                <a:stretch>
                  <a:fillRect l="-1596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9406397" y="1398231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条件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1" name="Text Box 15"/>
              <p:cNvSpPr txBox="1">
                <a:spLocks noChangeArrowheads="1"/>
              </p:cNvSpPr>
              <p:nvPr/>
            </p:nvSpPr>
            <p:spPr bwMode="auto">
              <a:xfrm>
                <a:off x="2600939" y="2043520"/>
                <a:ext cx="5105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的泰勒公式中的余项满足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pitchFamily="49" charset="-122"/>
                      </a:rPr>
                      <m:t>: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923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0939" y="2043520"/>
                <a:ext cx="5105400" cy="519112"/>
              </a:xfrm>
              <a:prstGeom prst="rect">
                <a:avLst/>
              </a:prstGeom>
              <a:blipFill>
                <a:blip r:embed="rId6"/>
                <a:stretch>
                  <a:fillRect t="-1529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4" name="Object 18"/>
              <p:cNvSpPr txBox="1"/>
              <p:nvPr/>
            </p:nvSpPr>
            <p:spPr bwMode="auto">
              <a:xfrm>
                <a:off x="7452560" y="2008788"/>
                <a:ext cx="3258673" cy="647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234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2560" y="2008788"/>
                <a:ext cx="3258673" cy="647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1188567" y="2976677"/>
            <a:ext cx="1371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7" name="Object 21"/>
              <p:cNvSpPr txBox="1"/>
              <p:nvPr/>
            </p:nvSpPr>
            <p:spPr bwMode="auto">
              <a:xfrm>
                <a:off x="2591556" y="2724558"/>
                <a:ext cx="4325937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37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1556" y="2724558"/>
                <a:ext cx="4325937" cy="1041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3977443" y="4059428"/>
            <a:ext cx="838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9" name="Object 23"/>
              <p:cNvSpPr txBox="1"/>
              <p:nvPr/>
            </p:nvSpPr>
            <p:spPr bwMode="auto">
              <a:xfrm>
                <a:off x="4411788" y="4896352"/>
                <a:ext cx="33909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39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1788" y="4896352"/>
                <a:ext cx="3390900" cy="444500"/>
              </a:xfrm>
              <a:prstGeom prst="rect">
                <a:avLst/>
              </a:prstGeom>
              <a:blipFill>
                <a:blip r:embed="rId9"/>
                <a:stretch>
                  <a:fillRect l="-1259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0" name="Line 24"/>
          <p:cNvSpPr>
            <a:spLocks noChangeShapeType="1"/>
          </p:cNvSpPr>
          <p:nvPr/>
        </p:nvSpPr>
        <p:spPr bwMode="auto">
          <a:xfrm>
            <a:off x="3872756" y="3817806"/>
            <a:ext cx="0" cy="1676400"/>
          </a:xfrm>
          <a:prstGeom prst="line">
            <a:avLst/>
          </a:prstGeom>
          <a:noFill/>
          <a:ln w="19050">
            <a:solidFill>
              <a:srgbClr val="04926A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42" name="Object 26"/>
              <p:cNvSpPr txBox="1"/>
              <p:nvPr/>
            </p:nvSpPr>
            <p:spPr bwMode="auto">
              <a:xfrm>
                <a:off x="2595688" y="5575802"/>
                <a:ext cx="1816100" cy="609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5688" y="5575802"/>
                <a:ext cx="1816100" cy="6096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3" name="Object 27"/>
              <p:cNvSpPr txBox="1"/>
              <p:nvPr/>
            </p:nvSpPr>
            <p:spPr bwMode="auto">
              <a:xfrm>
                <a:off x="4193539" y="5575802"/>
                <a:ext cx="3009900" cy="609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4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3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3539" y="5575802"/>
                <a:ext cx="3009900" cy="6096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4" name="Object 28"/>
              <p:cNvSpPr txBox="1"/>
              <p:nvPr/>
            </p:nvSpPr>
            <p:spPr bwMode="auto">
              <a:xfrm>
                <a:off x="6792453" y="5579446"/>
                <a:ext cx="730510" cy="4420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2453" y="5579446"/>
                <a:ext cx="730510" cy="44209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5" name="Object 29"/>
              <p:cNvSpPr txBox="1"/>
              <p:nvPr/>
            </p:nvSpPr>
            <p:spPr bwMode="auto">
              <a:xfrm>
                <a:off x="7354951" y="5571983"/>
                <a:ext cx="15875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5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54951" y="5571983"/>
                <a:ext cx="1587500" cy="431800"/>
              </a:xfrm>
              <a:prstGeom prst="rect">
                <a:avLst/>
              </a:prstGeom>
              <a:blipFill>
                <a:blip r:embed="rId13"/>
                <a:stretch>
                  <a:fillRect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46" name="Object 30"/>
              <p:cNvSpPr txBox="1"/>
              <p:nvPr/>
            </p:nvSpPr>
            <p:spPr bwMode="auto">
              <a:xfrm>
                <a:off x="4411788" y="3761113"/>
                <a:ext cx="4505325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𝑠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6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11788" y="3761113"/>
                <a:ext cx="4505325" cy="10414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47" name="Line 31"/>
          <p:cNvSpPr>
            <a:spLocks noChangeShapeType="1"/>
          </p:cNvSpPr>
          <p:nvPr/>
        </p:nvSpPr>
        <p:spPr bwMode="auto">
          <a:xfrm flipV="1">
            <a:off x="3799994" y="3805104"/>
            <a:ext cx="0" cy="16764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48" name="Object 32"/>
              <p:cNvSpPr txBox="1"/>
              <p:nvPr/>
            </p:nvSpPr>
            <p:spPr bwMode="auto">
              <a:xfrm>
                <a:off x="6394113" y="2998556"/>
                <a:ext cx="14986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48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94113" y="2998556"/>
                <a:ext cx="1498600" cy="431800"/>
              </a:xfrm>
              <a:prstGeom prst="rect">
                <a:avLst/>
              </a:prstGeom>
              <a:blipFill>
                <a:blip r:embed="rId15"/>
                <a:stretch>
                  <a:fillRect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52" name="Text Box 36"/>
              <p:cNvSpPr txBox="1">
                <a:spLocks noChangeArrowheads="1"/>
              </p:cNvSpPr>
              <p:nvPr/>
            </p:nvSpPr>
            <p:spPr bwMode="auto">
              <a:xfrm>
                <a:off x="2562728" y="745974"/>
                <a:ext cx="5165901" cy="5275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lvl="0" eaLnBrk="0" fontAlgn="base" hangingPunct="0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设函数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在点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en-US" altLang="zh-CN" sz="2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的某一邻域 </a:t>
                </a:r>
              </a:p>
            </p:txBody>
          </p:sp>
        </mc:Choice>
        <mc:Fallback xmlns="">
          <p:sp>
            <p:nvSpPr>
              <p:cNvPr id="9252" name="Text 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2728" y="745974"/>
                <a:ext cx="5165901" cy="527580"/>
              </a:xfrm>
              <a:prstGeom prst="rect">
                <a:avLst/>
              </a:prstGeom>
              <a:blipFill>
                <a:blip r:embed="rId16"/>
                <a:stretch>
                  <a:fillRect l="-2358" t="-13793" b="-3103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4" name="Text Box 38"/>
          <p:cNvSpPr txBox="1">
            <a:spLocks noChangeArrowheads="1"/>
          </p:cNvSpPr>
          <p:nvPr/>
        </p:nvSpPr>
        <p:spPr bwMode="auto">
          <a:xfrm>
            <a:off x="8316976" y="754441"/>
            <a:ext cx="125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内具有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17C7837-0299-4A0A-FD25-DBC9F7A102DE}"/>
              </a:ext>
            </a:extLst>
          </p:cNvPr>
          <p:cNvGrpSpPr/>
          <p:nvPr/>
        </p:nvGrpSpPr>
        <p:grpSpPr>
          <a:xfrm>
            <a:off x="1278845" y="827178"/>
            <a:ext cx="1226781" cy="449580"/>
            <a:chOff x="1553" y="3802"/>
            <a:chExt cx="2078" cy="708"/>
          </a:xfrm>
        </p:grpSpPr>
        <p:sp>
          <p:nvSpPr>
            <p:cNvPr id="3" name="圆角矩形 3">
              <a:extLst>
                <a:ext uri="{FF2B5EF4-FFF2-40B4-BE49-F238E27FC236}">
                  <a16:creationId xmlns:a16="http://schemas.microsoft.com/office/drawing/2014/main" id="{0E1ED218-B05A-6827-A0B4-6DA41291BFCE}"/>
                </a:ext>
              </a:extLst>
            </p:cNvPr>
            <p:cNvSpPr/>
            <p:nvPr/>
          </p:nvSpPr>
          <p:spPr>
            <a:xfrm>
              <a:off x="1553" y="3803"/>
              <a:ext cx="207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9181E37B-3C5A-919D-40FC-668344ABA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0" y="3802"/>
              <a:ext cx="1921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定理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429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9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9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9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9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9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7" grpId="0"/>
      <p:bldP spid="9221" grpId="0" autoUpdateAnimBg="0"/>
      <p:bldP spid="9229" grpId="0" autoUpdateAnimBg="0"/>
      <p:bldP spid="9231" grpId="0" autoUpdateAnimBg="0"/>
      <p:bldP spid="9234" grpId="0"/>
      <p:bldP spid="9236" grpId="0" autoUpdateAnimBg="0"/>
      <p:bldP spid="9237" grpId="0"/>
      <p:bldP spid="9238" grpId="0" autoUpdateAnimBg="0"/>
      <p:bldP spid="9239" grpId="0"/>
      <p:bldP spid="9242" grpId="0"/>
      <p:bldP spid="9243" grpId="0"/>
      <p:bldP spid="9244" grpId="0"/>
      <p:bldP spid="9245" grpId="0"/>
      <p:bldP spid="9246" grpId="0"/>
      <p:bldP spid="9248" grpId="0"/>
      <p:bldP spid="9252" grpId="0"/>
      <p:bldP spid="92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187DD32E-F62E-BF65-5FAF-43732EA0D838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12" name="PA-102232">
              <a:extLst>
                <a:ext uri="{FF2B5EF4-FFF2-40B4-BE49-F238E27FC236}">
                  <a16:creationId xmlns:a16="http://schemas.microsoft.com/office/drawing/2014/main" id="{12996505-8942-48DD-2207-2BED1917567B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C829DB9-9A9E-CB42-B62F-9DE4B39F609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>
                <a:extLst>
                  <a:ext uri="{FF2B5EF4-FFF2-40B4-BE49-F238E27FC236}">
                    <a16:creationId xmlns:a16="http://schemas.microsoft.com/office/drawing/2014/main" id="{4E6022AD-8A4E-3D3D-20F6-FCDDD5F8CA61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Rectangle 1">
                <a:extLst>
                  <a:ext uri="{FF2B5EF4-FFF2-40B4-BE49-F238E27FC236}">
                    <a16:creationId xmlns:a16="http://schemas.microsoft.com/office/drawing/2014/main" id="{7F15B79D-71AE-0759-6E77-7E33B133DF1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">
                <a:extLst>
                  <a:ext uri="{FF2B5EF4-FFF2-40B4-BE49-F238E27FC236}">
                    <a16:creationId xmlns:a16="http://schemas.microsoft.com/office/drawing/2014/main" id="{4BB80E8F-4FD9-FD75-5E28-B366548FA550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Text Box 3"/>
              <p:cNvSpPr txBox="1">
                <a:spLocks noChangeArrowheads="1"/>
              </p:cNvSpPr>
              <p:nvPr/>
            </p:nvSpPr>
            <p:spPr bwMode="auto">
              <a:xfrm>
                <a:off x="3285978" y="2332257"/>
                <a:ext cx="7162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若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能展成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的幂级数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则这种展开式是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2852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0243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5978" y="2332257"/>
                <a:ext cx="7162800" cy="519113"/>
              </a:xfrm>
              <a:prstGeom prst="rect">
                <a:avLst/>
              </a:prstGeom>
              <a:blipFill>
                <a:blip r:embed="rId3"/>
                <a:stretch>
                  <a:fillRect l="-1702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3281144" y="3002000"/>
            <a:ext cx="6019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唯一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且与它的麦克劳林级数相同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B3DD350-83D6-3966-ABE5-8682A96B7DCA}"/>
              </a:ext>
            </a:extLst>
          </p:cNvPr>
          <p:cNvGrpSpPr/>
          <p:nvPr/>
        </p:nvGrpSpPr>
        <p:grpSpPr>
          <a:xfrm>
            <a:off x="2282289" y="2365353"/>
            <a:ext cx="977265" cy="448945"/>
            <a:chOff x="1553" y="3803"/>
            <a:chExt cx="1539" cy="707"/>
          </a:xfrm>
        </p:grpSpPr>
        <p:sp>
          <p:nvSpPr>
            <p:cNvPr id="3" name="圆角矩形 51">
              <a:extLst>
                <a:ext uri="{FF2B5EF4-FFF2-40B4-BE49-F238E27FC236}">
                  <a16:creationId xmlns:a16="http://schemas.microsoft.com/office/drawing/2014/main" id="{56EDB7C4-DA94-9F82-4EDC-9A9BF319109F}"/>
                </a:ext>
              </a:extLst>
            </p:cNvPr>
            <p:cNvSpPr/>
            <p:nvPr/>
          </p:nvSpPr>
          <p:spPr>
            <a:xfrm>
              <a:off x="1553" y="3803"/>
              <a:ext cx="1539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" name="Text Box 28">
              <a:extLst>
                <a:ext uri="{FF2B5EF4-FFF2-40B4-BE49-F238E27FC236}">
                  <a16:creationId xmlns:a16="http://schemas.microsoft.com/office/drawing/2014/main" id="{D70979C8-B899-57A9-CC7A-C0B60E9D5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3814"/>
              <a:ext cx="1438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推论</a:t>
              </a:r>
              <a:r>
                <a:rPr kumimoji="1" lang="en-US" altLang="zh-CN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421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02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D9F6E88-1C51-9FB9-F0B4-BDB8570BA378}"/>
              </a:ext>
            </a:extLst>
          </p:cNvPr>
          <p:cNvGrpSpPr/>
          <p:nvPr/>
        </p:nvGrpSpPr>
        <p:grpSpPr>
          <a:xfrm>
            <a:off x="510540" y="596263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ED98366C-C3D8-ED74-07AB-1C155562E91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4CEC0ED-4FF2-FE54-2D3A-866D6A745F03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97D606ED-1CA5-1C97-3EE0-76F37574D24F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D2BF3502-15B3-90DC-B1C0-5F2838DA31E1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DBBBE1DB-03DC-7DD0-FF0B-017DFB90A0D7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19315" y="1369401"/>
            <a:ext cx="4572000" cy="6858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二、函数展开成幂级数 </a:t>
            </a:r>
          </a:p>
        </p:txBody>
      </p:sp>
      <p:sp>
        <p:nvSpPr>
          <p:cNvPr id="11286" name="Text Box 22"/>
          <p:cNvSpPr txBox="1">
            <a:spLocks noChangeArrowheads="1"/>
          </p:cNvSpPr>
          <p:nvPr/>
        </p:nvSpPr>
        <p:spPr bwMode="auto">
          <a:xfrm>
            <a:off x="2465307" y="3311897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展开方法</a:t>
            </a:r>
          </a:p>
        </p:txBody>
      </p:sp>
      <p:sp>
        <p:nvSpPr>
          <p:cNvPr id="11288" name="Text Box 24"/>
          <p:cNvSpPr txBox="1">
            <a:spLocks noChangeArrowheads="1"/>
          </p:cNvSpPr>
          <p:nvPr/>
        </p:nvSpPr>
        <p:spPr bwMode="auto">
          <a:xfrm>
            <a:off x="4104156" y="3005581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直接展开法</a:t>
            </a:r>
          </a:p>
        </p:txBody>
      </p:sp>
      <p:sp>
        <p:nvSpPr>
          <p:cNvPr id="11290" name="Text Box 26"/>
          <p:cNvSpPr txBox="1">
            <a:spLocks noChangeArrowheads="1"/>
          </p:cNvSpPr>
          <p:nvPr/>
        </p:nvSpPr>
        <p:spPr bwMode="auto">
          <a:xfrm>
            <a:off x="6000812" y="2967500"/>
            <a:ext cx="41899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——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利用泰勒公式</a:t>
            </a:r>
          </a:p>
        </p:txBody>
      </p:sp>
      <p:sp>
        <p:nvSpPr>
          <p:cNvPr id="11291" name="Text Box 27"/>
          <p:cNvSpPr txBox="1">
            <a:spLocks noChangeArrowheads="1"/>
          </p:cNvSpPr>
          <p:nvPr/>
        </p:nvSpPr>
        <p:spPr bwMode="auto">
          <a:xfrm>
            <a:off x="4104156" y="3677094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间接展开法</a:t>
            </a:r>
          </a:p>
        </p:txBody>
      </p:sp>
      <p:sp>
        <p:nvSpPr>
          <p:cNvPr id="11292" name="Text Box 28"/>
          <p:cNvSpPr txBox="1">
            <a:spLocks noChangeArrowheads="1"/>
          </p:cNvSpPr>
          <p:nvPr/>
        </p:nvSpPr>
        <p:spPr bwMode="auto">
          <a:xfrm>
            <a:off x="6000813" y="3658044"/>
            <a:ext cx="51671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——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利用已知其级数展开式</a:t>
            </a:r>
          </a:p>
        </p:txBody>
      </p:sp>
      <p:sp>
        <p:nvSpPr>
          <p:cNvPr id="11294" name="AutoShape 30"/>
          <p:cNvSpPr>
            <a:spLocks/>
          </p:cNvSpPr>
          <p:nvPr/>
        </p:nvSpPr>
        <p:spPr bwMode="auto">
          <a:xfrm>
            <a:off x="4027956" y="314369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96" name="Text Box 32"/>
          <p:cNvSpPr txBox="1">
            <a:spLocks noChangeArrowheads="1"/>
          </p:cNvSpPr>
          <p:nvPr/>
        </p:nvSpPr>
        <p:spPr bwMode="auto">
          <a:xfrm>
            <a:off x="6835800" y="4195889"/>
            <a:ext cx="2133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的函数展开</a:t>
            </a:r>
          </a:p>
        </p:txBody>
      </p:sp>
    </p:spTree>
    <p:extLst>
      <p:ext uri="{BB962C8B-B14F-4D97-AF65-F5344CB8AC3E}">
        <p14:creationId xmlns:p14="http://schemas.microsoft.com/office/powerpoint/2010/main" val="196629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86" grpId="0" autoUpdateAnimBg="0"/>
      <p:bldP spid="11288" grpId="0" autoUpdateAnimBg="0"/>
      <p:bldP spid="11290" grpId="0" build="p" autoUpdateAnimBg="0"/>
      <p:bldP spid="11291" grpId="0" autoUpdateAnimBg="0"/>
      <p:bldP spid="11292" grpId="0" build="p" autoUpdateAnimBg="0"/>
      <p:bldP spid="11296" grpId="0" build="p" autoUpdateAnimBg="0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6DEEDD9-FDD4-1EDA-DD2B-E47E1EFC44B1}"/>
              </a:ext>
            </a:extLst>
          </p:cNvPr>
          <p:cNvGrpSpPr/>
          <p:nvPr/>
        </p:nvGrpSpPr>
        <p:grpSpPr>
          <a:xfrm>
            <a:off x="457296" y="5835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0D09A02A-B67B-DFA8-BC15-14BA9CC3EE0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AF5F8C4-70BC-96A4-6A1F-D2C18A65726F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24C68C5E-ABF2-CD77-4790-4875DA0B42CE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36090B1F-8F89-78C0-EE2A-EA91544DEA8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0FC6634A-6AF5-30C7-0DF0-0FCB3FEC2EE9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880648" y="1563948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1. 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直接展开法</a:t>
            </a:r>
          </a:p>
        </p:txBody>
      </p:sp>
      <p:sp>
        <p:nvSpPr>
          <p:cNvPr id="11268" name="Text Box 4"/>
          <p:cNvSpPr txBox="1">
            <a:spLocks noChangeArrowheads="1"/>
          </p:cNvSpPr>
          <p:nvPr/>
        </p:nvSpPr>
        <p:spPr bwMode="auto">
          <a:xfrm>
            <a:off x="1880648" y="2159260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由泰勒级数理论可知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9" name="Object 5"/>
              <p:cNvSpPr txBox="1"/>
              <p:nvPr/>
            </p:nvSpPr>
            <p:spPr bwMode="auto">
              <a:xfrm>
                <a:off x="5217893" y="2168394"/>
                <a:ext cx="5821726" cy="8227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函数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展开成幂级数的步</m:t>
                      </m:r>
                      <m:r>
                        <m:rPr>
                          <m:nor/>
                        </m:rPr>
                        <a:rPr kumimoji="1" lang="zh-CN" altLang="en-US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骤如下</m:t>
                      </m:r>
                      <m:r>
                        <m:rPr>
                          <m:nor/>
                        </m:rPr>
                        <a:rPr kumimoji="1" lang="en-US" altLang="zh-CN" sz="28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:</m:t>
                      </m:r>
                    </m:oMath>
                  </m:oMathPara>
                </a14:m>
                <a:endParaRPr kumimoji="1" lang="en-US" altLang="zh-CN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  <a:p>
                <a:endParaRPr lang="zh-CN" altLang="en-US" sz="2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26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7893" y="2168394"/>
                <a:ext cx="5821726" cy="8227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1" name="Text Box 7"/>
              <p:cNvSpPr txBox="1">
                <a:spLocks noChangeArrowheads="1"/>
              </p:cNvSpPr>
              <p:nvPr/>
            </p:nvSpPr>
            <p:spPr bwMode="auto">
              <a:xfrm>
                <a:off x="1880648" y="3303848"/>
                <a:ext cx="73152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第一步  求函数及其各阶导数在</a:t>
                </a:r>
                <a14:m>
                  <m:oMath xmlns:m="http://schemas.openxmlformats.org/officeDocument/2006/math">
                    <m:r>
                      <a:rPr lang="zh-CN" altLang="en-US" sz="28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0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处的值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;</a:t>
                </a:r>
              </a:p>
            </p:txBody>
          </p:sp>
        </mc:Choice>
        <mc:Fallback xmlns="">
          <p:sp>
            <p:nvSpPr>
              <p:cNvPr id="11271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0648" y="3303848"/>
                <a:ext cx="7315200" cy="519113"/>
              </a:xfrm>
              <a:prstGeom prst="rect">
                <a:avLst/>
              </a:prstGeom>
              <a:blipFill>
                <a:blip r:embed="rId5"/>
                <a:stretch>
                  <a:fillRect l="-1750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2" name="Text Box 8"/>
              <p:cNvSpPr txBox="1">
                <a:spLocks noChangeArrowheads="1"/>
              </p:cNvSpPr>
              <p:nvPr/>
            </p:nvSpPr>
            <p:spPr bwMode="auto">
              <a:xfrm>
                <a:off x="1880648" y="3864235"/>
                <a:ext cx="79248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第二步  写出麦克劳林级数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并求出其收敛半径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;             </a:t>
                </a:r>
              </a:p>
            </p:txBody>
          </p:sp>
        </mc:Choice>
        <mc:Fallback xmlns="">
          <p:sp>
            <p:nvSpPr>
              <p:cNvPr id="11272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0648" y="3864235"/>
                <a:ext cx="7924800" cy="519112"/>
              </a:xfrm>
              <a:prstGeom prst="rect">
                <a:avLst/>
              </a:prstGeom>
              <a:blipFill>
                <a:blip r:embed="rId6"/>
                <a:stretch>
                  <a:fillRect l="-1615" t="-16471" r="-10923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73" name="Text Box 9"/>
              <p:cNvSpPr txBox="1">
                <a:spLocks noChangeArrowheads="1"/>
              </p:cNvSpPr>
              <p:nvPr/>
            </p:nvSpPr>
            <p:spPr bwMode="auto">
              <a:xfrm>
                <a:off x="1880648" y="4430973"/>
                <a:ext cx="59436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第三步  判别在收敛区间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(-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内</a:t>
                </a:r>
              </a:p>
            </p:txBody>
          </p:sp>
        </mc:Choice>
        <mc:Fallback xmlns="">
          <p:sp>
            <p:nvSpPr>
              <p:cNvPr id="11273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0648" y="4430973"/>
                <a:ext cx="5943600" cy="519113"/>
              </a:xfrm>
              <a:prstGeom prst="rect">
                <a:avLst/>
              </a:prstGeom>
              <a:blipFill>
                <a:blip r:embed="rId7"/>
                <a:stretch>
                  <a:fillRect l="-2154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80" name="Object 16"/>
              <p:cNvSpPr txBox="1"/>
              <p:nvPr/>
            </p:nvSpPr>
            <p:spPr bwMode="auto">
              <a:xfrm>
                <a:off x="7038594" y="4423730"/>
                <a:ext cx="1974120" cy="8670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8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8594" y="4423730"/>
                <a:ext cx="1974120" cy="86709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2" name="Text Box 18"/>
          <p:cNvSpPr txBox="1">
            <a:spLocks noChangeArrowheads="1"/>
          </p:cNvSpPr>
          <p:nvPr/>
        </p:nvSpPr>
        <p:spPr bwMode="auto">
          <a:xfrm>
            <a:off x="8745575" y="4416107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是否为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1880648" y="2706948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1295" name="Text Box 31"/>
          <p:cNvSpPr txBox="1">
            <a:spLocks noChangeArrowheads="1"/>
          </p:cNvSpPr>
          <p:nvPr/>
        </p:nvSpPr>
        <p:spPr bwMode="auto">
          <a:xfrm>
            <a:off x="9883449" y="4448866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</a:rPr>
              <a:t>0. </a:t>
            </a:r>
          </a:p>
        </p:txBody>
      </p:sp>
    </p:spTree>
    <p:extLst>
      <p:ext uri="{BB962C8B-B14F-4D97-AF65-F5344CB8AC3E}">
        <p14:creationId xmlns:p14="http://schemas.microsoft.com/office/powerpoint/2010/main" val="398574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/>
      <p:bldP spid="11268" grpId="0" autoUpdateAnimBg="0"/>
      <p:bldP spid="11269" grpId="0"/>
      <p:bldP spid="11271" grpId="0" autoUpdateAnimBg="0"/>
      <p:bldP spid="11272" grpId="0" autoUpdateAnimBg="0"/>
      <p:bldP spid="11273" grpId="0" autoUpdateAnimBg="0"/>
      <p:bldP spid="11280" grpId="0"/>
      <p:bldP spid="11282" grpId="0" autoUpdateAnimBg="0"/>
      <p:bldP spid="11295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D999A4C0-8604-6D2E-536C-D21ADD7304F4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AD29A19-6EFB-92DA-B202-9B5F7465ED77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0AD29A19-6EFB-92DA-B202-9B5F7465ED7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34C8888-7C30-A64C-9812-1E8BEA0CB5C5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69D31118-24FB-F135-6A41-601A2703A8D0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3CCD5EAF-E156-55E2-3E1A-9A1118C9DA84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F6700ADB-485D-C21C-CFD9-D29D7EA021ED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45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47920" y="784225"/>
            <a:ext cx="23622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将函数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5" name="Object 3"/>
              <p:cNvSpPr txBox="1"/>
              <p:nvPr/>
            </p:nvSpPr>
            <p:spPr bwMode="auto">
              <a:xfrm>
                <a:off x="3613433" y="726529"/>
                <a:ext cx="1786597" cy="8556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45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3433" y="726529"/>
                <a:ext cx="1786597" cy="8556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16" name="Text Box 4"/>
              <p:cNvSpPr txBox="1">
                <a:spLocks noChangeArrowheads="1"/>
              </p:cNvSpPr>
              <p:nvPr/>
            </p:nvSpPr>
            <p:spPr bwMode="auto">
              <a:xfrm>
                <a:off x="5191537" y="729920"/>
                <a:ext cx="46482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展开成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的幂级数</a:t>
                </a:r>
                <a:r>
                  <a:rPr kumimoji="1" lang="en-US" altLang="zh-CN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 </a:t>
                </a:r>
                <a:endParaRPr kumimoji="1" lang="en-US" altLang="zh-CN" sz="2400" i="0" u="none" strike="noStrike" kern="1200" cap="none" spc="0" normalizeH="0" baseline="0" noProof="0" dirty="0">
                  <a:ln>
                    <a:noFill/>
                  </a:ln>
                  <a:solidFill>
                    <a:srgbClr val="629DD1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451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1537" y="729920"/>
                <a:ext cx="4648200" cy="519112"/>
              </a:xfrm>
              <a:prstGeom prst="rect">
                <a:avLst/>
              </a:prstGeom>
              <a:blipFill>
                <a:blip r:embed="rId5"/>
                <a:stretch>
                  <a:fillRect l="-2756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1666251" y="1357380"/>
            <a:ext cx="83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仿宋_GB2312" pitchFamily="49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18" name="Object 6"/>
              <p:cNvSpPr txBox="1"/>
              <p:nvPr/>
            </p:nvSpPr>
            <p:spPr bwMode="auto">
              <a:xfrm>
                <a:off x="2497835" y="1394924"/>
                <a:ext cx="2311400" cy="546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1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7835" y="1394924"/>
                <a:ext cx="2311400" cy="546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19" name="Object 7"/>
              <p:cNvSpPr txBox="1"/>
              <p:nvPr/>
            </p:nvSpPr>
            <p:spPr bwMode="auto">
              <a:xfrm>
                <a:off x="4457441" y="1396976"/>
                <a:ext cx="3683000" cy="546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(0)=1  (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=0,1,⋯),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57441" y="1396976"/>
                <a:ext cx="3683000" cy="546100"/>
              </a:xfrm>
              <a:prstGeom prst="rect">
                <a:avLst/>
              </a:prstGeom>
              <a:blipFill>
                <a:blip r:embed="rId7"/>
                <a:stretch>
                  <a:fillRect l="-99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2" name="Object 10"/>
              <p:cNvSpPr txBox="1"/>
              <p:nvPr/>
            </p:nvSpPr>
            <p:spPr bwMode="auto">
              <a:xfrm>
                <a:off x="3196257" y="2125683"/>
                <a:ext cx="614363" cy="8465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6257" y="2125683"/>
                <a:ext cx="614363" cy="846596"/>
              </a:xfrm>
              <a:prstGeom prst="rect">
                <a:avLst/>
              </a:prstGeom>
              <a:blipFill>
                <a:blip r:embed="rId8"/>
                <a:stretch>
                  <a:fillRect l="-9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23" name="Text Box 11"/>
          <p:cNvSpPr txBox="1">
            <a:spLocks noChangeArrowheads="1"/>
          </p:cNvSpPr>
          <p:nvPr/>
        </p:nvSpPr>
        <p:spPr bwMode="auto">
          <a:xfrm>
            <a:off x="2472701" y="2928418"/>
            <a:ext cx="2362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其收敛半径为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24" name="Object 12"/>
              <p:cNvSpPr txBox="1"/>
              <p:nvPr/>
            </p:nvSpPr>
            <p:spPr bwMode="auto">
              <a:xfrm>
                <a:off x="7074535" y="2911808"/>
                <a:ext cx="1383712" cy="490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=+∞.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74535" y="2911808"/>
                <a:ext cx="1383712" cy="490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5" name="Text Box 13"/>
              <p:cNvSpPr txBox="1">
                <a:spLocks noChangeArrowheads="1"/>
              </p:cNvSpPr>
              <p:nvPr/>
            </p:nvSpPr>
            <p:spPr bwMode="auto">
              <a:xfrm>
                <a:off x="2472701" y="3600291"/>
                <a:ext cx="48006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对任何有限数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其余项满足</a:t>
                </a:r>
              </a:p>
            </p:txBody>
          </p:sp>
        </mc:Choice>
        <mc:Fallback xmlns="">
          <p:sp>
            <p:nvSpPr>
              <p:cNvPr id="6452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2701" y="3600291"/>
                <a:ext cx="4800600" cy="430887"/>
              </a:xfrm>
              <a:prstGeom prst="rect">
                <a:avLst/>
              </a:prstGeom>
              <a:blipFill>
                <a:blip r:embed="rId10"/>
                <a:stretch>
                  <a:fillRect l="-1652" t="-1428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6" name="Object 14"/>
              <p:cNvSpPr txBox="1"/>
              <p:nvPr/>
            </p:nvSpPr>
            <p:spPr bwMode="auto">
              <a:xfrm>
                <a:off x="3196257" y="4241542"/>
                <a:ext cx="3616325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</m:t>
                          </m:r>
                          <m:r>
                            <m:rPr>
                              <m:nor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</m:t>
                          </m:r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6257" y="4241542"/>
                <a:ext cx="3616325" cy="10033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7" name="Object 15"/>
              <p:cNvSpPr txBox="1"/>
              <p:nvPr/>
            </p:nvSpPr>
            <p:spPr bwMode="auto">
              <a:xfrm>
                <a:off x="4918403" y="4081389"/>
                <a:ext cx="422276" cy="5346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8403" y="4081389"/>
                <a:ext cx="422276" cy="534649"/>
              </a:xfrm>
              <a:prstGeom prst="rect">
                <a:avLst/>
              </a:prstGeom>
              <a:blipFill>
                <a:blip r:embed="rId12"/>
                <a:stretch>
                  <a:fillRect r="-28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8" name="Object 16"/>
              <p:cNvSpPr txBox="1"/>
              <p:nvPr/>
            </p:nvSpPr>
            <p:spPr bwMode="auto">
              <a:xfrm>
                <a:off x="4618511" y="4555256"/>
                <a:ext cx="1306513" cy="5346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+1)!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8511" y="4555256"/>
                <a:ext cx="1306513" cy="534649"/>
              </a:xfrm>
              <a:prstGeom prst="rect">
                <a:avLst/>
              </a:prstGeom>
              <a:blipFill>
                <a:blip r:embed="rId13"/>
                <a:stretch>
                  <a:fillRect l="-32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29" name="Object 17"/>
              <p:cNvSpPr txBox="1"/>
              <p:nvPr/>
            </p:nvSpPr>
            <p:spPr bwMode="auto">
              <a:xfrm>
                <a:off x="5662817" y="4371793"/>
                <a:ext cx="733840" cy="515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29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62817" y="4371793"/>
                <a:ext cx="733840" cy="51554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0" name="Object 18"/>
              <p:cNvSpPr txBox="1"/>
              <p:nvPr/>
            </p:nvSpPr>
            <p:spPr bwMode="auto">
              <a:xfrm>
                <a:off x="6603033" y="4287763"/>
                <a:ext cx="1073148" cy="6379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03033" y="4287763"/>
                <a:ext cx="1073148" cy="63799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1" name="Object 19"/>
              <p:cNvSpPr txBox="1"/>
              <p:nvPr/>
            </p:nvSpPr>
            <p:spPr bwMode="auto">
              <a:xfrm>
                <a:off x="7360562" y="4115167"/>
                <a:ext cx="1383712" cy="1195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1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60562" y="4115167"/>
                <a:ext cx="1383712" cy="119572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32" name="Text Box 20"/>
          <p:cNvSpPr txBox="1">
            <a:spLocks noChangeArrowheads="1"/>
          </p:cNvSpPr>
          <p:nvPr/>
        </p:nvSpPr>
        <p:spPr bwMode="auto">
          <a:xfrm>
            <a:off x="2472701" y="5645444"/>
            <a:ext cx="1066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34" name="Object 22"/>
              <p:cNvSpPr txBox="1"/>
              <p:nvPr/>
            </p:nvSpPr>
            <p:spPr bwMode="auto">
              <a:xfrm>
                <a:off x="3211661" y="5483040"/>
                <a:ext cx="6027738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4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11661" y="5483040"/>
                <a:ext cx="6027738" cy="9271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5" name="Object 23"/>
              <p:cNvSpPr txBox="1"/>
              <p:nvPr/>
            </p:nvSpPr>
            <p:spPr bwMode="auto">
              <a:xfrm>
                <a:off x="4174502" y="2922618"/>
                <a:ext cx="2260600" cy="8537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74502" y="2922618"/>
                <a:ext cx="2260600" cy="853708"/>
              </a:xfrm>
              <a:prstGeom prst="rect">
                <a:avLst/>
              </a:prstGeom>
              <a:blipFill>
                <a:blip r:embed="rId18"/>
                <a:stretch>
                  <a:fillRect l="-2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6" name="Object 24"/>
              <p:cNvSpPr txBox="1"/>
              <p:nvPr/>
            </p:nvSpPr>
            <p:spPr bwMode="auto">
              <a:xfrm>
                <a:off x="5425430" y="2748576"/>
                <a:ext cx="800100" cy="12482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6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5430" y="2748576"/>
                <a:ext cx="800100" cy="124822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7" name="Object 25"/>
              <p:cNvSpPr txBox="1"/>
              <p:nvPr/>
            </p:nvSpPr>
            <p:spPr bwMode="auto">
              <a:xfrm>
                <a:off x="5978061" y="2746715"/>
                <a:ext cx="1816466" cy="1055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78061" y="2746715"/>
                <a:ext cx="1816466" cy="105568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39" name="Object 27"/>
              <p:cNvSpPr txBox="1"/>
              <p:nvPr/>
            </p:nvSpPr>
            <p:spPr bwMode="auto">
              <a:xfrm>
                <a:off x="8577377" y="4086505"/>
                <a:ext cx="1429754" cy="5391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3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77377" y="4086505"/>
                <a:ext cx="1429754" cy="539195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40" name="Line 28"/>
          <p:cNvSpPr>
            <a:spLocks noChangeShapeType="1"/>
          </p:cNvSpPr>
          <p:nvPr/>
        </p:nvSpPr>
        <p:spPr bwMode="auto">
          <a:xfrm>
            <a:off x="8531049" y="4555256"/>
            <a:ext cx="14462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541" name="Object 29"/>
              <p:cNvSpPr txBox="1"/>
              <p:nvPr/>
            </p:nvSpPr>
            <p:spPr bwMode="auto">
              <a:xfrm>
                <a:off x="9947021" y="4356102"/>
                <a:ext cx="723901" cy="5444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4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47021" y="4356102"/>
                <a:ext cx="723901" cy="544437"/>
              </a:xfrm>
              <a:prstGeom prst="rect">
                <a:avLst/>
              </a:prstGeom>
              <a:blipFill>
                <a:blip r:embed="rId22"/>
                <a:stretch>
                  <a:fillRect l="-8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42" name="Object 30"/>
              <p:cNvSpPr txBox="1"/>
              <p:nvPr/>
            </p:nvSpPr>
            <p:spPr bwMode="auto">
              <a:xfrm>
                <a:off x="8527290" y="5625665"/>
                <a:ext cx="2191592" cy="6933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∈(−∞,+∞).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42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27290" y="5625665"/>
                <a:ext cx="2191592" cy="69338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43" name="Text Box 31"/>
              <p:cNvSpPr txBox="1">
                <a:spLocks noChangeArrowheads="1"/>
              </p:cNvSpPr>
              <p:nvPr/>
            </p:nvSpPr>
            <p:spPr bwMode="auto">
              <a:xfrm>
                <a:off x="4543837" y="5063468"/>
                <a:ext cx="29718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(</a:t>
                </a:r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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在</a:t>
                </a:r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0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与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之间)</a:t>
                </a:r>
                <a:endParaRPr kumimoji="1" lang="en-US" altLang="zh-CN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4543" name="Text 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3837" y="5063468"/>
                <a:ext cx="2971800" cy="430887"/>
              </a:xfrm>
              <a:prstGeom prst="rect">
                <a:avLst/>
              </a:prstGeom>
              <a:blipFill>
                <a:blip r:embed="rId24"/>
                <a:stretch>
                  <a:fillRect l="-2664" t="-14286" b="-285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44" name="Object 32"/>
              <p:cNvSpPr txBox="1"/>
              <p:nvPr/>
            </p:nvSpPr>
            <p:spPr bwMode="auto">
              <a:xfrm>
                <a:off x="3341065" y="2112527"/>
                <a:ext cx="715619" cy="5892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4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41065" y="2112527"/>
                <a:ext cx="715619" cy="589223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45" name="Object 33"/>
              <p:cNvSpPr txBox="1"/>
              <p:nvPr/>
            </p:nvSpPr>
            <p:spPr bwMode="auto">
              <a:xfrm>
                <a:off x="3735960" y="1976922"/>
                <a:ext cx="10033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45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35960" y="1976922"/>
                <a:ext cx="1003300" cy="9271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46" name="Object 34"/>
              <p:cNvSpPr txBox="1"/>
              <p:nvPr/>
            </p:nvSpPr>
            <p:spPr bwMode="auto">
              <a:xfrm>
                <a:off x="4604713" y="1982478"/>
                <a:ext cx="1323975" cy="10014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46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04713" y="1982478"/>
                <a:ext cx="1323975" cy="100140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47" name="Object 35"/>
              <p:cNvSpPr txBox="1"/>
              <p:nvPr/>
            </p:nvSpPr>
            <p:spPr bwMode="auto">
              <a:xfrm>
                <a:off x="5533353" y="1974984"/>
                <a:ext cx="2425700" cy="7961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4547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3353" y="1974984"/>
                <a:ext cx="2425700" cy="79616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548" name="Text Box 36"/>
          <p:cNvSpPr txBox="1">
            <a:spLocks noChangeArrowheads="1"/>
          </p:cNvSpPr>
          <p:nvPr/>
        </p:nvSpPr>
        <p:spPr bwMode="auto">
          <a:xfrm>
            <a:off x="7673097" y="1394110"/>
            <a:ext cx="138371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故得级数 </a:t>
            </a:r>
          </a:p>
        </p:txBody>
      </p:sp>
      <p:sp>
        <p:nvSpPr>
          <p:cNvPr id="64549" name="Line 37"/>
          <p:cNvSpPr>
            <a:spLocks noChangeShapeType="1"/>
          </p:cNvSpPr>
          <p:nvPr/>
        </p:nvSpPr>
        <p:spPr bwMode="auto">
          <a:xfrm flipH="1">
            <a:off x="5787401" y="2672152"/>
            <a:ext cx="3048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5151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4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4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4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4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4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4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4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4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0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4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4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4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6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4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4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4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4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/>
      <p:bldP spid="64515" grpId="0"/>
      <p:bldP spid="64516" grpId="0"/>
      <p:bldP spid="64517" grpId="0" autoUpdateAnimBg="0"/>
      <p:bldP spid="64518" grpId="0"/>
      <p:bldP spid="64519" grpId="0"/>
      <p:bldP spid="64522" grpId="0"/>
      <p:bldP spid="64523" grpId="0" autoUpdateAnimBg="0"/>
      <p:bldP spid="64524" grpId="0"/>
      <p:bldP spid="64525" grpId="0" autoUpdateAnimBg="0"/>
      <p:bldP spid="64526" grpId="0"/>
      <p:bldP spid="64527" grpId="0"/>
      <p:bldP spid="64528" grpId="0"/>
      <p:bldP spid="64529" grpId="0"/>
      <p:bldP spid="64530" grpId="0"/>
      <p:bldP spid="64531" grpId="0"/>
      <p:bldP spid="64532" grpId="0" autoUpdateAnimBg="0"/>
      <p:bldP spid="64534" grpId="0"/>
      <p:bldP spid="64535" grpId="0"/>
      <p:bldP spid="64536" grpId="0"/>
      <p:bldP spid="64537" grpId="0"/>
      <p:bldP spid="64539" grpId="0"/>
      <p:bldP spid="64541" grpId="0"/>
      <p:bldP spid="64542" grpId="0"/>
      <p:bldP spid="64543" grpId="0" autoUpdateAnimBg="0"/>
      <p:bldP spid="64544" grpId="0"/>
      <p:bldP spid="64545" grpId="0"/>
      <p:bldP spid="64546" grpId="0"/>
      <p:bldP spid="64547" grpId="0"/>
      <p:bldP spid="64548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55E9D36-8DC4-99A3-A09F-51A15F7EFBD9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64ADAEA-2EFA-BC03-F421-5A1236E4B31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864ADAEA-2EFA-BC03-F421-5A1236E4B3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6B360311-10D8-1EAF-3B45-F7D36B42F5C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FA33167F-2DD0-6458-E9BC-1F52FD99EF2D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2F28FBF9-0E54-9AAD-AC6F-FC8613C306D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C03A1529-0242-9303-A8B0-7FDAE66879FE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对象 3"/>
              <p:cNvSpPr txBox="1"/>
              <p:nvPr/>
            </p:nvSpPr>
            <p:spPr>
              <a:xfrm>
                <a:off x="1387151" y="1699712"/>
                <a:ext cx="3936826" cy="340931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由图看出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附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近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用级数的部分和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8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即多项式</m:t>
                          </m:r>
                        </m:e>
                      </m:d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来近似代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替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逼近程度程度随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着项数的增加而提高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151" y="1699712"/>
                <a:ext cx="3936826" cy="34093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75BEC40D-22BC-BE59-83E6-6ECF465053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616" y="1602140"/>
            <a:ext cx="3544390" cy="331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5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70D7A7E-8B87-6015-9617-21F7AA907F49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35C4AE4-B472-7FC0-4D76-3AB3AE9CC7A5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35C4AE4-B472-7FC0-4D76-3AB3AE9CC7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A3EB891B-B7E4-B5FB-4321-78848BB40DF3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87167249-B25F-6C3C-700E-B9C99E68CEA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B23A84E7-4391-B0FD-64AF-EAE3C58D3C8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881766A6-CDD3-42B8-44D2-73D2BD2F0545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80349" y="684213"/>
            <a:ext cx="1676400" cy="533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1" name="Object 3"/>
              <p:cNvSpPr txBox="1"/>
              <p:nvPr/>
            </p:nvSpPr>
            <p:spPr bwMode="auto">
              <a:xfrm>
                <a:off x="3000644" y="595916"/>
                <a:ext cx="2424893" cy="8724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765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00644" y="595916"/>
                <a:ext cx="2424893" cy="8724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3" name="Text Box 5"/>
              <p:cNvSpPr txBox="1">
                <a:spLocks noChangeArrowheads="1"/>
              </p:cNvSpPr>
              <p:nvPr/>
            </p:nvSpPr>
            <p:spPr bwMode="auto">
              <a:xfrm>
                <a:off x="4919091" y="625028"/>
                <a:ext cx="3159006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展开成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的幂级数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29DD1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2765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9091" y="625028"/>
                <a:ext cx="3159006" cy="519113"/>
              </a:xfrm>
              <a:prstGeom prst="rect">
                <a:avLst/>
              </a:prstGeom>
              <a:blipFill>
                <a:blip r:embed="rId5"/>
                <a:stretch>
                  <a:fillRect l="-4054" t="-16471" r="-1544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4" name="Text Box 6"/>
          <p:cNvSpPr txBox="1">
            <a:spLocks noChangeArrowheads="1"/>
          </p:cNvSpPr>
          <p:nvPr/>
        </p:nvSpPr>
        <p:spPr bwMode="auto">
          <a:xfrm>
            <a:off x="1780349" y="1291480"/>
            <a:ext cx="990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5" name="Object 7"/>
              <p:cNvSpPr txBox="1"/>
              <p:nvPr/>
            </p:nvSpPr>
            <p:spPr bwMode="auto">
              <a:xfrm>
                <a:off x="2559513" y="1297036"/>
                <a:ext cx="1714500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5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9513" y="1297036"/>
                <a:ext cx="1714500" cy="508000"/>
              </a:xfrm>
              <a:prstGeom prst="rect">
                <a:avLst/>
              </a:prstGeom>
              <a:blipFill>
                <a:blip r:embed="rId6"/>
                <a:stretch>
                  <a:fillRect b="-36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6" name="Object 8"/>
              <p:cNvSpPr txBox="1"/>
              <p:nvPr/>
            </p:nvSpPr>
            <p:spPr bwMode="auto">
              <a:xfrm>
                <a:off x="2559513" y="2040447"/>
                <a:ext cx="2030413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5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9513" y="2040447"/>
                <a:ext cx="2030413" cy="889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58" name="Text Box 10"/>
          <p:cNvSpPr txBox="1">
            <a:spLocks noChangeArrowheads="1"/>
          </p:cNvSpPr>
          <p:nvPr/>
        </p:nvSpPr>
        <p:spPr bwMode="auto">
          <a:xfrm>
            <a:off x="2559513" y="2911581"/>
            <a:ext cx="1447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得级数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9" name="Object 11"/>
              <p:cNvSpPr txBox="1"/>
              <p:nvPr/>
            </p:nvSpPr>
            <p:spPr bwMode="auto">
              <a:xfrm>
                <a:off x="3477958" y="2883459"/>
                <a:ext cx="538784" cy="691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5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7958" y="2883459"/>
                <a:ext cx="538784" cy="69127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0" name="Object 12"/>
              <p:cNvSpPr txBox="1"/>
              <p:nvPr/>
            </p:nvSpPr>
            <p:spPr bwMode="auto">
              <a:xfrm>
                <a:off x="3864249" y="1204326"/>
                <a:ext cx="2377289" cy="6797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660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4249" y="1204326"/>
                <a:ext cx="2377289" cy="679783"/>
              </a:xfrm>
              <a:prstGeom prst="rect">
                <a:avLst/>
              </a:prstGeom>
              <a:blipFill>
                <a:blip r:embed="rId9"/>
                <a:stretch>
                  <a:fillRect b="-37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63" name="Text Box 15"/>
          <p:cNvSpPr txBox="1">
            <a:spLocks noChangeArrowheads="1"/>
          </p:cNvSpPr>
          <p:nvPr/>
        </p:nvSpPr>
        <p:spPr bwMode="auto">
          <a:xfrm>
            <a:off x="2559513" y="3585991"/>
            <a:ext cx="2438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其收敛半径为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64" name="Object 16"/>
              <p:cNvSpPr txBox="1"/>
              <p:nvPr/>
            </p:nvSpPr>
            <p:spPr bwMode="auto">
              <a:xfrm>
                <a:off x="4229016" y="3592829"/>
                <a:ext cx="1664254" cy="47646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=+∞,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64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9016" y="3592829"/>
                <a:ext cx="1664254" cy="476461"/>
              </a:xfrm>
              <a:prstGeom prst="rect">
                <a:avLst/>
              </a:prstGeom>
              <a:blipFill>
                <a:blip r:embed="rId10"/>
                <a:stretch>
                  <a:fillRect l="-3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5" name="Text Box 17"/>
              <p:cNvSpPr txBox="1">
                <a:spLocks noChangeArrowheads="1"/>
              </p:cNvSpPr>
              <p:nvPr/>
            </p:nvSpPr>
            <p:spPr bwMode="auto">
              <a:xfrm>
                <a:off x="5443283" y="3577609"/>
                <a:ext cx="3694944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对任何有限数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其余项满足</a:t>
                </a:r>
              </a:p>
            </p:txBody>
          </p:sp>
        </mc:Choice>
        <mc:Fallback xmlns="">
          <p:sp>
            <p:nvSpPr>
              <p:cNvPr id="27665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43283" y="3577609"/>
                <a:ext cx="3694944" cy="430887"/>
              </a:xfrm>
              <a:prstGeom prst="rect">
                <a:avLst/>
              </a:prstGeom>
              <a:blipFill>
                <a:blip r:embed="rId11"/>
                <a:stretch>
                  <a:fillRect l="-2145" t="-14085" b="-267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6" name="Object 18"/>
              <p:cNvSpPr txBox="1"/>
              <p:nvPr/>
            </p:nvSpPr>
            <p:spPr bwMode="auto">
              <a:xfrm>
                <a:off x="2559513" y="4278710"/>
                <a:ext cx="4824412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= 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</m:t>
                              </m:r>
                            </m:num>
                            <m:den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                   </m:t>
                              </m:r>
                            </m:den>
                          </m:f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66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9513" y="4278710"/>
                <a:ext cx="4824412" cy="10033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7" name="Object 19"/>
              <p:cNvSpPr txBox="1"/>
              <p:nvPr/>
            </p:nvSpPr>
            <p:spPr bwMode="auto">
              <a:xfrm>
                <a:off x="3961466" y="3966451"/>
                <a:ext cx="2072893" cy="7107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kumimoji="1" lang="en-US" altLang="zh-CN" sz="24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sym typeface="Symbol" panose="05050102010706020507" pitchFamily="18" charset="2"/>
                            </a:rPr>
                            <m:t>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+(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766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1466" y="3966451"/>
                <a:ext cx="2072893" cy="7107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8" name="Object 20"/>
              <p:cNvSpPr txBox="1"/>
              <p:nvPr/>
            </p:nvSpPr>
            <p:spPr bwMode="auto">
              <a:xfrm>
                <a:off x="4554579" y="4579078"/>
                <a:ext cx="1013127" cy="4792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+1)!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6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4579" y="4579078"/>
                <a:ext cx="1013127" cy="479226"/>
              </a:xfrm>
              <a:prstGeom prst="rect">
                <a:avLst/>
              </a:prstGeom>
              <a:blipFill>
                <a:blip r:embed="rId14"/>
                <a:stretch>
                  <a:fillRect l="-12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69" name="Object 21"/>
              <p:cNvSpPr txBox="1"/>
              <p:nvPr/>
            </p:nvSpPr>
            <p:spPr bwMode="auto">
              <a:xfrm>
                <a:off x="5899614" y="4331032"/>
                <a:ext cx="875683" cy="6631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6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99614" y="4331032"/>
                <a:ext cx="875683" cy="66313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70" name="Object 22"/>
              <p:cNvSpPr txBox="1"/>
              <p:nvPr/>
            </p:nvSpPr>
            <p:spPr bwMode="auto">
              <a:xfrm>
                <a:off x="6709647" y="4145670"/>
                <a:ext cx="1819201" cy="964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200" dirty="0" smtClean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+1)!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7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09647" y="4145670"/>
                <a:ext cx="1819201" cy="96459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84" name="Object 36"/>
              <p:cNvSpPr txBox="1"/>
              <p:nvPr/>
            </p:nvSpPr>
            <p:spPr bwMode="auto">
              <a:xfrm>
                <a:off x="5080980" y="2294919"/>
                <a:ext cx="2212975" cy="4810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84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80980" y="2294919"/>
                <a:ext cx="2212975" cy="48109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85" name="Object 37"/>
              <p:cNvSpPr txBox="1"/>
              <p:nvPr/>
            </p:nvSpPr>
            <p:spPr bwMode="auto">
              <a:xfrm>
                <a:off x="6570143" y="2097540"/>
                <a:ext cx="2940208" cy="5573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=0, 1, 2,⋯).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85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0143" y="2097540"/>
                <a:ext cx="2940208" cy="557374"/>
              </a:xfrm>
              <a:prstGeom prst="rect">
                <a:avLst/>
              </a:prstGeom>
              <a:blipFill>
                <a:blip r:embed="rId18"/>
                <a:stretch>
                  <a:fillRect l="-14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87" name="Object 39"/>
              <p:cNvSpPr txBox="1"/>
              <p:nvPr/>
            </p:nvSpPr>
            <p:spPr bwMode="auto">
              <a:xfrm>
                <a:off x="3639152" y="2726388"/>
                <a:ext cx="1124401" cy="8782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87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9152" y="2726388"/>
                <a:ext cx="1124401" cy="87826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88" name="Object 40"/>
              <p:cNvSpPr txBox="1"/>
              <p:nvPr/>
            </p:nvSpPr>
            <p:spPr bwMode="auto">
              <a:xfrm>
                <a:off x="4521937" y="2729149"/>
                <a:ext cx="1920991" cy="9427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−⋯+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88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1937" y="2729149"/>
                <a:ext cx="1920991" cy="94274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89" name="Object 41"/>
              <p:cNvSpPr txBox="1"/>
              <p:nvPr/>
            </p:nvSpPr>
            <p:spPr bwMode="auto">
              <a:xfrm>
                <a:off x="6268022" y="2726386"/>
                <a:ext cx="3874992" cy="9047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89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68022" y="2726386"/>
                <a:ext cx="3874992" cy="90477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90" name="Object 42"/>
              <p:cNvSpPr txBox="1"/>
              <p:nvPr/>
            </p:nvSpPr>
            <p:spPr bwMode="auto">
              <a:xfrm>
                <a:off x="8378570" y="5808444"/>
                <a:ext cx="2120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∈(−∞, +∞).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90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78570" y="5808444"/>
                <a:ext cx="2120900" cy="393700"/>
              </a:xfrm>
              <a:prstGeom prst="rect">
                <a:avLst/>
              </a:prstGeom>
              <a:blipFill>
                <a:blip r:embed="rId22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76" name="Object 28"/>
              <p:cNvSpPr txBox="1"/>
              <p:nvPr/>
            </p:nvSpPr>
            <p:spPr bwMode="auto">
              <a:xfrm>
                <a:off x="2559513" y="5141501"/>
                <a:ext cx="1803543" cy="5361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∴  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7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9513" y="5141501"/>
                <a:ext cx="1803543" cy="53615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92" name="Object 44"/>
              <p:cNvSpPr txBox="1"/>
              <p:nvPr/>
            </p:nvSpPr>
            <p:spPr bwMode="auto">
              <a:xfrm>
                <a:off x="8257841" y="4146443"/>
                <a:ext cx="994072" cy="501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→∞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92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7841" y="4146443"/>
                <a:ext cx="994072" cy="50165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93" name="Line 45"/>
          <p:cNvSpPr>
            <a:spLocks noChangeShapeType="1"/>
          </p:cNvSpPr>
          <p:nvPr/>
        </p:nvSpPr>
        <p:spPr bwMode="auto">
          <a:xfrm>
            <a:off x="8116197" y="4586338"/>
            <a:ext cx="125888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94" name="Object 46"/>
              <p:cNvSpPr txBox="1"/>
              <p:nvPr/>
            </p:nvSpPr>
            <p:spPr bwMode="auto">
              <a:xfrm>
                <a:off x="9398580" y="4323400"/>
                <a:ext cx="543211" cy="73490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94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98580" y="4323400"/>
                <a:ext cx="543211" cy="734903"/>
              </a:xfrm>
              <a:prstGeom prst="rect">
                <a:avLst/>
              </a:prstGeom>
              <a:blipFill>
                <a:blip r:embed="rId25"/>
                <a:stretch>
                  <a:fillRect l="-11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95" name="Object 47"/>
              <p:cNvSpPr txBox="1"/>
              <p:nvPr/>
            </p:nvSpPr>
            <p:spPr bwMode="auto">
              <a:xfrm>
                <a:off x="5073843" y="1915098"/>
                <a:ext cx="1541874" cy="5285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95" name="Object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3843" y="1915098"/>
                <a:ext cx="1541874" cy="52858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99" name="Object 51"/>
              <p:cNvSpPr txBox="1"/>
              <p:nvPr/>
            </p:nvSpPr>
            <p:spPr bwMode="auto">
              <a:xfrm>
                <a:off x="4165225" y="2299254"/>
                <a:ext cx="1196975" cy="6517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699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5225" y="2299254"/>
                <a:ext cx="1196975" cy="651764"/>
              </a:xfrm>
              <a:prstGeom prst="rect">
                <a:avLst/>
              </a:prstGeom>
              <a:blipFill>
                <a:blip r:embed="rId27"/>
                <a:stretch>
                  <a:fillRect l="-30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00" name="Object 52"/>
              <p:cNvSpPr txBox="1"/>
              <p:nvPr/>
            </p:nvSpPr>
            <p:spPr bwMode="auto">
              <a:xfrm>
                <a:off x="4210977" y="1939076"/>
                <a:ext cx="609980" cy="5413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0 ,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700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0977" y="1939076"/>
                <a:ext cx="609980" cy="541309"/>
              </a:xfrm>
              <a:prstGeom prst="rect">
                <a:avLst/>
              </a:prstGeom>
              <a:blipFill>
                <a:blip r:embed="rId28"/>
                <a:stretch>
                  <a:fillRect l="-1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701" name="Object 53"/>
              <p:cNvSpPr txBox="1"/>
              <p:nvPr/>
            </p:nvSpPr>
            <p:spPr bwMode="auto">
              <a:xfrm>
                <a:off x="3639152" y="4973315"/>
                <a:ext cx="7865807" cy="9683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−⋯+(−1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7701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9152" y="4973315"/>
                <a:ext cx="7865807" cy="968376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551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7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7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7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7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7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7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/>
      <p:bldP spid="27653" grpId="0"/>
      <p:bldP spid="27654" grpId="0" autoUpdateAnimBg="0"/>
      <p:bldP spid="27655" grpId="0"/>
      <p:bldP spid="27656" grpId="0"/>
      <p:bldP spid="27658" grpId="0" autoUpdateAnimBg="0"/>
      <p:bldP spid="27659" grpId="0"/>
      <p:bldP spid="27660" grpId="0"/>
      <p:bldP spid="27663" grpId="0" autoUpdateAnimBg="0"/>
      <p:bldP spid="27664" grpId="0"/>
      <p:bldP spid="27665" grpId="0" autoUpdateAnimBg="0"/>
      <p:bldP spid="27666" grpId="0"/>
      <p:bldP spid="27667" grpId="0"/>
      <p:bldP spid="27668" grpId="0"/>
      <p:bldP spid="27669" grpId="0"/>
      <p:bldP spid="27670" grpId="0"/>
      <p:bldP spid="27684" grpId="0"/>
      <p:bldP spid="27685" grpId="0"/>
      <p:bldP spid="27687" grpId="0"/>
      <p:bldP spid="27688" grpId="0"/>
      <p:bldP spid="27689" grpId="0"/>
      <p:bldP spid="27690" grpId="0"/>
      <p:bldP spid="27676" grpId="0"/>
      <p:bldP spid="27692" grpId="0"/>
      <p:bldP spid="27694" grpId="0"/>
      <p:bldP spid="27695" grpId="0"/>
      <p:bldP spid="27699" grpId="0"/>
      <p:bldP spid="27700" grpId="0"/>
      <p:bldP spid="2770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391090B8-A8CA-1DF9-AD90-92C52F88C086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1EC5717-83C3-544B-796C-5F24DF630AE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1EC5717-83C3-544B-796C-5F24DF630A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DCE473A2-7BDA-35D2-B4EC-921717E14BB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1CF48F89-89A9-FF31-838F-E1D2222FBCF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B7A5C96E-F37C-33B9-7DBA-3AAC8B31FC0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6DF8873D-1E90-C72C-30AD-59D0A9DA7850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86634" y="836613"/>
            <a:ext cx="2286000" cy="5334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将函数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5" name="Object 3"/>
              <p:cNvSpPr txBox="1"/>
              <p:nvPr/>
            </p:nvSpPr>
            <p:spPr bwMode="auto">
              <a:xfrm>
                <a:off x="3773274" y="742502"/>
                <a:ext cx="2810444" cy="6016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)=(1+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3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3274" y="742502"/>
                <a:ext cx="2810444" cy="6016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6" name="Text Box 4"/>
              <p:cNvSpPr txBox="1">
                <a:spLocks noChangeArrowheads="1"/>
              </p:cNvSpPr>
              <p:nvPr/>
            </p:nvSpPr>
            <p:spPr bwMode="auto">
              <a:xfrm>
                <a:off x="6371166" y="776611"/>
                <a:ext cx="460533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展开成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的幂级数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kumimoji="1" lang="en-US" altLang="zh-CN" sz="2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13316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1166" y="776611"/>
                <a:ext cx="4605337" cy="523220"/>
              </a:xfrm>
              <a:prstGeom prst="rect">
                <a:avLst/>
              </a:prstGeom>
              <a:blipFill>
                <a:blip r:embed="rId4"/>
                <a:stretch>
                  <a:fillRect l="-2646" t="-15116" b="-313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2642615" y="1369716"/>
            <a:ext cx="3810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为任意常数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1886634" y="1902372"/>
            <a:ext cx="2133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   </a:t>
            </a:r>
            <a:r>
              <a:rPr kumimoji="1" lang="en-US" altLang="zh-CN" sz="2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易求出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9" name="Object 7"/>
              <p:cNvSpPr txBox="1"/>
              <p:nvPr/>
            </p:nvSpPr>
            <p:spPr bwMode="auto">
              <a:xfrm>
                <a:off x="3568776" y="1947785"/>
                <a:ext cx="1743177" cy="4528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1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8776" y="1947785"/>
                <a:ext cx="1743177" cy="452844"/>
              </a:xfrm>
              <a:prstGeom prst="rect">
                <a:avLst/>
              </a:prstGeom>
              <a:blipFill>
                <a:blip r:embed="rId6"/>
                <a:stretch>
                  <a:fillRect l="-2098" b="-135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0" name="Object 8"/>
              <p:cNvSpPr txBox="1"/>
              <p:nvPr/>
            </p:nvSpPr>
            <p:spPr bwMode="auto">
              <a:xfrm>
                <a:off x="4792934" y="1946746"/>
                <a:ext cx="1949972" cy="6170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2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92934" y="1946746"/>
                <a:ext cx="1949972" cy="617082"/>
              </a:xfrm>
              <a:prstGeom prst="rect">
                <a:avLst/>
              </a:prstGeom>
              <a:blipFill>
                <a:blip r:embed="rId7"/>
                <a:stretch>
                  <a:fillRect l="-18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1" name="Object 9"/>
              <p:cNvSpPr txBox="1"/>
              <p:nvPr/>
            </p:nvSpPr>
            <p:spPr bwMode="auto">
              <a:xfrm>
                <a:off x="6194806" y="1944907"/>
                <a:ext cx="2641600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″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2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94806" y="1944907"/>
                <a:ext cx="2641600" cy="419100"/>
              </a:xfrm>
              <a:prstGeom prst="rect">
                <a:avLst/>
              </a:prstGeom>
              <a:blipFill>
                <a:blip r:embed="rId8"/>
                <a:stretch>
                  <a:fillRect l="-1382" b="-217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2" name="Object 10"/>
              <p:cNvSpPr txBox="1"/>
              <p:nvPr/>
            </p:nvSpPr>
            <p:spPr bwMode="auto">
              <a:xfrm>
                <a:off x="3248518" y="2526029"/>
                <a:ext cx="6332538" cy="508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−2)⋯(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+1),  ⋯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2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48518" y="2526029"/>
                <a:ext cx="6332538" cy="508000"/>
              </a:xfrm>
              <a:prstGeom prst="rect">
                <a:avLst/>
              </a:prstGeom>
              <a:blipFill>
                <a:blip r:embed="rId9"/>
                <a:stretch>
                  <a:fillRect l="-674" b="-238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23" name="Text Box 11"/>
          <p:cNvSpPr txBox="1">
            <a:spLocks noChangeArrowheads="1"/>
          </p:cNvSpPr>
          <p:nvPr/>
        </p:nvSpPr>
        <p:spPr bwMode="auto">
          <a:xfrm>
            <a:off x="2642615" y="3302065"/>
            <a:ext cx="2514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于是得 级数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26" name="Object 14"/>
              <p:cNvSpPr txBox="1"/>
              <p:nvPr/>
            </p:nvSpPr>
            <p:spPr bwMode="auto">
              <a:xfrm>
                <a:off x="4112059" y="3295858"/>
                <a:ext cx="1367037" cy="508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2059" y="3295858"/>
                <a:ext cx="1367037" cy="508001"/>
              </a:xfrm>
              <a:prstGeom prst="rect">
                <a:avLst/>
              </a:prstGeom>
              <a:blipFill>
                <a:blip r:embed="rId10"/>
                <a:stretch>
                  <a:fillRect l="-4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7" name="Object 15"/>
              <p:cNvSpPr txBox="1"/>
              <p:nvPr/>
            </p:nvSpPr>
            <p:spPr bwMode="auto">
              <a:xfrm>
                <a:off x="5334722" y="3118677"/>
                <a:ext cx="2514600" cy="7761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2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722" y="3118677"/>
                <a:ext cx="2514600" cy="7761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29" name="Text Box 17"/>
          <p:cNvSpPr txBox="1">
            <a:spLocks noChangeArrowheads="1"/>
          </p:cNvSpPr>
          <p:nvPr/>
        </p:nvSpPr>
        <p:spPr bwMode="auto">
          <a:xfrm>
            <a:off x="2642615" y="4884833"/>
            <a:ext cx="103663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由于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30" name="Object 18"/>
              <p:cNvSpPr txBox="1"/>
              <p:nvPr/>
            </p:nvSpPr>
            <p:spPr bwMode="auto">
              <a:xfrm>
                <a:off x="3269192" y="4680332"/>
                <a:ext cx="2349500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3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9192" y="4680332"/>
                <a:ext cx="2349500" cy="9525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1" name="Object 19"/>
              <p:cNvSpPr txBox="1"/>
              <p:nvPr/>
            </p:nvSpPr>
            <p:spPr bwMode="auto">
              <a:xfrm>
                <a:off x="5166105" y="4710314"/>
                <a:ext cx="2015043" cy="8209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→∞</m:t>
                          </m:r>
                        </m:lim>
                      </m:limLow>
                      <m:d>
                        <m:dPr>
                          <m:begChr m:val="|"/>
                          <m:endChr m:val="|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31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66105" y="4710314"/>
                <a:ext cx="2015043" cy="8209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44" name="Object 32"/>
              <p:cNvSpPr txBox="1"/>
              <p:nvPr/>
            </p:nvSpPr>
            <p:spPr bwMode="auto">
              <a:xfrm>
                <a:off x="6971595" y="4876151"/>
                <a:ext cx="906730" cy="572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4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71595" y="4876151"/>
                <a:ext cx="906730" cy="5729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8" name="Object 16"/>
              <p:cNvSpPr txBox="1"/>
              <p:nvPr/>
            </p:nvSpPr>
            <p:spPr bwMode="auto">
              <a:xfrm>
                <a:off x="5051935" y="3936194"/>
                <a:ext cx="4605338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51935" y="3936194"/>
                <a:ext cx="4605338" cy="9144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4988166" y="5679530"/>
            <a:ext cx="4800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级数在开区间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－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1, 1)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内收敛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51" name="Text Box 39"/>
              <p:cNvSpPr txBox="1">
                <a:spLocks noChangeArrowheads="1"/>
              </p:cNvSpPr>
              <p:nvPr/>
            </p:nvSpPr>
            <p:spPr bwMode="auto">
              <a:xfrm>
                <a:off x="2642615" y="5657280"/>
                <a:ext cx="3276600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因此对任意常数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kumimoji="1" lang="en-US" altLang="zh-CN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</a:p>
            </p:txBody>
          </p:sp>
        </mc:Choice>
        <mc:Fallback xmlns="">
          <p:sp>
            <p:nvSpPr>
              <p:cNvPr id="13351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42615" y="5657280"/>
                <a:ext cx="3276600" cy="453137"/>
              </a:xfrm>
              <a:prstGeom prst="rect">
                <a:avLst/>
              </a:prstGeom>
              <a:blipFill>
                <a:blip r:embed="rId16"/>
                <a:stretch>
                  <a:fillRect l="-2230" t="-9459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243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/>
      <p:bldP spid="13316" grpId="0"/>
      <p:bldP spid="13317" grpId="0"/>
      <p:bldP spid="13318" grpId="0" autoUpdateAnimBg="0"/>
      <p:bldP spid="13319" grpId="0"/>
      <p:bldP spid="13320" grpId="0"/>
      <p:bldP spid="13321" grpId="0"/>
      <p:bldP spid="13322" grpId="0"/>
      <p:bldP spid="13323" grpId="0" autoUpdateAnimBg="0"/>
      <p:bldP spid="13326" grpId="0"/>
      <p:bldP spid="13327" grpId="0"/>
      <p:bldP spid="13329" grpId="0" autoUpdateAnimBg="0"/>
      <p:bldP spid="13330" grpId="0"/>
      <p:bldP spid="13331" grpId="0"/>
      <p:bldP spid="13344" grpId="0"/>
      <p:bldP spid="13328" grpId="0"/>
      <p:bldP spid="13350" grpId="0" autoUpdateAnimBg="0"/>
      <p:bldP spid="1335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84032FA5-B600-16A9-909F-5AF6A3F12491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55DA18F-6744-D723-F433-271FE1666AD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255DA18F-6744-D723-F433-271FE1666A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A4361CB4-CDCD-A0E1-A503-05AEC4113823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046F00C8-993F-3623-C9B3-09341075B03C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E0A56F99-AD77-B83D-5B1D-10F9D91C9547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AC4406A4-DEA2-79B5-1230-F3A932677200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Object 3"/>
              <p:cNvSpPr txBox="1"/>
              <p:nvPr/>
            </p:nvSpPr>
            <p:spPr bwMode="auto">
              <a:xfrm>
                <a:off x="6575620" y="735690"/>
                <a:ext cx="2506248" cy="4467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),−1&lt;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33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5620" y="735690"/>
                <a:ext cx="2506248" cy="446722"/>
              </a:xfrm>
              <a:prstGeom prst="rect">
                <a:avLst/>
              </a:prstGeom>
              <a:blipFill>
                <a:blip r:embed="rId4"/>
                <a:stretch>
                  <a:fillRect l="-243" b="-1506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0" name="Object 4"/>
              <p:cNvSpPr txBox="1"/>
              <p:nvPr/>
            </p:nvSpPr>
            <p:spPr bwMode="auto">
              <a:xfrm>
                <a:off x="4430622" y="1154725"/>
                <a:ext cx="23749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−1)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34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30622" y="1154725"/>
                <a:ext cx="2374900" cy="9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Object 5"/>
              <p:cNvSpPr txBox="1"/>
              <p:nvPr/>
            </p:nvSpPr>
            <p:spPr bwMode="auto">
              <a:xfrm>
                <a:off x="4132261" y="1933061"/>
                <a:ext cx="4618038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−1)⋯(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𝑚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+1)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34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2261" y="1933061"/>
                <a:ext cx="4618038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2" name="Object 6"/>
              <p:cNvSpPr txBox="1"/>
              <p:nvPr/>
            </p:nvSpPr>
            <p:spPr bwMode="auto">
              <a:xfrm>
                <a:off x="2256655" y="2730751"/>
                <a:ext cx="8360546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zh-CN" altLang="en-US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𝐹</m:t>
                          </m:r>
                        </m:e>
                        <m: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′</m:t>
                          </m:r>
                        </m:sup>
                      </m:sSup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1</m:t>
                              </m:r>
                            </m:den>
                          </m:f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+⋯+</m:t>
                          </m:r>
                          <m:f>
                            <m:f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−1)⋯(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𝑚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+1)</m:t>
                              </m:r>
                            </m:num>
                            <m:den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(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−1)!</m:t>
                              </m:r>
                            </m:den>
                          </m:f>
                          <m:sSup>
                            <m:sSupPr>
                              <m:ctrlPr>
                                <a:rPr kumimoji="1" lang="zh-CN" altLang="en-US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2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−1</m:t>
                              </m:r>
                            </m:sup>
                          </m:sSup>
                          <m:r>
                            <a:rPr kumimoji="1" lang="zh-CN" altLang="en-US" sz="22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+⋯</m:t>
                          </m:r>
                        </m:e>
                      </m:d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34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6655" y="2730751"/>
                <a:ext cx="8360546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98" name="Object 62"/>
              <p:cNvSpPr txBox="1"/>
              <p:nvPr/>
            </p:nvSpPr>
            <p:spPr bwMode="auto">
              <a:xfrm>
                <a:off x="2257289" y="1324941"/>
                <a:ext cx="2362200" cy="40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𝐹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)=1+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𝑚𝑥</m:t>
                      </m:r>
                      <m:r>
                        <a:rPr kumimoji="1" lang="zh-CN" altLang="en-US" sz="22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4398" name="Object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7289" y="1324941"/>
                <a:ext cx="2362200" cy="406400"/>
              </a:xfrm>
              <a:prstGeom prst="rect">
                <a:avLst/>
              </a:prstGeom>
              <a:blipFill>
                <a:blip r:embed="rId8"/>
                <a:stretch>
                  <a:fillRect l="-258"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3" name="Object 7"/>
              <p:cNvSpPr txBox="1"/>
              <p:nvPr/>
            </p:nvSpPr>
            <p:spPr bwMode="auto">
              <a:xfrm>
                <a:off x="3293289" y="3633375"/>
                <a:ext cx="1927176" cy="6063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34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93289" y="3633375"/>
                <a:ext cx="1927176" cy="606301"/>
              </a:xfrm>
              <a:prstGeom prst="rect">
                <a:avLst/>
              </a:prstGeom>
              <a:blipFill>
                <a:blip r:embed="rId9"/>
                <a:stretch>
                  <a:fillRect l="-18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10" name="Object 74"/>
              <p:cNvSpPr txBox="1"/>
              <p:nvPr/>
            </p:nvSpPr>
            <p:spPr bwMode="auto">
              <a:xfrm>
                <a:off x="4886199" y="3630675"/>
                <a:ext cx="1927176" cy="6482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410" name="Object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6199" y="3630675"/>
                <a:ext cx="1927176" cy="6482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13" name="Object 77"/>
              <p:cNvSpPr txBox="1"/>
              <p:nvPr/>
            </p:nvSpPr>
            <p:spPr bwMode="auto">
              <a:xfrm>
                <a:off x="4230952" y="5720938"/>
                <a:ext cx="23495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)=(1+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413" name="Object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0952" y="5720938"/>
                <a:ext cx="2349500" cy="469900"/>
              </a:xfrm>
              <a:prstGeom prst="rect">
                <a:avLst/>
              </a:prstGeom>
              <a:blipFill>
                <a:blip r:embed="rId11"/>
                <a:stretch>
                  <a:fillRect l="-260" b="-769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14" name="Object 78"/>
              <p:cNvSpPr txBox="1"/>
              <p:nvPr/>
            </p:nvSpPr>
            <p:spPr bwMode="auto">
              <a:xfrm>
                <a:off x="5158225" y="4201061"/>
                <a:ext cx="3937000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414" name="Object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8225" y="4201061"/>
                <a:ext cx="3937000" cy="914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15" name="Object 79"/>
              <p:cNvSpPr txBox="1"/>
              <p:nvPr/>
            </p:nvSpPr>
            <p:spPr bwMode="auto">
              <a:xfrm>
                <a:off x="5158226" y="5174205"/>
                <a:ext cx="4383438" cy="5137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415" name="Object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8226" y="5174205"/>
                <a:ext cx="4383438" cy="513710"/>
              </a:xfrm>
              <a:prstGeom prst="rect">
                <a:avLst/>
              </a:prstGeom>
              <a:blipFill>
                <a:blip r:embed="rId13"/>
                <a:stretch>
                  <a:fillRect l="-1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26" name="Object 90"/>
              <p:cNvSpPr txBox="1"/>
              <p:nvPr/>
            </p:nvSpPr>
            <p:spPr bwMode="auto">
              <a:xfrm>
                <a:off x="6112691" y="3636426"/>
                <a:ext cx="1903462" cy="6127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(0)=1.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4426" name="Object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2691" y="3636426"/>
                <a:ext cx="1903462" cy="612775"/>
              </a:xfrm>
              <a:prstGeom prst="rect">
                <a:avLst/>
              </a:prstGeom>
              <a:blipFill>
                <a:blip r:embed="rId14"/>
                <a:stretch>
                  <a:fillRect l="-3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27" name="Line 91"/>
          <p:cNvSpPr>
            <a:spLocks noChangeShapeType="1"/>
          </p:cNvSpPr>
          <p:nvPr/>
        </p:nvSpPr>
        <p:spPr bwMode="auto">
          <a:xfrm>
            <a:off x="5080521" y="4203384"/>
            <a:ext cx="0" cy="14716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4430" name="Text Box 94"/>
          <p:cNvSpPr txBox="1">
            <a:spLocks noChangeArrowheads="1"/>
          </p:cNvSpPr>
          <p:nvPr/>
        </p:nvSpPr>
        <p:spPr bwMode="auto">
          <a:xfrm>
            <a:off x="1844724" y="1312698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则</a:t>
            </a:r>
          </a:p>
        </p:txBody>
      </p:sp>
      <p:sp>
        <p:nvSpPr>
          <p:cNvPr id="14439" name="Text Box 103"/>
          <p:cNvSpPr txBox="1">
            <a:spLocks noChangeArrowheads="1"/>
          </p:cNvSpPr>
          <p:nvPr/>
        </p:nvSpPr>
        <p:spPr bwMode="auto">
          <a:xfrm>
            <a:off x="1844724" y="729612"/>
            <a:ext cx="4910319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为避免研究余项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,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设此级数的和函数为</a:t>
            </a:r>
          </a:p>
        </p:txBody>
      </p:sp>
      <p:sp>
        <p:nvSpPr>
          <p:cNvPr id="2" name="文本框 1"/>
          <p:cNvSpPr txBox="1"/>
          <p:nvPr/>
        </p:nvSpPr>
        <p:spPr bwMode="auto">
          <a:xfrm>
            <a:off x="1959496" y="3647779"/>
            <a:ext cx="1319592" cy="430887"/>
          </a:xfrm>
          <a:prstGeom prst="rect">
            <a:avLst/>
          </a:prstGeom>
          <a:solidFill>
            <a:srgbClr val="04926A">
              <a:alpha val="42000"/>
            </a:srgbClr>
          </a:solidFill>
          <a:ln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latin typeface="+mn-ea"/>
              </a:rPr>
              <a:t>推导可得</a:t>
            </a:r>
          </a:p>
        </p:txBody>
      </p:sp>
    </p:spTree>
    <p:extLst>
      <p:ext uri="{BB962C8B-B14F-4D97-AF65-F5344CB8AC3E}">
        <p14:creationId xmlns:p14="http://schemas.microsoft.com/office/powerpoint/2010/main" val="277326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4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4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4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0" grpId="0"/>
      <p:bldP spid="14341" grpId="0"/>
      <p:bldP spid="14342" grpId="0"/>
      <p:bldP spid="14398" grpId="0"/>
      <p:bldP spid="14343" grpId="0"/>
      <p:bldP spid="14410" grpId="0"/>
      <p:bldP spid="14413" grpId="0"/>
      <p:bldP spid="14414" grpId="0"/>
      <p:bldP spid="14415" grpId="0"/>
      <p:bldP spid="14426" grpId="0"/>
      <p:bldP spid="14430" grpId="0" build="p" autoUpdateAnimBg="0"/>
      <p:bldP spid="14439" grpId="0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523B9340-CF7E-8B3C-7ABF-3FDC3D04E745}"/>
              </a:ext>
            </a:extLst>
          </p:cNvPr>
          <p:cNvGrpSpPr/>
          <p:nvPr/>
        </p:nvGrpSpPr>
        <p:grpSpPr>
          <a:xfrm>
            <a:off x="694944" y="514350"/>
            <a:ext cx="10817987" cy="5822957"/>
            <a:chOff x="687324" y="535820"/>
            <a:chExt cx="10817987" cy="5822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802FAF4D-0581-0ACE-3441-7039453F690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7" name="矩形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80FB6AF5-B07C-7EFF-29FF-4409C1FF273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A34ADFDC-AF8A-3DB7-76A9-70B81826ED82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6A5C7872-7D73-9D56-946A-EF66B7A0C26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8" name="半闭框 17">
              <a:extLst>
                <a:ext uri="{FF2B5EF4-FFF2-40B4-BE49-F238E27FC236}">
                  <a16:creationId xmlns:a16="http://schemas.microsoft.com/office/drawing/2014/main" id="{4A3E4E18-A453-FDCC-2D6B-499448290704}"/>
                </a:ext>
              </a:extLst>
            </p:cNvPr>
            <p:cNvSpPr/>
            <p:nvPr/>
          </p:nvSpPr>
          <p:spPr>
            <a:xfrm flipH="1" flipV="1">
              <a:off x="10823530" y="566539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9"/>
              <p:cNvSpPr txBox="1"/>
              <p:nvPr/>
            </p:nvSpPr>
            <p:spPr bwMode="auto">
              <a:xfrm>
                <a:off x="2764317" y="5363816"/>
                <a:ext cx="14859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4317" y="5363816"/>
                <a:ext cx="1485900" cy="393700"/>
              </a:xfrm>
              <a:prstGeom prst="rect">
                <a:avLst/>
              </a:prstGeom>
              <a:blipFill>
                <a:blip r:embed="rId4"/>
                <a:stretch>
                  <a:fillRect b="-31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"/>
              <p:cNvSpPr txBox="1"/>
              <p:nvPr/>
            </p:nvSpPr>
            <p:spPr bwMode="auto">
              <a:xfrm>
                <a:off x="1147699" y="1761292"/>
                <a:ext cx="6383401" cy="947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"/>
                          <m:ctrlPr>
                            <a:rPr lang="en-US" altLang="zh-CN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−2)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7699" y="1761292"/>
                <a:ext cx="6383401" cy="9470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8"/>
              <p:cNvSpPr txBox="1"/>
              <p:nvPr/>
            </p:nvSpPr>
            <p:spPr bwMode="auto">
              <a:xfrm>
                <a:off x="1147699" y="4509279"/>
                <a:ext cx="2264485" cy="8159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7699" y="4509279"/>
                <a:ext cx="2264485" cy="815974"/>
              </a:xfrm>
              <a:prstGeom prst="rect">
                <a:avLst/>
              </a:prstGeom>
              <a:blipFill>
                <a:blip r:embed="rId6"/>
                <a:stretch>
                  <a:fillRect l="-161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4"/>
              <p:cNvSpPr txBox="1"/>
              <p:nvPr/>
            </p:nvSpPr>
            <p:spPr bwMode="auto">
              <a:xfrm>
                <a:off x="1147699" y="3034621"/>
                <a:ext cx="5214327" cy="1177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"/>
                          <m:ctrlPr>
                            <a:rPr lang="en-US" altLang="zh-CN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47699" y="3034621"/>
                <a:ext cx="5214327" cy="1177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16"/>
              <p:cNvSpPr txBox="1"/>
              <p:nvPr/>
            </p:nvSpPr>
            <p:spPr bwMode="auto">
              <a:xfrm>
                <a:off x="2766185" y="4345703"/>
                <a:ext cx="1397674" cy="815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begChr m:val="[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f>
                            <m:fPr>
                              <m:ctrlPr>
                                <a:rPr lang="zh-CN" altLang="en-US" sz="2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6185" y="4345703"/>
                <a:ext cx="1397674" cy="815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9"/>
              <p:cNvSpPr txBox="1"/>
              <p:nvPr/>
            </p:nvSpPr>
            <p:spPr bwMode="auto">
              <a:xfrm>
                <a:off x="3569394" y="4482618"/>
                <a:ext cx="888306" cy="4839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9394" y="4482618"/>
                <a:ext cx="888306" cy="48398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20"/>
              <p:cNvSpPr txBox="1"/>
              <p:nvPr/>
            </p:nvSpPr>
            <p:spPr bwMode="auto">
              <a:xfrm>
                <a:off x="4268467" y="4310359"/>
                <a:ext cx="2885845" cy="7295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8467" y="4310359"/>
                <a:ext cx="2885845" cy="72952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2"/>
              <p:cNvSpPr txBox="1"/>
              <p:nvPr/>
            </p:nvSpPr>
            <p:spPr bwMode="auto">
              <a:xfrm>
                <a:off x="6624425" y="4280615"/>
                <a:ext cx="456438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altLang="zh-CN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−1)⋯(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24425" y="4280615"/>
                <a:ext cx="4564380" cy="9271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7"/>
              <p:cNvSpPr txBox="1"/>
              <p:nvPr/>
            </p:nvSpPr>
            <p:spPr bwMode="auto">
              <a:xfrm>
                <a:off x="7222896" y="1769830"/>
                <a:ext cx="4060800" cy="947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altLang="zh-CN" sz="2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−1)⋯(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22896" y="1769830"/>
                <a:ext cx="4060800" cy="94702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9"/>
              <p:cNvSpPr txBox="1"/>
              <p:nvPr/>
            </p:nvSpPr>
            <p:spPr bwMode="auto">
              <a:xfrm>
                <a:off x="4213921" y="3008956"/>
                <a:ext cx="567580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altLang="zh-CN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−1)⋯(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+1)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  <m:r>
                        <a:rPr lang="en-US" altLang="zh-CN" sz="22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3921" y="3008956"/>
                <a:ext cx="5675803" cy="9271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48"/>
          <p:cNvSpPr txBox="1">
            <a:spLocks noChangeArrowheads="1"/>
          </p:cNvSpPr>
          <p:nvPr/>
        </p:nvSpPr>
        <p:spPr>
          <a:xfrm>
            <a:off x="1147699" y="1082485"/>
            <a:ext cx="1752600" cy="5334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ea typeface="黑体" panose="02010609060101010101" pitchFamily="49" charset="-122"/>
              </a:rPr>
              <a:t>附注</a:t>
            </a:r>
          </a:p>
        </p:txBody>
      </p:sp>
    </p:spTree>
    <p:extLst>
      <p:ext uri="{BB962C8B-B14F-4D97-AF65-F5344CB8AC3E}">
        <p14:creationId xmlns:p14="http://schemas.microsoft.com/office/powerpoint/2010/main" val="79691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0180" name="Object 4"/>
              <p:cNvSpPr txBox="1"/>
              <p:nvPr/>
            </p:nvSpPr>
            <p:spPr bwMode="auto">
              <a:xfrm>
                <a:off x="5248131" y="1034542"/>
                <a:ext cx="3841652" cy="10652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18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8131" y="1034542"/>
                <a:ext cx="3841652" cy="10652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81" name="Object 5"/>
              <p:cNvSpPr txBox="1"/>
              <p:nvPr/>
            </p:nvSpPr>
            <p:spPr bwMode="auto">
              <a:xfrm>
                <a:off x="4928035" y="1976934"/>
                <a:ext cx="6096121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18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28035" y="1976934"/>
                <a:ext cx="6096121" cy="927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83" name="Object 7"/>
              <p:cNvSpPr txBox="1"/>
              <p:nvPr/>
            </p:nvSpPr>
            <p:spPr bwMode="auto">
              <a:xfrm>
                <a:off x="1874987" y="1254632"/>
                <a:ext cx="3494210" cy="11303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18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4987" y="1254632"/>
                <a:ext cx="3494210" cy="11303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96" name="Object 20"/>
              <p:cNvSpPr txBox="1"/>
              <p:nvPr/>
            </p:nvSpPr>
            <p:spPr bwMode="auto">
              <a:xfrm>
                <a:off x="7666187" y="2849399"/>
                <a:ext cx="2735775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0196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66187" y="2849399"/>
                <a:ext cx="2735775" cy="393700"/>
              </a:xfrm>
              <a:prstGeom prst="rect">
                <a:avLst/>
              </a:prstGeom>
              <a:blipFill>
                <a:blip r:embed="rId5"/>
                <a:stretch>
                  <a:fillRect b="-2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197" name="Text Box 21"/>
          <p:cNvSpPr txBox="1">
            <a:spLocks noChangeArrowheads="1"/>
          </p:cNvSpPr>
          <p:nvPr/>
        </p:nvSpPr>
        <p:spPr bwMode="auto">
          <a:xfrm>
            <a:off x="1874987" y="3089322"/>
            <a:ext cx="3200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称为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二项展开式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</a:t>
            </a:r>
          </a:p>
        </p:txBody>
      </p:sp>
      <p:sp>
        <p:nvSpPr>
          <p:cNvPr id="50199" name="Text Box 23"/>
          <p:cNvSpPr txBox="1">
            <a:spLocks noChangeArrowheads="1"/>
          </p:cNvSpPr>
          <p:nvPr/>
        </p:nvSpPr>
        <p:spPr bwMode="auto">
          <a:xfrm>
            <a:off x="1874987" y="3711129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说明：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200" name="Text Box 24"/>
              <p:cNvSpPr txBox="1">
                <a:spLocks noChangeArrowheads="1"/>
              </p:cNvSpPr>
              <p:nvPr/>
            </p:nvSpPr>
            <p:spPr bwMode="auto">
              <a:xfrm>
                <a:off x="1874987" y="4352399"/>
                <a:ext cx="64770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仿宋_GB2312" pitchFamily="49" charset="-122"/>
                    <a:cs typeface="+mn-cs"/>
                  </a:rPr>
                  <a:t>(1)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800" dirty="0">
                    <a:solidFill>
                      <a:srgbClr val="04926A"/>
                    </a:solidFill>
                    <a:latin typeface="Cambria Math" panose="02040503050406030204" pitchFamily="18" charset="0"/>
                  </a:rPr>
                  <a:t>＝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Cambria Math" panose="02040503050406030204" pitchFamily="18" charset="0"/>
                  </a:rPr>
                  <a:t>±1</a:t>
                </a:r>
                <a:r>
                  <a:rPr kumimoji="1" lang="en-US" altLang="zh-CN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处的收敛性与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有关 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0200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4987" y="4352399"/>
                <a:ext cx="6477000" cy="519113"/>
              </a:xfrm>
              <a:prstGeom prst="rect">
                <a:avLst/>
              </a:prstGeom>
              <a:blipFill>
                <a:blip r:embed="rId6"/>
                <a:stretch>
                  <a:fillRect l="-1977" t="-16471" b="-329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205" name="Text Box 29"/>
              <p:cNvSpPr txBox="1">
                <a:spLocks noChangeArrowheads="1"/>
              </p:cNvSpPr>
              <p:nvPr/>
            </p:nvSpPr>
            <p:spPr bwMode="auto">
              <a:xfrm>
                <a:off x="1874987" y="5036310"/>
                <a:ext cx="8153400" cy="11604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(2)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为正整数时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级数为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8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的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次多项式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,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上式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       就是代数学中的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4926A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二项式定理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</a:p>
            </p:txBody>
          </p:sp>
        </mc:Choice>
        <mc:Fallback xmlns="">
          <p:sp>
            <p:nvSpPr>
              <p:cNvPr id="50205" name="Text 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4987" y="5036310"/>
                <a:ext cx="8153400" cy="1160463"/>
              </a:xfrm>
              <a:prstGeom prst="rect">
                <a:avLst/>
              </a:prstGeom>
              <a:blipFill>
                <a:blip r:embed="rId7"/>
                <a:stretch>
                  <a:fillRect l="-1571" t="-6806" b="-1413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214" name="Text Box 38"/>
          <p:cNvSpPr txBox="1">
            <a:spLocks noChangeArrowheads="1"/>
          </p:cNvSpPr>
          <p:nvPr/>
        </p:nvSpPr>
        <p:spPr bwMode="auto">
          <a:xfrm>
            <a:off x="1874987" y="584826"/>
            <a:ext cx="1339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由此得 </a:t>
            </a:r>
          </a:p>
        </p:txBody>
      </p:sp>
    </p:spTree>
    <p:extLst>
      <p:ext uri="{BB962C8B-B14F-4D97-AF65-F5344CB8AC3E}">
        <p14:creationId xmlns:p14="http://schemas.microsoft.com/office/powerpoint/2010/main" val="121758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0" grpId="0"/>
      <p:bldP spid="50181" grpId="0"/>
      <p:bldP spid="50183" grpId="0"/>
      <p:bldP spid="50196" grpId="0"/>
      <p:bldP spid="50197" grpId="0" autoUpdateAnimBg="0"/>
      <p:bldP spid="50199" grpId="0" autoUpdateAnimBg="0"/>
      <p:bldP spid="50200" grpId="0" autoUpdateAnimBg="0"/>
      <p:bldP spid="50205" grpId="0" build="p" autoUpdateAnimBg="0"/>
      <p:bldP spid="502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Text Box 10"/>
          <p:cNvSpPr txBox="1">
            <a:spLocks noChangeArrowheads="1"/>
          </p:cNvSpPr>
          <p:nvPr/>
        </p:nvSpPr>
        <p:spPr bwMode="auto">
          <a:xfrm>
            <a:off x="1396407" y="644475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对应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3" name="Object 13"/>
              <p:cNvSpPr txBox="1"/>
              <p:nvPr/>
            </p:nvSpPr>
            <p:spPr bwMode="auto">
              <a:xfrm>
                <a:off x="2255830" y="414159"/>
                <a:ext cx="3106243" cy="6994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,−1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73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5830" y="414159"/>
                <a:ext cx="3106243" cy="699447"/>
              </a:xfrm>
              <a:prstGeom prst="rect">
                <a:avLst/>
              </a:prstGeom>
              <a:blipFill>
                <a:blip r:embed="rId2"/>
                <a:stretch>
                  <a:fillRect b="-208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4871314" y="637551"/>
            <a:ext cx="4114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的二项展开式分别为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8" name="Object 18"/>
              <p:cNvSpPr txBox="1"/>
              <p:nvPr/>
            </p:nvSpPr>
            <p:spPr bwMode="auto">
              <a:xfrm>
                <a:off x="1396407" y="1330558"/>
                <a:ext cx="3396552" cy="164712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7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6407" y="1330558"/>
                <a:ext cx="3396552" cy="16471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9" name="Object 19"/>
              <p:cNvSpPr txBox="1"/>
              <p:nvPr/>
            </p:nvSpPr>
            <p:spPr bwMode="auto">
              <a:xfrm>
                <a:off x="4039370" y="1322885"/>
                <a:ext cx="2544216" cy="15448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2⋅4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7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9370" y="1322885"/>
                <a:ext cx="2544216" cy="15448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0" name="Object 20"/>
              <p:cNvSpPr txBox="1"/>
              <p:nvPr/>
            </p:nvSpPr>
            <p:spPr bwMode="auto">
              <a:xfrm>
                <a:off x="5506179" y="1329358"/>
                <a:ext cx="2187565" cy="12046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1⋅3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2⋅4⋅6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6179" y="1329358"/>
                <a:ext cx="2187565" cy="12046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1" name="Object 21"/>
              <p:cNvSpPr txBox="1"/>
              <p:nvPr/>
            </p:nvSpPr>
            <p:spPr bwMode="auto">
              <a:xfrm>
                <a:off x="8603036" y="2262344"/>
                <a:ext cx="2544216" cy="816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3036" y="2262344"/>
                <a:ext cx="2544216" cy="816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2" name="Object 22"/>
              <p:cNvSpPr txBox="1"/>
              <p:nvPr/>
            </p:nvSpPr>
            <p:spPr bwMode="auto">
              <a:xfrm>
                <a:off x="7400035" y="1314074"/>
                <a:ext cx="3440817" cy="1142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1⋅3⋅5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2⋅4⋅6⋅8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00035" y="1314074"/>
                <a:ext cx="3440817" cy="1142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3" name="Object 23"/>
              <p:cNvSpPr txBox="1"/>
              <p:nvPr/>
            </p:nvSpPr>
            <p:spPr bwMode="auto">
              <a:xfrm>
                <a:off x="1396407" y="2913856"/>
                <a:ext cx="2238665" cy="14680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6407" y="2913856"/>
                <a:ext cx="2238665" cy="14680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4" name="Object 24"/>
              <p:cNvSpPr txBox="1"/>
              <p:nvPr/>
            </p:nvSpPr>
            <p:spPr bwMode="auto">
              <a:xfrm>
                <a:off x="4049484" y="2910998"/>
                <a:ext cx="1944104" cy="15760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1⋅3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2⋅4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9484" y="2910998"/>
                <a:ext cx="1944104" cy="157604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5" name="Object 25"/>
              <p:cNvSpPr txBox="1"/>
              <p:nvPr/>
            </p:nvSpPr>
            <p:spPr bwMode="auto">
              <a:xfrm>
                <a:off x="5509204" y="2900176"/>
                <a:ext cx="2513589" cy="1446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1⋅3⋅5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2⋅4⋅6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09204" y="2900176"/>
                <a:ext cx="2513589" cy="14465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6" name="Object 26"/>
              <p:cNvSpPr txBox="1"/>
              <p:nvPr/>
            </p:nvSpPr>
            <p:spPr bwMode="auto">
              <a:xfrm>
                <a:off x="8603036" y="3846344"/>
                <a:ext cx="2653521" cy="7235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6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3036" y="3846344"/>
                <a:ext cx="2653521" cy="72353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7" name="Object 27"/>
              <p:cNvSpPr txBox="1"/>
              <p:nvPr/>
            </p:nvSpPr>
            <p:spPr bwMode="auto">
              <a:xfrm>
                <a:off x="7391278" y="2900971"/>
                <a:ext cx="3257847" cy="1142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1⋅3⋅5⋅7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2⋅4⋅6⋅8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7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91278" y="2900971"/>
                <a:ext cx="3257847" cy="1142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8" name="Object 28"/>
              <p:cNvSpPr txBox="1"/>
              <p:nvPr/>
            </p:nvSpPr>
            <p:spPr bwMode="auto">
              <a:xfrm>
                <a:off x="3190102" y="2910046"/>
                <a:ext cx="1158608" cy="14465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8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0102" y="2910046"/>
                <a:ext cx="1158608" cy="144650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89" name="Object 29"/>
              <p:cNvSpPr txBox="1"/>
              <p:nvPr/>
            </p:nvSpPr>
            <p:spPr bwMode="auto">
              <a:xfrm>
                <a:off x="1396407" y="4152107"/>
                <a:ext cx="2124688" cy="13287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8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6407" y="4152107"/>
                <a:ext cx="2124688" cy="13287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0" name="Object 30"/>
              <p:cNvSpPr txBox="1"/>
              <p:nvPr/>
            </p:nvSpPr>
            <p:spPr bwMode="auto">
              <a:xfrm>
                <a:off x="3409010" y="4367089"/>
                <a:ext cx="1475033" cy="12308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90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9010" y="4367089"/>
                <a:ext cx="1475033" cy="12308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1" name="Object 31"/>
              <p:cNvSpPr txBox="1"/>
              <p:nvPr/>
            </p:nvSpPr>
            <p:spPr bwMode="auto">
              <a:xfrm>
                <a:off x="4101016" y="4369236"/>
                <a:ext cx="1044478" cy="8725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9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1016" y="4369236"/>
                <a:ext cx="1044478" cy="87255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2" name="Object 32"/>
              <p:cNvSpPr txBox="1"/>
              <p:nvPr/>
            </p:nvSpPr>
            <p:spPr bwMode="auto">
              <a:xfrm>
                <a:off x="8607728" y="4856797"/>
                <a:ext cx="2351475" cy="6282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92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7728" y="4856797"/>
                <a:ext cx="2351475" cy="62821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3" name="Object 33"/>
              <p:cNvSpPr txBox="1"/>
              <p:nvPr/>
            </p:nvSpPr>
            <p:spPr bwMode="auto">
              <a:xfrm>
                <a:off x="4741639" y="4368762"/>
                <a:ext cx="3518240" cy="8561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93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1639" y="4368762"/>
                <a:ext cx="3518240" cy="85618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4" name="Object 34"/>
              <p:cNvSpPr txBox="1"/>
              <p:nvPr/>
            </p:nvSpPr>
            <p:spPr bwMode="auto">
              <a:xfrm>
                <a:off x="2917226" y="4366539"/>
                <a:ext cx="786927" cy="7097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94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7226" y="4366539"/>
                <a:ext cx="786927" cy="70976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10" name="Object 50"/>
              <p:cNvSpPr txBox="1"/>
              <p:nvPr/>
            </p:nvSpPr>
            <p:spPr bwMode="auto">
              <a:xfrm>
                <a:off x="1396407" y="5458909"/>
                <a:ext cx="9750845" cy="11429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+⋯  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410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96407" y="5458909"/>
                <a:ext cx="9750845" cy="11429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11" name="AutoShape 51"/>
          <p:cNvSpPr>
            <a:spLocks noChangeArrowheads="1"/>
          </p:cNvSpPr>
          <p:nvPr/>
        </p:nvSpPr>
        <p:spPr bwMode="auto">
          <a:xfrm>
            <a:off x="2421101" y="5051256"/>
            <a:ext cx="236611" cy="583731"/>
          </a:xfrm>
          <a:prstGeom prst="downArrow">
            <a:avLst>
              <a:gd name="adj1" fmla="val 50000"/>
              <a:gd name="adj2" fmla="val 87088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55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70" grpId="0"/>
      <p:bldP spid="15373" grpId="0"/>
      <p:bldP spid="15375" grpId="0"/>
      <p:bldP spid="15378" grpId="0"/>
      <p:bldP spid="15379" grpId="0"/>
      <p:bldP spid="15380" grpId="0"/>
      <p:bldP spid="15381" grpId="0"/>
      <p:bldP spid="15383" grpId="0"/>
      <p:bldP spid="15384" grpId="0"/>
      <p:bldP spid="15385" grpId="0"/>
      <p:bldP spid="15386" grpId="0"/>
      <p:bldP spid="15387" grpId="0"/>
      <p:bldP spid="15388" grpId="0"/>
      <p:bldP spid="15389" grpId="0"/>
      <p:bldP spid="15390" grpId="0"/>
      <p:bldP spid="15391" grpId="0"/>
      <p:bldP spid="15392" grpId="0"/>
      <p:bldP spid="15393" grpId="0"/>
      <p:bldP spid="15394" grpId="0"/>
      <p:bldP spid="154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81A22B7-8478-C024-26D6-AD807CCF44BE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53CF7005-76C9-6F7B-B458-DC8B70C4E073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0642703-B008-E5C3-869A-C5963FDD1C7C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6D090201-C2C2-4F6E-E3A2-42AAB28A25AD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DBE231B0-266B-881A-71E2-CA4D9A2FE91F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23EBE92B-0C3B-0BD7-D0DB-F54A7DB95AEA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09203" y="1960245"/>
            <a:ext cx="2556769" cy="491114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altLang="zh-CN" sz="2800" dirty="0">
                <a:solidFill>
                  <a:srgbClr val="04926A"/>
                </a:solidFill>
                <a:latin typeface="+mj-ea"/>
              </a:rPr>
              <a:t>2. </a:t>
            </a:r>
            <a:r>
              <a:rPr lang="zh-CN" altLang="en-US" sz="2800" dirty="0">
                <a:solidFill>
                  <a:srgbClr val="04926A"/>
                </a:solidFill>
                <a:latin typeface="+mj-ea"/>
              </a:rPr>
              <a:t>间接展开法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Box 3"/>
              <p:cNvSpPr txBox="1">
                <a:spLocks noChangeArrowheads="1"/>
              </p:cNvSpPr>
              <p:nvPr/>
            </p:nvSpPr>
            <p:spPr bwMode="auto">
              <a:xfrm>
                <a:off x="1902184" y="2695833"/>
                <a:ext cx="9005942" cy="129977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dirty="0"/>
                  <a:t>根据唯一性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/>
                  <a:t> 利用常见展开式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/>
                  <a:t> 通过</a:t>
                </a:r>
                <a:r>
                  <a:rPr lang="zh-CN" altLang="en-US" sz="2800" b="1" dirty="0">
                    <a:solidFill>
                      <a:srgbClr val="04926A"/>
                    </a:solidFill>
                  </a:rPr>
                  <a:t>变量代换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800" b="1" dirty="0">
                    <a:solidFill>
                      <a:srgbClr val="04926A"/>
                    </a:solidFill>
                  </a:rPr>
                  <a:t> 四则运算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800" b="1" dirty="0">
                    <a:solidFill>
                      <a:srgbClr val="04926A"/>
                    </a:solidFill>
                  </a:rPr>
                  <a:t>恒等变形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800" b="1" dirty="0">
                    <a:solidFill>
                      <a:srgbClr val="04926A"/>
                    </a:solidFill>
                  </a:rPr>
                  <a:t> 逐项求导</a:t>
                </a:r>
                <a14:m>
                  <m:oMath xmlns:m="http://schemas.openxmlformats.org/officeDocument/2006/math">
                    <m:r>
                      <a:rPr lang="en-US" altLang="zh-CN" sz="2800" b="1">
                        <a:solidFill>
                          <a:srgbClr val="04926A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800" b="1" dirty="0">
                    <a:solidFill>
                      <a:srgbClr val="04926A"/>
                    </a:solidFill>
                  </a:rPr>
                  <a:t> 逐项积分</a:t>
                </a:r>
                <a:r>
                  <a:rPr lang="zh-CN" altLang="en-US" sz="2800" dirty="0"/>
                  <a:t>等方法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lang="zh-CN" altLang="en-US" sz="2800" dirty="0"/>
                  <a:t> 求展开式</a:t>
                </a:r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2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2184" y="2695833"/>
                <a:ext cx="9005942" cy="1299779"/>
              </a:xfrm>
              <a:prstGeom prst="rect">
                <a:avLst/>
              </a:prstGeom>
              <a:blipFill>
                <a:blip r:embed="rId3"/>
                <a:stretch>
                  <a:fillRect l="-1354" b="-112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4875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4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11A7F41F-8511-0EEA-C327-E2C82FCDF49C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C908520-9493-05FC-9C9D-921A165610D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C908520-9493-05FC-9C9D-921A165610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半闭框 18">
              <a:extLst>
                <a:ext uri="{FF2B5EF4-FFF2-40B4-BE49-F238E27FC236}">
                  <a16:creationId xmlns:a16="http://schemas.microsoft.com/office/drawing/2014/main" id="{42366C2B-FE02-C89C-203A-6C27A644F240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半闭框 19">
              <a:extLst>
                <a:ext uri="{FF2B5EF4-FFF2-40B4-BE49-F238E27FC236}">
                  <a16:creationId xmlns:a16="http://schemas.microsoft.com/office/drawing/2014/main" id="{A1DA9B70-3C45-6954-0DA2-CBA721CE92E6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半闭框 20">
              <a:extLst>
                <a:ext uri="{FF2B5EF4-FFF2-40B4-BE49-F238E27FC236}">
                  <a16:creationId xmlns:a16="http://schemas.microsoft.com/office/drawing/2014/main" id="{039550BE-8259-FA14-EE13-5381906B622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2" name="半闭框 21">
              <a:extLst>
                <a:ext uri="{FF2B5EF4-FFF2-40B4-BE49-F238E27FC236}">
                  <a16:creationId xmlns:a16="http://schemas.microsoft.com/office/drawing/2014/main" id="{8E050992-C500-B020-8626-1B1AEC975C2E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35"/>
              <p:cNvSpPr txBox="1"/>
              <p:nvPr/>
            </p:nvSpPr>
            <p:spPr bwMode="auto">
              <a:xfrm>
                <a:off x="1376299" y="4092507"/>
                <a:ext cx="8673942" cy="1239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6299" y="4092507"/>
                <a:ext cx="8673942" cy="1239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Box 36"/>
          <p:cNvSpPr txBox="1">
            <a:spLocks noChangeArrowheads="1"/>
          </p:cNvSpPr>
          <p:nvPr/>
        </p:nvSpPr>
        <p:spPr bwMode="auto">
          <a:xfrm>
            <a:off x="2739476" y="3182144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逐项求导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1"/>
              <p:cNvSpPr txBox="1"/>
              <p:nvPr/>
            </p:nvSpPr>
            <p:spPr bwMode="auto">
              <a:xfrm>
                <a:off x="7936941" y="5204096"/>
                <a:ext cx="3007062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∈(−∞, +∞).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6941" y="5204096"/>
                <a:ext cx="3007062" cy="393700"/>
              </a:xfrm>
              <a:prstGeom prst="rect">
                <a:avLst/>
              </a:prstGeom>
              <a:blipFill>
                <a:blip r:embed="rId5"/>
                <a:stretch>
                  <a:fillRect b="-218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3"/>
              <p:cNvSpPr txBox="1"/>
              <p:nvPr/>
            </p:nvSpPr>
            <p:spPr bwMode="auto">
              <a:xfrm>
                <a:off x="7936941" y="3043466"/>
                <a:ext cx="3104291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∈(−∞, +∞),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36941" y="3043466"/>
                <a:ext cx="3104291" cy="393700"/>
              </a:xfrm>
              <a:prstGeom prst="rect">
                <a:avLst/>
              </a:prstGeom>
              <a:blipFill>
                <a:blip r:embed="rId6"/>
                <a:stretch>
                  <a:fillRect b="-215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4"/>
              <p:cNvSpPr txBox="1"/>
              <p:nvPr/>
            </p:nvSpPr>
            <p:spPr bwMode="auto">
              <a:xfrm>
                <a:off x="1376299" y="1810815"/>
                <a:ext cx="10432788" cy="14056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76299" y="1810815"/>
                <a:ext cx="10432788" cy="14056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2317157" y="3050895"/>
            <a:ext cx="193114" cy="841309"/>
          </a:xfrm>
          <a:prstGeom prst="downArrow">
            <a:avLst>
              <a:gd name="adj1" fmla="val 50000"/>
              <a:gd name="adj2" fmla="val 112362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997822-F4E6-F51F-E202-10C0812EF72E}"/>
              </a:ext>
            </a:extLst>
          </p:cNvPr>
          <p:cNvGrpSpPr/>
          <p:nvPr/>
        </p:nvGrpSpPr>
        <p:grpSpPr>
          <a:xfrm>
            <a:off x="1488942" y="1244989"/>
            <a:ext cx="874395" cy="448945"/>
            <a:chOff x="1553" y="3803"/>
            <a:chExt cx="1377" cy="707"/>
          </a:xfrm>
        </p:grpSpPr>
        <p:sp>
          <p:nvSpPr>
            <p:cNvPr id="10" name="圆角矩形 51">
              <a:extLst>
                <a:ext uri="{FF2B5EF4-FFF2-40B4-BE49-F238E27FC236}">
                  <a16:creationId xmlns:a16="http://schemas.microsoft.com/office/drawing/2014/main" id="{06D511F5-AEB4-77FE-3B38-729CA12357B0}"/>
                </a:ext>
              </a:extLst>
            </p:cNvPr>
            <p:cNvSpPr/>
            <p:nvPr/>
          </p:nvSpPr>
          <p:spPr>
            <a:xfrm>
              <a:off x="1553" y="3803"/>
              <a:ext cx="137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Text Box 28">
              <a:extLst>
                <a:ext uri="{FF2B5EF4-FFF2-40B4-BE49-F238E27FC236}">
                  <a16:creationId xmlns:a16="http://schemas.microsoft.com/office/drawing/2014/main" id="{3AFEAC97-5F45-E454-EC5B-72123A1A60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3814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93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B48E32B3-581A-1BE9-9F20-308299A8A340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60FFDB80-3F33-7FED-DC42-1FA42C103970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60FFDB80-3F33-7FED-DC42-1FA42C1039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3F33EA1D-6532-1A51-51AE-09978864B736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68ECB90C-8A8F-583E-C406-7DA5C6ACC2E0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B2DC5318-681B-7627-1789-492FC7A7B06E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3" name="半闭框 22">
              <a:extLst>
                <a:ext uri="{FF2B5EF4-FFF2-40B4-BE49-F238E27FC236}">
                  <a16:creationId xmlns:a16="http://schemas.microsoft.com/office/drawing/2014/main" id="{951D546C-8421-FE6C-2D9F-D46DB4DE35EA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1224605" y="1387989"/>
                <a:ext cx="11500612" cy="188836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605" y="1387989"/>
                <a:ext cx="11500612" cy="18883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8"/>
          <p:cNvSpPr>
            <a:spLocks noChangeArrowheads="1"/>
          </p:cNvSpPr>
          <p:nvPr/>
        </p:nvSpPr>
        <p:spPr bwMode="auto">
          <a:xfrm>
            <a:off x="2237139" y="2443624"/>
            <a:ext cx="257160" cy="873721"/>
          </a:xfrm>
          <a:prstGeom prst="downArrow">
            <a:avLst>
              <a:gd name="adj1" fmla="val 50000"/>
              <a:gd name="adj2" fmla="val 62684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1224605" y="3205408"/>
                <a:ext cx="9270127" cy="1241478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605" y="3205408"/>
                <a:ext cx="9270127" cy="12414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1224605" y="4872555"/>
                <a:ext cx="11247209" cy="1355631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−1&lt;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 dirty="0">
                              <a:latin typeface="宋体" panose="02010600030101010101" pitchFamily="2" charset="-122"/>
                              <a:ea typeface="宋体" panose="02010600030101010101" pitchFamily="2" charset="-122"/>
                            </a:rPr>
                            <m:t>≤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4605" y="4872555"/>
                <a:ext cx="11247209" cy="13556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对象 7"/>
              <p:cNvSpPr txBox="1"/>
              <p:nvPr/>
            </p:nvSpPr>
            <p:spPr>
              <a:xfrm>
                <a:off x="7502142" y="1570487"/>
                <a:ext cx="3889096" cy="87372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2142" y="1570487"/>
                <a:ext cx="3889096" cy="87372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对象 8"/>
              <p:cNvSpPr txBox="1"/>
              <p:nvPr/>
            </p:nvSpPr>
            <p:spPr>
              <a:xfrm>
                <a:off x="8345919" y="4251439"/>
                <a:ext cx="2552309" cy="56132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5919" y="4251439"/>
                <a:ext cx="2552309" cy="5613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2670683" y="2588586"/>
                <a:ext cx="3515257" cy="657649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两边从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到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683" y="2588586"/>
                <a:ext cx="3515257" cy="6576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1608DB8A-FE32-F58D-14BF-E30314466D00}"/>
              </a:ext>
            </a:extLst>
          </p:cNvPr>
          <p:cNvGrpSpPr/>
          <p:nvPr/>
        </p:nvGrpSpPr>
        <p:grpSpPr>
          <a:xfrm>
            <a:off x="1224605" y="848623"/>
            <a:ext cx="874395" cy="448945"/>
            <a:chOff x="1553" y="3803"/>
            <a:chExt cx="1377" cy="707"/>
          </a:xfrm>
        </p:grpSpPr>
        <p:sp>
          <p:nvSpPr>
            <p:cNvPr id="4" name="圆角矩形 51">
              <a:extLst>
                <a:ext uri="{FF2B5EF4-FFF2-40B4-BE49-F238E27FC236}">
                  <a16:creationId xmlns:a16="http://schemas.microsoft.com/office/drawing/2014/main" id="{F4EF7530-3A90-57CB-162A-5F49E7974C98}"/>
                </a:ext>
              </a:extLst>
            </p:cNvPr>
            <p:cNvSpPr/>
            <p:nvPr/>
          </p:nvSpPr>
          <p:spPr>
            <a:xfrm>
              <a:off x="1553" y="3803"/>
              <a:ext cx="1377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BE217CB2-B0E1-C955-F115-D8D11DC70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3814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88233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7" grpId="0"/>
      <p:bldP spid="8" grpId="0"/>
      <p:bldP spid="9" grpId="0" animBg="1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4BF6EEA4-489F-752F-A7C3-25B188571149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CB187034-CC92-1493-541B-193102E13C6C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CB187034-CC92-1493-541B-193102E13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半闭框 16">
              <a:extLst>
                <a:ext uri="{FF2B5EF4-FFF2-40B4-BE49-F238E27FC236}">
                  <a16:creationId xmlns:a16="http://schemas.microsoft.com/office/drawing/2014/main" id="{ACFB7897-4C5E-9243-8B15-5B46820B5CC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半闭框 23">
              <a:extLst>
                <a:ext uri="{FF2B5EF4-FFF2-40B4-BE49-F238E27FC236}">
                  <a16:creationId xmlns:a16="http://schemas.microsoft.com/office/drawing/2014/main" id="{61F2F931-B5DA-4498-7639-B9709DE6DB55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半闭框 24">
              <a:extLst>
                <a:ext uri="{FF2B5EF4-FFF2-40B4-BE49-F238E27FC236}">
                  <a16:creationId xmlns:a16="http://schemas.microsoft.com/office/drawing/2014/main" id="{64C5429E-BFE2-FD88-189A-72431876E87A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26" name="半闭框 25">
              <a:extLst>
                <a:ext uri="{FF2B5EF4-FFF2-40B4-BE49-F238E27FC236}">
                  <a16:creationId xmlns:a16="http://schemas.microsoft.com/office/drawing/2014/main" id="{A9C19F6C-19FC-2921-E766-6C024D9E5B8A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对象 2"/>
              <p:cNvSpPr txBox="1"/>
              <p:nvPr/>
            </p:nvSpPr>
            <p:spPr>
              <a:xfrm>
                <a:off x="1232618" y="1365485"/>
                <a:ext cx="6482179" cy="113527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618" y="1365485"/>
                <a:ext cx="6482179" cy="11352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utoShape 8"/>
          <p:cNvSpPr>
            <a:spLocks noChangeArrowheads="1"/>
          </p:cNvSpPr>
          <p:nvPr/>
        </p:nvSpPr>
        <p:spPr bwMode="auto">
          <a:xfrm>
            <a:off x="2252521" y="2329916"/>
            <a:ext cx="217548" cy="803573"/>
          </a:xfrm>
          <a:prstGeom prst="downArrow">
            <a:avLst>
              <a:gd name="adj1" fmla="val 50000"/>
              <a:gd name="adj2" fmla="val 112362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>
              <a:xfrm>
                <a:off x="1232618" y="4654584"/>
                <a:ext cx="9150943" cy="159303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arctan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618" y="4654584"/>
                <a:ext cx="9150943" cy="15930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2830978" y="2449438"/>
                <a:ext cx="2811781" cy="56452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换成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978" y="2449438"/>
                <a:ext cx="2811781" cy="56452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6"/>
              <p:cNvSpPr txBox="1"/>
              <p:nvPr/>
            </p:nvSpPr>
            <p:spPr>
              <a:xfrm>
                <a:off x="1232618" y="3065286"/>
                <a:ext cx="7837001" cy="1630571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+⋯+(−1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618" y="3065286"/>
                <a:ext cx="7837001" cy="16305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688780" y="3984277"/>
            <a:ext cx="231064" cy="743404"/>
          </a:xfrm>
          <a:prstGeom prst="downArrow">
            <a:avLst>
              <a:gd name="adj1" fmla="val 50000"/>
              <a:gd name="adj2" fmla="val 112362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对象 10"/>
              <p:cNvSpPr txBox="1"/>
              <p:nvPr/>
            </p:nvSpPr>
            <p:spPr>
              <a:xfrm>
                <a:off x="8271075" y="1578728"/>
                <a:ext cx="2931644" cy="393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对象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075" y="1578728"/>
                <a:ext cx="2931644" cy="393700"/>
              </a:xfrm>
              <a:prstGeom prst="rect">
                <a:avLst/>
              </a:prstGeom>
              <a:blipFill>
                <a:blip r:embed="rId8"/>
                <a:stretch>
                  <a:fillRect b="-2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对象 11"/>
              <p:cNvSpPr txBox="1"/>
              <p:nvPr/>
            </p:nvSpPr>
            <p:spPr>
              <a:xfrm>
                <a:off x="8246361" y="3261158"/>
                <a:ext cx="2569767" cy="3937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361" y="3261158"/>
                <a:ext cx="2569767" cy="393700"/>
              </a:xfrm>
              <a:prstGeom prst="rect">
                <a:avLst/>
              </a:prstGeom>
              <a:blipFill>
                <a:blip r:embed="rId9"/>
                <a:stretch>
                  <a:fillRect b="-2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对象 13"/>
              <p:cNvSpPr txBox="1"/>
              <p:nvPr/>
            </p:nvSpPr>
            <p:spPr>
              <a:xfrm>
                <a:off x="8344418" y="5591793"/>
                <a:ext cx="2521201" cy="618064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对象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418" y="5591793"/>
                <a:ext cx="2521201" cy="6180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/>
              <p:cNvSpPr txBox="1"/>
              <p:nvPr/>
            </p:nvSpPr>
            <p:spPr>
              <a:xfrm>
                <a:off x="3237461" y="4046927"/>
                <a:ext cx="4565468" cy="5770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两边从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461" y="4046927"/>
                <a:ext cx="4565468" cy="5770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EEC1DBBA-CC9B-3AB8-7F81-73CB0582FD48}"/>
              </a:ext>
            </a:extLst>
          </p:cNvPr>
          <p:cNvGrpSpPr/>
          <p:nvPr/>
        </p:nvGrpSpPr>
        <p:grpSpPr>
          <a:xfrm>
            <a:off x="1232618" y="849972"/>
            <a:ext cx="1233805" cy="448945"/>
            <a:chOff x="1553" y="3803"/>
            <a:chExt cx="1943" cy="707"/>
          </a:xfrm>
        </p:grpSpPr>
        <p:sp>
          <p:nvSpPr>
            <p:cNvPr id="9" name="圆角矩形 51">
              <a:extLst>
                <a:ext uri="{FF2B5EF4-FFF2-40B4-BE49-F238E27FC236}">
                  <a16:creationId xmlns:a16="http://schemas.microsoft.com/office/drawing/2014/main" id="{A13E00D7-23A6-767C-313B-290CE64BF48D}"/>
                </a:ext>
              </a:extLst>
            </p:cNvPr>
            <p:cNvSpPr/>
            <p:nvPr/>
          </p:nvSpPr>
          <p:spPr>
            <a:xfrm>
              <a:off x="1553" y="3803"/>
              <a:ext cx="1879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Text Box 28">
              <a:extLst>
                <a:ext uri="{FF2B5EF4-FFF2-40B4-BE49-F238E27FC236}">
                  <a16:creationId xmlns:a16="http://schemas.microsoft.com/office/drawing/2014/main" id="{746384C2-F00C-1766-A4D4-7F44B198B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3814"/>
              <a:ext cx="1842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再例如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075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/>
      <p:bldP spid="2" grpId="0"/>
      <p:bldP spid="7" grpId="0"/>
      <p:bldP spid="8" grpId="0" animBg="1"/>
      <p:bldP spid="11" grpId="0"/>
      <p:bldP spid="12" grpId="0"/>
      <p:bldP spid="14" grpId="0" animBg="1"/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/>
          <p:cNvSpPr txBox="1">
            <a:spLocks noChangeArrowheads="1"/>
          </p:cNvSpPr>
          <p:nvPr/>
        </p:nvSpPr>
        <p:spPr bwMode="auto">
          <a:xfrm>
            <a:off x="442381" y="694363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2. </a:t>
            </a:r>
            <a:r>
              <a:rPr kumimoji="1" lang="zh-CN" altLang="en-US" sz="2800" dirty="0">
                <a:solidFill>
                  <a:prstClr val="black"/>
                </a:solidFill>
                <a:latin typeface="Cambria Math" panose="02040503050406030204" pitchFamily="18" charset="0"/>
                <a:ea typeface="黑体" panose="02010609060101010101" pitchFamily="49" charset="-122"/>
              </a:rPr>
              <a:t>常用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函数的幂级数展开式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1"/>
              <p:cNvSpPr txBox="1"/>
              <p:nvPr/>
            </p:nvSpPr>
            <p:spPr bwMode="auto">
              <a:xfrm>
                <a:off x="442381" y="1612714"/>
                <a:ext cx="1504950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(1)  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381" y="1612714"/>
                <a:ext cx="1504950" cy="5191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3"/>
              <p:cNvSpPr txBox="1"/>
              <p:nvPr/>
            </p:nvSpPr>
            <p:spPr bwMode="auto">
              <a:xfrm>
                <a:off x="1634382" y="1602990"/>
                <a:ext cx="1003300" cy="6796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34382" y="1602990"/>
                <a:ext cx="1003300" cy="6796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4"/>
              <p:cNvSpPr txBox="1"/>
              <p:nvPr/>
            </p:nvSpPr>
            <p:spPr bwMode="auto">
              <a:xfrm>
                <a:off x="6492567" y="1547171"/>
                <a:ext cx="2763759" cy="7231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∈(−∞, +∞)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92567" y="1547171"/>
                <a:ext cx="2763759" cy="7231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9"/>
              <p:cNvSpPr txBox="1"/>
              <p:nvPr/>
            </p:nvSpPr>
            <p:spPr bwMode="auto">
              <a:xfrm>
                <a:off x="2163735" y="1575950"/>
                <a:ext cx="685800" cy="5787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3735" y="1575950"/>
                <a:ext cx="685800" cy="5787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0"/>
              <p:cNvSpPr txBox="1"/>
              <p:nvPr/>
            </p:nvSpPr>
            <p:spPr bwMode="auto">
              <a:xfrm>
                <a:off x="2696018" y="1355751"/>
                <a:ext cx="1418851" cy="10065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6018" y="1355751"/>
                <a:ext cx="1418851" cy="10065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21"/>
              <p:cNvSpPr txBox="1"/>
              <p:nvPr/>
            </p:nvSpPr>
            <p:spPr bwMode="auto">
              <a:xfrm>
                <a:off x="3758567" y="1357022"/>
                <a:ext cx="359773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</m:t>
                      </m:r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58567" y="1357022"/>
                <a:ext cx="3597730" cy="10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9"/>
              <p:cNvSpPr txBox="1"/>
              <p:nvPr/>
            </p:nvSpPr>
            <p:spPr bwMode="auto">
              <a:xfrm>
                <a:off x="5585090" y="2506791"/>
                <a:ext cx="4504131" cy="12556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+(−1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+1</m:t>
                              </m:r>
                            </m:e>
                          </m:d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85090" y="2506791"/>
                <a:ext cx="4504131" cy="125561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bject 3"/>
              <p:cNvSpPr txBox="1"/>
              <p:nvPr/>
            </p:nvSpPr>
            <p:spPr bwMode="auto">
              <a:xfrm>
                <a:off x="442381" y="2792995"/>
                <a:ext cx="1841500" cy="7550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(2) 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381" y="2792995"/>
                <a:ext cx="1841500" cy="7550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4"/>
              <p:cNvSpPr txBox="1"/>
              <p:nvPr/>
            </p:nvSpPr>
            <p:spPr bwMode="auto">
              <a:xfrm>
                <a:off x="1955671" y="2810030"/>
                <a:ext cx="1535112" cy="6948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5671" y="2810030"/>
                <a:ext cx="1535112" cy="6948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"/>
              <p:cNvSpPr txBox="1"/>
              <p:nvPr/>
            </p:nvSpPr>
            <p:spPr bwMode="auto">
              <a:xfrm>
                <a:off x="2575581" y="2528659"/>
                <a:ext cx="6858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75581" y="2528659"/>
                <a:ext cx="685800" cy="1016000"/>
              </a:xfrm>
              <a:prstGeom prst="rect">
                <a:avLst/>
              </a:prstGeom>
              <a:blipFill>
                <a:blip r:embed="rId11"/>
                <a:stretch>
                  <a:fillRect r="-151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7"/>
              <p:cNvSpPr txBox="1"/>
              <p:nvPr/>
            </p:nvSpPr>
            <p:spPr bwMode="auto">
              <a:xfrm>
                <a:off x="3307665" y="2504458"/>
                <a:ext cx="6985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7665" y="2504458"/>
                <a:ext cx="698500" cy="1016000"/>
              </a:xfrm>
              <a:prstGeom prst="rect">
                <a:avLst/>
              </a:prstGeom>
              <a:blipFill>
                <a:blip r:embed="rId12"/>
                <a:stretch>
                  <a:fillRect r="-131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8"/>
              <p:cNvSpPr txBox="1"/>
              <p:nvPr/>
            </p:nvSpPr>
            <p:spPr bwMode="auto">
              <a:xfrm>
                <a:off x="4078254" y="2517020"/>
                <a:ext cx="1678391" cy="13434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7!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78254" y="2517020"/>
                <a:ext cx="1678391" cy="134345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11"/>
              <p:cNvSpPr txBox="1"/>
              <p:nvPr/>
            </p:nvSpPr>
            <p:spPr bwMode="auto">
              <a:xfrm>
                <a:off x="442381" y="4115955"/>
                <a:ext cx="2240213" cy="952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(3) 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381" y="4115955"/>
                <a:ext cx="2240213" cy="95235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12"/>
              <p:cNvSpPr txBox="1"/>
              <p:nvPr/>
            </p:nvSpPr>
            <p:spPr bwMode="auto">
              <a:xfrm>
                <a:off x="1973401" y="4121050"/>
                <a:ext cx="1224544" cy="6948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4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3401" y="4121050"/>
                <a:ext cx="1224544" cy="69480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Object 13"/>
              <p:cNvSpPr txBox="1"/>
              <p:nvPr/>
            </p:nvSpPr>
            <p:spPr bwMode="auto">
              <a:xfrm>
                <a:off x="2520504" y="3835261"/>
                <a:ext cx="7112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2!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0504" y="3835261"/>
                <a:ext cx="711200" cy="1016000"/>
              </a:xfrm>
              <a:prstGeom prst="rect">
                <a:avLst/>
              </a:prstGeom>
              <a:blipFill>
                <a:blip r:embed="rId16"/>
                <a:stretch>
                  <a:fillRect r="-111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14"/>
              <p:cNvSpPr txBox="1"/>
              <p:nvPr/>
            </p:nvSpPr>
            <p:spPr bwMode="auto">
              <a:xfrm>
                <a:off x="3268319" y="3841646"/>
                <a:ext cx="711200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4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4!</m:t>
                          </m:r>
                        </m:den>
                      </m:f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68319" y="3841646"/>
                <a:ext cx="711200" cy="1016000"/>
              </a:xfrm>
              <a:prstGeom prst="rect">
                <a:avLst/>
              </a:prstGeom>
              <a:blipFill>
                <a:blip r:embed="rId17"/>
                <a:stretch>
                  <a:fillRect r="-111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15"/>
              <p:cNvSpPr txBox="1"/>
              <p:nvPr/>
            </p:nvSpPr>
            <p:spPr bwMode="auto">
              <a:xfrm>
                <a:off x="4053741" y="3828582"/>
                <a:ext cx="1833374" cy="116733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6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6!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53741" y="3828582"/>
                <a:ext cx="1833374" cy="1167331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Object 16"/>
              <p:cNvSpPr txBox="1"/>
              <p:nvPr/>
            </p:nvSpPr>
            <p:spPr bwMode="auto">
              <a:xfrm>
                <a:off x="5533000" y="3836734"/>
                <a:ext cx="5224043" cy="11783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+(−1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)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𝑥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2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e>
                          </m:d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!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3000" y="3836734"/>
                <a:ext cx="5224043" cy="117837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Object 29"/>
              <p:cNvSpPr txBox="1"/>
              <p:nvPr/>
            </p:nvSpPr>
            <p:spPr bwMode="auto">
              <a:xfrm>
                <a:off x="9308727" y="2743620"/>
                <a:ext cx="2883273" cy="9415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∈(−∞, +∞)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308727" y="2743620"/>
                <a:ext cx="2883273" cy="94154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30"/>
              <p:cNvSpPr txBox="1"/>
              <p:nvPr/>
            </p:nvSpPr>
            <p:spPr bwMode="auto">
              <a:xfrm>
                <a:off x="8748707" y="4085541"/>
                <a:ext cx="2681028" cy="7617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∈(−∞, +∞)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48707" y="4085541"/>
                <a:ext cx="2681028" cy="7617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15"/>
              <p:cNvSpPr txBox="1"/>
              <p:nvPr/>
            </p:nvSpPr>
            <p:spPr bwMode="auto">
              <a:xfrm>
                <a:off x="442381" y="5499264"/>
                <a:ext cx="2831336" cy="6667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(4) 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ln</m:t>
                          </m:r>
                        </m:fName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​</m:t>
                          </m:r>
                        </m:e>
                      </m:func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​(1+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2381" y="5499264"/>
                <a:ext cx="2831336" cy="66675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bject 17"/>
              <p:cNvSpPr txBox="1"/>
              <p:nvPr/>
            </p:nvSpPr>
            <p:spPr bwMode="auto">
              <a:xfrm>
                <a:off x="2713264" y="5497948"/>
                <a:ext cx="1144555" cy="6316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2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3264" y="5497948"/>
                <a:ext cx="1144555" cy="63163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8"/>
              <p:cNvSpPr txBox="1"/>
              <p:nvPr/>
            </p:nvSpPr>
            <p:spPr bwMode="auto">
              <a:xfrm>
                <a:off x="10240944" y="5497948"/>
                <a:ext cx="2557090" cy="939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∈(−1, 1]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3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240944" y="5497948"/>
                <a:ext cx="2557090" cy="93980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Object 22"/>
              <p:cNvSpPr txBox="1"/>
              <p:nvPr/>
            </p:nvSpPr>
            <p:spPr bwMode="auto">
              <a:xfrm>
                <a:off x="3307665" y="5279980"/>
                <a:ext cx="9017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4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7665" y="5279980"/>
                <a:ext cx="901700" cy="850900"/>
              </a:xfrm>
              <a:prstGeom prst="rect">
                <a:avLst/>
              </a:prstGeom>
              <a:blipFill>
                <a:blip r:embed="rId25"/>
                <a:stretch>
                  <a:fillRect r="-114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23"/>
              <p:cNvSpPr txBox="1"/>
              <p:nvPr/>
            </p:nvSpPr>
            <p:spPr bwMode="auto">
              <a:xfrm>
                <a:off x="4243918" y="5279980"/>
                <a:ext cx="1218415" cy="1016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3918" y="5279980"/>
                <a:ext cx="1218415" cy="101600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24"/>
              <p:cNvSpPr txBox="1"/>
              <p:nvPr/>
            </p:nvSpPr>
            <p:spPr bwMode="auto">
              <a:xfrm>
                <a:off x="5210291" y="5276316"/>
                <a:ext cx="1975580" cy="11495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4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6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10291" y="5276316"/>
                <a:ext cx="1975580" cy="114959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25"/>
              <p:cNvSpPr txBox="1"/>
              <p:nvPr/>
            </p:nvSpPr>
            <p:spPr bwMode="auto">
              <a:xfrm>
                <a:off x="6928845" y="5265946"/>
                <a:ext cx="2815766" cy="15051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(−1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den>
                      </m:f>
                      <m:sSup>
                        <m:sSup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28845" y="5265946"/>
                <a:ext cx="2815766" cy="150510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bject 27"/>
              <p:cNvSpPr txBox="1"/>
              <p:nvPr/>
            </p:nvSpPr>
            <p:spPr bwMode="auto">
              <a:xfrm>
                <a:off x="9068450" y="5497948"/>
                <a:ext cx="1172494" cy="10486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+⋯</m:t>
                      </m:r>
                      <m:r>
                        <a:rPr kumimoji="1" lang="en-US" altLang="zh-CN" sz="2800" b="0" i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68450" y="5497948"/>
                <a:ext cx="1172494" cy="1048623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6537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/>
      <p:bldP spid="4" grpId="0"/>
      <p:bldP spid="5" grpId="0"/>
      <p:bldP spid="9" grpId="0"/>
      <p:bldP spid="10" grpId="0"/>
      <p:bldP spid="11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8"/>
              <p:cNvSpPr txBox="1"/>
              <p:nvPr/>
            </p:nvSpPr>
            <p:spPr bwMode="auto">
              <a:xfrm>
                <a:off x="788057" y="804029"/>
                <a:ext cx="2493279" cy="6579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(5)  (1+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8057" y="804029"/>
                <a:ext cx="2493279" cy="6579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19"/>
              <p:cNvSpPr txBox="1"/>
              <p:nvPr/>
            </p:nvSpPr>
            <p:spPr bwMode="auto">
              <a:xfrm>
                <a:off x="2958147" y="804524"/>
                <a:ext cx="1217110" cy="539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8147" y="804524"/>
                <a:ext cx="1217110" cy="5397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20"/>
              <p:cNvSpPr txBox="1"/>
              <p:nvPr/>
            </p:nvSpPr>
            <p:spPr bwMode="auto">
              <a:xfrm>
                <a:off x="3553725" y="801555"/>
                <a:ext cx="1433999" cy="635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53725" y="801555"/>
                <a:ext cx="1433999" cy="635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1"/>
              <p:cNvSpPr txBox="1"/>
              <p:nvPr/>
            </p:nvSpPr>
            <p:spPr bwMode="auto">
              <a:xfrm>
                <a:off x="4394461" y="596270"/>
                <a:ext cx="2689971" cy="12506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4461" y="596270"/>
                <a:ext cx="2689971" cy="12506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2"/>
              <p:cNvSpPr txBox="1"/>
              <p:nvPr/>
            </p:nvSpPr>
            <p:spPr bwMode="auto">
              <a:xfrm>
                <a:off x="6734617" y="801555"/>
                <a:ext cx="2255613" cy="9077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34617" y="801555"/>
                <a:ext cx="2255613" cy="9077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23"/>
              <p:cNvSpPr txBox="1"/>
              <p:nvPr/>
            </p:nvSpPr>
            <p:spPr bwMode="auto">
              <a:xfrm>
                <a:off x="3547651" y="1584635"/>
                <a:ext cx="8154613" cy="1264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−1)⋯(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7651" y="1584635"/>
                <a:ext cx="8154613" cy="12646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31"/>
              <p:cNvSpPr txBox="1"/>
              <p:nvPr/>
            </p:nvSpPr>
            <p:spPr bwMode="auto">
              <a:xfrm>
                <a:off x="9208735" y="1778874"/>
                <a:ext cx="2199955" cy="5489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∈(−1, 1)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08735" y="1778874"/>
                <a:ext cx="2199955" cy="54897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对象 14"/>
              <p:cNvSpPr txBox="1"/>
              <p:nvPr/>
            </p:nvSpPr>
            <p:spPr>
              <a:xfrm>
                <a:off x="835170" y="5004623"/>
                <a:ext cx="3678774" cy="1320742"/>
              </a:xfrm>
              <a:prstGeom prst="rect">
                <a:avLst/>
              </a:prstGeom>
              <a:solidFill>
                <a:srgbClr val="CDE9E1"/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70" y="5004623"/>
                <a:ext cx="3678774" cy="13207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对象 15"/>
              <p:cNvSpPr txBox="1"/>
              <p:nvPr/>
            </p:nvSpPr>
            <p:spPr>
              <a:xfrm>
                <a:off x="835169" y="3429000"/>
                <a:ext cx="3678774" cy="1313616"/>
              </a:xfrm>
              <a:prstGeom prst="rect">
                <a:avLst/>
              </a:prstGeom>
              <a:solidFill>
                <a:srgbClr val="CDE9E1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69" y="3429000"/>
                <a:ext cx="3678774" cy="13136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对象 16"/>
              <p:cNvSpPr txBox="1"/>
              <p:nvPr/>
            </p:nvSpPr>
            <p:spPr>
              <a:xfrm>
                <a:off x="4896885" y="3436126"/>
                <a:ext cx="6478534" cy="1313616"/>
              </a:xfrm>
              <a:prstGeom prst="rect">
                <a:avLst/>
              </a:prstGeom>
              <a:solidFill>
                <a:srgbClr val="CDE9E1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" name="对象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885" y="3436126"/>
                <a:ext cx="6478534" cy="13136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17"/>
              <p:cNvSpPr txBox="1"/>
              <p:nvPr/>
            </p:nvSpPr>
            <p:spPr>
              <a:xfrm>
                <a:off x="4896885" y="4993222"/>
                <a:ext cx="6478534" cy="1332142"/>
              </a:xfrm>
              <a:prstGeom prst="rect">
                <a:avLst/>
              </a:prstGeom>
              <a:solidFill>
                <a:srgbClr val="CDE9E1"/>
              </a:solidFill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  −1&lt;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8" name="对象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885" y="4993222"/>
                <a:ext cx="6478534" cy="133214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994547D9-CBC5-3F96-7B66-CB89E1B75AED}"/>
              </a:ext>
            </a:extLst>
          </p:cNvPr>
          <p:cNvGrpSpPr/>
          <p:nvPr/>
        </p:nvGrpSpPr>
        <p:grpSpPr>
          <a:xfrm>
            <a:off x="895058" y="2719647"/>
            <a:ext cx="892802" cy="448945"/>
            <a:chOff x="1553" y="3803"/>
            <a:chExt cx="1885" cy="707"/>
          </a:xfrm>
        </p:grpSpPr>
        <p:sp>
          <p:nvSpPr>
            <p:cNvPr id="12" name="圆角矩形 51">
              <a:extLst>
                <a:ext uri="{FF2B5EF4-FFF2-40B4-BE49-F238E27FC236}">
                  <a16:creationId xmlns:a16="http://schemas.microsoft.com/office/drawing/2014/main" id="{8AAAE798-BDD8-6DC0-5BA9-D826262DAEA8}"/>
                </a:ext>
              </a:extLst>
            </p:cNvPr>
            <p:cNvSpPr/>
            <p:nvPr/>
          </p:nvSpPr>
          <p:spPr>
            <a:xfrm>
              <a:off x="1553" y="3803"/>
              <a:ext cx="1885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Text Box 28">
              <a:extLst>
                <a:ext uri="{FF2B5EF4-FFF2-40B4-BE49-F238E27FC236}">
                  <a16:creationId xmlns:a16="http://schemas.microsoft.com/office/drawing/2014/main" id="{71CB9607-4DDE-03F3-983A-BACFEE255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3814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lang="zh-CN" altLang="en-US" kern="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特</a:t>
              </a: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564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11" grpId="0"/>
      <p:bldP spid="15" grpId="0" animBg="1"/>
      <p:bldP spid="16" grpId="0" animBg="1"/>
      <p:bldP spid="17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D872A70-6CA3-D2D2-7AE7-53006CA16050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0DC27EE4-18F8-576D-AA4A-D39566B1E91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0DC27EE4-18F8-576D-AA4A-D39566B1E9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3772D69B-4E59-E8CD-9D08-308AE12652B7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E9413B8B-EABC-8BF2-86E9-34509B273372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108EF5AE-3B10-365B-0DE6-892B9D2A73C5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FC04601D-C8AC-D83B-51C1-27391AEF9ACD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401" name="Object 17"/>
              <p:cNvSpPr txBox="1"/>
              <p:nvPr/>
            </p:nvSpPr>
            <p:spPr bwMode="auto">
              <a:xfrm>
                <a:off x="8802319" y="4311793"/>
                <a:ext cx="751682" cy="84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]"/>
                          <m:ctrlPr>
                            <a:rPr lang="en-US" altLang="zh-CN" sz="20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ctrlPr>
                                <a:rPr lang="en-US" altLang="zh-CN" sz="2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0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00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000" b="1" dirty="0">
                              <a:solidFill>
                                <a:schemeClr val="bg1"/>
                              </a:solidFill>
                              <a:latin typeface="+mn-ea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6401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02319" y="4311793"/>
                <a:ext cx="751682" cy="8433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EC8E1A3-64DA-5F1E-8DA5-8B2064A1AD58}"/>
                  </a:ext>
                </a:extLst>
              </p:cNvPr>
              <p:cNvSpPr txBox="1"/>
              <p:nvPr/>
            </p:nvSpPr>
            <p:spPr bwMode="auto">
              <a:xfrm>
                <a:off x="8847913" y="4322317"/>
                <a:ext cx="573555" cy="7321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EC8E1A3-64DA-5F1E-8DA5-8B2064A1A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847913" y="4322317"/>
                <a:ext cx="573555" cy="7321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4">
                <a:extLst>
                  <a:ext uri="{FF2B5EF4-FFF2-40B4-BE49-F238E27FC236}">
                    <a16:creationId xmlns:a16="http://schemas.microsoft.com/office/drawing/2014/main" id="{B525C2A9-CC88-068C-1154-7B9B1197910B}"/>
                  </a:ext>
                </a:extLst>
              </p:cNvPr>
              <p:cNvSpPr txBox="1"/>
              <p:nvPr/>
            </p:nvSpPr>
            <p:spPr bwMode="auto">
              <a:xfrm>
                <a:off x="3571666" y="4284277"/>
                <a:ext cx="687358" cy="808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2" name="Object 14">
                <a:extLst>
                  <a:ext uri="{FF2B5EF4-FFF2-40B4-BE49-F238E27FC236}">
                    <a16:creationId xmlns:a16="http://schemas.microsoft.com/office/drawing/2014/main" id="{B525C2A9-CC88-068C-1154-7B9B11979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666" y="4284277"/>
                <a:ext cx="687358" cy="808900"/>
              </a:xfrm>
              <a:prstGeom prst="rect">
                <a:avLst/>
              </a:prstGeom>
              <a:blipFill>
                <a:blip r:embed="rId5"/>
                <a:stretch>
                  <a:fillRect r="-442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1599D48-5FB1-9BFB-AD13-DBB800C97BD2}"/>
                  </a:ext>
                </a:extLst>
              </p:cNvPr>
              <p:cNvSpPr txBox="1"/>
              <p:nvPr/>
            </p:nvSpPr>
            <p:spPr bwMode="auto">
              <a:xfrm>
                <a:off x="8357502" y="3553092"/>
                <a:ext cx="573555" cy="7321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8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8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1599D48-5FB1-9BFB-AD13-DBB800C97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57502" y="3553092"/>
                <a:ext cx="573555" cy="7321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924639" y="706498"/>
            <a:ext cx="1862138" cy="4572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</a:t>
            </a:r>
            <a:r>
              <a:rPr lang="en-US" altLang="zh-CN" sz="2800" dirty="0">
                <a:ea typeface="黑体" panose="02010609060101010101" pitchFamily="49" charset="-122"/>
              </a:rPr>
              <a:t>   </a:t>
            </a:r>
            <a:r>
              <a:rPr lang="zh-CN" altLang="en-US" sz="3100" b="0" dirty="0">
                <a:solidFill>
                  <a:schemeClr val="tx1"/>
                </a:solidFill>
                <a:ea typeface="黑体" panose="02010609060101010101" pitchFamily="49" charset="-122"/>
              </a:rPr>
              <a:t>将</a:t>
            </a:r>
            <a:endParaRPr lang="zh-CN" altLang="en-US" sz="31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7" name="Object 3"/>
              <p:cNvSpPr txBox="1"/>
              <p:nvPr/>
            </p:nvSpPr>
            <p:spPr bwMode="auto">
              <a:xfrm>
                <a:off x="3369399" y="607760"/>
                <a:ext cx="1143000" cy="6793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38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9399" y="607760"/>
                <a:ext cx="1143000" cy="6793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108000" y="648363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展成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89" name="Object 5"/>
              <p:cNvSpPr txBox="1"/>
              <p:nvPr/>
            </p:nvSpPr>
            <p:spPr bwMode="auto">
              <a:xfrm>
                <a:off x="4876404" y="496209"/>
                <a:ext cx="1437781" cy="9139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38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76404" y="496209"/>
                <a:ext cx="1437781" cy="9139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1" name="Text Box 7"/>
          <p:cNvSpPr txBox="1">
            <a:spLocks noChangeArrowheads="1"/>
          </p:cNvSpPr>
          <p:nvPr/>
        </p:nvSpPr>
        <p:spPr bwMode="auto">
          <a:xfrm>
            <a:off x="1924639" y="1348705"/>
            <a:ext cx="121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2" name="Object 8"/>
              <p:cNvSpPr txBox="1"/>
              <p:nvPr/>
            </p:nvSpPr>
            <p:spPr bwMode="auto">
              <a:xfrm>
                <a:off x="2965581" y="1308602"/>
                <a:ext cx="3928538" cy="7276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39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65581" y="1308602"/>
                <a:ext cx="3928538" cy="7276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3" name="Object 9"/>
              <p:cNvSpPr txBox="1"/>
              <p:nvPr/>
            </p:nvSpPr>
            <p:spPr bwMode="auto">
              <a:xfrm>
                <a:off x="3571666" y="1982428"/>
                <a:ext cx="4893473" cy="7733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func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666" y="1982428"/>
                <a:ext cx="4893473" cy="7733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4" name="Object 10"/>
              <p:cNvSpPr txBox="1"/>
              <p:nvPr/>
            </p:nvSpPr>
            <p:spPr bwMode="auto">
              <a:xfrm>
                <a:off x="3571666" y="2613081"/>
                <a:ext cx="4366754" cy="8451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1" lang="en-US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kumimoji="1" lang="zh-CN" altLang="en-US" sz="2200" dirty="0">
                  <a:solidFill>
                    <a:prstClr val="black"/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39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666" y="2613081"/>
                <a:ext cx="4366754" cy="8451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5" name="Object 11"/>
              <p:cNvSpPr txBox="1"/>
              <p:nvPr/>
            </p:nvSpPr>
            <p:spPr bwMode="auto">
              <a:xfrm>
                <a:off x="3571666" y="3436237"/>
                <a:ext cx="1684865" cy="882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endChr m:val=""/>
                              <m:ctrlPr>
                                <a:rPr lang="zh-CN" altLang="en-US" sz="22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nor/>
                            </m:rPr>
                            <a:rPr lang="zh-CN" altLang="en-US" sz="2200" dirty="0">
                              <a:solidFill>
                                <a:srgbClr val="FFFFFF"/>
                              </a:solidFill>
                            </a:rPr>
                            <m:t> </m:t>
                          </m:r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/>
                            </m:mr>
                            <m:mr>
                              <m:e/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666" y="3436237"/>
                <a:ext cx="1684865" cy="882019"/>
              </a:xfrm>
              <a:prstGeom prst="rect">
                <a:avLst/>
              </a:prstGeom>
              <a:blipFill>
                <a:blip r:embed="rId12"/>
                <a:stretch>
                  <a:fillRect b="-472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98" name="Object 14"/>
              <p:cNvSpPr txBox="1"/>
              <p:nvPr/>
            </p:nvSpPr>
            <p:spPr bwMode="auto">
              <a:xfrm>
                <a:off x="4381298" y="3487989"/>
                <a:ext cx="687358" cy="808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398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1298" y="3487989"/>
                <a:ext cx="687358" cy="8089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3" name="Object 19"/>
              <p:cNvSpPr txBox="1"/>
              <p:nvPr/>
            </p:nvSpPr>
            <p:spPr bwMode="auto">
              <a:xfrm>
                <a:off x="3571666" y="5058190"/>
                <a:ext cx="7159625" cy="1003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d>
                            <m:d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2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sz="22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zh-CN" altLang="en-US" sz="220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π</m:t>
                                      </m:r>
                                    </m:num>
                                    <m:den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+⋯</m:t>
                          </m: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71666" y="5058190"/>
                <a:ext cx="7159625" cy="1003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4" name="Object 20"/>
              <p:cNvSpPr txBox="1"/>
              <p:nvPr/>
            </p:nvSpPr>
            <p:spPr bwMode="auto">
              <a:xfrm>
                <a:off x="7997595" y="5873474"/>
                <a:ext cx="2311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(−∞&lt;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&lt;+∞).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4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97595" y="5873474"/>
                <a:ext cx="2311400" cy="393700"/>
              </a:xfrm>
              <a:prstGeom prst="rect">
                <a:avLst/>
              </a:prstGeom>
              <a:blipFill>
                <a:blip r:embed="rId15"/>
                <a:stretch>
                  <a:fillRect l="-1847" b="-2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05" name="Text Box 21"/>
          <p:cNvSpPr txBox="1">
            <a:spLocks noChangeArrowheads="1"/>
          </p:cNvSpPr>
          <p:nvPr/>
        </p:nvSpPr>
        <p:spPr bwMode="auto">
          <a:xfrm>
            <a:off x="5745628" y="653344"/>
            <a:ext cx="179151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的幂级数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 Math" panose="02040503050406030204" pitchFamily="18" charset="0"/>
                <a:ea typeface="黑体" panose="02010609060101010101" pitchFamily="49" charset="-122"/>
                <a:cs typeface="+mn-cs"/>
              </a:rPr>
              <a:t>. 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6" name="Object 22"/>
              <p:cNvSpPr txBox="1"/>
              <p:nvPr/>
            </p:nvSpPr>
            <p:spPr bwMode="auto">
              <a:xfrm>
                <a:off x="4733258" y="3522848"/>
                <a:ext cx="18415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3258" y="3522848"/>
                <a:ext cx="1841500" cy="9271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7" name="Object 23"/>
              <p:cNvSpPr txBox="1"/>
              <p:nvPr/>
            </p:nvSpPr>
            <p:spPr bwMode="auto">
              <a:xfrm>
                <a:off x="6377974" y="3522848"/>
                <a:ext cx="236251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4!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7974" y="3522848"/>
                <a:ext cx="2362510" cy="9271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9" name="Object 25"/>
              <p:cNvSpPr txBox="1"/>
              <p:nvPr/>
            </p:nvSpPr>
            <p:spPr bwMode="auto">
              <a:xfrm>
                <a:off x="4573165" y="3720191"/>
                <a:ext cx="558711" cy="5619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9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3165" y="3720191"/>
                <a:ext cx="558711" cy="561941"/>
              </a:xfrm>
              <a:prstGeom prst="rect">
                <a:avLst/>
              </a:prstGeom>
              <a:blipFill>
                <a:blip r:embed="rId18"/>
                <a:stretch>
                  <a:fillRect l="-108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10" name="Object 26"/>
              <p:cNvSpPr txBox="1"/>
              <p:nvPr/>
            </p:nvSpPr>
            <p:spPr bwMode="auto">
              <a:xfrm>
                <a:off x="4043319" y="4364588"/>
                <a:ext cx="14859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6410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43319" y="4364588"/>
                <a:ext cx="1485900" cy="8509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11" name="Object 27"/>
              <p:cNvSpPr txBox="1"/>
              <p:nvPr/>
            </p:nvSpPr>
            <p:spPr bwMode="auto">
              <a:xfrm>
                <a:off x="5257964" y="4296118"/>
                <a:ext cx="180340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3!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11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57964" y="4296118"/>
                <a:ext cx="1803400" cy="9271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12" name="Object 28"/>
              <p:cNvSpPr txBox="1"/>
              <p:nvPr/>
            </p:nvSpPr>
            <p:spPr bwMode="auto">
              <a:xfrm>
                <a:off x="6877704" y="4285619"/>
                <a:ext cx="2362510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5!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zh-CN" altLang="en-US" sz="22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12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7704" y="4285619"/>
                <a:ext cx="2362510" cy="9271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93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01" grpId="0"/>
      <p:bldP spid="23" grpId="0"/>
      <p:bldP spid="22" grpId="0"/>
      <p:bldP spid="21" grpId="0"/>
      <p:bldP spid="16386" grpId="0"/>
      <p:bldP spid="16387" grpId="0"/>
      <p:bldP spid="16388" grpId="0"/>
      <p:bldP spid="16389" grpId="0"/>
      <p:bldP spid="16391" grpId="0" autoUpdateAnimBg="0"/>
      <p:bldP spid="16392" grpId="0"/>
      <p:bldP spid="16393" grpId="0"/>
      <p:bldP spid="16394" grpId="0"/>
      <p:bldP spid="16395" grpId="0"/>
      <p:bldP spid="16398" grpId="0"/>
      <p:bldP spid="16403" grpId="0"/>
      <p:bldP spid="16404" grpId="0"/>
      <p:bldP spid="16405" grpId="0"/>
      <p:bldP spid="16406" grpId="0"/>
      <p:bldP spid="16407" grpId="0"/>
      <p:bldP spid="16409" grpId="0"/>
      <p:bldP spid="16410" grpId="0"/>
      <p:bldP spid="16411" grpId="0"/>
      <p:bldP spid="164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27E31A8A-C119-4E6F-A33B-1606CB9CAC49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BCE0532-B522-AE33-5F45-96FF44E3EB8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2BCE0532-B522-AE33-5F45-96FF44E3EB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A34C9678-CB97-AFF1-7399-AC21362ACAF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id="{E944AD70-2131-C481-9524-7819177F7B70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id="{F62F93C3-3019-68C8-C7AC-DECBBD1E3A2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3B7F1594-5DDC-212E-4765-469C55C3B23B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87539" y="917575"/>
            <a:ext cx="1022751" cy="533400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endParaRPr lang="zh-CN" altLang="en-US" sz="280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1" name="Object 3"/>
              <p:cNvSpPr txBox="1"/>
              <p:nvPr/>
            </p:nvSpPr>
            <p:spPr bwMode="auto">
              <a:xfrm>
                <a:off x="3098570" y="679093"/>
                <a:ext cx="6330922" cy="15255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将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展成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的幂级数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741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8570" y="679093"/>
                <a:ext cx="6330922" cy="15255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193600" y="1821660"/>
            <a:ext cx="1143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15" name="Object 7"/>
              <p:cNvSpPr txBox="1"/>
              <p:nvPr/>
            </p:nvSpPr>
            <p:spPr bwMode="auto">
              <a:xfrm>
                <a:off x="3124990" y="1582982"/>
                <a:ext cx="388461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+3)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4990" y="1582982"/>
                <a:ext cx="3884613" cy="9271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6" name="Object 8"/>
              <p:cNvSpPr txBox="1"/>
              <p:nvPr/>
            </p:nvSpPr>
            <p:spPr bwMode="auto">
              <a:xfrm>
                <a:off x="6753491" y="1581609"/>
                <a:ext cx="2932113" cy="927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2(1+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2(3+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3491" y="1581609"/>
                <a:ext cx="2932113" cy="9271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7" name="Object 9"/>
              <p:cNvSpPr txBox="1"/>
              <p:nvPr/>
            </p:nvSpPr>
            <p:spPr bwMode="auto">
              <a:xfrm>
                <a:off x="3098031" y="2409654"/>
                <a:ext cx="2298699" cy="12581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</m:t>
                          </m:r>
                          <m:d>
                            <m:dPr>
                              <m:beg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1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8031" y="2409654"/>
                <a:ext cx="2298699" cy="12581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18" name="Object 10"/>
              <p:cNvSpPr txBox="1"/>
              <p:nvPr/>
            </p:nvSpPr>
            <p:spPr bwMode="auto">
              <a:xfrm>
                <a:off x="4169285" y="2829469"/>
                <a:ext cx="751299" cy="7789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0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0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41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9285" y="2829469"/>
                <a:ext cx="751299" cy="77891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5" name="Object 17"/>
              <p:cNvSpPr txBox="1"/>
              <p:nvPr/>
            </p:nvSpPr>
            <p:spPr bwMode="auto">
              <a:xfrm>
                <a:off x="3098031" y="3487414"/>
                <a:ext cx="7512814" cy="9717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                                          </m:t>
                          </m:r>
                          <m:f>
                            <m:fPr>
                              <m:ctrlPr>
                                <a:rPr lang="zh-CN" altLang="en-US" sz="22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5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8031" y="3487414"/>
                <a:ext cx="7512814" cy="97171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7" name="Object 19"/>
              <p:cNvSpPr txBox="1"/>
              <p:nvPr/>
            </p:nvSpPr>
            <p:spPr bwMode="auto">
              <a:xfrm>
                <a:off x="3995874" y="3486302"/>
                <a:ext cx="960438" cy="9717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5874" y="3486302"/>
                <a:ext cx="960438" cy="971717"/>
              </a:xfrm>
              <a:prstGeom prst="rect">
                <a:avLst/>
              </a:prstGeom>
              <a:blipFill>
                <a:blip r:embed="rId10"/>
                <a:stretch>
                  <a:fillRect r="-37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8" name="Object 20"/>
              <p:cNvSpPr txBox="1"/>
              <p:nvPr/>
            </p:nvSpPr>
            <p:spPr bwMode="auto">
              <a:xfrm>
                <a:off x="4987871" y="3448617"/>
                <a:ext cx="2078387" cy="9588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87871" y="3448617"/>
                <a:ext cx="2078387" cy="9588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9" name="Object 21"/>
              <p:cNvSpPr txBox="1"/>
              <p:nvPr/>
            </p:nvSpPr>
            <p:spPr bwMode="auto">
              <a:xfrm>
                <a:off x="6876795" y="3473490"/>
                <a:ext cx="3258138" cy="10706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6795" y="3473490"/>
                <a:ext cx="3258138" cy="10706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2" name="Object 24"/>
              <p:cNvSpPr txBox="1"/>
              <p:nvPr/>
            </p:nvSpPr>
            <p:spPr bwMode="auto">
              <a:xfrm>
                <a:off x="3178803" y="4488653"/>
                <a:ext cx="7861270" cy="9175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       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                                 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2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8803" y="4488653"/>
                <a:ext cx="7861270" cy="9175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3" name="Object 25"/>
              <p:cNvSpPr txBox="1"/>
              <p:nvPr/>
            </p:nvSpPr>
            <p:spPr bwMode="auto">
              <a:xfrm>
                <a:off x="3765298" y="4640571"/>
                <a:ext cx="457200" cy="4654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3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5298" y="4640571"/>
                <a:ext cx="457200" cy="465426"/>
              </a:xfrm>
              <a:prstGeom prst="rect">
                <a:avLst/>
              </a:prstGeom>
              <a:blipFill>
                <a:blip r:embed="rId14"/>
                <a:stretch>
                  <a:fillRect l="-1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4" name="Object 26"/>
              <p:cNvSpPr txBox="1"/>
              <p:nvPr/>
            </p:nvSpPr>
            <p:spPr bwMode="auto">
              <a:xfrm>
                <a:off x="3994215" y="4482805"/>
                <a:ext cx="1239483" cy="10866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4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4215" y="4482805"/>
                <a:ext cx="1239483" cy="108660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5" name="Object 27"/>
              <p:cNvSpPr txBox="1"/>
              <p:nvPr/>
            </p:nvSpPr>
            <p:spPr bwMode="auto">
              <a:xfrm>
                <a:off x="4962603" y="4447954"/>
                <a:ext cx="2057400" cy="965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5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2603" y="4447954"/>
                <a:ext cx="2057400" cy="9652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6" name="Object 28"/>
              <p:cNvSpPr txBox="1"/>
              <p:nvPr/>
            </p:nvSpPr>
            <p:spPr bwMode="auto">
              <a:xfrm>
                <a:off x="6876795" y="4471985"/>
                <a:ext cx="2906713" cy="766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+(−1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76795" y="4471985"/>
                <a:ext cx="2906713" cy="76642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7" name="Object 29"/>
              <p:cNvSpPr txBox="1"/>
              <p:nvPr/>
            </p:nvSpPr>
            <p:spPr bwMode="auto">
              <a:xfrm>
                <a:off x="3098031" y="5251266"/>
                <a:ext cx="5500660" cy="10283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(−1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+2</m:t>
                                  </m:r>
                                </m:sup>
                              </m:sSup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+3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7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8031" y="5251266"/>
                <a:ext cx="5500660" cy="102830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38" name="Object 30"/>
              <p:cNvSpPr txBox="1"/>
              <p:nvPr/>
            </p:nvSpPr>
            <p:spPr bwMode="auto">
              <a:xfrm>
                <a:off x="7609704" y="5525014"/>
                <a:ext cx="1930400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(−1&lt;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&lt;3).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8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09704" y="5525014"/>
                <a:ext cx="1930400" cy="393700"/>
              </a:xfrm>
              <a:prstGeom prst="rect">
                <a:avLst/>
              </a:prstGeom>
              <a:blipFill>
                <a:blip r:embed="rId19"/>
                <a:stretch>
                  <a:fillRect l="-1893" b="-2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40" name="Rectangle 32"/>
          <p:cNvSpPr>
            <a:spLocks noChangeArrowheads="1"/>
          </p:cNvSpPr>
          <p:nvPr/>
        </p:nvSpPr>
        <p:spPr bwMode="auto">
          <a:xfrm>
            <a:off x="7028667" y="2573023"/>
            <a:ext cx="1948998" cy="500835"/>
          </a:xfrm>
          <a:prstGeom prst="rect">
            <a:avLst/>
          </a:prstGeom>
          <a:solidFill>
            <a:srgbClr val="CDE9E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39" name="Object 31"/>
              <p:cNvSpPr txBox="1"/>
              <p:nvPr/>
            </p:nvSpPr>
            <p:spPr bwMode="auto">
              <a:xfrm>
                <a:off x="7138772" y="2568826"/>
                <a:ext cx="176530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&lt;2)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39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38772" y="2568826"/>
                <a:ext cx="1765300" cy="469900"/>
              </a:xfrm>
              <a:prstGeom prst="rect">
                <a:avLst/>
              </a:prstGeom>
              <a:blipFill>
                <a:blip r:embed="rId20"/>
                <a:stretch>
                  <a:fillRect l="-2069" r="-1724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2" name="Object 34"/>
              <p:cNvSpPr txBox="1"/>
              <p:nvPr/>
            </p:nvSpPr>
            <p:spPr bwMode="auto">
              <a:xfrm>
                <a:off x="4964721" y="2415938"/>
                <a:ext cx="2368293" cy="12068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d>
                            <m:dPr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      </m:t>
                          </m:r>
                          <m:d>
                            <m:dPr>
                              <m:beg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d>
                          <m: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42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64721" y="2415938"/>
                <a:ext cx="2368293" cy="120688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3" name="Object 35"/>
              <p:cNvSpPr txBox="1"/>
              <p:nvPr/>
            </p:nvSpPr>
            <p:spPr bwMode="auto">
              <a:xfrm>
                <a:off x="5991303" y="2830940"/>
                <a:ext cx="714376" cy="76412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43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1303" y="2830940"/>
                <a:ext cx="714376" cy="76412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46" name="Object 38"/>
              <p:cNvSpPr txBox="1"/>
              <p:nvPr/>
            </p:nvSpPr>
            <p:spPr bwMode="auto">
              <a:xfrm>
                <a:off x="3767289" y="3656574"/>
                <a:ext cx="463931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46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7289" y="3656574"/>
                <a:ext cx="463931" cy="482600"/>
              </a:xfrm>
              <a:prstGeom prst="rect">
                <a:avLst/>
              </a:prstGeom>
              <a:blipFill>
                <a:blip r:embed="rId23"/>
                <a:stretch>
                  <a:fillRect l="-13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447" name="Line 39"/>
          <p:cNvSpPr>
            <a:spLocks noChangeShapeType="1"/>
          </p:cNvSpPr>
          <p:nvPr/>
        </p:nvSpPr>
        <p:spPr bwMode="auto">
          <a:xfrm>
            <a:off x="7240422" y="4262611"/>
            <a:ext cx="2132441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48" name="Line 40"/>
          <p:cNvSpPr>
            <a:spLocks noChangeShapeType="1"/>
          </p:cNvSpPr>
          <p:nvPr/>
        </p:nvSpPr>
        <p:spPr bwMode="auto">
          <a:xfrm>
            <a:off x="7240422" y="5251266"/>
            <a:ext cx="2124821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49" name="Line 41"/>
          <p:cNvSpPr>
            <a:spLocks noChangeShapeType="1"/>
          </p:cNvSpPr>
          <p:nvPr/>
        </p:nvSpPr>
        <p:spPr bwMode="auto">
          <a:xfrm>
            <a:off x="3188490" y="4262611"/>
            <a:ext cx="457200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7450" name="Line 42"/>
          <p:cNvSpPr>
            <a:spLocks noChangeShapeType="1"/>
          </p:cNvSpPr>
          <p:nvPr/>
        </p:nvSpPr>
        <p:spPr bwMode="auto">
          <a:xfrm>
            <a:off x="3188490" y="5254233"/>
            <a:ext cx="457200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 Math" panose="02040503050406030204" pitchFamily="18" charset="0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69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7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7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7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/>
      <p:bldP spid="17411" grpId="0"/>
      <p:bldP spid="17414" grpId="0" autoUpdateAnimBg="0"/>
      <p:bldP spid="17415" grpId="0"/>
      <p:bldP spid="17416" grpId="0"/>
      <p:bldP spid="17417" grpId="0"/>
      <p:bldP spid="17418" grpId="0"/>
      <p:bldP spid="17425" grpId="0"/>
      <p:bldP spid="17427" grpId="0"/>
      <p:bldP spid="17428" grpId="0"/>
      <p:bldP spid="17429" grpId="0"/>
      <p:bldP spid="17432" grpId="0"/>
      <p:bldP spid="17433" grpId="0"/>
      <p:bldP spid="17434" grpId="0"/>
      <p:bldP spid="17435" grpId="0"/>
      <p:bldP spid="17436" grpId="0"/>
      <p:bldP spid="17437" grpId="0"/>
      <p:bldP spid="17438" grpId="0"/>
      <p:bldP spid="17439" grpId="0"/>
      <p:bldP spid="17442" grpId="0"/>
      <p:bldP spid="17443" grpId="0"/>
      <p:bldP spid="174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55716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cuilh纯白模板 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2063</TotalTime>
  <Words>2275</Words>
  <Application>Microsoft Office PowerPoint</Application>
  <PresentationFormat>宽屏</PresentationFormat>
  <Paragraphs>375</Paragraphs>
  <Slides>29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等线</vt:lpstr>
      <vt:lpstr>方正粗雅宋_GBK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Calisto MT</vt:lpstr>
      <vt:lpstr>Cambria Math</vt:lpstr>
      <vt:lpstr>cuilh纯白模板 </vt:lpstr>
      <vt:lpstr>PowerPoint 演示文稿</vt:lpstr>
      <vt:lpstr>PowerPoint 演示文稿</vt:lpstr>
      <vt:lpstr>PowerPoint 演示文稿</vt:lpstr>
      <vt:lpstr>PowerPoint 演示文稿</vt:lpstr>
      <vt:lpstr>一、泰勒级数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二、函数展开成幂级数 </vt:lpstr>
      <vt:lpstr>PowerPoint 演示文稿</vt:lpstr>
      <vt:lpstr>例1  将函数</vt:lpstr>
      <vt:lpstr>PowerPoint 演示文稿</vt:lpstr>
      <vt:lpstr>例2  将</vt:lpstr>
      <vt:lpstr>例3  将函数</vt:lpstr>
      <vt:lpstr>PowerPoint 演示文稿</vt:lpstr>
      <vt:lpstr>PowerPoint 演示文稿</vt:lpstr>
      <vt:lpstr>PowerPoint 演示文稿</vt:lpstr>
      <vt:lpstr>PowerPoint 演示文稿</vt:lpstr>
      <vt:lpstr>2. 间接展开法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    将</vt:lpstr>
      <vt:lpstr>例5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cui;崔丽鸿</dc:creator>
  <cp:lastModifiedBy>yang fan</cp:lastModifiedBy>
  <cp:revision>161</cp:revision>
  <dcterms:created xsi:type="dcterms:W3CDTF">2021-12-25T10:05:44Z</dcterms:created>
  <dcterms:modified xsi:type="dcterms:W3CDTF">2023-07-06T07:24:09Z</dcterms:modified>
</cp:coreProperties>
</file>