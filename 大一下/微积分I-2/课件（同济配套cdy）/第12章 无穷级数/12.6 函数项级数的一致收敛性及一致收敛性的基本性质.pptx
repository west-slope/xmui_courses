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40"/>
  </p:notesMasterIdLst>
  <p:handoutMasterIdLst>
    <p:handoutMasterId r:id="rId41"/>
  </p:handoutMasterIdLst>
  <p:sldIdLst>
    <p:sldId id="257" r:id="rId2"/>
    <p:sldId id="817" r:id="rId3"/>
    <p:sldId id="664" r:id="rId4"/>
    <p:sldId id="818" r:id="rId5"/>
    <p:sldId id="320" r:id="rId6"/>
    <p:sldId id="326" r:id="rId7"/>
    <p:sldId id="339" r:id="rId8"/>
    <p:sldId id="325" r:id="rId9"/>
    <p:sldId id="288" r:id="rId10"/>
    <p:sldId id="290" r:id="rId11"/>
    <p:sldId id="291" r:id="rId12"/>
    <p:sldId id="327" r:id="rId13"/>
    <p:sldId id="328" r:id="rId14"/>
    <p:sldId id="329" r:id="rId15"/>
    <p:sldId id="330" r:id="rId16"/>
    <p:sldId id="332" r:id="rId17"/>
    <p:sldId id="331" r:id="rId18"/>
    <p:sldId id="333" r:id="rId19"/>
    <p:sldId id="297" r:id="rId20"/>
    <p:sldId id="299" r:id="rId21"/>
    <p:sldId id="301" r:id="rId22"/>
    <p:sldId id="302" r:id="rId23"/>
    <p:sldId id="303" r:id="rId24"/>
    <p:sldId id="304" r:id="rId25"/>
    <p:sldId id="305" r:id="rId26"/>
    <p:sldId id="335" r:id="rId27"/>
    <p:sldId id="307" r:id="rId28"/>
    <p:sldId id="308" r:id="rId29"/>
    <p:sldId id="309" r:id="rId30"/>
    <p:sldId id="310" r:id="rId31"/>
    <p:sldId id="341" r:id="rId32"/>
    <p:sldId id="340" r:id="rId33"/>
    <p:sldId id="345" r:id="rId34"/>
    <p:sldId id="312" r:id="rId35"/>
    <p:sldId id="313" r:id="rId36"/>
    <p:sldId id="314" r:id="rId37"/>
    <p:sldId id="315" r:id="rId38"/>
    <p:sldId id="364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CDE9E1"/>
    <a:srgbClr val="0000FF"/>
    <a:srgbClr val="66CCFF"/>
    <a:srgbClr val="FFCCFF"/>
    <a:srgbClr val="0D1C8B"/>
    <a:srgbClr val="EBEBE9"/>
    <a:srgbClr val="B80808"/>
    <a:srgbClr val="FDF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62" d="100"/>
          <a:sy n="62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9514B11-9E78-22FE-32A0-5B6C2A7B07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93AA90-156C-7F20-E3EC-A2C3550A1D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39256-308D-4FA8-949F-1098CEDD3C4D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AA2029-A15D-976B-46AC-2ECD11B6D7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B8B15A-442C-7ABB-4FB4-E9D6341907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47503-C87C-4F54-8F37-43ECB626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438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9F598-82EE-436D-B150-EB1558806E64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B07F5-BBF0-4A37-9A07-BE1387BEF7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4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B07F5-BBF0-4A37-9A07-BE1387BEF7E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959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B07F5-BBF0-4A37-9A07-BE1387BEF7E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372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B07F5-BBF0-4A37-9A07-BE1387BEF7E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886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B07F5-BBF0-4A37-9A07-BE1387BEF7E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97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631AC6-574E-4E7A-8F76-10FE612D7262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5038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BB07F5-BBF0-4A37-9A07-BE1387BEF7EF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358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13511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474040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938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F0C001B6-A96F-B3A9-E9C1-211ECECE03C2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1FD5C2B-80CC-4EB4-4445-569808A40B9E}"/>
              </a:ext>
            </a:extLst>
          </p:cNvPr>
          <p:cNvSpPr/>
          <p:nvPr userDrawn="1"/>
        </p:nvSpPr>
        <p:spPr>
          <a:xfrm rot="2659048">
            <a:off x="10282913" y="196227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804926-6730-9BF3-40E9-AB322118FCC9}"/>
              </a:ext>
            </a:extLst>
          </p:cNvPr>
          <p:cNvSpPr/>
          <p:nvPr userDrawn="1"/>
        </p:nvSpPr>
        <p:spPr>
          <a:xfrm>
            <a:off x="476828" y="6435405"/>
            <a:ext cx="49584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函数项级数的一致收敛性及一致收敛级数的基本性质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F129D5-D7A9-55F1-4478-BB741FE2A153}"/>
              </a:ext>
            </a:extLst>
          </p:cNvPr>
          <p:cNvSpPr/>
          <p:nvPr userDrawn="1"/>
        </p:nvSpPr>
        <p:spPr>
          <a:xfrm>
            <a:off x="10601585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  级数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7FACFF9-6274-BCD8-1C36-041E7D32AD66}"/>
              </a:ext>
            </a:extLst>
          </p:cNvPr>
          <p:cNvCxnSpPr/>
          <p:nvPr userDrawn="1"/>
        </p:nvCxnSpPr>
        <p:spPr>
          <a:xfrm>
            <a:off x="0" y="276837"/>
            <a:ext cx="10024844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21EEE02-A556-22BE-8993-CFB4529BB495}"/>
              </a:ext>
            </a:extLst>
          </p:cNvPr>
          <p:cNvCxnSpPr/>
          <p:nvPr userDrawn="1"/>
        </p:nvCxnSpPr>
        <p:spPr>
          <a:xfrm>
            <a:off x="5520526" y="6581163"/>
            <a:ext cx="666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9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79" r:id="rId3"/>
  </p:sldLayoutIdLst>
  <p:transition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1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1.png"/><Relationship Id="rId7" Type="http://schemas.openxmlformats.org/officeDocument/2006/relationships/image" Target="../media/image1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4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7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7" Type="http://schemas.openxmlformats.org/officeDocument/2006/relationships/image" Target="../media/image43.png"/><Relationship Id="rId12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.jpeg"/><Relationship Id="rId1" Type="http://schemas.openxmlformats.org/officeDocument/2006/relationships/tags" Target="../tags/tag7.xml"/><Relationship Id="rId11" Type="http://schemas.openxmlformats.org/officeDocument/2006/relationships/image" Target="../media/image45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6.jpe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3.png"/><Relationship Id="rId12" Type="http://schemas.openxmlformats.org/officeDocument/2006/relationships/image" Target="../media/image9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02.png"/><Relationship Id="rId1" Type="http://schemas.openxmlformats.org/officeDocument/2006/relationships/tags" Target="../tags/tag1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93.png"/><Relationship Id="rId7" Type="http://schemas.openxmlformats.org/officeDocument/2006/relationships/image" Target="../media/image10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15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30.png"/><Relationship Id="rId1" Type="http://schemas.openxmlformats.org/officeDocument/2006/relationships/tags" Target="../tags/tag1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5" Type="http://schemas.openxmlformats.org/officeDocument/2006/relationships/image" Target="../media/image117.png"/><Relationship Id="rId10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33.png"/><Relationship Id="rId14" Type="http://schemas.openxmlformats.org/officeDocument/2006/relationships/image" Target="../media/image1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48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12" Type="http://schemas.openxmlformats.org/officeDocument/2006/relationships/image" Target="../media/image114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11" Type="http://schemas.openxmlformats.org/officeDocument/2006/relationships/image" Target="../media/image1130.png"/><Relationship Id="rId5" Type="http://schemas.openxmlformats.org/officeDocument/2006/relationships/image" Target="../media/image144.png"/><Relationship Id="rId10" Type="http://schemas.openxmlformats.org/officeDocument/2006/relationships/image" Target="../media/image1120.png"/><Relationship Id="rId4" Type="http://schemas.openxmlformats.org/officeDocument/2006/relationships/image" Target="../media/image143.png"/><Relationship Id="rId9" Type="http://schemas.openxmlformats.org/officeDocument/2006/relationships/image" Target="../media/image1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2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5" Type="http://schemas.openxmlformats.org/officeDocument/2006/relationships/image" Target="../media/image122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6.png"/><Relationship Id="rId3" Type="http://schemas.openxmlformats.org/officeDocument/2006/relationships/image" Target="../media/image320.png"/><Relationship Id="rId7" Type="http://schemas.openxmlformats.org/officeDocument/2006/relationships/image" Target="../media/image162.png"/><Relationship Id="rId12" Type="http://schemas.openxmlformats.org/officeDocument/2006/relationships/image" Target="../media/image13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11" Type="http://schemas.openxmlformats.org/officeDocument/2006/relationships/image" Target="../media/image128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24.png"/><Relationship Id="rId9" Type="http://schemas.openxmlformats.org/officeDocument/2006/relationships/image" Target="../media/image164.png"/><Relationship Id="rId14" Type="http://schemas.openxmlformats.org/officeDocument/2006/relationships/image" Target="../media/image16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0.png"/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0" Type="http://schemas.openxmlformats.org/officeDocument/2006/relationships/image" Target="../media/image176.png"/><Relationship Id="rId9" Type="http://schemas.openxmlformats.org/officeDocument/2006/relationships/image" Target="../media/image1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50.png"/><Relationship Id="rId9" Type="http://schemas.openxmlformats.org/officeDocument/2006/relationships/image" Target="../media/image1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200.png"/><Relationship Id="rId3" Type="http://schemas.openxmlformats.org/officeDocument/2006/relationships/image" Target="../media/image192.png"/><Relationship Id="rId7" Type="http://schemas.openxmlformats.org/officeDocument/2006/relationships/image" Target="../media/image156.png"/><Relationship Id="rId12" Type="http://schemas.openxmlformats.org/officeDocument/2006/relationships/slide" Target="slide21.xml"/><Relationship Id="rId2" Type="http://schemas.openxmlformats.org/officeDocument/2006/relationships/image" Target="../media/image310.png"/><Relationship Id="rId16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slide" Target="slide21.xml"/><Relationship Id="rId5" Type="http://schemas.openxmlformats.org/officeDocument/2006/relationships/image" Target="../media/image194.png"/><Relationship Id="rId15" Type="http://schemas.openxmlformats.org/officeDocument/2006/relationships/image" Target="../media/image202.png"/><Relationship Id="rId10" Type="http://schemas.openxmlformats.org/officeDocument/2006/relationships/image" Target="../media/image199.png"/><Relationship Id="rId4" Type="http://schemas.openxmlformats.org/officeDocument/2006/relationships/image" Target="../media/image193.png"/><Relationship Id="rId9" Type="http://schemas.openxmlformats.org/officeDocument/2006/relationships/image" Target="../media/image158.png"/><Relationship Id="rId14" Type="http://schemas.openxmlformats.org/officeDocument/2006/relationships/image" Target="../media/image20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20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0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2" Type="http://schemas.openxmlformats.org/officeDocument/2006/relationships/image" Target="../media/image217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16.png"/><Relationship Id="rId10" Type="http://schemas.openxmlformats.org/officeDocument/2006/relationships/image" Target="../media/image215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30.png"/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12" Type="http://schemas.openxmlformats.org/officeDocument/2006/relationships/image" Target="../media/image2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11" Type="http://schemas.openxmlformats.org/officeDocument/2006/relationships/image" Target="../media/image228.png"/><Relationship Id="rId5" Type="http://schemas.openxmlformats.org/officeDocument/2006/relationships/image" Target="../media/image159.png"/><Relationship Id="rId15" Type="http://schemas.openxmlformats.org/officeDocument/2006/relationships/image" Target="../media/image226.png"/><Relationship Id="rId10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166.png"/><Relationship Id="rId14" Type="http://schemas.openxmlformats.org/officeDocument/2006/relationships/image" Target="../media/image23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1090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1080.png"/><Relationship Id="rId2" Type="http://schemas.openxmlformats.org/officeDocument/2006/relationships/image" Target="../media/image310.png"/><Relationship Id="rId16" Type="http://schemas.openxmlformats.org/officeDocument/2006/relationships/image" Target="../media/image1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13" Type="http://schemas.openxmlformats.org/officeDocument/2006/relationships/image" Target="../media/image257.png"/><Relationship Id="rId3" Type="http://schemas.openxmlformats.org/officeDocument/2006/relationships/image" Target="../media/image247.png"/><Relationship Id="rId7" Type="http://schemas.openxmlformats.org/officeDocument/2006/relationships/image" Target="../media/image251.png"/><Relationship Id="rId12" Type="http://schemas.openxmlformats.org/officeDocument/2006/relationships/image" Target="../media/image25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11" Type="http://schemas.openxmlformats.org/officeDocument/2006/relationships/image" Target="../media/image255.png"/><Relationship Id="rId5" Type="http://schemas.openxmlformats.org/officeDocument/2006/relationships/image" Target="../media/image249.png"/><Relationship Id="rId15" Type="http://schemas.openxmlformats.org/officeDocument/2006/relationships/image" Target="../media/image259.png"/><Relationship Id="rId10" Type="http://schemas.openxmlformats.org/officeDocument/2006/relationships/image" Target="../media/image254.png"/><Relationship Id="rId4" Type="http://schemas.openxmlformats.org/officeDocument/2006/relationships/image" Target="../media/image248.png"/><Relationship Id="rId9" Type="http://schemas.openxmlformats.org/officeDocument/2006/relationships/image" Target="../media/image253.png"/><Relationship Id="rId14" Type="http://schemas.openxmlformats.org/officeDocument/2006/relationships/image" Target="../media/image25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170.png"/><Relationship Id="rId3" Type="http://schemas.openxmlformats.org/officeDocument/2006/relationships/image" Target="../media/image260.png"/><Relationship Id="rId7" Type="http://schemas.openxmlformats.org/officeDocument/2006/relationships/image" Target="../media/image264.png"/><Relationship Id="rId12" Type="http://schemas.openxmlformats.org/officeDocument/2006/relationships/image" Target="../media/image269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3.png"/><Relationship Id="rId11" Type="http://schemas.openxmlformats.org/officeDocument/2006/relationships/image" Target="../media/image268.png"/><Relationship Id="rId5" Type="http://schemas.openxmlformats.org/officeDocument/2006/relationships/image" Target="../media/image262.png"/><Relationship Id="rId10" Type="http://schemas.openxmlformats.org/officeDocument/2006/relationships/image" Target="../media/image167.png"/><Relationship Id="rId4" Type="http://schemas.openxmlformats.org/officeDocument/2006/relationships/image" Target="../media/image261.png"/><Relationship Id="rId9" Type="http://schemas.openxmlformats.org/officeDocument/2006/relationships/image" Target="../media/image26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11DBC-1FAD-4D97-B103-31706F53C01F}"/>
              </a:ext>
            </a:extLst>
          </p:cNvPr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2BA65-1B2C-CE34-028B-FCA681F8EFC2}"/>
              </a:ext>
            </a:extLst>
          </p:cNvPr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859A1D-2015-E6C4-DBAA-BDB4F78CEFFB}"/>
              </a:ext>
            </a:extLst>
          </p:cNvPr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DE570-5EFC-83BB-543D-6B7890B39460}"/>
              </a:ext>
            </a:extLst>
          </p:cNvPr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41">
            <a:extLst>
              <a:ext uri="{FF2B5EF4-FFF2-40B4-BE49-F238E27FC236}">
                <a16:creationId xmlns:a16="http://schemas.microsoft.com/office/drawing/2014/main" id="{BA081A6E-F0FD-CC45-A2F8-28A9B0F8152F}"/>
              </a:ext>
            </a:extLst>
          </p:cNvPr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39E9A1-D115-D6E9-AEFF-93FFA0F982D1}"/>
              </a:ext>
            </a:extLst>
          </p:cNvPr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8147C8-FA78-6091-71EB-8D15A6FAE435}"/>
              </a:ext>
            </a:extLst>
          </p:cNvPr>
          <p:cNvGrpSpPr/>
          <p:nvPr/>
        </p:nvGrpSpPr>
        <p:grpSpPr>
          <a:xfrm>
            <a:off x="1884680" y="4335145"/>
            <a:ext cx="3651250" cy="1964690"/>
            <a:chOff x="3663" y="6990"/>
            <a:chExt cx="5750" cy="3094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E85A41C6-30B9-B3F9-1E62-A61E73545F0F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755B60-959E-2695-E853-0342B63ACB01}"/>
                </a:ext>
              </a:extLst>
            </p:cNvPr>
            <p:cNvSpPr/>
            <p:nvPr/>
          </p:nvSpPr>
          <p:spPr>
            <a:xfrm>
              <a:off x="5550" y="6990"/>
              <a:ext cx="235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无穷级数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/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数项级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幂级数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傅里叶级数</m:t>
                        </m:r>
                      </m:oMath>
                    </m:oMathPara>
                  </a14:m>
                  <a:endPara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  <a:blipFill>
                  <a:blip r:embed="rId2"/>
                  <a:stretch>
                    <a:fillRect b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E137E18D-2152-43D5-A6A5-55E82208D544}"/>
              </a:ext>
            </a:extLst>
          </p:cNvPr>
          <p:cNvSpPr/>
          <p:nvPr/>
        </p:nvSpPr>
        <p:spPr>
          <a:xfrm>
            <a:off x="3713480" y="884555"/>
            <a:ext cx="47650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6E014E-1D5B-2618-C27C-5E330C0A1D54}"/>
              </a:ext>
            </a:extLst>
          </p:cNvPr>
          <p:cNvGrpSpPr/>
          <p:nvPr/>
        </p:nvGrpSpPr>
        <p:grpSpPr>
          <a:xfrm>
            <a:off x="5960745" y="4340235"/>
            <a:ext cx="3651250" cy="1959610"/>
            <a:chOff x="3614" y="6990"/>
            <a:chExt cx="5750" cy="3086"/>
          </a:xfrm>
        </p:grpSpPr>
        <p:sp>
          <p:nvSpPr>
            <p:cNvPr id="30" name="矩形: 圆角 40">
              <a:extLst>
                <a:ext uri="{FF2B5EF4-FFF2-40B4-BE49-F238E27FC236}">
                  <a16:creationId xmlns:a16="http://schemas.microsoft.com/office/drawing/2014/main" id="{D9697280-8F51-BD3F-7928-2BC100FE3446}"/>
                </a:ext>
              </a:extLst>
            </p:cNvPr>
            <p:cNvSpPr/>
            <p:nvPr/>
          </p:nvSpPr>
          <p:spPr>
            <a:xfrm rot="16200000" flipV="1">
              <a:off x="5156" y="5868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50B897-3868-FEF2-FFDB-E9C9F17958B6}"/>
                </a:ext>
              </a:extLst>
            </p:cNvPr>
            <p:cNvSpPr/>
            <p:nvPr/>
          </p:nvSpPr>
          <p:spPr>
            <a:xfrm>
              <a:off x="4838" y="6990"/>
              <a:ext cx="37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研究函数的工具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9C995D-EA69-9AF7-84B2-4A1496C4F73E}"/>
                </a:ext>
              </a:extLst>
            </p:cNvPr>
            <p:cNvSpPr/>
            <p:nvPr/>
          </p:nvSpPr>
          <p:spPr>
            <a:xfrm>
              <a:off x="5324" y="7935"/>
              <a:ext cx="2803" cy="18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表示函数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数值计算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C6063-7660-654F-9C1E-E094B591762F}"/>
              </a:ext>
            </a:extLst>
          </p:cNvPr>
          <p:cNvSpPr/>
          <p:nvPr/>
        </p:nvSpPr>
        <p:spPr>
          <a:xfrm>
            <a:off x="945202" y="2326548"/>
            <a:ext cx="4767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常数项级数的概念和性质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BB7C3-377F-6F44-BF79-2630D53C23F2}"/>
              </a:ext>
            </a:extLst>
          </p:cNvPr>
          <p:cNvSpPr/>
          <p:nvPr/>
        </p:nvSpPr>
        <p:spPr>
          <a:xfrm>
            <a:off x="945202" y="3187197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幂级数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A59EBE-FB23-8945-A07D-4636B842A383}"/>
              </a:ext>
            </a:extLst>
          </p:cNvPr>
          <p:cNvSpPr/>
          <p:nvPr/>
        </p:nvSpPr>
        <p:spPr>
          <a:xfrm>
            <a:off x="6146076" y="2326548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常数项级数的审敛法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77DC3F-7586-3543-B3CA-DB69D78A3711}"/>
              </a:ext>
            </a:extLst>
          </p:cNvPr>
          <p:cNvSpPr/>
          <p:nvPr/>
        </p:nvSpPr>
        <p:spPr>
          <a:xfrm>
            <a:off x="6146076" y="3188487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函数展开成幂级数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115371-884C-1342-8914-73E090F41BA7}"/>
              </a:ext>
            </a:extLst>
          </p:cNvPr>
          <p:cNvSpPr/>
          <p:nvPr/>
        </p:nvSpPr>
        <p:spPr>
          <a:xfrm>
            <a:off x="945202" y="4047845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函数的幂级数展开式的应用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8E4ABC-4FE6-B24F-927F-6ADBAFAA1731}"/>
              </a:ext>
            </a:extLst>
          </p:cNvPr>
          <p:cNvSpPr/>
          <p:nvPr/>
        </p:nvSpPr>
        <p:spPr>
          <a:xfrm>
            <a:off x="6146076" y="3930399"/>
            <a:ext cx="55322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     </a:t>
            </a:r>
            <a:endParaRPr lang="en-US" altLang="zh-CN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    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一致收敛级数的基本性质  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DAA95B-470C-074B-A0FA-40B8C9BD35CB}"/>
              </a:ext>
            </a:extLst>
          </p:cNvPr>
          <p:cNvSpPr/>
          <p:nvPr/>
        </p:nvSpPr>
        <p:spPr>
          <a:xfrm>
            <a:off x="945202" y="5482852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傅里叶级数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57F56C-092B-1546-9C56-0C4A1E985B15}"/>
              </a:ext>
            </a:extLst>
          </p:cNvPr>
          <p:cNvSpPr/>
          <p:nvPr/>
        </p:nvSpPr>
        <p:spPr>
          <a:xfrm>
            <a:off x="6146076" y="5482852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一般周期函数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的傅里叶级数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618947-F17D-034C-8CE1-58F913A4C706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1648268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2075379"/>
            <a:ext cx="11536045" cy="409939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2864988" y="552783"/>
            <a:ext cx="6462025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</a:t>
            </a:r>
            <a:r>
              <a:rPr kumimoji="1"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rPr>
              <a:t>函数项级数的一致收敛性及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+mn-ea"/>
                <a:sym typeface="+mn-lt"/>
              </a:rPr>
              <a:t>        一致收敛级数的基本性质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03A1013-9E23-564F-B39E-B9737CB81803}"/>
              </a:ext>
            </a:extLst>
          </p:cNvPr>
          <p:cNvGrpSpPr/>
          <p:nvPr/>
        </p:nvGrpSpPr>
        <p:grpSpPr>
          <a:xfrm>
            <a:off x="3422925" y="2470274"/>
            <a:ext cx="5346150" cy="901065"/>
            <a:chOff x="3376753" y="2223698"/>
            <a:chExt cx="5346150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8"/>
              <a:ext cx="5346150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latin typeface="+mj-ea"/>
                  <a:ea typeface="+mj-ea"/>
                </a:rPr>
                <a:t>引例</a:t>
              </a:r>
              <a:endParaRPr lang="zh-CN" altLang="en-US" sz="2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D87A6B5-D72E-204A-939F-C500EC9F2155}"/>
              </a:ext>
            </a:extLst>
          </p:cNvPr>
          <p:cNvGrpSpPr/>
          <p:nvPr/>
        </p:nvGrpSpPr>
        <p:grpSpPr>
          <a:xfrm>
            <a:off x="3422925" y="3694864"/>
            <a:ext cx="5346150" cy="901065"/>
            <a:chOff x="3376754" y="3448288"/>
            <a:chExt cx="5346150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88"/>
              <a:ext cx="5346150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48526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ea"/>
                  <a:sym typeface="+mn-lt"/>
                </a:rPr>
                <a:t>函数项级数的一致收敛性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500E83-8E6F-4043-9B35-D6F61672086E}"/>
              </a:ext>
            </a:extLst>
          </p:cNvPr>
          <p:cNvGrpSpPr/>
          <p:nvPr/>
        </p:nvGrpSpPr>
        <p:grpSpPr>
          <a:xfrm>
            <a:off x="3422925" y="4910825"/>
            <a:ext cx="5346150" cy="901065"/>
            <a:chOff x="3376753" y="4664249"/>
            <a:chExt cx="5346150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3" y="4664249"/>
              <a:ext cx="5346150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496001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ea"/>
                  <a:ea typeface="+mj-ea"/>
                  <a:cs typeface="+mn-ea"/>
                  <a:sym typeface="+mn-lt"/>
                </a:rPr>
                <a:t>一致收敛级数的基本性质 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15204296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73D6F98-BA61-EAE1-049C-7F5A2343B2C0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740A7346-04FA-103B-E153-89E5F079D3D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FDAB02B-39E5-A726-6663-456F4F497F4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733024E1-EF33-3049-995C-DD41C356C424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05C8ED82-7627-4442-1F58-DAEB4A616E86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5812A071-E8B6-08C1-C03B-7B08AE0B800A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8961" y="941594"/>
            <a:ext cx="2669639" cy="63341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一、引例</a:t>
            </a:r>
            <a:endParaRPr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34"/>
              <p:cNvSpPr txBox="1">
                <a:spLocks noChangeArrowheads="1"/>
              </p:cNvSpPr>
              <p:nvPr/>
            </p:nvSpPr>
            <p:spPr bwMode="auto">
              <a:xfrm>
                <a:off x="2177561" y="1589990"/>
                <a:ext cx="82232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幂级数在其收敛区间内有几个非常好的性质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例如</a:t>
                </a:r>
              </a:p>
            </p:txBody>
          </p:sp>
        </mc:Choice>
        <mc:Fallback xmlns="">
          <p:sp>
            <p:nvSpPr>
              <p:cNvPr id="5" name="Text Box 2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7561" y="1589990"/>
                <a:ext cx="8223250" cy="523220"/>
              </a:xfrm>
              <a:prstGeom prst="rect">
                <a:avLst/>
              </a:prstGeom>
              <a:blipFill>
                <a:blip r:embed="rId3"/>
                <a:stretch>
                  <a:fillRect l="-1483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40"/>
              <p:cNvSpPr txBox="1">
                <a:spLocks noChangeArrowheads="1"/>
              </p:cNvSpPr>
              <p:nvPr/>
            </p:nvSpPr>
            <p:spPr bwMode="auto">
              <a:xfrm>
                <a:off x="2177561" y="2281760"/>
                <a:ext cx="5638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4926A"/>
                    </a:solidFill>
                    <a:latin typeface="+mn-ea"/>
                  </a:rPr>
                  <a:t>1. </a:t>
                </a:r>
                <a:r>
                  <a:rPr lang="zh-CN" altLang="en-US" sz="2800" b="1" dirty="0">
                    <a:solidFill>
                      <a:srgbClr val="04926A"/>
                    </a:solidFill>
                    <a:latin typeface="+mn-ea"/>
                  </a:rPr>
                  <a:t>和函数在其收敛区间内连续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6" name="Text Box 2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7561" y="2281760"/>
                <a:ext cx="5638800" cy="523220"/>
              </a:xfrm>
              <a:prstGeom prst="rect">
                <a:avLst/>
              </a:prstGeom>
              <a:blipFill>
                <a:blip r:embed="rId4"/>
                <a:stretch>
                  <a:fillRect l="-2162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41"/>
              <p:cNvSpPr txBox="1">
                <a:spLocks noChangeArrowheads="1"/>
              </p:cNvSpPr>
              <p:nvPr/>
            </p:nvSpPr>
            <p:spPr bwMode="auto">
              <a:xfrm>
                <a:off x="2177561" y="2978416"/>
                <a:ext cx="5638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4926A"/>
                    </a:solidFill>
                    <a:latin typeface="+mn-ea"/>
                  </a:rPr>
                  <a:t>2. </a:t>
                </a:r>
                <a:r>
                  <a:rPr lang="zh-CN" altLang="en-US" sz="2800" b="1" dirty="0">
                    <a:solidFill>
                      <a:srgbClr val="04926A"/>
                    </a:solidFill>
                    <a:latin typeface="+mn-ea"/>
                  </a:rPr>
                  <a:t>逐项求导等于和函数求导</a:t>
                </a:r>
                <a14:m>
                  <m:oMath xmlns:m="http://schemas.openxmlformats.org/officeDocument/2006/math">
                    <m:r>
                      <a:rPr lang="en-US" altLang="zh-CN" sz="2800" b="1" dirty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7" name="Text Box 2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7561" y="2978416"/>
                <a:ext cx="5638800" cy="523220"/>
              </a:xfrm>
              <a:prstGeom prst="rect">
                <a:avLst/>
              </a:prstGeom>
              <a:blipFill>
                <a:blip r:embed="rId5"/>
                <a:stretch>
                  <a:fillRect l="-2162"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42"/>
              <p:cNvSpPr txBox="1">
                <a:spLocks noChangeArrowheads="1"/>
              </p:cNvSpPr>
              <p:nvPr/>
            </p:nvSpPr>
            <p:spPr bwMode="auto">
              <a:xfrm>
                <a:off x="2177561" y="3645263"/>
                <a:ext cx="5638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04926A"/>
                    </a:solidFill>
                    <a:latin typeface="+mn-ea"/>
                  </a:rPr>
                  <a:t>3. </a:t>
                </a:r>
                <a:r>
                  <a:rPr lang="zh-CN" altLang="en-US" sz="2800" b="1" dirty="0">
                    <a:solidFill>
                      <a:srgbClr val="04926A"/>
                    </a:solidFill>
                    <a:latin typeface="+mn-ea"/>
                  </a:rPr>
                  <a:t>逐项积分等于和函数积分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4926A"/>
                        </a:solidFill>
                        <a:latin typeface="+mn-ea"/>
                      </a:rPr>
                      <m:t>.</m:t>
                    </m:r>
                  </m:oMath>
                </a14:m>
                <a:endParaRPr lang="zh-CN" altLang="en-US" sz="2800" b="1" dirty="0">
                  <a:solidFill>
                    <a:srgbClr val="04926A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8" name="Text Box 2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7561" y="3645263"/>
                <a:ext cx="5638800" cy="523220"/>
              </a:xfrm>
              <a:prstGeom prst="rect">
                <a:avLst/>
              </a:prstGeom>
              <a:blipFill>
                <a:blip r:embed="rId6"/>
                <a:stretch>
                  <a:fillRect l="-2162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43"/>
              <p:cNvSpPr txBox="1">
                <a:spLocks noChangeArrowheads="1"/>
              </p:cNvSpPr>
              <p:nvPr/>
            </p:nvSpPr>
            <p:spPr bwMode="auto">
              <a:xfrm>
                <a:off x="2177561" y="4355435"/>
                <a:ext cx="8382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那么对一般的函数项级数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是否也具有以上这些性质</a:t>
                </a:r>
              </a:p>
            </p:txBody>
          </p:sp>
        </mc:Choice>
        <mc:Fallback xmlns="">
          <p:sp>
            <p:nvSpPr>
              <p:cNvPr id="9" name="Text Box 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7561" y="4355435"/>
                <a:ext cx="8382000" cy="523220"/>
              </a:xfrm>
              <a:prstGeom prst="rect">
                <a:avLst/>
              </a:prstGeom>
              <a:blipFill>
                <a:blip r:embed="rId7"/>
                <a:stretch>
                  <a:fillRect l="-1455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44"/>
              <p:cNvSpPr txBox="1">
                <a:spLocks noChangeArrowheads="1"/>
              </p:cNvSpPr>
              <p:nvPr/>
            </p:nvSpPr>
            <p:spPr bwMode="auto">
              <a:xfrm>
                <a:off x="2177561" y="5007107"/>
                <a:ext cx="12065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呢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  <a:sym typeface="+mn-ea"/>
                      </a:rPr>
                      <m:t>?</m:t>
                    </m:r>
                  </m:oMath>
                </a14:m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Text Box 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7561" y="5007107"/>
                <a:ext cx="1206500" cy="523220"/>
              </a:xfrm>
              <a:prstGeom prst="rect">
                <a:avLst/>
              </a:prstGeom>
              <a:blipFill>
                <a:blip r:embed="rId8"/>
                <a:stretch>
                  <a:fillRect l="-10101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45"/>
              <p:cNvSpPr txBox="1">
                <a:spLocks noChangeArrowheads="1"/>
              </p:cNvSpPr>
              <p:nvPr/>
            </p:nvSpPr>
            <p:spPr bwMode="auto">
              <a:xfrm>
                <a:off x="2780811" y="5006921"/>
                <a:ext cx="3886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下面先看下面的例子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Text Box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0811" y="5006921"/>
                <a:ext cx="3886200" cy="523220"/>
              </a:xfrm>
              <a:prstGeom prst="rect">
                <a:avLst/>
              </a:prstGeom>
              <a:blipFill>
                <a:blip r:embed="rId9"/>
                <a:stretch>
                  <a:fillRect l="-3135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2062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424D5EC-7C38-5585-50D5-883E665DE936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A9A339F-CCD6-8BB9-DFC1-27ECDB0E37B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A9A339F-CCD6-8BB9-DFC1-27ECDB0E37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96C292DA-C136-B65C-AB72-127AA7DCB15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A777514B-E445-D57E-C542-D820F5383C2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C28CB62-4C0B-6698-D487-E041847292CD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DCD0C617-2A95-2651-86FF-493DB66284AA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1236785" y="295476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0" name="Object 14"/>
              <p:cNvSpPr txBox="1"/>
              <p:nvPr/>
            </p:nvSpPr>
            <p:spPr bwMode="auto">
              <a:xfrm>
                <a:off x="2168760" y="3720868"/>
                <a:ext cx="30480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且前</m:t>
                      </m:r>
                      <m:r>
                        <a:rPr lang="en-US" altLang="zh-CN" sz="22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项和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760" y="3720868"/>
                <a:ext cx="3048000" cy="457200"/>
              </a:xfrm>
              <a:prstGeom prst="rect">
                <a:avLst/>
              </a:prstGeom>
              <a:blipFill>
                <a:blip r:embed="rId3"/>
                <a:stretch>
                  <a:fillRect l="-1000" b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1" name="Text Box 15"/>
              <p:cNvSpPr txBox="1">
                <a:spLocks noChangeArrowheads="1"/>
              </p:cNvSpPr>
              <p:nvPr/>
            </p:nvSpPr>
            <p:spPr bwMode="auto">
              <a:xfrm>
                <a:off x="4979806" y="3753207"/>
                <a:ext cx="24384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得和函数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9806" y="3753207"/>
                <a:ext cx="2438400" cy="430887"/>
              </a:xfrm>
              <a:prstGeom prst="rect">
                <a:avLst/>
              </a:prstGeom>
              <a:blipFill>
                <a:blip r:embed="rId4"/>
                <a:stretch>
                  <a:fillRect l="-3250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3" name="Text Box 17"/>
              <p:cNvSpPr txBox="1">
                <a:spLocks noChangeArrowheads="1"/>
              </p:cNvSpPr>
              <p:nvPr/>
            </p:nvSpPr>
            <p:spPr bwMode="auto">
              <a:xfrm>
                <a:off x="2168760" y="2996091"/>
                <a:ext cx="62484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因为该级数每一项都在</a:t>
                </a:r>
                <a:r>
                  <a:rPr lang="en-US" altLang="zh-CN" sz="2200" dirty="0"/>
                  <a:t>[0,1]</a:t>
                </a:r>
                <a:r>
                  <a:rPr lang="zh-CN" altLang="en-US" sz="2200" dirty="0"/>
                  <a:t>是连续的</a:t>
                </a:r>
                <a14:m>
                  <m:oMath xmlns:m="http://schemas.openxmlformats.org/officeDocument/2006/math">
                    <m:r>
                      <a:rPr kumimoji="1" lang="en-US" altLang="zh-CN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760" y="2996091"/>
                <a:ext cx="6248400" cy="430887"/>
              </a:xfrm>
              <a:prstGeom prst="rect">
                <a:avLst/>
              </a:prstGeom>
              <a:blipFill>
                <a:blip r:embed="rId5"/>
                <a:stretch>
                  <a:fillRect l="-1268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7" name="Object 21"/>
              <p:cNvSpPr txBox="1"/>
              <p:nvPr/>
            </p:nvSpPr>
            <p:spPr bwMode="auto">
              <a:xfrm>
                <a:off x="2168760" y="4221048"/>
                <a:ext cx="6496937" cy="14436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&amp;0,  0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&amp;1,  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760" y="4221048"/>
                <a:ext cx="6496937" cy="14436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8" name="Object 22"/>
              <p:cNvSpPr txBox="1"/>
              <p:nvPr/>
            </p:nvSpPr>
            <p:spPr bwMode="auto">
              <a:xfrm>
                <a:off x="2168760" y="5492614"/>
                <a:ext cx="4114800" cy="430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和函数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处间断</m:t>
                      </m:r>
                      <m:r>
                        <m:rPr>
                          <m:nor/>
                        </m:rPr>
                        <a:rPr kumimoji="1" lang="zh-CN" altLang="en-US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760" y="5492614"/>
                <a:ext cx="4114800" cy="430213"/>
              </a:xfrm>
              <a:prstGeom prst="rect">
                <a:avLst/>
              </a:prstGeom>
              <a:blipFill>
                <a:blip r:embed="rId7"/>
                <a:stretch>
                  <a:fillRect l="-1037"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1236785" y="1007996"/>
            <a:ext cx="76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2168760" y="991956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考察函数项级数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1" name="Object 25"/>
              <p:cNvSpPr txBox="1"/>
              <p:nvPr/>
            </p:nvSpPr>
            <p:spPr bwMode="auto">
              <a:xfrm>
                <a:off x="2168760" y="1587487"/>
                <a:ext cx="9082575" cy="595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760" y="1587487"/>
                <a:ext cx="9082575" cy="5953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2" name="Text Box 26"/>
              <p:cNvSpPr txBox="1">
                <a:spLocks noChangeArrowheads="1"/>
              </p:cNvSpPr>
              <p:nvPr/>
            </p:nvSpPr>
            <p:spPr bwMode="auto">
              <a:xfrm>
                <a:off x="2168760" y="2196869"/>
                <a:ext cx="4648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/>
                  <a:t>和函数的连续性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760" y="2196869"/>
                <a:ext cx="4648200" cy="519113"/>
              </a:xfrm>
              <a:prstGeom prst="rect">
                <a:avLst/>
              </a:prstGeom>
              <a:blipFill>
                <a:blip r:embed="rId9"/>
                <a:stretch>
                  <a:fillRect l="-2756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AutoShape 7">
                <a:extLst>
                  <a:ext uri="{FF2B5EF4-FFF2-40B4-BE49-F238E27FC236}">
                    <a16:creationId xmlns:a16="http://schemas.microsoft.com/office/drawing/2014/main" id="{6EA06B0E-575C-3EC3-A10E-078A21CC7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8098" y="3766368"/>
                <a:ext cx="2909595" cy="1443693"/>
              </a:xfrm>
              <a:prstGeom prst="wedgeRectCallout">
                <a:avLst>
                  <a:gd name="adj1" fmla="val -66803"/>
                  <a:gd name="adj2" fmla="val 27126"/>
                </a:avLst>
              </a:prstGeom>
              <a:solidFill>
                <a:srgbClr val="04926A">
                  <a:alpha val="42000"/>
                </a:srgbClr>
              </a:solidFill>
              <a:ln w="12700">
                <a:noFill/>
                <a:miter lim="800000"/>
              </a:ln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800" b="1" dirty="0"/>
                  <a:t>即每一项连续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en-US" altLang="zh-CN" sz="2800" b="1" dirty="0"/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b="1" dirty="0"/>
                  <a:t>但和函数不连续</a:t>
                </a:r>
                <a:r>
                  <a:rPr lang="zh-CN" altLang="en-US" sz="2800" dirty="0"/>
                  <a:t>！</a:t>
                </a:r>
              </a:p>
            </p:txBody>
          </p:sp>
        </mc:Choice>
        <mc:Fallback xmlns="">
          <p:sp>
            <p:nvSpPr>
              <p:cNvPr id="2" name="AutoShape 7">
                <a:extLst>
                  <a:ext uri="{FF2B5EF4-FFF2-40B4-BE49-F238E27FC236}">
                    <a16:creationId xmlns:a16="http://schemas.microsoft.com/office/drawing/2014/main" id="{6EA06B0E-575C-3EC3-A10E-078A21CC7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08098" y="3766368"/>
                <a:ext cx="2909595" cy="1443693"/>
              </a:xfrm>
              <a:prstGeom prst="wedgeRectCallout">
                <a:avLst>
                  <a:gd name="adj1" fmla="val -66803"/>
                  <a:gd name="adj2" fmla="val 27126"/>
                </a:avLst>
              </a:prstGeom>
              <a:blipFill>
                <a:blip r:embed="rId10"/>
                <a:stretch>
                  <a:fillRect r="-7335" b="-1688"/>
                </a:stretch>
              </a:blipFill>
              <a:ln w="12700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36355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7" grpId="0" autoUpdateAnimBg="0"/>
      <p:bldP spid="9230" grpId="0"/>
      <p:bldP spid="9231" grpId="0" autoUpdateAnimBg="0"/>
      <p:bldP spid="9233" grpId="0" autoUpdateAnimBg="0"/>
      <p:bldP spid="9237" grpId="0"/>
      <p:bldP spid="9238" grpId="0"/>
      <p:bldP spid="9239" grpId="0"/>
      <p:bldP spid="9240" grpId="0"/>
      <p:bldP spid="9241" grpId="0"/>
      <p:bldP spid="9242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0DC46E4-2ABF-EE68-8847-2DEF1E99A6D4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9AA8F1C-1F2E-F4BF-8CF9-E3A815CF1E8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9AA8F1C-1F2E-F4BF-8CF9-E3A815CF1E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ACADC399-AFAB-0142-4AB4-9216DFC2B69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AEBBB15-CB9E-57B5-F94F-F4275EFB843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73E79C9D-E7F2-A16C-F06D-433A82734DA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13123B2-CFE4-1860-55DB-B1F6364FD092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226" name="Text Box 186"/>
              <p:cNvSpPr txBox="1">
                <a:spLocks noChangeArrowheads="1"/>
              </p:cNvSpPr>
              <p:nvPr/>
            </p:nvSpPr>
            <p:spPr bwMode="auto">
              <a:xfrm>
                <a:off x="2352693" y="3356110"/>
                <a:ext cx="258006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因为对任意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都有</a:t>
                </a:r>
                <a:r>
                  <a:rPr kumimoji="1"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87226" name="Text Box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93" y="3356110"/>
                <a:ext cx="2580065" cy="430887"/>
              </a:xfrm>
              <a:prstGeom prst="rect">
                <a:avLst/>
              </a:prstGeom>
              <a:blipFill>
                <a:blip r:embed="rId3"/>
                <a:stretch>
                  <a:fillRect l="-3073" t="-14286" r="-2128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227" name="Object 187"/>
              <p:cNvSpPr txBox="1"/>
              <p:nvPr/>
            </p:nvSpPr>
            <p:spPr bwMode="auto">
              <a:xfrm>
                <a:off x="4663509" y="3083965"/>
                <a:ext cx="5320811" cy="993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func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7227" name="Object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3509" y="3083965"/>
                <a:ext cx="5320811" cy="993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228" name="Text Box 188"/>
              <p:cNvSpPr txBox="1">
                <a:spLocks noChangeArrowheads="1"/>
              </p:cNvSpPr>
              <p:nvPr/>
            </p:nvSpPr>
            <p:spPr bwMode="auto">
              <a:xfrm>
                <a:off x="2352693" y="4054634"/>
                <a:ext cx="38763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200" dirty="0"/>
                  <a:t>所以它的收敛域为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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</a:rPr>
                  <a:t>, </a:t>
                </a:r>
                <a:r>
                  <a:rPr kumimoji="1" lang="en-US" altLang="zh-CN" sz="2800" dirty="0">
                    <a:latin typeface="Cambria Math" panose="02040503050406030204" charset="0"/>
                    <a:ea typeface="黑体" panose="02010609060101010101" pitchFamily="49" charset="-122"/>
                    <a:cs typeface="Cambria Math" panose="02040503050406030204" charset="0"/>
                    <a:sym typeface="Symbol" panose="05050102010706020507" pitchFamily="18" charset="2"/>
                  </a:rPr>
                  <a:t>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kumimoji="1" lang="en-US" altLang="zh-CN" sz="2200" dirty="0"/>
              </a:p>
            </p:txBody>
          </p:sp>
        </mc:Choice>
        <mc:Fallback xmlns="">
          <p:sp>
            <p:nvSpPr>
              <p:cNvPr id="87228" name="Text Box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93" y="4054634"/>
                <a:ext cx="3876382" cy="523220"/>
              </a:xfrm>
              <a:prstGeom prst="rect">
                <a:avLst/>
              </a:prstGeom>
              <a:blipFill>
                <a:blip r:embed="rId5"/>
                <a:stretch>
                  <a:fillRect l="-2044" t="-11628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229" name="Text Box 189"/>
          <p:cNvSpPr txBox="1">
            <a:spLocks noChangeArrowheads="1"/>
          </p:cNvSpPr>
          <p:nvPr/>
        </p:nvSpPr>
        <p:spPr bwMode="auto">
          <a:xfrm>
            <a:off x="6038750" y="4111741"/>
            <a:ext cx="28648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/>
              <a:t>但逐项求导后的级数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230" name="Object 190"/>
              <p:cNvSpPr txBox="1"/>
              <p:nvPr/>
            </p:nvSpPr>
            <p:spPr bwMode="auto">
              <a:xfrm>
                <a:off x="2845690" y="4705060"/>
                <a:ext cx="49530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7230" name="Object 1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690" y="4705060"/>
                <a:ext cx="4953000" cy="469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232" name="Text Box 192"/>
          <p:cNvSpPr txBox="1">
            <a:spLocks noChangeArrowheads="1"/>
          </p:cNvSpPr>
          <p:nvPr/>
        </p:nvSpPr>
        <p:spPr bwMode="auto">
          <a:xfrm>
            <a:off x="2352693" y="5393206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其一般项不趋于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0,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233" name="Text Box 193"/>
              <p:cNvSpPr txBox="1">
                <a:spLocks noChangeArrowheads="1"/>
              </p:cNvSpPr>
              <p:nvPr/>
            </p:nvSpPr>
            <p:spPr bwMode="auto">
              <a:xfrm>
                <a:off x="4663509" y="5356955"/>
                <a:ext cx="39624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所以对任意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都发散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233" name="Text Box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3509" y="5356955"/>
                <a:ext cx="3962400" cy="461665"/>
              </a:xfrm>
              <a:prstGeom prst="rect">
                <a:avLst/>
              </a:prstGeom>
              <a:blipFill>
                <a:blip r:embed="rId7"/>
                <a:stretch>
                  <a:fillRect l="-2000" t="-8000" b="-21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1527039" y="989877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2352693" y="975589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考察函数项级数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26"/>
              <p:cNvSpPr txBox="1">
                <a:spLocks noChangeArrowheads="1"/>
              </p:cNvSpPr>
              <p:nvPr/>
            </p:nvSpPr>
            <p:spPr bwMode="auto">
              <a:xfrm>
                <a:off x="2352693" y="2512409"/>
                <a:ext cx="4648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/>
                  <a:t>和函数的可导性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2693" y="2512409"/>
                <a:ext cx="4648200" cy="519113"/>
              </a:xfrm>
              <a:prstGeom prst="rect">
                <a:avLst/>
              </a:prstGeom>
              <a:blipFill>
                <a:blip r:embed="rId8"/>
                <a:stretch>
                  <a:fillRect l="-2756" t="-14118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845690" y="1582798"/>
                <a:ext cx="5113899" cy="88197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690" y="1582798"/>
                <a:ext cx="5113899" cy="8819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527039" y="3336055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A3081E17-88FB-8361-B6B4-A0E3B8C5F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0425" y="4584372"/>
            <a:ext cx="2574744" cy="1181175"/>
          </a:xfrm>
          <a:prstGeom prst="wedgeRectCallout">
            <a:avLst>
              <a:gd name="adj1" fmla="val -58214"/>
              <a:gd name="adj2" fmla="val 22207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即逐项求导不等</a:t>
            </a:r>
            <a:endParaRPr lang="en-US" altLang="zh-CN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于和函数求导！</a:t>
            </a:r>
          </a:p>
        </p:txBody>
      </p:sp>
    </p:spTree>
    <p:extLst>
      <p:ext uri="{BB962C8B-B14F-4D97-AF65-F5344CB8AC3E}">
        <p14:creationId xmlns:p14="http://schemas.microsoft.com/office/powerpoint/2010/main" val="6437740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7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7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7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26" grpId="0" build="p" autoUpdateAnimBg="0"/>
      <p:bldP spid="87227" grpId="0"/>
      <p:bldP spid="87228" grpId="0" build="p" autoUpdateAnimBg="0"/>
      <p:bldP spid="87229" grpId="0" build="p" autoUpdateAnimBg="0"/>
      <p:bldP spid="87230" grpId="0"/>
      <p:bldP spid="87232" grpId="0" build="p" autoUpdateAnimBg="0"/>
      <p:bldP spid="87233" grpId="0" build="p" autoUpdateAnimBg="0"/>
      <p:bldP spid="12" grpId="0"/>
      <p:bldP spid="13" grpId="0"/>
      <p:bldP spid="14" grpId="0"/>
      <p:bldP spid="2" grpId="0"/>
      <p:bldP spid="16" grpId="0" autoUpdateAnimBg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3B526E-4330-3B3A-C134-3E67BB78F39C}"/>
              </a:ext>
            </a:extLst>
          </p:cNvPr>
          <p:cNvSpPr/>
          <p:nvPr/>
        </p:nvSpPr>
        <p:spPr>
          <a:xfrm>
            <a:off x="381391" y="1006537"/>
            <a:ext cx="11479533" cy="4615542"/>
          </a:xfrm>
          <a:prstGeom prst="rect">
            <a:avLst/>
          </a:prstGeom>
          <a:solidFill>
            <a:schemeClr val="bg1"/>
          </a:solidFill>
          <a:ln>
            <a:solidFill>
              <a:srgbClr val="04926A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E15CBD6-14AC-4AD8-D30D-CC27FC61BFA2}"/>
              </a:ext>
            </a:extLst>
          </p:cNvPr>
          <p:cNvGrpSpPr/>
          <p:nvPr/>
        </p:nvGrpSpPr>
        <p:grpSpPr>
          <a:xfrm>
            <a:off x="9041684" y="816189"/>
            <a:ext cx="1647019" cy="607060"/>
            <a:chOff x="10233025" y="1155148"/>
            <a:chExt cx="1647019" cy="607060"/>
          </a:xfrm>
        </p:grpSpPr>
        <p:sp>
          <p:nvSpPr>
            <p:cNvPr id="4" name="梯形 3">
              <a:extLst>
                <a:ext uri="{FF2B5EF4-FFF2-40B4-BE49-F238E27FC236}">
                  <a16:creationId xmlns:a16="http://schemas.microsoft.com/office/drawing/2014/main" id="{20FEE04D-AF4D-B768-1DA7-720CF84ADBB7}"/>
                </a:ext>
              </a:extLst>
            </p:cNvPr>
            <p:cNvSpPr/>
            <p:nvPr/>
          </p:nvSpPr>
          <p:spPr>
            <a:xfrm flipV="1">
              <a:off x="10398357" y="1155148"/>
              <a:ext cx="1310005" cy="607060"/>
            </a:xfrm>
            <a:prstGeom prst="trapezoid">
              <a:avLst/>
            </a:prstGeom>
            <a:solidFill>
              <a:srgbClr val="1D9D7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3FDA6E1-E8F1-F36E-A3A4-3DAAB6C03CF5}"/>
                </a:ext>
              </a:extLst>
            </p:cNvPr>
            <p:cNvSpPr/>
            <p:nvPr/>
          </p:nvSpPr>
          <p:spPr>
            <a:xfrm>
              <a:off x="10552769" y="1197693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问题</a:t>
              </a:r>
            </a:p>
          </p:txBody>
        </p:sp>
        <p:sp>
          <p:nvSpPr>
            <p:cNvPr id="6" name="等腰三角形 2">
              <a:extLst>
                <a:ext uri="{FF2B5EF4-FFF2-40B4-BE49-F238E27FC236}">
                  <a16:creationId xmlns:a16="http://schemas.microsoft.com/office/drawing/2014/main" id="{98E46953-92BA-3645-287F-ABD2BFBBFB83}"/>
                </a:ext>
              </a:extLst>
            </p:cNvPr>
            <p:cNvSpPr/>
            <p:nvPr/>
          </p:nvSpPr>
          <p:spPr>
            <a:xfrm>
              <a:off x="10233025" y="1155148"/>
              <a:ext cx="221688" cy="190348"/>
            </a:xfrm>
            <a:custGeom>
              <a:avLst/>
              <a:gdLst>
                <a:gd name="connsiteX0" fmla="*/ 0 w 228832"/>
                <a:gd name="connsiteY0" fmla="*/ 190348 h 190348"/>
                <a:gd name="connsiteX1" fmla="*/ 114416 w 228832"/>
                <a:gd name="connsiteY1" fmla="*/ 0 h 190348"/>
                <a:gd name="connsiteX2" fmla="*/ 228832 w 228832"/>
                <a:gd name="connsiteY2" fmla="*/ 190348 h 190348"/>
                <a:gd name="connsiteX3" fmla="*/ 0 w 228832"/>
                <a:gd name="connsiteY3" fmla="*/ 190348 h 190348"/>
                <a:gd name="connsiteX0-1" fmla="*/ 0 w 228832"/>
                <a:gd name="connsiteY0-2" fmla="*/ 190348 h 190348"/>
                <a:gd name="connsiteX1-3" fmla="*/ 171566 w 228832"/>
                <a:gd name="connsiteY1-4" fmla="*/ 0 h 190348"/>
                <a:gd name="connsiteX2-5" fmla="*/ 228832 w 228832"/>
                <a:gd name="connsiteY2-6" fmla="*/ 190348 h 190348"/>
                <a:gd name="connsiteX3-7" fmla="*/ 0 w 228832"/>
                <a:gd name="connsiteY3-8" fmla="*/ 190348 h 190348"/>
                <a:gd name="connsiteX0-9" fmla="*/ 0 w 221688"/>
                <a:gd name="connsiteY0-10" fmla="*/ 190348 h 190348"/>
                <a:gd name="connsiteX1-11" fmla="*/ 171566 w 221688"/>
                <a:gd name="connsiteY1-12" fmla="*/ 0 h 190348"/>
                <a:gd name="connsiteX2-13" fmla="*/ 221688 w 221688"/>
                <a:gd name="connsiteY2-14" fmla="*/ 190348 h 190348"/>
                <a:gd name="connsiteX3-15" fmla="*/ 0 w 221688"/>
                <a:gd name="connsiteY3-16" fmla="*/ 190348 h 1903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21688" h="190348">
                  <a:moveTo>
                    <a:pt x="0" y="190348"/>
                  </a:moveTo>
                  <a:lnTo>
                    <a:pt x="171566" y="0"/>
                  </a:lnTo>
                  <a:lnTo>
                    <a:pt x="221688" y="190348"/>
                  </a:lnTo>
                  <a:lnTo>
                    <a:pt x="0" y="190348"/>
                  </a:lnTo>
                  <a:close/>
                </a:path>
              </a:pathLst>
            </a:custGeom>
            <a:solidFill>
              <a:srgbClr val="068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2">
              <a:extLst>
                <a:ext uri="{FF2B5EF4-FFF2-40B4-BE49-F238E27FC236}">
                  <a16:creationId xmlns:a16="http://schemas.microsoft.com/office/drawing/2014/main" id="{83A3964E-5875-591A-93C7-7E907340FB83}"/>
                </a:ext>
              </a:extLst>
            </p:cNvPr>
            <p:cNvSpPr/>
            <p:nvPr/>
          </p:nvSpPr>
          <p:spPr>
            <a:xfrm flipH="1">
              <a:off x="11658356" y="1155148"/>
              <a:ext cx="221688" cy="190348"/>
            </a:xfrm>
            <a:custGeom>
              <a:avLst/>
              <a:gdLst>
                <a:gd name="connsiteX0" fmla="*/ 0 w 228832"/>
                <a:gd name="connsiteY0" fmla="*/ 190348 h 190348"/>
                <a:gd name="connsiteX1" fmla="*/ 114416 w 228832"/>
                <a:gd name="connsiteY1" fmla="*/ 0 h 190348"/>
                <a:gd name="connsiteX2" fmla="*/ 228832 w 228832"/>
                <a:gd name="connsiteY2" fmla="*/ 190348 h 190348"/>
                <a:gd name="connsiteX3" fmla="*/ 0 w 228832"/>
                <a:gd name="connsiteY3" fmla="*/ 190348 h 190348"/>
                <a:gd name="connsiteX0-1" fmla="*/ 0 w 228832"/>
                <a:gd name="connsiteY0-2" fmla="*/ 190348 h 190348"/>
                <a:gd name="connsiteX1-3" fmla="*/ 171566 w 228832"/>
                <a:gd name="connsiteY1-4" fmla="*/ 0 h 190348"/>
                <a:gd name="connsiteX2-5" fmla="*/ 228832 w 228832"/>
                <a:gd name="connsiteY2-6" fmla="*/ 190348 h 190348"/>
                <a:gd name="connsiteX3-7" fmla="*/ 0 w 228832"/>
                <a:gd name="connsiteY3-8" fmla="*/ 190348 h 190348"/>
                <a:gd name="connsiteX0-9" fmla="*/ 0 w 221688"/>
                <a:gd name="connsiteY0-10" fmla="*/ 190348 h 190348"/>
                <a:gd name="connsiteX1-11" fmla="*/ 171566 w 221688"/>
                <a:gd name="connsiteY1-12" fmla="*/ 0 h 190348"/>
                <a:gd name="connsiteX2-13" fmla="*/ 221688 w 221688"/>
                <a:gd name="connsiteY2-14" fmla="*/ 190348 h 190348"/>
                <a:gd name="connsiteX3-15" fmla="*/ 0 w 221688"/>
                <a:gd name="connsiteY3-16" fmla="*/ 190348 h 1903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21688" h="190348">
                  <a:moveTo>
                    <a:pt x="0" y="190348"/>
                  </a:moveTo>
                  <a:lnTo>
                    <a:pt x="171566" y="0"/>
                  </a:lnTo>
                  <a:lnTo>
                    <a:pt x="221688" y="190348"/>
                  </a:lnTo>
                  <a:lnTo>
                    <a:pt x="0" y="190348"/>
                  </a:lnTo>
                  <a:close/>
                </a:path>
              </a:pathLst>
            </a:custGeom>
            <a:solidFill>
              <a:srgbClr val="0688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CF84DE7-2312-6C23-BE37-E83F9DC1CFF4}"/>
              </a:ext>
            </a:extLst>
          </p:cNvPr>
          <p:cNvSpPr/>
          <p:nvPr/>
        </p:nvSpPr>
        <p:spPr>
          <a:xfrm>
            <a:off x="289932" y="1260088"/>
            <a:ext cx="91459" cy="4125951"/>
          </a:xfrm>
          <a:prstGeom prst="rect">
            <a:avLst/>
          </a:prstGeom>
          <a:solidFill>
            <a:srgbClr val="0492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3097139" y="1904414"/>
            <a:ext cx="5791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</a:rPr>
              <a:t>函数项级数满足什么条件时才有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3" name="Text Box 5"/>
              <p:cNvSpPr txBox="1">
                <a:spLocks noChangeArrowheads="1"/>
              </p:cNvSpPr>
              <p:nvPr/>
            </p:nvSpPr>
            <p:spPr bwMode="auto">
              <a:xfrm>
                <a:off x="3097139" y="2766427"/>
                <a:ext cx="61880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800" b="1" dirty="0">
                    <a:solidFill>
                      <a:srgbClr val="04926A"/>
                    </a:solidFill>
                  </a:rPr>
                  <a:t>逐项连续可推出和函数连续</a:t>
                </a:r>
                <a14:m>
                  <m:oMath xmlns:m="http://schemas.openxmlformats.org/officeDocument/2006/math">
                    <m:r>
                      <a:rPr kumimoji="1" lang="en-US" altLang="zh-CN" sz="2800" b="1" dirty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0957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139" y="2766427"/>
                <a:ext cx="6188075" cy="523220"/>
              </a:xfrm>
              <a:prstGeom prst="rect">
                <a:avLst/>
              </a:prstGeom>
              <a:blipFill>
                <a:blip r:embed="rId2"/>
                <a:stretch>
                  <a:fillRect l="-1970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576" name="Text Box 8"/>
              <p:cNvSpPr txBox="1">
                <a:spLocks noChangeArrowheads="1"/>
              </p:cNvSpPr>
              <p:nvPr/>
            </p:nvSpPr>
            <p:spPr bwMode="auto">
              <a:xfrm>
                <a:off x="3097139" y="3544302"/>
                <a:ext cx="49847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800" b="1" dirty="0">
                    <a:solidFill>
                      <a:srgbClr val="04926A"/>
                    </a:solidFill>
                  </a:rPr>
                  <a:t>逐项求导等于和函数求导</a:t>
                </a:r>
                <a14:m>
                  <m:oMath xmlns:m="http://schemas.openxmlformats.org/officeDocument/2006/math">
                    <m:r>
                      <a:rPr kumimoji="1" lang="en-US" altLang="zh-CN" sz="2800" b="1" dirty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0957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139" y="3544302"/>
                <a:ext cx="4984750" cy="523220"/>
              </a:xfrm>
              <a:prstGeom prst="rect">
                <a:avLst/>
              </a:prstGeom>
              <a:blipFill>
                <a:blip r:embed="rId3"/>
                <a:stretch>
                  <a:fillRect l="-2445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577" name="Text Box 9"/>
              <p:cNvSpPr txBox="1">
                <a:spLocks noChangeArrowheads="1"/>
              </p:cNvSpPr>
              <p:nvPr/>
            </p:nvSpPr>
            <p:spPr bwMode="auto">
              <a:xfrm>
                <a:off x="3097139" y="4306302"/>
                <a:ext cx="54419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800" b="1" dirty="0">
                    <a:solidFill>
                      <a:srgbClr val="04926A"/>
                    </a:solidFill>
                  </a:rPr>
                  <a:t>逐项积分等于和函数积分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b="1" dirty="0">
                        <a:solidFill>
                          <a:srgbClr val="04926A"/>
                        </a:solidFill>
                      </a:rPr>
                      <m:t>.</m:t>
                    </m:r>
                  </m:oMath>
                </a14:m>
                <a:endParaRPr kumimoji="1" lang="zh-CN" altLang="en-US" sz="2800" b="1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095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139" y="4306302"/>
                <a:ext cx="5441950" cy="523220"/>
              </a:xfrm>
              <a:prstGeom prst="rect">
                <a:avLst/>
              </a:prstGeom>
              <a:blipFill>
                <a:blip r:embed="rId4"/>
                <a:stretch>
                  <a:fillRect l="-2240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5521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ldLvl="0" animBg="1"/>
      <p:bldP spid="3" grpId="1" animBg="1"/>
      <p:bldP spid="8" grpId="0" bldLvl="0" animBg="1"/>
      <p:bldP spid="8" grpId="1" animBg="1"/>
      <p:bldP spid="109572" grpId="0" build="p" autoUpdateAnimBg="0"/>
      <p:bldP spid="109573" grpId="0" build="p" autoUpdateAnimBg="0" advAuto="0"/>
      <p:bldP spid="109576" grpId="0" build="p" autoUpdateAnimBg="0"/>
      <p:bldP spid="10957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D9B5E-4DD2-47E9-6AB0-E707610CAD75}"/>
              </a:ext>
            </a:extLst>
          </p:cNvPr>
          <p:cNvSpPr/>
          <p:nvPr/>
        </p:nvSpPr>
        <p:spPr>
          <a:xfrm>
            <a:off x="1447800" y="1892667"/>
            <a:ext cx="9766300" cy="4326201"/>
          </a:xfrm>
          <a:prstGeom prst="rect">
            <a:avLst/>
          </a:prstGeom>
          <a:solidFill>
            <a:srgbClr val="04926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1941" y="587332"/>
            <a:ext cx="55626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二、函数项级数的一致收敛性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16"/>
              <p:cNvSpPr txBox="1">
                <a:spLocks noChangeArrowheads="1"/>
              </p:cNvSpPr>
              <p:nvPr/>
            </p:nvSpPr>
            <p:spPr bwMode="auto">
              <a:xfrm>
                <a:off x="2149725" y="2386314"/>
                <a:ext cx="18444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 </a:t>
                </a:r>
              </a:p>
            </p:txBody>
          </p:sp>
        </mc:Choice>
        <mc:Fallback xmlns="">
          <p:sp>
            <p:nvSpPr>
              <p:cNvPr id="20" name="Text 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9725" y="2386314"/>
                <a:ext cx="1844416" cy="523220"/>
              </a:xfrm>
              <a:prstGeom prst="rect">
                <a:avLst/>
              </a:prstGeom>
              <a:blipFill>
                <a:blip r:embed="rId3"/>
                <a:stretch>
                  <a:fillRect l="-6954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17"/>
              <p:cNvSpPr txBox="1"/>
              <p:nvPr/>
            </p:nvSpPr>
            <p:spPr bwMode="auto">
              <a:xfrm>
                <a:off x="3675485" y="1986022"/>
                <a:ext cx="2091824" cy="1409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5485" y="1986022"/>
                <a:ext cx="2091824" cy="1409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118"/>
          <p:cNvSpPr txBox="1">
            <a:spLocks noChangeArrowheads="1"/>
          </p:cNvSpPr>
          <p:nvPr/>
        </p:nvSpPr>
        <p:spPr bwMode="auto">
          <a:xfrm>
            <a:off x="8587916" y="2346051"/>
            <a:ext cx="9925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若对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19"/>
              <p:cNvSpPr txBox="1">
                <a:spLocks noChangeArrowheads="1"/>
              </p:cNvSpPr>
              <p:nvPr/>
            </p:nvSpPr>
            <p:spPr bwMode="auto">
              <a:xfrm>
                <a:off x="4832459" y="3252503"/>
                <a:ext cx="533832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都有一个只依赖于</a:t>
                </a:r>
                <a:r>
                  <a:rPr kumimoji="1" lang="zh-CN" altLang="en-US" sz="2800" i="1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的自然数 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𝑁</m:t>
                    </m:r>
                  </m:oMath>
                </a14:m>
                <a:r>
                  <a:rPr kumimoji="1" lang="en-US" altLang="zh-CN" sz="2800" i="1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</a:p>
            </p:txBody>
          </p:sp>
        </mc:Choice>
        <mc:Fallback xmlns="">
          <p:sp>
            <p:nvSpPr>
              <p:cNvPr id="23" name="Text 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2459" y="3252503"/>
                <a:ext cx="5338321" cy="523220"/>
              </a:xfrm>
              <a:prstGeom prst="rect">
                <a:avLst/>
              </a:prstGeom>
              <a:blipFill>
                <a:blip r:embed="rId5"/>
                <a:stretch>
                  <a:fillRect l="-2400" t="-16471" r="-914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20"/>
          <p:cNvSpPr txBox="1">
            <a:spLocks noChangeArrowheads="1"/>
          </p:cNvSpPr>
          <p:nvPr/>
        </p:nvSpPr>
        <p:spPr bwMode="auto">
          <a:xfrm>
            <a:off x="9854026" y="3223103"/>
            <a:ext cx="6335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21"/>
              <p:cNvSpPr txBox="1">
                <a:spLocks noChangeArrowheads="1"/>
              </p:cNvSpPr>
              <p:nvPr/>
            </p:nvSpPr>
            <p:spPr bwMode="auto">
              <a:xfrm>
                <a:off x="2149725" y="4030690"/>
                <a:ext cx="591963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en-US" altLang="zh-CN" sz="28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&gt;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时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对区间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上的一切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都有</a:t>
                </a:r>
              </a:p>
            </p:txBody>
          </p:sp>
        </mc:Choice>
        <mc:Fallback xmlns="">
          <p:sp>
            <p:nvSpPr>
              <p:cNvPr id="25" name="Text 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9725" y="4030690"/>
                <a:ext cx="5919634" cy="523220"/>
              </a:xfrm>
              <a:prstGeom prst="rect">
                <a:avLst/>
              </a:prstGeom>
              <a:blipFill>
                <a:blip r:embed="rId6"/>
                <a:stretch>
                  <a:fillRect l="-2163" t="-15116" r="-103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22"/>
              <p:cNvSpPr txBox="1"/>
              <p:nvPr/>
            </p:nvSpPr>
            <p:spPr bwMode="auto">
              <a:xfrm>
                <a:off x="3454289" y="4779281"/>
                <a:ext cx="5737539" cy="836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)|=|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)|&lt;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26" name="Object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4289" y="4779281"/>
                <a:ext cx="5737539" cy="836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23"/>
              <p:cNvSpPr txBox="1">
                <a:spLocks noChangeArrowheads="1"/>
              </p:cNvSpPr>
              <p:nvPr/>
            </p:nvSpPr>
            <p:spPr bwMode="auto">
              <a:xfrm>
                <a:off x="2149725" y="5571507"/>
                <a:ext cx="81153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则称该级数在区间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上一致收敛于和函数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7" name="Text 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9725" y="5571507"/>
                <a:ext cx="8115300" cy="519113"/>
              </a:xfrm>
              <a:prstGeom prst="rect">
                <a:avLst/>
              </a:prstGeom>
              <a:blipFill>
                <a:blip r:embed="rId8"/>
                <a:stretch>
                  <a:fillRect l="-1578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124"/>
              <p:cNvSpPr txBox="1">
                <a:spLocks noChangeArrowheads="1"/>
              </p:cNvSpPr>
              <p:nvPr/>
            </p:nvSpPr>
            <p:spPr bwMode="auto">
              <a:xfrm>
                <a:off x="5295569" y="2341038"/>
                <a:ext cx="34467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在区间</a:t>
                </a:r>
                <a:r>
                  <a:rPr kumimoji="1" lang="zh-CN" altLang="en-US" sz="28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上的和函数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28" name="Text 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5569" y="2341038"/>
                <a:ext cx="3446777" cy="523220"/>
              </a:xfrm>
              <a:prstGeom prst="rect">
                <a:avLst/>
              </a:prstGeom>
              <a:blipFill>
                <a:blip r:embed="rId9"/>
                <a:stretch>
                  <a:fillRect l="-3717" t="-15116" r="-2124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125"/>
          <p:cNvSpPr txBox="1">
            <a:spLocks noChangeArrowheads="1"/>
          </p:cNvSpPr>
          <p:nvPr/>
        </p:nvSpPr>
        <p:spPr bwMode="auto">
          <a:xfrm>
            <a:off x="2149725" y="3281903"/>
            <a:ext cx="29145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任意给定的 </a:t>
            </a:r>
            <a:r>
              <a:rPr kumimoji="1" lang="zh-CN" altLang="en-US" sz="2800" i="1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kumimoji="1"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 0,</a:t>
            </a:r>
          </a:p>
        </p:txBody>
      </p:sp>
      <p:sp>
        <p:nvSpPr>
          <p:cNvPr id="30" name="Rectangle 126"/>
          <p:cNvSpPr>
            <a:spLocks noChangeArrowheads="1"/>
          </p:cNvSpPr>
          <p:nvPr/>
        </p:nvSpPr>
        <p:spPr bwMode="auto">
          <a:xfrm>
            <a:off x="1323464" y="1191754"/>
            <a:ext cx="1665341" cy="609600"/>
          </a:xfrm>
          <a:prstGeom prst="rect">
            <a:avLst/>
          </a:prstGeom>
          <a:noFill/>
          <a:ln w="28575">
            <a:noFill/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p:sp>
        <p:nvSpPr>
          <p:cNvPr id="3" name="PA-102231">
            <a:extLst>
              <a:ext uri="{FF2B5EF4-FFF2-40B4-BE49-F238E27FC236}">
                <a16:creationId xmlns:a16="http://schemas.microsoft.com/office/drawing/2014/main" id="{CF89F5A8-0450-145D-5090-440913F36C3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30566" y="3605767"/>
            <a:ext cx="1018494" cy="900000"/>
          </a:xfrm>
          <a:prstGeom prst="rect">
            <a:avLst/>
          </a:prstGeom>
          <a:solidFill>
            <a:schemeClr val="bg1"/>
          </a:solidFill>
          <a:ln w="19050">
            <a:gradFill>
              <a:gsLst>
                <a:gs pos="5000">
                  <a:srgbClr val="17A45E"/>
                </a:gs>
                <a:gs pos="56000">
                  <a:srgbClr val="039267"/>
                </a:gs>
                <a:gs pos="100000">
                  <a:srgbClr val="068983"/>
                </a:gs>
              </a:gsLst>
              <a:lin ang="10800000" scaled="0"/>
            </a:gradFill>
          </a:ln>
          <a:effectLst>
            <a:outerShdw blurRad="203200" dist="63500" dir="30000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chemeClr val="bg1">
                    <a:lumMod val="95000"/>
                  </a:schemeClr>
                </a:solidFill>
              </a:ln>
              <a:cs typeface="+mn-ea"/>
              <a:sym typeface="+mn-lt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9D4EF6-990D-15EB-9F8D-E2D1B3187CCF}"/>
              </a:ext>
            </a:extLst>
          </p:cNvPr>
          <p:cNvSpPr txBox="1">
            <a:spLocks noChangeArrowheads="1"/>
          </p:cNvSpPr>
          <p:nvPr/>
        </p:nvSpPr>
        <p:spPr>
          <a:xfrm>
            <a:off x="1077365" y="3799172"/>
            <a:ext cx="1341632" cy="513604"/>
          </a:xfrm>
          <a:noFill/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定义</a:t>
            </a:r>
            <a:endParaRPr kumimoji="1" lang="en-US" altLang="zh-CN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4275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6082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" grpId="0" bldLvl="0" animBg="1"/>
      <p:bldP spid="3" grpId="1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BB14347-B451-BE0D-F26C-85C00CC041C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117B25F5-9BA5-8576-73D5-D10044E66B05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CAB8402-9912-8D5A-DF4D-A117358C109C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CC473787-8689-55C9-3322-6C981A0EAD71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0A469D19-6A18-8EB7-43A7-C03CD1C9331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874A25E9-7EB4-F72D-59E2-7068F194D4A0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291" name="Text Box 19"/>
              <p:cNvSpPr txBox="1">
                <a:spLocks noChangeArrowheads="1"/>
              </p:cNvSpPr>
              <p:nvPr/>
            </p:nvSpPr>
            <p:spPr bwMode="auto">
              <a:xfrm>
                <a:off x="2367702" y="1415810"/>
                <a:ext cx="2881313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显然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在区间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上 </a:t>
                </a:r>
              </a:p>
            </p:txBody>
          </p:sp>
        </mc:Choice>
        <mc:Fallback xmlns="">
          <p:sp>
            <p:nvSpPr>
              <p:cNvPr id="5429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7702" y="1415810"/>
                <a:ext cx="2881313" cy="519113"/>
              </a:xfrm>
              <a:prstGeom prst="rect">
                <a:avLst/>
              </a:prstGeom>
              <a:blipFill>
                <a:blip r:embed="rId3"/>
                <a:stretch>
                  <a:fillRect l="-4228" t="-15294" r="-423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296" name="Object 24"/>
              <p:cNvSpPr txBox="1"/>
              <p:nvPr/>
            </p:nvSpPr>
            <p:spPr bwMode="auto">
              <a:xfrm>
                <a:off x="2367702" y="2108487"/>
                <a:ext cx="2738250" cy="1814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296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7702" y="2108487"/>
                <a:ext cx="2738250" cy="18145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297" name="Text Box 25"/>
              <p:cNvSpPr txBox="1">
                <a:spLocks noChangeArrowheads="1"/>
              </p:cNvSpPr>
              <p:nvPr/>
            </p:nvSpPr>
            <p:spPr bwMode="auto">
              <a:xfrm>
                <a:off x="3944620" y="2482998"/>
                <a:ext cx="387638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一致收敛于和函数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(</a:t>
                </a: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𝑥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).</a:t>
                </a:r>
              </a:p>
            </p:txBody>
          </p:sp>
        </mc:Choice>
        <mc:Fallback xmlns="">
          <p:sp>
            <p:nvSpPr>
              <p:cNvPr id="54297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4620" y="2482998"/>
                <a:ext cx="3876382" cy="523220"/>
              </a:xfrm>
              <a:prstGeom prst="rect">
                <a:avLst/>
              </a:prstGeom>
              <a:blipFill>
                <a:blip r:embed="rId5"/>
                <a:stretch>
                  <a:fillRect l="-3145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98" name="Line 26"/>
          <p:cNvSpPr>
            <a:spLocks noChangeShapeType="1"/>
          </p:cNvSpPr>
          <p:nvPr/>
        </p:nvSpPr>
        <p:spPr bwMode="auto">
          <a:xfrm>
            <a:off x="3165327" y="3836142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>
            <a:off x="3165327" y="4007592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4343252" y="3623418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部分和序列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301" name="Object 29"/>
              <p:cNvSpPr txBox="1"/>
              <p:nvPr/>
            </p:nvSpPr>
            <p:spPr bwMode="auto">
              <a:xfrm>
                <a:off x="6228080" y="3614528"/>
                <a:ext cx="8890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30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8080" y="3614528"/>
                <a:ext cx="889000" cy="444500"/>
              </a:xfrm>
              <a:prstGeom prst="rect">
                <a:avLst/>
              </a:prstGeom>
              <a:blipFill>
                <a:blip r:embed="rId6"/>
                <a:stretch>
                  <a:fillRect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02" name="Text Box 30"/>
              <p:cNvSpPr txBox="1">
                <a:spLocks noChangeArrowheads="1"/>
              </p:cNvSpPr>
              <p:nvPr/>
            </p:nvSpPr>
            <p:spPr bwMode="auto">
              <a:xfrm>
                <a:off x="7138670" y="3626593"/>
                <a:ext cx="287771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一致收敛于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(</a:t>
                </a: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𝑥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). </a:t>
                </a:r>
              </a:p>
            </p:txBody>
          </p:sp>
        </mc:Choice>
        <mc:Fallback xmlns="">
          <p:sp>
            <p:nvSpPr>
              <p:cNvPr id="54302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38670" y="3626593"/>
                <a:ext cx="2877711" cy="523220"/>
              </a:xfrm>
              <a:prstGeom prst="rect">
                <a:avLst/>
              </a:prstGeom>
              <a:blipFill>
                <a:blip r:embed="rId7"/>
                <a:stretch>
                  <a:fillRect l="-4237" t="-16279" r="-63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303" name="Line 31"/>
          <p:cNvSpPr>
            <a:spLocks noChangeShapeType="1"/>
          </p:cNvSpPr>
          <p:nvPr/>
        </p:nvSpPr>
        <p:spPr bwMode="auto">
          <a:xfrm>
            <a:off x="3114527" y="4609258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4304" name="Line 32"/>
          <p:cNvSpPr>
            <a:spLocks noChangeShapeType="1"/>
          </p:cNvSpPr>
          <p:nvPr/>
        </p:nvSpPr>
        <p:spPr bwMode="auto">
          <a:xfrm>
            <a:off x="3114527" y="4761658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4305" name="Text Box 33"/>
          <p:cNvSpPr txBox="1">
            <a:spLocks noChangeArrowheads="1"/>
          </p:cNvSpPr>
          <p:nvPr/>
        </p:nvSpPr>
        <p:spPr bwMode="auto">
          <a:xfrm>
            <a:off x="4343252" y="4380658"/>
            <a:ext cx="984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余项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306" name="Object 34"/>
              <p:cNvSpPr txBox="1"/>
              <p:nvPr/>
            </p:nvSpPr>
            <p:spPr bwMode="auto">
              <a:xfrm>
                <a:off x="5116975" y="4361090"/>
                <a:ext cx="8001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306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6975" y="4361090"/>
                <a:ext cx="800100" cy="444500"/>
              </a:xfrm>
              <a:prstGeom prst="rect">
                <a:avLst/>
              </a:prstGeom>
              <a:blipFill>
                <a:blip r:embed="rId8"/>
                <a:stretch>
                  <a:fillRect r="-6818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307" name="Text Box 35"/>
          <p:cNvSpPr txBox="1">
            <a:spLocks noChangeArrowheads="1"/>
          </p:cNvSpPr>
          <p:nvPr/>
        </p:nvSpPr>
        <p:spPr bwMode="auto">
          <a:xfrm>
            <a:off x="5938665" y="4380658"/>
            <a:ext cx="24288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一致收敛于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0. </a:t>
            </a:r>
          </a:p>
        </p:txBody>
      </p:sp>
    </p:spTree>
    <p:extLst>
      <p:ext uri="{BB962C8B-B14F-4D97-AF65-F5344CB8AC3E}">
        <p14:creationId xmlns:p14="http://schemas.microsoft.com/office/powerpoint/2010/main" val="72135030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4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4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1" grpId="0" build="p" autoUpdateAnimBg="0"/>
      <p:bldP spid="54296" grpId="0"/>
      <p:bldP spid="54297" grpId="0" build="p" autoUpdateAnimBg="0" advAuto="0"/>
      <p:bldP spid="54300" grpId="0" build="p" autoUpdateAnimBg="0"/>
      <p:bldP spid="54301" grpId="0"/>
      <p:bldP spid="54302" grpId="0" build="p" autoUpdateAnimBg="0" advAuto="0"/>
      <p:bldP spid="54305" grpId="0" build="p" autoUpdateAnimBg="0"/>
      <p:bldP spid="54306" grpId="0"/>
      <p:bldP spid="54307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51C6EC9-737A-9C6B-9DA2-2435A44BE52D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5506C4F0-6EEF-61E8-FC5E-B3211D687BA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1C63FFC-9778-0E65-12C3-D56BE614FC6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41070EA9-8E9C-3471-5BD4-9F965729F187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507061D-8287-860E-34D2-A3D7B5E3196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01E49924-78FC-04FC-552E-8FE271CED20A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1766277" y="790204"/>
            <a:ext cx="29546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几何解释 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: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(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如图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)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5" name="Object 35"/>
              <p:cNvSpPr txBox="1"/>
              <p:nvPr/>
            </p:nvSpPr>
            <p:spPr bwMode="auto">
              <a:xfrm>
                <a:off x="1766277" y="1357873"/>
                <a:ext cx="1611312" cy="6330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6277" y="1357873"/>
                <a:ext cx="1611312" cy="633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48" name="Object 48"/>
              <p:cNvSpPr txBox="1"/>
              <p:nvPr/>
            </p:nvSpPr>
            <p:spPr bwMode="auto">
              <a:xfrm>
                <a:off x="3018813" y="1359143"/>
                <a:ext cx="1713132" cy="6548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p>
                          <m:r>
                            <a:rPr lang="zh-CN" altLang="en-US" sz="2800" b="1" i="0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48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8813" y="1359143"/>
                <a:ext cx="1713132" cy="6548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49" name="Text Box 49"/>
              <p:cNvSpPr txBox="1">
                <a:spLocks noChangeArrowheads="1"/>
              </p:cNvSpPr>
              <p:nvPr/>
            </p:nvSpPr>
            <p:spPr bwMode="auto">
              <a:xfrm>
                <a:off x="4394032" y="1370349"/>
                <a:ext cx="196215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＞</a:t>
                </a:r>
                <a:r>
                  <a:rPr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𝑁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1249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4032" y="1370349"/>
                <a:ext cx="1962150" cy="523220"/>
              </a:xfrm>
              <a:prstGeom prst="rect">
                <a:avLst/>
              </a:prstGeom>
              <a:blipFill>
                <a:blip r:embed="rId11"/>
                <a:stretch>
                  <a:fillRect l="-6522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50" name="Object 50"/>
              <p:cNvSpPr txBox="1"/>
              <p:nvPr/>
            </p:nvSpPr>
            <p:spPr bwMode="auto">
              <a:xfrm>
                <a:off x="6025931" y="1363230"/>
                <a:ext cx="4035034" cy="5681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表示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50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25931" y="1363230"/>
                <a:ext cx="4035034" cy="5681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51" name="Text Box 51"/>
          <p:cNvSpPr txBox="1">
            <a:spLocks noChangeArrowheads="1"/>
          </p:cNvSpPr>
          <p:nvPr/>
        </p:nvSpPr>
        <p:spPr bwMode="auto">
          <a:xfrm>
            <a:off x="1766277" y="2090555"/>
            <a:ext cx="98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曲线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52" name="Object 52"/>
              <p:cNvSpPr txBox="1"/>
              <p:nvPr/>
            </p:nvSpPr>
            <p:spPr bwMode="auto">
              <a:xfrm>
                <a:off x="5970161" y="2109005"/>
                <a:ext cx="4586969" cy="725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52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0161" y="2109005"/>
                <a:ext cx="4586969" cy="72517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54" name="Text Box 54"/>
          <p:cNvSpPr txBox="1">
            <a:spLocks noChangeArrowheads="1"/>
          </p:cNvSpPr>
          <p:nvPr/>
        </p:nvSpPr>
        <p:spPr bwMode="auto">
          <a:xfrm>
            <a:off x="4122127" y="2095317"/>
            <a:ext cx="1962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总位于曲线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61" name="Object 61"/>
              <p:cNvSpPr txBox="1"/>
              <p:nvPr/>
            </p:nvSpPr>
            <p:spPr bwMode="auto">
              <a:xfrm>
                <a:off x="2534334" y="2074816"/>
                <a:ext cx="2395025" cy="6591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261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4334" y="2074816"/>
                <a:ext cx="2395025" cy="65911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62" name="Text Box 62"/>
          <p:cNvSpPr txBox="1">
            <a:spLocks noChangeArrowheads="1"/>
          </p:cNvSpPr>
          <p:nvPr/>
        </p:nvSpPr>
        <p:spPr bwMode="auto">
          <a:xfrm>
            <a:off x="1766277" y="2733931"/>
            <a:ext cx="98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之间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D5608512-5DAD-C09B-7150-4BBF1F13279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687" y="2990122"/>
            <a:ext cx="4750956" cy="284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519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6" grpId="0"/>
      <p:bldP spid="51248" grpId="0"/>
      <p:bldP spid="51249" grpId="0" build="p" autoUpdateAnimBg="0"/>
      <p:bldP spid="51250" grpId="0"/>
      <p:bldP spid="51251" grpId="0" build="p" autoUpdateAnimBg="0" advAuto="0"/>
      <p:bldP spid="51252" grpId="0"/>
      <p:bldP spid="51254" grpId="0" build="p" autoUpdateAnimBg="0"/>
      <p:bldP spid="51261" grpId="0"/>
      <p:bldP spid="51262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6F8EAFD-EC56-1472-BF17-29A1A6B99141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5DD49DE-F177-1A78-9C0A-B04F8F65672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85DD49DE-F177-1A78-9C0A-B04F8F6567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9C08DA5B-F898-63B5-C279-2563C23607A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374E5A38-109F-F075-D433-4841EBD70AF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E427C34-19D0-FA5C-19EF-25C2C9DD6B7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B3117272-94BF-F1E3-1D50-F289AE4EF607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511526" y="974969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2511526" y="3296366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8" name="Object 6"/>
              <p:cNvSpPr txBox="1"/>
              <p:nvPr/>
            </p:nvSpPr>
            <p:spPr bwMode="auto">
              <a:xfrm>
                <a:off x="3365500" y="3166320"/>
                <a:ext cx="23495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5500" y="3166320"/>
                <a:ext cx="2349500" cy="838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9" name="Object 7"/>
              <p:cNvSpPr txBox="1"/>
              <p:nvPr/>
            </p:nvSpPr>
            <p:spPr bwMode="auto">
              <a:xfrm>
                <a:off x="3365500" y="3894967"/>
                <a:ext cx="7329487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=0 (0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5500" y="3894967"/>
                <a:ext cx="7329487" cy="901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365500" y="4833972"/>
            <a:ext cx="2362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200" dirty="0"/>
              <a:t>余项的绝对值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2" name="Object 10"/>
              <p:cNvSpPr txBox="1"/>
              <p:nvPr/>
            </p:nvSpPr>
            <p:spPr bwMode="auto">
              <a:xfrm>
                <a:off x="3365500" y="5247737"/>
                <a:ext cx="7050087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5500" y="5247737"/>
                <a:ext cx="7050087" cy="901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515BF704-FD6A-14BC-CEB9-47686EFB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5975" y="892062"/>
                <a:ext cx="7329487" cy="2202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1" hangingPunct="1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2800" dirty="0"/>
                  <a:t>研究级数</a:t>
                </a:r>
                <a:endParaRPr lang="en-US" altLang="zh-CN" sz="2800" dirty="0"/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2800" dirty="0"/>
                  <a:t> 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800" dirty="0"/>
                  <a:t> +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endParaRPr lang="zh-CN" altLang="en-US" sz="2800" dirty="0"/>
              </a:p>
              <a:p>
                <a:pPr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在区间</a:t>
                </a:r>
                <a:r>
                  <a:rPr lang="en-US" altLang="zh-CN" sz="2800" dirty="0"/>
                  <a:t>[0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r>
                      <a:rPr lang="zh-CN" altLang="en-US" sz="2800" dirty="0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上的一致收敛性</a:t>
                </a:r>
                <a:r>
                  <a:rPr lang="en-US" altLang="zh-CN" sz="2800" dirty="0"/>
                  <a:t>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515BF704-FD6A-14BC-CEB9-47686EFB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5975" y="892062"/>
                <a:ext cx="7329487" cy="2202719"/>
              </a:xfrm>
              <a:prstGeom prst="rect">
                <a:avLst/>
              </a:prstGeom>
              <a:blipFill>
                <a:blip r:embed="rId7"/>
                <a:stretch>
                  <a:fillRect l="-1747" t="-552" b="-58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9693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 autoUpdateAnimBg="0"/>
      <p:bldP spid="13318" grpId="0"/>
      <p:bldP spid="13319" grpId="0"/>
      <p:bldP spid="13321" grpId="0" autoUpdateAnimBg="0"/>
      <p:bldP spid="13322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31FAD87-3FC0-78B9-2BF1-7865F2122D3B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F46CC6E-968A-9FA8-E320-1F9CE0B3408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F46CC6E-968A-9FA8-E320-1F9CE0B340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FEB2AC1-794C-D808-CA0E-D346EC17A47A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854D962D-16C2-7864-7355-1875D7DDF51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EBCF33FC-5509-3FEB-A22B-0DD4F04ACD9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DDAE4B3B-5A01-0BA7-A2CD-206AE6E9F201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46" name="Object 10"/>
              <p:cNvSpPr txBox="1"/>
              <p:nvPr/>
            </p:nvSpPr>
            <p:spPr bwMode="auto">
              <a:xfrm>
                <a:off x="3183148" y="3242652"/>
                <a:ext cx="2279501" cy="481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kumimoji="1" lang="en-US" altLang="zh-CN" sz="24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4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3148" y="3242652"/>
                <a:ext cx="2279501" cy="48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36A6DAE-437B-E6A2-3307-A77989D60463}"/>
                  </a:ext>
                </a:extLst>
              </p:cNvPr>
              <p:cNvSpPr txBox="1"/>
              <p:nvPr/>
            </p:nvSpPr>
            <p:spPr bwMode="auto">
              <a:xfrm>
                <a:off x="3183149" y="2700435"/>
                <a:ext cx="597404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/>
                  <a:t>则当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4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＞</a:t>
                </a:r>
                <a:r>
                  <a:rPr lang="zh-CN" alt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𝑁 </a:t>
                </a:r>
                <a:r>
                  <a:rPr lang="zh-CN" altLang="en-US" sz="2200" dirty="0"/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对于区间</a:t>
                </a:r>
                <a:r>
                  <a:rPr lang="en-US" altLang="zh-CN" sz="2200" dirty="0"/>
                  <a:t>[0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2200" dirty="0"/>
                  <a:t>+</a:t>
                </a:r>
                <a14:m>
                  <m:oMath xmlns:m="http://schemas.openxmlformats.org/officeDocument/2006/math">
                    <m:r>
                      <a:rPr lang="zh-CN" altLang="en-US" sz="2200" dirty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zh-CN" altLang="en-US" sz="2200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200" dirty="0"/>
                  <a:t>上的一切</a:t>
                </a:r>
                <a14:m>
                  <m:oMath xmlns:m="http://schemas.openxmlformats.org/officeDocument/2006/math">
                    <m:r>
                      <a:rPr lang="en-US" altLang="zh-CN" sz="22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0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36A6DAE-437B-E6A2-3307-A77989D60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3149" y="2700435"/>
                <a:ext cx="5974045" cy="461665"/>
              </a:xfrm>
              <a:prstGeom prst="rect">
                <a:avLst/>
              </a:prstGeom>
              <a:blipFill>
                <a:blip r:embed="rId4"/>
                <a:stretch>
                  <a:fillRect l="-1327" t="-14474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22157C7-347D-601A-27F9-70F8DD8581AF}"/>
                  </a:ext>
                </a:extLst>
              </p:cNvPr>
              <p:cNvSpPr txBox="1"/>
              <p:nvPr/>
            </p:nvSpPr>
            <p:spPr bwMode="auto">
              <a:xfrm>
                <a:off x="3183149" y="2032210"/>
                <a:ext cx="6981092" cy="572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对于</m:t>
                    </m:r>
                  </m:oMath>
                </a14:m>
                <a:r>
                  <a:rPr lang="zh-CN" altLang="en-US" sz="2200" dirty="0"/>
                  <a:t>任给</a:t>
                </a:r>
                <a14:m>
                  <m:oMath xmlns:m="http://schemas.openxmlformats.org/officeDocument/2006/math">
                    <m:r>
                      <a:rPr lang="zh-CN" altLang="en-US" sz="220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kumimoji="1" lang="en-US" altLang="zh-CN" sz="22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2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取自然数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US" altLang="zh-CN" sz="22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≥</m:t>
                    </m:r>
                    <m:f>
                      <m:f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22157C7-347D-601A-27F9-70F8DD858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3149" y="2032210"/>
                <a:ext cx="6981092" cy="572273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34CC4D-A452-4F33-8EEE-8083F9D5E346}"/>
                  </a:ext>
                </a:extLst>
              </p:cNvPr>
              <p:cNvSpPr txBox="1"/>
              <p:nvPr/>
            </p:nvSpPr>
            <p:spPr bwMode="auto">
              <a:xfrm>
                <a:off x="3183149" y="3743335"/>
                <a:ext cx="6131063" cy="10450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根据</m:t>
                    </m:r>
                  </m:oMath>
                </a14:m>
                <a:r>
                  <a:rPr lang="zh-CN" altLang="en-US" sz="2200" dirty="0"/>
                  <a:t>定义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/>
                  <a:t>所给级数在区间</a:t>
                </a:r>
                <a:r>
                  <a:rPr lang="en-US" altLang="zh-CN" sz="2200" dirty="0"/>
                  <a:t>[0</a:t>
                </a:r>
                <a14:m>
                  <m:oMath xmlns:m="http://schemas.openxmlformats.org/officeDocument/2006/math">
                    <m:r>
                      <a:rPr kumimoji="1" lang="en-US" altLang="zh-CN" sz="20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000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2200" dirty="0"/>
                  <a:t>+</a:t>
                </a:r>
                <a14:m>
                  <m:oMath xmlns:m="http://schemas.openxmlformats.org/officeDocument/2006/math">
                    <m:r>
                      <a:rPr lang="zh-CN" altLang="en-US" sz="2200" dirty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上一致收敛于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200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2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534CC4D-A452-4F33-8EEE-8083F9D5E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3149" y="3743335"/>
                <a:ext cx="6131063" cy="1045094"/>
              </a:xfrm>
              <a:prstGeom prst="rect">
                <a:avLst/>
              </a:prstGeom>
              <a:blipFill>
                <a:blip r:embed="rId6"/>
                <a:stretch>
                  <a:fillRect l="-1292" b="-872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26635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/>
      <p:bldP spid="5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7330D63-77A9-D86D-DE7F-C6E449FB11CC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DB08FBF9-4BA9-DE3F-0265-696E6155105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DB08FBF9-4BA9-DE3F-0265-696E615510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F2B28DEB-9F3E-8D93-1995-7C32055A127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8B2C9B36-0F3A-F9D9-1292-53E682EB6B1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2DF26D1-3B5F-53C7-E014-64184CA7062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099F2087-51DD-8246-C1AD-B16B0A4339B0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760597" y="1039894"/>
            <a:ext cx="1034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2654503" y="1046441"/>
            <a:ext cx="3106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研究例</a:t>
            </a:r>
            <a:r>
              <a:rPr lang="en-US" altLang="zh-CN" sz="2800" dirty="0"/>
              <a:t>1</a:t>
            </a:r>
            <a:r>
              <a:rPr lang="zh-CN" altLang="en-US" sz="2800" dirty="0"/>
              <a:t>中的级数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0" name="Object 4"/>
              <p:cNvSpPr txBox="1"/>
              <p:nvPr/>
            </p:nvSpPr>
            <p:spPr bwMode="auto">
              <a:xfrm>
                <a:off x="2654503" y="1685063"/>
                <a:ext cx="8081306" cy="6595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30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503" y="1685063"/>
                <a:ext cx="8081306" cy="6595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01" name="Text Box 5"/>
              <p:cNvSpPr txBox="1">
                <a:spLocks noChangeArrowheads="1"/>
              </p:cNvSpPr>
              <p:nvPr/>
            </p:nvSpPr>
            <p:spPr bwMode="auto">
              <a:xfrm>
                <a:off x="2654503" y="2349654"/>
                <a:ext cx="548053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/>
                  <a:t>在区间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0</m:t>
                        </m:r>
                        <m:r>
                          <a:rPr kumimoji="1" lang="en-US" altLang="zh-CN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内的一致收敛性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5530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503" y="2349654"/>
                <a:ext cx="5480538" cy="523220"/>
              </a:xfrm>
              <a:prstGeom prst="rect">
                <a:avLst/>
              </a:prstGeom>
              <a:blipFill>
                <a:blip r:embed="rId4"/>
                <a:stretch>
                  <a:fillRect l="-2225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1760597" y="2962988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grpSp>
        <p:nvGrpSpPr>
          <p:cNvPr id="55305" name="Group 9"/>
          <p:cNvGrpSpPr>
            <a:grpSpLocks/>
          </p:cNvGrpSpPr>
          <p:nvPr/>
        </p:nvGrpSpPr>
        <p:grpSpPr bwMode="auto">
          <a:xfrm>
            <a:off x="2654503" y="4109930"/>
            <a:ext cx="3886200" cy="542925"/>
            <a:chOff x="624" y="617"/>
            <a:chExt cx="2448" cy="342"/>
          </a:xfrm>
        </p:grpSpPr>
        <p:sp>
          <p:nvSpPr>
            <p:cNvPr id="55306" name="Text Box 10"/>
            <p:cNvSpPr txBox="1">
              <a:spLocks noChangeArrowheads="1"/>
            </p:cNvSpPr>
            <p:nvPr/>
          </p:nvSpPr>
          <p:spPr bwMode="auto">
            <a:xfrm>
              <a:off x="624" y="624"/>
              <a:ext cx="244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200" dirty="0"/>
                <a:t>对于任意一个自然数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07" name="Object 11"/>
                <p:cNvSpPr txBox="1"/>
                <p:nvPr/>
              </p:nvSpPr>
              <p:spPr bwMode="auto">
                <a:xfrm>
                  <a:off x="2244" y="617"/>
                  <a:ext cx="580" cy="3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55307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4" y="617"/>
                  <a:ext cx="580" cy="34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309" name="Object 13"/>
              <p:cNvSpPr txBox="1"/>
              <p:nvPr/>
            </p:nvSpPr>
            <p:spPr bwMode="auto">
              <a:xfrm>
                <a:off x="3623809" y="4646447"/>
                <a:ext cx="23495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0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3809" y="4646447"/>
                <a:ext cx="2349500" cy="825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10" name="Object 14"/>
              <p:cNvSpPr txBox="1"/>
              <p:nvPr/>
            </p:nvSpPr>
            <p:spPr bwMode="auto">
              <a:xfrm>
                <a:off x="2654503" y="5454266"/>
                <a:ext cx="1854200" cy="430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1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503" y="5454266"/>
                <a:ext cx="1854200" cy="430212"/>
              </a:xfrm>
              <a:prstGeom prst="rect">
                <a:avLst/>
              </a:prstGeom>
              <a:blipFill>
                <a:blip r:embed="rId7"/>
                <a:stretch>
                  <a:fillRect l="-2295" b="-2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11" name="Object 15"/>
              <p:cNvSpPr txBox="1"/>
              <p:nvPr/>
            </p:nvSpPr>
            <p:spPr bwMode="auto">
              <a:xfrm>
                <a:off x="4336214" y="5296134"/>
                <a:ext cx="48514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1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6214" y="5296134"/>
                <a:ext cx="4851400" cy="825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CE4A25C-10E1-D118-D5A9-8E11DC50E770}"/>
                  </a:ext>
                </a:extLst>
              </p:cNvPr>
              <p:cNvSpPr txBox="1"/>
              <p:nvPr/>
            </p:nvSpPr>
            <p:spPr bwMode="auto">
              <a:xfrm>
                <a:off x="2654502" y="2882353"/>
                <a:ext cx="7374991" cy="10620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200" dirty="0"/>
                  <a:t>该级数在区间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0</m:t>
                        </m:r>
                        <m:r>
                          <a:rPr kumimoji="1" lang="en-US" altLang="zh-CN" sz="20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内处处收敛于和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zh-CN" altLang="en-US" sz="2200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2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但并不</a:t>
                </a:r>
                <a:endParaRPr lang="en-US" altLang="zh-CN" sz="2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/>
                  <a:t>一致收敛</a:t>
                </a:r>
                <a:r>
                  <a:rPr lang="en-US" altLang="zh-CN" sz="2200" dirty="0"/>
                  <a:t>.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CE4A25C-10E1-D118-D5A9-8E11DC50E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502" y="2882353"/>
                <a:ext cx="7374991" cy="1062086"/>
              </a:xfrm>
              <a:prstGeom prst="rect">
                <a:avLst/>
              </a:prstGeom>
              <a:blipFill>
                <a:blip r:embed="rId9"/>
                <a:stretch>
                  <a:fillRect l="-1074" b="-103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681EAA-E66D-8F44-1038-5EFE10D19582}"/>
                  </a:ext>
                </a:extLst>
              </p:cNvPr>
              <p:cNvSpPr txBox="1"/>
              <p:nvPr/>
            </p:nvSpPr>
            <p:spPr bwMode="auto">
              <a:xfrm>
                <a:off x="5536577" y="4075407"/>
                <a:ext cx="2349500" cy="592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/>
                  <a:t>取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lang="en-US" altLang="zh-CN" sz="2200" i="1" baseline="-25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lang="en-US" altLang="zh-CN" sz="2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ctrlPr>
                              <a:rPr lang="zh-CN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zh-CN" altLang="en-US" sz="2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g>
                          <m:e>
                            <m:r>
                              <a:rPr lang="zh-CN" altLang="en-US" sz="2200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于是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F681EAA-E66D-8F44-1038-5EFE10D19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6577" y="4075407"/>
                <a:ext cx="2349500" cy="592919"/>
              </a:xfrm>
              <a:prstGeom prst="rect">
                <a:avLst/>
              </a:prstGeom>
              <a:blipFill>
                <a:blip r:embed="rId10"/>
                <a:stretch>
                  <a:fillRect l="-33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9038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  <p:bldP spid="55299" grpId="0"/>
      <p:bldP spid="55300" grpId="0"/>
      <p:bldP spid="55301" grpId="0"/>
      <p:bldP spid="55302" grpId="0" autoUpdateAnimBg="0"/>
      <p:bldP spid="55309" grpId="0"/>
      <p:bldP spid="55310" grpId="0"/>
      <p:bldP spid="55311" grpId="0"/>
      <p:bldP spid="13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2663B52-EB9D-AA79-076A-A13C998BE34B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C0BCB75-2EB7-F7B5-B3C4-689078879D68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2C0BCB75-2EB7-F7B5-B3C4-689078879D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75F59864-EEC3-4855-7DBB-0C2A68029A7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9529548-0CBB-EA29-7C4D-8E895162836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84F0DED3-4AB1-CB61-2D7F-C2143C9B65E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C7FA6429-FCFC-C870-12C7-D34165B982D2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Object 3"/>
              <p:cNvSpPr txBox="1"/>
              <p:nvPr/>
            </p:nvSpPr>
            <p:spPr bwMode="auto">
              <a:xfrm>
                <a:off x="2931942" y="3227649"/>
                <a:ext cx="3026410" cy="6211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使得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1942" y="3227649"/>
                <a:ext cx="3026410" cy="621134"/>
              </a:xfrm>
              <a:prstGeom prst="rect">
                <a:avLst/>
              </a:prstGeom>
              <a:blipFill>
                <a:blip r:embed="rId3"/>
                <a:stretch>
                  <a:fillRect l="-14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88" name="Text Box 4"/>
              <p:cNvSpPr txBox="1">
                <a:spLocks noChangeArrowheads="1"/>
              </p:cNvSpPr>
              <p:nvPr/>
            </p:nvSpPr>
            <p:spPr bwMode="auto">
              <a:xfrm>
                <a:off x="2931942" y="4164214"/>
                <a:ext cx="64770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因此级数在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0</m:t>
                        </m:r>
                        <m:r>
                          <a:rPr kumimoji="1" lang="en-US" altLang="zh-CN" sz="24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内不一致连续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4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8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1942" y="4164214"/>
                <a:ext cx="6477000" cy="461665"/>
              </a:xfrm>
              <a:prstGeom prst="rect">
                <a:avLst/>
              </a:prstGeom>
              <a:blipFill>
                <a:blip r:embed="rId4"/>
                <a:stretch>
                  <a:fillRect l="-1224" t="-7895" b="-210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0F70F9A7-8761-356E-B57A-1D77E75B8D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6520" y="2245063"/>
                <a:ext cx="7566074" cy="570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zh-CN" sz="220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∴</m:t>
                    </m:r>
                  </m:oMath>
                </a14:m>
                <a:r>
                  <a:rPr lang="zh-CN" altLang="en-US" sz="2200" dirty="0"/>
                  <a:t> 只要取</a:t>
                </a:r>
                <a14:m>
                  <m:oMath xmlns:m="http://schemas.openxmlformats.org/officeDocument/2006/math">
                    <m:r>
                      <a:rPr lang="en-US" altLang="zh-CN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zh-CN" altLang="en-US" sz="2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2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200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不论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多么大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4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0</m:t>
                        </m:r>
                        <m:r>
                          <a:rPr kumimoji="1" lang="en-US" altLang="zh-CN" sz="24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200" dirty="0"/>
                  <a:t>总存在点</a:t>
                </a:r>
                <a14:m>
                  <m:oMath xmlns:m="http://schemas.openxmlformats.org/officeDocument/2006/math">
                    <m:r>
                      <a:rPr lang="en-US" altLang="zh-CN" sz="22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lang="en-US" altLang="zh-CN" sz="2200" i="1" baseline="-25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200" i="1" baseline="-25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0F70F9A7-8761-356E-B57A-1D77E75B8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6520" y="2245063"/>
                <a:ext cx="7566074" cy="570413"/>
              </a:xfrm>
              <a:prstGeom prst="rect">
                <a:avLst/>
              </a:prstGeom>
              <a:blipFill>
                <a:blip r:embed="rId5"/>
                <a:stretch>
                  <a:fillRect b="-42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2830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16388" grpId="0" autoUpdateAnimBg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4F3AD199-32C5-342A-CF84-0133A7CD0D00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2" name="PA-102232">
              <a:extLst>
                <a:ext uri="{FF2B5EF4-FFF2-40B4-BE49-F238E27FC236}">
                  <a16:creationId xmlns:a16="http://schemas.microsoft.com/office/drawing/2014/main" id="{731FAA88-AB97-35DB-9D62-8D967DD8677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66F2D976-283F-333E-B634-12A7CA4C1850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44" name="Rectangle 1">
                <a:extLst>
                  <a:ext uri="{FF2B5EF4-FFF2-40B4-BE49-F238E27FC236}">
                    <a16:creationId xmlns:a16="http://schemas.microsoft.com/office/drawing/2014/main" id="{40C8DAF6-0D65-4366-E416-16522E861E5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 1">
                <a:extLst>
                  <a:ext uri="{FF2B5EF4-FFF2-40B4-BE49-F238E27FC236}">
                    <a16:creationId xmlns:a16="http://schemas.microsoft.com/office/drawing/2014/main" id="{1A87AB0F-3E9A-DF3B-8DC5-E9B9F7276BC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Rectangle 1">
                <a:extLst>
                  <a:ext uri="{FF2B5EF4-FFF2-40B4-BE49-F238E27FC236}">
                    <a16:creationId xmlns:a16="http://schemas.microsoft.com/office/drawing/2014/main" id="{EA71D158-EB64-31AC-5BB8-3CEEC7315DDB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5"/>
              <p:cNvSpPr txBox="1">
                <a:spLocks noChangeArrowheads="1"/>
              </p:cNvSpPr>
              <p:nvPr/>
            </p:nvSpPr>
            <p:spPr bwMode="auto">
              <a:xfrm>
                <a:off x="1621912" y="1610339"/>
                <a:ext cx="21336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1912" y="1610339"/>
                <a:ext cx="2133600" cy="519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60"/>
          <p:cNvSpPr txBox="1">
            <a:spLocks noChangeArrowheads="1"/>
          </p:cNvSpPr>
          <p:nvPr/>
        </p:nvSpPr>
        <p:spPr bwMode="auto">
          <a:xfrm>
            <a:off x="1633781" y="3964982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从下图可以看出</a:t>
            </a:r>
            <a:r>
              <a:rPr lang="en-US" altLang="zh-CN" sz="2800" dirty="0"/>
              <a:t>:</a:t>
            </a:r>
          </a:p>
        </p:txBody>
      </p:sp>
      <p:grpSp>
        <p:nvGrpSpPr>
          <p:cNvPr id="5" name="Group 64"/>
          <p:cNvGrpSpPr>
            <a:grpSpLocks/>
          </p:cNvGrpSpPr>
          <p:nvPr/>
        </p:nvGrpSpPr>
        <p:grpSpPr bwMode="auto">
          <a:xfrm>
            <a:off x="1668706" y="1618317"/>
            <a:ext cx="7875588" cy="2136776"/>
            <a:chOff x="645" y="1866"/>
            <a:chExt cx="4961" cy="1346"/>
          </a:xfrm>
        </p:grpSpPr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2281" y="235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dirty="0"/>
                <a:t>但</a:t>
              </a:r>
            </a:p>
          </p:txBody>
        </p:sp>
        <p:grpSp>
          <p:nvGrpSpPr>
            <p:cNvPr id="7" name="Group 63"/>
            <p:cNvGrpSpPr>
              <a:grpSpLocks/>
            </p:cNvGrpSpPr>
            <p:nvPr/>
          </p:nvGrpSpPr>
          <p:grpSpPr bwMode="auto">
            <a:xfrm>
              <a:off x="645" y="1866"/>
              <a:ext cx="4961" cy="1346"/>
              <a:chOff x="645" y="1866"/>
              <a:chExt cx="4961" cy="1346"/>
            </a:xfrm>
          </p:grpSpPr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1063" y="1866"/>
                <a:ext cx="19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/>
                  <a:t>虽然函数序列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bject 7"/>
                  <p:cNvSpPr txBox="1"/>
                  <p:nvPr/>
                </p:nvSpPr>
                <p:spPr bwMode="auto">
                  <a:xfrm>
                    <a:off x="2454" y="1870"/>
                    <a:ext cx="1519" cy="47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54" y="1870"/>
                    <a:ext cx="1519" cy="47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38" y="1884"/>
                    <a:ext cx="2016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800" dirty="0"/>
                      <a:t>在</a:t>
                    </a:r>
                    <a14:m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zh-CN" alt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0</m:t>
                            </m:r>
                            <m:r>
                              <a:rPr kumimoji="1" lang="en-US" altLang="zh-CN" sz="28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zh-CN" altLang="en-US" sz="2800" dirty="0"/>
                      <a:t>内处处</a:t>
                    </a:r>
                  </a:p>
                </p:txBody>
              </p:sp>
            </mc:Choice>
            <mc:Fallback xmlns="">
              <p:sp>
                <p:nvSpPr>
                  <p:cNvPr id="10" name="Text 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538" y="1884"/>
                    <a:ext cx="2016" cy="33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810" t="-13953" b="-29070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bject 9"/>
                  <p:cNvSpPr txBox="1"/>
                  <p:nvPr/>
                </p:nvSpPr>
                <p:spPr bwMode="auto">
                  <a:xfrm>
                    <a:off x="1367" y="2353"/>
                    <a:ext cx="1046" cy="4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)≡0,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1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2353"/>
                    <a:ext cx="1046" cy="4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Object 12"/>
                  <p:cNvSpPr txBox="1"/>
                  <p:nvPr/>
                </p:nvSpPr>
                <p:spPr bwMode="auto">
                  <a:xfrm>
                    <a:off x="2545" y="2350"/>
                    <a:ext cx="799" cy="4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12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45" y="2350"/>
                    <a:ext cx="799" cy="4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7" y="2363"/>
                    <a:ext cx="2519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/>
                  <a:p>
                    <a:pPr algn="l" eaLnBrk="1" hangingPunct="1">
                      <a:spcBef>
                        <a:spcPct val="50000"/>
                      </a:spcBef>
                    </a:pPr>
                    <a:r>
                      <a:rPr lang="zh-CN" altLang="en-US" sz="2800" dirty="0"/>
                      <a:t>在</a:t>
                    </a:r>
                    <a14:m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zh-CN" alt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0</m:t>
                            </m:r>
                            <m:r>
                              <a:rPr kumimoji="1" lang="en-US" altLang="zh-CN" sz="2800">
                                <a:latin typeface="Cambria Math" panose="02040503050406030204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Cambria Math" panose="02040503050406030204" charset="0"/>
                              </a:rPr>
                              <m:t> 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zh-CN" altLang="en-US" sz="2800" dirty="0"/>
                      <a:t>内各点处收</a:t>
                    </a:r>
                  </a:p>
                </p:txBody>
              </p:sp>
            </mc:Choice>
            <mc:Fallback xmlns="">
              <p:sp>
                <p:nvSpPr>
                  <p:cNvPr id="13" name="Text 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087" y="2363"/>
                    <a:ext cx="2519" cy="33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201" t="-15116" b="-29070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 Box 61"/>
              <p:cNvSpPr txBox="1">
                <a:spLocks noChangeArrowheads="1"/>
              </p:cNvSpPr>
              <p:nvPr/>
            </p:nvSpPr>
            <p:spPr bwMode="auto">
              <a:xfrm>
                <a:off x="645" y="2354"/>
                <a:ext cx="170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800" dirty="0"/>
                  <a:t>收敛于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45" y="2885"/>
                    <a:ext cx="41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800" dirty="0"/>
                      <a:t>敛于零的</a:t>
                    </a:r>
                    <a14:m>
                      <m:oMath xmlns:m="http://schemas.openxmlformats.org/officeDocument/2006/math"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kumimoji="1" lang="zh-CN" altLang="en-US" sz="28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“</m:t>
                        </m:r>
                      </m:oMath>
                    </a14:m>
                    <a:r>
                      <a:rPr lang="zh-CN" altLang="en-US" sz="2800" dirty="0"/>
                      <a:t>快慢</a:t>
                    </a:r>
                    <a14:m>
                      <m:oMath xmlns:m="http://schemas.openxmlformats.org/officeDocument/2006/math">
                        <m:r>
                          <a:rPr kumimoji="1" lang="zh-CN" altLang="en-US" sz="2800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”</m:t>
                        </m:r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 </m:t>
                        </m:r>
                      </m:oMath>
                    </a14:m>
                    <a:r>
                      <a:rPr lang="zh-CN" altLang="en-US" sz="2800" dirty="0"/>
                      <a:t>程度是不一致的．</a:t>
                    </a:r>
                  </a:p>
                </p:txBody>
              </p:sp>
            </mc:Choice>
            <mc:Fallback xmlns="">
              <p:sp>
                <p:nvSpPr>
                  <p:cNvPr id="15" name="Text Box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45" y="2885"/>
                    <a:ext cx="4128" cy="32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953" t="-15294" b="-30588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BC2E083-766B-A11C-E8C3-212CFE2E234A}"/>
              </a:ext>
            </a:extLst>
          </p:cNvPr>
          <p:cNvGrpSpPr/>
          <p:nvPr/>
        </p:nvGrpSpPr>
        <p:grpSpPr>
          <a:xfrm>
            <a:off x="1676887" y="835639"/>
            <a:ext cx="612775" cy="612775"/>
            <a:chOff x="1601" y="872"/>
            <a:chExt cx="965" cy="965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ACFDE494-6198-4EA7-0303-116F084F8C5E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835FFB3-29A0-51E8-EDA5-BFAEB291F5B2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74DE4541-2184-3AEA-6C44-BDE641E56134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p:pic>
        <p:nvPicPr>
          <p:cNvPr id="36" name="图片 35" descr="图示&#10;&#10;描述已自动生成">
            <a:extLst>
              <a:ext uri="{FF2B5EF4-FFF2-40B4-BE49-F238E27FC236}">
                <a16:creationId xmlns:a16="http://schemas.microsoft.com/office/drawing/2014/main" id="{9E56E43D-680E-A6D8-89E9-CD20A54311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219" y="3167718"/>
            <a:ext cx="3106075" cy="27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579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350824E-BED7-95D6-E7E1-51EC59D225C7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D9E8DBC8-9224-CD42-E7F5-9F2B953A48C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F468435-234A-4528-ABD8-E86754FA3FA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41F668E1-D38C-A06E-884D-4713398E130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F352A830-744C-3F59-F0E7-9A53F345B429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3133A72A-5812-781D-502D-0EA4081D1C19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343" name="Object 23"/>
              <p:cNvSpPr txBox="1"/>
              <p:nvPr/>
            </p:nvSpPr>
            <p:spPr bwMode="auto">
              <a:xfrm>
                <a:off x="2688883" y="1913192"/>
                <a:ext cx="7712417" cy="15892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对于任意正数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这级数在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 [0,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一致收敛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．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634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8883" y="1913192"/>
                <a:ext cx="7712417" cy="1589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344" name="Text Box 24"/>
              <p:cNvSpPr txBox="1">
                <a:spLocks noChangeArrowheads="1"/>
              </p:cNvSpPr>
              <p:nvPr/>
            </p:nvSpPr>
            <p:spPr bwMode="auto">
              <a:xfrm>
                <a:off x="2688883" y="3429000"/>
                <a:ext cx="74676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) </m:t>
                    </m:r>
                  </m:oMath>
                </a14:m>
                <a:r>
                  <a:rPr lang="zh-CN" altLang="en-US" sz="2800" dirty="0"/>
                  <a:t>一致收敛性与所讨论的区间有关．</a:t>
                </a:r>
              </a:p>
            </p:txBody>
          </p:sp>
        </mc:Choice>
        <mc:Fallback xmlns="">
          <p:sp>
            <p:nvSpPr>
              <p:cNvPr id="56344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8883" y="3429000"/>
                <a:ext cx="7467600" cy="519112"/>
              </a:xfrm>
              <a:prstGeom prst="rect">
                <a:avLst/>
              </a:prstGeom>
              <a:blipFill>
                <a:blip r:embed="rId4"/>
                <a:stretch>
                  <a:fillRect t="-15294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8898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43" grpId="0"/>
      <p:bldP spid="5634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D98B900-D959-76EA-AB60-14BD73DC53BD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7" name="PA-102232">
              <a:extLst>
                <a:ext uri="{FF2B5EF4-FFF2-40B4-BE49-F238E27FC236}">
                  <a16:creationId xmlns:a16="http://schemas.microsoft.com/office/drawing/2014/main" id="{A7D2546E-DB8E-0629-B0E3-0BE33CF0BC3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22B057E-4BE5-7FFC-1BDE-8215B855B498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BB1D08E8-9AD8-A4CB-5AB4-323863F8847A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B6B2BDAF-9D93-69DA-1673-5BE35E00389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DE996BCA-D5A1-3751-EBD1-E07585C55D7C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193"/>
              <p:cNvSpPr txBox="1">
                <a:spLocks noChangeArrowheads="1"/>
              </p:cNvSpPr>
              <p:nvPr/>
            </p:nvSpPr>
            <p:spPr>
              <a:xfrm>
                <a:off x="3106147" y="1291262"/>
                <a:ext cx="3881393" cy="6096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6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zh-CN" altLang="en-US" sz="2800" b="0" dirty="0">
                    <a:latin typeface="+mn-lt"/>
                    <a:ea typeface="+mn-ea"/>
                    <a:cs typeface="+mn-ea"/>
                    <a:sym typeface="+mn-lt"/>
                  </a:rPr>
                  <a:t>魏尔斯特拉斯判别法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) </m:t>
                    </m:r>
                  </m:oMath>
                </a14:m>
                <a:endParaRPr lang="zh-CN" altLang="en-US" sz="2800" b="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Rectangle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47" y="1291262"/>
                <a:ext cx="3881393" cy="609600"/>
              </a:xfrm>
              <a:prstGeom prst="rect">
                <a:avLst/>
              </a:prstGeom>
              <a:blipFill>
                <a:blip r:embed="rId4"/>
                <a:stretch>
                  <a:fillRect t="-20000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82"/>
          <p:cNvSpPr txBox="1">
            <a:spLocks noChangeArrowheads="1"/>
          </p:cNvSpPr>
          <p:nvPr/>
        </p:nvSpPr>
        <p:spPr bwMode="auto">
          <a:xfrm>
            <a:off x="3106147" y="2048669"/>
            <a:ext cx="2317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/>
                <a:cs typeface="+mn-ea"/>
                <a:sym typeface="+mn-lt"/>
              </a:rPr>
              <a:t>若函数项级数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83"/>
              <p:cNvSpPr txBox="1"/>
              <p:nvPr/>
            </p:nvSpPr>
            <p:spPr bwMode="auto">
              <a:xfrm>
                <a:off x="5303080" y="1711058"/>
                <a:ext cx="13843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Object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3080" y="1711058"/>
                <a:ext cx="1384300" cy="1028700"/>
              </a:xfrm>
              <a:prstGeom prst="rect">
                <a:avLst/>
              </a:prstGeom>
              <a:blipFill>
                <a:blip r:embed="rId5"/>
                <a:stretch>
                  <a:fillRect r="-19824" b="-17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84"/>
              <p:cNvSpPr txBox="1">
                <a:spLocks noChangeArrowheads="1"/>
              </p:cNvSpPr>
              <p:nvPr/>
            </p:nvSpPr>
            <p:spPr bwMode="auto">
              <a:xfrm>
                <a:off x="6973836" y="2068845"/>
                <a:ext cx="282340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/>
                    <a:cs typeface="+mn-ea"/>
                    <a:sym typeface="+mn-lt"/>
                  </a:rPr>
                  <a:t>在区间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/>
                    <a:cs typeface="+mn-ea"/>
                    <a:sym typeface="+mn-lt"/>
                  </a:rPr>
                  <a:t>上满足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/>
                    <a:cs typeface="+mn-ea"/>
                    <a:sym typeface="+mn-lt"/>
                  </a:rPr>
                  <a:t>:</a:t>
                </a:r>
              </a:p>
            </p:txBody>
          </p:sp>
        </mc:Choice>
        <mc:Fallback xmlns="">
          <p:sp>
            <p:nvSpPr>
              <p:cNvPr id="17" name="Text Box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73836" y="2068845"/>
                <a:ext cx="2823402" cy="523220"/>
              </a:xfrm>
              <a:prstGeom prst="rect">
                <a:avLst/>
              </a:prstGeom>
              <a:blipFill>
                <a:blip r:embed="rId6"/>
                <a:stretch>
                  <a:fillRect l="-4320" t="-13953" r="-3672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7"/>
              <p:cNvSpPr txBox="1"/>
              <p:nvPr/>
            </p:nvSpPr>
            <p:spPr bwMode="auto">
              <a:xfrm>
                <a:off x="3106147" y="2909807"/>
                <a:ext cx="5941573" cy="7684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(1) 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=1,2,3,⋯);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Object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6147" y="2909807"/>
                <a:ext cx="5941573" cy="7684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88"/>
              <p:cNvSpPr txBox="1"/>
              <p:nvPr/>
            </p:nvSpPr>
            <p:spPr bwMode="auto">
              <a:xfrm>
                <a:off x="3101392" y="3497726"/>
                <a:ext cx="5752603" cy="12998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正项级数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Object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392" y="3497726"/>
                <a:ext cx="5752603" cy="12998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90"/>
          <p:cNvSpPr txBox="1">
            <a:spLocks noChangeArrowheads="1"/>
          </p:cNvSpPr>
          <p:nvPr/>
        </p:nvSpPr>
        <p:spPr bwMode="auto">
          <a:xfrm>
            <a:off x="3101392" y="5043095"/>
            <a:ext cx="25186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黑体"/>
                <a:cs typeface="+mn-ea"/>
                <a:sym typeface="+mn-lt"/>
              </a:rPr>
              <a:t>则函数项级数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91"/>
              <p:cNvSpPr txBox="1"/>
              <p:nvPr/>
            </p:nvSpPr>
            <p:spPr bwMode="auto">
              <a:xfrm>
                <a:off x="5370368" y="4683202"/>
                <a:ext cx="1740047" cy="12998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1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0368" y="4683202"/>
                <a:ext cx="1740047" cy="12998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92"/>
              <p:cNvSpPr txBox="1">
                <a:spLocks noChangeArrowheads="1"/>
              </p:cNvSpPr>
              <p:nvPr/>
            </p:nvSpPr>
            <p:spPr bwMode="auto">
              <a:xfrm>
                <a:off x="7110415" y="5071518"/>
                <a:ext cx="354154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/>
                    <a:cs typeface="+mn-ea"/>
                    <a:sym typeface="+mn-lt"/>
                  </a:rPr>
                  <a:t>在区间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/>
                    <a:cs typeface="+mn-ea"/>
                    <a:sym typeface="+mn-lt"/>
                  </a:rPr>
                  <a:t>上一致收敛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22" name="Text Box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0415" y="5071518"/>
                <a:ext cx="3541547" cy="523220"/>
              </a:xfrm>
              <a:prstGeom prst="rect">
                <a:avLst/>
              </a:prstGeom>
              <a:blipFill>
                <a:blip r:embed="rId10"/>
                <a:stretch>
                  <a:fillRect l="-3442" t="-15116" r="-2754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1640499" y="633403"/>
            <a:ext cx="647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级数一致收敛性判别法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706FC48-19B3-33EB-1B06-BFD70A0414FB}"/>
              </a:ext>
            </a:extLst>
          </p:cNvPr>
          <p:cNvGrpSpPr/>
          <p:nvPr/>
        </p:nvGrpSpPr>
        <p:grpSpPr>
          <a:xfrm>
            <a:off x="2164080" y="1313820"/>
            <a:ext cx="912442" cy="448945"/>
            <a:chOff x="1553" y="3803"/>
            <a:chExt cx="1540" cy="707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7984A4D-5DC2-9EFD-3B44-52C398E2D4AD}"/>
                </a:ext>
              </a:extLst>
            </p:cNvPr>
            <p:cNvSpPr/>
            <p:nvPr/>
          </p:nvSpPr>
          <p:spPr>
            <a:xfrm>
              <a:off x="1553" y="3803"/>
              <a:ext cx="1540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C122452A-315E-2FB9-E65E-C01447036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10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8947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5" grpId="0" build="p" autoUpdateAnimBg="0"/>
      <p:bldP spid="16" grpId="0"/>
      <p:bldP spid="17" grpId="0" build="p" autoUpdateAnimBg="0" advAuto="0"/>
      <p:bldP spid="18" grpId="0"/>
      <p:bldP spid="19" grpId="0"/>
      <p:bldP spid="20" grpId="0" build="p" autoUpdateAnimBg="0"/>
      <p:bldP spid="21" grpId="0"/>
      <p:bldP spid="22" grpId="0" build="p" autoUpdateAnimBg="0" advAuto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950378D-F9E2-C183-AA25-F94A2F654B2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CDC00D23-6DF8-6E88-30F1-C0A09E87BF6F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68B0284-4CA1-BDA2-24D2-535125A3C04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A441FCA6-0F3E-3763-27D5-29B03989293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7239A63E-B37B-E0F1-22B5-1E4AD4AACA2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06BCCEB4-D1F6-FAD2-1D75-2E13E6B711F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58549" y="861945"/>
            <a:ext cx="7620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证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1" name="Text Box 3"/>
              <p:cNvSpPr txBox="1">
                <a:spLocks noChangeArrowheads="1"/>
              </p:cNvSpPr>
              <p:nvPr/>
            </p:nvSpPr>
            <p:spPr bwMode="auto">
              <a:xfrm>
                <a:off x="2853277" y="847360"/>
                <a:ext cx="414260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由条件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根据柯西审敛原理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5837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3277" y="847360"/>
                <a:ext cx="4142609" cy="430887"/>
              </a:xfrm>
              <a:prstGeom prst="rect">
                <a:avLst/>
              </a:prstGeom>
              <a:blipFill>
                <a:blip r:embed="rId4"/>
                <a:stretch>
                  <a:fillRect l="-1912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2" name="Object 4"/>
              <p:cNvSpPr txBox="1"/>
              <p:nvPr/>
            </p:nvSpPr>
            <p:spPr bwMode="auto">
              <a:xfrm>
                <a:off x="6650217" y="847459"/>
                <a:ext cx="1825864" cy="446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 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7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0217" y="847459"/>
                <a:ext cx="1825864" cy="446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8130411" y="833073"/>
            <a:ext cx="60785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当 </a:t>
            </a:r>
            <a:endParaRPr kumimoji="1" lang="zh-CN" altLang="en-US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4" name="Text Box 6"/>
              <p:cNvSpPr txBox="1">
                <a:spLocks noChangeArrowheads="1"/>
              </p:cNvSpPr>
              <p:nvPr/>
            </p:nvSpPr>
            <p:spPr bwMode="auto">
              <a:xfrm>
                <a:off x="2851057" y="1336176"/>
                <a:ext cx="1234633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&gt; </a:t>
                </a:r>
                <a:r>
                  <a:rPr kumimoji="1" lang="zh-CN" altLang="en-US" sz="22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𝑁</a:t>
                </a:r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837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1057" y="1336176"/>
                <a:ext cx="1234633" cy="430887"/>
              </a:xfrm>
              <a:prstGeom prst="rect">
                <a:avLst/>
              </a:prstGeom>
              <a:blipFill>
                <a:blip r:embed="rId6"/>
                <a:stretch>
                  <a:fillRect t="-14085" r="-990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5" name="Text Box 7"/>
              <p:cNvSpPr txBox="1">
                <a:spLocks noChangeArrowheads="1"/>
              </p:cNvSpPr>
              <p:nvPr/>
            </p:nvSpPr>
            <p:spPr bwMode="auto">
              <a:xfrm>
                <a:off x="4054004" y="1321889"/>
                <a:ext cx="292605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对任意正整数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都有 </a:t>
                </a:r>
              </a:p>
            </p:txBody>
          </p:sp>
        </mc:Choice>
        <mc:Fallback xmlns="">
          <p:sp>
            <p:nvSpPr>
              <p:cNvPr id="5837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4004" y="1321889"/>
                <a:ext cx="2926057" cy="430887"/>
              </a:xfrm>
              <a:prstGeom prst="rect">
                <a:avLst/>
              </a:prstGeom>
              <a:blipFill>
                <a:blip r:embed="rId7"/>
                <a:stretch>
                  <a:fillRect l="-2708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6" name="Object 8"/>
              <p:cNvSpPr txBox="1"/>
              <p:nvPr/>
            </p:nvSpPr>
            <p:spPr bwMode="auto">
              <a:xfrm>
                <a:off x="4151839" y="1704447"/>
                <a:ext cx="3854420" cy="8198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7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1839" y="1704447"/>
                <a:ext cx="3854420" cy="8198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7" name="Text Box 9"/>
              <p:cNvSpPr txBox="1">
                <a:spLocks noChangeArrowheads="1"/>
              </p:cNvSpPr>
              <p:nvPr/>
            </p:nvSpPr>
            <p:spPr bwMode="auto">
              <a:xfrm>
                <a:off x="2853277" y="2359327"/>
                <a:ext cx="288944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由条件</a:t>
                </a:r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(1)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Cambria Math" panose="02040503050406030204" pitchFamily="18" charset="0"/>
                    <a:sym typeface="+mn-lt"/>
                  </a:rPr>
                  <a:t>∈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有</a:t>
                </a:r>
              </a:p>
            </p:txBody>
          </p:sp>
        </mc:Choice>
        <mc:Fallback xmlns="">
          <p:sp>
            <p:nvSpPr>
              <p:cNvPr id="5837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3277" y="2359327"/>
                <a:ext cx="2889445" cy="430887"/>
              </a:xfrm>
              <a:prstGeom prst="rect">
                <a:avLst/>
              </a:prstGeom>
              <a:blipFill>
                <a:blip r:embed="rId9"/>
                <a:stretch>
                  <a:fillRect l="-2743" t="-14085" r="-422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8" name="Object 10"/>
              <p:cNvSpPr txBox="1"/>
              <p:nvPr/>
            </p:nvSpPr>
            <p:spPr bwMode="auto">
              <a:xfrm>
                <a:off x="4130249" y="2795766"/>
                <a:ext cx="4513078" cy="5370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7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0249" y="2795766"/>
                <a:ext cx="4513078" cy="537035"/>
              </a:xfrm>
              <a:prstGeom prst="rect">
                <a:avLst/>
              </a:prstGeom>
              <a:blipFill>
                <a:blip r:embed="rId10"/>
                <a:stretch>
                  <a:fillRect l="-13243" t="-145455" r="-12027" b="-2011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9" name="Object 11"/>
              <p:cNvSpPr txBox="1"/>
              <p:nvPr/>
            </p:nvSpPr>
            <p:spPr bwMode="auto">
              <a:xfrm>
                <a:off x="4130249" y="3348826"/>
                <a:ext cx="6911732" cy="9158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7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0249" y="3348826"/>
                <a:ext cx="6911732" cy="915892"/>
              </a:xfrm>
              <a:prstGeom prst="rect">
                <a:avLst/>
              </a:prstGeom>
              <a:blipFill>
                <a:blip r:embed="rId11"/>
                <a:stretch>
                  <a:fillRect l="-1765" t="-56954" b="-384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80" name="Object 12"/>
              <p:cNvSpPr txBox="1"/>
              <p:nvPr/>
            </p:nvSpPr>
            <p:spPr bwMode="auto">
              <a:xfrm>
                <a:off x="4130249" y="3766683"/>
                <a:ext cx="4607169" cy="9467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8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0249" y="3766683"/>
                <a:ext cx="4607169" cy="9467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81" name="Object 13"/>
              <p:cNvSpPr txBox="1"/>
              <p:nvPr/>
            </p:nvSpPr>
            <p:spPr bwMode="auto">
              <a:xfrm>
                <a:off x="2853277" y="4509668"/>
                <a:ext cx="35433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则由上式得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8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3277" y="4509668"/>
                <a:ext cx="3543300" cy="444500"/>
              </a:xfrm>
              <a:prstGeom prst="rect">
                <a:avLst/>
              </a:prstGeom>
              <a:blipFill>
                <a:blip r:embed="rId13"/>
                <a:stretch>
                  <a:fillRect l="-1205" b="-109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82" name="Object 14"/>
              <p:cNvSpPr txBox="1"/>
              <p:nvPr/>
            </p:nvSpPr>
            <p:spPr bwMode="auto">
              <a:xfrm>
                <a:off x="5682346" y="4395852"/>
                <a:ext cx="2151740" cy="7232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8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2346" y="4395852"/>
                <a:ext cx="2151740" cy="7232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2853277" y="5207244"/>
            <a:ext cx="201850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故函数项级数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84" name="Object 16"/>
              <p:cNvSpPr txBox="1"/>
              <p:nvPr/>
            </p:nvSpPr>
            <p:spPr bwMode="auto">
              <a:xfrm>
                <a:off x="4796755" y="4913184"/>
                <a:ext cx="1742524" cy="1187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38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6755" y="4913184"/>
                <a:ext cx="1742524" cy="118745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85" name="Text Box 17"/>
              <p:cNvSpPr txBox="1">
                <a:spLocks noChangeArrowheads="1"/>
              </p:cNvSpPr>
              <p:nvPr/>
            </p:nvSpPr>
            <p:spPr bwMode="auto">
              <a:xfrm>
                <a:off x="6099184" y="5228943"/>
                <a:ext cx="301709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在区间</a:t>
                </a:r>
                <a:r>
                  <a:rPr kumimoji="1" lang="zh-CN" altLang="en-US" sz="22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上一致收敛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5838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9184" y="5228943"/>
                <a:ext cx="3017094" cy="430887"/>
              </a:xfrm>
              <a:prstGeom prst="rect">
                <a:avLst/>
              </a:prstGeom>
              <a:blipFill>
                <a:blip r:embed="rId16"/>
                <a:stretch>
                  <a:fillRect l="-2632" t="-14286" r="-5263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DEEC438-8044-E9FC-5B20-1728F2FCB6BC}"/>
              </a:ext>
            </a:extLst>
          </p:cNvPr>
          <p:cNvGrpSpPr/>
          <p:nvPr/>
        </p:nvGrpSpPr>
        <p:grpSpPr>
          <a:xfrm>
            <a:off x="9064202" y="5265411"/>
            <a:ext cx="716209" cy="360271"/>
            <a:chOff x="1553" y="3803"/>
            <a:chExt cx="1165" cy="579"/>
          </a:xfrm>
        </p:grpSpPr>
        <p:sp>
          <p:nvSpPr>
            <p:cNvPr id="10" name="圆角矩形 21">
              <a:extLst>
                <a:ext uri="{FF2B5EF4-FFF2-40B4-BE49-F238E27FC236}">
                  <a16:creationId xmlns:a16="http://schemas.microsoft.com/office/drawing/2014/main" id="{79F482A1-41A5-DF23-FE13-E8EBD0DF6DFE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F96D3490-3701-4A47-9408-EF41F16CF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084697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8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8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 build="p" autoUpdateAnimBg="0"/>
      <p:bldP spid="58372" grpId="0"/>
      <p:bldP spid="58373" grpId="0" build="p" autoUpdateAnimBg="0"/>
      <p:bldP spid="58374" grpId="0" build="p" autoUpdateAnimBg="0" advAuto="0"/>
      <p:bldP spid="58375" grpId="0" build="p" autoUpdateAnimBg="0"/>
      <p:bldP spid="58376" grpId="0"/>
      <p:bldP spid="58377" grpId="0" build="p" autoUpdateAnimBg="0"/>
      <p:bldP spid="58378" grpId="0"/>
      <p:bldP spid="58379" grpId="0"/>
      <p:bldP spid="58380" grpId="0"/>
      <p:bldP spid="58381" grpId="0"/>
      <p:bldP spid="58382" grpId="0"/>
      <p:bldP spid="58383" grpId="0" build="p" autoUpdateAnimBg="0"/>
      <p:bldP spid="58384" grpId="0"/>
      <p:bldP spid="58385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63A637F-E19D-5E7C-2EE9-F1995A44760D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9EAFF80-5DE4-8036-BB1F-2FD3A996C05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9EAFF80-5DE4-8036-BB1F-2FD3A996C0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562BE7F1-C6E2-4019-B59C-180876A25E8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741494B3-2F62-F19A-CF4F-E4BC16D74CA5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0D9A866B-1A68-EEEC-26E7-78FD015111D9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00A4084-D4D4-13F3-10B9-1199E460949E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2481" name="Rectangle 17"/>
          <p:cNvSpPr>
            <a:spLocks noGrp="1" noChangeArrowheads="1"/>
          </p:cNvSpPr>
          <p:nvPr>
            <p:ph type="title" idx="4294967295"/>
          </p:nvPr>
        </p:nvSpPr>
        <p:spPr>
          <a:xfrm>
            <a:off x="2247255" y="1102536"/>
            <a:ext cx="10668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5 </a:t>
            </a:r>
          </a:p>
        </p:txBody>
      </p:sp>
      <p:sp>
        <p:nvSpPr>
          <p:cNvPr id="62482" name="Text Box 18"/>
          <p:cNvSpPr txBox="1">
            <a:spLocks noChangeArrowheads="1"/>
          </p:cNvSpPr>
          <p:nvPr/>
        </p:nvSpPr>
        <p:spPr bwMode="auto">
          <a:xfrm>
            <a:off x="2984405" y="1048514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证明级数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99" name="Object 35"/>
              <p:cNvSpPr txBox="1"/>
              <p:nvPr/>
            </p:nvSpPr>
            <p:spPr bwMode="auto">
              <a:xfrm>
                <a:off x="4425269" y="804562"/>
                <a:ext cx="5553315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49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5269" y="804562"/>
                <a:ext cx="5553315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500" name="Text Box 36"/>
          <p:cNvSpPr txBox="1">
            <a:spLocks noChangeArrowheads="1"/>
          </p:cNvSpPr>
          <p:nvPr/>
        </p:nvSpPr>
        <p:spPr bwMode="auto">
          <a:xfrm>
            <a:off x="2984405" y="1892472"/>
            <a:ext cx="4286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(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－∞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, +∞) </a:t>
            </a:r>
            <a:r>
              <a:rPr kumimoji="1" lang="zh-CN" altLang="en-US" sz="2800" noProof="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内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一致收敛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  <p:sp>
        <p:nvSpPr>
          <p:cNvPr id="62501" name="Text Box 37"/>
          <p:cNvSpPr txBox="1">
            <a:spLocks noChangeArrowheads="1"/>
          </p:cNvSpPr>
          <p:nvPr/>
        </p:nvSpPr>
        <p:spPr bwMode="auto">
          <a:xfrm>
            <a:off x="2247255" y="2628124"/>
            <a:ext cx="8274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503" name="Object 39"/>
              <p:cNvSpPr txBox="1"/>
              <p:nvPr/>
            </p:nvSpPr>
            <p:spPr bwMode="auto">
              <a:xfrm>
                <a:off x="2984405" y="2682694"/>
                <a:ext cx="35052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因对任意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∈(−∞,+∞),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03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4405" y="2682694"/>
                <a:ext cx="3505200" cy="444500"/>
              </a:xfrm>
              <a:prstGeom prst="rect">
                <a:avLst/>
              </a:prstGeom>
              <a:blipFill>
                <a:blip r:embed="rId4"/>
                <a:stretch>
                  <a:fillRect l="-1217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05" name="Object 41"/>
              <p:cNvSpPr txBox="1"/>
              <p:nvPr/>
            </p:nvSpPr>
            <p:spPr bwMode="auto">
              <a:xfrm>
                <a:off x="3644805" y="3310491"/>
                <a:ext cx="45974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func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05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4805" y="3310491"/>
                <a:ext cx="4597400" cy="10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506" name="Text Box 42"/>
          <p:cNvSpPr txBox="1">
            <a:spLocks noChangeArrowheads="1"/>
          </p:cNvSpPr>
          <p:nvPr/>
        </p:nvSpPr>
        <p:spPr bwMode="auto">
          <a:xfrm>
            <a:off x="2984405" y="4676632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而级数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508" name="Object 44"/>
              <p:cNvSpPr txBox="1"/>
              <p:nvPr/>
            </p:nvSpPr>
            <p:spPr bwMode="auto">
              <a:xfrm>
                <a:off x="3949019" y="4409863"/>
                <a:ext cx="9525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08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9019" y="4409863"/>
                <a:ext cx="952500" cy="1028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509" name="Text Box 45"/>
          <p:cNvSpPr txBox="1">
            <a:spLocks noChangeArrowheads="1"/>
          </p:cNvSpPr>
          <p:nvPr/>
        </p:nvSpPr>
        <p:spPr bwMode="auto">
          <a:xfrm>
            <a:off x="4841765" y="4705266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, </a:t>
            </a:r>
          </a:p>
        </p:txBody>
      </p:sp>
      <p:sp>
        <p:nvSpPr>
          <p:cNvPr id="62511" name="Text Box 47"/>
          <p:cNvSpPr txBox="1">
            <a:spLocks noChangeArrowheads="1"/>
          </p:cNvSpPr>
          <p:nvPr/>
        </p:nvSpPr>
        <p:spPr bwMode="auto">
          <a:xfrm>
            <a:off x="5561990" y="4702512"/>
            <a:ext cx="44165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由魏尔斯特拉斯判别法知所给级数</a:t>
            </a:r>
          </a:p>
        </p:txBody>
      </p:sp>
      <p:sp>
        <p:nvSpPr>
          <p:cNvPr id="62512" name="Text Box 48"/>
          <p:cNvSpPr txBox="1">
            <a:spLocks noChangeArrowheads="1"/>
          </p:cNvSpPr>
          <p:nvPr/>
        </p:nvSpPr>
        <p:spPr bwMode="auto">
          <a:xfrm>
            <a:off x="2984405" y="5554669"/>
            <a:ext cx="369043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在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(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－∞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, +∞)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内一致收敛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92919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2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2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1" grpId="0"/>
      <p:bldP spid="62482" grpId="0"/>
      <p:bldP spid="62499" grpId="0"/>
      <p:bldP spid="62500" grpId="0" build="p" autoUpdateAnimBg="0"/>
      <p:bldP spid="62501" grpId="0" build="p" autoUpdateAnimBg="0"/>
      <p:bldP spid="62503" grpId="0"/>
      <p:bldP spid="62506" grpId="0" build="p" autoUpdateAnimBg="0"/>
      <p:bldP spid="62508" grpId="0"/>
      <p:bldP spid="62509" grpId="0" build="p" autoUpdateAnimBg="0" advAuto="0"/>
      <p:bldP spid="62511" grpId="0" build="p" autoUpdateAnimBg="0"/>
      <p:bldP spid="62512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1750" y="518327"/>
            <a:ext cx="57150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三、一致收敛级数的基本性质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3141225" y="1295031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若级数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3" name="Object 5"/>
              <p:cNvSpPr txBox="1"/>
              <p:nvPr/>
            </p:nvSpPr>
            <p:spPr bwMode="auto">
              <a:xfrm>
                <a:off x="4208703" y="911488"/>
                <a:ext cx="3198561" cy="17730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满足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37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8703" y="911488"/>
                <a:ext cx="3198561" cy="17730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5" name="Object 7"/>
              <p:cNvSpPr txBox="1"/>
              <p:nvPr/>
            </p:nvSpPr>
            <p:spPr bwMode="auto">
              <a:xfrm>
                <a:off x="3141225" y="2662181"/>
                <a:ext cx="9413947" cy="15594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(2) 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上一致收敛于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37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1225" y="2662181"/>
                <a:ext cx="9413947" cy="1559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7" name="Object 9"/>
              <p:cNvSpPr txBox="1"/>
              <p:nvPr/>
            </p:nvSpPr>
            <p:spPr bwMode="auto">
              <a:xfrm>
                <a:off x="3141225" y="3874531"/>
                <a:ext cx="4943231" cy="7690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373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1225" y="3874531"/>
                <a:ext cx="4943231" cy="7690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1908913" y="4398502"/>
            <a:ext cx="6463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3141225" y="4412573"/>
            <a:ext cx="13131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只需证明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40" name="Object 12"/>
              <p:cNvSpPr txBox="1"/>
              <p:nvPr/>
            </p:nvSpPr>
            <p:spPr bwMode="auto">
              <a:xfrm>
                <a:off x="4376057" y="4395962"/>
                <a:ext cx="18415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374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6057" y="4395962"/>
                <a:ext cx="1841500" cy="444500"/>
              </a:xfrm>
              <a:prstGeom prst="rect">
                <a:avLst/>
              </a:prstGeom>
              <a:blipFill>
                <a:blip r:embed="rId5"/>
                <a:stretch>
                  <a:fillRect b="-16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41" name="Object 13"/>
              <p:cNvSpPr txBox="1"/>
              <p:nvPr/>
            </p:nvSpPr>
            <p:spPr bwMode="auto">
              <a:xfrm>
                <a:off x="5874659" y="4389805"/>
                <a:ext cx="2743200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374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4659" y="4389805"/>
                <a:ext cx="2743200" cy="685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3141225" y="4915520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43" name="Object 15"/>
              <p:cNvSpPr txBox="1"/>
              <p:nvPr/>
            </p:nvSpPr>
            <p:spPr bwMode="auto">
              <a:xfrm>
                <a:off x="4376057" y="4919133"/>
                <a:ext cx="21082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374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6057" y="4919133"/>
                <a:ext cx="2108200" cy="469900"/>
              </a:xfrm>
              <a:prstGeom prst="rect">
                <a:avLst/>
              </a:prstGeom>
              <a:blipFill>
                <a:blip r:embed="rId7"/>
                <a:stretch>
                  <a:fillRect l="-20231" t="-114286" r="-15896" b="-1688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44" name="Object 16"/>
              <p:cNvSpPr txBox="1"/>
              <p:nvPr/>
            </p:nvSpPr>
            <p:spPr bwMode="auto">
              <a:xfrm>
                <a:off x="4896757" y="5401136"/>
                <a:ext cx="54737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)]−[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374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6757" y="5401136"/>
                <a:ext cx="5473700" cy="469900"/>
              </a:xfrm>
              <a:prstGeom prst="rect">
                <a:avLst/>
              </a:prstGeom>
              <a:blipFill>
                <a:blip r:embed="rId8"/>
                <a:stretch>
                  <a:fillRect l="-2450" t="-114286" b="-1688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45" name="Object 17"/>
              <p:cNvSpPr txBox="1"/>
              <p:nvPr/>
            </p:nvSpPr>
            <p:spPr bwMode="auto">
              <a:xfrm>
                <a:off x="4884057" y="5889675"/>
                <a:ext cx="54991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2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374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4057" y="5889675"/>
                <a:ext cx="5499100" cy="469900"/>
              </a:xfrm>
              <a:prstGeom prst="rect">
                <a:avLst/>
              </a:prstGeom>
              <a:blipFill>
                <a:blip r:embed="rId9"/>
                <a:stretch>
                  <a:fillRect l="-2550" t="-114286" r="-2106" b="-1688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46" name="Object 18"/>
              <p:cNvSpPr txBox="1"/>
              <p:nvPr/>
            </p:nvSpPr>
            <p:spPr bwMode="auto">
              <a:xfrm>
                <a:off x="3141225" y="2149950"/>
                <a:ext cx="7196763" cy="7690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各项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3746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1225" y="2149950"/>
                <a:ext cx="7196763" cy="7690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739C1347-D619-1358-3C8D-81216E28F8B1}"/>
              </a:ext>
            </a:extLst>
          </p:cNvPr>
          <p:cNvGrpSpPr/>
          <p:nvPr/>
        </p:nvGrpSpPr>
        <p:grpSpPr>
          <a:xfrm>
            <a:off x="1908913" y="1347107"/>
            <a:ext cx="1238885" cy="449580"/>
            <a:chOff x="1553" y="3802"/>
            <a:chExt cx="1951" cy="708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D4A16EFC-1247-A5FD-55A9-309E36D671ED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AAC9E73D-126F-22EB-80AD-14CD4D2D5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449966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3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2" grpId="0" build="p" autoUpdateAnimBg="0"/>
      <p:bldP spid="73733" grpId="0"/>
      <p:bldP spid="73735" grpId="0"/>
      <p:bldP spid="73737" grpId="0"/>
      <p:bldP spid="73738" grpId="0" build="p" autoUpdateAnimBg="0"/>
      <p:bldP spid="73739" grpId="0" build="p" autoUpdateAnimBg="0" advAuto="0"/>
      <p:bldP spid="73740" grpId="0"/>
      <p:bldP spid="73741" grpId="0"/>
      <p:bldP spid="73742" grpId="0" build="p" autoUpdateAnimBg="0"/>
      <p:bldP spid="73743" grpId="0"/>
      <p:bldP spid="73744" grpId="0"/>
      <p:bldP spid="73745" grpId="0"/>
      <p:bldP spid="737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A9496BE-95EA-9EE9-3B2E-0B6456E4A54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5" name="PA-102232">
              <a:extLst>
                <a:ext uri="{FF2B5EF4-FFF2-40B4-BE49-F238E27FC236}">
                  <a16:creationId xmlns:a16="http://schemas.microsoft.com/office/drawing/2014/main" id="{877C379A-304B-D77E-F155-98AC43E8E71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3135B17-7969-FF88-8B21-1E07A330974C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A9E8CF13-4068-4C7A-33F9-32979A7409C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03A8110A-1C2F-9FF0-555F-18DB90158A6C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EF06CAD3-1CEF-2A50-1DC6-B692285A26BC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2929032" y="926590"/>
            <a:ext cx="15174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因为级数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8" name="Object 6"/>
              <p:cNvSpPr txBox="1"/>
              <p:nvPr/>
            </p:nvSpPr>
            <p:spPr bwMode="auto">
              <a:xfrm>
                <a:off x="4120476" y="630193"/>
                <a:ext cx="1526267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0476" y="630193"/>
                <a:ext cx="1526267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19" name="Text Box 7"/>
              <p:cNvSpPr txBox="1">
                <a:spLocks noChangeArrowheads="1"/>
              </p:cNvSpPr>
              <p:nvPr/>
            </p:nvSpPr>
            <p:spPr bwMode="auto">
              <a:xfrm>
                <a:off x="5468574" y="926698"/>
                <a:ext cx="2695569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一致收敛于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6451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8574" y="926698"/>
                <a:ext cx="2695569" cy="453137"/>
              </a:xfrm>
              <a:prstGeom prst="rect">
                <a:avLst/>
              </a:prstGeom>
              <a:blipFill>
                <a:blip r:embed="rId4"/>
                <a:stretch>
                  <a:fillRect l="-2941" t="-9459" b="-270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0" name="Object 8"/>
              <p:cNvSpPr txBox="1"/>
              <p:nvPr/>
            </p:nvSpPr>
            <p:spPr bwMode="auto">
              <a:xfrm>
                <a:off x="7544437" y="929061"/>
                <a:ext cx="2450832" cy="4797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4437" y="929061"/>
                <a:ext cx="2450832" cy="479778"/>
              </a:xfrm>
              <a:prstGeom prst="rect">
                <a:avLst/>
              </a:prstGeom>
              <a:blipFill>
                <a:blip r:embed="rId5"/>
                <a:stretch>
                  <a:fillRect l="-1741" b="-12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1" name="Object 9"/>
              <p:cNvSpPr txBox="1"/>
              <p:nvPr/>
            </p:nvSpPr>
            <p:spPr bwMode="auto">
              <a:xfrm>
                <a:off x="2929032" y="1659009"/>
                <a:ext cx="1350159" cy="4515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9032" y="1659009"/>
                <a:ext cx="1350159" cy="451556"/>
              </a:xfrm>
              <a:prstGeom prst="rect">
                <a:avLst/>
              </a:prstGeom>
              <a:blipFill>
                <a:blip r:embed="rId6"/>
                <a:stretch>
                  <a:fillRect b="-135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2" name="Text Box 10"/>
              <p:cNvSpPr txBox="1">
                <a:spLocks noChangeArrowheads="1"/>
              </p:cNvSpPr>
              <p:nvPr/>
            </p:nvSpPr>
            <p:spPr bwMode="auto">
              <a:xfrm>
                <a:off x="3956990" y="1676303"/>
                <a:ext cx="256960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使当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  <a:sym typeface="+mn-lt"/>
                  </a:rPr>
                  <a:t>&gt;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  <a:sym typeface="+mn-lt"/>
                  </a:rPr>
                  <a:t>𝑁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时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有</a:t>
                </a:r>
              </a:p>
            </p:txBody>
          </p:sp>
        </mc:Choice>
        <mc:Fallback xmlns="">
          <p:sp>
            <p:nvSpPr>
              <p:cNvPr id="6452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6990" y="1676303"/>
                <a:ext cx="2569608" cy="430887"/>
              </a:xfrm>
              <a:prstGeom prst="rect">
                <a:avLst/>
              </a:prstGeom>
              <a:blipFill>
                <a:blip r:embed="rId7"/>
                <a:stretch>
                  <a:fillRect l="-3081" t="-14085" b="-267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3" name="Object 11"/>
              <p:cNvSpPr txBox="1"/>
              <p:nvPr/>
            </p:nvSpPr>
            <p:spPr bwMode="auto">
              <a:xfrm>
                <a:off x="3942569" y="2123506"/>
                <a:ext cx="3855692" cy="7654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569" y="2123506"/>
                <a:ext cx="3855692" cy="7654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4" name="Text Box 12"/>
              <p:cNvSpPr txBox="1">
                <a:spLocks noChangeArrowheads="1"/>
              </p:cNvSpPr>
              <p:nvPr/>
            </p:nvSpPr>
            <p:spPr bwMode="auto">
              <a:xfrm>
                <a:off x="2929032" y="2856595"/>
                <a:ext cx="265852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对这样选定的</a:t>
                </a:r>
                <a:r>
                  <a:rPr kumimoji="1" lang="zh-CN" altLang="en-US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6452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9032" y="2856595"/>
                <a:ext cx="2658521" cy="430887"/>
              </a:xfrm>
              <a:prstGeom prst="rect">
                <a:avLst/>
              </a:prstGeom>
              <a:blipFill>
                <a:blip r:embed="rId9"/>
                <a:stretch>
                  <a:fillRect l="-2975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5" name="Object 13"/>
              <p:cNvSpPr txBox="1"/>
              <p:nvPr/>
            </p:nvSpPr>
            <p:spPr bwMode="auto">
              <a:xfrm>
                <a:off x="4941373" y="2852372"/>
                <a:ext cx="3008506" cy="522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连续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1373" y="2852372"/>
                <a:ext cx="3008506" cy="5221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7" name="Object 15"/>
              <p:cNvSpPr txBox="1"/>
              <p:nvPr/>
            </p:nvSpPr>
            <p:spPr bwMode="auto">
              <a:xfrm>
                <a:off x="2929032" y="3409838"/>
                <a:ext cx="3008506" cy="545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9032" y="3409838"/>
                <a:ext cx="3008506" cy="545705"/>
              </a:xfrm>
              <a:prstGeom prst="rect">
                <a:avLst/>
              </a:prstGeom>
              <a:blipFill>
                <a:blip r:embed="rId11"/>
                <a:stretch>
                  <a:fillRect l="-4656" t="-97778" b="-13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8" name="Object 16"/>
              <p:cNvSpPr txBox="1"/>
              <p:nvPr/>
            </p:nvSpPr>
            <p:spPr bwMode="auto">
              <a:xfrm>
                <a:off x="3943881" y="3852059"/>
                <a:ext cx="2872684" cy="693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3881" y="3852059"/>
                <a:ext cx="2872684" cy="69345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29" name="Text Box 17"/>
          <p:cNvSpPr txBox="1">
            <a:spLocks noChangeArrowheads="1"/>
          </p:cNvSpPr>
          <p:nvPr/>
        </p:nvSpPr>
        <p:spPr bwMode="auto">
          <a:xfrm>
            <a:off x="2929032" y="4603545"/>
            <a:ext cx="119144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从而得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30" name="Object 18"/>
              <p:cNvSpPr txBox="1"/>
              <p:nvPr/>
            </p:nvSpPr>
            <p:spPr bwMode="auto">
              <a:xfrm>
                <a:off x="3933720" y="4595783"/>
                <a:ext cx="2592878" cy="503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3720" y="4595783"/>
                <a:ext cx="2592878" cy="503313"/>
              </a:xfrm>
              <a:prstGeom prst="rect">
                <a:avLst/>
              </a:prstGeom>
              <a:blipFill>
                <a:blip r:embed="rId13"/>
                <a:stretch>
                  <a:fillRect l="-16197" t="-107317" b="-1524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2" name="Object 20"/>
              <p:cNvSpPr txBox="1"/>
              <p:nvPr/>
            </p:nvSpPr>
            <p:spPr bwMode="auto">
              <a:xfrm>
                <a:off x="2929032" y="5217630"/>
                <a:ext cx="3302019" cy="522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连续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2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9032" y="5217630"/>
                <a:ext cx="3302019" cy="522111"/>
              </a:xfrm>
              <a:prstGeom prst="rect">
                <a:avLst/>
              </a:prstGeom>
              <a:blipFill>
                <a:blip r:embed="rId14"/>
                <a:stretch>
                  <a:fillRect l="-12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3" name="Object 21"/>
              <p:cNvSpPr txBox="1"/>
              <p:nvPr/>
            </p:nvSpPr>
            <p:spPr bwMode="auto">
              <a:xfrm>
                <a:off x="5022345" y="5226437"/>
                <a:ext cx="3008506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3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2345" y="5226437"/>
                <a:ext cx="3008506" cy="622300"/>
              </a:xfrm>
              <a:prstGeom prst="rect">
                <a:avLst/>
              </a:prstGeom>
              <a:blipFill>
                <a:blip r:embed="rId15"/>
                <a:stretch>
                  <a:fillRect l="-12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6816565" y="2853866"/>
                <a:ext cx="3008506" cy="45155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从而必存在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565" y="2853866"/>
                <a:ext cx="3008506" cy="451556"/>
              </a:xfrm>
              <a:prstGeom prst="rect">
                <a:avLst/>
              </a:prstGeom>
              <a:blipFill>
                <a:blip r:embed="rId16"/>
                <a:stretch>
                  <a:fillRect l="-1417" b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0F2DDD4C-E388-3902-845B-5B853F748CD4}"/>
              </a:ext>
            </a:extLst>
          </p:cNvPr>
          <p:cNvGrpSpPr/>
          <p:nvPr/>
        </p:nvGrpSpPr>
        <p:grpSpPr>
          <a:xfrm>
            <a:off x="8004633" y="5298814"/>
            <a:ext cx="716209" cy="360271"/>
            <a:chOff x="1553" y="3803"/>
            <a:chExt cx="1165" cy="579"/>
          </a:xfrm>
        </p:grpSpPr>
        <p:sp>
          <p:nvSpPr>
            <p:cNvPr id="12" name="圆角矩形 21">
              <a:extLst>
                <a:ext uri="{FF2B5EF4-FFF2-40B4-BE49-F238E27FC236}">
                  <a16:creationId xmlns:a16="http://schemas.microsoft.com/office/drawing/2014/main" id="{1B591FCA-84E4-8BA5-DEDE-77971CCC24D4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60721589-8799-32B0-2B5C-761ED92C7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704278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4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/>
      <p:bldP spid="64518" grpId="0"/>
      <p:bldP spid="64519" grpId="0"/>
      <p:bldP spid="64520" grpId="0"/>
      <p:bldP spid="64521" grpId="0"/>
      <p:bldP spid="64522" grpId="0" build="p" autoUpdateAnimBg="0"/>
      <p:bldP spid="64523" grpId="0"/>
      <p:bldP spid="64524" grpId="0" build="p" autoUpdateAnimBg="0"/>
      <p:bldP spid="64525" grpId="0"/>
      <p:bldP spid="64527" grpId="0"/>
      <p:bldP spid="64529" grpId="0" build="p" autoUpdateAnimBg="0"/>
      <p:bldP spid="64530" grpId="0"/>
      <p:bldP spid="64532" grpId="0"/>
      <p:bldP spid="64533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6563" name="Text Box 3"/>
              <p:cNvSpPr txBox="1">
                <a:spLocks noChangeArrowheads="1"/>
              </p:cNvSpPr>
              <p:nvPr/>
            </p:nvSpPr>
            <p:spPr bwMode="auto">
              <a:xfrm>
                <a:off x="2347265" y="513842"/>
                <a:ext cx="551625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(1) 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定理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1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表明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对一致收敛的级数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656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7265" y="513842"/>
                <a:ext cx="5516254" cy="523220"/>
              </a:xfrm>
              <a:prstGeom prst="rect">
                <a:avLst/>
              </a:prstGeom>
              <a:blipFill>
                <a:blip r:embed="rId2"/>
                <a:stretch>
                  <a:fillRect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7663996" y="504081"/>
            <a:ext cx="276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极限运算与无限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5" name="Text Box 5"/>
              <p:cNvSpPr txBox="1">
                <a:spLocks noChangeArrowheads="1"/>
              </p:cNvSpPr>
              <p:nvPr/>
            </p:nvSpPr>
            <p:spPr bwMode="auto">
              <a:xfrm>
                <a:off x="2949929" y="1154390"/>
                <a:ext cx="285115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求和运算可交换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656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9929" y="1154390"/>
                <a:ext cx="2851150" cy="519112"/>
              </a:xfrm>
              <a:prstGeom prst="rect">
                <a:avLst/>
              </a:prstGeom>
              <a:blipFill>
                <a:blip r:embed="rId3"/>
                <a:stretch>
                  <a:fillRect l="-4487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5593840" y="1136207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即有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8" name="Object 8"/>
              <p:cNvSpPr txBox="1"/>
              <p:nvPr/>
            </p:nvSpPr>
            <p:spPr bwMode="auto">
              <a:xfrm>
                <a:off x="4110652" y="1628640"/>
                <a:ext cx="6280150" cy="12696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56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0652" y="1628640"/>
                <a:ext cx="6280150" cy="1269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9" name="Text Box 9"/>
              <p:cNvSpPr txBox="1">
                <a:spLocks noChangeArrowheads="1"/>
              </p:cNvSpPr>
              <p:nvPr/>
            </p:nvSpPr>
            <p:spPr bwMode="auto">
              <a:xfrm>
                <a:off x="2358052" y="2910465"/>
                <a:ext cx="906049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若函数项级数不一致收敛时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定理结论不一定成立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6656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8052" y="2910465"/>
                <a:ext cx="9060494" cy="523220"/>
              </a:xfrm>
              <a:prstGeom prst="rect">
                <a:avLst/>
              </a:prstGeom>
              <a:blipFill>
                <a:blip r:embed="rId5"/>
                <a:stretch>
                  <a:fillRect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2366250" y="3618329"/>
            <a:ext cx="10823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71" name="Object 11"/>
              <p:cNvSpPr txBox="1"/>
              <p:nvPr/>
            </p:nvSpPr>
            <p:spPr bwMode="auto">
              <a:xfrm>
                <a:off x="3111049" y="3601662"/>
                <a:ext cx="8455025" cy="9826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−1)+⋯+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657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1049" y="3601662"/>
                <a:ext cx="8455025" cy="9826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72" name="Text Box 12"/>
              <p:cNvSpPr txBox="1">
                <a:spLocks noChangeArrowheads="1"/>
              </p:cNvSpPr>
              <p:nvPr/>
            </p:nvSpPr>
            <p:spPr bwMode="auto">
              <a:xfrm>
                <a:off x="2347265" y="4362869"/>
                <a:ext cx="418095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在区间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[0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1]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上处处收敛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6657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7265" y="4362869"/>
                <a:ext cx="4180953" cy="523220"/>
              </a:xfrm>
              <a:prstGeom prst="rect">
                <a:avLst/>
              </a:prstGeom>
              <a:blipFill>
                <a:blip r:embed="rId7"/>
                <a:stretch>
                  <a:fillRect l="-2915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6243412" y="4350169"/>
            <a:ext cx="1962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而其和函数</a:t>
            </a:r>
          </a:p>
        </p:txBody>
      </p:sp>
      <p:grpSp>
        <p:nvGrpSpPr>
          <p:cNvPr id="66574" name="Group 14"/>
          <p:cNvGrpSpPr>
            <a:grpSpLocks/>
          </p:cNvGrpSpPr>
          <p:nvPr/>
        </p:nvGrpSpPr>
        <p:grpSpPr bwMode="auto">
          <a:xfrm>
            <a:off x="2347265" y="5120811"/>
            <a:ext cx="4498976" cy="1085852"/>
            <a:chOff x="922" y="583"/>
            <a:chExt cx="2834" cy="6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575" name="Object 15"/>
                <p:cNvSpPr txBox="1"/>
                <p:nvPr/>
              </p:nvSpPr>
              <p:spPr bwMode="auto">
                <a:xfrm>
                  <a:off x="922" y="784"/>
                  <a:ext cx="1234" cy="2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𝑠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57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2" y="784"/>
                  <a:ext cx="1234" cy="258"/>
                </a:xfrm>
                <a:prstGeom prst="rect">
                  <a:avLst/>
                </a:prstGeom>
                <a:blipFill>
                  <a:blip r:embed="rId8"/>
                  <a:stretch>
                    <a:fillRect b="-1617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576" name="AutoShape 16"/>
            <p:cNvSpPr>
              <a:spLocks/>
            </p:cNvSpPr>
            <p:nvPr/>
          </p:nvSpPr>
          <p:spPr bwMode="auto">
            <a:xfrm>
              <a:off x="1693" y="619"/>
              <a:ext cx="81" cy="648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577" name="Object 17"/>
                <p:cNvSpPr txBox="1"/>
                <p:nvPr/>
              </p:nvSpPr>
              <p:spPr bwMode="auto">
                <a:xfrm>
                  <a:off x="2011" y="583"/>
                  <a:ext cx="1745" cy="4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≤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&lt;1,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577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1" y="583"/>
                  <a:ext cx="1745" cy="42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578" name="Object 18"/>
                <p:cNvSpPr txBox="1"/>
                <p:nvPr/>
              </p:nvSpPr>
              <p:spPr bwMode="auto">
                <a:xfrm>
                  <a:off x="1788" y="604"/>
                  <a:ext cx="184" cy="2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578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8" y="604"/>
                  <a:ext cx="184" cy="232"/>
                </a:xfrm>
                <a:prstGeom prst="rect">
                  <a:avLst/>
                </a:prstGeom>
                <a:blipFill>
                  <a:blip r:embed="rId10"/>
                  <a:stretch>
                    <a:fillRect r="-16667" b="-2131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579" name="Object 19"/>
                <p:cNvSpPr txBox="1"/>
                <p:nvPr/>
              </p:nvSpPr>
              <p:spPr bwMode="auto">
                <a:xfrm>
                  <a:off x="2041" y="970"/>
                  <a:ext cx="719" cy="2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579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41" y="970"/>
                  <a:ext cx="719" cy="242"/>
                </a:xfrm>
                <a:prstGeom prst="rect">
                  <a:avLst/>
                </a:prstGeom>
                <a:blipFill>
                  <a:blip r:embed="rId11"/>
                  <a:stretch>
                    <a:fillRect b="-476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580" name="Object 20"/>
                <p:cNvSpPr txBox="1"/>
                <p:nvPr/>
              </p:nvSpPr>
              <p:spPr bwMode="auto">
                <a:xfrm>
                  <a:off x="1792" y="956"/>
                  <a:ext cx="168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580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92" y="956"/>
                  <a:ext cx="168" cy="248"/>
                </a:xfrm>
                <a:prstGeom prst="rect">
                  <a:avLst/>
                </a:prstGeom>
                <a:blipFill>
                  <a:blip r:embed="rId12"/>
                  <a:stretch>
                    <a:fillRect r="-27273" b="-1562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581" name="Text Box 21"/>
              <p:cNvSpPr txBox="1">
                <a:spLocks noChangeArrowheads="1"/>
              </p:cNvSpPr>
              <p:nvPr/>
            </p:nvSpPr>
            <p:spPr bwMode="auto">
              <a:xfrm>
                <a:off x="5828653" y="5473565"/>
                <a:ext cx="32428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= 1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处不连续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66581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8653" y="5473565"/>
                <a:ext cx="3242875" cy="523220"/>
              </a:xfrm>
              <a:prstGeom prst="rect">
                <a:avLst/>
              </a:prstGeom>
              <a:blipFill>
                <a:blip r:embed="rId13"/>
                <a:stretch>
                  <a:fillRect l="-3759" t="-16279" r="-2820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CBB23472-9726-5536-F343-12C01FA08326}"/>
              </a:ext>
            </a:extLst>
          </p:cNvPr>
          <p:cNvGrpSpPr/>
          <p:nvPr/>
        </p:nvGrpSpPr>
        <p:grpSpPr>
          <a:xfrm>
            <a:off x="1253795" y="3660343"/>
            <a:ext cx="1011555" cy="448945"/>
            <a:chOff x="1553" y="3803"/>
            <a:chExt cx="1593" cy="707"/>
          </a:xfrm>
        </p:grpSpPr>
        <p:sp>
          <p:nvSpPr>
            <p:cNvPr id="10" name="圆角矩形 21">
              <a:extLst>
                <a:ext uri="{FF2B5EF4-FFF2-40B4-BE49-F238E27FC236}">
                  <a16:creationId xmlns:a16="http://schemas.microsoft.com/office/drawing/2014/main" id="{B65C21CD-38EB-BBF6-765C-31DE7D4DB5A0}"/>
                </a:ext>
              </a:extLst>
            </p:cNvPr>
            <p:cNvSpPr/>
            <p:nvPr/>
          </p:nvSpPr>
          <p:spPr>
            <a:xfrm>
              <a:off x="1553" y="3803"/>
              <a:ext cx="146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0DCD7724-B4DF-7505-75AF-3FBC398783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2" y="3803"/>
              <a:ext cx="146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C2D6294-568B-670C-E8B5-42F0BF285257}"/>
              </a:ext>
            </a:extLst>
          </p:cNvPr>
          <p:cNvGrpSpPr/>
          <p:nvPr/>
        </p:nvGrpSpPr>
        <p:grpSpPr>
          <a:xfrm>
            <a:off x="1243008" y="540353"/>
            <a:ext cx="612775" cy="612775"/>
            <a:chOff x="1601" y="872"/>
            <a:chExt cx="965" cy="965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534A7EE-B477-0F56-2C17-3A78C1DDEAFD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882ABAE-E042-B001-7E5E-E1F0315AF793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F9CE3FF-2C95-6BB6-501B-EAF457ED7D62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4918007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6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  <p:bldP spid="66564" grpId="0" build="p" autoUpdateAnimBg="0"/>
      <p:bldP spid="66565" grpId="0" build="p" autoUpdateAnimBg="0" advAuto="0"/>
      <p:bldP spid="66566" grpId="0" build="p" autoUpdateAnimBg="0"/>
      <p:bldP spid="66568" grpId="0"/>
      <p:bldP spid="66569" grpId="0" build="p" autoUpdateAnimBg="0"/>
      <p:bldP spid="66570" grpId="0" build="p" autoUpdateAnimBg="0"/>
      <p:bldP spid="66571" grpId="0"/>
      <p:bldP spid="66572" grpId="0" build="p" autoUpdateAnimBg="0"/>
      <p:bldP spid="66573" grpId="0" build="p" autoUpdateAnimBg="0"/>
      <p:bldP spid="6658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2609756" y="688197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若级数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56" name="Object 4"/>
              <p:cNvSpPr txBox="1"/>
              <p:nvPr/>
            </p:nvSpPr>
            <p:spPr bwMode="auto">
              <a:xfrm>
                <a:off x="3744234" y="333516"/>
                <a:ext cx="3432166" cy="14620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满足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475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4234" y="333516"/>
                <a:ext cx="3432166" cy="14620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58" name="Object 6"/>
              <p:cNvSpPr txBox="1"/>
              <p:nvPr/>
            </p:nvSpPr>
            <p:spPr bwMode="auto">
              <a:xfrm>
                <a:off x="2609756" y="1903849"/>
                <a:ext cx="7623642" cy="12858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(2) 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上一致收敛于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ea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47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9756" y="1903849"/>
                <a:ext cx="7623642" cy="1285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59" name="Text Box 7"/>
              <p:cNvSpPr txBox="1">
                <a:spLocks noChangeArrowheads="1"/>
              </p:cNvSpPr>
              <p:nvPr/>
            </p:nvSpPr>
            <p:spPr bwMode="auto">
              <a:xfrm>
                <a:off x="2609756" y="3077277"/>
                <a:ext cx="554190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则该级数在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[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]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上可逐项积分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, </a:t>
                </a:r>
              </a:p>
            </p:txBody>
          </p:sp>
        </mc:Choice>
        <mc:Fallback xmlns="">
          <p:sp>
            <p:nvSpPr>
              <p:cNvPr id="7475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9756" y="3077277"/>
                <a:ext cx="5541902" cy="523220"/>
              </a:xfrm>
              <a:prstGeom prst="rect">
                <a:avLst/>
              </a:prstGeom>
              <a:blipFill>
                <a:blip r:embed="rId4"/>
                <a:stretch>
                  <a:fillRect l="-2200" t="-16279" r="-1760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1" name="Object 9"/>
              <p:cNvSpPr txBox="1"/>
              <p:nvPr/>
            </p:nvSpPr>
            <p:spPr bwMode="auto">
              <a:xfrm>
                <a:off x="3689349" y="3417280"/>
                <a:ext cx="6727825" cy="12858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476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9349" y="3417280"/>
                <a:ext cx="6727825" cy="1285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2" name="Object 10"/>
              <p:cNvSpPr txBox="1"/>
              <p:nvPr/>
            </p:nvSpPr>
            <p:spPr bwMode="auto">
              <a:xfrm>
                <a:off x="7802131" y="3077277"/>
                <a:ext cx="3680568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即对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/>
                              <a:cs typeface="+mn-ea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&lt;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𝑏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/>
                          <a:cs typeface="+mn-ea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黑体"/>
                  <a:ea typeface="黑体"/>
                  <a:cs typeface="+mn-ea"/>
                </a:endParaRPr>
              </a:p>
            </p:txBody>
          </p:sp>
        </mc:Choice>
        <mc:Fallback xmlns="">
          <p:sp>
            <p:nvSpPr>
              <p:cNvPr id="7476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02131" y="3077277"/>
                <a:ext cx="3680568" cy="457200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3" name="Text Box 11"/>
              <p:cNvSpPr txBox="1">
                <a:spLocks noChangeArrowheads="1"/>
              </p:cNvSpPr>
              <p:nvPr/>
            </p:nvSpPr>
            <p:spPr bwMode="auto">
              <a:xfrm>
                <a:off x="2609756" y="4542030"/>
                <a:ext cx="682173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且上式右端级数在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[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]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上也一致收敛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7476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9756" y="4542030"/>
                <a:ext cx="6821739" cy="523220"/>
              </a:xfrm>
              <a:prstGeom prst="rect">
                <a:avLst/>
              </a:prstGeom>
              <a:blipFill>
                <a:blip r:embed="rId7"/>
                <a:stretch>
                  <a:fillRect l="-1787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764" name="Text Box 12"/>
          <p:cNvSpPr txBox="1">
            <a:spLocks noChangeArrowheads="1"/>
          </p:cNvSpPr>
          <p:nvPr/>
        </p:nvSpPr>
        <p:spPr bwMode="auto">
          <a:xfrm>
            <a:off x="1437589" y="4976645"/>
            <a:ext cx="20697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因为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765" name="Object 13"/>
              <p:cNvSpPr txBox="1"/>
              <p:nvPr/>
            </p:nvSpPr>
            <p:spPr bwMode="auto">
              <a:xfrm>
                <a:off x="2591298" y="5389785"/>
                <a:ext cx="2744637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476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1298" y="5389785"/>
                <a:ext cx="2744637" cy="1054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6" name="Object 14"/>
              <p:cNvSpPr txBox="1"/>
              <p:nvPr/>
            </p:nvSpPr>
            <p:spPr bwMode="auto">
              <a:xfrm>
                <a:off x="4743427" y="5389785"/>
                <a:ext cx="5653356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476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3427" y="5389785"/>
                <a:ext cx="5653356" cy="1054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7" name="Object 15"/>
              <p:cNvSpPr txBox="1"/>
              <p:nvPr/>
            </p:nvSpPr>
            <p:spPr bwMode="auto">
              <a:xfrm>
                <a:off x="2609756" y="1504723"/>
                <a:ext cx="7722373" cy="6341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各项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476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9756" y="1504723"/>
                <a:ext cx="7722373" cy="6341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89B348BC-A004-3B68-C9E3-02355964FBD6}"/>
              </a:ext>
            </a:extLst>
          </p:cNvPr>
          <p:cNvGrpSpPr/>
          <p:nvPr/>
        </p:nvGrpSpPr>
        <p:grpSpPr>
          <a:xfrm>
            <a:off x="1437589" y="722216"/>
            <a:ext cx="1238885" cy="449580"/>
            <a:chOff x="1553" y="3802"/>
            <a:chExt cx="1951" cy="708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62C62373-BA66-2F01-D322-D87197C9FF34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BF90D9A9-7550-FD09-4F83-DFD066A95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57480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4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4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  <p:bldP spid="74756" grpId="0"/>
      <p:bldP spid="74758" grpId="0"/>
      <p:bldP spid="74759" grpId="0" build="p" autoUpdateAnimBg="0"/>
      <p:bldP spid="74761" grpId="0"/>
      <p:bldP spid="74762" grpId="0"/>
      <p:bldP spid="74763" grpId="0" build="p" autoUpdateAnimBg="0"/>
      <p:bldP spid="74764" grpId="0" build="p" autoUpdateAnimBg="0"/>
      <p:bldP spid="74765" grpId="0"/>
      <p:bldP spid="74766" grpId="0"/>
      <p:bldP spid="747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6ED50CD-4113-AEAB-8F5D-428E6D1B6C7F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47B9E05F-0408-4100-05B0-51D7ADC6808B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47B9E05F-0408-4100-05B0-51D7ADC680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503D5BB5-2CF2-C88B-DC60-71C76C98C7A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667D546D-4904-AE97-10F9-3C8548469A3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FFAE6BCF-54B8-895E-8F9D-ECB6D9A66DE9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98444AB0-4D25-63B0-025F-74BDC846E2B3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2791214" y="656418"/>
            <a:ext cx="28648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所以只需证明对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任意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90" name="Object 6"/>
              <p:cNvSpPr txBox="1"/>
              <p:nvPr/>
            </p:nvSpPr>
            <p:spPr bwMode="auto">
              <a:xfrm>
                <a:off x="5336897" y="621972"/>
                <a:ext cx="31115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59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6897" y="621972"/>
                <a:ext cx="3111500" cy="444500"/>
              </a:xfrm>
              <a:prstGeom prst="rect">
                <a:avLst/>
              </a:prstGeom>
              <a:blipFill>
                <a:blip r:embed="rId3"/>
                <a:stretch>
                  <a:fillRect b="-16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8106279" y="648536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一致有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92" name="Object 8"/>
              <p:cNvSpPr txBox="1"/>
              <p:nvPr/>
            </p:nvSpPr>
            <p:spPr bwMode="auto">
              <a:xfrm>
                <a:off x="4131010" y="1066472"/>
                <a:ext cx="4431966" cy="893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59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1010" y="1066472"/>
                <a:ext cx="4431966" cy="8934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93" name="Text Box 9"/>
              <p:cNvSpPr txBox="1">
                <a:spLocks noChangeArrowheads="1"/>
              </p:cNvSpPr>
              <p:nvPr/>
            </p:nvSpPr>
            <p:spPr bwMode="auto">
              <a:xfrm>
                <a:off x="2791214" y="1864719"/>
                <a:ext cx="306365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根据级数的一致收敛性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759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1214" y="1864719"/>
                <a:ext cx="3063659" cy="430887"/>
              </a:xfrm>
              <a:prstGeom prst="rect">
                <a:avLst/>
              </a:prstGeom>
              <a:blipFill>
                <a:blip r:embed="rId5"/>
                <a:stretch>
                  <a:fillRect l="-2590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94" name="Object 10"/>
              <p:cNvSpPr txBox="1"/>
              <p:nvPr/>
            </p:nvSpPr>
            <p:spPr bwMode="auto">
              <a:xfrm>
                <a:off x="5764844" y="1864787"/>
                <a:ext cx="3411126" cy="4477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&gt;0, ∃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59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4844" y="1864787"/>
                <a:ext cx="3411126" cy="447730"/>
              </a:xfrm>
              <a:prstGeom prst="rect">
                <a:avLst/>
              </a:prstGeom>
              <a:blipFill>
                <a:blip r:embed="rId6"/>
                <a:stretch>
                  <a:fillRect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95" name="Text Box 11"/>
          <p:cNvSpPr txBox="1">
            <a:spLocks noChangeArrowheads="1"/>
          </p:cNvSpPr>
          <p:nvPr/>
        </p:nvSpPr>
        <p:spPr bwMode="auto">
          <a:xfrm>
            <a:off x="8233335" y="1869941"/>
            <a:ext cx="8899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使当 </a:t>
            </a:r>
            <a:endParaRPr kumimoji="1" lang="zh-CN" altLang="en-US" sz="22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96" name="Text Box 12"/>
              <p:cNvSpPr txBox="1">
                <a:spLocks noChangeArrowheads="1"/>
              </p:cNvSpPr>
              <p:nvPr/>
            </p:nvSpPr>
            <p:spPr bwMode="auto">
              <a:xfrm>
                <a:off x="2791214" y="2246969"/>
                <a:ext cx="17107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&gt; </a:t>
                </a:r>
                <a:r>
                  <a:rPr kumimoji="1" lang="zh-CN" altLang="en-US" sz="22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𝑁</a:t>
                </a:r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有</a:t>
                </a:r>
              </a:p>
            </p:txBody>
          </p:sp>
        </mc:Choice>
        <mc:Fallback xmlns="">
          <p:sp>
            <p:nvSpPr>
              <p:cNvPr id="6759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1214" y="2246969"/>
                <a:ext cx="1710725" cy="430887"/>
              </a:xfrm>
              <a:prstGeom prst="rect">
                <a:avLst/>
              </a:prstGeom>
              <a:blipFill>
                <a:blip r:embed="rId7"/>
                <a:stretch>
                  <a:fillRect t="-14286" r="-3915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99" name="Object 15"/>
              <p:cNvSpPr txBox="1"/>
              <p:nvPr/>
            </p:nvSpPr>
            <p:spPr bwMode="auto">
              <a:xfrm>
                <a:off x="4241799" y="2579349"/>
                <a:ext cx="34290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59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1799" y="2579349"/>
                <a:ext cx="3429000" cy="850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01" name="Text Box 17"/>
              <p:cNvSpPr txBox="1">
                <a:spLocks noChangeArrowheads="1"/>
              </p:cNvSpPr>
              <p:nvPr/>
            </p:nvSpPr>
            <p:spPr bwMode="auto">
              <a:xfrm>
                <a:off x="2791214" y="3269196"/>
                <a:ext cx="345479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于是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当</a:t>
                </a:r>
                <a:r>
                  <a:rPr kumimoji="1" lang="zh-CN" altLang="en-US" sz="2200" i="1" dirty="0">
                    <a:solidFill>
                      <a:prstClr val="black"/>
                    </a:solidFill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  <a:sym typeface="+mn-lt"/>
                  </a:rPr>
                  <a:t>&gt;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  <a:sym typeface="+mn-lt"/>
                  </a:rPr>
                  <a:t>𝑁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对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一切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6760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1214" y="3269196"/>
                <a:ext cx="3454792" cy="430887"/>
              </a:xfrm>
              <a:prstGeom prst="rect">
                <a:avLst/>
              </a:prstGeom>
              <a:blipFill>
                <a:blip r:embed="rId9"/>
                <a:stretch>
                  <a:fillRect l="-2293" t="-12676" b="-281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02" name="Object 18"/>
              <p:cNvSpPr txBox="1"/>
              <p:nvPr/>
            </p:nvSpPr>
            <p:spPr bwMode="auto">
              <a:xfrm>
                <a:off x="5956299" y="3241927"/>
                <a:ext cx="3429000" cy="5708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60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6299" y="3241927"/>
                <a:ext cx="3429000" cy="5708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603" name="Text Box 19"/>
          <p:cNvSpPr txBox="1">
            <a:spLocks noChangeArrowheads="1"/>
          </p:cNvSpPr>
          <p:nvPr/>
        </p:nvSpPr>
        <p:spPr bwMode="auto">
          <a:xfrm>
            <a:off x="8681799" y="3242222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605" name="Object 21"/>
              <p:cNvSpPr txBox="1"/>
              <p:nvPr/>
            </p:nvSpPr>
            <p:spPr bwMode="auto">
              <a:xfrm>
                <a:off x="2791214" y="3718630"/>
                <a:ext cx="4040762" cy="1137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  <m:e>
                                  <m:r>
                                    <a:rPr lang="en-US" altLang="zh-CN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  <m:e>
                                  <m:r>
                                    <a:rPr lang="en-US" altLang="zh-CN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60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1214" y="3718630"/>
                <a:ext cx="4040762" cy="11370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06" name="Object 22"/>
              <p:cNvSpPr txBox="1"/>
              <p:nvPr/>
            </p:nvSpPr>
            <p:spPr bwMode="auto">
              <a:xfrm>
                <a:off x="6368136" y="3889552"/>
                <a:ext cx="3309264" cy="9251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60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8136" y="3889552"/>
                <a:ext cx="3309264" cy="92512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07" name="Object 23"/>
              <p:cNvSpPr txBox="1"/>
              <p:nvPr/>
            </p:nvSpPr>
            <p:spPr bwMode="auto">
              <a:xfrm>
                <a:off x="6323856" y="4903728"/>
                <a:ext cx="3188929" cy="1016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kumimoji="1" lang="en-US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6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3856" y="4903728"/>
                <a:ext cx="3188929" cy="10169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08" name="Object 24"/>
              <p:cNvSpPr txBox="1"/>
              <p:nvPr/>
            </p:nvSpPr>
            <p:spPr bwMode="auto">
              <a:xfrm>
                <a:off x="9323361" y="5140126"/>
                <a:ext cx="781668" cy="4526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7608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23361" y="5140126"/>
                <a:ext cx="781668" cy="45262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609" name="Text Box 25"/>
          <p:cNvSpPr txBox="1">
            <a:spLocks noChangeArrowheads="1"/>
          </p:cNvSpPr>
          <p:nvPr/>
        </p:nvSpPr>
        <p:spPr bwMode="auto">
          <a:xfrm>
            <a:off x="2791214" y="5793499"/>
            <a:ext cx="27238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因此定理结论正确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5B1478F-3C97-A178-3B8C-978E337BE3A2}"/>
              </a:ext>
            </a:extLst>
          </p:cNvPr>
          <p:cNvGrpSpPr/>
          <p:nvPr/>
        </p:nvGrpSpPr>
        <p:grpSpPr>
          <a:xfrm>
            <a:off x="5862253" y="5828806"/>
            <a:ext cx="716209" cy="360271"/>
            <a:chOff x="1553" y="3803"/>
            <a:chExt cx="1165" cy="579"/>
          </a:xfrm>
        </p:grpSpPr>
        <p:sp>
          <p:nvSpPr>
            <p:cNvPr id="3" name="圆角矩形 21">
              <a:extLst>
                <a:ext uri="{FF2B5EF4-FFF2-40B4-BE49-F238E27FC236}">
                  <a16:creationId xmlns:a16="http://schemas.microsoft.com/office/drawing/2014/main" id="{5AA177B0-B327-08F8-352E-808085BDEAB2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82A854BA-F5EF-6D55-520C-C2E1F4F66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398707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7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/>
      <p:bldP spid="67590" grpId="0"/>
      <p:bldP spid="67591" grpId="0" build="p" autoUpdateAnimBg="0"/>
      <p:bldP spid="67592" grpId="0"/>
      <p:bldP spid="67593" grpId="0" build="p" autoUpdateAnimBg="0"/>
      <p:bldP spid="67594" grpId="0"/>
      <p:bldP spid="67595" grpId="0" build="p" autoUpdateAnimBg="0"/>
      <p:bldP spid="67596" grpId="0" build="p" autoUpdateAnimBg="0" advAuto="0"/>
      <p:bldP spid="67599" grpId="0"/>
      <p:bldP spid="67601" grpId="0" build="p" autoUpdateAnimBg="0"/>
      <p:bldP spid="67602" grpId="0"/>
      <p:bldP spid="67603" grpId="0" build="p" autoUpdateAnimBg="0"/>
      <p:bldP spid="67605" grpId="0"/>
      <p:bldP spid="67606" grpId="0"/>
      <p:bldP spid="67607" grpId="0"/>
      <p:bldP spid="67608" grpId="0"/>
      <p:bldP spid="6760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8611" name="Text Box 3"/>
              <p:cNvSpPr txBox="1">
                <a:spLocks noChangeArrowheads="1"/>
              </p:cNvSpPr>
              <p:nvPr/>
            </p:nvSpPr>
            <p:spPr bwMode="auto">
              <a:xfrm>
                <a:off x="2703798" y="485826"/>
                <a:ext cx="675537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若级数不一致收敛时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定理结论不一定成立</a:t>
                </a:r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6861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3798" y="485826"/>
                <a:ext cx="6755375" cy="492443"/>
              </a:xfrm>
              <a:prstGeom prst="rect">
                <a:avLst/>
              </a:prstGeom>
              <a:blipFill>
                <a:blip r:embed="rId3"/>
                <a:stretch>
                  <a:fillRect l="-1625" t="-15000" r="-632" b="-287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703798" y="1244775"/>
            <a:ext cx="101822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3" name="Object 5"/>
              <p:cNvSpPr txBox="1"/>
              <p:nvPr/>
            </p:nvSpPr>
            <p:spPr bwMode="auto">
              <a:xfrm>
                <a:off x="3551523" y="1772759"/>
                <a:ext cx="6582899" cy="12715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sup>
                                  </m:sSup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−2(</m:t>
                                  </m:r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sSup>
                                    <m:sSupPr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sSupPr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600" i="1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1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1523" y="1772759"/>
                <a:ext cx="6582899" cy="12715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2703798" y="2926940"/>
            <a:ext cx="201850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它的部分和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5" name="Object 7"/>
              <p:cNvSpPr txBox="1"/>
              <p:nvPr/>
            </p:nvSpPr>
            <p:spPr bwMode="auto">
              <a:xfrm>
                <a:off x="4506979" y="2851864"/>
                <a:ext cx="4510186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sSup>
                        <m:sSup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6979" y="2851864"/>
                <a:ext cx="4510186" cy="1054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16" name="Text Box 8"/>
              <p:cNvSpPr txBox="1">
                <a:spLocks noChangeArrowheads="1"/>
              </p:cNvSpPr>
              <p:nvPr/>
            </p:nvSpPr>
            <p:spPr bwMode="auto">
              <a:xfrm>
                <a:off x="7555461" y="2928495"/>
                <a:ext cx="2994731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因此级数在</a:t>
                </a:r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[0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1]</a:t>
                </a: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</a:t>
                </a:r>
              </a:p>
            </p:txBody>
          </p:sp>
        </mc:Choice>
        <mc:Fallback xmlns="">
          <p:sp>
            <p:nvSpPr>
              <p:cNvPr id="6861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461" y="2928495"/>
                <a:ext cx="2994731" cy="492443"/>
              </a:xfrm>
              <a:prstGeom prst="rect">
                <a:avLst/>
              </a:prstGeom>
              <a:blipFill>
                <a:blip r:embed="rId7"/>
                <a:stretch>
                  <a:fillRect l="-3659" t="-13580" r="-2439" b="-28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17" name="Text Box 9"/>
              <p:cNvSpPr txBox="1">
                <a:spLocks noChangeArrowheads="1"/>
              </p:cNvSpPr>
              <p:nvPr/>
            </p:nvSpPr>
            <p:spPr bwMode="auto">
              <a:xfrm>
                <a:off x="2703798" y="3551925"/>
                <a:ext cx="2687274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收敛于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) = 0 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6861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3798" y="3551925"/>
                <a:ext cx="2687274" cy="492443"/>
              </a:xfrm>
              <a:prstGeom prst="rect">
                <a:avLst/>
              </a:prstGeom>
              <a:blipFill>
                <a:blip r:embed="rId8"/>
                <a:stretch>
                  <a:fillRect l="-4091" t="-15000" b="-31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5161617" y="3533045"/>
            <a:ext cx="8515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9" name="Object 11"/>
              <p:cNvSpPr txBox="1"/>
              <p:nvPr/>
            </p:nvSpPr>
            <p:spPr bwMode="auto">
              <a:xfrm>
                <a:off x="5840171" y="3298788"/>
                <a:ext cx="3939919" cy="8893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1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0171" y="3298788"/>
                <a:ext cx="3939919" cy="889364"/>
              </a:xfrm>
              <a:prstGeom prst="rect">
                <a:avLst/>
              </a:prstGeom>
              <a:blipFill>
                <a:blip r:embed="rId9"/>
                <a:stretch>
                  <a:fillRect b="-47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20" name="Text Box 12"/>
          <p:cNvSpPr txBox="1">
            <a:spLocks noChangeArrowheads="1"/>
          </p:cNvSpPr>
          <p:nvPr/>
        </p:nvSpPr>
        <p:spPr bwMode="auto">
          <a:xfrm>
            <a:off x="2703798" y="4380596"/>
            <a:ext cx="85151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但是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21" name="Object 13"/>
              <p:cNvSpPr txBox="1"/>
              <p:nvPr/>
            </p:nvSpPr>
            <p:spPr bwMode="auto">
              <a:xfrm>
                <a:off x="3551523" y="4050652"/>
                <a:ext cx="7272007" cy="13858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d>
                                <m:dPr>
                                  <m:begChr m:val=""/>
                                  <m:endChr m:val="]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"/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sSup>
                                            <m:sSupPr>
                                              <m:ctrlP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sup>
                                      </m:sSup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−2(</m:t>
                                      </m:r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e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−(</m:t>
                                          </m:r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sSup>
                                            <m:sSupPr>
                                              <m:ctrlP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sz="2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func>
                                <m:funcPr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2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1523" y="4050652"/>
                <a:ext cx="7272007" cy="13858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22" name="Object 14"/>
              <p:cNvSpPr txBox="1"/>
              <p:nvPr/>
            </p:nvSpPr>
            <p:spPr bwMode="auto">
              <a:xfrm>
                <a:off x="3911213" y="5060145"/>
                <a:ext cx="4875981" cy="14467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−(</m:t>
                                      </m:r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sup>
                                  </m:sSup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6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6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2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1213" y="5060145"/>
                <a:ext cx="4875981" cy="144675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23" name="Object 15"/>
              <p:cNvSpPr txBox="1"/>
              <p:nvPr/>
            </p:nvSpPr>
            <p:spPr bwMode="auto">
              <a:xfrm>
                <a:off x="7095676" y="5390563"/>
                <a:ext cx="1832028" cy="10684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2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5676" y="5390563"/>
                <a:ext cx="1832028" cy="1068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24" name="Object 16"/>
              <p:cNvSpPr txBox="1"/>
              <p:nvPr/>
            </p:nvSpPr>
            <p:spPr bwMode="auto">
              <a:xfrm>
                <a:off x="7727165" y="5145093"/>
                <a:ext cx="18415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862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27165" y="5145093"/>
                <a:ext cx="1841500" cy="723900"/>
              </a:xfrm>
              <a:prstGeom prst="rect">
                <a:avLst/>
              </a:prstGeom>
              <a:blipFill>
                <a:blip r:embed="rId13"/>
                <a:stretch>
                  <a:fillRect r="-3974" b="-277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25" name="Text Box 17"/>
          <p:cNvSpPr txBox="1">
            <a:spLocks noChangeArrowheads="1"/>
          </p:cNvSpPr>
          <p:nvPr/>
        </p:nvSpPr>
        <p:spPr bwMode="auto">
          <a:xfrm>
            <a:off x="9473971" y="2117360"/>
            <a:ext cx="51809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①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CDD679C-97DF-FEC3-95E1-9375D8945FFD}"/>
              </a:ext>
            </a:extLst>
          </p:cNvPr>
          <p:cNvGrpSpPr/>
          <p:nvPr/>
        </p:nvGrpSpPr>
        <p:grpSpPr>
          <a:xfrm>
            <a:off x="1799657" y="1275103"/>
            <a:ext cx="1011555" cy="448945"/>
            <a:chOff x="1553" y="3803"/>
            <a:chExt cx="1593" cy="707"/>
          </a:xfrm>
        </p:grpSpPr>
        <p:sp>
          <p:nvSpPr>
            <p:cNvPr id="10" name="圆角矩形 21">
              <a:extLst>
                <a:ext uri="{FF2B5EF4-FFF2-40B4-BE49-F238E27FC236}">
                  <a16:creationId xmlns:a16="http://schemas.microsoft.com/office/drawing/2014/main" id="{2F51E4F5-7708-354F-EA7A-5FD203726448}"/>
                </a:ext>
              </a:extLst>
            </p:cNvPr>
            <p:cNvSpPr/>
            <p:nvPr/>
          </p:nvSpPr>
          <p:spPr>
            <a:xfrm>
              <a:off x="1553" y="3803"/>
              <a:ext cx="146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26310B39-CE0F-5BFC-39E6-81A2B9BB2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2" y="3803"/>
              <a:ext cx="146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9E94C5D-4F87-5739-3991-A983A1843DE3}"/>
              </a:ext>
            </a:extLst>
          </p:cNvPr>
          <p:cNvGrpSpPr/>
          <p:nvPr/>
        </p:nvGrpSpPr>
        <p:grpSpPr>
          <a:xfrm>
            <a:off x="1799657" y="467526"/>
            <a:ext cx="612775" cy="612775"/>
            <a:chOff x="1601" y="872"/>
            <a:chExt cx="965" cy="965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7E65DCA-78BE-D51C-FE2C-C39B734537B0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4B823D4-313F-3B11-1206-4950FBF7A170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312FB93-B436-8B68-9116-850E0DF20482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4643839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8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8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8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  <p:bldP spid="68612" grpId="0" build="p" autoUpdateAnimBg="0"/>
      <p:bldP spid="68613" grpId="0"/>
      <p:bldP spid="68614" grpId="0" build="p" autoUpdateAnimBg="0"/>
      <p:bldP spid="68615" grpId="0"/>
      <p:bldP spid="68616" grpId="0" build="p" autoUpdateAnimBg="0"/>
      <p:bldP spid="68617" grpId="0" build="p" autoUpdateAnimBg="0" advAuto="0"/>
      <p:bldP spid="68618" grpId="0" build="p" autoUpdateAnimBg="0"/>
      <p:bldP spid="68619" grpId="0"/>
      <p:bldP spid="68620" grpId="0" build="p" autoUpdateAnimBg="0"/>
      <p:bldP spid="68621" grpId="0"/>
      <p:bldP spid="68622" grpId="0"/>
      <p:bldP spid="68623" grpId="0"/>
      <p:bldP spid="68624" grpId="0"/>
      <p:bldP spid="6862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9005AF2-68D8-AAC7-0F09-730B2111BEBF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0F22CD32-E9CB-7A79-91EF-3249D6CA079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0F22CD32-E9CB-7A79-91EF-3249D6CA07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2BF17FB2-8074-6A4F-17EB-0BA9765B482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845CC6E0-942B-08CF-9ADC-D378DF41AF7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9A153A0-C877-9DAA-6090-5718FC236D3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2F669FD8-E918-89FB-17A2-2E34107CDAC7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1978050" y="1545645"/>
            <a:ext cx="21595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noProof="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定理</a:t>
            </a:r>
            <a:r>
              <a:rPr kumimoji="1" lang="en-US" altLang="zh-CN" sz="2800" noProof="0" dirty="0">
                <a:solidFill>
                  <a:prstClr val="black"/>
                </a:solidFill>
                <a:latin typeface="黑体"/>
                <a:ea typeface="黑体"/>
                <a:cs typeface="+mn-ea"/>
                <a:sym typeface="+mn-lt"/>
              </a:rPr>
              <a:t>2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条件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3983458" y="1492367"/>
            <a:ext cx="2051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级数的余项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87" name="Object 7"/>
              <p:cNvSpPr txBox="1"/>
              <p:nvPr/>
            </p:nvSpPr>
            <p:spPr bwMode="auto">
              <a:xfrm>
                <a:off x="4137616" y="2194447"/>
                <a:ext cx="4082459" cy="6169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6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7616" y="2194447"/>
                <a:ext cx="4082459" cy="616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688" name="Object 8"/>
              <p:cNvSpPr txBox="1"/>
              <p:nvPr/>
            </p:nvSpPr>
            <p:spPr bwMode="auto">
              <a:xfrm>
                <a:off x="1964157" y="2879973"/>
                <a:ext cx="2453835" cy="9501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68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157" y="2879973"/>
                <a:ext cx="2453835" cy="9501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689" name="Object 9"/>
              <p:cNvSpPr txBox="1"/>
              <p:nvPr/>
            </p:nvSpPr>
            <p:spPr bwMode="auto">
              <a:xfrm>
                <a:off x="4137616" y="3801765"/>
                <a:ext cx="476826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&gt;1 (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&gt;2).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168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7616" y="3801765"/>
                <a:ext cx="4768260" cy="8509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690" name="Text Box 10"/>
              <p:cNvSpPr txBox="1">
                <a:spLocks noChangeArrowheads="1"/>
              </p:cNvSpPr>
              <p:nvPr/>
            </p:nvSpPr>
            <p:spPr bwMode="auto">
              <a:xfrm>
                <a:off x="1964158" y="4897297"/>
                <a:ext cx="579678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可见级数 ① 在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[0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1]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上不一致收敛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169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158" y="4897297"/>
                <a:ext cx="5796780" cy="523220"/>
              </a:xfrm>
              <a:prstGeom prst="rect">
                <a:avLst/>
              </a:prstGeom>
              <a:blipFill>
                <a:blip r:embed="rId6"/>
                <a:stretch>
                  <a:fillRect l="-2103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7616584" y="4868967"/>
            <a:ext cx="267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此即定理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2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结论 </a:t>
            </a: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1964157" y="5636819"/>
            <a:ext cx="45795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对级数 ① 不成立的原因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1964158" y="689460"/>
            <a:ext cx="59298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为什么对级数 ① 定理结论不成立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? 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7537209" y="685136"/>
            <a:ext cx="276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分析它是否满足 </a:t>
            </a:r>
          </a:p>
        </p:txBody>
      </p:sp>
    </p:spTree>
    <p:extLst>
      <p:ext uri="{BB962C8B-B14F-4D97-AF65-F5344CB8AC3E}">
        <p14:creationId xmlns:p14="http://schemas.microsoft.com/office/powerpoint/2010/main" val="37057604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/>
      <p:bldP spid="71686" grpId="0" build="p" autoUpdateAnimBg="0"/>
      <p:bldP spid="71687" grpId="0"/>
      <p:bldP spid="71688" grpId="0"/>
      <p:bldP spid="71689" grpId="0"/>
      <p:bldP spid="71690" grpId="0" build="p" autoUpdateAnimBg="0"/>
      <p:bldP spid="71691" grpId="0" build="p" autoUpdateAnimBg="0"/>
      <p:bldP spid="71692" grpId="0" build="p" autoUpdateAnimBg="0" advAuto="0"/>
      <p:bldP spid="10" grpId="0" build="p" autoUpdateAnimBg="0"/>
      <p:bldP spid="1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91F3E809-0F22-4983-D707-89B5D0725863}"/>
              </a:ext>
            </a:extLst>
          </p:cNvPr>
          <p:cNvGrpSpPr/>
          <p:nvPr/>
        </p:nvGrpSpPr>
        <p:grpSpPr>
          <a:xfrm>
            <a:off x="1241957" y="627020"/>
            <a:ext cx="1224280" cy="449580"/>
            <a:chOff x="1553" y="3802"/>
            <a:chExt cx="1928" cy="708"/>
          </a:xfrm>
        </p:grpSpPr>
        <p:sp>
          <p:nvSpPr>
            <p:cNvPr id="10" name="圆角矩形 3">
              <a:extLst>
                <a:ext uri="{FF2B5EF4-FFF2-40B4-BE49-F238E27FC236}">
                  <a16:creationId xmlns:a16="http://schemas.microsoft.com/office/drawing/2014/main" id="{807CEEE9-2849-EE3E-A0B2-D6A30DB315B2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8C060DAC-6EA5-D340-66B9-28B623FCB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</a:p>
          </p:txBody>
        </p:sp>
      </p:grp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2519331" y="600739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若级数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08" name="Object 4"/>
              <p:cNvSpPr txBox="1"/>
              <p:nvPr/>
            </p:nvSpPr>
            <p:spPr bwMode="auto">
              <a:xfrm>
                <a:off x="3636904" y="267754"/>
                <a:ext cx="3925082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满足：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7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6904" y="267754"/>
                <a:ext cx="3925082" cy="1054100"/>
              </a:xfrm>
              <a:prstGeom prst="rect">
                <a:avLst/>
              </a:prstGeom>
              <a:blipFill>
                <a:blip r:embed="rId2"/>
                <a:stretch>
                  <a:fillRect b="-144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12" name="Object 8"/>
              <p:cNvSpPr txBox="1"/>
              <p:nvPr/>
            </p:nvSpPr>
            <p:spPr bwMode="auto">
              <a:xfrm>
                <a:off x="2519331" y="2558231"/>
                <a:ext cx="6673850" cy="13075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(3) 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7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9331" y="2558231"/>
                <a:ext cx="6673850" cy="13075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13" name="Object 9"/>
              <p:cNvSpPr txBox="1"/>
              <p:nvPr/>
            </p:nvSpPr>
            <p:spPr bwMode="auto">
              <a:xfrm>
                <a:off x="4775188" y="4432581"/>
                <a:ext cx="3505595" cy="1367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7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5188" y="4432581"/>
                <a:ext cx="3505595" cy="1367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15" name="Text Box 11"/>
              <p:cNvSpPr txBox="1">
                <a:spLocks noChangeArrowheads="1"/>
              </p:cNvSpPr>
              <p:nvPr/>
            </p:nvSpPr>
            <p:spPr bwMode="auto">
              <a:xfrm>
                <a:off x="8280783" y="3865809"/>
                <a:ext cx="302999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且可逐项求导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即 </a:t>
                </a:r>
              </a:p>
            </p:txBody>
          </p:sp>
        </mc:Choice>
        <mc:Fallback xmlns="">
          <p:sp>
            <p:nvSpPr>
              <p:cNvPr id="7271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80783" y="3865809"/>
                <a:ext cx="3029997" cy="523220"/>
              </a:xfrm>
              <a:prstGeom prst="rect">
                <a:avLst/>
              </a:prstGeom>
              <a:blipFill>
                <a:blip r:embed="rId5"/>
                <a:stretch>
                  <a:fillRect l="-4024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19" name="Object 15"/>
              <p:cNvSpPr txBox="1"/>
              <p:nvPr/>
            </p:nvSpPr>
            <p:spPr bwMode="auto">
              <a:xfrm>
                <a:off x="2519331" y="2099217"/>
                <a:ext cx="6673850" cy="10365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(2) </m:t>
                      </m:r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=1,2,⋯);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71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9331" y="2099217"/>
                <a:ext cx="6673850" cy="10365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21" name="Object 17"/>
              <p:cNvSpPr txBox="1"/>
              <p:nvPr/>
            </p:nvSpPr>
            <p:spPr bwMode="auto">
              <a:xfrm>
                <a:off x="2519331" y="3525864"/>
                <a:ext cx="6019165" cy="1367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72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9331" y="3525864"/>
                <a:ext cx="6019165" cy="13672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24" name="Object 20"/>
              <p:cNvSpPr txBox="1"/>
              <p:nvPr/>
            </p:nvSpPr>
            <p:spPr bwMode="auto">
              <a:xfrm>
                <a:off x="2519331" y="1539534"/>
                <a:ext cx="6019164" cy="9141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上收敛于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272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9331" y="1539534"/>
                <a:ext cx="6019164" cy="9141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25" name="Text Box 21"/>
          <p:cNvSpPr txBox="1">
            <a:spLocks noChangeArrowheads="1"/>
          </p:cNvSpPr>
          <p:nvPr/>
        </p:nvSpPr>
        <p:spPr bwMode="auto">
          <a:xfrm>
            <a:off x="1211549" y="5723641"/>
            <a:ext cx="7585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</a:t>
            </a:r>
          </a:p>
        </p:txBody>
      </p:sp>
      <p:sp>
        <p:nvSpPr>
          <p:cNvPr id="72726" name="Text Box 22"/>
          <p:cNvSpPr txBox="1">
            <a:spLocks noChangeArrowheads="1"/>
          </p:cNvSpPr>
          <p:nvPr/>
        </p:nvSpPr>
        <p:spPr bwMode="auto">
          <a:xfrm>
            <a:off x="2519331" y="5769575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先证可逐项求导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27" name="Object 23"/>
              <p:cNvSpPr txBox="1"/>
              <p:nvPr/>
            </p:nvSpPr>
            <p:spPr bwMode="auto">
              <a:xfrm>
                <a:off x="4655243" y="5501562"/>
                <a:ext cx="28575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272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5243" y="5501562"/>
                <a:ext cx="2857500" cy="1054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30" name="Text Box 26"/>
          <p:cNvSpPr txBox="1">
            <a:spLocks noChangeArrowheads="1"/>
          </p:cNvSpPr>
          <p:nvPr/>
        </p:nvSpPr>
        <p:spPr bwMode="auto">
          <a:xfrm>
            <a:off x="7326871" y="5775954"/>
            <a:ext cx="17363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根据定理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2, </a:t>
            </a:r>
          </a:p>
        </p:txBody>
      </p:sp>
    </p:spTree>
    <p:extLst>
      <p:ext uri="{BB962C8B-B14F-4D97-AF65-F5344CB8AC3E}">
        <p14:creationId xmlns:p14="http://schemas.microsoft.com/office/powerpoint/2010/main" val="268604888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2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2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  <p:bldP spid="72708" grpId="0"/>
      <p:bldP spid="72712" grpId="0"/>
      <p:bldP spid="72713" grpId="0"/>
      <p:bldP spid="72715" grpId="0" build="p" autoUpdateAnimBg="0"/>
      <p:bldP spid="72719" grpId="0"/>
      <p:bldP spid="72721" grpId="0"/>
      <p:bldP spid="72724" grpId="0"/>
      <p:bldP spid="72725" grpId="0" build="p" autoUpdateAnimBg="0"/>
      <p:bldP spid="72726" grpId="0" build="p" autoUpdateAnimBg="0"/>
      <p:bldP spid="72727" grpId="0"/>
      <p:bldP spid="72730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A9E9067-46B1-9BAD-233F-287465C00577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D39F355-1E3E-472F-6C35-510BDDF2719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D39F355-1E3E-472F-6C35-510BDDF271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9959EC8C-A559-B433-CCE0-199F75BA67A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40861C71-5FDF-B595-141E-8FBD76990BA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25753906-5128-2754-B477-F8633553E5F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C06A3B3A-38CD-5276-7664-4D976EF2A135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843" name="Object 19"/>
              <p:cNvSpPr txBox="1"/>
              <p:nvPr/>
            </p:nvSpPr>
            <p:spPr bwMode="auto">
              <a:xfrm>
                <a:off x="2509699" y="702219"/>
                <a:ext cx="23241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784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699" y="702219"/>
                <a:ext cx="2324100" cy="457200"/>
              </a:xfrm>
              <a:prstGeom prst="rect">
                <a:avLst/>
              </a:prstGeom>
              <a:blipFill>
                <a:blip r:embed="rId3"/>
                <a:stretch>
                  <a:fillRect l="-1837" b="-13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44" name="Object 20"/>
              <p:cNvSpPr txBox="1"/>
              <p:nvPr/>
            </p:nvSpPr>
            <p:spPr bwMode="auto">
              <a:xfrm>
                <a:off x="2509699" y="1090768"/>
                <a:ext cx="4430152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784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699" y="1090768"/>
                <a:ext cx="4430152" cy="1054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45" name="Object 21"/>
              <p:cNvSpPr txBox="1"/>
              <p:nvPr/>
            </p:nvSpPr>
            <p:spPr bwMode="auto">
              <a:xfrm>
                <a:off x="6536625" y="1090721"/>
                <a:ext cx="31369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784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6625" y="1090721"/>
                <a:ext cx="3136900" cy="1054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46" name="Object 22"/>
              <p:cNvSpPr txBox="1"/>
              <p:nvPr/>
            </p:nvSpPr>
            <p:spPr bwMode="auto">
              <a:xfrm>
                <a:off x="4039728" y="2010610"/>
                <a:ext cx="3441112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4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9728" y="2010610"/>
                <a:ext cx="3441112" cy="1054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47" name="Object 23"/>
              <p:cNvSpPr txBox="1"/>
              <p:nvPr/>
            </p:nvSpPr>
            <p:spPr bwMode="auto">
              <a:xfrm>
                <a:off x="7199814" y="2285567"/>
                <a:ext cx="1970823" cy="4473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4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9814" y="2285567"/>
                <a:ext cx="1970823" cy="447376"/>
              </a:xfrm>
              <a:prstGeom prst="rect">
                <a:avLst/>
              </a:prstGeom>
              <a:blipFill>
                <a:blip r:embed="rId7"/>
                <a:stretch>
                  <a:fillRect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48" name="Text Box 24"/>
              <p:cNvSpPr txBox="1">
                <a:spLocks noChangeArrowheads="1"/>
              </p:cNvSpPr>
              <p:nvPr/>
            </p:nvSpPr>
            <p:spPr bwMode="auto">
              <a:xfrm>
                <a:off x="2509699" y="2941326"/>
                <a:ext cx="322287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上式两边对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求导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得 </a:t>
                </a:r>
              </a:p>
            </p:txBody>
          </p:sp>
        </mc:Choice>
        <mc:Fallback xmlns="">
          <p:sp>
            <p:nvSpPr>
              <p:cNvPr id="77848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699" y="2941326"/>
                <a:ext cx="3222870" cy="430887"/>
              </a:xfrm>
              <a:prstGeom prst="rect">
                <a:avLst/>
              </a:prstGeom>
              <a:blipFill>
                <a:blip r:embed="rId8"/>
                <a:stretch>
                  <a:fillRect l="-2462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49" name="Object 25"/>
              <p:cNvSpPr txBox="1"/>
              <p:nvPr/>
            </p:nvSpPr>
            <p:spPr bwMode="auto">
              <a:xfrm>
                <a:off x="5417816" y="2932627"/>
                <a:ext cx="2866465" cy="715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49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816" y="2932627"/>
                <a:ext cx="2866465" cy="7155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2509699" y="3618045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再证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51" name="Object 27"/>
              <p:cNvSpPr txBox="1"/>
              <p:nvPr/>
            </p:nvSpPr>
            <p:spPr bwMode="auto">
              <a:xfrm>
                <a:off x="3518949" y="3330593"/>
                <a:ext cx="46228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5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18949" y="3330593"/>
                <a:ext cx="4622800" cy="1054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52" name="Text Box 28">
                <a:hlinkClick r:id="rId11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2509699" y="4488120"/>
                <a:ext cx="185659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根据定理 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77852" name="Text Box 28">
                <a:hlinkClick r:id="rId12" action="ppaction://hlinksldjump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699" y="4488120"/>
                <a:ext cx="1856598" cy="430887"/>
              </a:xfrm>
              <a:prstGeom prst="rect">
                <a:avLst/>
              </a:prstGeom>
              <a:blipFill>
                <a:blip r:embed="rId13"/>
                <a:stretch>
                  <a:fillRect l="-4276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53" name="Object 29"/>
              <p:cNvSpPr txBox="1"/>
              <p:nvPr/>
            </p:nvSpPr>
            <p:spPr bwMode="auto">
              <a:xfrm>
                <a:off x="4141290" y="4212152"/>
                <a:ext cx="62611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级数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5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41290" y="4212152"/>
                <a:ext cx="6261100" cy="10541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56" name="Text Box 32"/>
          <p:cNvSpPr txBox="1">
            <a:spLocks noChangeArrowheads="1"/>
          </p:cNvSpPr>
          <p:nvPr/>
        </p:nvSpPr>
        <p:spPr bwMode="auto">
          <a:xfrm>
            <a:off x="2509699" y="5481785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57" name="Object 33"/>
              <p:cNvSpPr txBox="1"/>
              <p:nvPr/>
            </p:nvSpPr>
            <p:spPr bwMode="auto">
              <a:xfrm>
                <a:off x="2882772" y="5205575"/>
                <a:ext cx="2515766" cy="12198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5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2772" y="5205575"/>
                <a:ext cx="2515766" cy="12198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858" name="Object 34"/>
              <p:cNvSpPr txBox="1"/>
              <p:nvPr/>
            </p:nvSpPr>
            <p:spPr bwMode="auto">
              <a:xfrm>
                <a:off x="5065027" y="5213080"/>
                <a:ext cx="494567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85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5027" y="5213080"/>
                <a:ext cx="4945673" cy="927100"/>
              </a:xfrm>
              <a:prstGeom prst="rect">
                <a:avLst/>
              </a:prstGeom>
              <a:blipFill>
                <a:blip r:embed="rId16"/>
                <a:stretch>
                  <a:fillRect b="-32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64811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7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3" grpId="0"/>
      <p:bldP spid="77844" grpId="0"/>
      <p:bldP spid="77845" grpId="0"/>
      <p:bldP spid="77846" grpId="0"/>
      <p:bldP spid="77847" grpId="0"/>
      <p:bldP spid="77848" grpId="0" build="p" autoUpdateAnimBg="0"/>
      <p:bldP spid="77849" grpId="0"/>
      <p:bldP spid="77850" grpId="0" build="p" autoUpdateAnimBg="0"/>
      <p:bldP spid="77851" grpId="0"/>
      <p:bldP spid="77852" grpId="0" build="p" autoUpdateAnimBg="0"/>
      <p:bldP spid="77853" grpId="0"/>
      <p:bldP spid="77856" grpId="0" build="p" autoUpdateAnimBg="0"/>
      <p:bldP spid="77857" grpId="0"/>
      <p:bldP spid="7785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43E369D-EBB5-189A-A58B-F343EE596167}"/>
              </a:ext>
            </a:extLst>
          </p:cNvPr>
          <p:cNvGrpSpPr/>
          <p:nvPr/>
        </p:nvGrpSpPr>
        <p:grpSpPr>
          <a:xfrm>
            <a:off x="687007" y="517522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A814C670-C957-7082-A97C-BA6A6F278CE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A814C670-C957-7082-A97C-BA6A6F278C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70F8715A-1CBB-5F20-C00C-7AB794DEC01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615E21DA-0256-DA1F-A0C0-625DB774AEF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B88ED6C0-6A65-CCC1-8641-4330BB6AC04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AFBBAB68-9D05-1BFD-35D0-F2BC0A02D8FA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827" name="Object 27"/>
              <p:cNvSpPr txBox="1"/>
              <p:nvPr/>
            </p:nvSpPr>
            <p:spPr bwMode="auto">
              <a:xfrm>
                <a:off x="3774312" y="2319001"/>
                <a:ext cx="2133977" cy="1176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682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4312" y="2319001"/>
                <a:ext cx="2133977" cy="1176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28" name="Object 28"/>
              <p:cNvSpPr txBox="1"/>
              <p:nvPr/>
            </p:nvSpPr>
            <p:spPr bwMode="auto">
              <a:xfrm>
                <a:off x="5078194" y="2317371"/>
                <a:ext cx="3276600" cy="1176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682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8194" y="2317371"/>
                <a:ext cx="3276600" cy="11760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829" name="Object 29"/>
              <p:cNvSpPr txBox="1"/>
              <p:nvPr/>
            </p:nvSpPr>
            <p:spPr bwMode="auto">
              <a:xfrm>
                <a:off x="7573744" y="2314617"/>
                <a:ext cx="15621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682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3744" y="2314617"/>
                <a:ext cx="1562100" cy="927100"/>
              </a:xfrm>
              <a:prstGeom prst="rect">
                <a:avLst/>
              </a:prstGeom>
              <a:blipFill>
                <a:blip r:embed="rId6"/>
                <a:stretch>
                  <a:fillRect r="-1167" b="-32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30" name="Text Box 30"/>
          <p:cNvSpPr txBox="1">
            <a:spLocks noChangeArrowheads="1"/>
          </p:cNvSpPr>
          <p:nvPr/>
        </p:nvSpPr>
        <p:spPr bwMode="auto">
          <a:xfrm>
            <a:off x="3083413" y="2613631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所以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32" name="Object 32"/>
              <p:cNvSpPr txBox="1"/>
              <p:nvPr/>
            </p:nvSpPr>
            <p:spPr bwMode="auto">
              <a:xfrm>
                <a:off x="3083413" y="3788020"/>
                <a:ext cx="32766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上一致收敛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6832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3413" y="3788020"/>
                <a:ext cx="3276600" cy="457200"/>
              </a:xfrm>
              <a:prstGeom prst="rect">
                <a:avLst/>
              </a:prstGeom>
              <a:blipFill>
                <a:blip r:embed="rId7"/>
                <a:stretch>
                  <a:fillRect l="-1304" b="-13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B91F998C-1894-0566-D61B-310D80A4771A}"/>
              </a:ext>
            </a:extLst>
          </p:cNvPr>
          <p:cNvGrpSpPr/>
          <p:nvPr/>
        </p:nvGrpSpPr>
        <p:grpSpPr>
          <a:xfrm>
            <a:off x="6360013" y="3836484"/>
            <a:ext cx="716209" cy="360271"/>
            <a:chOff x="1553" y="3803"/>
            <a:chExt cx="1165" cy="579"/>
          </a:xfrm>
        </p:grpSpPr>
        <p:sp>
          <p:nvSpPr>
            <p:cNvPr id="5" name="圆角矩形 21">
              <a:extLst>
                <a:ext uri="{FF2B5EF4-FFF2-40B4-BE49-F238E27FC236}">
                  <a16:creationId xmlns:a16="http://schemas.microsoft.com/office/drawing/2014/main" id="{CB3DAD65-A977-EBED-10A4-85EC1D0EC098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852A3652-C00A-775B-AAD0-3C6914217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166098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7" grpId="0"/>
      <p:bldP spid="76828" grpId="0"/>
      <p:bldP spid="76829" grpId="0"/>
      <p:bldP spid="76830" grpId="0"/>
      <p:bldP spid="768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BAE28A1B-BA02-14A2-8453-9B37C039DAD8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D74CAB3D-FE5F-0CBF-6231-39431519971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D74CAB3D-FE5F-0CBF-6231-3943151997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id="{48EBC15D-F243-DBEE-6447-850BCA7E05F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id="{80032D44-B6F6-B789-564E-872C86467441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id="{021437FE-8F0E-F49D-2DE1-6BBD321529B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id="{F9EC12B2-DFCD-0056-7080-CCF912527B06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33"/>
          <p:cNvSpPr txBox="1">
            <a:spLocks noChangeArrowheads="1"/>
          </p:cNvSpPr>
          <p:nvPr/>
        </p:nvSpPr>
        <p:spPr bwMode="auto">
          <a:xfrm>
            <a:off x="3298159" y="969996"/>
            <a:ext cx="6051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级数一致收敛并不保证可以逐项求导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. </a:t>
            </a:r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3298159" y="1822032"/>
            <a:ext cx="21595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中的级数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5"/>
              <p:cNvSpPr txBox="1"/>
              <p:nvPr/>
            </p:nvSpPr>
            <p:spPr bwMode="auto">
              <a:xfrm>
                <a:off x="3800076" y="2406621"/>
                <a:ext cx="6222519" cy="12212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0076" y="2406621"/>
                <a:ext cx="6222519" cy="12212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7"/>
              <p:cNvSpPr txBox="1">
                <a:spLocks noChangeArrowheads="1"/>
              </p:cNvSpPr>
              <p:nvPr/>
            </p:nvSpPr>
            <p:spPr bwMode="auto">
              <a:xfrm>
                <a:off x="3298159" y="3505359"/>
                <a:ext cx="438774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在任意区间上都一致收敛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8159" y="3505359"/>
                <a:ext cx="4387740" cy="523220"/>
              </a:xfrm>
              <a:prstGeom prst="rect">
                <a:avLst/>
              </a:prstGeom>
              <a:blipFill>
                <a:blip r:embed="rId4"/>
                <a:stretch>
                  <a:fillRect l="-2778"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38"/>
          <p:cNvSpPr txBox="1">
            <a:spLocks noChangeArrowheads="1"/>
          </p:cNvSpPr>
          <p:nvPr/>
        </p:nvSpPr>
        <p:spPr bwMode="auto">
          <a:xfrm>
            <a:off x="7335568" y="3502605"/>
            <a:ext cx="276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但求导后的级数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9"/>
              <p:cNvSpPr txBox="1"/>
              <p:nvPr/>
            </p:nvSpPr>
            <p:spPr bwMode="auto">
              <a:xfrm>
                <a:off x="3930031" y="4134625"/>
                <a:ext cx="6249582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0031" y="4134625"/>
                <a:ext cx="6249582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1"/>
              <p:cNvSpPr txBox="1">
                <a:spLocks noChangeArrowheads="1"/>
              </p:cNvSpPr>
              <p:nvPr/>
            </p:nvSpPr>
            <p:spPr bwMode="auto">
              <a:xfrm>
                <a:off x="3298159" y="4777201"/>
                <a:ext cx="31309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其一般项不趋于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0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8159" y="4777201"/>
                <a:ext cx="3130985" cy="523220"/>
              </a:xfrm>
              <a:prstGeom prst="rect">
                <a:avLst/>
              </a:prstGeom>
              <a:blipFill>
                <a:blip r:embed="rId6"/>
                <a:stretch>
                  <a:fillRect l="-3891"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2"/>
              <p:cNvSpPr txBox="1">
                <a:spLocks noChangeArrowheads="1"/>
              </p:cNvSpPr>
              <p:nvPr/>
            </p:nvSpPr>
            <p:spPr bwMode="auto">
              <a:xfrm>
                <a:off x="6120767" y="4777201"/>
                <a:ext cx="397705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所以对任意</a:t>
                </a:r>
                <a:r>
                  <a:rPr kumimoji="1" lang="zh-CN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都发散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9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0767" y="4777201"/>
                <a:ext cx="3977051" cy="523220"/>
              </a:xfrm>
              <a:prstGeom prst="rect">
                <a:avLst/>
              </a:prstGeom>
              <a:blipFill>
                <a:blip r:embed="rId7"/>
                <a:stretch>
                  <a:fillRect l="-3067" t="-15294" r="-2301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3298159" y="5374756"/>
            <a:ext cx="4673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prstClr val="black"/>
                </a:solidFill>
                <a:cs typeface="+mn-ea"/>
                <a:sym typeface="+mn-lt"/>
              </a:rPr>
              <a:t>因此原级数不可以逐项求导</a:t>
            </a:r>
            <a:r>
              <a:rPr kumimoji="1" lang="en-US" altLang="zh-CN" sz="2800" dirty="0">
                <a:solidFill>
                  <a:prstClr val="black"/>
                </a:solidFill>
                <a:cs typeface="+mn-ea"/>
                <a:sym typeface="+mn-lt"/>
              </a:rPr>
              <a:t>.</a:t>
            </a:r>
            <a:endParaRPr lang="zh-CN" altLang="en-US" sz="28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3E6ECFC-40CF-73D8-54C4-582BB651B3EB}"/>
              </a:ext>
            </a:extLst>
          </p:cNvPr>
          <p:cNvGrpSpPr/>
          <p:nvPr/>
        </p:nvGrpSpPr>
        <p:grpSpPr>
          <a:xfrm>
            <a:off x="2226504" y="1878500"/>
            <a:ext cx="1011555" cy="448945"/>
            <a:chOff x="1553" y="3803"/>
            <a:chExt cx="1593" cy="707"/>
          </a:xfrm>
        </p:grpSpPr>
        <p:sp>
          <p:nvSpPr>
            <p:cNvPr id="20" name="圆角矩形 21">
              <a:extLst>
                <a:ext uri="{FF2B5EF4-FFF2-40B4-BE49-F238E27FC236}">
                  <a16:creationId xmlns:a16="http://schemas.microsoft.com/office/drawing/2014/main" id="{DAC6F078-CCA2-86CD-A281-8C4DBBB2E28A}"/>
                </a:ext>
              </a:extLst>
            </p:cNvPr>
            <p:cNvSpPr/>
            <p:nvPr/>
          </p:nvSpPr>
          <p:spPr>
            <a:xfrm>
              <a:off x="1553" y="3803"/>
              <a:ext cx="146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073D0CE7-0D85-2A55-D844-14BFE7621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2" y="3803"/>
              <a:ext cx="146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,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1145477-6A7F-D3FE-7E0B-B6FAD56C96B0}"/>
              </a:ext>
            </a:extLst>
          </p:cNvPr>
          <p:cNvGrpSpPr/>
          <p:nvPr/>
        </p:nvGrpSpPr>
        <p:grpSpPr>
          <a:xfrm>
            <a:off x="2315404" y="960336"/>
            <a:ext cx="612775" cy="612775"/>
            <a:chOff x="1601" y="872"/>
            <a:chExt cx="965" cy="965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4CF927E-011D-CA28-7FB3-F98827CD3773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E8873B6-AC79-6214-A1CE-06E04AFCE3B1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D65AE645-5F77-A6DF-8E63-4DA1B324CA48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28946862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4" grpId="0"/>
      <p:bldP spid="5" grpId="0" build="p" autoUpdateAnimBg="0"/>
      <p:bldP spid="6" grpId="0" build="p" autoUpdateAnimBg="0"/>
      <p:bldP spid="7" grpId="0"/>
      <p:bldP spid="8" grpId="0" build="p" autoUpdateAnimBg="0"/>
      <p:bldP spid="9" grpId="0" build="p" autoUpdateAnimBg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49192D-E445-DD33-7A1F-60DC2012703E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DC95702-B393-77A0-34CC-40F8ADBC47ED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DC95702-B393-77A0-34CC-40F8ADBC47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0774911F-E58C-DBCF-BD95-7F7D89752906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C9210929-E847-7B2D-84AE-08AA319111E9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01F41CF8-7812-4CB0-6880-2BC44F45C13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66453E92-4234-DC39-5B86-B892FEF75D7C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0196" name="Text Box 20"/>
          <p:cNvSpPr txBox="1">
            <a:spLocks noChangeArrowheads="1"/>
          </p:cNvSpPr>
          <p:nvPr/>
        </p:nvSpPr>
        <p:spPr bwMode="auto">
          <a:xfrm>
            <a:off x="3181759" y="1499465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若幂级数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97" name="Object 21"/>
              <p:cNvSpPr txBox="1"/>
              <p:nvPr/>
            </p:nvSpPr>
            <p:spPr bwMode="auto">
              <a:xfrm>
                <a:off x="4591735" y="1103801"/>
                <a:ext cx="2106364" cy="14295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9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1735" y="1103801"/>
                <a:ext cx="2106364" cy="14295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98" name="Text Box 22"/>
          <p:cNvSpPr txBox="1">
            <a:spLocks noChangeArrowheads="1"/>
          </p:cNvSpPr>
          <p:nvPr/>
        </p:nvSpPr>
        <p:spPr bwMode="auto">
          <a:xfrm>
            <a:off x="6113836" y="1497337"/>
            <a:ext cx="30861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的收敛半径 </a:t>
            </a:r>
            <a:r>
              <a:rPr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 &gt; 0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,</a:t>
            </a:r>
          </a:p>
        </p:txBody>
      </p:sp>
      <p:sp>
        <p:nvSpPr>
          <p:cNvPr id="50199" name="Text Box 23"/>
          <p:cNvSpPr txBox="1">
            <a:spLocks noChangeArrowheads="1"/>
          </p:cNvSpPr>
          <p:nvPr/>
        </p:nvSpPr>
        <p:spPr bwMode="auto">
          <a:xfrm>
            <a:off x="9084345" y="1499912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则此级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00" name="Text Box 24"/>
              <p:cNvSpPr txBox="1">
                <a:spLocks noChangeArrowheads="1"/>
              </p:cNvSpPr>
              <p:nvPr/>
            </p:nvSpPr>
            <p:spPr bwMode="auto">
              <a:xfrm>
                <a:off x="3181759" y="2376995"/>
                <a:ext cx="738990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数在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内任一闭区间 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[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</m:oMath>
                </a14:m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 ]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上一致收敛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50200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759" y="2376995"/>
                <a:ext cx="7389908" cy="523220"/>
              </a:xfrm>
              <a:prstGeom prst="rect">
                <a:avLst/>
              </a:prstGeom>
              <a:blipFill>
                <a:blip r:embed="rId9"/>
                <a:stretch>
                  <a:fillRect l="-1733" t="-16279" r="-660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201" name="Text Box 25"/>
          <p:cNvSpPr txBox="1">
            <a:spLocks noChangeArrowheads="1"/>
          </p:cNvSpPr>
          <p:nvPr/>
        </p:nvSpPr>
        <p:spPr bwMode="auto">
          <a:xfrm>
            <a:off x="1742882" y="3125286"/>
            <a:ext cx="6511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02" name="Object 26"/>
              <p:cNvSpPr txBox="1"/>
              <p:nvPr/>
            </p:nvSpPr>
            <p:spPr bwMode="auto">
              <a:xfrm>
                <a:off x="3181759" y="3174498"/>
                <a:ext cx="3149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</m:e>
                      </m:func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0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759" y="3174498"/>
                <a:ext cx="3149600" cy="469900"/>
              </a:xfrm>
              <a:prstGeom prst="rect">
                <a:avLst/>
              </a:prstGeom>
              <a:blipFill>
                <a:blip r:embed="rId10"/>
                <a:stretch>
                  <a:fillRect l="-1354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24" name="Text Box 48"/>
              <p:cNvSpPr txBox="1">
                <a:spLocks noChangeArrowheads="1"/>
              </p:cNvSpPr>
              <p:nvPr/>
            </p:nvSpPr>
            <p:spPr bwMode="auto">
              <a:xfrm>
                <a:off x="3181759" y="3720599"/>
                <a:ext cx="374044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则对</a:t>
                </a:r>
                <a:r>
                  <a:rPr kumimoji="1"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[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𝑎</m:t>
                    </m:r>
                  </m:oMath>
                </a14:m>
                <a:r>
                  <a:rPr kumimoji="1"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𝑏</m:t>
                    </m:r>
                  </m:oMath>
                </a14:m>
                <a:r>
                  <a:rPr kumimoji="1"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 ]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上的一切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 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Times New Roman" panose="02020603050405020304" pitchFamily="18" charset="0"/>
                    <a:sym typeface="+mn-lt"/>
                  </a:rPr>
                  <a:t>都有 </a:t>
                </a:r>
              </a:p>
            </p:txBody>
          </p:sp>
        </mc:Choice>
        <mc:Fallback xmlns="">
          <p:sp>
            <p:nvSpPr>
              <p:cNvPr id="50224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759" y="3720599"/>
                <a:ext cx="3740448" cy="461665"/>
              </a:xfrm>
              <a:prstGeom prst="rect">
                <a:avLst/>
              </a:prstGeom>
              <a:blipFill>
                <a:blip r:embed="rId11"/>
                <a:stretch>
                  <a:fillRect l="-2117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25" name="Object 49"/>
              <p:cNvSpPr txBox="1"/>
              <p:nvPr/>
            </p:nvSpPr>
            <p:spPr bwMode="auto">
              <a:xfrm>
                <a:off x="3181759" y="4256668"/>
                <a:ext cx="4603728" cy="6826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=0,1,2,⋯)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25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759" y="4256668"/>
                <a:ext cx="4603728" cy="68262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26" name="Object 50"/>
              <p:cNvSpPr txBox="1"/>
              <p:nvPr/>
            </p:nvSpPr>
            <p:spPr bwMode="auto">
              <a:xfrm>
                <a:off x="3181759" y="4932031"/>
                <a:ext cx="1809341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 0&lt;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2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1759" y="4932031"/>
                <a:ext cx="1809341" cy="430887"/>
              </a:xfrm>
              <a:prstGeom prst="rect">
                <a:avLst/>
              </a:prstGeom>
              <a:blipFill>
                <a:blip r:embed="rId13"/>
                <a:stretch>
                  <a:fillRect l="-13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227" name="Text Box 51"/>
          <p:cNvSpPr txBox="1">
            <a:spLocks noChangeArrowheads="1"/>
          </p:cNvSpPr>
          <p:nvPr/>
        </p:nvSpPr>
        <p:spPr bwMode="auto">
          <a:xfrm>
            <a:off x="4814417" y="4915025"/>
            <a:ext cx="43749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由阿贝尔定理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(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第三节定理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1)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29" name="Object 53"/>
              <p:cNvSpPr txBox="1"/>
              <p:nvPr/>
            </p:nvSpPr>
            <p:spPr bwMode="auto">
              <a:xfrm>
                <a:off x="8908196" y="4617483"/>
                <a:ext cx="11557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0229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8196" y="4617483"/>
                <a:ext cx="1155700" cy="1028700"/>
              </a:xfrm>
              <a:prstGeom prst="rect">
                <a:avLst/>
              </a:prstGeom>
              <a:blipFill>
                <a:blip r:embed="rId14"/>
                <a:stretch>
                  <a:fillRect r="-10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230" name="Text Box 54"/>
          <p:cNvSpPr txBox="1">
            <a:spLocks noChangeArrowheads="1"/>
          </p:cNvSpPr>
          <p:nvPr/>
        </p:nvSpPr>
        <p:spPr bwMode="auto">
          <a:xfrm>
            <a:off x="3181759" y="5619420"/>
            <a:ext cx="13708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绝对收敛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,</a:t>
            </a:r>
          </a:p>
        </p:txBody>
      </p:sp>
      <p:sp>
        <p:nvSpPr>
          <p:cNvPr id="50231" name="Text Box 55"/>
          <p:cNvSpPr txBox="1">
            <a:spLocks noChangeArrowheads="1"/>
          </p:cNvSpPr>
          <p:nvPr/>
        </p:nvSpPr>
        <p:spPr bwMode="auto">
          <a:xfrm>
            <a:off x="4419264" y="5620605"/>
            <a:ext cx="483978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由魏尔斯特拉斯判别法即知结论成立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. </a:t>
            </a: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1742882" y="666357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ea typeface="黑体" panose="02010609060101010101" pitchFamily="49" charset="-122"/>
              </a:rPr>
              <a:t>幂级数的一致收敛性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3C8DFCF-14D1-E067-DBD2-1645EF3CDF25}"/>
              </a:ext>
            </a:extLst>
          </p:cNvPr>
          <p:cNvGrpSpPr/>
          <p:nvPr/>
        </p:nvGrpSpPr>
        <p:grpSpPr>
          <a:xfrm>
            <a:off x="1834668" y="1538846"/>
            <a:ext cx="1233805" cy="449580"/>
            <a:chOff x="1553" y="3802"/>
            <a:chExt cx="1943" cy="708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CB6866DA-38D1-444F-3732-7DCDD70E4131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5F4BB208-EE74-A74D-1F13-05D0EBA86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8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7ECCCF-1069-0489-7E75-72204CC78429}"/>
              </a:ext>
            </a:extLst>
          </p:cNvPr>
          <p:cNvGrpSpPr/>
          <p:nvPr/>
        </p:nvGrpSpPr>
        <p:grpSpPr>
          <a:xfrm>
            <a:off x="9392763" y="5649963"/>
            <a:ext cx="716209" cy="360271"/>
            <a:chOff x="1553" y="3803"/>
            <a:chExt cx="1165" cy="579"/>
          </a:xfrm>
        </p:grpSpPr>
        <p:sp>
          <p:nvSpPr>
            <p:cNvPr id="6" name="圆角矩形 21">
              <a:extLst>
                <a:ext uri="{FF2B5EF4-FFF2-40B4-BE49-F238E27FC236}">
                  <a16:creationId xmlns:a16="http://schemas.microsoft.com/office/drawing/2014/main" id="{5E7E364F-6E16-1384-A509-343BBE0B51C1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A8A5B827-12C8-D991-899F-48199A35D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164280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6" grpId="0" build="p" autoUpdateAnimBg="0"/>
      <p:bldP spid="50197" grpId="0"/>
      <p:bldP spid="50198" grpId="0" build="p" autoUpdateAnimBg="0" advAuto="0"/>
      <p:bldP spid="50199" grpId="0" build="p" autoUpdateAnimBg="0"/>
      <p:bldP spid="50200" grpId="0" build="p" autoUpdateAnimBg="0" advAuto="0"/>
      <p:bldP spid="50201" grpId="0" build="p" autoUpdateAnimBg="0"/>
      <p:bldP spid="50202" grpId="0"/>
      <p:bldP spid="50224" grpId="0" build="p" autoUpdateAnimBg="0"/>
      <p:bldP spid="50225" grpId="0"/>
      <p:bldP spid="50226" grpId="0"/>
      <p:bldP spid="50227" grpId="0" build="p" autoUpdateAnimBg="0"/>
      <p:bldP spid="50229" grpId="0"/>
      <p:bldP spid="50230" grpId="0" build="p" autoUpdateAnimBg="0" advAuto="0"/>
      <p:bldP spid="50231" grpId="0" build="p" autoUpdateAnimBg="0"/>
      <p:bldP spid="3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DE3B9B-223B-B0C2-DC94-5A76A1112E10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784EE4D-3D3D-E790-607B-56D1E3AF0C9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784EE4D-3D3D-E790-607B-56D1E3AF0C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06AD9BAB-BB3F-71E6-64AB-83BAD8803412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45AACCAB-0698-BEA3-133D-65A47CE44C01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AB952201-10E5-E0B4-BDDC-615F346A9FE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45CB17DA-B0BE-6F49-F7B6-6A6D5508DB44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0232" name="Text Box 56"/>
          <p:cNvSpPr txBox="1">
            <a:spLocks noChangeArrowheads="1"/>
          </p:cNvSpPr>
          <p:nvPr/>
        </p:nvSpPr>
        <p:spPr bwMode="auto">
          <a:xfrm>
            <a:off x="2537542" y="3138901"/>
            <a:ext cx="53912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若幂级数在收敛区间的端点收敛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, </a:t>
            </a:r>
          </a:p>
        </p:txBody>
      </p:sp>
      <p:sp>
        <p:nvSpPr>
          <p:cNvPr id="50233" name="Text Box 57"/>
          <p:cNvSpPr txBox="1">
            <a:spLocks noChangeArrowheads="1"/>
          </p:cNvSpPr>
          <p:nvPr/>
        </p:nvSpPr>
        <p:spPr bwMode="auto">
          <a:xfrm>
            <a:off x="7728736" y="3138901"/>
            <a:ext cx="2051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则一致收敛 </a:t>
            </a:r>
          </a:p>
        </p:txBody>
      </p:sp>
      <p:sp>
        <p:nvSpPr>
          <p:cNvPr id="50234" name="Text Box 58"/>
          <p:cNvSpPr txBox="1">
            <a:spLocks noChangeArrowheads="1"/>
          </p:cNvSpPr>
          <p:nvPr/>
        </p:nvSpPr>
        <p:spPr bwMode="auto">
          <a:xfrm>
            <a:off x="2537542" y="3868203"/>
            <a:ext cx="320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区间可包含此端点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. 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C8275EF-80F8-9D83-EC71-F99B582426B0}"/>
              </a:ext>
            </a:extLst>
          </p:cNvPr>
          <p:cNvGrpSpPr/>
          <p:nvPr/>
        </p:nvGrpSpPr>
        <p:grpSpPr>
          <a:xfrm>
            <a:off x="2537542" y="2346265"/>
            <a:ext cx="612775" cy="612775"/>
            <a:chOff x="1601" y="872"/>
            <a:chExt cx="965" cy="965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187CDA1-2742-5C8E-0447-0586D4306BFA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97685F4-B923-12F5-A837-FDD20A9E8803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86E3E32-D435-6DBB-FF71-18F77F002063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24359954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32" grpId="0" build="p" autoUpdateAnimBg="0"/>
      <p:bldP spid="50233" grpId="0" build="p" autoUpdateAnimBg="0"/>
      <p:bldP spid="50234" grpId="0" build="p" autoUpdateAnimBg="0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1225" y="806833"/>
            <a:ext cx="3289547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若幂级数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47" name="Object 3"/>
              <p:cNvSpPr txBox="1"/>
              <p:nvPr/>
            </p:nvSpPr>
            <p:spPr bwMode="auto">
              <a:xfrm>
                <a:off x="3546389" y="437179"/>
                <a:ext cx="1952396" cy="15214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4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6389" y="437179"/>
                <a:ext cx="1952396" cy="1521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5015126" y="76831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的收敛半径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49" name="Object 5"/>
              <p:cNvSpPr txBox="1"/>
              <p:nvPr/>
            </p:nvSpPr>
            <p:spPr bwMode="auto">
              <a:xfrm>
                <a:off x="6887622" y="805226"/>
                <a:ext cx="1655292" cy="589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4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87622" y="805226"/>
                <a:ext cx="1655292" cy="5895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0" name="Object 6"/>
              <p:cNvSpPr txBox="1"/>
              <p:nvPr/>
            </p:nvSpPr>
            <p:spPr bwMode="auto">
              <a:xfrm>
                <a:off x="2051225" y="1611699"/>
                <a:ext cx="1704539" cy="535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数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225" y="1611699"/>
                <a:ext cx="1704539" cy="5353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2" name="Object 8"/>
              <p:cNvSpPr txBox="1"/>
              <p:nvPr/>
            </p:nvSpPr>
            <p:spPr bwMode="auto">
              <a:xfrm>
                <a:off x="2051225" y="2549815"/>
                <a:ext cx="3445451" cy="13436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end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225" y="2549815"/>
                <a:ext cx="3445451" cy="1343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3" name="Object 9"/>
              <p:cNvSpPr txBox="1"/>
              <p:nvPr/>
            </p:nvSpPr>
            <p:spPr bwMode="auto">
              <a:xfrm>
                <a:off x="5291960" y="2552181"/>
                <a:ext cx="2592935" cy="151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1960" y="2552181"/>
                <a:ext cx="2592935" cy="15151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4" name="Object 10"/>
              <p:cNvSpPr txBox="1"/>
              <p:nvPr/>
            </p:nvSpPr>
            <p:spPr bwMode="auto">
              <a:xfrm>
                <a:off x="7790178" y="2903356"/>
                <a:ext cx="2521243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0178" y="2903356"/>
                <a:ext cx="2521243" cy="406400"/>
              </a:xfrm>
              <a:prstGeom prst="rect">
                <a:avLst/>
              </a:prstGeom>
              <a:blipFill>
                <a:blip r:embed="rId8"/>
                <a:stretch>
                  <a:fillRect b="-179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5" name="Object 11"/>
              <p:cNvSpPr txBox="1"/>
              <p:nvPr/>
            </p:nvSpPr>
            <p:spPr bwMode="auto">
              <a:xfrm>
                <a:off x="2051225" y="3758066"/>
                <a:ext cx="4724399" cy="15414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nary>
                            <m:nary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225" y="3758066"/>
                <a:ext cx="4724399" cy="15414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6" name="Object 12"/>
              <p:cNvSpPr txBox="1"/>
              <p:nvPr/>
            </p:nvSpPr>
            <p:spPr bwMode="auto">
              <a:xfrm>
                <a:off x="6588427" y="3754713"/>
                <a:ext cx="4165918" cy="151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8427" y="3754713"/>
                <a:ext cx="4165918" cy="15151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7" name="Object 13"/>
              <p:cNvSpPr txBox="1"/>
              <p:nvPr/>
            </p:nvSpPr>
            <p:spPr bwMode="auto">
              <a:xfrm>
                <a:off x="9394801" y="4110819"/>
                <a:ext cx="2212999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95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94801" y="4110819"/>
                <a:ext cx="2212999" cy="406400"/>
              </a:xfrm>
              <a:prstGeom prst="rect">
                <a:avLst/>
              </a:prstGeom>
              <a:blipFill>
                <a:blip r:embed="rId11"/>
                <a:stretch>
                  <a:fillRect b="-179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7928204" y="77922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则其和函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9" name="Text Box 15"/>
              <p:cNvSpPr txBox="1">
                <a:spLocks noChangeArrowheads="1"/>
              </p:cNvSpPr>
              <p:nvPr/>
            </p:nvSpPr>
            <p:spPr bwMode="auto">
              <a:xfrm>
                <a:off x="3118025" y="1627898"/>
                <a:ext cx="29718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在收敛域上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连续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2959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8025" y="1627898"/>
                <a:ext cx="2971800" cy="519112"/>
              </a:xfrm>
              <a:prstGeom prst="rect">
                <a:avLst/>
              </a:prstGeom>
              <a:blipFill>
                <a:blip r:embed="rId12"/>
                <a:stretch>
                  <a:fillRect l="-4098" t="-14118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5785025" y="1618373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且在收敛区间内可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逐项求导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61" name="Text Box 17"/>
              <p:cNvSpPr txBox="1">
                <a:spLocks noChangeArrowheads="1"/>
              </p:cNvSpPr>
              <p:nvPr/>
            </p:nvSpPr>
            <p:spPr bwMode="auto">
              <a:xfrm>
                <a:off x="2051225" y="2127812"/>
                <a:ext cx="2209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黑体"/>
                    <a:ea typeface="黑体"/>
                    <a:cs typeface="+mn-ea"/>
                    <a:sym typeface="+mn-lt"/>
                  </a:rPr>
                  <a:t>逐项求积分</a:t>
                </a:r>
                <a14:m>
                  <m:oMath xmlns:m="http://schemas.openxmlformats.org/officeDocument/2006/math">
                    <m:r>
                      <a:rPr kumimoji="1" lang="zh-CN" altLang="en-US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/>
                        <a:cs typeface="+mn-ea"/>
                      </a:rPr>
                      <m:t>,</m:t>
                    </m:r>
                  </m:oMath>
                </a14:m>
                <a:endParaRPr kumimoji="1" lang="en-US" altLang="zh-CN" sz="2800" b="1" dirty="0">
                  <a:solidFill>
                    <a:srgbClr val="04926A"/>
                  </a:solidFill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296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225" y="2127812"/>
                <a:ext cx="2209800" cy="519113"/>
              </a:xfrm>
              <a:prstGeom prst="rect">
                <a:avLst/>
              </a:prstGeom>
              <a:blipFill>
                <a:blip r:embed="rId13"/>
                <a:stretch>
                  <a:fillRect l="-5510" t="-14118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62" name="Text Box 18"/>
              <p:cNvSpPr txBox="1">
                <a:spLocks noChangeArrowheads="1"/>
              </p:cNvSpPr>
              <p:nvPr/>
            </p:nvSpPr>
            <p:spPr bwMode="auto">
              <a:xfrm>
                <a:off x="4042004" y="2140141"/>
                <a:ext cx="4724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运算前后收敛半径相同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即</a:t>
                </a:r>
              </a:p>
            </p:txBody>
          </p:sp>
        </mc:Choice>
        <mc:Fallback xmlns="">
          <p:sp>
            <p:nvSpPr>
              <p:cNvPr id="8296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2004" y="2140141"/>
                <a:ext cx="4724400" cy="519113"/>
              </a:xfrm>
              <a:prstGeom prst="rect">
                <a:avLst/>
              </a:prstGeom>
              <a:blipFill>
                <a:blip r:embed="rId14"/>
                <a:stretch>
                  <a:fillRect l="-2581" t="-14118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2051225" y="5060702"/>
            <a:ext cx="62504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关于和函数的连续性及逐项可积的结论由魏尔斯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64" name="Text Box 20"/>
              <p:cNvSpPr txBox="1">
                <a:spLocks noChangeArrowheads="1"/>
              </p:cNvSpPr>
              <p:nvPr/>
            </p:nvSpPr>
            <p:spPr bwMode="auto">
              <a:xfrm>
                <a:off x="2051225" y="5547023"/>
                <a:ext cx="524214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特拉斯判别法的推论及定理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1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2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立即可得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8296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225" y="5547023"/>
                <a:ext cx="5242141" cy="430887"/>
              </a:xfrm>
              <a:prstGeom prst="rect">
                <a:avLst/>
              </a:prstGeom>
              <a:blipFill>
                <a:blip r:embed="rId15"/>
                <a:stretch>
                  <a:fillRect l="-1512" t="-14085" r="-581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2051225" y="5965990"/>
            <a:ext cx="356834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下面证明逐项可导的结论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:</a:t>
            </a:r>
          </a:p>
        </p:txBody>
      </p:sp>
      <p:sp>
        <p:nvSpPr>
          <p:cNvPr id="3" name="Text Box 25">
            <a:extLst>
              <a:ext uri="{FF2B5EF4-FFF2-40B4-BE49-F238E27FC236}">
                <a16:creationId xmlns:a16="http://schemas.microsoft.com/office/drawing/2014/main" id="{AAE25248-0DCC-1483-FBDE-F3441D3E3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251" y="4998558"/>
            <a:ext cx="750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Cambria Math" panose="02040503050406030204" pitchFamily="18" charset="0"/>
                <a:ea typeface="黑体"/>
                <a:cs typeface="Times New Roman" panose="02020603050405020304" pitchFamily="18" charset="0"/>
                <a:sym typeface="+mn-lt"/>
              </a:rPr>
              <a:t>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/>
              <a:cs typeface="Times New Roman" panose="02020603050405020304" pitchFamily="18" charset="0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E7C420B-E178-0F89-4781-E1B154D64B7F}"/>
              </a:ext>
            </a:extLst>
          </p:cNvPr>
          <p:cNvGrpSpPr/>
          <p:nvPr/>
        </p:nvGrpSpPr>
        <p:grpSpPr>
          <a:xfrm>
            <a:off x="804251" y="825007"/>
            <a:ext cx="1233805" cy="449580"/>
            <a:chOff x="1553" y="3802"/>
            <a:chExt cx="1943" cy="708"/>
          </a:xfrm>
        </p:grpSpPr>
        <p:sp>
          <p:nvSpPr>
            <p:cNvPr id="5" name="圆角矩形 3">
              <a:extLst>
                <a:ext uri="{FF2B5EF4-FFF2-40B4-BE49-F238E27FC236}">
                  <a16:creationId xmlns:a16="http://schemas.microsoft.com/office/drawing/2014/main" id="{7C5FF523-8687-4F8E-87C8-64E425A41C21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0287B71E-C9A7-0F65-6C1E-C0CEE9AF5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8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0415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2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2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7" grpId="0"/>
      <p:bldP spid="82948" grpId="0"/>
      <p:bldP spid="82949" grpId="0"/>
      <p:bldP spid="82950" grpId="0"/>
      <p:bldP spid="82952" grpId="0"/>
      <p:bldP spid="82953" grpId="0"/>
      <p:bldP spid="82954" grpId="0"/>
      <p:bldP spid="82955" grpId="0"/>
      <p:bldP spid="82956" grpId="0"/>
      <p:bldP spid="82957" grpId="0"/>
      <p:bldP spid="82958" grpId="0" autoUpdateAnimBg="0"/>
      <p:bldP spid="82959" grpId="0" autoUpdateAnimBg="0"/>
      <p:bldP spid="82960" grpId="0" autoUpdateAnimBg="0"/>
      <p:bldP spid="82961" grpId="0" autoUpdateAnimBg="0"/>
      <p:bldP spid="82962" grpId="0" build="p" autoUpdateAnimBg="0"/>
      <p:bldP spid="82963" grpId="0" build="p" autoUpdateAnimBg="0"/>
      <p:bldP spid="82964" grpId="0" build="p" autoUpdateAnimBg="0" advAuto="0"/>
      <p:bldP spid="82966" grpId="0" build="p" autoUpdateAnimBg="0"/>
      <p:bldP spid="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02D5BE-F771-8D0C-51E4-7869CE441F4A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A1EB3F9-ABC5-6E12-99DF-2E78F459ADAE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A1EB3F9-ABC5-6E12-99DF-2E78F459AD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87FD1855-4BA4-742B-F5E4-8BFCAB688F3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10229EC0-EDAC-CFBF-206B-F069DEE65D2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F215637C-7485-88F8-B9CD-7E2D6751015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9BB24E71-37B3-60B3-F6CC-68831A66A1C2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5345" name="Rectangle 49"/>
          <p:cNvSpPr>
            <a:spLocks noGrp="1" noChangeArrowheads="1"/>
          </p:cNvSpPr>
          <p:nvPr>
            <p:ph type="title" idx="4294967295"/>
          </p:nvPr>
        </p:nvSpPr>
        <p:spPr>
          <a:xfrm>
            <a:off x="2043739" y="796548"/>
            <a:ext cx="8382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证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46" name="Object 50"/>
              <p:cNvSpPr txBox="1"/>
              <p:nvPr/>
            </p:nvSpPr>
            <p:spPr bwMode="auto">
              <a:xfrm>
                <a:off x="2628123" y="555954"/>
                <a:ext cx="5195077" cy="1061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先证级数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4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123" y="555954"/>
                <a:ext cx="5195077" cy="1061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47" name="Object 51"/>
              <p:cNvSpPr txBox="1"/>
              <p:nvPr/>
            </p:nvSpPr>
            <p:spPr bwMode="auto">
              <a:xfrm>
                <a:off x="2628124" y="1631790"/>
                <a:ext cx="2380614" cy="533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任取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47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124" y="1631790"/>
                <a:ext cx="2380614" cy="533061"/>
              </a:xfrm>
              <a:prstGeom prst="rect">
                <a:avLst/>
              </a:prstGeom>
              <a:blipFill>
                <a:blip r:embed="rId4"/>
                <a:stretch>
                  <a:fillRect l="-17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48" name="Object 52"/>
              <p:cNvSpPr txBox="1"/>
              <p:nvPr/>
            </p:nvSpPr>
            <p:spPr bwMode="auto">
              <a:xfrm>
                <a:off x="4739574" y="1642343"/>
                <a:ext cx="3605613" cy="4984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再取定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48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9574" y="1642343"/>
                <a:ext cx="3605613" cy="498405"/>
              </a:xfrm>
              <a:prstGeom prst="rect">
                <a:avLst/>
              </a:prstGeom>
              <a:blipFill>
                <a:blip r:embed="rId5"/>
                <a:stretch>
                  <a:fillRect l="-11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49" name="Object 53"/>
              <p:cNvSpPr txBox="1"/>
              <p:nvPr/>
            </p:nvSpPr>
            <p:spPr bwMode="auto">
              <a:xfrm>
                <a:off x="7983808" y="1453585"/>
                <a:ext cx="2105416" cy="8910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记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49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83808" y="1453585"/>
                <a:ext cx="2105416" cy="8910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50" name="Text Box 54"/>
          <p:cNvSpPr txBox="1">
            <a:spLocks noChangeArrowheads="1"/>
          </p:cNvSpPr>
          <p:nvPr/>
        </p:nvSpPr>
        <p:spPr bwMode="auto">
          <a:xfrm>
            <a:off x="2628123" y="2486648"/>
            <a:ext cx="56090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51" name="Object 55"/>
              <p:cNvSpPr txBox="1"/>
              <p:nvPr/>
            </p:nvSpPr>
            <p:spPr bwMode="auto">
              <a:xfrm>
                <a:off x="3009123" y="2424650"/>
                <a:ext cx="1815981" cy="9457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51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9123" y="2424650"/>
                <a:ext cx="1815981" cy="945773"/>
              </a:xfrm>
              <a:prstGeom prst="rect">
                <a:avLst/>
              </a:prstGeom>
              <a:blipFill>
                <a:blip r:embed="rId7"/>
                <a:stretch>
                  <a:fillRect l="-32886" t="-82581" r="-9396" b="-709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52" name="Object 56"/>
              <p:cNvSpPr txBox="1"/>
              <p:nvPr/>
            </p:nvSpPr>
            <p:spPr bwMode="auto">
              <a:xfrm>
                <a:off x="4340799" y="2127155"/>
                <a:ext cx="3057977" cy="11791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52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0799" y="2127155"/>
                <a:ext cx="3057977" cy="11791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53" name="Object 57"/>
              <p:cNvSpPr txBox="1"/>
              <p:nvPr/>
            </p:nvSpPr>
            <p:spPr bwMode="auto">
              <a:xfrm>
                <a:off x="7100283" y="2286447"/>
                <a:ext cx="2627918" cy="8107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53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0283" y="2286447"/>
                <a:ext cx="2627918" cy="8107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54" name="Text Box 58"/>
          <p:cNvSpPr txBox="1">
            <a:spLocks noChangeArrowheads="1"/>
          </p:cNvSpPr>
          <p:nvPr/>
        </p:nvSpPr>
        <p:spPr bwMode="auto">
          <a:xfrm>
            <a:off x="2628123" y="3371003"/>
            <a:ext cx="34424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由比值审敛法知级数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56" name="Object 60"/>
              <p:cNvSpPr txBox="1"/>
              <p:nvPr/>
            </p:nvSpPr>
            <p:spPr bwMode="auto">
              <a:xfrm>
                <a:off x="5155896" y="3107757"/>
                <a:ext cx="2232544" cy="11299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56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5896" y="3107757"/>
                <a:ext cx="2232544" cy="11299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57" name="Text Box 61"/>
          <p:cNvSpPr txBox="1">
            <a:spLocks noChangeArrowheads="1"/>
          </p:cNvSpPr>
          <p:nvPr/>
        </p:nvSpPr>
        <p:spPr bwMode="auto">
          <a:xfrm>
            <a:off x="7104834" y="3372128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58" name="Object 62"/>
              <p:cNvSpPr txBox="1"/>
              <p:nvPr/>
            </p:nvSpPr>
            <p:spPr bwMode="auto">
              <a:xfrm>
                <a:off x="7430851" y="3380592"/>
                <a:ext cx="2716341" cy="12536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58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30851" y="3380592"/>
                <a:ext cx="2716341" cy="1253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60" name="Object 64"/>
              <p:cNvSpPr txBox="1"/>
              <p:nvPr/>
            </p:nvSpPr>
            <p:spPr bwMode="auto">
              <a:xfrm>
                <a:off x="2628122" y="4099104"/>
                <a:ext cx="2848003" cy="5034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因此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60" name="Object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122" y="4099104"/>
                <a:ext cx="2848003" cy="503480"/>
              </a:xfrm>
              <a:prstGeom prst="rect">
                <a:avLst/>
              </a:prstGeom>
              <a:blipFill>
                <a:blip r:embed="rId12"/>
                <a:stretch>
                  <a:fillRect l="-12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61" name="Text Box 65"/>
              <p:cNvSpPr txBox="1">
                <a:spLocks noChangeArrowheads="1"/>
              </p:cNvSpPr>
              <p:nvPr/>
            </p:nvSpPr>
            <p:spPr bwMode="auto">
              <a:xfrm>
                <a:off x="4895452" y="4101746"/>
                <a:ext cx="3640850" cy="4376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故存在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zh-CN" altLang="en-US" sz="24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＞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使得 </a:t>
                </a:r>
              </a:p>
            </p:txBody>
          </p:sp>
        </mc:Choice>
        <mc:Fallback xmlns="">
          <p:sp>
            <p:nvSpPr>
              <p:cNvPr id="55361" name="Text 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5452" y="4101746"/>
                <a:ext cx="3640850" cy="437684"/>
              </a:xfrm>
              <a:prstGeom prst="rect">
                <a:avLst/>
              </a:prstGeom>
              <a:blipFill>
                <a:blip r:embed="rId13"/>
                <a:stretch>
                  <a:fillRect l="-2178" t="-13889" b="-208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62" name="Object 66"/>
              <p:cNvSpPr txBox="1"/>
              <p:nvPr/>
            </p:nvSpPr>
            <p:spPr bwMode="auto">
              <a:xfrm>
                <a:off x="4455340" y="4491329"/>
                <a:ext cx="3958902" cy="890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62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5340" y="4491329"/>
                <a:ext cx="3958902" cy="8902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64" name="Object 68"/>
              <p:cNvSpPr txBox="1"/>
              <p:nvPr/>
            </p:nvSpPr>
            <p:spPr bwMode="auto">
              <a:xfrm>
                <a:off x="2628123" y="5534436"/>
                <a:ext cx="2380614" cy="7698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0&lt;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64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123" y="5534436"/>
                <a:ext cx="2380614" cy="769815"/>
              </a:xfrm>
              <a:prstGeom prst="rect">
                <a:avLst/>
              </a:prstGeom>
              <a:blipFill>
                <a:blip r:embed="rId15"/>
                <a:stretch>
                  <a:fillRect l="-12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65" name="Object 69"/>
              <p:cNvSpPr txBox="1"/>
              <p:nvPr/>
            </p:nvSpPr>
            <p:spPr bwMode="auto">
              <a:xfrm>
                <a:off x="4390796" y="5256273"/>
                <a:ext cx="3180832" cy="11606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级数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5365" name="Object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0796" y="5256273"/>
                <a:ext cx="3180832" cy="116063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366" name="Text Box 70"/>
          <p:cNvSpPr txBox="1">
            <a:spLocks noChangeArrowheads="1"/>
          </p:cNvSpPr>
          <p:nvPr/>
        </p:nvSpPr>
        <p:spPr bwMode="auto">
          <a:xfrm>
            <a:off x="7007629" y="5512757"/>
            <a:ext cx="405777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由比较审敛法的推论可知</a:t>
            </a:r>
          </a:p>
        </p:txBody>
      </p:sp>
    </p:spTree>
    <p:extLst>
      <p:ext uri="{BB962C8B-B14F-4D97-AF65-F5344CB8AC3E}">
        <p14:creationId xmlns:p14="http://schemas.microsoft.com/office/powerpoint/2010/main" val="335370570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5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5" grpId="0"/>
      <p:bldP spid="55346" grpId="0"/>
      <p:bldP spid="55347" grpId="0"/>
      <p:bldP spid="55348" grpId="0"/>
      <p:bldP spid="55349" grpId="0"/>
      <p:bldP spid="55350" grpId="0" build="p" autoUpdateAnimBg="0"/>
      <p:bldP spid="55351" grpId="0"/>
      <p:bldP spid="55352" grpId="0"/>
      <p:bldP spid="55353" grpId="0"/>
      <p:bldP spid="55354" grpId="0" build="p" autoUpdateAnimBg="0"/>
      <p:bldP spid="55356" grpId="0"/>
      <p:bldP spid="55357" grpId="0" build="p" autoUpdateAnimBg="0"/>
      <p:bldP spid="55358" grpId="0"/>
      <p:bldP spid="55360" grpId="0"/>
      <p:bldP spid="55361" grpId="0" build="p" autoUpdateAnimBg="0"/>
      <p:bldP spid="55362" grpId="0"/>
      <p:bldP spid="55364" grpId="0"/>
      <p:bldP spid="55365" grpId="0"/>
      <p:bldP spid="55366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99B10AE-6FF5-AAF4-C72B-1772CFB2AF21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9DFE82A-8AB4-D7E5-F020-984FF723C6D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9DFE82A-8AB4-D7E5-F020-984FF723C6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73602850-23A0-91A4-1A3B-95B2A33DC32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F22503F9-E03E-1A44-5ADF-724A23D7C56B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C8B839D-11A2-9A50-42CA-1449ED07E0D0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A28E5DB8-40DA-5796-5C29-7D7E686305EE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018" name="Object 2"/>
              <p:cNvSpPr txBox="1"/>
              <p:nvPr/>
            </p:nvSpPr>
            <p:spPr bwMode="auto">
              <a:xfrm>
                <a:off x="2505780" y="536357"/>
                <a:ext cx="34290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级数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收敛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1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5780" y="536357"/>
                <a:ext cx="3429000" cy="1054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19" name="Object 3"/>
              <p:cNvSpPr txBox="1"/>
              <p:nvPr/>
            </p:nvSpPr>
            <p:spPr bwMode="auto">
              <a:xfrm>
                <a:off x="2496255" y="1374925"/>
                <a:ext cx="4662575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因为幂级数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1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6255" y="1374925"/>
                <a:ext cx="4662575" cy="1054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20" name="Object 4"/>
              <p:cNvSpPr txBox="1"/>
              <p:nvPr/>
            </p:nvSpPr>
            <p:spPr bwMode="auto">
              <a:xfrm>
                <a:off x="8494652" y="1627684"/>
                <a:ext cx="846903" cy="4457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2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94652" y="1627684"/>
                <a:ext cx="846903" cy="445742"/>
              </a:xfrm>
              <a:prstGeom prst="rect">
                <a:avLst/>
              </a:prstGeom>
              <a:blipFill>
                <a:blip r:embed="rId5"/>
                <a:stretch>
                  <a:fillRect l="-5036" b="-164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21" name="Text Box 5"/>
              <p:cNvSpPr txBox="1">
                <a:spLocks noChangeArrowheads="1"/>
              </p:cNvSpPr>
              <p:nvPr/>
            </p:nvSpPr>
            <p:spPr bwMode="auto">
              <a:xfrm>
                <a:off x="2496255" y="2498876"/>
                <a:ext cx="179408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上一致收敛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8602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6255" y="2498876"/>
                <a:ext cx="1794081" cy="430887"/>
              </a:xfrm>
              <a:prstGeom prst="rect">
                <a:avLst/>
              </a:prstGeom>
              <a:blipFill>
                <a:blip r:embed="rId6"/>
                <a:stretch>
                  <a:fillRect l="-4407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4033144" y="2497069"/>
            <a:ext cx="13131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故原级数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23" name="Object 7"/>
              <p:cNvSpPr txBox="1"/>
              <p:nvPr/>
            </p:nvSpPr>
            <p:spPr bwMode="auto">
              <a:xfrm>
                <a:off x="5223233" y="2204229"/>
                <a:ext cx="24384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3233" y="2204229"/>
                <a:ext cx="2438400" cy="1054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6795470" y="1642538"/>
            <a:ext cx="18774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内任一闭区间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25" name="Text Box 9"/>
              <p:cNvSpPr txBox="1">
                <a:spLocks noChangeArrowheads="1"/>
              </p:cNvSpPr>
              <p:nvPr/>
            </p:nvSpPr>
            <p:spPr bwMode="auto">
              <a:xfrm>
                <a:off x="7337616" y="2519933"/>
                <a:ext cx="235833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上满足定理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3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条件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602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37616" y="2519933"/>
                <a:ext cx="2358338" cy="430887"/>
              </a:xfrm>
              <a:prstGeom prst="rect">
                <a:avLst/>
              </a:prstGeom>
              <a:blipFill>
                <a:blip r:embed="rId8"/>
                <a:stretch>
                  <a:fillRect l="-3359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26" name="Text Box 10"/>
              <p:cNvSpPr txBox="1">
                <a:spLocks noChangeArrowheads="1"/>
              </p:cNvSpPr>
              <p:nvPr/>
            </p:nvSpPr>
            <p:spPr bwMode="auto">
              <a:xfrm>
                <a:off x="2496255" y="3203726"/>
                <a:ext cx="244169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从而可逐项求导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</a:t>
                </a:r>
              </a:p>
            </p:txBody>
          </p:sp>
        </mc:Choice>
        <mc:Fallback xmlns="">
          <p:sp>
            <p:nvSpPr>
              <p:cNvPr id="86026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6255" y="3203726"/>
                <a:ext cx="2441694" cy="430887"/>
              </a:xfrm>
              <a:prstGeom prst="rect">
                <a:avLst/>
              </a:prstGeom>
              <a:blipFill>
                <a:blip r:embed="rId9"/>
                <a:stretch>
                  <a:fillRect l="-3242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27" name="Object 11"/>
              <p:cNvSpPr txBox="1"/>
              <p:nvPr/>
            </p:nvSpPr>
            <p:spPr bwMode="auto">
              <a:xfrm>
                <a:off x="4591244" y="3198362"/>
                <a:ext cx="2567586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再由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的任意性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2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1244" y="3198362"/>
                <a:ext cx="2567586" cy="444500"/>
              </a:xfrm>
              <a:prstGeom prst="rect">
                <a:avLst/>
              </a:prstGeom>
              <a:blipFill>
                <a:blip r:embed="rId10"/>
                <a:stretch>
                  <a:fillRect l="-1425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28" name="Text Box 12"/>
          <p:cNvSpPr txBox="1">
            <a:spLocks noChangeArrowheads="1"/>
          </p:cNvSpPr>
          <p:nvPr/>
        </p:nvSpPr>
        <p:spPr bwMode="auto">
          <a:xfrm>
            <a:off x="6999120" y="3184885"/>
            <a:ext cx="8899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即知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29" name="Object 13"/>
              <p:cNvSpPr txBox="1"/>
              <p:nvPr/>
            </p:nvSpPr>
            <p:spPr bwMode="auto">
              <a:xfrm>
                <a:off x="3606030" y="3629620"/>
                <a:ext cx="5613772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altLang="zh-CN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2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6030" y="3629620"/>
                <a:ext cx="5613772" cy="10541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2496255" y="4879586"/>
            <a:ext cx="145424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再证级数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32" name="Object 16"/>
              <p:cNvSpPr txBox="1"/>
              <p:nvPr/>
            </p:nvSpPr>
            <p:spPr bwMode="auto">
              <a:xfrm>
                <a:off x="3665355" y="4604525"/>
                <a:ext cx="1903155" cy="11415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32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5355" y="4604525"/>
                <a:ext cx="1903155" cy="114153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5346324" y="4891495"/>
            <a:ext cx="17363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的收敛半径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34" name="Object 18"/>
              <p:cNvSpPr txBox="1"/>
              <p:nvPr/>
            </p:nvSpPr>
            <p:spPr bwMode="auto">
              <a:xfrm>
                <a:off x="6804319" y="4898387"/>
                <a:ext cx="1166783" cy="342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3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4319" y="4898387"/>
                <a:ext cx="1166783" cy="342900"/>
              </a:xfrm>
              <a:prstGeom prst="rect">
                <a:avLst/>
              </a:prstGeom>
              <a:blipFill>
                <a:blip r:embed="rId13"/>
                <a:stretch>
                  <a:fillRect l="-521" b="-2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2496255" y="5592105"/>
            <a:ext cx="258275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由前面的证明可知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36" name="Object 20"/>
              <p:cNvSpPr txBox="1"/>
              <p:nvPr/>
            </p:nvSpPr>
            <p:spPr bwMode="auto">
              <a:xfrm>
                <a:off x="4827542" y="5598185"/>
                <a:ext cx="1107238" cy="342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3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7542" y="5598185"/>
                <a:ext cx="1107238" cy="342900"/>
              </a:xfrm>
              <a:prstGeom prst="rect">
                <a:avLst/>
              </a:prstGeom>
              <a:blipFill>
                <a:blip r:embed="rId14"/>
                <a:stretch>
                  <a:fillRect l="-549" b="-280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5673927" y="5595379"/>
            <a:ext cx="17363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若将幂级数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38" name="Object 22"/>
              <p:cNvSpPr txBox="1"/>
              <p:nvPr/>
            </p:nvSpPr>
            <p:spPr bwMode="auto">
              <a:xfrm>
                <a:off x="7082697" y="5316574"/>
                <a:ext cx="215900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6038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2697" y="5316574"/>
                <a:ext cx="2159000" cy="10541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6754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6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6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6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6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019" grpId="0"/>
      <p:bldP spid="86020" grpId="0"/>
      <p:bldP spid="86021" grpId="0" build="p" autoUpdateAnimBg="0" advAuto="0"/>
      <p:bldP spid="86022" grpId="0" build="p" autoUpdateAnimBg="0"/>
      <p:bldP spid="86023" grpId="0"/>
      <p:bldP spid="86024" grpId="0" build="p" autoUpdateAnimBg="0"/>
      <p:bldP spid="86025" grpId="0" build="p" autoUpdateAnimBg="0" advAuto="0"/>
      <p:bldP spid="86026" grpId="0" build="p" autoUpdateAnimBg="0"/>
      <p:bldP spid="86027" grpId="0"/>
      <p:bldP spid="86028" grpId="0" build="p" autoUpdateAnimBg="0" advAuto="0"/>
      <p:bldP spid="86029" grpId="0"/>
      <p:bldP spid="86031" grpId="0" build="p" autoUpdateAnimBg="0"/>
      <p:bldP spid="86032" grpId="0"/>
      <p:bldP spid="86033" grpId="0" build="p" autoUpdateAnimBg="0" advAuto="0"/>
      <p:bldP spid="86034" grpId="0"/>
      <p:bldP spid="86035" grpId="0" build="p" autoUpdateAnimBg="0"/>
      <p:bldP spid="86036" grpId="0"/>
      <p:bldP spid="86037" grpId="0" build="p" autoUpdateAnimBg="0"/>
      <p:bldP spid="860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024494E-1439-2DCE-701B-BD39F2C54844}"/>
              </a:ext>
            </a:extLst>
          </p:cNvPr>
          <p:cNvGrpSpPr/>
          <p:nvPr/>
        </p:nvGrpSpPr>
        <p:grpSpPr>
          <a:xfrm>
            <a:off x="687006" y="517521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A4E8E11-3619-5CB0-B7EB-D358F199252C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A4E8E11-3619-5CB0-B7EB-D358F19925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694FCD74-24A2-1F25-5D61-13C5A75AE7C6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B03FED07-5263-E935-4C03-6ADF5571BC0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7953266B-455A-FE83-9FC2-3FF563267D2D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016B738B-23CD-1501-63AD-074C8446A0C8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994" name="Object 2"/>
              <p:cNvSpPr txBox="1"/>
              <p:nvPr/>
            </p:nvSpPr>
            <p:spPr bwMode="auto">
              <a:xfrm>
                <a:off x="2033538" y="859001"/>
                <a:ext cx="41783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[0,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] (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上逐项积分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499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3538" y="859001"/>
                <a:ext cx="4178300" cy="469900"/>
              </a:xfrm>
              <a:prstGeom prst="rect">
                <a:avLst/>
              </a:prstGeom>
              <a:blipFill>
                <a:blip r:embed="rId3"/>
                <a:stretch>
                  <a:fillRect l="-1022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95" name="Object 3"/>
              <p:cNvSpPr txBox="1"/>
              <p:nvPr/>
            </p:nvSpPr>
            <p:spPr bwMode="auto">
              <a:xfrm>
                <a:off x="5397500" y="597401"/>
                <a:ext cx="1823750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499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0" y="597401"/>
                <a:ext cx="1823750" cy="1054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Text Box 5"/>
              <p:cNvSpPr txBox="1">
                <a:spLocks noChangeArrowheads="1"/>
              </p:cNvSpPr>
              <p:nvPr/>
            </p:nvSpPr>
            <p:spPr bwMode="auto">
              <a:xfrm>
                <a:off x="2033538" y="1625131"/>
                <a:ext cx="3632726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级数的收敛半径不会缩小</a:t>
                </a:r>
                <a14:m>
                  <m:oMath xmlns:m="http://schemas.openxmlformats.org/officeDocument/2006/math">
                    <m:r>
                      <a:rPr kumimoji="1" lang="en-US" altLang="zh-CN" sz="24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  </a:t>
                </a:r>
              </a:p>
            </p:txBody>
          </p:sp>
        </mc:Choice>
        <mc:Fallback xmlns="">
          <p:sp>
            <p:nvSpPr>
              <p:cNvPr id="8499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3538" y="1625131"/>
                <a:ext cx="3632726" cy="453137"/>
              </a:xfrm>
              <a:prstGeom prst="rect">
                <a:avLst/>
              </a:prstGeom>
              <a:blipFill>
                <a:blip r:embed="rId5"/>
                <a:stretch>
                  <a:fillRect l="-2181" t="-9459"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99" name="Object 7"/>
              <p:cNvSpPr txBox="1"/>
              <p:nvPr/>
            </p:nvSpPr>
            <p:spPr bwMode="auto">
              <a:xfrm>
                <a:off x="5297438" y="1653704"/>
                <a:ext cx="1828800" cy="4952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499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7438" y="1653704"/>
                <a:ext cx="1828800" cy="4952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7081376" y="869578"/>
            <a:ext cx="23006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因逐项积分所得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03" name="Object 11"/>
              <p:cNvSpPr txBox="1"/>
              <p:nvPr/>
            </p:nvSpPr>
            <p:spPr bwMode="auto">
              <a:xfrm>
                <a:off x="6431880" y="1655748"/>
                <a:ext cx="18288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于是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500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1880" y="1655748"/>
                <a:ext cx="1828800" cy="444500"/>
              </a:xfrm>
              <a:prstGeom prst="rect">
                <a:avLst/>
              </a:prstGeom>
              <a:blipFill>
                <a:blip r:embed="rId7"/>
                <a:stretch>
                  <a:fillRect l="-2000"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3097745" y="2473807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幂级数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05" name="Object 13"/>
              <p:cNvSpPr txBox="1"/>
              <p:nvPr/>
            </p:nvSpPr>
            <p:spPr bwMode="auto">
              <a:xfrm>
                <a:off x="4239065" y="2096118"/>
                <a:ext cx="2110935" cy="15747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500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9065" y="2096118"/>
                <a:ext cx="2110935" cy="15747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06" name="Text Box 14"/>
              <p:cNvSpPr txBox="1">
                <a:spLocks noChangeArrowheads="1"/>
              </p:cNvSpPr>
              <p:nvPr/>
            </p:nvSpPr>
            <p:spPr bwMode="auto">
              <a:xfrm>
                <a:off x="3097745" y="3433271"/>
                <a:ext cx="402924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kumimoji="1" lang="en-US" altLang="zh-CN" sz="280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内有任意阶导数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/>
                  <a:ea typeface="黑体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500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745" y="3433271"/>
                <a:ext cx="4029245" cy="523220"/>
              </a:xfrm>
              <a:prstGeom prst="rect">
                <a:avLst/>
              </a:prstGeom>
              <a:blipFill>
                <a:blip r:embed="rId9"/>
                <a:stretch>
                  <a:fillRect t="-13953" r="-30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07" name="Text Box 15"/>
          <p:cNvSpPr txBox="1">
            <a:spLocks noChangeArrowheads="1"/>
          </p:cNvSpPr>
          <p:nvPr/>
        </p:nvSpPr>
        <p:spPr bwMode="auto">
          <a:xfrm>
            <a:off x="6987879" y="3414221"/>
            <a:ext cx="98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且有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08" name="Object 16"/>
              <p:cNvSpPr txBox="1"/>
              <p:nvPr/>
            </p:nvSpPr>
            <p:spPr bwMode="auto">
              <a:xfrm>
                <a:off x="3097745" y="3952861"/>
                <a:ext cx="7310893" cy="13619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−1)⋯(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500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7745" y="3952861"/>
                <a:ext cx="7310893" cy="13619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0" name="Object 18"/>
              <p:cNvSpPr txBox="1"/>
              <p:nvPr/>
            </p:nvSpPr>
            <p:spPr bwMode="auto">
              <a:xfrm>
                <a:off x="8076290" y="5080510"/>
                <a:ext cx="2826825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501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6290" y="5080510"/>
                <a:ext cx="2826825" cy="406400"/>
              </a:xfrm>
              <a:prstGeom prst="rect">
                <a:avLst/>
              </a:prstGeom>
              <a:blipFill>
                <a:blip r:embed="rId11"/>
                <a:stretch>
                  <a:fillRect b="-179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1" name="Text Box 19"/>
              <p:cNvSpPr txBox="1">
                <a:spLocks noChangeArrowheads="1"/>
              </p:cNvSpPr>
              <p:nvPr/>
            </p:nvSpPr>
            <p:spPr bwMode="auto">
              <a:xfrm>
                <a:off x="3077259" y="5695269"/>
                <a:ext cx="337553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其收敛半径都为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8501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7259" y="5695269"/>
                <a:ext cx="3375539" cy="523220"/>
              </a:xfrm>
              <a:prstGeom prst="rect">
                <a:avLst/>
              </a:prstGeom>
              <a:blipFill>
                <a:blip r:embed="rId12"/>
                <a:stretch>
                  <a:fillRect l="-3791" t="-13953" r="-2708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16" name="Text Box 24"/>
              <p:cNvSpPr txBox="1">
                <a:spLocks noChangeArrowheads="1"/>
              </p:cNvSpPr>
              <p:nvPr/>
            </p:nvSpPr>
            <p:spPr bwMode="auto">
              <a:xfrm>
                <a:off x="5804616" y="2503554"/>
                <a:ext cx="445038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的和函数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28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/>
                    <a:ea typeface="黑体"/>
                    <a:cs typeface="+mn-ea"/>
                    <a:sym typeface="+mn-lt"/>
                  </a:rPr>
                  <a:t>在收敛区间 </a:t>
                </a:r>
              </a:p>
            </p:txBody>
          </p:sp>
        </mc:Choice>
        <mc:Fallback xmlns="">
          <p:sp>
            <p:nvSpPr>
              <p:cNvPr id="8501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4616" y="2503554"/>
                <a:ext cx="4450385" cy="523220"/>
              </a:xfrm>
              <a:prstGeom prst="rect">
                <a:avLst/>
              </a:prstGeom>
              <a:blipFill>
                <a:blip r:embed="rId13"/>
                <a:stretch>
                  <a:fillRect l="-2740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18274AD9-5966-2A92-2555-6FAAE242ADDD}"/>
              </a:ext>
            </a:extLst>
          </p:cNvPr>
          <p:cNvGrpSpPr/>
          <p:nvPr/>
        </p:nvGrpSpPr>
        <p:grpSpPr>
          <a:xfrm>
            <a:off x="2033538" y="2514196"/>
            <a:ext cx="963739" cy="448945"/>
            <a:chOff x="1553" y="3803"/>
            <a:chExt cx="1217" cy="707"/>
          </a:xfrm>
        </p:grpSpPr>
        <p:sp>
          <p:nvSpPr>
            <p:cNvPr id="4" name="圆角矩形 51">
              <a:extLst>
                <a:ext uri="{FF2B5EF4-FFF2-40B4-BE49-F238E27FC236}">
                  <a16:creationId xmlns:a16="http://schemas.microsoft.com/office/drawing/2014/main" id="{6EA31AD9-5DB4-DCB3-57E6-B9A2821D01FC}"/>
                </a:ext>
              </a:extLst>
            </p:cNvPr>
            <p:cNvSpPr/>
            <p:nvPr/>
          </p:nvSpPr>
          <p:spPr>
            <a:xfrm>
              <a:off x="1553" y="3803"/>
              <a:ext cx="12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DEFAAA70-93DA-A09D-8DAF-6089ED25C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3814"/>
              <a:ext cx="111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推论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" name="Text Box 18">
            <a:extLst>
              <a:ext uri="{FF2B5EF4-FFF2-40B4-BE49-F238E27FC236}">
                <a16:creationId xmlns:a16="http://schemas.microsoft.com/office/drawing/2014/main" id="{D9740379-EBDE-8964-D799-07BDCE25C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4544" y="1633128"/>
            <a:ext cx="756392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/>
                <a:ea typeface="黑体"/>
                <a:cs typeface="+mn-ea"/>
                <a:sym typeface="+mn-lt"/>
              </a:rPr>
              <a:t>证毕</a:t>
            </a:r>
          </a:p>
        </p:txBody>
      </p:sp>
    </p:spTree>
    <p:extLst>
      <p:ext uri="{BB962C8B-B14F-4D97-AF65-F5344CB8AC3E}">
        <p14:creationId xmlns:p14="http://schemas.microsoft.com/office/powerpoint/2010/main" val="29483177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5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5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5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5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5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  <p:bldP spid="84995" grpId="0"/>
      <p:bldP spid="84997" grpId="0" build="p" autoUpdateAnimBg="0" advAuto="0"/>
      <p:bldP spid="84999" grpId="0"/>
      <p:bldP spid="85000" grpId="0" build="p" autoUpdateAnimBg="0"/>
      <p:bldP spid="85003" grpId="0"/>
      <p:bldP spid="85004" grpId="0" build="p" autoUpdateAnimBg="0"/>
      <p:bldP spid="85005" grpId="0"/>
      <p:bldP spid="85006" grpId="0" build="p" autoUpdateAnimBg="0" advAuto="0"/>
      <p:bldP spid="85007" grpId="0" build="p" autoUpdateAnimBg="0"/>
      <p:bldP spid="85008" grpId="0"/>
      <p:bldP spid="85010" grpId="0"/>
      <p:bldP spid="85011" grpId="0" build="p" autoUpdateAnimBg="0"/>
      <p:bldP spid="85016" grpId="0" build="p" autoUpdateAnimBg="0" advAuto="0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537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cuilh纯白模板 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1456</TotalTime>
  <Words>2968</Words>
  <Application>Microsoft Office PowerPoint</Application>
  <PresentationFormat>宽屏</PresentationFormat>
  <Paragraphs>455</Paragraphs>
  <Slides>38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cuilh纯白模板 </vt:lpstr>
      <vt:lpstr>PowerPoint 演示文稿</vt:lpstr>
      <vt:lpstr>PowerPoint 演示文稿</vt:lpstr>
      <vt:lpstr>PowerPoint 演示文稿</vt:lpstr>
      <vt:lpstr>PowerPoint 演示文稿</vt:lpstr>
      <vt:lpstr>一、引例</vt:lpstr>
      <vt:lpstr>PowerPoint 演示文稿</vt:lpstr>
      <vt:lpstr>PowerPoint 演示文稿</vt:lpstr>
      <vt:lpstr>PowerPoint 演示文稿</vt:lpstr>
      <vt:lpstr>二、函数项级数的一致收敛性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证 </vt:lpstr>
      <vt:lpstr>例5 </vt:lpstr>
      <vt:lpstr>三、一致收敛级数的基本性质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若幂级数</vt:lpstr>
      <vt:lpstr>证 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cui;崔丽鸿</dc:creator>
  <cp:lastModifiedBy>yang fan</cp:lastModifiedBy>
  <cp:revision>146</cp:revision>
  <dcterms:created xsi:type="dcterms:W3CDTF">2021-12-25T10:05:44Z</dcterms:created>
  <dcterms:modified xsi:type="dcterms:W3CDTF">2023-07-06T07:24:31Z</dcterms:modified>
</cp:coreProperties>
</file>