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notesSlides/notesSlide6.xml" ContentType="application/vnd.openxmlformats-officedocument.presentationml.notesSlide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</p:sldMasterIdLst>
  <p:notesMasterIdLst>
    <p:notesMasterId r:id="rId28"/>
  </p:notesMasterIdLst>
  <p:handoutMasterIdLst>
    <p:handoutMasterId r:id="rId29"/>
  </p:handoutMasterIdLst>
  <p:sldIdLst>
    <p:sldId id="257" r:id="rId2"/>
    <p:sldId id="817" r:id="rId3"/>
    <p:sldId id="664" r:id="rId4"/>
    <p:sldId id="818" r:id="rId5"/>
    <p:sldId id="288" r:id="rId6"/>
    <p:sldId id="317" r:id="rId7"/>
    <p:sldId id="289" r:id="rId8"/>
    <p:sldId id="290" r:id="rId9"/>
    <p:sldId id="291" r:id="rId10"/>
    <p:sldId id="292" r:id="rId11"/>
    <p:sldId id="319" r:id="rId12"/>
    <p:sldId id="293" r:id="rId13"/>
    <p:sldId id="294" r:id="rId14"/>
    <p:sldId id="295" r:id="rId15"/>
    <p:sldId id="316" r:id="rId16"/>
    <p:sldId id="304" r:id="rId17"/>
    <p:sldId id="305" r:id="rId18"/>
    <p:sldId id="306" r:id="rId19"/>
    <p:sldId id="307" r:id="rId20"/>
    <p:sldId id="308" r:id="rId21"/>
    <p:sldId id="312" r:id="rId22"/>
    <p:sldId id="313" r:id="rId23"/>
    <p:sldId id="314" r:id="rId24"/>
    <p:sldId id="320" r:id="rId25"/>
    <p:sldId id="315" r:id="rId26"/>
    <p:sldId id="364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926A"/>
    <a:srgbClr val="CDEAE0"/>
    <a:srgbClr val="A9D18E"/>
    <a:srgbClr val="00B0F0"/>
    <a:srgbClr val="0000FF"/>
    <a:srgbClr val="0D1C8B"/>
    <a:srgbClr val="66CCFF"/>
    <a:srgbClr val="FFCCFF"/>
    <a:srgbClr val="EBEBE9"/>
    <a:srgbClr val="B808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49" autoAdjust="0"/>
  </p:normalViewPr>
  <p:slideViewPr>
    <p:cSldViewPr snapToGrid="0">
      <p:cViewPr varScale="1">
        <p:scale>
          <a:sx n="66" d="100"/>
          <a:sy n="66" d="100"/>
        </p:scale>
        <p:origin x="6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6" d="100"/>
          <a:sy n="86" d="100"/>
        </p:scale>
        <p:origin x="301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9DBEE0B-B3E3-CBE1-D0FC-FDAB82D7A48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4F8F44C-B75C-FEAA-5FDB-1E13581D111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414A8-7676-43B2-8785-0CD38EB9F2FE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0DA1B24-6ADF-74CB-6334-F682F77733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244FAF9-1DAF-9A95-BB3E-2A901CC46A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3A8D13-9F96-4DB1-83D5-560B092BA5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30404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B9245-4D02-4828-B599-01727D7DA1E0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C991F7-1D6C-48E0-A275-3CF94578A8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5925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C991F7-1D6C-48E0-A275-3CF94578A86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35766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C991F7-1D6C-48E0-A275-3CF94578A86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9259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C991F7-1D6C-48E0-A275-3CF94578A861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5374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C991F7-1D6C-48E0-A275-3CF94578A861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50401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83C5EA1-37D9-4569-A62C-EA7BBD93EC49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 Math" panose="020405030504060302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运行时</a:t>
            </a:r>
            <a:r>
              <a:rPr lang="en-US" altLang="zh-CN"/>
              <a:t>, </a:t>
            </a:r>
            <a:r>
              <a:rPr lang="zh-CN" altLang="en-US"/>
              <a:t>点击“</a:t>
            </a:r>
            <a:r>
              <a:rPr lang="en-US" altLang="zh-CN"/>
              <a:t>(</a:t>
            </a:r>
            <a:r>
              <a:rPr lang="zh-CN" altLang="en-US"/>
              <a:t>欧拉公式</a:t>
            </a:r>
            <a:r>
              <a:rPr lang="en-US" altLang="zh-CN"/>
              <a:t>)”, </a:t>
            </a:r>
            <a:r>
              <a:rPr lang="zh-CN" altLang="en-US"/>
              <a:t>或按钮“欧拉” </a:t>
            </a:r>
            <a:r>
              <a:rPr lang="en-US" altLang="zh-CN"/>
              <a:t>, </a:t>
            </a:r>
            <a:r>
              <a:rPr lang="zh-CN" altLang="en-US"/>
              <a:t>将显示欧拉简介</a:t>
            </a:r>
            <a:r>
              <a:rPr lang="en-US" altLang="zh-CN"/>
              <a:t>, </a:t>
            </a:r>
            <a:r>
              <a:rPr lang="zh-CN" altLang="en-US"/>
              <a:t>并自动返回</a:t>
            </a:r>
            <a:r>
              <a:rPr lang="en-US" altLang="zh-CN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945897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83C5EA1-37D9-4569-A62C-EA7BBD93EC49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 Math" panose="020405030504060302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运行时</a:t>
            </a:r>
            <a:r>
              <a:rPr lang="en-US" altLang="zh-CN"/>
              <a:t>, </a:t>
            </a:r>
            <a:r>
              <a:rPr lang="zh-CN" altLang="en-US"/>
              <a:t>点击“</a:t>
            </a:r>
            <a:r>
              <a:rPr lang="en-US" altLang="zh-CN"/>
              <a:t>(</a:t>
            </a:r>
            <a:r>
              <a:rPr lang="zh-CN" altLang="en-US"/>
              <a:t>欧拉公式</a:t>
            </a:r>
            <a:r>
              <a:rPr lang="en-US" altLang="zh-CN"/>
              <a:t>)”, </a:t>
            </a:r>
            <a:r>
              <a:rPr lang="zh-CN" altLang="en-US"/>
              <a:t>或按钮“欧拉” </a:t>
            </a:r>
            <a:r>
              <a:rPr lang="en-US" altLang="zh-CN"/>
              <a:t>, </a:t>
            </a:r>
            <a:r>
              <a:rPr lang="zh-CN" altLang="en-US"/>
              <a:t>将显示欧拉简介</a:t>
            </a:r>
            <a:r>
              <a:rPr lang="en-US" altLang="zh-CN"/>
              <a:t>, </a:t>
            </a:r>
            <a:r>
              <a:rPr lang="zh-CN" altLang="en-US"/>
              <a:t>并自动返回</a:t>
            </a:r>
            <a:r>
              <a:rPr lang="en-US" altLang="zh-CN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07746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1348307"/>
      </p:ext>
    </p:extLst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2810451"/>
      </p:ext>
    </p:extLst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2965609"/>
      </p:ext>
    </p:extLst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8113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9A07C973-B6D4-81A0-67E7-0934A6722315}"/>
              </a:ext>
            </a:extLst>
          </p:cNvPr>
          <p:cNvSpPr/>
          <p:nvPr userDrawn="1"/>
        </p:nvSpPr>
        <p:spPr>
          <a:xfrm>
            <a:off x="297498" y="6548555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B61FAC70-33D2-8197-830D-9E90142C4F62}"/>
              </a:ext>
            </a:extLst>
          </p:cNvPr>
          <p:cNvSpPr/>
          <p:nvPr userDrawn="1"/>
        </p:nvSpPr>
        <p:spPr>
          <a:xfrm rot="2659048">
            <a:off x="10426009" y="196227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0B963A2-0312-A40B-BFB3-0CDB454D8F30}"/>
              </a:ext>
            </a:extLst>
          </p:cNvPr>
          <p:cNvSpPr/>
          <p:nvPr userDrawn="1"/>
        </p:nvSpPr>
        <p:spPr>
          <a:xfrm>
            <a:off x="476828" y="6435405"/>
            <a:ext cx="29835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第五节  函数的幂级数展开式的应用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0FC00CE-9643-0964-9618-F0060A136CDF}"/>
              </a:ext>
            </a:extLst>
          </p:cNvPr>
          <p:cNvSpPr/>
          <p:nvPr userDrawn="1"/>
        </p:nvSpPr>
        <p:spPr>
          <a:xfrm>
            <a:off x="10645127" y="112357"/>
            <a:ext cx="13147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第十二章 级数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1154AD6-D4F5-BB53-B222-5D78AAC797AD}"/>
              </a:ext>
            </a:extLst>
          </p:cNvPr>
          <p:cNvCxnSpPr/>
          <p:nvPr userDrawn="1"/>
        </p:nvCxnSpPr>
        <p:spPr>
          <a:xfrm>
            <a:off x="0" y="288392"/>
            <a:ext cx="10125075" cy="0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F3CA152E-EBA1-8BA6-2178-29C92EC0F16D}"/>
              </a:ext>
            </a:extLst>
          </p:cNvPr>
          <p:cNvCxnSpPr/>
          <p:nvPr userDrawn="1"/>
        </p:nvCxnSpPr>
        <p:spPr>
          <a:xfrm>
            <a:off x="3600450" y="6581775"/>
            <a:ext cx="860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0499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6" r:id="rId2"/>
    <p:sldLayoutId id="2147483678" r:id="rId3"/>
    <p:sldLayoutId id="2147483679" r:id="rId4"/>
  </p:sldLayoutIdLst>
  <p:transition>
    <p:wipe dir="r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410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610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18" Type="http://schemas.openxmlformats.org/officeDocument/2006/relationships/image" Target="../media/image74.png"/><Relationship Id="rId3" Type="http://schemas.openxmlformats.org/officeDocument/2006/relationships/image" Target="../media/image59.png"/><Relationship Id="rId21" Type="http://schemas.openxmlformats.org/officeDocument/2006/relationships/image" Target="../media/image76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2" Type="http://schemas.openxmlformats.org/officeDocument/2006/relationships/image" Target="../media/image610.png"/><Relationship Id="rId16" Type="http://schemas.openxmlformats.org/officeDocument/2006/relationships/image" Target="../media/image72.png"/><Relationship Id="rId20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5" Type="http://schemas.openxmlformats.org/officeDocument/2006/relationships/image" Target="../media/image71.png"/><Relationship Id="rId23" Type="http://schemas.openxmlformats.org/officeDocument/2006/relationships/image" Target="../media/image78.png"/><Relationship Id="rId10" Type="http://schemas.openxmlformats.org/officeDocument/2006/relationships/image" Target="../media/image66.png"/><Relationship Id="rId19" Type="http://schemas.openxmlformats.org/officeDocument/2006/relationships/image" Target="../media/image73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Relationship Id="rId22" Type="http://schemas.openxmlformats.org/officeDocument/2006/relationships/image" Target="../media/image7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89.png"/><Relationship Id="rId18" Type="http://schemas.openxmlformats.org/officeDocument/2006/relationships/image" Target="../media/image94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12" Type="http://schemas.openxmlformats.org/officeDocument/2006/relationships/image" Target="../media/image88.png"/><Relationship Id="rId17" Type="http://schemas.openxmlformats.org/officeDocument/2006/relationships/image" Target="../media/image93.png"/><Relationship Id="rId2" Type="http://schemas.openxmlformats.org/officeDocument/2006/relationships/image" Target="../media/image610.png"/><Relationship Id="rId16" Type="http://schemas.openxmlformats.org/officeDocument/2006/relationships/image" Target="../media/image92.png"/><Relationship Id="rId20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11" Type="http://schemas.openxmlformats.org/officeDocument/2006/relationships/image" Target="../media/image87.png"/><Relationship Id="rId5" Type="http://schemas.openxmlformats.org/officeDocument/2006/relationships/image" Target="../media/image81.png"/><Relationship Id="rId15" Type="http://schemas.openxmlformats.org/officeDocument/2006/relationships/image" Target="../media/image91.png"/><Relationship Id="rId10" Type="http://schemas.openxmlformats.org/officeDocument/2006/relationships/image" Target="../media/image86.png"/><Relationship Id="rId19" Type="http://schemas.openxmlformats.org/officeDocument/2006/relationships/image" Target="../media/image95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Relationship Id="rId14" Type="http://schemas.openxmlformats.org/officeDocument/2006/relationships/image" Target="../media/image9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openxmlformats.org/officeDocument/2006/relationships/image" Target="../media/image107.pn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12" Type="http://schemas.openxmlformats.org/officeDocument/2006/relationships/image" Target="../media/image106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11" Type="http://schemas.openxmlformats.org/officeDocument/2006/relationships/image" Target="../media/image105.png"/><Relationship Id="rId5" Type="http://schemas.openxmlformats.org/officeDocument/2006/relationships/image" Target="../media/image99.png"/><Relationship Id="rId10" Type="http://schemas.openxmlformats.org/officeDocument/2006/relationships/image" Target="../media/image104.png"/><Relationship Id="rId4" Type="http://schemas.openxmlformats.org/officeDocument/2006/relationships/image" Target="../media/image98.png"/><Relationship Id="rId9" Type="http://schemas.openxmlformats.org/officeDocument/2006/relationships/image" Target="../media/image10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0.png"/><Relationship Id="rId13" Type="http://schemas.openxmlformats.org/officeDocument/2006/relationships/image" Target="../media/image117.png"/><Relationship Id="rId18" Type="http://schemas.openxmlformats.org/officeDocument/2006/relationships/image" Target="../media/image122.png"/><Relationship Id="rId3" Type="http://schemas.openxmlformats.org/officeDocument/2006/relationships/image" Target="../media/image108.png"/><Relationship Id="rId7" Type="http://schemas.openxmlformats.org/officeDocument/2006/relationships/image" Target="../media/image112.png"/><Relationship Id="rId12" Type="http://schemas.openxmlformats.org/officeDocument/2006/relationships/image" Target="../media/image116.png"/><Relationship Id="rId17" Type="http://schemas.openxmlformats.org/officeDocument/2006/relationships/image" Target="../media/image121.png"/><Relationship Id="rId2" Type="http://schemas.openxmlformats.org/officeDocument/2006/relationships/image" Target="../media/image610.png"/><Relationship Id="rId16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png"/><Relationship Id="rId11" Type="http://schemas.openxmlformats.org/officeDocument/2006/relationships/image" Target="../media/image115.png"/><Relationship Id="rId5" Type="http://schemas.openxmlformats.org/officeDocument/2006/relationships/image" Target="../media/image110.png"/><Relationship Id="rId15" Type="http://schemas.openxmlformats.org/officeDocument/2006/relationships/image" Target="../media/image119.png"/><Relationship Id="rId10" Type="http://schemas.openxmlformats.org/officeDocument/2006/relationships/image" Target="../media/image114.png"/><Relationship Id="rId19" Type="http://schemas.openxmlformats.org/officeDocument/2006/relationships/image" Target="../media/image123.png"/><Relationship Id="rId4" Type="http://schemas.openxmlformats.org/officeDocument/2006/relationships/image" Target="../media/image109.png"/><Relationship Id="rId9" Type="http://schemas.openxmlformats.org/officeDocument/2006/relationships/image" Target="../media/image113.png"/><Relationship Id="rId14" Type="http://schemas.openxmlformats.org/officeDocument/2006/relationships/image" Target="../media/image1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125.png"/><Relationship Id="rId7" Type="http://schemas.openxmlformats.org/officeDocument/2006/relationships/image" Target="../media/image129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Relationship Id="rId5" Type="http://schemas.openxmlformats.org/officeDocument/2006/relationships/image" Target="../media/image127.png"/><Relationship Id="rId4" Type="http://schemas.openxmlformats.org/officeDocument/2006/relationships/image" Target="../media/image12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13" Type="http://schemas.openxmlformats.org/officeDocument/2006/relationships/image" Target="../media/image141.png"/><Relationship Id="rId3" Type="http://schemas.openxmlformats.org/officeDocument/2006/relationships/image" Target="../media/image131.png"/><Relationship Id="rId7" Type="http://schemas.openxmlformats.org/officeDocument/2006/relationships/image" Target="../media/image135.png"/><Relationship Id="rId12" Type="http://schemas.openxmlformats.org/officeDocument/2006/relationships/image" Target="../media/image140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.png"/><Relationship Id="rId11" Type="http://schemas.openxmlformats.org/officeDocument/2006/relationships/image" Target="../media/image139.png"/><Relationship Id="rId5" Type="http://schemas.openxmlformats.org/officeDocument/2006/relationships/image" Target="../media/image133.png"/><Relationship Id="rId10" Type="http://schemas.openxmlformats.org/officeDocument/2006/relationships/image" Target="../media/image138.png"/><Relationship Id="rId4" Type="http://schemas.openxmlformats.org/officeDocument/2006/relationships/image" Target="../media/image132.png"/><Relationship Id="rId9" Type="http://schemas.openxmlformats.org/officeDocument/2006/relationships/image" Target="../media/image137.png"/><Relationship Id="rId14" Type="http://schemas.openxmlformats.org/officeDocument/2006/relationships/image" Target="../media/image14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6.png"/><Relationship Id="rId4" Type="http://schemas.openxmlformats.org/officeDocument/2006/relationships/image" Target="../media/image14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13" Type="http://schemas.openxmlformats.org/officeDocument/2006/relationships/image" Target="../media/image157.png"/><Relationship Id="rId3" Type="http://schemas.openxmlformats.org/officeDocument/2006/relationships/image" Target="../media/image147.png"/><Relationship Id="rId7" Type="http://schemas.openxmlformats.org/officeDocument/2006/relationships/image" Target="../media/image151.png"/><Relationship Id="rId12" Type="http://schemas.openxmlformats.org/officeDocument/2006/relationships/image" Target="../media/image156.png"/><Relationship Id="rId17" Type="http://schemas.openxmlformats.org/officeDocument/2006/relationships/image" Target="../media/image161.png"/><Relationship Id="rId2" Type="http://schemas.openxmlformats.org/officeDocument/2006/relationships/image" Target="../media/image610.png"/><Relationship Id="rId16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11" Type="http://schemas.openxmlformats.org/officeDocument/2006/relationships/image" Target="../media/image155.png"/><Relationship Id="rId5" Type="http://schemas.openxmlformats.org/officeDocument/2006/relationships/image" Target="../media/image149.png"/><Relationship Id="rId15" Type="http://schemas.openxmlformats.org/officeDocument/2006/relationships/image" Target="../media/image159.png"/><Relationship Id="rId10" Type="http://schemas.openxmlformats.org/officeDocument/2006/relationships/image" Target="../media/image154.png"/><Relationship Id="rId4" Type="http://schemas.openxmlformats.org/officeDocument/2006/relationships/image" Target="../media/image148.png"/><Relationship Id="rId9" Type="http://schemas.openxmlformats.org/officeDocument/2006/relationships/image" Target="../media/image153.png"/><Relationship Id="rId14" Type="http://schemas.openxmlformats.org/officeDocument/2006/relationships/image" Target="../media/image15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7" Type="http://schemas.openxmlformats.org/officeDocument/2006/relationships/image" Target="../media/image166.png"/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5.png"/><Relationship Id="rId5" Type="http://schemas.openxmlformats.org/officeDocument/2006/relationships/image" Target="../media/image164.png"/><Relationship Id="rId4" Type="http://schemas.openxmlformats.org/officeDocument/2006/relationships/image" Target="../media/image16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png"/><Relationship Id="rId13" Type="http://schemas.openxmlformats.org/officeDocument/2006/relationships/image" Target="../media/image177.png"/><Relationship Id="rId3" Type="http://schemas.openxmlformats.org/officeDocument/2006/relationships/image" Target="../media/image167.png"/><Relationship Id="rId7" Type="http://schemas.openxmlformats.org/officeDocument/2006/relationships/image" Target="../media/image171.png"/><Relationship Id="rId12" Type="http://schemas.openxmlformats.org/officeDocument/2006/relationships/image" Target="../media/image176.png"/><Relationship Id="rId17" Type="http://schemas.openxmlformats.org/officeDocument/2006/relationships/image" Target="../media/image18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11" Type="http://schemas.openxmlformats.org/officeDocument/2006/relationships/image" Target="../media/image175.png"/><Relationship Id="rId5" Type="http://schemas.openxmlformats.org/officeDocument/2006/relationships/image" Target="../media/image169.png"/><Relationship Id="rId15" Type="http://schemas.openxmlformats.org/officeDocument/2006/relationships/image" Target="../media/image179.png"/><Relationship Id="rId10" Type="http://schemas.openxmlformats.org/officeDocument/2006/relationships/image" Target="../media/image174.png"/><Relationship Id="rId4" Type="http://schemas.openxmlformats.org/officeDocument/2006/relationships/image" Target="../media/image168.png"/><Relationship Id="rId9" Type="http://schemas.openxmlformats.org/officeDocument/2006/relationships/image" Target="../media/image173.png"/><Relationship Id="rId14" Type="http://schemas.openxmlformats.org/officeDocument/2006/relationships/image" Target="../media/image17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png"/><Relationship Id="rId13" Type="http://schemas.openxmlformats.org/officeDocument/2006/relationships/image" Target="../media/image191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85.png"/><Relationship Id="rId12" Type="http://schemas.openxmlformats.org/officeDocument/2006/relationships/image" Target="../media/image19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184.png"/><Relationship Id="rId11" Type="http://schemas.openxmlformats.org/officeDocument/2006/relationships/image" Target="../media/image189.png"/><Relationship Id="rId5" Type="http://schemas.openxmlformats.org/officeDocument/2006/relationships/image" Target="../media/image183.png"/><Relationship Id="rId10" Type="http://schemas.openxmlformats.org/officeDocument/2006/relationships/image" Target="../media/image188.png"/><Relationship Id="rId4" Type="http://schemas.openxmlformats.org/officeDocument/2006/relationships/image" Target="../media/image182.png"/><Relationship Id="rId9" Type="http://schemas.openxmlformats.org/officeDocument/2006/relationships/image" Target="../media/image187.png"/><Relationship Id="rId14" Type="http://schemas.openxmlformats.org/officeDocument/2006/relationships/image" Target="../media/image19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9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195.png"/><Relationship Id="rId5" Type="http://schemas.openxmlformats.org/officeDocument/2006/relationships/image" Target="../media/image194.png"/><Relationship Id="rId4" Type="http://schemas.openxmlformats.org/officeDocument/2006/relationships/image" Target="../media/image193.png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0.png"/><Relationship Id="rId18" Type="http://schemas.openxmlformats.org/officeDocument/2006/relationships/image" Target="../media/image5.jpg"/><Relationship Id="rId3" Type="http://schemas.openxmlformats.org/officeDocument/2006/relationships/notesSlide" Target="../notesSlides/notesSlide6.xml"/><Relationship Id="rId17" Type="http://schemas.openxmlformats.org/officeDocument/2006/relationships/image" Target="../media/image20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03.png"/><Relationship Id="rId1" Type="http://schemas.openxmlformats.org/officeDocument/2006/relationships/tags" Target="../tags/tag8.xml"/><Relationship Id="rId15" Type="http://schemas.openxmlformats.org/officeDocument/2006/relationships/image" Target="../media/image202.png"/><Relationship Id="rId14" Type="http://schemas.openxmlformats.org/officeDocument/2006/relationships/image" Target="../media/image20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png"/><Relationship Id="rId3" Type="http://schemas.openxmlformats.org/officeDocument/2006/relationships/image" Target="../media/image205.png"/><Relationship Id="rId7" Type="http://schemas.openxmlformats.org/officeDocument/2006/relationships/image" Target="../media/image20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208.png"/><Relationship Id="rId11" Type="http://schemas.openxmlformats.org/officeDocument/2006/relationships/image" Target="../media/image213.png"/><Relationship Id="rId5" Type="http://schemas.openxmlformats.org/officeDocument/2006/relationships/image" Target="../media/image207.png"/><Relationship Id="rId10" Type="http://schemas.openxmlformats.org/officeDocument/2006/relationships/image" Target="../media/image212.png"/><Relationship Id="rId4" Type="http://schemas.openxmlformats.org/officeDocument/2006/relationships/image" Target="../media/image206.png"/><Relationship Id="rId9" Type="http://schemas.openxmlformats.org/officeDocument/2006/relationships/image" Target="../media/image21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71855"/>
          </a:xfrm>
          <a:prstGeom prst="rect">
            <a:avLst/>
          </a:prstGeom>
        </p:spPr>
      </p:pic>
      <p:sp>
        <p:nvSpPr>
          <p:cNvPr id="9" name="图文框 8"/>
          <p:cNvSpPr/>
          <p:nvPr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Rectangle 1"/>
          <p:cNvSpPr/>
          <p:nvPr/>
        </p:nvSpPr>
        <p:spPr>
          <a:xfrm>
            <a:off x="0" y="1312540"/>
            <a:ext cx="11144250" cy="356426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12"/>
          <p:cNvSpPr txBox="1"/>
          <p:nvPr/>
        </p:nvSpPr>
        <p:spPr>
          <a:xfrm>
            <a:off x="5524507" y="215268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96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  <a:endParaRPr lang="en-US" altLang="zh-CN" sz="96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2"/>
          <p:cNvSpPr txBox="1"/>
          <p:nvPr/>
        </p:nvSpPr>
        <p:spPr>
          <a:xfrm>
            <a:off x="9118170" y="370352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32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第八版</a:t>
            </a:r>
            <a:endParaRPr lang="en-US" altLang="zh-CN" sz="32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83949" y="5176128"/>
            <a:ext cx="3672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同济大学数学科学学院   编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911DBC-1FAD-4D97-B103-31706F53C01F}"/>
              </a:ext>
            </a:extLst>
          </p:cNvPr>
          <p:cNvSpPr/>
          <p:nvPr/>
        </p:nvSpPr>
        <p:spPr>
          <a:xfrm flipH="1">
            <a:off x="0" y="0"/>
            <a:ext cx="12192000" cy="687299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92BA65-1B2C-CE34-028B-FCA681F8EFC2}"/>
              </a:ext>
            </a:extLst>
          </p:cNvPr>
          <p:cNvSpPr/>
          <p:nvPr/>
        </p:nvSpPr>
        <p:spPr>
          <a:xfrm>
            <a:off x="789305" y="2015490"/>
            <a:ext cx="11150600" cy="485775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E859A1D-2015-E6C4-DBAA-BDB4F78CEFFB}"/>
              </a:ext>
            </a:extLst>
          </p:cNvPr>
          <p:cNvSpPr/>
          <p:nvPr/>
        </p:nvSpPr>
        <p:spPr>
          <a:xfrm>
            <a:off x="629285" y="2156460"/>
            <a:ext cx="10989310" cy="471678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ADDE570-5EFC-83BB-543D-6B7890B39460}"/>
              </a:ext>
            </a:extLst>
          </p:cNvPr>
          <p:cNvSpPr/>
          <p:nvPr/>
        </p:nvSpPr>
        <p:spPr>
          <a:xfrm>
            <a:off x="487045" y="2307590"/>
            <a:ext cx="10810875" cy="456565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41">
            <a:extLst>
              <a:ext uri="{FF2B5EF4-FFF2-40B4-BE49-F238E27FC236}">
                <a16:creationId xmlns:a16="http://schemas.microsoft.com/office/drawing/2014/main" id="{BA081A6E-F0FD-CC45-A2F8-28A9B0F8152F}"/>
              </a:ext>
            </a:extLst>
          </p:cNvPr>
          <p:cNvSpPr/>
          <p:nvPr/>
        </p:nvSpPr>
        <p:spPr>
          <a:xfrm flipH="1">
            <a:off x="5062827" y="2787052"/>
            <a:ext cx="1784904" cy="429397"/>
          </a:xfrm>
          <a:custGeom>
            <a:avLst/>
            <a:gdLst/>
            <a:ahLst/>
            <a:cxnLst/>
            <a:rect l="l" t="t" r="r" b="b"/>
            <a:pathLst>
              <a:path w="1784904" h="429397">
                <a:moveTo>
                  <a:pt x="326672" y="316347"/>
                </a:moveTo>
                <a:cubicBezTo>
                  <a:pt x="322782" y="316737"/>
                  <a:pt x="318710" y="321188"/>
                  <a:pt x="314454" y="329699"/>
                </a:cubicBezTo>
                <a:cubicBezTo>
                  <a:pt x="309673" y="355056"/>
                  <a:pt x="310417" y="375966"/>
                  <a:pt x="316687" y="392430"/>
                </a:cubicBezTo>
                <a:cubicBezTo>
                  <a:pt x="326956" y="411666"/>
                  <a:pt x="343187" y="421926"/>
                  <a:pt x="365381" y="423210"/>
                </a:cubicBezTo>
                <a:cubicBezTo>
                  <a:pt x="383985" y="421777"/>
                  <a:pt x="393287" y="411824"/>
                  <a:pt x="393287" y="393351"/>
                </a:cubicBezTo>
                <a:cubicBezTo>
                  <a:pt x="393287" y="384012"/>
                  <a:pt x="384450" y="374934"/>
                  <a:pt x="366777" y="366116"/>
                </a:cubicBezTo>
                <a:cubicBezTo>
                  <a:pt x="348062" y="355102"/>
                  <a:pt x="337634" y="344787"/>
                  <a:pt x="335495" y="335169"/>
                </a:cubicBezTo>
                <a:cubicBezTo>
                  <a:pt x="334286" y="325439"/>
                  <a:pt x="332621" y="319486"/>
                  <a:pt x="330500" y="317309"/>
                </a:cubicBezTo>
                <a:cubicBezTo>
                  <a:pt x="329244" y="316537"/>
                  <a:pt x="327968" y="316216"/>
                  <a:pt x="326672" y="316347"/>
                </a:cubicBezTo>
                <a:close/>
                <a:moveTo>
                  <a:pt x="90072" y="314517"/>
                </a:moveTo>
                <a:cubicBezTo>
                  <a:pt x="88181" y="314481"/>
                  <a:pt x="85529" y="315049"/>
                  <a:pt x="82115" y="316221"/>
                </a:cubicBezTo>
                <a:cubicBezTo>
                  <a:pt x="78822" y="316221"/>
                  <a:pt x="74432" y="316919"/>
                  <a:pt x="68944" y="318314"/>
                </a:cubicBezTo>
                <a:cubicBezTo>
                  <a:pt x="41001" y="328025"/>
                  <a:pt x="20240" y="340294"/>
                  <a:pt x="6659" y="355121"/>
                </a:cubicBezTo>
                <a:cubicBezTo>
                  <a:pt x="-7721" y="387658"/>
                  <a:pt x="1190" y="408606"/>
                  <a:pt x="33393" y="417964"/>
                </a:cubicBezTo>
                <a:cubicBezTo>
                  <a:pt x="52480" y="417964"/>
                  <a:pt x="62712" y="406969"/>
                  <a:pt x="64088" y="384980"/>
                </a:cubicBezTo>
                <a:cubicBezTo>
                  <a:pt x="65205" y="364051"/>
                  <a:pt x="72683" y="346107"/>
                  <a:pt x="86524" y="331150"/>
                </a:cubicBezTo>
                <a:cubicBezTo>
                  <a:pt x="94561" y="320170"/>
                  <a:pt x="95743" y="314625"/>
                  <a:pt x="90072" y="314517"/>
                </a:cubicBezTo>
                <a:close/>
                <a:moveTo>
                  <a:pt x="187597" y="314463"/>
                </a:moveTo>
                <a:cubicBezTo>
                  <a:pt x="184025" y="314463"/>
                  <a:pt x="177449" y="315663"/>
                  <a:pt x="167868" y="318063"/>
                </a:cubicBezTo>
                <a:cubicBezTo>
                  <a:pt x="140149" y="326881"/>
                  <a:pt x="121899" y="339420"/>
                  <a:pt x="113118" y="355679"/>
                </a:cubicBezTo>
                <a:cubicBezTo>
                  <a:pt x="103630" y="385742"/>
                  <a:pt x="112662" y="404169"/>
                  <a:pt x="140214" y="410959"/>
                </a:cubicBezTo>
                <a:cubicBezTo>
                  <a:pt x="159506" y="410959"/>
                  <a:pt x="169152" y="398086"/>
                  <a:pt x="169152" y="372338"/>
                </a:cubicBezTo>
                <a:cubicBezTo>
                  <a:pt x="169152" y="352712"/>
                  <a:pt x="173217" y="338322"/>
                  <a:pt x="181346" y="329169"/>
                </a:cubicBezTo>
                <a:cubicBezTo>
                  <a:pt x="188397" y="323941"/>
                  <a:pt x="190481" y="319039"/>
                  <a:pt x="187597" y="314463"/>
                </a:cubicBezTo>
                <a:close/>
                <a:moveTo>
                  <a:pt x="277968" y="311505"/>
                </a:moveTo>
                <a:cubicBezTo>
                  <a:pt x="274629" y="311868"/>
                  <a:pt x="269620" y="313003"/>
                  <a:pt x="262941" y="314909"/>
                </a:cubicBezTo>
                <a:cubicBezTo>
                  <a:pt x="234701" y="328434"/>
                  <a:pt x="216898" y="342564"/>
                  <a:pt x="209531" y="357298"/>
                </a:cubicBezTo>
                <a:cubicBezTo>
                  <a:pt x="198815" y="387528"/>
                  <a:pt x="209121" y="406002"/>
                  <a:pt x="240450" y="412717"/>
                </a:cubicBezTo>
                <a:cubicBezTo>
                  <a:pt x="260616" y="411285"/>
                  <a:pt x="269536" y="397118"/>
                  <a:pt x="267211" y="370218"/>
                </a:cubicBezTo>
                <a:cubicBezTo>
                  <a:pt x="264867" y="350610"/>
                  <a:pt x="266634" y="337485"/>
                  <a:pt x="272513" y="330843"/>
                </a:cubicBezTo>
                <a:cubicBezTo>
                  <a:pt x="280643" y="318770"/>
                  <a:pt x="284131" y="312733"/>
                  <a:pt x="282977" y="312733"/>
                </a:cubicBezTo>
                <a:cubicBezTo>
                  <a:pt x="282977" y="311551"/>
                  <a:pt x="281308" y="311142"/>
                  <a:pt x="277968" y="311505"/>
                </a:cubicBezTo>
                <a:close/>
                <a:moveTo>
                  <a:pt x="637411" y="288371"/>
                </a:moveTo>
                <a:lnTo>
                  <a:pt x="637411" y="330229"/>
                </a:lnTo>
                <a:lnTo>
                  <a:pt x="576578" y="330229"/>
                </a:lnTo>
                <a:lnTo>
                  <a:pt x="560588" y="304138"/>
                </a:lnTo>
                <a:cubicBezTo>
                  <a:pt x="576922" y="307635"/>
                  <a:pt x="584503" y="302380"/>
                  <a:pt x="583331" y="288371"/>
                </a:cubicBezTo>
                <a:close/>
                <a:moveTo>
                  <a:pt x="1182178" y="241100"/>
                </a:moveTo>
                <a:lnTo>
                  <a:pt x="1182178" y="272438"/>
                </a:lnTo>
                <a:lnTo>
                  <a:pt x="1049293" y="272438"/>
                </a:lnTo>
                <a:lnTo>
                  <a:pt x="1049293" y="241100"/>
                </a:lnTo>
                <a:close/>
                <a:moveTo>
                  <a:pt x="637411" y="225333"/>
                </a:moveTo>
                <a:lnTo>
                  <a:pt x="637411" y="270707"/>
                </a:lnTo>
                <a:lnTo>
                  <a:pt x="583331" y="270707"/>
                </a:lnTo>
                <a:lnTo>
                  <a:pt x="583331" y="225333"/>
                </a:lnTo>
                <a:close/>
                <a:moveTo>
                  <a:pt x="752995" y="225333"/>
                </a:moveTo>
                <a:lnTo>
                  <a:pt x="752995" y="268949"/>
                </a:lnTo>
                <a:lnTo>
                  <a:pt x="697157" y="268949"/>
                </a:lnTo>
                <a:lnTo>
                  <a:pt x="697157" y="225333"/>
                </a:lnTo>
                <a:close/>
                <a:moveTo>
                  <a:pt x="1170514" y="197317"/>
                </a:moveTo>
                <a:cubicBezTo>
                  <a:pt x="1180616" y="196163"/>
                  <a:pt x="1184504" y="199679"/>
                  <a:pt x="1182178" y="207865"/>
                </a:cubicBezTo>
                <a:lnTo>
                  <a:pt x="1182178" y="225166"/>
                </a:lnTo>
                <a:lnTo>
                  <a:pt x="1049293" y="225166"/>
                </a:lnTo>
                <a:lnTo>
                  <a:pt x="1049293" y="197317"/>
                </a:lnTo>
                <a:close/>
                <a:moveTo>
                  <a:pt x="1604553" y="188582"/>
                </a:moveTo>
                <a:cubicBezTo>
                  <a:pt x="1622710" y="230459"/>
                  <a:pt x="1648327" y="264252"/>
                  <a:pt x="1681404" y="289962"/>
                </a:cubicBezTo>
                <a:lnTo>
                  <a:pt x="1604553" y="289962"/>
                </a:lnTo>
                <a:close/>
                <a:moveTo>
                  <a:pt x="250830" y="181578"/>
                </a:moveTo>
                <a:cubicBezTo>
                  <a:pt x="259276" y="182415"/>
                  <a:pt x="263499" y="185299"/>
                  <a:pt x="263499" y="190229"/>
                </a:cubicBezTo>
                <a:lnTo>
                  <a:pt x="263499" y="261945"/>
                </a:lnTo>
                <a:lnTo>
                  <a:pt x="132373" y="261945"/>
                </a:lnTo>
                <a:lnTo>
                  <a:pt x="132373" y="181578"/>
                </a:lnTo>
                <a:close/>
                <a:moveTo>
                  <a:pt x="737759" y="165812"/>
                </a:moveTo>
                <a:cubicBezTo>
                  <a:pt x="750242" y="164639"/>
                  <a:pt x="755321" y="168156"/>
                  <a:pt x="752995" y="176360"/>
                </a:cubicBezTo>
                <a:lnTo>
                  <a:pt x="752995" y="209400"/>
                </a:lnTo>
                <a:lnTo>
                  <a:pt x="697157" y="209400"/>
                </a:lnTo>
                <a:lnTo>
                  <a:pt x="697157" y="165812"/>
                </a:lnTo>
                <a:close/>
                <a:moveTo>
                  <a:pt x="1229548" y="165184"/>
                </a:moveTo>
                <a:cubicBezTo>
                  <a:pt x="1224915" y="165677"/>
                  <a:pt x="1219311" y="167783"/>
                  <a:pt x="1212735" y="171504"/>
                </a:cubicBezTo>
                <a:cubicBezTo>
                  <a:pt x="1199340" y="177085"/>
                  <a:pt x="1189118" y="180378"/>
                  <a:pt x="1182067" y="181383"/>
                </a:cubicBezTo>
                <a:lnTo>
                  <a:pt x="1049991" y="181383"/>
                </a:lnTo>
                <a:cubicBezTo>
                  <a:pt x="1052707" y="181364"/>
                  <a:pt x="1054214" y="180611"/>
                  <a:pt x="1054512" y="179122"/>
                </a:cubicBezTo>
                <a:cubicBezTo>
                  <a:pt x="1050121" y="171793"/>
                  <a:pt x="1044559" y="167300"/>
                  <a:pt x="1037824" y="165644"/>
                </a:cubicBezTo>
                <a:cubicBezTo>
                  <a:pt x="1010607" y="166909"/>
                  <a:pt x="988683" y="177913"/>
                  <a:pt x="972052" y="198656"/>
                </a:cubicBezTo>
                <a:cubicBezTo>
                  <a:pt x="973745" y="204423"/>
                  <a:pt x="977075" y="209790"/>
                  <a:pt x="982042" y="214757"/>
                </a:cubicBezTo>
                <a:cubicBezTo>
                  <a:pt x="983549" y="217008"/>
                  <a:pt x="984302" y="218171"/>
                  <a:pt x="984302" y="218246"/>
                </a:cubicBezTo>
                <a:lnTo>
                  <a:pt x="984302" y="283962"/>
                </a:lnTo>
                <a:cubicBezTo>
                  <a:pt x="983130" y="303068"/>
                  <a:pt x="995790" y="313300"/>
                  <a:pt x="1022281" y="314658"/>
                </a:cubicBezTo>
                <a:cubicBezTo>
                  <a:pt x="1043787" y="318156"/>
                  <a:pt x="1052791" y="312119"/>
                  <a:pt x="1049293" y="296548"/>
                </a:cubicBezTo>
                <a:lnTo>
                  <a:pt x="1049293" y="290130"/>
                </a:lnTo>
                <a:lnTo>
                  <a:pt x="1080715" y="290130"/>
                </a:lnTo>
                <a:cubicBezTo>
                  <a:pt x="1086482" y="290130"/>
                  <a:pt x="1088193" y="293599"/>
                  <a:pt x="1085849" y="300538"/>
                </a:cubicBezTo>
                <a:lnTo>
                  <a:pt x="1085849" y="326741"/>
                </a:lnTo>
                <a:lnTo>
                  <a:pt x="998422" y="326741"/>
                </a:lnTo>
                <a:cubicBezTo>
                  <a:pt x="999538" y="326741"/>
                  <a:pt x="998320" y="324072"/>
                  <a:pt x="994766" y="318732"/>
                </a:cubicBezTo>
                <a:cubicBezTo>
                  <a:pt x="986916" y="303050"/>
                  <a:pt x="979102" y="295208"/>
                  <a:pt x="971326" y="295208"/>
                </a:cubicBezTo>
                <a:cubicBezTo>
                  <a:pt x="960517" y="297924"/>
                  <a:pt x="945263" y="307282"/>
                  <a:pt x="925561" y="323281"/>
                </a:cubicBezTo>
                <a:cubicBezTo>
                  <a:pt x="921524" y="329197"/>
                  <a:pt x="920092" y="333699"/>
                  <a:pt x="921264" y="336787"/>
                </a:cubicBezTo>
                <a:cubicBezTo>
                  <a:pt x="921264" y="343038"/>
                  <a:pt x="925719" y="345577"/>
                  <a:pt x="934631" y="344405"/>
                </a:cubicBezTo>
                <a:lnTo>
                  <a:pt x="1085849" y="344405"/>
                </a:lnTo>
                <a:lnTo>
                  <a:pt x="1085849" y="407192"/>
                </a:lnTo>
                <a:cubicBezTo>
                  <a:pt x="1083524" y="420029"/>
                  <a:pt x="1096639" y="427098"/>
                  <a:pt x="1125196" y="428400"/>
                </a:cubicBezTo>
                <a:cubicBezTo>
                  <a:pt x="1144636" y="431953"/>
                  <a:pt x="1153194" y="426010"/>
                  <a:pt x="1150869" y="410569"/>
                </a:cubicBezTo>
                <a:lnTo>
                  <a:pt x="1150869" y="344405"/>
                </a:lnTo>
                <a:lnTo>
                  <a:pt x="1299604" y="344405"/>
                </a:lnTo>
                <a:cubicBezTo>
                  <a:pt x="1307678" y="344405"/>
                  <a:pt x="1312794" y="342266"/>
                  <a:pt x="1314952" y="337987"/>
                </a:cubicBezTo>
                <a:cubicBezTo>
                  <a:pt x="1316459" y="332518"/>
                  <a:pt x="1312691" y="328769"/>
                  <a:pt x="1303650" y="326741"/>
                </a:cubicBezTo>
                <a:lnTo>
                  <a:pt x="1150869" y="326741"/>
                </a:lnTo>
                <a:lnTo>
                  <a:pt x="1150869" y="290130"/>
                </a:lnTo>
                <a:lnTo>
                  <a:pt x="1182178" y="290130"/>
                </a:lnTo>
                <a:lnTo>
                  <a:pt x="1182178" y="293785"/>
                </a:lnTo>
                <a:cubicBezTo>
                  <a:pt x="1183927" y="302622"/>
                  <a:pt x="1196559" y="308993"/>
                  <a:pt x="1220074" y="312900"/>
                </a:cubicBezTo>
                <a:cubicBezTo>
                  <a:pt x="1239310" y="316398"/>
                  <a:pt x="1248342" y="310435"/>
                  <a:pt x="1247170" y="295013"/>
                </a:cubicBezTo>
                <a:lnTo>
                  <a:pt x="1247170" y="194219"/>
                </a:lnTo>
                <a:cubicBezTo>
                  <a:pt x="1248342" y="179969"/>
                  <a:pt x="1246128" y="171411"/>
                  <a:pt x="1240528" y="168546"/>
                </a:cubicBezTo>
                <a:cubicBezTo>
                  <a:pt x="1237840" y="165812"/>
                  <a:pt x="1234180" y="164691"/>
                  <a:pt x="1229548" y="165184"/>
                </a:cubicBezTo>
                <a:close/>
                <a:moveTo>
                  <a:pt x="637411" y="164053"/>
                </a:moveTo>
                <a:lnTo>
                  <a:pt x="637411" y="209400"/>
                </a:lnTo>
                <a:lnTo>
                  <a:pt x="583331" y="209400"/>
                </a:lnTo>
                <a:lnTo>
                  <a:pt x="583331" y="164053"/>
                </a:lnTo>
                <a:close/>
                <a:moveTo>
                  <a:pt x="1539561" y="122028"/>
                </a:moveTo>
                <a:lnTo>
                  <a:pt x="1539561" y="289962"/>
                </a:lnTo>
                <a:lnTo>
                  <a:pt x="1537915" y="289962"/>
                </a:lnTo>
                <a:cubicBezTo>
                  <a:pt x="1537747" y="289962"/>
                  <a:pt x="1534696" y="286009"/>
                  <a:pt x="1528762" y="278102"/>
                </a:cubicBezTo>
                <a:cubicBezTo>
                  <a:pt x="1523795" y="269433"/>
                  <a:pt x="1519228" y="264047"/>
                  <a:pt x="1515060" y="261945"/>
                </a:cubicBezTo>
                <a:cubicBezTo>
                  <a:pt x="1508140" y="261945"/>
                  <a:pt x="1500615" y="264847"/>
                  <a:pt x="1492485" y="270652"/>
                </a:cubicBezTo>
                <a:cubicBezTo>
                  <a:pt x="1518102" y="240514"/>
                  <a:pt x="1533729" y="190973"/>
                  <a:pt x="1539366" y="122028"/>
                </a:cubicBezTo>
                <a:close/>
                <a:moveTo>
                  <a:pt x="1178662" y="78245"/>
                </a:moveTo>
                <a:cubicBezTo>
                  <a:pt x="1159798" y="81184"/>
                  <a:pt x="1145306" y="88970"/>
                  <a:pt x="1135186" y="101601"/>
                </a:cubicBezTo>
                <a:cubicBezTo>
                  <a:pt x="1129158" y="116019"/>
                  <a:pt x="1132563" y="128605"/>
                  <a:pt x="1145399" y="139357"/>
                </a:cubicBezTo>
                <a:lnTo>
                  <a:pt x="1103737" y="139357"/>
                </a:lnTo>
                <a:cubicBezTo>
                  <a:pt x="1089617" y="112252"/>
                  <a:pt x="1082556" y="91881"/>
                  <a:pt x="1082556" y="78245"/>
                </a:cubicBezTo>
                <a:close/>
                <a:moveTo>
                  <a:pt x="215553" y="11133"/>
                </a:moveTo>
                <a:cubicBezTo>
                  <a:pt x="212440" y="10891"/>
                  <a:pt x="208712" y="11077"/>
                  <a:pt x="204368" y="11691"/>
                </a:cubicBezTo>
                <a:cubicBezTo>
                  <a:pt x="201168" y="12751"/>
                  <a:pt x="199085" y="13281"/>
                  <a:pt x="198117" y="13281"/>
                </a:cubicBezTo>
                <a:cubicBezTo>
                  <a:pt x="168166" y="14714"/>
                  <a:pt x="154520" y="20155"/>
                  <a:pt x="157180" y="29606"/>
                </a:cubicBezTo>
                <a:cubicBezTo>
                  <a:pt x="158706" y="32620"/>
                  <a:pt x="160817" y="35494"/>
                  <a:pt x="163515" y="38229"/>
                </a:cubicBezTo>
                <a:cubicBezTo>
                  <a:pt x="167124" y="41838"/>
                  <a:pt x="168928" y="45224"/>
                  <a:pt x="168928" y="48386"/>
                </a:cubicBezTo>
                <a:lnTo>
                  <a:pt x="168928" y="81593"/>
                </a:lnTo>
                <a:lnTo>
                  <a:pt x="93752" y="81593"/>
                </a:lnTo>
                <a:cubicBezTo>
                  <a:pt x="93752" y="81593"/>
                  <a:pt x="91454" y="77984"/>
                  <a:pt x="86859" y="70766"/>
                </a:cubicBezTo>
                <a:cubicBezTo>
                  <a:pt x="77167" y="53446"/>
                  <a:pt x="67967" y="46135"/>
                  <a:pt x="59261" y="48833"/>
                </a:cubicBezTo>
                <a:cubicBezTo>
                  <a:pt x="48508" y="57223"/>
                  <a:pt x="35765" y="67548"/>
                  <a:pt x="21031" y="79807"/>
                </a:cubicBezTo>
                <a:cubicBezTo>
                  <a:pt x="16901" y="83919"/>
                  <a:pt x="14835" y="86868"/>
                  <a:pt x="14835" y="88653"/>
                </a:cubicBezTo>
                <a:cubicBezTo>
                  <a:pt x="14835" y="94569"/>
                  <a:pt x="17793" y="97527"/>
                  <a:pt x="23709" y="97527"/>
                </a:cubicBezTo>
                <a:lnTo>
                  <a:pt x="168928" y="97527"/>
                </a:lnTo>
                <a:lnTo>
                  <a:pt x="168928" y="163886"/>
                </a:lnTo>
                <a:lnTo>
                  <a:pt x="131312" y="163886"/>
                </a:lnTo>
                <a:cubicBezTo>
                  <a:pt x="133061" y="163867"/>
                  <a:pt x="133414" y="161942"/>
                  <a:pt x="132373" y="158110"/>
                </a:cubicBezTo>
                <a:cubicBezTo>
                  <a:pt x="126866" y="148492"/>
                  <a:pt x="120345" y="142232"/>
                  <a:pt x="112811" y="139329"/>
                </a:cubicBezTo>
                <a:cubicBezTo>
                  <a:pt x="89296" y="148185"/>
                  <a:pt x="70646" y="162770"/>
                  <a:pt x="56861" y="183085"/>
                </a:cubicBezTo>
                <a:cubicBezTo>
                  <a:pt x="58572" y="188778"/>
                  <a:pt x="63028" y="194507"/>
                  <a:pt x="70227" y="200275"/>
                </a:cubicBezTo>
                <a:cubicBezTo>
                  <a:pt x="71827" y="201335"/>
                  <a:pt x="72627" y="201484"/>
                  <a:pt x="72627" y="200721"/>
                </a:cubicBezTo>
                <a:lnTo>
                  <a:pt x="72627" y="282037"/>
                </a:lnTo>
                <a:cubicBezTo>
                  <a:pt x="76981" y="296604"/>
                  <a:pt x="88915" y="304538"/>
                  <a:pt x="108430" y="305840"/>
                </a:cubicBezTo>
                <a:cubicBezTo>
                  <a:pt x="127889" y="308203"/>
                  <a:pt x="135870" y="303385"/>
                  <a:pt x="132373" y="291385"/>
                </a:cubicBezTo>
                <a:lnTo>
                  <a:pt x="132373" y="277879"/>
                </a:lnTo>
                <a:lnTo>
                  <a:pt x="137535" y="277879"/>
                </a:lnTo>
                <a:lnTo>
                  <a:pt x="263499" y="277879"/>
                </a:lnTo>
                <a:lnTo>
                  <a:pt x="263499" y="291274"/>
                </a:lnTo>
                <a:cubicBezTo>
                  <a:pt x="269545" y="303347"/>
                  <a:pt x="282224" y="309384"/>
                  <a:pt x="301534" y="309384"/>
                </a:cubicBezTo>
                <a:cubicBezTo>
                  <a:pt x="314836" y="310556"/>
                  <a:pt x="320901" y="305077"/>
                  <a:pt x="319729" y="292948"/>
                </a:cubicBezTo>
                <a:lnTo>
                  <a:pt x="319729" y="153449"/>
                </a:lnTo>
                <a:cubicBezTo>
                  <a:pt x="319729" y="144036"/>
                  <a:pt x="307162" y="145357"/>
                  <a:pt x="282029" y="157412"/>
                </a:cubicBezTo>
                <a:cubicBezTo>
                  <a:pt x="270141" y="161728"/>
                  <a:pt x="262830" y="163886"/>
                  <a:pt x="260095" y="163886"/>
                </a:cubicBezTo>
                <a:lnTo>
                  <a:pt x="226943" y="163886"/>
                </a:lnTo>
                <a:lnTo>
                  <a:pt x="226943" y="148203"/>
                </a:lnTo>
                <a:lnTo>
                  <a:pt x="226943" y="24862"/>
                </a:lnTo>
                <a:cubicBezTo>
                  <a:pt x="228688" y="16435"/>
                  <a:pt x="224891" y="11858"/>
                  <a:pt x="215553" y="11133"/>
                </a:cubicBezTo>
                <a:close/>
                <a:moveTo>
                  <a:pt x="1149983" y="6033"/>
                </a:moveTo>
                <a:cubicBezTo>
                  <a:pt x="1146011" y="5638"/>
                  <a:pt x="1140930" y="5738"/>
                  <a:pt x="1134739" y="6333"/>
                </a:cubicBezTo>
                <a:cubicBezTo>
                  <a:pt x="1109643" y="7579"/>
                  <a:pt x="1093002" y="12305"/>
                  <a:pt x="1084817" y="20509"/>
                </a:cubicBezTo>
                <a:cubicBezTo>
                  <a:pt x="1072669" y="40061"/>
                  <a:pt x="1073013" y="53418"/>
                  <a:pt x="1085849" y="60581"/>
                </a:cubicBezTo>
                <a:lnTo>
                  <a:pt x="1022923" y="60581"/>
                </a:lnTo>
                <a:cubicBezTo>
                  <a:pt x="1024169" y="60581"/>
                  <a:pt x="1023035" y="57706"/>
                  <a:pt x="1019518" y="51958"/>
                </a:cubicBezTo>
                <a:cubicBezTo>
                  <a:pt x="1010589" y="34917"/>
                  <a:pt x="1002682" y="25532"/>
                  <a:pt x="995799" y="23802"/>
                </a:cubicBezTo>
                <a:cubicBezTo>
                  <a:pt x="985400" y="23802"/>
                  <a:pt x="968433" y="34340"/>
                  <a:pt x="944900" y="55418"/>
                </a:cubicBezTo>
                <a:cubicBezTo>
                  <a:pt x="939654" y="63027"/>
                  <a:pt x="938723" y="68971"/>
                  <a:pt x="942109" y="73250"/>
                </a:cubicBezTo>
                <a:cubicBezTo>
                  <a:pt x="945681" y="76580"/>
                  <a:pt x="953002" y="77668"/>
                  <a:pt x="964071" y="76515"/>
                </a:cubicBezTo>
                <a:lnTo>
                  <a:pt x="1035089" y="76515"/>
                </a:lnTo>
                <a:cubicBezTo>
                  <a:pt x="1002403" y="89295"/>
                  <a:pt x="997111" y="99695"/>
                  <a:pt x="1019211" y="107713"/>
                </a:cubicBezTo>
                <a:cubicBezTo>
                  <a:pt x="1024309" y="110261"/>
                  <a:pt x="1027406" y="111536"/>
                  <a:pt x="1028504" y="111536"/>
                </a:cubicBezTo>
                <a:cubicBezTo>
                  <a:pt x="1044466" y="121098"/>
                  <a:pt x="1057163" y="130372"/>
                  <a:pt x="1066595" y="139357"/>
                </a:cubicBezTo>
                <a:lnTo>
                  <a:pt x="991557" y="139357"/>
                </a:lnTo>
                <a:cubicBezTo>
                  <a:pt x="979074" y="117796"/>
                  <a:pt x="967652" y="105545"/>
                  <a:pt x="957290" y="102606"/>
                </a:cubicBezTo>
                <a:cubicBezTo>
                  <a:pt x="950369" y="102606"/>
                  <a:pt x="937189" y="111099"/>
                  <a:pt x="917748" y="128084"/>
                </a:cubicBezTo>
                <a:cubicBezTo>
                  <a:pt x="915255" y="130539"/>
                  <a:pt x="912716" y="132409"/>
                  <a:pt x="910130" y="133693"/>
                </a:cubicBezTo>
                <a:cubicBezTo>
                  <a:pt x="904716" y="142901"/>
                  <a:pt x="902586" y="148454"/>
                  <a:pt x="903739" y="150352"/>
                </a:cubicBezTo>
                <a:cubicBezTo>
                  <a:pt x="903739" y="154817"/>
                  <a:pt x="909879" y="156463"/>
                  <a:pt x="922157" y="155291"/>
                </a:cubicBezTo>
                <a:lnTo>
                  <a:pt x="1313612" y="155291"/>
                </a:lnTo>
                <a:cubicBezTo>
                  <a:pt x="1321686" y="155291"/>
                  <a:pt x="1326532" y="153691"/>
                  <a:pt x="1328151" y="150492"/>
                </a:cubicBezTo>
                <a:cubicBezTo>
                  <a:pt x="1331369" y="146027"/>
                  <a:pt x="1328458" y="142315"/>
                  <a:pt x="1319417" y="139357"/>
                </a:cubicBezTo>
                <a:lnTo>
                  <a:pt x="1191136" y="139357"/>
                </a:lnTo>
                <a:cubicBezTo>
                  <a:pt x="1198131" y="137367"/>
                  <a:pt x="1200466" y="129795"/>
                  <a:pt x="1198140" y="116642"/>
                </a:cubicBezTo>
                <a:cubicBezTo>
                  <a:pt x="1195796" y="100197"/>
                  <a:pt x="1198364" y="87398"/>
                  <a:pt x="1205842" y="78245"/>
                </a:cubicBezTo>
                <a:lnTo>
                  <a:pt x="1278591" y="78245"/>
                </a:lnTo>
                <a:cubicBezTo>
                  <a:pt x="1285977" y="78245"/>
                  <a:pt x="1291344" y="76580"/>
                  <a:pt x="1294693" y="73250"/>
                </a:cubicBezTo>
                <a:cubicBezTo>
                  <a:pt x="1298023" y="67129"/>
                  <a:pt x="1295176" y="62906"/>
                  <a:pt x="1286153" y="60581"/>
                </a:cubicBezTo>
                <a:lnTo>
                  <a:pt x="1136042" y="60581"/>
                </a:lnTo>
                <a:lnTo>
                  <a:pt x="1137551" y="59046"/>
                </a:lnTo>
                <a:cubicBezTo>
                  <a:pt x="1138718" y="56944"/>
                  <a:pt x="1139651" y="53251"/>
                  <a:pt x="1140348" y="47968"/>
                </a:cubicBezTo>
                <a:cubicBezTo>
                  <a:pt x="1142376" y="37494"/>
                  <a:pt x="1147520" y="29159"/>
                  <a:pt x="1155780" y="22964"/>
                </a:cubicBezTo>
                <a:cubicBezTo>
                  <a:pt x="1163831" y="12863"/>
                  <a:pt x="1161898" y="7219"/>
                  <a:pt x="1149983" y="6033"/>
                </a:cubicBezTo>
                <a:close/>
                <a:moveTo>
                  <a:pt x="582640" y="3654"/>
                </a:moveTo>
                <a:cubicBezTo>
                  <a:pt x="574534" y="4640"/>
                  <a:pt x="566448" y="8258"/>
                  <a:pt x="558384" y="14509"/>
                </a:cubicBezTo>
                <a:cubicBezTo>
                  <a:pt x="513010" y="48833"/>
                  <a:pt x="509922" y="64822"/>
                  <a:pt x="549119" y="62478"/>
                </a:cubicBezTo>
                <a:cubicBezTo>
                  <a:pt x="554719" y="61306"/>
                  <a:pt x="557686" y="60730"/>
                  <a:pt x="558021" y="60748"/>
                </a:cubicBezTo>
                <a:cubicBezTo>
                  <a:pt x="568420" y="63055"/>
                  <a:pt x="582550" y="64804"/>
                  <a:pt x="600409" y="65994"/>
                </a:cubicBezTo>
                <a:cubicBezTo>
                  <a:pt x="619013" y="67166"/>
                  <a:pt x="631347" y="67752"/>
                  <a:pt x="637411" y="67752"/>
                </a:cubicBezTo>
                <a:lnTo>
                  <a:pt x="637411" y="99090"/>
                </a:lnTo>
                <a:lnTo>
                  <a:pt x="530702" y="99090"/>
                </a:lnTo>
                <a:cubicBezTo>
                  <a:pt x="530683" y="99090"/>
                  <a:pt x="526907" y="93193"/>
                  <a:pt x="519372" y="81398"/>
                </a:cubicBezTo>
                <a:cubicBezTo>
                  <a:pt x="511094" y="69548"/>
                  <a:pt x="504917" y="62609"/>
                  <a:pt x="500843" y="60581"/>
                </a:cubicBezTo>
                <a:cubicBezTo>
                  <a:pt x="493439" y="60581"/>
                  <a:pt x="477942" y="71110"/>
                  <a:pt x="454353" y="92170"/>
                </a:cubicBezTo>
                <a:cubicBezTo>
                  <a:pt x="445646" y="107406"/>
                  <a:pt x="446586" y="115024"/>
                  <a:pt x="457171" y="115024"/>
                </a:cubicBezTo>
                <a:lnTo>
                  <a:pt x="637411" y="115024"/>
                </a:lnTo>
                <a:lnTo>
                  <a:pt x="637411" y="148120"/>
                </a:lnTo>
                <a:lnTo>
                  <a:pt x="588493" y="148120"/>
                </a:lnTo>
                <a:cubicBezTo>
                  <a:pt x="589182" y="148120"/>
                  <a:pt x="586661" y="145255"/>
                  <a:pt x="580931" y="139525"/>
                </a:cubicBezTo>
                <a:cubicBezTo>
                  <a:pt x="572969" y="128921"/>
                  <a:pt x="565667" y="123619"/>
                  <a:pt x="559025" y="123619"/>
                </a:cubicBezTo>
                <a:cubicBezTo>
                  <a:pt x="531232" y="136232"/>
                  <a:pt x="513587" y="152203"/>
                  <a:pt x="506089" y="171532"/>
                </a:cubicBezTo>
                <a:cubicBezTo>
                  <a:pt x="508303" y="176425"/>
                  <a:pt x="511615" y="179606"/>
                  <a:pt x="516023" y="181076"/>
                </a:cubicBezTo>
                <a:cubicBezTo>
                  <a:pt x="517568" y="182099"/>
                  <a:pt x="518340" y="182229"/>
                  <a:pt x="518340" y="181466"/>
                </a:cubicBezTo>
                <a:lnTo>
                  <a:pt x="518340" y="279526"/>
                </a:lnTo>
                <a:cubicBezTo>
                  <a:pt x="518340" y="290427"/>
                  <a:pt x="524758" y="297050"/>
                  <a:pt x="537594" y="299394"/>
                </a:cubicBezTo>
                <a:cubicBezTo>
                  <a:pt x="520925" y="306891"/>
                  <a:pt x="507140" y="316695"/>
                  <a:pt x="496239" y="328806"/>
                </a:cubicBezTo>
                <a:cubicBezTo>
                  <a:pt x="492295" y="338052"/>
                  <a:pt x="494146" y="343838"/>
                  <a:pt x="501792" y="346163"/>
                </a:cubicBezTo>
                <a:lnTo>
                  <a:pt x="637411" y="346163"/>
                </a:lnTo>
                <a:lnTo>
                  <a:pt x="637411" y="389779"/>
                </a:lnTo>
                <a:lnTo>
                  <a:pt x="547501" y="389779"/>
                </a:lnTo>
                <a:cubicBezTo>
                  <a:pt x="546589" y="388849"/>
                  <a:pt x="543929" y="383975"/>
                  <a:pt x="539520" y="375157"/>
                </a:cubicBezTo>
                <a:cubicBezTo>
                  <a:pt x="530106" y="360386"/>
                  <a:pt x="522497" y="353000"/>
                  <a:pt x="516693" y="353000"/>
                </a:cubicBezTo>
                <a:cubicBezTo>
                  <a:pt x="510554" y="353000"/>
                  <a:pt x="497727" y="360302"/>
                  <a:pt x="478212" y="374906"/>
                </a:cubicBezTo>
                <a:cubicBezTo>
                  <a:pt x="476835" y="376189"/>
                  <a:pt x="475459" y="377520"/>
                  <a:pt x="474082" y="378896"/>
                </a:cubicBezTo>
                <a:cubicBezTo>
                  <a:pt x="466585" y="383882"/>
                  <a:pt x="462073" y="388672"/>
                  <a:pt x="460548" y="393267"/>
                </a:cubicBezTo>
                <a:cubicBezTo>
                  <a:pt x="460548" y="399648"/>
                  <a:pt x="464371" y="403797"/>
                  <a:pt x="472017" y="405713"/>
                </a:cubicBezTo>
                <a:lnTo>
                  <a:pt x="845138" y="405713"/>
                </a:lnTo>
                <a:cubicBezTo>
                  <a:pt x="850999" y="404243"/>
                  <a:pt x="855956" y="401481"/>
                  <a:pt x="860012" y="397425"/>
                </a:cubicBezTo>
                <a:cubicBezTo>
                  <a:pt x="860012" y="392328"/>
                  <a:pt x="855891" y="389779"/>
                  <a:pt x="847650" y="389779"/>
                </a:cubicBezTo>
                <a:lnTo>
                  <a:pt x="697157" y="389779"/>
                </a:lnTo>
                <a:lnTo>
                  <a:pt x="697157" y="347921"/>
                </a:lnTo>
                <a:lnTo>
                  <a:pt x="819633" y="347921"/>
                </a:lnTo>
                <a:cubicBezTo>
                  <a:pt x="825865" y="347921"/>
                  <a:pt x="830842" y="346061"/>
                  <a:pt x="834562" y="342340"/>
                </a:cubicBezTo>
                <a:cubicBezTo>
                  <a:pt x="836348" y="336480"/>
                  <a:pt x="833418" y="332443"/>
                  <a:pt x="825772" y="330229"/>
                </a:cubicBezTo>
                <a:lnTo>
                  <a:pt x="697157" y="330229"/>
                </a:lnTo>
                <a:lnTo>
                  <a:pt x="697157" y="284883"/>
                </a:lnTo>
                <a:lnTo>
                  <a:pt x="751237" y="284883"/>
                </a:lnTo>
                <a:cubicBezTo>
                  <a:pt x="751237" y="299748"/>
                  <a:pt x="758409" y="307887"/>
                  <a:pt x="772752" y="309300"/>
                </a:cubicBezTo>
                <a:cubicBezTo>
                  <a:pt x="799411" y="316370"/>
                  <a:pt x="811568" y="310947"/>
                  <a:pt x="809224" y="293032"/>
                </a:cubicBezTo>
                <a:lnTo>
                  <a:pt x="809224" y="147115"/>
                </a:lnTo>
                <a:cubicBezTo>
                  <a:pt x="810396" y="139525"/>
                  <a:pt x="808024" y="134679"/>
                  <a:pt x="802109" y="132576"/>
                </a:cubicBezTo>
                <a:cubicBezTo>
                  <a:pt x="797067" y="130083"/>
                  <a:pt x="789942" y="131572"/>
                  <a:pt x="780733" y="137041"/>
                </a:cubicBezTo>
                <a:cubicBezTo>
                  <a:pt x="779580" y="138195"/>
                  <a:pt x="778231" y="139153"/>
                  <a:pt x="776687" y="139915"/>
                </a:cubicBezTo>
                <a:cubicBezTo>
                  <a:pt x="766008" y="145366"/>
                  <a:pt x="758325" y="148101"/>
                  <a:pt x="753637" y="148120"/>
                </a:cubicBezTo>
                <a:lnTo>
                  <a:pt x="697157" y="148120"/>
                </a:lnTo>
                <a:lnTo>
                  <a:pt x="697157" y="115024"/>
                </a:lnTo>
                <a:lnTo>
                  <a:pt x="863416" y="115024"/>
                </a:lnTo>
                <a:cubicBezTo>
                  <a:pt x="871490" y="115024"/>
                  <a:pt x="876337" y="113424"/>
                  <a:pt x="877955" y="110224"/>
                </a:cubicBezTo>
                <a:cubicBezTo>
                  <a:pt x="881173" y="105759"/>
                  <a:pt x="878262" y="102048"/>
                  <a:pt x="869221" y="99090"/>
                </a:cubicBezTo>
                <a:lnTo>
                  <a:pt x="697157" y="99090"/>
                </a:lnTo>
                <a:lnTo>
                  <a:pt x="697157" y="71241"/>
                </a:lnTo>
                <a:cubicBezTo>
                  <a:pt x="729490" y="73585"/>
                  <a:pt x="760976" y="74757"/>
                  <a:pt x="791616" y="74757"/>
                </a:cubicBezTo>
                <a:cubicBezTo>
                  <a:pt x="817363" y="74757"/>
                  <a:pt x="823595" y="70766"/>
                  <a:pt x="810313" y="62785"/>
                </a:cubicBezTo>
                <a:cubicBezTo>
                  <a:pt x="740921" y="49856"/>
                  <a:pt x="676339" y="32852"/>
                  <a:pt x="616566" y="11774"/>
                </a:cubicBezTo>
                <a:cubicBezTo>
                  <a:pt x="613031" y="10602"/>
                  <a:pt x="609850" y="9542"/>
                  <a:pt x="607023" y="8593"/>
                </a:cubicBezTo>
                <a:cubicBezTo>
                  <a:pt x="598874" y="4314"/>
                  <a:pt x="590747" y="2668"/>
                  <a:pt x="582640" y="3654"/>
                </a:cubicBezTo>
                <a:close/>
                <a:moveTo>
                  <a:pt x="1593345" y="363"/>
                </a:moveTo>
                <a:cubicBezTo>
                  <a:pt x="1590269" y="-308"/>
                  <a:pt x="1586582" y="-48"/>
                  <a:pt x="1582284" y="1143"/>
                </a:cubicBezTo>
                <a:cubicBezTo>
                  <a:pt x="1543291" y="5124"/>
                  <a:pt x="1525544" y="10974"/>
                  <a:pt x="1529041" y="18695"/>
                </a:cubicBezTo>
                <a:cubicBezTo>
                  <a:pt x="1529041" y="21318"/>
                  <a:pt x="1530846" y="24425"/>
                  <a:pt x="1534455" y="28015"/>
                </a:cubicBezTo>
                <a:cubicBezTo>
                  <a:pt x="1537859" y="32276"/>
                  <a:pt x="1539561" y="36145"/>
                  <a:pt x="1539561" y="39624"/>
                </a:cubicBezTo>
                <a:lnTo>
                  <a:pt x="1539561" y="106094"/>
                </a:lnTo>
                <a:lnTo>
                  <a:pt x="1462627" y="106094"/>
                </a:lnTo>
                <a:cubicBezTo>
                  <a:pt x="1463761" y="106094"/>
                  <a:pt x="1460627" y="100271"/>
                  <a:pt x="1453222" y="88626"/>
                </a:cubicBezTo>
                <a:cubicBezTo>
                  <a:pt x="1446023" y="76645"/>
                  <a:pt x="1440674" y="69789"/>
                  <a:pt x="1437177" y="68059"/>
                </a:cubicBezTo>
                <a:cubicBezTo>
                  <a:pt x="1426071" y="64208"/>
                  <a:pt x="1406918" y="75603"/>
                  <a:pt x="1379720" y="102243"/>
                </a:cubicBezTo>
                <a:cubicBezTo>
                  <a:pt x="1374213" y="109145"/>
                  <a:pt x="1371460" y="113368"/>
                  <a:pt x="1371460" y="114912"/>
                </a:cubicBezTo>
                <a:cubicBezTo>
                  <a:pt x="1371460" y="120828"/>
                  <a:pt x="1376399" y="123200"/>
                  <a:pt x="1386278" y="122028"/>
                </a:cubicBezTo>
                <a:lnTo>
                  <a:pt x="1520307" y="122028"/>
                </a:lnTo>
                <a:cubicBezTo>
                  <a:pt x="1506540" y="196386"/>
                  <a:pt x="1458134" y="248913"/>
                  <a:pt x="1375088" y="279609"/>
                </a:cubicBezTo>
                <a:cubicBezTo>
                  <a:pt x="1362158" y="287255"/>
                  <a:pt x="1362540" y="294678"/>
                  <a:pt x="1376232" y="301878"/>
                </a:cubicBezTo>
                <a:cubicBezTo>
                  <a:pt x="1380418" y="303980"/>
                  <a:pt x="1383050" y="305570"/>
                  <a:pt x="1384129" y="306649"/>
                </a:cubicBezTo>
                <a:cubicBezTo>
                  <a:pt x="1390733" y="311040"/>
                  <a:pt x="1397905" y="319337"/>
                  <a:pt x="1405644" y="331541"/>
                </a:cubicBezTo>
                <a:cubicBezTo>
                  <a:pt x="1411355" y="340117"/>
                  <a:pt x="1415253" y="344405"/>
                  <a:pt x="1417336" y="344405"/>
                </a:cubicBezTo>
                <a:cubicBezTo>
                  <a:pt x="1424833" y="347921"/>
                  <a:pt x="1442479" y="335671"/>
                  <a:pt x="1470273" y="307654"/>
                </a:cubicBezTo>
                <a:lnTo>
                  <a:pt x="1539561" y="307654"/>
                </a:lnTo>
                <a:lnTo>
                  <a:pt x="1539561" y="398430"/>
                </a:lnTo>
                <a:cubicBezTo>
                  <a:pt x="1536064" y="413443"/>
                  <a:pt x="1550798" y="422261"/>
                  <a:pt x="1583763" y="424884"/>
                </a:cubicBezTo>
                <a:cubicBezTo>
                  <a:pt x="1598795" y="426112"/>
                  <a:pt x="1605725" y="418410"/>
                  <a:pt x="1604553" y="401779"/>
                </a:cubicBezTo>
                <a:lnTo>
                  <a:pt x="1604553" y="307654"/>
                </a:lnTo>
                <a:lnTo>
                  <a:pt x="1693487" y="307654"/>
                </a:lnTo>
                <a:cubicBezTo>
                  <a:pt x="1703309" y="316398"/>
                  <a:pt x="1723885" y="328881"/>
                  <a:pt x="1755213" y="345103"/>
                </a:cubicBezTo>
                <a:cubicBezTo>
                  <a:pt x="1770803" y="353977"/>
                  <a:pt x="1780700" y="356832"/>
                  <a:pt x="1784904" y="353670"/>
                </a:cubicBezTo>
                <a:cubicBezTo>
                  <a:pt x="1784904" y="349019"/>
                  <a:pt x="1777147" y="340610"/>
                  <a:pt x="1761631" y="328443"/>
                </a:cubicBezTo>
                <a:cubicBezTo>
                  <a:pt x="1699961" y="279721"/>
                  <a:pt x="1659275" y="210916"/>
                  <a:pt x="1639574" y="122028"/>
                </a:cubicBezTo>
                <a:lnTo>
                  <a:pt x="1744526" y="122028"/>
                </a:lnTo>
                <a:cubicBezTo>
                  <a:pt x="1753381" y="122028"/>
                  <a:pt x="1760059" y="121275"/>
                  <a:pt x="1764562" y="119768"/>
                </a:cubicBezTo>
                <a:cubicBezTo>
                  <a:pt x="1769957" y="113126"/>
                  <a:pt x="1767594" y="108569"/>
                  <a:pt x="1757474" y="106094"/>
                </a:cubicBezTo>
                <a:lnTo>
                  <a:pt x="1604553" y="106094"/>
                </a:lnTo>
                <a:lnTo>
                  <a:pt x="1604553" y="31531"/>
                </a:lnTo>
                <a:cubicBezTo>
                  <a:pt x="1606311" y="12765"/>
                  <a:pt x="1602575" y="2376"/>
                  <a:pt x="1593345" y="363"/>
                </a:cubicBezTo>
                <a:close/>
              </a:path>
            </a:pathLst>
          </a:cu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639E9A1-D115-D6E9-AEFF-93FFA0F982D1}"/>
              </a:ext>
            </a:extLst>
          </p:cNvPr>
          <p:cNvCxnSpPr/>
          <p:nvPr/>
        </p:nvCxnSpPr>
        <p:spPr>
          <a:xfrm>
            <a:off x="1884573" y="3690235"/>
            <a:ext cx="8179865" cy="0"/>
          </a:xfrm>
          <a:prstGeom prst="line">
            <a:avLst/>
          </a:prstGeom>
          <a:ln w="12700">
            <a:solidFill>
              <a:srgbClr val="04926A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E18147C8-FA78-6091-71EB-8D15A6FAE435}"/>
              </a:ext>
            </a:extLst>
          </p:cNvPr>
          <p:cNvGrpSpPr/>
          <p:nvPr/>
        </p:nvGrpSpPr>
        <p:grpSpPr>
          <a:xfrm>
            <a:off x="1884680" y="4335145"/>
            <a:ext cx="3651250" cy="1964690"/>
            <a:chOff x="3663" y="6990"/>
            <a:chExt cx="5750" cy="3094"/>
          </a:xfrm>
        </p:grpSpPr>
        <p:sp>
          <p:nvSpPr>
            <p:cNvPr id="15" name="矩形: 圆角 40">
              <a:extLst>
                <a:ext uri="{FF2B5EF4-FFF2-40B4-BE49-F238E27FC236}">
                  <a16:creationId xmlns:a16="http://schemas.microsoft.com/office/drawing/2014/main" id="{E85A41C6-30B9-B3F9-1E62-A61E73545F0F}"/>
                </a:ext>
              </a:extLst>
            </p:cNvPr>
            <p:cNvSpPr/>
            <p:nvPr/>
          </p:nvSpPr>
          <p:spPr>
            <a:xfrm rot="16200000" flipV="1">
              <a:off x="5205" y="5876"/>
              <a:ext cx="2666" cy="5750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B755B60-959E-2695-E853-0342B63ACB01}"/>
                </a:ext>
              </a:extLst>
            </p:cNvPr>
            <p:cNvSpPr/>
            <p:nvPr/>
          </p:nvSpPr>
          <p:spPr>
            <a:xfrm>
              <a:off x="5550" y="6990"/>
              <a:ext cx="235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无穷级数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23DD9B2C-370A-6EE8-BAEE-AAA32CB688A5}"/>
                    </a:ext>
                  </a:extLst>
                </p:cNvPr>
                <p:cNvSpPr/>
                <p:nvPr/>
              </p:nvSpPr>
              <p:spPr>
                <a:xfrm>
                  <a:off x="4985" y="7945"/>
                  <a:ext cx="3106" cy="189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zh-CN" altLang="en-US" sz="2400" b="1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m:t>数项级</m:t>
                        </m:r>
                      </m:oMath>
                    </m:oMathPara>
                  </a14:m>
                  <a:endParaRPr lang="en-US" altLang="zh-CN" sz="2400" b="1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zh-CN" altLang="en-US" sz="2400" b="1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m:t>幂级数</m:t>
                        </m:r>
                      </m:oMath>
                    </m:oMathPara>
                  </a14:m>
                  <a:endParaRPr lang="en-US" altLang="zh-CN" sz="2400" b="1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zh-CN" altLang="en-US" sz="2400" b="1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m:t>傅里叶级数</m:t>
                        </m:r>
                      </m:oMath>
                    </m:oMathPara>
                  </a14:m>
                  <a:endPara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23DD9B2C-370A-6EE8-BAEE-AAA32CB688A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5" y="7945"/>
                  <a:ext cx="3106" cy="1890"/>
                </a:xfrm>
                <a:prstGeom prst="rect">
                  <a:avLst/>
                </a:prstGeom>
                <a:blipFill>
                  <a:blip r:embed="rId2"/>
                  <a:stretch>
                    <a:fillRect b="-406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E137E18D-2152-43D5-A6A5-55E82208D544}"/>
              </a:ext>
            </a:extLst>
          </p:cNvPr>
          <p:cNvSpPr/>
          <p:nvPr/>
        </p:nvSpPr>
        <p:spPr>
          <a:xfrm>
            <a:off x="3713480" y="884555"/>
            <a:ext cx="4765040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第十二章</a:t>
            </a:r>
            <a:r>
              <a:rPr lang="en-US" altLang="zh-CN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  </a:t>
            </a: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</a:t>
            </a:r>
            <a:endParaRPr lang="en-US" altLang="zh-CN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66E014E-1D5B-2618-C27C-5E330C0A1D54}"/>
              </a:ext>
            </a:extLst>
          </p:cNvPr>
          <p:cNvGrpSpPr/>
          <p:nvPr/>
        </p:nvGrpSpPr>
        <p:grpSpPr>
          <a:xfrm>
            <a:off x="5991860" y="4340235"/>
            <a:ext cx="3651250" cy="1964690"/>
            <a:chOff x="3663" y="6990"/>
            <a:chExt cx="5750" cy="3094"/>
          </a:xfrm>
        </p:grpSpPr>
        <p:sp>
          <p:nvSpPr>
            <p:cNvPr id="30" name="矩形: 圆角 40">
              <a:extLst>
                <a:ext uri="{FF2B5EF4-FFF2-40B4-BE49-F238E27FC236}">
                  <a16:creationId xmlns:a16="http://schemas.microsoft.com/office/drawing/2014/main" id="{D9697280-8F51-BD3F-7928-2BC100FE3446}"/>
                </a:ext>
              </a:extLst>
            </p:cNvPr>
            <p:cNvSpPr/>
            <p:nvPr/>
          </p:nvSpPr>
          <p:spPr>
            <a:xfrm rot="16200000" flipV="1">
              <a:off x="5205" y="5876"/>
              <a:ext cx="2666" cy="5750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9650B897-3868-FEF2-FFDB-E9C9F17958B6}"/>
                </a:ext>
              </a:extLst>
            </p:cNvPr>
            <p:cNvSpPr/>
            <p:nvPr/>
          </p:nvSpPr>
          <p:spPr>
            <a:xfrm>
              <a:off x="4838" y="6990"/>
              <a:ext cx="3776" cy="727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研究函数的工具</a:t>
              </a: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219C995D-EA69-9AF7-84B2-4A1496C4F73E}"/>
                </a:ext>
              </a:extLst>
            </p:cNvPr>
            <p:cNvSpPr/>
            <p:nvPr/>
          </p:nvSpPr>
          <p:spPr>
            <a:xfrm>
              <a:off x="5324" y="7937"/>
              <a:ext cx="2803" cy="18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表示函数</a:t>
              </a:r>
            </a:p>
            <a:p>
              <a:pPr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研究函数</a:t>
              </a:r>
            </a:p>
            <a:p>
              <a:pPr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数值计算</a:t>
              </a:r>
            </a:p>
          </p:txBody>
        </p:sp>
      </p:grp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图文框 19"/>
          <p:cNvSpPr/>
          <p:nvPr/>
        </p:nvSpPr>
        <p:spPr>
          <a:xfrm>
            <a:off x="0" y="11150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字魂36号-正文宋楷" panose="00000500000000000000" pitchFamily="2" charset="-122"/>
              <a:ea typeface="字魂36号-正文宋楷" panose="00000500000000000000" pitchFamily="2" charset="-122"/>
              <a:cs typeface="+mn-cs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8611"/>
            <a:ext cx="6996430" cy="6860540"/>
          </a:xfrm>
          <a:prstGeom prst="rect">
            <a:avLst/>
          </a:prstGeom>
        </p:spPr>
      </p:pic>
      <p:sp>
        <p:nvSpPr>
          <p:cNvPr id="11" name="Rectangle 1"/>
          <p:cNvSpPr/>
          <p:nvPr/>
        </p:nvSpPr>
        <p:spPr>
          <a:xfrm>
            <a:off x="-6985" y="-47904"/>
            <a:ext cx="12289790" cy="691705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A-102232"/>
          <p:cNvSpPr/>
          <p:nvPr>
            <p:custDataLst>
              <p:tags r:id="rId1"/>
            </p:custDataLst>
          </p:nvPr>
        </p:nvSpPr>
        <p:spPr>
          <a:xfrm>
            <a:off x="378053" y="250074"/>
            <a:ext cx="11536045" cy="63976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6BB6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0" name="PA-文本框 8"/>
          <p:cNvSpPr txBox="1"/>
          <p:nvPr>
            <p:custDataLst>
              <p:tags r:id="rId2"/>
            </p:custDataLst>
          </p:nvPr>
        </p:nvSpPr>
        <p:spPr>
          <a:xfrm>
            <a:off x="876000" y="638872"/>
            <a:ext cx="3069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GB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ea"/>
                <a:sym typeface="+mn-lt"/>
              </a:rPr>
              <a:t>C</a:t>
            </a:r>
            <a:r>
              <a:rPr kumimoji="1" lang="en-GB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ea"/>
                <a:sym typeface="+mn-lt"/>
              </a:rPr>
              <a:t>ONTENTS</a:t>
            </a:r>
          </a:p>
        </p:txBody>
      </p:sp>
      <p:sp>
        <p:nvSpPr>
          <p:cNvPr id="2" name="矩形 1"/>
          <p:cNvSpPr/>
          <p:nvPr/>
        </p:nvSpPr>
        <p:spPr>
          <a:xfrm>
            <a:off x="1769401" y="516286"/>
            <a:ext cx="151515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目  录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875153" y="691154"/>
            <a:ext cx="244169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4400" b="1" dirty="0">
                <a:solidFill>
                  <a:srgbClr val="1D9D7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第十二章</a:t>
            </a:r>
            <a:endParaRPr kumimoji="1" lang="zh-CN" altLang="en-US" sz="4400" b="1" dirty="0"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 rot="5400000" flipH="1">
            <a:off x="6082748" y="-3357984"/>
            <a:ext cx="26504" cy="10440000"/>
          </a:xfrm>
          <a:prstGeom prst="line">
            <a:avLst/>
          </a:prstGeom>
          <a:ln>
            <a:solidFill>
              <a:srgbClr val="00743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5EBC6063-7660-654F-9C1E-E094B591762F}"/>
              </a:ext>
            </a:extLst>
          </p:cNvPr>
          <p:cNvSpPr/>
          <p:nvPr/>
        </p:nvSpPr>
        <p:spPr>
          <a:xfrm>
            <a:off x="945202" y="2326548"/>
            <a:ext cx="47676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第一节   常数项级数的概念和性质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33BB7C3-377F-6F44-BF79-2630D53C23F2}"/>
              </a:ext>
            </a:extLst>
          </p:cNvPr>
          <p:cNvSpPr/>
          <p:nvPr/>
        </p:nvSpPr>
        <p:spPr>
          <a:xfrm>
            <a:off x="945202" y="3187197"/>
            <a:ext cx="23054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第三节   幂级数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0A59EBE-FB23-8945-A07D-4636B842A383}"/>
              </a:ext>
            </a:extLst>
          </p:cNvPr>
          <p:cNvSpPr/>
          <p:nvPr/>
        </p:nvSpPr>
        <p:spPr>
          <a:xfrm>
            <a:off x="6146076" y="2326548"/>
            <a:ext cx="41520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第二节   常数项级数的审敛法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C77DC3F-7586-3543-B3CA-DB69D78A3711}"/>
              </a:ext>
            </a:extLst>
          </p:cNvPr>
          <p:cNvSpPr/>
          <p:nvPr/>
        </p:nvSpPr>
        <p:spPr>
          <a:xfrm>
            <a:off x="6146076" y="3188487"/>
            <a:ext cx="53346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第四节   函数展开成幂级数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B115371-884C-1342-8914-73E090F41BA7}"/>
              </a:ext>
            </a:extLst>
          </p:cNvPr>
          <p:cNvSpPr/>
          <p:nvPr/>
        </p:nvSpPr>
        <p:spPr>
          <a:xfrm>
            <a:off x="945202" y="4047845"/>
            <a:ext cx="520382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第五节   函数的幂级数展开式的应用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78E4ABC-4FE6-B24F-927F-6ADBAFAA1731}"/>
              </a:ext>
            </a:extLst>
          </p:cNvPr>
          <p:cNvSpPr/>
          <p:nvPr/>
        </p:nvSpPr>
        <p:spPr>
          <a:xfrm>
            <a:off x="6146076" y="3930399"/>
            <a:ext cx="5532284" cy="1135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第六节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函数项级数的一致收敛性及    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     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一致收敛级数的基本性质 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1DAA95B-470C-074B-A0FA-40B8C9BD35CB}"/>
              </a:ext>
            </a:extLst>
          </p:cNvPr>
          <p:cNvSpPr/>
          <p:nvPr/>
        </p:nvSpPr>
        <p:spPr>
          <a:xfrm>
            <a:off x="945202" y="5482852"/>
            <a:ext cx="49060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第七节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傅里叶级数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B57F56C-092B-1546-9C56-0C4A1E985B15}"/>
              </a:ext>
            </a:extLst>
          </p:cNvPr>
          <p:cNvSpPr/>
          <p:nvPr/>
        </p:nvSpPr>
        <p:spPr>
          <a:xfrm>
            <a:off x="6146076" y="5482852"/>
            <a:ext cx="54819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第八节  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一般周期函数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的傅里叶级数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71572008"/>
      </p:ext>
    </p:extLst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F2A10CEB-5CA9-4551-5EE7-D195BAB94096}"/>
              </a:ext>
            </a:extLst>
          </p:cNvPr>
          <p:cNvGrpSpPr/>
          <p:nvPr/>
        </p:nvGrpSpPr>
        <p:grpSpPr>
          <a:xfrm>
            <a:off x="-6985" y="-47904"/>
            <a:ext cx="12289790" cy="6917055"/>
            <a:chOff x="-6985" y="-47904"/>
            <a:chExt cx="12289790" cy="6917055"/>
          </a:xfrm>
        </p:grpSpPr>
        <p:sp>
          <p:nvSpPr>
            <p:cNvPr id="7" name="图文框 6">
              <a:extLst>
                <a:ext uri="{FF2B5EF4-FFF2-40B4-BE49-F238E27FC236}">
                  <a16:creationId xmlns:a16="http://schemas.microsoft.com/office/drawing/2014/main" id="{3CA61783-234C-EFE9-EC35-35C4F7127CF9}"/>
                </a:ext>
              </a:extLst>
            </p:cNvPr>
            <p:cNvSpPr/>
            <p:nvPr/>
          </p:nvSpPr>
          <p:spPr>
            <a:xfrm>
              <a:off x="0" y="11150"/>
              <a:ext cx="12192001" cy="6858001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74000">
                  <a:srgbClr val="007434">
                    <a:alpha val="31000"/>
                  </a:srgbClr>
                </a:gs>
                <a:gs pos="4000">
                  <a:schemeClr val="bg1">
                    <a:alpha val="0"/>
                  </a:schemeClr>
                </a:gs>
                <a:gs pos="100000">
                  <a:schemeClr val="bg1">
                    <a:alpha val="64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9949B233-E9E5-C6C4-356E-99FC6DEEA7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03" r="7303" b="29466"/>
            <a:stretch>
              <a:fillRect/>
            </a:stretch>
          </p:blipFill>
          <p:spPr>
            <a:xfrm flipH="1">
              <a:off x="0" y="8611"/>
              <a:ext cx="6996430" cy="6860540"/>
            </a:xfrm>
            <a:prstGeom prst="rect">
              <a:avLst/>
            </a:prstGeom>
          </p:spPr>
        </p:pic>
        <p:sp>
          <p:nvSpPr>
            <p:cNvPr id="14" name="Rectangle 1">
              <a:extLst>
                <a:ext uri="{FF2B5EF4-FFF2-40B4-BE49-F238E27FC236}">
                  <a16:creationId xmlns:a16="http://schemas.microsoft.com/office/drawing/2014/main" id="{85486088-4289-7ED4-3CCB-07E732450E04}"/>
                </a:ext>
              </a:extLst>
            </p:cNvPr>
            <p:cNvSpPr/>
            <p:nvPr/>
          </p:nvSpPr>
          <p:spPr>
            <a:xfrm>
              <a:off x="-6985" y="-47904"/>
              <a:ext cx="12289790" cy="6917055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42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PA-102232">
            <a:extLst>
              <a:ext uri="{FF2B5EF4-FFF2-40B4-BE49-F238E27FC236}">
                <a16:creationId xmlns:a16="http://schemas.microsoft.com/office/drawing/2014/main" id="{FA395C5F-797D-7C0F-0C0A-391EC34DE26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69888" y="1731523"/>
            <a:ext cx="11536045" cy="42898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2804073" y="686345"/>
            <a:ext cx="6583854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第五节 函数的幂</a:t>
            </a:r>
            <a:r>
              <a:rPr kumimoji="1"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展开式的应用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AFF4F60-72C4-714E-8C58-40EBCC56BBC0}"/>
              </a:ext>
            </a:extLst>
          </p:cNvPr>
          <p:cNvGrpSpPr/>
          <p:nvPr/>
        </p:nvGrpSpPr>
        <p:grpSpPr>
          <a:xfrm>
            <a:off x="3611211" y="2223699"/>
            <a:ext cx="4969579" cy="901065"/>
            <a:chOff x="3376753" y="2223699"/>
            <a:chExt cx="4969579" cy="901065"/>
          </a:xfrm>
        </p:grpSpPr>
        <p:sp>
          <p:nvSpPr>
            <p:cNvPr id="4" name="矩形: 圆角 40">
              <a:extLst>
                <a:ext uri="{FF2B5EF4-FFF2-40B4-BE49-F238E27FC236}">
                  <a16:creationId xmlns:a16="http://schemas.microsoft.com/office/drawing/2014/main" id="{0AFCECA3-3830-4C31-F876-EF09B7116080}"/>
                </a:ext>
              </a:extLst>
            </p:cNvPr>
            <p:cNvSpPr/>
            <p:nvPr/>
          </p:nvSpPr>
          <p:spPr>
            <a:xfrm flipV="1">
              <a:off x="3376753" y="2223699"/>
              <a:ext cx="4969579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FF17138-8605-1774-D008-6AE81E15D8D9}"/>
                </a:ext>
              </a:extLst>
            </p:cNvPr>
            <p:cNvSpPr/>
            <p:nvPr/>
          </p:nvSpPr>
          <p:spPr>
            <a:xfrm>
              <a:off x="3616931" y="2412933"/>
              <a:ext cx="233910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一、近似计算</a:t>
              </a: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6E563FC2-675B-574A-AFBA-C18260C6ADF1}"/>
              </a:ext>
            </a:extLst>
          </p:cNvPr>
          <p:cNvGrpSpPr/>
          <p:nvPr/>
        </p:nvGrpSpPr>
        <p:grpSpPr>
          <a:xfrm>
            <a:off x="3611212" y="3448291"/>
            <a:ext cx="4969578" cy="901065"/>
            <a:chOff x="3376754" y="3448291"/>
            <a:chExt cx="4969578" cy="901065"/>
          </a:xfrm>
        </p:grpSpPr>
        <p:sp>
          <p:nvSpPr>
            <p:cNvPr id="22" name="矩形: 圆角 40">
              <a:extLst>
                <a:ext uri="{FF2B5EF4-FFF2-40B4-BE49-F238E27FC236}">
                  <a16:creationId xmlns:a16="http://schemas.microsoft.com/office/drawing/2014/main" id="{2AFCDF72-0B32-3B23-3BEA-A6D0061312B5}"/>
                </a:ext>
              </a:extLst>
            </p:cNvPr>
            <p:cNvSpPr/>
            <p:nvPr/>
          </p:nvSpPr>
          <p:spPr>
            <a:xfrm flipV="1">
              <a:off x="3376754" y="3448291"/>
              <a:ext cx="4969578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9FFA758-C763-F6DD-43E6-7491515A6524}"/>
                </a:ext>
              </a:extLst>
            </p:cNvPr>
            <p:cNvSpPr/>
            <p:nvPr/>
          </p:nvSpPr>
          <p:spPr>
            <a:xfrm>
              <a:off x="3616931" y="3637526"/>
              <a:ext cx="449353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二、微分方程的幂级数解法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498BAD6C-1D3F-0C4D-9944-45289AF80C0D}"/>
              </a:ext>
            </a:extLst>
          </p:cNvPr>
          <p:cNvGrpSpPr/>
          <p:nvPr/>
        </p:nvGrpSpPr>
        <p:grpSpPr>
          <a:xfrm>
            <a:off x="3611211" y="4664250"/>
            <a:ext cx="4969579" cy="901065"/>
            <a:chOff x="3376753" y="4664250"/>
            <a:chExt cx="4969579" cy="901065"/>
          </a:xfrm>
        </p:grpSpPr>
        <p:sp>
          <p:nvSpPr>
            <p:cNvPr id="17" name="矩形: 圆角 40">
              <a:extLst>
                <a:ext uri="{FF2B5EF4-FFF2-40B4-BE49-F238E27FC236}">
                  <a16:creationId xmlns:a16="http://schemas.microsoft.com/office/drawing/2014/main" id="{F0C1625A-8AFB-064E-8114-6A8BDB4CCB0A}"/>
                </a:ext>
              </a:extLst>
            </p:cNvPr>
            <p:cNvSpPr/>
            <p:nvPr/>
          </p:nvSpPr>
          <p:spPr>
            <a:xfrm flipV="1">
              <a:off x="3376753" y="4664250"/>
              <a:ext cx="4969579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81D9E1D-1020-F744-A3FA-7B32C6575660}"/>
                </a:ext>
              </a:extLst>
            </p:cNvPr>
            <p:cNvSpPr/>
            <p:nvPr/>
          </p:nvSpPr>
          <p:spPr>
            <a:xfrm>
              <a:off x="3616931" y="4853484"/>
              <a:ext cx="233910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三、欧拉公式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75394515"/>
      </p:ext>
    </p:extLst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Rectangle 1027"/>
          <p:cNvSpPr>
            <a:spLocks noGrp="1" noChangeArrowheads="1"/>
          </p:cNvSpPr>
          <p:nvPr>
            <p:ph type="title" idx="4294967295"/>
          </p:nvPr>
        </p:nvSpPr>
        <p:spPr>
          <a:xfrm>
            <a:off x="2716259" y="918839"/>
            <a:ext cx="2819400" cy="685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algn="l"/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一、近似计算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4"/>
              <p:cNvSpPr txBox="1"/>
              <p:nvPr/>
            </p:nvSpPr>
            <p:spPr bwMode="auto">
              <a:xfrm>
                <a:off x="3544827" y="1595438"/>
                <a:ext cx="5748277" cy="685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∵  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5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44827" y="1595438"/>
                <a:ext cx="5748277" cy="6858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bject 5"/>
              <p:cNvSpPr txBox="1"/>
              <p:nvPr/>
            </p:nvSpPr>
            <p:spPr bwMode="auto">
              <a:xfrm>
                <a:off x="3544827" y="2204283"/>
                <a:ext cx="4854850" cy="685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∴  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6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44827" y="2204283"/>
                <a:ext cx="4854850" cy="685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bject 6"/>
              <p:cNvSpPr txBox="1"/>
              <p:nvPr/>
            </p:nvSpPr>
            <p:spPr bwMode="auto">
              <a:xfrm>
                <a:off x="3544827" y="2807533"/>
                <a:ext cx="5175135" cy="7048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误差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7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44827" y="2807533"/>
                <a:ext cx="5175135" cy="7048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 Box 7"/>
          <p:cNvSpPr txBox="1">
            <a:spLocks noChangeArrowheads="1"/>
          </p:cNvSpPr>
          <p:nvPr/>
        </p:nvSpPr>
        <p:spPr bwMode="auto">
          <a:xfrm>
            <a:off x="3544827" y="3606046"/>
            <a:ext cx="23923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两类问题</a:t>
            </a:r>
            <a:r>
              <a:rPr lang="en-US" altLang="zh-CN" sz="2800" b="1" dirty="0">
                <a:solidFill>
                  <a:srgbClr val="04926A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9" name="Text Box 8"/>
          <p:cNvSpPr txBox="1">
            <a:spLocks noChangeArrowheads="1"/>
          </p:cNvSpPr>
          <p:nvPr/>
        </p:nvSpPr>
        <p:spPr bwMode="auto">
          <a:xfrm>
            <a:off x="3544827" y="4199771"/>
            <a:ext cx="5791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给定项数</a:t>
            </a:r>
            <a:r>
              <a:rPr lang="en-US" altLang="zh-CN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求近似值并估计精度</a:t>
            </a:r>
            <a:r>
              <a:rPr lang="en-US" altLang="zh-CN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40" name="Text Box 9"/>
          <p:cNvSpPr txBox="1">
            <a:spLocks noChangeArrowheads="1"/>
          </p:cNvSpPr>
          <p:nvPr/>
        </p:nvSpPr>
        <p:spPr bwMode="auto">
          <a:xfrm>
            <a:off x="3544827" y="4809371"/>
            <a:ext cx="4191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给出精度</a:t>
            </a:r>
            <a:r>
              <a:rPr lang="en-US" altLang="zh-CN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确定项数</a:t>
            </a:r>
            <a:r>
              <a:rPr lang="en-US" altLang="zh-CN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1" name="Text Box 10"/>
          <p:cNvSpPr txBox="1">
            <a:spLocks noChangeArrowheads="1"/>
          </p:cNvSpPr>
          <p:nvPr/>
        </p:nvSpPr>
        <p:spPr bwMode="auto">
          <a:xfrm>
            <a:off x="3544827" y="5430084"/>
            <a:ext cx="27606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关健</a:t>
            </a:r>
            <a:r>
              <a:rPr lang="en-US" altLang="zh-CN" sz="2800" b="1" dirty="0">
                <a:solidFill>
                  <a:srgbClr val="04926A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42" name="Text Box 11"/>
          <p:cNvSpPr txBox="1">
            <a:spLocks noChangeArrowheads="1"/>
          </p:cNvSpPr>
          <p:nvPr/>
        </p:nvSpPr>
        <p:spPr bwMode="auto">
          <a:xfrm>
            <a:off x="4442874" y="5430083"/>
            <a:ext cx="518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通过估计余项</a:t>
            </a:r>
            <a:r>
              <a:rPr lang="en-US" altLang="zh-CN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确定精度或项数</a:t>
            </a:r>
            <a:r>
              <a:rPr lang="en-US" altLang="zh-CN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3" name="Line 15"/>
          <p:cNvSpPr>
            <a:spLocks noChangeShapeType="1"/>
          </p:cNvSpPr>
          <p:nvPr/>
        </p:nvSpPr>
        <p:spPr bwMode="auto">
          <a:xfrm>
            <a:off x="5921585" y="5903158"/>
            <a:ext cx="762000" cy="0"/>
          </a:xfrm>
          <a:prstGeom prst="line">
            <a:avLst/>
          </a:prstGeom>
          <a:noFill/>
          <a:ln w="2540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90448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5" grpId="0" animBg="1"/>
      <p:bldP spid="35" grpId="0"/>
      <p:bldP spid="36" grpId="0"/>
      <p:bldP spid="37" grpId="0"/>
      <p:bldP spid="38" grpId="0" autoUpdateAnimBg="0"/>
      <p:bldP spid="39" grpId="0" autoUpdateAnimBg="0"/>
      <p:bldP spid="40" grpId="0" autoUpdateAnimBg="0"/>
      <p:bldP spid="41" grpId="0" autoUpdateAnimBg="0"/>
      <p:bldP spid="42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6B327F4F-6AF3-1DFF-3173-A9A1C02738C1}"/>
              </a:ext>
            </a:extLst>
          </p:cNvPr>
          <p:cNvGrpSpPr/>
          <p:nvPr/>
        </p:nvGrpSpPr>
        <p:grpSpPr>
          <a:xfrm>
            <a:off x="687006" y="1029715"/>
            <a:ext cx="10817987" cy="5344688"/>
            <a:chOff x="687324" y="1014089"/>
            <a:chExt cx="10817987" cy="534468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矩形 29">
                  <a:extLst>
                    <a:ext uri="{FF2B5EF4-FFF2-40B4-BE49-F238E27FC236}">
                      <a16:creationId xmlns:a16="http://schemas.microsoft.com/office/drawing/2014/main" id="{9E35025C-89BE-540D-54B4-EDCBDE9F08D3}"/>
                    </a:ext>
                  </a:extLst>
                </p:cNvPr>
                <p:cNvSpPr/>
                <p:nvPr/>
              </p:nvSpPr>
              <p:spPr>
                <a:xfrm>
                  <a:off x="687959" y="1014089"/>
                  <a:ext cx="10817352" cy="532206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 smtClean="0">
                            <a:solidFill>
                              <a:schemeClr val="bg1"/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矩形 29">
                  <a:extLst>
                    <a:ext uri="{FF2B5EF4-FFF2-40B4-BE49-F238E27FC236}">
                      <a16:creationId xmlns:a16="http://schemas.microsoft.com/office/drawing/2014/main" id="{9E35025C-89BE-540D-54B4-EDCBDE9F08D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1014089"/>
                  <a:ext cx="10817352" cy="532206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半闭框 30">
              <a:extLst>
                <a:ext uri="{FF2B5EF4-FFF2-40B4-BE49-F238E27FC236}">
                  <a16:creationId xmlns:a16="http://schemas.microsoft.com/office/drawing/2014/main" id="{C2C487BE-B518-A9F2-066A-B040E1D07358}"/>
                </a:ext>
              </a:extLst>
            </p:cNvPr>
            <p:cNvSpPr/>
            <p:nvPr/>
          </p:nvSpPr>
          <p:spPr>
            <a:xfrm>
              <a:off x="687324" y="1014089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2" name="半闭框 31">
              <a:extLst>
                <a:ext uri="{FF2B5EF4-FFF2-40B4-BE49-F238E27FC236}">
                  <a16:creationId xmlns:a16="http://schemas.microsoft.com/office/drawing/2014/main" id="{8DCC0A18-CD47-CCFD-C909-72CF3D97A5AD}"/>
                </a:ext>
              </a:extLst>
            </p:cNvPr>
            <p:cNvSpPr/>
            <p:nvPr/>
          </p:nvSpPr>
          <p:spPr>
            <a:xfrm flipH="1">
              <a:off x="10823530" y="1014089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3" name="半闭框 32">
              <a:extLst>
                <a:ext uri="{FF2B5EF4-FFF2-40B4-BE49-F238E27FC236}">
                  <a16:creationId xmlns:a16="http://schemas.microsoft.com/office/drawing/2014/main" id="{1AF8ED5E-AAF1-D85B-275B-CCECCCED8E3B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bg1"/>
                </a:solidFill>
              </a:endParaRPr>
            </a:p>
          </p:txBody>
        </p:sp>
        <p:sp>
          <p:nvSpPr>
            <p:cNvPr id="34" name="半闭框 33">
              <a:extLst>
                <a:ext uri="{FF2B5EF4-FFF2-40B4-BE49-F238E27FC236}">
                  <a16:creationId xmlns:a16="http://schemas.microsoft.com/office/drawing/2014/main" id="{C5BC86DC-7BD5-F206-7B93-9EE7980C3DCF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5029" name="Object 1061"/>
              <p:cNvSpPr txBox="1"/>
              <p:nvPr/>
            </p:nvSpPr>
            <p:spPr bwMode="auto">
              <a:xfrm>
                <a:off x="8612775" y="2667256"/>
                <a:ext cx="778548" cy="1016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altLang="zh-CN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5029" name="Object 10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12775" y="2667256"/>
                <a:ext cx="778548" cy="1016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995" name="Rectangle 1027"/>
          <p:cNvSpPr>
            <a:spLocks noGrp="1" noChangeArrowheads="1"/>
          </p:cNvSpPr>
          <p:nvPr>
            <p:ph type="title" idx="4294967295"/>
          </p:nvPr>
        </p:nvSpPr>
        <p:spPr>
          <a:xfrm>
            <a:off x="1206591" y="487167"/>
            <a:ext cx="3820372" cy="52349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 </a:t>
            </a:r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求近似值并估计精度</a:t>
            </a:r>
            <a:endParaRPr lang="en-US" altLang="zh-CN" sz="2800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5008" name="Text Box 1040"/>
          <p:cNvSpPr txBox="1">
            <a:spLocks noChangeArrowheads="1"/>
          </p:cNvSpPr>
          <p:nvPr/>
        </p:nvSpPr>
        <p:spPr bwMode="auto">
          <a:xfrm>
            <a:off x="1562255" y="1172624"/>
            <a:ext cx="1981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例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1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计算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242852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009" name="Object 1041"/>
              <p:cNvSpPr txBox="1"/>
              <p:nvPr/>
            </p:nvSpPr>
            <p:spPr bwMode="auto">
              <a:xfrm>
                <a:off x="3220964" y="1158336"/>
                <a:ext cx="1224866" cy="6127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g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240</m:t>
                          </m:r>
                        </m:e>
                      </m:ra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5009" name="Object 10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20964" y="1158336"/>
                <a:ext cx="1224866" cy="6127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010" name="Object 1042"/>
              <p:cNvSpPr txBox="1"/>
              <p:nvPr/>
            </p:nvSpPr>
            <p:spPr bwMode="auto">
              <a:xfrm>
                <a:off x="6874429" y="1215159"/>
                <a:ext cx="1124928" cy="519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5010" name="Object 10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74429" y="1215159"/>
                <a:ext cx="1124928" cy="51911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014" name="Object 1046"/>
              <p:cNvSpPr txBox="1"/>
              <p:nvPr/>
            </p:nvSpPr>
            <p:spPr bwMode="auto">
              <a:xfrm>
                <a:off x="2461170" y="3611611"/>
                <a:ext cx="2166668" cy="10794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∵ 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  <m:d>
                        <m:dPr>
                          <m:endChr m:val=""/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nor/>
                            </m:rPr>
                            <a:rPr lang="zh-CN" altLang="en-US" sz="2200" dirty="0"/>
                            <m:t> </m:t>
                          </m:r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5014" name="Object 10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61170" y="3611611"/>
                <a:ext cx="2166668" cy="10794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015" name="Object 1047"/>
              <p:cNvSpPr txBox="1"/>
              <p:nvPr/>
            </p:nvSpPr>
            <p:spPr bwMode="auto">
              <a:xfrm>
                <a:off x="3978548" y="3653720"/>
                <a:ext cx="1422400" cy="965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1⋅4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⋅2!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5015" name="Object 10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78548" y="3653720"/>
                <a:ext cx="1422400" cy="965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016" name="Object 1048"/>
              <p:cNvSpPr txBox="1"/>
              <p:nvPr/>
            </p:nvSpPr>
            <p:spPr bwMode="auto">
              <a:xfrm>
                <a:off x="5234679" y="3652903"/>
                <a:ext cx="2266860" cy="11552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1⋅4⋅9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⋅3!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5016" name="Object 10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34679" y="3652903"/>
                <a:ext cx="2266860" cy="115521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017" name="Object 1049"/>
              <p:cNvSpPr txBox="1"/>
              <p:nvPr/>
            </p:nvSpPr>
            <p:spPr bwMode="auto">
              <a:xfrm>
                <a:off x="6998766" y="3650850"/>
                <a:ext cx="3591621" cy="965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1⋅4⋅9⋅14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⋅4!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sup>
                              </m:sSup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+⋯</m:t>
                          </m:r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5017" name="Object 10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98766" y="3650850"/>
                <a:ext cx="3591621" cy="9652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020" name="Object 1052"/>
              <p:cNvSpPr txBox="1"/>
              <p:nvPr/>
            </p:nvSpPr>
            <p:spPr bwMode="auto">
              <a:xfrm>
                <a:off x="7919837" y="4578711"/>
                <a:ext cx="2489200" cy="990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p>
                          </m:sSup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81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zh-CN" altLang="en-US" sz="22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5020" name="Object 10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19837" y="4578711"/>
                <a:ext cx="2489200" cy="9906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023" name="Text Box 1055"/>
              <p:cNvSpPr txBox="1">
                <a:spLocks noChangeArrowheads="1"/>
              </p:cNvSpPr>
              <p:nvPr/>
            </p:nvSpPr>
            <p:spPr bwMode="auto">
              <a:xfrm>
                <a:off x="4170595" y="1187412"/>
                <a:ext cx="3048000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的近似值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精确到</a:t>
                </a: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242852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85023" name="Text Box 10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70595" y="1187412"/>
                <a:ext cx="3048000" cy="519112"/>
              </a:xfrm>
              <a:prstGeom prst="rect">
                <a:avLst/>
              </a:prstGeom>
              <a:blipFill>
                <a:blip r:embed="rId12"/>
                <a:stretch>
                  <a:fillRect l="-4000" t="-15294" b="-3058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025" name="Object 1057"/>
              <p:cNvSpPr txBox="1"/>
              <p:nvPr/>
            </p:nvSpPr>
            <p:spPr bwMode="auto">
              <a:xfrm>
                <a:off x="3221017" y="4498013"/>
                <a:ext cx="5016466" cy="118916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&lt;3⋅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1⋅4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⋅2!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p>
                          </m:sSup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81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81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+⋯</m:t>
                          </m:r>
                        </m:e>
                      </m:d>
                    </m:oMath>
                  </m:oMathPara>
                </a14:m>
                <a:endParaRPr lang="zh-CN" altLang="en-US" sz="2200" dirty="0">
                  <a:latin typeface="Cambria Math" panose="02040503050406030204" pitchFamily="18" charset="0"/>
                </a:endParaRPr>
              </a:p>
              <a:p>
                <a:endParaRPr lang="zh-CN" altLang="en-US" sz="2200" dirty="0"/>
              </a:p>
            </p:txBody>
          </p:sp>
        </mc:Choice>
        <mc:Fallback xmlns="">
          <p:sp>
            <p:nvSpPr>
              <p:cNvPr id="85025" name="Object 10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21017" y="4498013"/>
                <a:ext cx="5016466" cy="118916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>
            <a:extLst>
              <a:ext uri="{FF2B5EF4-FFF2-40B4-BE49-F238E27FC236}">
                <a16:creationId xmlns:a16="http://schemas.microsoft.com/office/drawing/2014/main" id="{A0CBBBA6-6599-4CA3-A3B6-EA0BB757AC9B}"/>
              </a:ext>
            </a:extLst>
          </p:cNvPr>
          <p:cNvGrpSpPr/>
          <p:nvPr/>
        </p:nvGrpSpPr>
        <p:grpSpPr>
          <a:xfrm>
            <a:off x="7943776" y="4641216"/>
            <a:ext cx="2209800" cy="945242"/>
            <a:chOff x="7943776" y="4641216"/>
            <a:chExt cx="2209800" cy="945242"/>
          </a:xfrm>
        </p:grpSpPr>
        <p:sp>
          <p:nvSpPr>
            <p:cNvPr id="85026" name="Rectangle 1058"/>
            <p:cNvSpPr>
              <a:spLocks noChangeArrowheads="1"/>
            </p:cNvSpPr>
            <p:nvPr/>
          </p:nvSpPr>
          <p:spPr bwMode="auto">
            <a:xfrm>
              <a:off x="7943776" y="4641216"/>
              <a:ext cx="2209800" cy="94524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027" name="Object 1059"/>
                <p:cNvSpPr txBox="1"/>
                <p:nvPr/>
              </p:nvSpPr>
              <p:spPr bwMode="auto">
                <a:xfrm>
                  <a:off x="7943776" y="4773097"/>
                  <a:ext cx="2085901" cy="55771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&lt;0.5×1</m:t>
                        </m:r>
                        <m:sSup>
                          <m:sSup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−4</m:t>
                            </m:r>
                          </m:sup>
                        </m:sSup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85027" name="Object 10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943776" y="4773097"/>
                  <a:ext cx="2085901" cy="55771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4996" name="Object 1028"/>
              <p:cNvSpPr txBox="1"/>
              <p:nvPr/>
            </p:nvSpPr>
            <p:spPr bwMode="auto">
              <a:xfrm>
                <a:off x="3221016" y="2641220"/>
                <a:ext cx="1611062" cy="104006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  <m:d>
                        <m:dPr>
                          <m:endChr m:val=""/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nor/>
                            </m:rPr>
                            <a:rPr lang="zh-CN" altLang="en-US" sz="2200" dirty="0"/>
                            <m:t> </m:t>
                          </m:r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4996" name="Object 10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21016" y="2641220"/>
                <a:ext cx="1611062" cy="104006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004" name="Object 1036"/>
              <p:cNvSpPr txBox="1"/>
              <p:nvPr/>
            </p:nvSpPr>
            <p:spPr bwMode="auto">
              <a:xfrm>
                <a:off x="4120536" y="2702341"/>
                <a:ext cx="1235238" cy="9699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5004" name="Object 10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20536" y="2702341"/>
                <a:ext cx="1235238" cy="96996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005" name="Object 1037"/>
              <p:cNvSpPr txBox="1"/>
              <p:nvPr/>
            </p:nvSpPr>
            <p:spPr bwMode="auto">
              <a:xfrm>
                <a:off x="5074588" y="2704098"/>
                <a:ext cx="1701800" cy="965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1⋅4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⋅2!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5005" name="Object 10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74588" y="2704098"/>
                <a:ext cx="1701800" cy="9652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006" name="Object 1038"/>
              <p:cNvSpPr txBox="1"/>
              <p:nvPr/>
            </p:nvSpPr>
            <p:spPr bwMode="auto">
              <a:xfrm>
                <a:off x="6609680" y="2699484"/>
                <a:ext cx="2489200" cy="965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1⋅4⋅9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⋅3!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p>
                          </m:sSup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−⋯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5006" name="Object 10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09680" y="2699484"/>
                <a:ext cx="2489200" cy="9652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011" name="Text Box 1043"/>
          <p:cNvSpPr txBox="1">
            <a:spLocks noChangeArrowheads="1"/>
          </p:cNvSpPr>
          <p:nvPr/>
        </p:nvSpPr>
        <p:spPr bwMode="auto">
          <a:xfrm>
            <a:off x="1562255" y="2003425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012" name="Object 1044"/>
              <p:cNvSpPr txBox="1"/>
              <p:nvPr/>
            </p:nvSpPr>
            <p:spPr bwMode="auto">
              <a:xfrm>
                <a:off x="2461170" y="2046555"/>
                <a:ext cx="2884488" cy="6857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g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240</m:t>
                          </m:r>
                        </m:e>
                      </m:ra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g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243−3</m:t>
                          </m:r>
                        </m:e>
                      </m:ra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5012" name="Object 10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61170" y="2046555"/>
                <a:ext cx="2884488" cy="6857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013" name="Object 1045"/>
              <p:cNvSpPr txBox="1"/>
              <p:nvPr/>
            </p:nvSpPr>
            <p:spPr bwMode="auto">
              <a:xfrm>
                <a:off x="4839336" y="1758543"/>
                <a:ext cx="2138362" cy="77437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  <m:sup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type m:val="skw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5013" name="Object 10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39336" y="1758543"/>
                <a:ext cx="2138362" cy="774371"/>
              </a:xfrm>
              <a:prstGeom prst="rect">
                <a:avLst/>
              </a:prstGeom>
              <a:blipFill>
                <a:blip r:embed="rId20"/>
                <a:stretch>
                  <a:fillRect b="-2031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720C70DD-C4E3-1B9F-7124-84AC68579EFD}"/>
              </a:ext>
            </a:extLst>
          </p:cNvPr>
          <p:cNvGrpSpPr/>
          <p:nvPr/>
        </p:nvGrpSpPr>
        <p:grpSpPr>
          <a:xfrm>
            <a:off x="2521843" y="5552725"/>
            <a:ext cx="8068544" cy="685011"/>
            <a:chOff x="2460535" y="6664118"/>
            <a:chExt cx="8068544" cy="685011"/>
          </a:xfrm>
        </p:grpSpPr>
        <p:sp>
          <p:nvSpPr>
            <p:cNvPr id="2" name="Rectangle 1058">
              <a:extLst>
                <a:ext uri="{FF2B5EF4-FFF2-40B4-BE49-F238E27FC236}">
                  <a16:creationId xmlns:a16="http://schemas.microsoft.com/office/drawing/2014/main" id="{B9AA96A1-1268-95B6-5044-B900B15E7D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0535" y="6664118"/>
              <a:ext cx="8068544" cy="66069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Object 1059">
                  <a:extLst>
                    <a:ext uri="{FF2B5EF4-FFF2-40B4-BE49-F238E27FC236}">
                      <a16:creationId xmlns:a16="http://schemas.microsoft.com/office/drawing/2014/main" id="{9B8957B6-CB6C-924A-5DAB-DE839E89EF4D}"/>
                    </a:ext>
                  </a:extLst>
                </p:cNvPr>
                <p:cNvSpPr txBox="1"/>
                <p:nvPr/>
              </p:nvSpPr>
              <p:spPr bwMode="auto">
                <a:xfrm>
                  <a:off x="8435926" y="6791412"/>
                  <a:ext cx="2085901" cy="55771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200" b="0" i="1" smtClean="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</a:rPr>
                          <m:t>(−1</m:t>
                        </m:r>
                        <m:r>
                          <a:rPr lang="zh-CN" altLang="en-US" sz="2200" i="1" smtClean="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2200" b="0" i="1" smtClean="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200" b="0" i="1" smtClean="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</a:rPr>
                          <m:t>&lt;1)</m:t>
                        </m:r>
                      </m:oMath>
                    </m:oMathPara>
                  </a14:m>
                  <a:endParaRPr lang="zh-CN" altLang="en-US" sz="2200" dirty="0">
                    <a:solidFill>
                      <a:srgbClr val="04926A"/>
                    </a:solidFill>
                  </a:endParaRPr>
                </a:p>
              </p:txBody>
            </p:sp>
          </mc:Choice>
          <mc:Fallback xmlns="">
            <p:sp>
              <p:nvSpPr>
                <p:cNvPr id="3" name="Object 1059">
                  <a:extLst>
                    <a:ext uri="{FF2B5EF4-FFF2-40B4-BE49-F238E27FC236}">
                      <a16:creationId xmlns:a16="http://schemas.microsoft.com/office/drawing/2014/main" id="{9B8957B6-CB6C-924A-5DAB-DE839E89EF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435926" y="6791412"/>
                  <a:ext cx="2085901" cy="557717"/>
                </a:xfrm>
                <a:prstGeom prst="rect">
                  <a:avLst/>
                </a:prstGeom>
                <a:blipFill>
                  <a:blip r:embed="rId21"/>
                  <a:stretch>
                    <a:fillRect l="-204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Rectangle 1058">
            <a:extLst>
              <a:ext uri="{FF2B5EF4-FFF2-40B4-BE49-F238E27FC236}">
                <a16:creationId xmlns:a16="http://schemas.microsoft.com/office/drawing/2014/main" id="{4996F4EA-64B8-F91E-B7A3-B09C1DF0F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3917" y="5497477"/>
            <a:ext cx="7955119" cy="78187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021" name="Object 1053"/>
              <p:cNvSpPr txBox="1"/>
              <p:nvPr/>
            </p:nvSpPr>
            <p:spPr bwMode="auto">
              <a:xfrm>
                <a:off x="2461170" y="5450060"/>
                <a:ext cx="3517900" cy="876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∴ </m:t>
                      </m:r>
                      <m:rad>
                        <m:ra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g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240</m:t>
                          </m:r>
                        </m:e>
                      </m:ra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≈3</m:t>
                      </m:r>
                      <m:d>
                        <m:d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5021" name="Object 10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61170" y="5450060"/>
                <a:ext cx="3517900" cy="87630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022" name="Object 1054"/>
              <p:cNvSpPr txBox="1"/>
              <p:nvPr/>
            </p:nvSpPr>
            <p:spPr bwMode="auto">
              <a:xfrm>
                <a:off x="5806190" y="5650398"/>
                <a:ext cx="3327400" cy="317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≈3−0.00741≈2.9926.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5022" name="Object 10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06190" y="5650398"/>
                <a:ext cx="3327400" cy="317500"/>
              </a:xfrm>
              <a:prstGeom prst="rect">
                <a:avLst/>
              </a:prstGeom>
              <a:blipFill>
                <a:blip r:embed="rId23"/>
                <a:stretch>
                  <a:fillRect b="-3076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212009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5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5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5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5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5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5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5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4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5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5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85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85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85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85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85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85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85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85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85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85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029" grpId="0"/>
      <p:bldP spid="84995" grpId="0" animBg="1"/>
      <p:bldP spid="85008" grpId="0" autoUpdateAnimBg="0"/>
      <p:bldP spid="85009" grpId="0"/>
      <p:bldP spid="85010" grpId="0"/>
      <p:bldP spid="85014" grpId="0"/>
      <p:bldP spid="85015" grpId="0"/>
      <p:bldP spid="85016" grpId="0"/>
      <p:bldP spid="85017" grpId="0"/>
      <p:bldP spid="85020" grpId="0"/>
      <p:bldP spid="85023" grpId="0" autoUpdateAnimBg="0"/>
      <p:bldP spid="85025" grpId="0"/>
      <p:bldP spid="84996" grpId="0"/>
      <p:bldP spid="85004" grpId="0"/>
      <p:bldP spid="85005" grpId="0"/>
      <p:bldP spid="85006" grpId="0"/>
      <p:bldP spid="85011" grpId="0" autoUpdateAnimBg="0"/>
      <p:bldP spid="85012" grpId="0"/>
      <p:bldP spid="85013" grpId="0"/>
      <p:bldP spid="5" grpId="0" animBg="1"/>
      <p:bldP spid="85021" grpId="0"/>
      <p:bldP spid="850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0D9D8B4-EF94-AE61-9F17-4D4C05BDC35C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78300FBE-1E4A-512C-3067-DF4D25FAD026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78300FBE-1E4A-512C-3067-DF4D25FAD02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半闭框 3">
              <a:extLst>
                <a:ext uri="{FF2B5EF4-FFF2-40B4-BE49-F238E27FC236}">
                  <a16:creationId xmlns:a16="http://schemas.microsoft.com/office/drawing/2014/main" id="{8CB01CD1-CFD4-A6E2-F5C0-3BAA6F896C6B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AD0E079F-C95C-6687-2781-9FC7E690E49D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108A4744-3F13-EAE6-812E-5D65679EE37C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4CBDE9C3-31C4-FBB9-378B-5D7E25FD70AB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034" name="Object 2"/>
              <p:cNvSpPr txBox="1"/>
              <p:nvPr/>
            </p:nvSpPr>
            <p:spPr bwMode="auto">
              <a:xfrm>
                <a:off x="3160318" y="2114528"/>
                <a:ext cx="7464425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∴ 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−⋯</m:t>
                      </m:r>
                      <m:r>
                        <a:rPr lang="en-US" altLang="zh-CN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(−1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&lt;1).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4034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60318" y="2114528"/>
                <a:ext cx="7464425" cy="889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035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2213914" y="741488"/>
            <a:ext cx="2362200" cy="5334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例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2 </a:t>
            </a:r>
            <a:r>
              <a:rPr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  </a:t>
            </a:r>
            <a:r>
              <a:rPr lang="zh-CN" altLang="en-US" sz="2800" b="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计算</a:t>
            </a:r>
            <a:endParaRPr lang="zh-CN" altLang="en-US" sz="2800" b="0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036" name="Object 4"/>
              <p:cNvSpPr txBox="1"/>
              <p:nvPr/>
            </p:nvSpPr>
            <p:spPr bwMode="auto">
              <a:xfrm>
                <a:off x="3866555" y="766111"/>
                <a:ext cx="709560" cy="54434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4036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66555" y="766111"/>
                <a:ext cx="709560" cy="5443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037" name="Text Box 5"/>
              <p:cNvSpPr txBox="1">
                <a:spLocks noChangeArrowheads="1"/>
              </p:cNvSpPr>
              <p:nvPr/>
            </p:nvSpPr>
            <p:spPr bwMode="auto">
              <a:xfrm>
                <a:off x="4455932" y="741059"/>
                <a:ext cx="3215071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的近似值</a:t>
                </a:r>
                <a14:m>
                  <m:oMath xmlns:m="http://schemas.openxmlformats.org/officeDocument/2006/math">
                    <m:r>
                      <a:rPr kumimoji="1" lang="en-US" altLang="zh-CN" sz="2800" smtClean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使准确到</a:t>
                </a:r>
              </a:p>
            </p:txBody>
          </p:sp>
        </mc:Choice>
        <mc:Fallback xmlns="">
          <p:sp>
            <p:nvSpPr>
              <p:cNvPr id="44037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55932" y="741059"/>
                <a:ext cx="3215071" cy="519113"/>
              </a:xfrm>
              <a:prstGeom prst="rect">
                <a:avLst/>
              </a:prstGeom>
              <a:blipFill>
                <a:blip r:embed="rId5"/>
                <a:stretch>
                  <a:fillRect l="-3985" t="-15294" r="-2846" b="-3058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038" name="Object 6"/>
              <p:cNvSpPr txBox="1"/>
              <p:nvPr/>
            </p:nvSpPr>
            <p:spPr bwMode="auto">
              <a:xfrm>
                <a:off x="7494853" y="740692"/>
                <a:ext cx="736600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4038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94853" y="740692"/>
                <a:ext cx="736600" cy="431800"/>
              </a:xfrm>
              <a:prstGeom prst="rect">
                <a:avLst/>
              </a:prstGeom>
              <a:blipFill>
                <a:blip r:embed="rId6"/>
                <a:stretch>
                  <a:fillRect r="-2231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039" name="Text Box 7"/>
          <p:cNvSpPr txBox="1">
            <a:spLocks noChangeArrowheads="1"/>
          </p:cNvSpPr>
          <p:nvPr/>
        </p:nvSpPr>
        <p:spPr bwMode="auto">
          <a:xfrm>
            <a:off x="2212735" y="1434357"/>
            <a:ext cx="1752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  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已知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040" name="Object 8"/>
              <p:cNvSpPr txBox="1"/>
              <p:nvPr/>
            </p:nvSpPr>
            <p:spPr bwMode="auto">
              <a:xfrm>
                <a:off x="3675072" y="1293282"/>
                <a:ext cx="6742112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+⋯ </m:t>
                      </m:r>
                      <m:r>
                        <a:rPr lang="en-US" altLang="zh-CN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(−1&lt;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1),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4040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75072" y="1293282"/>
                <a:ext cx="6742112" cy="889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041" name="Text Box 9"/>
          <p:cNvSpPr txBox="1">
            <a:spLocks noChangeArrowheads="1"/>
          </p:cNvSpPr>
          <p:nvPr/>
        </p:nvSpPr>
        <p:spPr bwMode="auto">
          <a:xfrm>
            <a:off x="3160318" y="3055476"/>
            <a:ext cx="1219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042" name="Object 10"/>
              <p:cNvSpPr txBox="1"/>
              <p:nvPr/>
            </p:nvSpPr>
            <p:spPr bwMode="auto">
              <a:xfrm>
                <a:off x="3675764" y="2919112"/>
                <a:ext cx="4564062" cy="96782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4042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75764" y="2919112"/>
                <a:ext cx="4564062" cy="96782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043" name="Object 11"/>
              <p:cNvSpPr txBox="1"/>
              <p:nvPr/>
            </p:nvSpPr>
            <p:spPr bwMode="auto">
              <a:xfrm>
                <a:off x="4678270" y="3634108"/>
                <a:ext cx="3670300" cy="850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+⋯</m:t>
                          </m:r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4043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78270" y="3634108"/>
                <a:ext cx="3670300" cy="8509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044" name="Text Box 12"/>
          <p:cNvSpPr txBox="1">
            <a:spLocks noChangeArrowheads="1"/>
          </p:cNvSpPr>
          <p:nvPr/>
        </p:nvSpPr>
        <p:spPr bwMode="auto">
          <a:xfrm>
            <a:off x="3160318" y="4710224"/>
            <a:ext cx="7620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045" name="Object 13"/>
              <p:cNvSpPr txBox="1"/>
              <p:nvPr/>
            </p:nvSpPr>
            <p:spPr bwMode="auto">
              <a:xfrm>
                <a:off x="3701668" y="4558860"/>
                <a:ext cx="1257300" cy="850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4045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01668" y="4558860"/>
                <a:ext cx="1257300" cy="8509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046" name="Text Box 14"/>
          <p:cNvSpPr txBox="1">
            <a:spLocks noChangeArrowheads="1"/>
          </p:cNvSpPr>
          <p:nvPr/>
        </p:nvSpPr>
        <p:spPr bwMode="auto">
          <a:xfrm>
            <a:off x="4785757" y="4715908"/>
            <a:ext cx="838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047" name="Object 15"/>
              <p:cNvSpPr txBox="1"/>
              <p:nvPr/>
            </p:nvSpPr>
            <p:spPr bwMode="auto">
              <a:xfrm>
                <a:off x="3636044" y="5278224"/>
                <a:ext cx="5588000" cy="939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p>
                              </m:sSup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+⋯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4047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36044" y="5278224"/>
                <a:ext cx="5588000" cy="9398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048" name="Object 16"/>
              <p:cNvSpPr txBox="1"/>
              <p:nvPr/>
            </p:nvSpPr>
            <p:spPr bwMode="auto">
              <a:xfrm>
                <a:off x="8203316" y="3825957"/>
                <a:ext cx="2457938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(−1&lt;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&lt;1).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4048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03316" y="3825957"/>
                <a:ext cx="2457938" cy="393700"/>
              </a:xfrm>
              <a:prstGeom prst="rect">
                <a:avLst/>
              </a:prstGeom>
              <a:blipFill>
                <a:blip r:embed="rId12"/>
                <a:stretch>
                  <a:fillRect l="-1737" b="-31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050" name="Object 18"/>
              <p:cNvSpPr txBox="1"/>
              <p:nvPr/>
            </p:nvSpPr>
            <p:spPr bwMode="auto">
              <a:xfrm>
                <a:off x="5212375" y="4530342"/>
                <a:ext cx="2324099" cy="850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4050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12375" y="4530342"/>
                <a:ext cx="2324099" cy="8509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051" name="Text Box 19"/>
          <p:cNvSpPr txBox="1">
            <a:spLocks noChangeArrowheads="1"/>
          </p:cNvSpPr>
          <p:nvPr/>
        </p:nvSpPr>
        <p:spPr bwMode="auto">
          <a:xfrm>
            <a:off x="6123253" y="4704213"/>
            <a:ext cx="1371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于是有</a:t>
            </a:r>
          </a:p>
        </p:txBody>
      </p:sp>
    </p:spTree>
    <p:extLst>
      <p:ext uri="{BB962C8B-B14F-4D97-AF65-F5344CB8AC3E}">
        <p14:creationId xmlns:p14="http://schemas.microsoft.com/office/powerpoint/2010/main" val="395268328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4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4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4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4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4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4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4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4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4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/>
      <p:bldP spid="44035" grpId="0"/>
      <p:bldP spid="44036" grpId="0"/>
      <p:bldP spid="44037" grpId="0"/>
      <p:bldP spid="44038" grpId="0"/>
      <p:bldP spid="44039" grpId="0" autoUpdateAnimBg="0"/>
      <p:bldP spid="44040" grpId="0"/>
      <p:bldP spid="44041" grpId="0" autoUpdateAnimBg="0"/>
      <p:bldP spid="44042" grpId="0"/>
      <p:bldP spid="44043" grpId="0"/>
      <p:bldP spid="44044" grpId="0" autoUpdateAnimBg="0"/>
      <p:bldP spid="44045" grpId="0"/>
      <p:bldP spid="44046" grpId="0" autoUpdateAnimBg="0"/>
      <p:bldP spid="44047" grpId="0"/>
      <p:bldP spid="44048" grpId="0"/>
      <p:bldP spid="44050" grpId="0"/>
      <p:bldP spid="44051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42CDA4C3-DFBA-E3C0-B8B5-5BF32FAA67ED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35F8BB21-2A38-DCF8-4905-62D307C23862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35F8BB21-2A38-DCF8-4905-62D307C2386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半闭框 3">
              <a:extLst>
                <a:ext uri="{FF2B5EF4-FFF2-40B4-BE49-F238E27FC236}">
                  <a16:creationId xmlns:a16="http://schemas.microsoft.com/office/drawing/2014/main" id="{C973C923-29CD-03E7-DCD6-2690F1B3CED4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0B9CA298-69DE-C3FA-CA5D-8414A74536B5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E0CFAD22-0E27-1AD9-B591-EBAA95019330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CD0D71F8-C4ED-BA8C-77F4-EB52151FE13F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065" name="Object 9"/>
              <p:cNvSpPr txBox="1"/>
              <p:nvPr/>
            </p:nvSpPr>
            <p:spPr bwMode="auto">
              <a:xfrm>
                <a:off x="2666546" y="1908797"/>
                <a:ext cx="2501900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∵  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endChr m:val="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5065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66546" y="1908797"/>
                <a:ext cx="2501900" cy="889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066" name="Object 10"/>
              <p:cNvSpPr txBox="1"/>
              <p:nvPr/>
            </p:nvSpPr>
            <p:spPr bwMode="auto">
              <a:xfrm>
                <a:off x="3561136" y="2890012"/>
                <a:ext cx="3502025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+⋯</m:t>
                          </m:r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5066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61136" y="2890012"/>
                <a:ext cx="3502025" cy="914400"/>
              </a:xfrm>
              <a:prstGeom prst="rect">
                <a:avLst/>
              </a:prstGeom>
              <a:blipFill>
                <a:blip r:embed="rId5"/>
                <a:stretch>
                  <a:fillRect b="-6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067" name="Object 11"/>
              <p:cNvSpPr txBox="1"/>
              <p:nvPr/>
            </p:nvSpPr>
            <p:spPr bwMode="auto">
              <a:xfrm>
                <a:off x="6898618" y="2994348"/>
                <a:ext cx="2235200" cy="108396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p>
                          </m:sSup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5067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98618" y="2994348"/>
                <a:ext cx="2235200" cy="10839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068" name="Object 12"/>
              <p:cNvSpPr txBox="1"/>
              <p:nvPr/>
            </p:nvSpPr>
            <p:spPr bwMode="auto">
              <a:xfrm>
                <a:off x="2666546" y="4783291"/>
                <a:ext cx="5305425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∴  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≈2</m:t>
                      </m:r>
                      <m:d>
                        <m: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5068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66546" y="4783291"/>
                <a:ext cx="5305425" cy="9144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069" name="Object 13"/>
              <p:cNvSpPr txBox="1"/>
              <p:nvPr/>
            </p:nvSpPr>
            <p:spPr bwMode="auto">
              <a:xfrm>
                <a:off x="7597472" y="4995221"/>
                <a:ext cx="1371600" cy="317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≈0.6931.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5069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97472" y="4995221"/>
                <a:ext cx="1371600" cy="317500"/>
              </a:xfrm>
              <a:prstGeom prst="rect">
                <a:avLst/>
              </a:prstGeom>
              <a:blipFill>
                <a:blip r:embed="rId8"/>
                <a:stretch>
                  <a:fillRect b="-3018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071" name="Object 15"/>
              <p:cNvSpPr txBox="1"/>
              <p:nvPr/>
            </p:nvSpPr>
            <p:spPr bwMode="auto">
              <a:xfrm>
                <a:off x="4934960" y="1944792"/>
                <a:ext cx="1505273" cy="96948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5071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34960" y="1944792"/>
                <a:ext cx="1505273" cy="96948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073" name="Object 17"/>
              <p:cNvSpPr txBox="1"/>
              <p:nvPr/>
            </p:nvSpPr>
            <p:spPr bwMode="auto">
              <a:xfrm>
                <a:off x="8537069" y="2994787"/>
                <a:ext cx="1066800" cy="876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4⋅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5073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37069" y="2994787"/>
                <a:ext cx="1066800" cy="8763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075" name="Object 19"/>
              <p:cNvSpPr txBox="1"/>
              <p:nvPr/>
            </p:nvSpPr>
            <p:spPr bwMode="auto">
              <a:xfrm>
                <a:off x="3561136" y="3850910"/>
                <a:ext cx="2984500" cy="850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78732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&lt;0.2×1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5075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61136" y="3850910"/>
                <a:ext cx="2984500" cy="8509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081" name="Text Box 25"/>
              <p:cNvSpPr txBox="1">
                <a:spLocks noChangeArrowheads="1"/>
              </p:cNvSpPr>
              <p:nvPr/>
            </p:nvSpPr>
            <p:spPr bwMode="auto">
              <a:xfrm>
                <a:off x="2666546" y="1213473"/>
                <a:ext cx="3350597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在上述展开式中取前四项</a:t>
                </a:r>
                <a14:m>
                  <m:oMath xmlns:m="http://schemas.openxmlformats.org/officeDocument/2006/math">
                    <m:r>
                      <a:rPr kumimoji="1" lang="en-US" altLang="zh-CN" sz="2400" smtClean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endParaRPr kumimoji="1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45081" name="Text 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66546" y="1213473"/>
                <a:ext cx="3350597" cy="461665"/>
              </a:xfrm>
              <a:prstGeom prst="rect">
                <a:avLst/>
              </a:prstGeom>
              <a:blipFill>
                <a:blip r:embed="rId12"/>
                <a:stretch>
                  <a:fillRect l="-2364" t="-7895" b="-2105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>
            <a:extLst>
              <a:ext uri="{FF2B5EF4-FFF2-40B4-BE49-F238E27FC236}">
                <a16:creationId xmlns:a16="http://schemas.microsoft.com/office/drawing/2014/main" id="{2B1DCDB0-BA4D-83A5-481A-87728D4A93DC}"/>
              </a:ext>
            </a:extLst>
          </p:cNvPr>
          <p:cNvGrpSpPr/>
          <p:nvPr/>
        </p:nvGrpSpPr>
        <p:grpSpPr>
          <a:xfrm>
            <a:off x="6132741" y="1909447"/>
            <a:ext cx="2340444" cy="925576"/>
            <a:chOff x="5849062" y="1874938"/>
            <a:chExt cx="2340444" cy="9255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Object 16">
                  <a:extLst>
                    <a:ext uri="{FF2B5EF4-FFF2-40B4-BE49-F238E27FC236}">
                      <a16:creationId xmlns:a16="http://schemas.microsoft.com/office/drawing/2014/main" id="{210060FF-56CC-5CE1-2AF1-285B7CB190A3}"/>
                    </a:ext>
                  </a:extLst>
                </p:cNvPr>
                <p:cNvSpPr txBox="1"/>
                <p:nvPr/>
              </p:nvSpPr>
              <p:spPr bwMode="auto">
                <a:xfrm>
                  <a:off x="7351995" y="1874938"/>
                  <a:ext cx="837511" cy="8890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en-US" sz="2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zh-CN" altLang="en-US" sz="2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zh-CN" altLang="en-US" sz="2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4" name="Object 16">
                  <a:extLst>
                    <a:ext uri="{FF2B5EF4-FFF2-40B4-BE49-F238E27FC236}">
                      <a16:creationId xmlns:a16="http://schemas.microsoft.com/office/drawing/2014/main" id="{210060FF-56CC-5CE1-2AF1-285B7CB190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351995" y="1874938"/>
                  <a:ext cx="837511" cy="88900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072" name="Object 16"/>
                <p:cNvSpPr txBox="1"/>
                <p:nvPr/>
              </p:nvSpPr>
              <p:spPr bwMode="auto">
                <a:xfrm>
                  <a:off x="5849062" y="1911514"/>
                  <a:ext cx="2022844" cy="8890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den>
                        </m:f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sup>
                            </m:sSup>
                          </m:den>
                        </m:f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+⋯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45072" name="Object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849062" y="1911514"/>
                  <a:ext cx="2022844" cy="88900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8232535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5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5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5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5" grpId="0"/>
      <p:bldP spid="45066" grpId="0"/>
      <p:bldP spid="45067" grpId="0"/>
      <p:bldP spid="45068" grpId="0"/>
      <p:bldP spid="45069" grpId="0"/>
      <p:bldP spid="45071" grpId="0"/>
      <p:bldP spid="45073" grpId="0"/>
      <p:bldP spid="45075" grpId="0"/>
      <p:bldP spid="4508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79899" y="765852"/>
            <a:ext cx="2743200" cy="533400"/>
          </a:xfrm>
          <a:prstGeom prst="rect">
            <a:avLst/>
          </a:prstGeom>
        </p:spPr>
        <p:txBody>
          <a:bodyPr/>
          <a:lstStyle/>
          <a:p>
            <a:r>
              <a:rPr lang="zh-CN" altLang="en-US" sz="2800" b="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在展开式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083" name="Object 3"/>
              <p:cNvSpPr txBox="1"/>
              <p:nvPr/>
            </p:nvSpPr>
            <p:spPr bwMode="auto">
              <a:xfrm>
                <a:off x="2717963" y="553467"/>
                <a:ext cx="1841818" cy="113061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608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7963" y="553467"/>
                <a:ext cx="1841818" cy="11306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085" name="Text Box 5"/>
              <p:cNvSpPr txBox="1">
                <a:spLocks noChangeArrowheads="1"/>
              </p:cNvSpPr>
              <p:nvPr/>
            </p:nvSpPr>
            <p:spPr bwMode="auto">
              <a:xfrm>
                <a:off x="1187619" y="1784917"/>
                <a:ext cx="1261405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中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令</a:t>
                </a:r>
              </a:p>
            </p:txBody>
          </p:sp>
        </mc:Choice>
        <mc:Fallback xmlns="">
          <p:sp>
            <p:nvSpPr>
              <p:cNvPr id="46085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7619" y="1784917"/>
                <a:ext cx="1261405" cy="523220"/>
              </a:xfrm>
              <a:prstGeom prst="rect">
                <a:avLst/>
              </a:prstGeom>
              <a:blipFill>
                <a:blip r:embed="rId3"/>
                <a:stretch>
                  <a:fillRect l="-10145" t="-15116" b="-2907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086" name="Object 6"/>
              <p:cNvSpPr txBox="1"/>
              <p:nvPr/>
            </p:nvSpPr>
            <p:spPr bwMode="auto">
              <a:xfrm>
                <a:off x="2202280" y="1543667"/>
                <a:ext cx="1922584" cy="1231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608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02280" y="1543667"/>
                <a:ext cx="1922584" cy="12319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087" name="Object 7"/>
              <p:cNvSpPr txBox="1"/>
              <p:nvPr/>
            </p:nvSpPr>
            <p:spPr bwMode="auto">
              <a:xfrm>
                <a:off x="1179899" y="2461721"/>
                <a:ext cx="8534400" cy="1231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+⋯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608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79899" y="2461721"/>
                <a:ext cx="8534400" cy="12319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088" name="Text Box 8"/>
          <p:cNvSpPr txBox="1">
            <a:spLocks noChangeArrowheads="1"/>
          </p:cNvSpPr>
          <p:nvPr/>
        </p:nvSpPr>
        <p:spPr bwMode="auto">
          <a:xfrm>
            <a:off x="5863323" y="1734692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089" name="Object 9"/>
              <p:cNvSpPr txBox="1"/>
              <p:nvPr/>
            </p:nvSpPr>
            <p:spPr bwMode="auto">
              <a:xfrm>
                <a:off x="1179899" y="3836548"/>
                <a:ext cx="2180492" cy="939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6089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79899" y="3836548"/>
                <a:ext cx="2180492" cy="9398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090" name="Text Box 10"/>
          <p:cNvSpPr txBox="1">
            <a:spLocks noChangeArrowheads="1"/>
          </p:cNvSpPr>
          <p:nvPr/>
        </p:nvSpPr>
        <p:spPr bwMode="auto">
          <a:xfrm>
            <a:off x="1179899" y="4659672"/>
            <a:ext cx="7162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具此递推公式可求出任意正整数的对数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.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091" name="Object 11"/>
              <p:cNvSpPr txBox="1"/>
              <p:nvPr/>
            </p:nvSpPr>
            <p:spPr bwMode="auto">
              <a:xfrm>
                <a:off x="1179899" y="5178784"/>
                <a:ext cx="7025519" cy="139499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+⋯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6091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79899" y="5178784"/>
                <a:ext cx="7025519" cy="13949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092" name="Object 12"/>
              <p:cNvSpPr txBox="1"/>
              <p:nvPr/>
            </p:nvSpPr>
            <p:spPr bwMode="auto">
              <a:xfrm>
                <a:off x="8073859" y="5532781"/>
                <a:ext cx="1295400" cy="317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≈1.6094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6092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73859" y="5532781"/>
                <a:ext cx="1295400" cy="317500"/>
              </a:xfrm>
              <a:prstGeom prst="rect">
                <a:avLst/>
              </a:prstGeom>
              <a:blipFill>
                <a:blip r:embed="rId8"/>
                <a:stretch>
                  <a:fillRect r="-15023" b="-2692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093" name="Text Box 13"/>
              <p:cNvSpPr txBox="1">
                <a:spLocks noChangeArrowheads="1"/>
              </p:cNvSpPr>
              <p:nvPr/>
            </p:nvSpPr>
            <p:spPr bwMode="auto">
              <a:xfrm>
                <a:off x="3759177" y="1749500"/>
                <a:ext cx="3022065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𝑛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为自然数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)  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 </a:t>
                </a:r>
              </a:p>
            </p:txBody>
          </p:sp>
        </mc:Choice>
        <mc:Fallback xmlns="">
          <p:sp>
            <p:nvSpPr>
              <p:cNvPr id="46093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59177" y="1749500"/>
                <a:ext cx="3022065" cy="519112"/>
              </a:xfrm>
              <a:prstGeom prst="rect">
                <a:avLst/>
              </a:prstGeom>
              <a:blipFill>
                <a:blip r:embed="rId9"/>
                <a:stretch>
                  <a:fillRect t="-15294" b="-3058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094" name="Object 14"/>
              <p:cNvSpPr txBox="1"/>
              <p:nvPr/>
            </p:nvSpPr>
            <p:spPr bwMode="auto">
              <a:xfrm>
                <a:off x="3065936" y="3494966"/>
                <a:ext cx="9457007" cy="12886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+⋯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6094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65936" y="3494966"/>
                <a:ext cx="9457007" cy="128860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095" name="Object 15"/>
              <p:cNvSpPr txBox="1"/>
              <p:nvPr/>
            </p:nvSpPr>
            <p:spPr bwMode="auto">
              <a:xfrm>
                <a:off x="3974508" y="500715"/>
                <a:ext cx="4861559" cy="113061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+⋯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6095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74508" y="500715"/>
                <a:ext cx="4861559" cy="113061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7B450C96-51ED-2441-A593-EA910ADD6DC2}"/>
              </a:ext>
            </a:extLst>
          </p:cNvPr>
          <p:cNvGrpSpPr/>
          <p:nvPr/>
        </p:nvGrpSpPr>
        <p:grpSpPr>
          <a:xfrm>
            <a:off x="560479" y="704669"/>
            <a:ext cx="612775" cy="612775"/>
            <a:chOff x="1601" y="872"/>
            <a:chExt cx="965" cy="965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DF56AE51-D749-7EF9-276B-F3C642835BA3}"/>
                </a:ext>
              </a:extLst>
            </p:cNvPr>
            <p:cNvSpPr/>
            <p:nvPr/>
          </p:nvSpPr>
          <p:spPr>
            <a:xfrm>
              <a:off x="1663" y="934"/>
              <a:ext cx="841" cy="841"/>
            </a:xfrm>
            <a:prstGeom prst="ellipse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BFF52367-FD58-5F45-E975-C1A3F699BD67}"/>
                </a:ext>
              </a:extLst>
            </p:cNvPr>
            <p:cNvSpPr txBox="1"/>
            <p:nvPr/>
          </p:nvSpPr>
          <p:spPr bwMode="auto">
            <a:xfrm>
              <a:off x="1625" y="921"/>
              <a:ext cx="84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tlCol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注</a:t>
              </a:r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B1293E94-C837-5389-9299-D1CF0B48C707}"/>
                </a:ext>
              </a:extLst>
            </p:cNvPr>
            <p:cNvSpPr/>
            <p:nvPr/>
          </p:nvSpPr>
          <p:spPr>
            <a:xfrm>
              <a:off x="1601" y="872"/>
              <a:ext cx="965" cy="965"/>
            </a:xfrm>
            <a:prstGeom prst="ellipse">
              <a:avLst/>
            </a:prstGeom>
            <a:noFill/>
            <a:ln>
              <a:solidFill>
                <a:srgbClr val="0492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</p:grpSp>
    </p:spTree>
    <p:extLst>
      <p:ext uri="{BB962C8B-B14F-4D97-AF65-F5344CB8AC3E}">
        <p14:creationId xmlns:p14="http://schemas.microsoft.com/office/powerpoint/2010/main" val="25135825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6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6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6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6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6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6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6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2" grpId="0"/>
      <p:bldP spid="46083" grpId="0"/>
      <p:bldP spid="46085" grpId="0" autoUpdateAnimBg="0"/>
      <p:bldP spid="46086" grpId="0"/>
      <p:bldP spid="46087" grpId="0"/>
      <p:bldP spid="46088" grpId="0" autoUpdateAnimBg="0"/>
      <p:bldP spid="46089" grpId="0"/>
      <p:bldP spid="46090" grpId="0" autoUpdateAnimBg="0"/>
      <p:bldP spid="46091" grpId="0"/>
      <p:bldP spid="46092" grpId="0"/>
      <p:bldP spid="46093" grpId="0" autoUpdateAnimBg="0"/>
      <p:bldP spid="46094" grpId="0"/>
      <p:bldP spid="4609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5F180C40-F573-F1F2-072A-0628F6FC70D5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1B6F24C5-2006-4174-5D68-7EDFD8FDA46C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1B6F24C5-2006-4174-5D68-7EDFD8FDA46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3729AB6D-8BA9-3A52-CD48-A0C5BDE6B8C9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D7516912-9EB6-5C83-C81F-54BAA321D872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半闭框 8">
              <a:extLst>
                <a:ext uri="{FF2B5EF4-FFF2-40B4-BE49-F238E27FC236}">
                  <a16:creationId xmlns:a16="http://schemas.microsoft.com/office/drawing/2014/main" id="{8A5C0EAA-85C9-8B75-4D95-0AC9A6ED5DB5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0" name="半闭框 9">
              <a:extLst>
                <a:ext uri="{FF2B5EF4-FFF2-40B4-BE49-F238E27FC236}">
                  <a16:creationId xmlns:a16="http://schemas.microsoft.com/office/drawing/2014/main" id="{238C4C01-4056-F8EF-F79D-8CDB3DD9E78C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106" name="Object 2"/>
              <p:cNvSpPr txBox="1"/>
              <p:nvPr/>
            </p:nvSpPr>
            <p:spPr bwMode="auto">
              <a:xfrm>
                <a:off x="2915751" y="2606675"/>
                <a:ext cx="6793779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∵ 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  <m:sSup>
                        <m:sSup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zh-CN" altLang="en-US" sz="20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20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5!</m:t>
                          </m:r>
                        </m:den>
                      </m:f>
                      <m:sSup>
                        <m:sSup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zh-CN" altLang="en-US" sz="20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20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7!</m:t>
                          </m:r>
                        </m:den>
                      </m:f>
                      <m:sSup>
                        <m:sSup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zh-CN" altLang="en-US" sz="20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20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7106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15751" y="2606675"/>
                <a:ext cx="6793779" cy="927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07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883472" y="907640"/>
            <a:ext cx="2097167" cy="519112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/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例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3 </a:t>
            </a:r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  </a:t>
            </a:r>
            <a:r>
              <a:rPr lang="zh-CN" altLang="en-US" sz="2800" b="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利用</a:t>
            </a:r>
            <a:endParaRPr lang="zh-CN" altLang="en-US" sz="2800" b="0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108" name="Object 4"/>
              <p:cNvSpPr txBox="1"/>
              <p:nvPr/>
            </p:nvSpPr>
            <p:spPr bwMode="auto">
              <a:xfrm>
                <a:off x="3634575" y="561729"/>
                <a:ext cx="2531007" cy="10572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7108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34575" y="561729"/>
                <a:ext cx="2531007" cy="10572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09" name="Text Box 5"/>
          <p:cNvSpPr txBox="1">
            <a:spLocks noChangeArrowheads="1"/>
          </p:cNvSpPr>
          <p:nvPr/>
        </p:nvSpPr>
        <p:spPr bwMode="auto">
          <a:xfrm>
            <a:off x="5993363" y="838117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110" name="Object 6"/>
              <p:cNvSpPr txBox="1"/>
              <p:nvPr/>
            </p:nvSpPr>
            <p:spPr bwMode="auto">
              <a:xfrm>
                <a:off x="6474845" y="828429"/>
                <a:ext cx="1384300" cy="790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7110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74845" y="828429"/>
                <a:ext cx="1384300" cy="7905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11" name="Text Box 7"/>
          <p:cNvSpPr txBox="1">
            <a:spLocks noChangeArrowheads="1"/>
          </p:cNvSpPr>
          <p:nvPr/>
        </p:nvSpPr>
        <p:spPr bwMode="auto">
          <a:xfrm>
            <a:off x="2881993" y="1398993"/>
            <a:ext cx="111850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误差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.  </a:t>
            </a:r>
          </a:p>
        </p:txBody>
      </p:sp>
      <p:sp>
        <p:nvSpPr>
          <p:cNvPr id="47112" name="Text Box 8"/>
          <p:cNvSpPr txBox="1">
            <a:spLocks noChangeArrowheads="1"/>
          </p:cNvSpPr>
          <p:nvPr/>
        </p:nvSpPr>
        <p:spPr bwMode="auto">
          <a:xfrm>
            <a:off x="1883472" y="1966328"/>
            <a:ext cx="359308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    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先把角度化为弧度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113" name="Object 9"/>
              <p:cNvSpPr txBox="1"/>
              <p:nvPr/>
            </p:nvSpPr>
            <p:spPr bwMode="auto">
              <a:xfrm>
                <a:off x="5141574" y="2060012"/>
                <a:ext cx="836465" cy="48390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9°=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7113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41574" y="2060012"/>
                <a:ext cx="836465" cy="483903"/>
              </a:xfrm>
              <a:prstGeom prst="rect">
                <a:avLst/>
              </a:prstGeom>
              <a:blipFill>
                <a:blip r:embed="rId6"/>
                <a:stretch>
                  <a:fillRect l="-72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14" name="Text Box 10"/>
              <p:cNvSpPr txBox="1">
                <a:spLocks noChangeArrowheads="1"/>
              </p:cNvSpPr>
              <p:nvPr/>
            </p:nvSpPr>
            <p:spPr bwMode="auto">
              <a:xfrm>
                <a:off x="7450323" y="2051879"/>
                <a:ext cx="1371600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2200" dirty="0">
                    <a:solidFill>
                      <a:srgbClr val="04926A"/>
                    </a:solidFill>
                    <a:latin typeface="黑体"/>
                    <a:ea typeface="黑体"/>
                    <a:cs typeface="+mn-ea"/>
                    <a:sym typeface="+mn-lt"/>
                  </a:rPr>
                  <a:t>(</a:t>
                </a:r>
                <a:r>
                  <a:rPr kumimoji="1" lang="zh-CN" altLang="en-US" sz="2200" dirty="0">
                    <a:solidFill>
                      <a:srgbClr val="04926A"/>
                    </a:solidFill>
                    <a:latin typeface="黑体"/>
                    <a:ea typeface="黑体"/>
                    <a:cs typeface="+mn-ea"/>
                    <a:sym typeface="+mn-lt"/>
                  </a:rPr>
                  <a:t>弧度</a:t>
                </a:r>
                <a:r>
                  <a:rPr kumimoji="1" lang="en-US" altLang="zh-CN" sz="2200" dirty="0">
                    <a:solidFill>
                      <a:srgbClr val="04926A"/>
                    </a:solidFill>
                    <a:latin typeface="黑体"/>
                    <a:ea typeface="黑体"/>
                    <a:cs typeface="+mn-ea"/>
                    <a:sym typeface="+mn-lt"/>
                  </a:rPr>
                  <a:t>)</a:t>
                </a:r>
                <a14:m>
                  <m:oMath xmlns:m="http://schemas.openxmlformats.org/officeDocument/2006/math">
                    <m:r>
                      <a:rPr kumimoji="1" lang="zh-CN" altLang="en-US" sz="2200" b="0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黑体"/>
                        <a:cs typeface="+mn-ea"/>
                      </a:rPr>
                      <m:t>,</m:t>
                    </m:r>
                  </m:oMath>
                </a14:m>
                <a:endParaRPr kumimoji="1" lang="en-US" altLang="zh-CN" sz="2200" dirty="0">
                  <a:solidFill>
                    <a:srgbClr val="04926A"/>
                  </a:solidFill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47114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50323" y="2051879"/>
                <a:ext cx="1371600" cy="430887"/>
              </a:xfrm>
              <a:prstGeom prst="rect">
                <a:avLst/>
              </a:prstGeom>
              <a:blipFill>
                <a:blip r:embed="rId7"/>
                <a:stretch>
                  <a:fillRect l="-5778" t="-14286" b="-2428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15" name="Object 11"/>
              <p:cNvSpPr txBox="1"/>
              <p:nvPr/>
            </p:nvSpPr>
            <p:spPr bwMode="auto">
              <a:xfrm>
                <a:off x="3410777" y="3534092"/>
                <a:ext cx="19431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5!</m:t>
                          </m:r>
                        </m:den>
                      </m:f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zh-CN" altLang="en-US" sz="2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20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7115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10777" y="3534092"/>
                <a:ext cx="1943100" cy="9271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16" name="Line 12"/>
          <p:cNvSpPr>
            <a:spLocks noChangeShapeType="1"/>
          </p:cNvSpPr>
          <p:nvPr/>
        </p:nvSpPr>
        <p:spPr bwMode="auto">
          <a:xfrm>
            <a:off x="4428639" y="3382254"/>
            <a:ext cx="1620069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117" name="Object 13"/>
              <p:cNvSpPr txBox="1"/>
              <p:nvPr/>
            </p:nvSpPr>
            <p:spPr bwMode="auto">
              <a:xfrm>
                <a:off x="5178758" y="3574148"/>
                <a:ext cx="1739900" cy="850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120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(0.2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7117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78758" y="3574148"/>
                <a:ext cx="1739900" cy="8509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18" name="Object 14"/>
              <p:cNvSpPr txBox="1"/>
              <p:nvPr/>
            </p:nvSpPr>
            <p:spPr bwMode="auto">
              <a:xfrm>
                <a:off x="6783374" y="3572192"/>
                <a:ext cx="1943100" cy="102373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×1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−5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7118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83374" y="3572192"/>
                <a:ext cx="1943100" cy="102373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19" name="Object 15"/>
              <p:cNvSpPr txBox="1"/>
              <p:nvPr/>
            </p:nvSpPr>
            <p:spPr bwMode="auto">
              <a:xfrm>
                <a:off x="3844439" y="5299075"/>
                <a:ext cx="1981200" cy="1016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7119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44439" y="5299075"/>
                <a:ext cx="1981200" cy="1016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20" name="Object 16"/>
              <p:cNvSpPr txBox="1"/>
              <p:nvPr/>
            </p:nvSpPr>
            <p:spPr bwMode="auto">
              <a:xfrm>
                <a:off x="5978039" y="5299075"/>
                <a:ext cx="698500" cy="1016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5!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7120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78039" y="5299075"/>
                <a:ext cx="698500" cy="10160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21" name="Object 17"/>
              <p:cNvSpPr txBox="1"/>
              <p:nvPr/>
            </p:nvSpPr>
            <p:spPr bwMode="auto">
              <a:xfrm>
                <a:off x="6816239" y="5299075"/>
                <a:ext cx="711200" cy="1016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p>
                          </m:sSup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7!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7121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16239" y="5299075"/>
                <a:ext cx="711200" cy="10160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22" name="Object 18"/>
              <p:cNvSpPr txBox="1"/>
              <p:nvPr/>
            </p:nvSpPr>
            <p:spPr bwMode="auto">
              <a:xfrm>
                <a:off x="7654439" y="5808475"/>
                <a:ext cx="622300" cy="241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4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7122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54439" y="5808475"/>
                <a:ext cx="622300" cy="2413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23" name="Rectangle 19"/>
          <p:cNvSpPr>
            <a:spLocks noChangeArrowheads="1"/>
          </p:cNvSpPr>
          <p:nvPr/>
        </p:nvSpPr>
        <p:spPr bwMode="auto">
          <a:xfrm>
            <a:off x="3234839" y="5133975"/>
            <a:ext cx="6858000" cy="1143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124" name="Object 20"/>
              <p:cNvSpPr txBox="1"/>
              <p:nvPr/>
            </p:nvSpPr>
            <p:spPr bwMode="auto">
              <a:xfrm>
                <a:off x="6212825" y="4617355"/>
                <a:ext cx="3948112" cy="55573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≈0.157080−0.000646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7124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12825" y="4617355"/>
                <a:ext cx="3948112" cy="55573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25" name="Object 21"/>
              <p:cNvSpPr txBox="1"/>
              <p:nvPr/>
            </p:nvSpPr>
            <p:spPr bwMode="auto">
              <a:xfrm>
                <a:off x="2915751" y="4417929"/>
                <a:ext cx="374650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∴ 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zh-CN" altLang="en-US" sz="2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20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7125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15751" y="4417929"/>
                <a:ext cx="3746500" cy="9144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29" name="Text Box 25"/>
              <p:cNvSpPr txBox="1">
                <a:spLocks noChangeArrowheads="1"/>
              </p:cNvSpPr>
              <p:nvPr/>
            </p:nvSpPr>
            <p:spPr bwMode="auto">
              <a:xfrm>
                <a:off x="7469443" y="849416"/>
                <a:ext cx="3454400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的近似值</a:t>
                </a:r>
                <a14:m>
                  <m:oMath xmlns:m="http://schemas.openxmlformats.org/officeDocument/2006/math">
                    <m:r>
                      <a:rPr kumimoji="1" lang="en-US" altLang="zh-CN" sz="2800" smtClean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并估计</a:t>
                </a:r>
              </a:p>
            </p:txBody>
          </p:sp>
        </mc:Choice>
        <mc:Fallback xmlns="">
          <p:sp>
            <p:nvSpPr>
              <p:cNvPr id="47129" name="Text 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69443" y="849416"/>
                <a:ext cx="3454400" cy="519112"/>
              </a:xfrm>
              <a:prstGeom prst="rect">
                <a:avLst/>
              </a:prstGeom>
              <a:blipFill>
                <a:blip r:embed="rId18"/>
                <a:stretch>
                  <a:fillRect l="-3527" t="-14118" b="-3058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31" name="Object 27"/>
              <p:cNvSpPr txBox="1"/>
              <p:nvPr/>
            </p:nvSpPr>
            <p:spPr bwMode="auto">
              <a:xfrm>
                <a:off x="5732124" y="1929598"/>
                <a:ext cx="1278276" cy="8370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180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×9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7131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32124" y="1929598"/>
                <a:ext cx="1278276" cy="8370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32" name="Object 28"/>
              <p:cNvSpPr txBox="1"/>
              <p:nvPr/>
            </p:nvSpPr>
            <p:spPr bwMode="auto">
              <a:xfrm>
                <a:off x="6758236" y="1937943"/>
                <a:ext cx="912350" cy="790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7132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58236" y="1937943"/>
                <a:ext cx="912350" cy="79057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21">
                <a:extLst>
                  <a:ext uri="{FF2B5EF4-FFF2-40B4-BE49-F238E27FC236}">
                    <a16:creationId xmlns:a16="http://schemas.microsoft.com/office/drawing/2014/main" id="{8C0ABC73-EF82-A3DA-9EC0-AA8E76749E51}"/>
                  </a:ext>
                </a:extLst>
              </p:cNvPr>
              <p:cNvSpPr txBox="1"/>
              <p:nvPr/>
            </p:nvSpPr>
            <p:spPr bwMode="auto">
              <a:xfrm>
                <a:off x="4067442" y="5311671"/>
                <a:ext cx="3770394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fName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en-US" sz="22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3!</m:t>
                              </m:r>
                            </m:den>
                          </m:f>
                        </m:e>
                      </m:func>
                      <m:r>
                        <a:rPr lang="en-US" altLang="zh-CN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altLang="zh-CN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" name="Object 21">
                <a:extLst>
                  <a:ext uri="{FF2B5EF4-FFF2-40B4-BE49-F238E27FC236}">
                    <a16:creationId xmlns:a16="http://schemas.microsoft.com/office/drawing/2014/main" id="{8C0ABC73-EF82-A3DA-9EC0-AA8E76749E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67442" y="5311671"/>
                <a:ext cx="3770394" cy="91440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BD6061EB-EFB9-3A7F-68E7-A7FF714044D6}"/>
              </a:ext>
            </a:extLst>
          </p:cNvPr>
          <p:cNvSpPr/>
          <p:nvPr/>
        </p:nvSpPr>
        <p:spPr>
          <a:xfrm>
            <a:off x="3795842" y="5344925"/>
            <a:ext cx="4313593" cy="8311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127" name="Text Box 23"/>
          <p:cNvSpPr txBox="1">
            <a:spLocks noChangeArrowheads="1"/>
          </p:cNvSpPr>
          <p:nvPr/>
        </p:nvSpPr>
        <p:spPr bwMode="auto">
          <a:xfrm>
            <a:off x="3047069" y="5798308"/>
            <a:ext cx="2260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误差不超过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128" name="Object 24"/>
              <p:cNvSpPr txBox="1"/>
              <p:nvPr/>
            </p:nvSpPr>
            <p:spPr bwMode="auto">
              <a:xfrm>
                <a:off x="4455383" y="5813402"/>
                <a:ext cx="1059375" cy="47305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−5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7128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55383" y="5813402"/>
                <a:ext cx="1059375" cy="473058"/>
              </a:xfrm>
              <a:prstGeom prst="rect">
                <a:avLst/>
              </a:prstGeom>
              <a:blipFill>
                <a:blip r:embed="rId22"/>
                <a:stretch>
                  <a:fillRect l="-57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33" name="Object 29"/>
              <p:cNvSpPr txBox="1"/>
              <p:nvPr/>
            </p:nvSpPr>
            <p:spPr bwMode="auto">
              <a:xfrm>
                <a:off x="4234954" y="5301996"/>
                <a:ext cx="2298456" cy="47330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≈0.15643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7133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34954" y="5301996"/>
                <a:ext cx="2298456" cy="473306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349627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7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7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7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7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7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7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7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7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7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7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7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7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7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7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7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6" grpId="0"/>
      <p:bldP spid="47107" grpId="0"/>
      <p:bldP spid="47108" grpId="0"/>
      <p:bldP spid="47109" grpId="0"/>
      <p:bldP spid="47110" grpId="0"/>
      <p:bldP spid="47111" grpId="0"/>
      <p:bldP spid="47112" grpId="0" autoUpdateAnimBg="0"/>
      <p:bldP spid="47113" grpId="0"/>
      <p:bldP spid="47114" grpId="0" autoUpdateAnimBg="0"/>
      <p:bldP spid="47115" grpId="0"/>
      <p:bldP spid="47117" grpId="0"/>
      <p:bldP spid="47118" grpId="0"/>
      <p:bldP spid="47124" grpId="0"/>
      <p:bldP spid="47125" grpId="0"/>
      <p:bldP spid="47129" grpId="0"/>
      <p:bldP spid="47131" grpId="0"/>
      <p:bldP spid="47132" grpId="0"/>
      <p:bldP spid="2" grpId="0"/>
      <p:bldP spid="3" grpId="0" animBg="1"/>
      <p:bldP spid="47127" grpId="0" build="p" autoUpdateAnimBg="0"/>
      <p:bldP spid="47128" grpId="0"/>
      <p:bldP spid="4713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E5420AF5-7F9A-46D2-4693-AE0CE01324C8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10" name="PA-102232">
              <a:extLst>
                <a:ext uri="{FF2B5EF4-FFF2-40B4-BE49-F238E27FC236}">
                  <a16:creationId xmlns:a16="http://schemas.microsoft.com/office/drawing/2014/main" id="{F1FBC485-F760-DD79-0A2F-B5F2311AB5C4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059707C4-3755-FFAD-743F-3E99327AB173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2" name="Rectangle 1">
                <a:extLst>
                  <a:ext uri="{FF2B5EF4-FFF2-40B4-BE49-F238E27FC236}">
                    <a16:creationId xmlns:a16="http://schemas.microsoft.com/office/drawing/2014/main" id="{98DB3E60-344C-0DBC-16A2-77D97650C430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Rectangle 1">
                <a:extLst>
                  <a:ext uri="{FF2B5EF4-FFF2-40B4-BE49-F238E27FC236}">
                    <a16:creationId xmlns:a16="http://schemas.microsoft.com/office/drawing/2014/main" id="{E6411720-B1A0-A348-042A-F9CE09E38B3D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Rectangle 1">
                <a:extLst>
                  <a:ext uri="{FF2B5EF4-FFF2-40B4-BE49-F238E27FC236}">
                    <a16:creationId xmlns:a16="http://schemas.microsoft.com/office/drawing/2014/main" id="{8031B5C2-6353-FB85-1EB9-9AB228E973C0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0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53467" y="867582"/>
            <a:ext cx="2482826" cy="484968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 </a:t>
            </a:r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计算定积分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00" name="Object 4"/>
              <p:cNvSpPr txBox="1"/>
              <p:nvPr/>
            </p:nvSpPr>
            <p:spPr bwMode="auto">
              <a:xfrm>
                <a:off x="2365399" y="1101734"/>
                <a:ext cx="7513638" cy="1765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例如函数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原函数不能用初等</m:t>
                      </m:r>
                    </m:oMath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函数表示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难以计算其定积分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100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65399" y="1101734"/>
                <a:ext cx="7513638" cy="1765300"/>
              </a:xfrm>
              <a:prstGeom prst="rect">
                <a:avLst/>
              </a:prstGeom>
              <a:blipFill>
                <a:blip r:embed="rId3"/>
                <a:stretch>
                  <a:fillRect b="-103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2388418" y="3134052"/>
            <a:ext cx="10596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解法</a:t>
            </a:r>
          </a:p>
        </p:txBody>
      </p:sp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7493818" y="4767263"/>
            <a:ext cx="1981200" cy="576263"/>
          </a:xfrm>
          <a:prstGeom prst="rect">
            <a:avLst/>
          </a:prstGeom>
          <a:solidFill>
            <a:srgbClr val="CDEAE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zh-CN" altLang="en-US" sz="2800"/>
              <a:t>逐项积分</a:t>
            </a:r>
            <a:endParaRPr lang="zh-CN" altLang="en-US" sz="280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4217218" y="4767262"/>
            <a:ext cx="2362200" cy="609600"/>
          </a:xfrm>
          <a:prstGeom prst="rect">
            <a:avLst/>
          </a:prstGeom>
          <a:solidFill>
            <a:srgbClr val="04926A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zh-CN" altLang="en-US" sz="2800">
                <a:solidFill>
                  <a:srgbClr val="FFFF99"/>
                </a:solidFill>
              </a:rPr>
              <a:t>展开成幂级数</a:t>
            </a:r>
          </a:p>
        </p:txBody>
      </p:sp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6960418" y="3395662"/>
            <a:ext cx="2667000" cy="609600"/>
          </a:xfrm>
          <a:prstGeom prst="rect">
            <a:avLst/>
          </a:prstGeom>
          <a:solidFill>
            <a:srgbClr val="A9D18E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</a:rPr>
              <a:t>定积分的近似值</a:t>
            </a:r>
          </a:p>
        </p:txBody>
      </p:sp>
      <p:sp>
        <p:nvSpPr>
          <p:cNvPr id="4106" name="AutoShape 10"/>
          <p:cNvSpPr>
            <a:spLocks noChangeArrowheads="1"/>
          </p:cNvSpPr>
          <p:nvPr/>
        </p:nvSpPr>
        <p:spPr bwMode="auto">
          <a:xfrm>
            <a:off x="6579418" y="4919662"/>
            <a:ext cx="914400" cy="228600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4114" name="Rectangle 18"/>
          <p:cNvSpPr>
            <a:spLocks noChangeArrowheads="1"/>
          </p:cNvSpPr>
          <p:nvPr/>
        </p:nvSpPr>
        <p:spPr bwMode="auto">
          <a:xfrm>
            <a:off x="4407718" y="3429000"/>
            <a:ext cx="1981200" cy="576262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zh-CN" altLang="en-US" sz="2800" dirty="0"/>
              <a:t>被积函数</a:t>
            </a:r>
          </a:p>
        </p:txBody>
      </p:sp>
      <p:sp>
        <p:nvSpPr>
          <p:cNvPr id="4115" name="AutoShape 19"/>
          <p:cNvSpPr>
            <a:spLocks noChangeArrowheads="1"/>
          </p:cNvSpPr>
          <p:nvPr/>
        </p:nvSpPr>
        <p:spPr bwMode="auto">
          <a:xfrm>
            <a:off x="5284018" y="4005262"/>
            <a:ext cx="381000" cy="762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4926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zh-CN" altLang="en-US" sz="2800"/>
          </a:p>
        </p:txBody>
      </p:sp>
      <p:sp>
        <p:nvSpPr>
          <p:cNvPr id="4116" name="AutoShape 20"/>
          <p:cNvSpPr>
            <a:spLocks noChangeArrowheads="1"/>
          </p:cNvSpPr>
          <p:nvPr/>
        </p:nvSpPr>
        <p:spPr bwMode="auto">
          <a:xfrm>
            <a:off x="8179618" y="4005262"/>
            <a:ext cx="381000" cy="7620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 sz="2800"/>
          </a:p>
        </p:txBody>
      </p:sp>
    </p:spTree>
    <p:extLst>
      <p:ext uri="{BB962C8B-B14F-4D97-AF65-F5344CB8AC3E}">
        <p14:creationId xmlns:p14="http://schemas.microsoft.com/office/powerpoint/2010/main" val="175804213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4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  <p:bldP spid="4100" grpId="0"/>
      <p:bldP spid="4101" grpId="0" autoUpdateAnimBg="0"/>
      <p:bldP spid="4102" grpId="0" animBg="1" autoUpdateAnimBg="0"/>
      <p:bldP spid="4103" grpId="0" animBg="1" autoUpdateAnimBg="0"/>
      <p:bldP spid="4104" grpId="0" animBg="1" autoUpdateAnimBg="0"/>
      <p:bldP spid="4114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BC3C2979-A667-61C9-8B27-DC700BD8EC11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A48F70D4-64D9-78F9-36F3-C1B3F4108329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A48F70D4-64D9-78F9-36F3-C1B3F41083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1BDB41C6-7B5E-5A55-8229-172D63F2E138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半闭框 8">
              <a:extLst>
                <a:ext uri="{FF2B5EF4-FFF2-40B4-BE49-F238E27FC236}">
                  <a16:creationId xmlns:a16="http://schemas.microsoft.com/office/drawing/2014/main" id="{5B97A83A-A37A-8DA4-9F2A-87A22D384BB0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半闭框 9">
              <a:extLst>
                <a:ext uri="{FF2B5EF4-FFF2-40B4-BE49-F238E27FC236}">
                  <a16:creationId xmlns:a16="http://schemas.microsoft.com/office/drawing/2014/main" id="{3A3DAB86-0397-E0BC-E67D-44E3A26D1387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1" name="半闭框 10">
              <a:extLst>
                <a:ext uri="{FF2B5EF4-FFF2-40B4-BE49-F238E27FC236}">
                  <a16:creationId xmlns:a16="http://schemas.microsoft.com/office/drawing/2014/main" id="{F715119F-4A9E-85B0-488B-285FD9DF496E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130" name="Text Box 2"/>
              <p:cNvSpPr txBox="1">
                <a:spLocks noChangeArrowheads="1"/>
              </p:cNvSpPr>
              <p:nvPr/>
            </p:nvSpPr>
            <p:spPr bwMode="auto">
              <a:xfrm>
                <a:off x="2453695" y="1622745"/>
                <a:ext cx="1295400" cy="12059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endChr m:val=""/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kumimoji="1" lang="zh-CN" altLang="en-US" sz="2800" dirty="0">
                              <a:solidFill>
                                <a:prstClr val="black"/>
                              </a:solidFill>
                              <a:cs typeface="+mn-ea"/>
                              <a:sym typeface="+mn-lt"/>
                            </a:rPr>
                            <m:t>取</m:t>
                          </m:r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altLang="en-US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8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8130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53695" y="1622745"/>
                <a:ext cx="1295400" cy="12059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131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591248" y="1026028"/>
            <a:ext cx="3048000" cy="6858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例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4 </a:t>
            </a:r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zh-CN" altLang="en-US" sz="2800" b="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计算积分</a:t>
            </a:r>
            <a:endParaRPr lang="zh-CN" altLang="en-US" sz="2800" b="0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132" name="Object 4"/>
              <p:cNvSpPr txBox="1"/>
              <p:nvPr/>
            </p:nvSpPr>
            <p:spPr bwMode="auto">
              <a:xfrm>
                <a:off x="3941542" y="453792"/>
                <a:ext cx="2609850" cy="12668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</m:rad>
                        </m:den>
                      </m:f>
                      <m:nary>
                        <m:nary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p>
                          </m:sSup>
                        </m:e>
                      </m:nary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8132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41542" y="453792"/>
                <a:ext cx="2609850" cy="12668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133" name="Text Box 5"/>
          <p:cNvSpPr txBox="1">
            <a:spLocks noChangeArrowheads="1"/>
          </p:cNvSpPr>
          <p:nvPr/>
        </p:nvSpPr>
        <p:spPr bwMode="auto">
          <a:xfrm>
            <a:off x="6161226" y="858844"/>
            <a:ext cx="3352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的近似值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,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精确到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134" name="Object 6"/>
              <p:cNvSpPr txBox="1"/>
              <p:nvPr/>
            </p:nvSpPr>
            <p:spPr bwMode="auto">
              <a:xfrm>
                <a:off x="3118898" y="1651329"/>
                <a:ext cx="3495675" cy="101376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e>
                              </m:rad>
                            </m:den>
                          </m:f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≈0.56419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8134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18898" y="1651329"/>
                <a:ext cx="3495675" cy="10137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135" name="Text Box 7"/>
          <p:cNvSpPr txBox="1">
            <a:spLocks noChangeArrowheads="1"/>
          </p:cNvSpPr>
          <p:nvPr/>
        </p:nvSpPr>
        <p:spPr bwMode="auto">
          <a:xfrm>
            <a:off x="1591248" y="2805896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136" name="Object 8"/>
              <p:cNvSpPr txBox="1"/>
              <p:nvPr/>
            </p:nvSpPr>
            <p:spPr bwMode="auto">
              <a:xfrm>
                <a:off x="2449436" y="2786144"/>
                <a:ext cx="2268539" cy="533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8136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49436" y="2786144"/>
                <a:ext cx="2268539" cy="5334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137" name="Object 9"/>
              <p:cNvSpPr txBox="1"/>
              <p:nvPr/>
            </p:nvSpPr>
            <p:spPr bwMode="auto">
              <a:xfrm>
                <a:off x="3064313" y="3374915"/>
                <a:ext cx="2159000" cy="1041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(−1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8137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64313" y="3374915"/>
                <a:ext cx="2159000" cy="10414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138" name="Object 10"/>
              <p:cNvSpPr txBox="1"/>
              <p:nvPr/>
            </p:nvSpPr>
            <p:spPr bwMode="auto">
              <a:xfrm>
                <a:off x="5086545" y="3654410"/>
                <a:ext cx="2880605" cy="7461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(−∞&lt;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&lt;+∞).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8138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86545" y="3654410"/>
                <a:ext cx="2880605" cy="746125"/>
              </a:xfrm>
              <a:prstGeom prst="rect">
                <a:avLst/>
              </a:prstGeom>
              <a:blipFill>
                <a:blip r:embed="rId8"/>
                <a:stretch>
                  <a:fillRect l="-126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139" name="Object 11"/>
              <p:cNvSpPr txBox="1"/>
              <p:nvPr/>
            </p:nvSpPr>
            <p:spPr bwMode="auto">
              <a:xfrm>
                <a:off x="2449436" y="4303752"/>
                <a:ext cx="2587674" cy="1041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</m:rad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8139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49436" y="4303752"/>
                <a:ext cx="2587674" cy="10414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140" name="Object 12"/>
              <p:cNvSpPr txBox="1"/>
              <p:nvPr/>
            </p:nvSpPr>
            <p:spPr bwMode="auto">
              <a:xfrm>
                <a:off x="4282968" y="4299557"/>
                <a:ext cx="4647039" cy="120326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</m:rad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  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  </m:t>
                              </m:r>
                              <m:nary>
                                <m:naryPr>
                                  <m:chr m:val="∑"/>
                                  <m:ctrlPr>
                                    <a:rPr lang="zh-CN" altLang="en-US" sz="22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en-US" sz="2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sz="2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zh-CN" altLang="en-US" sz="2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r>
                                    <a:rPr lang="zh-CN" altLang="en-US" sz="2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</m:e>
                              </m:nary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en-US" altLang="zh-CN" sz="2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200" i="1" dirty="0"/>
              </a:p>
            </p:txBody>
          </p:sp>
        </mc:Choice>
        <mc:Fallback xmlns="">
          <p:sp>
            <p:nvSpPr>
              <p:cNvPr id="48140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82968" y="4299557"/>
                <a:ext cx="4647039" cy="120326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141" name="Object 13"/>
              <p:cNvSpPr txBox="1"/>
              <p:nvPr/>
            </p:nvSpPr>
            <p:spPr bwMode="auto">
              <a:xfrm>
                <a:off x="5551051" y="4299557"/>
                <a:ext cx="1853336" cy="13398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(−1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8141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51051" y="4299557"/>
                <a:ext cx="1853336" cy="133984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142" name="Object 14"/>
              <p:cNvSpPr txBox="1"/>
              <p:nvPr/>
            </p:nvSpPr>
            <p:spPr bwMode="auto">
              <a:xfrm>
                <a:off x="3064313" y="5322817"/>
                <a:ext cx="2159000" cy="1041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(−1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8142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64313" y="5322817"/>
                <a:ext cx="2159000" cy="10414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143" name="Object 15"/>
              <p:cNvSpPr txBox="1"/>
              <p:nvPr/>
            </p:nvSpPr>
            <p:spPr bwMode="auto">
              <a:xfrm>
                <a:off x="5011414" y="5264042"/>
                <a:ext cx="1766215" cy="11126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8143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11414" y="5264042"/>
                <a:ext cx="1766215" cy="111269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145" name="Object 17"/>
              <p:cNvSpPr txBox="1"/>
              <p:nvPr/>
            </p:nvSpPr>
            <p:spPr bwMode="auto">
              <a:xfrm>
                <a:off x="8827575" y="874575"/>
                <a:ext cx="1212850" cy="9080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8145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27575" y="874575"/>
                <a:ext cx="1212850" cy="90805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146" name="Object 18"/>
              <p:cNvSpPr txBox="1"/>
              <p:nvPr/>
            </p:nvSpPr>
            <p:spPr bwMode="auto">
              <a:xfrm>
                <a:off x="3537882" y="2627394"/>
                <a:ext cx="1618406" cy="1295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(−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8146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37882" y="2627394"/>
                <a:ext cx="1618406" cy="12954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147" name="Object 19"/>
              <p:cNvSpPr txBox="1"/>
              <p:nvPr/>
            </p:nvSpPr>
            <p:spPr bwMode="auto">
              <a:xfrm>
                <a:off x="4636443" y="2627394"/>
                <a:ext cx="1879439" cy="1295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(−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8147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36443" y="2627394"/>
                <a:ext cx="1879439" cy="12954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148" name="Object 20"/>
              <p:cNvSpPr txBox="1"/>
              <p:nvPr/>
            </p:nvSpPr>
            <p:spPr bwMode="auto">
              <a:xfrm>
                <a:off x="5845718" y="2626058"/>
                <a:ext cx="2749550" cy="1295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(−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8148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45718" y="2626058"/>
                <a:ext cx="2749550" cy="12954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149" name="Object 21"/>
              <p:cNvSpPr txBox="1"/>
              <p:nvPr/>
            </p:nvSpPr>
            <p:spPr bwMode="auto">
              <a:xfrm>
                <a:off x="6373014" y="5319604"/>
                <a:ext cx="2971800" cy="1041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(−1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  <m:r>
                                <m:rPr>
                                  <m:nor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8149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73014" y="5319604"/>
                <a:ext cx="2971800" cy="10414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150" name="Object 22"/>
              <p:cNvSpPr txBox="1"/>
              <p:nvPr/>
            </p:nvSpPr>
            <p:spPr bwMode="auto">
              <a:xfrm>
                <a:off x="8834769" y="5434291"/>
                <a:ext cx="1117599" cy="876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den>
                      </m:f>
                      <m:r>
                        <a:rPr lang="en-US" altLang="zh-C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8150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34769" y="5434291"/>
                <a:ext cx="1117599" cy="87630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151" name="Object 23"/>
              <p:cNvSpPr txBox="1"/>
              <p:nvPr/>
            </p:nvSpPr>
            <p:spPr bwMode="auto">
              <a:xfrm>
                <a:off x="7777593" y="5811457"/>
                <a:ext cx="1117600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8151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77593" y="5811457"/>
                <a:ext cx="1117600" cy="406400"/>
              </a:xfrm>
              <a:prstGeom prst="rect">
                <a:avLst/>
              </a:prstGeom>
              <a:blipFill>
                <a:blip r:embed="rId20"/>
                <a:stretch>
                  <a:fillRect l="-1639" b="-597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915122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8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8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8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8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8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8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8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8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8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8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8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8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5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8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0" grpId="0"/>
      <p:bldP spid="48131" grpId="0"/>
      <p:bldP spid="48132" grpId="0"/>
      <p:bldP spid="48133" grpId="0"/>
      <p:bldP spid="48134" grpId="0"/>
      <p:bldP spid="48135" grpId="0" autoUpdateAnimBg="0"/>
      <p:bldP spid="48136" grpId="0"/>
      <p:bldP spid="48137" grpId="0"/>
      <p:bldP spid="48138" grpId="0"/>
      <p:bldP spid="48139" grpId="0"/>
      <p:bldP spid="48140" grpId="0"/>
      <p:bldP spid="48141" grpId="0"/>
      <p:bldP spid="48142" grpId="0"/>
      <p:bldP spid="48143" grpId="0"/>
      <p:bldP spid="48145" grpId="0"/>
      <p:bldP spid="48146" grpId="0"/>
      <p:bldP spid="48147" grpId="0"/>
      <p:bldP spid="48148" grpId="0"/>
      <p:bldP spid="48149" grpId="0"/>
      <p:bldP spid="48150" grpId="0"/>
      <p:bldP spid="4815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BD699879-9210-0537-8D51-93C9FBD5DE69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0D0B8F10-DAF4-1703-AF06-D08E319FB547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0D0B8F10-DAF4-1703-AF06-D08E319FB54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B5D735CB-C156-48FC-3371-F8BFCCF910F6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F926A7FD-17B5-0440-7772-A37B4B95F654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42D4F689-9470-1592-7EEC-7B43EDBEA1FD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65C5B204-1ACA-F2E2-45E9-3ADA34F70793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9174" name="Object 22"/>
              <p:cNvSpPr txBox="1"/>
              <p:nvPr/>
            </p:nvSpPr>
            <p:spPr bwMode="auto">
              <a:xfrm>
                <a:off x="3434163" y="4867150"/>
                <a:ext cx="6250894" cy="10160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⋅3</m:t>
                              </m:r>
                            </m:den>
                          </m:f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⋅5⋅2!</m:t>
                              </m:r>
                            </m:den>
                          </m:f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⋅7⋅3!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9174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34163" y="4867150"/>
                <a:ext cx="6250894" cy="10160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154" name="Object 2"/>
              <p:cNvSpPr txBox="1"/>
              <p:nvPr/>
            </p:nvSpPr>
            <p:spPr bwMode="auto">
              <a:xfrm>
                <a:off x="1708150" y="600660"/>
                <a:ext cx="2540000" cy="105655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</m:rad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​​</m:t>
                          </m:r>
                        </m:e>
                      </m:nary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  <m:r>
                        <m:rPr>
                          <m:sty m:val="p"/>
                        </m:rP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9154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08150" y="600660"/>
                <a:ext cx="2540000" cy="1056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158" name="Object 6"/>
              <p:cNvSpPr txBox="1"/>
              <p:nvPr/>
            </p:nvSpPr>
            <p:spPr bwMode="auto">
              <a:xfrm>
                <a:off x="1708150" y="1704513"/>
                <a:ext cx="9328150" cy="1016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⋅3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⋅5⋅2!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⋅7⋅3!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+⋯+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(−1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+1)⋅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+⋯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9158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08150" y="1704513"/>
                <a:ext cx="9328150" cy="1016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160" name="Object 8"/>
              <p:cNvSpPr txBox="1"/>
              <p:nvPr/>
            </p:nvSpPr>
            <p:spPr bwMode="auto">
              <a:xfrm>
                <a:off x="3519888" y="2667008"/>
                <a:ext cx="365760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</m:rad>
                        </m:den>
                      </m:f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+1)⋅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9160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19888" y="2667008"/>
                <a:ext cx="3657600" cy="9144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161" name="Object 9"/>
              <p:cNvSpPr txBox="1"/>
              <p:nvPr/>
            </p:nvSpPr>
            <p:spPr bwMode="auto">
              <a:xfrm>
                <a:off x="6915667" y="2839391"/>
                <a:ext cx="1263650" cy="5775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&lt;1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9161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15667" y="2839391"/>
                <a:ext cx="1263650" cy="57759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162" name="Object 10"/>
              <p:cNvSpPr txBox="1"/>
              <p:nvPr/>
            </p:nvSpPr>
            <p:spPr bwMode="auto">
              <a:xfrm>
                <a:off x="3043148" y="3626622"/>
                <a:ext cx="3695700" cy="508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</m:ra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!(2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+1)⋅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&gt;1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9162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3148" y="3626622"/>
                <a:ext cx="3695700" cy="508000"/>
              </a:xfrm>
              <a:prstGeom prst="rect">
                <a:avLst/>
              </a:prstGeom>
              <a:blipFill>
                <a:blip r:embed="rId8"/>
                <a:stretch>
                  <a:fillRect b="-24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163" name="Text Box 11"/>
              <p:cNvSpPr txBox="1">
                <a:spLocks noChangeArrowheads="1"/>
              </p:cNvSpPr>
              <p:nvPr/>
            </p:nvSpPr>
            <p:spPr bwMode="auto">
              <a:xfrm>
                <a:off x="1708150" y="3621693"/>
                <a:ext cx="1960001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则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应满足</a:t>
                </a:r>
              </a:p>
            </p:txBody>
          </p:sp>
        </mc:Choice>
        <mc:Fallback xmlns="">
          <p:sp>
            <p:nvSpPr>
              <p:cNvPr id="49163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08150" y="3621693"/>
                <a:ext cx="1960001" cy="430887"/>
              </a:xfrm>
              <a:prstGeom prst="rect">
                <a:avLst/>
              </a:prstGeom>
              <a:blipFill>
                <a:blip r:embed="rId9"/>
                <a:stretch>
                  <a:fillRect l="-4037" t="-14085" b="-239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164" name="AutoShape 12"/>
          <p:cNvSpPr>
            <a:spLocks noChangeArrowheads="1"/>
          </p:cNvSpPr>
          <p:nvPr/>
        </p:nvSpPr>
        <p:spPr bwMode="auto">
          <a:xfrm>
            <a:off x="6530395" y="3779196"/>
            <a:ext cx="762000" cy="152400"/>
          </a:xfrm>
          <a:prstGeom prst="rightArrow">
            <a:avLst>
              <a:gd name="adj1" fmla="val 50000"/>
              <a:gd name="adj2" fmla="val 125000"/>
            </a:avLst>
          </a:prstGeom>
          <a:solidFill>
            <a:srgbClr val="04926A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165" name="Object 13"/>
              <p:cNvSpPr txBox="1"/>
              <p:nvPr/>
            </p:nvSpPr>
            <p:spPr bwMode="auto">
              <a:xfrm>
                <a:off x="7292396" y="3621694"/>
                <a:ext cx="959430" cy="508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9165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92396" y="3621694"/>
                <a:ext cx="959430" cy="508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166" name="Object 14"/>
              <p:cNvSpPr txBox="1"/>
              <p:nvPr/>
            </p:nvSpPr>
            <p:spPr bwMode="auto">
              <a:xfrm>
                <a:off x="1708150" y="4755923"/>
                <a:ext cx="1960001" cy="119431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</m:rad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en-US" altLang="zh-CN" sz="2200" i="1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9166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08150" y="4755923"/>
                <a:ext cx="1960001" cy="119431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167" name="Text Box 15"/>
          <p:cNvSpPr txBox="1">
            <a:spLocks noChangeArrowheads="1"/>
          </p:cNvSpPr>
          <p:nvPr/>
        </p:nvSpPr>
        <p:spPr bwMode="auto">
          <a:xfrm>
            <a:off x="2823186" y="4224864"/>
            <a:ext cx="3657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则所求积分近似值为</a:t>
            </a:r>
          </a:p>
        </p:txBody>
      </p:sp>
      <p:sp>
        <p:nvSpPr>
          <p:cNvPr id="49168" name="Text Box 16"/>
          <p:cNvSpPr txBox="1">
            <a:spLocks noChangeArrowheads="1"/>
          </p:cNvSpPr>
          <p:nvPr/>
        </p:nvSpPr>
        <p:spPr bwMode="auto">
          <a:xfrm>
            <a:off x="1708150" y="2825142"/>
            <a:ext cx="26289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欲使截断误差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175" name="Object 23"/>
              <p:cNvSpPr txBox="1"/>
              <p:nvPr/>
            </p:nvSpPr>
            <p:spPr bwMode="auto">
              <a:xfrm>
                <a:off x="3424406" y="5841171"/>
                <a:ext cx="13970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≈0.5205.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9175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24406" y="5841171"/>
                <a:ext cx="1397000" cy="393700"/>
              </a:xfrm>
              <a:prstGeom prst="rect">
                <a:avLst/>
              </a:prstGeom>
              <a:blipFill>
                <a:blip r:embed="rId12"/>
                <a:stretch>
                  <a:fillRect b="-615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177" name="Object 25"/>
              <p:cNvSpPr txBox="1"/>
              <p:nvPr/>
            </p:nvSpPr>
            <p:spPr bwMode="auto">
              <a:xfrm>
                <a:off x="1708150" y="4217866"/>
                <a:ext cx="1268268" cy="4681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取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=4,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9177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08150" y="4217866"/>
                <a:ext cx="1268268" cy="468138"/>
              </a:xfrm>
              <a:prstGeom prst="rect">
                <a:avLst/>
              </a:prstGeom>
              <a:blipFill>
                <a:blip r:embed="rId13"/>
                <a:stretch>
                  <a:fillRect l="-2885" b="-129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2646547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9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9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9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9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9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9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9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74" grpId="0"/>
      <p:bldP spid="49154" grpId="0"/>
      <p:bldP spid="49158" grpId="0"/>
      <p:bldP spid="49160" grpId="0"/>
      <p:bldP spid="49161" grpId="0"/>
      <p:bldP spid="49162" grpId="0"/>
      <p:bldP spid="49163" grpId="0" autoUpdateAnimBg="0"/>
      <p:bldP spid="49165" grpId="0"/>
      <p:bldP spid="49166" grpId="0"/>
      <p:bldP spid="49167" grpId="0" autoUpdateAnimBg="0"/>
      <p:bldP spid="49168" grpId="0" autoUpdateAnimBg="0"/>
      <p:bldP spid="49175" grpId="0"/>
      <p:bldP spid="4917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645D5175-8FC3-9904-9A59-74A6BC6B065C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9748169F-DEBF-13AE-9E3E-758CE897F1E9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9748169F-DEBF-13AE-9E3E-758CE897F1E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78AE5E97-3B08-F095-EB20-295D132A2BB1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59EE5D2F-591D-968E-3E60-840F9CA5CE43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C1C975D4-F5D2-19DE-BD73-1AB3A50B474F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91287C7C-9681-CF4F-3B5F-F9721B59923E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0178" name="Rectangle 1026"/>
          <p:cNvSpPr>
            <a:spLocks noGrp="1" noChangeArrowheads="1"/>
          </p:cNvSpPr>
          <p:nvPr>
            <p:ph type="title" idx="4294967295"/>
          </p:nvPr>
        </p:nvSpPr>
        <p:spPr>
          <a:xfrm>
            <a:off x="1503092" y="908838"/>
            <a:ext cx="2819400" cy="6096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例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5 </a:t>
            </a:r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zh-CN" altLang="en-US" sz="2800" b="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计算积分</a:t>
            </a:r>
            <a:endParaRPr lang="zh-CN" altLang="en-US" sz="2800" b="0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179" name="Object 1027"/>
              <p:cNvSpPr txBox="1"/>
              <p:nvPr/>
            </p:nvSpPr>
            <p:spPr bwMode="auto">
              <a:xfrm>
                <a:off x="3849322" y="612784"/>
                <a:ext cx="1924819" cy="137514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8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nary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0179" name="Object 10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49322" y="612784"/>
                <a:ext cx="1924819" cy="13751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180" name="Text Box 1028"/>
          <p:cNvSpPr txBox="1">
            <a:spLocks noChangeArrowheads="1"/>
          </p:cNvSpPr>
          <p:nvPr/>
        </p:nvSpPr>
        <p:spPr bwMode="auto">
          <a:xfrm>
            <a:off x="5612534" y="862481"/>
            <a:ext cx="3397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的近似值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,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精确到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181" name="Object 1029"/>
              <p:cNvSpPr txBox="1"/>
              <p:nvPr/>
            </p:nvSpPr>
            <p:spPr bwMode="auto">
              <a:xfrm>
                <a:off x="8504176" y="862481"/>
                <a:ext cx="1048592" cy="97662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0181" name="Object 10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04176" y="862481"/>
                <a:ext cx="1048592" cy="9766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182" name="Text Box 1030"/>
          <p:cNvSpPr txBox="1">
            <a:spLocks noChangeArrowheads="1"/>
          </p:cNvSpPr>
          <p:nvPr/>
        </p:nvSpPr>
        <p:spPr bwMode="auto">
          <a:xfrm>
            <a:off x="1503092" y="1704235"/>
            <a:ext cx="22656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  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由于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183" name="Object 1031"/>
              <p:cNvSpPr txBox="1"/>
              <p:nvPr/>
            </p:nvSpPr>
            <p:spPr bwMode="auto">
              <a:xfrm>
                <a:off x="3077613" y="1570735"/>
                <a:ext cx="2406481" cy="12321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0183" name="Object 10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77613" y="1570735"/>
                <a:ext cx="2406481" cy="12321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184" name="Text Box 1032"/>
          <p:cNvSpPr txBox="1">
            <a:spLocks noChangeArrowheads="1"/>
          </p:cNvSpPr>
          <p:nvPr/>
        </p:nvSpPr>
        <p:spPr bwMode="auto">
          <a:xfrm>
            <a:off x="4742584" y="1717269"/>
            <a:ext cx="4267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故所给积分不是反常积分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185" name="Text Box 1033"/>
              <p:cNvSpPr txBox="1">
                <a:spLocks noChangeArrowheads="1"/>
              </p:cNvSpPr>
              <p:nvPr/>
            </p:nvSpPr>
            <p:spPr bwMode="auto">
              <a:xfrm>
                <a:off x="2391121" y="2280957"/>
                <a:ext cx="4643651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若定义被积函数在</a:t>
                </a:r>
                <a:r>
                  <a: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= 0 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处的值为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1,</m:t>
                    </m:r>
                  </m:oMath>
                </a14:m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 </a:t>
                </a:r>
              </a:p>
            </p:txBody>
          </p:sp>
        </mc:Choice>
        <mc:Fallback xmlns="">
          <p:sp>
            <p:nvSpPr>
              <p:cNvPr id="50185" name="Text Box 10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91121" y="2280957"/>
                <a:ext cx="4643651" cy="430887"/>
              </a:xfrm>
              <a:prstGeom prst="rect">
                <a:avLst/>
              </a:prstGeom>
              <a:blipFill>
                <a:blip r:embed="rId6"/>
                <a:stretch>
                  <a:fillRect l="-1706" t="-14085" b="-2816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186" name="Text Box 1034"/>
              <p:cNvSpPr txBox="1">
                <a:spLocks noChangeArrowheads="1"/>
              </p:cNvSpPr>
              <p:nvPr/>
            </p:nvSpPr>
            <p:spPr bwMode="auto">
              <a:xfrm>
                <a:off x="6855114" y="2254264"/>
                <a:ext cx="2819400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则它在积分区间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[0,1]</m:t>
                    </m:r>
                  </m:oMath>
                </a14:m>
                <a:endPara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50186" name="Text Box 10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5114" y="2254264"/>
                <a:ext cx="2819400" cy="430887"/>
              </a:xfrm>
              <a:prstGeom prst="rect">
                <a:avLst/>
              </a:prstGeom>
              <a:blipFill>
                <a:blip r:embed="rId7"/>
                <a:stretch>
                  <a:fillRect l="-2814" t="-14286" b="-2428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187" name="Object 1035"/>
              <p:cNvSpPr txBox="1"/>
              <p:nvPr/>
            </p:nvSpPr>
            <p:spPr bwMode="auto">
              <a:xfrm>
                <a:off x="2391121" y="3204213"/>
                <a:ext cx="9355137" cy="952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5!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7!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+⋯+(−1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2​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+1)!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+⋯ (−∞&lt;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&lt;+∞).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0187" name="Object 10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91121" y="3204213"/>
                <a:ext cx="9355137" cy="9525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188" name="Object 1036"/>
              <p:cNvSpPr txBox="1"/>
              <p:nvPr/>
            </p:nvSpPr>
            <p:spPr bwMode="auto">
              <a:xfrm>
                <a:off x="2391121" y="4001474"/>
                <a:ext cx="1587500" cy="863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nary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0188" name="Object 10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91121" y="4001474"/>
                <a:ext cx="1587500" cy="8636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189" name="Object 1037"/>
              <p:cNvSpPr txBox="1"/>
              <p:nvPr/>
            </p:nvSpPr>
            <p:spPr bwMode="auto">
              <a:xfrm>
                <a:off x="3768694" y="4211861"/>
                <a:ext cx="829984" cy="4959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0189" name="Object 10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68694" y="4211861"/>
                <a:ext cx="829984" cy="4959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190" name="Object 1038"/>
              <p:cNvSpPr txBox="1"/>
              <p:nvPr/>
            </p:nvSpPr>
            <p:spPr bwMode="auto">
              <a:xfrm>
                <a:off x="4293109" y="4035089"/>
                <a:ext cx="1219200" cy="11021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3⋅3!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0190" name="Object 10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93109" y="4035089"/>
                <a:ext cx="1219200" cy="11021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191" name="Object 1039"/>
              <p:cNvSpPr txBox="1"/>
              <p:nvPr/>
            </p:nvSpPr>
            <p:spPr bwMode="auto">
              <a:xfrm>
                <a:off x="5221820" y="4031749"/>
                <a:ext cx="1484213" cy="97747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5⋅5!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0191" name="Object 10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21820" y="4031749"/>
                <a:ext cx="1484213" cy="97747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192" name="Object 1040"/>
              <p:cNvSpPr txBox="1"/>
              <p:nvPr/>
            </p:nvSpPr>
            <p:spPr bwMode="auto">
              <a:xfrm>
                <a:off x="6441020" y="4004553"/>
                <a:ext cx="3873500" cy="952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⋯+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(−1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+1)⋅(2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+1)!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0192" name="Object 10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41020" y="4004553"/>
                <a:ext cx="3873500" cy="9525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193" name="Object 1041"/>
              <p:cNvSpPr txBox="1"/>
              <p:nvPr/>
            </p:nvSpPr>
            <p:spPr bwMode="auto">
              <a:xfrm>
                <a:off x="4104164" y="5119326"/>
                <a:ext cx="1097537" cy="5603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0193" name="Object 10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04164" y="5119326"/>
                <a:ext cx="1097537" cy="5603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194" name="Line 1042"/>
          <p:cNvSpPr>
            <a:spLocks noChangeShapeType="1"/>
          </p:cNvSpPr>
          <p:nvPr/>
        </p:nvSpPr>
        <p:spPr bwMode="auto">
          <a:xfrm>
            <a:off x="3944628" y="4892086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195" name="Object 1043"/>
              <p:cNvSpPr txBox="1"/>
              <p:nvPr/>
            </p:nvSpPr>
            <p:spPr bwMode="auto">
              <a:xfrm>
                <a:off x="4078080" y="5702613"/>
                <a:ext cx="3809791" cy="850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≈1−0.05556+0.00167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0195" name="Object 10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78080" y="5702613"/>
                <a:ext cx="3809791" cy="8509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197" name="Text Box 1045"/>
              <p:cNvSpPr txBox="1">
                <a:spLocks noChangeArrowheads="1"/>
              </p:cNvSpPr>
              <p:nvPr/>
            </p:nvSpPr>
            <p:spPr bwMode="auto">
              <a:xfrm>
                <a:off x="2391121" y="2751937"/>
                <a:ext cx="4927107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上连续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 且有幂级数展开式</a:t>
                </a:r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:</a:t>
                </a:r>
              </a:p>
            </p:txBody>
          </p:sp>
        </mc:Choice>
        <mc:Fallback xmlns="">
          <p:sp>
            <p:nvSpPr>
              <p:cNvPr id="50197" name="Text Box 10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91121" y="2751937"/>
                <a:ext cx="4927107" cy="430887"/>
              </a:xfrm>
              <a:prstGeom prst="rect">
                <a:avLst/>
              </a:prstGeom>
              <a:blipFill>
                <a:blip r:embed="rId16"/>
                <a:stretch>
                  <a:fillRect l="-1609" t="-12676" b="-239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198" name="Line 1046"/>
          <p:cNvSpPr>
            <a:spLocks noChangeShapeType="1"/>
          </p:cNvSpPr>
          <p:nvPr/>
        </p:nvSpPr>
        <p:spPr bwMode="auto">
          <a:xfrm>
            <a:off x="4138787" y="4779349"/>
            <a:ext cx="2043478" cy="0"/>
          </a:xfrm>
          <a:prstGeom prst="line">
            <a:avLst/>
          </a:prstGeom>
          <a:noFill/>
          <a:ln w="28575">
            <a:solidFill>
              <a:srgbClr val="0492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203" name="Object 1051"/>
              <p:cNvSpPr txBox="1"/>
              <p:nvPr/>
            </p:nvSpPr>
            <p:spPr bwMode="auto">
              <a:xfrm>
                <a:off x="4883189" y="4961488"/>
                <a:ext cx="940813" cy="11021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7⋅7!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0203" name="Object 10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83189" y="4961488"/>
                <a:ext cx="940813" cy="11021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204" name="Object 1052"/>
              <p:cNvSpPr txBox="1"/>
              <p:nvPr/>
            </p:nvSpPr>
            <p:spPr bwMode="auto">
              <a:xfrm>
                <a:off x="5564824" y="4954423"/>
                <a:ext cx="2997200" cy="850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35280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&lt;0.3×1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0204" name="Object 10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64824" y="4954423"/>
                <a:ext cx="2997200" cy="8509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205" name="Object 1053"/>
              <p:cNvSpPr txBox="1"/>
              <p:nvPr/>
            </p:nvSpPr>
            <p:spPr bwMode="auto">
              <a:xfrm>
                <a:off x="7196875" y="5702613"/>
                <a:ext cx="1777878" cy="53031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≈0.9461.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0205" name="Object 10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96875" y="5702613"/>
                <a:ext cx="1777878" cy="53031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018856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0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0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0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0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0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0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0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0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0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0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50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0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0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50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50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0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8" grpId="0"/>
      <p:bldP spid="50179" grpId="0"/>
      <p:bldP spid="50180" grpId="0"/>
      <p:bldP spid="50181" grpId="0"/>
      <p:bldP spid="50182" grpId="0" autoUpdateAnimBg="0"/>
      <p:bldP spid="50183" grpId="0"/>
      <p:bldP spid="50184" grpId="0" autoUpdateAnimBg="0"/>
      <p:bldP spid="50185" grpId="0" autoUpdateAnimBg="0"/>
      <p:bldP spid="50186" grpId="0" autoUpdateAnimBg="0"/>
      <p:bldP spid="50187" grpId="0"/>
      <p:bldP spid="50188" grpId="0"/>
      <p:bldP spid="50189" grpId="0"/>
      <p:bldP spid="50190" grpId="0"/>
      <p:bldP spid="50191" grpId="0"/>
      <p:bldP spid="50192" grpId="0"/>
      <p:bldP spid="50193" grpId="0"/>
      <p:bldP spid="50195" grpId="0"/>
      <p:bldP spid="50197" grpId="0" autoUpdateAnimBg="0"/>
      <p:bldP spid="50203" grpId="0"/>
      <p:bldP spid="50204" grpId="0"/>
      <p:bldP spid="5020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6B308BD-9EEB-147F-FF9E-B6B3E7A15113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4" name="PA-102232">
              <a:extLst>
                <a:ext uri="{FF2B5EF4-FFF2-40B4-BE49-F238E27FC236}">
                  <a16:creationId xmlns:a16="http://schemas.microsoft.com/office/drawing/2014/main" id="{A549CCB3-0750-1723-68F8-F3A0C9E01161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33BEFB23-C035-2536-DA0D-528E606F292D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777151A1-969C-2A12-6A4E-328E3F2C78B1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0C1FDC8E-AD99-EFE0-EB01-5300F89C691B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F759B96F-D4C4-61B8-E392-E7A10AA968A8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785548" y="1437954"/>
            <a:ext cx="5735715" cy="685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003399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algn="l"/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二、微分方程的幂级数解法 </a:t>
            </a:r>
          </a:p>
        </p:txBody>
      </p:sp>
      <p:sp>
        <p:nvSpPr>
          <p:cNvPr id="16" name="Text Box 31"/>
          <p:cNvSpPr txBox="1">
            <a:spLocks noChangeArrowheads="1"/>
          </p:cNvSpPr>
          <p:nvPr/>
        </p:nvSpPr>
        <p:spPr bwMode="auto">
          <a:xfrm>
            <a:off x="3584575" y="2133279"/>
            <a:ext cx="2505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微分方程解法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: </a:t>
            </a:r>
          </a:p>
        </p:txBody>
      </p:sp>
      <p:sp>
        <p:nvSpPr>
          <p:cNvPr id="17" name="Text Box 32"/>
          <p:cNvSpPr txBox="1">
            <a:spLocks noChangeArrowheads="1"/>
          </p:cNvSpPr>
          <p:nvPr/>
        </p:nvSpPr>
        <p:spPr bwMode="auto">
          <a:xfrm>
            <a:off x="3584575" y="2931005"/>
            <a:ext cx="1339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积分法 </a:t>
            </a:r>
          </a:p>
        </p:txBody>
      </p:sp>
      <p:sp>
        <p:nvSpPr>
          <p:cNvPr id="18" name="Text Box 33"/>
          <p:cNvSpPr txBox="1">
            <a:spLocks noChangeArrowheads="1"/>
          </p:cNvSpPr>
          <p:nvPr/>
        </p:nvSpPr>
        <p:spPr bwMode="auto">
          <a:xfrm>
            <a:off x="4822825" y="2942376"/>
            <a:ext cx="521168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——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只能解一些特殊类型方程 </a:t>
            </a:r>
          </a:p>
        </p:txBody>
      </p:sp>
      <p:sp>
        <p:nvSpPr>
          <p:cNvPr id="19" name="Text Box 34"/>
          <p:cNvSpPr txBox="1">
            <a:spLocks noChangeArrowheads="1"/>
          </p:cNvSpPr>
          <p:nvPr/>
        </p:nvSpPr>
        <p:spPr bwMode="auto">
          <a:xfrm>
            <a:off x="3584575" y="3782482"/>
            <a:ext cx="1606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幂级数法</a:t>
            </a:r>
          </a:p>
        </p:txBody>
      </p:sp>
      <p:sp>
        <p:nvSpPr>
          <p:cNvPr id="20" name="Text Box 35"/>
          <p:cNvSpPr txBox="1">
            <a:spLocks noChangeArrowheads="1"/>
          </p:cNvSpPr>
          <p:nvPr/>
        </p:nvSpPr>
        <p:spPr bwMode="auto">
          <a:xfrm>
            <a:off x="5184775" y="3792007"/>
            <a:ext cx="26981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——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本节介绍 </a:t>
            </a:r>
          </a:p>
        </p:txBody>
      </p:sp>
      <p:sp>
        <p:nvSpPr>
          <p:cNvPr id="21" name="Text Box 36"/>
          <p:cNvSpPr txBox="1">
            <a:spLocks noChangeArrowheads="1"/>
          </p:cNvSpPr>
          <p:nvPr/>
        </p:nvSpPr>
        <p:spPr bwMode="auto">
          <a:xfrm>
            <a:off x="3584575" y="4551366"/>
            <a:ext cx="1606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数值解法</a:t>
            </a:r>
          </a:p>
        </p:txBody>
      </p:sp>
      <p:sp>
        <p:nvSpPr>
          <p:cNvPr id="22" name="Text Box 37"/>
          <p:cNvSpPr txBox="1">
            <a:spLocks noChangeArrowheads="1"/>
          </p:cNvSpPr>
          <p:nvPr/>
        </p:nvSpPr>
        <p:spPr bwMode="auto">
          <a:xfrm>
            <a:off x="5184775" y="4565653"/>
            <a:ext cx="323678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——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计算数学内容</a:t>
            </a:r>
          </a:p>
        </p:txBody>
      </p:sp>
    </p:spTree>
    <p:extLst>
      <p:ext uri="{BB962C8B-B14F-4D97-AF65-F5344CB8AC3E}">
        <p14:creationId xmlns:p14="http://schemas.microsoft.com/office/powerpoint/2010/main" val="288150272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animBg="1"/>
      <p:bldP spid="16" grpId="0" build="p" autoUpdateAnimBg="0"/>
      <p:bldP spid="17" grpId="0" build="p" autoUpdateAnimBg="0"/>
      <p:bldP spid="18" grpId="0" build="p" autoUpdateAnimBg="0"/>
      <p:bldP spid="19" grpId="0" build="p" autoUpdateAnimBg="0"/>
      <p:bldP spid="20" grpId="0" build="p" autoUpdateAnimBg="0"/>
      <p:bldP spid="21" grpId="0" build="p" autoUpdateAnimBg="0"/>
      <p:bldP spid="22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75678" y="505528"/>
            <a:ext cx="3602307" cy="49444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003399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algn="l"/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1. </a:t>
            </a:r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一阶微分方程问题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96" name="Object 28"/>
              <p:cNvSpPr txBox="1"/>
              <p:nvPr/>
            </p:nvSpPr>
            <p:spPr bwMode="auto">
              <a:xfrm>
                <a:off x="3554631" y="1002320"/>
                <a:ext cx="2922173" cy="91303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196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54631" y="1002320"/>
                <a:ext cx="2922173" cy="9130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97" name="Object 29"/>
              <p:cNvSpPr txBox="1"/>
              <p:nvPr/>
            </p:nvSpPr>
            <p:spPr bwMode="auto">
              <a:xfrm>
                <a:off x="3554632" y="1870682"/>
                <a:ext cx="2401668" cy="685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197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54632" y="1870682"/>
                <a:ext cx="2401668" cy="685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01" name="Object 33"/>
              <p:cNvSpPr txBox="1"/>
              <p:nvPr/>
            </p:nvSpPr>
            <p:spPr bwMode="auto">
              <a:xfrm>
                <a:off x="2009050" y="2432598"/>
                <a:ext cx="6910844" cy="57234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其中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是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及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的多项式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201" name="Object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09050" y="2432598"/>
                <a:ext cx="6910844" cy="5723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02" name="Text Box 34"/>
          <p:cNvSpPr txBox="1">
            <a:spLocks noChangeArrowheads="1"/>
          </p:cNvSpPr>
          <p:nvPr/>
        </p:nvSpPr>
        <p:spPr bwMode="auto">
          <a:xfrm>
            <a:off x="2009050" y="3043314"/>
            <a:ext cx="23391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幂级数解法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: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242852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06" name="Object 38"/>
              <p:cNvSpPr txBox="1"/>
              <p:nvPr/>
            </p:nvSpPr>
            <p:spPr bwMode="auto">
              <a:xfrm>
                <a:off x="2096928" y="4096697"/>
                <a:ext cx="6625094" cy="90500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206" name="Object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96928" y="4096697"/>
                <a:ext cx="6625094" cy="9050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10" name="Text Box 42"/>
              <p:cNvSpPr txBox="1">
                <a:spLocks noChangeArrowheads="1"/>
              </p:cNvSpPr>
              <p:nvPr/>
            </p:nvSpPr>
            <p:spPr bwMode="auto">
              <a:xfrm>
                <a:off x="2009050" y="5222309"/>
                <a:ext cx="708078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将其代入原方程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 比较同次幂系数可定常数 </a:t>
                </a:r>
              </a:p>
            </p:txBody>
          </p:sp>
        </mc:Choice>
        <mc:Fallback xmlns="">
          <p:sp>
            <p:nvSpPr>
              <p:cNvPr id="7210" name="Text 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09050" y="5222309"/>
                <a:ext cx="7080785" cy="523220"/>
              </a:xfrm>
              <a:prstGeom prst="rect">
                <a:avLst/>
              </a:prstGeom>
              <a:blipFill>
                <a:blip r:embed="rId6"/>
                <a:stretch>
                  <a:fillRect l="-1809" t="-15116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15" name="AutoShape 47"/>
          <p:cNvSpPr>
            <a:spLocks/>
          </p:cNvSpPr>
          <p:nvPr/>
        </p:nvSpPr>
        <p:spPr bwMode="auto">
          <a:xfrm>
            <a:off x="3376832" y="1149391"/>
            <a:ext cx="177800" cy="1212850"/>
          </a:xfrm>
          <a:prstGeom prst="leftBrace">
            <a:avLst>
              <a:gd name="adj1" fmla="val 56845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17" name="Object 49"/>
              <p:cNvSpPr txBox="1"/>
              <p:nvPr/>
            </p:nvSpPr>
            <p:spPr bwMode="auto">
              <a:xfrm>
                <a:off x="8758694" y="5183361"/>
                <a:ext cx="1772529" cy="57234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,⋯,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217" name="Object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58694" y="5183361"/>
                <a:ext cx="1772529" cy="57234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18" name="Text Box 50"/>
          <p:cNvSpPr txBox="1">
            <a:spLocks noChangeArrowheads="1"/>
          </p:cNvSpPr>
          <p:nvPr/>
        </p:nvSpPr>
        <p:spPr bwMode="auto">
          <a:xfrm>
            <a:off x="2009050" y="5800427"/>
            <a:ext cx="880241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由此确定的级数 ① 即为定解问题在收敛区间内的解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. </a:t>
            </a:r>
          </a:p>
        </p:txBody>
      </p:sp>
      <p:sp>
        <p:nvSpPr>
          <p:cNvPr id="7220" name="Text Box 52"/>
          <p:cNvSpPr txBox="1">
            <a:spLocks noChangeArrowheads="1"/>
          </p:cNvSpPr>
          <p:nvPr/>
        </p:nvSpPr>
        <p:spPr bwMode="auto">
          <a:xfrm>
            <a:off x="8320950" y="4654068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①</a:t>
            </a:r>
          </a:p>
        </p:txBody>
      </p:sp>
      <p:sp>
        <p:nvSpPr>
          <p:cNvPr id="7221" name="Text Box 53"/>
          <p:cNvSpPr txBox="1">
            <a:spLocks noChangeArrowheads="1"/>
          </p:cNvSpPr>
          <p:nvPr/>
        </p:nvSpPr>
        <p:spPr bwMode="auto">
          <a:xfrm>
            <a:off x="2009050" y="3575234"/>
            <a:ext cx="1962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设所求解为</a:t>
            </a:r>
          </a:p>
        </p:txBody>
      </p:sp>
      <p:sp>
        <p:nvSpPr>
          <p:cNvPr id="7222" name="Text Box 54"/>
          <p:cNvSpPr txBox="1">
            <a:spLocks noChangeArrowheads="1"/>
          </p:cNvSpPr>
          <p:nvPr/>
        </p:nvSpPr>
        <p:spPr bwMode="auto">
          <a:xfrm>
            <a:off x="3951019" y="3049664"/>
            <a:ext cx="342433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本质上是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待定系数法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23" name="Object 55"/>
              <p:cNvSpPr txBox="1"/>
              <p:nvPr/>
            </p:nvSpPr>
            <p:spPr bwMode="auto">
              <a:xfrm>
                <a:off x="5265356" y="4625493"/>
                <a:ext cx="3276601" cy="57234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223" name="Object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65356" y="4625493"/>
                <a:ext cx="3276601" cy="57234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830774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animBg="1"/>
      <p:bldP spid="7196" grpId="0"/>
      <p:bldP spid="7197" grpId="0"/>
      <p:bldP spid="7201" grpId="0"/>
      <p:bldP spid="7202" grpId="0" build="p" autoUpdateAnimBg="0"/>
      <p:bldP spid="7206" grpId="0"/>
      <p:bldP spid="7210" grpId="0" build="p" autoUpdateAnimBg="0"/>
      <p:bldP spid="7217" grpId="0"/>
      <p:bldP spid="7218" grpId="0" build="p" autoUpdateAnimBg="0"/>
      <p:bldP spid="7220" grpId="0" build="p" autoUpdateAnimBg="0" advAuto="0"/>
      <p:bldP spid="7221" grpId="0" build="p" autoUpdateAnimBg="0"/>
      <p:bldP spid="7222" grpId="0" build="p" autoUpdateAnimBg="0"/>
      <p:bldP spid="722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A6EC23F3-2A14-1390-E426-BD5653813D4A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63B3F8E1-E955-5E08-DD4A-12F8CA6DE414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63B3F8E1-E955-5E08-DD4A-12F8CA6DE41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FEA8F70E-4A89-ADDD-2A11-E612316A0230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13C53148-FCE1-D75B-515F-23F6BBE51939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B63B5EAB-660C-784E-9D1E-95F044E76E01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C166723F-6FB6-FBC1-F910-11604806609D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71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81466" y="927079"/>
            <a:ext cx="990600" cy="6858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例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6 </a:t>
            </a:r>
            <a:r>
              <a:rPr lang="en-US" altLang="zh-CN" sz="2800" b="1" dirty="0">
                <a:latin typeface="+mn-lt"/>
                <a:ea typeface="+mn-ea"/>
                <a:cs typeface="+mn-ea"/>
                <a:sym typeface="+mn-lt"/>
              </a:rPr>
              <a:t> </a:t>
            </a:r>
            <a:endParaRPr lang="en-US" altLang="zh-CN" sz="280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107" name="Object 3"/>
              <p:cNvSpPr txBox="1"/>
              <p:nvPr/>
            </p:nvSpPr>
            <p:spPr bwMode="auto">
              <a:xfrm>
                <a:off x="3080885" y="873372"/>
                <a:ext cx="3527425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求方程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7107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80885" y="873372"/>
                <a:ext cx="3527425" cy="5207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09" name="Text Box 5"/>
          <p:cNvSpPr txBox="1">
            <a:spLocks noChangeArrowheads="1"/>
          </p:cNvSpPr>
          <p:nvPr/>
        </p:nvSpPr>
        <p:spPr bwMode="auto">
          <a:xfrm>
            <a:off x="2081466" y="1556609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</a:t>
            </a:r>
          </a:p>
        </p:txBody>
      </p:sp>
      <p:sp>
        <p:nvSpPr>
          <p:cNvPr id="47123" name="Text Box 19"/>
          <p:cNvSpPr txBox="1">
            <a:spLocks noChangeArrowheads="1"/>
          </p:cNvSpPr>
          <p:nvPr/>
        </p:nvSpPr>
        <p:spPr bwMode="auto">
          <a:xfrm>
            <a:off x="3080885" y="1595518"/>
            <a:ext cx="48768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根据初值条件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,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设所求特解为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124" name="Object 20"/>
              <p:cNvSpPr txBox="1"/>
              <p:nvPr/>
            </p:nvSpPr>
            <p:spPr bwMode="auto">
              <a:xfrm>
                <a:off x="4071485" y="1993708"/>
                <a:ext cx="4445000" cy="482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7124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71485" y="1993708"/>
                <a:ext cx="4445000" cy="482600"/>
              </a:xfrm>
              <a:prstGeom prst="rect">
                <a:avLst/>
              </a:prstGeom>
              <a:blipFill>
                <a:blip r:embed="rId4"/>
                <a:stretch>
                  <a:fillRect l="-27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25" name="Text Box 21"/>
          <p:cNvSpPr txBox="1">
            <a:spLocks noChangeArrowheads="1"/>
          </p:cNvSpPr>
          <p:nvPr/>
        </p:nvSpPr>
        <p:spPr bwMode="auto">
          <a:xfrm>
            <a:off x="3080885" y="2459512"/>
            <a:ext cx="27432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代入原方程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,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142" name="Object 38"/>
              <p:cNvSpPr txBox="1"/>
              <p:nvPr/>
            </p:nvSpPr>
            <p:spPr bwMode="auto">
              <a:xfrm>
                <a:off x="6060892" y="902191"/>
                <a:ext cx="4445000" cy="508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满足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的特解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7142" name="Object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60892" y="902191"/>
                <a:ext cx="4445000" cy="508000"/>
              </a:xfrm>
              <a:prstGeom prst="rect">
                <a:avLst/>
              </a:prstGeom>
              <a:blipFill>
                <a:blip r:embed="rId5"/>
                <a:stretch>
                  <a:fillRect b="-24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43" name="Object 39"/>
              <p:cNvSpPr txBox="1"/>
              <p:nvPr/>
            </p:nvSpPr>
            <p:spPr bwMode="auto">
              <a:xfrm>
                <a:off x="4071485" y="2874504"/>
                <a:ext cx="5829300" cy="533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+5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7143" name="Object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71485" y="2874504"/>
                <a:ext cx="5829300" cy="5334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44" name="Object 40"/>
              <p:cNvSpPr txBox="1"/>
              <p:nvPr/>
            </p:nvSpPr>
            <p:spPr bwMode="auto">
              <a:xfrm>
                <a:off x="4071485" y="3399697"/>
                <a:ext cx="4495800" cy="533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+(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7144" name="Object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71485" y="3399697"/>
                <a:ext cx="4495800" cy="5334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45" name="Object 41"/>
              <p:cNvSpPr txBox="1"/>
              <p:nvPr/>
            </p:nvSpPr>
            <p:spPr bwMode="auto">
              <a:xfrm>
                <a:off x="4071485" y="3922155"/>
                <a:ext cx="6032500" cy="482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+(</m:t>
                      </m:r>
                      <m:sSubSup>
                        <m:sSub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7145" name="Object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71485" y="3922155"/>
                <a:ext cx="6032500" cy="482600"/>
              </a:xfrm>
              <a:prstGeom prst="rect">
                <a:avLst/>
              </a:prstGeom>
              <a:blipFill>
                <a:blip r:embed="rId8"/>
                <a:stretch>
                  <a:fillRect b="-6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46" name="Text Box 42"/>
          <p:cNvSpPr txBox="1">
            <a:spLocks noChangeArrowheads="1"/>
          </p:cNvSpPr>
          <p:nvPr/>
        </p:nvSpPr>
        <p:spPr bwMode="auto">
          <a:xfrm>
            <a:off x="3080885" y="4416090"/>
            <a:ext cx="272382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比较同次幂系数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,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147" name="Object 43"/>
              <p:cNvSpPr txBox="1"/>
              <p:nvPr/>
            </p:nvSpPr>
            <p:spPr bwMode="auto">
              <a:xfrm>
                <a:off x="4071485" y="4848664"/>
                <a:ext cx="1330628" cy="75750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7147" name="Object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71485" y="4848664"/>
                <a:ext cx="1330628" cy="7575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48" name="Object 44"/>
              <p:cNvSpPr txBox="1"/>
              <p:nvPr/>
            </p:nvSpPr>
            <p:spPr bwMode="auto">
              <a:xfrm>
                <a:off x="5082014" y="4716717"/>
                <a:ext cx="1104900" cy="850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7148" name="Object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82014" y="4716717"/>
                <a:ext cx="1104900" cy="8509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49" name="Object 45"/>
              <p:cNvSpPr txBox="1"/>
              <p:nvPr/>
            </p:nvSpPr>
            <p:spPr bwMode="auto">
              <a:xfrm>
                <a:off x="6161611" y="4881098"/>
                <a:ext cx="1346200" cy="58517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7149" name="Object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61611" y="4881098"/>
                <a:ext cx="1346200" cy="5851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50" name="Object 46"/>
              <p:cNvSpPr txBox="1"/>
              <p:nvPr/>
            </p:nvSpPr>
            <p:spPr bwMode="auto">
              <a:xfrm>
                <a:off x="7126811" y="4856546"/>
                <a:ext cx="1670050" cy="660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7150" name="Object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26811" y="4856546"/>
                <a:ext cx="1670050" cy="6604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51" name="Object 47"/>
              <p:cNvSpPr txBox="1"/>
              <p:nvPr/>
            </p:nvSpPr>
            <p:spPr bwMode="auto">
              <a:xfrm>
                <a:off x="8060358" y="4714761"/>
                <a:ext cx="1676400" cy="850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,⋯,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7151" name="Object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60358" y="4714761"/>
                <a:ext cx="1676400" cy="8509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52" name="Text Box 48"/>
          <p:cNvSpPr txBox="1">
            <a:spLocks noChangeArrowheads="1"/>
          </p:cNvSpPr>
          <p:nvPr/>
        </p:nvSpPr>
        <p:spPr bwMode="auto">
          <a:xfrm>
            <a:off x="3080885" y="5437359"/>
            <a:ext cx="371127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故所求解的幂级数前几项为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153" name="Object 49"/>
              <p:cNvSpPr txBox="1"/>
              <p:nvPr/>
            </p:nvSpPr>
            <p:spPr bwMode="auto">
              <a:xfrm>
                <a:off x="6535285" y="5265027"/>
                <a:ext cx="2844800" cy="850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7153" name="Object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35285" y="5265027"/>
                <a:ext cx="2844800" cy="8509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036195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7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7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7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7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7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7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7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7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7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7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7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7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7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7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7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7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6" grpId="0"/>
      <p:bldP spid="47107" grpId="0"/>
      <p:bldP spid="47109" grpId="0" build="p" autoUpdateAnimBg="0"/>
      <p:bldP spid="47123" grpId="0" build="p" autoUpdateAnimBg="0"/>
      <p:bldP spid="47124" grpId="0"/>
      <p:bldP spid="47125" grpId="0" build="p" autoUpdateAnimBg="0"/>
      <p:bldP spid="47142" grpId="0"/>
      <p:bldP spid="47143" grpId="0"/>
      <p:bldP spid="47144" grpId="0"/>
      <p:bldP spid="47145" grpId="0"/>
      <p:bldP spid="47146" grpId="0" build="p" autoUpdateAnimBg="0"/>
      <p:bldP spid="47147" grpId="0"/>
      <p:bldP spid="47148" grpId="0"/>
      <p:bldP spid="47149" grpId="0"/>
      <p:bldP spid="47150" grpId="0"/>
      <p:bldP spid="47151" grpId="0"/>
      <p:bldP spid="47152" grpId="0" build="p" autoUpdateAnimBg="0"/>
      <p:bldP spid="4715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72724" y="872008"/>
            <a:ext cx="5410200" cy="6858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2. </a:t>
            </a:r>
            <a:r>
              <a:rPr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二阶齐次线性微分方程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398" name="Object 6"/>
              <p:cNvSpPr txBox="1"/>
              <p:nvPr/>
            </p:nvSpPr>
            <p:spPr bwMode="auto">
              <a:xfrm>
                <a:off x="2618278" y="1449700"/>
                <a:ext cx="4670046" cy="685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″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9398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18278" y="1449700"/>
                <a:ext cx="4670046" cy="6858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401" name="Object 9"/>
              <p:cNvSpPr txBox="1"/>
              <p:nvPr/>
            </p:nvSpPr>
            <p:spPr bwMode="auto">
              <a:xfrm>
                <a:off x="4187682" y="3443137"/>
                <a:ext cx="3680777" cy="1028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9401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87682" y="3443137"/>
                <a:ext cx="3680777" cy="1028700"/>
              </a:xfrm>
              <a:prstGeom prst="rect">
                <a:avLst/>
              </a:prstGeom>
              <a:blipFill>
                <a:blip r:embed="rId3"/>
                <a:stretch>
                  <a:fillRect b="-1716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404" name="Text Box 12"/>
              <p:cNvSpPr txBox="1">
                <a:spLocks noChangeArrowheads="1"/>
              </p:cNvSpPr>
              <p:nvPr/>
            </p:nvSpPr>
            <p:spPr bwMode="auto">
              <a:xfrm>
                <a:off x="2545949" y="2866640"/>
                <a:ext cx="7223259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则在</a:t>
                </a:r>
                <a14:m>
                  <m:oMath xmlns:m="http://schemas.openxmlformats.org/officeDocument/2006/math">
                    <m:r>
                      <a:rPr kumimoji="1" lang="zh-CN" altLang="en-US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/>
                        <a:cs typeface="Times New Roman" panose="02020603050405020304" pitchFamily="18" charset="0"/>
                        <a:sym typeface="+mn-lt"/>
                      </a:rPr>
                      <m:t>－</m:t>
                    </m:r>
                    <m:r>
                      <a:rPr lang="en-US" altLang="zh-CN" sz="28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𝑅</m:t>
                    </m:r>
                    <m:r>
                      <a:rPr kumimoji="1" lang="en-US" altLang="zh-CN" sz="2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/>
                        <a:cs typeface="Times New Roman" panose="02020603050405020304" pitchFamily="18" charset="0"/>
                        <a:sym typeface="+mn-lt"/>
                      </a:rPr>
                      <m:t> &lt; </m:t>
                    </m:r>
                    <m:r>
                      <a:rPr lang="en-US" altLang="zh-CN" sz="28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  <m:r>
                      <a:rPr kumimoji="1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/>
                        <a:cs typeface="Times New Roman" panose="02020603050405020304" pitchFamily="18" charset="0"/>
                        <a:sym typeface="+mn-lt"/>
                      </a:rPr>
                      <m:t> &lt; </m:t>
                    </m:r>
                    <m:r>
                      <a:rPr lang="en-US" altLang="zh-CN" sz="28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𝑅</m:t>
                    </m:r>
                    <m:r>
                      <a:rPr kumimoji="1" lang="en-US" altLang="zh-CN" sz="2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/>
                        <a:cs typeface="Times New Roman" panose="02020603050405020304" pitchFamily="18" charset="0"/>
                        <a:sym typeface="+mn-lt"/>
                      </a:rPr>
                      <m:t> 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内方程②必有幂级数解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: </a:t>
                </a:r>
              </a:p>
            </p:txBody>
          </p:sp>
        </mc:Choice>
        <mc:Fallback xmlns="">
          <p:sp>
            <p:nvSpPr>
              <p:cNvPr id="59404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45949" y="2866640"/>
                <a:ext cx="7223259" cy="523220"/>
              </a:xfrm>
              <a:prstGeom prst="rect">
                <a:avLst/>
              </a:prstGeom>
              <a:blipFill>
                <a:blip r:embed="rId4"/>
                <a:stretch>
                  <a:fillRect l="-1772" t="-13953" r="-675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412" name="Text Box 20"/>
          <p:cNvSpPr txBox="1">
            <a:spLocks noChangeArrowheads="1"/>
          </p:cNvSpPr>
          <p:nvPr/>
        </p:nvSpPr>
        <p:spPr bwMode="auto">
          <a:xfrm>
            <a:off x="6713650" y="1519603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413" name="Text Box 21"/>
              <p:cNvSpPr txBox="1">
                <a:spLocks noChangeArrowheads="1"/>
              </p:cNvSpPr>
              <p:nvPr/>
            </p:nvSpPr>
            <p:spPr bwMode="auto">
              <a:xfrm>
                <a:off x="2545949" y="2174878"/>
                <a:ext cx="8779924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设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𝑃</m:t>
                    </m:r>
                    <m:r>
                      <a:rPr lang="en-US" altLang="zh-CN" sz="2800" i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(</m:t>
                    </m:r>
                    <m:r>
                      <a:rPr lang="en-US" altLang="zh-CN" sz="28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/>
                        <a:cs typeface="+mn-ea"/>
                        <a:sym typeface="+mn-lt"/>
                      </a:rPr>
                      <m:t>),</m:t>
                    </m:r>
                    <m:r>
                      <a:rPr lang="en-US" altLang="zh-CN" sz="28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𝑄</m:t>
                    </m:r>
                    <m:r>
                      <a:rPr kumimoji="0" lang="en-US" altLang="zh-CN" sz="2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/>
                        <a:cs typeface="+mn-ea"/>
                        <a:sym typeface="+mn-lt"/>
                      </a:rPr>
                      <m:t>(</m:t>
                    </m:r>
                    <m:r>
                      <a:rPr lang="en-US" altLang="zh-CN" sz="28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/>
                        <a:cs typeface="+mn-ea"/>
                        <a:sym typeface="+mn-lt"/>
                      </a:rPr>
                      <m:t>) 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在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(-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𝑅</m:t>
                    </m:r>
                  </m:oMath>
                </a14:m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,</a:t>
                </a:r>
                <a14:m>
                  <m:oMath xmlns:m="http://schemas.openxmlformats.org/officeDocument/2006/math"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/>
                        <a:cs typeface="+mn-ea"/>
                        <a:sym typeface="+mn-lt"/>
                      </a:rPr>
                      <m:t> </m:t>
                    </m:r>
                    <m:r>
                      <a:rPr lang="en-US" altLang="zh-CN" sz="28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𝑅</m:t>
                    </m:r>
                    <m:r>
                      <a:rPr kumimoji="0" lang="en-US" altLang="zh-CN" sz="2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/>
                        <a:cs typeface="+mn-ea"/>
                        <a:sym typeface="+mn-lt"/>
                      </a:rPr>
                      <m:t> </m:t>
                    </m:r>
                  </m:oMath>
                </a14:m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)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内可展成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 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的幂级数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, </a:t>
                </a:r>
              </a:p>
            </p:txBody>
          </p:sp>
        </mc:Choice>
        <mc:Fallback xmlns="">
          <p:sp>
            <p:nvSpPr>
              <p:cNvPr id="59413" name="Text 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45949" y="2174878"/>
                <a:ext cx="8779924" cy="523220"/>
              </a:xfrm>
              <a:prstGeom prst="rect">
                <a:avLst/>
              </a:prstGeom>
              <a:blipFill>
                <a:blip r:embed="rId5"/>
                <a:stretch>
                  <a:fillRect l="-1458" t="-15116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414" name="Text Box 22"/>
          <p:cNvSpPr txBox="1">
            <a:spLocks noChangeArrowheads="1"/>
          </p:cNvSpPr>
          <p:nvPr/>
        </p:nvSpPr>
        <p:spPr bwMode="auto">
          <a:xfrm>
            <a:off x="6477846" y="3784472"/>
            <a:ext cx="16209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(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证明略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)</a:t>
            </a:r>
          </a:p>
        </p:txBody>
      </p:sp>
      <p:sp>
        <p:nvSpPr>
          <p:cNvPr id="59415" name="Text Box 23"/>
          <p:cNvSpPr txBox="1">
            <a:spLocks noChangeArrowheads="1"/>
          </p:cNvSpPr>
          <p:nvPr/>
        </p:nvSpPr>
        <p:spPr bwMode="auto">
          <a:xfrm>
            <a:off x="2545949" y="4768529"/>
            <a:ext cx="7473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此定理在数学物理方程及特殊函数中非常有用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, </a:t>
            </a:r>
          </a:p>
        </p:txBody>
      </p:sp>
      <p:sp>
        <p:nvSpPr>
          <p:cNvPr id="59416" name="Text Box 24"/>
          <p:cNvSpPr txBox="1">
            <a:spLocks noChangeArrowheads="1"/>
          </p:cNvSpPr>
          <p:nvPr/>
        </p:nvSpPr>
        <p:spPr bwMode="auto">
          <a:xfrm>
            <a:off x="9781774" y="4759004"/>
            <a:ext cx="89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很多</a:t>
            </a:r>
          </a:p>
        </p:txBody>
      </p:sp>
      <p:sp>
        <p:nvSpPr>
          <p:cNvPr id="59417" name="Text Box 25"/>
          <p:cNvSpPr txBox="1">
            <a:spLocks noChangeArrowheads="1"/>
          </p:cNvSpPr>
          <p:nvPr/>
        </p:nvSpPr>
        <p:spPr bwMode="auto">
          <a:xfrm>
            <a:off x="2545949" y="5469012"/>
            <a:ext cx="77406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重要的特殊函数都是根据它从微分方程中得到的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.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224245C-CA2B-46DC-1247-0CE328BB125D}"/>
              </a:ext>
            </a:extLst>
          </p:cNvPr>
          <p:cNvGrpSpPr/>
          <p:nvPr/>
        </p:nvGrpSpPr>
        <p:grpSpPr>
          <a:xfrm>
            <a:off x="1486905" y="2248518"/>
            <a:ext cx="1012825" cy="449580"/>
            <a:chOff x="1553" y="3802"/>
            <a:chExt cx="1595" cy="708"/>
          </a:xfrm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CE57533D-A1FC-83B5-C8D3-9E3E7B5229F3}"/>
                </a:ext>
              </a:extLst>
            </p:cNvPr>
            <p:cNvSpPr/>
            <p:nvPr/>
          </p:nvSpPr>
          <p:spPr>
            <a:xfrm>
              <a:off x="1553" y="3803"/>
              <a:ext cx="1595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" name="Text Box 28">
              <a:extLst>
                <a:ext uri="{FF2B5EF4-FFF2-40B4-BE49-F238E27FC236}">
                  <a16:creationId xmlns:a16="http://schemas.microsoft.com/office/drawing/2014/main" id="{DA89D038-5EC7-2721-1A31-354B98EEB6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0" y="3802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定理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643692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9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9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9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9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9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9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9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94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4" grpId="0"/>
      <p:bldP spid="59398" grpId="0"/>
      <p:bldP spid="59401" grpId="0"/>
      <p:bldP spid="59404" grpId="0" build="p" autoUpdateAnimBg="0"/>
      <p:bldP spid="59412" grpId="0" build="p" autoUpdateAnimBg="0" advAuto="0"/>
      <p:bldP spid="59413" grpId="0" build="p" autoUpdateAnimBg="0"/>
      <p:bldP spid="59414" grpId="0" build="p" autoUpdateAnimBg="0"/>
      <p:bldP spid="59415" grpId="0" build="p" autoUpdateAnimBg="0"/>
      <p:bldP spid="59416" grpId="0" build="p" autoUpdateAnimBg="0"/>
      <p:bldP spid="59417" grpId="0" build="p" autoUpdateAnimBg="0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79774CC8-E0B2-11B4-E37F-F0F6B665ADFA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8E5AC83D-DE32-BEC4-571F-2FDD9B3BD551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8E5AC83D-DE32-BEC4-571F-2FDD9B3BD55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半闭框 8">
              <a:extLst>
                <a:ext uri="{FF2B5EF4-FFF2-40B4-BE49-F238E27FC236}">
                  <a16:creationId xmlns:a16="http://schemas.microsoft.com/office/drawing/2014/main" id="{B6769B25-E561-05FE-CA36-F4B831D7DE1D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半闭框 9">
              <a:extLst>
                <a:ext uri="{FF2B5EF4-FFF2-40B4-BE49-F238E27FC236}">
                  <a16:creationId xmlns:a16="http://schemas.microsoft.com/office/drawing/2014/main" id="{4AEA61A6-7387-B02B-6808-79606805087B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半闭框 10">
              <a:extLst>
                <a:ext uri="{FF2B5EF4-FFF2-40B4-BE49-F238E27FC236}">
                  <a16:creationId xmlns:a16="http://schemas.microsoft.com/office/drawing/2014/main" id="{5B1D17E4-FA51-D26C-5496-C84C1E552C0F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2" name="半闭框 11">
              <a:extLst>
                <a:ext uri="{FF2B5EF4-FFF2-40B4-BE49-F238E27FC236}">
                  <a16:creationId xmlns:a16="http://schemas.microsoft.com/office/drawing/2014/main" id="{41E367D8-5ABF-B557-F0A5-FB10EAC8841F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04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31428" y="714928"/>
            <a:ext cx="1076541" cy="6096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例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7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19" name="Object 3"/>
              <p:cNvSpPr txBox="1"/>
              <p:nvPr/>
            </p:nvSpPr>
            <p:spPr bwMode="auto">
              <a:xfrm>
                <a:off x="2575882" y="663722"/>
                <a:ext cx="6218967" cy="7331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求方程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″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+2)(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0419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75882" y="663722"/>
                <a:ext cx="6218967" cy="7331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421" name="Text Box 5"/>
          <p:cNvSpPr txBox="1">
            <a:spLocks noChangeArrowheads="1"/>
          </p:cNvSpPr>
          <p:nvPr/>
        </p:nvSpPr>
        <p:spPr bwMode="auto">
          <a:xfrm>
            <a:off x="8388580" y="640364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的一个特解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.</a:t>
            </a:r>
          </a:p>
        </p:txBody>
      </p:sp>
      <p:sp>
        <p:nvSpPr>
          <p:cNvPr id="60422" name="Text Box 6"/>
          <p:cNvSpPr txBox="1">
            <a:spLocks noChangeArrowheads="1"/>
          </p:cNvSpPr>
          <p:nvPr/>
        </p:nvSpPr>
        <p:spPr bwMode="auto">
          <a:xfrm>
            <a:off x="1531429" y="1468091"/>
            <a:ext cx="7620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</a:t>
            </a:r>
          </a:p>
        </p:txBody>
      </p:sp>
      <p:sp>
        <p:nvSpPr>
          <p:cNvPr id="60438" name="Text Box 22"/>
          <p:cNvSpPr txBox="1">
            <a:spLocks noChangeArrowheads="1"/>
          </p:cNvSpPr>
          <p:nvPr/>
        </p:nvSpPr>
        <p:spPr bwMode="auto">
          <a:xfrm>
            <a:off x="2570627" y="1460645"/>
            <a:ext cx="16764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设特解为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39" name="Object 23"/>
              <p:cNvSpPr txBox="1"/>
              <p:nvPr/>
            </p:nvSpPr>
            <p:spPr bwMode="auto">
              <a:xfrm>
                <a:off x="3756767" y="1191939"/>
                <a:ext cx="1892300" cy="1028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0439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56767" y="1191939"/>
                <a:ext cx="1892300" cy="10287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440" name="Text Box 24"/>
          <p:cNvSpPr txBox="1">
            <a:spLocks noChangeArrowheads="1"/>
          </p:cNvSpPr>
          <p:nvPr/>
        </p:nvSpPr>
        <p:spPr bwMode="auto">
          <a:xfrm>
            <a:off x="5621758" y="1474989"/>
            <a:ext cx="32004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代入原方程整理得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42" name="Object 26"/>
              <p:cNvSpPr txBox="1"/>
              <p:nvPr/>
            </p:nvSpPr>
            <p:spPr bwMode="auto">
              <a:xfrm>
                <a:off x="2602142" y="2166834"/>
                <a:ext cx="7843838" cy="1028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begChr m:val="["/>
                              <m:endChr m:val="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−1)(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−2)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−2)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d>
                        <m:dPr>
                          <m:begChr m:val=""/>
                          <m:endChr m:val="]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0442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02142" y="2166834"/>
                <a:ext cx="7843838" cy="10287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443" name="Text Box 27"/>
          <p:cNvSpPr txBox="1">
            <a:spLocks noChangeArrowheads="1"/>
          </p:cNvSpPr>
          <p:nvPr/>
        </p:nvSpPr>
        <p:spPr bwMode="auto">
          <a:xfrm>
            <a:off x="2569317" y="3187342"/>
            <a:ext cx="2362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比较系数得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44" name="Object 28"/>
              <p:cNvSpPr txBox="1"/>
              <p:nvPr/>
            </p:nvSpPr>
            <p:spPr bwMode="auto">
              <a:xfrm>
                <a:off x="4146550" y="3139834"/>
                <a:ext cx="10668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0444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46550" y="3139834"/>
                <a:ext cx="1066800" cy="4445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45" name="Object 29"/>
              <p:cNvSpPr txBox="1"/>
              <p:nvPr/>
            </p:nvSpPr>
            <p:spPr bwMode="auto">
              <a:xfrm>
                <a:off x="5128069" y="3135455"/>
                <a:ext cx="20193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0445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28069" y="3135455"/>
                <a:ext cx="2019300" cy="444500"/>
              </a:xfrm>
              <a:prstGeom prst="rect">
                <a:avLst/>
              </a:prstGeom>
              <a:blipFill>
                <a:blip r:embed="rId7"/>
                <a:stretch>
                  <a:fillRect l="-30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46" name="Object 30"/>
              <p:cNvSpPr txBox="1"/>
              <p:nvPr/>
            </p:nvSpPr>
            <p:spPr bwMode="auto">
              <a:xfrm>
                <a:off x="3290887" y="3581704"/>
                <a:ext cx="7032625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−1)(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−2)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−2)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=0 (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m:rPr>
                          <m:nor/>
                        </m:rPr>
                        <a:rPr lang="en-US" altLang="zh-CN" sz="2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2, 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≠4)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0446" name="Object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90887" y="3581704"/>
                <a:ext cx="7032625" cy="444500"/>
              </a:xfrm>
              <a:prstGeom prst="rect">
                <a:avLst/>
              </a:prstGeom>
              <a:blipFill>
                <a:blip r:embed="rId8"/>
                <a:stretch>
                  <a:fillRect l="-434" b="-2361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47" name="Object 31"/>
              <p:cNvSpPr txBox="1"/>
              <p:nvPr/>
            </p:nvSpPr>
            <p:spPr bwMode="auto">
              <a:xfrm>
                <a:off x="2569317" y="4152986"/>
                <a:ext cx="16510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显然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0447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69317" y="4152986"/>
                <a:ext cx="1651000" cy="444500"/>
              </a:xfrm>
              <a:prstGeom prst="rect">
                <a:avLst/>
              </a:prstGeom>
              <a:blipFill>
                <a:blip r:embed="rId9"/>
                <a:stretch>
                  <a:fillRect l="-2214" b="-821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48" name="Text Box 32"/>
              <p:cNvSpPr txBox="1">
                <a:spLocks noChangeArrowheads="1"/>
              </p:cNvSpPr>
              <p:nvPr/>
            </p:nvSpPr>
            <p:spPr bwMode="auto">
              <a:xfrm>
                <a:off x="4017117" y="4163653"/>
                <a:ext cx="2514600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可任意取值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kumimoji="1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60448" name="Text 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17117" y="4163653"/>
                <a:ext cx="2514600" cy="430887"/>
              </a:xfrm>
              <a:prstGeom prst="rect">
                <a:avLst/>
              </a:prstGeom>
              <a:blipFill>
                <a:blip r:embed="rId10"/>
                <a:stretch>
                  <a:fillRect l="-3155" t="-14085" b="-239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49" name="Text Box 33"/>
              <p:cNvSpPr txBox="1">
                <a:spLocks noChangeArrowheads="1"/>
              </p:cNvSpPr>
              <p:nvPr/>
            </p:nvSpPr>
            <p:spPr bwMode="auto">
              <a:xfrm>
                <a:off x="5503017" y="4168885"/>
                <a:ext cx="2413701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因是求特解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 故取</a:t>
                </a:r>
              </a:p>
            </p:txBody>
          </p:sp>
        </mc:Choice>
        <mc:Fallback xmlns="">
          <p:sp>
            <p:nvSpPr>
              <p:cNvPr id="60449" name="Text 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03017" y="4168885"/>
                <a:ext cx="2413701" cy="430887"/>
              </a:xfrm>
              <a:prstGeom prst="rect">
                <a:avLst/>
              </a:prstGeom>
              <a:blipFill>
                <a:blip r:embed="rId11"/>
                <a:stretch>
                  <a:fillRect l="-3283" t="-14085" b="-2253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50" name="Object 34"/>
              <p:cNvSpPr txBox="1"/>
              <p:nvPr/>
            </p:nvSpPr>
            <p:spPr bwMode="auto">
              <a:xfrm>
                <a:off x="7700117" y="4130126"/>
                <a:ext cx="17653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0450" name="Object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00117" y="4130126"/>
                <a:ext cx="1765300" cy="444500"/>
              </a:xfrm>
              <a:prstGeom prst="rect">
                <a:avLst/>
              </a:prstGeom>
              <a:blipFill>
                <a:blip r:embed="rId12"/>
                <a:stretch>
                  <a:fillRect b="-138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451" name="Text Box 35"/>
          <p:cNvSpPr txBox="1">
            <a:spLocks noChangeArrowheads="1"/>
          </p:cNvSpPr>
          <p:nvPr/>
        </p:nvSpPr>
        <p:spPr bwMode="auto">
          <a:xfrm>
            <a:off x="2569317" y="4694849"/>
            <a:ext cx="14478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从而得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52" name="Object 36"/>
              <p:cNvSpPr txBox="1"/>
              <p:nvPr/>
            </p:nvSpPr>
            <p:spPr bwMode="auto">
              <a:xfrm>
                <a:off x="3445617" y="4481836"/>
                <a:ext cx="2971800" cy="8027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=0, 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0452" name="Object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45617" y="4481836"/>
                <a:ext cx="2971800" cy="80275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53" name="Text Box 37"/>
              <p:cNvSpPr txBox="1">
                <a:spLocks noChangeArrowheads="1"/>
              </p:cNvSpPr>
              <p:nvPr/>
            </p:nvSpPr>
            <p:spPr bwMode="auto">
              <a:xfrm>
                <a:off x="2569317" y="5102824"/>
                <a:ext cx="21336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2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𝑛</m:t>
                    </m:r>
                  </m:oMath>
                </a14:m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 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＞</a:t>
                </a:r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 4 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时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kumimoji="1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60453" name="Text 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69317" y="5102824"/>
                <a:ext cx="2133600" cy="461665"/>
              </a:xfrm>
              <a:prstGeom prst="rect">
                <a:avLst/>
              </a:prstGeom>
              <a:blipFill>
                <a:blip r:embed="rId14"/>
                <a:stretch>
                  <a:fillRect l="-3714" t="-13158" b="-2631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454" name="Line 38"/>
          <p:cNvSpPr>
            <a:spLocks noChangeShapeType="1"/>
          </p:cNvSpPr>
          <p:nvPr/>
        </p:nvSpPr>
        <p:spPr bwMode="auto">
          <a:xfrm flipV="1">
            <a:off x="3401291" y="4062357"/>
            <a:ext cx="3943927" cy="17276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55" name="Object 39"/>
              <p:cNvSpPr txBox="1"/>
              <p:nvPr/>
            </p:nvSpPr>
            <p:spPr bwMode="auto">
              <a:xfrm>
                <a:off x="3057969" y="5517757"/>
                <a:ext cx="2070100" cy="850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0455" name="Object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57969" y="5517757"/>
                <a:ext cx="2070100" cy="8509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56" name="Object 40"/>
              <p:cNvSpPr txBox="1"/>
              <p:nvPr/>
            </p:nvSpPr>
            <p:spPr bwMode="auto">
              <a:xfrm>
                <a:off x="4862888" y="5485530"/>
                <a:ext cx="38354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=⋯=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−1)(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−2)⋯4</m:t>
                          </m:r>
                        </m:den>
                      </m:f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0456" name="Object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62888" y="5485530"/>
                <a:ext cx="3835400" cy="9271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57" name="Object 41"/>
              <p:cNvSpPr txBox="1"/>
              <p:nvPr/>
            </p:nvSpPr>
            <p:spPr bwMode="auto">
              <a:xfrm>
                <a:off x="8386310" y="5516834"/>
                <a:ext cx="13335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−1)!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0457" name="Object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6310" y="5516834"/>
                <a:ext cx="1333500" cy="9271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404537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0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0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0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0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0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0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0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0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0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0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0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0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0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60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0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60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60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60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60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60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8" grpId="0"/>
      <p:bldP spid="60419" grpId="0"/>
      <p:bldP spid="60421" grpId="0"/>
      <p:bldP spid="60422" grpId="0" autoUpdateAnimBg="0"/>
      <p:bldP spid="60438" grpId="0" autoUpdateAnimBg="0"/>
      <p:bldP spid="60439" grpId="0"/>
      <p:bldP spid="60440" grpId="0" autoUpdateAnimBg="0"/>
      <p:bldP spid="60442" grpId="0"/>
      <p:bldP spid="60443" grpId="0" autoUpdateAnimBg="0"/>
      <p:bldP spid="60444" grpId="0"/>
      <p:bldP spid="60445" grpId="0"/>
      <p:bldP spid="60446" grpId="0"/>
      <p:bldP spid="60447" grpId="0"/>
      <p:bldP spid="60448" grpId="0" autoUpdateAnimBg="0"/>
      <p:bldP spid="60449" grpId="0" autoUpdateAnimBg="0"/>
      <p:bldP spid="60450" grpId="0"/>
      <p:bldP spid="60451" grpId="0" autoUpdateAnimBg="0"/>
      <p:bldP spid="60452" grpId="0"/>
      <p:bldP spid="60453" grpId="0" autoUpdateAnimBg="0"/>
      <p:bldP spid="60455" grpId="0"/>
      <p:bldP spid="60456" grpId="0"/>
      <p:bldP spid="6045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F419A6D0-DB94-B26A-818C-D622118276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4006652A-04CD-1842-9A62-2F0A39BAA4A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a14:m>
                  <a:r>
                    <a:rPr lang="zh-CN" alt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4006652A-04CD-1842-9A62-2F0A39BAA4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E81AD7CB-D4ED-037A-A9DC-DCE2B5E79DD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5105FDA8-8BE5-4D5D-3F03-E5FF3F37A46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1D905313-AC0C-EE5E-9025-3EBF31E5C49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F881C032-E0F6-0ADA-913D-B1AE15523F7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1459" name="Text Box 19"/>
          <p:cNvSpPr txBox="1">
            <a:spLocks noChangeArrowheads="1"/>
          </p:cNvSpPr>
          <p:nvPr/>
        </p:nvSpPr>
        <p:spPr bwMode="auto">
          <a:xfrm>
            <a:off x="2640440" y="1656746"/>
            <a:ext cx="1219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因此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60" name="Object 20"/>
              <p:cNvSpPr txBox="1"/>
              <p:nvPr/>
            </p:nvSpPr>
            <p:spPr bwMode="auto">
              <a:xfrm>
                <a:off x="3903552" y="2029500"/>
                <a:ext cx="2327445" cy="124015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1460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03552" y="2029500"/>
                <a:ext cx="2327445" cy="12401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461" name="Object 21"/>
              <p:cNvSpPr txBox="1"/>
              <p:nvPr/>
            </p:nvSpPr>
            <p:spPr bwMode="auto">
              <a:xfrm>
                <a:off x="5592639" y="2025267"/>
                <a:ext cx="2946981" cy="131671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=4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−1)!</m:t>
                              </m:r>
                            </m:den>
                          </m:f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1461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92639" y="2025267"/>
                <a:ext cx="2946981" cy="13167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462" name="Object 22"/>
              <p:cNvSpPr txBox="1"/>
              <p:nvPr/>
            </p:nvSpPr>
            <p:spPr bwMode="auto">
              <a:xfrm>
                <a:off x="7753418" y="2024562"/>
                <a:ext cx="2327445" cy="131671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=3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1462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53418" y="2024562"/>
                <a:ext cx="2327445" cy="13167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463" name="Object 23"/>
              <p:cNvSpPr txBox="1"/>
              <p:nvPr/>
            </p:nvSpPr>
            <p:spPr bwMode="auto">
              <a:xfrm>
                <a:off x="3903552" y="3256067"/>
                <a:ext cx="2159000" cy="1092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1463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03552" y="3256067"/>
                <a:ext cx="2159000" cy="1092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465" name="Object 25"/>
              <p:cNvSpPr txBox="1"/>
              <p:nvPr/>
            </p:nvSpPr>
            <p:spPr bwMode="auto">
              <a:xfrm>
                <a:off x="3903552" y="4520644"/>
                <a:ext cx="3479800" cy="850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1465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03552" y="4520644"/>
                <a:ext cx="3479800" cy="8509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66" name="Text Box 26"/>
          <p:cNvSpPr txBox="1">
            <a:spLocks noChangeArrowheads="1"/>
          </p:cNvSpPr>
          <p:nvPr/>
        </p:nvSpPr>
        <p:spPr bwMode="auto">
          <a:xfrm>
            <a:off x="2640440" y="3534526"/>
            <a:ext cx="117211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注意到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:</a:t>
            </a:r>
          </a:p>
        </p:txBody>
      </p:sp>
      <p:sp>
        <p:nvSpPr>
          <p:cNvPr id="61467" name="Text Box 27"/>
          <p:cNvSpPr txBox="1">
            <a:spLocks noChangeArrowheads="1"/>
          </p:cNvSpPr>
          <p:nvPr/>
        </p:nvSpPr>
        <p:spPr bwMode="auto">
          <a:xfrm>
            <a:off x="5828608" y="3546829"/>
            <a:ext cx="272382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此题的上述特解即为</a:t>
            </a:r>
          </a:p>
        </p:txBody>
      </p:sp>
    </p:spTree>
    <p:extLst>
      <p:ext uri="{BB962C8B-B14F-4D97-AF65-F5344CB8AC3E}">
        <p14:creationId xmlns:p14="http://schemas.microsoft.com/office/powerpoint/2010/main" val="29905949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1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1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1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1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59" grpId="0"/>
      <p:bldP spid="61460" grpId="0"/>
      <p:bldP spid="61461" grpId="0"/>
      <p:bldP spid="61462" grpId="0"/>
      <p:bldP spid="61463" grpId="0"/>
      <p:bldP spid="61465" grpId="0"/>
      <p:bldP spid="61466" grpId="0" build="p" autoUpdateAnimBg="0"/>
      <p:bldP spid="61467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14684" y="368276"/>
            <a:ext cx="4038600" cy="6096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三、欧拉公式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64" name="Object 4"/>
              <p:cNvSpPr txBox="1"/>
              <p:nvPr/>
            </p:nvSpPr>
            <p:spPr bwMode="auto">
              <a:xfrm>
                <a:off x="4184650" y="642009"/>
                <a:ext cx="2844800" cy="1104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zh-CN" altLang="en-US" sz="26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sSub>
                        <m:sSub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1536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84650" y="642009"/>
                <a:ext cx="2844800" cy="1104900"/>
              </a:xfrm>
              <a:prstGeom prst="rect">
                <a:avLst/>
              </a:prstGeom>
              <a:blipFill>
                <a:blip r:embed="rId3"/>
                <a:stretch>
                  <a:fillRect b="-219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83" name="Text Box 23"/>
              <p:cNvSpPr txBox="1">
                <a:spLocks noChangeArrowheads="1"/>
              </p:cNvSpPr>
              <p:nvPr/>
            </p:nvSpPr>
            <p:spPr bwMode="auto">
              <a:xfrm>
                <a:off x="5760270" y="2059715"/>
                <a:ext cx="4406900" cy="4924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则称 </a:t>
                </a:r>
                <a:r>
                  <a:rPr kumimoji="1" lang="zh-CN" altLang="en-US" sz="26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①</a:t>
                </a:r>
                <a:r>
                  <a:rPr kumimoji="1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 </a:t>
                </a:r>
                <a:r>
                  <a:rPr kumimoji="1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4926A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收敛</a:t>
                </a:r>
                <a14:m>
                  <m:oMath xmlns:m="http://schemas.openxmlformats.org/officeDocument/2006/math">
                    <m:r>
                      <a:rPr lang="zh-CN" altLang="en-US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1" lang="zh-CN" alt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 且其和为</a:t>
                </a:r>
              </a:p>
            </p:txBody>
          </p:sp>
        </mc:Choice>
        <mc:Fallback xmlns="">
          <p:sp>
            <p:nvSpPr>
              <p:cNvPr id="15383" name="Text 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60270" y="2059715"/>
                <a:ext cx="4406900" cy="492443"/>
              </a:xfrm>
              <a:prstGeom prst="rect">
                <a:avLst/>
              </a:prstGeom>
              <a:blipFill>
                <a:blip r:embed="rId4"/>
                <a:stretch>
                  <a:fillRect l="-2490" t="-13580" b="-2716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85" name="Object 25"/>
              <p:cNvSpPr txBox="1"/>
              <p:nvPr/>
            </p:nvSpPr>
            <p:spPr bwMode="auto">
              <a:xfrm>
                <a:off x="2675712" y="4371256"/>
                <a:ext cx="3248197" cy="1104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zh-CN" altLang="en-US" sz="26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sSub>
                        <m:sSub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15385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75712" y="4371256"/>
                <a:ext cx="3248197" cy="1104900"/>
              </a:xfrm>
              <a:prstGeom prst="rect">
                <a:avLst/>
              </a:prstGeom>
              <a:blipFill>
                <a:blip r:embed="rId5"/>
                <a:stretch>
                  <a:fillRect b="-22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86" name="Text Box 26"/>
          <p:cNvSpPr txBox="1">
            <a:spLocks noChangeArrowheads="1"/>
          </p:cNvSpPr>
          <p:nvPr/>
        </p:nvSpPr>
        <p:spPr bwMode="auto">
          <a:xfrm>
            <a:off x="4810292" y="4712300"/>
            <a:ext cx="21336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绝对收敛</a:t>
            </a:r>
          </a:p>
        </p:txBody>
      </p:sp>
      <p:sp>
        <p:nvSpPr>
          <p:cNvPr id="15387" name="AutoShape 27"/>
          <p:cNvSpPr>
            <a:spLocks noChangeArrowheads="1"/>
          </p:cNvSpPr>
          <p:nvPr/>
        </p:nvSpPr>
        <p:spPr bwMode="auto">
          <a:xfrm>
            <a:off x="6393760" y="4955995"/>
            <a:ext cx="863600" cy="152400"/>
          </a:xfrm>
          <a:prstGeom prst="rightArrow">
            <a:avLst>
              <a:gd name="adj1" fmla="val 50000"/>
              <a:gd name="adj2" fmla="val 141667"/>
            </a:avLst>
          </a:prstGeom>
          <a:solidFill>
            <a:srgbClr val="04926A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88" name="Object 28"/>
              <p:cNvSpPr txBox="1"/>
              <p:nvPr/>
            </p:nvSpPr>
            <p:spPr bwMode="auto">
              <a:xfrm>
                <a:off x="7277100" y="4314989"/>
                <a:ext cx="1333572" cy="17852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15388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77100" y="4314989"/>
                <a:ext cx="1333572" cy="17852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90" name="AutoShape 30"/>
          <p:cNvSpPr>
            <a:spLocks noChangeArrowheads="1"/>
          </p:cNvSpPr>
          <p:nvPr/>
        </p:nvSpPr>
        <p:spPr bwMode="auto">
          <a:xfrm>
            <a:off x="6432027" y="5876146"/>
            <a:ext cx="863600" cy="152400"/>
          </a:xfrm>
          <a:prstGeom prst="rightArrow">
            <a:avLst>
              <a:gd name="adj1" fmla="val 50000"/>
              <a:gd name="adj2" fmla="val 141667"/>
            </a:avLst>
          </a:prstGeom>
          <a:solidFill>
            <a:srgbClr val="04926A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91" name="Object 31"/>
              <p:cNvSpPr txBox="1"/>
              <p:nvPr/>
            </p:nvSpPr>
            <p:spPr bwMode="auto">
              <a:xfrm>
                <a:off x="7295627" y="5365749"/>
                <a:ext cx="2933944" cy="142875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zh-CN" altLang="en-US" sz="26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sSub>
                        <m:sSub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15391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95627" y="5365749"/>
                <a:ext cx="2933944" cy="142875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92" name="Text Box 32"/>
          <p:cNvSpPr txBox="1">
            <a:spLocks noChangeArrowheads="1"/>
          </p:cNvSpPr>
          <p:nvPr/>
        </p:nvSpPr>
        <p:spPr bwMode="auto">
          <a:xfrm>
            <a:off x="9412600" y="5712621"/>
            <a:ext cx="12954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收敛</a:t>
            </a: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70" name="Object 10"/>
              <p:cNvSpPr txBox="1"/>
              <p:nvPr/>
            </p:nvSpPr>
            <p:spPr bwMode="auto">
              <a:xfrm>
                <a:off x="2534160" y="1692218"/>
                <a:ext cx="2247557" cy="134488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15370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34160" y="1692218"/>
                <a:ext cx="2247557" cy="134488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74" name="Object 14"/>
              <p:cNvSpPr txBox="1"/>
              <p:nvPr/>
            </p:nvSpPr>
            <p:spPr bwMode="auto">
              <a:xfrm>
                <a:off x="4152788" y="1690369"/>
                <a:ext cx="2003425" cy="12731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15374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52788" y="1690369"/>
                <a:ext cx="2003425" cy="12731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99" name="Text Box 39"/>
          <p:cNvSpPr txBox="1">
            <a:spLocks noChangeArrowheads="1"/>
          </p:cNvSpPr>
          <p:nvPr/>
        </p:nvSpPr>
        <p:spPr bwMode="auto">
          <a:xfrm>
            <a:off x="2107220" y="3072771"/>
            <a:ext cx="8382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400" name="Object 40"/>
              <p:cNvSpPr txBox="1"/>
              <p:nvPr/>
            </p:nvSpPr>
            <p:spPr bwMode="auto">
              <a:xfrm>
                <a:off x="2531798" y="2750451"/>
                <a:ext cx="2468827" cy="1016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d>
                        <m:dPr>
                          <m:begChr m:val="|"/>
                          <m:endChr m:val="|"/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zh-CN" altLang="en-US" sz="26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15400" name="Object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31798" y="2750451"/>
                <a:ext cx="2468827" cy="1016000"/>
              </a:xfrm>
              <a:prstGeom prst="rect">
                <a:avLst/>
              </a:prstGeom>
              <a:blipFill>
                <a:blip r:embed="rId10"/>
                <a:stretch>
                  <a:fillRect b="-1137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08" name="Object 48"/>
              <p:cNvSpPr txBox="1"/>
              <p:nvPr/>
            </p:nvSpPr>
            <p:spPr bwMode="auto">
              <a:xfrm>
                <a:off x="9402141" y="2048349"/>
                <a:ext cx="1530057" cy="6254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zh-CN" altLang="en-US" sz="26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15408" name="Object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02141" y="2048349"/>
                <a:ext cx="1530057" cy="62547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13" name="Object 53"/>
              <p:cNvSpPr txBox="1"/>
              <p:nvPr/>
            </p:nvSpPr>
            <p:spPr bwMode="auto">
              <a:xfrm>
                <a:off x="4669170" y="2750610"/>
                <a:ext cx="3162274" cy="146384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6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ad>
                        <m:radPr>
                          <m:degHide m:val="on"/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15413" name="Object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69170" y="2750610"/>
                <a:ext cx="3162274" cy="146384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14" name="Text Box 54"/>
              <p:cNvSpPr txBox="1">
                <a:spLocks noChangeArrowheads="1"/>
              </p:cNvSpPr>
              <p:nvPr/>
            </p:nvSpPr>
            <p:spPr bwMode="auto">
              <a:xfrm>
                <a:off x="7137997" y="3113044"/>
                <a:ext cx="1295400" cy="4924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收敛</a:t>
                </a:r>
                <a14:m>
                  <m:oMath xmlns:m="http://schemas.openxmlformats.org/officeDocument/2006/math">
                    <m:r>
                      <a:rPr lang="zh-CN" altLang="en-US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6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kumimoji="1" lang="en-US" altLang="zh-CN" sz="2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15414" name="Text 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37997" y="3113044"/>
                <a:ext cx="1295400" cy="492443"/>
              </a:xfrm>
              <a:prstGeom prst="rect">
                <a:avLst/>
              </a:prstGeom>
              <a:blipFill>
                <a:blip r:embed="rId13"/>
                <a:stretch>
                  <a:fillRect l="-8491" t="-15000" b="-2875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417" name="Text Box 57"/>
          <p:cNvSpPr txBox="1">
            <a:spLocks noChangeArrowheads="1"/>
          </p:cNvSpPr>
          <p:nvPr/>
        </p:nvSpPr>
        <p:spPr bwMode="auto">
          <a:xfrm>
            <a:off x="2107220" y="2067399"/>
            <a:ext cx="8382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若</a:t>
            </a:r>
          </a:p>
        </p:txBody>
      </p:sp>
      <p:sp>
        <p:nvSpPr>
          <p:cNvPr id="15418" name="Text Box 58"/>
          <p:cNvSpPr txBox="1">
            <a:spLocks noChangeArrowheads="1"/>
          </p:cNvSpPr>
          <p:nvPr/>
        </p:nvSpPr>
        <p:spPr bwMode="auto">
          <a:xfrm>
            <a:off x="2096122" y="977876"/>
            <a:ext cx="24384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对复数项级数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419" name="Object 59"/>
              <p:cNvSpPr txBox="1"/>
              <p:nvPr/>
            </p:nvSpPr>
            <p:spPr bwMode="auto">
              <a:xfrm>
                <a:off x="2819923" y="3875255"/>
                <a:ext cx="4163405" cy="7635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US" altLang="zh-CN" sz="2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ad>
                        <m:radPr>
                          <m:degHide m:val="on"/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 ,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15419" name="Object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9923" y="3875255"/>
                <a:ext cx="4163405" cy="7635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20" name="Object 60"/>
              <p:cNvSpPr txBox="1"/>
              <p:nvPr/>
            </p:nvSpPr>
            <p:spPr bwMode="auto">
              <a:xfrm>
                <a:off x="5714148" y="3866644"/>
                <a:ext cx="3273791" cy="117399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US" altLang="zh-CN" sz="2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ad>
                        <m:radPr>
                          <m:degHide m:val="on"/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15420" name="Object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14148" y="3866644"/>
                <a:ext cx="3273791" cy="117399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421" name="Text Box 61"/>
          <p:cNvSpPr txBox="1">
            <a:spLocks noChangeArrowheads="1"/>
          </p:cNvSpPr>
          <p:nvPr/>
        </p:nvSpPr>
        <p:spPr bwMode="auto">
          <a:xfrm>
            <a:off x="6203950" y="995485"/>
            <a:ext cx="8382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422" name="Object 62"/>
              <p:cNvSpPr txBox="1"/>
              <p:nvPr/>
            </p:nvSpPr>
            <p:spPr bwMode="auto">
              <a:xfrm>
                <a:off x="8267699" y="4321339"/>
                <a:ext cx="1333573" cy="120849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15422" name="Object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67699" y="4321339"/>
                <a:ext cx="1333573" cy="120849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423" name="Text Box 63"/>
          <p:cNvSpPr txBox="1">
            <a:spLocks noChangeArrowheads="1"/>
          </p:cNvSpPr>
          <p:nvPr/>
        </p:nvSpPr>
        <p:spPr bwMode="auto">
          <a:xfrm>
            <a:off x="9293347" y="4688502"/>
            <a:ext cx="17526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绝对收敛</a:t>
            </a:r>
          </a:p>
        </p:txBody>
      </p:sp>
      <p:sp>
        <p:nvSpPr>
          <p:cNvPr id="15424" name="Text Box 64"/>
          <p:cNvSpPr txBox="1">
            <a:spLocks noChangeArrowheads="1"/>
          </p:cNvSpPr>
          <p:nvPr/>
        </p:nvSpPr>
        <p:spPr bwMode="auto">
          <a:xfrm>
            <a:off x="7963728" y="3089009"/>
            <a:ext cx="3196709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则称 </a:t>
            </a:r>
            <a:r>
              <a:rPr kumimoji="1" lang="zh-CN" altLang="en-US" sz="2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①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绝对收敛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. </a:t>
            </a:r>
          </a:p>
        </p:txBody>
      </p:sp>
      <p:sp>
        <p:nvSpPr>
          <p:cNvPr id="15425" name="Text Box 65"/>
          <p:cNvSpPr txBox="1">
            <a:spLocks noChangeArrowheads="1"/>
          </p:cNvSpPr>
          <p:nvPr/>
        </p:nvSpPr>
        <p:spPr bwMode="auto">
          <a:xfrm>
            <a:off x="2107220" y="3943566"/>
            <a:ext cx="851515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由于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426" name="Text Box 66"/>
              <p:cNvSpPr txBox="1">
                <a:spLocks noChangeArrowheads="1"/>
              </p:cNvSpPr>
              <p:nvPr/>
            </p:nvSpPr>
            <p:spPr bwMode="auto">
              <a:xfrm>
                <a:off x="8357166" y="3942675"/>
                <a:ext cx="1160895" cy="492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lang="zh-CN" altLang="en-US" sz="26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6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故知 </a:t>
                </a:r>
              </a:p>
            </p:txBody>
          </p:sp>
        </mc:Choice>
        <mc:Fallback xmlns="">
          <p:sp>
            <p:nvSpPr>
              <p:cNvPr id="15426" name="Text 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57166" y="3942675"/>
                <a:ext cx="1160895" cy="492443"/>
              </a:xfrm>
              <a:prstGeom prst="rect">
                <a:avLst/>
              </a:prstGeom>
              <a:blipFill>
                <a:blip r:embed="rId17"/>
                <a:stretch>
                  <a:fillRect t="-13580" b="-2716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318265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5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5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5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5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5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5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5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5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5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5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5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500"/>
                            </p:stCondLst>
                            <p:childTnLst>
                              <p:par>
                                <p:cTn id="10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5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5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5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000"/>
                            </p:stCondLst>
                            <p:childTnLst>
                              <p:par>
                                <p:cTn id="1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5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/>
      <p:bldP spid="15364" grpId="0"/>
      <p:bldP spid="15383" grpId="0" autoUpdateAnimBg="0"/>
      <p:bldP spid="15385" grpId="0"/>
      <p:bldP spid="15386" grpId="0" autoUpdateAnimBg="0"/>
      <p:bldP spid="15388" grpId="0"/>
      <p:bldP spid="15391" grpId="0"/>
      <p:bldP spid="15392" grpId="0" autoUpdateAnimBg="0"/>
      <p:bldP spid="15370" grpId="0"/>
      <p:bldP spid="15374" grpId="0"/>
      <p:bldP spid="15399" grpId="0" autoUpdateAnimBg="0"/>
      <p:bldP spid="15400" grpId="0"/>
      <p:bldP spid="15408" grpId="0"/>
      <p:bldP spid="15413" grpId="0"/>
      <p:bldP spid="15414" grpId="0" autoUpdateAnimBg="0"/>
      <p:bldP spid="15417" grpId="0" autoUpdateAnimBg="0"/>
      <p:bldP spid="15418" grpId="0" autoUpdateAnimBg="0"/>
      <p:bldP spid="15419" grpId="0"/>
      <p:bldP spid="15420" grpId="0"/>
      <p:bldP spid="15421" grpId="0" autoUpdateAnimBg="0"/>
      <p:bldP spid="15422" grpId="0"/>
      <p:bldP spid="15423" grpId="0" autoUpdateAnimBg="0"/>
      <p:bldP spid="15424" grpId="0" build="p" autoUpdateAnimBg="0"/>
      <p:bldP spid="15425" grpId="0" build="p" autoUpdateAnimBg="0"/>
      <p:bldP spid="15426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E4F8AEF9-4F3D-8A80-6DF4-9C304F6B7580}"/>
              </a:ext>
            </a:extLst>
          </p:cNvPr>
          <p:cNvGrpSpPr/>
          <p:nvPr/>
        </p:nvGrpSpPr>
        <p:grpSpPr>
          <a:xfrm>
            <a:off x="1215390" y="489641"/>
            <a:ext cx="9761220" cy="5888355"/>
            <a:chOff x="679" y="1204"/>
            <a:chExt cx="15372" cy="9273"/>
          </a:xfrm>
        </p:grpSpPr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1973A0AA-521D-1CFA-972C-1C1CEA781073}"/>
                </a:ext>
              </a:extLst>
            </p:cNvPr>
            <p:cNvSpPr/>
            <p:nvPr/>
          </p:nvSpPr>
          <p:spPr>
            <a:xfrm>
              <a:off x="1644" y="1204"/>
              <a:ext cx="14407" cy="9273"/>
            </a:xfrm>
            <a:prstGeom prst="rect">
              <a:avLst/>
            </a:prstGeom>
            <a:solidFill>
              <a:srgbClr val="039462">
                <a:alpha val="2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9ADE5F5F-147E-5545-F4AC-18AC35BE62CE}"/>
                </a:ext>
              </a:extLst>
            </p:cNvPr>
            <p:cNvGrpSpPr/>
            <p:nvPr/>
          </p:nvGrpSpPr>
          <p:grpSpPr>
            <a:xfrm>
              <a:off x="679" y="4875"/>
              <a:ext cx="1962" cy="1417"/>
              <a:chOff x="-400881" y="-1470876"/>
              <a:chExt cx="1882603" cy="900000"/>
            </a:xfrm>
          </p:grpSpPr>
          <p:sp>
            <p:nvSpPr>
              <p:cNvPr id="6" name="PA-102231">
                <a:extLst>
                  <a:ext uri="{FF2B5EF4-FFF2-40B4-BE49-F238E27FC236}">
                    <a16:creationId xmlns:a16="http://schemas.microsoft.com/office/drawing/2014/main" id="{E95C7C0B-A416-F1D5-F194-BB224091A730}"/>
                  </a:ext>
                </a:extLst>
              </p:cNvPr>
              <p:cNvSpPr/>
              <p:nvPr>
                <p:custDataLst>
                  <p:tags r:id="rId1"/>
                </p:custDataLst>
              </p:nvPr>
            </p:nvSpPr>
            <p:spPr>
              <a:xfrm>
                <a:off x="-400881" y="-1470876"/>
                <a:ext cx="1882603" cy="900000"/>
              </a:xfrm>
              <a:prstGeom prst="rect">
                <a:avLst/>
              </a:prstGeom>
              <a:solidFill>
                <a:schemeClr val="bg1"/>
              </a:solidFill>
              <a:ln w="19050">
                <a:gradFill>
                  <a:gsLst>
                    <a:gs pos="5000">
                      <a:srgbClr val="17A45E"/>
                    </a:gs>
                    <a:gs pos="56000">
                      <a:srgbClr val="039267"/>
                    </a:gs>
                    <a:gs pos="100000">
                      <a:srgbClr val="068983"/>
                    </a:gs>
                  </a:gsLst>
                  <a:lin ang="10800000" scaled="0"/>
                </a:gradFill>
              </a:ln>
              <a:effectLst>
                <a:outerShdw blurRad="203200" dist="63500" dir="3000000" algn="ctr" rotWithShape="0">
                  <a:schemeClr val="bg1">
                    <a:lumMod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n>
                    <a:solidFill>
                      <a:schemeClr val="bg1">
                        <a:lumMod val="95000"/>
                      </a:schemeClr>
                    </a:solidFill>
                  </a:ln>
                  <a:cs typeface="+mn-ea"/>
                  <a:sym typeface="+mn-lt"/>
                </a:endParaRPr>
              </a:p>
            </p:txBody>
          </p:sp>
          <p:sp>
            <p:nvSpPr>
              <p:cNvPr id="7" name="Rectangle 167">
                <a:extLst>
                  <a:ext uri="{FF2B5EF4-FFF2-40B4-BE49-F238E27FC236}">
                    <a16:creationId xmlns:a16="http://schemas.microsoft.com/office/drawing/2014/main" id="{63B9AE13-CF56-B469-0453-4134FE29C1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82256" y="-1209623"/>
                <a:ext cx="1247751" cy="43098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lIns="0" tIns="0" rIns="0" bIns="0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1" dirty="0">
                    <a:solidFill>
                      <a:srgbClr val="04926A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定义 </a:t>
                </a:r>
                <a:endParaRPr kumimoji="1" lang="en-US" altLang="zh-CN" sz="2800" b="1" dirty="0">
                  <a:solidFill>
                    <a:srgbClr val="04926A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</p:grpSp>
      </p:grpSp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882943" y="657804"/>
            <a:ext cx="2514600" cy="6096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zh-CN" altLang="en-US" sz="2400" b="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复变量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87" name="Object 3"/>
              <p:cNvSpPr txBox="1"/>
              <p:nvPr/>
            </p:nvSpPr>
            <p:spPr bwMode="auto">
              <a:xfrm>
                <a:off x="3927343" y="620627"/>
                <a:ext cx="2072347" cy="381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6387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27343" y="620627"/>
                <a:ext cx="2072347" cy="381000"/>
              </a:xfrm>
              <a:prstGeom prst="rect">
                <a:avLst/>
              </a:prstGeom>
              <a:blipFill>
                <a:blip r:embed="rId4"/>
                <a:stretch>
                  <a:fillRect b="-3709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5334835" y="617055"/>
            <a:ext cx="2514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的指数函数为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90" name="Object 6"/>
              <p:cNvSpPr txBox="1"/>
              <p:nvPr/>
            </p:nvSpPr>
            <p:spPr bwMode="auto">
              <a:xfrm>
                <a:off x="2925148" y="1048850"/>
                <a:ext cx="6743563" cy="83850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&lt;∞)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6390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25148" y="1048850"/>
                <a:ext cx="6743563" cy="8385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2882943" y="1793674"/>
            <a:ext cx="563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易证它在整个复平面上绝对收敛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92" name="Text Box 8"/>
              <p:cNvSpPr txBox="1">
                <a:spLocks noChangeArrowheads="1"/>
              </p:cNvSpPr>
              <p:nvPr/>
            </p:nvSpPr>
            <p:spPr bwMode="auto">
              <a:xfrm>
                <a:off x="2882943" y="2303648"/>
                <a:ext cx="52578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sz="24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=</a:t>
                </a:r>
                <a:r>
                  <a:rPr kumimoji="1" lang="en-US" altLang="zh-CN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 </a:t>
                </a:r>
                <a:r>
                  <a:rPr kumimoji="1" lang="en-US" altLang="zh-CN" sz="24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0</a:t>
                </a:r>
                <a:r>
                  <a:rPr kumimoji="1" lang="en-US" altLang="zh-CN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 </a:t>
                </a: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时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它与实指数函数</a:t>
                </a:r>
              </a:p>
            </p:txBody>
          </p:sp>
        </mc:Choice>
        <mc:Fallback xmlns="">
          <p:sp>
            <p:nvSpPr>
              <p:cNvPr id="16392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82943" y="2303648"/>
                <a:ext cx="5257800" cy="461665"/>
              </a:xfrm>
              <a:prstGeom prst="rect">
                <a:avLst/>
              </a:prstGeom>
              <a:blipFill>
                <a:blip r:embed="rId6"/>
                <a:stretch>
                  <a:fillRect l="-1856" t="-14474" b="-2894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93" name="Object 9"/>
              <p:cNvSpPr txBox="1"/>
              <p:nvPr/>
            </p:nvSpPr>
            <p:spPr bwMode="auto">
              <a:xfrm>
                <a:off x="6573838" y="2303648"/>
                <a:ext cx="645317" cy="6372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6393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73838" y="2303648"/>
                <a:ext cx="645317" cy="63723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95" name="Text Box 11"/>
              <p:cNvSpPr txBox="1">
                <a:spLocks noChangeArrowheads="1"/>
              </p:cNvSpPr>
              <p:nvPr/>
            </p:nvSpPr>
            <p:spPr bwMode="auto">
              <a:xfrm>
                <a:off x="2882943" y="2839573"/>
                <a:ext cx="22860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= 0 </a:t>
                </a: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时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16395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82943" y="2839573"/>
                <a:ext cx="2286000" cy="461665"/>
              </a:xfrm>
              <a:prstGeom prst="rect">
                <a:avLst/>
              </a:prstGeom>
              <a:blipFill>
                <a:blip r:embed="rId8"/>
                <a:stretch>
                  <a:fillRect l="-4267" t="-14474" b="-2894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97" name="Object 13"/>
              <p:cNvSpPr txBox="1"/>
              <p:nvPr/>
            </p:nvSpPr>
            <p:spPr bwMode="auto">
              <a:xfrm>
                <a:off x="2939207" y="3187369"/>
                <a:ext cx="7703393" cy="94006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=1+</m:t>
                      </m:r>
                      <m:r>
                        <m:rPr>
                          <m:sty m:val="p"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6397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39207" y="3187369"/>
                <a:ext cx="7703393" cy="94006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98" name="Object 14"/>
              <p:cNvSpPr txBox="1"/>
              <p:nvPr/>
            </p:nvSpPr>
            <p:spPr bwMode="auto">
              <a:xfrm>
                <a:off x="3404726" y="3913399"/>
                <a:ext cx="6340186" cy="93869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2!</m:t>
                              </m:r>
                            </m:den>
                          </m:f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4!</m:t>
                              </m:r>
                            </m:den>
                          </m:f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−⋯+</m:t>
                          </m:r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(−1</m:t>
                              </m:r>
                              <m:sSup>
                                <m:sSup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d>
                                <m:d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+⋯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6398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04726" y="3913399"/>
                <a:ext cx="6340186" cy="93869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99" name="Object 15"/>
              <p:cNvSpPr txBox="1"/>
              <p:nvPr/>
            </p:nvSpPr>
            <p:spPr bwMode="auto">
              <a:xfrm>
                <a:off x="3404726" y="5099703"/>
                <a:ext cx="843475" cy="6782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6399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04726" y="5099703"/>
                <a:ext cx="843475" cy="678263"/>
              </a:xfrm>
              <a:prstGeom prst="rect">
                <a:avLst/>
              </a:prstGeom>
              <a:blipFill>
                <a:blip r:embed="rId11"/>
                <a:stretch>
                  <a:fillRect l="-72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00" name="Object 16"/>
              <p:cNvSpPr txBox="1"/>
              <p:nvPr/>
            </p:nvSpPr>
            <p:spPr bwMode="auto">
              <a:xfrm>
                <a:off x="3404726" y="5719591"/>
                <a:ext cx="1776437" cy="46717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6400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04726" y="5719591"/>
                <a:ext cx="1776437" cy="467177"/>
              </a:xfrm>
              <a:prstGeom prst="rect">
                <a:avLst/>
              </a:prstGeom>
              <a:blipFill>
                <a:blip r:embed="rId12"/>
                <a:stretch>
                  <a:fillRect b="-1168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01" name="Object 17"/>
              <p:cNvSpPr txBox="1"/>
              <p:nvPr/>
            </p:nvSpPr>
            <p:spPr bwMode="auto">
              <a:xfrm>
                <a:off x="3826463" y="4877155"/>
                <a:ext cx="6597331" cy="9827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3!</m:t>
                              </m:r>
                            </m:den>
                          </m:f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5!</m:t>
                              </m:r>
                            </m:den>
                          </m:f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−⋯+</m:t>
                          </m:r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(−1</m:t>
                              </m:r>
                              <m:sSup>
                                <m:sSup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−1)!</m:t>
                              </m:r>
                            </m:den>
                          </m:f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+⋯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6401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26463" y="4877155"/>
                <a:ext cx="6597331" cy="98279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02" name="Object 18"/>
              <p:cNvSpPr txBox="1"/>
              <p:nvPr/>
            </p:nvSpPr>
            <p:spPr bwMode="auto">
              <a:xfrm>
                <a:off x="4748652" y="5714331"/>
                <a:ext cx="1507332" cy="65326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func>
                        <m:func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6402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48652" y="5714331"/>
                <a:ext cx="1507332" cy="653268"/>
              </a:xfrm>
              <a:prstGeom prst="rect">
                <a:avLst/>
              </a:prstGeom>
              <a:blipFill>
                <a:blip r:embed="rId14"/>
                <a:stretch>
                  <a:fillRect l="-8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406" name="Text Box 22"/>
          <p:cNvSpPr txBox="1">
            <a:spLocks noChangeArrowheads="1"/>
          </p:cNvSpPr>
          <p:nvPr/>
        </p:nvSpPr>
        <p:spPr bwMode="auto">
          <a:xfrm>
            <a:off x="6932997" y="2287714"/>
            <a:ext cx="280076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的幂级数展式一致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223318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4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6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6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6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6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  <p:bldP spid="16387" grpId="0"/>
      <p:bldP spid="16389" grpId="0"/>
      <p:bldP spid="16390" grpId="0"/>
      <p:bldP spid="16391" grpId="0" autoUpdateAnimBg="0"/>
      <p:bldP spid="16392" grpId="0" build="p" autoUpdateAnimBg="0"/>
      <p:bldP spid="16393" grpId="0"/>
      <p:bldP spid="16395" grpId="0" autoUpdateAnimBg="0"/>
      <p:bldP spid="16397" grpId="0"/>
      <p:bldP spid="16398" grpId="0"/>
      <p:bldP spid="16399" grpId="0"/>
      <p:bldP spid="16400" grpId="0"/>
      <p:bldP spid="16401" grpId="0"/>
      <p:bldP spid="16402" grpId="0"/>
      <p:bldP spid="16406" grpId="0" build="p" autoUpdateAnimBg="0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BE94417E-715C-9A60-C3CF-A3BB94ACFEC3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4" name="PA-102232">
              <a:extLst>
                <a:ext uri="{FF2B5EF4-FFF2-40B4-BE49-F238E27FC236}">
                  <a16:creationId xmlns:a16="http://schemas.microsoft.com/office/drawing/2014/main" id="{53AA5D13-CFC2-9CB2-DE43-DD8B46CDAC31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73DA8BC4-936F-94AF-6D5E-6FA21DA02CEE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0F011784-99A0-8D18-3D12-BC6B941E46BD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130E8425-179D-908D-F5D6-F7B5F052A978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718E5D24-8671-F6B3-2879-F8322E76A4C1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414" name="Object 6"/>
              <p:cNvSpPr txBox="1"/>
              <p:nvPr/>
            </p:nvSpPr>
            <p:spPr bwMode="auto">
              <a:xfrm>
                <a:off x="2169627" y="1027040"/>
                <a:ext cx="4021137" cy="8762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7414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9627" y="1027040"/>
                <a:ext cx="4021137" cy="8762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15" name="Object 7"/>
              <p:cNvSpPr txBox="1"/>
              <p:nvPr/>
            </p:nvSpPr>
            <p:spPr bwMode="auto">
              <a:xfrm>
                <a:off x="2169627" y="1675544"/>
                <a:ext cx="4336915" cy="96280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7415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9627" y="1675544"/>
                <a:ext cx="4336915" cy="9628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16" name="Text Box 8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5530364" y="1350094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（欧拉公式）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7" name="Object 9"/>
              <p:cNvSpPr txBox="1"/>
              <p:nvPr/>
            </p:nvSpPr>
            <p:spPr bwMode="auto">
              <a:xfrm>
                <a:off x="2169627" y="2431352"/>
                <a:ext cx="4222054" cy="129302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7417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9627" y="2431352"/>
                <a:ext cx="4222054" cy="12930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18" name="Text Box 10"/>
          <p:cNvSpPr txBox="1">
            <a:spLocks noChangeArrowheads="1"/>
          </p:cNvSpPr>
          <p:nvPr/>
        </p:nvSpPr>
        <p:spPr bwMode="auto">
          <a:xfrm>
            <a:off x="5530364" y="3166364"/>
            <a:ext cx="3352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（也称欧拉公式）</a:t>
            </a:r>
          </a:p>
        </p:txBody>
      </p:sp>
      <p:sp>
        <p:nvSpPr>
          <p:cNvPr id="17439" name="Text Box 31"/>
          <p:cNvSpPr txBox="1">
            <a:spLocks noChangeArrowheads="1"/>
          </p:cNvSpPr>
          <p:nvPr/>
        </p:nvSpPr>
        <p:spPr bwMode="auto">
          <a:xfrm>
            <a:off x="1339044" y="3198050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则</a:t>
            </a:r>
          </a:p>
        </p:txBody>
      </p:sp>
      <p:sp>
        <p:nvSpPr>
          <p:cNvPr id="17440" name="AutoShape 32"/>
          <p:cNvSpPr>
            <a:spLocks/>
          </p:cNvSpPr>
          <p:nvPr/>
        </p:nvSpPr>
        <p:spPr bwMode="auto">
          <a:xfrm>
            <a:off x="2017227" y="2809053"/>
            <a:ext cx="152400" cy="1371600"/>
          </a:xfrm>
          <a:prstGeom prst="leftBrace">
            <a:avLst>
              <a:gd name="adj1" fmla="val 7500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41" name="Object 33"/>
              <p:cNvSpPr txBox="1"/>
              <p:nvPr/>
            </p:nvSpPr>
            <p:spPr bwMode="auto">
              <a:xfrm>
                <a:off x="2169627" y="3404488"/>
                <a:ext cx="3880692" cy="15343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7441" name="Object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9627" y="3404488"/>
                <a:ext cx="3880692" cy="15343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 Box 10"/>
          <p:cNvSpPr txBox="1">
            <a:spLocks noChangeArrowheads="1"/>
          </p:cNvSpPr>
          <p:nvPr/>
        </p:nvSpPr>
        <p:spPr bwMode="auto">
          <a:xfrm>
            <a:off x="1339044" y="4870860"/>
            <a:ext cx="98049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cs typeface="+mn-ea"/>
                <a:sym typeface="+mn-lt"/>
              </a:rPr>
              <a:t>欧拉公式</a:t>
            </a:r>
            <a:r>
              <a:rPr lang="zh-CN" altLang="en-US" sz="2800" dirty="0">
                <a:latin typeface="黑体" panose="02010609060101010101" pitchFamily="49" charset="-122"/>
              </a:rPr>
              <a:t>揭示了三角函数和复变量指数函数之间的一种关系</a:t>
            </a:r>
            <a:r>
              <a:rPr lang="en-US" altLang="zh-CN" sz="2800" dirty="0">
                <a:latin typeface="黑体" panose="02010609060101010101" pitchFamily="49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4793981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7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75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4" grpId="0"/>
      <p:bldP spid="17415" grpId="0"/>
      <p:bldP spid="17416" grpId="0" autoUpdateAnimBg="0"/>
      <p:bldP spid="17417" grpId="0"/>
      <p:bldP spid="17418" grpId="0" autoUpdateAnimBg="0"/>
      <p:bldP spid="17439" grpId="0" autoUpdateAnimBg="0"/>
      <p:bldP spid="17441" grpId="0"/>
      <p:bldP spid="29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56A66E6E-994E-765F-8511-9B4843C025D6}"/>
              </a:ext>
            </a:extLst>
          </p:cNvPr>
          <p:cNvGrpSpPr/>
          <p:nvPr/>
        </p:nvGrpSpPr>
        <p:grpSpPr>
          <a:xfrm>
            <a:off x="521335" y="489960"/>
            <a:ext cx="11149330" cy="5612765"/>
            <a:chOff x="838" y="906"/>
            <a:chExt cx="17558" cy="8839"/>
          </a:xfrm>
        </p:grpSpPr>
        <p:sp>
          <p:nvSpPr>
            <p:cNvPr id="4" name="PA-102232">
              <a:extLst>
                <a:ext uri="{FF2B5EF4-FFF2-40B4-BE49-F238E27FC236}">
                  <a16:creationId xmlns:a16="http://schemas.microsoft.com/office/drawing/2014/main" id="{5B1DBF87-77DE-CC9F-98D0-CFEF7E32A881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01F177EC-D4AC-F3C1-A2F3-DF4C40C6CE54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B37766F8-B512-DB21-5CA0-F3EC31A0B306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A6E99148-B195-4E4B-F34D-379363ACAD10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452A7B96-2FFA-1CEA-D34E-049DCBD885F5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419" name="Text Box 11"/>
          <p:cNvSpPr txBox="1">
            <a:spLocks noChangeArrowheads="1"/>
          </p:cNvSpPr>
          <p:nvPr/>
        </p:nvSpPr>
        <p:spPr bwMode="auto">
          <a:xfrm>
            <a:off x="1944687" y="1473758"/>
            <a:ext cx="632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利用欧拉公式可得复数的指数形式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35" name="Object 27"/>
              <p:cNvSpPr txBox="1"/>
              <p:nvPr/>
            </p:nvSpPr>
            <p:spPr bwMode="auto">
              <a:xfrm>
                <a:off x="2238506" y="2175341"/>
                <a:ext cx="2501900" cy="7000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zh-CN" altLang="en-US" sz="28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7435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38506" y="2175341"/>
                <a:ext cx="2501900" cy="70008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36" name="Object 28"/>
              <p:cNvSpPr txBox="1"/>
              <p:nvPr/>
            </p:nvSpPr>
            <p:spPr bwMode="auto">
              <a:xfrm>
                <a:off x="4000345" y="2180103"/>
                <a:ext cx="3447975" cy="508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7436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00345" y="2180103"/>
                <a:ext cx="3447975" cy="5080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37" name="Object 29"/>
              <p:cNvSpPr txBox="1"/>
              <p:nvPr/>
            </p:nvSpPr>
            <p:spPr bwMode="auto">
              <a:xfrm>
                <a:off x="2522475" y="2932809"/>
                <a:ext cx="1891369" cy="7000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7437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22475" y="2932809"/>
                <a:ext cx="1891369" cy="70008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 Box 21"/>
          <p:cNvSpPr txBox="1">
            <a:spLocks noChangeArrowheads="1"/>
          </p:cNvSpPr>
          <p:nvPr/>
        </p:nvSpPr>
        <p:spPr bwMode="auto">
          <a:xfrm>
            <a:off x="1944687" y="3723017"/>
            <a:ext cx="236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据此可得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22"/>
              <p:cNvSpPr txBox="1"/>
              <p:nvPr/>
            </p:nvSpPr>
            <p:spPr bwMode="auto">
              <a:xfrm>
                <a:off x="2204010" y="4464026"/>
                <a:ext cx="2959100" cy="10458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1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04010" y="4464026"/>
                <a:ext cx="2959100" cy="104586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23"/>
              <p:cNvSpPr txBox="1"/>
              <p:nvPr/>
            </p:nvSpPr>
            <p:spPr bwMode="auto">
              <a:xfrm>
                <a:off x="4813181" y="4470441"/>
                <a:ext cx="3600373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2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13181" y="4470441"/>
                <a:ext cx="3600373" cy="393700"/>
              </a:xfrm>
              <a:prstGeom prst="rect">
                <a:avLst/>
              </a:prstGeom>
              <a:blipFill>
                <a:blip r:embed="rId17"/>
                <a:stretch>
                  <a:fillRect b="-461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 Box 25"/>
          <p:cNvSpPr txBox="1">
            <a:spLocks noChangeArrowheads="1"/>
          </p:cNvSpPr>
          <p:nvPr/>
        </p:nvSpPr>
        <p:spPr bwMode="auto">
          <a:xfrm>
            <a:off x="7880416" y="4453852"/>
            <a:ext cx="2438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(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德莫弗公式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)</a:t>
            </a:r>
          </a:p>
        </p:txBody>
      </p:sp>
      <p:pic>
        <p:nvPicPr>
          <p:cNvPr id="9" name="图片 8" descr="图示&#10;&#10;描述已自动生成">
            <a:extLst>
              <a:ext uri="{FF2B5EF4-FFF2-40B4-BE49-F238E27FC236}">
                <a16:creationId xmlns:a16="http://schemas.microsoft.com/office/drawing/2014/main" id="{11F21BF9-6D93-600A-F8AD-55D03A1DA39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9505" y="1917728"/>
            <a:ext cx="3338316" cy="213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080343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9" grpId="0" autoUpdateAnimBg="0"/>
      <p:bldP spid="17435" grpId="0"/>
      <p:bldP spid="17436" grpId="0"/>
      <p:bldP spid="17437" grpId="0"/>
      <p:bldP spid="30" grpId="0" autoUpdateAnimBg="0"/>
      <p:bldP spid="31" grpId="0"/>
      <p:bldP spid="32" grpId="0"/>
      <p:bldP spid="33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D4AB209-F906-42F4-32AD-B903167354BB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4" name="PA-102232">
              <a:extLst>
                <a:ext uri="{FF2B5EF4-FFF2-40B4-BE49-F238E27FC236}">
                  <a16:creationId xmlns:a16="http://schemas.microsoft.com/office/drawing/2014/main" id="{E11DC83A-8B10-5E89-7E32-09ACFCB3445F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0FC96D3F-51CB-4C7B-0D52-FEB7FEFF276B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4DAD86CF-371C-03A3-BC0B-0856B4203431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3049BBBB-061F-8E6E-8689-130EE8CF6465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1E2DAB31-B456-C47D-1FEA-0A91136A9BE5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8460" name="Text Box 28"/>
          <p:cNvSpPr txBox="1">
            <a:spLocks noChangeArrowheads="1"/>
          </p:cNvSpPr>
          <p:nvPr/>
        </p:nvSpPr>
        <p:spPr bwMode="auto">
          <a:xfrm>
            <a:off x="1981634" y="2926085"/>
            <a:ext cx="144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特别有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61" name="Object 29"/>
              <p:cNvSpPr txBox="1"/>
              <p:nvPr/>
            </p:nvSpPr>
            <p:spPr bwMode="auto">
              <a:xfrm>
                <a:off x="2906171" y="3546295"/>
                <a:ext cx="1353283" cy="11239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8461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06171" y="3546295"/>
                <a:ext cx="1353283" cy="11239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62" name="Object 30"/>
              <p:cNvSpPr txBox="1"/>
              <p:nvPr/>
            </p:nvSpPr>
            <p:spPr bwMode="auto">
              <a:xfrm>
                <a:off x="5262126" y="3533321"/>
                <a:ext cx="5035986" cy="1421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8462" name="Object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62126" y="3533321"/>
                <a:ext cx="5035986" cy="14215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63" name="Object 31"/>
              <p:cNvSpPr txBox="1"/>
              <p:nvPr/>
            </p:nvSpPr>
            <p:spPr bwMode="auto">
              <a:xfrm>
                <a:off x="8348702" y="3505294"/>
                <a:ext cx="2750935" cy="10248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zh-CN" altLang="en-US" sz="2800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𝐑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8463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48702" y="3505294"/>
                <a:ext cx="2750935" cy="10248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64" name="Object 32"/>
              <p:cNvSpPr txBox="1"/>
              <p:nvPr/>
            </p:nvSpPr>
            <p:spPr bwMode="auto">
              <a:xfrm>
                <a:off x="2906171" y="4401527"/>
                <a:ext cx="1841352" cy="8078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8464" name="Object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06171" y="4401527"/>
                <a:ext cx="1841352" cy="80784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66" name="Object 34"/>
              <p:cNvSpPr txBox="1"/>
              <p:nvPr/>
            </p:nvSpPr>
            <p:spPr bwMode="auto">
              <a:xfrm>
                <a:off x="3831961" y="3529423"/>
                <a:ext cx="1914882" cy="11239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8466" name="Object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31961" y="3529423"/>
                <a:ext cx="1914882" cy="112397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67" name="Object 35"/>
              <p:cNvSpPr txBox="1"/>
              <p:nvPr/>
            </p:nvSpPr>
            <p:spPr bwMode="auto">
              <a:xfrm>
                <a:off x="3950572" y="4397013"/>
                <a:ext cx="5213466" cy="79939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func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func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8467" name="Object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50572" y="4397013"/>
                <a:ext cx="5213466" cy="79939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68" name="Object 36"/>
              <p:cNvSpPr txBox="1"/>
              <p:nvPr/>
            </p:nvSpPr>
            <p:spPr bwMode="auto">
              <a:xfrm>
                <a:off x="7288581" y="4384046"/>
                <a:ext cx="1331098" cy="122315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8468" name="Object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88581" y="4384046"/>
                <a:ext cx="1331098" cy="122315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26"/>
              <p:cNvSpPr txBox="1">
                <a:spLocks noChangeArrowheads="1"/>
              </p:cNvSpPr>
              <p:nvPr/>
            </p:nvSpPr>
            <p:spPr bwMode="auto">
              <a:xfrm>
                <a:off x="1981634" y="1455156"/>
                <a:ext cx="48768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利用幂级数的乘法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 不难验证</a:t>
                </a:r>
              </a:p>
            </p:txBody>
          </p:sp>
        </mc:Choice>
        <mc:Fallback xmlns="">
          <p:sp>
            <p:nvSpPr>
              <p:cNvPr id="33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1634" y="1455156"/>
                <a:ext cx="4876800" cy="519113"/>
              </a:xfrm>
              <a:prstGeom prst="rect">
                <a:avLst/>
              </a:prstGeom>
              <a:blipFill>
                <a:blip r:embed="rId10"/>
                <a:stretch>
                  <a:fillRect l="-2500" t="-15294" b="-3058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bject 27"/>
              <p:cNvSpPr txBox="1"/>
              <p:nvPr/>
            </p:nvSpPr>
            <p:spPr bwMode="auto">
              <a:xfrm>
                <a:off x="2906171" y="2221506"/>
                <a:ext cx="4018787" cy="93349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4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06171" y="2221506"/>
                <a:ext cx="4018787" cy="93349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154197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8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60" grpId="0" autoUpdateAnimBg="0"/>
      <p:bldP spid="18461" grpId="0"/>
      <p:bldP spid="18462" grpId="0"/>
      <p:bldP spid="18463" grpId="0"/>
      <p:bldP spid="18464" grpId="0"/>
      <p:bldP spid="18466" grpId="0"/>
      <p:bldP spid="18467" grpId="0"/>
      <p:bldP spid="18468" grpId="0"/>
      <p:bldP spid="33" grpId="0" autoUpdateAnimBg="0"/>
      <p:bldP spid="3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62114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heme/theme1.xml><?xml version="1.0" encoding="utf-8"?>
<a:theme xmlns:a="http://schemas.openxmlformats.org/drawingml/2006/main" name="cuilh纯白模板 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自定义 3">
      <a:majorFont>
        <a:latin typeface="微软雅黑"/>
        <a:ea typeface="微软雅黑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</a:extLst>
      </a:spPr>
      <a:bodyPr>
        <a:spAutoFit/>
      </a:bodyPr>
      <a:lstStyle>
        <a:defPPr eaLnBrk="1" hangingPunct="1">
          <a:spcBef>
            <a:spcPct val="50000"/>
          </a:spcBef>
          <a:defRPr sz="2800" b="1" dirty="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cuilh纯白模板 </Template>
  <TotalTime>1262</TotalTime>
  <Words>2139</Words>
  <Application>Microsoft Office PowerPoint</Application>
  <PresentationFormat>宽屏</PresentationFormat>
  <Paragraphs>354</Paragraphs>
  <Slides>26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7" baseType="lpstr">
      <vt:lpstr>等线</vt:lpstr>
      <vt:lpstr>黑体</vt:lpstr>
      <vt:lpstr>华文中宋</vt:lpstr>
      <vt:lpstr>宋体</vt:lpstr>
      <vt:lpstr>微软雅黑</vt:lpstr>
      <vt:lpstr>字魂36号-正文宋楷</vt:lpstr>
      <vt:lpstr>Arial</vt:lpstr>
      <vt:lpstr>Calibri</vt:lpstr>
      <vt:lpstr>Calisto MT</vt:lpstr>
      <vt:lpstr>Cambria Math</vt:lpstr>
      <vt:lpstr>cuilh纯白模板 </vt:lpstr>
      <vt:lpstr>PowerPoint 演示文稿</vt:lpstr>
      <vt:lpstr>PowerPoint 演示文稿</vt:lpstr>
      <vt:lpstr>PowerPoint 演示文稿</vt:lpstr>
      <vt:lpstr>PowerPoint 演示文稿</vt:lpstr>
      <vt:lpstr>一、近似计算</vt:lpstr>
      <vt:lpstr>1. 求近似值并估计精度</vt:lpstr>
      <vt:lpstr>例2   计算</vt:lpstr>
      <vt:lpstr>PowerPoint 演示文稿</vt:lpstr>
      <vt:lpstr>在展开式</vt:lpstr>
      <vt:lpstr>例3   利用</vt:lpstr>
      <vt:lpstr>2. 计算定积分</vt:lpstr>
      <vt:lpstr>例4  计算积分</vt:lpstr>
      <vt:lpstr>PowerPoint 演示文稿</vt:lpstr>
      <vt:lpstr>例5  计算积分</vt:lpstr>
      <vt:lpstr>二、微分方程的幂级数解法 </vt:lpstr>
      <vt:lpstr>1. 一阶微分方程问题</vt:lpstr>
      <vt:lpstr>例6  </vt:lpstr>
      <vt:lpstr>2. 二阶齐次线性微分方程 </vt:lpstr>
      <vt:lpstr>例7 </vt:lpstr>
      <vt:lpstr>PowerPoint 演示文稿</vt:lpstr>
      <vt:lpstr>三、欧拉公式</vt:lpstr>
      <vt:lpstr>复变量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cui;崔丽鸿</dc:creator>
  <cp:lastModifiedBy>yang fan</cp:lastModifiedBy>
  <cp:revision>127</cp:revision>
  <dcterms:created xsi:type="dcterms:W3CDTF">2021-12-25T10:05:44Z</dcterms:created>
  <dcterms:modified xsi:type="dcterms:W3CDTF">2023-07-06T07:23:54Z</dcterms:modified>
</cp:coreProperties>
</file>