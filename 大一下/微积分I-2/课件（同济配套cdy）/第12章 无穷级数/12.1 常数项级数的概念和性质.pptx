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1"/>
  </p:notesMasterIdLst>
  <p:handoutMasterIdLst>
    <p:handoutMasterId r:id="rId32"/>
  </p:handoutMasterIdLst>
  <p:sldIdLst>
    <p:sldId id="257" r:id="rId3"/>
    <p:sldId id="678" r:id="rId4"/>
    <p:sldId id="664" r:id="rId5"/>
    <p:sldId id="817" r:id="rId6"/>
    <p:sldId id="989" r:id="rId7"/>
    <p:sldId id="991" r:id="rId8"/>
    <p:sldId id="992" r:id="rId9"/>
    <p:sldId id="1011" r:id="rId10"/>
    <p:sldId id="1012" r:id="rId11"/>
    <p:sldId id="1013" r:id="rId12"/>
    <p:sldId id="1014" r:id="rId13"/>
    <p:sldId id="1015" r:id="rId14"/>
    <p:sldId id="1016" r:id="rId15"/>
    <p:sldId id="1017" r:id="rId16"/>
    <p:sldId id="1018" r:id="rId17"/>
    <p:sldId id="1019" r:id="rId18"/>
    <p:sldId id="1020" r:id="rId19"/>
    <p:sldId id="1021" r:id="rId20"/>
    <p:sldId id="1022" r:id="rId21"/>
    <p:sldId id="1023" r:id="rId22"/>
    <p:sldId id="1024" r:id="rId23"/>
    <p:sldId id="1025" r:id="rId24"/>
    <p:sldId id="1026" r:id="rId25"/>
    <p:sldId id="1027" r:id="rId26"/>
    <p:sldId id="1028" r:id="rId27"/>
    <p:sldId id="1029" r:id="rId28"/>
    <p:sldId id="1030" r:id="rId29"/>
    <p:sldId id="364" r:id="rId30"/>
  </p:sldIdLst>
  <p:sldSz cx="12192000" cy="6858000"/>
  <p:notesSz cx="9928225" cy="6797675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13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00926A"/>
    <a:srgbClr val="A9D18E"/>
    <a:srgbClr val="C5E0B4"/>
    <a:srgbClr val="019B4E"/>
    <a:srgbClr val="1D9D79"/>
    <a:srgbClr val="3333CC"/>
    <a:srgbClr val="335AE6"/>
    <a:srgbClr val="EE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23" autoAdjust="0"/>
    <p:restoredTop sz="97078" autoAdjust="0"/>
  </p:normalViewPr>
  <p:slideViewPr>
    <p:cSldViewPr snapToGrid="0" showGuides="1">
      <p:cViewPr varScale="1">
        <p:scale>
          <a:sx n="66" d="100"/>
          <a:sy n="66" d="100"/>
        </p:scale>
        <p:origin x="644" y="44"/>
      </p:cViewPr>
      <p:guideLst>
        <p:guide pos="3840"/>
        <p:guide orient="horz" pos="138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9294E0C-3D65-03D8-4091-95C912A52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33F10D-F9E8-8D22-977F-84681A376B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61C34-6C36-4319-A46B-BB551073C321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6E44E7-0D88-4AE1-4D27-D94FE6EA65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9AD3F8-6AF4-2EEC-19F8-CE4975A2B4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3AE40-E968-4202-8EA4-C293C1D84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375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63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999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142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169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185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353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332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875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4999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297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399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E4152B7-A2C1-3646-B074-8E47D7E55BE5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E96E6B3D-EAB4-E7DE-C0CA-9450D3234522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AF556915-5E47-C53F-CF59-9823E2B1D10E}"/>
                </a:ext>
              </a:extLst>
            </p:cNvPr>
            <p:cNvSpPr/>
            <p:nvPr userDrawn="1"/>
          </p:nvSpPr>
          <p:spPr>
            <a:xfrm rot="2659048">
              <a:off x="102924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BC147C5-84AB-2446-4F9B-49A0F5996E7C}"/>
                </a:ext>
              </a:extLst>
            </p:cNvPr>
            <p:cNvSpPr/>
            <p:nvPr/>
          </p:nvSpPr>
          <p:spPr>
            <a:xfrm>
              <a:off x="476885" y="6435090"/>
              <a:ext cx="2786432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第一节</a:t>
              </a:r>
              <a:r>
                <a:rPr lang="en-US" altLang="zh-CN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常数项级数的概念和性质</a:t>
              </a:r>
              <a:endPara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73988F2-EE0B-5012-D67D-3FF121E30169}"/>
                </a:ext>
              </a:extLst>
            </p:cNvPr>
            <p:cNvSpPr/>
            <p:nvPr/>
          </p:nvSpPr>
          <p:spPr>
            <a:xfrm>
              <a:off x="10547610" y="112357"/>
              <a:ext cx="142058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第十二章   级数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F05CC53-D3D5-C037-74F0-0D4793B02E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10083800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7C39AA48-02D6-3783-53D9-23C3B59061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97541" y="6588442"/>
              <a:ext cx="879445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8C4DFF20-D648-CE1F-6287-83183930BFC6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928F43CC-17FD-E0A5-A204-C7F1468148CC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2112149D-3C5D-20C1-2D73-3786D35AF444}"/>
                </a:ext>
              </a:extLst>
            </p:cNvPr>
            <p:cNvSpPr/>
            <p:nvPr userDrawn="1"/>
          </p:nvSpPr>
          <p:spPr>
            <a:xfrm rot="2659048">
              <a:off x="102924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10B8551-DD5E-2E1B-5D8D-212F7EBD6E69}"/>
                </a:ext>
              </a:extLst>
            </p:cNvPr>
            <p:cNvSpPr/>
            <p:nvPr/>
          </p:nvSpPr>
          <p:spPr>
            <a:xfrm>
              <a:off x="476885" y="6435090"/>
              <a:ext cx="2786432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第一节</a:t>
              </a:r>
              <a:r>
                <a:rPr lang="en-US" altLang="zh-CN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常数项级数的概念和性质</a:t>
              </a:r>
              <a:endPara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D5A7D46-DBE9-E068-800B-DFF85ECD0F68}"/>
                </a:ext>
              </a:extLst>
            </p:cNvPr>
            <p:cNvSpPr/>
            <p:nvPr/>
          </p:nvSpPr>
          <p:spPr>
            <a:xfrm>
              <a:off x="10547610" y="112357"/>
              <a:ext cx="142058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第十二章   级数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DF1C59C-AE68-7F33-98E3-F44B7578C99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10083800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2C15BB88-63FC-E05A-EE07-F447582A39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97541" y="6588442"/>
              <a:ext cx="879445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10F8F088-3708-FF03-69BB-94E9180C63F8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05A06E7A-C522-1F9B-3033-928C26F51F86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FB1F717A-A40C-4371-B44D-14136A0AA615}"/>
                </a:ext>
              </a:extLst>
            </p:cNvPr>
            <p:cNvSpPr/>
            <p:nvPr userDrawn="1"/>
          </p:nvSpPr>
          <p:spPr>
            <a:xfrm rot="2659048">
              <a:off x="102924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2B2DAA5-0A68-64C9-82C7-2B6193C8021D}"/>
                </a:ext>
              </a:extLst>
            </p:cNvPr>
            <p:cNvSpPr/>
            <p:nvPr/>
          </p:nvSpPr>
          <p:spPr>
            <a:xfrm>
              <a:off x="476885" y="6435090"/>
              <a:ext cx="2786432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第一节</a:t>
              </a:r>
              <a:r>
                <a:rPr lang="en-US" altLang="zh-CN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常数项级数的概念和性质</a:t>
              </a:r>
              <a:endPara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35D1A92-C742-CF02-8AB7-13CF041EBB90}"/>
                </a:ext>
              </a:extLst>
            </p:cNvPr>
            <p:cNvSpPr/>
            <p:nvPr/>
          </p:nvSpPr>
          <p:spPr>
            <a:xfrm>
              <a:off x="10547610" y="112357"/>
              <a:ext cx="142058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第十二章   级数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DAAF95D3-CF75-0265-5851-5B3214F45B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10083800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06C4A2FD-AE9C-D34E-F979-C0EF7A8D47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97541" y="6588442"/>
              <a:ext cx="879445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C383C084-EEED-F706-2D33-4278956C0998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6CBEEE57-1571-2C54-AE21-6DAD5C7146AA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7F868ECC-421C-AE65-C5A5-594C50AA9A4D}"/>
                </a:ext>
              </a:extLst>
            </p:cNvPr>
            <p:cNvSpPr/>
            <p:nvPr userDrawn="1"/>
          </p:nvSpPr>
          <p:spPr>
            <a:xfrm rot="2659048">
              <a:off x="102924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1D22CA1-00A0-4E65-9497-D4467A26980B}"/>
                </a:ext>
              </a:extLst>
            </p:cNvPr>
            <p:cNvSpPr/>
            <p:nvPr/>
          </p:nvSpPr>
          <p:spPr>
            <a:xfrm>
              <a:off x="476885" y="6435090"/>
              <a:ext cx="2786432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第一节</a:t>
              </a:r>
              <a:r>
                <a:rPr lang="en-US" altLang="zh-CN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常数项级数的概念和性质</a:t>
              </a:r>
              <a:endPara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4EB2048-C693-1F12-0391-3FFE420FEED0}"/>
                </a:ext>
              </a:extLst>
            </p:cNvPr>
            <p:cNvSpPr/>
            <p:nvPr/>
          </p:nvSpPr>
          <p:spPr>
            <a:xfrm>
              <a:off x="10547610" y="112357"/>
              <a:ext cx="142058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第十二章   级数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D583010C-072B-A87E-42BA-74D9DB327D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10083800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115BA755-8208-108C-7590-2BB1BD9417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97541" y="6588442"/>
              <a:ext cx="879445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0A4B2FC3-0D7C-0ABD-BBCF-F264E4928402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17" name="Rectangle 1">
              <a:extLst>
                <a:ext uri="{FF2B5EF4-FFF2-40B4-BE49-F238E27FC236}">
                  <a16:creationId xmlns:a16="http://schemas.microsoft.com/office/drawing/2014/main" id="{6E0F2949-1C31-B8D0-4E7B-1398068BCA27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D498430F-53C9-3579-EDB8-BC49C743684A}"/>
                </a:ext>
              </a:extLst>
            </p:cNvPr>
            <p:cNvSpPr/>
            <p:nvPr userDrawn="1"/>
          </p:nvSpPr>
          <p:spPr>
            <a:xfrm rot="2659048">
              <a:off x="102924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A5DDC66-C1C2-2C51-D280-CA9AAF713DBE}"/>
                </a:ext>
              </a:extLst>
            </p:cNvPr>
            <p:cNvSpPr/>
            <p:nvPr/>
          </p:nvSpPr>
          <p:spPr>
            <a:xfrm>
              <a:off x="476885" y="6435090"/>
              <a:ext cx="2786432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第一节</a:t>
              </a:r>
              <a:r>
                <a:rPr lang="en-US" altLang="zh-CN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常数项级数的概念和性质</a:t>
              </a:r>
              <a:endPara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B8A9419-FE96-D1C6-5E99-12DA583EBFA5}"/>
                </a:ext>
              </a:extLst>
            </p:cNvPr>
            <p:cNvSpPr/>
            <p:nvPr/>
          </p:nvSpPr>
          <p:spPr>
            <a:xfrm>
              <a:off x="10547610" y="112357"/>
              <a:ext cx="142058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第十二章   级数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89F7343-E988-D9E3-2D35-CB21621A07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10083800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06AC6F1-D801-4F4A-B922-00DDD5AEE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97541" y="6588442"/>
              <a:ext cx="879445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E29D36B-1707-4799-F8E2-DB5021008234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5E6311B4-BB68-B4D1-AA08-24DA8F737704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85C6A5E4-F5ED-C896-74CD-F0FCAE5CE962}"/>
                </a:ext>
              </a:extLst>
            </p:cNvPr>
            <p:cNvSpPr/>
            <p:nvPr userDrawn="1"/>
          </p:nvSpPr>
          <p:spPr>
            <a:xfrm rot="2659048">
              <a:off x="102924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E4CC777-E64E-E216-2AFF-ECC1B39CD50E}"/>
                </a:ext>
              </a:extLst>
            </p:cNvPr>
            <p:cNvSpPr/>
            <p:nvPr/>
          </p:nvSpPr>
          <p:spPr>
            <a:xfrm>
              <a:off x="476885" y="6435090"/>
              <a:ext cx="2786432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第一节</a:t>
              </a:r>
              <a:r>
                <a:rPr lang="en-US" altLang="zh-CN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 </a:t>
              </a:r>
              <a:r>
                <a: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常数项级数的概念和性质</a:t>
              </a:r>
              <a:endPara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419D3AF-70B3-CC1F-0ABA-92F9FD9CE3F5}"/>
                </a:ext>
              </a:extLst>
            </p:cNvPr>
            <p:cNvSpPr/>
            <p:nvPr/>
          </p:nvSpPr>
          <p:spPr>
            <a:xfrm>
              <a:off x="10547610" y="112357"/>
              <a:ext cx="142058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第十二章   级数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66384B3-9DC2-8EF2-9FA7-321C6ADC23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10083800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6E96B8C-594A-158D-E809-FA251242A8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97541" y="6588442"/>
              <a:ext cx="8794459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10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00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49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49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0.png"/><Relationship Id="rId9" Type="http://schemas.openxmlformats.org/officeDocument/2006/relationships/image" Target="../media/image7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49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49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3" Type="http://schemas.openxmlformats.org/officeDocument/2006/relationships/image" Target="../media/image120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200.png"/><Relationship Id="rId9" Type="http://schemas.openxmlformats.org/officeDocument/2006/relationships/image" Target="../media/image1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49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0" Type="http://schemas.openxmlformats.org/officeDocument/2006/relationships/image" Target="../media/image141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0" Type="http://schemas.openxmlformats.org/officeDocument/2006/relationships/image" Target="../media/image150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159.png"/><Relationship Id="rId7" Type="http://schemas.openxmlformats.org/officeDocument/2006/relationships/image" Target="../media/image163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5" Type="http://schemas.openxmlformats.org/officeDocument/2006/relationships/image" Target="../media/image168.png"/><Relationship Id="rId10" Type="http://schemas.openxmlformats.org/officeDocument/2006/relationships/image" Target="../media/image173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3" Type="http://schemas.openxmlformats.org/officeDocument/2006/relationships/image" Target="../media/image49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5" Type="http://schemas.openxmlformats.org/officeDocument/2006/relationships/image" Target="../media/image176.png"/><Relationship Id="rId15" Type="http://schemas.openxmlformats.org/officeDocument/2006/relationships/image" Target="../media/image186.png"/><Relationship Id="rId10" Type="http://schemas.openxmlformats.org/officeDocument/2006/relationships/image" Target="../media/image181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Relationship Id="rId14" Type="http://schemas.openxmlformats.org/officeDocument/2006/relationships/image" Target="../media/image18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3" Type="http://schemas.openxmlformats.org/officeDocument/2006/relationships/image" Target="../media/image196.png"/><Relationship Id="rId3" Type="http://schemas.openxmlformats.org/officeDocument/2006/relationships/image" Target="../media/image49.png"/><Relationship Id="rId7" Type="http://schemas.openxmlformats.org/officeDocument/2006/relationships/image" Target="../media/image190.png"/><Relationship Id="rId12" Type="http://schemas.openxmlformats.org/officeDocument/2006/relationships/image" Target="../media/image19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9.png"/><Relationship Id="rId11" Type="http://schemas.openxmlformats.org/officeDocument/2006/relationships/image" Target="../media/image194.png"/><Relationship Id="rId5" Type="http://schemas.openxmlformats.org/officeDocument/2006/relationships/image" Target="../media/image188.png"/><Relationship Id="rId10" Type="http://schemas.openxmlformats.org/officeDocument/2006/relationships/image" Target="../media/image193.png"/><Relationship Id="rId4" Type="http://schemas.openxmlformats.org/officeDocument/2006/relationships/image" Target="../media/image187.png"/><Relationship Id="rId9" Type="http://schemas.openxmlformats.org/officeDocument/2006/relationships/image" Target="../media/image192.png"/><Relationship Id="rId14" Type="http://schemas.openxmlformats.org/officeDocument/2006/relationships/image" Target="../media/image19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image" Target="../media/image208.png"/><Relationship Id="rId18" Type="http://schemas.openxmlformats.org/officeDocument/2006/relationships/image" Target="../media/image213.png"/><Relationship Id="rId3" Type="http://schemas.openxmlformats.org/officeDocument/2006/relationships/image" Target="../media/image198.png"/><Relationship Id="rId7" Type="http://schemas.openxmlformats.org/officeDocument/2006/relationships/image" Target="../media/image202.png"/><Relationship Id="rId12" Type="http://schemas.openxmlformats.org/officeDocument/2006/relationships/image" Target="../media/image207.png"/><Relationship Id="rId17" Type="http://schemas.openxmlformats.org/officeDocument/2006/relationships/image" Target="../media/image212.png"/><Relationship Id="rId2" Type="http://schemas.openxmlformats.org/officeDocument/2006/relationships/image" Target="../media/image49.png"/><Relationship Id="rId16" Type="http://schemas.openxmlformats.org/officeDocument/2006/relationships/image" Target="../media/image211.png"/><Relationship Id="rId20" Type="http://schemas.openxmlformats.org/officeDocument/2006/relationships/image" Target="../media/image2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1" Type="http://schemas.openxmlformats.org/officeDocument/2006/relationships/image" Target="../media/image206.png"/><Relationship Id="rId5" Type="http://schemas.openxmlformats.org/officeDocument/2006/relationships/image" Target="../media/image200.png"/><Relationship Id="rId15" Type="http://schemas.openxmlformats.org/officeDocument/2006/relationships/image" Target="../media/image210.png"/><Relationship Id="rId10" Type="http://schemas.openxmlformats.org/officeDocument/2006/relationships/image" Target="../media/image205.png"/><Relationship Id="rId19" Type="http://schemas.openxmlformats.org/officeDocument/2006/relationships/image" Target="../media/image214.png"/><Relationship Id="rId4" Type="http://schemas.openxmlformats.org/officeDocument/2006/relationships/image" Target="../media/image199.png"/><Relationship Id="rId9" Type="http://schemas.openxmlformats.org/officeDocument/2006/relationships/image" Target="../media/image204.png"/><Relationship Id="rId14" Type="http://schemas.openxmlformats.org/officeDocument/2006/relationships/image" Target="../media/image20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217.png"/><Relationship Id="rId7" Type="http://schemas.openxmlformats.org/officeDocument/2006/relationships/image" Target="../media/image221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10" Type="http://schemas.openxmlformats.org/officeDocument/2006/relationships/image" Target="../media/image224.png"/><Relationship Id="rId4" Type="http://schemas.openxmlformats.org/officeDocument/2006/relationships/image" Target="../media/image218.png"/><Relationship Id="rId9" Type="http://schemas.openxmlformats.org/officeDocument/2006/relationships/image" Target="../media/image22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3" Type="http://schemas.openxmlformats.org/officeDocument/2006/relationships/image" Target="../media/image49.png"/><Relationship Id="rId7" Type="http://schemas.openxmlformats.org/officeDocument/2006/relationships/image" Target="../media/image2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7.png"/><Relationship Id="rId11" Type="http://schemas.openxmlformats.org/officeDocument/2006/relationships/image" Target="../media/image232.png"/><Relationship Id="rId5" Type="http://schemas.openxmlformats.org/officeDocument/2006/relationships/image" Target="../media/image226.png"/><Relationship Id="rId10" Type="http://schemas.openxmlformats.org/officeDocument/2006/relationships/image" Target="../media/image231.png"/><Relationship Id="rId4" Type="http://schemas.openxmlformats.org/officeDocument/2006/relationships/image" Target="../media/image225.png"/><Relationship Id="rId9" Type="http://schemas.openxmlformats.org/officeDocument/2006/relationships/image" Target="../media/image23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3" Type="http://schemas.openxmlformats.org/officeDocument/2006/relationships/image" Target="../media/image49.png"/><Relationship Id="rId7" Type="http://schemas.openxmlformats.org/officeDocument/2006/relationships/image" Target="../media/image2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5.png"/><Relationship Id="rId5" Type="http://schemas.openxmlformats.org/officeDocument/2006/relationships/image" Target="../media/image234.png"/><Relationship Id="rId4" Type="http://schemas.openxmlformats.org/officeDocument/2006/relationships/image" Target="../media/image233.png"/><Relationship Id="rId9" Type="http://schemas.openxmlformats.org/officeDocument/2006/relationships/image" Target="../media/image23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911DBC-1FAD-4D97-B103-31706F53C01F}"/>
              </a:ext>
            </a:extLst>
          </p:cNvPr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92BA65-1B2C-CE34-028B-FCA681F8EFC2}"/>
              </a:ext>
            </a:extLst>
          </p:cNvPr>
          <p:cNvSpPr/>
          <p:nvPr/>
        </p:nvSpPr>
        <p:spPr>
          <a:xfrm>
            <a:off x="789305" y="2015490"/>
            <a:ext cx="11150600" cy="48577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859A1D-2015-E6C4-DBAA-BDB4F78CEFFB}"/>
              </a:ext>
            </a:extLst>
          </p:cNvPr>
          <p:cNvSpPr/>
          <p:nvPr/>
        </p:nvSpPr>
        <p:spPr>
          <a:xfrm>
            <a:off x="629285" y="2156460"/>
            <a:ext cx="10989310" cy="471678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DDE570-5EFC-83BB-543D-6B7890B39460}"/>
              </a:ext>
            </a:extLst>
          </p:cNvPr>
          <p:cNvSpPr/>
          <p:nvPr/>
        </p:nvSpPr>
        <p:spPr>
          <a:xfrm>
            <a:off x="487045" y="2307590"/>
            <a:ext cx="10810875" cy="45656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41">
            <a:extLst>
              <a:ext uri="{FF2B5EF4-FFF2-40B4-BE49-F238E27FC236}">
                <a16:creationId xmlns:a16="http://schemas.microsoft.com/office/drawing/2014/main" id="{BA081A6E-F0FD-CC45-A2F8-28A9B0F8152F}"/>
              </a:ext>
            </a:extLst>
          </p:cNvPr>
          <p:cNvSpPr/>
          <p:nvPr/>
        </p:nvSpPr>
        <p:spPr>
          <a:xfrm flipH="1">
            <a:off x="5062827" y="278705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639E9A1-D115-D6E9-AEFF-93FFA0F982D1}"/>
              </a:ext>
            </a:extLst>
          </p:cNvPr>
          <p:cNvCxnSpPr/>
          <p:nvPr/>
        </p:nvCxnSpPr>
        <p:spPr>
          <a:xfrm>
            <a:off x="1884573" y="3690235"/>
            <a:ext cx="8179865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18147C8-FA78-6091-71EB-8D15A6FAE435}"/>
              </a:ext>
            </a:extLst>
          </p:cNvPr>
          <p:cNvGrpSpPr/>
          <p:nvPr/>
        </p:nvGrpSpPr>
        <p:grpSpPr>
          <a:xfrm>
            <a:off x="1884680" y="4335145"/>
            <a:ext cx="3651250" cy="1969770"/>
            <a:chOff x="3663" y="6990"/>
            <a:chExt cx="5750" cy="3102"/>
          </a:xfrm>
        </p:grpSpPr>
        <p:sp>
          <p:nvSpPr>
            <p:cNvPr id="15" name="矩形: 圆角 40">
              <a:extLst>
                <a:ext uri="{FF2B5EF4-FFF2-40B4-BE49-F238E27FC236}">
                  <a16:creationId xmlns:a16="http://schemas.microsoft.com/office/drawing/2014/main" id="{E85A41C6-30B9-B3F9-1E62-A61E73545F0F}"/>
                </a:ext>
              </a:extLst>
            </p:cNvPr>
            <p:cNvSpPr/>
            <p:nvPr/>
          </p:nvSpPr>
          <p:spPr>
            <a:xfrm rot="16200000" flipV="1">
              <a:off x="5205" y="5884"/>
              <a:ext cx="2666" cy="5750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B755B60-959E-2695-E853-0342B63ACB01}"/>
                </a:ext>
              </a:extLst>
            </p:cNvPr>
            <p:cNvSpPr/>
            <p:nvPr/>
          </p:nvSpPr>
          <p:spPr>
            <a:xfrm>
              <a:off x="5550" y="6990"/>
              <a:ext cx="235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</a:rPr>
                <a:t>无穷级数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3DD9B2C-370A-6EE8-BAEE-AAA32CB688A5}"/>
                    </a:ext>
                  </a:extLst>
                </p:cNvPr>
                <p:cNvSpPr/>
                <p:nvPr/>
              </p:nvSpPr>
              <p:spPr>
                <a:xfrm>
                  <a:off x="5113" y="7937"/>
                  <a:ext cx="3106" cy="189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Cambria Math" panose="02040503050406030204" charset="0"/>
                          </a:rPr>
                          <m:t>数项级</m:t>
                        </m:r>
                      </m:oMath>
                    </m:oMathPara>
                  </a14:m>
                  <a:endParaRPr lang="en-US" altLang="zh-CN" sz="2400" b="1" dirty="0">
                    <a:latin typeface="Cambria Math" panose="02040503050406030204" charset="0"/>
                  </a:endParaRPr>
                </a:p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Cambria Math" panose="02040503050406030204" charset="0"/>
                          </a:rPr>
                          <m:t>幂级数</m:t>
                        </m:r>
                      </m:oMath>
                    </m:oMathPara>
                  </a14:m>
                  <a:endParaRPr lang="en-US" altLang="zh-CN" sz="2400" b="1" dirty="0">
                    <a:latin typeface="Cambria Math" panose="02040503050406030204" charset="0"/>
                  </a:endParaRPr>
                </a:p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Cambria Math" panose="02040503050406030204" charset="0"/>
                          </a:rPr>
                          <m:t>傅里叶级数</m:t>
                        </m:r>
                      </m:oMath>
                    </m:oMathPara>
                  </a14:m>
                  <a:endParaRPr lang="zh-CN" altLang="en-US" sz="2400" b="1" dirty="0">
                    <a:latin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3DD9B2C-370A-6EE8-BAEE-AAA32CB688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3" y="7937"/>
                  <a:ext cx="3106" cy="1890"/>
                </a:xfrm>
                <a:prstGeom prst="rect">
                  <a:avLst/>
                </a:prstGeom>
                <a:blipFill>
                  <a:blip r:embed="rId2"/>
                  <a:stretch>
                    <a:fillRect b="-4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E137E18D-2152-43D5-A6A5-55E82208D544}"/>
              </a:ext>
            </a:extLst>
          </p:cNvPr>
          <p:cNvSpPr/>
          <p:nvPr/>
        </p:nvSpPr>
        <p:spPr>
          <a:xfrm>
            <a:off x="3713480" y="884555"/>
            <a:ext cx="47650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第十二章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66E014E-1D5B-2618-C27C-5E330C0A1D54}"/>
              </a:ext>
            </a:extLst>
          </p:cNvPr>
          <p:cNvGrpSpPr/>
          <p:nvPr/>
        </p:nvGrpSpPr>
        <p:grpSpPr>
          <a:xfrm>
            <a:off x="5991860" y="4340235"/>
            <a:ext cx="3651250" cy="1964690"/>
            <a:chOff x="3663" y="6990"/>
            <a:chExt cx="5750" cy="3094"/>
          </a:xfrm>
        </p:grpSpPr>
        <p:sp>
          <p:nvSpPr>
            <p:cNvPr id="30" name="矩形: 圆角 40">
              <a:extLst>
                <a:ext uri="{FF2B5EF4-FFF2-40B4-BE49-F238E27FC236}">
                  <a16:creationId xmlns:a16="http://schemas.microsoft.com/office/drawing/2014/main" id="{D9697280-8F51-BD3F-7928-2BC100FE3446}"/>
                </a:ext>
              </a:extLst>
            </p:cNvPr>
            <p:cNvSpPr/>
            <p:nvPr/>
          </p:nvSpPr>
          <p:spPr>
            <a:xfrm rot="16200000" flipV="1">
              <a:off x="5205" y="5876"/>
              <a:ext cx="2666" cy="5750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650B897-3868-FEF2-FFDB-E9C9F17958B6}"/>
                </a:ext>
              </a:extLst>
            </p:cNvPr>
            <p:cNvSpPr/>
            <p:nvPr/>
          </p:nvSpPr>
          <p:spPr>
            <a:xfrm>
              <a:off x="4838" y="6990"/>
              <a:ext cx="37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</a:rPr>
                <a:t>研究函数的工具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19C995D-EA69-9AF7-84B2-4A1496C4F73E}"/>
                </a:ext>
              </a:extLst>
            </p:cNvPr>
            <p:cNvSpPr/>
            <p:nvPr/>
          </p:nvSpPr>
          <p:spPr>
            <a:xfrm>
              <a:off x="5324" y="7929"/>
              <a:ext cx="2803" cy="18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latin typeface="Cambria Math" panose="02040503050406030204" charset="0"/>
                </a:rPr>
                <a:t>表示函数</a:t>
              </a:r>
            </a:p>
            <a:p>
              <a:pPr algn="ctr"/>
              <a:r>
                <a:rPr lang="zh-CN" altLang="en-US" sz="2400" b="1" dirty="0">
                  <a:latin typeface="Cambria Math" panose="02040503050406030204" charset="0"/>
                </a:rPr>
                <a:t>研究函数</a:t>
              </a:r>
            </a:p>
            <a:p>
              <a:pPr algn="ctr"/>
              <a:r>
                <a:rPr lang="zh-CN" altLang="en-US" sz="2400" b="1" dirty="0">
                  <a:latin typeface="Cambria Math" panose="02040503050406030204" charset="0"/>
                </a:rPr>
                <a:t>数值计算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EBC6063-7660-654F-9C1E-E094B591762F}"/>
              </a:ext>
            </a:extLst>
          </p:cNvPr>
          <p:cNvSpPr/>
          <p:nvPr/>
        </p:nvSpPr>
        <p:spPr>
          <a:xfrm>
            <a:off x="945202" y="2326548"/>
            <a:ext cx="4767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常数项级数的概念和性质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3BB7C3-377F-6F44-BF79-2630D53C23F2}"/>
              </a:ext>
            </a:extLst>
          </p:cNvPr>
          <p:cNvSpPr/>
          <p:nvPr/>
        </p:nvSpPr>
        <p:spPr>
          <a:xfrm>
            <a:off x="945202" y="3187197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幂级数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A59EBE-FB23-8945-A07D-4636B842A383}"/>
              </a:ext>
            </a:extLst>
          </p:cNvPr>
          <p:cNvSpPr/>
          <p:nvPr/>
        </p:nvSpPr>
        <p:spPr>
          <a:xfrm>
            <a:off x="6146076" y="2326548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常数项级数的审敛法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77DC3F-7586-3543-B3CA-DB69D78A3711}"/>
              </a:ext>
            </a:extLst>
          </p:cNvPr>
          <p:cNvSpPr/>
          <p:nvPr/>
        </p:nvSpPr>
        <p:spPr>
          <a:xfrm>
            <a:off x="6146076" y="3188487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函数展开成幂级数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115371-884C-1342-8914-73E090F41BA7}"/>
              </a:ext>
            </a:extLst>
          </p:cNvPr>
          <p:cNvSpPr/>
          <p:nvPr/>
        </p:nvSpPr>
        <p:spPr>
          <a:xfrm>
            <a:off x="945202" y="4047845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函数的幂级数展开式的应用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78E4ABC-4FE6-B24F-927F-6ADBAFAA1731}"/>
              </a:ext>
            </a:extLst>
          </p:cNvPr>
          <p:cNvSpPr/>
          <p:nvPr/>
        </p:nvSpPr>
        <p:spPr>
          <a:xfrm>
            <a:off x="6146076" y="3930399"/>
            <a:ext cx="5532284" cy="1135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函数项级数的一致收敛性及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一致收敛级数的基本性质 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1DAA95B-470C-074B-A0FA-40B8C9BD35CB}"/>
              </a:ext>
            </a:extLst>
          </p:cNvPr>
          <p:cNvSpPr/>
          <p:nvPr/>
        </p:nvSpPr>
        <p:spPr>
          <a:xfrm>
            <a:off x="945202" y="5482852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傅里叶级数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B57F56C-092B-1546-9C56-0C4A1E985B15}"/>
              </a:ext>
            </a:extLst>
          </p:cNvPr>
          <p:cNvSpPr/>
          <p:nvPr/>
        </p:nvSpPr>
        <p:spPr>
          <a:xfrm>
            <a:off x="6146076" y="5482852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一般周期函数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的傅里叶级数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4618947-F17D-034C-8CE1-58F913A4C706}"/>
              </a:ext>
            </a:extLst>
          </p:cNvPr>
          <p:cNvSpPr/>
          <p:nvPr/>
        </p:nvSpPr>
        <p:spPr>
          <a:xfrm>
            <a:off x="4875153" y="69115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第十二章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14344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656768"/>
            <a:ext cx="11536045" cy="48919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009257" y="619110"/>
            <a:ext cx="617348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常数项级数的概念和性质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F20C651-824C-3A4C-A342-D9EE1355CB49}"/>
              </a:ext>
            </a:extLst>
          </p:cNvPr>
          <p:cNvGrpSpPr/>
          <p:nvPr/>
        </p:nvGrpSpPr>
        <p:grpSpPr>
          <a:xfrm>
            <a:off x="3802541" y="2009745"/>
            <a:ext cx="4586918" cy="901065"/>
            <a:chOff x="3376754" y="2223699"/>
            <a:chExt cx="4586918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376754" y="2223699"/>
              <a:ext cx="458691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3616931" y="2412933"/>
              <a:ext cx="377539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一、常数项级数的概念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7F3AB54-A0F2-9F4C-BF1C-E7EF8EA48EBE}"/>
              </a:ext>
            </a:extLst>
          </p:cNvPr>
          <p:cNvGrpSpPr/>
          <p:nvPr/>
        </p:nvGrpSpPr>
        <p:grpSpPr>
          <a:xfrm>
            <a:off x="3802541" y="3101168"/>
            <a:ext cx="4586918" cy="901065"/>
            <a:chOff x="3376754" y="3448292"/>
            <a:chExt cx="4586918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376754" y="3448292"/>
              <a:ext cx="458691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616931" y="3637526"/>
              <a:ext cx="42418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二、无穷级数的基本性质 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09D5E34-6C28-9C43-A63F-6AFA23701D6A}"/>
              </a:ext>
            </a:extLst>
          </p:cNvPr>
          <p:cNvGrpSpPr/>
          <p:nvPr/>
        </p:nvGrpSpPr>
        <p:grpSpPr>
          <a:xfrm>
            <a:off x="3802541" y="4192591"/>
            <a:ext cx="4586918" cy="901065"/>
            <a:chOff x="3376754" y="4664250"/>
            <a:chExt cx="4586918" cy="901065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F0C1625A-8AFB-064E-8114-6A8BDB4CCB0A}"/>
                </a:ext>
              </a:extLst>
            </p:cNvPr>
            <p:cNvSpPr/>
            <p:nvPr/>
          </p:nvSpPr>
          <p:spPr>
            <a:xfrm flipV="1">
              <a:off x="3376754" y="4664250"/>
              <a:ext cx="458691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81D9E1D-1020-F744-A3FA-7B32C6575660}"/>
                </a:ext>
              </a:extLst>
            </p:cNvPr>
            <p:cNvSpPr/>
            <p:nvPr/>
          </p:nvSpPr>
          <p:spPr>
            <a:xfrm>
              <a:off x="3616931" y="4853484"/>
              <a:ext cx="413446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三、级数收敛的必要条件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82D249-23A2-D14A-BEE2-E8600DEAC47B}"/>
              </a:ext>
            </a:extLst>
          </p:cNvPr>
          <p:cNvGrpSpPr/>
          <p:nvPr/>
        </p:nvGrpSpPr>
        <p:grpSpPr>
          <a:xfrm>
            <a:off x="3789093" y="5284015"/>
            <a:ext cx="4600366" cy="901065"/>
            <a:chOff x="3363307" y="5659333"/>
            <a:chExt cx="4600366" cy="901065"/>
          </a:xfrm>
        </p:grpSpPr>
        <p:sp>
          <p:nvSpPr>
            <p:cNvPr id="19" name="矩形: 圆角 40">
              <a:extLst>
                <a:ext uri="{FF2B5EF4-FFF2-40B4-BE49-F238E27FC236}">
                  <a16:creationId xmlns:a16="http://schemas.microsoft.com/office/drawing/2014/main" id="{567F5486-492D-2A43-BF2B-43208F8A0E76}"/>
                </a:ext>
              </a:extLst>
            </p:cNvPr>
            <p:cNvSpPr/>
            <p:nvPr/>
          </p:nvSpPr>
          <p:spPr>
            <a:xfrm flipV="1">
              <a:off x="3363307" y="5659333"/>
              <a:ext cx="4600366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0E62628-1740-2B49-B6E4-889C04A88F8F}"/>
                </a:ext>
              </a:extLst>
            </p:cNvPr>
            <p:cNvSpPr/>
            <p:nvPr/>
          </p:nvSpPr>
          <p:spPr>
            <a:xfrm>
              <a:off x="3603484" y="5848567"/>
              <a:ext cx="323197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*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四、柯西审敛原理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1311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E6281FF5-1460-30C4-181E-144C064BBEC8}"/>
              </a:ext>
            </a:extLst>
          </p:cNvPr>
          <p:cNvGrpSpPr/>
          <p:nvPr/>
        </p:nvGrpSpPr>
        <p:grpSpPr>
          <a:xfrm>
            <a:off x="0" y="-181"/>
            <a:ext cx="12192000" cy="6863080"/>
            <a:chOff x="0" y="-181"/>
            <a:chExt cx="12192000" cy="6863080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F3A001C-DB1A-81C0-55C1-6F48881E2988}"/>
                </a:ext>
              </a:extLst>
            </p:cNvPr>
            <p:cNvGrpSpPr/>
            <p:nvPr/>
          </p:nvGrpSpPr>
          <p:grpSpPr>
            <a:xfrm>
              <a:off x="0" y="-181"/>
              <a:ext cx="12192000" cy="6863080"/>
              <a:chOff x="0" y="-8"/>
              <a:chExt cx="19200" cy="10808"/>
            </a:xfrm>
          </p:grpSpPr>
          <p:sp>
            <p:nvSpPr>
              <p:cNvPr id="22" name="Rectangle 1">
                <a:extLst>
                  <a:ext uri="{FF2B5EF4-FFF2-40B4-BE49-F238E27FC236}">
                    <a16:creationId xmlns:a16="http://schemas.microsoft.com/office/drawing/2014/main" id="{B115369A-B838-303E-8C85-BA32CB1AE913}"/>
                  </a:ext>
                </a:extLst>
              </p:cNvPr>
              <p:cNvSpPr/>
              <p:nvPr/>
            </p:nvSpPr>
            <p:spPr>
              <a:xfrm>
                <a:off x="0" y="-8"/>
                <a:ext cx="19200" cy="10808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88000"/>
                    </a:srgbClr>
                  </a:gs>
                  <a:gs pos="55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圆角矩形 16">
                <a:extLst>
                  <a:ext uri="{FF2B5EF4-FFF2-40B4-BE49-F238E27FC236}">
                    <a16:creationId xmlns:a16="http://schemas.microsoft.com/office/drawing/2014/main" id="{270615D2-9A5A-E8A5-D64B-C69340A18A8E}"/>
                  </a:ext>
                </a:extLst>
              </p:cNvPr>
              <p:cNvSpPr/>
              <p:nvPr/>
            </p:nvSpPr>
            <p:spPr>
              <a:xfrm>
                <a:off x="354" y="310"/>
                <a:ext cx="18493" cy="10167"/>
              </a:xfrm>
              <a:prstGeom prst="roundRect">
                <a:avLst>
                  <a:gd name="adj" fmla="val 3499"/>
                </a:avLst>
              </a:prstGeom>
              <a:solidFill>
                <a:schemeClr val="bg1"/>
              </a:solidFill>
              <a:ln>
                <a:solidFill>
                  <a:srgbClr val="17908C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D150040-C6D0-B6D6-048C-00857CD93FB9}"/>
                </a:ext>
              </a:extLst>
            </p:cNvPr>
            <p:cNvGrpSpPr/>
            <p:nvPr/>
          </p:nvGrpSpPr>
          <p:grpSpPr>
            <a:xfrm>
              <a:off x="0" y="239357"/>
              <a:ext cx="11968192" cy="6427310"/>
              <a:chOff x="0" y="239357"/>
              <a:chExt cx="11968192" cy="6427310"/>
            </a:xfrm>
          </p:grpSpPr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787CAD2D-9D54-D439-CD26-6A6917869DFE}"/>
                  </a:ext>
                </a:extLst>
              </p:cNvPr>
              <p:cNvSpPr/>
              <p:nvPr userDrawn="1"/>
            </p:nvSpPr>
            <p:spPr>
              <a:xfrm>
                <a:off x="297498" y="6471504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F8E2E77-F657-055E-989B-BA76D764111C}"/>
                  </a:ext>
                </a:extLst>
              </p:cNvPr>
              <p:cNvSpPr/>
              <p:nvPr/>
            </p:nvSpPr>
            <p:spPr>
              <a:xfrm>
                <a:off x="476885" y="6358890"/>
                <a:ext cx="3784600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1400" kern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第一节</a:t>
                </a:r>
                <a:r>
                  <a:rPr lang="en-US" altLang="zh-CN" sz="1400" kern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 </a:t>
                </a:r>
                <a:r>
                  <a:rPr lang="zh-CN" altLang="en-US" sz="1400" kern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常数项级数的概念和性质</a:t>
                </a:r>
                <a:endPara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62200E48-84E6-B153-23CB-CBCC93EFD0DB}"/>
                  </a:ext>
                </a:extLst>
              </p:cNvPr>
              <p:cNvSpPr/>
              <p:nvPr userDrawn="1"/>
            </p:nvSpPr>
            <p:spPr>
              <a:xfrm rot="2659048">
                <a:off x="10294557" y="323226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C225E5C-D7C2-792C-2192-C49593474498}"/>
                  </a:ext>
                </a:extLst>
              </p:cNvPr>
              <p:cNvSpPr/>
              <p:nvPr/>
            </p:nvSpPr>
            <p:spPr>
              <a:xfrm>
                <a:off x="10547610" y="239357"/>
                <a:ext cx="14205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第十二章   级数</a:t>
                </a:r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55024C18-4FF1-DC0D-7C08-5B0A3AA9A12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0" y="393245"/>
                <a:ext cx="10083800" cy="0"/>
              </a:xfrm>
              <a:prstGeom prst="line">
                <a:avLst/>
              </a:prstGeom>
              <a:ln>
                <a:solidFill>
                  <a:srgbClr val="00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B02CF713-C240-18FD-32AD-CBDFE80073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7541" y="6512242"/>
                <a:ext cx="8569669" cy="0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966333D6-9F07-ACBD-226C-A3B30542F6A4}"/>
              </a:ext>
            </a:extLst>
          </p:cNvPr>
          <p:cNvSpPr txBox="1">
            <a:spLocks noChangeArrowheads="1"/>
          </p:cNvSpPr>
          <p:nvPr/>
        </p:nvSpPr>
        <p:spPr>
          <a:xfrm>
            <a:off x="899856" y="536756"/>
            <a:ext cx="4436778" cy="6146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2CBA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99CC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一、常数项级数的概念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D541710C-B89D-E054-7281-E2CB94872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555" y="1910052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依次作圆内接正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A0333D4A-C135-4E31-6B7F-5ECBDC982A2C}"/>
                  </a:ext>
                </a:extLst>
              </p:cNvPr>
              <p:cNvSpPr txBox="1"/>
              <p:nvPr/>
            </p:nvSpPr>
            <p:spPr bwMode="auto">
              <a:xfrm>
                <a:off x="4824273" y="1876033"/>
                <a:ext cx="39370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3×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=0, 1, 2,⋯)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A0333D4A-C135-4E31-6B7F-5ECBDC982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24273" y="1876033"/>
                <a:ext cx="3937000" cy="520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7">
            <a:extLst>
              <a:ext uri="{FF2B5EF4-FFF2-40B4-BE49-F238E27FC236}">
                <a16:creationId xmlns:a16="http://schemas.microsoft.com/office/drawing/2014/main" id="{31A32D8D-38D9-8088-CE44-B1B3542CA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8087" y="1876034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边形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8">
                <a:extLst>
                  <a:ext uri="{FF2B5EF4-FFF2-40B4-BE49-F238E27FC236}">
                    <a16:creationId xmlns:a16="http://schemas.microsoft.com/office/drawing/2014/main" id="{C1CE4B76-DCDB-1971-B718-FED2EBC5BE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4250" y="5118907"/>
                <a:ext cx="44069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这个和逼近于圆的面积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𝐴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 Box 8">
                <a:extLst>
                  <a:ext uri="{FF2B5EF4-FFF2-40B4-BE49-F238E27FC236}">
                    <a16:creationId xmlns:a16="http://schemas.microsoft.com/office/drawing/2014/main" id="{C1CE4B76-DCDB-1971-B718-FED2EBC5B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4250" y="5118907"/>
                <a:ext cx="4406900" cy="519112"/>
              </a:xfrm>
              <a:prstGeom prst="rect">
                <a:avLst/>
              </a:prstGeom>
              <a:blipFill>
                <a:blip r:embed="rId4"/>
                <a:stretch>
                  <a:fillRect l="-2766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9">
                <a:extLst>
                  <a:ext uri="{FF2B5EF4-FFF2-40B4-BE49-F238E27FC236}">
                    <a16:creationId xmlns:a16="http://schemas.microsoft.com/office/drawing/2014/main" id="{A3AAAF47-3369-B73E-752A-FCD36C1F174A}"/>
                  </a:ext>
                </a:extLst>
              </p:cNvPr>
              <p:cNvSpPr txBox="1"/>
              <p:nvPr/>
            </p:nvSpPr>
            <p:spPr bwMode="auto">
              <a:xfrm>
                <a:off x="3245267" y="4461112"/>
                <a:ext cx="473075" cy="5377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9">
                <a:extLst>
                  <a:ext uri="{FF2B5EF4-FFF2-40B4-BE49-F238E27FC236}">
                    <a16:creationId xmlns:a16="http://schemas.microsoft.com/office/drawing/2014/main" id="{A3AAAF47-3369-B73E-752A-FCD36C1F1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5267" y="4461112"/>
                <a:ext cx="473075" cy="5377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0">
                <a:extLst>
                  <a:ext uri="{FF2B5EF4-FFF2-40B4-BE49-F238E27FC236}">
                    <a16:creationId xmlns:a16="http://schemas.microsoft.com/office/drawing/2014/main" id="{83C587C6-0839-1E46-6ADB-B827B84CCBB3}"/>
                  </a:ext>
                </a:extLst>
              </p:cNvPr>
              <p:cNvSpPr txBox="1"/>
              <p:nvPr/>
            </p:nvSpPr>
            <p:spPr bwMode="auto">
              <a:xfrm>
                <a:off x="3635791" y="4457207"/>
                <a:ext cx="717551" cy="6255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0">
                <a:extLst>
                  <a:ext uri="{FF2B5EF4-FFF2-40B4-BE49-F238E27FC236}">
                    <a16:creationId xmlns:a16="http://schemas.microsoft.com/office/drawing/2014/main" id="{83C587C6-0839-1E46-6ADB-B827B84CC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791" y="4457207"/>
                <a:ext cx="717551" cy="6255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1">
                <a:extLst>
                  <a:ext uri="{FF2B5EF4-FFF2-40B4-BE49-F238E27FC236}">
                    <a16:creationId xmlns:a16="http://schemas.microsoft.com/office/drawing/2014/main" id="{9320A443-CA47-99CB-B663-FCF34905D200}"/>
                  </a:ext>
                </a:extLst>
              </p:cNvPr>
              <p:cNvSpPr txBox="1"/>
              <p:nvPr/>
            </p:nvSpPr>
            <p:spPr bwMode="auto">
              <a:xfrm>
                <a:off x="4302117" y="4454358"/>
                <a:ext cx="6350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11">
                <a:extLst>
                  <a:ext uri="{FF2B5EF4-FFF2-40B4-BE49-F238E27FC236}">
                    <a16:creationId xmlns:a16="http://schemas.microsoft.com/office/drawing/2014/main" id="{9320A443-CA47-99CB-B663-FCF34905D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02117" y="4454358"/>
                <a:ext cx="635000" cy="444500"/>
              </a:xfrm>
              <a:prstGeom prst="rect">
                <a:avLst/>
              </a:prstGeom>
              <a:blipFill>
                <a:blip r:embed="rId7"/>
                <a:stretch>
                  <a:fillRect r="-6731"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2">
                <a:extLst>
                  <a:ext uri="{FF2B5EF4-FFF2-40B4-BE49-F238E27FC236}">
                    <a16:creationId xmlns:a16="http://schemas.microsoft.com/office/drawing/2014/main" id="{B4C8E82E-E858-BC79-88A8-DCCA41C4AF04}"/>
                  </a:ext>
                </a:extLst>
              </p:cNvPr>
              <p:cNvSpPr txBox="1"/>
              <p:nvPr/>
            </p:nvSpPr>
            <p:spPr bwMode="auto">
              <a:xfrm>
                <a:off x="4975218" y="4458795"/>
                <a:ext cx="8219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12">
                <a:extLst>
                  <a:ext uri="{FF2B5EF4-FFF2-40B4-BE49-F238E27FC236}">
                    <a16:creationId xmlns:a16="http://schemas.microsoft.com/office/drawing/2014/main" id="{B4C8E82E-E858-BC79-88A8-DCCA41C4A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5218" y="4458795"/>
                <a:ext cx="821900" cy="4445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3">
                <a:extLst>
                  <a:ext uri="{FF2B5EF4-FFF2-40B4-BE49-F238E27FC236}">
                    <a16:creationId xmlns:a16="http://schemas.microsoft.com/office/drawing/2014/main" id="{5B271F5C-CB77-9D00-0973-2BC11BC8E463}"/>
                  </a:ext>
                </a:extLst>
              </p:cNvPr>
              <p:cNvSpPr txBox="1"/>
              <p:nvPr/>
            </p:nvSpPr>
            <p:spPr bwMode="auto">
              <a:xfrm>
                <a:off x="5701444" y="4458795"/>
                <a:ext cx="717550" cy="5307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13">
                <a:extLst>
                  <a:ext uri="{FF2B5EF4-FFF2-40B4-BE49-F238E27FC236}">
                    <a16:creationId xmlns:a16="http://schemas.microsoft.com/office/drawing/2014/main" id="{5B271F5C-CB77-9D00-0973-2BC11BC8E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01444" y="4458795"/>
                <a:ext cx="717550" cy="5307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 Box 14">
                <a:extLst>
                  <a:ext uri="{FF2B5EF4-FFF2-40B4-BE49-F238E27FC236}">
                    <a16:creationId xmlns:a16="http://schemas.microsoft.com/office/drawing/2014/main" id="{7BF4C0B6-1A52-5D33-8CA0-2AC297996A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46149" y="1874447"/>
                <a:ext cx="1804412" cy="5256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𝑎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表示</a:t>
                </a:r>
              </a:p>
            </p:txBody>
          </p:sp>
        </mc:Choice>
        <mc:Fallback xmlns="">
          <p:sp>
            <p:nvSpPr>
              <p:cNvPr id="54" name="Text Box 14">
                <a:extLst>
                  <a:ext uri="{FF2B5EF4-FFF2-40B4-BE49-F238E27FC236}">
                    <a16:creationId xmlns:a16="http://schemas.microsoft.com/office/drawing/2014/main" id="{7BF4C0B6-1A52-5D33-8CA0-2AC297996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46149" y="1874447"/>
                <a:ext cx="1804412" cy="525657"/>
              </a:xfrm>
              <a:prstGeom prst="rect">
                <a:avLst/>
              </a:prstGeom>
              <a:blipFill>
                <a:blip r:embed="rId10"/>
                <a:stretch>
                  <a:fillRect l="-7095" t="-13793" r="-4730" b="-275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90807A47-C53A-B4C8-4475-E0021220C39E}"/>
                  </a:ext>
                </a:extLst>
              </p:cNvPr>
              <p:cNvSpPr txBox="1"/>
              <p:nvPr/>
            </p:nvSpPr>
            <p:spPr bwMode="auto">
              <a:xfrm>
                <a:off x="2264555" y="5136192"/>
                <a:ext cx="21717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→∞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90807A47-C53A-B4C8-4475-E0021220C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4555" y="5136192"/>
                <a:ext cx="2171700" cy="4445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 Box 16">
            <a:extLst>
              <a:ext uri="{FF2B5EF4-FFF2-40B4-BE49-F238E27FC236}">
                <a16:creationId xmlns:a16="http://schemas.microsoft.com/office/drawing/2014/main" id="{762E1E1F-1F29-AB79-4062-5C8D11FD9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892" y="5763304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17">
                <a:extLst>
                  <a:ext uri="{FF2B5EF4-FFF2-40B4-BE49-F238E27FC236}">
                    <a16:creationId xmlns:a16="http://schemas.microsoft.com/office/drawing/2014/main" id="{00AF0CB3-08B3-523B-C4B0-6B4E6D1AEBCB}"/>
                  </a:ext>
                </a:extLst>
              </p:cNvPr>
              <p:cNvSpPr txBox="1"/>
              <p:nvPr/>
            </p:nvSpPr>
            <p:spPr bwMode="auto">
              <a:xfrm>
                <a:off x="3253805" y="5763304"/>
                <a:ext cx="5357811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9" name="Object 17">
                <a:extLst>
                  <a:ext uri="{FF2B5EF4-FFF2-40B4-BE49-F238E27FC236}">
                    <a16:creationId xmlns:a16="http://schemas.microsoft.com/office/drawing/2014/main" id="{00AF0CB3-08B3-523B-C4B0-6B4E6D1AE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3805" y="5763304"/>
                <a:ext cx="5357811" cy="444500"/>
              </a:xfrm>
              <a:prstGeom prst="rect">
                <a:avLst/>
              </a:prstGeom>
              <a:blipFill>
                <a:blip r:embed="rId12"/>
                <a:stretch>
                  <a:fillRect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val 18">
            <a:extLst>
              <a:ext uri="{FF2B5EF4-FFF2-40B4-BE49-F238E27FC236}">
                <a16:creationId xmlns:a16="http://schemas.microsoft.com/office/drawing/2014/main" id="{9751C91B-CF26-E594-C823-CB3C6867E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7765" y="3200185"/>
            <a:ext cx="2349500" cy="2352675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1" name="AutoShape 19">
            <a:extLst>
              <a:ext uri="{FF2B5EF4-FFF2-40B4-BE49-F238E27FC236}">
                <a16:creationId xmlns:a16="http://schemas.microsoft.com/office/drawing/2014/main" id="{4764BE6F-1032-8247-62A3-7756D5900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9054" y="3195422"/>
            <a:ext cx="2073275" cy="1751013"/>
          </a:xfrm>
          <a:prstGeom prst="triangle">
            <a:avLst>
              <a:gd name="adj" fmla="val 50000"/>
            </a:avLst>
          </a:prstGeom>
          <a:solidFill>
            <a:srgbClr val="00B0F0"/>
          </a:solidFill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62" name="Group 20">
            <a:extLst>
              <a:ext uri="{FF2B5EF4-FFF2-40B4-BE49-F238E27FC236}">
                <a16:creationId xmlns:a16="http://schemas.microsoft.com/office/drawing/2014/main" id="{6B877A2E-6781-70FF-7A4F-0968D19E06BA}"/>
              </a:ext>
            </a:extLst>
          </p:cNvPr>
          <p:cNvGrpSpPr>
            <a:grpSpLocks/>
          </p:cNvGrpSpPr>
          <p:nvPr/>
        </p:nvGrpSpPr>
        <p:grpSpPr bwMode="auto">
          <a:xfrm>
            <a:off x="8709054" y="3195422"/>
            <a:ext cx="2073275" cy="2335213"/>
            <a:chOff x="3936" y="1968"/>
            <a:chExt cx="1536" cy="1728"/>
          </a:xfrm>
          <a:solidFill>
            <a:srgbClr val="00926A"/>
          </a:solidFill>
        </p:grpSpPr>
        <p:sp>
          <p:nvSpPr>
            <p:cNvPr id="63" name="Freeform 21">
              <a:extLst>
                <a:ext uri="{FF2B5EF4-FFF2-40B4-BE49-F238E27FC236}">
                  <a16:creationId xmlns:a16="http://schemas.microsoft.com/office/drawing/2014/main" id="{B7D51BC4-6923-BD87-260A-E9C02F91A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968"/>
              <a:ext cx="768" cy="1296"/>
            </a:xfrm>
            <a:custGeom>
              <a:avLst/>
              <a:gdLst>
                <a:gd name="T0" fmla="*/ 0 w 768"/>
                <a:gd name="T1" fmla="*/ 0 h 1296"/>
                <a:gd name="T2" fmla="*/ 768 w 768"/>
                <a:gd name="T3" fmla="*/ 480 h 1296"/>
                <a:gd name="T4" fmla="*/ 768 w 768"/>
                <a:gd name="T5" fmla="*/ 1296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1296">
                  <a:moveTo>
                    <a:pt x="0" y="0"/>
                  </a:moveTo>
                  <a:lnTo>
                    <a:pt x="768" y="480"/>
                  </a:lnTo>
                  <a:lnTo>
                    <a:pt x="768" y="1296"/>
                  </a:lnTo>
                </a:path>
              </a:pathLst>
            </a:custGeom>
            <a:grpFill/>
            <a:ln w="9525">
              <a:solidFill>
                <a:srgbClr val="0092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4" name="Freeform 22">
              <a:extLst>
                <a:ext uri="{FF2B5EF4-FFF2-40B4-BE49-F238E27FC236}">
                  <a16:creationId xmlns:a16="http://schemas.microsoft.com/office/drawing/2014/main" id="{AA7D582D-9899-9D28-8870-1A541B03A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3264"/>
              <a:ext cx="1536" cy="432"/>
            </a:xfrm>
            <a:custGeom>
              <a:avLst/>
              <a:gdLst>
                <a:gd name="T0" fmla="*/ 0 w 1536"/>
                <a:gd name="T1" fmla="*/ 0 h 432"/>
                <a:gd name="T2" fmla="*/ 768 w 1536"/>
                <a:gd name="T3" fmla="*/ 432 h 432"/>
                <a:gd name="T4" fmla="*/ 1536 w 1536"/>
                <a:gd name="T5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6" h="432">
                  <a:moveTo>
                    <a:pt x="0" y="0"/>
                  </a:moveTo>
                  <a:lnTo>
                    <a:pt x="768" y="432"/>
                  </a:lnTo>
                  <a:lnTo>
                    <a:pt x="1536" y="0"/>
                  </a:lnTo>
                </a:path>
              </a:pathLst>
            </a:custGeom>
            <a:grpFill/>
            <a:ln w="9525">
              <a:solidFill>
                <a:srgbClr val="0092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5" name="Freeform 23">
              <a:extLst>
                <a:ext uri="{FF2B5EF4-FFF2-40B4-BE49-F238E27FC236}">
                  <a16:creationId xmlns:a16="http://schemas.microsoft.com/office/drawing/2014/main" id="{480FA9B9-D6D6-B4D3-9104-D3CACF8ED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968"/>
              <a:ext cx="768" cy="1296"/>
            </a:xfrm>
            <a:custGeom>
              <a:avLst/>
              <a:gdLst>
                <a:gd name="T0" fmla="*/ 768 w 768"/>
                <a:gd name="T1" fmla="*/ 0 h 1296"/>
                <a:gd name="T2" fmla="*/ 0 w 768"/>
                <a:gd name="T3" fmla="*/ 480 h 1296"/>
                <a:gd name="T4" fmla="*/ 0 w 768"/>
                <a:gd name="T5" fmla="*/ 1296 h 1296"/>
                <a:gd name="T6" fmla="*/ 768 w 768"/>
                <a:gd name="T7" fmla="*/ 0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8" h="1296">
                  <a:moveTo>
                    <a:pt x="768" y="0"/>
                  </a:moveTo>
                  <a:lnTo>
                    <a:pt x="0" y="480"/>
                  </a:lnTo>
                  <a:lnTo>
                    <a:pt x="0" y="1296"/>
                  </a:lnTo>
                  <a:lnTo>
                    <a:pt x="768" y="0"/>
                  </a:lnTo>
                  <a:close/>
                </a:path>
              </a:pathLst>
            </a:custGeom>
            <a:grpFill/>
            <a:ln w="9525">
              <a:solidFill>
                <a:srgbClr val="0092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66" name="Group 24">
            <a:extLst>
              <a:ext uri="{FF2B5EF4-FFF2-40B4-BE49-F238E27FC236}">
                <a16:creationId xmlns:a16="http://schemas.microsoft.com/office/drawing/2014/main" id="{4643FF8B-873A-3C44-AC9A-26F426638E46}"/>
              </a:ext>
            </a:extLst>
          </p:cNvPr>
          <p:cNvGrpSpPr>
            <a:grpSpLocks/>
          </p:cNvGrpSpPr>
          <p:nvPr/>
        </p:nvGrpSpPr>
        <p:grpSpPr bwMode="auto">
          <a:xfrm>
            <a:off x="8567765" y="3347821"/>
            <a:ext cx="2344738" cy="2052638"/>
            <a:chOff x="3831" y="2081"/>
            <a:chExt cx="1737" cy="1519"/>
          </a:xfrm>
          <a:solidFill>
            <a:srgbClr val="4A7BA8"/>
          </a:solidFill>
        </p:grpSpPr>
        <p:sp>
          <p:nvSpPr>
            <p:cNvPr id="67" name="AutoShape 25">
              <a:extLst>
                <a:ext uri="{FF2B5EF4-FFF2-40B4-BE49-F238E27FC236}">
                  <a16:creationId xmlns:a16="http://schemas.microsoft.com/office/drawing/2014/main" id="{D08AD7E1-EB38-9DDF-EE02-712789A22A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064" y="2794"/>
              <a:ext cx="884" cy="98"/>
            </a:xfrm>
            <a:prstGeom prst="triangle">
              <a:avLst>
                <a:gd name="adj" fmla="val 4988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8" name="AutoShape 26">
              <a:extLst>
                <a:ext uri="{FF2B5EF4-FFF2-40B4-BE49-F238E27FC236}">
                  <a16:creationId xmlns:a16="http://schemas.microsoft.com/office/drawing/2014/main" id="{515D8C68-00AD-A4B1-2DDC-3C8AC346A7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45" y="2787"/>
              <a:ext cx="884" cy="111"/>
            </a:xfrm>
            <a:prstGeom prst="triangle">
              <a:avLst>
                <a:gd name="adj" fmla="val 4988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9" name="AutoShape 27">
              <a:extLst>
                <a:ext uri="{FF2B5EF4-FFF2-40B4-BE49-F238E27FC236}">
                  <a16:creationId xmlns:a16="http://schemas.microsoft.com/office/drawing/2014/main" id="{C889E6F9-9A4B-DEE7-D482-083B1C80DC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940000">
              <a:off x="4684" y="3465"/>
              <a:ext cx="884" cy="120"/>
            </a:xfrm>
            <a:prstGeom prst="triangle">
              <a:avLst>
                <a:gd name="adj" fmla="val 4988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0" name="AutoShape 28">
              <a:extLst>
                <a:ext uri="{FF2B5EF4-FFF2-40B4-BE49-F238E27FC236}">
                  <a16:creationId xmlns:a16="http://schemas.microsoft.com/office/drawing/2014/main" id="{34B2D992-9C6D-4000-23F5-FFB739283FB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600000">
              <a:off x="3844" y="3473"/>
              <a:ext cx="884" cy="127"/>
            </a:xfrm>
            <a:prstGeom prst="triangle">
              <a:avLst>
                <a:gd name="adj" fmla="val 4988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" name="AutoShape 29">
              <a:extLst>
                <a:ext uri="{FF2B5EF4-FFF2-40B4-BE49-F238E27FC236}">
                  <a16:creationId xmlns:a16="http://schemas.microsoft.com/office/drawing/2014/main" id="{7D446D86-3CF8-4B8A-BB76-780476C38A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3595">
              <a:off x="4670" y="2094"/>
              <a:ext cx="884" cy="127"/>
            </a:xfrm>
            <a:prstGeom prst="triangle">
              <a:avLst>
                <a:gd name="adj" fmla="val 4988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" name="AutoShape 30">
              <a:extLst>
                <a:ext uri="{FF2B5EF4-FFF2-40B4-BE49-F238E27FC236}">
                  <a16:creationId xmlns:a16="http://schemas.microsoft.com/office/drawing/2014/main" id="{6A8CC357-6975-BF94-D08F-36AA9FCC2A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680000">
              <a:off x="3851" y="2081"/>
              <a:ext cx="884" cy="127"/>
            </a:xfrm>
            <a:prstGeom prst="triangle">
              <a:avLst>
                <a:gd name="adj" fmla="val 4988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73" name="Text Box 31">
            <a:extLst>
              <a:ext uri="{FF2B5EF4-FFF2-40B4-BE49-F238E27FC236}">
                <a16:creationId xmlns:a16="http://schemas.microsoft.com/office/drawing/2014/main" id="{2D2A96FA-DDCF-5426-FAA5-C92FFF847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555" y="2553670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内接正三角形面积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Box 32">
                <a:extLst>
                  <a:ext uri="{FF2B5EF4-FFF2-40B4-BE49-F238E27FC236}">
                    <a16:creationId xmlns:a16="http://schemas.microsoft.com/office/drawing/2014/main" id="{57051C49-B7BE-951B-E246-716D3F0F32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6634" y="2556577"/>
                <a:ext cx="2002600" cy="5256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表示边数</a:t>
                </a:r>
              </a:p>
            </p:txBody>
          </p:sp>
        </mc:Choice>
        <mc:Fallback xmlns="">
          <p:sp>
            <p:nvSpPr>
              <p:cNvPr id="74" name="Text Box 32">
                <a:extLst>
                  <a:ext uri="{FF2B5EF4-FFF2-40B4-BE49-F238E27FC236}">
                    <a16:creationId xmlns:a16="http://schemas.microsoft.com/office/drawing/2014/main" id="{57051C49-B7BE-951B-E246-716D3F0F3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6634" y="2556577"/>
                <a:ext cx="2002600" cy="525657"/>
              </a:xfrm>
              <a:prstGeom prst="rect">
                <a:avLst/>
              </a:prstGeom>
              <a:blipFill>
                <a:blip r:embed="rId13"/>
                <a:stretch>
                  <a:fillRect t="-13793" r="-5167" b="-275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 Box 33">
            <a:extLst>
              <a:ext uri="{FF2B5EF4-FFF2-40B4-BE49-F238E27FC236}">
                <a16:creationId xmlns:a16="http://schemas.microsoft.com/office/drawing/2014/main" id="{7B25849A-9859-0840-01C4-230E58B6F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555" y="3197287"/>
            <a:ext cx="3206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增加时增加的面积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76" name="Text Box 34">
            <a:extLst>
              <a:ext uri="{FF2B5EF4-FFF2-40B4-BE49-F238E27FC236}">
                <a16:creationId xmlns:a16="http://schemas.microsoft.com/office/drawing/2014/main" id="{A9638931-2D2F-A80B-5607-6F897FBFF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8304" y="3200463"/>
            <a:ext cx="1962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则圆内接正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Object 35">
                <a:extLst>
                  <a:ext uri="{FF2B5EF4-FFF2-40B4-BE49-F238E27FC236}">
                    <a16:creationId xmlns:a16="http://schemas.microsoft.com/office/drawing/2014/main" id="{93E135B0-CBFD-3819-B57E-0A0D024B53E4}"/>
                  </a:ext>
                </a:extLst>
              </p:cNvPr>
              <p:cNvSpPr txBox="1"/>
              <p:nvPr/>
            </p:nvSpPr>
            <p:spPr bwMode="auto">
              <a:xfrm>
                <a:off x="2264555" y="3840904"/>
                <a:ext cx="346075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3×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边形面积为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7" name="Object 35">
                <a:extLst>
                  <a:ext uri="{FF2B5EF4-FFF2-40B4-BE49-F238E27FC236}">
                    <a16:creationId xmlns:a16="http://schemas.microsoft.com/office/drawing/2014/main" id="{93E135B0-CBFD-3819-B57E-0A0D024B5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4555" y="3840904"/>
                <a:ext cx="3460750" cy="5207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>
            <a:extLst>
              <a:ext uri="{FF2B5EF4-FFF2-40B4-BE49-F238E27FC236}">
                <a16:creationId xmlns:a16="http://schemas.microsoft.com/office/drawing/2014/main" id="{03F798DA-F933-593A-BD17-C749255B8462}"/>
              </a:ext>
            </a:extLst>
          </p:cNvPr>
          <p:cNvGrpSpPr/>
          <p:nvPr/>
        </p:nvGrpSpPr>
        <p:grpSpPr>
          <a:xfrm>
            <a:off x="1003609" y="1308601"/>
            <a:ext cx="7232015" cy="448945"/>
            <a:chOff x="1553" y="3803"/>
            <a:chExt cx="11389" cy="707"/>
          </a:xfrm>
        </p:grpSpPr>
        <p:sp>
          <p:nvSpPr>
            <p:cNvPr id="25" name="圆角矩形 3">
              <a:extLst>
                <a:ext uri="{FF2B5EF4-FFF2-40B4-BE49-F238E27FC236}">
                  <a16:creationId xmlns:a16="http://schemas.microsoft.com/office/drawing/2014/main" id="{1B92A4C7-B5D6-96A1-361E-98E254024C98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Text Box 28">
              <a:extLst>
                <a:ext uri="{FF2B5EF4-FFF2-40B4-BE49-F238E27FC236}">
                  <a16:creationId xmlns:a16="http://schemas.microsoft.com/office/drawing/2014/main" id="{C1E9C4BF-EB34-B5F6-14AF-A7524DB98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28"/>
              <a:ext cx="11232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引例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r>
                <a:rPr kumimoji="1" lang="zh-CN" altLang="en-US" sz="28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rPr>
                <a:t>用圆内接正多边形面积逼近圆面积</a:t>
              </a:r>
              <a:r>
                <a:rPr kumimoji="1" lang="en-US" altLang="zh-CN" sz="28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rPr>
                <a:t>.</a:t>
              </a:r>
              <a:endPara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/>
      <p:bldP spid="6" grpId="0"/>
      <p:bldP spid="12" grpId="0"/>
      <p:bldP spid="13" grpId="0"/>
      <p:bldP spid="14" grpId="0"/>
      <p:bldP spid="17" grpId="0"/>
      <p:bldP spid="20" grpId="0"/>
      <p:bldP spid="21" grpId="0"/>
      <p:bldP spid="54" grpId="0"/>
      <p:bldP spid="56" grpId="0"/>
      <p:bldP spid="58" grpId="0"/>
      <p:bldP spid="59" grpId="0"/>
      <p:bldP spid="60" grpId="0" animBg="1"/>
      <p:bldP spid="61" grpId="0" animBg="1"/>
      <p:bldP spid="73" grpId="0"/>
      <p:bldP spid="74" grpId="0"/>
      <p:bldP spid="75" grpId="0"/>
      <p:bldP spid="76" grpId="0"/>
      <p:bldP spid="7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>
            <a:extLst>
              <a:ext uri="{FF2B5EF4-FFF2-40B4-BE49-F238E27FC236}">
                <a16:creationId xmlns:a16="http://schemas.microsoft.com/office/drawing/2014/main" id="{0412B997-495A-0A24-9A53-51035D16615B}"/>
              </a:ext>
            </a:extLst>
          </p:cNvPr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7C081B-DCAC-5D4C-7F9D-BF6103AA5676}"/>
              </a:ext>
            </a:extLst>
          </p:cNvPr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xt Box 3">
            <a:extLst>
              <a:ext uri="{FF2B5EF4-FFF2-40B4-BE49-F238E27FC236}">
                <a16:creationId xmlns:a16="http://schemas.microsoft.com/office/drawing/2014/main" id="{E75732A0-C87D-1DFE-BEA6-CAE9F9FDE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5" y="476754"/>
            <a:ext cx="76697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小球从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1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米高处自由落下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每次跳起的高度减少</a:t>
            </a:r>
          </a:p>
        </p:txBody>
      </p:sp>
      <p:sp>
        <p:nvSpPr>
          <p:cNvPr id="41" name="Text Box 4">
            <a:extLst>
              <a:ext uri="{FF2B5EF4-FFF2-40B4-BE49-F238E27FC236}">
                <a16:creationId xmlns:a16="http://schemas.microsoft.com/office/drawing/2014/main" id="{42A507BB-5118-C674-FD57-B34ABFCAA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5" y="1045756"/>
            <a:ext cx="838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一半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问小球是否会在某时刻停止运动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?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说明道理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42" name="Text Box 5">
            <a:extLst>
              <a:ext uri="{FF2B5EF4-FFF2-40B4-BE49-F238E27FC236}">
                <a16:creationId xmlns:a16="http://schemas.microsoft.com/office/drawing/2014/main" id="{0077292E-E21A-CB72-11E1-63E631651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5" y="1916147"/>
            <a:ext cx="340994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由自由落体运动方程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6">
                <a:extLst>
                  <a:ext uri="{FF2B5EF4-FFF2-40B4-BE49-F238E27FC236}">
                    <a16:creationId xmlns:a16="http://schemas.microsoft.com/office/drawing/2014/main" id="{C8ED8827-E583-D0EE-10C7-BD5391ABA214}"/>
                  </a:ext>
                </a:extLst>
              </p:cNvPr>
              <p:cNvSpPr txBox="1"/>
              <p:nvPr/>
            </p:nvSpPr>
            <p:spPr bwMode="auto">
              <a:xfrm>
                <a:off x="5832033" y="1670084"/>
                <a:ext cx="1632975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charset="0"/>
                          <a:cs typeface="Cambria Math" panose="02040503050406030204" charset="0"/>
                        </a:rPr>
                        <m:t>g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Object 6">
                <a:extLst>
                  <a:ext uri="{FF2B5EF4-FFF2-40B4-BE49-F238E27FC236}">
                    <a16:creationId xmlns:a16="http://schemas.microsoft.com/office/drawing/2014/main" id="{C8ED8827-E583-D0EE-10C7-BD5391ABA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32033" y="1670084"/>
                <a:ext cx="1632975" cy="850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 Box 7">
            <a:extLst>
              <a:ext uri="{FF2B5EF4-FFF2-40B4-BE49-F238E27FC236}">
                <a16:creationId xmlns:a16="http://schemas.microsoft.com/office/drawing/2014/main" id="{3F1094A3-C1A1-A36E-703C-79BF70FDF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154" y="1911385"/>
            <a:ext cx="66548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 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8">
                <a:extLst>
                  <a:ext uri="{FF2B5EF4-FFF2-40B4-BE49-F238E27FC236}">
                    <a16:creationId xmlns:a16="http://schemas.microsoft.com/office/drawing/2014/main" id="{0CDF073A-710F-55BC-752D-EA693AFC8DCB}"/>
                  </a:ext>
                </a:extLst>
              </p:cNvPr>
              <p:cNvSpPr txBox="1"/>
              <p:nvPr/>
            </p:nvSpPr>
            <p:spPr bwMode="auto">
              <a:xfrm>
                <a:off x="7978334" y="1444660"/>
                <a:ext cx="2061016" cy="1384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altLang="zh-CN" sz="2800" i="1" dirty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g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 </m:t>
                              </m:r>
                            </m:den>
                          </m:f>
                        </m:e>
                      </m:rad>
                      <m:r>
                        <a:rPr kumimoji="1" lang="en-US" altLang="zh-CN" sz="2800" b="0" i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 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Object 8">
                <a:extLst>
                  <a:ext uri="{FF2B5EF4-FFF2-40B4-BE49-F238E27FC236}">
                    <a16:creationId xmlns:a16="http://schemas.microsoft.com/office/drawing/2014/main" id="{0CDF073A-710F-55BC-752D-EA693AFC8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78334" y="1444660"/>
                <a:ext cx="2061016" cy="1384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 Box 9">
            <a:extLst>
              <a:ext uri="{FF2B5EF4-FFF2-40B4-BE49-F238E27FC236}">
                <a16:creationId xmlns:a16="http://schemas.microsoft.com/office/drawing/2014/main" id="{C85EC8F0-7C97-FE50-9054-2DC1FD0F3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8261" y="2723754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则小球运动的时间为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10">
                <a:extLst>
                  <a:ext uri="{FF2B5EF4-FFF2-40B4-BE49-F238E27FC236}">
                    <a16:creationId xmlns:a16="http://schemas.microsoft.com/office/drawing/2014/main" id="{75DF2170-DAA4-BC1D-4E55-A52B8711C316}"/>
                  </a:ext>
                </a:extLst>
              </p:cNvPr>
              <p:cNvSpPr txBox="1"/>
              <p:nvPr/>
            </p:nvSpPr>
            <p:spPr bwMode="auto">
              <a:xfrm>
                <a:off x="2498725" y="3276046"/>
                <a:ext cx="1173468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𝑇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7" name="Object 10">
                <a:extLst>
                  <a:ext uri="{FF2B5EF4-FFF2-40B4-BE49-F238E27FC236}">
                    <a16:creationId xmlns:a16="http://schemas.microsoft.com/office/drawing/2014/main" id="{75DF2170-DAA4-BC1D-4E55-A52B8711C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8725" y="3276046"/>
                <a:ext cx="1173468" cy="444500"/>
              </a:xfrm>
              <a:prstGeom prst="rect">
                <a:avLst/>
              </a:prstGeom>
              <a:blipFill>
                <a:blip r:embed="rId5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11">
                <a:extLst>
                  <a:ext uri="{FF2B5EF4-FFF2-40B4-BE49-F238E27FC236}">
                    <a16:creationId xmlns:a16="http://schemas.microsoft.com/office/drawing/2014/main" id="{80A88476-6A12-3408-C3CC-3B6BEC63DF2D}"/>
                  </a:ext>
                </a:extLst>
              </p:cNvPr>
              <p:cNvSpPr txBox="1"/>
              <p:nvPr/>
            </p:nvSpPr>
            <p:spPr bwMode="auto">
              <a:xfrm>
                <a:off x="3457574" y="3276046"/>
                <a:ext cx="827015" cy="450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+2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8" name="Object 11">
                <a:extLst>
                  <a:ext uri="{FF2B5EF4-FFF2-40B4-BE49-F238E27FC236}">
                    <a16:creationId xmlns:a16="http://schemas.microsoft.com/office/drawing/2014/main" id="{80A88476-6A12-3408-C3CC-3B6BEC63D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7574" y="3276046"/>
                <a:ext cx="827015" cy="450850"/>
              </a:xfrm>
              <a:prstGeom prst="rect">
                <a:avLst/>
              </a:prstGeom>
              <a:blipFill>
                <a:blip r:embed="rId6"/>
                <a:stretch>
                  <a:fillRect b="-40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12">
                <a:extLst>
                  <a:ext uri="{FF2B5EF4-FFF2-40B4-BE49-F238E27FC236}">
                    <a16:creationId xmlns:a16="http://schemas.microsoft.com/office/drawing/2014/main" id="{C682C9D4-2FEE-8C91-3881-581538CD6E24}"/>
                  </a:ext>
                </a:extLst>
              </p:cNvPr>
              <p:cNvSpPr txBox="1"/>
              <p:nvPr/>
            </p:nvSpPr>
            <p:spPr bwMode="auto">
              <a:xfrm>
                <a:off x="4267811" y="3274006"/>
                <a:ext cx="871463" cy="4862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+2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0" name="Object 12">
                <a:extLst>
                  <a:ext uri="{FF2B5EF4-FFF2-40B4-BE49-F238E27FC236}">
                    <a16:creationId xmlns:a16="http://schemas.microsoft.com/office/drawing/2014/main" id="{C682C9D4-2FEE-8C91-3881-581538CD6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7811" y="3274006"/>
                <a:ext cx="871463" cy="4862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13">
                <a:extLst>
                  <a:ext uri="{FF2B5EF4-FFF2-40B4-BE49-F238E27FC236}">
                    <a16:creationId xmlns:a16="http://schemas.microsoft.com/office/drawing/2014/main" id="{D7B2087C-C4F2-7202-F303-6920003B515E}"/>
                  </a:ext>
                </a:extLst>
              </p:cNvPr>
              <p:cNvSpPr txBox="1"/>
              <p:nvPr/>
            </p:nvSpPr>
            <p:spPr bwMode="auto">
              <a:xfrm>
                <a:off x="5074523" y="3280297"/>
                <a:ext cx="737662" cy="4862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2" name="Object 13">
                <a:extLst>
                  <a:ext uri="{FF2B5EF4-FFF2-40B4-BE49-F238E27FC236}">
                    <a16:creationId xmlns:a16="http://schemas.microsoft.com/office/drawing/2014/main" id="{D7B2087C-C4F2-7202-F303-6920003B5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4523" y="3280297"/>
                <a:ext cx="737662" cy="4862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14">
                <a:extLst>
                  <a:ext uri="{FF2B5EF4-FFF2-40B4-BE49-F238E27FC236}">
                    <a16:creationId xmlns:a16="http://schemas.microsoft.com/office/drawing/2014/main" id="{650C85E4-CB25-02E7-BDE9-4F0D6486461A}"/>
                  </a:ext>
                </a:extLst>
              </p:cNvPr>
              <p:cNvSpPr txBox="1"/>
              <p:nvPr/>
            </p:nvSpPr>
            <p:spPr bwMode="auto">
              <a:xfrm>
                <a:off x="2816865" y="3746665"/>
                <a:ext cx="1536700" cy="1435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altLang="zh-CN" sz="2800" i="1" dirty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g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 </m:t>
                              </m:r>
                            </m:den>
                          </m:f>
                        </m:e>
                      </m:rad>
                      <m:d>
                        <m:dPr>
                          <m:begChr m:val="["/>
                          <m:endChr m:val="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3" name="Object 14">
                <a:extLst>
                  <a:ext uri="{FF2B5EF4-FFF2-40B4-BE49-F238E27FC236}">
                    <a16:creationId xmlns:a16="http://schemas.microsoft.com/office/drawing/2014/main" id="{650C85E4-CB25-02E7-BDE9-4F0D64864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6865" y="3746665"/>
                <a:ext cx="1536700" cy="1435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15">
                <a:extLst>
                  <a:ext uri="{FF2B5EF4-FFF2-40B4-BE49-F238E27FC236}">
                    <a16:creationId xmlns:a16="http://schemas.microsoft.com/office/drawing/2014/main" id="{C1629A27-2A1D-4C94-D4E5-9F20FF693A28}"/>
                  </a:ext>
                </a:extLst>
              </p:cNvPr>
              <p:cNvSpPr txBox="1"/>
              <p:nvPr/>
            </p:nvSpPr>
            <p:spPr bwMode="auto">
              <a:xfrm>
                <a:off x="3966707" y="4226046"/>
                <a:ext cx="306998" cy="5231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1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4" name="Object 15">
                <a:extLst>
                  <a:ext uri="{FF2B5EF4-FFF2-40B4-BE49-F238E27FC236}">
                    <a16:creationId xmlns:a16="http://schemas.microsoft.com/office/drawing/2014/main" id="{C1629A27-2A1D-4C94-D4E5-9F20FF693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6707" y="4226046"/>
                <a:ext cx="306998" cy="52310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bject 16">
                <a:extLst>
                  <a:ext uri="{FF2B5EF4-FFF2-40B4-BE49-F238E27FC236}">
                    <a16:creationId xmlns:a16="http://schemas.microsoft.com/office/drawing/2014/main" id="{31875B1F-0ABB-B597-4A7E-BE7474A02C36}"/>
                  </a:ext>
                </a:extLst>
              </p:cNvPr>
              <p:cNvSpPr txBox="1"/>
              <p:nvPr/>
            </p:nvSpPr>
            <p:spPr bwMode="auto">
              <a:xfrm>
                <a:off x="4203699" y="3937737"/>
                <a:ext cx="3479800" cy="1044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+2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m:rPr>
                              <m:nor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                      </m:t>
                          </m:r>
                          <m:r>
                            <m:rPr>
                              <m:nor/>
                            </m:rP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5" name="Object 16">
                <a:extLst>
                  <a:ext uri="{FF2B5EF4-FFF2-40B4-BE49-F238E27FC236}">
                    <a16:creationId xmlns:a16="http://schemas.microsoft.com/office/drawing/2014/main" id="{31875B1F-0ABB-B597-4A7E-BE7474A02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3699" y="3937737"/>
                <a:ext cx="3479800" cy="10445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17">
                <a:extLst>
                  <a:ext uri="{FF2B5EF4-FFF2-40B4-BE49-F238E27FC236}">
                    <a16:creationId xmlns:a16="http://schemas.microsoft.com/office/drawing/2014/main" id="{7AC8DDD3-3118-0D59-08E6-0B9BF3412E38}"/>
                  </a:ext>
                </a:extLst>
              </p:cNvPr>
              <p:cNvSpPr txBox="1"/>
              <p:nvPr/>
            </p:nvSpPr>
            <p:spPr bwMode="auto">
              <a:xfrm>
                <a:off x="5421621" y="3975950"/>
                <a:ext cx="12319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rad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6" name="Object 17">
                <a:extLst>
                  <a:ext uri="{FF2B5EF4-FFF2-40B4-BE49-F238E27FC236}">
                    <a16:creationId xmlns:a16="http://schemas.microsoft.com/office/drawing/2014/main" id="{7AC8DDD3-3118-0D59-08E6-0B9BF3412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1621" y="3975950"/>
                <a:ext cx="1231900" cy="965200"/>
              </a:xfrm>
              <a:prstGeom prst="rect">
                <a:avLst/>
              </a:prstGeom>
              <a:blipFill>
                <a:blip r:embed="rId12"/>
                <a:stretch>
                  <a:fillRect r="-6436" b="-6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bject 18">
                <a:extLst>
                  <a:ext uri="{FF2B5EF4-FFF2-40B4-BE49-F238E27FC236}">
                    <a16:creationId xmlns:a16="http://schemas.microsoft.com/office/drawing/2014/main" id="{266BC75C-D784-A1AE-E58E-62F217B89E24}"/>
                  </a:ext>
                </a:extLst>
              </p:cNvPr>
              <p:cNvSpPr txBox="1"/>
              <p:nvPr/>
            </p:nvSpPr>
            <p:spPr bwMode="auto">
              <a:xfrm>
                <a:off x="6715709" y="4197471"/>
                <a:ext cx="749299" cy="4850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7" name="Object 18">
                <a:extLst>
                  <a:ext uri="{FF2B5EF4-FFF2-40B4-BE49-F238E27FC236}">
                    <a16:creationId xmlns:a16="http://schemas.microsoft.com/office/drawing/2014/main" id="{266BC75C-D784-A1AE-E58E-62F217B89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15709" y="4197471"/>
                <a:ext cx="749299" cy="48504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19">
                <a:extLst>
                  <a:ext uri="{FF2B5EF4-FFF2-40B4-BE49-F238E27FC236}">
                    <a16:creationId xmlns:a16="http://schemas.microsoft.com/office/drawing/2014/main" id="{88AAB5B7-C3FA-B046-BED5-2A165A2C3195}"/>
                  </a:ext>
                </a:extLst>
              </p:cNvPr>
              <p:cNvSpPr txBox="1"/>
              <p:nvPr/>
            </p:nvSpPr>
            <p:spPr bwMode="auto">
              <a:xfrm>
                <a:off x="2822574" y="5065847"/>
                <a:ext cx="3971925" cy="1435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altLang="zh-CN" sz="2800" i="1" dirty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g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 </m:t>
                              </m:r>
                            </m:den>
                          </m:f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 1+2 </m:t>
                          </m:r>
                          <m:r>
                            <m:rPr>
                              <m:nor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          </m:t>
                          </m:r>
                          <m:r>
                            <m:rPr>
                              <m:nor/>
                            </m:rP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  </m:t>
                          </m:r>
                          <m:r>
                            <m:rPr>
                              <m:nor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  </m:t>
                          </m:r>
                          <m: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8" name="Object 19">
                <a:extLst>
                  <a:ext uri="{FF2B5EF4-FFF2-40B4-BE49-F238E27FC236}">
                    <a16:creationId xmlns:a16="http://schemas.microsoft.com/office/drawing/2014/main" id="{88AAB5B7-C3FA-B046-BED5-2A165A2C3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2574" y="5065847"/>
                <a:ext cx="3971925" cy="14351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20">
                <a:extLst>
                  <a:ext uri="{FF2B5EF4-FFF2-40B4-BE49-F238E27FC236}">
                    <a16:creationId xmlns:a16="http://schemas.microsoft.com/office/drawing/2014/main" id="{1B76C4AB-BB87-19C2-3317-9CE6264F3686}"/>
                  </a:ext>
                </a:extLst>
              </p:cNvPr>
              <p:cNvSpPr txBox="1"/>
              <p:nvPr/>
            </p:nvSpPr>
            <p:spPr bwMode="auto">
              <a:xfrm>
                <a:off x="4888334" y="5464088"/>
                <a:ext cx="157525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kumimoji="1" lang="zh-CN" altLang="en-US" sz="2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kumimoji="1" lang="zh-CN" altLang="en-US" sz="2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e>
                        </m:rad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+1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59" name="Object 20">
                <a:extLst>
                  <a:ext uri="{FF2B5EF4-FFF2-40B4-BE49-F238E27FC236}">
                    <a16:creationId xmlns:a16="http://schemas.microsoft.com/office/drawing/2014/main" id="{1B76C4AB-BB87-19C2-3317-9CE6264F3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8334" y="5464088"/>
                <a:ext cx="1575250" cy="444500"/>
              </a:xfrm>
              <a:prstGeom prst="rect">
                <a:avLst/>
              </a:prstGeom>
              <a:blipFill>
                <a:blip r:embed="rId15"/>
                <a:stretch>
                  <a:fillRect b="-246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22">
                <a:extLst>
                  <a:ext uri="{FF2B5EF4-FFF2-40B4-BE49-F238E27FC236}">
                    <a16:creationId xmlns:a16="http://schemas.microsoft.com/office/drawing/2014/main" id="{B372FEFF-35ED-CBF2-72B2-4766443BE192}"/>
                  </a:ext>
                </a:extLst>
              </p:cNvPr>
              <p:cNvSpPr txBox="1"/>
              <p:nvPr/>
            </p:nvSpPr>
            <p:spPr bwMode="auto">
              <a:xfrm>
                <a:off x="6514323" y="5496665"/>
                <a:ext cx="1114264" cy="4973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≈2.63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0" name="Object 22">
                <a:extLst>
                  <a:ext uri="{FF2B5EF4-FFF2-40B4-BE49-F238E27FC236}">
                    <a16:creationId xmlns:a16="http://schemas.microsoft.com/office/drawing/2014/main" id="{B372FEFF-35ED-CBF2-72B2-4766443BE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14323" y="5496665"/>
                <a:ext cx="1114264" cy="49734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 Box 24">
            <a:extLst>
              <a:ext uri="{FF2B5EF4-FFF2-40B4-BE49-F238E27FC236}">
                <a16:creationId xmlns:a16="http://schemas.microsoft.com/office/drawing/2014/main" id="{B5D22A4D-1A0E-E3A6-CC39-AC230CB99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8587" y="5457166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 s 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bject 26">
                <a:extLst>
                  <a:ext uri="{FF2B5EF4-FFF2-40B4-BE49-F238E27FC236}">
                    <a16:creationId xmlns:a16="http://schemas.microsoft.com/office/drawing/2014/main" id="{7E8331F5-08C7-F18C-9A1F-B1B344079D9F}"/>
                  </a:ext>
                </a:extLst>
              </p:cNvPr>
              <p:cNvSpPr txBox="1"/>
              <p:nvPr/>
            </p:nvSpPr>
            <p:spPr bwMode="auto">
              <a:xfrm>
                <a:off x="7469138" y="4072721"/>
                <a:ext cx="303213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kumimoji="1" lang="zh-CN" altLang="en-US" sz="3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3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3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2" name="Object 26">
                <a:extLst>
                  <a:ext uri="{FF2B5EF4-FFF2-40B4-BE49-F238E27FC236}">
                    <a16:creationId xmlns:a16="http://schemas.microsoft.com/office/drawing/2014/main" id="{7E8331F5-08C7-F18C-9A1F-B1B344079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9138" y="4072721"/>
                <a:ext cx="303213" cy="889000"/>
              </a:xfrm>
              <a:prstGeom prst="rect">
                <a:avLst/>
              </a:prstGeom>
              <a:blipFill>
                <a:blip r:embed="rId17"/>
                <a:stretch>
                  <a:fillRect r="-4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27">
                <a:extLst>
                  <a:ext uri="{FF2B5EF4-FFF2-40B4-BE49-F238E27FC236}">
                    <a16:creationId xmlns:a16="http://schemas.microsoft.com/office/drawing/2014/main" id="{9C8BD71D-82DF-8FBF-4B22-D3918D4687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8725" y="2738041"/>
                <a:ext cx="545694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𝑡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表示第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𝑘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次小球落地的时间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 </a:t>
                </a:r>
              </a:p>
            </p:txBody>
          </p:sp>
        </mc:Choice>
        <mc:Fallback xmlns="">
          <p:sp>
            <p:nvSpPr>
              <p:cNvPr id="63" name="Text Box 27">
                <a:extLst>
                  <a:ext uri="{FF2B5EF4-FFF2-40B4-BE49-F238E27FC236}">
                    <a16:creationId xmlns:a16="http://schemas.microsoft.com/office/drawing/2014/main" id="{9C8BD71D-82DF-8FBF-4B22-D3918D468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8725" y="2738041"/>
                <a:ext cx="5456943" cy="523220"/>
              </a:xfrm>
              <a:prstGeom prst="rect">
                <a:avLst/>
              </a:prstGeom>
              <a:blipFill>
                <a:blip r:embed="rId18"/>
                <a:stretch>
                  <a:fillRect l="-2346" t="-15116" r="-447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1B7C4DB0-9FE9-D049-74DD-0BDA2E32793E}"/>
              </a:ext>
            </a:extLst>
          </p:cNvPr>
          <p:cNvGrpSpPr/>
          <p:nvPr/>
        </p:nvGrpSpPr>
        <p:grpSpPr>
          <a:xfrm>
            <a:off x="1284116" y="518502"/>
            <a:ext cx="1224280" cy="448945"/>
            <a:chOff x="1553" y="3803"/>
            <a:chExt cx="1928" cy="707"/>
          </a:xfrm>
        </p:grpSpPr>
        <p:sp>
          <p:nvSpPr>
            <p:cNvPr id="5" name="圆角矩形 3">
              <a:extLst>
                <a:ext uri="{FF2B5EF4-FFF2-40B4-BE49-F238E27FC236}">
                  <a16:creationId xmlns:a16="http://schemas.microsoft.com/office/drawing/2014/main" id="{53530122-EE91-7D8C-8EF2-6E22B44DB1CD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ext Box 28">
              <a:extLst>
                <a:ext uri="{FF2B5EF4-FFF2-40B4-BE49-F238E27FC236}">
                  <a16:creationId xmlns:a16="http://schemas.microsoft.com/office/drawing/2014/main" id="{21461FE5-95D7-5E7B-88B9-A04B99EE4B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28"/>
              <a:ext cx="161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引例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</a:t>
              </a:r>
              <a:endPara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50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>
            <a:extLst>
              <a:ext uri="{FF2B5EF4-FFF2-40B4-BE49-F238E27FC236}">
                <a16:creationId xmlns:a16="http://schemas.microsoft.com/office/drawing/2014/main" id="{338701DD-F325-BA6C-7EE5-458CEBADF23D}"/>
              </a:ext>
            </a:extLst>
          </p:cNvPr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A83E45-97A0-6DEA-1866-CBF000CF1F67}"/>
              </a:ext>
            </a:extLst>
          </p:cNvPr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BFA92516-39CC-20F6-1F7D-0F7DC2D14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869" y="482370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给定一个数列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0923FB4B-A7D8-89D0-9900-5EB79575E345}"/>
                  </a:ext>
                </a:extLst>
              </p:cNvPr>
              <p:cNvSpPr txBox="1"/>
              <p:nvPr/>
            </p:nvSpPr>
            <p:spPr bwMode="auto">
              <a:xfrm>
                <a:off x="4869544" y="452207"/>
                <a:ext cx="4219575" cy="5048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 , ⋯ , 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 , ⋯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0923FB4B-A7D8-89D0-9900-5EB79575E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9544" y="452207"/>
                <a:ext cx="4219575" cy="504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5">
            <a:extLst>
              <a:ext uri="{FF2B5EF4-FFF2-40B4-BE49-F238E27FC236}">
                <a16:creationId xmlns:a16="http://schemas.microsoft.com/office/drawing/2014/main" id="{80263A73-A6ED-3142-FB01-4A0843F19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9419" y="491104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将各项依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D218EFFE-41C9-2B53-9E6C-021FFADDD96F}"/>
                  </a:ext>
                </a:extLst>
              </p:cNvPr>
              <p:cNvSpPr txBox="1"/>
              <p:nvPr/>
            </p:nvSpPr>
            <p:spPr bwMode="auto">
              <a:xfrm>
                <a:off x="4117069" y="911789"/>
                <a:ext cx="1149350" cy="1263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D218EFFE-41C9-2B53-9E6C-021FFADDD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7069" y="911789"/>
                <a:ext cx="1149350" cy="1263650"/>
              </a:xfrm>
              <a:prstGeom prst="rect">
                <a:avLst/>
              </a:prstGeom>
              <a:blipFill>
                <a:blip r:embed="rId4"/>
                <a:stretch>
                  <a:fillRect r="-21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7">
            <a:extLst>
              <a:ext uri="{FF2B5EF4-FFF2-40B4-BE49-F238E27FC236}">
                <a16:creationId xmlns:a16="http://schemas.microsoft.com/office/drawing/2014/main" id="{85E7A49B-F3CD-BF03-854E-611564330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868" y="1304694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8">
                <a:extLst>
                  <a:ext uri="{FF2B5EF4-FFF2-40B4-BE49-F238E27FC236}">
                    <a16:creationId xmlns:a16="http://schemas.microsoft.com/office/drawing/2014/main" id="{366E7603-8FAD-ED6B-F898-9CE015F36F64}"/>
                  </a:ext>
                </a:extLst>
              </p:cNvPr>
              <p:cNvSpPr txBox="1"/>
              <p:nvPr/>
            </p:nvSpPr>
            <p:spPr bwMode="auto">
              <a:xfrm>
                <a:off x="1669145" y="1924615"/>
                <a:ext cx="1063624" cy="12430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8">
                <a:extLst>
                  <a:ext uri="{FF2B5EF4-FFF2-40B4-BE49-F238E27FC236}">
                    <a16:creationId xmlns:a16="http://schemas.microsoft.com/office/drawing/2014/main" id="{366E7603-8FAD-ED6B-F898-9CE015F36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9145" y="1924615"/>
                <a:ext cx="1063624" cy="12430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9">
                <a:extLst>
                  <a:ext uri="{FF2B5EF4-FFF2-40B4-BE49-F238E27FC236}">
                    <a16:creationId xmlns:a16="http://schemas.microsoft.com/office/drawing/2014/main" id="{03A83DAE-BD3D-2F0E-182A-77F901FA12EE}"/>
                  </a:ext>
                </a:extLst>
              </p:cNvPr>
              <p:cNvSpPr txBox="1"/>
              <p:nvPr/>
            </p:nvSpPr>
            <p:spPr bwMode="auto">
              <a:xfrm>
                <a:off x="2732769" y="2289738"/>
                <a:ext cx="5115771" cy="512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+ ⋯ +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+ ⋯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9">
                <a:extLst>
                  <a:ext uri="{FF2B5EF4-FFF2-40B4-BE49-F238E27FC236}">
                    <a16:creationId xmlns:a16="http://schemas.microsoft.com/office/drawing/2014/main" id="{03A83DAE-BD3D-2F0E-182A-77F901FA1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2769" y="2289738"/>
                <a:ext cx="5115771" cy="5127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10">
            <a:extLst>
              <a:ext uri="{FF2B5EF4-FFF2-40B4-BE49-F238E27FC236}">
                <a16:creationId xmlns:a16="http://schemas.microsoft.com/office/drawing/2014/main" id="{2F7D4EBC-0B6E-CFD0-9DEA-15F4BB910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145" y="3138820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称上式为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无穷级数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  <a:endParaRPr kumimoji="1" lang="zh-CN" altLang="en-US" sz="2800" b="1" dirty="0">
              <a:solidFill>
                <a:srgbClr val="04926A"/>
              </a:solidFill>
              <a:latin typeface="Cambria Math" panose="02040503050406030204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1">
                <a:extLst>
                  <a:ext uri="{FF2B5EF4-FFF2-40B4-BE49-F238E27FC236}">
                    <a16:creationId xmlns:a16="http://schemas.microsoft.com/office/drawing/2014/main" id="{67192076-14F1-AE7A-83D0-8A7172F062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1745" y="3153108"/>
                <a:ext cx="19812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其中第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项</a:t>
                </a:r>
              </a:p>
            </p:txBody>
          </p:sp>
        </mc:Choice>
        <mc:Fallback xmlns="">
          <p:sp>
            <p:nvSpPr>
              <p:cNvPr id="23" name="Text Box 11">
                <a:extLst>
                  <a:ext uri="{FF2B5EF4-FFF2-40B4-BE49-F238E27FC236}">
                    <a16:creationId xmlns:a16="http://schemas.microsoft.com/office/drawing/2014/main" id="{67192076-14F1-AE7A-83D0-8A7172F06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1745" y="3153108"/>
                <a:ext cx="1981200" cy="519113"/>
              </a:xfrm>
              <a:prstGeom prst="rect">
                <a:avLst/>
              </a:prstGeom>
              <a:blipFill>
                <a:blip r:embed="rId7"/>
                <a:stretch>
                  <a:fillRect l="-6462" t="-15294" r="-5846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2">
                <a:extLst>
                  <a:ext uri="{FF2B5EF4-FFF2-40B4-BE49-F238E27FC236}">
                    <a16:creationId xmlns:a16="http://schemas.microsoft.com/office/drawing/2014/main" id="{7AAB317E-8765-46D8-EC8E-1F5D637B8DCA}"/>
                  </a:ext>
                </a:extLst>
              </p:cNvPr>
              <p:cNvSpPr txBox="1"/>
              <p:nvPr/>
            </p:nvSpPr>
            <p:spPr bwMode="auto">
              <a:xfrm>
                <a:off x="6589055" y="3137233"/>
                <a:ext cx="490290" cy="5508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12">
                <a:extLst>
                  <a:ext uri="{FF2B5EF4-FFF2-40B4-BE49-F238E27FC236}">
                    <a16:creationId xmlns:a16="http://schemas.microsoft.com/office/drawing/2014/main" id="{7AAB317E-8765-46D8-EC8E-1F5D637B8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9055" y="3137233"/>
                <a:ext cx="490290" cy="5508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13">
            <a:extLst>
              <a:ext uri="{FF2B5EF4-FFF2-40B4-BE49-F238E27FC236}">
                <a16:creationId xmlns:a16="http://schemas.microsoft.com/office/drawing/2014/main" id="{ED868717-ECCE-F664-45A6-2CC890574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9345" y="316240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叫做级数的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一般项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15">
                <a:extLst>
                  <a:ext uri="{FF2B5EF4-FFF2-40B4-BE49-F238E27FC236}">
                    <a16:creationId xmlns:a16="http://schemas.microsoft.com/office/drawing/2014/main" id="{F08F5C41-6DB4-122C-1F1A-F36CFC145A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9145" y="3662132"/>
                <a:ext cx="272415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级数的前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项和</a:t>
                </a:r>
              </a:p>
            </p:txBody>
          </p:sp>
        </mc:Choice>
        <mc:Fallback xmlns="">
          <p:sp>
            <p:nvSpPr>
              <p:cNvPr id="26" name="Text Box 15">
                <a:extLst>
                  <a:ext uri="{FF2B5EF4-FFF2-40B4-BE49-F238E27FC236}">
                    <a16:creationId xmlns:a16="http://schemas.microsoft.com/office/drawing/2014/main" id="{F08F5C41-6DB4-122C-1F1A-F36CFC145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9145" y="3662132"/>
                <a:ext cx="2724150" cy="519112"/>
              </a:xfrm>
              <a:prstGeom prst="rect">
                <a:avLst/>
              </a:prstGeom>
              <a:blipFill>
                <a:blip r:embed="rId9"/>
                <a:stretch>
                  <a:fillRect l="-4698" t="-16471" r="-2685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6">
                <a:extLst>
                  <a:ext uri="{FF2B5EF4-FFF2-40B4-BE49-F238E27FC236}">
                    <a16:creationId xmlns:a16="http://schemas.microsoft.com/office/drawing/2014/main" id="{FD484F78-9D44-C83D-2A08-1E4DA6738D65}"/>
                  </a:ext>
                </a:extLst>
              </p:cNvPr>
              <p:cNvSpPr txBox="1"/>
              <p:nvPr/>
            </p:nvSpPr>
            <p:spPr bwMode="auto">
              <a:xfrm>
                <a:off x="3282045" y="4052990"/>
                <a:ext cx="1981200" cy="1219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16">
                <a:extLst>
                  <a:ext uri="{FF2B5EF4-FFF2-40B4-BE49-F238E27FC236}">
                    <a16:creationId xmlns:a16="http://schemas.microsoft.com/office/drawing/2014/main" id="{FD484F78-9D44-C83D-2A08-1E4DA6738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2045" y="4052990"/>
                <a:ext cx="1981200" cy="1219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Box 17">
            <a:extLst>
              <a:ext uri="{FF2B5EF4-FFF2-40B4-BE49-F238E27FC236}">
                <a16:creationId xmlns:a16="http://schemas.microsoft.com/office/drawing/2014/main" id="{4A545F78-852C-C969-6869-E4C385144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145" y="5255649"/>
            <a:ext cx="312419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称为级数的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部分和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35">
                <a:extLst>
                  <a:ext uri="{FF2B5EF4-FFF2-40B4-BE49-F238E27FC236}">
                    <a16:creationId xmlns:a16="http://schemas.microsoft.com/office/drawing/2014/main" id="{B939598B-92DD-F02A-D6F7-DE3FE2E7058D}"/>
                  </a:ext>
                </a:extLst>
              </p:cNvPr>
              <p:cNvSpPr txBox="1"/>
              <p:nvPr/>
            </p:nvSpPr>
            <p:spPr bwMode="auto">
              <a:xfrm>
                <a:off x="5193423" y="4423330"/>
                <a:ext cx="443865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+ ⋯ +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35">
                <a:extLst>
                  <a:ext uri="{FF2B5EF4-FFF2-40B4-BE49-F238E27FC236}">
                    <a16:creationId xmlns:a16="http://schemas.microsoft.com/office/drawing/2014/main" id="{B939598B-92DD-F02A-D6F7-DE3FE2E70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3423" y="4423330"/>
                <a:ext cx="4438650" cy="51911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40">
            <a:extLst>
              <a:ext uri="{FF2B5EF4-FFF2-40B4-BE49-F238E27FC236}">
                <a16:creationId xmlns:a16="http://schemas.microsoft.com/office/drawing/2014/main" id="{F06DAEA9-BD3A-3FA7-5025-CC9BEF44D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145" y="1304695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次相加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简记为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41">
                <a:extLst>
                  <a:ext uri="{FF2B5EF4-FFF2-40B4-BE49-F238E27FC236}">
                    <a16:creationId xmlns:a16="http://schemas.microsoft.com/office/drawing/2014/main" id="{A93D701C-30DF-1FE3-0FD5-AED108163667}"/>
                  </a:ext>
                </a:extLst>
              </p:cNvPr>
              <p:cNvSpPr txBox="1"/>
              <p:nvPr/>
            </p:nvSpPr>
            <p:spPr bwMode="auto">
              <a:xfrm>
                <a:off x="4657839" y="5250868"/>
                <a:ext cx="3276599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若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 =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存在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41">
                <a:extLst>
                  <a:ext uri="{FF2B5EF4-FFF2-40B4-BE49-F238E27FC236}">
                    <a16:creationId xmlns:a16="http://schemas.microsoft.com/office/drawing/2014/main" id="{A93D701C-30DF-1FE3-0FD5-AED108163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7839" y="5250868"/>
                <a:ext cx="3276599" cy="6858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Box 44">
            <a:extLst>
              <a:ext uri="{FF2B5EF4-FFF2-40B4-BE49-F238E27FC236}">
                <a16:creationId xmlns:a16="http://schemas.microsoft.com/office/drawing/2014/main" id="{FF6B9EB4-2AF6-2FC1-3F00-1F089DC6B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145" y="5902106"/>
            <a:ext cx="108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收敛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33" name="Text Box 45">
            <a:extLst>
              <a:ext uri="{FF2B5EF4-FFF2-40B4-BE49-F238E27FC236}">
                <a16:creationId xmlns:a16="http://schemas.microsoft.com/office/drawing/2014/main" id="{FA2AACF2-B0A0-2B52-297B-D32C71652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9066" y="5234090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则称无穷级数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47">
                <a:extLst>
                  <a:ext uri="{FF2B5EF4-FFF2-40B4-BE49-F238E27FC236}">
                    <a16:creationId xmlns:a16="http://schemas.microsoft.com/office/drawing/2014/main" id="{19684A72-1E1D-B3AB-7AA9-750AAF75D6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0589" y="5902106"/>
                <a:ext cx="32004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并称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为级数的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和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</a:t>
                </a:r>
              </a:p>
            </p:txBody>
          </p:sp>
        </mc:Choice>
        <mc:Fallback xmlns="">
          <p:sp>
            <p:nvSpPr>
              <p:cNvPr id="34" name="Text Box 47">
                <a:extLst>
                  <a:ext uri="{FF2B5EF4-FFF2-40B4-BE49-F238E27FC236}">
                    <a16:creationId xmlns:a16="http://schemas.microsoft.com/office/drawing/2014/main" id="{19684A72-1E1D-B3AB-7AA9-750AAF75D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0589" y="5902106"/>
                <a:ext cx="3200400" cy="519112"/>
              </a:xfrm>
              <a:prstGeom prst="rect">
                <a:avLst/>
              </a:prstGeom>
              <a:blipFill>
                <a:blip r:embed="rId13"/>
                <a:stretch>
                  <a:fillRect l="-3810" t="-15294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Box 48">
            <a:extLst>
              <a:ext uri="{FF2B5EF4-FFF2-40B4-BE49-F238E27FC236}">
                <a16:creationId xmlns:a16="http://schemas.microsoft.com/office/drawing/2014/main" id="{031F4C96-B0C4-08E4-1A39-677C58286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4699" y="5902106"/>
            <a:ext cx="96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记作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1587859-91C6-DDA4-FC22-C2A584721894}"/>
              </a:ext>
            </a:extLst>
          </p:cNvPr>
          <p:cNvGrpSpPr/>
          <p:nvPr/>
        </p:nvGrpSpPr>
        <p:grpSpPr>
          <a:xfrm>
            <a:off x="1770744" y="526187"/>
            <a:ext cx="899795" cy="448945"/>
            <a:chOff x="1553" y="3803"/>
            <a:chExt cx="1417" cy="707"/>
          </a:xfrm>
        </p:grpSpPr>
        <p:sp>
          <p:nvSpPr>
            <p:cNvPr id="13" name="圆角矩形 57">
              <a:extLst>
                <a:ext uri="{FF2B5EF4-FFF2-40B4-BE49-F238E27FC236}">
                  <a16:creationId xmlns:a16="http://schemas.microsoft.com/office/drawing/2014/main" id="{015CF4F1-63BD-6AAB-1833-B45C2706A7AA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Text Box 28">
              <a:extLst>
                <a:ext uri="{FF2B5EF4-FFF2-40B4-BE49-F238E27FC236}">
                  <a16:creationId xmlns:a16="http://schemas.microsoft.com/office/drawing/2014/main" id="{40FF8AA7-DDA0-3571-1E85-E88B2569A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27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95CE905-B520-AC13-F617-B6C28ECF238C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8" name="PA-102232">
              <a:extLst>
                <a:ext uri="{FF2B5EF4-FFF2-40B4-BE49-F238E27FC236}">
                  <a16:creationId xmlns:a16="http://schemas.microsoft.com/office/drawing/2014/main" id="{2AB2802A-3A02-4523-C4B5-58E6EB999936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2AB6343-5441-E518-4BF8-2E00A3CCD27A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5BFB1B33-311C-2C26-1DD2-F104DBA69E74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BA8BE461-4D20-5F69-1D84-B7D64A74CB0B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F28B9F6D-29CE-122E-975C-830BE9DA4000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2">
                <a:extLst>
                  <a:ext uri="{FF2B5EF4-FFF2-40B4-BE49-F238E27FC236}">
                    <a16:creationId xmlns:a16="http://schemas.microsoft.com/office/drawing/2014/main" id="{A5C748F9-8F54-5345-F873-C3AFCF1E30F1}"/>
                  </a:ext>
                </a:extLst>
              </p:cNvPr>
              <p:cNvSpPr txBox="1"/>
              <p:nvPr/>
            </p:nvSpPr>
            <p:spPr bwMode="auto">
              <a:xfrm>
                <a:off x="4589302" y="765175"/>
                <a:ext cx="2159000" cy="1301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; 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22">
                <a:extLst>
                  <a:ext uri="{FF2B5EF4-FFF2-40B4-BE49-F238E27FC236}">
                    <a16:creationId xmlns:a16="http://schemas.microsoft.com/office/drawing/2014/main" id="{A5C748F9-8F54-5345-F873-C3AFCF1E3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9302" y="765175"/>
                <a:ext cx="2159000" cy="1301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28">
            <a:extLst>
              <a:ext uri="{FF2B5EF4-FFF2-40B4-BE49-F238E27FC236}">
                <a16:creationId xmlns:a16="http://schemas.microsoft.com/office/drawing/2014/main" id="{CA17B4B1-9A2C-3585-59C8-2CC58C80B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350" y="2933701"/>
            <a:ext cx="361285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当级数收敛时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称差值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9">
                <a:extLst>
                  <a:ext uri="{FF2B5EF4-FFF2-40B4-BE49-F238E27FC236}">
                    <a16:creationId xmlns:a16="http://schemas.microsoft.com/office/drawing/2014/main" id="{2FA033A4-3942-A097-2491-CF750A4687FD}"/>
                  </a:ext>
                </a:extLst>
              </p:cNvPr>
              <p:cNvSpPr txBox="1"/>
              <p:nvPr/>
            </p:nvSpPr>
            <p:spPr bwMode="auto">
              <a:xfrm>
                <a:off x="3589439" y="3591379"/>
                <a:ext cx="5076738" cy="623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29">
                <a:extLst>
                  <a:ext uri="{FF2B5EF4-FFF2-40B4-BE49-F238E27FC236}">
                    <a16:creationId xmlns:a16="http://schemas.microsoft.com/office/drawing/2014/main" id="{2FA033A4-3942-A097-2491-CF750A468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9439" y="3591379"/>
                <a:ext cx="5076738" cy="623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30">
            <a:extLst>
              <a:ext uri="{FF2B5EF4-FFF2-40B4-BE49-F238E27FC236}">
                <a16:creationId xmlns:a16="http://schemas.microsoft.com/office/drawing/2014/main" id="{6CFDBAD4-C356-BC68-ED0B-7BBE842F8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350" y="4295777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为级数的余项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37">
                <a:extLst>
                  <a:ext uri="{FF2B5EF4-FFF2-40B4-BE49-F238E27FC236}">
                    <a16:creationId xmlns:a16="http://schemas.microsoft.com/office/drawing/2014/main" id="{4B5E90F2-4845-969E-FB40-0DC6DD7778B0}"/>
                  </a:ext>
                </a:extLst>
              </p:cNvPr>
              <p:cNvSpPr txBox="1"/>
              <p:nvPr/>
            </p:nvSpPr>
            <p:spPr bwMode="auto">
              <a:xfrm>
                <a:off x="3181350" y="2176463"/>
                <a:ext cx="2946458" cy="647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若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不存在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37">
                <a:extLst>
                  <a:ext uri="{FF2B5EF4-FFF2-40B4-BE49-F238E27FC236}">
                    <a16:creationId xmlns:a16="http://schemas.microsoft.com/office/drawing/2014/main" id="{4B5E90F2-4845-969E-FB40-0DC6DD777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1350" y="2176463"/>
                <a:ext cx="2946458" cy="647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38">
            <a:extLst>
              <a:ext uri="{FF2B5EF4-FFF2-40B4-BE49-F238E27FC236}">
                <a16:creationId xmlns:a16="http://schemas.microsoft.com/office/drawing/2014/main" id="{B6810DDB-AFF6-4DE7-3A8A-5E541BFD2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2004" y="2176461"/>
            <a:ext cx="326908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则称无穷级数发散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8" name="Text Box 39">
            <a:extLst>
              <a:ext uri="{FF2B5EF4-FFF2-40B4-BE49-F238E27FC236}">
                <a16:creationId xmlns:a16="http://schemas.microsoft.com/office/drawing/2014/main" id="{38B91C25-5186-FEE6-D1B7-43D594E69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329" y="4295777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显然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40">
                <a:extLst>
                  <a:ext uri="{FF2B5EF4-FFF2-40B4-BE49-F238E27FC236}">
                    <a16:creationId xmlns:a16="http://schemas.microsoft.com/office/drawing/2014/main" id="{D9AE2FBC-3453-8B1F-6767-D3C7EEAB6038}"/>
                  </a:ext>
                </a:extLst>
              </p:cNvPr>
              <p:cNvSpPr txBox="1"/>
              <p:nvPr/>
            </p:nvSpPr>
            <p:spPr bwMode="auto">
              <a:xfrm>
                <a:off x="4589302" y="4924425"/>
                <a:ext cx="2032000" cy="623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=0.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40">
                <a:extLst>
                  <a:ext uri="{FF2B5EF4-FFF2-40B4-BE49-F238E27FC236}">
                    <a16:creationId xmlns:a16="http://schemas.microsoft.com/office/drawing/2014/main" id="{D9AE2FBC-3453-8B1F-6767-D3C7EEAB6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9302" y="4924425"/>
                <a:ext cx="2032000" cy="623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15" grpId="0"/>
      <p:bldP spid="16" grpId="0"/>
      <p:bldP spid="17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5163FF9-DB43-9F2D-92C8-A863FEA00370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5163FF9-DB43-9F2D-92C8-A863FEA003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半闭框 8">
            <a:extLst>
              <a:ext uri="{FF2B5EF4-FFF2-40B4-BE49-F238E27FC236}">
                <a16:creationId xmlns:a16="http://schemas.microsoft.com/office/drawing/2014/main" id="{2E389138-B0B9-589C-1D64-BA525AC02B1F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半闭框 9">
            <a:extLst>
              <a:ext uri="{FF2B5EF4-FFF2-40B4-BE49-F238E27FC236}">
                <a16:creationId xmlns:a16="http://schemas.microsoft.com/office/drawing/2014/main" id="{5C0BAAC5-D9C7-4813-9808-DB2CB1B3429B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半闭框 13">
            <a:extLst>
              <a:ext uri="{FF2B5EF4-FFF2-40B4-BE49-F238E27FC236}">
                <a16:creationId xmlns:a16="http://schemas.microsoft.com/office/drawing/2014/main" id="{598AEFB4-2ACC-6AB6-7BF3-2A052A82579E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5" name="半闭框 14">
            <a:extLst>
              <a:ext uri="{FF2B5EF4-FFF2-40B4-BE49-F238E27FC236}">
                <a16:creationId xmlns:a16="http://schemas.microsoft.com/office/drawing/2014/main" id="{276AAB6E-E115-6649-ED2E-12BB04957003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658EBA1-EFDF-B56E-6F4E-1B6E0580D8FA}"/>
              </a:ext>
            </a:extLst>
          </p:cNvPr>
          <p:cNvSpPr txBox="1">
            <a:spLocks noChangeArrowheads="1"/>
          </p:cNvSpPr>
          <p:nvPr/>
        </p:nvSpPr>
        <p:spPr>
          <a:xfrm>
            <a:off x="1778000" y="711200"/>
            <a:ext cx="3505200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讨论等比级数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0E5C257A-3CF9-3673-5C94-A1661CFC1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947" y="649490"/>
            <a:ext cx="2971800" cy="519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 (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又称几何级数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D43DB01B-F647-B80C-A37E-866F02A0C16A}"/>
                  </a:ext>
                </a:extLst>
              </p:cNvPr>
              <p:cNvSpPr txBox="1"/>
              <p:nvPr/>
            </p:nvSpPr>
            <p:spPr bwMode="auto">
              <a:xfrm>
                <a:off x="2548885" y="1213854"/>
                <a:ext cx="8081015" cy="122555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=0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𝑎𝑞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𝑞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𝑞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+⋯  (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≠0 )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D43DB01B-F647-B80C-A37E-866F02A0C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8885" y="1213854"/>
                <a:ext cx="8081015" cy="1225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8">
                <a:extLst>
                  <a:ext uri="{FF2B5EF4-FFF2-40B4-BE49-F238E27FC236}">
                    <a16:creationId xmlns:a16="http://schemas.microsoft.com/office/drawing/2014/main" id="{54AA54B1-11C3-27B6-332D-CBE3F0D7F8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0785" y="2481263"/>
                <a:ext cx="4232128" cy="5191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𝑞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称为公比 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)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的敛散性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 Box 8">
                <a:extLst>
                  <a:ext uri="{FF2B5EF4-FFF2-40B4-BE49-F238E27FC236}">
                    <a16:creationId xmlns:a16="http://schemas.microsoft.com/office/drawing/2014/main" id="{54AA54B1-11C3-27B6-332D-CBE3F0D7F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0785" y="2481263"/>
                <a:ext cx="4232128" cy="519112"/>
              </a:xfrm>
              <a:prstGeom prst="rect">
                <a:avLst/>
              </a:prstGeom>
              <a:blipFill>
                <a:blip r:embed="rId4"/>
                <a:stretch>
                  <a:fillRect l="-3026" t="-15294" b="-3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12">
            <a:extLst>
              <a:ext uri="{FF2B5EF4-FFF2-40B4-BE49-F238E27FC236}">
                <a16:creationId xmlns:a16="http://schemas.microsoft.com/office/drawing/2014/main" id="{4C5662E3-5A5A-2294-DB4A-00D8E2B5F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400" y="3048001"/>
            <a:ext cx="157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(1)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3">
                <a:extLst>
                  <a:ext uri="{FF2B5EF4-FFF2-40B4-BE49-F238E27FC236}">
                    <a16:creationId xmlns:a16="http://schemas.microsoft.com/office/drawing/2014/main" id="{EB3F1ABC-4B31-14F7-D2DE-807ED44557B3}"/>
                  </a:ext>
                </a:extLst>
              </p:cNvPr>
              <p:cNvSpPr txBox="1"/>
              <p:nvPr/>
            </p:nvSpPr>
            <p:spPr bwMode="auto">
              <a:xfrm>
                <a:off x="3261687" y="3106847"/>
                <a:ext cx="1259514" cy="393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𝑞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≠1,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3">
                <a:extLst>
                  <a:ext uri="{FF2B5EF4-FFF2-40B4-BE49-F238E27FC236}">
                    <a16:creationId xmlns:a16="http://schemas.microsoft.com/office/drawing/2014/main" id="{EB3F1ABC-4B31-14F7-D2DE-807ED4455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1687" y="3106847"/>
                <a:ext cx="1259514" cy="393700"/>
              </a:xfrm>
              <a:prstGeom prst="rect">
                <a:avLst/>
              </a:prstGeom>
              <a:blipFill>
                <a:blip r:embed="rId5"/>
                <a:stretch>
                  <a:fillRect l="-483" b="-23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4">
                <a:extLst>
                  <a:ext uri="{FF2B5EF4-FFF2-40B4-BE49-F238E27FC236}">
                    <a16:creationId xmlns:a16="http://schemas.microsoft.com/office/drawing/2014/main" id="{6CBA69EB-825A-BF51-52EE-2074EBC2FF71}"/>
                  </a:ext>
                </a:extLst>
              </p:cNvPr>
              <p:cNvSpPr txBox="1"/>
              <p:nvPr/>
            </p:nvSpPr>
            <p:spPr bwMode="auto">
              <a:xfrm>
                <a:off x="3000376" y="3556000"/>
                <a:ext cx="4129101" cy="4769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𝑎𝑞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𝑞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𝑞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4">
                <a:extLst>
                  <a:ext uri="{FF2B5EF4-FFF2-40B4-BE49-F238E27FC236}">
                    <a16:creationId xmlns:a16="http://schemas.microsoft.com/office/drawing/2014/main" id="{6CBA69EB-825A-BF51-52EE-2074EBC2F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0376" y="3556000"/>
                <a:ext cx="4129101" cy="4769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5">
                <a:extLst>
                  <a:ext uri="{FF2B5EF4-FFF2-40B4-BE49-F238E27FC236}">
                    <a16:creationId xmlns:a16="http://schemas.microsoft.com/office/drawing/2014/main" id="{9991B9D0-3D68-1D8A-BEA8-0E23F471A297}"/>
                  </a:ext>
                </a:extLst>
              </p:cNvPr>
              <p:cNvSpPr txBox="1"/>
              <p:nvPr/>
            </p:nvSpPr>
            <p:spPr bwMode="auto">
              <a:xfrm>
                <a:off x="6947015" y="3477768"/>
                <a:ext cx="1513749" cy="78943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1−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𝑞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5">
                <a:extLst>
                  <a:ext uri="{FF2B5EF4-FFF2-40B4-BE49-F238E27FC236}">
                    <a16:creationId xmlns:a16="http://schemas.microsoft.com/office/drawing/2014/main" id="{9991B9D0-3D68-1D8A-BEA8-0E23F471A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47015" y="3477768"/>
                <a:ext cx="1513749" cy="7894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7">
                <a:extLst>
                  <a:ext uri="{FF2B5EF4-FFF2-40B4-BE49-F238E27FC236}">
                    <a16:creationId xmlns:a16="http://schemas.microsoft.com/office/drawing/2014/main" id="{BF9CB724-A4BB-8125-CACB-529B4F07B87C}"/>
                  </a:ext>
                </a:extLst>
              </p:cNvPr>
              <p:cNvSpPr txBox="1"/>
              <p:nvPr/>
            </p:nvSpPr>
            <p:spPr bwMode="auto">
              <a:xfrm>
                <a:off x="2949691" y="4147846"/>
                <a:ext cx="2020888" cy="469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当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𝑞</m:t>
                          </m:r>
                        </m:e>
                      </m: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&lt;1 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m:rPr>
                          <m:nor/>
                        </m:rPr>
                        <a:rPr kumimoji="1" lang="en-US" altLang="zh-CN" sz="2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7">
                <a:extLst>
                  <a:ext uri="{FF2B5EF4-FFF2-40B4-BE49-F238E27FC236}">
                    <a16:creationId xmlns:a16="http://schemas.microsoft.com/office/drawing/2014/main" id="{BF9CB724-A4BB-8125-CACB-529B4F07B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9691" y="4147846"/>
                <a:ext cx="2020888" cy="469900"/>
              </a:xfrm>
              <a:prstGeom prst="rect">
                <a:avLst/>
              </a:prstGeom>
              <a:blipFill>
                <a:blip r:embed="rId8"/>
                <a:stretch>
                  <a:fillRect l="-2115"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9">
                <a:extLst>
                  <a:ext uri="{FF2B5EF4-FFF2-40B4-BE49-F238E27FC236}">
                    <a16:creationId xmlns:a16="http://schemas.microsoft.com/office/drawing/2014/main" id="{B6F33EAA-7AFC-D28A-899B-8EA8DA56D4E7}"/>
                  </a:ext>
                </a:extLst>
              </p:cNvPr>
              <p:cNvSpPr txBox="1"/>
              <p:nvPr/>
            </p:nvSpPr>
            <p:spPr bwMode="auto">
              <a:xfrm>
                <a:off x="4620340" y="4136353"/>
                <a:ext cx="2266351" cy="51502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由于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19">
                <a:extLst>
                  <a:ext uri="{FF2B5EF4-FFF2-40B4-BE49-F238E27FC236}">
                    <a16:creationId xmlns:a16="http://schemas.microsoft.com/office/drawing/2014/main" id="{B6F33EAA-7AFC-D28A-899B-8EA8DA56D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0340" y="4136353"/>
                <a:ext cx="2266351" cy="515026"/>
              </a:xfrm>
              <a:prstGeom prst="rect">
                <a:avLst/>
              </a:prstGeom>
              <a:blipFill>
                <a:blip r:embed="rId9"/>
                <a:stretch>
                  <a:fillRect l="-1882"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20">
            <a:extLst>
              <a:ext uri="{FF2B5EF4-FFF2-40B4-BE49-F238E27FC236}">
                <a16:creationId xmlns:a16="http://schemas.microsoft.com/office/drawing/2014/main" id="{716FA0EC-E6D5-CBD4-DF90-7A5F552C6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013" y="4134596"/>
            <a:ext cx="8200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从而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56D984D5-40C8-FB85-EC6A-805646D71F5B}"/>
                  </a:ext>
                </a:extLst>
              </p:cNvPr>
              <p:cNvSpPr txBox="1"/>
              <p:nvPr/>
            </p:nvSpPr>
            <p:spPr bwMode="auto">
              <a:xfrm>
                <a:off x="7461570" y="3970798"/>
                <a:ext cx="2182886" cy="84613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1−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𝑞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56D984D5-40C8-FB85-EC6A-805646D71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1570" y="3970798"/>
                <a:ext cx="2182886" cy="8461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22">
            <a:extLst>
              <a:ext uri="{FF2B5EF4-FFF2-40B4-BE49-F238E27FC236}">
                <a16:creationId xmlns:a16="http://schemas.microsoft.com/office/drawing/2014/main" id="{DD0E04DE-9520-0058-F7BD-3949F79B7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9691" y="4738363"/>
            <a:ext cx="201492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因此级数收敛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3">
                <a:extLst>
                  <a:ext uri="{FF2B5EF4-FFF2-40B4-BE49-F238E27FC236}">
                    <a16:creationId xmlns:a16="http://schemas.microsoft.com/office/drawing/2014/main" id="{A6B843D2-6812-791C-F5AD-A1DF07ABD9AC}"/>
                  </a:ext>
                </a:extLst>
              </p:cNvPr>
              <p:cNvSpPr txBox="1"/>
              <p:nvPr/>
            </p:nvSpPr>
            <p:spPr bwMode="auto">
              <a:xfrm>
                <a:off x="5672924" y="4541361"/>
                <a:ext cx="1320800" cy="84613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1−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𝑞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23">
                <a:extLst>
                  <a:ext uri="{FF2B5EF4-FFF2-40B4-BE49-F238E27FC236}">
                    <a16:creationId xmlns:a16="http://schemas.microsoft.com/office/drawing/2014/main" id="{A6B843D2-6812-791C-F5AD-A1DF07ABD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72924" y="4541361"/>
                <a:ext cx="1320800" cy="84613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5">
                <a:extLst>
                  <a:ext uri="{FF2B5EF4-FFF2-40B4-BE49-F238E27FC236}">
                    <a16:creationId xmlns:a16="http://schemas.microsoft.com/office/drawing/2014/main" id="{24234FC2-752E-C4D2-EB90-EAEFE5F80947}"/>
                  </a:ext>
                </a:extLst>
              </p:cNvPr>
              <p:cNvSpPr txBox="1"/>
              <p:nvPr/>
            </p:nvSpPr>
            <p:spPr bwMode="auto">
              <a:xfrm>
                <a:off x="2949691" y="5316246"/>
                <a:ext cx="1790700" cy="469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当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𝑞</m:t>
                          </m:r>
                        </m:e>
                      </m: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&gt;1 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25">
                <a:extLst>
                  <a:ext uri="{FF2B5EF4-FFF2-40B4-BE49-F238E27FC236}">
                    <a16:creationId xmlns:a16="http://schemas.microsoft.com/office/drawing/2014/main" id="{24234FC2-752E-C4D2-EB90-EAEFE5F80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9691" y="5316246"/>
                <a:ext cx="1790700" cy="469900"/>
              </a:xfrm>
              <a:prstGeom prst="rect">
                <a:avLst/>
              </a:prstGeom>
              <a:blipFill>
                <a:blip r:embed="rId12"/>
                <a:stretch>
                  <a:fillRect l="-2381" b="-3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7">
                <a:extLst>
                  <a:ext uri="{FF2B5EF4-FFF2-40B4-BE49-F238E27FC236}">
                    <a16:creationId xmlns:a16="http://schemas.microsoft.com/office/drawing/2014/main" id="{C2F5B8D2-1972-FAFB-88AF-6CAB9DBC37B9}"/>
                  </a:ext>
                </a:extLst>
              </p:cNvPr>
              <p:cNvSpPr txBox="1"/>
              <p:nvPr/>
            </p:nvSpPr>
            <p:spPr bwMode="auto">
              <a:xfrm>
                <a:off x="4620340" y="5318779"/>
                <a:ext cx="2412534" cy="51911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由于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=∞,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27">
                <a:extLst>
                  <a:ext uri="{FF2B5EF4-FFF2-40B4-BE49-F238E27FC236}">
                    <a16:creationId xmlns:a16="http://schemas.microsoft.com/office/drawing/2014/main" id="{C2F5B8D2-1972-FAFB-88AF-6CAB9DBC3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0340" y="5318779"/>
                <a:ext cx="2412534" cy="519112"/>
              </a:xfrm>
              <a:prstGeom prst="rect">
                <a:avLst/>
              </a:prstGeom>
              <a:blipFill>
                <a:blip r:embed="rId13"/>
                <a:stretch>
                  <a:fillRect l="-1768" b="-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28">
            <a:extLst>
              <a:ext uri="{FF2B5EF4-FFF2-40B4-BE49-F238E27FC236}">
                <a16:creationId xmlns:a16="http://schemas.microsoft.com/office/drawing/2014/main" id="{00ABDC1E-0854-64C1-F3FE-297AA22F2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891" y="5308426"/>
            <a:ext cx="12954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从而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9">
                <a:extLst>
                  <a:ext uri="{FF2B5EF4-FFF2-40B4-BE49-F238E27FC236}">
                    <a16:creationId xmlns:a16="http://schemas.microsoft.com/office/drawing/2014/main" id="{A433BFEF-DC6E-683F-ABCA-F2B8EAB1513C}"/>
                  </a:ext>
                </a:extLst>
              </p:cNvPr>
              <p:cNvSpPr txBox="1"/>
              <p:nvPr/>
            </p:nvSpPr>
            <p:spPr bwMode="auto">
              <a:xfrm>
                <a:off x="7461571" y="5316246"/>
                <a:ext cx="1832688" cy="622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=∞,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29">
                <a:extLst>
                  <a:ext uri="{FF2B5EF4-FFF2-40B4-BE49-F238E27FC236}">
                    <a16:creationId xmlns:a16="http://schemas.microsoft.com/office/drawing/2014/main" id="{A433BFEF-DC6E-683F-ABCA-F2B8EAB15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1571" y="5316246"/>
                <a:ext cx="1832688" cy="6223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37">
            <a:extLst>
              <a:ext uri="{FF2B5EF4-FFF2-40B4-BE49-F238E27FC236}">
                <a16:creationId xmlns:a16="http://schemas.microsoft.com/office/drawing/2014/main" id="{3D8B95F8-C244-0524-D8FE-1EACD116E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4785" y="3120635"/>
            <a:ext cx="17526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则部分和</a:t>
            </a:r>
          </a:p>
        </p:txBody>
      </p:sp>
      <p:sp>
        <p:nvSpPr>
          <p:cNvPr id="30" name="Text Box 38">
            <a:extLst>
              <a:ext uri="{FF2B5EF4-FFF2-40B4-BE49-F238E27FC236}">
                <a16:creationId xmlns:a16="http://schemas.microsoft.com/office/drawing/2014/main" id="{1A2E3A32-7D48-1F30-1633-67FD72B3A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9691" y="5793898"/>
            <a:ext cx="2667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因此级数发散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1" name="Text Box 40">
            <a:extLst>
              <a:ext uri="{FF2B5EF4-FFF2-40B4-BE49-F238E27FC236}">
                <a16:creationId xmlns:a16="http://schemas.microsoft.com/office/drawing/2014/main" id="{A3FCEDDA-E4C4-7CA0-49DF-2DBDB01DC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8994" y="4748986"/>
            <a:ext cx="116681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其和为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1" grpId="0"/>
      <p:bldP spid="12" grpId="0"/>
      <p:bldP spid="13" grpId="0"/>
      <p:bldP spid="16" grpId="0"/>
      <p:bldP spid="17" grpId="0"/>
      <p:bldP spid="19" grpId="0"/>
      <p:bldP spid="20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18AEAE4-210F-1765-54E2-EA71831DFE08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18AEAE4-210F-1765-54E2-EA71831DFE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半闭框 2">
            <a:extLst>
              <a:ext uri="{FF2B5EF4-FFF2-40B4-BE49-F238E27FC236}">
                <a16:creationId xmlns:a16="http://schemas.microsoft.com/office/drawing/2014/main" id="{A310847E-60CA-F9DC-ADFD-E6F3F7DE6203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半闭框 3">
            <a:extLst>
              <a:ext uri="{FF2B5EF4-FFF2-40B4-BE49-F238E27FC236}">
                <a16:creationId xmlns:a16="http://schemas.microsoft.com/office/drawing/2014/main" id="{430DE344-5BFB-F0A7-AD5A-556F5584F90B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半闭框 4">
            <a:extLst>
              <a:ext uri="{FF2B5EF4-FFF2-40B4-BE49-F238E27FC236}">
                <a16:creationId xmlns:a16="http://schemas.microsoft.com/office/drawing/2014/main" id="{69705B84-4714-69E0-2D22-72B9C8DFD75A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6" name="半闭框 5">
            <a:extLst>
              <a:ext uri="{FF2B5EF4-FFF2-40B4-BE49-F238E27FC236}">
                <a16:creationId xmlns:a16="http://schemas.microsoft.com/office/drawing/2014/main" id="{B1DB6849-0C3E-E4F2-1D1F-9BCC6CBF0877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CAF5E5F1-BEF4-96B7-A0CE-9F2C8C237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2515" y="1016001"/>
            <a:ext cx="1295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(2)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4">
                <a:extLst>
                  <a:ext uri="{FF2B5EF4-FFF2-40B4-BE49-F238E27FC236}">
                    <a16:creationId xmlns:a16="http://schemas.microsoft.com/office/drawing/2014/main" id="{569508D1-358E-5ABE-A646-844E3F09A181}"/>
                  </a:ext>
                </a:extLst>
              </p:cNvPr>
              <p:cNvSpPr txBox="1"/>
              <p:nvPr/>
            </p:nvSpPr>
            <p:spPr bwMode="auto">
              <a:xfrm>
                <a:off x="3906272" y="994906"/>
                <a:ext cx="124142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𝑞</m:t>
                          </m:r>
                        </m:e>
                      </m: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4">
                <a:extLst>
                  <a:ext uri="{FF2B5EF4-FFF2-40B4-BE49-F238E27FC236}">
                    <a16:creationId xmlns:a16="http://schemas.microsoft.com/office/drawing/2014/main" id="{569508D1-358E-5ABE-A646-844E3F09A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06272" y="994906"/>
                <a:ext cx="1241425" cy="469900"/>
              </a:xfrm>
              <a:prstGeom prst="rect">
                <a:avLst/>
              </a:prstGeom>
              <a:blipFill>
                <a:blip r:embed="rId3"/>
                <a:stretch>
                  <a:fillRect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5">
                <a:extLst>
                  <a:ext uri="{FF2B5EF4-FFF2-40B4-BE49-F238E27FC236}">
                    <a16:creationId xmlns:a16="http://schemas.microsoft.com/office/drawing/2014/main" id="{27862EF3-241E-1AC5-AB75-D7B45009D880}"/>
                  </a:ext>
                </a:extLst>
              </p:cNvPr>
              <p:cNvSpPr txBox="1"/>
              <p:nvPr/>
            </p:nvSpPr>
            <p:spPr bwMode="auto">
              <a:xfrm>
                <a:off x="3507015" y="1634273"/>
                <a:ext cx="16002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𝑞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5">
                <a:extLst>
                  <a:ext uri="{FF2B5EF4-FFF2-40B4-BE49-F238E27FC236}">
                    <a16:creationId xmlns:a16="http://schemas.microsoft.com/office/drawing/2014/main" id="{27862EF3-241E-1AC5-AB75-D7B45009D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7015" y="1634273"/>
                <a:ext cx="1600200" cy="444500"/>
              </a:xfrm>
              <a:prstGeom prst="rect">
                <a:avLst/>
              </a:prstGeom>
              <a:blipFill>
                <a:blip r:embed="rId4"/>
                <a:stretch>
                  <a:fillRect l="-2281" b="-95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7">
                <a:extLst>
                  <a:ext uri="{FF2B5EF4-FFF2-40B4-BE49-F238E27FC236}">
                    <a16:creationId xmlns:a16="http://schemas.microsoft.com/office/drawing/2014/main" id="{8C733A24-4EB2-954F-DFBD-ADBC070343B8}"/>
                  </a:ext>
                </a:extLst>
              </p:cNvPr>
              <p:cNvSpPr txBox="1"/>
              <p:nvPr/>
            </p:nvSpPr>
            <p:spPr bwMode="auto">
              <a:xfrm>
                <a:off x="4889728" y="1618819"/>
                <a:ext cx="1241425" cy="4429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𝑛𝑎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7">
                <a:extLst>
                  <a:ext uri="{FF2B5EF4-FFF2-40B4-BE49-F238E27FC236}">
                    <a16:creationId xmlns:a16="http://schemas.microsoft.com/office/drawing/2014/main" id="{8C733A24-4EB2-954F-DFBD-ADBC07034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9728" y="1618819"/>
                <a:ext cx="1241425" cy="4429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8">
            <a:extLst>
              <a:ext uri="{FF2B5EF4-FFF2-40B4-BE49-F238E27FC236}">
                <a16:creationId xmlns:a16="http://schemas.microsoft.com/office/drawing/2014/main" id="{F0A0E8CC-FD60-924A-193A-2FFB03341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1215" y="1623699"/>
            <a:ext cx="20002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因此级数发散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1">
                <a:extLst>
                  <a:ext uri="{FF2B5EF4-FFF2-40B4-BE49-F238E27FC236}">
                    <a16:creationId xmlns:a16="http://schemas.microsoft.com/office/drawing/2014/main" id="{5FF79430-9906-8065-17CD-3D5C72DD6FAA}"/>
                  </a:ext>
                </a:extLst>
              </p:cNvPr>
              <p:cNvSpPr txBox="1"/>
              <p:nvPr/>
            </p:nvSpPr>
            <p:spPr bwMode="auto">
              <a:xfrm>
                <a:off x="3507015" y="2266158"/>
                <a:ext cx="1814513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𝑞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=−1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11">
                <a:extLst>
                  <a:ext uri="{FF2B5EF4-FFF2-40B4-BE49-F238E27FC236}">
                    <a16:creationId xmlns:a16="http://schemas.microsoft.com/office/drawing/2014/main" id="{5FF79430-9906-8065-17CD-3D5C72DD6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7015" y="2266158"/>
                <a:ext cx="1814513" cy="444500"/>
              </a:xfrm>
              <a:prstGeom prst="rect">
                <a:avLst/>
              </a:prstGeom>
              <a:blipFill>
                <a:blip r:embed="rId6"/>
                <a:stretch>
                  <a:fillRect l="-2013" b="-82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13">
                <a:extLst>
                  <a:ext uri="{FF2B5EF4-FFF2-40B4-BE49-F238E27FC236}">
                    <a16:creationId xmlns:a16="http://schemas.microsoft.com/office/drawing/2014/main" id="{37A6CF3B-AB8E-8931-9F28-F56A1C783510}"/>
                  </a:ext>
                </a:extLst>
              </p:cNvPr>
              <p:cNvSpPr txBox="1"/>
              <p:nvPr/>
            </p:nvSpPr>
            <p:spPr bwMode="auto">
              <a:xfrm>
                <a:off x="3507015" y="2898043"/>
                <a:ext cx="4646612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+⋯+(−1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13">
                <a:extLst>
                  <a:ext uri="{FF2B5EF4-FFF2-40B4-BE49-F238E27FC236}">
                    <a16:creationId xmlns:a16="http://schemas.microsoft.com/office/drawing/2014/main" id="{37A6CF3B-AB8E-8931-9F28-F56A1C783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7015" y="2898043"/>
                <a:ext cx="4646612" cy="469900"/>
              </a:xfrm>
              <a:prstGeom prst="rect">
                <a:avLst/>
              </a:prstGeom>
              <a:blipFill>
                <a:blip r:embed="rId7"/>
                <a:stretch>
                  <a:fillRect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14">
            <a:extLst>
              <a:ext uri="{FF2B5EF4-FFF2-40B4-BE49-F238E27FC236}">
                <a16:creationId xmlns:a16="http://schemas.microsoft.com/office/drawing/2014/main" id="{F654CE4B-B253-4EE9-0B34-FEC8443A9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7015" y="3584356"/>
            <a:ext cx="1295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因此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5">
                <a:extLst>
                  <a:ext uri="{FF2B5EF4-FFF2-40B4-BE49-F238E27FC236}">
                    <a16:creationId xmlns:a16="http://schemas.microsoft.com/office/drawing/2014/main" id="{D8EE47D3-18B9-FC59-E8AC-3D63E64FFEEB}"/>
                  </a:ext>
                </a:extLst>
              </p:cNvPr>
              <p:cNvSpPr txBox="1"/>
              <p:nvPr/>
            </p:nvSpPr>
            <p:spPr bwMode="auto">
              <a:xfrm>
                <a:off x="4149954" y="3458250"/>
                <a:ext cx="11430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15">
                <a:extLst>
                  <a:ext uri="{FF2B5EF4-FFF2-40B4-BE49-F238E27FC236}">
                    <a16:creationId xmlns:a16="http://schemas.microsoft.com/office/drawing/2014/main" id="{D8EE47D3-18B9-FC59-E8AC-3D63E64FF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49954" y="3458250"/>
                <a:ext cx="1143000" cy="889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16">
                <a:extLst>
                  <a:ext uri="{FF2B5EF4-FFF2-40B4-BE49-F238E27FC236}">
                    <a16:creationId xmlns:a16="http://schemas.microsoft.com/office/drawing/2014/main" id="{D64114EC-2CD2-3EAA-8668-615C609205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43789" y="3370264"/>
                <a:ext cx="1323975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为奇数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</a:t>
                </a:r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Text Box 16">
                <a:extLst>
                  <a:ext uri="{FF2B5EF4-FFF2-40B4-BE49-F238E27FC236}">
                    <a16:creationId xmlns:a16="http://schemas.microsoft.com/office/drawing/2014/main" id="{D64114EC-2CD2-3EAA-8668-615C60920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43789" y="3370264"/>
                <a:ext cx="1323975" cy="430887"/>
              </a:xfrm>
              <a:prstGeom prst="rect">
                <a:avLst/>
              </a:prstGeom>
              <a:blipFill>
                <a:blip r:embed="rId9"/>
                <a:stretch>
                  <a:fillRect t="-14085" b="-267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20">
                <a:extLst>
                  <a:ext uri="{FF2B5EF4-FFF2-40B4-BE49-F238E27FC236}">
                    <a16:creationId xmlns:a16="http://schemas.microsoft.com/office/drawing/2014/main" id="{BAC586FC-5D21-2847-35E1-9974417AB2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43789" y="3728010"/>
                <a:ext cx="1323975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为偶数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.</a:t>
                </a:r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Text Box 20">
                <a:extLst>
                  <a:ext uri="{FF2B5EF4-FFF2-40B4-BE49-F238E27FC236}">
                    <a16:creationId xmlns:a16="http://schemas.microsoft.com/office/drawing/2014/main" id="{BAC586FC-5D21-2847-35E1-9974417AB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43789" y="3728010"/>
                <a:ext cx="1323975" cy="430887"/>
              </a:xfrm>
              <a:prstGeom prst="rect">
                <a:avLst/>
              </a:prstGeom>
              <a:blipFill>
                <a:blip r:embed="rId10"/>
                <a:stretch>
                  <a:fillRect t="-14286" b="-285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 Box 21">
            <a:extLst>
              <a:ext uri="{FF2B5EF4-FFF2-40B4-BE49-F238E27FC236}">
                <a16:creationId xmlns:a16="http://schemas.microsoft.com/office/drawing/2014/main" id="{384023D0-8B0B-A5A0-AC1A-616BE0CF0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7015" y="4246171"/>
            <a:ext cx="1295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从而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22">
                <a:extLst>
                  <a:ext uri="{FF2B5EF4-FFF2-40B4-BE49-F238E27FC236}">
                    <a16:creationId xmlns:a16="http://schemas.microsoft.com/office/drawing/2014/main" id="{27093525-07D4-9875-2E15-73A112D86E7E}"/>
                  </a:ext>
                </a:extLst>
              </p:cNvPr>
              <p:cNvSpPr txBox="1"/>
              <p:nvPr/>
            </p:nvSpPr>
            <p:spPr bwMode="auto">
              <a:xfrm>
                <a:off x="4143604" y="4215256"/>
                <a:ext cx="1041400" cy="622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Object 22">
                <a:extLst>
                  <a:ext uri="{FF2B5EF4-FFF2-40B4-BE49-F238E27FC236}">
                    <a16:creationId xmlns:a16="http://schemas.microsoft.com/office/drawing/2014/main" id="{27093525-07D4-9875-2E15-73A112D86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43604" y="4215256"/>
                <a:ext cx="1041400" cy="6223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26">
            <a:extLst>
              <a:ext uri="{FF2B5EF4-FFF2-40B4-BE49-F238E27FC236}">
                <a16:creationId xmlns:a16="http://schemas.microsoft.com/office/drawing/2014/main" id="{C392592E-C3CB-74BF-CBDF-ACFBDC360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7015" y="4791871"/>
            <a:ext cx="2895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综合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1)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，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(2)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可知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7">
                <a:extLst>
                  <a:ext uri="{FF2B5EF4-FFF2-40B4-BE49-F238E27FC236}">
                    <a16:creationId xmlns:a16="http://schemas.microsoft.com/office/drawing/2014/main" id="{45BEA495-DAB6-72BB-1212-D15BAD0A998E}"/>
                  </a:ext>
                </a:extLst>
              </p:cNvPr>
              <p:cNvSpPr txBox="1"/>
              <p:nvPr/>
            </p:nvSpPr>
            <p:spPr bwMode="auto">
              <a:xfrm>
                <a:off x="5927952" y="4793545"/>
                <a:ext cx="1387248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𝑞</m:t>
                        </m:r>
                      </m:e>
                    </m:d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&lt;1</m:t>
                    </m:r>
                  </m:oMath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Object 27">
                <a:extLst>
                  <a:ext uri="{FF2B5EF4-FFF2-40B4-BE49-F238E27FC236}">
                    <a16:creationId xmlns:a16="http://schemas.microsoft.com/office/drawing/2014/main" id="{45BEA495-DAB6-72BB-1212-D15BAD0A9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27952" y="4793545"/>
                <a:ext cx="1387248" cy="469900"/>
              </a:xfrm>
              <a:prstGeom prst="rect">
                <a:avLst/>
              </a:prstGeom>
              <a:blipFill>
                <a:blip r:embed="rId12"/>
                <a:stretch>
                  <a:fillRect l="-5702" t="-11688" b="-1428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Box 28">
            <a:extLst>
              <a:ext uri="{FF2B5EF4-FFF2-40B4-BE49-F238E27FC236}">
                <a16:creationId xmlns:a16="http://schemas.microsoft.com/office/drawing/2014/main" id="{721A746F-3D64-3816-FA08-A74692EDC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3835" y="4808837"/>
            <a:ext cx="25257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时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等比级数收敛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29">
                <a:extLst>
                  <a:ext uri="{FF2B5EF4-FFF2-40B4-BE49-F238E27FC236}">
                    <a16:creationId xmlns:a16="http://schemas.microsoft.com/office/drawing/2014/main" id="{204A32BB-2415-51E9-8A0E-7634885EA441}"/>
                  </a:ext>
                </a:extLst>
              </p:cNvPr>
              <p:cNvSpPr txBox="1"/>
              <p:nvPr/>
            </p:nvSpPr>
            <p:spPr bwMode="auto">
              <a:xfrm>
                <a:off x="5918199" y="5356046"/>
                <a:ext cx="1387248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𝑞</m:t>
                        </m:r>
                      </m:e>
                    </m:d>
                    <m:r>
                      <m:rPr>
                        <m:nor/>
                      </m:rPr>
                      <a:rPr kumimoji="1" lang="en-US" altLang="zh-CN" sz="22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200" dirty="0">
                        <a:latin typeface="宋体" panose="02010600030101010101" pitchFamily="2" charset="-122"/>
                      </a:rPr>
                      <m:t>≥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1</m:t>
                    </m:r>
                  </m:oMath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29">
                <a:extLst>
                  <a:ext uri="{FF2B5EF4-FFF2-40B4-BE49-F238E27FC236}">
                    <a16:creationId xmlns:a16="http://schemas.microsoft.com/office/drawing/2014/main" id="{204A32BB-2415-51E9-8A0E-7634885EA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18199" y="5356046"/>
                <a:ext cx="1387248" cy="469900"/>
              </a:xfrm>
              <a:prstGeom prst="rect">
                <a:avLst/>
              </a:prstGeom>
              <a:blipFill>
                <a:blip r:embed="rId13"/>
                <a:stretch>
                  <a:fillRect l="-5727" t="-12987" b="-129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 Box 30">
            <a:extLst>
              <a:ext uri="{FF2B5EF4-FFF2-40B4-BE49-F238E27FC236}">
                <a16:creationId xmlns:a16="http://schemas.microsoft.com/office/drawing/2014/main" id="{FA265263-51EB-9B18-481B-93C668781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3835" y="5386640"/>
            <a:ext cx="24109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时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等比级数发散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9" name="Text Box 36">
            <a:extLst>
              <a:ext uri="{FF2B5EF4-FFF2-40B4-BE49-F238E27FC236}">
                <a16:creationId xmlns:a16="http://schemas.microsoft.com/office/drawing/2014/main" id="{28C6C451-67B9-FADD-86E5-D971A0901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728" y="1020763"/>
            <a:ext cx="685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38">
                <a:extLst>
                  <a:ext uri="{FF2B5EF4-FFF2-40B4-BE49-F238E27FC236}">
                    <a16:creationId xmlns:a16="http://schemas.microsoft.com/office/drawing/2014/main" id="{44D67B56-EE4F-8B37-4C11-5D48A27E4C2F}"/>
                  </a:ext>
                </a:extLst>
              </p:cNvPr>
              <p:cNvSpPr txBox="1"/>
              <p:nvPr/>
            </p:nvSpPr>
            <p:spPr bwMode="auto">
              <a:xfrm>
                <a:off x="5927952" y="1624832"/>
                <a:ext cx="949325" cy="350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→∞,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0" name="Object 38">
                <a:extLst>
                  <a:ext uri="{FF2B5EF4-FFF2-40B4-BE49-F238E27FC236}">
                    <a16:creationId xmlns:a16="http://schemas.microsoft.com/office/drawing/2014/main" id="{44D67B56-EE4F-8B37-4C11-5D48A27E4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27952" y="1624832"/>
                <a:ext cx="949325" cy="350838"/>
              </a:xfrm>
              <a:prstGeom prst="rect">
                <a:avLst/>
              </a:prstGeom>
              <a:blipFill>
                <a:blip r:embed="rId14"/>
                <a:stretch>
                  <a:fillRect b="-122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 Box 39">
            <a:extLst>
              <a:ext uri="{FF2B5EF4-FFF2-40B4-BE49-F238E27FC236}">
                <a16:creationId xmlns:a16="http://schemas.microsoft.com/office/drawing/2014/main" id="{6C90B6C3-0721-5DEF-4395-BF0CC1141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9765" y="2291339"/>
            <a:ext cx="133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级数成为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40">
                <a:extLst>
                  <a:ext uri="{FF2B5EF4-FFF2-40B4-BE49-F238E27FC236}">
                    <a16:creationId xmlns:a16="http://schemas.microsoft.com/office/drawing/2014/main" id="{DDEE0702-648D-DB1A-AF5A-95DFD85FD3A7}"/>
                  </a:ext>
                </a:extLst>
              </p:cNvPr>
              <p:cNvSpPr txBox="1"/>
              <p:nvPr/>
            </p:nvSpPr>
            <p:spPr bwMode="auto">
              <a:xfrm>
                <a:off x="4980216" y="3352223"/>
                <a:ext cx="3556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Object 40">
                <a:extLst>
                  <a:ext uri="{FF2B5EF4-FFF2-40B4-BE49-F238E27FC236}">
                    <a16:creationId xmlns:a16="http://schemas.microsoft.com/office/drawing/2014/main" id="{DDEE0702-648D-DB1A-AF5A-95DFD85FD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80216" y="3352223"/>
                <a:ext cx="355600" cy="317500"/>
              </a:xfrm>
              <a:prstGeom prst="rect">
                <a:avLst/>
              </a:prstGeom>
              <a:blipFill>
                <a:blip r:embed="rId15"/>
                <a:stretch>
                  <a:fillRect b="-230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41">
                <a:extLst>
                  <a:ext uri="{FF2B5EF4-FFF2-40B4-BE49-F238E27FC236}">
                    <a16:creationId xmlns:a16="http://schemas.microsoft.com/office/drawing/2014/main" id="{80E9EB57-B2DE-F1E4-DB4D-A87BA5D6C93E}"/>
                  </a:ext>
                </a:extLst>
              </p:cNvPr>
              <p:cNvSpPr txBox="1"/>
              <p:nvPr/>
            </p:nvSpPr>
            <p:spPr bwMode="auto">
              <a:xfrm>
                <a:off x="4991328" y="3722111"/>
                <a:ext cx="3302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0,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Object 41">
                <a:extLst>
                  <a:ext uri="{FF2B5EF4-FFF2-40B4-BE49-F238E27FC236}">
                    <a16:creationId xmlns:a16="http://schemas.microsoft.com/office/drawing/2014/main" id="{80E9EB57-B2DE-F1E4-DB4D-A87BA5D6C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91328" y="3722111"/>
                <a:ext cx="330200" cy="393700"/>
              </a:xfrm>
              <a:prstGeom prst="rect">
                <a:avLst/>
              </a:prstGeom>
              <a:blipFill>
                <a:blip r:embed="rId16"/>
                <a:stretch>
                  <a:fillRect l="-1852" r="-3704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 Box 42">
            <a:extLst>
              <a:ext uri="{FF2B5EF4-FFF2-40B4-BE49-F238E27FC236}">
                <a16:creationId xmlns:a16="http://schemas.microsoft.com/office/drawing/2014/main" id="{32740CC6-5E8A-9504-8905-364BC6AE1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7679" y="4269673"/>
            <a:ext cx="315594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不存在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因此级数发散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217AA61-0753-7B9E-21C1-F99AE0C64721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217AA61-0753-7B9E-21C1-F99AE0C647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半闭框 22">
            <a:extLst>
              <a:ext uri="{FF2B5EF4-FFF2-40B4-BE49-F238E27FC236}">
                <a16:creationId xmlns:a16="http://schemas.microsoft.com/office/drawing/2014/main" id="{7A9A49C9-635E-7E54-8D4C-030425C66733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半闭框 23">
            <a:extLst>
              <a:ext uri="{FF2B5EF4-FFF2-40B4-BE49-F238E27FC236}">
                <a16:creationId xmlns:a16="http://schemas.microsoft.com/office/drawing/2014/main" id="{0F5B6C47-9482-C02B-0379-3FEE2F3B7085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半闭框 24">
            <a:extLst>
              <a:ext uri="{FF2B5EF4-FFF2-40B4-BE49-F238E27FC236}">
                <a16:creationId xmlns:a16="http://schemas.microsoft.com/office/drawing/2014/main" id="{51D1CD8D-7F27-A75C-EA23-28D338CE82D2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6" name="半闭框 25">
            <a:extLst>
              <a:ext uri="{FF2B5EF4-FFF2-40B4-BE49-F238E27FC236}">
                <a16:creationId xmlns:a16="http://schemas.microsoft.com/office/drawing/2014/main" id="{6F356DE1-8306-268C-D59D-6AE5CEC511CA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73E02079-49D5-BCDA-F440-F9AB400DE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268" y="4754253"/>
            <a:ext cx="2870259" cy="104323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863F2C-B02C-C0E7-9126-31DA014DA4B5}"/>
              </a:ext>
            </a:extLst>
          </p:cNvPr>
          <p:cNvSpPr txBox="1">
            <a:spLocks noChangeArrowheads="1"/>
          </p:cNvSpPr>
          <p:nvPr/>
        </p:nvSpPr>
        <p:spPr>
          <a:xfrm>
            <a:off x="2044700" y="1052697"/>
            <a:ext cx="4724400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 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判别下列级数的敛散性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594C4908-1D87-E296-8C97-B9BE845C021F}"/>
                  </a:ext>
                </a:extLst>
              </p:cNvPr>
              <p:cNvSpPr txBox="1"/>
              <p:nvPr/>
            </p:nvSpPr>
            <p:spPr bwMode="auto">
              <a:xfrm>
                <a:off x="2817019" y="1580541"/>
                <a:ext cx="7904161" cy="12668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(1)  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func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;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m:rPr>
                          <m:nor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              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(2)  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+1)</m:t>
                              </m:r>
                            </m:den>
                          </m:f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594C4908-1D87-E296-8C97-B9BE845C0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7019" y="1580541"/>
                <a:ext cx="7904161" cy="12668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4">
            <a:extLst>
              <a:ext uri="{FF2B5EF4-FFF2-40B4-BE49-F238E27FC236}">
                <a16:creationId xmlns:a16="http://schemas.microsoft.com/office/drawing/2014/main" id="{362F7F9D-E37D-FD1F-D050-7332E38A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700" y="3213287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(1)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88B1B142-61C0-3BF8-47AB-689038A43FB6}"/>
                  </a:ext>
                </a:extLst>
              </p:cNvPr>
              <p:cNvSpPr txBox="1"/>
              <p:nvPr/>
            </p:nvSpPr>
            <p:spPr bwMode="auto">
              <a:xfrm>
                <a:off x="3073400" y="3126230"/>
                <a:ext cx="13462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88B1B142-61C0-3BF8-47AB-689038A43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3400" y="3126230"/>
                <a:ext cx="1346200" cy="850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5C726FC4-3734-5FCA-E44D-03CB67755BE0}"/>
                  </a:ext>
                </a:extLst>
              </p:cNvPr>
              <p:cNvSpPr txBox="1"/>
              <p:nvPr/>
            </p:nvSpPr>
            <p:spPr bwMode="auto">
              <a:xfrm>
                <a:off x="3438321" y="4041686"/>
                <a:ext cx="7069138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=(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)+(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)+⋯+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</m:e>
                          </m:func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+1)−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5C726FC4-3734-5FCA-E44D-03CB67755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8321" y="4041686"/>
                <a:ext cx="7069138" cy="431800"/>
              </a:xfrm>
              <a:prstGeom prst="rect">
                <a:avLst/>
              </a:prstGeom>
              <a:blipFill>
                <a:blip r:embed="rId6"/>
                <a:stretch>
                  <a:fillRect b="-183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CACF0BF4-06BF-5E9E-A8EC-9A1FF2F5555F}"/>
                  </a:ext>
                </a:extLst>
              </p:cNvPr>
              <p:cNvSpPr txBox="1"/>
              <p:nvPr/>
            </p:nvSpPr>
            <p:spPr bwMode="auto">
              <a:xfrm>
                <a:off x="3434651" y="4695247"/>
                <a:ext cx="169545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+1)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CACF0BF4-06BF-5E9E-A8EC-9A1FF2F55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4651" y="4695247"/>
                <a:ext cx="1695450" cy="406400"/>
              </a:xfrm>
              <a:prstGeom prst="rect">
                <a:avLst/>
              </a:prstGeom>
              <a:blipFill>
                <a:blip r:embed="rId7"/>
                <a:stretch>
                  <a:fillRect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3634DEAE-337C-EE73-9FE7-A05179C60E3C}"/>
                  </a:ext>
                </a:extLst>
              </p:cNvPr>
              <p:cNvSpPr txBox="1"/>
              <p:nvPr/>
            </p:nvSpPr>
            <p:spPr bwMode="auto">
              <a:xfrm>
                <a:off x="4931890" y="4655639"/>
                <a:ext cx="2395952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→∞ 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(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𝑛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→∞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)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.</m:t>
                    </m:r>
                  </m:oMath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3634DEAE-337C-EE73-9FE7-A05179C60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1890" y="4655639"/>
                <a:ext cx="2395952" cy="431800"/>
              </a:xfrm>
              <a:prstGeom prst="rect">
                <a:avLst/>
              </a:prstGeom>
              <a:blipFill>
                <a:blip r:embed="rId8"/>
                <a:stretch>
                  <a:fillRect t="-1408" b="-352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0">
            <a:extLst>
              <a:ext uri="{FF2B5EF4-FFF2-40B4-BE49-F238E27FC236}">
                <a16:creationId xmlns:a16="http://schemas.microsoft.com/office/drawing/2014/main" id="{576C551D-C992-0C25-3D8B-EE658E869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4651" y="5388877"/>
            <a:ext cx="3733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所以级数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(1)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发散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11" name="Text Box 19">
            <a:extLst>
              <a:ext uri="{FF2B5EF4-FFF2-40B4-BE49-F238E27FC236}">
                <a16:creationId xmlns:a16="http://schemas.microsoft.com/office/drawing/2014/main" id="{6124D8C9-D337-7378-8752-6C623C7FA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9989" y="4815213"/>
            <a:ext cx="96316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CC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技巧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21">
                <a:extLst>
                  <a:ext uri="{FF2B5EF4-FFF2-40B4-BE49-F238E27FC236}">
                    <a16:creationId xmlns:a16="http://schemas.microsoft.com/office/drawing/2014/main" id="{4DE4978E-110C-05D9-53D1-29C3BA5C4E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9989" y="5272414"/>
                <a:ext cx="2794058" cy="453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bg2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99CC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利用 </a:t>
                </a:r>
                <a14:m>
                  <m:oMath xmlns:m="http://schemas.openxmlformats.org/officeDocument/2006/math">
                    <m:r>
                      <a:rPr kumimoji="1" lang="zh-CN" altLang="en-US" sz="24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Symbol" panose="05050102010706020507" pitchFamily="18" charset="2"/>
                      </a:rPr>
                      <m:t>“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拆项相消</a:t>
                </a:r>
                <a14:m>
                  <m:oMath xmlns:m="http://schemas.openxmlformats.org/officeDocument/2006/math">
                    <m:r>
                      <a:rPr kumimoji="1" lang="zh-CN" altLang="en-US" sz="24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Symbol" panose="05050102010706020507" pitchFamily="18" charset="2"/>
                      </a:rPr>
                      <m:t>”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求和</a:t>
                </a:r>
              </a:p>
            </p:txBody>
          </p:sp>
        </mc:Choice>
        <mc:Fallback xmlns="">
          <p:sp>
            <p:nvSpPr>
              <p:cNvPr id="12" name="Text Box 21">
                <a:extLst>
                  <a:ext uri="{FF2B5EF4-FFF2-40B4-BE49-F238E27FC236}">
                    <a16:creationId xmlns:a16="http://schemas.microsoft.com/office/drawing/2014/main" id="{4DE4978E-110C-05D9-53D1-29C3BA5C4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29989" y="5272414"/>
                <a:ext cx="2794058" cy="453137"/>
              </a:xfrm>
              <a:prstGeom prst="rect">
                <a:avLst/>
              </a:prstGeom>
              <a:blipFill>
                <a:blip r:embed="rId9"/>
                <a:stretch>
                  <a:fillRect l="-2838" t="-9459" r="-2183" b="-216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9CC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2">
                <a:extLst>
                  <a:ext uri="{FF2B5EF4-FFF2-40B4-BE49-F238E27FC236}">
                    <a16:creationId xmlns:a16="http://schemas.microsoft.com/office/drawing/2014/main" id="{562F6C89-A8DE-5F25-59BF-7598D6772F9A}"/>
                  </a:ext>
                </a:extLst>
              </p:cNvPr>
              <p:cNvSpPr txBox="1"/>
              <p:nvPr/>
            </p:nvSpPr>
            <p:spPr bwMode="auto">
              <a:xfrm>
                <a:off x="4202113" y="3124191"/>
                <a:ext cx="8509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22">
                <a:extLst>
                  <a:ext uri="{FF2B5EF4-FFF2-40B4-BE49-F238E27FC236}">
                    <a16:creationId xmlns:a16="http://schemas.microsoft.com/office/drawing/2014/main" id="{562F6C89-A8DE-5F25-59BF-7598D6772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2113" y="3124191"/>
                <a:ext cx="850900" cy="850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3">
                <a:extLst>
                  <a:ext uri="{FF2B5EF4-FFF2-40B4-BE49-F238E27FC236}">
                    <a16:creationId xmlns:a16="http://schemas.microsoft.com/office/drawing/2014/main" id="{CC14870E-64AF-063A-9909-9E2A54E8EAE5}"/>
                  </a:ext>
                </a:extLst>
              </p:cNvPr>
              <p:cNvSpPr txBox="1"/>
              <p:nvPr/>
            </p:nvSpPr>
            <p:spPr bwMode="auto">
              <a:xfrm>
                <a:off x="4967295" y="3134619"/>
                <a:ext cx="8509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23">
                <a:extLst>
                  <a:ext uri="{FF2B5EF4-FFF2-40B4-BE49-F238E27FC236}">
                    <a16:creationId xmlns:a16="http://schemas.microsoft.com/office/drawing/2014/main" id="{CC14870E-64AF-063A-9909-9E2A54E8E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7295" y="3134619"/>
                <a:ext cx="850900" cy="8509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4">
                <a:extLst>
                  <a:ext uri="{FF2B5EF4-FFF2-40B4-BE49-F238E27FC236}">
                    <a16:creationId xmlns:a16="http://schemas.microsoft.com/office/drawing/2014/main" id="{12772C63-EA89-CAFB-C287-75DF52DE0027}"/>
                  </a:ext>
                </a:extLst>
              </p:cNvPr>
              <p:cNvSpPr txBox="1"/>
              <p:nvPr/>
            </p:nvSpPr>
            <p:spPr bwMode="auto">
              <a:xfrm>
                <a:off x="5735638" y="3126230"/>
                <a:ext cx="19685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24">
                <a:extLst>
                  <a:ext uri="{FF2B5EF4-FFF2-40B4-BE49-F238E27FC236}">
                    <a16:creationId xmlns:a16="http://schemas.microsoft.com/office/drawing/2014/main" id="{12772C63-EA89-CAFB-C287-75DF52DE0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5638" y="3126230"/>
                <a:ext cx="1968500" cy="8509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25">
            <a:extLst>
              <a:ext uri="{FF2B5EF4-FFF2-40B4-BE49-F238E27FC236}">
                <a16:creationId xmlns:a16="http://schemas.microsoft.com/office/drawing/2014/main" id="{A7C271D5-94AA-E7CF-AAEE-1FD5E33B7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1338" y="4000600"/>
            <a:ext cx="914400" cy="533400"/>
          </a:xfrm>
          <a:prstGeom prst="ellips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Line 26">
            <a:extLst>
              <a:ext uri="{FF2B5EF4-FFF2-40B4-BE49-F238E27FC236}">
                <a16:creationId xmlns:a16="http://schemas.microsoft.com/office/drawing/2014/main" id="{9C4FB631-F6C9-BAF2-7E6B-4320FC996F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2547" y="3962500"/>
            <a:ext cx="304800" cy="6096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Line 27">
            <a:extLst>
              <a:ext uri="{FF2B5EF4-FFF2-40B4-BE49-F238E27FC236}">
                <a16:creationId xmlns:a16="http://schemas.microsoft.com/office/drawing/2014/main" id="{592E69FB-44B2-776E-D9B7-7329C24492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5088" y="3962500"/>
            <a:ext cx="304800" cy="6096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Line 28">
            <a:extLst>
              <a:ext uri="{FF2B5EF4-FFF2-40B4-BE49-F238E27FC236}">
                <a16:creationId xmlns:a16="http://schemas.microsoft.com/office/drawing/2014/main" id="{1BD31109-E4A5-C033-4538-9B6F358188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3150" y="3962500"/>
            <a:ext cx="304800" cy="6096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Line 29">
            <a:extLst>
              <a:ext uri="{FF2B5EF4-FFF2-40B4-BE49-F238E27FC236}">
                <a16:creationId xmlns:a16="http://schemas.microsoft.com/office/drawing/2014/main" id="{EF00AF0B-8327-A86E-0793-726B19103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7842" y="3962500"/>
            <a:ext cx="304800" cy="6096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" name="Line 30">
            <a:extLst>
              <a:ext uri="{FF2B5EF4-FFF2-40B4-BE49-F238E27FC236}">
                <a16:creationId xmlns:a16="http://schemas.microsoft.com/office/drawing/2014/main" id="{A78CC457-9E85-F23C-D801-89CE2B5FF98E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5310" y="3962500"/>
            <a:ext cx="304800" cy="6096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302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FBCC7F7-1EE5-FE9F-A3D5-107BC19E5497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FBCC7F7-1EE5-FE9F-A3D5-107BC19E54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半闭框 10">
            <a:extLst>
              <a:ext uri="{FF2B5EF4-FFF2-40B4-BE49-F238E27FC236}">
                <a16:creationId xmlns:a16="http://schemas.microsoft.com/office/drawing/2014/main" id="{183CD326-DE3F-8B52-5F87-CEC3D9DB7BC7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半闭框 20">
            <a:extLst>
              <a:ext uri="{FF2B5EF4-FFF2-40B4-BE49-F238E27FC236}">
                <a16:creationId xmlns:a16="http://schemas.microsoft.com/office/drawing/2014/main" id="{E58E6B60-0BB9-86EB-1AB0-5CC3950BB7F6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半闭框 21">
            <a:extLst>
              <a:ext uri="{FF2B5EF4-FFF2-40B4-BE49-F238E27FC236}">
                <a16:creationId xmlns:a16="http://schemas.microsoft.com/office/drawing/2014/main" id="{987460CE-B700-1825-B6BE-AA69DB70FB03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3" name="半闭框 22">
            <a:extLst>
              <a:ext uri="{FF2B5EF4-FFF2-40B4-BE49-F238E27FC236}">
                <a16:creationId xmlns:a16="http://schemas.microsoft.com/office/drawing/2014/main" id="{4F13B6F5-761A-BBC1-FB38-3D164EFAD2D6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27C0944B-A20F-468E-90DA-9E9C22364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9307" y="1591700"/>
            <a:ext cx="838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(2)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1">
                <a:extLst>
                  <a:ext uri="{FF2B5EF4-FFF2-40B4-BE49-F238E27FC236}">
                    <a16:creationId xmlns:a16="http://schemas.microsoft.com/office/drawing/2014/main" id="{307F10F4-8884-C942-35C5-E4AEF232C0FF}"/>
                  </a:ext>
                </a:extLst>
              </p:cNvPr>
              <p:cNvSpPr txBox="1"/>
              <p:nvPr/>
            </p:nvSpPr>
            <p:spPr bwMode="auto">
              <a:xfrm>
                <a:off x="2940957" y="1413781"/>
                <a:ext cx="53975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1⋅2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2⋅3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3⋅4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⋅(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11">
                <a:extLst>
                  <a:ext uri="{FF2B5EF4-FFF2-40B4-BE49-F238E27FC236}">
                    <a16:creationId xmlns:a16="http://schemas.microsoft.com/office/drawing/2014/main" id="{307F10F4-8884-C942-35C5-E4AEF232C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0957" y="1413781"/>
                <a:ext cx="5397500" cy="927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2">
                <a:extLst>
                  <a:ext uri="{FF2B5EF4-FFF2-40B4-BE49-F238E27FC236}">
                    <a16:creationId xmlns:a16="http://schemas.microsoft.com/office/drawing/2014/main" id="{C46B2B84-3DB2-327D-BC9C-BD320DD2D626}"/>
                  </a:ext>
                </a:extLst>
              </p:cNvPr>
              <p:cNvSpPr txBox="1"/>
              <p:nvPr/>
            </p:nvSpPr>
            <p:spPr bwMode="auto">
              <a:xfrm>
                <a:off x="3302907" y="2531381"/>
                <a:ext cx="1481356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12">
                <a:extLst>
                  <a:ext uri="{FF2B5EF4-FFF2-40B4-BE49-F238E27FC236}">
                    <a16:creationId xmlns:a16="http://schemas.microsoft.com/office/drawing/2014/main" id="{C46B2B84-3DB2-327D-BC9C-BD320DD2D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2907" y="2531381"/>
                <a:ext cx="1481356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3">
                <a:extLst>
                  <a:ext uri="{FF2B5EF4-FFF2-40B4-BE49-F238E27FC236}">
                    <a16:creationId xmlns:a16="http://schemas.microsoft.com/office/drawing/2014/main" id="{E30CF50A-1C81-1273-7693-BC3E342748C7}"/>
                  </a:ext>
                </a:extLst>
              </p:cNvPr>
              <p:cNvSpPr txBox="1"/>
              <p:nvPr/>
            </p:nvSpPr>
            <p:spPr bwMode="auto">
              <a:xfrm>
                <a:off x="3302907" y="3521981"/>
                <a:ext cx="16764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13">
                <a:extLst>
                  <a:ext uri="{FF2B5EF4-FFF2-40B4-BE49-F238E27FC236}">
                    <a16:creationId xmlns:a16="http://schemas.microsoft.com/office/drawing/2014/main" id="{E30CF50A-1C81-1273-7693-BC3E34274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2907" y="3521981"/>
                <a:ext cx="1676400" cy="850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4">
                <a:extLst>
                  <a:ext uri="{FF2B5EF4-FFF2-40B4-BE49-F238E27FC236}">
                    <a16:creationId xmlns:a16="http://schemas.microsoft.com/office/drawing/2014/main" id="{1A3DB169-7B6A-3EE8-27AE-F404E54F9627}"/>
                  </a:ext>
                </a:extLst>
              </p:cNvPr>
              <p:cNvSpPr txBox="1"/>
              <p:nvPr/>
            </p:nvSpPr>
            <p:spPr bwMode="auto">
              <a:xfrm>
                <a:off x="4855482" y="3637869"/>
                <a:ext cx="25527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→1 ( 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→∞ 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）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4">
                <a:extLst>
                  <a:ext uri="{FF2B5EF4-FFF2-40B4-BE49-F238E27FC236}">
                    <a16:creationId xmlns:a16="http://schemas.microsoft.com/office/drawing/2014/main" id="{1A3DB169-7B6A-3EE8-27AE-F404E54F9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5482" y="3637869"/>
                <a:ext cx="2552700" cy="4318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5">
            <a:extLst>
              <a:ext uri="{FF2B5EF4-FFF2-40B4-BE49-F238E27FC236}">
                <a16:creationId xmlns:a16="http://schemas.microsoft.com/office/drawing/2014/main" id="{98ABB6B8-9630-D7E1-2CC7-15F8B156C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957" y="4488769"/>
            <a:ext cx="36480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所以级数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(2)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收敛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其和为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1 .</a:t>
            </a:r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068E851F-733F-4652-4B78-F0BDDE5407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9607" y="2188481"/>
            <a:ext cx="685800" cy="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0">
                <a:extLst>
                  <a:ext uri="{FF2B5EF4-FFF2-40B4-BE49-F238E27FC236}">
                    <a16:creationId xmlns:a16="http://schemas.microsoft.com/office/drawing/2014/main" id="{3A3B5144-8ABF-7206-799A-A8B88C3647B1}"/>
                  </a:ext>
                </a:extLst>
              </p:cNvPr>
              <p:cNvSpPr txBox="1"/>
              <p:nvPr/>
            </p:nvSpPr>
            <p:spPr bwMode="auto">
              <a:xfrm>
                <a:off x="4655676" y="2531381"/>
                <a:ext cx="1552575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20">
                <a:extLst>
                  <a:ext uri="{FF2B5EF4-FFF2-40B4-BE49-F238E27FC236}">
                    <a16:creationId xmlns:a16="http://schemas.microsoft.com/office/drawing/2014/main" id="{3A3B5144-8ABF-7206-799A-A8B88C364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5676" y="2531381"/>
                <a:ext cx="1552575" cy="914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2">
                <a:extLst>
                  <a:ext uri="{FF2B5EF4-FFF2-40B4-BE49-F238E27FC236}">
                    <a16:creationId xmlns:a16="http://schemas.microsoft.com/office/drawing/2014/main" id="{6518177C-FFD5-60EB-CC9C-F80DFE4D9A6A}"/>
                  </a:ext>
                </a:extLst>
              </p:cNvPr>
              <p:cNvSpPr txBox="1"/>
              <p:nvPr/>
            </p:nvSpPr>
            <p:spPr bwMode="auto">
              <a:xfrm>
                <a:off x="5970017" y="2531381"/>
                <a:ext cx="1552575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22">
                <a:extLst>
                  <a:ext uri="{FF2B5EF4-FFF2-40B4-BE49-F238E27FC236}">
                    <a16:creationId xmlns:a16="http://schemas.microsoft.com/office/drawing/2014/main" id="{6518177C-FFD5-60EB-CC9C-F80DFE4D9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0017" y="2531381"/>
                <a:ext cx="1552575" cy="914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ine 23">
            <a:extLst>
              <a:ext uri="{FF2B5EF4-FFF2-40B4-BE49-F238E27FC236}">
                <a16:creationId xmlns:a16="http://schemas.microsoft.com/office/drawing/2014/main" id="{B07E3124-12F8-A1A8-9130-1963096AE0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4757" y="2188481"/>
            <a:ext cx="1371600" cy="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E91B7FBC-F485-579C-D7F7-AFDA4702C732}"/>
                  </a:ext>
                </a:extLst>
              </p:cNvPr>
              <p:cNvSpPr txBox="1"/>
              <p:nvPr/>
            </p:nvSpPr>
            <p:spPr bwMode="auto">
              <a:xfrm>
                <a:off x="7301875" y="2531381"/>
                <a:ext cx="25273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24">
                <a:extLst>
                  <a:ext uri="{FF2B5EF4-FFF2-40B4-BE49-F238E27FC236}">
                    <a16:creationId xmlns:a16="http://schemas.microsoft.com/office/drawing/2014/main" id="{E91B7FBC-F485-579C-D7F7-AFDA4702C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1875" y="2531381"/>
                <a:ext cx="2527300" cy="914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ine 25">
            <a:extLst>
              <a:ext uri="{FF2B5EF4-FFF2-40B4-BE49-F238E27FC236}">
                <a16:creationId xmlns:a16="http://schemas.microsoft.com/office/drawing/2014/main" id="{E6ADA759-B822-0590-D05D-001C955263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6357" y="2607581"/>
            <a:ext cx="381000" cy="7620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Line 26">
            <a:extLst>
              <a:ext uri="{FF2B5EF4-FFF2-40B4-BE49-F238E27FC236}">
                <a16:creationId xmlns:a16="http://schemas.microsoft.com/office/drawing/2014/main" id="{487C837B-D43B-A4AA-BB77-41E6E481BF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0963" y="2607581"/>
            <a:ext cx="381000" cy="7620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Line 27">
            <a:extLst>
              <a:ext uri="{FF2B5EF4-FFF2-40B4-BE49-F238E27FC236}">
                <a16:creationId xmlns:a16="http://schemas.microsoft.com/office/drawing/2014/main" id="{1B11AB30-1BE1-7430-0222-9A519F73B9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0306" y="2607581"/>
            <a:ext cx="381000" cy="7620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Line 28">
            <a:extLst>
              <a:ext uri="{FF2B5EF4-FFF2-40B4-BE49-F238E27FC236}">
                <a16:creationId xmlns:a16="http://schemas.microsoft.com/office/drawing/2014/main" id="{8869A607-AF1D-459F-2CC2-ECB8876F49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4829" y="2607581"/>
            <a:ext cx="381000" cy="7620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Line 29">
            <a:extLst>
              <a:ext uri="{FF2B5EF4-FFF2-40B4-BE49-F238E27FC236}">
                <a16:creationId xmlns:a16="http://schemas.microsoft.com/office/drawing/2014/main" id="{245700CA-20F3-A93C-0831-1AFF0CB17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5311" y="2607581"/>
            <a:ext cx="381000" cy="7620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Line 30">
            <a:extLst>
              <a:ext uri="{FF2B5EF4-FFF2-40B4-BE49-F238E27FC236}">
                <a16:creationId xmlns:a16="http://schemas.microsoft.com/office/drawing/2014/main" id="{86009447-400B-8EBB-CB98-1C6B1A55F3E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7004" y="2607581"/>
            <a:ext cx="381000" cy="7620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" name="Line 34">
            <a:extLst>
              <a:ext uri="{FF2B5EF4-FFF2-40B4-BE49-F238E27FC236}">
                <a16:creationId xmlns:a16="http://schemas.microsoft.com/office/drawing/2014/main" id="{F80563EE-A5E9-B1C5-BF18-8DD759F6A4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1875" y="2607581"/>
            <a:ext cx="381000" cy="7620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5" name="Line 35">
            <a:extLst>
              <a:ext uri="{FF2B5EF4-FFF2-40B4-BE49-F238E27FC236}">
                <a16:creationId xmlns:a16="http://schemas.microsoft.com/office/drawing/2014/main" id="{870731A2-EC20-7D44-DD4B-E662EC8C1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7916" y="2607581"/>
            <a:ext cx="381000" cy="7620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6" name="Rectangle 20">
            <a:extLst>
              <a:ext uri="{FF2B5EF4-FFF2-40B4-BE49-F238E27FC236}">
                <a16:creationId xmlns:a16="http://schemas.microsoft.com/office/drawing/2014/main" id="{43B72AC0-5448-E0F8-8581-98D1A0C64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4297" y="4398041"/>
            <a:ext cx="2870259" cy="104323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" name="Text Box 19">
            <a:extLst>
              <a:ext uri="{FF2B5EF4-FFF2-40B4-BE49-F238E27FC236}">
                <a16:creationId xmlns:a16="http://schemas.microsoft.com/office/drawing/2014/main" id="{BB4EB9BB-B1D1-6935-BB3E-D756B58E8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0018" y="4459001"/>
            <a:ext cx="96316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CC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技巧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21">
                <a:extLst>
                  <a:ext uri="{FF2B5EF4-FFF2-40B4-BE49-F238E27FC236}">
                    <a16:creationId xmlns:a16="http://schemas.microsoft.com/office/drawing/2014/main" id="{B861EBBE-EB2B-57B0-E67F-B01CF85244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00018" y="4916202"/>
                <a:ext cx="2794058" cy="453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bg2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99CC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利用 </a:t>
                </a:r>
                <a14:m>
                  <m:oMath xmlns:m="http://schemas.openxmlformats.org/officeDocument/2006/math">
                    <m:r>
                      <a:rPr kumimoji="1" lang="zh-CN" altLang="en-US" sz="24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Symbol" panose="05050102010706020507" pitchFamily="18" charset="2"/>
                      </a:rPr>
                      <m:t>“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拆项相消</a:t>
                </a:r>
                <a14:m>
                  <m:oMath xmlns:m="http://schemas.openxmlformats.org/officeDocument/2006/math">
                    <m:r>
                      <a:rPr kumimoji="1" lang="zh-CN" altLang="en-US" sz="24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Symbol" panose="05050102010706020507" pitchFamily="18" charset="2"/>
                      </a:rPr>
                      <m:t>”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求和</a:t>
                </a:r>
              </a:p>
            </p:txBody>
          </p:sp>
        </mc:Choice>
        <mc:Fallback xmlns="">
          <p:sp>
            <p:nvSpPr>
              <p:cNvPr id="28" name="Text Box 21">
                <a:extLst>
                  <a:ext uri="{FF2B5EF4-FFF2-40B4-BE49-F238E27FC236}">
                    <a16:creationId xmlns:a16="http://schemas.microsoft.com/office/drawing/2014/main" id="{B861EBBE-EB2B-57B0-E67F-B01CF8524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00018" y="4916202"/>
                <a:ext cx="2794058" cy="453137"/>
              </a:xfrm>
              <a:prstGeom prst="rect">
                <a:avLst/>
              </a:prstGeom>
              <a:blipFill>
                <a:blip r:embed="rId11"/>
                <a:stretch>
                  <a:fillRect l="-2832" t="-8000" r="-1961" b="-21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99CC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Line 18">
            <a:extLst>
              <a:ext uri="{FF2B5EF4-FFF2-40B4-BE49-F238E27FC236}">
                <a16:creationId xmlns:a16="http://schemas.microsoft.com/office/drawing/2014/main" id="{3D1A8A74-D16A-6923-3D14-91019FD52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8282" y="2188481"/>
            <a:ext cx="685800" cy="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" name="Line 18">
            <a:extLst>
              <a:ext uri="{FF2B5EF4-FFF2-40B4-BE49-F238E27FC236}">
                <a16:creationId xmlns:a16="http://schemas.microsoft.com/office/drawing/2014/main" id="{C03A7C3F-3BF8-C74F-2B48-90045B675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4582" y="2188481"/>
            <a:ext cx="685800" cy="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814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 animBg="1"/>
      <p:bldP spid="10" grpId="0"/>
      <p:bldP spid="12" grpId="0"/>
      <p:bldP spid="13" grpId="0" animBg="1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  <p:bldP spid="27" grpId="0"/>
      <p:bldP spid="28" grpId="0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E81295C2-848E-24C8-FC3E-B4C877E8C2B1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E81295C2-848E-24C8-FC3E-B4C877E8C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半闭框 29">
            <a:extLst>
              <a:ext uri="{FF2B5EF4-FFF2-40B4-BE49-F238E27FC236}">
                <a16:creationId xmlns:a16="http://schemas.microsoft.com/office/drawing/2014/main" id="{181E2FC4-23E9-EFEE-4E2F-FEAD04A2AA49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半闭框 30">
            <a:extLst>
              <a:ext uri="{FF2B5EF4-FFF2-40B4-BE49-F238E27FC236}">
                <a16:creationId xmlns:a16="http://schemas.microsoft.com/office/drawing/2014/main" id="{6708396F-8B54-BF26-060B-A908C91F847B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半闭框 31">
            <a:extLst>
              <a:ext uri="{FF2B5EF4-FFF2-40B4-BE49-F238E27FC236}">
                <a16:creationId xmlns:a16="http://schemas.microsoft.com/office/drawing/2014/main" id="{87D85BC6-4AC8-CD30-7BC2-4A23DC9C6144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3" name="半闭框 32">
            <a:extLst>
              <a:ext uri="{FF2B5EF4-FFF2-40B4-BE49-F238E27FC236}">
                <a16:creationId xmlns:a16="http://schemas.microsoft.com/office/drawing/2014/main" id="{1C4C5E31-1A87-483A-3EA3-EC5F4987C127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2FF01A1-BE49-FCE8-2C8F-E0FB095314FD}"/>
              </a:ext>
            </a:extLst>
          </p:cNvPr>
          <p:cNvSpPr txBox="1">
            <a:spLocks noChangeArrowheads="1"/>
          </p:cNvSpPr>
          <p:nvPr/>
        </p:nvSpPr>
        <p:spPr>
          <a:xfrm>
            <a:off x="1807347" y="1061620"/>
            <a:ext cx="1219200" cy="685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 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998A5D71-9867-CC3E-F088-4AC04090E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5384" y="1015701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判别级数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00FC2FA7-0A92-A6C4-EBF2-5D97E46C2230}"/>
                  </a:ext>
                </a:extLst>
              </p:cNvPr>
              <p:cNvSpPr txBox="1"/>
              <p:nvPr/>
            </p:nvSpPr>
            <p:spPr bwMode="auto">
              <a:xfrm>
                <a:off x="4256859" y="593727"/>
                <a:ext cx="2660650" cy="1289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=2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00FC2FA7-0A92-A6C4-EBF2-5D97E46C2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6859" y="593727"/>
                <a:ext cx="2660650" cy="1289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5">
            <a:extLst>
              <a:ext uri="{FF2B5EF4-FFF2-40B4-BE49-F238E27FC236}">
                <a16:creationId xmlns:a16="http://schemas.microsoft.com/office/drawing/2014/main" id="{21FC4CD3-562E-7B22-03A5-EE6096B2D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5350" y="1022844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的敛散性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72FF8569-BC6B-965B-F494-7AE26E691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7834" y="2087899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16232FF1-3270-F292-F964-15F538E20CDE}"/>
                  </a:ext>
                </a:extLst>
              </p:cNvPr>
              <p:cNvSpPr txBox="1"/>
              <p:nvPr/>
            </p:nvSpPr>
            <p:spPr bwMode="auto">
              <a:xfrm>
                <a:off x="2514599" y="1924050"/>
                <a:ext cx="2038351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∵ 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zh-CN" altLang="en-US" sz="24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kumimoji="1" lang="zh-CN" altLang="en-US" sz="24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40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kumimoji="1" lang="zh-CN" altLang="en-US" sz="240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16232FF1-3270-F292-F964-15F538E20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599" y="1924050"/>
                <a:ext cx="2038351" cy="889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9067CD7E-BEFE-627A-9336-56B62000F503}"/>
                  </a:ext>
                </a:extLst>
              </p:cNvPr>
              <p:cNvSpPr txBox="1"/>
              <p:nvPr/>
            </p:nvSpPr>
            <p:spPr bwMode="auto">
              <a:xfrm>
                <a:off x="4419600" y="1939587"/>
                <a:ext cx="1511300" cy="781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9067CD7E-BEFE-627A-9336-56B62000F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9600" y="1939587"/>
                <a:ext cx="1511300" cy="7810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F63AECB2-57E7-6447-415F-E274ED619249}"/>
                  </a:ext>
                </a:extLst>
              </p:cNvPr>
              <p:cNvSpPr txBox="1"/>
              <p:nvPr/>
            </p:nvSpPr>
            <p:spPr bwMode="auto">
              <a:xfrm>
                <a:off x="5892801" y="2143125"/>
                <a:ext cx="42418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+1)+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−1)−2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F63AECB2-57E7-6447-415F-E274ED619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92801" y="2143125"/>
                <a:ext cx="4241800" cy="393700"/>
              </a:xfrm>
              <a:prstGeom prst="rect">
                <a:avLst/>
              </a:prstGeom>
              <a:blipFill>
                <a:blip r:embed="rId7"/>
                <a:stretch>
                  <a:fillRect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CA942ECF-FE7A-DA25-518C-137FA605D6FB}"/>
                  </a:ext>
                </a:extLst>
              </p:cNvPr>
              <p:cNvSpPr txBox="1"/>
              <p:nvPr/>
            </p:nvSpPr>
            <p:spPr bwMode="auto">
              <a:xfrm>
                <a:off x="2514599" y="2838450"/>
                <a:ext cx="3114675" cy="954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∴ 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CN" sz="22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CA942ECF-FE7A-DA25-518C-137FA605D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599" y="2838450"/>
                <a:ext cx="3114675" cy="954088"/>
              </a:xfrm>
              <a:prstGeom prst="rect">
                <a:avLst/>
              </a:prstGeom>
              <a:blipFill>
                <a:blip r:embed="rId8"/>
                <a:stretch>
                  <a:fillRect b="-6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08C58B52-3916-BB07-7907-ED639C026266}"/>
                  </a:ext>
                </a:extLst>
              </p:cNvPr>
              <p:cNvSpPr txBox="1"/>
              <p:nvPr/>
            </p:nvSpPr>
            <p:spPr bwMode="auto">
              <a:xfrm>
                <a:off x="3209109" y="3909215"/>
                <a:ext cx="28956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=[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−2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08C58B52-3916-BB07-7907-ED639C026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9109" y="3909215"/>
                <a:ext cx="2895600" cy="393700"/>
              </a:xfrm>
              <a:prstGeom prst="rect">
                <a:avLst/>
              </a:prstGeom>
              <a:blipFill>
                <a:blip r:embed="rId9"/>
                <a:stretch>
                  <a:fillRect b="-307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03895259-8DC8-8A42-DCD7-C06F6011A353}"/>
                  </a:ext>
                </a:extLst>
              </p:cNvPr>
              <p:cNvSpPr txBox="1"/>
              <p:nvPr/>
            </p:nvSpPr>
            <p:spPr bwMode="auto">
              <a:xfrm>
                <a:off x="5888809" y="3907627"/>
                <a:ext cx="27813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+[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−2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03895259-8DC8-8A42-DCD7-C06F6011A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88809" y="3907627"/>
                <a:ext cx="2781300" cy="393700"/>
              </a:xfrm>
              <a:prstGeom prst="rect">
                <a:avLst/>
              </a:prstGeom>
              <a:blipFill>
                <a:blip r:embed="rId10"/>
                <a:stretch>
                  <a:fillRect r="-439" b="-307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DB3C77CC-E644-E2E8-E0EE-5DF36E0CF6AD}"/>
                  </a:ext>
                </a:extLst>
              </p:cNvPr>
              <p:cNvSpPr txBox="1"/>
              <p:nvPr/>
            </p:nvSpPr>
            <p:spPr bwMode="auto">
              <a:xfrm>
                <a:off x="5305402" y="4519891"/>
                <a:ext cx="49403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+⋯+[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+1)+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−1)−2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DB3C77CC-E644-E2E8-E0EE-5DF36E0CF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5402" y="4519891"/>
                <a:ext cx="4940300" cy="406400"/>
              </a:xfrm>
              <a:prstGeom prst="rect">
                <a:avLst/>
              </a:prstGeom>
              <a:blipFill>
                <a:blip r:embed="rId11"/>
                <a:stretch>
                  <a:fillRect b="-268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1A4BA7E7-09EF-8F2F-2773-2B41B2109B20}"/>
                  </a:ext>
                </a:extLst>
              </p:cNvPr>
              <p:cNvSpPr txBox="1"/>
              <p:nvPr/>
            </p:nvSpPr>
            <p:spPr bwMode="auto">
              <a:xfrm>
                <a:off x="8514534" y="3907627"/>
                <a:ext cx="127635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+[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5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1A4BA7E7-09EF-8F2F-2773-2B41B2109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14534" y="3907627"/>
                <a:ext cx="1276350" cy="393700"/>
              </a:xfrm>
              <a:prstGeom prst="rect">
                <a:avLst/>
              </a:prstGeom>
              <a:blipFill>
                <a:blip r:embed="rId12"/>
                <a:stretch>
                  <a:fillRect b="-307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F969B3DF-7E97-A22C-7EF1-8011A6C0E6AB}"/>
                  </a:ext>
                </a:extLst>
              </p:cNvPr>
              <p:cNvSpPr txBox="1"/>
              <p:nvPr/>
            </p:nvSpPr>
            <p:spPr bwMode="auto">
              <a:xfrm>
                <a:off x="3504384" y="4512629"/>
                <a:ext cx="2036762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−2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F969B3DF-7E97-A22C-7EF1-8011A6C0E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4384" y="4512629"/>
                <a:ext cx="2036762" cy="393700"/>
              </a:xfrm>
              <a:prstGeom prst="rect">
                <a:avLst/>
              </a:prstGeom>
              <a:blipFill>
                <a:blip r:embed="rId13"/>
                <a:stretch>
                  <a:fillRect b="-307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ine 16">
            <a:extLst>
              <a:ext uri="{FF2B5EF4-FFF2-40B4-BE49-F238E27FC236}">
                <a16:creationId xmlns:a16="http://schemas.microsoft.com/office/drawing/2014/main" id="{CA87DDB3-C964-5590-F0A5-80DE0DD1EA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5710" y="4366859"/>
            <a:ext cx="673099" cy="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94BAE493-7665-09C3-269A-AEA28356930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4509" y="4366859"/>
            <a:ext cx="431800" cy="0"/>
          </a:xfrm>
          <a:prstGeom prst="line">
            <a:avLst/>
          </a:prstGeom>
          <a:noFill/>
          <a:ln w="19050">
            <a:solidFill>
              <a:srgbClr val="4A7BA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F452E50B-D660-C3B3-A7AC-7DED56CB7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6509" y="4366859"/>
            <a:ext cx="708025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C8979410-19B7-1ED5-3824-1DB09F354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1709" y="4366859"/>
            <a:ext cx="3937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B42404F6-D25D-A84C-C91D-298411EFA1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8709" y="4977320"/>
            <a:ext cx="4826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1">
                <a:extLst>
                  <a:ext uri="{FF2B5EF4-FFF2-40B4-BE49-F238E27FC236}">
                    <a16:creationId xmlns:a16="http://schemas.microsoft.com/office/drawing/2014/main" id="{625FDDC8-A6B9-0C71-3DFF-2E9CD9C88C8E}"/>
                  </a:ext>
                </a:extLst>
              </p:cNvPr>
              <p:cNvSpPr txBox="1"/>
              <p:nvPr/>
            </p:nvSpPr>
            <p:spPr bwMode="auto">
              <a:xfrm>
                <a:off x="3209109" y="5139337"/>
                <a:ext cx="10922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1">
                <a:extLst>
                  <a:ext uri="{FF2B5EF4-FFF2-40B4-BE49-F238E27FC236}">
                    <a16:creationId xmlns:a16="http://schemas.microsoft.com/office/drawing/2014/main" id="{625FDDC8-A6B9-0C71-3DFF-2E9CD9C88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9109" y="5139337"/>
                <a:ext cx="1092200" cy="317500"/>
              </a:xfrm>
              <a:prstGeom prst="rect">
                <a:avLst/>
              </a:prstGeom>
              <a:blipFill>
                <a:blip r:embed="rId14"/>
                <a:stretch>
                  <a:fillRect r="-5556" b="-326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ine 22">
            <a:extLst>
              <a:ext uri="{FF2B5EF4-FFF2-40B4-BE49-F238E27FC236}">
                <a16:creationId xmlns:a16="http://schemas.microsoft.com/office/drawing/2014/main" id="{17E71082-A21D-292F-0E46-703B09EC2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9241609" y="4977320"/>
            <a:ext cx="7366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97167549-2B74-2832-0FCB-900FE06E6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4259" y="4977320"/>
            <a:ext cx="11430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4">
                <a:extLst>
                  <a:ext uri="{FF2B5EF4-FFF2-40B4-BE49-F238E27FC236}">
                    <a16:creationId xmlns:a16="http://schemas.microsoft.com/office/drawing/2014/main" id="{4D439701-887F-265C-8899-0D1B232239FF}"/>
                  </a:ext>
                </a:extLst>
              </p:cNvPr>
              <p:cNvSpPr txBox="1"/>
              <p:nvPr/>
            </p:nvSpPr>
            <p:spPr bwMode="auto">
              <a:xfrm>
                <a:off x="4256859" y="5132987"/>
                <a:ext cx="238125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+1)−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24">
                <a:extLst>
                  <a:ext uri="{FF2B5EF4-FFF2-40B4-BE49-F238E27FC236}">
                    <a16:creationId xmlns:a16="http://schemas.microsoft.com/office/drawing/2014/main" id="{4D439701-887F-265C-8899-0D1B23223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6859" y="5132987"/>
                <a:ext cx="2381250" cy="406400"/>
              </a:xfrm>
              <a:prstGeom prst="rect">
                <a:avLst/>
              </a:prstGeom>
              <a:blipFill>
                <a:blip r:embed="rId15"/>
                <a:stretch>
                  <a:fillRect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5">
                <a:extLst>
                  <a:ext uri="{FF2B5EF4-FFF2-40B4-BE49-F238E27FC236}">
                    <a16:creationId xmlns:a16="http://schemas.microsoft.com/office/drawing/2014/main" id="{B64BC868-E1C0-49C7-F265-A74C92A75F94}"/>
                  </a:ext>
                </a:extLst>
              </p:cNvPr>
              <p:cNvSpPr txBox="1"/>
              <p:nvPr/>
            </p:nvSpPr>
            <p:spPr bwMode="auto">
              <a:xfrm>
                <a:off x="6485709" y="4971973"/>
                <a:ext cx="2571750" cy="692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1+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25">
                <a:extLst>
                  <a:ext uri="{FF2B5EF4-FFF2-40B4-BE49-F238E27FC236}">
                    <a16:creationId xmlns:a16="http://schemas.microsoft.com/office/drawing/2014/main" id="{B64BC868-E1C0-49C7-F265-A74C92A75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85709" y="4971973"/>
                <a:ext cx="2571750" cy="69215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6">
                <a:extLst>
                  <a:ext uri="{FF2B5EF4-FFF2-40B4-BE49-F238E27FC236}">
                    <a16:creationId xmlns:a16="http://schemas.microsoft.com/office/drawing/2014/main" id="{688DB47B-CAA9-226B-4C5B-F5AECB541C14}"/>
                  </a:ext>
                </a:extLst>
              </p:cNvPr>
              <p:cNvSpPr txBox="1"/>
              <p:nvPr/>
            </p:nvSpPr>
            <p:spPr bwMode="auto">
              <a:xfrm>
                <a:off x="2517775" y="5641901"/>
                <a:ext cx="2768600" cy="660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∴ 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26">
                <a:extLst>
                  <a:ext uri="{FF2B5EF4-FFF2-40B4-BE49-F238E27FC236}">
                    <a16:creationId xmlns:a16="http://schemas.microsoft.com/office/drawing/2014/main" id="{688DB47B-CAA9-226B-4C5B-F5AECB541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7775" y="5641901"/>
                <a:ext cx="2768600" cy="6604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27">
            <a:extLst>
              <a:ext uri="{FF2B5EF4-FFF2-40B4-BE49-F238E27FC236}">
                <a16:creationId xmlns:a16="http://schemas.microsoft.com/office/drawing/2014/main" id="{A62F09A7-9B7C-A768-648E-7DCE011B1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743" y="5640313"/>
            <a:ext cx="29138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故原级数收敛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其和为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8">
                <a:extLst>
                  <a:ext uri="{FF2B5EF4-FFF2-40B4-BE49-F238E27FC236}">
                    <a16:creationId xmlns:a16="http://schemas.microsoft.com/office/drawing/2014/main" id="{BE21C9C1-151C-B20F-7063-2B891ACF2C97}"/>
                  </a:ext>
                </a:extLst>
              </p:cNvPr>
              <p:cNvSpPr txBox="1"/>
              <p:nvPr/>
            </p:nvSpPr>
            <p:spPr bwMode="auto">
              <a:xfrm>
                <a:off x="7703343" y="5629422"/>
                <a:ext cx="9144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28">
                <a:extLst>
                  <a:ext uri="{FF2B5EF4-FFF2-40B4-BE49-F238E27FC236}">
                    <a16:creationId xmlns:a16="http://schemas.microsoft.com/office/drawing/2014/main" id="{BE21C9C1-151C-B20F-7063-2B891ACF2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03343" y="5629422"/>
                <a:ext cx="914400" cy="406400"/>
              </a:xfrm>
              <a:prstGeom prst="rect">
                <a:avLst/>
              </a:prstGeom>
              <a:blipFill>
                <a:blip r:embed="rId18"/>
                <a:stretch>
                  <a:fillRect b="-298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41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  <p:bldP spid="24" grpId="0"/>
      <p:bldP spid="25" grpId="0"/>
      <p:bldP spid="26" grpId="0"/>
      <p:bldP spid="27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7CDDEE4D-88B7-BA33-882E-2047514E0C8B}"/>
              </a:ext>
            </a:extLst>
          </p:cNvPr>
          <p:cNvGrpSpPr/>
          <p:nvPr/>
        </p:nvGrpSpPr>
        <p:grpSpPr>
          <a:xfrm>
            <a:off x="0" y="-181"/>
            <a:ext cx="12192000" cy="6863080"/>
            <a:chOff x="0" y="-181"/>
            <a:chExt cx="12192000" cy="6863080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FB8136A0-AA3A-A636-A8A8-B5D3F7702F85}"/>
                </a:ext>
              </a:extLst>
            </p:cNvPr>
            <p:cNvGrpSpPr/>
            <p:nvPr/>
          </p:nvGrpSpPr>
          <p:grpSpPr>
            <a:xfrm>
              <a:off x="0" y="-181"/>
              <a:ext cx="12192000" cy="6863080"/>
              <a:chOff x="0" y="-8"/>
              <a:chExt cx="19200" cy="10808"/>
            </a:xfrm>
          </p:grpSpPr>
          <p:sp>
            <p:nvSpPr>
              <p:cNvPr id="39" name="Rectangle 1">
                <a:extLst>
                  <a:ext uri="{FF2B5EF4-FFF2-40B4-BE49-F238E27FC236}">
                    <a16:creationId xmlns:a16="http://schemas.microsoft.com/office/drawing/2014/main" id="{AFE4559E-06EA-C252-024C-CE91AD4FD6EA}"/>
                  </a:ext>
                </a:extLst>
              </p:cNvPr>
              <p:cNvSpPr/>
              <p:nvPr/>
            </p:nvSpPr>
            <p:spPr>
              <a:xfrm>
                <a:off x="0" y="-8"/>
                <a:ext cx="19200" cy="10808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88000"/>
                    </a:srgbClr>
                  </a:gs>
                  <a:gs pos="55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圆角矩形 16">
                <a:extLst>
                  <a:ext uri="{FF2B5EF4-FFF2-40B4-BE49-F238E27FC236}">
                    <a16:creationId xmlns:a16="http://schemas.microsoft.com/office/drawing/2014/main" id="{07A37760-5AFD-56F4-E2C8-85FC559B2A1D}"/>
                  </a:ext>
                </a:extLst>
              </p:cNvPr>
              <p:cNvSpPr/>
              <p:nvPr/>
            </p:nvSpPr>
            <p:spPr>
              <a:xfrm>
                <a:off x="354" y="310"/>
                <a:ext cx="18493" cy="10167"/>
              </a:xfrm>
              <a:prstGeom prst="roundRect">
                <a:avLst>
                  <a:gd name="adj" fmla="val 3499"/>
                </a:avLst>
              </a:prstGeom>
              <a:solidFill>
                <a:schemeClr val="bg1"/>
              </a:solidFill>
              <a:ln>
                <a:solidFill>
                  <a:srgbClr val="17908C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57226FA5-FF45-B4CD-2F74-DB1D034926E7}"/>
                </a:ext>
              </a:extLst>
            </p:cNvPr>
            <p:cNvGrpSpPr/>
            <p:nvPr/>
          </p:nvGrpSpPr>
          <p:grpSpPr>
            <a:xfrm>
              <a:off x="0" y="239357"/>
              <a:ext cx="11968192" cy="6427310"/>
              <a:chOff x="0" y="239357"/>
              <a:chExt cx="11968192" cy="6427310"/>
            </a:xfrm>
          </p:grpSpPr>
          <p:sp>
            <p:nvSpPr>
              <p:cNvPr id="33" name="Rectangle 1">
                <a:extLst>
                  <a:ext uri="{FF2B5EF4-FFF2-40B4-BE49-F238E27FC236}">
                    <a16:creationId xmlns:a16="http://schemas.microsoft.com/office/drawing/2014/main" id="{B0FED556-4452-D6CE-3F2A-014BF82C0894}"/>
                  </a:ext>
                </a:extLst>
              </p:cNvPr>
              <p:cNvSpPr/>
              <p:nvPr userDrawn="1"/>
            </p:nvSpPr>
            <p:spPr>
              <a:xfrm>
                <a:off x="297498" y="6471504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8312B278-0699-71ED-92F2-7C6AD12323A9}"/>
                  </a:ext>
                </a:extLst>
              </p:cNvPr>
              <p:cNvSpPr/>
              <p:nvPr/>
            </p:nvSpPr>
            <p:spPr>
              <a:xfrm>
                <a:off x="476885" y="6358890"/>
                <a:ext cx="3784600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1400" kern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第一节</a:t>
                </a:r>
                <a:r>
                  <a:rPr lang="en-US" altLang="zh-CN" sz="1400" kern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 </a:t>
                </a:r>
                <a:r>
                  <a:rPr lang="zh-CN" altLang="en-US" sz="1400" kern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常数项级数的概念和性质</a:t>
                </a:r>
                <a:endPara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35" name="Rectangle 1">
                <a:extLst>
                  <a:ext uri="{FF2B5EF4-FFF2-40B4-BE49-F238E27FC236}">
                    <a16:creationId xmlns:a16="http://schemas.microsoft.com/office/drawing/2014/main" id="{467EA334-824C-B2AE-E549-5C90EC466157}"/>
                  </a:ext>
                </a:extLst>
              </p:cNvPr>
              <p:cNvSpPr/>
              <p:nvPr userDrawn="1"/>
            </p:nvSpPr>
            <p:spPr>
              <a:xfrm rot="2659048">
                <a:off x="10294557" y="323226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15D52AA9-3E83-2FED-6B3B-7969D9D07806}"/>
                  </a:ext>
                </a:extLst>
              </p:cNvPr>
              <p:cNvSpPr/>
              <p:nvPr/>
            </p:nvSpPr>
            <p:spPr>
              <a:xfrm>
                <a:off x="10547610" y="239357"/>
                <a:ext cx="14205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第十二章   级数</a:t>
                </a:r>
              </a:p>
            </p:txBody>
          </p: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98029FC-F53A-C9E8-A534-C791357F512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0" y="393245"/>
                <a:ext cx="10083800" cy="0"/>
              </a:xfrm>
              <a:prstGeom prst="line">
                <a:avLst/>
              </a:prstGeom>
              <a:ln>
                <a:solidFill>
                  <a:srgbClr val="00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0D985E75-95BE-638F-8B30-A839D035413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7541" y="6512242"/>
                <a:ext cx="8569669" cy="0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A364F560-977B-3294-70D4-EF357F9EAD9F}"/>
              </a:ext>
            </a:extLst>
          </p:cNvPr>
          <p:cNvSpPr txBox="1">
            <a:spLocks noChangeArrowheads="1"/>
          </p:cNvSpPr>
          <p:nvPr/>
        </p:nvSpPr>
        <p:spPr>
          <a:xfrm>
            <a:off x="1236346" y="528778"/>
            <a:ext cx="5486400" cy="685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二、无穷级数的基本性质  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81A4DAD7-5FAB-0D76-2D7A-63E12C5F3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9705" y="1376828"/>
            <a:ext cx="13782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若级数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71DB1B60-EFF0-FBDD-6A2E-A634BE43283E}"/>
                  </a:ext>
                </a:extLst>
              </p:cNvPr>
              <p:cNvSpPr txBox="1"/>
              <p:nvPr/>
            </p:nvSpPr>
            <p:spPr bwMode="auto">
              <a:xfrm>
                <a:off x="4482077" y="1004739"/>
                <a:ext cx="863600" cy="1104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71DB1B60-EFF0-FBDD-6A2E-A634BE432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2077" y="1004739"/>
                <a:ext cx="863600" cy="1104900"/>
              </a:xfrm>
              <a:prstGeom prst="rect">
                <a:avLst/>
              </a:prstGeom>
              <a:blipFill>
                <a:blip r:embed="rId2"/>
                <a:stretch>
                  <a:fillRect r="-19014" b="-93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CE373758-A54A-4AF8-BBD2-3BD2C167A2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79461" y="1368585"/>
                <a:ext cx="1572577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收敛于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</a:t>
                </a:r>
              </a:p>
            </p:txBody>
          </p:sp>
        </mc:Choice>
        <mc:Fallback xmlns="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CE373758-A54A-4AF8-BBD2-3BD2C167A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79461" y="1368585"/>
                <a:ext cx="1572577" cy="519113"/>
              </a:xfrm>
              <a:prstGeom prst="rect">
                <a:avLst/>
              </a:prstGeom>
              <a:blipFill>
                <a:blip r:embed="rId3"/>
                <a:stretch>
                  <a:fillRect l="-8140" t="-16471" r="-2326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66B78EA9-1AB6-1422-3688-DD62542508A9}"/>
                  </a:ext>
                </a:extLst>
              </p:cNvPr>
              <p:cNvSpPr txBox="1"/>
              <p:nvPr/>
            </p:nvSpPr>
            <p:spPr bwMode="auto">
              <a:xfrm>
                <a:off x="7327765" y="1004739"/>
                <a:ext cx="1955800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66B78EA9-1AB6-1422-3688-DD6254250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27765" y="1004739"/>
                <a:ext cx="1955800" cy="1066800"/>
              </a:xfrm>
              <a:prstGeom prst="rect">
                <a:avLst/>
              </a:prstGeom>
              <a:blipFill>
                <a:blip r:embed="rId4"/>
                <a:stretch>
                  <a:fillRect b="-131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7">
            <a:extLst>
              <a:ext uri="{FF2B5EF4-FFF2-40B4-BE49-F238E27FC236}">
                <a16:creationId xmlns:a16="http://schemas.microsoft.com/office/drawing/2014/main" id="{1F7A8930-906D-B7F6-9B26-F9C2D3D23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483" y="1376828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则各项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8">
                <a:extLst>
                  <a:ext uri="{FF2B5EF4-FFF2-40B4-BE49-F238E27FC236}">
                    <a16:creationId xmlns:a16="http://schemas.microsoft.com/office/drawing/2014/main" id="{F263B806-5569-EDB5-897E-B92813BBF2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1161" y="2462720"/>
                <a:ext cx="34290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乘以常数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𝑐</m:t>
                    </m:r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所得级数</a:t>
                </a:r>
              </a:p>
            </p:txBody>
          </p:sp>
        </mc:Choice>
        <mc:Fallback xmlns="">
          <p:sp>
            <p:nvSpPr>
              <p:cNvPr id="8" name="Text Box 8">
                <a:extLst>
                  <a:ext uri="{FF2B5EF4-FFF2-40B4-BE49-F238E27FC236}">
                    <a16:creationId xmlns:a16="http://schemas.microsoft.com/office/drawing/2014/main" id="{F263B806-5569-EDB5-897E-B92813BBF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1161" y="2462720"/>
                <a:ext cx="3429000" cy="519113"/>
              </a:xfrm>
              <a:prstGeom prst="rect">
                <a:avLst/>
              </a:prstGeom>
              <a:blipFill>
                <a:blip r:embed="rId5"/>
                <a:stretch>
                  <a:fillRect l="-3552" t="-16471" r="-1599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D98E77A7-5BD9-664F-9574-B55D41DD1075}"/>
                  </a:ext>
                </a:extLst>
              </p:cNvPr>
              <p:cNvSpPr txBox="1"/>
              <p:nvPr/>
            </p:nvSpPr>
            <p:spPr bwMode="auto">
              <a:xfrm>
                <a:off x="6516593" y="2078164"/>
                <a:ext cx="1054100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D98E77A7-5BD9-664F-9574-B55D41DD1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16593" y="2078164"/>
                <a:ext cx="1054100" cy="1066800"/>
              </a:xfrm>
              <a:prstGeom prst="rect">
                <a:avLst/>
              </a:prstGeom>
              <a:blipFill>
                <a:blip r:embed="rId6"/>
                <a:stretch>
                  <a:fillRect r="-13873" b="-131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0">
            <a:extLst>
              <a:ext uri="{FF2B5EF4-FFF2-40B4-BE49-F238E27FC236}">
                <a16:creationId xmlns:a16="http://schemas.microsoft.com/office/drawing/2014/main" id="{22595A92-2564-9908-A565-38492741B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020" y="245002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也收敛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19A4AE9E-DA07-77D0-5A5B-5EFF80840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505" y="3514979"/>
            <a:ext cx="15583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令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EBA078C7-5168-0DD4-EA9A-0918C4E2A679}"/>
                  </a:ext>
                </a:extLst>
              </p:cNvPr>
              <p:cNvSpPr txBox="1"/>
              <p:nvPr/>
            </p:nvSpPr>
            <p:spPr bwMode="auto">
              <a:xfrm>
                <a:off x="3720511" y="3277614"/>
                <a:ext cx="1739900" cy="1104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EBA078C7-5168-0DD4-EA9A-0918C4E2A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0511" y="3277614"/>
                <a:ext cx="1739900" cy="11049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13">
            <a:extLst>
              <a:ext uri="{FF2B5EF4-FFF2-40B4-BE49-F238E27FC236}">
                <a16:creationId xmlns:a16="http://schemas.microsoft.com/office/drawing/2014/main" id="{73328011-BE13-5BF9-3B2A-8135AF643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6899" y="3577520"/>
            <a:ext cx="457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9B61990B-D58B-4B7A-F782-839228E5A6A7}"/>
                  </a:ext>
                </a:extLst>
              </p:cNvPr>
              <p:cNvSpPr txBox="1"/>
              <p:nvPr/>
            </p:nvSpPr>
            <p:spPr bwMode="auto">
              <a:xfrm>
                <a:off x="5656172" y="3276711"/>
                <a:ext cx="1854200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9B61990B-D58B-4B7A-F782-839228E5A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6172" y="3276711"/>
                <a:ext cx="1854200" cy="10668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08EB3928-5070-87F0-B114-04A3840330A8}"/>
                  </a:ext>
                </a:extLst>
              </p:cNvPr>
              <p:cNvSpPr txBox="1"/>
              <p:nvPr/>
            </p:nvSpPr>
            <p:spPr bwMode="auto">
              <a:xfrm>
                <a:off x="7303499" y="3563907"/>
                <a:ext cx="10795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𝑐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08EB3928-5070-87F0-B114-04A384033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3499" y="3563907"/>
                <a:ext cx="1079500" cy="4445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65BECA69-F143-9DCD-29DF-56C60259D372}"/>
                  </a:ext>
                </a:extLst>
              </p:cNvPr>
              <p:cNvSpPr txBox="1"/>
              <p:nvPr/>
            </p:nvSpPr>
            <p:spPr bwMode="auto">
              <a:xfrm>
                <a:off x="3321868" y="4357028"/>
                <a:ext cx="1651000" cy="622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∴ 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65BECA69-F143-9DCD-29DF-56C60259D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21868" y="4357028"/>
                <a:ext cx="1651000" cy="6223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8">
                <a:extLst>
                  <a:ext uri="{FF2B5EF4-FFF2-40B4-BE49-F238E27FC236}">
                    <a16:creationId xmlns:a16="http://schemas.microsoft.com/office/drawing/2014/main" id="{DBF62BE4-0303-EB9F-CCB8-6C6CCE3122C5}"/>
                  </a:ext>
                </a:extLst>
              </p:cNvPr>
              <p:cNvSpPr txBox="1"/>
              <p:nvPr/>
            </p:nvSpPr>
            <p:spPr bwMode="auto">
              <a:xfrm>
                <a:off x="6039849" y="4399075"/>
                <a:ext cx="8763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𝑐</m:t>
                      </m:r>
                      <m:r>
                        <a:rPr kumimoji="1" lang="en-US" altLang="zh-CN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18">
                <a:extLst>
                  <a:ext uri="{FF2B5EF4-FFF2-40B4-BE49-F238E27FC236}">
                    <a16:creationId xmlns:a16="http://schemas.microsoft.com/office/drawing/2014/main" id="{DBF62BE4-0303-EB9F-CCB8-6C6CCE312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9849" y="4399075"/>
                <a:ext cx="876300" cy="393700"/>
              </a:xfrm>
              <a:prstGeom prst="rect">
                <a:avLst/>
              </a:prstGeom>
              <a:blipFill>
                <a:blip r:embed="rId11"/>
                <a:stretch>
                  <a:fillRect b="-15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19">
            <a:extLst>
              <a:ext uri="{FF2B5EF4-FFF2-40B4-BE49-F238E27FC236}">
                <a16:creationId xmlns:a16="http://schemas.microsoft.com/office/drawing/2014/main" id="{0DA566DE-7BA9-4F1D-BB48-6E86DBC8C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9534" y="5203804"/>
            <a:ext cx="1447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这说明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0">
                <a:extLst>
                  <a:ext uri="{FF2B5EF4-FFF2-40B4-BE49-F238E27FC236}">
                    <a16:creationId xmlns:a16="http://schemas.microsoft.com/office/drawing/2014/main" id="{45B8AA11-9E5B-5C95-A1FD-84BDDA77946C}"/>
                  </a:ext>
                </a:extLst>
              </p:cNvPr>
              <p:cNvSpPr txBox="1"/>
              <p:nvPr/>
            </p:nvSpPr>
            <p:spPr bwMode="auto">
              <a:xfrm>
                <a:off x="4256724" y="4917372"/>
                <a:ext cx="1054100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20">
                <a:extLst>
                  <a:ext uri="{FF2B5EF4-FFF2-40B4-BE49-F238E27FC236}">
                    <a16:creationId xmlns:a16="http://schemas.microsoft.com/office/drawing/2014/main" id="{45B8AA11-9E5B-5C95-A1FD-84BDDA779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6724" y="4917372"/>
                <a:ext cx="1054100" cy="10668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21">
                <a:extLst>
                  <a:ext uri="{FF2B5EF4-FFF2-40B4-BE49-F238E27FC236}">
                    <a16:creationId xmlns:a16="http://schemas.microsoft.com/office/drawing/2014/main" id="{E6D6B42D-D837-A3F7-1A1F-EC217210BE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47234" y="5203804"/>
                <a:ext cx="21209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收敛 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其和为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𝑐</m:t>
                    </m:r>
                    <m:r>
                      <a:rPr kumimoji="1" lang="en-US" altLang="zh-CN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20" name="Text Box 21">
                <a:extLst>
                  <a:ext uri="{FF2B5EF4-FFF2-40B4-BE49-F238E27FC236}">
                    <a16:creationId xmlns:a16="http://schemas.microsoft.com/office/drawing/2014/main" id="{E6D6B42D-D837-A3F7-1A1F-EC217210B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7234" y="5203804"/>
                <a:ext cx="2120900" cy="430887"/>
              </a:xfrm>
              <a:prstGeom prst="rect">
                <a:avLst/>
              </a:prstGeom>
              <a:blipFill>
                <a:blip r:embed="rId13"/>
                <a:stretch>
                  <a:fillRect l="-3736" t="-14286" r="-5172" b="-285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2">
                <a:extLst>
                  <a:ext uri="{FF2B5EF4-FFF2-40B4-BE49-F238E27FC236}">
                    <a16:creationId xmlns:a16="http://schemas.microsoft.com/office/drawing/2014/main" id="{3B3A315D-1986-DE85-78FF-2C809937940B}"/>
                  </a:ext>
                </a:extLst>
              </p:cNvPr>
              <p:cNvSpPr txBox="1"/>
              <p:nvPr/>
            </p:nvSpPr>
            <p:spPr bwMode="auto">
              <a:xfrm>
                <a:off x="4752206" y="4399030"/>
                <a:ext cx="1549400" cy="622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𝑐</m:t>
                          </m:r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2">
                <a:extLst>
                  <a:ext uri="{FF2B5EF4-FFF2-40B4-BE49-F238E27FC236}">
                    <a16:creationId xmlns:a16="http://schemas.microsoft.com/office/drawing/2014/main" id="{3B3A315D-1986-DE85-78FF-2C8099379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2206" y="4399030"/>
                <a:ext cx="1549400" cy="6223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23">
            <a:extLst>
              <a:ext uri="{FF2B5EF4-FFF2-40B4-BE49-F238E27FC236}">
                <a16:creationId xmlns:a16="http://schemas.microsoft.com/office/drawing/2014/main" id="{C6CEF13D-8A88-89B5-CCB3-68BB65EBC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0077" y="5956893"/>
            <a:ext cx="5791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说明</a:t>
            </a:r>
            <a:r>
              <a:rPr kumimoji="1" lang="en-US" altLang="zh-CN" sz="22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: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级数各项乘以</a:t>
            </a:r>
            <a:r>
              <a:rPr kumimoji="1" lang="zh-CN" altLang="en-US" sz="22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非零常数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后其敛散性不变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CA3CD879-C3B8-F6E7-683C-27B581796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9800" y="1368585"/>
            <a:ext cx="60960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25">
                <a:extLst>
                  <a:ext uri="{FF2B5EF4-FFF2-40B4-BE49-F238E27FC236}">
                    <a16:creationId xmlns:a16="http://schemas.microsoft.com/office/drawing/2014/main" id="{8BA1CC40-BF48-5B26-BBA8-EA3664EA8F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97421" y="2445913"/>
                <a:ext cx="169847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其和为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𝑐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4" name="Text Box 25">
                <a:extLst>
                  <a:ext uri="{FF2B5EF4-FFF2-40B4-BE49-F238E27FC236}">
                    <a16:creationId xmlns:a16="http://schemas.microsoft.com/office/drawing/2014/main" id="{8BA1CC40-BF48-5B26-BBA8-EA3664EA8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97421" y="2445913"/>
                <a:ext cx="1698478" cy="523220"/>
              </a:xfrm>
              <a:prstGeom prst="rect">
                <a:avLst/>
              </a:prstGeom>
              <a:blipFill>
                <a:blip r:embed="rId15"/>
                <a:stretch>
                  <a:fillRect l="-7554" t="-15116" r="-467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D75ED494-1CDB-4FC7-43D1-7588E1A3B5F3}"/>
              </a:ext>
            </a:extLst>
          </p:cNvPr>
          <p:cNvGrpSpPr/>
          <p:nvPr/>
        </p:nvGrpSpPr>
        <p:grpSpPr>
          <a:xfrm>
            <a:off x="2118402" y="1418764"/>
            <a:ext cx="1233805" cy="449580"/>
            <a:chOff x="1553" y="3802"/>
            <a:chExt cx="1943" cy="708"/>
          </a:xfrm>
        </p:grpSpPr>
        <p:sp>
          <p:nvSpPr>
            <p:cNvPr id="26" name="圆角矩形 3">
              <a:extLst>
                <a:ext uri="{FF2B5EF4-FFF2-40B4-BE49-F238E27FC236}">
                  <a16:creationId xmlns:a16="http://schemas.microsoft.com/office/drawing/2014/main" id="{836ED370-00AD-8F43-67F6-4ADCB210C88A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514E898D-29FE-E06F-C11D-CF37020C8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8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性质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907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E20C77F9-DDFC-4537-1E65-506DD72C9DCC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E20C77F9-DDFC-4537-1E65-506DD72C9D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半闭框 20">
            <a:extLst>
              <a:ext uri="{FF2B5EF4-FFF2-40B4-BE49-F238E27FC236}">
                <a16:creationId xmlns:a16="http://schemas.microsoft.com/office/drawing/2014/main" id="{F15CE2E8-A94D-A2B2-4797-7C82D1CE9FFB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半闭框 21">
            <a:extLst>
              <a:ext uri="{FF2B5EF4-FFF2-40B4-BE49-F238E27FC236}">
                <a16:creationId xmlns:a16="http://schemas.microsoft.com/office/drawing/2014/main" id="{568EE220-AA90-B639-7B43-D2923F044A4A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半闭框 22">
            <a:extLst>
              <a:ext uri="{FF2B5EF4-FFF2-40B4-BE49-F238E27FC236}">
                <a16:creationId xmlns:a16="http://schemas.microsoft.com/office/drawing/2014/main" id="{4ACA4EF8-38C3-3432-BC75-68B643ABFD9C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4" name="半闭框 23">
            <a:extLst>
              <a:ext uri="{FF2B5EF4-FFF2-40B4-BE49-F238E27FC236}">
                <a16:creationId xmlns:a16="http://schemas.microsoft.com/office/drawing/2014/main" id="{3745ACB9-8B34-A203-C54E-361BCB788976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CE90414-DC78-1193-517E-663D98DD1CE0}"/>
              </a:ext>
            </a:extLst>
          </p:cNvPr>
          <p:cNvSpPr txBox="1">
            <a:spLocks noChangeArrowheads="1"/>
          </p:cNvSpPr>
          <p:nvPr/>
        </p:nvSpPr>
        <p:spPr>
          <a:xfrm>
            <a:off x="3372893" y="652606"/>
            <a:ext cx="4495800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设有两个收敛级数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F9F63EB7-9441-114D-301B-39AC34862A1C}"/>
                  </a:ext>
                </a:extLst>
              </p:cNvPr>
              <p:cNvSpPr txBox="1"/>
              <p:nvPr/>
            </p:nvSpPr>
            <p:spPr bwMode="auto">
              <a:xfrm>
                <a:off x="3390900" y="1033624"/>
                <a:ext cx="2182646" cy="1104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F9F63EB7-9441-114D-301B-39AC34862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0900" y="1033624"/>
                <a:ext cx="2182646" cy="1104900"/>
              </a:xfrm>
              <a:prstGeom prst="rect">
                <a:avLst/>
              </a:prstGeom>
              <a:blipFill>
                <a:blip r:embed="rId3"/>
                <a:stretch>
                  <a:fillRect b="-93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59CF4FE8-BD1C-4C49-D03F-B928E20B7F6E}"/>
                  </a:ext>
                </a:extLst>
              </p:cNvPr>
              <p:cNvSpPr txBox="1"/>
              <p:nvPr/>
            </p:nvSpPr>
            <p:spPr bwMode="auto">
              <a:xfrm>
                <a:off x="5307013" y="1029086"/>
                <a:ext cx="2149066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𝜎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59CF4FE8-BD1C-4C49-D03F-B928E20B7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7013" y="1029086"/>
                <a:ext cx="2149066" cy="927100"/>
              </a:xfrm>
              <a:prstGeom prst="rect">
                <a:avLst/>
              </a:prstGeom>
              <a:blipFill>
                <a:blip r:embed="rId4"/>
                <a:stretch>
                  <a:fillRect b="-302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5">
            <a:extLst>
              <a:ext uri="{FF2B5EF4-FFF2-40B4-BE49-F238E27FC236}">
                <a16:creationId xmlns:a16="http://schemas.microsoft.com/office/drawing/2014/main" id="{D10B4075-B3DD-B6D7-8D60-22A95D0DC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2893" y="2568376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3F5C23AF-90CF-4EC5-6F0A-789C0E98A927}"/>
                  </a:ext>
                </a:extLst>
              </p:cNvPr>
              <p:cNvSpPr txBox="1"/>
              <p:nvPr/>
            </p:nvSpPr>
            <p:spPr bwMode="auto">
              <a:xfrm>
                <a:off x="4489451" y="2204026"/>
                <a:ext cx="2253160" cy="1104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±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3F5C23AF-90CF-4EC5-6F0A-789C0E98A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9451" y="2204026"/>
                <a:ext cx="2253160" cy="1104900"/>
              </a:xfrm>
              <a:prstGeom prst="rect">
                <a:avLst/>
              </a:prstGeom>
              <a:blipFill>
                <a:blip r:embed="rId5"/>
                <a:stretch>
                  <a:fillRect b="-93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7">
            <a:extLst>
              <a:ext uri="{FF2B5EF4-FFF2-40B4-BE49-F238E27FC236}">
                <a16:creationId xmlns:a16="http://schemas.microsoft.com/office/drawing/2014/main" id="{DDF1DF57-51D6-0996-3DD7-793AB662E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591081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也收敛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其和为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8CCB02E5-B219-2A10-8084-0E33BB7052B8}"/>
                  </a:ext>
                </a:extLst>
              </p:cNvPr>
              <p:cNvSpPr txBox="1"/>
              <p:nvPr/>
            </p:nvSpPr>
            <p:spPr bwMode="auto">
              <a:xfrm>
                <a:off x="8886008" y="2580423"/>
                <a:ext cx="1277983" cy="430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±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𝜎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8CCB02E5-B219-2A10-8084-0E33BB705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86008" y="2580423"/>
                <a:ext cx="127798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9">
            <a:extLst>
              <a:ext uri="{FF2B5EF4-FFF2-40B4-BE49-F238E27FC236}">
                <a16:creationId xmlns:a16="http://schemas.microsoft.com/office/drawing/2014/main" id="{C5E95D82-1AE3-B19D-F1B9-AA45A613A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612" y="3643495"/>
            <a:ext cx="152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539FC389-9C35-9784-6D83-EDE719F49470}"/>
                  </a:ext>
                </a:extLst>
              </p:cNvPr>
              <p:cNvSpPr txBox="1"/>
              <p:nvPr/>
            </p:nvSpPr>
            <p:spPr bwMode="auto">
              <a:xfrm>
                <a:off x="3717925" y="3429000"/>
                <a:ext cx="1739900" cy="1104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539FC389-9C35-9784-6D83-EDE719F49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7925" y="3429000"/>
                <a:ext cx="1739900" cy="11049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673D1D1B-2110-9198-DE10-59CEDAFA01AE}"/>
                  </a:ext>
                </a:extLst>
              </p:cNvPr>
              <p:cNvSpPr txBox="1"/>
              <p:nvPr/>
            </p:nvSpPr>
            <p:spPr bwMode="auto">
              <a:xfrm>
                <a:off x="5317036" y="3427368"/>
                <a:ext cx="1752600" cy="1104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673D1D1B-2110-9198-DE10-59CEDAFA0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7036" y="3427368"/>
                <a:ext cx="1752600" cy="1104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12">
            <a:extLst>
              <a:ext uri="{FF2B5EF4-FFF2-40B4-BE49-F238E27FC236}">
                <a16:creationId xmlns:a16="http://schemas.microsoft.com/office/drawing/2014/main" id="{F59C4F54-C434-8624-0ABE-3E754F81C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1975" y="3732213"/>
            <a:ext cx="838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EF5F18F4-5878-CDFF-9D8B-0C13B54E74A1}"/>
                  </a:ext>
                </a:extLst>
              </p:cNvPr>
              <p:cNvSpPr txBox="1"/>
              <p:nvPr/>
            </p:nvSpPr>
            <p:spPr bwMode="auto">
              <a:xfrm>
                <a:off x="3387725" y="4362468"/>
                <a:ext cx="2538413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𝜏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±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EF5F18F4-5878-CDFF-9D8B-0C13B54E7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7725" y="4362468"/>
                <a:ext cx="2538413" cy="10668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97525BBC-E7E3-9B35-C168-76EDD403D898}"/>
                  </a:ext>
                </a:extLst>
              </p:cNvPr>
              <p:cNvSpPr txBox="1"/>
              <p:nvPr/>
            </p:nvSpPr>
            <p:spPr bwMode="auto">
              <a:xfrm>
                <a:off x="5629094" y="4641186"/>
                <a:ext cx="14351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±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97525BBC-E7E3-9B35-C168-76EDD403D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29094" y="4641186"/>
                <a:ext cx="1435100" cy="444500"/>
              </a:xfrm>
              <a:prstGeom prst="rect">
                <a:avLst/>
              </a:prstGeom>
              <a:blipFill>
                <a:blip r:embed="rId10"/>
                <a:stretch>
                  <a:fillRect b="-41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C983C124-7D90-59F5-9FB8-02B6B4F2C61E}"/>
                  </a:ext>
                </a:extLst>
              </p:cNvPr>
              <p:cNvSpPr txBox="1"/>
              <p:nvPr/>
            </p:nvSpPr>
            <p:spPr bwMode="auto">
              <a:xfrm>
                <a:off x="6816545" y="4646037"/>
                <a:ext cx="2470149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</m:t>
                      </m:r>
                      <m:r>
                        <a:rPr kumimoji="1" lang="en-US" altLang="zh-CN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±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𝜎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  (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→∞).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C983C124-7D90-59F5-9FB8-02B6B4F2C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6545" y="4646037"/>
                <a:ext cx="2470149" cy="393700"/>
              </a:xfrm>
              <a:prstGeom prst="rect">
                <a:avLst/>
              </a:prstGeom>
              <a:blipFill>
                <a:blip r:embed="rId11"/>
                <a:stretch>
                  <a:fillRect b="-2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16">
            <a:extLst>
              <a:ext uri="{FF2B5EF4-FFF2-40B4-BE49-F238E27FC236}">
                <a16:creationId xmlns:a16="http://schemas.microsoft.com/office/drawing/2014/main" id="{86DCBAB1-4740-D82C-87F8-C76C75F11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5540842"/>
            <a:ext cx="2590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这说明级数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EF341E4D-E2FB-AAC9-C6F0-3CD3B09012F6}"/>
                  </a:ext>
                </a:extLst>
              </p:cNvPr>
              <p:cNvSpPr txBox="1"/>
              <p:nvPr/>
            </p:nvSpPr>
            <p:spPr bwMode="auto">
              <a:xfrm>
                <a:off x="4793345" y="5265883"/>
                <a:ext cx="1852612" cy="1104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±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EF341E4D-E2FB-AAC9-C6F0-3CD3B0901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3345" y="5265883"/>
                <a:ext cx="1852612" cy="11049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18">
            <a:extLst>
              <a:ext uri="{FF2B5EF4-FFF2-40B4-BE49-F238E27FC236}">
                <a16:creationId xmlns:a16="http://schemas.microsoft.com/office/drawing/2014/main" id="{E4B6076B-4244-BB42-5017-83D8559C4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6316" y="5536940"/>
            <a:ext cx="214448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也收敛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其和为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30341B3D-7CEC-F698-A006-53D7C90F6A3C}"/>
                  </a:ext>
                </a:extLst>
              </p:cNvPr>
              <p:cNvSpPr txBox="1"/>
              <p:nvPr/>
            </p:nvSpPr>
            <p:spPr bwMode="auto">
              <a:xfrm>
                <a:off x="8288928" y="5534484"/>
                <a:ext cx="9906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±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𝜎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30341B3D-7CEC-F698-A006-53D7C90F6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88928" y="5534484"/>
                <a:ext cx="990600" cy="393700"/>
              </a:xfrm>
              <a:prstGeom prst="rect">
                <a:avLst/>
              </a:prstGeom>
              <a:blipFill>
                <a:blip r:embed="rId13"/>
                <a:stretch>
                  <a:fillRect b="-218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02F6D722-979B-F27F-BB10-BAF61D61EEE4}"/>
              </a:ext>
            </a:extLst>
          </p:cNvPr>
          <p:cNvGrpSpPr/>
          <p:nvPr/>
        </p:nvGrpSpPr>
        <p:grpSpPr>
          <a:xfrm>
            <a:off x="2190675" y="656152"/>
            <a:ext cx="1233805" cy="449580"/>
            <a:chOff x="1553" y="3802"/>
            <a:chExt cx="1943" cy="708"/>
          </a:xfrm>
        </p:grpSpPr>
        <p:sp>
          <p:nvSpPr>
            <p:cNvPr id="26" name="圆角矩形 3">
              <a:extLst>
                <a:ext uri="{FF2B5EF4-FFF2-40B4-BE49-F238E27FC236}">
                  <a16:creationId xmlns:a16="http://schemas.microsoft.com/office/drawing/2014/main" id="{603A7A63-38A9-7C35-3232-D33CDA6044BF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F2FAACA1-54EB-E8B3-C556-2A4B71BDB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8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性质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050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CF350EE2-F579-40F6-66EB-827D1D7878D4}"/>
              </a:ext>
            </a:extLst>
          </p:cNvPr>
          <p:cNvGrpSpPr/>
          <p:nvPr/>
        </p:nvGrpSpPr>
        <p:grpSpPr>
          <a:xfrm>
            <a:off x="1111250" y="670560"/>
            <a:ext cx="9970770" cy="5509895"/>
            <a:chOff x="1649" y="2344"/>
            <a:chExt cx="16057" cy="734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E405408-79EE-6065-A16E-3C7899E233E5}"/>
                </a:ext>
              </a:extLst>
            </p:cNvPr>
            <p:cNvSpPr/>
            <p:nvPr/>
          </p:nvSpPr>
          <p:spPr>
            <a:xfrm>
              <a:off x="1821" y="2483"/>
              <a:ext cx="15885" cy="72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0D02F5D-37AF-2C2D-D8DC-E2A7AB8C0401}"/>
                </a:ext>
              </a:extLst>
            </p:cNvPr>
            <p:cNvSpPr/>
            <p:nvPr/>
          </p:nvSpPr>
          <p:spPr>
            <a:xfrm>
              <a:off x="1649" y="2344"/>
              <a:ext cx="15885" cy="720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spcBef>
                  <a:spcPct val="50000"/>
                </a:spcBef>
              </a:pPr>
              <a:endPara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endParaRPr>
            </a:p>
          </p:txBody>
        </p:sp>
      </p:grpSp>
      <p:sp>
        <p:nvSpPr>
          <p:cNvPr id="2" name="Text Box 22">
            <a:extLst>
              <a:ext uri="{FF2B5EF4-FFF2-40B4-BE49-F238E27FC236}">
                <a16:creationId xmlns:a16="http://schemas.microsoft.com/office/drawing/2014/main" id="{75E290CA-69D1-735F-F2F2-4C7004542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544" y="1937677"/>
            <a:ext cx="624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(2)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若两级数中一个收敛一个发散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3">
                <a:extLst>
                  <a:ext uri="{FF2B5EF4-FFF2-40B4-BE49-F238E27FC236}">
                    <a16:creationId xmlns:a16="http://schemas.microsoft.com/office/drawing/2014/main" id="{382A144F-AEF2-E4CD-2762-1B445380A0EA}"/>
                  </a:ext>
                </a:extLst>
              </p:cNvPr>
              <p:cNvSpPr txBox="1"/>
              <p:nvPr/>
            </p:nvSpPr>
            <p:spPr bwMode="auto">
              <a:xfrm>
                <a:off x="8478591" y="1542011"/>
                <a:ext cx="2209801" cy="1219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±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23">
                <a:extLst>
                  <a:ext uri="{FF2B5EF4-FFF2-40B4-BE49-F238E27FC236}">
                    <a16:creationId xmlns:a16="http://schemas.microsoft.com/office/drawing/2014/main" id="{382A144F-AEF2-E4CD-2762-1B445380A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8591" y="1542011"/>
                <a:ext cx="2209801" cy="1219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24">
            <a:extLst>
              <a:ext uri="{FF2B5EF4-FFF2-40B4-BE49-F238E27FC236}">
                <a16:creationId xmlns:a16="http://schemas.microsoft.com/office/drawing/2014/main" id="{7B0D3B28-1AC6-3580-2ED8-76015B8B5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5410" y="268433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必发散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5" name="Text Box 25">
            <a:extLst>
              <a:ext uri="{FF2B5EF4-FFF2-40B4-BE49-F238E27FC236}">
                <a16:creationId xmlns:a16="http://schemas.microsoft.com/office/drawing/2014/main" id="{6C9B2D62-A1AE-0E96-10C7-70516B97A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544" y="3582253"/>
            <a:ext cx="39306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(3)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若二级数都发散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6">
                <a:extLst>
                  <a:ext uri="{FF2B5EF4-FFF2-40B4-BE49-F238E27FC236}">
                    <a16:creationId xmlns:a16="http://schemas.microsoft.com/office/drawing/2014/main" id="{67CEC162-4F6B-223B-D05D-C71CFA2AD34A}"/>
                  </a:ext>
                </a:extLst>
              </p:cNvPr>
              <p:cNvSpPr txBox="1"/>
              <p:nvPr/>
            </p:nvSpPr>
            <p:spPr bwMode="auto">
              <a:xfrm>
                <a:off x="5995574" y="3188066"/>
                <a:ext cx="2342411" cy="12191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±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26">
                <a:extLst>
                  <a:ext uri="{FF2B5EF4-FFF2-40B4-BE49-F238E27FC236}">
                    <a16:creationId xmlns:a16="http://schemas.microsoft.com/office/drawing/2014/main" id="{67CEC162-4F6B-223B-D05D-C71CFA2AD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95574" y="3188066"/>
                <a:ext cx="2342411" cy="12191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27">
            <a:extLst>
              <a:ext uri="{FF2B5EF4-FFF2-40B4-BE49-F238E27FC236}">
                <a16:creationId xmlns:a16="http://schemas.microsoft.com/office/drawing/2014/main" id="{DDC45B98-6E22-4D68-98A8-BF4F2AB17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315" y="3571630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不一定发散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8" name="Text Box 31">
            <a:extLst>
              <a:ext uri="{FF2B5EF4-FFF2-40B4-BE49-F238E27FC236}">
                <a16:creationId xmlns:a16="http://schemas.microsoft.com/office/drawing/2014/main" id="{9859D5E3-5DDC-D80C-143B-FF2D006C5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8111" y="4578434"/>
            <a:ext cx="139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例如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2">
                <a:extLst>
                  <a:ext uri="{FF2B5EF4-FFF2-40B4-BE49-F238E27FC236}">
                    <a16:creationId xmlns:a16="http://schemas.microsoft.com/office/drawing/2014/main" id="{2C554D75-A836-E89B-DA91-812D456241AD}"/>
                  </a:ext>
                </a:extLst>
              </p:cNvPr>
              <p:cNvSpPr txBox="1"/>
              <p:nvPr/>
            </p:nvSpPr>
            <p:spPr bwMode="auto">
              <a:xfrm>
                <a:off x="4011592" y="4585031"/>
                <a:ext cx="2915728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取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=(−1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32">
                <a:extLst>
                  <a:ext uri="{FF2B5EF4-FFF2-40B4-BE49-F238E27FC236}">
                    <a16:creationId xmlns:a16="http://schemas.microsoft.com/office/drawing/2014/main" id="{2C554D75-A836-E89B-DA91-812D45624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1592" y="4585031"/>
                <a:ext cx="2915728" cy="520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3">
                <a:extLst>
                  <a:ext uri="{FF2B5EF4-FFF2-40B4-BE49-F238E27FC236}">
                    <a16:creationId xmlns:a16="http://schemas.microsoft.com/office/drawing/2014/main" id="{0E0F1DE8-887F-43ED-E7FA-C08216DE26A4}"/>
                  </a:ext>
                </a:extLst>
              </p:cNvPr>
              <p:cNvSpPr txBox="1"/>
              <p:nvPr/>
            </p:nvSpPr>
            <p:spPr bwMode="auto">
              <a:xfrm>
                <a:off x="6618340" y="4587070"/>
                <a:ext cx="2637260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=(−1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33">
                <a:extLst>
                  <a:ext uri="{FF2B5EF4-FFF2-40B4-BE49-F238E27FC236}">
                    <a16:creationId xmlns:a16="http://schemas.microsoft.com/office/drawing/2014/main" id="{0E0F1DE8-887F-43ED-E7FA-C08216DE2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18340" y="4587070"/>
                <a:ext cx="2637260" cy="533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4">
                <a:extLst>
                  <a:ext uri="{FF2B5EF4-FFF2-40B4-BE49-F238E27FC236}">
                    <a16:creationId xmlns:a16="http://schemas.microsoft.com/office/drawing/2014/main" id="{23263A88-64D0-B436-6E8C-1D140E9E1F3C}"/>
                  </a:ext>
                </a:extLst>
              </p:cNvPr>
              <p:cNvSpPr txBox="1"/>
              <p:nvPr/>
            </p:nvSpPr>
            <p:spPr bwMode="auto">
              <a:xfrm>
                <a:off x="3178111" y="5354607"/>
                <a:ext cx="2702782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而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=0.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34">
                <a:extLst>
                  <a:ext uri="{FF2B5EF4-FFF2-40B4-BE49-F238E27FC236}">
                    <a16:creationId xmlns:a16="http://schemas.microsoft.com/office/drawing/2014/main" id="{23263A88-64D0-B436-6E8C-1D140E9E1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8111" y="5354607"/>
                <a:ext cx="2702782" cy="431800"/>
              </a:xfrm>
              <a:prstGeom prst="rect">
                <a:avLst/>
              </a:prstGeom>
              <a:blipFill>
                <a:blip r:embed="rId7"/>
                <a:stretch>
                  <a:fillRect b="-98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42">
            <a:extLst>
              <a:ext uri="{FF2B5EF4-FFF2-40B4-BE49-F238E27FC236}">
                <a16:creationId xmlns:a16="http://schemas.microsoft.com/office/drawing/2014/main" id="{F962A4B8-28EF-51B0-771F-D18E8C7DA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544" y="978033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(1) 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性质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2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表明收敛级数可逐项相加或减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3" name="Text Box 44">
            <a:extLst>
              <a:ext uri="{FF2B5EF4-FFF2-40B4-BE49-F238E27FC236}">
                <a16:creationId xmlns:a16="http://schemas.microsoft.com/office/drawing/2014/main" id="{3CC08FA8-6413-285F-18C8-281A3346B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7580" y="2680230"/>
            <a:ext cx="26372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用反证法可证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)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B159D57-DE9B-1F66-CCBC-1850C46CD6AE}"/>
              </a:ext>
            </a:extLst>
          </p:cNvPr>
          <p:cNvGrpSpPr/>
          <p:nvPr/>
        </p:nvGrpSpPr>
        <p:grpSpPr>
          <a:xfrm>
            <a:off x="1697892" y="978033"/>
            <a:ext cx="612775" cy="612775"/>
            <a:chOff x="1601" y="872"/>
            <a:chExt cx="965" cy="96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5CB8938-17C9-A88B-B731-33DB147F5A5E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3E8B9E7-FD3C-D518-01E1-CDFE01E14156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A9E3818B-9991-670D-1B83-EEE1ADED8E9F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143527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31FCD5F9-C34C-79BF-7375-59E36B946422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31FCD5F9-C34C-79BF-7375-59E36B9464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半闭框 21">
            <a:extLst>
              <a:ext uri="{FF2B5EF4-FFF2-40B4-BE49-F238E27FC236}">
                <a16:creationId xmlns:a16="http://schemas.microsoft.com/office/drawing/2014/main" id="{E069A98A-A2D1-300A-9BAF-7814074098EC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半闭框 22">
            <a:extLst>
              <a:ext uri="{FF2B5EF4-FFF2-40B4-BE49-F238E27FC236}">
                <a16:creationId xmlns:a16="http://schemas.microsoft.com/office/drawing/2014/main" id="{A6D8E486-CC9A-0033-30BD-5C6BFF29BD40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半闭框 23">
            <a:extLst>
              <a:ext uri="{FF2B5EF4-FFF2-40B4-BE49-F238E27FC236}">
                <a16:creationId xmlns:a16="http://schemas.microsoft.com/office/drawing/2014/main" id="{CEC8EFC2-F349-D5D4-20E2-863F0CC20DFB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5" name="半闭框 24">
            <a:extLst>
              <a:ext uri="{FF2B5EF4-FFF2-40B4-BE49-F238E27FC236}">
                <a16:creationId xmlns:a16="http://schemas.microsoft.com/office/drawing/2014/main" id="{62AFBA6C-20D8-1430-D3C3-8CC141ABDA59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2192D98-5E87-D089-DAF3-833C2C2BC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47" y="872268"/>
            <a:ext cx="79274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在级数中加上、去掉或改变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有限项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不会影响级数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02713C00-1407-55B1-3C21-C7B5DC150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48" y="1427623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的敛散性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21F651D-8362-C908-DE2B-AE7BD9235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5236" y="2267649"/>
            <a:ext cx="23304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将级数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6999F5D0-CAB9-BCF8-669A-1330F3474D0C}"/>
                  </a:ext>
                </a:extLst>
              </p:cNvPr>
              <p:cNvSpPr txBox="1"/>
              <p:nvPr/>
            </p:nvSpPr>
            <p:spPr bwMode="auto">
              <a:xfrm>
                <a:off x="4200627" y="2023491"/>
                <a:ext cx="863600" cy="1104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6999F5D0-CAB9-BCF8-669A-1330F3474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0627" y="2023491"/>
                <a:ext cx="863600" cy="1104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7">
                <a:extLst>
                  <a:ext uri="{FF2B5EF4-FFF2-40B4-BE49-F238E27FC236}">
                    <a16:creationId xmlns:a16="http://schemas.microsoft.com/office/drawing/2014/main" id="{F50257DB-65C4-45A9-992D-9392009EC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00727" y="2297494"/>
                <a:ext cx="19939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的前 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𝑘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项去掉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</a:t>
                </a:r>
              </a:p>
            </p:txBody>
          </p:sp>
        </mc:Choice>
        <mc:Fallback xmlns="">
          <p:sp>
            <p:nvSpPr>
              <p:cNvPr id="7" name="Text Box 7">
                <a:extLst>
                  <a:ext uri="{FF2B5EF4-FFF2-40B4-BE49-F238E27FC236}">
                    <a16:creationId xmlns:a16="http://schemas.microsoft.com/office/drawing/2014/main" id="{F50257DB-65C4-45A9-992D-9392009EC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0727" y="2297494"/>
                <a:ext cx="1993900" cy="430887"/>
              </a:xfrm>
              <a:prstGeom prst="rect">
                <a:avLst/>
              </a:prstGeom>
              <a:blipFill>
                <a:blip r:embed="rId5"/>
                <a:stretch>
                  <a:fillRect l="-3976" t="-14085" r="-612" b="-267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A5FE9FA3-53F5-8E1B-DBAD-23C5C87E24A0}"/>
                  </a:ext>
                </a:extLst>
              </p:cNvPr>
              <p:cNvSpPr txBox="1"/>
              <p:nvPr/>
            </p:nvSpPr>
            <p:spPr bwMode="auto">
              <a:xfrm>
                <a:off x="8213827" y="2023491"/>
                <a:ext cx="1219200" cy="1104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A5FE9FA3-53F5-8E1B-DBAD-23C5C87E2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13827" y="2023491"/>
                <a:ext cx="1219200" cy="1104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9">
            <a:extLst>
              <a:ext uri="{FF2B5EF4-FFF2-40B4-BE49-F238E27FC236}">
                <a16:creationId xmlns:a16="http://schemas.microsoft.com/office/drawing/2014/main" id="{9B2CBC06-8E05-3BEE-2EA2-1DC31209D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9077" y="3257910"/>
            <a:ext cx="1676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的部分和为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EECBF82C-EA5D-FE4D-F965-30073E37A1E5}"/>
                  </a:ext>
                </a:extLst>
              </p:cNvPr>
              <p:cNvSpPr txBox="1"/>
              <p:nvPr/>
            </p:nvSpPr>
            <p:spPr bwMode="auto">
              <a:xfrm>
                <a:off x="4695927" y="2956624"/>
                <a:ext cx="1905000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𝑙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𝑙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EECBF82C-EA5D-FE4D-F965-30073E37A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5927" y="2956624"/>
                <a:ext cx="1905000" cy="10668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30028191-E3EF-7300-7E03-72B979B4E049}"/>
                  </a:ext>
                </a:extLst>
              </p:cNvPr>
              <p:cNvSpPr txBox="1"/>
              <p:nvPr/>
            </p:nvSpPr>
            <p:spPr bwMode="auto">
              <a:xfrm>
                <a:off x="6372327" y="3244914"/>
                <a:ext cx="17780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30028191-E3EF-7300-7E03-72B979B4E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2327" y="3244914"/>
                <a:ext cx="1778000" cy="431800"/>
              </a:xfrm>
              <a:prstGeom prst="rect">
                <a:avLst/>
              </a:prstGeom>
              <a:blipFill>
                <a:blip r:embed="rId8"/>
                <a:stretch>
                  <a:fillRect b="-42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98EB6A5F-CAA5-1B60-B9AD-CEA3995B2065}"/>
                  </a:ext>
                </a:extLst>
              </p:cNvPr>
              <p:cNvSpPr txBox="1"/>
              <p:nvPr/>
            </p:nvSpPr>
            <p:spPr bwMode="auto">
              <a:xfrm>
                <a:off x="5000727" y="4004571"/>
                <a:ext cx="13716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与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98EB6A5F-CAA5-1B60-B9AD-CEA3995B2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0727" y="4004571"/>
                <a:ext cx="1371600" cy="457200"/>
              </a:xfrm>
              <a:prstGeom prst="rect">
                <a:avLst/>
              </a:prstGeom>
              <a:blipFill>
                <a:blip r:embed="rId9"/>
                <a:stretch>
                  <a:fillRect b="-5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6">
                <a:extLst>
                  <a:ext uri="{FF2B5EF4-FFF2-40B4-BE49-F238E27FC236}">
                    <a16:creationId xmlns:a16="http://schemas.microsoft.com/office/drawing/2014/main" id="{9C959793-2BF2-E4C5-B7D5-D9712D9881E4}"/>
                  </a:ext>
                </a:extLst>
              </p:cNvPr>
              <p:cNvSpPr txBox="1"/>
              <p:nvPr/>
            </p:nvSpPr>
            <p:spPr bwMode="auto">
              <a:xfrm>
                <a:off x="3229077" y="4009651"/>
                <a:ext cx="19050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由于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→∞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6">
                <a:extLst>
                  <a:ext uri="{FF2B5EF4-FFF2-40B4-BE49-F238E27FC236}">
                    <a16:creationId xmlns:a16="http://schemas.microsoft.com/office/drawing/2014/main" id="{9C959793-2BF2-E4C5-B7D5-D9712D988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9077" y="4009651"/>
                <a:ext cx="1905000" cy="444500"/>
              </a:xfrm>
              <a:prstGeom prst="rect">
                <a:avLst/>
              </a:prstGeom>
              <a:blipFill>
                <a:blip r:embed="rId10"/>
                <a:stretch>
                  <a:fillRect l="-2244" b="-82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7">
            <a:extLst>
              <a:ext uri="{FF2B5EF4-FFF2-40B4-BE49-F238E27FC236}">
                <a16:creationId xmlns:a16="http://schemas.microsoft.com/office/drawing/2014/main" id="{83E5B1A1-3C10-233E-067F-786D494B2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9077" y="4530352"/>
            <a:ext cx="1981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数敛散性相同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  </a:t>
            </a: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7530BC7F-B36C-E45D-FA05-F140FE3F7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9077" y="5029820"/>
            <a:ext cx="37020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当级数收敛时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其和的关系为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0">
                <a:extLst>
                  <a:ext uri="{FF2B5EF4-FFF2-40B4-BE49-F238E27FC236}">
                    <a16:creationId xmlns:a16="http://schemas.microsoft.com/office/drawing/2014/main" id="{0C73E3FB-0731-CF86-AA24-535519AE22AE}"/>
                  </a:ext>
                </a:extLst>
              </p:cNvPr>
              <p:cNvSpPr txBox="1"/>
              <p:nvPr/>
            </p:nvSpPr>
            <p:spPr bwMode="auto">
              <a:xfrm>
                <a:off x="6749517" y="5028471"/>
                <a:ext cx="16383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𝜎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20">
                <a:extLst>
                  <a:ext uri="{FF2B5EF4-FFF2-40B4-BE49-F238E27FC236}">
                    <a16:creationId xmlns:a16="http://schemas.microsoft.com/office/drawing/2014/main" id="{0C73E3FB-0731-CF86-AA24-535519AE2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9517" y="5028471"/>
                <a:ext cx="1638300" cy="4445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22">
            <a:extLst>
              <a:ext uri="{FF2B5EF4-FFF2-40B4-BE49-F238E27FC236}">
                <a16:creationId xmlns:a16="http://schemas.microsoft.com/office/drawing/2014/main" id="{6DDE6410-49DF-B359-29CB-DB8442B36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9077" y="5536908"/>
            <a:ext cx="42767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类似可证前面加上有限项的情况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8" name="Text Box 25">
            <a:extLst>
              <a:ext uri="{FF2B5EF4-FFF2-40B4-BE49-F238E27FC236}">
                <a16:creationId xmlns:a16="http://schemas.microsoft.com/office/drawing/2014/main" id="{4B998FF3-2F12-A53F-F01E-8C94FB85E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352" y="4023264"/>
            <a:ext cx="19526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极限状况相同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19" name="Text Box 26">
            <a:extLst>
              <a:ext uri="{FF2B5EF4-FFF2-40B4-BE49-F238E27FC236}">
                <a16:creationId xmlns:a16="http://schemas.microsoft.com/office/drawing/2014/main" id="{300FEDE4-942F-2BE5-414B-1E0F1A3B3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8717" y="4021915"/>
            <a:ext cx="1600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故新旧两级</a:t>
            </a:r>
          </a:p>
        </p:txBody>
      </p:sp>
      <p:sp>
        <p:nvSpPr>
          <p:cNvPr id="20" name="Text Box 27">
            <a:extLst>
              <a:ext uri="{FF2B5EF4-FFF2-40B4-BE49-F238E27FC236}">
                <a16:creationId xmlns:a16="http://schemas.microsoft.com/office/drawing/2014/main" id="{1BB65CC3-B65A-FD44-7C0A-C446EC131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807" y="2297494"/>
            <a:ext cx="1600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所得新级数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BE952B7-1A9C-7385-A412-15DD6529E48C}"/>
              </a:ext>
            </a:extLst>
          </p:cNvPr>
          <p:cNvGrpSpPr/>
          <p:nvPr/>
        </p:nvGrpSpPr>
        <p:grpSpPr>
          <a:xfrm>
            <a:off x="2055112" y="916559"/>
            <a:ext cx="1233805" cy="449580"/>
            <a:chOff x="1553" y="3802"/>
            <a:chExt cx="1943" cy="708"/>
          </a:xfrm>
        </p:grpSpPr>
        <p:sp>
          <p:nvSpPr>
            <p:cNvPr id="27" name="圆角矩形 3">
              <a:extLst>
                <a:ext uri="{FF2B5EF4-FFF2-40B4-BE49-F238E27FC236}">
                  <a16:creationId xmlns:a16="http://schemas.microsoft.com/office/drawing/2014/main" id="{F05DA0BC-97AE-DC91-57FC-014057FF14D7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74FCC0A4-1B86-0565-2B06-B2A47C7F8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8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性质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4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D94A9399-39EA-B717-1500-963B4B5840F1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D94A9399-39EA-B717-1500-963B4B5840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半闭框 28">
            <a:extLst>
              <a:ext uri="{FF2B5EF4-FFF2-40B4-BE49-F238E27FC236}">
                <a16:creationId xmlns:a16="http://schemas.microsoft.com/office/drawing/2014/main" id="{179B7521-59B2-E700-D156-F9480C7DC79C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半闭框 29">
            <a:extLst>
              <a:ext uri="{FF2B5EF4-FFF2-40B4-BE49-F238E27FC236}">
                <a16:creationId xmlns:a16="http://schemas.microsoft.com/office/drawing/2014/main" id="{FBF3A8E1-C37F-C103-2430-540A04412D55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半闭框 30">
            <a:extLst>
              <a:ext uri="{FF2B5EF4-FFF2-40B4-BE49-F238E27FC236}">
                <a16:creationId xmlns:a16="http://schemas.microsoft.com/office/drawing/2014/main" id="{84ED2F61-7892-C5E4-AEC7-3145C92A3364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2" name="半闭框 31">
            <a:extLst>
              <a:ext uri="{FF2B5EF4-FFF2-40B4-BE49-F238E27FC236}">
                <a16:creationId xmlns:a16="http://schemas.microsoft.com/office/drawing/2014/main" id="{71AF77A5-D0B5-E3A2-A03D-3F213DF813C9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2980376-D49C-2832-B1CA-0E0A91F6A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1623" y="699452"/>
            <a:ext cx="81725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收敛级数加括号后所成的级数仍收敛于原级数的和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CE53371B-4962-C86E-9A69-8C97C9793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4036" y="1448479"/>
            <a:ext cx="29718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设收敛级数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F4558282-0920-7C02-7511-6D9F701C1CF2}"/>
                  </a:ext>
                </a:extLst>
              </p:cNvPr>
              <p:cNvSpPr txBox="1"/>
              <p:nvPr/>
            </p:nvSpPr>
            <p:spPr bwMode="auto">
              <a:xfrm>
                <a:off x="4084197" y="1236889"/>
                <a:ext cx="1549400" cy="1104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F4558282-0920-7C02-7511-6D9F701C1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84197" y="1236889"/>
                <a:ext cx="1549400" cy="1104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7">
            <a:extLst>
              <a:ext uri="{FF2B5EF4-FFF2-40B4-BE49-F238E27FC236}">
                <a16:creationId xmlns:a16="http://schemas.microsoft.com/office/drawing/2014/main" id="{FEFCCC30-27D9-C681-D2A6-914434515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6762" y="1530577"/>
            <a:ext cx="28431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若按某一规律加括号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F889C968-E7A5-7D97-38B4-FFA912FD29E4}"/>
                  </a:ext>
                </a:extLst>
              </p:cNvPr>
              <p:cNvSpPr txBox="1"/>
              <p:nvPr/>
            </p:nvSpPr>
            <p:spPr bwMode="auto">
              <a:xfrm>
                <a:off x="2650584" y="2199596"/>
                <a:ext cx="43434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)+(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5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)+⋯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F889C968-E7A5-7D97-38B4-FFA912FD2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0584" y="2199596"/>
                <a:ext cx="4343400" cy="444500"/>
              </a:xfrm>
              <a:prstGeom prst="rect">
                <a:avLst/>
              </a:prstGeom>
              <a:blipFill>
                <a:blip r:embed="rId5"/>
                <a:stretch>
                  <a:fillRect l="-983" b="-15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9">
            <a:extLst>
              <a:ext uri="{FF2B5EF4-FFF2-40B4-BE49-F238E27FC236}">
                <a16:creationId xmlns:a16="http://schemas.microsoft.com/office/drawing/2014/main" id="{ADFBF554-E65E-E89C-4010-2D8E03549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0584" y="2711291"/>
            <a:ext cx="309553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则新级数的部分和序列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814E804D-CC2B-22EB-DD20-56E794B5842C}"/>
                  </a:ext>
                </a:extLst>
              </p:cNvPr>
              <p:cNvSpPr txBox="1"/>
              <p:nvPr/>
            </p:nvSpPr>
            <p:spPr bwMode="auto">
              <a:xfrm>
                <a:off x="5546184" y="2689818"/>
                <a:ext cx="2336800" cy="4445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𝑚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𝑚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=1,2,⋯)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814E804D-CC2B-22EB-DD20-56E794B58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46184" y="2689818"/>
                <a:ext cx="2336800" cy="444500"/>
              </a:xfrm>
              <a:prstGeom prst="rect">
                <a:avLst/>
              </a:prstGeom>
              <a:blipFill>
                <a:blip r:embed="rId6"/>
                <a:stretch>
                  <a:fillRect b="-15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1">
            <a:extLst>
              <a:ext uri="{FF2B5EF4-FFF2-40B4-BE49-F238E27FC236}">
                <a16:creationId xmlns:a16="http://schemas.microsoft.com/office/drawing/2014/main" id="{9A3AA459-0464-D789-1FE4-40BC5E019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902" y="2708869"/>
            <a:ext cx="2209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为原级数部分和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E7FDE1AF-F3A5-BDB4-42A3-F9D7B7FAD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0584" y="3299604"/>
            <a:ext cx="10668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序列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A4E0F104-1785-DC63-64B6-1B18207F1D04}"/>
                  </a:ext>
                </a:extLst>
              </p:cNvPr>
              <p:cNvSpPr txBox="1"/>
              <p:nvPr/>
            </p:nvSpPr>
            <p:spPr bwMode="auto">
              <a:xfrm>
                <a:off x="3344702" y="3265278"/>
                <a:ext cx="2819400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 ( 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=1 , 2 ,⋯ )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A4E0F104-1785-DC63-64B6-1B18207F1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4702" y="3265278"/>
                <a:ext cx="2819400" cy="444500"/>
              </a:xfrm>
              <a:prstGeom prst="rect">
                <a:avLst/>
              </a:prstGeom>
              <a:blipFill>
                <a:blip r:embed="rId7"/>
                <a:stretch>
                  <a:fillRect b="-15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4">
            <a:extLst>
              <a:ext uri="{FF2B5EF4-FFF2-40B4-BE49-F238E27FC236}">
                <a16:creationId xmlns:a16="http://schemas.microsoft.com/office/drawing/2014/main" id="{35ED09B8-AEDF-1F09-7A4A-D7BF735C8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0813" y="3298860"/>
            <a:ext cx="195521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的一个子序列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2E7299C5-8543-6227-7340-4F5564E31A9F}"/>
                  </a:ext>
                </a:extLst>
              </p:cNvPr>
              <p:cNvSpPr txBox="1"/>
              <p:nvPr/>
            </p:nvSpPr>
            <p:spPr bwMode="auto">
              <a:xfrm>
                <a:off x="2650584" y="3887917"/>
                <a:ext cx="2628900" cy="622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𝑚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𝑚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2E7299C5-8543-6227-7340-4F5564E31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0584" y="3887917"/>
                <a:ext cx="2628900" cy="6223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7">
                <a:extLst>
                  <a:ext uri="{FF2B5EF4-FFF2-40B4-BE49-F238E27FC236}">
                    <a16:creationId xmlns:a16="http://schemas.microsoft.com/office/drawing/2014/main" id="{FB2F19A2-52F3-99D6-B5A7-9A8DED4A3CFB}"/>
                  </a:ext>
                </a:extLst>
              </p:cNvPr>
              <p:cNvSpPr txBox="1"/>
              <p:nvPr/>
            </p:nvSpPr>
            <p:spPr bwMode="auto">
              <a:xfrm>
                <a:off x="4884153" y="3887917"/>
                <a:ext cx="546100" cy="317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17">
                <a:extLst>
                  <a:ext uri="{FF2B5EF4-FFF2-40B4-BE49-F238E27FC236}">
                    <a16:creationId xmlns:a16="http://schemas.microsoft.com/office/drawing/2014/main" id="{FB2F19A2-52F3-99D6-B5A7-9A8DED4A3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4153" y="3887917"/>
                <a:ext cx="546100" cy="317500"/>
              </a:xfrm>
              <a:prstGeom prst="rect">
                <a:avLst/>
              </a:prstGeom>
              <a:blipFill>
                <a:blip r:embed="rId9"/>
                <a:stretch>
                  <a:fillRect r="-8889" b="-32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A2AB123D-E132-7233-0B2B-60F2C9D499FB}"/>
                  </a:ext>
                </a:extLst>
              </p:cNvPr>
              <p:cNvSpPr txBox="1"/>
              <p:nvPr/>
            </p:nvSpPr>
            <p:spPr bwMode="auto">
              <a:xfrm>
                <a:off x="2622074" y="5665492"/>
                <a:ext cx="3720442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(1−1)+(1−1)+⋯=0,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A2AB123D-E132-7233-0B2B-60F2C9D49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2074" y="5665492"/>
                <a:ext cx="3720442" cy="406400"/>
              </a:xfrm>
              <a:prstGeom prst="rect">
                <a:avLst/>
              </a:prstGeom>
              <a:blipFill>
                <a:blip r:embed="rId10"/>
                <a:stretch>
                  <a:fillRect l="-984" b="-25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22">
            <a:extLst>
              <a:ext uri="{FF2B5EF4-FFF2-40B4-BE49-F238E27FC236}">
                <a16:creationId xmlns:a16="http://schemas.microsoft.com/office/drawing/2014/main" id="{0BBF1629-F9F7-E9BF-5C84-E9CE98818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4573" y="5659115"/>
            <a:ext cx="6818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3">
                <a:extLst>
                  <a:ext uri="{FF2B5EF4-FFF2-40B4-BE49-F238E27FC236}">
                    <a16:creationId xmlns:a16="http://schemas.microsoft.com/office/drawing/2014/main" id="{765EE03A-93C9-3CCD-D81F-94F835D6A203}"/>
                  </a:ext>
                </a:extLst>
              </p:cNvPr>
              <p:cNvSpPr txBox="1"/>
              <p:nvPr/>
            </p:nvSpPr>
            <p:spPr bwMode="auto">
              <a:xfrm>
                <a:off x="6359698" y="5658891"/>
                <a:ext cx="2374900" cy="304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1−1+1−1+⋯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3">
                <a:extLst>
                  <a:ext uri="{FF2B5EF4-FFF2-40B4-BE49-F238E27FC236}">
                    <a16:creationId xmlns:a16="http://schemas.microsoft.com/office/drawing/2014/main" id="{765EE03A-93C9-3CCD-D81F-94F835D6A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59698" y="5658891"/>
                <a:ext cx="2374900" cy="304800"/>
              </a:xfrm>
              <a:prstGeom prst="rect">
                <a:avLst/>
              </a:prstGeom>
              <a:blipFill>
                <a:blip r:embed="rId11"/>
                <a:stretch>
                  <a:fillRect l="-256" b="-3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24">
            <a:extLst>
              <a:ext uri="{FF2B5EF4-FFF2-40B4-BE49-F238E27FC236}">
                <a16:creationId xmlns:a16="http://schemas.microsoft.com/office/drawing/2014/main" id="{7C134664-2608-63E1-5D62-EA450B035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291" y="5656137"/>
            <a:ext cx="8207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发散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3" name="Text Box 27">
            <a:extLst>
              <a:ext uri="{FF2B5EF4-FFF2-40B4-BE49-F238E27FC236}">
                <a16:creationId xmlns:a16="http://schemas.microsoft.com/office/drawing/2014/main" id="{02C0967C-FEC1-0602-F773-A9A43D54A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5778" y="3298860"/>
            <a:ext cx="130728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因此必有</a:t>
            </a:r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20964148-FDAE-AB40-184C-AC3B9A278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4139" y="1524679"/>
            <a:ext cx="7489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例如</a:t>
            </a:r>
          </a:p>
        </p:txBody>
      </p:sp>
      <p:sp>
        <p:nvSpPr>
          <p:cNvPr id="27" name="AutoShape 7">
            <a:extLst>
              <a:ext uri="{FF2B5EF4-FFF2-40B4-BE49-F238E27FC236}">
                <a16:creationId xmlns:a16="http://schemas.microsoft.com/office/drawing/2014/main" id="{39214340-A0B7-9953-BAF1-3E2185786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053" y="3982679"/>
            <a:ext cx="1980879" cy="457200"/>
          </a:xfrm>
          <a:prstGeom prst="wedgeRectCallout">
            <a:avLst>
              <a:gd name="adj1" fmla="val -36618"/>
              <a:gd name="adj2" fmla="val 89670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用反证法可证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5F104B4-6DF5-E0C1-D613-94F63F81C92E}"/>
              </a:ext>
            </a:extLst>
          </p:cNvPr>
          <p:cNvGrpSpPr/>
          <p:nvPr/>
        </p:nvGrpSpPr>
        <p:grpSpPr>
          <a:xfrm>
            <a:off x="1766422" y="5122311"/>
            <a:ext cx="7761605" cy="448945"/>
            <a:chOff x="1553" y="3803"/>
            <a:chExt cx="12223" cy="707"/>
          </a:xfrm>
        </p:grpSpPr>
        <p:sp>
          <p:nvSpPr>
            <p:cNvPr id="25" name="圆角矩形 57">
              <a:extLst>
                <a:ext uri="{FF2B5EF4-FFF2-40B4-BE49-F238E27FC236}">
                  <a16:creationId xmlns:a16="http://schemas.microsoft.com/office/drawing/2014/main" id="{B24873CC-75BA-9390-44A1-1844EA72491A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 Box 28">
              <a:extLst>
                <a:ext uri="{FF2B5EF4-FFF2-40B4-BE49-F238E27FC236}">
                  <a16:creationId xmlns:a16="http://schemas.microsoft.com/office/drawing/2014/main" id="{78F6DDC0-67E9-67DD-16C9-B72736569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214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注意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 </a:t>
              </a:r>
              <a:r>
                <a:rPr kumimoji="1"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rPr>
                <a:t>收敛级数去括号后所成的级数不一定收敛</a:t>
              </a:r>
              <a:r>
                <a:rPr kumimoji="1" lang="en-US" altLang="zh-CN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rPr>
                <a:t>.</a:t>
              </a:r>
              <a:endPara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B74488C-012C-EF1D-0902-F8DB8AB15943}"/>
              </a:ext>
            </a:extLst>
          </p:cNvPr>
          <p:cNvGrpSpPr/>
          <p:nvPr/>
        </p:nvGrpSpPr>
        <p:grpSpPr>
          <a:xfrm>
            <a:off x="1766422" y="5661690"/>
            <a:ext cx="962025" cy="448945"/>
            <a:chOff x="1553" y="3803"/>
            <a:chExt cx="1515" cy="707"/>
          </a:xfrm>
        </p:grpSpPr>
        <p:sp>
          <p:nvSpPr>
            <p:cNvPr id="35" name="圆角矩形 57">
              <a:extLst>
                <a:ext uri="{FF2B5EF4-FFF2-40B4-BE49-F238E27FC236}">
                  <a16:creationId xmlns:a16="http://schemas.microsoft.com/office/drawing/2014/main" id="{6DDF5F5E-C717-C4F3-22E0-76C7A8C9B63E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Text Box 28">
              <a:extLst>
                <a:ext uri="{FF2B5EF4-FFF2-40B4-BE49-F238E27FC236}">
                  <a16:creationId xmlns:a16="http://schemas.microsoft.com/office/drawing/2014/main" id="{5B4491A2-875A-DA9E-59CC-AEDB74F58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CB205B9-48F2-20B1-8719-3E1E8B14F391}"/>
              </a:ext>
            </a:extLst>
          </p:cNvPr>
          <p:cNvGrpSpPr/>
          <p:nvPr/>
        </p:nvGrpSpPr>
        <p:grpSpPr>
          <a:xfrm>
            <a:off x="1766422" y="4597122"/>
            <a:ext cx="7407275" cy="448945"/>
            <a:chOff x="1553" y="3803"/>
            <a:chExt cx="11665" cy="707"/>
          </a:xfrm>
        </p:grpSpPr>
        <p:sp>
          <p:nvSpPr>
            <p:cNvPr id="38" name="圆角矩形 57">
              <a:extLst>
                <a:ext uri="{FF2B5EF4-FFF2-40B4-BE49-F238E27FC236}">
                  <a16:creationId xmlns:a16="http://schemas.microsoft.com/office/drawing/2014/main" id="{89EB3644-0119-8D29-D1DE-6B501CDFA0A5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Box 28">
              <a:extLst>
                <a:ext uri="{FF2B5EF4-FFF2-40B4-BE49-F238E27FC236}">
                  <a16:creationId xmlns:a16="http://schemas.microsoft.com/office/drawing/2014/main" id="{57E28C92-1567-52E5-C672-F5522D865B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158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推论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</a:t>
              </a:r>
              <a:r>
                <a:rPr kumimoji="1"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rPr>
                <a:t>若加括号后的级数发散</a:t>
              </a:r>
              <a:r>
                <a:rPr kumimoji="1" lang="en-US" altLang="zh-CN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rPr>
                <a:t>, </a:t>
              </a:r>
              <a:r>
                <a:rPr kumimoji="1"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rPr>
                <a:t>则原级数必发散</a:t>
              </a:r>
              <a:r>
                <a:rPr kumimoji="1" lang="en-US" altLang="zh-CN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rPr>
                <a:t>.</a:t>
              </a:r>
              <a:endPara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B8CA110D-8B76-33E2-D55E-1312C3CA5F5F}"/>
              </a:ext>
            </a:extLst>
          </p:cNvPr>
          <p:cNvGrpSpPr/>
          <p:nvPr/>
        </p:nvGrpSpPr>
        <p:grpSpPr>
          <a:xfrm>
            <a:off x="1434918" y="738760"/>
            <a:ext cx="1233805" cy="449580"/>
            <a:chOff x="1553" y="3802"/>
            <a:chExt cx="1943" cy="708"/>
          </a:xfrm>
        </p:grpSpPr>
        <p:sp>
          <p:nvSpPr>
            <p:cNvPr id="41" name="圆角矩形 3">
              <a:extLst>
                <a:ext uri="{FF2B5EF4-FFF2-40B4-BE49-F238E27FC236}">
                  <a16:creationId xmlns:a16="http://schemas.microsoft.com/office/drawing/2014/main" id="{A197C8E1-4CA8-1E0E-815A-64E720EA6263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Text Box 28">
              <a:extLst>
                <a:ext uri="{FF2B5EF4-FFF2-40B4-BE49-F238E27FC236}">
                  <a16:creationId xmlns:a16="http://schemas.microsoft.com/office/drawing/2014/main" id="{EFF945AB-D55E-BC66-A78F-09CAB79BE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8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性质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947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9" grpId="0"/>
      <p:bldP spid="20" grpId="0"/>
      <p:bldP spid="21" grpId="0"/>
      <p:bldP spid="22" grpId="0"/>
      <p:bldP spid="23" grpId="0"/>
      <p:bldP spid="26" grpId="0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CDED823-9FED-9371-BA03-BA769CBDC1F0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CDED823-9FED-9371-BA03-BA769CBDC1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半闭框 12">
            <a:extLst>
              <a:ext uri="{FF2B5EF4-FFF2-40B4-BE49-F238E27FC236}">
                <a16:creationId xmlns:a16="http://schemas.microsoft.com/office/drawing/2014/main" id="{153B0BD3-59C2-7E74-9B79-AD0591D7418A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半闭框 13">
            <a:extLst>
              <a:ext uri="{FF2B5EF4-FFF2-40B4-BE49-F238E27FC236}">
                <a16:creationId xmlns:a16="http://schemas.microsoft.com/office/drawing/2014/main" id="{0FE4817C-CB3D-2C1C-CC76-46E0EE5C39A9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半闭框 14">
            <a:extLst>
              <a:ext uri="{FF2B5EF4-FFF2-40B4-BE49-F238E27FC236}">
                <a16:creationId xmlns:a16="http://schemas.microsoft.com/office/drawing/2014/main" id="{6E1BC4D0-A1A3-4D99-A673-2F3327D332B5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6" name="半闭框 15">
            <a:extLst>
              <a:ext uri="{FF2B5EF4-FFF2-40B4-BE49-F238E27FC236}">
                <a16:creationId xmlns:a16="http://schemas.microsoft.com/office/drawing/2014/main" id="{2C689CF3-36BD-D8C8-28AC-164698304772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EC85FF8-66F1-2A71-B31F-658BF5AC6493}"/>
              </a:ext>
            </a:extLst>
          </p:cNvPr>
          <p:cNvSpPr txBox="1">
            <a:spLocks noChangeArrowheads="1"/>
          </p:cNvSpPr>
          <p:nvPr/>
        </p:nvSpPr>
        <p:spPr>
          <a:xfrm>
            <a:off x="1001086" y="958054"/>
            <a:ext cx="3886200" cy="457200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9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9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 </a:t>
            </a:r>
            <a:r>
              <a:rPr kumimoji="1" lang="zh-CN" altLang="en-US" sz="29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判断级数的敛散性</a:t>
            </a:r>
            <a:r>
              <a:rPr kumimoji="1" lang="en-US" altLang="zh-CN" sz="29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F738CB9D-0955-760E-F4CD-2CE4B4962DD6}"/>
                  </a:ext>
                </a:extLst>
              </p:cNvPr>
              <p:cNvSpPr txBox="1"/>
              <p:nvPr/>
            </p:nvSpPr>
            <p:spPr bwMode="auto">
              <a:xfrm>
                <a:off x="1719743" y="1339850"/>
                <a:ext cx="9681924" cy="11636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rad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rad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e>
                          </m:rad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e>
                          </m:rad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</m:e>
                          </m:rad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</m:e>
                          </m:rad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F738CB9D-0955-760E-F4CD-2CE4B4962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9743" y="1339850"/>
                <a:ext cx="9681924" cy="11636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5">
            <a:extLst>
              <a:ext uri="{FF2B5EF4-FFF2-40B4-BE49-F238E27FC236}">
                <a16:creationId xmlns:a16="http://schemas.microsoft.com/office/drawing/2014/main" id="{C9AF7AC7-044C-8952-0C5D-0A79047EB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086" y="2625726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考虑加括号后的级数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B4140CC3-D781-D86C-66E1-B0B428196A17}"/>
                  </a:ext>
                </a:extLst>
              </p:cNvPr>
              <p:cNvSpPr txBox="1"/>
              <p:nvPr/>
            </p:nvSpPr>
            <p:spPr bwMode="auto">
              <a:xfrm>
                <a:off x="1559652" y="3163386"/>
                <a:ext cx="8767689" cy="7866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d>
                        <m:dPr>
                          <m:ctrlP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d>
                        <m:dPr>
                          <m:ctrlP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4</m:t>
                                  </m:r>
                                </m:e>
                              </m:rad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4</m:t>
                                  </m:r>
                                </m:e>
                              </m:rad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B4140CC3-D781-D86C-66E1-B0B428196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9652" y="3163386"/>
                <a:ext cx="8767689" cy="786611"/>
              </a:xfrm>
              <a:prstGeom prst="rect">
                <a:avLst/>
              </a:prstGeom>
              <a:blipFill>
                <a:blip r:embed="rId4"/>
                <a:stretch>
                  <a:fillRect b="-15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0D40834A-1E61-BA6D-42DD-64D1B9F78F6A}"/>
                  </a:ext>
                </a:extLst>
              </p:cNvPr>
              <p:cNvSpPr txBox="1"/>
              <p:nvPr/>
            </p:nvSpPr>
            <p:spPr bwMode="auto">
              <a:xfrm>
                <a:off x="1581771" y="4095802"/>
                <a:ext cx="2971800" cy="863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e>
                          </m:rad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e>
                          </m:rad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0D40834A-1E61-BA6D-42DD-64D1B9F78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1771" y="4095802"/>
                <a:ext cx="2971800" cy="863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47BE45B1-A36E-FCC4-5D2D-1D726486DCDA}"/>
                  </a:ext>
                </a:extLst>
              </p:cNvPr>
              <p:cNvSpPr txBox="1"/>
              <p:nvPr/>
            </p:nvSpPr>
            <p:spPr bwMode="auto">
              <a:xfrm>
                <a:off x="4366586" y="4095584"/>
                <a:ext cx="11303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47BE45B1-A36E-FCC4-5D2D-1D726486D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6586" y="4095584"/>
                <a:ext cx="1130300" cy="838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53EAD464-AB7E-7284-30E1-37BE2889157D}"/>
                  </a:ext>
                </a:extLst>
              </p:cNvPr>
              <p:cNvSpPr txBox="1"/>
              <p:nvPr/>
            </p:nvSpPr>
            <p:spPr bwMode="auto">
              <a:xfrm>
                <a:off x="1534486" y="4979988"/>
                <a:ext cx="1435100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∴ 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=2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en-US" altLang="zh-CN" sz="22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53EAD464-AB7E-7284-30E1-37BE28891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34486" y="4979988"/>
                <a:ext cx="1435100" cy="1066800"/>
              </a:xfrm>
              <a:prstGeom prst="rect">
                <a:avLst/>
              </a:prstGeom>
              <a:blipFill>
                <a:blip r:embed="rId7"/>
                <a:stretch>
                  <a:fillRect r="-17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0">
            <a:extLst>
              <a:ext uri="{FF2B5EF4-FFF2-40B4-BE49-F238E27FC236}">
                <a16:creationId xmlns:a16="http://schemas.microsoft.com/office/drawing/2014/main" id="{ABE6FE1A-A78B-1F1B-C882-EADBB441D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2090" y="5272777"/>
            <a:ext cx="88538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发散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A7A75DFD-352C-54FE-049B-39269827F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2069" y="5268011"/>
            <a:ext cx="23433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从而原级数发散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3">
                <a:extLst>
                  <a:ext uri="{FF2B5EF4-FFF2-40B4-BE49-F238E27FC236}">
                    <a16:creationId xmlns:a16="http://schemas.microsoft.com/office/drawing/2014/main" id="{0D76A8B2-DFFB-9B37-2721-50D1DAA80E1E}"/>
                  </a:ext>
                </a:extLst>
              </p:cNvPr>
              <p:cNvSpPr txBox="1"/>
              <p:nvPr/>
            </p:nvSpPr>
            <p:spPr bwMode="auto">
              <a:xfrm>
                <a:off x="3022877" y="4977949"/>
                <a:ext cx="1282700" cy="1104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=2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en-US" altLang="zh-CN" sz="22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nary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3">
                <a:extLst>
                  <a:ext uri="{FF2B5EF4-FFF2-40B4-BE49-F238E27FC236}">
                    <a16:creationId xmlns:a16="http://schemas.microsoft.com/office/drawing/2014/main" id="{0D76A8B2-DFFB-9B37-2721-50D1DAA80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2877" y="4977949"/>
                <a:ext cx="1282700" cy="1104900"/>
              </a:xfrm>
              <a:prstGeom prst="rect">
                <a:avLst/>
              </a:prstGeom>
              <a:blipFill>
                <a:blip r:embed="rId8"/>
                <a:stretch>
                  <a:fillRect r="-14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474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E42BA411-828B-B5D1-DF32-49E218F109D8}"/>
              </a:ext>
            </a:extLst>
          </p:cNvPr>
          <p:cNvGrpSpPr/>
          <p:nvPr/>
        </p:nvGrpSpPr>
        <p:grpSpPr>
          <a:xfrm>
            <a:off x="0" y="-181"/>
            <a:ext cx="12192000" cy="6863080"/>
            <a:chOff x="0" y="-181"/>
            <a:chExt cx="12192000" cy="6863080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2BCDEE2-80BB-71BD-E406-4250F01079B3}"/>
                </a:ext>
              </a:extLst>
            </p:cNvPr>
            <p:cNvGrpSpPr/>
            <p:nvPr/>
          </p:nvGrpSpPr>
          <p:grpSpPr>
            <a:xfrm>
              <a:off x="0" y="-181"/>
              <a:ext cx="12192000" cy="6863080"/>
              <a:chOff x="0" y="-8"/>
              <a:chExt cx="19200" cy="10808"/>
            </a:xfrm>
          </p:grpSpPr>
          <p:sp>
            <p:nvSpPr>
              <p:cNvPr id="33" name="Rectangle 1">
                <a:extLst>
                  <a:ext uri="{FF2B5EF4-FFF2-40B4-BE49-F238E27FC236}">
                    <a16:creationId xmlns:a16="http://schemas.microsoft.com/office/drawing/2014/main" id="{CE07C620-4B61-D95D-35FA-52E42C95202F}"/>
                  </a:ext>
                </a:extLst>
              </p:cNvPr>
              <p:cNvSpPr/>
              <p:nvPr/>
            </p:nvSpPr>
            <p:spPr>
              <a:xfrm>
                <a:off x="0" y="-8"/>
                <a:ext cx="19200" cy="10808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88000"/>
                    </a:srgbClr>
                  </a:gs>
                  <a:gs pos="55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圆角矩形 16">
                <a:extLst>
                  <a:ext uri="{FF2B5EF4-FFF2-40B4-BE49-F238E27FC236}">
                    <a16:creationId xmlns:a16="http://schemas.microsoft.com/office/drawing/2014/main" id="{970A200C-EBC9-9381-16EA-2D1669DA36B8}"/>
                  </a:ext>
                </a:extLst>
              </p:cNvPr>
              <p:cNvSpPr/>
              <p:nvPr/>
            </p:nvSpPr>
            <p:spPr>
              <a:xfrm>
                <a:off x="354" y="310"/>
                <a:ext cx="18493" cy="10167"/>
              </a:xfrm>
              <a:prstGeom prst="roundRect">
                <a:avLst>
                  <a:gd name="adj" fmla="val 3499"/>
                </a:avLst>
              </a:prstGeom>
              <a:solidFill>
                <a:schemeClr val="bg1"/>
              </a:solidFill>
              <a:ln>
                <a:solidFill>
                  <a:srgbClr val="17908C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A0EAE0E4-B64D-FD98-74AE-C09AA1B416CE}"/>
                </a:ext>
              </a:extLst>
            </p:cNvPr>
            <p:cNvGrpSpPr/>
            <p:nvPr/>
          </p:nvGrpSpPr>
          <p:grpSpPr>
            <a:xfrm>
              <a:off x="0" y="239357"/>
              <a:ext cx="11968192" cy="6427310"/>
              <a:chOff x="0" y="239357"/>
              <a:chExt cx="11968192" cy="6427310"/>
            </a:xfrm>
          </p:grpSpPr>
          <p:sp>
            <p:nvSpPr>
              <p:cNvPr id="27" name="Rectangle 1">
                <a:extLst>
                  <a:ext uri="{FF2B5EF4-FFF2-40B4-BE49-F238E27FC236}">
                    <a16:creationId xmlns:a16="http://schemas.microsoft.com/office/drawing/2014/main" id="{F22BF5B8-C600-E445-137A-3575F1B8F060}"/>
                  </a:ext>
                </a:extLst>
              </p:cNvPr>
              <p:cNvSpPr/>
              <p:nvPr userDrawn="1"/>
            </p:nvSpPr>
            <p:spPr>
              <a:xfrm>
                <a:off x="297498" y="6471504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F12BFB17-E85B-6733-450C-7B0DBFF00B19}"/>
                  </a:ext>
                </a:extLst>
              </p:cNvPr>
              <p:cNvSpPr/>
              <p:nvPr/>
            </p:nvSpPr>
            <p:spPr>
              <a:xfrm>
                <a:off x="476885" y="6358890"/>
                <a:ext cx="3784600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1400" kern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第一节</a:t>
                </a:r>
                <a:r>
                  <a:rPr lang="en-US" altLang="zh-CN" sz="1400" kern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 </a:t>
                </a:r>
                <a:r>
                  <a:rPr lang="zh-CN" altLang="en-US" sz="1400" kern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常数项级数的概念和性质</a:t>
                </a:r>
                <a:endPara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29" name="Rectangle 1">
                <a:extLst>
                  <a:ext uri="{FF2B5EF4-FFF2-40B4-BE49-F238E27FC236}">
                    <a16:creationId xmlns:a16="http://schemas.microsoft.com/office/drawing/2014/main" id="{E5067518-606A-0085-4B59-766B7E8A839F}"/>
                  </a:ext>
                </a:extLst>
              </p:cNvPr>
              <p:cNvSpPr/>
              <p:nvPr userDrawn="1"/>
            </p:nvSpPr>
            <p:spPr>
              <a:xfrm rot="2659048">
                <a:off x="10294557" y="323226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32501AA4-61CD-94C8-BFDC-BD534B9D1412}"/>
                  </a:ext>
                </a:extLst>
              </p:cNvPr>
              <p:cNvSpPr/>
              <p:nvPr/>
            </p:nvSpPr>
            <p:spPr>
              <a:xfrm>
                <a:off x="10547610" y="239357"/>
                <a:ext cx="14205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第十二章   级数</a:t>
                </a:r>
              </a:p>
            </p:txBody>
          </p: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BE3E2F3B-1D19-B19F-98BA-59D7D0F4F3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0" y="393245"/>
                <a:ext cx="10083800" cy="0"/>
              </a:xfrm>
              <a:prstGeom prst="line">
                <a:avLst/>
              </a:prstGeom>
              <a:ln>
                <a:solidFill>
                  <a:srgbClr val="00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C826BD01-C3A3-1F87-4C83-857F3B69CB0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7541" y="6512242"/>
                <a:ext cx="8569669" cy="0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12CA4DD4-CD9B-7918-501E-0FCE9106BA97}"/>
              </a:ext>
            </a:extLst>
          </p:cNvPr>
          <p:cNvSpPr txBox="1">
            <a:spLocks noChangeArrowheads="1"/>
          </p:cNvSpPr>
          <p:nvPr/>
        </p:nvSpPr>
        <p:spPr>
          <a:xfrm>
            <a:off x="1844865" y="582268"/>
            <a:ext cx="4953000" cy="685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三、级数收敛的必要条件  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96B73DA-BC69-55D6-031A-165DDB5C7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612" y="1503395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设收敛级数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F0A21CA0-8657-627B-9B18-DB8338AAC0A3}"/>
                  </a:ext>
                </a:extLst>
              </p:cNvPr>
              <p:cNvSpPr txBox="1"/>
              <p:nvPr/>
            </p:nvSpPr>
            <p:spPr bwMode="auto">
              <a:xfrm>
                <a:off x="4422961" y="1147002"/>
                <a:ext cx="1981200" cy="1143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F0A21CA0-8657-627B-9B18-DB8338AAC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2961" y="1147002"/>
                <a:ext cx="1981200" cy="1143000"/>
              </a:xfrm>
              <a:prstGeom prst="rect">
                <a:avLst/>
              </a:prstGeom>
              <a:blipFill>
                <a:blip r:embed="rId2"/>
                <a:stretch>
                  <a:fillRect b="-58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5">
            <a:extLst>
              <a:ext uri="{FF2B5EF4-FFF2-40B4-BE49-F238E27FC236}">
                <a16:creationId xmlns:a16="http://schemas.microsoft.com/office/drawing/2014/main" id="{9A4A101E-21E7-9F32-300B-850355706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0012" y="1503395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则必有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5A44F017-DEB8-5FB6-EF34-25D391041265}"/>
                  </a:ext>
                </a:extLst>
              </p:cNvPr>
              <p:cNvSpPr txBox="1"/>
              <p:nvPr/>
            </p:nvSpPr>
            <p:spPr bwMode="auto">
              <a:xfrm>
                <a:off x="7388411" y="1445451"/>
                <a:ext cx="2482851" cy="635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func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=0.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5A44F017-DEB8-5FB6-EF34-25D391041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88411" y="1445451"/>
                <a:ext cx="2482851" cy="635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7">
            <a:extLst>
              <a:ext uri="{FF2B5EF4-FFF2-40B4-BE49-F238E27FC236}">
                <a16:creationId xmlns:a16="http://schemas.microsoft.com/office/drawing/2014/main" id="{EB90A71C-0BC0-D717-F059-1557E7AB2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612" y="2481521"/>
            <a:ext cx="99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7A3DBE6D-22F0-85DB-689C-62D6034D97B8}"/>
                  </a:ext>
                </a:extLst>
              </p:cNvPr>
              <p:cNvSpPr txBox="1"/>
              <p:nvPr/>
            </p:nvSpPr>
            <p:spPr bwMode="auto">
              <a:xfrm>
                <a:off x="3264089" y="2457221"/>
                <a:ext cx="26797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∵ 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7A3DBE6D-22F0-85DB-689C-62D6034D9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4089" y="2457221"/>
                <a:ext cx="2679700" cy="431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6DF9E57C-051F-69DD-CBD6-1383DE15C9C3}"/>
                  </a:ext>
                </a:extLst>
              </p:cNvPr>
              <p:cNvSpPr txBox="1"/>
              <p:nvPr/>
            </p:nvSpPr>
            <p:spPr bwMode="auto">
              <a:xfrm>
                <a:off x="3264090" y="2995386"/>
                <a:ext cx="4241798" cy="622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∴ 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6DF9E57C-051F-69DD-CBD6-1383DE15C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4090" y="2995386"/>
                <a:ext cx="4241798" cy="622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2">
                <a:extLst>
                  <a:ext uri="{FF2B5EF4-FFF2-40B4-BE49-F238E27FC236}">
                    <a16:creationId xmlns:a16="http://schemas.microsoft.com/office/drawing/2014/main" id="{9FCCC69E-E670-342C-69B4-A7D831BC331B}"/>
                  </a:ext>
                </a:extLst>
              </p:cNvPr>
              <p:cNvSpPr txBox="1"/>
              <p:nvPr/>
            </p:nvSpPr>
            <p:spPr bwMode="auto">
              <a:xfrm>
                <a:off x="7331261" y="3033486"/>
                <a:ext cx="17907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en-US" altLang="zh-CN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=0.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2">
                <a:extLst>
                  <a:ext uri="{FF2B5EF4-FFF2-40B4-BE49-F238E27FC236}">
                    <a16:creationId xmlns:a16="http://schemas.microsoft.com/office/drawing/2014/main" id="{9FCCC69E-E670-342C-69B4-A7D831BC3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31261" y="3033486"/>
                <a:ext cx="1790700" cy="393700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3">
            <a:extLst>
              <a:ext uri="{FF2B5EF4-FFF2-40B4-BE49-F238E27FC236}">
                <a16:creationId xmlns:a16="http://schemas.microsoft.com/office/drawing/2014/main" id="{77B1A371-505C-6BBA-0C8B-81B4869C7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612" y="3673096"/>
            <a:ext cx="60579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可见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:  </a:t>
            </a:r>
            <a:r>
              <a:rPr kumimoji="1" lang="zh-CN" altLang="en-US" sz="22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若级数的一般项不趋于</a:t>
            </a:r>
            <a:r>
              <a:rPr kumimoji="1" lang="en-US" altLang="zh-CN" sz="22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0 , </a:t>
            </a:r>
            <a:r>
              <a:rPr kumimoji="1" lang="zh-CN" altLang="en-US" sz="22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则级数必发散 </a:t>
            </a:r>
            <a:r>
              <a:rPr kumimoji="1" lang="en-US" altLang="zh-CN" sz="22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5">
                <a:extLst>
                  <a:ext uri="{FF2B5EF4-FFF2-40B4-BE49-F238E27FC236}">
                    <a16:creationId xmlns:a16="http://schemas.microsoft.com/office/drawing/2014/main" id="{90E09500-B615-2FD0-4B6D-6E451E4BB1FA}"/>
                  </a:ext>
                </a:extLst>
              </p:cNvPr>
              <p:cNvSpPr txBox="1"/>
              <p:nvPr/>
            </p:nvSpPr>
            <p:spPr bwMode="auto">
              <a:xfrm>
                <a:off x="3680303" y="4227286"/>
                <a:ext cx="51435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5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+⋯+(−1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5">
                <a:extLst>
                  <a:ext uri="{FF2B5EF4-FFF2-40B4-BE49-F238E27FC236}">
                    <a16:creationId xmlns:a16="http://schemas.microsoft.com/office/drawing/2014/main" id="{90E09500-B615-2FD0-4B6D-6E451E4BB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80303" y="4227286"/>
                <a:ext cx="5143500" cy="8509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6">
            <a:extLst>
              <a:ext uri="{FF2B5EF4-FFF2-40B4-BE49-F238E27FC236}">
                <a16:creationId xmlns:a16="http://schemas.microsoft.com/office/drawing/2014/main" id="{7565AECF-64B3-E9FB-4CE2-E436E2418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9501" y="4379687"/>
            <a:ext cx="2057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其一般项为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7">
                <a:extLst>
                  <a:ext uri="{FF2B5EF4-FFF2-40B4-BE49-F238E27FC236}">
                    <a16:creationId xmlns:a16="http://schemas.microsoft.com/office/drawing/2014/main" id="{39090413-CEAD-76F8-4B1B-6AC549719357}"/>
                  </a:ext>
                </a:extLst>
              </p:cNvPr>
              <p:cNvSpPr txBox="1"/>
              <p:nvPr/>
            </p:nvSpPr>
            <p:spPr bwMode="auto">
              <a:xfrm>
                <a:off x="3680303" y="5078186"/>
                <a:ext cx="28194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=(−1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7">
                <a:extLst>
                  <a:ext uri="{FF2B5EF4-FFF2-40B4-BE49-F238E27FC236}">
                    <a16:creationId xmlns:a16="http://schemas.microsoft.com/office/drawing/2014/main" id="{39090413-CEAD-76F8-4B1B-6AC549719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80303" y="5078186"/>
                <a:ext cx="2819400" cy="838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20">
            <a:extLst>
              <a:ext uri="{FF2B5EF4-FFF2-40B4-BE49-F238E27FC236}">
                <a16:creationId xmlns:a16="http://schemas.microsoft.com/office/drawing/2014/main" id="{C296EEC9-61F8-0EAA-7C93-BF2F65936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6161" y="5866378"/>
            <a:ext cx="135890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不趋于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0,</a:t>
            </a: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9E11FCB1-9042-8D8D-07F1-CCE332D38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987" y="5866377"/>
            <a:ext cx="25812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因此这个级数发散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3">
                <a:extLst>
                  <a:ext uri="{FF2B5EF4-FFF2-40B4-BE49-F238E27FC236}">
                    <a16:creationId xmlns:a16="http://schemas.microsoft.com/office/drawing/2014/main" id="{92AB345F-3BD1-E870-1FD7-0C620CF6E05C}"/>
                  </a:ext>
                </a:extLst>
              </p:cNvPr>
              <p:cNvSpPr txBox="1"/>
              <p:nvPr/>
            </p:nvSpPr>
            <p:spPr bwMode="auto">
              <a:xfrm>
                <a:off x="2638612" y="5866378"/>
                <a:ext cx="22606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→∞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23">
                <a:extLst>
                  <a:ext uri="{FF2B5EF4-FFF2-40B4-BE49-F238E27FC236}">
                    <a16:creationId xmlns:a16="http://schemas.microsoft.com/office/drawing/2014/main" id="{92AB345F-3BD1-E870-1FD7-0C620CF6E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8612" y="5866378"/>
                <a:ext cx="2260600" cy="457200"/>
              </a:xfrm>
              <a:prstGeom prst="rect">
                <a:avLst/>
              </a:prstGeom>
              <a:blipFill>
                <a:blip r:embed="rId9"/>
                <a:stretch>
                  <a:fillRect l="-1887" b="-6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E868E0AF-2BA6-D96E-2D99-69CE33ADDD11}"/>
              </a:ext>
            </a:extLst>
          </p:cNvPr>
          <p:cNvGrpSpPr/>
          <p:nvPr/>
        </p:nvGrpSpPr>
        <p:grpSpPr>
          <a:xfrm>
            <a:off x="2717008" y="4387113"/>
            <a:ext cx="948690" cy="448945"/>
            <a:chOff x="1553" y="3803"/>
            <a:chExt cx="1494" cy="707"/>
          </a:xfrm>
        </p:grpSpPr>
        <p:sp>
          <p:nvSpPr>
            <p:cNvPr id="20" name="圆角矩形 57">
              <a:extLst>
                <a:ext uri="{FF2B5EF4-FFF2-40B4-BE49-F238E27FC236}">
                  <a16:creationId xmlns:a16="http://schemas.microsoft.com/office/drawing/2014/main" id="{F9615927-E5AB-4AF2-4213-742CB5660A90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28">
              <a:extLst>
                <a:ext uri="{FF2B5EF4-FFF2-40B4-BE49-F238E27FC236}">
                  <a16:creationId xmlns:a16="http://schemas.microsoft.com/office/drawing/2014/main" id="{F30B4C9F-BFFC-B046-B8F7-BA6CD2190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17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 </a:t>
              </a:r>
              <a:endPara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150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图文框 18">
            <a:extLst>
              <a:ext uri="{FF2B5EF4-FFF2-40B4-BE49-F238E27FC236}">
                <a16:creationId xmlns:a16="http://schemas.microsoft.com/office/drawing/2014/main" id="{B24A9BF7-8AB3-4FA1-A92D-133061B07846}"/>
              </a:ext>
            </a:extLst>
          </p:cNvPr>
          <p:cNvSpPr/>
          <p:nvPr/>
        </p:nvSpPr>
        <p:spPr>
          <a:xfrm rot="5400000">
            <a:off x="2705095" y="-2639699"/>
            <a:ext cx="6858001" cy="12137397"/>
          </a:xfrm>
          <a:prstGeom prst="frame">
            <a:avLst>
              <a:gd name="adj1" fmla="val 50000"/>
            </a:avLst>
          </a:prstGeom>
          <a:gradFill flip="none" rotWithShape="1">
            <a:gsLst>
              <a:gs pos="100000">
                <a:srgbClr val="007434">
                  <a:alpha val="10000"/>
                </a:srgbClr>
              </a:gs>
              <a:gs pos="4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5582B9-91B4-95A5-BB71-1408B08F2108}"/>
              </a:ext>
            </a:extLst>
          </p:cNvPr>
          <p:cNvSpPr/>
          <p:nvPr/>
        </p:nvSpPr>
        <p:spPr>
          <a:xfrm rot="16200000" flipH="1">
            <a:off x="-3338945" y="3338945"/>
            <a:ext cx="6858000" cy="180109"/>
          </a:xfrm>
          <a:prstGeom prst="rect">
            <a:avLst/>
          </a:prstGeom>
          <a:gradFill flip="none" rotWithShape="1">
            <a:gsLst>
              <a:gs pos="100000">
                <a:srgbClr val="2C8894">
                  <a:alpha val="55000"/>
                </a:srgbClr>
              </a:gs>
              <a:gs pos="55000">
                <a:srgbClr val="389479">
                  <a:alpha val="87000"/>
                </a:srgbClr>
              </a:gs>
              <a:gs pos="0">
                <a:srgbClr val="3F9B6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77DF329-7BBD-6FDB-2447-06798B6277D9}"/>
              </a:ext>
            </a:extLst>
          </p:cNvPr>
          <p:cNvSpPr txBox="1">
            <a:spLocks noChangeArrowheads="1"/>
          </p:cNvSpPr>
          <p:nvPr/>
        </p:nvSpPr>
        <p:spPr>
          <a:xfrm>
            <a:off x="2510833" y="720341"/>
            <a:ext cx="1447800" cy="685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注意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841EE17A-72F2-D34E-CBE3-039B4297E57B}"/>
                  </a:ext>
                </a:extLst>
              </p:cNvPr>
              <p:cNvSpPr txBox="1"/>
              <p:nvPr/>
            </p:nvSpPr>
            <p:spPr bwMode="auto">
              <a:xfrm>
                <a:off x="3293471" y="673513"/>
                <a:ext cx="1825625" cy="622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CN" sz="22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func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841EE17A-72F2-D34E-CBE3-039B4297E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3471" y="673513"/>
                <a:ext cx="1825625" cy="6223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>
            <a:extLst>
              <a:ext uri="{FF2B5EF4-FFF2-40B4-BE49-F238E27FC236}">
                <a16:creationId xmlns:a16="http://schemas.microsoft.com/office/drawing/2014/main" id="{4E51EE65-9038-BF36-5652-E8D0A96D3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1648" y="672742"/>
            <a:ext cx="4343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并非级数收敛的充分条件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D8C953FD-8B8B-B26C-335E-7C3D29260E9E}"/>
                  </a:ext>
                </a:extLst>
              </p:cNvPr>
              <p:cNvSpPr txBox="1"/>
              <p:nvPr/>
            </p:nvSpPr>
            <p:spPr bwMode="auto">
              <a:xfrm>
                <a:off x="4715871" y="1433132"/>
                <a:ext cx="5054600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D8C953FD-8B8B-B26C-335E-7C3D29260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5871" y="1433132"/>
                <a:ext cx="5054600" cy="1066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7">
            <a:extLst>
              <a:ext uri="{FF2B5EF4-FFF2-40B4-BE49-F238E27FC236}">
                <a16:creationId xmlns:a16="http://schemas.microsoft.com/office/drawing/2014/main" id="{1A3FE331-4D5A-CF3D-9F9E-7B089BF99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0833" y="2695568"/>
            <a:ext cx="990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虽然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0F38424C-97AE-84D8-F3A9-0940D0090C39}"/>
                  </a:ext>
                </a:extLst>
              </p:cNvPr>
              <p:cNvSpPr txBox="1"/>
              <p:nvPr/>
            </p:nvSpPr>
            <p:spPr bwMode="auto">
              <a:xfrm>
                <a:off x="3083598" y="2530945"/>
                <a:ext cx="2743200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=0</m:t>
                      </m:r>
                      <m:r>
                        <m:rPr>
                          <m:nor/>
                        </m:rPr>
                        <a:rPr kumimoji="1" lang="en-US" altLang="zh-CN" sz="2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0F38424C-97AE-84D8-F3A9-0940D0090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3598" y="2530945"/>
                <a:ext cx="2743200" cy="876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9">
            <a:extLst>
              <a:ext uri="{FF2B5EF4-FFF2-40B4-BE49-F238E27FC236}">
                <a16:creationId xmlns:a16="http://schemas.microsoft.com/office/drawing/2014/main" id="{A9DF3890-E90E-8772-2043-AD8B1939D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1748" y="2691721"/>
            <a:ext cx="2743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但此级数发散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0">
                <a:extLst>
                  <a:ext uri="{FF2B5EF4-FFF2-40B4-BE49-F238E27FC236}">
                    <a16:creationId xmlns:a16="http://schemas.microsoft.com/office/drawing/2014/main" id="{16720513-381E-4824-B607-96F50249AF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0833" y="3481383"/>
                <a:ext cx="5867400" cy="453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事实上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假设调和级数收敛于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则</a:t>
                </a:r>
              </a:p>
            </p:txBody>
          </p:sp>
        </mc:Choice>
        <mc:Fallback xmlns="">
          <p:sp>
            <p:nvSpPr>
              <p:cNvPr id="10" name="Text Box 10">
                <a:extLst>
                  <a:ext uri="{FF2B5EF4-FFF2-40B4-BE49-F238E27FC236}">
                    <a16:creationId xmlns:a16="http://schemas.microsoft.com/office/drawing/2014/main" id="{16720513-381E-4824-B607-96F50249A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0833" y="3481383"/>
                <a:ext cx="5867400" cy="453137"/>
              </a:xfrm>
              <a:prstGeom prst="rect">
                <a:avLst/>
              </a:prstGeom>
              <a:blipFill>
                <a:blip r:embed="rId6"/>
                <a:stretch>
                  <a:fillRect l="-1351" t="-9459" b="-270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AAFBA164-8735-8C6E-8CB5-E521F2B6233D}"/>
                  </a:ext>
                </a:extLst>
              </p:cNvPr>
              <p:cNvSpPr txBox="1"/>
              <p:nvPr/>
            </p:nvSpPr>
            <p:spPr bwMode="auto">
              <a:xfrm>
                <a:off x="3520446" y="4108449"/>
                <a:ext cx="3251201" cy="6159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)=0.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AAFBA164-8735-8C6E-8CB5-E521F2B62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20446" y="4108449"/>
                <a:ext cx="3251201" cy="6159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52">
                <a:extLst>
                  <a:ext uri="{FF2B5EF4-FFF2-40B4-BE49-F238E27FC236}">
                    <a16:creationId xmlns:a16="http://schemas.microsoft.com/office/drawing/2014/main" id="{A5DAD6F1-35A7-5B1E-8C98-DED9F2BC640F}"/>
                  </a:ext>
                </a:extLst>
              </p:cNvPr>
              <p:cNvSpPr txBox="1"/>
              <p:nvPr/>
            </p:nvSpPr>
            <p:spPr bwMode="auto">
              <a:xfrm>
                <a:off x="8315948" y="4737093"/>
                <a:ext cx="7239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&gt;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52">
                <a:extLst>
                  <a:ext uri="{FF2B5EF4-FFF2-40B4-BE49-F238E27FC236}">
                    <a16:creationId xmlns:a16="http://schemas.microsoft.com/office/drawing/2014/main" id="{A5DAD6F1-35A7-5B1E-8C98-DED9F2BC6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15948" y="4737093"/>
                <a:ext cx="723900" cy="850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61">
                <a:extLst>
                  <a:ext uri="{FF2B5EF4-FFF2-40B4-BE49-F238E27FC236}">
                    <a16:creationId xmlns:a16="http://schemas.microsoft.com/office/drawing/2014/main" id="{6D73B028-3F7E-A83F-9C74-71D61F87F589}"/>
                  </a:ext>
                </a:extLst>
              </p:cNvPr>
              <p:cNvSpPr txBox="1"/>
              <p:nvPr/>
            </p:nvSpPr>
            <p:spPr bwMode="auto">
              <a:xfrm>
                <a:off x="4410205" y="4697890"/>
                <a:ext cx="5187949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+3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61">
                <a:extLst>
                  <a:ext uri="{FF2B5EF4-FFF2-40B4-BE49-F238E27FC236}">
                    <a16:creationId xmlns:a16="http://schemas.microsoft.com/office/drawing/2014/main" id="{6D73B028-3F7E-A83F-9C74-71D61F87F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0205" y="4697890"/>
                <a:ext cx="5187949" cy="8509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35">
            <a:extLst>
              <a:ext uri="{FF2B5EF4-FFF2-40B4-BE49-F238E27FC236}">
                <a16:creationId xmlns:a16="http://schemas.microsoft.com/office/drawing/2014/main" id="{CCE694C4-E7C7-1C85-842B-457D1C5D6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0833" y="4899820"/>
            <a:ext cx="5492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40">
                <a:extLst>
                  <a:ext uri="{FF2B5EF4-FFF2-40B4-BE49-F238E27FC236}">
                    <a16:creationId xmlns:a16="http://schemas.microsoft.com/office/drawing/2014/main" id="{AE52BB7D-0D62-A78E-5859-CDDD669C2180}"/>
                  </a:ext>
                </a:extLst>
              </p:cNvPr>
              <p:cNvSpPr txBox="1"/>
              <p:nvPr/>
            </p:nvSpPr>
            <p:spPr bwMode="auto">
              <a:xfrm>
                <a:off x="2988671" y="4861720"/>
                <a:ext cx="21844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40">
                <a:extLst>
                  <a:ext uri="{FF2B5EF4-FFF2-40B4-BE49-F238E27FC236}">
                    <a16:creationId xmlns:a16="http://schemas.microsoft.com/office/drawing/2014/main" id="{AE52BB7D-0D62-A78E-5859-CDDD669C2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8671" y="4861720"/>
                <a:ext cx="2184400" cy="444500"/>
              </a:xfrm>
              <a:prstGeom prst="rect">
                <a:avLst/>
              </a:prstGeom>
              <a:blipFill>
                <a:blip r:embed="rId10"/>
                <a:stretch>
                  <a:fillRect b="-13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63">
            <a:extLst>
              <a:ext uri="{FF2B5EF4-FFF2-40B4-BE49-F238E27FC236}">
                <a16:creationId xmlns:a16="http://schemas.microsoft.com/office/drawing/2014/main" id="{FF5FB79D-CE6C-B400-6EDA-5B4A90333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0833" y="5617370"/>
            <a:ext cx="1371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矛盾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!</a:t>
            </a:r>
          </a:p>
        </p:txBody>
      </p:sp>
      <p:sp>
        <p:nvSpPr>
          <p:cNvPr id="17" name="Text Box 64">
            <a:extLst>
              <a:ext uri="{FF2B5EF4-FFF2-40B4-BE49-F238E27FC236}">
                <a16:creationId xmlns:a16="http://schemas.microsoft.com/office/drawing/2014/main" id="{3DE1DC0D-BD4D-481E-18C0-387C8CF45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9913" y="5617370"/>
            <a:ext cx="2667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所以假设不真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9">
                <a:extLst>
                  <a:ext uri="{FF2B5EF4-FFF2-40B4-BE49-F238E27FC236}">
                    <a16:creationId xmlns:a16="http://schemas.microsoft.com/office/drawing/2014/main" id="{BD761059-0302-C7A6-3EF6-A3A3CD2A6513}"/>
                  </a:ext>
                </a:extLst>
              </p:cNvPr>
              <p:cNvSpPr txBox="1"/>
              <p:nvPr/>
            </p:nvSpPr>
            <p:spPr bwMode="auto">
              <a:xfrm>
                <a:off x="8989772" y="4685967"/>
                <a:ext cx="6731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69">
                <a:extLst>
                  <a:ext uri="{FF2B5EF4-FFF2-40B4-BE49-F238E27FC236}">
                    <a16:creationId xmlns:a16="http://schemas.microsoft.com/office/drawing/2014/main" id="{BD761059-0302-C7A6-3EF6-A3A3CD2A6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89772" y="4685967"/>
                <a:ext cx="673100" cy="838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EE281A80-4A63-D1FB-A5B1-2B05D9B95540}"/>
              </a:ext>
            </a:extLst>
          </p:cNvPr>
          <p:cNvGrpSpPr/>
          <p:nvPr/>
        </p:nvGrpSpPr>
        <p:grpSpPr>
          <a:xfrm>
            <a:off x="2633701" y="1714457"/>
            <a:ext cx="2218690" cy="448945"/>
            <a:chOff x="1553" y="3803"/>
            <a:chExt cx="3494" cy="707"/>
          </a:xfrm>
        </p:grpSpPr>
        <p:sp>
          <p:nvSpPr>
            <p:cNvPr id="22" name="圆角矩形 57">
              <a:extLst>
                <a:ext uri="{FF2B5EF4-FFF2-40B4-BE49-F238E27FC236}">
                  <a16:creationId xmlns:a16="http://schemas.microsoft.com/office/drawing/2014/main" id="{53020686-B54F-562E-0FC5-D01C53145B4C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:a16="http://schemas.microsoft.com/office/drawing/2014/main" id="{4D8D5883-DA14-D5CE-2228-FE84F04471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3417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 </a:t>
              </a:r>
              <a:r>
                <a:rPr kumimoji="1"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rPr>
                <a:t>调和级数</a:t>
              </a:r>
              <a:endPara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774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3D37DBA-BF75-3A40-C3A9-C692C84901F4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3D37DBA-BF75-3A40-C3A9-C692C84901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半闭框 22">
            <a:extLst>
              <a:ext uri="{FF2B5EF4-FFF2-40B4-BE49-F238E27FC236}">
                <a16:creationId xmlns:a16="http://schemas.microsoft.com/office/drawing/2014/main" id="{B19000C1-5902-5BBE-000B-6D02445E1FC6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半闭框 23">
            <a:extLst>
              <a:ext uri="{FF2B5EF4-FFF2-40B4-BE49-F238E27FC236}">
                <a16:creationId xmlns:a16="http://schemas.microsoft.com/office/drawing/2014/main" id="{489A2513-7F27-178F-CE40-7BF915BEA376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半闭框 24">
            <a:extLst>
              <a:ext uri="{FF2B5EF4-FFF2-40B4-BE49-F238E27FC236}">
                <a16:creationId xmlns:a16="http://schemas.microsoft.com/office/drawing/2014/main" id="{031E5368-7B07-2C77-A165-A96BB3C127BE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6" name="半闭框 25">
            <a:extLst>
              <a:ext uri="{FF2B5EF4-FFF2-40B4-BE49-F238E27FC236}">
                <a16:creationId xmlns:a16="http://schemas.microsoft.com/office/drawing/2014/main" id="{EB0F3B72-2A81-7991-0BA2-F2071727C504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2DA7679-6117-2B81-154A-29B523B630EE}"/>
              </a:ext>
            </a:extLst>
          </p:cNvPr>
          <p:cNvSpPr txBox="1">
            <a:spLocks noChangeArrowheads="1"/>
          </p:cNvSpPr>
          <p:nvPr/>
        </p:nvSpPr>
        <p:spPr>
          <a:xfrm>
            <a:off x="1055116" y="767489"/>
            <a:ext cx="7162800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 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判断下列级数的敛散性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若收敛求其和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106DD3BD-B6CE-5AA3-5706-569E513097DE}"/>
                  </a:ext>
                </a:extLst>
              </p:cNvPr>
              <p:cNvSpPr txBox="1"/>
              <p:nvPr/>
            </p:nvSpPr>
            <p:spPr bwMode="auto">
              <a:xfrm>
                <a:off x="1828626" y="1221013"/>
                <a:ext cx="2656863" cy="11938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(1)  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800" i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!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106DD3BD-B6CE-5AA3-5706-569E51309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8626" y="1221013"/>
                <a:ext cx="2656863" cy="1193801"/>
              </a:xfrm>
              <a:prstGeom prst="rect">
                <a:avLst/>
              </a:prstGeom>
              <a:blipFill>
                <a:blip r:embed="rId4"/>
                <a:stretch>
                  <a:fillRect b="-15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>
            <a:extLst>
              <a:ext uri="{FF2B5EF4-FFF2-40B4-BE49-F238E27FC236}">
                <a16:creationId xmlns:a16="http://schemas.microsoft.com/office/drawing/2014/main" id="{332BD0E5-A307-E1D0-3C89-1307B3FAD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378" y="2734127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(1) 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04EC146D-766E-EC69-A4CF-F2D16C58DA58}"/>
                  </a:ext>
                </a:extLst>
              </p:cNvPr>
              <p:cNvSpPr txBox="1"/>
              <p:nvPr/>
            </p:nvSpPr>
            <p:spPr bwMode="auto">
              <a:xfrm>
                <a:off x="4399718" y="1215100"/>
                <a:ext cx="4008773" cy="13880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(2)  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+3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+2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den>
                          </m:f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04EC146D-766E-EC69-A4CF-F2D16C58D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9718" y="1215100"/>
                <a:ext cx="4008773" cy="13880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26154E6F-80D8-9391-0047-CDB99FB6DAB0}"/>
                  </a:ext>
                </a:extLst>
              </p:cNvPr>
              <p:cNvSpPr txBox="1"/>
              <p:nvPr/>
            </p:nvSpPr>
            <p:spPr bwMode="auto">
              <a:xfrm>
                <a:off x="8447595" y="1215101"/>
                <a:ext cx="2998482" cy="1366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(3)  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26154E6F-80D8-9391-0047-CDB99FB6D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47595" y="1215101"/>
                <a:ext cx="2998482" cy="13668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FFE317B1-3957-384A-F060-841CC78BE7B9}"/>
                  </a:ext>
                </a:extLst>
              </p:cNvPr>
              <p:cNvSpPr txBox="1"/>
              <p:nvPr/>
            </p:nvSpPr>
            <p:spPr bwMode="auto">
              <a:xfrm>
                <a:off x="2454410" y="2617565"/>
                <a:ext cx="1651000" cy="796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!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FFE317B1-3957-384A-F060-841CC78BE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4410" y="2617565"/>
                <a:ext cx="1651000" cy="7960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8">
            <a:extLst>
              <a:ext uri="{FF2B5EF4-FFF2-40B4-BE49-F238E27FC236}">
                <a16:creationId xmlns:a16="http://schemas.microsoft.com/office/drawing/2014/main" id="{A934CE60-18B7-8B35-A6D8-8CB9EAC37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9528" y="2801239"/>
            <a:ext cx="76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1AE94F82-3D8D-81E1-23EB-57677453C575}"/>
                  </a:ext>
                </a:extLst>
              </p:cNvPr>
              <p:cNvSpPr txBox="1"/>
              <p:nvPr/>
            </p:nvSpPr>
            <p:spPr bwMode="auto">
              <a:xfrm>
                <a:off x="2353303" y="4029526"/>
                <a:ext cx="1057276" cy="6794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1AE94F82-3D8D-81E1-23EB-57677453C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3303" y="4029526"/>
                <a:ext cx="1057276" cy="6794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31340280-5E7D-FD1C-5F89-4D0AD7C1F4BB}"/>
                  </a:ext>
                </a:extLst>
              </p:cNvPr>
              <p:cNvSpPr txBox="1"/>
              <p:nvPr/>
            </p:nvSpPr>
            <p:spPr bwMode="auto">
              <a:xfrm>
                <a:off x="5133351" y="4032065"/>
                <a:ext cx="1990314" cy="11326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e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kumimoji="1" lang="zh-CN" altLang="en-US" sz="22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zh-CN" altLang="en-US" sz="220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1" lang="zh-CN" altLang="en-US" sz="220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zh-CN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31340280-5E7D-FD1C-5F89-4D0AD7C1F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33351" y="4032065"/>
                <a:ext cx="1990314" cy="113267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F663DD74-3D46-8C0A-1AC4-107E3743043F}"/>
                  </a:ext>
                </a:extLst>
              </p:cNvPr>
              <p:cNvSpPr txBox="1"/>
              <p:nvPr/>
            </p:nvSpPr>
            <p:spPr bwMode="auto">
              <a:xfrm>
                <a:off x="6647488" y="4122167"/>
                <a:ext cx="26670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&gt;1 (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=1,2,⋯ ),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F663DD74-3D46-8C0A-1AC4-107E37430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7488" y="4122167"/>
                <a:ext cx="2667000" cy="393700"/>
              </a:xfrm>
              <a:prstGeom prst="rect">
                <a:avLst/>
              </a:prstGeom>
              <a:blipFill>
                <a:blip r:embed="rId10"/>
                <a:stretch>
                  <a:fillRect b="-61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12">
            <a:extLst>
              <a:ext uri="{FF2B5EF4-FFF2-40B4-BE49-F238E27FC236}">
                <a16:creationId xmlns:a16="http://schemas.microsoft.com/office/drawing/2014/main" id="{ADB43BAF-CBBC-62E3-C6B4-C0C90BB39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378" y="5293238"/>
            <a:ext cx="457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EAFDE602-3CCC-1621-CDBE-FBCE09579A01}"/>
                  </a:ext>
                </a:extLst>
              </p:cNvPr>
              <p:cNvSpPr txBox="1"/>
              <p:nvPr/>
            </p:nvSpPr>
            <p:spPr bwMode="auto">
              <a:xfrm>
                <a:off x="2574578" y="5255139"/>
                <a:ext cx="3276600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&gt;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&gt;⋯&gt;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e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EAFDE602-3CCC-1621-CDBE-FBCE09579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4578" y="5255139"/>
                <a:ext cx="3276600" cy="4826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4">
            <a:extLst>
              <a:ext uri="{FF2B5EF4-FFF2-40B4-BE49-F238E27FC236}">
                <a16:creationId xmlns:a16="http://schemas.microsoft.com/office/drawing/2014/main" id="{56F294C5-03DD-C52E-3774-C3759997B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9958" y="5828130"/>
            <a:ext cx="1295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从而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66483F6E-C8FC-B4A3-1189-B00FB450D59D}"/>
                  </a:ext>
                </a:extLst>
              </p:cNvPr>
              <p:cNvSpPr txBox="1"/>
              <p:nvPr/>
            </p:nvSpPr>
            <p:spPr bwMode="auto">
              <a:xfrm>
                <a:off x="2791071" y="5786855"/>
                <a:ext cx="1752600" cy="5578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≠0,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66483F6E-C8FC-B4A3-1189-B00FB450D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1071" y="5786855"/>
                <a:ext cx="1752600" cy="55788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16">
            <a:extLst>
              <a:ext uri="{FF2B5EF4-FFF2-40B4-BE49-F238E27FC236}">
                <a16:creationId xmlns:a16="http://schemas.microsoft.com/office/drawing/2014/main" id="{34D0C6A7-A81B-FAA7-CF14-01C0EA573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3723" y="5828130"/>
            <a:ext cx="3352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这说明级数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(1)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发散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1">
                <a:extLst>
                  <a:ext uri="{FF2B5EF4-FFF2-40B4-BE49-F238E27FC236}">
                    <a16:creationId xmlns:a16="http://schemas.microsoft.com/office/drawing/2014/main" id="{65E47FB7-3F8F-FE15-0435-11993E803A27}"/>
                  </a:ext>
                </a:extLst>
              </p:cNvPr>
              <p:cNvSpPr txBox="1"/>
              <p:nvPr/>
            </p:nvSpPr>
            <p:spPr bwMode="auto">
              <a:xfrm>
                <a:off x="5916147" y="2712815"/>
                <a:ext cx="3821443" cy="945424"/>
              </a:xfrm>
              <a:prstGeom prst="rect">
                <a:avLst/>
              </a:prstGeom>
              <a:noFill/>
              <a:ln w="19050">
                <a:solidFill>
                  <a:srgbClr val="04926A"/>
                </a:solidFill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  <m:sSup>
                        <m:sSupPr>
                          <m:ctrlP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&lt;</m:t>
                      </m:r>
                      <m:r>
                        <m:rPr>
                          <m:sty m:val="p"/>
                        </m:rPr>
                        <a:rPr kumimoji="1" lang="en-US" altLang="zh-CN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e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&lt;</m:t>
                      </m:r>
                      <m:sSup>
                        <m:sSupPr>
                          <m:ctrlPr>
                            <a:rPr kumimoji="1" lang="en-US" altLang="zh-CN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2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21">
                <a:extLst>
                  <a:ext uri="{FF2B5EF4-FFF2-40B4-BE49-F238E27FC236}">
                    <a16:creationId xmlns:a16="http://schemas.microsoft.com/office/drawing/2014/main" id="{65E47FB7-3F8F-FE15-0435-11993E803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16147" y="2712815"/>
                <a:ext cx="3821443" cy="94542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rgbClr val="04926A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2">
                <a:extLst>
                  <a:ext uri="{FF2B5EF4-FFF2-40B4-BE49-F238E27FC236}">
                    <a16:creationId xmlns:a16="http://schemas.microsoft.com/office/drawing/2014/main" id="{4BA75D29-61E5-B870-053C-5147BBA9B6EA}"/>
                  </a:ext>
                </a:extLst>
              </p:cNvPr>
              <p:cNvSpPr txBox="1"/>
              <p:nvPr/>
            </p:nvSpPr>
            <p:spPr bwMode="auto">
              <a:xfrm>
                <a:off x="3410579" y="3542790"/>
                <a:ext cx="1549400" cy="871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+1)!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22">
                <a:extLst>
                  <a:ext uri="{FF2B5EF4-FFF2-40B4-BE49-F238E27FC236}">
                    <a16:creationId xmlns:a16="http://schemas.microsoft.com/office/drawing/2014/main" id="{4BA75D29-61E5-B870-053C-5147BBA9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0579" y="3542790"/>
                <a:ext cx="1549400" cy="871650"/>
              </a:xfrm>
              <a:prstGeom prst="rect">
                <a:avLst/>
              </a:prstGeom>
              <a:blipFill>
                <a:blip r:embed="rId14"/>
                <a:stretch>
                  <a:fillRect r="-35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4">
                <a:extLst>
                  <a:ext uri="{FF2B5EF4-FFF2-40B4-BE49-F238E27FC236}">
                    <a16:creationId xmlns:a16="http://schemas.microsoft.com/office/drawing/2014/main" id="{028D73AE-8DAB-0920-CE88-4D7ABB86CDF1}"/>
                  </a:ext>
                </a:extLst>
              </p:cNvPr>
              <p:cNvSpPr txBox="1"/>
              <p:nvPr/>
            </p:nvSpPr>
            <p:spPr bwMode="auto">
              <a:xfrm>
                <a:off x="3815393" y="4369250"/>
                <a:ext cx="768350" cy="812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22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!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24">
                <a:extLst>
                  <a:ext uri="{FF2B5EF4-FFF2-40B4-BE49-F238E27FC236}">
                    <a16:creationId xmlns:a16="http://schemas.microsoft.com/office/drawing/2014/main" id="{028D73AE-8DAB-0920-CE88-4D7ABB86C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5393" y="4369250"/>
                <a:ext cx="768350" cy="8128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ine 25">
            <a:extLst>
              <a:ext uri="{FF2B5EF4-FFF2-40B4-BE49-F238E27FC236}">
                <a16:creationId xmlns:a16="http://schemas.microsoft.com/office/drawing/2014/main" id="{4413EDBD-2C75-0455-FBCE-442DFC6568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0705" y="3647921"/>
            <a:ext cx="304800" cy="38100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" name="Line 26">
            <a:extLst>
              <a:ext uri="{FF2B5EF4-FFF2-40B4-BE49-F238E27FC236}">
                <a16:creationId xmlns:a16="http://schemas.microsoft.com/office/drawing/2014/main" id="{25510A56-6E75-90D6-F002-03CB2371AE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7337" y="4383537"/>
            <a:ext cx="1651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9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 animBg="1"/>
      <p:bldP spid="18" grpId="0"/>
      <p:bldP spid="19" grpId="0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00B7D70-B25C-2341-132C-379A9793E851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00B7D70-B25C-2341-132C-379A9793E8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半闭框 19">
            <a:extLst>
              <a:ext uri="{FF2B5EF4-FFF2-40B4-BE49-F238E27FC236}">
                <a16:creationId xmlns:a16="http://schemas.microsoft.com/office/drawing/2014/main" id="{92B85CD4-159C-1685-D252-55F1BFA49D67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半闭框 20">
            <a:extLst>
              <a:ext uri="{FF2B5EF4-FFF2-40B4-BE49-F238E27FC236}">
                <a16:creationId xmlns:a16="http://schemas.microsoft.com/office/drawing/2014/main" id="{EF143E47-86E2-0AAF-D6C4-9FA274F701DB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半闭框 21">
            <a:extLst>
              <a:ext uri="{FF2B5EF4-FFF2-40B4-BE49-F238E27FC236}">
                <a16:creationId xmlns:a16="http://schemas.microsoft.com/office/drawing/2014/main" id="{D2DF5334-717C-153C-CDDB-A42BF19335A1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3" name="半闭框 22">
            <a:extLst>
              <a:ext uri="{FF2B5EF4-FFF2-40B4-BE49-F238E27FC236}">
                <a16:creationId xmlns:a16="http://schemas.microsoft.com/office/drawing/2014/main" id="{EA1895E9-81AE-3D04-EDE6-A57C0C620BBF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810B7202-7C56-C453-562C-4D2506F7BBC2}"/>
                  </a:ext>
                </a:extLst>
              </p:cNvPr>
              <p:cNvSpPr txBox="1"/>
              <p:nvPr/>
            </p:nvSpPr>
            <p:spPr bwMode="auto">
              <a:xfrm>
                <a:off x="7562520" y="5004857"/>
                <a:ext cx="3314700" cy="1104900"/>
              </a:xfrm>
              <a:prstGeom prst="rect">
                <a:avLst/>
              </a:prstGeom>
              <a:noFill/>
              <a:ln w="19050">
                <a:solidFill>
                  <a:srgbClr val="04926A"/>
                </a:solidFill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(2)  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+3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+2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810B7202-7C56-C453-562C-4D2506F7B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62520" y="5004857"/>
                <a:ext cx="3314700" cy="1104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04926A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5">
            <a:extLst>
              <a:ext uri="{FF2B5EF4-FFF2-40B4-BE49-F238E27FC236}">
                <a16:creationId xmlns:a16="http://schemas.microsoft.com/office/drawing/2014/main" id="{B6EEDE86-172D-ADF4-2B30-15B1B988C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4437" y="4909607"/>
            <a:ext cx="3505200" cy="1295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7864E3C-0060-DE2F-3AA6-745C97766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1059319"/>
            <a:ext cx="76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EB087DC0-FF95-3293-BEC2-7D4CAC0F4100}"/>
                  </a:ext>
                </a:extLst>
              </p:cNvPr>
              <p:cNvSpPr txBox="1"/>
              <p:nvPr/>
            </p:nvSpPr>
            <p:spPr bwMode="auto">
              <a:xfrm>
                <a:off x="2997200" y="832686"/>
                <a:ext cx="20320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+3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+2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EB087DC0-FF95-3293-BEC2-7D4CAC0F4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7200" y="832686"/>
                <a:ext cx="2032000" cy="889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08D4E8F4-75F9-A033-714F-21661ED5389D}"/>
                  </a:ext>
                </a:extLst>
              </p:cNvPr>
              <p:cNvSpPr txBox="1"/>
              <p:nvPr/>
            </p:nvSpPr>
            <p:spPr bwMode="auto">
              <a:xfrm>
                <a:off x="7194550" y="818398"/>
                <a:ext cx="26670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+2)−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+1)(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+2)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08D4E8F4-75F9-A033-714F-21661ED53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94550" y="818398"/>
                <a:ext cx="2667000" cy="927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3C737002-C3B4-4237-BCEA-7855D28B7964}"/>
                  </a:ext>
                </a:extLst>
              </p:cNvPr>
              <p:cNvSpPr txBox="1"/>
              <p:nvPr/>
            </p:nvSpPr>
            <p:spPr bwMode="auto">
              <a:xfrm>
                <a:off x="2997200" y="1785186"/>
                <a:ext cx="4452937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+1)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+1)(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+2)</m:t>
                          </m:r>
                        </m:den>
                      </m:f>
                      <m:d>
                        <m:dPr>
                          <m:begChr m:val=""/>
                          <m:endChr m:val="]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3C737002-C3B4-4237-BCEA-7855D28B7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7200" y="1785186"/>
                <a:ext cx="4452937" cy="927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0">
                <a:extLst>
                  <a:ext uri="{FF2B5EF4-FFF2-40B4-BE49-F238E27FC236}">
                    <a16:creationId xmlns:a16="http://schemas.microsoft.com/office/drawing/2014/main" id="{40A59ACB-8498-FCD1-DCD7-7F4ACA2F5C77}"/>
                  </a:ext>
                </a:extLst>
              </p:cNvPr>
              <p:cNvSpPr txBox="1"/>
              <p:nvPr/>
            </p:nvSpPr>
            <p:spPr bwMode="auto">
              <a:xfrm>
                <a:off x="7189786" y="1955209"/>
                <a:ext cx="20066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=1, 2, ⋯),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0">
                <a:extLst>
                  <a:ext uri="{FF2B5EF4-FFF2-40B4-BE49-F238E27FC236}">
                    <a16:creationId xmlns:a16="http://schemas.microsoft.com/office/drawing/2014/main" id="{40A59ACB-8498-FCD1-DCD7-7F4ACA2F5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89786" y="1955209"/>
                <a:ext cx="2006600" cy="393700"/>
              </a:xfrm>
              <a:prstGeom prst="rect">
                <a:avLst/>
              </a:prstGeom>
              <a:blipFill>
                <a:blip r:embed="rId8"/>
                <a:stretch>
                  <a:fillRect l="-1818"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2">
                <a:extLst>
                  <a:ext uri="{FF2B5EF4-FFF2-40B4-BE49-F238E27FC236}">
                    <a16:creationId xmlns:a16="http://schemas.microsoft.com/office/drawing/2014/main" id="{55B82D6F-55C4-588C-748B-35798CB8327A}"/>
                  </a:ext>
                </a:extLst>
              </p:cNvPr>
              <p:cNvSpPr txBox="1"/>
              <p:nvPr/>
            </p:nvSpPr>
            <p:spPr bwMode="auto">
              <a:xfrm>
                <a:off x="2635250" y="2799228"/>
                <a:ext cx="3365500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= 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+3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+2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2">
                <a:extLst>
                  <a:ext uri="{FF2B5EF4-FFF2-40B4-BE49-F238E27FC236}">
                    <a16:creationId xmlns:a16="http://schemas.microsoft.com/office/drawing/2014/main" id="{55B82D6F-55C4-588C-748B-35798CB83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5250" y="2799228"/>
                <a:ext cx="3365500" cy="10668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9E05A333-176B-3B29-0935-3F09BC885A97}"/>
                  </a:ext>
                </a:extLst>
              </p:cNvPr>
              <p:cNvSpPr txBox="1"/>
              <p:nvPr/>
            </p:nvSpPr>
            <p:spPr bwMode="auto">
              <a:xfrm>
                <a:off x="5674518" y="2799228"/>
                <a:ext cx="4775200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(</m:t>
                                  </m:r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+1)</m:t>
                                  </m:r>
                                </m:den>
                              </m:f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(</m:t>
                                  </m:r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+1)(</m:t>
                                  </m:r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+2)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9E05A333-176B-3B29-0935-3F09BC885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74518" y="2799228"/>
                <a:ext cx="4775200" cy="10668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4">
            <a:extLst>
              <a:ext uri="{FF2B5EF4-FFF2-40B4-BE49-F238E27FC236}">
                <a16:creationId xmlns:a16="http://schemas.microsoft.com/office/drawing/2014/main" id="{B506DF72-BE2F-F45C-1F66-AD9E186CA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0137" y="4313898"/>
            <a:ext cx="2133600" cy="451598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进行拆项相消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7">
                <a:extLst>
                  <a:ext uri="{FF2B5EF4-FFF2-40B4-BE49-F238E27FC236}">
                    <a16:creationId xmlns:a16="http://schemas.microsoft.com/office/drawing/2014/main" id="{F91BB46C-587E-BEE5-8460-95EB761EDEE1}"/>
                  </a:ext>
                </a:extLst>
              </p:cNvPr>
              <p:cNvSpPr txBox="1"/>
              <p:nvPr/>
            </p:nvSpPr>
            <p:spPr bwMode="auto">
              <a:xfrm>
                <a:off x="2573211" y="5237839"/>
                <a:ext cx="2171700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∴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7">
                <a:extLst>
                  <a:ext uri="{FF2B5EF4-FFF2-40B4-BE49-F238E27FC236}">
                    <a16:creationId xmlns:a16="http://schemas.microsoft.com/office/drawing/2014/main" id="{F91BB46C-587E-BEE5-8460-95EB761ED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3211" y="5237839"/>
                <a:ext cx="2171700" cy="8763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18">
            <a:extLst>
              <a:ext uri="{FF2B5EF4-FFF2-40B4-BE49-F238E27FC236}">
                <a16:creationId xmlns:a16="http://schemas.microsoft.com/office/drawing/2014/main" id="{2087628D-B798-AC28-4C21-BD0FA9C39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4191" y="5445993"/>
            <a:ext cx="250698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这说明原级数收敛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9">
                <a:extLst>
                  <a:ext uri="{FF2B5EF4-FFF2-40B4-BE49-F238E27FC236}">
                    <a16:creationId xmlns:a16="http://schemas.microsoft.com/office/drawing/2014/main" id="{91F7F46E-557D-29C6-5FFE-F628AF3FAE9F}"/>
                  </a:ext>
                </a:extLst>
              </p:cNvPr>
              <p:cNvSpPr txBox="1"/>
              <p:nvPr/>
            </p:nvSpPr>
            <p:spPr bwMode="auto">
              <a:xfrm>
                <a:off x="7674610" y="5255233"/>
                <a:ext cx="457200" cy="7391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9">
                <a:extLst>
                  <a:ext uri="{FF2B5EF4-FFF2-40B4-BE49-F238E27FC236}">
                    <a16:creationId xmlns:a16="http://schemas.microsoft.com/office/drawing/2014/main" id="{91F7F46E-557D-29C6-5FFE-F628AF3FA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4610" y="5255233"/>
                <a:ext cx="457200" cy="7391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1">
                <a:extLst>
                  <a:ext uri="{FF2B5EF4-FFF2-40B4-BE49-F238E27FC236}">
                    <a16:creationId xmlns:a16="http://schemas.microsoft.com/office/drawing/2014/main" id="{641B1A85-AFA2-D7C6-22A2-402DE0949A05}"/>
                  </a:ext>
                </a:extLst>
              </p:cNvPr>
              <p:cNvSpPr txBox="1"/>
              <p:nvPr/>
            </p:nvSpPr>
            <p:spPr bwMode="auto">
              <a:xfrm>
                <a:off x="4876800" y="827128"/>
                <a:ext cx="24130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+1)(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+2)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21">
                <a:extLst>
                  <a:ext uri="{FF2B5EF4-FFF2-40B4-BE49-F238E27FC236}">
                    <a16:creationId xmlns:a16="http://schemas.microsoft.com/office/drawing/2014/main" id="{641B1A85-AFA2-D7C6-22A2-402DE0949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800" y="827128"/>
                <a:ext cx="2413000" cy="9271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22">
            <a:extLst>
              <a:ext uri="{FF2B5EF4-FFF2-40B4-BE49-F238E27FC236}">
                <a16:creationId xmlns:a16="http://schemas.microsoft.com/office/drawing/2014/main" id="{2B4503B4-C2E7-4129-8623-C070DA082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7350" y="5438114"/>
            <a:ext cx="11049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其和为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3">
                <a:extLst>
                  <a:ext uri="{FF2B5EF4-FFF2-40B4-BE49-F238E27FC236}">
                    <a16:creationId xmlns:a16="http://schemas.microsoft.com/office/drawing/2014/main" id="{BF9C7014-1FE6-43E8-BEF1-F080FC26A072}"/>
                  </a:ext>
                </a:extLst>
              </p:cNvPr>
              <p:cNvSpPr txBox="1"/>
              <p:nvPr/>
            </p:nvSpPr>
            <p:spPr bwMode="auto">
              <a:xfrm>
                <a:off x="2987869" y="4065123"/>
                <a:ext cx="3810000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1⋅2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+1)(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+2)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23">
                <a:extLst>
                  <a:ext uri="{FF2B5EF4-FFF2-40B4-BE49-F238E27FC236}">
                    <a16:creationId xmlns:a16="http://schemas.microsoft.com/office/drawing/2014/main" id="{BF9C7014-1FE6-43E8-BEF1-F080FC26A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7869" y="4065123"/>
                <a:ext cx="3810000" cy="10033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24">
            <a:extLst>
              <a:ext uri="{FF2B5EF4-FFF2-40B4-BE49-F238E27FC236}">
                <a16:creationId xmlns:a16="http://schemas.microsoft.com/office/drawing/2014/main" id="{0389DFC8-DC9F-93D0-AA00-414AC989F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826" y="1030288"/>
            <a:ext cx="63671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(2) </a:t>
            </a:r>
          </a:p>
        </p:txBody>
      </p:sp>
    </p:spTree>
    <p:extLst>
      <p:ext uri="{BB962C8B-B14F-4D97-AF65-F5344CB8AC3E}">
        <p14:creationId xmlns:p14="http://schemas.microsoft.com/office/powerpoint/2010/main" val="300020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5E7B869-2F07-4331-9894-A2B550E94E2C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5E7B869-2F07-4331-9894-A2B550E94E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半闭框 31">
            <a:extLst>
              <a:ext uri="{FF2B5EF4-FFF2-40B4-BE49-F238E27FC236}">
                <a16:creationId xmlns:a16="http://schemas.microsoft.com/office/drawing/2014/main" id="{F6BE6321-EB99-AA84-8229-06F2B4B4789F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半闭框 32">
            <a:extLst>
              <a:ext uri="{FF2B5EF4-FFF2-40B4-BE49-F238E27FC236}">
                <a16:creationId xmlns:a16="http://schemas.microsoft.com/office/drawing/2014/main" id="{BE408F9D-DE8D-21E5-B9BA-A23FE1BE27E2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半闭框 33">
            <a:extLst>
              <a:ext uri="{FF2B5EF4-FFF2-40B4-BE49-F238E27FC236}">
                <a16:creationId xmlns:a16="http://schemas.microsoft.com/office/drawing/2014/main" id="{684D8802-ACC2-F51A-8426-A854D9DCDDC9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5" name="半闭框 34">
            <a:extLst>
              <a:ext uri="{FF2B5EF4-FFF2-40B4-BE49-F238E27FC236}">
                <a16:creationId xmlns:a16="http://schemas.microsoft.com/office/drawing/2014/main" id="{51BFE190-821F-BB89-282B-4B84C45DE1F2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CEC6F46E-6173-F559-2831-C2A247EF989E}"/>
                  </a:ext>
                </a:extLst>
              </p:cNvPr>
              <p:cNvSpPr txBox="1"/>
              <p:nvPr/>
            </p:nvSpPr>
            <p:spPr bwMode="auto">
              <a:xfrm>
                <a:off x="8012408" y="4937295"/>
                <a:ext cx="2108200" cy="1104900"/>
              </a:xfrm>
              <a:prstGeom prst="rect">
                <a:avLst/>
              </a:prstGeom>
              <a:noFill/>
              <a:ln w="19050">
                <a:solidFill>
                  <a:srgbClr val="04926A"/>
                </a:solidFill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(3)  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CEC6F46E-6173-F559-2831-C2A247EF9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12408" y="4937295"/>
                <a:ext cx="2108200" cy="1104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04926A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6">
                <a:extLst>
                  <a:ext uri="{FF2B5EF4-FFF2-40B4-BE49-F238E27FC236}">
                    <a16:creationId xmlns:a16="http://schemas.microsoft.com/office/drawing/2014/main" id="{E36A605F-8E1D-F384-A3C6-6DB7CDABCBD8}"/>
                  </a:ext>
                </a:extLst>
              </p:cNvPr>
              <p:cNvSpPr txBox="1"/>
              <p:nvPr/>
            </p:nvSpPr>
            <p:spPr bwMode="auto">
              <a:xfrm>
                <a:off x="2292644" y="547959"/>
                <a:ext cx="3214779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5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6">
                <a:extLst>
                  <a:ext uri="{FF2B5EF4-FFF2-40B4-BE49-F238E27FC236}">
                    <a16:creationId xmlns:a16="http://schemas.microsoft.com/office/drawing/2014/main" id="{E36A605F-8E1D-F384-A3C6-6DB7CDABC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2644" y="547959"/>
                <a:ext cx="3214779" cy="889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82ECF2B7-B7AE-735B-1D8B-B024C730E4F4}"/>
                  </a:ext>
                </a:extLst>
              </p:cNvPr>
              <p:cNvSpPr txBox="1"/>
              <p:nvPr/>
            </p:nvSpPr>
            <p:spPr bwMode="auto">
              <a:xfrm>
                <a:off x="5217659" y="554697"/>
                <a:ext cx="10287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82ECF2B7-B7AE-735B-1D8B-B024C730E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7659" y="554697"/>
                <a:ext cx="1028700" cy="838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9">
                <a:extLst>
                  <a:ext uri="{FF2B5EF4-FFF2-40B4-BE49-F238E27FC236}">
                    <a16:creationId xmlns:a16="http://schemas.microsoft.com/office/drawing/2014/main" id="{D7EBD710-6652-713D-806D-7EC8CE2DD402}"/>
                  </a:ext>
                </a:extLst>
              </p:cNvPr>
              <p:cNvSpPr txBox="1"/>
              <p:nvPr/>
            </p:nvSpPr>
            <p:spPr bwMode="auto">
              <a:xfrm>
                <a:off x="2309640" y="1256028"/>
                <a:ext cx="1371600" cy="596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9">
                <a:extLst>
                  <a:ext uri="{FF2B5EF4-FFF2-40B4-BE49-F238E27FC236}">
                    <a16:creationId xmlns:a16="http://schemas.microsoft.com/office/drawing/2014/main" id="{D7EBD710-6652-713D-806D-7EC8CE2DD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9640" y="1256028"/>
                <a:ext cx="1371600" cy="596900"/>
              </a:xfrm>
              <a:prstGeom prst="rect">
                <a:avLst/>
              </a:prstGeom>
              <a:blipFill>
                <a:blip r:embed="rId6"/>
                <a:stretch>
                  <a:fillRect b="-132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0">
                <a:extLst>
                  <a:ext uri="{FF2B5EF4-FFF2-40B4-BE49-F238E27FC236}">
                    <a16:creationId xmlns:a16="http://schemas.microsoft.com/office/drawing/2014/main" id="{58706B57-6839-B46B-D9A7-0577CA93AE6B}"/>
                  </a:ext>
                </a:extLst>
              </p:cNvPr>
              <p:cNvSpPr txBox="1"/>
              <p:nvPr/>
            </p:nvSpPr>
            <p:spPr bwMode="auto">
              <a:xfrm>
                <a:off x="6061646" y="1980060"/>
                <a:ext cx="43561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5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+⋯+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+1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0">
                <a:extLst>
                  <a:ext uri="{FF2B5EF4-FFF2-40B4-BE49-F238E27FC236}">
                    <a16:creationId xmlns:a16="http://schemas.microsoft.com/office/drawing/2014/main" id="{58706B57-6839-B46B-D9A7-0577CA93A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1646" y="1980060"/>
                <a:ext cx="4356100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1">
                <a:extLst>
                  <a:ext uri="{FF2B5EF4-FFF2-40B4-BE49-F238E27FC236}">
                    <a16:creationId xmlns:a16="http://schemas.microsoft.com/office/drawing/2014/main" id="{0CB24AE7-0C89-4406-6100-BD97041264B5}"/>
                  </a:ext>
                </a:extLst>
              </p:cNvPr>
              <p:cNvSpPr txBox="1"/>
              <p:nvPr/>
            </p:nvSpPr>
            <p:spPr bwMode="auto">
              <a:xfrm>
                <a:off x="2283438" y="2887090"/>
                <a:ext cx="9652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1">
                <a:extLst>
                  <a:ext uri="{FF2B5EF4-FFF2-40B4-BE49-F238E27FC236}">
                    <a16:creationId xmlns:a16="http://schemas.microsoft.com/office/drawing/2014/main" id="{0CB24AE7-0C89-4406-6100-BD970412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3438" y="2887090"/>
                <a:ext cx="965200" cy="850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2">
                <a:extLst>
                  <a:ext uri="{FF2B5EF4-FFF2-40B4-BE49-F238E27FC236}">
                    <a16:creationId xmlns:a16="http://schemas.microsoft.com/office/drawing/2014/main" id="{AA0EB974-E998-BF5C-3FF3-855C593E64E4}"/>
                  </a:ext>
                </a:extLst>
              </p:cNvPr>
              <p:cNvSpPr txBox="1"/>
              <p:nvPr/>
            </p:nvSpPr>
            <p:spPr bwMode="auto">
              <a:xfrm>
                <a:off x="3197837" y="2883915"/>
                <a:ext cx="618331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2">
                <a:extLst>
                  <a:ext uri="{FF2B5EF4-FFF2-40B4-BE49-F238E27FC236}">
                    <a16:creationId xmlns:a16="http://schemas.microsoft.com/office/drawing/2014/main" id="{AA0EB974-E998-BF5C-3FF3-855C593E6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7837" y="2883915"/>
                <a:ext cx="618331" cy="8509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3">
                <a:extLst>
                  <a:ext uri="{FF2B5EF4-FFF2-40B4-BE49-F238E27FC236}">
                    <a16:creationId xmlns:a16="http://schemas.microsoft.com/office/drawing/2014/main" id="{D092C4E6-4A34-65D9-F3C5-D93FD04B3F66}"/>
                  </a:ext>
                </a:extLst>
              </p:cNvPr>
              <p:cNvSpPr txBox="1"/>
              <p:nvPr/>
            </p:nvSpPr>
            <p:spPr bwMode="auto">
              <a:xfrm>
                <a:off x="3848713" y="2898203"/>
                <a:ext cx="84455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3">
                <a:extLst>
                  <a:ext uri="{FF2B5EF4-FFF2-40B4-BE49-F238E27FC236}">
                    <a16:creationId xmlns:a16="http://schemas.microsoft.com/office/drawing/2014/main" id="{D092C4E6-4A34-65D9-F3C5-D93FD04B3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48713" y="2898203"/>
                <a:ext cx="844550" cy="889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4">
                <a:extLst>
                  <a:ext uri="{FF2B5EF4-FFF2-40B4-BE49-F238E27FC236}">
                    <a16:creationId xmlns:a16="http://schemas.microsoft.com/office/drawing/2014/main" id="{8A00FD27-0620-B88C-384F-E75EC8988242}"/>
                  </a:ext>
                </a:extLst>
              </p:cNvPr>
              <p:cNvSpPr txBox="1"/>
              <p:nvPr/>
            </p:nvSpPr>
            <p:spPr bwMode="auto">
              <a:xfrm>
                <a:off x="4602776" y="2912490"/>
                <a:ext cx="20701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4">
                <a:extLst>
                  <a:ext uri="{FF2B5EF4-FFF2-40B4-BE49-F238E27FC236}">
                    <a16:creationId xmlns:a16="http://schemas.microsoft.com/office/drawing/2014/main" id="{8A00FD27-0620-B88C-384F-E75EC8988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2776" y="2912490"/>
                <a:ext cx="2070100" cy="889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5">
                <a:extLst>
                  <a:ext uri="{FF2B5EF4-FFF2-40B4-BE49-F238E27FC236}">
                    <a16:creationId xmlns:a16="http://schemas.microsoft.com/office/drawing/2014/main" id="{1E021A84-EBB1-C903-C283-87DEB1755319}"/>
                  </a:ext>
                </a:extLst>
              </p:cNvPr>
              <p:cNvSpPr txBox="1"/>
              <p:nvPr/>
            </p:nvSpPr>
            <p:spPr bwMode="auto">
              <a:xfrm>
                <a:off x="6757013" y="2899790"/>
                <a:ext cx="11557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5">
                <a:extLst>
                  <a:ext uri="{FF2B5EF4-FFF2-40B4-BE49-F238E27FC236}">
                    <a16:creationId xmlns:a16="http://schemas.microsoft.com/office/drawing/2014/main" id="{1E021A84-EBB1-C903-C283-87DEB1755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7013" y="2899790"/>
                <a:ext cx="1155700" cy="889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6">
                <a:extLst>
                  <a:ext uri="{FF2B5EF4-FFF2-40B4-BE49-F238E27FC236}">
                    <a16:creationId xmlns:a16="http://schemas.microsoft.com/office/drawing/2014/main" id="{CE2B921E-7270-70E3-D7EA-8104505AB5CE}"/>
                  </a:ext>
                </a:extLst>
              </p:cNvPr>
              <p:cNvSpPr txBox="1"/>
              <p:nvPr/>
            </p:nvSpPr>
            <p:spPr bwMode="auto">
              <a:xfrm>
                <a:off x="2281532" y="4011482"/>
                <a:ext cx="990602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6">
                <a:extLst>
                  <a:ext uri="{FF2B5EF4-FFF2-40B4-BE49-F238E27FC236}">
                    <a16:creationId xmlns:a16="http://schemas.microsoft.com/office/drawing/2014/main" id="{CE2B921E-7270-70E3-D7EA-8104505AB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1532" y="4011482"/>
                <a:ext cx="990602" cy="8509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7">
                <a:extLst>
                  <a:ext uri="{FF2B5EF4-FFF2-40B4-BE49-F238E27FC236}">
                    <a16:creationId xmlns:a16="http://schemas.microsoft.com/office/drawing/2014/main" id="{ABBB28F9-2F33-22E2-5ACC-138D8B33073C}"/>
                  </a:ext>
                </a:extLst>
              </p:cNvPr>
              <p:cNvSpPr txBox="1"/>
              <p:nvPr/>
            </p:nvSpPr>
            <p:spPr bwMode="auto">
              <a:xfrm>
                <a:off x="3195933" y="3776532"/>
                <a:ext cx="1295400" cy="1282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7">
                <a:extLst>
                  <a:ext uri="{FF2B5EF4-FFF2-40B4-BE49-F238E27FC236}">
                    <a16:creationId xmlns:a16="http://schemas.microsoft.com/office/drawing/2014/main" id="{ABBB28F9-2F33-22E2-5ACC-138D8B330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5933" y="3776532"/>
                <a:ext cx="1295400" cy="1282700"/>
              </a:xfrm>
              <a:prstGeom prst="rect">
                <a:avLst/>
              </a:prstGeom>
              <a:blipFill>
                <a:blip r:embed="rId14"/>
                <a:stretch>
                  <a:fillRect r="-42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8">
                <a:extLst>
                  <a:ext uri="{FF2B5EF4-FFF2-40B4-BE49-F238E27FC236}">
                    <a16:creationId xmlns:a16="http://schemas.microsoft.com/office/drawing/2014/main" id="{BC5ECBDB-BFF7-A396-F66B-833F41EBA0DE}"/>
                  </a:ext>
                </a:extLst>
              </p:cNvPr>
              <p:cNvSpPr txBox="1"/>
              <p:nvPr/>
            </p:nvSpPr>
            <p:spPr bwMode="auto">
              <a:xfrm>
                <a:off x="4567533" y="4013070"/>
                <a:ext cx="11557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8">
                <a:extLst>
                  <a:ext uri="{FF2B5EF4-FFF2-40B4-BE49-F238E27FC236}">
                    <a16:creationId xmlns:a16="http://schemas.microsoft.com/office/drawing/2014/main" id="{BC5ECBDB-BFF7-A396-F66B-833F41EBA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7533" y="4013070"/>
                <a:ext cx="1155700" cy="889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ine 19">
            <a:extLst>
              <a:ext uri="{FF2B5EF4-FFF2-40B4-BE49-F238E27FC236}">
                <a16:creationId xmlns:a16="http://schemas.microsoft.com/office/drawing/2014/main" id="{5B90747D-364E-0E54-1F77-7A6A119912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8776" y="3749165"/>
            <a:ext cx="3548062" cy="0"/>
          </a:xfrm>
          <a:prstGeom prst="line">
            <a:avLst/>
          </a:prstGeom>
          <a:noFill/>
          <a:ln w="28575">
            <a:solidFill>
              <a:srgbClr val="4A7BA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0">
                <a:extLst>
                  <a:ext uri="{FF2B5EF4-FFF2-40B4-BE49-F238E27FC236}">
                    <a16:creationId xmlns:a16="http://schemas.microsoft.com/office/drawing/2014/main" id="{29F1D0E7-F0FB-6F82-959E-53E121A6EF12}"/>
                  </a:ext>
                </a:extLst>
              </p:cNvPr>
              <p:cNvSpPr txBox="1"/>
              <p:nvPr/>
            </p:nvSpPr>
            <p:spPr bwMode="auto">
              <a:xfrm>
                <a:off x="5786733" y="4030532"/>
                <a:ext cx="21336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+1−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20">
                <a:extLst>
                  <a:ext uri="{FF2B5EF4-FFF2-40B4-BE49-F238E27FC236}">
                    <a16:creationId xmlns:a16="http://schemas.microsoft.com/office/drawing/2014/main" id="{29F1D0E7-F0FB-6F82-959E-53E121A6E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6733" y="4030532"/>
                <a:ext cx="2133600" cy="889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1">
                <a:extLst>
                  <a:ext uri="{FF2B5EF4-FFF2-40B4-BE49-F238E27FC236}">
                    <a16:creationId xmlns:a16="http://schemas.microsoft.com/office/drawing/2014/main" id="{51D631AF-61B5-EDFE-7098-2133F7FC6D29}"/>
                  </a:ext>
                </a:extLst>
              </p:cNvPr>
              <p:cNvSpPr txBox="1"/>
              <p:nvPr/>
            </p:nvSpPr>
            <p:spPr bwMode="auto">
              <a:xfrm>
                <a:off x="7831433" y="4055932"/>
                <a:ext cx="12827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21">
                <a:extLst>
                  <a:ext uri="{FF2B5EF4-FFF2-40B4-BE49-F238E27FC236}">
                    <a16:creationId xmlns:a16="http://schemas.microsoft.com/office/drawing/2014/main" id="{51D631AF-61B5-EDFE-7098-2133F7FC6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31433" y="4055932"/>
                <a:ext cx="1282700" cy="8382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2">
                <a:extLst>
                  <a:ext uri="{FF2B5EF4-FFF2-40B4-BE49-F238E27FC236}">
                    <a16:creationId xmlns:a16="http://schemas.microsoft.com/office/drawing/2014/main" id="{887D609C-8F44-6BF0-869C-E5F7DC78478C}"/>
                  </a:ext>
                </a:extLst>
              </p:cNvPr>
              <p:cNvSpPr txBox="1"/>
              <p:nvPr/>
            </p:nvSpPr>
            <p:spPr bwMode="auto">
              <a:xfrm>
                <a:off x="2286296" y="5032105"/>
                <a:ext cx="39116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∴ 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=3−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22">
                <a:extLst>
                  <a:ext uri="{FF2B5EF4-FFF2-40B4-BE49-F238E27FC236}">
                    <a16:creationId xmlns:a16="http://schemas.microsoft.com/office/drawing/2014/main" id="{887D609C-8F44-6BF0-869C-E5F7DC784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296" y="5032105"/>
                <a:ext cx="3911600" cy="889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3">
                <a:extLst>
                  <a:ext uri="{FF2B5EF4-FFF2-40B4-BE49-F238E27FC236}">
                    <a16:creationId xmlns:a16="http://schemas.microsoft.com/office/drawing/2014/main" id="{A8A6A4B5-70EA-2B62-19E5-0986CCC3DDB5}"/>
                  </a:ext>
                </a:extLst>
              </p:cNvPr>
              <p:cNvSpPr txBox="1"/>
              <p:nvPr/>
            </p:nvSpPr>
            <p:spPr bwMode="auto">
              <a:xfrm>
                <a:off x="2285563" y="1977890"/>
                <a:ext cx="41783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5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+⋯+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23">
                <a:extLst>
                  <a:ext uri="{FF2B5EF4-FFF2-40B4-BE49-F238E27FC236}">
                    <a16:creationId xmlns:a16="http://schemas.microsoft.com/office/drawing/2014/main" id="{A8A6A4B5-70EA-2B62-19E5-0986CCC3D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5563" y="1977890"/>
                <a:ext cx="4178300" cy="9144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24">
            <a:extLst>
              <a:ext uri="{FF2B5EF4-FFF2-40B4-BE49-F238E27FC236}">
                <a16:creationId xmlns:a16="http://schemas.microsoft.com/office/drawing/2014/main" id="{9C5E9D2F-BFB4-07D1-9015-91E45D072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1058" y="5826752"/>
            <a:ext cx="3911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这说明原级数收敛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其和为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3 .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5">
                <a:extLst>
                  <a:ext uri="{FF2B5EF4-FFF2-40B4-BE49-F238E27FC236}">
                    <a16:creationId xmlns:a16="http://schemas.microsoft.com/office/drawing/2014/main" id="{140AF25C-DFA0-1549-3BA0-7180224C2132}"/>
                  </a:ext>
                </a:extLst>
              </p:cNvPr>
              <p:cNvSpPr txBox="1"/>
              <p:nvPr/>
            </p:nvSpPr>
            <p:spPr bwMode="auto">
              <a:xfrm>
                <a:off x="5947071" y="5230666"/>
                <a:ext cx="2209800" cy="660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故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=3,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5">
                <a:extLst>
                  <a:ext uri="{FF2B5EF4-FFF2-40B4-BE49-F238E27FC236}">
                    <a16:creationId xmlns:a16="http://schemas.microsoft.com/office/drawing/2014/main" id="{140AF25C-DFA0-1549-3BA0-7180224C2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7071" y="5230666"/>
                <a:ext cx="2209800" cy="660400"/>
              </a:xfrm>
              <a:prstGeom prst="rect">
                <a:avLst/>
              </a:prstGeom>
              <a:blipFill>
                <a:blip r:embed="rId20"/>
                <a:stretch>
                  <a:fillRect l="-19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30">
            <a:extLst>
              <a:ext uri="{FF2B5EF4-FFF2-40B4-BE49-F238E27FC236}">
                <a16:creationId xmlns:a16="http://schemas.microsoft.com/office/drawing/2014/main" id="{07CF76D6-91B6-9523-8ADD-6730419972B4}"/>
              </a:ext>
            </a:extLst>
          </p:cNvPr>
          <p:cNvGrpSpPr>
            <a:grpSpLocks/>
          </p:cNvGrpSpPr>
          <p:nvPr/>
        </p:nvGrpSpPr>
        <p:grpSpPr bwMode="auto">
          <a:xfrm>
            <a:off x="3222189" y="2876937"/>
            <a:ext cx="4138613" cy="0"/>
            <a:chOff x="1008" y="1776"/>
            <a:chExt cx="2544" cy="0"/>
          </a:xfrm>
        </p:grpSpPr>
        <p:sp>
          <p:nvSpPr>
            <p:cNvPr id="23" name="Line 28">
              <a:extLst>
                <a:ext uri="{FF2B5EF4-FFF2-40B4-BE49-F238E27FC236}">
                  <a16:creationId xmlns:a16="http://schemas.microsoft.com/office/drawing/2014/main" id="{6CCACBFF-CA1A-3A6C-ED1E-13FA8116C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776"/>
              <a:ext cx="240" cy="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" name="Line 29">
              <a:extLst>
                <a:ext uri="{FF2B5EF4-FFF2-40B4-BE49-F238E27FC236}">
                  <a16:creationId xmlns:a16="http://schemas.microsoft.com/office/drawing/2014/main" id="{07E295A4-0373-BD29-9601-65BA679C8B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776"/>
              <a:ext cx="240" cy="0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5" name="Group 31">
            <a:extLst>
              <a:ext uri="{FF2B5EF4-FFF2-40B4-BE49-F238E27FC236}">
                <a16:creationId xmlns:a16="http://schemas.microsoft.com/office/drawing/2014/main" id="{7CBCB849-4985-08C8-921A-DBF71A4CB7E8}"/>
              </a:ext>
            </a:extLst>
          </p:cNvPr>
          <p:cNvGrpSpPr>
            <a:grpSpLocks/>
          </p:cNvGrpSpPr>
          <p:nvPr/>
        </p:nvGrpSpPr>
        <p:grpSpPr bwMode="auto">
          <a:xfrm>
            <a:off x="3954803" y="2876938"/>
            <a:ext cx="4030662" cy="1587"/>
            <a:chOff x="1008" y="1776"/>
            <a:chExt cx="2544" cy="0"/>
          </a:xfrm>
        </p:grpSpPr>
        <p:sp>
          <p:nvSpPr>
            <p:cNvPr id="26" name="Line 32">
              <a:extLst>
                <a:ext uri="{FF2B5EF4-FFF2-40B4-BE49-F238E27FC236}">
                  <a16:creationId xmlns:a16="http://schemas.microsoft.com/office/drawing/2014/main" id="{E8AD4697-7E06-0203-7D14-16F6FC41F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776"/>
              <a:ext cx="240" cy="0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" name="Line 33">
              <a:extLst>
                <a:ext uri="{FF2B5EF4-FFF2-40B4-BE49-F238E27FC236}">
                  <a16:creationId xmlns:a16="http://schemas.microsoft.com/office/drawing/2014/main" id="{5D913F38-7E89-06A5-9F0B-168F43D57E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776"/>
              <a:ext cx="240" cy="0"/>
            </a:xfrm>
            <a:prstGeom prst="line">
              <a:avLst/>
            </a:prstGeom>
            <a:noFill/>
            <a:ln w="28575">
              <a:solidFill>
                <a:srgbClr val="4A7BA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8" name="Line 36">
            <a:extLst>
              <a:ext uri="{FF2B5EF4-FFF2-40B4-BE49-F238E27FC236}">
                <a16:creationId xmlns:a16="http://schemas.microsoft.com/office/drawing/2014/main" id="{F782811D-7267-C2AF-3050-10F4FFEF6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4133" y="2882211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" name="Text Box 37">
            <a:extLst>
              <a:ext uri="{FF2B5EF4-FFF2-40B4-BE49-F238E27FC236}">
                <a16:creationId xmlns:a16="http://schemas.microsoft.com/office/drawing/2014/main" id="{1F45EC4C-70BE-26FA-0B02-8F5C16960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772" y="700360"/>
            <a:ext cx="63671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(3) </a:t>
            </a:r>
          </a:p>
        </p:txBody>
      </p:sp>
      <p:sp>
        <p:nvSpPr>
          <p:cNvPr id="30" name="Rectangle 38">
            <a:extLst>
              <a:ext uri="{FF2B5EF4-FFF2-40B4-BE49-F238E27FC236}">
                <a16:creationId xmlns:a16="http://schemas.microsoft.com/office/drawing/2014/main" id="{683C1D67-6CFF-924E-F95D-B6CE9B4F8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333" y="4842257"/>
            <a:ext cx="2209800" cy="1295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8" grpId="0" animBg="1"/>
      <p:bldP spid="29" grpId="0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623088B9-60AB-272F-AD38-28A7542FD5BA}"/>
              </a:ext>
            </a:extLst>
          </p:cNvPr>
          <p:cNvGrpSpPr/>
          <p:nvPr/>
        </p:nvGrpSpPr>
        <p:grpSpPr>
          <a:xfrm>
            <a:off x="0" y="-181"/>
            <a:ext cx="12192000" cy="6863080"/>
            <a:chOff x="0" y="-181"/>
            <a:chExt cx="12192000" cy="6863080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6B183919-F8D6-6726-944A-69EA27BFA7BF}"/>
                </a:ext>
              </a:extLst>
            </p:cNvPr>
            <p:cNvGrpSpPr/>
            <p:nvPr/>
          </p:nvGrpSpPr>
          <p:grpSpPr>
            <a:xfrm>
              <a:off x="0" y="-181"/>
              <a:ext cx="12192000" cy="6863080"/>
              <a:chOff x="0" y="-8"/>
              <a:chExt cx="19200" cy="10808"/>
            </a:xfrm>
          </p:grpSpPr>
          <p:sp>
            <p:nvSpPr>
              <p:cNvPr id="30" name="Rectangle 1">
                <a:extLst>
                  <a:ext uri="{FF2B5EF4-FFF2-40B4-BE49-F238E27FC236}">
                    <a16:creationId xmlns:a16="http://schemas.microsoft.com/office/drawing/2014/main" id="{8C04B5BE-A7EB-654D-ACEB-F3B56B4A1C88}"/>
                  </a:ext>
                </a:extLst>
              </p:cNvPr>
              <p:cNvSpPr/>
              <p:nvPr/>
            </p:nvSpPr>
            <p:spPr>
              <a:xfrm>
                <a:off x="0" y="-8"/>
                <a:ext cx="19200" cy="10808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88000"/>
                    </a:srgbClr>
                  </a:gs>
                  <a:gs pos="55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圆角矩形 16">
                <a:extLst>
                  <a:ext uri="{FF2B5EF4-FFF2-40B4-BE49-F238E27FC236}">
                    <a16:creationId xmlns:a16="http://schemas.microsoft.com/office/drawing/2014/main" id="{F548B08C-8859-316C-8505-5A9FE6BDE460}"/>
                  </a:ext>
                </a:extLst>
              </p:cNvPr>
              <p:cNvSpPr/>
              <p:nvPr/>
            </p:nvSpPr>
            <p:spPr>
              <a:xfrm>
                <a:off x="354" y="310"/>
                <a:ext cx="18493" cy="10167"/>
              </a:xfrm>
              <a:prstGeom prst="roundRect">
                <a:avLst>
                  <a:gd name="adj" fmla="val 3499"/>
                </a:avLst>
              </a:prstGeom>
              <a:solidFill>
                <a:schemeClr val="bg1"/>
              </a:solidFill>
              <a:ln>
                <a:solidFill>
                  <a:srgbClr val="17908C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9676CF10-6315-5A5D-077D-A9673ACA0FAB}"/>
                </a:ext>
              </a:extLst>
            </p:cNvPr>
            <p:cNvGrpSpPr/>
            <p:nvPr/>
          </p:nvGrpSpPr>
          <p:grpSpPr>
            <a:xfrm>
              <a:off x="0" y="239357"/>
              <a:ext cx="11968192" cy="6427310"/>
              <a:chOff x="0" y="239357"/>
              <a:chExt cx="11968192" cy="6427310"/>
            </a:xfrm>
          </p:grpSpPr>
          <p:sp>
            <p:nvSpPr>
              <p:cNvPr id="24" name="Rectangle 1">
                <a:extLst>
                  <a:ext uri="{FF2B5EF4-FFF2-40B4-BE49-F238E27FC236}">
                    <a16:creationId xmlns:a16="http://schemas.microsoft.com/office/drawing/2014/main" id="{A63D55B6-0675-9D42-A392-D2CE1FFA1176}"/>
                  </a:ext>
                </a:extLst>
              </p:cNvPr>
              <p:cNvSpPr/>
              <p:nvPr userDrawn="1"/>
            </p:nvSpPr>
            <p:spPr>
              <a:xfrm>
                <a:off x="297498" y="6471504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B7AA1E5-C884-9215-612F-51E3C8E6702C}"/>
                  </a:ext>
                </a:extLst>
              </p:cNvPr>
              <p:cNvSpPr/>
              <p:nvPr/>
            </p:nvSpPr>
            <p:spPr>
              <a:xfrm>
                <a:off x="476885" y="6358890"/>
                <a:ext cx="3784600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1400" kern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第一节</a:t>
                </a:r>
                <a:r>
                  <a:rPr lang="en-US" altLang="zh-CN" sz="1400" kern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 </a:t>
                </a:r>
                <a:r>
                  <a:rPr lang="zh-CN" altLang="en-US" sz="1400" kern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常数项级数的概念和性质</a:t>
                </a:r>
                <a:endParaRPr lang="zh-CN" altLang="en-US" sz="1400" kern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</p:txBody>
          </p:sp>
          <p:sp>
            <p:nvSpPr>
              <p:cNvPr id="26" name="Rectangle 1">
                <a:extLst>
                  <a:ext uri="{FF2B5EF4-FFF2-40B4-BE49-F238E27FC236}">
                    <a16:creationId xmlns:a16="http://schemas.microsoft.com/office/drawing/2014/main" id="{61F2CF98-1D89-10B1-9521-30511A9FE054}"/>
                  </a:ext>
                </a:extLst>
              </p:cNvPr>
              <p:cNvSpPr/>
              <p:nvPr userDrawn="1"/>
            </p:nvSpPr>
            <p:spPr>
              <a:xfrm rot="2659048">
                <a:off x="10294557" y="323226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B34D610C-0A56-B5BE-12A9-DD4F9F7AFBD3}"/>
                  </a:ext>
                </a:extLst>
              </p:cNvPr>
              <p:cNvSpPr/>
              <p:nvPr/>
            </p:nvSpPr>
            <p:spPr>
              <a:xfrm>
                <a:off x="10547610" y="239357"/>
                <a:ext cx="142058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第十二章   级数</a:t>
                </a:r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EBA6665C-752A-27D3-6C53-2503F181CD8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0" y="393245"/>
                <a:ext cx="10083800" cy="0"/>
              </a:xfrm>
              <a:prstGeom prst="line">
                <a:avLst/>
              </a:prstGeom>
              <a:ln>
                <a:solidFill>
                  <a:srgbClr val="00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8E9689E4-B512-0A77-41B8-1655F1C68FE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3397541" y="6512242"/>
                <a:ext cx="8569669" cy="0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ext Box 26">
            <a:extLst>
              <a:ext uri="{FF2B5EF4-FFF2-40B4-BE49-F238E27FC236}">
                <a16:creationId xmlns:a16="http://schemas.microsoft.com/office/drawing/2014/main" id="{F7E5DE21-CAE7-99EE-25F4-FE91F4CD4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6862" y="1530025"/>
            <a:ext cx="2416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的充要条件是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06525-C0C9-041C-CFFB-5A5B38AE09AB}"/>
              </a:ext>
            </a:extLst>
          </p:cNvPr>
          <p:cNvSpPr txBox="1">
            <a:spLocks noChangeArrowheads="1"/>
          </p:cNvSpPr>
          <p:nvPr/>
        </p:nvSpPr>
        <p:spPr>
          <a:xfrm>
            <a:off x="1559550" y="686033"/>
            <a:ext cx="3886200" cy="685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</a:t>
            </a:r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四、柯西审敛原理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4160A2C9-1B32-C8A8-CEF4-B663E33557E4}"/>
                  </a:ext>
                </a:extLst>
              </p:cNvPr>
              <p:cNvSpPr txBox="1"/>
              <p:nvPr/>
            </p:nvSpPr>
            <p:spPr bwMode="auto">
              <a:xfrm>
                <a:off x="2803359" y="1173843"/>
                <a:ext cx="3080084" cy="1206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级数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收敛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4160A2C9-1B32-C8A8-CEF4-B663E3355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3359" y="1173843"/>
                <a:ext cx="3080084" cy="1206500"/>
              </a:xfrm>
              <a:prstGeom prst="rect">
                <a:avLst/>
              </a:prstGeom>
              <a:blipFill>
                <a:blip r:embed="rId2"/>
                <a:stretch>
                  <a:fillRect b="-5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7304CE6A-A494-56EB-EA1D-7BEDFC67F9B0}"/>
                  </a:ext>
                </a:extLst>
              </p:cNvPr>
              <p:cNvSpPr txBox="1"/>
              <p:nvPr/>
            </p:nvSpPr>
            <p:spPr bwMode="auto">
              <a:xfrm>
                <a:off x="7793037" y="1507510"/>
                <a:ext cx="1352884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∀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𝜀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&gt;0,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7304CE6A-A494-56EB-EA1D-7BEDFC67F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93037" y="1507510"/>
                <a:ext cx="1352884" cy="393700"/>
              </a:xfrm>
              <a:prstGeom prst="rect">
                <a:avLst/>
              </a:prstGeom>
              <a:blipFill>
                <a:blip r:embed="rId3"/>
                <a:stretch>
                  <a:fillRect b="-123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F7E091F7-2DA1-F62A-AC81-7E8E5564F9BA}"/>
                  </a:ext>
                </a:extLst>
              </p:cNvPr>
              <p:cNvSpPr txBox="1"/>
              <p:nvPr/>
            </p:nvSpPr>
            <p:spPr bwMode="auto">
              <a:xfrm>
                <a:off x="8964195" y="1512174"/>
                <a:ext cx="2284829" cy="546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∃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𝑁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∈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1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𝐙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 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F7E091F7-2DA1-F62A-AC81-7E8E5564F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64195" y="1512174"/>
                <a:ext cx="2284829" cy="546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3">
                <a:extLst>
                  <a:ext uri="{FF2B5EF4-FFF2-40B4-BE49-F238E27FC236}">
                    <a16:creationId xmlns:a16="http://schemas.microsoft.com/office/drawing/2014/main" id="{0D0103FE-DE25-3694-7BC7-9C8FAADC4200}"/>
                  </a:ext>
                </a:extLst>
              </p:cNvPr>
              <p:cNvSpPr txBox="1"/>
              <p:nvPr/>
            </p:nvSpPr>
            <p:spPr bwMode="auto">
              <a:xfrm>
                <a:off x="2799245" y="3031931"/>
                <a:ext cx="5155234" cy="596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+2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+⋯+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&lt;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𝜀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3">
                <a:extLst>
                  <a:ext uri="{FF2B5EF4-FFF2-40B4-BE49-F238E27FC236}">
                    <a16:creationId xmlns:a16="http://schemas.microsoft.com/office/drawing/2014/main" id="{0D0103FE-DE25-3694-7BC7-9C8FAADC4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9245" y="3031931"/>
                <a:ext cx="5155234" cy="596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2">
                <a:extLst>
                  <a:ext uri="{FF2B5EF4-FFF2-40B4-BE49-F238E27FC236}">
                    <a16:creationId xmlns:a16="http://schemas.microsoft.com/office/drawing/2014/main" id="{E7C900B8-AEE6-8F44-7F61-FE131E8F2DC7}"/>
                  </a:ext>
                </a:extLst>
              </p:cNvPr>
              <p:cNvSpPr txBox="1"/>
              <p:nvPr/>
            </p:nvSpPr>
            <p:spPr bwMode="auto">
              <a:xfrm>
                <a:off x="2803359" y="2465063"/>
                <a:ext cx="192405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&gt;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𝑁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22">
                <a:extLst>
                  <a:ext uri="{FF2B5EF4-FFF2-40B4-BE49-F238E27FC236}">
                    <a16:creationId xmlns:a16="http://schemas.microsoft.com/office/drawing/2014/main" id="{E7C900B8-AEE6-8F44-7F61-FE131E8F2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3359" y="2465063"/>
                <a:ext cx="1924050" cy="4445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FF9083E6-5AE4-D683-521E-B614D8E35A34}"/>
                  </a:ext>
                </a:extLst>
              </p:cNvPr>
              <p:cNvSpPr txBox="1"/>
              <p:nvPr/>
            </p:nvSpPr>
            <p:spPr bwMode="auto">
              <a:xfrm>
                <a:off x="4605761" y="2462083"/>
                <a:ext cx="2623714" cy="546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对任意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𝑝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∈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𝐙</m:t>
                          </m:r>
                        </m:e>
                        <m:sub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FF9083E6-5AE4-D683-521E-B614D8E35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5761" y="2462083"/>
                <a:ext cx="2623714" cy="546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25">
            <a:extLst>
              <a:ext uri="{FF2B5EF4-FFF2-40B4-BE49-F238E27FC236}">
                <a16:creationId xmlns:a16="http://schemas.microsoft.com/office/drawing/2014/main" id="{53C49A77-2694-1D02-2260-5F68ECF0D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4025" y="2459135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有</a:t>
            </a:r>
          </a:p>
        </p:txBody>
      </p:sp>
      <p:sp>
        <p:nvSpPr>
          <p:cNvPr id="12" name="Text Box 27">
            <a:extLst>
              <a:ext uri="{FF2B5EF4-FFF2-40B4-BE49-F238E27FC236}">
                <a16:creationId xmlns:a16="http://schemas.microsoft.com/office/drawing/2014/main" id="{D0C9B9FE-3744-E805-5732-37AAE8E8C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785" y="3756706"/>
            <a:ext cx="750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800" b="1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13" name="Text Box 28">
            <a:extLst>
              <a:ext uri="{FF2B5EF4-FFF2-40B4-BE49-F238E27FC236}">
                <a16:creationId xmlns:a16="http://schemas.microsoft.com/office/drawing/2014/main" id="{CE3DA34A-CC54-8848-A2A4-C0001F737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9245" y="3731306"/>
            <a:ext cx="4095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设所给级数部分和数列为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9">
                <a:extLst>
                  <a:ext uri="{FF2B5EF4-FFF2-40B4-BE49-F238E27FC236}">
                    <a16:creationId xmlns:a16="http://schemas.microsoft.com/office/drawing/2014/main" id="{3D095AB3-CE8C-E403-41DC-41C87249B519}"/>
                  </a:ext>
                </a:extLst>
              </p:cNvPr>
              <p:cNvSpPr txBox="1"/>
              <p:nvPr/>
            </p:nvSpPr>
            <p:spPr bwMode="auto">
              <a:xfrm>
                <a:off x="6810475" y="3704317"/>
                <a:ext cx="2600325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=1,2,⋯),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29">
                <a:extLst>
                  <a:ext uri="{FF2B5EF4-FFF2-40B4-BE49-F238E27FC236}">
                    <a16:creationId xmlns:a16="http://schemas.microsoft.com/office/drawing/2014/main" id="{3D095AB3-CE8C-E403-41DC-41C87249B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0475" y="3704317"/>
                <a:ext cx="2600325" cy="444500"/>
              </a:xfrm>
              <a:prstGeom prst="rect">
                <a:avLst/>
              </a:prstGeom>
              <a:blipFill>
                <a:blip r:embed="rId8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30">
            <a:extLst>
              <a:ext uri="{FF2B5EF4-FFF2-40B4-BE49-F238E27FC236}">
                <a16:creationId xmlns:a16="http://schemas.microsoft.com/office/drawing/2014/main" id="{3C2B4A17-54D3-FAA0-9D5B-D85002B0F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9812" y="3699556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因为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31">
                <a:extLst>
                  <a:ext uri="{FF2B5EF4-FFF2-40B4-BE49-F238E27FC236}">
                    <a16:creationId xmlns:a16="http://schemas.microsoft.com/office/drawing/2014/main" id="{C6CB0CC4-2A85-828C-6742-A48955B6B947}"/>
                  </a:ext>
                </a:extLst>
              </p:cNvPr>
              <p:cNvSpPr txBox="1"/>
              <p:nvPr/>
            </p:nvSpPr>
            <p:spPr bwMode="auto">
              <a:xfrm>
                <a:off x="2799245" y="4352894"/>
                <a:ext cx="7067550" cy="596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+2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+⋯+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31">
                <a:extLst>
                  <a:ext uri="{FF2B5EF4-FFF2-40B4-BE49-F238E27FC236}">
                    <a16:creationId xmlns:a16="http://schemas.microsoft.com/office/drawing/2014/main" id="{C6CB0CC4-2A85-828C-6742-A48955B6B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9245" y="4352894"/>
                <a:ext cx="7067550" cy="5969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32">
            <a:extLst>
              <a:ext uri="{FF2B5EF4-FFF2-40B4-BE49-F238E27FC236}">
                <a16:creationId xmlns:a16="http://schemas.microsoft.com/office/drawing/2014/main" id="{EF9BAFBF-A0EA-954C-423D-2CA0C383A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9259" y="5084019"/>
            <a:ext cx="2584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所以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利用数列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3">
                <a:extLst>
                  <a:ext uri="{FF2B5EF4-FFF2-40B4-BE49-F238E27FC236}">
                    <a16:creationId xmlns:a16="http://schemas.microsoft.com/office/drawing/2014/main" id="{65EB46AF-1ED3-E642-3058-1CD9CD4C6134}"/>
                  </a:ext>
                </a:extLst>
              </p:cNvPr>
              <p:cNvSpPr txBox="1"/>
              <p:nvPr/>
            </p:nvSpPr>
            <p:spPr bwMode="auto">
              <a:xfrm>
                <a:off x="5376518" y="5051650"/>
                <a:ext cx="283845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=1,2,⋯)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33">
                <a:extLst>
                  <a:ext uri="{FF2B5EF4-FFF2-40B4-BE49-F238E27FC236}">
                    <a16:creationId xmlns:a16="http://schemas.microsoft.com/office/drawing/2014/main" id="{65EB46AF-1ED3-E642-3058-1CD9CD4C6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6518" y="5051650"/>
                <a:ext cx="2838450" cy="444500"/>
              </a:xfrm>
              <a:prstGeom prst="rect">
                <a:avLst/>
              </a:prstGeom>
              <a:blipFill>
                <a:blip r:embed="rId10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34">
            <a:extLst>
              <a:ext uri="{FF2B5EF4-FFF2-40B4-BE49-F238E27FC236}">
                <a16:creationId xmlns:a16="http://schemas.microsoft.com/office/drawing/2014/main" id="{219B635A-F7D7-6030-9FBA-2E60FCBCA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164" y="5085160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的柯西审敛原理</a:t>
            </a:r>
            <a:endParaRPr kumimoji="1" lang="zh-CN" altLang="en-US" sz="2800" b="1" dirty="0">
              <a:solidFill>
                <a:srgbClr val="04926A"/>
              </a:solidFill>
              <a:latin typeface="Cambria Math" panose="02040503050406030204" charset="0"/>
              <a:ea typeface="黑体" panose="02010609060101010101" pitchFamily="49" charset="-122"/>
            </a:endParaRPr>
          </a:p>
        </p:txBody>
      </p:sp>
      <p:sp>
        <p:nvSpPr>
          <p:cNvPr id="20" name="Text Box 35">
            <a:extLst>
              <a:ext uri="{FF2B5EF4-FFF2-40B4-BE49-F238E27FC236}">
                <a16:creationId xmlns:a16="http://schemas.microsoft.com/office/drawing/2014/main" id="{59010257-790A-BDC9-12FF-E6A2CC351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9245" y="5666796"/>
            <a:ext cx="57422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第一章第六节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)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即得本定理的结论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87705C7-7435-C054-414B-BE77DD25F055}"/>
              </a:ext>
            </a:extLst>
          </p:cNvPr>
          <p:cNvGrpSpPr/>
          <p:nvPr/>
        </p:nvGrpSpPr>
        <p:grpSpPr>
          <a:xfrm>
            <a:off x="1840960" y="1578364"/>
            <a:ext cx="1012825" cy="449580"/>
            <a:chOff x="1553" y="3802"/>
            <a:chExt cx="1595" cy="708"/>
          </a:xfrm>
        </p:grpSpPr>
        <p:sp>
          <p:nvSpPr>
            <p:cNvPr id="33" name="圆角矩形 3">
              <a:extLst>
                <a:ext uri="{FF2B5EF4-FFF2-40B4-BE49-F238E27FC236}">
                  <a16:creationId xmlns:a16="http://schemas.microsoft.com/office/drawing/2014/main" id="{771B39EC-824F-74EC-DD53-C88C9AE5B66F}"/>
                </a:ext>
              </a:extLst>
            </p:cNvPr>
            <p:cNvSpPr/>
            <p:nvPr/>
          </p:nvSpPr>
          <p:spPr>
            <a:xfrm>
              <a:off x="1553" y="3803"/>
              <a:ext cx="155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Text Box 28">
              <a:extLst>
                <a:ext uri="{FF2B5EF4-FFF2-40B4-BE49-F238E27FC236}">
                  <a16:creationId xmlns:a16="http://schemas.microsoft.com/office/drawing/2014/main" id="{44090456-970B-EC31-5B8A-F5F7C152D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701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613738F-E855-F7B0-F7B7-C9F9485E25F7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613738F-E855-F7B0-F7B7-C9F9485E25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半闭框 15">
            <a:extLst>
              <a:ext uri="{FF2B5EF4-FFF2-40B4-BE49-F238E27FC236}">
                <a16:creationId xmlns:a16="http://schemas.microsoft.com/office/drawing/2014/main" id="{40A50E5A-237D-2B42-F5C2-700E1B22C4A9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半闭框 16">
            <a:extLst>
              <a:ext uri="{FF2B5EF4-FFF2-40B4-BE49-F238E27FC236}">
                <a16:creationId xmlns:a16="http://schemas.microsoft.com/office/drawing/2014/main" id="{E1AD49D0-5163-5A42-B336-D0E3A30F4217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半闭框 17">
            <a:extLst>
              <a:ext uri="{FF2B5EF4-FFF2-40B4-BE49-F238E27FC236}">
                <a16:creationId xmlns:a16="http://schemas.microsoft.com/office/drawing/2014/main" id="{6B8C8CAD-64A5-9A48-74D7-15D4492C327C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9" name="半闭框 18">
            <a:extLst>
              <a:ext uri="{FF2B5EF4-FFF2-40B4-BE49-F238E27FC236}">
                <a16:creationId xmlns:a16="http://schemas.microsoft.com/office/drawing/2014/main" id="{873B4572-D2E0-C1B9-992F-E36DFD62917A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7ED04B-DC54-1F1B-8959-83D142B5F177}"/>
              </a:ext>
            </a:extLst>
          </p:cNvPr>
          <p:cNvSpPr txBox="1">
            <a:spLocks noChangeArrowheads="1"/>
          </p:cNvSpPr>
          <p:nvPr/>
        </p:nvSpPr>
        <p:spPr>
          <a:xfrm>
            <a:off x="1625600" y="976086"/>
            <a:ext cx="1066800" cy="685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EE861394-9859-3445-1E64-CC91DA5D3FB6}"/>
                  </a:ext>
                </a:extLst>
              </p:cNvPr>
              <p:cNvSpPr txBox="1"/>
              <p:nvPr/>
            </p:nvSpPr>
            <p:spPr bwMode="auto">
              <a:xfrm>
                <a:off x="6787896" y="569686"/>
                <a:ext cx="2736850" cy="1181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的敛散性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EE861394-9859-3445-1E64-CC91DA5D3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7896" y="569686"/>
                <a:ext cx="2736850" cy="1181100"/>
              </a:xfrm>
              <a:prstGeom prst="rect">
                <a:avLst/>
              </a:prstGeom>
              <a:blipFill>
                <a:blip r:embed="rId4"/>
                <a:stretch>
                  <a:fillRect b="-25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1A4E5C6F-CD75-DA24-1173-E30CC3AA6BA1}"/>
                  </a:ext>
                </a:extLst>
              </p:cNvPr>
              <p:cNvSpPr txBox="1"/>
              <p:nvPr/>
            </p:nvSpPr>
            <p:spPr bwMode="auto">
              <a:xfrm>
                <a:off x="2482850" y="2369230"/>
                <a:ext cx="4219576" cy="446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+2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+⋯+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1A4E5C6F-CD75-DA24-1173-E30CC3AA6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2850" y="2369230"/>
                <a:ext cx="4219576" cy="446088"/>
              </a:xfrm>
              <a:prstGeom prst="rect">
                <a:avLst/>
              </a:prstGeom>
              <a:blipFill>
                <a:blip r:embed="rId5"/>
                <a:stretch>
                  <a:fillRect b="-109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11">
            <a:extLst>
              <a:ext uri="{FF2B5EF4-FFF2-40B4-BE49-F238E27FC236}">
                <a16:creationId xmlns:a16="http://schemas.microsoft.com/office/drawing/2014/main" id="{C4141D3C-E73B-239C-D98E-6FF020FA1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5600" y="1812018"/>
            <a:ext cx="7585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2">
                <a:extLst>
                  <a:ext uri="{FF2B5EF4-FFF2-40B4-BE49-F238E27FC236}">
                    <a16:creationId xmlns:a16="http://schemas.microsoft.com/office/drawing/2014/main" id="{268610DF-CBB7-A1F0-ECBB-AD7A0F4184DF}"/>
                  </a:ext>
                </a:extLst>
              </p:cNvPr>
              <p:cNvSpPr txBox="1"/>
              <p:nvPr/>
            </p:nvSpPr>
            <p:spPr bwMode="auto">
              <a:xfrm>
                <a:off x="2482851" y="1872342"/>
                <a:ext cx="2012950" cy="546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对任意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𝑝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∈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𝐙</m:t>
                          </m:r>
                        </m:e>
                        <m:sub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  <m:r>
                        <a:rPr kumimoji="1" lang="en-US" altLang="zh-CN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2">
                <a:extLst>
                  <a:ext uri="{FF2B5EF4-FFF2-40B4-BE49-F238E27FC236}">
                    <a16:creationId xmlns:a16="http://schemas.microsoft.com/office/drawing/2014/main" id="{268610DF-CBB7-A1F0-ECBB-AD7A0F418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2851" y="1872342"/>
                <a:ext cx="2012950" cy="546100"/>
              </a:xfrm>
              <a:prstGeom prst="rect">
                <a:avLst/>
              </a:prstGeom>
              <a:blipFill>
                <a:blip r:embed="rId6"/>
                <a:stretch>
                  <a:fillRect l="-21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3">
            <a:extLst>
              <a:ext uri="{FF2B5EF4-FFF2-40B4-BE49-F238E27FC236}">
                <a16:creationId xmlns:a16="http://schemas.microsoft.com/office/drawing/2014/main" id="{29C295EA-86D2-F170-04D7-E00E5416B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281" y="1872343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有</a:t>
            </a:r>
          </a:p>
        </p:txBody>
      </p:sp>
      <p:sp>
        <p:nvSpPr>
          <p:cNvPr id="8" name="Text Box 14">
            <a:extLst>
              <a:ext uri="{FF2B5EF4-FFF2-40B4-BE49-F238E27FC236}">
                <a16:creationId xmlns:a16="http://schemas.microsoft.com/office/drawing/2014/main" id="{AB557BF8-8E07-FD60-F75E-470E074A1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2850" y="928461"/>
            <a:ext cx="4540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利用柯西审敛原理判别级数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5">
                <a:extLst>
                  <a:ext uri="{FF2B5EF4-FFF2-40B4-BE49-F238E27FC236}">
                    <a16:creationId xmlns:a16="http://schemas.microsoft.com/office/drawing/2014/main" id="{1991E7CA-E005-3C05-AFF9-72AA396A99AA}"/>
                  </a:ext>
                </a:extLst>
              </p:cNvPr>
              <p:cNvSpPr txBox="1"/>
              <p:nvPr/>
            </p:nvSpPr>
            <p:spPr bwMode="auto">
              <a:xfrm>
                <a:off x="2482850" y="2862488"/>
                <a:ext cx="5245100" cy="8445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+2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𝑝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5">
                <a:extLst>
                  <a:ext uri="{FF2B5EF4-FFF2-40B4-BE49-F238E27FC236}">
                    <a16:creationId xmlns:a16="http://schemas.microsoft.com/office/drawing/2014/main" id="{1991E7CA-E005-3C05-AFF9-72AA396A9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2850" y="2862488"/>
                <a:ext cx="5245100" cy="8445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6">
                <a:extLst>
                  <a:ext uri="{FF2B5EF4-FFF2-40B4-BE49-F238E27FC236}">
                    <a16:creationId xmlns:a16="http://schemas.microsoft.com/office/drawing/2014/main" id="{2A8B3F3F-B566-DFD3-AECF-4014F64DD4E8}"/>
                  </a:ext>
                </a:extLst>
              </p:cNvPr>
              <p:cNvSpPr txBox="1"/>
              <p:nvPr/>
            </p:nvSpPr>
            <p:spPr bwMode="auto">
              <a:xfrm>
                <a:off x="2482850" y="3677327"/>
                <a:ext cx="6991350" cy="8445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&lt;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+1)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+1)(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+2)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+⋯+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𝑝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−1)(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𝑝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6">
                <a:extLst>
                  <a:ext uri="{FF2B5EF4-FFF2-40B4-BE49-F238E27FC236}">
                    <a16:creationId xmlns:a16="http://schemas.microsoft.com/office/drawing/2014/main" id="{2A8B3F3F-B566-DFD3-AECF-4014F64DD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2850" y="3677327"/>
                <a:ext cx="6991350" cy="8445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7">
                <a:extLst>
                  <a:ext uri="{FF2B5EF4-FFF2-40B4-BE49-F238E27FC236}">
                    <a16:creationId xmlns:a16="http://schemas.microsoft.com/office/drawing/2014/main" id="{7C03E087-4439-DF44-F9F4-EE22404007D9}"/>
                  </a:ext>
                </a:extLst>
              </p:cNvPr>
              <p:cNvSpPr txBox="1"/>
              <p:nvPr/>
            </p:nvSpPr>
            <p:spPr bwMode="auto">
              <a:xfrm>
                <a:off x="2482850" y="4553623"/>
                <a:ext cx="821055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den>
                          </m:f>
                          <m:r>
                            <a:rPr kumimoji="1" lang="zh-CN" altLang="en-US" sz="24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den>
                          </m:f>
                          <m:r>
                            <a:rPr kumimoji="1" lang="zh-CN" altLang="en-US" sz="24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+2</m:t>
                              </m:r>
                            </m:den>
                          </m:f>
                        </m:e>
                      </m:d>
                      <m:r>
                        <a:rPr kumimoji="1" lang="en-US" altLang="zh-CN" sz="24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⋯</m:t>
                      </m:r>
                      <m:r>
                        <a:rPr kumimoji="1" lang="en-US" altLang="zh-CN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den>
                          </m:f>
                          <m:r>
                            <a:rPr kumimoji="1" lang="zh-CN" altLang="en-US" sz="24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4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7">
                <a:extLst>
                  <a:ext uri="{FF2B5EF4-FFF2-40B4-BE49-F238E27FC236}">
                    <a16:creationId xmlns:a16="http://schemas.microsoft.com/office/drawing/2014/main" id="{7C03E087-4439-DF44-F9F4-EE2240400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2850" y="4553623"/>
                <a:ext cx="8210550" cy="927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8">
                <a:extLst>
                  <a:ext uri="{FF2B5EF4-FFF2-40B4-BE49-F238E27FC236}">
                    <a16:creationId xmlns:a16="http://schemas.microsoft.com/office/drawing/2014/main" id="{3630429F-894B-0E62-E8E6-C2D18D600103}"/>
                  </a:ext>
                </a:extLst>
              </p:cNvPr>
              <p:cNvSpPr txBox="1"/>
              <p:nvPr/>
            </p:nvSpPr>
            <p:spPr bwMode="auto">
              <a:xfrm>
                <a:off x="2482850" y="5509524"/>
                <a:ext cx="16637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8">
                <a:extLst>
                  <a:ext uri="{FF2B5EF4-FFF2-40B4-BE49-F238E27FC236}">
                    <a16:creationId xmlns:a16="http://schemas.microsoft.com/office/drawing/2014/main" id="{3630429F-894B-0E62-E8E6-C2D18D600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2850" y="5509524"/>
                <a:ext cx="1663700" cy="838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9">
                <a:extLst>
                  <a:ext uri="{FF2B5EF4-FFF2-40B4-BE49-F238E27FC236}">
                    <a16:creationId xmlns:a16="http://schemas.microsoft.com/office/drawing/2014/main" id="{AF4EE0E1-1738-8605-7C87-6E8572AB5D10}"/>
                  </a:ext>
                </a:extLst>
              </p:cNvPr>
              <p:cNvSpPr txBox="1"/>
              <p:nvPr/>
            </p:nvSpPr>
            <p:spPr bwMode="auto">
              <a:xfrm>
                <a:off x="3956049" y="5510432"/>
                <a:ext cx="698500" cy="793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&lt;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9">
                <a:extLst>
                  <a:ext uri="{FF2B5EF4-FFF2-40B4-BE49-F238E27FC236}">
                    <a16:creationId xmlns:a16="http://schemas.microsoft.com/office/drawing/2014/main" id="{AF4EE0E1-1738-8605-7C87-6E8572AB5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6049" y="5510432"/>
                <a:ext cx="698500" cy="7937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179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BF962B8-199F-03C8-0498-06103E6008A4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BF962B8-199F-03C8-0498-06103E6008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半闭框 11">
            <a:extLst>
              <a:ext uri="{FF2B5EF4-FFF2-40B4-BE49-F238E27FC236}">
                <a16:creationId xmlns:a16="http://schemas.microsoft.com/office/drawing/2014/main" id="{B5FA9C48-3DF8-70A5-7012-FE8333C3B871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半闭框 12">
            <a:extLst>
              <a:ext uri="{FF2B5EF4-FFF2-40B4-BE49-F238E27FC236}">
                <a16:creationId xmlns:a16="http://schemas.microsoft.com/office/drawing/2014/main" id="{ED170DF8-3AB1-E439-35E8-95AAB27E834C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半闭框 13">
            <a:extLst>
              <a:ext uri="{FF2B5EF4-FFF2-40B4-BE49-F238E27FC236}">
                <a16:creationId xmlns:a16="http://schemas.microsoft.com/office/drawing/2014/main" id="{D55434C7-F336-9956-C987-E374F64E6A64}"/>
              </a:ext>
            </a:extLst>
          </p:cNvPr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5" name="半闭框 14">
            <a:extLst>
              <a:ext uri="{FF2B5EF4-FFF2-40B4-BE49-F238E27FC236}">
                <a16:creationId xmlns:a16="http://schemas.microsoft.com/office/drawing/2014/main" id="{E817273B-AAE8-AD8B-D109-1C368D9E591E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C7E44B0E-B823-594E-21CF-95D357384A64}"/>
                  </a:ext>
                </a:extLst>
              </p:cNvPr>
              <p:cNvSpPr txBox="1"/>
              <p:nvPr/>
            </p:nvSpPr>
            <p:spPr bwMode="auto">
              <a:xfrm>
                <a:off x="3124200" y="2131302"/>
                <a:ext cx="1447800" cy="393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∴∀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𝜀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&gt;0,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C7E44B0E-B823-594E-21CF-95D357384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4200" y="2131302"/>
                <a:ext cx="1447800" cy="393700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7D15BA73-34EE-4BD2-8B02-6DC55AC808D7}"/>
                  </a:ext>
                </a:extLst>
              </p:cNvPr>
              <p:cNvSpPr txBox="1"/>
              <p:nvPr/>
            </p:nvSpPr>
            <p:spPr bwMode="auto">
              <a:xfrm>
                <a:off x="4377828" y="1980247"/>
                <a:ext cx="2336800" cy="850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取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𝑁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</a:rPr>
                        <m:t>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𝜀</m:t>
                              </m:r>
                            </m:den>
                          </m:f>
                        </m:e>
                      </m:d>
                      <m:r>
                        <m:rPr>
                          <m:nor/>
                        </m:rPr>
                        <a:rPr kumimoji="1" lang="en-US" altLang="zh-CN" sz="2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7D15BA73-34EE-4BD2-8B02-6DC55AC80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7828" y="1980247"/>
                <a:ext cx="2336800" cy="850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634AE5C1-795F-2FF5-B223-9ECC17CF09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1498" y="2138363"/>
                <a:ext cx="1555298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𝑛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&gt;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𝑁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时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</a:t>
                </a:r>
              </a:p>
            </p:txBody>
          </p:sp>
        </mc:Choice>
        <mc:Fallback xmlns="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634AE5C1-795F-2FF5-B223-9ECC17CF0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1498" y="2138363"/>
                <a:ext cx="1555298" cy="430887"/>
              </a:xfrm>
              <a:prstGeom prst="rect">
                <a:avLst/>
              </a:prstGeom>
              <a:blipFill>
                <a:blip r:embed="rId6"/>
                <a:stretch>
                  <a:fillRect l="-5098" t="-14286" r="-4314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48969091-8F7D-A34D-2BC7-7F9E651A0CEF}"/>
                  </a:ext>
                </a:extLst>
              </p:cNvPr>
              <p:cNvSpPr txBox="1"/>
              <p:nvPr/>
            </p:nvSpPr>
            <p:spPr bwMode="auto">
              <a:xfrm>
                <a:off x="7215008" y="2142807"/>
                <a:ext cx="2019300" cy="43088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对任意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𝑝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∈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200" b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𝐙</m:t>
                          </m:r>
                        </m:e>
                        <m:sub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  <m:r>
                        <a:rPr kumimoji="1" lang="en-US" altLang="zh-CN" sz="22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48969091-8F7D-A34D-2BC7-7F9E651A0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15008" y="2142807"/>
                <a:ext cx="2019300" cy="430887"/>
              </a:xfrm>
              <a:prstGeom prst="rect">
                <a:avLst/>
              </a:prstGeom>
              <a:blipFill>
                <a:blip r:embed="rId7"/>
                <a:stretch>
                  <a:fillRect l="-2115" b="-1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7">
            <a:extLst>
              <a:ext uri="{FF2B5EF4-FFF2-40B4-BE49-F238E27FC236}">
                <a16:creationId xmlns:a16="http://schemas.microsoft.com/office/drawing/2014/main" id="{6E25652C-C270-F473-F377-569E976E4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088413"/>
            <a:ext cx="7489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都有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6D24496C-68C4-CA75-2010-0B5CB15A41D3}"/>
                  </a:ext>
                </a:extLst>
              </p:cNvPr>
              <p:cNvSpPr txBox="1"/>
              <p:nvPr/>
            </p:nvSpPr>
            <p:spPr bwMode="auto">
              <a:xfrm>
                <a:off x="3728481" y="2892466"/>
                <a:ext cx="4521200" cy="838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+2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+⋯+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&lt;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&lt;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𝜀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6D24496C-68C4-CA75-2010-0B5CB15A4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8481" y="2892466"/>
                <a:ext cx="4521200" cy="838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9">
            <a:extLst>
              <a:ext uri="{FF2B5EF4-FFF2-40B4-BE49-F238E27FC236}">
                <a16:creationId xmlns:a16="http://schemas.microsoft.com/office/drawing/2014/main" id="{7FF27908-0E2D-69ED-A9A8-B541DDE71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5448" y="4128814"/>
            <a:ext cx="347082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由柯西审敛原理可知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DE2E6FA2-81F4-35A1-CE4C-708FCD20CBAB}"/>
                  </a:ext>
                </a:extLst>
              </p:cNvPr>
              <p:cNvSpPr txBox="1"/>
              <p:nvPr/>
            </p:nvSpPr>
            <p:spPr bwMode="auto">
              <a:xfrm>
                <a:off x="6338073" y="3858938"/>
                <a:ext cx="1601470" cy="104394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收敛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DE2E6FA2-81F4-35A1-CE4C-708FCD20C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8073" y="3858938"/>
                <a:ext cx="1601470" cy="10439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60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17298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ZkODBiMGY1YmQ1MDgyN2Q2NGE3YzQ0YzI2NDc4MmYifQ=="/>
  <p:tag name="KSO_WPP_MARK_KEY" val="fdc9232b-9af6-4935-ba35-6661cd7202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2758</TotalTime>
  <Words>2410</Words>
  <Application>Microsoft Office PowerPoint</Application>
  <PresentationFormat>宽屏</PresentationFormat>
  <Paragraphs>449</Paragraphs>
  <Slides>28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Calisto MT</vt:lpstr>
      <vt:lpstr>Cambria Math</vt:lpstr>
      <vt:lpstr>Times New Roman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459</cp:revision>
  <cp:lastPrinted>2023-06-09T05:06:54Z</cp:lastPrinted>
  <dcterms:created xsi:type="dcterms:W3CDTF">2022-03-21T05:54:00Z</dcterms:created>
  <dcterms:modified xsi:type="dcterms:W3CDTF">2023-07-06T07:22:48Z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2052-11.1.0.11744</vt:lpwstr>
  </property>
</Properties>
</file>