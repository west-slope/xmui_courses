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824" r:id="rId3"/>
    <p:sldId id="814" r:id="rId4"/>
    <p:sldId id="817" r:id="rId5"/>
    <p:sldId id="711" r:id="rId6"/>
    <p:sldId id="811" r:id="rId7"/>
    <p:sldId id="785" r:id="rId8"/>
    <p:sldId id="786" r:id="rId9"/>
    <p:sldId id="787" r:id="rId10"/>
    <p:sldId id="788" r:id="rId11"/>
    <p:sldId id="789" r:id="rId12"/>
    <p:sldId id="790" r:id="rId13"/>
    <p:sldId id="791" r:id="rId14"/>
    <p:sldId id="792" r:id="rId15"/>
    <p:sldId id="793" r:id="rId16"/>
    <p:sldId id="794" r:id="rId17"/>
    <p:sldId id="795" r:id="rId18"/>
    <p:sldId id="796" r:id="rId19"/>
    <p:sldId id="797" r:id="rId20"/>
    <p:sldId id="798" r:id="rId21"/>
    <p:sldId id="799" r:id="rId22"/>
    <p:sldId id="800" r:id="rId23"/>
    <p:sldId id="813" r:id="rId24"/>
    <p:sldId id="809" r:id="rId25"/>
    <p:sldId id="364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A9D18E"/>
    <a:srgbClr val="993300"/>
    <a:srgbClr val="CEEAE2"/>
    <a:srgbClr val="0000FF"/>
    <a:srgbClr val="99FF99"/>
    <a:srgbClr val="0033CC"/>
    <a:srgbClr val="FF00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emf"/><Relationship Id="rId4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3AAC4-AEC9-45B6-8129-7AC04A374C48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B50E2-0B44-4175-B25E-BDF40D2119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999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E2628-425B-4711-85D1-DD3DDE2BDF3E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5AC77-7EE5-47C0-B214-037F908F1C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43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6129F1-2A38-4A73-AE56-6DF36B3F17EF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53566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5EC2596-7197-4FC4-8A05-06366AD2857A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87883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63932-D122-4C18-9C50-DFE5889D86D7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2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83586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87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70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9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8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12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5052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44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95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73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2023/6/28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84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345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290CEE0B-E0FE-A879-0B39-026B72E86ABA}"/>
              </a:ext>
            </a:extLst>
          </p:cNvPr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4DFC432-EB03-7AB0-329E-6040D5037D87}"/>
              </a:ext>
            </a:extLst>
          </p:cNvPr>
          <p:cNvSpPr/>
          <p:nvPr userDrawn="1"/>
        </p:nvSpPr>
        <p:spPr>
          <a:xfrm rot="2659048">
            <a:off x="10203538" y="278301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517673-4D1A-2B6E-3C23-714A7103A68E}"/>
              </a:ext>
            </a:extLst>
          </p:cNvPr>
          <p:cNvSpPr/>
          <p:nvPr userDrawn="1"/>
        </p:nvSpPr>
        <p:spPr>
          <a:xfrm>
            <a:off x="476828" y="6435405"/>
            <a:ext cx="1547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三重积分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674871-4DC9-537A-B4C6-073E22FA14F0}"/>
              </a:ext>
            </a:extLst>
          </p:cNvPr>
          <p:cNvSpPr/>
          <p:nvPr userDrawn="1"/>
        </p:nvSpPr>
        <p:spPr>
          <a:xfrm>
            <a:off x="10458710" y="218520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第十章  重积分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7DEED4F-1AF8-AC49-7A9B-BBF9A60FE25E}"/>
              </a:ext>
            </a:extLst>
          </p:cNvPr>
          <p:cNvCxnSpPr/>
          <p:nvPr userDrawn="1"/>
        </p:nvCxnSpPr>
        <p:spPr>
          <a:xfrm>
            <a:off x="-1" y="343834"/>
            <a:ext cx="9936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8B4A04A-E600-9F97-18C1-B8F226AC739D}"/>
              </a:ext>
            </a:extLst>
          </p:cNvPr>
          <p:cNvCxnSpPr/>
          <p:nvPr userDrawn="1"/>
        </p:nvCxnSpPr>
        <p:spPr>
          <a:xfrm>
            <a:off x="2105024" y="6585362"/>
            <a:ext cx="1008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45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6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0.png"/><Relationship Id="rId7" Type="http://schemas.openxmlformats.org/officeDocument/2006/relationships/image" Target="../media/image8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image" Target="../media/image23.png"/><Relationship Id="rId4" Type="http://schemas.openxmlformats.org/officeDocument/2006/relationships/image" Target="../media/image2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1.jpe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.png"/><Relationship Id="rId21" Type="http://schemas.openxmlformats.org/officeDocument/2006/relationships/image" Target="../media/image61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14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32.jpe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2" Type="http://schemas.openxmlformats.org/officeDocument/2006/relationships/image" Target="../media/image82.png"/><Relationship Id="rId16" Type="http://schemas.openxmlformats.org/officeDocument/2006/relationships/image" Target="../media/image3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0.png"/><Relationship Id="rId18" Type="http://schemas.openxmlformats.org/officeDocument/2006/relationships/image" Target="../media/image123.png"/><Relationship Id="rId12" Type="http://schemas.openxmlformats.org/officeDocument/2006/relationships/image" Target="../media/image114.png"/><Relationship Id="rId17" Type="http://schemas.openxmlformats.org/officeDocument/2006/relationships/image" Target="../media/image122.png"/><Relationship Id="rId16" Type="http://schemas.openxmlformats.org/officeDocument/2006/relationships/image" Target="../media/image121.png"/><Relationship Id="rId20" Type="http://schemas.openxmlformats.org/officeDocument/2006/relationships/image" Target="../media/image34.jpe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6.png"/><Relationship Id="rId15" Type="http://schemas.openxmlformats.org/officeDocument/2006/relationships/image" Target="../media/image120.png"/><Relationship Id="rId10" Type="http://schemas.openxmlformats.org/officeDocument/2006/relationships/image" Target="../media/image111.png"/><Relationship Id="rId19" Type="http://schemas.openxmlformats.org/officeDocument/2006/relationships/image" Target="../media/image124.png"/><Relationship Id="rId14" Type="http://schemas.openxmlformats.org/officeDocument/2006/relationships/image" Target="../media/image119.png"/></Relationships>
</file>

<file path=ppt/slides/_rels/slide18.xml.rels><?xml version="1.0" encoding="UTF-8" standalone="yes"?>
<Relationships xmlns="http://schemas.openxmlformats.org/package/2006/relationships"><Relationship Id="rId21" Type="http://schemas.openxmlformats.org/officeDocument/2006/relationships/image" Target="../media/image142.png"/><Relationship Id="rId12" Type="http://schemas.openxmlformats.org/officeDocument/2006/relationships/image" Target="../media/image131.png"/><Relationship Id="rId2" Type="http://schemas.openxmlformats.org/officeDocument/2006/relationships/notesSlide" Target="../notesSlides/notesSlide2.xml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30.png"/><Relationship Id="rId23" Type="http://schemas.openxmlformats.org/officeDocument/2006/relationships/image" Target="../media/image35.jpeg"/><Relationship Id="rId10" Type="http://schemas.openxmlformats.org/officeDocument/2006/relationships/image" Target="../media/image129.png"/><Relationship Id="rId19" Type="http://schemas.openxmlformats.org/officeDocument/2006/relationships/image" Target="../media/image137.png"/><Relationship Id="rId22" Type="http://schemas.openxmlformats.org/officeDocument/2006/relationships/image" Target="../media/image1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oleObject" Target="../embeddings/oleObject1.bin"/><Relationship Id="rId18" Type="http://schemas.openxmlformats.org/officeDocument/2006/relationships/image" Target="../media/image37.emf"/><Relationship Id="rId26" Type="http://schemas.openxmlformats.org/officeDocument/2006/relationships/image" Target="../media/image159.png"/><Relationship Id="rId3" Type="http://schemas.openxmlformats.org/officeDocument/2006/relationships/image" Target="../media/image82.png"/><Relationship Id="rId21" Type="http://schemas.openxmlformats.org/officeDocument/2006/relationships/image" Target="../media/image161.png"/><Relationship Id="rId7" Type="http://schemas.openxmlformats.org/officeDocument/2006/relationships/image" Target="../media/image150.png"/><Relationship Id="rId12" Type="http://schemas.openxmlformats.org/officeDocument/2006/relationships/image" Target="../media/image155.png"/><Relationship Id="rId17" Type="http://schemas.openxmlformats.org/officeDocument/2006/relationships/oleObject" Target="../embeddings/oleObject2.bin"/><Relationship Id="rId25" Type="http://schemas.openxmlformats.org/officeDocument/2006/relationships/image" Target="../media/image15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6.emf"/><Relationship Id="rId20" Type="http://schemas.openxmlformats.org/officeDocument/2006/relationships/image" Target="../media/image37.emf"/><Relationship Id="rId29" Type="http://schemas.openxmlformats.org/officeDocument/2006/relationships/image" Target="../media/image166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9.png"/><Relationship Id="rId11" Type="http://schemas.openxmlformats.org/officeDocument/2006/relationships/image" Target="../media/image154.png"/><Relationship Id="rId24" Type="http://schemas.openxmlformats.org/officeDocument/2006/relationships/image" Target="../media/image164.png"/><Relationship Id="rId5" Type="http://schemas.openxmlformats.org/officeDocument/2006/relationships/image" Target="../media/image148.png"/><Relationship Id="rId15" Type="http://schemas.openxmlformats.org/officeDocument/2006/relationships/oleObject" Target="../embeddings/oleObject1.bin"/><Relationship Id="rId23" Type="http://schemas.openxmlformats.org/officeDocument/2006/relationships/image" Target="../media/image163.png"/><Relationship Id="rId28" Type="http://schemas.openxmlformats.org/officeDocument/2006/relationships/image" Target="../media/image146.png"/><Relationship Id="rId10" Type="http://schemas.openxmlformats.org/officeDocument/2006/relationships/image" Target="../media/image153.png"/><Relationship Id="rId19" Type="http://schemas.openxmlformats.org/officeDocument/2006/relationships/oleObject" Target="../embeddings/oleObject2.bin"/><Relationship Id="rId4" Type="http://schemas.openxmlformats.org/officeDocument/2006/relationships/image" Target="../media/image147.png"/><Relationship Id="rId9" Type="http://schemas.openxmlformats.org/officeDocument/2006/relationships/image" Target="../media/image152.png"/><Relationship Id="rId14" Type="http://schemas.openxmlformats.org/officeDocument/2006/relationships/image" Target="../media/image36.emf"/><Relationship Id="rId22" Type="http://schemas.openxmlformats.org/officeDocument/2006/relationships/image" Target="../media/image162.png"/><Relationship Id="rId27" Type="http://schemas.openxmlformats.org/officeDocument/2006/relationships/image" Target="../media/image160.png"/><Relationship Id="rId30" Type="http://schemas.openxmlformats.org/officeDocument/2006/relationships/image" Target="../media/image17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13" Type="http://schemas.openxmlformats.org/officeDocument/2006/relationships/image" Target="../media/image179.png"/><Relationship Id="rId18" Type="http://schemas.openxmlformats.org/officeDocument/2006/relationships/oleObject" Target="../embeddings/oleObject4.bin"/><Relationship Id="rId26" Type="http://schemas.openxmlformats.org/officeDocument/2006/relationships/image" Target="../media/image186.png"/><Relationship Id="rId3" Type="http://schemas.openxmlformats.org/officeDocument/2006/relationships/image" Target="../media/image82.png"/><Relationship Id="rId21" Type="http://schemas.openxmlformats.org/officeDocument/2006/relationships/image" Target="../media/image40.wmf"/><Relationship Id="rId7" Type="http://schemas.openxmlformats.org/officeDocument/2006/relationships/image" Target="../media/image171.png"/><Relationship Id="rId12" Type="http://schemas.openxmlformats.org/officeDocument/2006/relationships/image" Target="../media/image38.emf"/><Relationship Id="rId17" Type="http://schemas.openxmlformats.org/officeDocument/2006/relationships/image" Target="../media/image156.png"/><Relationship Id="rId25" Type="http://schemas.openxmlformats.org/officeDocument/2006/relationships/image" Target="../media/image185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2.png"/><Relationship Id="rId20" Type="http://schemas.openxmlformats.org/officeDocument/2006/relationships/oleObject" Target="../embeddings/oleObject5.bin"/><Relationship Id="rId29" Type="http://schemas.openxmlformats.org/officeDocument/2006/relationships/image" Target="../media/image189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169.png"/><Relationship Id="rId11" Type="http://schemas.openxmlformats.org/officeDocument/2006/relationships/oleObject" Target="../embeddings/oleObject3.bin"/><Relationship Id="rId24" Type="http://schemas.openxmlformats.org/officeDocument/2006/relationships/image" Target="../media/image184.png"/><Relationship Id="rId5" Type="http://schemas.openxmlformats.org/officeDocument/2006/relationships/image" Target="../media/image168.png"/><Relationship Id="rId15" Type="http://schemas.openxmlformats.org/officeDocument/2006/relationships/image" Target="../media/image181.png"/><Relationship Id="rId23" Type="http://schemas.openxmlformats.org/officeDocument/2006/relationships/image" Target="../media/image41.wmf"/><Relationship Id="rId28" Type="http://schemas.openxmlformats.org/officeDocument/2006/relationships/image" Target="../media/image188.png"/><Relationship Id="rId10" Type="http://schemas.openxmlformats.org/officeDocument/2006/relationships/image" Target="../media/image174.png"/><Relationship Id="rId19" Type="http://schemas.openxmlformats.org/officeDocument/2006/relationships/image" Target="../media/image39.wmf"/><Relationship Id="rId4" Type="http://schemas.openxmlformats.org/officeDocument/2006/relationships/image" Target="../media/image167.png"/><Relationship Id="rId9" Type="http://schemas.openxmlformats.org/officeDocument/2006/relationships/image" Target="../media/image173.png"/><Relationship Id="rId14" Type="http://schemas.openxmlformats.org/officeDocument/2006/relationships/image" Target="../media/image180.png"/><Relationship Id="rId22" Type="http://schemas.openxmlformats.org/officeDocument/2006/relationships/oleObject" Target="../embeddings/oleObject6.bin"/><Relationship Id="rId27" Type="http://schemas.openxmlformats.org/officeDocument/2006/relationships/image" Target="../media/image18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26" Type="http://schemas.openxmlformats.org/officeDocument/2006/relationships/image" Target="../media/image210.png"/><Relationship Id="rId21" Type="http://schemas.openxmlformats.org/officeDocument/2006/relationships/image" Target="../media/image207.png"/><Relationship Id="rId7" Type="http://schemas.openxmlformats.org/officeDocument/2006/relationships/image" Target="../media/image195.png"/><Relationship Id="rId25" Type="http://schemas.openxmlformats.org/officeDocument/2006/relationships/image" Target="../media/image213.png"/><Relationship Id="rId2" Type="http://schemas.openxmlformats.org/officeDocument/2006/relationships/slideLayout" Target="../slideLayouts/slideLayout7.xml"/><Relationship Id="rId20" Type="http://schemas.openxmlformats.org/officeDocument/2006/relationships/image" Target="../media/image175.png"/><Relationship Id="rId1" Type="http://schemas.openxmlformats.org/officeDocument/2006/relationships/tags" Target="../tags/tag9.xml"/><Relationship Id="rId6" Type="http://schemas.openxmlformats.org/officeDocument/2006/relationships/image" Target="../media/image194.png"/><Relationship Id="rId24" Type="http://schemas.openxmlformats.org/officeDocument/2006/relationships/image" Target="../media/image212.png"/><Relationship Id="rId5" Type="http://schemas.openxmlformats.org/officeDocument/2006/relationships/image" Target="../media/image193.png"/><Relationship Id="rId23" Type="http://schemas.openxmlformats.org/officeDocument/2006/relationships/image" Target="../media/image209.png"/><Relationship Id="rId28" Type="http://schemas.openxmlformats.org/officeDocument/2006/relationships/image" Target="../media/image42.jpeg"/><Relationship Id="rId19" Type="http://schemas.openxmlformats.org/officeDocument/2006/relationships/image" Target="../media/image165.png"/><Relationship Id="rId22" Type="http://schemas.openxmlformats.org/officeDocument/2006/relationships/image" Target="../media/image208.png"/><Relationship Id="rId27" Type="http://schemas.openxmlformats.org/officeDocument/2006/relationships/image" Target="../media/image2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7" Type="http://schemas.openxmlformats.org/officeDocument/2006/relationships/image" Target="../media/image17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7.png"/><Relationship Id="rId5" Type="http://schemas.openxmlformats.org/officeDocument/2006/relationships/image" Target="../media/image220.png"/><Relationship Id="rId10" Type="http://schemas.openxmlformats.org/officeDocument/2006/relationships/image" Target="../media/image43.jpeg"/><Relationship Id="rId4" Type="http://schemas.openxmlformats.org/officeDocument/2006/relationships/image" Target="../media/image218.png"/><Relationship Id="rId9" Type="http://schemas.openxmlformats.org/officeDocument/2006/relationships/image" Target="../media/image2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7" Type="http://schemas.openxmlformats.org/officeDocument/2006/relationships/image" Target="../media/image190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png"/><Relationship Id="rId5" Type="http://schemas.openxmlformats.org/officeDocument/2006/relationships/image" Target="../media/image228.png"/><Relationship Id="rId4" Type="http://schemas.openxmlformats.org/officeDocument/2006/relationships/image" Target="../media/image22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6.png"/><Relationship Id="rId3" Type="http://schemas.openxmlformats.org/officeDocument/2006/relationships/image" Target="../media/image231.png"/><Relationship Id="rId7" Type="http://schemas.openxmlformats.org/officeDocument/2006/relationships/image" Target="../media/image235.png"/><Relationship Id="rId12" Type="http://schemas.openxmlformats.org/officeDocument/2006/relationships/image" Target="../media/image24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4.png"/><Relationship Id="rId11" Type="http://schemas.openxmlformats.org/officeDocument/2006/relationships/image" Target="../media/image239.png"/><Relationship Id="rId24" Type="http://schemas.openxmlformats.org/officeDocument/2006/relationships/image" Target="../media/image44.jpeg"/><Relationship Id="rId5" Type="http://schemas.openxmlformats.org/officeDocument/2006/relationships/image" Target="../media/image233.png"/><Relationship Id="rId23" Type="http://schemas.openxmlformats.org/officeDocument/2006/relationships/image" Target="../media/image251.png"/><Relationship Id="rId10" Type="http://schemas.openxmlformats.org/officeDocument/2006/relationships/image" Target="../media/image238.png"/><Relationship Id="rId4" Type="http://schemas.openxmlformats.org/officeDocument/2006/relationships/image" Target="../media/image232.png"/><Relationship Id="rId9" Type="http://schemas.openxmlformats.org/officeDocument/2006/relationships/image" Target="../media/image237.png"/><Relationship Id="rId22" Type="http://schemas.openxmlformats.org/officeDocument/2006/relationships/image" Target="../media/image25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399663" y="4118384"/>
            <a:ext cx="2469515" cy="1557020"/>
            <a:chOff x="3032" y="6990"/>
            <a:chExt cx="3889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965" y="6486"/>
              <a:ext cx="2023" cy="388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38" y="6990"/>
              <a:ext cx="32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3100" y="8196"/>
              <a:ext cx="3752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9331" y="4118384"/>
            <a:ext cx="2795905" cy="1561109"/>
            <a:chOff x="7155" y="6949"/>
            <a:chExt cx="4403" cy="2458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45" y="6193"/>
              <a:ext cx="2024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719" y="6949"/>
              <a:ext cx="3277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8192" y="8109"/>
              <a:ext cx="232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8065" y="4118384"/>
            <a:ext cx="2080895" cy="1559203"/>
            <a:chOff x="8027" y="6949"/>
            <a:chExt cx="3277" cy="2455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5" y="6745"/>
              <a:ext cx="2041" cy="3277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37" y="6949"/>
              <a:ext cx="2656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本章聚焦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551" y="7873"/>
              <a:ext cx="2240" cy="13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二重积分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三重积分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4020027" y="884555"/>
            <a:ext cx="41519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第十章   重积分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33317" y="4128544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358085" y="4140609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CE2B425-399F-554D-45F0-E467133D88B7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0" y="0"/>
            <a:ext cx="12192001" cy="686915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-1" y="569167"/>
            <a:ext cx="6996701" cy="5718449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7143115" cy="5731549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2"/>
          <p:cNvSpPr/>
          <p:nvPr>
            <p:custDataLst>
              <p:tags r:id="rId1"/>
            </p:custDataLst>
          </p:nvPr>
        </p:nvSpPr>
        <p:spPr>
          <a:xfrm>
            <a:off x="3193962" y="985594"/>
            <a:ext cx="8667480" cy="48894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7" name="PA-文本框 8"/>
          <p:cNvSpPr txBox="1"/>
          <p:nvPr>
            <p:custDataLst>
              <p:tags r:id="rId2"/>
            </p:custDataLst>
          </p:nvPr>
        </p:nvSpPr>
        <p:spPr>
          <a:xfrm>
            <a:off x="763914" y="3419985"/>
            <a:ext cx="24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</a:p>
        </p:txBody>
      </p:sp>
      <p:sp>
        <p:nvSpPr>
          <p:cNvPr id="9" name="PA-矩形 6"/>
          <p:cNvSpPr/>
          <p:nvPr>
            <p:custDataLst>
              <p:tags r:id="rId3"/>
            </p:custDataLst>
          </p:nvPr>
        </p:nvSpPr>
        <p:spPr>
          <a:xfrm>
            <a:off x="70588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825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</a:p>
        </p:txBody>
      </p:sp>
      <p:sp>
        <p:nvSpPr>
          <p:cNvPr id="14" name="矩形 13"/>
          <p:cNvSpPr/>
          <p:nvPr/>
        </p:nvSpPr>
        <p:spPr>
          <a:xfrm>
            <a:off x="824436" y="1860681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第十章</a:t>
            </a:r>
          </a:p>
        </p:txBody>
      </p:sp>
      <p:sp>
        <p:nvSpPr>
          <p:cNvPr id="3" name="矩形 2"/>
          <p:cNvSpPr/>
          <p:nvPr/>
        </p:nvSpPr>
        <p:spPr>
          <a:xfrm>
            <a:off x="5748849" y="1652691"/>
            <a:ext cx="4588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二重积分的概念与性质</a:t>
            </a:r>
          </a:p>
        </p:txBody>
      </p:sp>
      <p:sp>
        <p:nvSpPr>
          <p:cNvPr id="24" name="矩形 23"/>
          <p:cNvSpPr/>
          <p:nvPr/>
        </p:nvSpPr>
        <p:spPr>
          <a:xfrm>
            <a:off x="5748849" y="2437275"/>
            <a:ext cx="3839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二重积分的计算法</a:t>
            </a:r>
          </a:p>
        </p:txBody>
      </p:sp>
      <p:sp>
        <p:nvSpPr>
          <p:cNvPr id="28" name="矩形 27"/>
          <p:cNvSpPr/>
          <p:nvPr/>
        </p:nvSpPr>
        <p:spPr>
          <a:xfrm>
            <a:off x="5748849" y="3221859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 三重积分</a:t>
            </a:r>
          </a:p>
        </p:txBody>
      </p:sp>
      <p:sp>
        <p:nvSpPr>
          <p:cNvPr id="29" name="矩形 28"/>
          <p:cNvSpPr/>
          <p:nvPr/>
        </p:nvSpPr>
        <p:spPr>
          <a:xfrm>
            <a:off x="5749162" y="4006443"/>
            <a:ext cx="3456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重积分的应用</a:t>
            </a:r>
          </a:p>
        </p:txBody>
      </p:sp>
      <p:sp>
        <p:nvSpPr>
          <p:cNvPr id="32" name="矩形 31"/>
          <p:cNvSpPr/>
          <p:nvPr/>
        </p:nvSpPr>
        <p:spPr>
          <a:xfrm>
            <a:off x="5749162" y="4791026"/>
            <a:ext cx="3536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第五节   含参变量的积分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>
            <a:cxnSpLocks/>
          </p:cNvCxnSpPr>
          <p:nvPr/>
        </p:nvCxnSpPr>
        <p:spPr>
          <a:xfrm flipH="1">
            <a:off x="5225323" y="1652691"/>
            <a:ext cx="26504" cy="360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731523"/>
            <a:ext cx="11536045" cy="42898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4445548" y="686345"/>
            <a:ext cx="3300904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三重积分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08F388-E127-1D4C-9428-90D171BA57B8}"/>
              </a:ext>
            </a:extLst>
          </p:cNvPr>
          <p:cNvGrpSpPr/>
          <p:nvPr/>
        </p:nvGrpSpPr>
        <p:grpSpPr>
          <a:xfrm>
            <a:off x="3877722" y="2223698"/>
            <a:ext cx="4436557" cy="901065"/>
            <a:chOff x="3376753" y="2223698"/>
            <a:chExt cx="4436557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3" y="2223698"/>
              <a:ext cx="4436557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34163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一、三重积分的概念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89B11AD-51E4-B841-A3B7-DEDE8869290F}"/>
              </a:ext>
            </a:extLst>
          </p:cNvPr>
          <p:cNvGrpSpPr/>
          <p:nvPr/>
        </p:nvGrpSpPr>
        <p:grpSpPr>
          <a:xfrm>
            <a:off x="3877722" y="3448291"/>
            <a:ext cx="4436557" cy="901065"/>
            <a:chOff x="3376753" y="3448291"/>
            <a:chExt cx="4436557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3" y="3448291"/>
              <a:ext cx="4436557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352372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二、三重积分的计算 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3BFD999-EFC5-C54F-9A86-BD05BAE70A2B}"/>
              </a:ext>
            </a:extLst>
          </p:cNvPr>
          <p:cNvGrpSpPr/>
          <p:nvPr/>
        </p:nvGrpSpPr>
        <p:grpSpPr>
          <a:xfrm>
            <a:off x="3877722" y="4664247"/>
            <a:ext cx="4436558" cy="901065"/>
            <a:chOff x="3376754" y="4664247"/>
            <a:chExt cx="4436558" cy="901065"/>
          </a:xfrm>
        </p:grpSpPr>
        <p:sp>
          <p:nvSpPr>
            <p:cNvPr id="17" name="矩形: 圆角 40">
              <a:extLst>
                <a:ext uri="{FF2B5EF4-FFF2-40B4-BE49-F238E27FC236}">
                  <a16:creationId xmlns:a16="http://schemas.microsoft.com/office/drawing/2014/main" id="{F0C1625A-8AFB-064E-8114-6A8BDB4CCB0A}"/>
                </a:ext>
              </a:extLst>
            </p:cNvPr>
            <p:cNvSpPr/>
            <p:nvPr/>
          </p:nvSpPr>
          <p:spPr>
            <a:xfrm flipV="1">
              <a:off x="3376754" y="4664247"/>
              <a:ext cx="443655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81D9E1D-1020-F744-A3FA-7B32C6575660}"/>
                </a:ext>
              </a:extLst>
            </p:cNvPr>
            <p:cNvSpPr/>
            <p:nvPr/>
          </p:nvSpPr>
          <p:spPr>
            <a:xfrm>
              <a:off x="3616931" y="4853484"/>
              <a:ext cx="39501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*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三、二重积分的换元法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10682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5" name="Rectangle 27"/>
          <p:cNvSpPr>
            <a:spLocks noGrp="1" noChangeArrowheads="1"/>
          </p:cNvSpPr>
          <p:nvPr>
            <p:ph type="title" idx="4294967295"/>
          </p:nvPr>
        </p:nvSpPr>
        <p:spPr>
          <a:xfrm>
            <a:off x="1218028" y="525330"/>
            <a:ext cx="4068347" cy="54130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一、三重积分的概念</a:t>
            </a:r>
          </a:p>
        </p:txBody>
      </p:sp>
      <p:sp>
        <p:nvSpPr>
          <p:cNvPr id="37" name="矩形 36"/>
          <p:cNvSpPr/>
          <p:nvPr/>
        </p:nvSpPr>
        <p:spPr>
          <a:xfrm>
            <a:off x="1576289" y="1174592"/>
            <a:ext cx="1400901" cy="523220"/>
          </a:xfrm>
          <a:prstGeom prst="rect">
            <a:avLst/>
          </a:prstGeom>
          <a:ln w="28575">
            <a:noFill/>
            <a:prstDash val="dashDot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引例</a:t>
            </a: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3642190" y="3009677"/>
            <a:ext cx="60197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类似二重积分解决问题的思想</a:t>
            </a:r>
            <a:r>
              <a:rPr kumimoji="1" lang="zh-CN" altLang="en-US" sz="2800" noProof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采用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4"/>
              <p:cNvSpPr txBox="1"/>
              <p:nvPr/>
            </p:nvSpPr>
            <p:spPr bwMode="auto">
              <a:xfrm>
                <a:off x="4483587" y="5010397"/>
                <a:ext cx="2689932" cy="6727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3587" y="5010397"/>
                <a:ext cx="2689932" cy="6727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5"/>
          <p:cNvGrpSpPr>
            <a:grpSpLocks/>
          </p:cNvGrpSpPr>
          <p:nvPr/>
        </p:nvGrpSpPr>
        <p:grpSpPr bwMode="auto">
          <a:xfrm>
            <a:off x="7392772" y="4503524"/>
            <a:ext cx="1638300" cy="1638300"/>
            <a:chOff x="1008" y="1008"/>
            <a:chExt cx="1032" cy="1032"/>
          </a:xfrm>
          <a:solidFill>
            <a:srgbClr val="CEEAE2"/>
          </a:solidFill>
        </p:grpSpPr>
        <p:sp>
          <p:nvSpPr>
            <p:cNvPr id="19" name="Freeform 6"/>
            <p:cNvSpPr>
              <a:spLocks/>
            </p:cNvSpPr>
            <p:nvPr/>
          </p:nvSpPr>
          <p:spPr bwMode="auto">
            <a:xfrm>
              <a:off x="1008" y="1008"/>
              <a:ext cx="1032" cy="1032"/>
            </a:xfrm>
            <a:custGeom>
              <a:avLst/>
              <a:gdLst>
                <a:gd name="T0" fmla="*/ 32 w 1032"/>
                <a:gd name="T1" fmla="*/ 384 h 1032"/>
                <a:gd name="T2" fmla="*/ 368 w 1032"/>
                <a:gd name="T3" fmla="*/ 48 h 1032"/>
                <a:gd name="T4" fmla="*/ 896 w 1032"/>
                <a:gd name="T5" fmla="*/ 96 h 1032"/>
                <a:gd name="T6" fmla="*/ 992 w 1032"/>
                <a:gd name="T7" fmla="*/ 480 h 1032"/>
                <a:gd name="T8" fmla="*/ 896 w 1032"/>
                <a:gd name="T9" fmla="*/ 960 h 1032"/>
                <a:gd name="T10" fmla="*/ 176 w 1032"/>
                <a:gd name="T11" fmla="*/ 912 h 1032"/>
                <a:gd name="T12" fmla="*/ 32 w 1032"/>
                <a:gd name="T13" fmla="*/ 384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2" h="1032">
                  <a:moveTo>
                    <a:pt x="32" y="384"/>
                  </a:moveTo>
                  <a:cubicBezTo>
                    <a:pt x="64" y="240"/>
                    <a:pt x="224" y="96"/>
                    <a:pt x="368" y="48"/>
                  </a:cubicBezTo>
                  <a:cubicBezTo>
                    <a:pt x="512" y="0"/>
                    <a:pt x="792" y="24"/>
                    <a:pt x="896" y="96"/>
                  </a:cubicBezTo>
                  <a:cubicBezTo>
                    <a:pt x="1000" y="168"/>
                    <a:pt x="992" y="336"/>
                    <a:pt x="992" y="480"/>
                  </a:cubicBezTo>
                  <a:cubicBezTo>
                    <a:pt x="992" y="624"/>
                    <a:pt x="1032" y="888"/>
                    <a:pt x="896" y="960"/>
                  </a:cubicBezTo>
                  <a:cubicBezTo>
                    <a:pt x="760" y="1032"/>
                    <a:pt x="320" y="1008"/>
                    <a:pt x="176" y="912"/>
                  </a:cubicBezTo>
                  <a:cubicBezTo>
                    <a:pt x="32" y="816"/>
                    <a:pt x="0" y="528"/>
                    <a:pt x="32" y="384"/>
                  </a:cubicBezTo>
                  <a:close/>
                </a:path>
              </a:pathLst>
            </a:custGeom>
            <a:grpFill/>
            <a:ln w="9525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344" y="1056"/>
                  <a:ext cx="384" cy="32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𝛺</m:t>
                        </m:r>
                      </m:oMath>
                    </m:oMathPara>
                  </a14:m>
                  <a:endPara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20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44" y="1056"/>
                  <a:ext cx="384" cy="32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8192872" y="5068674"/>
            <a:ext cx="457200" cy="533400"/>
          </a:xfrm>
          <a:prstGeom prst="ellipse">
            <a:avLst/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4D4D4D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2" name="Group 9"/>
          <p:cNvGrpSpPr>
            <a:grpSpLocks/>
          </p:cNvGrpSpPr>
          <p:nvPr/>
        </p:nvGrpSpPr>
        <p:grpSpPr bwMode="auto">
          <a:xfrm>
            <a:off x="8401974" y="5393106"/>
            <a:ext cx="2473304" cy="824613"/>
            <a:chOff x="4789" y="1920"/>
            <a:chExt cx="1381" cy="3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bject 10"/>
                <p:cNvSpPr txBox="1"/>
                <p:nvPr/>
              </p:nvSpPr>
              <p:spPr bwMode="auto">
                <a:xfrm>
                  <a:off x="5255" y="2039"/>
                  <a:ext cx="915" cy="2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400" i="1" dirty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400" i="1" dirty="0">
                                <a:latin typeface="Cambria Math" panose="02040503050406030204" charset="0"/>
                                <a:ea typeface="MS Mincho" panose="02020609040205080304" charset="-128"/>
                                <a:cs typeface="Cambria Math" panose="02040503050406030204" charset="0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3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55" y="2039"/>
                  <a:ext cx="915" cy="255"/>
                </a:xfrm>
                <a:prstGeom prst="rect">
                  <a:avLst/>
                </a:prstGeom>
                <a:blipFill>
                  <a:blip r:embed="rId4"/>
                  <a:stretch>
                    <a:fillRect l="-297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Line 11"/>
            <p:cNvSpPr>
              <a:spLocks noChangeShapeType="1"/>
            </p:cNvSpPr>
            <p:nvPr/>
          </p:nvSpPr>
          <p:spPr bwMode="auto">
            <a:xfrm flipH="1" flipV="1">
              <a:off x="4789" y="1920"/>
              <a:ext cx="474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5" name="Oval 12"/>
          <p:cNvSpPr>
            <a:spLocks noChangeArrowheads="1"/>
          </p:cNvSpPr>
          <p:nvPr/>
        </p:nvSpPr>
        <p:spPr bwMode="auto">
          <a:xfrm>
            <a:off x="8380198" y="5287750"/>
            <a:ext cx="74613" cy="7461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6" name="Group 13"/>
          <p:cNvGrpSpPr>
            <a:grpSpLocks/>
          </p:cNvGrpSpPr>
          <p:nvPr/>
        </p:nvGrpSpPr>
        <p:grpSpPr bwMode="auto">
          <a:xfrm>
            <a:off x="8532599" y="4722602"/>
            <a:ext cx="1373188" cy="619125"/>
            <a:chOff x="2640" y="1002"/>
            <a:chExt cx="865" cy="3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bject 14"/>
                <p:cNvSpPr txBox="1"/>
                <p:nvPr/>
              </p:nvSpPr>
              <p:spPr bwMode="auto">
                <a:xfrm>
                  <a:off x="3032" y="1002"/>
                  <a:ext cx="473" cy="3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27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32" y="1002"/>
                  <a:ext cx="473" cy="335"/>
                </a:xfrm>
                <a:prstGeom prst="rect">
                  <a:avLst/>
                </a:prstGeom>
                <a:blipFill>
                  <a:blip r:embed="rId5"/>
                  <a:stretch>
                    <a:fillRect l="-243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Line 15"/>
            <p:cNvSpPr>
              <a:spLocks noChangeShapeType="1"/>
            </p:cNvSpPr>
            <p:nvPr/>
          </p:nvSpPr>
          <p:spPr bwMode="auto">
            <a:xfrm flipH="1">
              <a:off x="2640" y="1246"/>
              <a:ext cx="386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16"/>
              <p:cNvSpPr txBox="1">
                <a:spLocks noChangeArrowheads="1"/>
              </p:cNvSpPr>
              <p:nvPr/>
            </p:nvSpPr>
            <p:spPr bwMode="auto">
              <a:xfrm>
                <a:off x="2841198" y="1803424"/>
                <a:ext cx="831312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设在空间有限闭区域</a:t>
                </a:r>
                <a14:m>
                  <m:oMath xmlns:m="http://schemas.openxmlformats.org/officeDocument/2006/math">
                    <m:r>
                      <a:rPr lang="el-GR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内分布着某种不均匀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的物质，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9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198" y="1803424"/>
                <a:ext cx="8313126" cy="523220"/>
              </a:xfrm>
              <a:prstGeom prst="rect">
                <a:avLst/>
              </a:prstGeom>
              <a:blipFill>
                <a:blip r:embed="rId6"/>
                <a:stretch>
                  <a:fillRect l="-1466" t="-16279" r="-880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8"/>
              <p:cNvSpPr txBox="1"/>
              <p:nvPr/>
            </p:nvSpPr>
            <p:spPr bwMode="auto">
              <a:xfrm>
                <a:off x="3783637" y="2383506"/>
                <a:ext cx="2297821" cy="6017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3637" y="2383506"/>
                <a:ext cx="2297821" cy="6017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 Box 19"/>
              <p:cNvSpPr txBox="1">
                <a:spLocks noChangeArrowheads="1"/>
              </p:cNvSpPr>
              <p:nvPr/>
            </p:nvSpPr>
            <p:spPr bwMode="auto">
              <a:xfrm>
                <a:off x="5903483" y="2406828"/>
                <a:ext cx="482221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求分布在</a:t>
                </a:r>
                <a14:m>
                  <m:oMath xmlns:m="http://schemas.openxmlformats.org/officeDocument/2006/math">
                    <m:r>
                      <a:rPr lang="el-GR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内的物质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的质量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.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2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3483" y="2406828"/>
                <a:ext cx="4822215" cy="523220"/>
              </a:xfrm>
              <a:prstGeom prst="rect">
                <a:avLst/>
              </a:prstGeom>
              <a:blipFill>
                <a:blip r:embed="rId8"/>
                <a:stretch>
                  <a:fillRect l="-2528" t="-16279" r="-632" b="-3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2030676" y="4141359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可得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1"/>
              <p:cNvSpPr txBox="1"/>
              <p:nvPr/>
            </p:nvSpPr>
            <p:spPr bwMode="auto">
              <a:xfrm flipH="1">
                <a:off x="3882354" y="4677117"/>
                <a:ext cx="601233" cy="13367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3882354" y="4677117"/>
                <a:ext cx="601233" cy="133678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2"/>
              <p:cNvSpPr txBox="1"/>
              <p:nvPr/>
            </p:nvSpPr>
            <p:spPr bwMode="auto">
              <a:xfrm>
                <a:off x="3332527" y="4974868"/>
                <a:ext cx="730235" cy="8054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5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2527" y="4974868"/>
                <a:ext cx="730235" cy="8054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3"/>
              <p:cNvSpPr txBox="1"/>
              <p:nvPr/>
            </p:nvSpPr>
            <p:spPr bwMode="auto">
              <a:xfrm>
                <a:off x="2680901" y="5008988"/>
                <a:ext cx="962545" cy="6730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6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0901" y="5008988"/>
                <a:ext cx="962545" cy="6730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Box 24"/>
          <p:cNvSpPr txBox="1">
            <a:spLocks noChangeArrowheads="1"/>
          </p:cNvSpPr>
          <p:nvPr/>
        </p:nvSpPr>
        <p:spPr bwMode="auto">
          <a:xfrm>
            <a:off x="3497526" y="3599988"/>
            <a:ext cx="601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dirty="0">
                <a:solidFill>
                  <a:srgbClr val="4A7BA8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“大化小，常代变，近似和，求极限”</a:t>
            </a:r>
          </a:p>
        </p:txBody>
      </p:sp>
      <p:sp>
        <p:nvSpPr>
          <p:cNvPr id="42" name="Text Box 25"/>
          <p:cNvSpPr txBox="1">
            <a:spLocks noChangeArrowheads="1"/>
          </p:cNvSpPr>
          <p:nvPr/>
        </p:nvSpPr>
        <p:spPr bwMode="auto">
          <a:xfrm>
            <a:off x="2025161" y="3014057"/>
            <a:ext cx="17383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解决方法</a:t>
            </a:r>
            <a:r>
              <a:rPr kumimoji="1" lang="en-US" altLang="zh-CN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</a:p>
        </p:txBody>
      </p:sp>
      <p:sp>
        <p:nvSpPr>
          <p:cNvPr id="44" name="Text Box 27"/>
          <p:cNvSpPr txBox="1">
            <a:spLocks noChangeArrowheads="1"/>
          </p:cNvSpPr>
          <p:nvPr/>
        </p:nvSpPr>
        <p:spPr bwMode="auto">
          <a:xfrm>
            <a:off x="1993034" y="2405984"/>
            <a:ext cx="197943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密度函数为</a:t>
            </a:r>
          </a:p>
        </p:txBody>
      </p:sp>
      <p:sp>
        <p:nvSpPr>
          <p:cNvPr id="3" name="矩形 2"/>
          <p:cNvSpPr/>
          <p:nvPr/>
        </p:nvSpPr>
        <p:spPr>
          <a:xfrm>
            <a:off x="1993034" y="1812851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引例</a:t>
            </a:r>
          </a:p>
        </p:txBody>
      </p:sp>
    </p:spTree>
    <p:extLst>
      <p:ext uri="{BB962C8B-B14F-4D97-AF65-F5344CB8AC3E}">
        <p14:creationId xmlns:p14="http://schemas.microsoft.com/office/powerpoint/2010/main" val="125710570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5" grpId="0"/>
      <p:bldP spid="37" grpId="0" animBg="1"/>
      <p:bldP spid="16" grpId="0" autoUpdateAnimBg="0"/>
      <p:bldP spid="17" grpId="0"/>
      <p:bldP spid="29" grpId="0"/>
      <p:bldP spid="31" grpId="0"/>
      <p:bldP spid="32" grpId="0" autoUpdateAnimBg="0"/>
      <p:bldP spid="33" grpId="0" autoUpdateAnimBg="0"/>
      <p:bldP spid="34" grpId="0"/>
      <p:bldP spid="35" grpId="0"/>
      <p:bldP spid="36" grpId="0"/>
      <p:bldP spid="40" grpId="0" autoUpdateAnimBg="0"/>
      <p:bldP spid="42" grpId="0" build="p" autoUpdateAnimBg="0"/>
      <p:bldP spid="44" grpId="0" autoUpdateAnimBg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457C364-09D6-4429-2746-81BA2757C4E4}"/>
              </a:ext>
            </a:extLst>
          </p:cNvPr>
          <p:cNvGrpSpPr/>
          <p:nvPr/>
        </p:nvGrpSpPr>
        <p:grpSpPr>
          <a:xfrm>
            <a:off x="587189" y="982941"/>
            <a:ext cx="10800497" cy="5166818"/>
            <a:chOff x="592673" y="1109939"/>
            <a:chExt cx="10800497" cy="5043211"/>
          </a:xfrm>
        </p:grpSpPr>
        <p:sp>
          <p:nvSpPr>
            <p:cNvPr id="3" name="Rectangle 1">
              <a:extLst>
                <a:ext uri="{FF2B5EF4-FFF2-40B4-BE49-F238E27FC236}">
                  <a16:creationId xmlns:a16="http://schemas.microsoft.com/office/drawing/2014/main" id="{56CB3DEA-4A9E-AABA-CF06-C3985C57AE76}"/>
                </a:ext>
              </a:extLst>
            </p:cNvPr>
            <p:cNvSpPr/>
            <p:nvPr/>
          </p:nvSpPr>
          <p:spPr>
            <a:xfrm>
              <a:off x="1054100" y="1109939"/>
              <a:ext cx="10339070" cy="5043211"/>
            </a:xfrm>
            <a:prstGeom prst="rect">
              <a:avLst/>
            </a:prstGeom>
            <a:solidFill>
              <a:srgbClr val="04926A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PA-102231">
              <a:extLst>
                <a:ext uri="{FF2B5EF4-FFF2-40B4-BE49-F238E27FC236}">
                  <a16:creationId xmlns:a16="http://schemas.microsoft.com/office/drawing/2014/main" id="{26C36EE9-0F20-0A52-143C-134422534BB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592673" y="3191076"/>
              <a:ext cx="950345" cy="900000"/>
            </a:xfrm>
            <a:prstGeom prst="rect">
              <a:avLst/>
            </a:prstGeom>
            <a:solidFill>
              <a:schemeClr val="bg1"/>
            </a:solidFill>
            <a:ln w="19050">
              <a:gradFill>
                <a:gsLst>
                  <a:gs pos="5000">
                    <a:srgbClr val="17A45E"/>
                  </a:gs>
                  <a:gs pos="56000">
                    <a:srgbClr val="039267"/>
                  </a:gs>
                  <a:gs pos="100000">
                    <a:srgbClr val="068983"/>
                  </a:gs>
                </a:gsLst>
                <a:lin ang="10800000" scaled="0"/>
              </a:gradFill>
            </a:ln>
            <a:effectLst>
              <a:outerShdw blurRad="203200" dist="63500" dir="300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>
                      <a:lumMod val="95000"/>
                    </a:schemeClr>
                  </a:solidFill>
                </a:ln>
                <a:cs typeface="+mn-ea"/>
                <a:sym typeface="+mn-lt"/>
              </a:endParaRPr>
            </a:p>
          </p:txBody>
        </p:sp>
        <p:sp>
          <p:nvSpPr>
            <p:cNvPr id="10" name="Rectangle 2">
              <a:extLst>
                <a:ext uri="{FF2B5EF4-FFF2-40B4-BE49-F238E27FC236}">
                  <a16:creationId xmlns:a16="http://schemas.microsoft.com/office/drawing/2014/main" id="{7F2361D6-F1B4-6FA7-9FDD-A2329934581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92673" y="3404999"/>
              <a:ext cx="965957" cy="526262"/>
            </a:xfrm>
            <a:noFill/>
            <a:ln>
              <a:noFill/>
            </a:ln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kumimoji="1" lang="zh-CN" altLang="en-US" sz="2800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定义</a:t>
              </a:r>
              <a:r>
                <a:rPr kumimoji="1" lang="en-US" altLang="zh-CN" sz="2800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</a:p>
          </p:txBody>
        </p:sp>
      </p:grpSp>
      <p:sp>
        <p:nvSpPr>
          <p:cNvPr id="37" name="矩形 36"/>
          <p:cNvSpPr/>
          <p:nvPr/>
        </p:nvSpPr>
        <p:spPr>
          <a:xfrm>
            <a:off x="941407" y="463112"/>
            <a:ext cx="1492938" cy="523220"/>
          </a:xfrm>
          <a:prstGeom prst="rect">
            <a:avLst/>
          </a:prstGeom>
          <a:ln w="28575">
            <a:noFill/>
            <a:prstDash val="dashDot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185"/>
              <p:cNvSpPr txBox="1">
                <a:spLocks noChangeArrowheads="1"/>
              </p:cNvSpPr>
              <p:nvPr/>
            </p:nvSpPr>
            <p:spPr bwMode="auto">
              <a:xfrm>
                <a:off x="1935526" y="1022169"/>
                <a:ext cx="74803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是空间有界闭区域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上的有界函数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8" name="Text Box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5526" y="1022169"/>
                <a:ext cx="7480300" cy="523220"/>
              </a:xfrm>
              <a:prstGeom prst="rect">
                <a:avLst/>
              </a:prstGeom>
              <a:blipFill>
                <a:blip r:embed="rId3"/>
                <a:stretch>
                  <a:fillRect l="-1711"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 Box 188"/>
              <p:cNvSpPr txBox="1">
                <a:spLocks noChangeArrowheads="1"/>
              </p:cNvSpPr>
              <p:nvPr/>
            </p:nvSpPr>
            <p:spPr bwMode="auto">
              <a:xfrm>
                <a:off x="8454243" y="1584988"/>
                <a:ext cx="246023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表示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41" name="Text Box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54243" y="1584988"/>
                <a:ext cx="2460231" cy="523220"/>
              </a:xfrm>
              <a:prstGeom prst="rect">
                <a:avLst/>
              </a:prstGeom>
              <a:blipFill>
                <a:blip r:embed="rId4"/>
                <a:stretch>
                  <a:fillRect l="-5211" t="-15116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 Box 193"/>
          <p:cNvSpPr txBox="1">
            <a:spLocks noChangeArrowheads="1"/>
          </p:cNvSpPr>
          <p:nvPr/>
        </p:nvSpPr>
        <p:spPr bwMode="auto">
          <a:xfrm>
            <a:off x="9440113" y="2503097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并作和</a:t>
            </a:r>
          </a:p>
        </p:txBody>
      </p:sp>
      <p:sp>
        <p:nvSpPr>
          <p:cNvPr id="50" name="Text Box 198"/>
          <p:cNvSpPr txBox="1">
            <a:spLocks noChangeArrowheads="1"/>
          </p:cNvSpPr>
          <p:nvPr/>
        </p:nvSpPr>
        <p:spPr bwMode="auto">
          <a:xfrm>
            <a:off x="8360818" y="4423056"/>
            <a:ext cx="2463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这和的极限总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4229303" y="3075766"/>
                <a:ext cx="3046261" cy="1288817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303" y="3075766"/>
                <a:ext cx="3046261" cy="12888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1935526" y="2010672"/>
                <a:ext cx="5493974" cy="5775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第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个小闭区域，也表示它的体积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26" y="2010672"/>
                <a:ext cx="5493974" cy="5775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7139037" y="2021510"/>
                <a:ext cx="3606838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在每个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上任取一点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037" y="2021510"/>
                <a:ext cx="3606838" cy="457200"/>
              </a:xfrm>
              <a:prstGeom prst="rect">
                <a:avLst/>
              </a:prstGeom>
              <a:blipFill>
                <a:blip r:embed="rId7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1935526" y="2482541"/>
                <a:ext cx="8103824" cy="58362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，作乘积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2,⋯,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26" y="2482541"/>
                <a:ext cx="8103824" cy="5836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>
              <a:xfrm>
                <a:off x="1935526" y="1539468"/>
                <a:ext cx="6770324" cy="62563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任意分成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个小闭区域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26" y="1539468"/>
                <a:ext cx="6770324" cy="6256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4"/>
              <p:cNvSpPr txBox="1"/>
              <p:nvPr/>
            </p:nvSpPr>
            <p:spPr>
              <a:xfrm>
                <a:off x="1843722" y="4403489"/>
                <a:ext cx="6953931" cy="5232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若当各小闭区域直径中的最大值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对象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722" y="4403489"/>
                <a:ext cx="6953931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93">
                <a:extLst>
                  <a:ext uri="{FF2B5EF4-FFF2-40B4-BE49-F238E27FC236}">
                    <a16:creationId xmlns:a16="http://schemas.microsoft.com/office/drawing/2014/main" id="{D1E4C108-07EF-1AD8-432C-957F624D64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1458" y="5533730"/>
                <a:ext cx="939936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则称此极限为函数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上的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三重积分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  <a:endParaRPr lang="zh-CN" altLang="en-US" sz="2800" dirty="0">
                  <a:solidFill>
                    <a:srgbClr val="04926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 Box 193">
                <a:extLst>
                  <a:ext uri="{FF2B5EF4-FFF2-40B4-BE49-F238E27FC236}">
                    <a16:creationId xmlns:a16="http://schemas.microsoft.com/office/drawing/2014/main" id="{D1E4C108-07EF-1AD8-432C-957F624D6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1458" y="5533730"/>
                <a:ext cx="9399368" cy="523220"/>
              </a:xfrm>
              <a:prstGeom prst="rect">
                <a:avLst/>
              </a:prstGeom>
              <a:blipFill>
                <a:blip r:embed="rId11"/>
                <a:stretch>
                  <a:fillRect l="-1297"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93">
                <a:extLst>
                  <a:ext uri="{FF2B5EF4-FFF2-40B4-BE49-F238E27FC236}">
                    <a16:creationId xmlns:a16="http://schemas.microsoft.com/office/drawing/2014/main" id="{D4CB2603-B376-B10D-BB82-28DA0F3359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93341" y="4982745"/>
                <a:ext cx="939936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存在，且与闭区域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的分法及点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  <a:sym typeface="Symbol" panose="05050102010706020507" pitchFamily="18" charset="2"/>
                          </a:rPr>
                          <m:t>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  <a:sym typeface="Symbol" panose="05050102010706020507" pitchFamily="18" charset="2"/>
                          </a:rPr>
                          <m:t>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的取法无关，</a:t>
                </a:r>
                <a:endParaRPr lang="zh-CN" altLang="en-US" sz="2800" dirty="0">
                  <a:solidFill>
                    <a:srgbClr val="04926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193">
                <a:extLst>
                  <a:ext uri="{FF2B5EF4-FFF2-40B4-BE49-F238E27FC236}">
                    <a16:creationId xmlns:a16="http://schemas.microsoft.com/office/drawing/2014/main" id="{D4CB2603-B376-B10D-BB82-28DA0F335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3341" y="4982745"/>
                <a:ext cx="9399368" cy="523220"/>
              </a:xfrm>
              <a:prstGeom prst="rect">
                <a:avLst/>
              </a:prstGeom>
              <a:blipFill>
                <a:blip r:embed="rId12"/>
                <a:stretch>
                  <a:fillRect l="-1363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14560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animBg="1"/>
      <p:bldP spid="5" grpId="1" animBg="1"/>
      <p:bldP spid="37" grpId="0" animBg="1"/>
      <p:bldP spid="38" grpId="0"/>
      <p:bldP spid="41" grpId="0"/>
      <p:bldP spid="46" grpId="0"/>
      <p:bldP spid="50" grpId="0"/>
      <p:bldP spid="4" grpId="0" animBg="1"/>
      <p:bldP spid="6" grpId="0"/>
      <p:bldP spid="7" grpId="0"/>
      <p:bldP spid="8" grpId="0"/>
      <p:bldP spid="9" grpId="0"/>
      <p:bldP spid="15" grpId="0"/>
      <p:bldP spid="2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1B0EA0B-3B78-3069-4163-37A6FA9A084C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6" name="PA-102232">
              <a:extLst>
                <a:ext uri="{FF2B5EF4-FFF2-40B4-BE49-F238E27FC236}">
                  <a16:creationId xmlns:a16="http://schemas.microsoft.com/office/drawing/2014/main" id="{BED8C569-F69E-FE6C-08ED-3C62463B9391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28682342-B9D0-3F49-83E3-9C649D7D88F7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DEB69C88-B781-AB2C-6089-E99B08DC710C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BEE09B94-241F-4D7A-8BDD-6FFD5E2B48BE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B93FFEBA-94DA-1A7C-7A01-5A9A8D3463F4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"/>
          <p:cNvGrpSpPr>
            <a:grpSpLocks/>
          </p:cNvGrpSpPr>
          <p:nvPr/>
        </p:nvGrpSpPr>
        <p:grpSpPr bwMode="auto">
          <a:xfrm>
            <a:off x="2549076" y="2550884"/>
            <a:ext cx="563562" cy="685800"/>
            <a:chOff x="0" y="1536"/>
            <a:chExt cx="480" cy="528"/>
          </a:xfrm>
        </p:grpSpPr>
        <p:sp>
          <p:nvSpPr>
            <p:cNvPr id="28" name="Rectangle 3"/>
            <p:cNvSpPr>
              <a:spLocks noChangeArrowheads="1"/>
            </p:cNvSpPr>
            <p:nvPr/>
          </p:nvSpPr>
          <p:spPr bwMode="auto">
            <a:xfrm>
              <a:off x="0" y="1536"/>
              <a:ext cx="480" cy="240"/>
            </a:xfrm>
            <a:prstGeom prst="rect">
              <a:avLst/>
            </a:prstGeom>
            <a:solidFill>
              <a:srgbClr val="04926A"/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AutoShape 4"/>
            <p:cNvSpPr>
              <a:spLocks noChangeArrowheads="1"/>
            </p:cNvSpPr>
            <p:nvPr/>
          </p:nvSpPr>
          <p:spPr bwMode="auto">
            <a:xfrm>
              <a:off x="176" y="1776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4926A"/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6036" name="Rectangle 20"/>
          <p:cNvSpPr>
            <a:spLocks noChangeArrowheads="1"/>
          </p:cNvSpPr>
          <p:nvPr/>
        </p:nvSpPr>
        <p:spPr bwMode="auto">
          <a:xfrm>
            <a:off x="1389508" y="880125"/>
            <a:ext cx="9203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记作</a:t>
            </a:r>
          </a:p>
        </p:txBody>
      </p:sp>
      <p:sp>
        <p:nvSpPr>
          <p:cNvPr id="86038" name="Text Box 22"/>
          <p:cNvSpPr txBox="1">
            <a:spLocks noChangeArrowheads="1"/>
          </p:cNvSpPr>
          <p:nvPr/>
        </p:nvSpPr>
        <p:spPr bwMode="auto">
          <a:xfrm>
            <a:off x="4767224" y="857459"/>
            <a:ext cx="9203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</a:p>
        </p:txBody>
      </p:sp>
      <p:sp>
        <p:nvSpPr>
          <p:cNvPr id="86041" name="Text Box 25"/>
          <p:cNvSpPr txBox="1">
            <a:spLocks noChangeArrowheads="1"/>
          </p:cNvSpPr>
          <p:nvPr/>
        </p:nvSpPr>
        <p:spPr bwMode="auto">
          <a:xfrm>
            <a:off x="1389508" y="5371048"/>
            <a:ext cx="533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在直角坐标系中，体积元素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42" name="Text Box 26"/>
              <p:cNvSpPr txBox="1">
                <a:spLocks noChangeArrowheads="1"/>
              </p:cNvSpPr>
              <p:nvPr/>
            </p:nvSpPr>
            <p:spPr bwMode="auto">
              <a:xfrm>
                <a:off x="5725109" y="5357655"/>
                <a:ext cx="2819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 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 err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800" dirty="0" err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6042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5109" y="5357655"/>
                <a:ext cx="2819400" cy="523220"/>
              </a:xfrm>
              <a:prstGeom prst="rect">
                <a:avLst/>
              </a:prstGeom>
              <a:blipFill>
                <a:blip r:embed="rId3"/>
                <a:stretch>
                  <a:fillRect t="-12791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186748" y="518754"/>
                <a:ext cx="2690596" cy="124265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748" y="518754"/>
                <a:ext cx="2690596" cy="12426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2518913" y="1599767"/>
                <a:ext cx="6679835" cy="150652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charset="0"/>
                                      <a:ea typeface="MS Mincho" panose="02020609040205080304" charset="-128"/>
                                      <a:cs typeface="Cambria Math" panose="02040503050406030204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913" y="1599767"/>
                <a:ext cx="6679835" cy="15065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5" descr="大网格"/>
          <p:cNvSpPr txBox="1">
            <a:spLocks noChangeArrowheads="1"/>
          </p:cNvSpPr>
          <p:nvPr/>
        </p:nvSpPr>
        <p:spPr bwMode="auto">
          <a:xfrm>
            <a:off x="2549626" y="3426081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</a:rPr>
              <a:t>积分区域</a:t>
            </a:r>
            <a:endParaRPr lang="zh-CN" altLang="en-US" sz="4000" dirty="0">
              <a:solidFill>
                <a:srgbClr val="04926A"/>
              </a:solidFill>
            </a:endParaRPr>
          </a:p>
        </p:txBody>
      </p:sp>
      <p:grpSp>
        <p:nvGrpSpPr>
          <p:cNvPr id="31" name="Group 7"/>
          <p:cNvGrpSpPr>
            <a:grpSpLocks/>
          </p:cNvGrpSpPr>
          <p:nvPr/>
        </p:nvGrpSpPr>
        <p:grpSpPr bwMode="auto">
          <a:xfrm>
            <a:off x="5971291" y="1661270"/>
            <a:ext cx="3060890" cy="1838538"/>
            <a:chOff x="3353" y="883"/>
            <a:chExt cx="2664" cy="1270"/>
          </a:xfrm>
        </p:grpSpPr>
        <p:sp>
          <p:nvSpPr>
            <p:cNvPr id="32" name="Rectangle 8" descr="大网格"/>
            <p:cNvSpPr>
              <a:spLocks noChangeArrowheads="1"/>
            </p:cNvSpPr>
            <p:nvPr/>
          </p:nvSpPr>
          <p:spPr bwMode="auto">
            <a:xfrm>
              <a:off x="3353" y="883"/>
              <a:ext cx="2664" cy="845"/>
            </a:xfrm>
            <a:prstGeom prst="rect">
              <a:avLst/>
            </a:prstGeom>
            <a:noFill/>
            <a:ln w="38100" cap="sq">
              <a:solidFill>
                <a:srgbClr val="92D05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utoShape 9"/>
            <p:cNvSpPr>
              <a:spLocks noChangeArrowheads="1"/>
            </p:cNvSpPr>
            <p:nvPr/>
          </p:nvSpPr>
          <p:spPr bwMode="auto">
            <a:xfrm>
              <a:off x="5673" y="1719"/>
              <a:ext cx="117" cy="434"/>
            </a:xfrm>
            <a:prstGeom prst="downArrow">
              <a:avLst>
                <a:gd name="adj1" fmla="val 50000"/>
                <a:gd name="adj2" fmla="val 175000"/>
              </a:avLst>
            </a:prstGeom>
            <a:solidFill>
              <a:srgbClr val="A9D18E"/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" name="Text Box 10" descr="大网格"/>
          <p:cNvSpPr txBox="1">
            <a:spLocks noChangeArrowheads="1"/>
          </p:cNvSpPr>
          <p:nvPr/>
        </p:nvSpPr>
        <p:spPr bwMode="auto">
          <a:xfrm>
            <a:off x="8396369" y="3629306"/>
            <a:ext cx="61555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A9D18E"/>
                </a:solidFill>
              </a:rPr>
              <a:t>积分和</a:t>
            </a:r>
            <a:endParaRPr lang="zh-CN" altLang="en-US" sz="4000" dirty="0">
              <a:solidFill>
                <a:srgbClr val="A9D18E"/>
              </a:solidFill>
            </a:endParaRPr>
          </a:p>
        </p:txBody>
      </p:sp>
      <p:grpSp>
        <p:nvGrpSpPr>
          <p:cNvPr id="35" name="Group 11"/>
          <p:cNvGrpSpPr>
            <a:grpSpLocks/>
          </p:cNvGrpSpPr>
          <p:nvPr/>
        </p:nvGrpSpPr>
        <p:grpSpPr bwMode="auto">
          <a:xfrm>
            <a:off x="3149983" y="2025012"/>
            <a:ext cx="1423377" cy="1403350"/>
            <a:chOff x="414" y="1056"/>
            <a:chExt cx="1457" cy="1056"/>
          </a:xfrm>
        </p:grpSpPr>
        <p:sp>
          <p:nvSpPr>
            <p:cNvPr id="36" name="Rectangle 12" descr="大网格"/>
            <p:cNvSpPr>
              <a:spLocks noChangeArrowheads="1"/>
            </p:cNvSpPr>
            <p:nvPr/>
          </p:nvSpPr>
          <p:spPr bwMode="auto">
            <a:xfrm>
              <a:off x="414" y="1056"/>
              <a:ext cx="1457" cy="485"/>
            </a:xfrm>
            <a:prstGeom prst="rect">
              <a:avLst/>
            </a:prstGeom>
            <a:noFill/>
            <a:ln w="38100" cap="sq">
              <a:solidFill>
                <a:srgbClr val="4A7BA8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utoShape 13"/>
            <p:cNvSpPr>
              <a:spLocks noChangeArrowheads="1"/>
            </p:cNvSpPr>
            <p:nvPr/>
          </p:nvSpPr>
          <p:spPr bwMode="auto">
            <a:xfrm>
              <a:off x="960" y="1632"/>
              <a:ext cx="48" cy="480"/>
            </a:xfrm>
            <a:prstGeom prst="downArrow">
              <a:avLst>
                <a:gd name="adj1" fmla="val 50000"/>
                <a:gd name="adj2" fmla="val 250000"/>
              </a:avLst>
            </a:prstGeom>
            <a:solidFill>
              <a:srgbClr val="4A7BA8"/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" name="Text Box 14" descr="大网格"/>
          <p:cNvSpPr txBox="1">
            <a:spLocks noChangeArrowheads="1"/>
          </p:cNvSpPr>
          <p:nvPr/>
        </p:nvSpPr>
        <p:spPr bwMode="auto">
          <a:xfrm>
            <a:off x="3429644" y="3528374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4A7BA8"/>
                </a:solidFill>
              </a:rPr>
              <a:t>被积函数</a:t>
            </a:r>
            <a:endParaRPr lang="zh-CN" altLang="en-US" sz="1800" dirty="0">
              <a:solidFill>
                <a:srgbClr val="4A7BA8"/>
              </a:solidFill>
            </a:endParaRPr>
          </a:p>
        </p:txBody>
      </p:sp>
      <p:grpSp>
        <p:nvGrpSpPr>
          <p:cNvPr id="39" name="Group 15"/>
          <p:cNvGrpSpPr>
            <a:grpSpLocks/>
          </p:cNvGrpSpPr>
          <p:nvPr/>
        </p:nvGrpSpPr>
        <p:grpSpPr bwMode="auto">
          <a:xfrm>
            <a:off x="3592520" y="2064383"/>
            <a:ext cx="929875" cy="1251540"/>
            <a:chOff x="876" y="1177"/>
            <a:chExt cx="762" cy="996"/>
          </a:xfrm>
        </p:grpSpPr>
        <p:sp>
          <p:nvSpPr>
            <p:cNvPr id="40" name="Rectangle 16" descr="大网格"/>
            <p:cNvSpPr>
              <a:spLocks noChangeArrowheads="1"/>
            </p:cNvSpPr>
            <p:nvPr/>
          </p:nvSpPr>
          <p:spPr bwMode="auto">
            <a:xfrm>
              <a:off x="876" y="1177"/>
              <a:ext cx="762" cy="288"/>
            </a:xfrm>
            <a:prstGeom prst="rect">
              <a:avLst/>
            </a:prstGeom>
            <a:noFill/>
            <a:ln w="19050" cap="sq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AutoShape 17"/>
            <p:cNvSpPr>
              <a:spLocks noChangeArrowheads="1"/>
            </p:cNvSpPr>
            <p:nvPr/>
          </p:nvSpPr>
          <p:spPr bwMode="auto">
            <a:xfrm rot="20124323">
              <a:off x="1517" y="1453"/>
              <a:ext cx="48" cy="720"/>
            </a:xfrm>
            <a:prstGeom prst="downArrow">
              <a:avLst>
                <a:gd name="adj1" fmla="val 50000"/>
                <a:gd name="adj2" fmla="val 375000"/>
              </a:avLst>
            </a:prstGeom>
            <a:solidFill>
              <a:srgbClr val="FF0000"/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" name="Text Box 18" descr="大网格"/>
          <p:cNvSpPr txBox="1">
            <a:spLocks noChangeArrowheads="1"/>
          </p:cNvSpPr>
          <p:nvPr/>
        </p:nvSpPr>
        <p:spPr bwMode="auto">
          <a:xfrm>
            <a:off x="4337694" y="3452174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积分变量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43" name="Text Box 19" descr="大网格"/>
          <p:cNvSpPr txBox="1">
            <a:spLocks noChangeArrowheads="1"/>
          </p:cNvSpPr>
          <p:nvPr/>
        </p:nvSpPr>
        <p:spPr bwMode="auto">
          <a:xfrm>
            <a:off x="5417333" y="3455845"/>
            <a:ext cx="615553" cy="188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993300"/>
                </a:solidFill>
              </a:rPr>
              <a:t>被积表达式</a:t>
            </a:r>
            <a:endParaRPr lang="zh-CN" altLang="en-US" sz="4000" dirty="0">
              <a:solidFill>
                <a:srgbClr val="993300"/>
              </a:solidFill>
            </a:endParaRPr>
          </a:p>
        </p:txBody>
      </p:sp>
      <p:grpSp>
        <p:nvGrpSpPr>
          <p:cNvPr id="44" name="Group 20"/>
          <p:cNvGrpSpPr>
            <a:grpSpLocks/>
          </p:cNvGrpSpPr>
          <p:nvPr/>
        </p:nvGrpSpPr>
        <p:grpSpPr bwMode="auto">
          <a:xfrm>
            <a:off x="3196876" y="1925000"/>
            <a:ext cx="2543512" cy="1504104"/>
            <a:chOff x="864" y="1920"/>
            <a:chExt cx="1429" cy="836"/>
          </a:xfrm>
        </p:grpSpPr>
        <p:sp>
          <p:nvSpPr>
            <p:cNvPr id="45" name="Rectangle 21" descr="大网格"/>
            <p:cNvSpPr>
              <a:spLocks noChangeArrowheads="1"/>
            </p:cNvSpPr>
            <p:nvPr/>
          </p:nvSpPr>
          <p:spPr bwMode="auto">
            <a:xfrm>
              <a:off x="864" y="1920"/>
              <a:ext cx="986" cy="460"/>
            </a:xfrm>
            <a:prstGeom prst="rect">
              <a:avLst/>
            </a:prstGeom>
            <a:noFill/>
            <a:ln w="38100" cap="sq">
              <a:solidFill>
                <a:srgbClr val="99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>
              <a:off x="1850" y="2390"/>
              <a:ext cx="443" cy="366"/>
            </a:xfrm>
            <a:prstGeom prst="line">
              <a:avLst/>
            </a:prstGeom>
            <a:noFill/>
            <a:ln w="38100" cap="sq">
              <a:solidFill>
                <a:srgbClr val="99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" name="Group 23"/>
          <p:cNvGrpSpPr>
            <a:grpSpLocks/>
          </p:cNvGrpSpPr>
          <p:nvPr/>
        </p:nvGrpSpPr>
        <p:grpSpPr bwMode="auto">
          <a:xfrm>
            <a:off x="4516050" y="1910141"/>
            <a:ext cx="1990764" cy="992758"/>
            <a:chOff x="1792" y="1069"/>
            <a:chExt cx="1808" cy="800"/>
          </a:xfrm>
        </p:grpSpPr>
        <p:sp>
          <p:nvSpPr>
            <p:cNvPr id="48" name="Oval 24" descr="大网格"/>
            <p:cNvSpPr>
              <a:spLocks noChangeArrowheads="1"/>
            </p:cNvSpPr>
            <p:nvPr/>
          </p:nvSpPr>
          <p:spPr bwMode="auto">
            <a:xfrm>
              <a:off x="1792" y="1069"/>
              <a:ext cx="528" cy="480"/>
            </a:xfrm>
            <a:prstGeom prst="ellipse">
              <a:avLst/>
            </a:prstGeom>
            <a:noFill/>
            <a:ln w="28575" cap="sq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AutoShape 25"/>
            <p:cNvSpPr>
              <a:spLocks noChangeArrowheads="1"/>
            </p:cNvSpPr>
            <p:nvPr/>
          </p:nvSpPr>
          <p:spPr bwMode="auto">
            <a:xfrm rot="17650697">
              <a:off x="2764" y="1034"/>
              <a:ext cx="93" cy="1578"/>
            </a:xfrm>
            <a:prstGeom prst="downArrow">
              <a:avLst>
                <a:gd name="adj1" fmla="val 50000"/>
                <a:gd name="adj2" fmla="val 424194"/>
              </a:avLst>
            </a:prstGeom>
            <a:solidFill>
              <a:srgbClr val="00B0F0"/>
            </a:solidFill>
            <a:ln w="12700" cap="sq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" name="Text Box 26" descr="大网格"/>
          <p:cNvSpPr txBox="1">
            <a:spLocks noChangeArrowheads="1"/>
          </p:cNvSpPr>
          <p:nvPr/>
        </p:nvSpPr>
        <p:spPr bwMode="auto">
          <a:xfrm>
            <a:off x="6172669" y="3418720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B0F0"/>
                </a:solidFill>
              </a:rPr>
              <a:t>体积元素</a:t>
            </a:r>
            <a:endParaRPr lang="zh-CN" altLang="en-US" sz="40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5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6" grpId="0"/>
      <p:bldP spid="86038" grpId="0"/>
      <p:bldP spid="86041" grpId="0"/>
      <p:bldP spid="86042" grpId="0"/>
      <p:bldP spid="3" grpId="0"/>
      <p:bldP spid="4" grpId="0"/>
      <p:bldP spid="30" grpId="0" autoUpdateAnimBg="0"/>
      <p:bldP spid="34" grpId="0" autoUpdateAnimBg="0"/>
      <p:bldP spid="38" grpId="0" autoUpdateAnimBg="0"/>
      <p:bldP spid="42" grpId="0" autoUpdateAnimBg="0"/>
      <p:bldP spid="43" grpId="0" autoUpdateAnimBg="0"/>
      <p:bldP spid="5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D9918FD-24C6-C311-34DB-570FBDA436D8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8" name="PA-102232">
              <a:extLst>
                <a:ext uri="{FF2B5EF4-FFF2-40B4-BE49-F238E27FC236}">
                  <a16:creationId xmlns:a16="http://schemas.microsoft.com/office/drawing/2014/main" id="{DEA49DDF-158A-F173-6116-04BA6CDF6E2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D4E2B17B-D3F2-F924-91BB-3855FC60166E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1034CADF-1A4D-6CB2-5DE7-9FAE14BD119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>
                <a:extLst>
                  <a:ext uri="{FF2B5EF4-FFF2-40B4-BE49-F238E27FC236}">
                    <a16:creationId xmlns:a16="http://schemas.microsoft.com/office/drawing/2014/main" id="{10D16518-4C72-97EE-3540-86ADE3F224F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2BC4E32F-C376-59F5-CC3B-CEF05521AFC3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1073"/>
          <p:cNvSpPr txBox="1">
            <a:spLocks noChangeArrowheads="1"/>
          </p:cNvSpPr>
          <p:nvPr/>
        </p:nvSpPr>
        <p:spPr bwMode="auto">
          <a:xfrm>
            <a:off x="2167276" y="1488186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三重积分的性质与二重积分相似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</a:t>
            </a:r>
          </a:p>
        </p:txBody>
      </p:sp>
      <p:sp>
        <p:nvSpPr>
          <p:cNvPr id="4" name="Text Box 1075"/>
          <p:cNvSpPr txBox="1">
            <a:spLocks noChangeArrowheads="1"/>
          </p:cNvSpPr>
          <p:nvPr/>
        </p:nvSpPr>
        <p:spPr bwMode="auto">
          <a:xfrm>
            <a:off x="7308102" y="1491613"/>
            <a:ext cx="10102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rgbClr val="04926A"/>
                </a:solidFill>
                <a:latin typeface="+mn-ea"/>
              </a:rPr>
              <a:t>例如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5" name="Text Box 1080"/>
          <p:cNvSpPr txBox="1">
            <a:spLocks noChangeArrowheads="1"/>
          </p:cNvSpPr>
          <p:nvPr/>
        </p:nvSpPr>
        <p:spPr bwMode="auto">
          <a:xfrm>
            <a:off x="1931543" y="3319219"/>
            <a:ext cx="43316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）三重积分的中值定理</a:t>
            </a:r>
            <a:endParaRPr kumimoji="1" lang="en-US" altLang="zh-CN" sz="2800" i="0" u="none" strike="noStrike" kern="1200" cap="none" spc="0" normalizeH="0" baseline="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086"/>
              <p:cNvSpPr txBox="1"/>
              <p:nvPr/>
            </p:nvSpPr>
            <p:spPr bwMode="auto">
              <a:xfrm>
                <a:off x="2167276" y="4917073"/>
                <a:ext cx="3162714" cy="6910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则存在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Object 10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7276" y="4917073"/>
                <a:ext cx="3162714" cy="6910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087"/>
          <p:cNvSpPr txBox="1">
            <a:spLocks noChangeArrowheads="1"/>
          </p:cNvSpPr>
          <p:nvPr/>
        </p:nvSpPr>
        <p:spPr bwMode="auto">
          <a:xfrm>
            <a:off x="5207827" y="4922048"/>
            <a:ext cx="93347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使得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89"/>
              <p:cNvSpPr txBox="1"/>
              <p:nvPr/>
            </p:nvSpPr>
            <p:spPr bwMode="auto">
              <a:xfrm>
                <a:off x="5937124" y="4570165"/>
                <a:ext cx="4834574" cy="13373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m:rPr>
                          <m:nor/>
                        </m:rPr>
                        <a:rPr kumimoji="1" lang="en-US" altLang="zh-CN" sz="2800" b="0" i="1" dirty="0" smtClean="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Object 10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7124" y="4570165"/>
                <a:ext cx="4834574" cy="13373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4"/>
              <p:cNvSpPr txBox="1"/>
              <p:nvPr/>
            </p:nvSpPr>
            <p:spPr>
              <a:xfrm>
                <a:off x="2167277" y="4015975"/>
                <a:ext cx="5316366" cy="69106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在有界闭域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对象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77" y="4015975"/>
                <a:ext cx="5316366" cy="69106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/>
              <p:cNvSpPr txBox="1"/>
              <p:nvPr/>
            </p:nvSpPr>
            <p:spPr>
              <a:xfrm>
                <a:off x="7143555" y="4011865"/>
                <a:ext cx="2565930" cy="584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的体积，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对象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555" y="4011865"/>
                <a:ext cx="2565930" cy="584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258631" y="873157"/>
            <a:ext cx="1492938" cy="523220"/>
          </a:xfrm>
          <a:prstGeom prst="rect">
            <a:avLst/>
          </a:prstGeom>
          <a:ln w="28575">
            <a:noFill/>
            <a:prstDash val="dashDot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1931543" y="2020945"/>
                <a:ext cx="6538689" cy="12702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1 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，其中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的体积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543" y="2020945"/>
                <a:ext cx="6538689" cy="12702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528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9" grpId="0"/>
      <p:bldP spid="10" grpId="0"/>
      <p:bldP spid="12" grpId="0"/>
      <p:bldP spid="15" grpId="0"/>
      <p:bldP spid="16" grpId="0"/>
      <p:bldP spid="11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EACD304-5692-9E59-1D7E-7C2024E38459}"/>
              </a:ext>
            </a:extLst>
          </p:cNvPr>
          <p:cNvSpPr/>
          <p:nvPr/>
        </p:nvSpPr>
        <p:spPr>
          <a:xfrm>
            <a:off x="1146175" y="1879600"/>
            <a:ext cx="9863974" cy="439220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8395" name="Rectangle 27"/>
          <p:cNvSpPr>
            <a:spLocks noGrp="1" noChangeArrowheads="1"/>
          </p:cNvSpPr>
          <p:nvPr>
            <p:ph type="title" idx="4294967295"/>
          </p:nvPr>
        </p:nvSpPr>
        <p:spPr>
          <a:xfrm>
            <a:off x="1125610" y="625211"/>
            <a:ext cx="4360790" cy="51826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二、三重积分的计算</a:t>
            </a:r>
          </a:p>
        </p:txBody>
      </p:sp>
      <p:sp>
        <p:nvSpPr>
          <p:cNvPr id="17" name="Text Box 2082"/>
          <p:cNvSpPr txBox="1">
            <a:spLocks noChangeArrowheads="1"/>
          </p:cNvSpPr>
          <p:nvPr/>
        </p:nvSpPr>
        <p:spPr bwMode="auto">
          <a:xfrm>
            <a:off x="2398940" y="3786270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1.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投影法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(“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先一后二”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；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Text Box 2083"/>
          <p:cNvSpPr txBox="1">
            <a:spLocks noChangeArrowheads="1"/>
          </p:cNvSpPr>
          <p:nvPr/>
        </p:nvSpPr>
        <p:spPr bwMode="auto">
          <a:xfrm>
            <a:off x="2398940" y="4386345"/>
            <a:ext cx="53447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截面法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(“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先二后一”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；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</a:t>
            </a:r>
          </a:p>
        </p:txBody>
      </p:sp>
      <p:sp>
        <p:nvSpPr>
          <p:cNvPr id="19" name="Text Box 2084"/>
          <p:cNvSpPr txBox="1">
            <a:spLocks noChangeArrowheads="1"/>
          </p:cNvSpPr>
          <p:nvPr/>
        </p:nvSpPr>
        <p:spPr bwMode="auto">
          <a:xfrm>
            <a:off x="2398940" y="5035063"/>
            <a:ext cx="330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3.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三次积分法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2089"/>
              <p:cNvSpPr txBox="1"/>
              <p:nvPr/>
            </p:nvSpPr>
            <p:spPr bwMode="auto">
              <a:xfrm>
                <a:off x="4154977" y="2108818"/>
                <a:ext cx="2366141" cy="6054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Object 20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4977" y="2108818"/>
                <a:ext cx="2366141" cy="6054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90"/>
          <p:cNvSpPr>
            <a:spLocks noChangeArrowheads="1"/>
          </p:cNvSpPr>
          <p:nvPr/>
        </p:nvSpPr>
        <p:spPr bwMode="auto">
          <a:xfrm>
            <a:off x="1576612" y="2102403"/>
            <a:ext cx="2762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先假设连续函数 </a:t>
            </a:r>
          </a:p>
        </p:txBody>
      </p:sp>
      <p:sp>
        <p:nvSpPr>
          <p:cNvPr id="22" name="Text Box 2091"/>
          <p:cNvSpPr txBox="1">
            <a:spLocks noChangeArrowheads="1"/>
          </p:cNvSpPr>
          <p:nvPr/>
        </p:nvSpPr>
        <p:spPr bwMode="auto">
          <a:xfrm>
            <a:off x="6254482" y="2103743"/>
            <a:ext cx="3117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并将它看作某物体 </a:t>
            </a:r>
          </a:p>
        </p:txBody>
      </p:sp>
      <p:sp>
        <p:nvSpPr>
          <p:cNvPr id="23" name="Text Box 2092"/>
          <p:cNvSpPr txBox="1">
            <a:spLocks noChangeArrowheads="1"/>
          </p:cNvSpPr>
          <p:nvPr/>
        </p:nvSpPr>
        <p:spPr bwMode="auto">
          <a:xfrm>
            <a:off x="3593669" y="2747683"/>
            <a:ext cx="632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通过计算该物体的质量引出下列各计算</a:t>
            </a:r>
          </a:p>
        </p:txBody>
      </p:sp>
      <p:sp>
        <p:nvSpPr>
          <p:cNvPr id="24" name="Text Box 2095"/>
          <p:cNvSpPr txBox="1">
            <a:spLocks noChangeArrowheads="1"/>
          </p:cNvSpPr>
          <p:nvPr/>
        </p:nvSpPr>
        <p:spPr bwMode="auto">
          <a:xfrm>
            <a:off x="1531424" y="5621454"/>
            <a:ext cx="64684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最后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推广到一般可积函数的积分计算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</a:p>
        </p:txBody>
      </p:sp>
      <p:sp>
        <p:nvSpPr>
          <p:cNvPr id="25" name="Text Box 2096"/>
          <p:cNvSpPr txBox="1">
            <a:spLocks noChangeArrowheads="1"/>
          </p:cNvSpPr>
          <p:nvPr/>
        </p:nvSpPr>
        <p:spPr bwMode="auto">
          <a:xfrm>
            <a:off x="1531424" y="2723619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的密度函数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" name="Text Box 2097"/>
          <p:cNvSpPr txBox="1">
            <a:spLocks noChangeArrowheads="1"/>
          </p:cNvSpPr>
          <p:nvPr/>
        </p:nvSpPr>
        <p:spPr bwMode="auto">
          <a:xfrm>
            <a:off x="1531424" y="3347758"/>
            <a:ext cx="99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1514571" y="1178552"/>
            <a:ext cx="5054672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利用直接坐标计算三重积分</a:t>
            </a:r>
            <a:endParaRPr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 descr="图示, 示意图&#10;&#10;描述已自动生成">
            <a:extLst>
              <a:ext uri="{FF2B5EF4-FFF2-40B4-BE49-F238E27FC236}">
                <a16:creationId xmlns:a16="http://schemas.microsoft.com/office/drawing/2014/main" id="{17B1D11C-5301-E8E2-215B-D72876E449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453" y="3446033"/>
            <a:ext cx="2156404" cy="231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62979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8395" grpId="0"/>
      <p:bldP spid="17" grpId="0" build="p" autoUpdateAnimBg="0"/>
      <p:bldP spid="18" grpId="0" build="p" autoUpdateAnimBg="0"/>
      <p:bldP spid="19" grpId="0" build="p" autoUpdateAnimBg="0"/>
      <p:bldP spid="20" grpId="0"/>
      <p:bldP spid="21" grpId="0" autoUpdateAnimBg="0"/>
      <p:bldP spid="22" grpId="0" build="p" autoUpdateAnimBg="0" advAuto="0"/>
      <p:bldP spid="23" grpId="0" build="p" autoUpdateAnimBg="0"/>
      <p:bldP spid="24" grpId="0" build="p" autoUpdateAnimBg="0"/>
      <p:bldP spid="25" grpId="0" build="p" autoUpdateAnimBg="0" advAuto="0"/>
      <p:bldP spid="26" grpId="0" build="p" autoUpdateAnimBg="0" advAuto="0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6562" name="Object 3074"/>
              <p:cNvSpPr txBox="1"/>
              <p:nvPr/>
            </p:nvSpPr>
            <p:spPr bwMode="auto">
              <a:xfrm>
                <a:off x="2943473" y="4408375"/>
                <a:ext cx="4203285" cy="10858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)​​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altLang="zh-CN" sz="2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nary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6562" name="Object 30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3473" y="4408375"/>
                <a:ext cx="4203285" cy="10858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77" name="Rectangle 3089"/>
          <p:cNvSpPr>
            <a:spLocks noGrp="1" noChangeArrowheads="1"/>
          </p:cNvSpPr>
          <p:nvPr>
            <p:ph type="title" idx="4294967295"/>
          </p:nvPr>
        </p:nvSpPr>
        <p:spPr>
          <a:xfrm>
            <a:off x="692150" y="478962"/>
            <a:ext cx="4685966" cy="594653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 </a:t>
            </a:r>
            <a:r>
              <a:rPr lang="zh-CN" altLang="en-US" sz="2200" b="0" dirty="0">
                <a:ea typeface="黑体" panose="02010609060101010101" pitchFamily="49" charset="-122"/>
              </a:rPr>
              <a:t>投影法 </a:t>
            </a:r>
            <a:r>
              <a:rPr lang="en-US" altLang="zh-CN" sz="2200" b="0" dirty="0">
                <a:ea typeface="黑体" panose="02010609060101010101" pitchFamily="49" charset="-122"/>
              </a:rPr>
              <a:t>(</a:t>
            </a:r>
            <a:r>
              <a:rPr lang="zh-CN" altLang="en-US" sz="2200" b="0" dirty="0">
                <a:ea typeface="黑体" panose="02010609060101010101" pitchFamily="49" charset="-122"/>
              </a:rPr>
              <a:t>“先一后二” </a:t>
            </a:r>
            <a:r>
              <a:rPr lang="en-US" altLang="zh-CN" sz="2200" b="0" dirty="0">
                <a:ea typeface="黑体" panose="02010609060101010101" pitchFamily="49" charset="-122"/>
              </a:rPr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78" name="Object 3090"/>
              <p:cNvSpPr txBox="1"/>
              <p:nvPr/>
            </p:nvSpPr>
            <p:spPr bwMode="auto">
              <a:xfrm>
                <a:off x="2604369" y="940182"/>
                <a:ext cx="3491631" cy="894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6578" name="Object 30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4369" y="940182"/>
                <a:ext cx="3491631" cy="8949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579" name="Object 3091"/>
              <p:cNvSpPr txBox="1"/>
              <p:nvPr/>
            </p:nvSpPr>
            <p:spPr bwMode="auto">
              <a:xfrm>
                <a:off x="2604369" y="2188859"/>
                <a:ext cx="3613868" cy="9556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)​​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6579" name="Object 30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4369" y="2188859"/>
                <a:ext cx="3613868" cy="955602"/>
              </a:xfrm>
              <a:prstGeom prst="rect">
                <a:avLst/>
              </a:prstGeom>
              <a:blipFill>
                <a:blip r:embed="rId9"/>
                <a:stretch>
                  <a:fillRect l="-25874" t="-136842" b="-1973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80" name="Text Box 3092"/>
          <p:cNvSpPr txBox="1">
            <a:spLocks noChangeArrowheads="1"/>
          </p:cNvSpPr>
          <p:nvPr/>
        </p:nvSpPr>
        <p:spPr bwMode="auto">
          <a:xfrm>
            <a:off x="1976437" y="3130936"/>
            <a:ext cx="2895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该物体的质量为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81" name="Object 3093"/>
              <p:cNvSpPr txBox="1"/>
              <p:nvPr/>
            </p:nvSpPr>
            <p:spPr bwMode="auto">
              <a:xfrm>
                <a:off x="2943472" y="3424684"/>
                <a:ext cx="2526431" cy="10429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6581" name="Object 30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3472" y="3424684"/>
                <a:ext cx="2526431" cy="10429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84" name="Object 3096"/>
              <p:cNvSpPr txBox="1"/>
              <p:nvPr/>
            </p:nvSpPr>
            <p:spPr bwMode="auto">
              <a:xfrm>
                <a:off x="3174292" y="5400268"/>
                <a:ext cx="3871912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)​​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nary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6584" name="Object 30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4292" y="5400268"/>
                <a:ext cx="3871912" cy="876300"/>
              </a:xfrm>
              <a:prstGeom prst="rect">
                <a:avLst/>
              </a:prstGeom>
              <a:blipFill>
                <a:blip r:embed="rId11"/>
                <a:stretch>
                  <a:fillRect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87" name="Object 3099"/>
              <p:cNvSpPr txBox="1"/>
              <p:nvPr/>
            </p:nvSpPr>
            <p:spPr bwMode="auto">
              <a:xfrm>
                <a:off x="8466813" y="5198767"/>
                <a:ext cx="2084387" cy="382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6587" name="Object 30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66813" y="5198767"/>
                <a:ext cx="2084387" cy="382587"/>
              </a:xfrm>
              <a:prstGeom prst="rect">
                <a:avLst/>
              </a:prstGeom>
              <a:blipFill>
                <a:blip r:embed="rId12"/>
                <a:stretch>
                  <a:fillRect l="-2047" b="-33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93" name="Text Box 3105"/>
          <p:cNvSpPr txBox="1">
            <a:spLocks noChangeArrowheads="1"/>
          </p:cNvSpPr>
          <p:nvPr/>
        </p:nvSpPr>
        <p:spPr bwMode="auto">
          <a:xfrm>
            <a:off x="1976437" y="1821781"/>
            <a:ext cx="319714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细长柱体微元的质量为</a:t>
            </a:r>
          </a:p>
        </p:txBody>
      </p:sp>
      <p:sp>
        <p:nvSpPr>
          <p:cNvPr id="66607" name="Text Box 3119"/>
          <p:cNvSpPr txBox="1">
            <a:spLocks noChangeArrowheads="1"/>
          </p:cNvSpPr>
          <p:nvPr/>
        </p:nvSpPr>
        <p:spPr bwMode="auto">
          <a:xfrm>
            <a:off x="8458200" y="4876800"/>
            <a:ext cx="2209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微元线密度≈</a:t>
            </a:r>
          </a:p>
        </p:txBody>
      </p:sp>
      <p:grpSp>
        <p:nvGrpSpPr>
          <p:cNvPr id="66614" name="Group 3126"/>
          <p:cNvGrpSpPr>
            <a:grpSpLocks/>
          </p:cNvGrpSpPr>
          <p:nvPr/>
        </p:nvGrpSpPr>
        <p:grpSpPr bwMode="auto">
          <a:xfrm>
            <a:off x="2492705" y="5589319"/>
            <a:ext cx="762000" cy="533400"/>
            <a:chOff x="912" y="3456"/>
            <a:chExt cx="480" cy="336"/>
          </a:xfrm>
        </p:grpSpPr>
        <p:sp>
          <p:nvSpPr>
            <p:cNvPr id="66611" name="Text Box 3123"/>
            <p:cNvSpPr txBox="1">
              <a:spLocks noChangeArrowheads="1"/>
            </p:cNvSpPr>
            <p:nvPr/>
          </p:nvSpPr>
          <p:spPr bwMode="auto">
            <a:xfrm>
              <a:off x="912" y="3456"/>
              <a:ext cx="4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记作</a:t>
              </a:r>
            </a:p>
          </p:txBody>
        </p:sp>
        <p:sp>
          <p:nvSpPr>
            <p:cNvPr id="66612" name="Line 3124"/>
            <p:cNvSpPr>
              <a:spLocks noChangeShapeType="1"/>
            </p:cNvSpPr>
            <p:nvPr/>
          </p:nvSpPr>
          <p:spPr bwMode="auto">
            <a:xfrm flipV="1">
              <a:off x="960" y="37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6613" name="Line 3125"/>
            <p:cNvSpPr>
              <a:spLocks noChangeShapeType="1"/>
            </p:cNvSpPr>
            <p:nvPr/>
          </p:nvSpPr>
          <p:spPr bwMode="auto">
            <a:xfrm flipV="1">
              <a:off x="960" y="37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66618" name="Rectangle 3130"/>
          <p:cNvSpPr>
            <a:spLocks noChangeArrowheads="1"/>
          </p:cNvSpPr>
          <p:nvPr/>
        </p:nvSpPr>
        <p:spPr bwMode="auto">
          <a:xfrm>
            <a:off x="8382000" y="4876800"/>
            <a:ext cx="2209800" cy="810981"/>
          </a:xfrm>
          <a:prstGeom prst="rect">
            <a:avLst/>
          </a:prstGeom>
          <a:noFill/>
          <a:ln w="9525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 descr="图示, 示意图&#10;&#10;描述已自动生成">
            <a:extLst>
              <a:ext uri="{FF2B5EF4-FFF2-40B4-BE49-F238E27FC236}">
                <a16:creationId xmlns:a16="http://schemas.microsoft.com/office/drawing/2014/main" id="{D2EEB2B1-6088-72FA-0622-E73316DAED5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52" y="1276646"/>
            <a:ext cx="2418542" cy="259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2291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66577" grpId="0" animBg="1"/>
      <p:bldP spid="66578" grpId="0"/>
      <p:bldP spid="66579" grpId="0"/>
      <p:bldP spid="66580" grpId="0" autoUpdateAnimBg="0"/>
      <p:bldP spid="66581" grpId="0"/>
      <p:bldP spid="66584" grpId="0"/>
      <p:bldP spid="66587" grpId="0"/>
      <p:bldP spid="66593" grpId="0" autoUpdateAnimBg="0"/>
      <p:bldP spid="6660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528079"/>
            <a:ext cx="5150168" cy="519113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200" b="0" dirty="0">
                <a:ea typeface="黑体" panose="02010609060101010101" pitchFamily="49" charset="-122"/>
              </a:rPr>
              <a:t>截面法 </a:t>
            </a:r>
            <a:r>
              <a:rPr lang="en-US" altLang="zh-CN" sz="2200" b="0" dirty="0">
                <a:ea typeface="黑体" panose="02010609060101010101" pitchFamily="49" charset="-122"/>
              </a:rPr>
              <a:t>(</a:t>
            </a:r>
            <a:r>
              <a:rPr lang="zh-CN" altLang="en-US" sz="2200" b="0" dirty="0">
                <a:ea typeface="黑体" panose="02010609060101010101" pitchFamily="49" charset="-122"/>
              </a:rPr>
              <a:t>“先二后一”</a:t>
            </a:r>
            <a:r>
              <a:rPr lang="en-US" altLang="zh-CN" sz="2200" b="0" dirty="0">
                <a:ea typeface="黑体" panose="02010609060101010101" pitchFamily="49" charset="-12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8" name="Object 10"/>
              <p:cNvSpPr txBox="1"/>
              <p:nvPr/>
            </p:nvSpPr>
            <p:spPr bwMode="auto">
              <a:xfrm>
                <a:off x="2867307" y="986069"/>
                <a:ext cx="2322512" cy="8669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)∈</m:t>
                                </m:r>
                                <m:sSub>
                                  <m:sSub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861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7307" y="986069"/>
                <a:ext cx="2322512" cy="8669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20" name="Text Box 12"/>
              <p:cNvSpPr txBox="1">
                <a:spLocks noChangeArrowheads="1"/>
              </p:cNvSpPr>
              <p:nvPr/>
            </p:nvSpPr>
            <p:spPr bwMode="auto">
              <a:xfrm>
                <a:off x="2785571" y="1795829"/>
                <a:ext cx="5465762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为底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fName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为高的柱形薄片质量为</a:t>
                </a:r>
              </a:p>
            </p:txBody>
          </p:sp>
        </mc:Choice>
        <mc:Fallback xmlns="">
          <p:sp>
            <p:nvSpPr>
              <p:cNvPr id="6862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5571" y="1795829"/>
                <a:ext cx="5465762" cy="430887"/>
              </a:xfrm>
              <a:prstGeom prst="rect">
                <a:avLst/>
              </a:prstGeom>
              <a:blipFill>
                <a:blip r:embed="rId6"/>
                <a:stretch>
                  <a:fillRect l="-1449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29" name="Text Box 21"/>
          <p:cNvSpPr txBox="1">
            <a:spLocks noChangeArrowheads="1"/>
          </p:cNvSpPr>
          <p:nvPr/>
        </p:nvSpPr>
        <p:spPr bwMode="auto">
          <a:xfrm>
            <a:off x="2175888" y="3123071"/>
            <a:ext cx="233544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该物体的质量为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30" name="Object 22"/>
              <p:cNvSpPr txBox="1"/>
              <p:nvPr/>
            </p:nvSpPr>
            <p:spPr bwMode="auto">
              <a:xfrm>
                <a:off x="3095134" y="3458528"/>
                <a:ext cx="2335444" cy="9856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8630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5134" y="3458528"/>
                <a:ext cx="2335444" cy="985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31" name="Object 23"/>
              <p:cNvSpPr txBox="1"/>
              <p:nvPr/>
            </p:nvSpPr>
            <p:spPr bwMode="auto">
              <a:xfrm>
                <a:off x="3089726" y="4444324"/>
                <a:ext cx="1421606" cy="10507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d>
                            <m:dPr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8631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9726" y="4444324"/>
                <a:ext cx="1421606" cy="105074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32" name="Object 24"/>
              <p:cNvSpPr txBox="1"/>
              <p:nvPr/>
            </p:nvSpPr>
            <p:spPr bwMode="auto">
              <a:xfrm>
                <a:off x="3854767" y="4398023"/>
                <a:ext cx="2819401" cy="10618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8632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4767" y="4398023"/>
                <a:ext cx="2819401" cy="106185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34" name="Object 26"/>
              <p:cNvSpPr txBox="1"/>
              <p:nvPr/>
            </p:nvSpPr>
            <p:spPr bwMode="auto">
              <a:xfrm>
                <a:off x="3089726" y="5433008"/>
                <a:ext cx="3256842" cy="10409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8634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9726" y="5433008"/>
                <a:ext cx="3256842" cy="104097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36" name="Object 28"/>
              <p:cNvSpPr txBox="1"/>
              <p:nvPr/>
            </p:nvSpPr>
            <p:spPr bwMode="auto">
              <a:xfrm>
                <a:off x="5243844" y="2402853"/>
                <a:ext cx="670973" cy="4633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863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3844" y="2402853"/>
                <a:ext cx="670973" cy="463301"/>
              </a:xfrm>
              <a:prstGeom prst="rect">
                <a:avLst/>
              </a:prstGeom>
              <a:blipFill>
                <a:blip r:embed="rId14"/>
                <a:stretch>
                  <a:fillRect l="-9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44" name="Object 36"/>
              <p:cNvSpPr txBox="1"/>
              <p:nvPr/>
            </p:nvSpPr>
            <p:spPr bwMode="auto">
              <a:xfrm>
                <a:off x="2805699" y="2173115"/>
                <a:ext cx="2645190" cy="10892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400" dirty="0"/>
              </a:p>
              <a:p>
                <a:endParaRPr lang="zh-CN" altLang="en-US" sz="2200" dirty="0"/>
              </a:p>
            </p:txBody>
          </p:sp>
        </mc:Choice>
        <mc:Fallback xmlns="">
          <p:sp>
            <p:nvSpPr>
              <p:cNvPr id="68644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5699" y="2173115"/>
                <a:ext cx="2645190" cy="108923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53" name="Object 45"/>
              <p:cNvSpPr txBox="1"/>
              <p:nvPr/>
            </p:nvSpPr>
            <p:spPr bwMode="auto">
              <a:xfrm>
                <a:off x="5884093" y="4639383"/>
                <a:ext cx="6604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8653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84093" y="4639383"/>
                <a:ext cx="660400" cy="431800"/>
              </a:xfrm>
              <a:prstGeom prst="rect">
                <a:avLst/>
              </a:prstGeom>
              <a:blipFill>
                <a:blip r:embed="rId19"/>
                <a:stretch>
                  <a:fillRect l="-54128" t="-123944" r="-55963" b="-1915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657" name="Group 49"/>
          <p:cNvGrpSpPr>
            <a:grpSpLocks/>
          </p:cNvGrpSpPr>
          <p:nvPr/>
        </p:nvGrpSpPr>
        <p:grpSpPr bwMode="auto">
          <a:xfrm>
            <a:off x="2416858" y="5540090"/>
            <a:ext cx="762000" cy="533400"/>
            <a:chOff x="912" y="3456"/>
            <a:chExt cx="480" cy="336"/>
          </a:xfrm>
        </p:grpSpPr>
        <p:sp>
          <p:nvSpPr>
            <p:cNvPr id="68658" name="Text Box 50"/>
            <p:cNvSpPr txBox="1">
              <a:spLocks noChangeArrowheads="1"/>
            </p:cNvSpPr>
            <p:nvPr/>
          </p:nvSpPr>
          <p:spPr bwMode="auto">
            <a:xfrm>
              <a:off x="912" y="3456"/>
              <a:ext cx="47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记作</a:t>
              </a:r>
            </a:p>
          </p:txBody>
        </p:sp>
        <p:sp>
          <p:nvSpPr>
            <p:cNvPr id="68659" name="Line 51"/>
            <p:cNvSpPr>
              <a:spLocks noChangeShapeType="1"/>
            </p:cNvSpPr>
            <p:nvPr/>
          </p:nvSpPr>
          <p:spPr bwMode="auto">
            <a:xfrm flipV="1">
              <a:off x="960" y="37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8660" name="Line 52"/>
            <p:cNvSpPr>
              <a:spLocks noChangeShapeType="1"/>
            </p:cNvSpPr>
            <p:nvPr/>
          </p:nvSpPr>
          <p:spPr bwMode="auto">
            <a:xfrm flipV="1">
              <a:off x="960" y="37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12">
                <a:extLst>
                  <a:ext uri="{FF2B5EF4-FFF2-40B4-BE49-F238E27FC236}">
                    <a16:creationId xmlns:a16="http://schemas.microsoft.com/office/drawing/2014/main" id="{DAA74D42-D62D-6996-0749-FDA191C1BC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5888" y="1792791"/>
                <a:ext cx="1034713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sz="2200" i="1" baseline="-25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kumimoji="1" lang="zh-CN" altLang="en-US" sz="2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Text Box 12">
                <a:extLst>
                  <a:ext uri="{FF2B5EF4-FFF2-40B4-BE49-F238E27FC236}">
                    <a16:creationId xmlns:a16="http://schemas.microsoft.com/office/drawing/2014/main" id="{DAA74D42-D62D-6996-0749-FDA191C1B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5888" y="1792791"/>
                <a:ext cx="1034713" cy="430887"/>
              </a:xfrm>
              <a:prstGeom prst="rect">
                <a:avLst/>
              </a:prstGeom>
              <a:blipFill>
                <a:blip r:embed="rId21"/>
                <a:stretch>
                  <a:fillRect l="-7647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433019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7" grpId="0" animBg="1"/>
      <p:bldP spid="68618" grpId="0"/>
      <p:bldP spid="68620" grpId="0" build="p" autoUpdateAnimBg="0" advAuto="0"/>
      <p:bldP spid="68629" grpId="0" autoUpdateAnimBg="0"/>
      <p:bldP spid="68630" grpId="0"/>
      <p:bldP spid="68631" grpId="0"/>
      <p:bldP spid="68632" grpId="0"/>
      <p:bldP spid="68634" grpId="0"/>
      <p:bldP spid="68636" grpId="0"/>
      <p:bldP spid="68644" grpId="0"/>
      <p:bldP spid="68653" grpId="0"/>
      <p:bldP spid="9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3240505" y="5060335"/>
            <a:ext cx="116305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投影法</a:t>
            </a:r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2031269" y="580608"/>
            <a:ext cx="2925741" cy="609600"/>
          </a:xfrm>
          <a:prstGeom prst="rect">
            <a:avLst/>
          </a:prstGeom>
          <a:ln/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 </a:t>
            </a:r>
            <a:r>
              <a:rPr lang="zh-CN" altLang="en-US" sz="2200" b="0" dirty="0">
                <a:ea typeface="黑体" panose="02010609060101010101" pitchFamily="49" charset="-122"/>
              </a:rPr>
              <a:t>三次积分法</a:t>
            </a: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3249443" y="1596938"/>
            <a:ext cx="1981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设区域</a:t>
            </a:r>
          </a:p>
        </p:txBody>
      </p:sp>
      <p:sp>
        <p:nvSpPr>
          <p:cNvPr id="69640" name="Text Box 8"/>
          <p:cNvSpPr txBox="1">
            <a:spLocks noChangeArrowheads="1"/>
          </p:cNvSpPr>
          <p:nvPr/>
        </p:nvSpPr>
        <p:spPr bwMode="auto">
          <a:xfrm>
            <a:off x="3249443" y="2636398"/>
            <a:ext cx="3200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利用投影法结果，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41" name="Object 9"/>
              <p:cNvSpPr txBox="1"/>
              <p:nvPr/>
            </p:nvSpPr>
            <p:spPr bwMode="auto">
              <a:xfrm>
                <a:off x="4733685" y="1614442"/>
                <a:ext cx="3984284" cy="9862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964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3685" y="1614442"/>
                <a:ext cx="3984284" cy="9862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42" name="Object 10"/>
              <p:cNvSpPr txBox="1"/>
              <p:nvPr/>
            </p:nvSpPr>
            <p:spPr bwMode="auto">
              <a:xfrm>
                <a:off x="4753107" y="1182529"/>
                <a:ext cx="31496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964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3107" y="1182529"/>
                <a:ext cx="3149600" cy="431800"/>
              </a:xfrm>
              <a:prstGeom prst="rect">
                <a:avLst/>
              </a:prstGeom>
              <a:blipFill>
                <a:blip r:embed="rId3"/>
                <a:stretch>
                  <a:fillRect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43" name="Text Box 11"/>
          <p:cNvSpPr txBox="1">
            <a:spLocks noChangeArrowheads="1"/>
          </p:cNvSpPr>
          <p:nvPr/>
        </p:nvSpPr>
        <p:spPr bwMode="auto">
          <a:xfrm>
            <a:off x="5449658" y="2633638"/>
            <a:ext cx="410341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把二重积分化成二次积分即得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47" name="Object 15"/>
              <p:cNvSpPr txBox="1"/>
              <p:nvPr/>
            </p:nvSpPr>
            <p:spPr bwMode="auto">
              <a:xfrm>
                <a:off x="3931400" y="3007184"/>
                <a:ext cx="2247457" cy="103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964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1400" y="3007184"/>
                <a:ext cx="2247457" cy="1031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48" name="Object 16"/>
              <p:cNvSpPr txBox="1"/>
              <p:nvPr/>
            </p:nvSpPr>
            <p:spPr bwMode="auto">
              <a:xfrm>
                <a:off x="5991984" y="3889053"/>
                <a:ext cx="2584881" cy="9667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964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91984" y="3889053"/>
                <a:ext cx="2584881" cy="9667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49" name="Object 17"/>
              <p:cNvSpPr txBox="1"/>
              <p:nvPr/>
            </p:nvSpPr>
            <p:spPr bwMode="auto">
              <a:xfrm>
                <a:off x="4910559" y="3925073"/>
                <a:ext cx="1366375" cy="103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9649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0559" y="3925073"/>
                <a:ext cx="1366375" cy="1031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50" name="Object 18"/>
              <p:cNvSpPr txBox="1"/>
              <p:nvPr/>
            </p:nvSpPr>
            <p:spPr bwMode="auto">
              <a:xfrm>
                <a:off x="3949820" y="3957114"/>
                <a:ext cx="1675741" cy="8986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965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9820" y="3957114"/>
                <a:ext cx="1675741" cy="89868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51" name="Line 19"/>
          <p:cNvSpPr>
            <a:spLocks noChangeShapeType="1"/>
          </p:cNvSpPr>
          <p:nvPr/>
        </p:nvSpPr>
        <p:spPr bwMode="auto">
          <a:xfrm>
            <a:off x="3315186" y="5055166"/>
            <a:ext cx="5760000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9653" name="AutoShape 21"/>
          <p:cNvSpPr>
            <a:spLocks/>
          </p:cNvSpPr>
          <p:nvPr/>
        </p:nvSpPr>
        <p:spPr bwMode="auto">
          <a:xfrm>
            <a:off x="4587543" y="1151522"/>
            <a:ext cx="200148" cy="1323162"/>
          </a:xfrm>
          <a:prstGeom prst="leftBrace">
            <a:avLst>
              <a:gd name="adj1" fmla="val 64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BF7E4371-AFF2-9661-8F82-535A602438C7}"/>
                  </a:ext>
                </a:extLst>
              </p:cNvPr>
              <p:cNvSpPr txBox="1"/>
              <p:nvPr/>
            </p:nvSpPr>
            <p:spPr bwMode="auto">
              <a:xfrm>
                <a:off x="4126577" y="1582221"/>
                <a:ext cx="458183" cy="4607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200" i="1" dirty="0"/>
              </a:p>
            </p:txBody>
          </p:sp>
        </mc:Choice>
        <mc:Fallback xmlns="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BF7E4371-AFF2-9661-8F82-535A60243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26577" y="1582221"/>
                <a:ext cx="458183" cy="460740"/>
              </a:xfrm>
              <a:prstGeom prst="rect">
                <a:avLst/>
              </a:prstGeom>
              <a:blipFill>
                <a:blip r:embed="rId8"/>
                <a:stretch>
                  <a:fillRect l="-1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5">
                <a:extLst>
                  <a:ext uri="{FF2B5EF4-FFF2-40B4-BE49-F238E27FC236}">
                    <a16:creationId xmlns:a16="http://schemas.microsoft.com/office/drawing/2014/main" id="{75FA32E9-437C-5372-7A08-7FD51E6C5E83}"/>
                  </a:ext>
                </a:extLst>
              </p:cNvPr>
              <p:cNvSpPr txBox="1"/>
              <p:nvPr/>
            </p:nvSpPr>
            <p:spPr bwMode="auto">
              <a:xfrm>
                <a:off x="3271033" y="5447681"/>
                <a:ext cx="2579351" cy="103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Object 15">
                <a:extLst>
                  <a:ext uri="{FF2B5EF4-FFF2-40B4-BE49-F238E27FC236}">
                    <a16:creationId xmlns:a16="http://schemas.microsoft.com/office/drawing/2014/main" id="{75FA32E9-437C-5372-7A08-7FD51E6C5E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1033" y="5447681"/>
                <a:ext cx="2579351" cy="1031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096">
                <a:extLst>
                  <a:ext uri="{FF2B5EF4-FFF2-40B4-BE49-F238E27FC236}">
                    <a16:creationId xmlns:a16="http://schemas.microsoft.com/office/drawing/2014/main" id="{ACE3EAB4-B08B-4C1A-8B8A-616646C69D6B}"/>
                  </a:ext>
                </a:extLst>
              </p:cNvPr>
              <p:cNvSpPr txBox="1"/>
              <p:nvPr/>
            </p:nvSpPr>
            <p:spPr bwMode="auto">
              <a:xfrm>
                <a:off x="5452621" y="5432047"/>
                <a:ext cx="3873294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)​​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nary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Object 3096">
                <a:extLst>
                  <a:ext uri="{FF2B5EF4-FFF2-40B4-BE49-F238E27FC236}">
                    <a16:creationId xmlns:a16="http://schemas.microsoft.com/office/drawing/2014/main" id="{ACE3EAB4-B08B-4C1A-8B8A-616646C69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2621" y="5432047"/>
                <a:ext cx="3873294" cy="876300"/>
              </a:xfrm>
              <a:prstGeom prst="rect">
                <a:avLst/>
              </a:prstGeom>
              <a:blipFill>
                <a:blip r:embed="rId10"/>
                <a:stretch>
                  <a:fillRect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490339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9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build="p" autoUpdateAnimBg="0"/>
      <p:bldP spid="69637" grpId="0" animBg="1"/>
      <p:bldP spid="69638" grpId="0" autoUpdateAnimBg="0"/>
      <p:bldP spid="69640" grpId="0" autoUpdateAnimBg="0"/>
      <p:bldP spid="69641" grpId="0"/>
      <p:bldP spid="69642" grpId="0"/>
      <p:bldP spid="69643" grpId="0" build="p" autoUpdateAnimBg="0"/>
      <p:bldP spid="69647" grpId="0"/>
      <p:bldP spid="69648" grpId="0"/>
      <p:bldP spid="69649" grpId="0"/>
      <p:bldP spid="69650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3ABBEC6-35B5-E079-96D3-EC56ABF06349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8E9FB15C-738F-4C97-D172-089B5D92C79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10E1A15-9F11-B726-BA0B-B93993C1EBC4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8F2660F9-C272-D988-8B8D-BC08B0D6A797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77408B13-862A-3E68-F6D3-EBAFCE29CED4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724CA6C9-A46D-4326-DFF2-8224DA40D8AB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1645918" y="995343"/>
            <a:ext cx="595804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当被积函数在积分域上变号时，因为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539" name="Object 3"/>
              <p:cNvSpPr txBox="1"/>
              <p:nvPr/>
            </p:nvSpPr>
            <p:spPr bwMode="auto">
              <a:xfrm>
                <a:off x="2705100" y="1565692"/>
                <a:ext cx="1760167" cy="5963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53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5100" y="1565692"/>
                <a:ext cx="1760167" cy="5963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540" name="Object 4"/>
              <p:cNvSpPr txBox="1"/>
              <p:nvPr/>
            </p:nvSpPr>
            <p:spPr bwMode="auto">
              <a:xfrm>
                <a:off x="6436228" y="2293724"/>
                <a:ext cx="4157912" cy="10673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54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6228" y="2293724"/>
                <a:ext cx="4157912" cy="10673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541" name="Object 5"/>
              <p:cNvSpPr txBox="1"/>
              <p:nvPr/>
            </p:nvSpPr>
            <p:spPr bwMode="auto">
              <a:xfrm>
                <a:off x="2705100" y="3367873"/>
                <a:ext cx="2208209" cy="6523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54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5100" y="3367873"/>
                <a:ext cx="2208209" cy="6523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542" name="Object 6"/>
              <p:cNvSpPr txBox="1"/>
              <p:nvPr/>
            </p:nvSpPr>
            <p:spPr bwMode="auto">
              <a:xfrm>
                <a:off x="4622800" y="3367873"/>
                <a:ext cx="2240212" cy="6523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54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2800" y="3367873"/>
                <a:ext cx="2240212" cy="6523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43" name="Text Box 7"/>
          <p:cNvSpPr txBox="1">
            <a:spLocks noChangeArrowheads="1"/>
          </p:cNvSpPr>
          <p:nvPr/>
        </p:nvSpPr>
        <p:spPr bwMode="auto">
          <a:xfrm>
            <a:off x="3429000" y="4368324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均为非负函数</a:t>
            </a:r>
          </a:p>
        </p:txBody>
      </p: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1645918" y="5008265"/>
            <a:ext cx="723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根据重积分性质仍可用前面介绍的方法计算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545" name="Object 9"/>
              <p:cNvSpPr txBox="1"/>
              <p:nvPr/>
            </p:nvSpPr>
            <p:spPr bwMode="auto">
              <a:xfrm>
                <a:off x="2705100" y="2287374"/>
                <a:ext cx="4157912" cy="11441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554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5100" y="2287374"/>
                <a:ext cx="4157912" cy="1144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46" name="Freeform 10"/>
          <p:cNvSpPr>
            <a:spLocks/>
          </p:cNvSpPr>
          <p:nvPr/>
        </p:nvSpPr>
        <p:spPr bwMode="auto">
          <a:xfrm>
            <a:off x="3585183" y="3902601"/>
            <a:ext cx="1905000" cy="381000"/>
          </a:xfrm>
          <a:custGeom>
            <a:avLst/>
            <a:gdLst>
              <a:gd name="T0" fmla="*/ 0 w 1200"/>
              <a:gd name="T1" fmla="*/ 0 h 240"/>
              <a:gd name="T2" fmla="*/ 0 w 1200"/>
              <a:gd name="T3" fmla="*/ 240 h 240"/>
              <a:gd name="T4" fmla="*/ 1200 w 1200"/>
              <a:gd name="T5" fmla="*/ 240 h 240"/>
              <a:gd name="T6" fmla="*/ 1200 w 1200"/>
              <a:gd name="T7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00" h="240">
                <a:moveTo>
                  <a:pt x="0" y="0"/>
                </a:moveTo>
                <a:lnTo>
                  <a:pt x="0" y="240"/>
                </a:lnTo>
                <a:lnTo>
                  <a:pt x="1200" y="240"/>
                </a:lnTo>
                <a:lnTo>
                  <a:pt x="1200" y="0"/>
                </a:lnTo>
              </a:path>
            </a:pathLst>
          </a:custGeom>
          <a:noFill/>
          <a:ln w="19050" cmpd="sng">
            <a:solidFill>
              <a:srgbClr val="04926A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24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/>
      <p:bldP spid="65539" grpId="0"/>
      <p:bldP spid="65540" grpId="0"/>
      <p:bldP spid="65541" grpId="0"/>
      <p:bldP spid="65542" grpId="0"/>
      <p:bldP spid="65543" grpId="0" autoUpdateAnimBg="0"/>
      <p:bldP spid="65544" grpId="0" autoUpdateAnimBg="0"/>
      <p:bldP spid="655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CF92290-9B20-50BE-3784-4F30329AE852}"/>
              </a:ext>
            </a:extLst>
          </p:cNvPr>
          <p:cNvSpPr/>
          <p:nvPr/>
        </p:nvSpPr>
        <p:spPr>
          <a:xfrm>
            <a:off x="1933575" y="1167759"/>
            <a:ext cx="9076574" cy="51040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33474" y="586734"/>
            <a:ext cx="4427061" cy="521977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小结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r>
              <a:rPr lang="en-US" altLang="zh-CN" sz="2800" b="1" dirty="0"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三重积分的计算方法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133600" y="1229972"/>
            <a:ext cx="28098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1.  </a:t>
            </a:r>
            <a:r>
              <a:rPr kumimoji="1" lang="zh-CN" altLang="en-US" sz="2200" dirty="0">
                <a:solidFill>
                  <a:srgbClr val="4A7BA8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“先一后二”</a:t>
            </a:r>
            <a:endParaRPr kumimoji="1" lang="zh-CN" altLang="en-US" sz="2200" i="0" u="none" strike="noStrike" kern="1200" cap="none" spc="0" normalizeH="0" baseline="0" noProof="0" dirty="0">
              <a:ln>
                <a:noFill/>
              </a:ln>
              <a:solidFill>
                <a:srgbClr val="4A7BA8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2133600" y="2539789"/>
            <a:ext cx="28098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  </a:t>
            </a:r>
            <a:r>
              <a:rPr kumimoji="1" lang="zh-CN" altLang="en-US" sz="2200" dirty="0">
                <a:solidFill>
                  <a:srgbClr val="4A7BA8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“先二后一”</a:t>
            </a:r>
            <a:endParaRPr kumimoji="1" lang="zh-CN" altLang="en-US" sz="2200" i="0" u="none" strike="noStrike" kern="1200" cap="none" spc="0" normalizeH="0" baseline="0" noProof="0" dirty="0">
              <a:ln>
                <a:noFill/>
              </a:ln>
              <a:solidFill>
                <a:srgbClr val="4A7BA8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2133600" y="4001273"/>
            <a:ext cx="263354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3.  </a:t>
            </a:r>
            <a:r>
              <a:rPr kumimoji="1" lang="zh-CN" altLang="en-US" sz="2200" dirty="0">
                <a:solidFill>
                  <a:srgbClr val="4A7BA8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“三次积分”</a:t>
            </a:r>
            <a:endParaRPr kumimoji="1" lang="zh-CN" altLang="en-US" sz="2200" i="0" u="none" strike="noStrike" kern="1200" cap="none" spc="0" normalizeH="0" baseline="0" noProof="0" dirty="0">
              <a:ln>
                <a:noFill/>
              </a:ln>
              <a:solidFill>
                <a:srgbClr val="4A7BA8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80" name="Object 4"/>
              <p:cNvSpPr txBox="1"/>
              <p:nvPr/>
            </p:nvSpPr>
            <p:spPr bwMode="auto">
              <a:xfrm>
                <a:off x="4767140" y="1570328"/>
                <a:ext cx="4419600" cy="11179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58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7140" y="1570328"/>
                <a:ext cx="4419600" cy="11179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4" name="Object 8"/>
              <p:cNvSpPr txBox="1"/>
              <p:nvPr/>
            </p:nvSpPr>
            <p:spPr bwMode="auto">
              <a:xfrm>
                <a:off x="2744311" y="1566843"/>
                <a:ext cx="2578100" cy="10337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58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4311" y="1566843"/>
                <a:ext cx="2578100" cy="1033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2" name="Object 6"/>
              <p:cNvSpPr txBox="1"/>
              <p:nvPr/>
            </p:nvSpPr>
            <p:spPr bwMode="auto">
              <a:xfrm>
                <a:off x="4767141" y="2873069"/>
                <a:ext cx="3367210" cy="11179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58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7141" y="2873069"/>
                <a:ext cx="3367210" cy="11179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85" name="Object 9"/>
              <p:cNvSpPr txBox="1"/>
              <p:nvPr/>
            </p:nvSpPr>
            <p:spPr bwMode="auto">
              <a:xfrm>
                <a:off x="4714875" y="4440113"/>
                <a:ext cx="5343525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58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4875" y="4440113"/>
                <a:ext cx="5343525" cy="825500"/>
              </a:xfrm>
              <a:prstGeom prst="rect">
                <a:avLst/>
              </a:prstGeom>
              <a:blipFill>
                <a:blip r:embed="rId5"/>
                <a:stretch>
                  <a:fillRect b="-29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6448746" y="5490663"/>
            <a:ext cx="24416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具体计算时应根据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01" name="Object 25"/>
              <p:cNvSpPr txBox="1"/>
              <p:nvPr/>
            </p:nvSpPr>
            <p:spPr bwMode="auto">
              <a:xfrm>
                <a:off x="2744311" y="2917284"/>
                <a:ext cx="2303939" cy="10504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60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4311" y="2917284"/>
                <a:ext cx="2303939" cy="10504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02" name="Object 26"/>
              <p:cNvSpPr txBox="1"/>
              <p:nvPr/>
            </p:nvSpPr>
            <p:spPr bwMode="auto">
              <a:xfrm>
                <a:off x="2744311" y="4463406"/>
                <a:ext cx="2199164" cy="10922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460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4311" y="4463406"/>
                <a:ext cx="2199164" cy="109222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2133600" y="5455050"/>
            <a:ext cx="460574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三种方法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包含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种形式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各有特点</a:t>
            </a:r>
            <a:r>
              <a:rPr kumimoji="1" lang="zh-CN" altLang="en-US" sz="2200" noProof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604" name="Text Box 28"/>
          <p:cNvSpPr txBox="1">
            <a:spLocks noChangeArrowheads="1"/>
          </p:cNvSpPr>
          <p:nvPr/>
        </p:nvSpPr>
        <p:spPr bwMode="auto">
          <a:xfrm>
            <a:off x="2133600" y="5829379"/>
            <a:ext cx="455765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被积函数及积分域的特点灵活选择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6776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4578" grpId="0"/>
      <p:bldP spid="24579" grpId="0" build="p" autoUpdateAnimBg="0"/>
      <p:bldP spid="24581" grpId="0" build="p" autoUpdateAnimBg="0"/>
      <p:bldP spid="24583" grpId="0" build="p" autoUpdateAnimBg="0"/>
      <p:bldP spid="24580" grpId="0"/>
      <p:bldP spid="24584" grpId="0"/>
      <p:bldP spid="24582" grpId="0"/>
      <p:bldP spid="24585" grpId="0"/>
      <p:bldP spid="24600" grpId="0" build="p" autoUpdateAnimBg="0"/>
      <p:bldP spid="24601" grpId="0"/>
      <p:bldP spid="24602" grpId="0"/>
      <p:bldP spid="24603" grpId="0" build="p" autoUpdateAnimBg="0"/>
      <p:bldP spid="24604" grpId="0" build="p" autoUpdateAnimBg="0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339A1548-C4B8-4F48-27B7-89F093E9561A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51A5CCB-000C-183D-9802-C9E7E713EF10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51A5CCB-000C-183D-9802-C9E7E713EF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4A76B710-E038-E33D-682B-D981054DD5CA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F3D27116-7D69-0B6B-142D-D8AE76316001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132D3E4C-4F61-4AA0-18E8-3E1F0E151BA6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A03ECCF3-1CDF-B136-FFA2-24E0452D5BC5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515" name="Text Box 11"/>
              <p:cNvSpPr txBox="1">
                <a:spLocks noChangeArrowheads="1"/>
              </p:cNvSpPr>
              <p:nvPr/>
            </p:nvSpPr>
            <p:spPr bwMode="auto">
              <a:xfrm>
                <a:off x="6377201" y="934632"/>
                <a:ext cx="3200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为三个坐标</a:t>
                </a:r>
              </a:p>
            </p:txBody>
          </p:sp>
        </mc:Choice>
        <mc:Fallback xmlns="">
          <p:sp>
            <p:nvSpPr>
              <p:cNvPr id="21515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7201" y="934632"/>
                <a:ext cx="3200400" cy="519112"/>
              </a:xfrm>
              <a:prstGeom prst="rect">
                <a:avLst/>
              </a:prstGeom>
              <a:blipFill>
                <a:blip r:embed="rId4"/>
                <a:stretch>
                  <a:fillRect l="-3810" t="-15294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04067" y="978288"/>
            <a:ext cx="325755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  </a:t>
            </a:r>
            <a:r>
              <a:rPr lang="zh-CN" altLang="en-US" sz="2800" b="0" dirty="0">
                <a:ea typeface="黑体" panose="02010609060101010101" pitchFamily="49" charset="-122"/>
              </a:rPr>
              <a:t>计算三重积分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14" name="Object 10"/>
              <p:cNvSpPr txBox="1"/>
              <p:nvPr/>
            </p:nvSpPr>
            <p:spPr bwMode="auto">
              <a:xfrm>
                <a:off x="4224016" y="599042"/>
                <a:ext cx="2269665" cy="12678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51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4016" y="599042"/>
                <a:ext cx="2269665" cy="12678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7" name="Object 13"/>
              <p:cNvSpPr txBox="1"/>
              <p:nvPr/>
            </p:nvSpPr>
            <p:spPr bwMode="auto">
              <a:xfrm>
                <a:off x="3589275" y="1814047"/>
                <a:ext cx="2481002" cy="527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51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9275" y="1814047"/>
                <a:ext cx="2481002" cy="52717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5893078" y="1822108"/>
            <a:ext cx="286039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所围成的闭区域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21545" name="Text Box 41"/>
          <p:cNvSpPr txBox="1">
            <a:spLocks noChangeArrowheads="1"/>
          </p:cNvSpPr>
          <p:nvPr/>
        </p:nvSpPr>
        <p:spPr bwMode="auto">
          <a:xfrm>
            <a:off x="1204067" y="2533618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47" name="Object 43"/>
              <p:cNvSpPr txBox="1"/>
              <p:nvPr/>
            </p:nvSpPr>
            <p:spPr bwMode="auto">
              <a:xfrm>
                <a:off x="1902839" y="3027214"/>
                <a:ext cx="4474362" cy="10263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547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2839" y="3027214"/>
                <a:ext cx="4474362" cy="10263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48" name="Object 44"/>
              <p:cNvSpPr txBox="1"/>
              <p:nvPr/>
            </p:nvSpPr>
            <p:spPr bwMode="auto">
              <a:xfrm>
                <a:off x="2089364" y="5075523"/>
                <a:ext cx="4054734" cy="11010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(​1−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548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9364" y="5075523"/>
                <a:ext cx="4054734" cy="11010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49" name="Object 45"/>
              <p:cNvSpPr txBox="1"/>
              <p:nvPr/>
            </p:nvSpPr>
            <p:spPr bwMode="auto">
              <a:xfrm>
                <a:off x="4491491" y="4187332"/>
                <a:ext cx="1578786" cy="10793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549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1491" y="4187332"/>
                <a:ext cx="1578786" cy="10793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50" name="Object 46"/>
              <p:cNvSpPr txBox="1"/>
              <p:nvPr/>
            </p:nvSpPr>
            <p:spPr bwMode="auto">
              <a:xfrm>
                <a:off x="6048111" y="5195836"/>
                <a:ext cx="3172089" cy="9590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550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48111" y="5195836"/>
                <a:ext cx="3172089" cy="9590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54" name="Object 50"/>
              <p:cNvSpPr txBox="1"/>
              <p:nvPr/>
            </p:nvSpPr>
            <p:spPr bwMode="auto">
              <a:xfrm>
                <a:off x="3195271" y="4063591"/>
                <a:ext cx="1481953" cy="11165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554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5271" y="4063591"/>
                <a:ext cx="1481953" cy="11165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55" name="Object 51"/>
              <p:cNvSpPr txBox="1"/>
              <p:nvPr/>
            </p:nvSpPr>
            <p:spPr bwMode="auto">
              <a:xfrm>
                <a:off x="2105200" y="4161134"/>
                <a:ext cx="1286402" cy="10793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555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5200" y="4161134"/>
                <a:ext cx="1286402" cy="10793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56" name="Object 52"/>
              <p:cNvSpPr txBox="1"/>
              <p:nvPr/>
            </p:nvSpPr>
            <p:spPr bwMode="auto">
              <a:xfrm>
                <a:off x="9001598" y="5243461"/>
                <a:ext cx="8128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1556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598" y="5243461"/>
                <a:ext cx="812800" cy="838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57" name="Text Box 53"/>
          <p:cNvSpPr txBox="1">
            <a:spLocks noChangeArrowheads="1"/>
          </p:cNvSpPr>
          <p:nvPr/>
        </p:nvSpPr>
        <p:spPr bwMode="auto">
          <a:xfrm>
            <a:off x="2089363" y="1830369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面及平面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089363" y="2563138"/>
                <a:ext cx="5473700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如图，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面上的投影区为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363" y="2563138"/>
                <a:ext cx="5473700" cy="495300"/>
              </a:xfrm>
              <a:prstGeom prst="rect">
                <a:avLst/>
              </a:prstGeom>
              <a:blipFill>
                <a:blip r:embed="rId14"/>
                <a:stretch>
                  <a:fillRect l="-891"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图示, 形状&#10;&#10;描述已自动生成">
            <a:extLst>
              <a:ext uri="{FF2B5EF4-FFF2-40B4-BE49-F238E27FC236}">
                <a16:creationId xmlns:a16="http://schemas.microsoft.com/office/drawing/2014/main" id="{C2B812E5-1E48-01BF-E744-0A69AEC595C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362" y="2409156"/>
            <a:ext cx="2610083" cy="281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543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5" grpId="0" build="p" autoUpdateAnimBg="0"/>
      <p:bldP spid="21506" grpId="0"/>
      <p:bldP spid="21514" grpId="0"/>
      <p:bldP spid="21517" grpId="0"/>
      <p:bldP spid="21518" grpId="0" build="p" autoUpdateAnimBg="0" advAuto="0"/>
      <p:bldP spid="21545" grpId="0" build="p" autoUpdateAnimBg="0"/>
      <p:bldP spid="21547" grpId="0"/>
      <p:bldP spid="21548" grpId="0"/>
      <p:bldP spid="21549" grpId="0"/>
      <p:bldP spid="21550" grpId="0"/>
      <p:bldP spid="21554" grpId="0"/>
      <p:bldP spid="21555" grpId="0"/>
      <p:bldP spid="21556" grpId="0"/>
      <p:bldP spid="21557" grpId="0" build="p" autoUpdateAnimBg="0" advAuto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63443BE-6B1F-DD3C-4870-A70F4EA41A40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1ABBCF2-BDF7-FB59-0B91-36837BA91BE5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91ABBCF2-BDF7-FB59-0B91-36837BA91B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C174D42E-2182-C5A6-F877-FA9D6E52A3BE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5F9401B3-4ABF-E955-E1D6-6261ECCAA3A8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0CCAC367-E805-09F6-E23A-9A0C4C8A994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561E9750-867B-7C28-607D-CDD6D894B0A4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91419" y="1032034"/>
            <a:ext cx="358140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</a:t>
            </a:r>
            <a:r>
              <a:rPr lang="en-US" altLang="zh-CN" sz="2800" b="1" dirty="0"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计算三重积分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8" name="Object 10"/>
              <p:cNvSpPr txBox="1"/>
              <p:nvPr/>
            </p:nvSpPr>
            <p:spPr bwMode="auto">
              <a:xfrm>
                <a:off x="4219578" y="646050"/>
                <a:ext cx="2733984" cy="124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53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9578" y="646050"/>
                <a:ext cx="2733984" cy="12463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9" name="Object 11"/>
              <p:cNvSpPr txBox="1"/>
              <p:nvPr/>
            </p:nvSpPr>
            <p:spPr bwMode="auto">
              <a:xfrm>
                <a:off x="2081970" y="1853784"/>
                <a:ext cx="4654429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≤1.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53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1970" y="1853784"/>
                <a:ext cx="4654429" cy="889000"/>
              </a:xfrm>
              <a:prstGeom prst="rect">
                <a:avLst/>
              </a:prstGeom>
              <a:blipFill>
                <a:blip r:embed="rId7"/>
                <a:stretch>
                  <a:fillRect b="-205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65" name="Text Box 37"/>
          <p:cNvSpPr txBox="1">
            <a:spLocks noChangeArrowheads="1"/>
          </p:cNvSpPr>
          <p:nvPr/>
        </p:nvSpPr>
        <p:spPr bwMode="auto">
          <a:xfrm>
            <a:off x="1191419" y="3267350"/>
            <a:ext cx="752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66" name="Object 38"/>
              <p:cNvSpPr txBox="1"/>
              <p:nvPr/>
            </p:nvSpPr>
            <p:spPr bwMode="auto">
              <a:xfrm>
                <a:off x="2139950" y="3349155"/>
                <a:ext cx="787400" cy="609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66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9950" y="3349155"/>
                <a:ext cx="787400" cy="609600"/>
              </a:xfrm>
              <a:prstGeom prst="rect">
                <a:avLst/>
              </a:prstGeom>
              <a:blipFill>
                <a:blip r:embed="rId8"/>
                <a:stretch>
                  <a:fillRect l="-7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67" name="Object 39"/>
              <p:cNvSpPr txBox="1"/>
              <p:nvPr/>
            </p:nvSpPr>
            <p:spPr bwMode="auto">
              <a:xfrm>
                <a:off x="2090736" y="4133281"/>
                <a:ext cx="2396209" cy="10850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67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0736" y="4133281"/>
                <a:ext cx="2396209" cy="108500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68" name="Object 40"/>
              <p:cNvSpPr txBox="1"/>
              <p:nvPr/>
            </p:nvSpPr>
            <p:spPr bwMode="auto">
              <a:xfrm>
                <a:off x="2771456" y="5201529"/>
                <a:ext cx="3467100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68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456" y="5201529"/>
                <a:ext cx="3467100" cy="977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69" name="Object 41"/>
              <p:cNvSpPr txBox="1"/>
              <p:nvPr/>
            </p:nvSpPr>
            <p:spPr bwMode="auto">
              <a:xfrm>
                <a:off x="2695695" y="2893832"/>
                <a:ext cx="1695621" cy="4369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69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5695" y="2893832"/>
                <a:ext cx="1695621" cy="43695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70" name="Object 42"/>
              <p:cNvSpPr txBox="1"/>
              <p:nvPr/>
            </p:nvSpPr>
            <p:spPr bwMode="auto">
              <a:xfrm>
                <a:off x="2698750" y="3333541"/>
                <a:ext cx="29591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70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8750" y="3333541"/>
                <a:ext cx="2959100" cy="8890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71" name="Object 43"/>
              <p:cNvSpPr txBox="1"/>
              <p:nvPr/>
            </p:nvSpPr>
            <p:spPr bwMode="auto">
              <a:xfrm>
                <a:off x="5270599" y="4144828"/>
                <a:ext cx="1170905" cy="10850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71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0599" y="4144828"/>
                <a:ext cx="1170905" cy="10850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72" name="Object 44"/>
              <p:cNvSpPr txBox="1"/>
              <p:nvPr/>
            </p:nvSpPr>
            <p:spPr bwMode="auto">
              <a:xfrm>
                <a:off x="4325468" y="4177480"/>
                <a:ext cx="1232368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72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5468" y="4177480"/>
                <a:ext cx="1232368" cy="9779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73" name="Object 45"/>
              <p:cNvSpPr txBox="1"/>
              <p:nvPr/>
            </p:nvSpPr>
            <p:spPr bwMode="auto">
              <a:xfrm>
                <a:off x="5950341" y="5245978"/>
                <a:ext cx="1651000" cy="8651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573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0341" y="5245978"/>
                <a:ext cx="1651000" cy="86515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85" name="Text Box 57"/>
          <p:cNvSpPr txBox="1">
            <a:spLocks noChangeArrowheads="1"/>
          </p:cNvSpPr>
          <p:nvPr/>
        </p:nvSpPr>
        <p:spPr bwMode="auto">
          <a:xfrm>
            <a:off x="7876885" y="3949751"/>
            <a:ext cx="2590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用“</a:t>
            </a: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先二后一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”  </a:t>
            </a:r>
          </a:p>
        </p:txBody>
      </p:sp>
      <p:sp>
        <p:nvSpPr>
          <p:cNvPr id="22599" name="AutoShape 71"/>
          <p:cNvSpPr>
            <a:spLocks/>
          </p:cNvSpPr>
          <p:nvPr/>
        </p:nvSpPr>
        <p:spPr bwMode="auto">
          <a:xfrm>
            <a:off x="2578894" y="3005411"/>
            <a:ext cx="70351" cy="953344"/>
          </a:xfrm>
          <a:prstGeom prst="lef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A8B8CC37-7D6F-4A57-9420-D113FCA384AC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889" y="1327583"/>
            <a:ext cx="2959100" cy="245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69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8" grpId="0"/>
      <p:bldP spid="22539" grpId="0"/>
      <p:bldP spid="22565" grpId="0" autoUpdateAnimBg="0"/>
      <p:bldP spid="22566" grpId="0"/>
      <p:bldP spid="22567" grpId="0"/>
      <p:bldP spid="22568" grpId="0"/>
      <p:bldP spid="22569" grpId="0"/>
      <p:bldP spid="22570" grpId="0"/>
      <p:bldP spid="22571" grpId="0"/>
      <p:bldP spid="22572" grpId="0"/>
      <p:bldP spid="22573" grpId="0"/>
      <p:bldP spid="2258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0355" name="Object 3"/>
              <p:cNvSpPr txBox="1"/>
              <p:nvPr/>
            </p:nvSpPr>
            <p:spPr bwMode="auto">
              <a:xfrm>
                <a:off x="1828800" y="1270592"/>
                <a:ext cx="2943225" cy="5398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5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8800" y="1270592"/>
                <a:ext cx="2943225" cy="53989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356" name="Object 4"/>
              <p:cNvSpPr txBox="1"/>
              <p:nvPr/>
            </p:nvSpPr>
            <p:spPr bwMode="auto">
              <a:xfrm>
                <a:off x="4544483" y="1279846"/>
                <a:ext cx="4481514" cy="7373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用极坐标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代替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5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4483" y="1279846"/>
                <a:ext cx="4481514" cy="73735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357" name="Object 5"/>
              <p:cNvSpPr txBox="1"/>
              <p:nvPr/>
            </p:nvSpPr>
            <p:spPr bwMode="auto">
              <a:xfrm>
                <a:off x="8241771" y="1259228"/>
                <a:ext cx="1868063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5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41771" y="1259228"/>
                <a:ext cx="1868063" cy="431800"/>
              </a:xfrm>
              <a:prstGeom prst="rect">
                <a:avLst/>
              </a:prstGeom>
              <a:blipFill>
                <a:blip r:embed="rId12"/>
                <a:stretch>
                  <a:fillRect b="-114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1828800" y="1811221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就称为点</a:t>
            </a:r>
            <a:r>
              <a:rPr lang="en-US" altLang="zh-CN" sz="2800" i="1" dirty="0">
                <a:solidFill>
                  <a:srgbClr val="000000"/>
                </a:solidFill>
                <a:latin typeface="Cambria Math" panose="02040503050406030204" pitchFamily="18" charset="0"/>
              </a:rPr>
              <a:t>M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的柱坐标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78" name="Object 26"/>
              <p:cNvSpPr txBox="1"/>
              <p:nvPr/>
            </p:nvSpPr>
            <p:spPr bwMode="auto">
              <a:xfrm>
                <a:off x="4107301" y="2303554"/>
                <a:ext cx="2298700" cy="1346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&lt;+∞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−∞&lt;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&lt;+∞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78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7301" y="2303554"/>
                <a:ext cx="2298700" cy="1346200"/>
              </a:xfrm>
              <a:prstGeom prst="rect">
                <a:avLst/>
              </a:prstGeom>
              <a:blipFill>
                <a:blip r:embed="rId13"/>
                <a:stretch>
                  <a:fillRect r="-21485" b="-54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379" name="Object 27"/>
              <p:cNvSpPr txBox="1"/>
              <p:nvPr/>
            </p:nvSpPr>
            <p:spPr bwMode="auto">
              <a:xfrm>
                <a:off x="2321169" y="2720602"/>
                <a:ext cx="1919302" cy="5896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79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2720602"/>
                <a:ext cx="1919302" cy="58960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380" name="Object 28"/>
              <p:cNvSpPr txBox="1"/>
              <p:nvPr/>
            </p:nvSpPr>
            <p:spPr bwMode="auto">
              <a:xfrm>
                <a:off x="2321169" y="3142030"/>
                <a:ext cx="1752153" cy="6834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80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3142030"/>
                <a:ext cx="1752153" cy="68343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381" name="Object 29"/>
              <p:cNvSpPr txBox="1"/>
              <p:nvPr/>
            </p:nvSpPr>
            <p:spPr bwMode="auto">
              <a:xfrm>
                <a:off x="2321169" y="2283195"/>
                <a:ext cx="1947864" cy="5711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81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2283195"/>
                <a:ext cx="1947864" cy="57118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82" name="AutoShape 30"/>
          <p:cNvSpPr>
            <a:spLocks/>
          </p:cNvSpPr>
          <p:nvPr/>
        </p:nvSpPr>
        <p:spPr bwMode="auto">
          <a:xfrm>
            <a:off x="2155875" y="2397641"/>
            <a:ext cx="230646" cy="1283674"/>
          </a:xfrm>
          <a:prstGeom prst="lef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0383" name="Text Box 31"/>
          <p:cNvSpPr txBox="1">
            <a:spLocks noChangeArrowheads="1"/>
          </p:cNvSpPr>
          <p:nvPr/>
        </p:nvSpPr>
        <p:spPr bwMode="auto">
          <a:xfrm>
            <a:off x="5334000" y="181122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直角坐标与柱面坐标的关系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84" name="Object 32"/>
              <p:cNvSpPr txBox="1"/>
              <p:nvPr/>
            </p:nvSpPr>
            <p:spPr bwMode="auto">
              <a:xfrm>
                <a:off x="2321169" y="4281488"/>
                <a:ext cx="1946031" cy="641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84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4281488"/>
                <a:ext cx="1946031" cy="64135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85" name="Text Box 33"/>
          <p:cNvSpPr txBox="1">
            <a:spLocks noChangeArrowheads="1"/>
          </p:cNvSpPr>
          <p:nvPr/>
        </p:nvSpPr>
        <p:spPr bwMode="auto">
          <a:xfrm>
            <a:off x="1828800" y="3697457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坐标面分别为</a:t>
            </a:r>
          </a:p>
        </p:txBody>
      </p:sp>
      <p:sp>
        <p:nvSpPr>
          <p:cNvPr id="100386" name="AutoShape 34"/>
          <p:cNvSpPr>
            <a:spLocks noChangeArrowheads="1"/>
          </p:cNvSpPr>
          <p:nvPr/>
        </p:nvSpPr>
        <p:spPr bwMode="auto">
          <a:xfrm>
            <a:off x="3921125" y="4496593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0387" name="Text Box 35"/>
          <p:cNvSpPr txBox="1">
            <a:spLocks noChangeArrowheads="1"/>
          </p:cNvSpPr>
          <p:nvPr/>
        </p:nvSpPr>
        <p:spPr bwMode="auto">
          <a:xfrm>
            <a:off x="4948102" y="42814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圆柱面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88" name="Object 36"/>
              <p:cNvSpPr txBox="1"/>
              <p:nvPr/>
            </p:nvSpPr>
            <p:spPr bwMode="auto">
              <a:xfrm>
                <a:off x="2321169" y="4835874"/>
                <a:ext cx="1874617" cy="5879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88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4835874"/>
                <a:ext cx="1874617" cy="58790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89" name="AutoShape 37"/>
          <p:cNvSpPr>
            <a:spLocks noChangeArrowheads="1"/>
          </p:cNvSpPr>
          <p:nvPr/>
        </p:nvSpPr>
        <p:spPr bwMode="auto">
          <a:xfrm>
            <a:off x="3941517" y="5063648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0390" name="Text Box 38"/>
          <p:cNvSpPr txBox="1">
            <a:spLocks noChangeArrowheads="1"/>
          </p:cNvSpPr>
          <p:nvPr/>
        </p:nvSpPr>
        <p:spPr bwMode="auto">
          <a:xfrm>
            <a:off x="4948102" y="4848303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半平面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391" name="Object 39"/>
              <p:cNvSpPr txBox="1"/>
              <p:nvPr/>
            </p:nvSpPr>
            <p:spPr bwMode="auto">
              <a:xfrm>
                <a:off x="2321169" y="5395552"/>
                <a:ext cx="1838910" cy="5879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0391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5395552"/>
                <a:ext cx="1838910" cy="58790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92" name="AutoShape 40"/>
          <p:cNvSpPr>
            <a:spLocks noChangeArrowheads="1"/>
          </p:cNvSpPr>
          <p:nvPr/>
        </p:nvSpPr>
        <p:spPr bwMode="auto">
          <a:xfrm>
            <a:off x="3921125" y="5610065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0393" name="Text Box 41"/>
          <p:cNvSpPr txBox="1">
            <a:spLocks noChangeArrowheads="1"/>
          </p:cNvSpPr>
          <p:nvPr/>
        </p:nvSpPr>
        <p:spPr bwMode="auto">
          <a:xfrm>
            <a:off x="4948102" y="5395076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平面</a:t>
            </a:r>
          </a:p>
        </p:txBody>
      </p:sp>
      <p:sp>
        <p:nvSpPr>
          <p:cNvPr id="59" name="Rectangle 2"/>
          <p:cNvSpPr txBox="1">
            <a:spLocks noChangeArrowheads="1"/>
          </p:cNvSpPr>
          <p:nvPr/>
        </p:nvSpPr>
        <p:spPr>
          <a:xfrm>
            <a:off x="1407805" y="499433"/>
            <a:ext cx="4984320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利用柱坐标计算三重积分</a:t>
            </a:r>
            <a:endParaRPr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图片包含 形状&#10;&#10;描述已自动生成">
            <a:extLst>
              <a:ext uri="{FF2B5EF4-FFF2-40B4-BE49-F238E27FC236}">
                <a16:creationId xmlns:a16="http://schemas.microsoft.com/office/drawing/2014/main" id="{43400EF8-FFE5-9B33-0B51-FA768F9D2FFC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068" y="2690012"/>
            <a:ext cx="3015503" cy="292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41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0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0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0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/>
      <p:bldP spid="100356" grpId="0"/>
      <p:bldP spid="100357" grpId="0"/>
      <p:bldP spid="100358" grpId="0" autoUpdateAnimBg="0"/>
      <p:bldP spid="100379" grpId="0"/>
      <p:bldP spid="100380" grpId="0"/>
      <p:bldP spid="100381" grpId="0"/>
      <p:bldP spid="100383" grpId="0" autoUpdateAnimBg="0"/>
      <p:bldP spid="100384" grpId="0"/>
      <p:bldP spid="100385" grpId="0" autoUpdateAnimBg="0"/>
      <p:bldP spid="100387" grpId="0" autoUpdateAnimBg="0"/>
      <p:bldP spid="100388" grpId="0"/>
      <p:bldP spid="100390" grpId="0" autoUpdateAnimBg="0"/>
      <p:bldP spid="100391" grpId="0"/>
      <p:bldP spid="100393" grpId="0" autoUpdateAnimBg="0"/>
      <p:bldP spid="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18233" y="613290"/>
            <a:ext cx="6377992" cy="44521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如图所示，在柱面坐标系中体积元素为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79" name="Object 107"/>
              <p:cNvSpPr txBox="1"/>
              <p:nvPr/>
            </p:nvSpPr>
            <p:spPr bwMode="auto">
              <a:xfrm>
                <a:off x="3127250" y="1083511"/>
                <a:ext cx="3352771" cy="5880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zh-CN" altLang="en-US" sz="2800" dirty="0"/>
              </a:p>
              <a:p>
                <a:endParaRPr lang="zh-CN" altLang="en-US" sz="2800" dirty="0"/>
              </a:p>
            </p:txBody>
          </p:sp>
        </mc:Choice>
        <mc:Fallback xmlns="">
          <p:sp>
            <p:nvSpPr>
              <p:cNvPr id="28779" name="Object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7250" y="1083511"/>
                <a:ext cx="3352771" cy="58801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80" name="Text Box 108"/>
          <p:cNvSpPr txBox="1">
            <a:spLocks noChangeArrowheads="1"/>
          </p:cNvSpPr>
          <p:nvPr/>
        </p:nvSpPr>
        <p:spPr bwMode="auto">
          <a:xfrm>
            <a:off x="1506218" y="185215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因此</a:t>
            </a:r>
          </a:p>
        </p:txBody>
      </p:sp>
      <p:sp>
        <p:nvSpPr>
          <p:cNvPr id="28787" name="Text Box 115"/>
          <p:cNvSpPr txBox="1">
            <a:spLocks noChangeArrowheads="1"/>
          </p:cNvSpPr>
          <p:nvPr/>
        </p:nvSpPr>
        <p:spPr bwMode="auto">
          <a:xfrm>
            <a:off x="1506218" y="3860336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88" name="Object 116"/>
              <p:cNvSpPr txBox="1"/>
              <p:nvPr/>
            </p:nvSpPr>
            <p:spPr bwMode="auto">
              <a:xfrm>
                <a:off x="2271550" y="3854369"/>
                <a:ext cx="5251457" cy="5914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788" name="Object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1550" y="3854369"/>
                <a:ext cx="5251457" cy="59142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89" name="Text Box 117"/>
          <p:cNvSpPr txBox="1">
            <a:spLocks noChangeArrowheads="1"/>
          </p:cNvSpPr>
          <p:nvPr/>
        </p:nvSpPr>
        <p:spPr bwMode="auto">
          <a:xfrm>
            <a:off x="1506218" y="437915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+mn-ea"/>
                <a:cs typeface="+mn-cs"/>
              </a:rPr>
              <a:t>适用范围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+mn-ea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793" name="Object 121"/>
              <p:cNvSpPr txBox="1"/>
              <p:nvPr/>
            </p:nvSpPr>
            <p:spPr bwMode="auto">
              <a:xfrm>
                <a:off x="4819657" y="2901442"/>
                <a:ext cx="1811778" cy="5667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793" name="Object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9657" y="2901442"/>
                <a:ext cx="1811778" cy="56679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1506217" y="5511300"/>
                <a:ext cx="9494715" cy="838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被积函数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中含有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或者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arctan</m:t>
                      </m:r>
                      <m:r>
                        <a:rPr lang="en-US" altLang="zh-CN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217" y="5511300"/>
                <a:ext cx="9494715" cy="8382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1506218" y="4965201"/>
                <a:ext cx="8674100" cy="70167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积分域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面的投影为圆或圆的一部分；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218" y="4965201"/>
                <a:ext cx="8674100" cy="70167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BCCFA47A-5B27-0278-FBE9-B89B08E3607D}"/>
                  </a:ext>
                </a:extLst>
              </p:cNvPr>
              <p:cNvSpPr txBox="1"/>
              <p:nvPr/>
            </p:nvSpPr>
            <p:spPr bwMode="auto">
              <a:xfrm>
                <a:off x="2417845" y="1536151"/>
                <a:ext cx="3773403" cy="12244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Object 10">
                <a:extLst>
                  <a:ext uri="{FF2B5EF4-FFF2-40B4-BE49-F238E27FC236}">
                    <a16:creationId xmlns:a16="http://schemas.microsoft.com/office/drawing/2014/main" id="{BCCFA47A-5B27-0278-FBE9-B89B08E36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7845" y="1536151"/>
                <a:ext cx="3773403" cy="1224457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0">
                <a:extLst>
                  <a:ext uri="{FF2B5EF4-FFF2-40B4-BE49-F238E27FC236}">
                    <a16:creationId xmlns:a16="http://schemas.microsoft.com/office/drawing/2014/main" id="{3A780CF6-D08D-CFF4-9201-5089F9BC76EA}"/>
                  </a:ext>
                </a:extLst>
              </p:cNvPr>
              <p:cNvSpPr txBox="1"/>
              <p:nvPr/>
            </p:nvSpPr>
            <p:spPr bwMode="auto">
              <a:xfrm>
                <a:off x="2404789" y="2671942"/>
                <a:ext cx="2376762" cy="12423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Object 10">
                <a:extLst>
                  <a:ext uri="{FF2B5EF4-FFF2-40B4-BE49-F238E27FC236}">
                    <a16:creationId xmlns:a16="http://schemas.microsoft.com/office/drawing/2014/main" id="{3A780CF6-D08D-CFF4-9201-5089F9BC7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4789" y="2671942"/>
                <a:ext cx="2376762" cy="1242379"/>
              </a:xfrm>
              <a:prstGeom prst="rect">
                <a:avLst/>
              </a:prstGeom>
              <a:blipFill>
                <a:blip r:embed="rId22"/>
                <a:stretch>
                  <a:fillRect r="-28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8980B5B8-B9FB-ABAA-4E9F-D4BB124F3529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887" y="1167201"/>
            <a:ext cx="3167045" cy="346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8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779" grpId="0"/>
      <p:bldP spid="28780" grpId="0" autoUpdateAnimBg="0"/>
      <p:bldP spid="28787" grpId="0" autoUpdateAnimBg="0"/>
      <p:bldP spid="28788" grpId="0"/>
      <p:bldP spid="28789" grpId="0" autoUpdateAnimBg="0"/>
      <p:bldP spid="28793" grpId="0"/>
      <p:bldP spid="2" grpId="0"/>
      <p:bldP spid="3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8E43C0C-4A7C-0040-5157-231F9B764B3A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8931A9C0-64DA-8CF8-E3A5-A688F6010386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8931A9C0-64DA-8CF8-E3A5-A688F60103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A29E29E8-538A-084B-2851-871AFF7ACE9E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1B62A1B6-0FA5-888A-51A0-53809475E27B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A9B7944B-D395-5C9B-BAF3-4D13E0FD244E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26110892-BF83-F58E-C69A-FEC63075059E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106" name="Text Box 2"/>
              <p:cNvSpPr txBox="1">
                <a:spLocks noChangeArrowheads="1"/>
              </p:cNvSpPr>
              <p:nvPr/>
            </p:nvSpPr>
            <p:spPr bwMode="auto">
              <a:xfrm>
                <a:off x="7776018" y="775159"/>
                <a:ext cx="187518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lang="el-GR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为由</a:t>
                </a:r>
              </a:p>
            </p:txBody>
          </p:sp>
        </mc:Choice>
        <mc:Fallback xmlns="">
          <p:sp>
            <p:nvSpPr>
              <p:cNvPr id="47106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6018" y="775159"/>
                <a:ext cx="1875187" cy="523220"/>
              </a:xfrm>
              <a:prstGeom prst="rect">
                <a:avLst/>
              </a:prstGeom>
              <a:blipFill>
                <a:blip r:embed="rId4"/>
                <a:stretch>
                  <a:fillRect l="-6840" t="-15116" r="-5537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262891" y="817362"/>
            <a:ext cx="327660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计算三重积分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08" name="Object 4"/>
              <p:cNvSpPr txBox="1"/>
              <p:nvPr/>
            </p:nvSpPr>
            <p:spPr bwMode="auto">
              <a:xfrm>
                <a:off x="4230407" y="488584"/>
                <a:ext cx="3680185" cy="1232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0407" y="488584"/>
                <a:ext cx="3680185" cy="12323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09" name="Object 5"/>
              <p:cNvSpPr txBox="1"/>
              <p:nvPr/>
            </p:nvSpPr>
            <p:spPr bwMode="auto">
              <a:xfrm>
                <a:off x="2835911" y="1585144"/>
                <a:ext cx="2359440" cy="5482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=2​​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0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5911" y="1585144"/>
                <a:ext cx="2359440" cy="54826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10" name="Object 6"/>
              <p:cNvSpPr txBox="1"/>
              <p:nvPr/>
            </p:nvSpPr>
            <p:spPr bwMode="auto">
              <a:xfrm>
                <a:off x="5956232" y="1567114"/>
                <a:ext cx="4269066" cy="6126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&gt;0),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711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6232" y="1567114"/>
                <a:ext cx="4269066" cy="612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9941937" y="1565329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所围</a:t>
            </a: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1262891" y="2807052"/>
            <a:ext cx="305818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在柱面坐标系下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13" name="Object 9"/>
              <p:cNvSpPr txBox="1"/>
              <p:nvPr/>
            </p:nvSpPr>
            <p:spPr bwMode="auto">
              <a:xfrm>
                <a:off x="4138775" y="2861985"/>
                <a:ext cx="482544" cy="489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1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8775" y="2861985"/>
                <a:ext cx="482544" cy="489450"/>
              </a:xfrm>
              <a:prstGeom prst="rect">
                <a:avLst/>
              </a:prstGeom>
              <a:blipFill>
                <a:blip r:embed="rId8"/>
                <a:stretch>
                  <a:fillRect l="-12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16" name="Object 12"/>
              <p:cNvSpPr txBox="1"/>
              <p:nvPr/>
            </p:nvSpPr>
            <p:spPr bwMode="auto">
              <a:xfrm>
                <a:off x="2746905" y="5305765"/>
                <a:ext cx="2600619" cy="10553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1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6905" y="5305765"/>
                <a:ext cx="2600619" cy="105530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35" name="Object 31"/>
              <p:cNvSpPr txBox="1"/>
              <p:nvPr/>
            </p:nvSpPr>
            <p:spPr bwMode="auto">
              <a:xfrm>
                <a:off x="4748969" y="2849577"/>
                <a:ext cx="2027021" cy="5018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35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8969" y="2849577"/>
                <a:ext cx="2027021" cy="501858"/>
              </a:xfrm>
              <a:prstGeom prst="rect">
                <a:avLst/>
              </a:prstGeom>
              <a:blipFill>
                <a:blip r:embed="rId10"/>
                <a:stretch>
                  <a:fillRect l="-3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36" name="Object 32"/>
              <p:cNvSpPr txBox="1"/>
              <p:nvPr/>
            </p:nvSpPr>
            <p:spPr bwMode="auto">
              <a:xfrm>
                <a:off x="4748969" y="2205952"/>
                <a:ext cx="1455637" cy="685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36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8969" y="2205952"/>
                <a:ext cx="1455637" cy="6852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37" name="Object 33"/>
              <p:cNvSpPr txBox="1"/>
              <p:nvPr/>
            </p:nvSpPr>
            <p:spPr bwMode="auto">
              <a:xfrm>
                <a:off x="4748969" y="3281765"/>
                <a:ext cx="1294473" cy="4658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37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8969" y="3281765"/>
                <a:ext cx="1294473" cy="465884"/>
              </a:xfrm>
              <a:prstGeom prst="rect">
                <a:avLst/>
              </a:prstGeom>
              <a:blipFill>
                <a:blip r:embed="rId12"/>
                <a:stretch>
                  <a:fillRect l="-4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41" name="Text Box 37"/>
          <p:cNvSpPr txBox="1">
            <a:spLocks noChangeArrowheads="1"/>
          </p:cNvSpPr>
          <p:nvPr/>
        </p:nvSpPr>
        <p:spPr bwMode="auto">
          <a:xfrm>
            <a:off x="4881842" y="15741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及平面</a:t>
            </a:r>
          </a:p>
        </p:txBody>
      </p:sp>
      <p:grpSp>
        <p:nvGrpSpPr>
          <p:cNvPr id="47170" name="Group 66"/>
          <p:cNvGrpSpPr>
            <a:grpSpLocks/>
          </p:cNvGrpSpPr>
          <p:nvPr/>
        </p:nvGrpSpPr>
        <p:grpSpPr bwMode="auto">
          <a:xfrm>
            <a:off x="7986976" y="2276780"/>
            <a:ext cx="2009776" cy="3016250"/>
            <a:chOff x="4066" y="1239"/>
            <a:chExt cx="1266" cy="1900"/>
          </a:xfrm>
        </p:grpSpPr>
        <p:sp>
          <p:nvSpPr>
            <p:cNvPr id="47131" name="Line 27"/>
            <p:cNvSpPr>
              <a:spLocks noChangeShapeType="1"/>
            </p:cNvSpPr>
            <p:nvPr/>
          </p:nvSpPr>
          <p:spPr bwMode="auto">
            <a:xfrm>
              <a:off x="4966" y="1832"/>
              <a:ext cx="0" cy="6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7134" name="Object 3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26105156"/>
                    </p:ext>
                  </p:extLst>
                </p:nvPr>
              </p:nvGraphicFramePr>
              <p:xfrm>
                <a:off x="4232" y="2496"/>
                <a:ext cx="136" cy="1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25" name="Equation" r:id="rId13" imgW="215640" imgH="304560" progId="Equation.3">
                        <p:embed/>
                      </p:oleObj>
                    </mc:Choice>
                    <mc:Fallback>
                      <p:oleObj name="Equation" r:id="rId13" imgW="215640" imgH="304560" progId="Equation.3">
                        <p:embed/>
                        <p:pic>
                          <p:nvPicPr>
                            <p:cNvPr id="47134" name="Object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32" y="2496"/>
                              <a:ext cx="136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7134" name="Object 3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26105156"/>
                    </p:ext>
                  </p:extLst>
                </p:nvPr>
              </p:nvGraphicFramePr>
              <p:xfrm>
                <a:off x="4232" y="2496"/>
                <a:ext cx="136" cy="1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5" imgW="215640" imgH="304560" progId="Equation.3">
                        <p:embed/>
                      </p:oleObj>
                    </mc:Choice>
                    <mc:Fallback>
                      <p:oleObj name="Equation" r:id="rId15" imgW="215640" imgH="304560" progId="Equation.3">
                        <p:embed/>
                        <p:pic>
                          <p:nvPicPr>
                            <p:cNvPr id="47134" name="Object 3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232" y="2496"/>
                              <a:ext cx="136" cy="1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7133" name="Object 2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65880445"/>
                    </p:ext>
                  </p:extLst>
                </p:nvPr>
              </p:nvGraphicFramePr>
              <p:xfrm>
                <a:off x="4656" y="1528"/>
                <a:ext cx="144" cy="15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026" name="Equation" r:id="rId17" imgW="228600" imgH="241200" progId="Equation.3">
                        <p:embed/>
                      </p:oleObj>
                    </mc:Choice>
                    <mc:Fallback>
                      <p:oleObj name="Equation" r:id="rId17" imgW="228600" imgH="241200" progId="Equation.3">
                        <p:embed/>
                        <p:pic>
                          <p:nvPicPr>
                            <p:cNvPr id="47133" name="Object 2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8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56" y="1528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7133" name="Object 2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965880445"/>
                    </p:ext>
                  </p:extLst>
                </p:nvPr>
              </p:nvGraphicFramePr>
              <p:xfrm>
                <a:off x="4656" y="1528"/>
                <a:ext cx="144" cy="15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9" imgW="228600" imgH="241200" progId="Equation.3">
                        <p:embed/>
                      </p:oleObj>
                    </mc:Choice>
                    <mc:Fallback>
                      <p:oleObj name="Equation" r:id="rId19" imgW="228600" imgH="241200" progId="Equation.3">
                        <p:embed/>
                        <p:pic>
                          <p:nvPicPr>
                            <p:cNvPr id="47133" name="Object 2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656" y="1528"/>
                              <a:ext cx="144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21" name="Object 17"/>
                <p:cNvSpPr txBox="1"/>
                <p:nvPr/>
              </p:nvSpPr>
              <p:spPr bwMode="auto">
                <a:xfrm>
                  <a:off x="4066" y="2699"/>
                  <a:ext cx="584" cy="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21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66" y="2699"/>
                  <a:ext cx="584" cy="44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22" name="Object 18"/>
                <p:cNvSpPr txBox="1"/>
                <p:nvPr/>
              </p:nvSpPr>
              <p:spPr bwMode="auto">
                <a:xfrm>
                  <a:off x="5125" y="2202"/>
                  <a:ext cx="207" cy="2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22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5" y="2202"/>
                  <a:ext cx="207" cy="294"/>
                </a:xfrm>
                <a:prstGeom prst="rect">
                  <a:avLst/>
                </a:prstGeom>
                <a:blipFill>
                  <a:blip r:embed="rId22"/>
                  <a:stretch>
                    <a:fillRect l="-5556" r="-12963" b="-1168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23" name="Object 19"/>
                <p:cNvSpPr txBox="1"/>
                <p:nvPr/>
              </p:nvSpPr>
              <p:spPr bwMode="auto">
                <a:xfrm>
                  <a:off x="4650" y="1239"/>
                  <a:ext cx="36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23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0" y="1239"/>
                  <a:ext cx="367" cy="38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32" name="Object 28"/>
                <p:cNvSpPr txBox="1"/>
                <p:nvPr/>
              </p:nvSpPr>
              <p:spPr bwMode="auto">
                <a:xfrm>
                  <a:off x="4612" y="2082"/>
                  <a:ext cx="327" cy="45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32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12" y="2082"/>
                  <a:ext cx="327" cy="459"/>
                </a:xfrm>
                <a:prstGeom prst="rect">
                  <a:avLst/>
                </a:prstGeom>
                <a:blipFill>
                  <a:blip r:embed="rId24"/>
                  <a:stretch>
                    <a:fillRect l="-232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119" name="Line 15"/>
            <p:cNvSpPr>
              <a:spLocks noChangeShapeType="1"/>
            </p:cNvSpPr>
            <p:nvPr/>
          </p:nvSpPr>
          <p:spPr bwMode="auto">
            <a:xfrm>
              <a:off x="4966" y="2256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45" name="Arc 41"/>
            <p:cNvSpPr>
              <a:spLocks/>
            </p:cNvSpPr>
            <p:nvPr/>
          </p:nvSpPr>
          <p:spPr bwMode="auto">
            <a:xfrm>
              <a:off x="4498" y="2255"/>
              <a:ext cx="466" cy="221"/>
            </a:xfrm>
            <a:custGeom>
              <a:avLst/>
              <a:gdLst>
                <a:gd name="G0" fmla="+- 0 0 0"/>
                <a:gd name="G1" fmla="+- 13038 0 0"/>
                <a:gd name="G2" fmla="+- 21600 0 0"/>
                <a:gd name="T0" fmla="*/ 17221 w 21600"/>
                <a:gd name="T1" fmla="*/ 0 h 17613"/>
                <a:gd name="T2" fmla="*/ 21110 w 21600"/>
                <a:gd name="T3" fmla="*/ 17613 h 17613"/>
                <a:gd name="T4" fmla="*/ 0 w 21600"/>
                <a:gd name="T5" fmla="*/ 13038 h 17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613" fill="none" extrusionOk="0">
                  <a:moveTo>
                    <a:pt x="17221" y="-1"/>
                  </a:moveTo>
                  <a:cubicBezTo>
                    <a:pt x="20062" y="3752"/>
                    <a:pt x="21600" y="8330"/>
                    <a:pt x="21600" y="13038"/>
                  </a:cubicBezTo>
                  <a:cubicBezTo>
                    <a:pt x="21600" y="14576"/>
                    <a:pt x="21435" y="16109"/>
                    <a:pt x="21109" y="17612"/>
                  </a:cubicBezTo>
                </a:path>
                <a:path w="21600" h="17613" stroke="0" extrusionOk="0">
                  <a:moveTo>
                    <a:pt x="17221" y="-1"/>
                  </a:moveTo>
                  <a:cubicBezTo>
                    <a:pt x="20062" y="3752"/>
                    <a:pt x="21600" y="8330"/>
                    <a:pt x="21600" y="13038"/>
                  </a:cubicBezTo>
                  <a:cubicBezTo>
                    <a:pt x="21600" y="14576"/>
                    <a:pt x="21435" y="16109"/>
                    <a:pt x="21109" y="17612"/>
                  </a:cubicBezTo>
                  <a:lnTo>
                    <a:pt x="0" y="13038"/>
                  </a:lnTo>
                  <a:close/>
                </a:path>
              </a:pathLst>
            </a:cu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46" name="Arc 42"/>
            <p:cNvSpPr>
              <a:spLocks/>
            </p:cNvSpPr>
            <p:nvPr/>
          </p:nvSpPr>
          <p:spPr bwMode="auto">
            <a:xfrm>
              <a:off x="4421" y="2422"/>
              <a:ext cx="544" cy="272"/>
            </a:xfrm>
            <a:custGeom>
              <a:avLst/>
              <a:gdLst>
                <a:gd name="G0" fmla="+- 3560 0 0"/>
                <a:gd name="G1" fmla="+- 0 0 0"/>
                <a:gd name="G2" fmla="+- 21600 0 0"/>
                <a:gd name="T0" fmla="*/ 25148 w 25148"/>
                <a:gd name="T1" fmla="*/ 706 h 21600"/>
                <a:gd name="T2" fmla="*/ 0 w 25148"/>
                <a:gd name="T3" fmla="*/ 21305 h 21600"/>
                <a:gd name="T4" fmla="*/ 3560 w 25148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148" h="21600" fill="none" extrusionOk="0">
                  <a:moveTo>
                    <a:pt x="25148" y="706"/>
                  </a:moveTo>
                  <a:cubicBezTo>
                    <a:pt x="24767" y="12354"/>
                    <a:pt x="15214" y="21599"/>
                    <a:pt x="3560" y="21599"/>
                  </a:cubicBezTo>
                  <a:cubicBezTo>
                    <a:pt x="2367" y="21599"/>
                    <a:pt x="1176" y="21501"/>
                    <a:pt x="0" y="21304"/>
                  </a:cubicBezTo>
                </a:path>
                <a:path w="25148" h="21600" stroke="0" extrusionOk="0">
                  <a:moveTo>
                    <a:pt x="25148" y="706"/>
                  </a:moveTo>
                  <a:cubicBezTo>
                    <a:pt x="24767" y="12354"/>
                    <a:pt x="15214" y="21599"/>
                    <a:pt x="3560" y="21599"/>
                  </a:cubicBezTo>
                  <a:cubicBezTo>
                    <a:pt x="2367" y="21599"/>
                    <a:pt x="1176" y="21501"/>
                    <a:pt x="0" y="21304"/>
                  </a:cubicBezTo>
                  <a:lnTo>
                    <a:pt x="3560" y="0"/>
                  </a:lnTo>
                  <a:close/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0" name="Line 16"/>
            <p:cNvSpPr>
              <a:spLocks noChangeShapeType="1"/>
            </p:cNvSpPr>
            <p:nvPr/>
          </p:nvSpPr>
          <p:spPr bwMode="auto">
            <a:xfrm flipV="1">
              <a:off x="4850" y="1322"/>
              <a:ext cx="0" cy="3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4" name="Line 20"/>
            <p:cNvSpPr>
              <a:spLocks noChangeShapeType="1"/>
            </p:cNvSpPr>
            <p:nvPr/>
          </p:nvSpPr>
          <p:spPr bwMode="auto">
            <a:xfrm flipH="1">
              <a:off x="4421" y="2259"/>
              <a:ext cx="429" cy="4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5" name="Line 21"/>
            <p:cNvSpPr>
              <a:spLocks noChangeShapeType="1"/>
            </p:cNvSpPr>
            <p:nvPr/>
          </p:nvSpPr>
          <p:spPr bwMode="auto">
            <a:xfrm flipV="1">
              <a:off x="4850" y="1599"/>
              <a:ext cx="0" cy="6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7" name="Line 23"/>
            <p:cNvSpPr>
              <a:spLocks noChangeShapeType="1"/>
            </p:cNvSpPr>
            <p:nvPr/>
          </p:nvSpPr>
          <p:spPr bwMode="auto">
            <a:xfrm flipH="1">
              <a:off x="4227" y="2687"/>
              <a:ext cx="194" cy="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8" name="Arc 24"/>
            <p:cNvSpPr>
              <a:spLocks/>
            </p:cNvSpPr>
            <p:nvPr/>
          </p:nvSpPr>
          <p:spPr bwMode="auto">
            <a:xfrm>
              <a:off x="4424" y="1630"/>
              <a:ext cx="544" cy="446"/>
            </a:xfrm>
            <a:custGeom>
              <a:avLst/>
              <a:gdLst>
                <a:gd name="G0" fmla="+- 3560 0 0"/>
                <a:gd name="G1" fmla="+- 13804 0 0"/>
                <a:gd name="G2" fmla="+- 21600 0 0"/>
                <a:gd name="T0" fmla="*/ 20174 w 25160"/>
                <a:gd name="T1" fmla="*/ 0 h 35404"/>
                <a:gd name="T2" fmla="*/ 0 w 25160"/>
                <a:gd name="T3" fmla="*/ 35109 h 35404"/>
                <a:gd name="T4" fmla="*/ 3560 w 25160"/>
                <a:gd name="T5" fmla="*/ 13804 h 35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160" h="35404" fill="none" extrusionOk="0">
                  <a:moveTo>
                    <a:pt x="20173" y="0"/>
                  </a:moveTo>
                  <a:cubicBezTo>
                    <a:pt x="23396" y="3878"/>
                    <a:pt x="25160" y="8761"/>
                    <a:pt x="25160" y="13804"/>
                  </a:cubicBezTo>
                  <a:cubicBezTo>
                    <a:pt x="25160" y="25733"/>
                    <a:pt x="15489" y="35404"/>
                    <a:pt x="3560" y="35404"/>
                  </a:cubicBezTo>
                  <a:cubicBezTo>
                    <a:pt x="2367" y="35403"/>
                    <a:pt x="1176" y="35305"/>
                    <a:pt x="0" y="35108"/>
                  </a:cubicBezTo>
                </a:path>
                <a:path w="25160" h="35404" stroke="0" extrusionOk="0">
                  <a:moveTo>
                    <a:pt x="20173" y="0"/>
                  </a:moveTo>
                  <a:cubicBezTo>
                    <a:pt x="23396" y="3878"/>
                    <a:pt x="25160" y="8761"/>
                    <a:pt x="25160" y="13804"/>
                  </a:cubicBezTo>
                  <a:cubicBezTo>
                    <a:pt x="25160" y="25733"/>
                    <a:pt x="15489" y="35404"/>
                    <a:pt x="3560" y="35404"/>
                  </a:cubicBezTo>
                  <a:cubicBezTo>
                    <a:pt x="2367" y="35403"/>
                    <a:pt x="1176" y="35305"/>
                    <a:pt x="0" y="35108"/>
                  </a:cubicBezTo>
                  <a:lnTo>
                    <a:pt x="3560" y="13804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9" name="Line 25"/>
            <p:cNvSpPr>
              <a:spLocks noChangeShapeType="1"/>
            </p:cNvSpPr>
            <p:nvPr/>
          </p:nvSpPr>
          <p:spPr bwMode="auto">
            <a:xfrm>
              <a:off x="4421" y="2065"/>
              <a:ext cx="0" cy="6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30" name="Line 26"/>
            <p:cNvSpPr>
              <a:spLocks noChangeShapeType="1"/>
            </p:cNvSpPr>
            <p:nvPr/>
          </p:nvSpPr>
          <p:spPr bwMode="auto">
            <a:xfrm flipH="1">
              <a:off x="4421" y="1638"/>
              <a:ext cx="429" cy="4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51" name="Line 47"/>
            <p:cNvSpPr>
              <a:spLocks noChangeShapeType="1"/>
            </p:cNvSpPr>
            <p:nvPr/>
          </p:nvSpPr>
          <p:spPr bwMode="auto">
            <a:xfrm>
              <a:off x="4850" y="2256"/>
              <a:ext cx="1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155" name="Object 51"/>
              <p:cNvSpPr txBox="1"/>
              <p:nvPr/>
            </p:nvSpPr>
            <p:spPr bwMode="auto">
              <a:xfrm>
                <a:off x="7910592" y="5378682"/>
                <a:ext cx="2314706" cy="503522"/>
              </a:xfrm>
              <a:prstGeom prst="rect">
                <a:avLst/>
              </a:prstGeom>
              <a:noFill/>
              <a:ln w="9525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55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0592" y="5378682"/>
                <a:ext cx="2314706" cy="503522"/>
              </a:xfrm>
              <a:prstGeom prst="rect">
                <a:avLst/>
              </a:prstGeom>
              <a:blipFill>
                <a:blip r:embed="rId25"/>
                <a:stretch>
                  <a:fillRect l="-787"/>
                </a:stretch>
              </a:blipFill>
              <a:ln w="9525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56" name="Object 52"/>
              <p:cNvSpPr txBox="1"/>
              <p:nvPr/>
            </p:nvSpPr>
            <p:spPr bwMode="auto">
              <a:xfrm>
                <a:off x="2748240" y="4418884"/>
                <a:ext cx="2908023" cy="10011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56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8240" y="4418884"/>
                <a:ext cx="2908023" cy="1001151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57" name="Object 53"/>
              <p:cNvSpPr txBox="1"/>
              <p:nvPr/>
            </p:nvSpPr>
            <p:spPr bwMode="auto">
              <a:xfrm>
                <a:off x="5426757" y="4575696"/>
                <a:ext cx="1006449" cy="8443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57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6757" y="4575696"/>
                <a:ext cx="1006449" cy="84433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58" name="Object 54"/>
              <p:cNvSpPr txBox="1"/>
              <p:nvPr/>
            </p:nvSpPr>
            <p:spPr bwMode="auto">
              <a:xfrm>
                <a:off x="2164119" y="3482903"/>
                <a:ext cx="3408006" cy="10011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原式</m:t>
                      </m:r>
                      <m: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58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4119" y="3482903"/>
                <a:ext cx="3408006" cy="100115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159" name="Object 55"/>
              <p:cNvSpPr txBox="1"/>
              <p:nvPr/>
            </p:nvSpPr>
            <p:spPr bwMode="auto">
              <a:xfrm>
                <a:off x="5264802" y="5443205"/>
                <a:ext cx="1089171" cy="8443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7159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4802" y="5443205"/>
                <a:ext cx="1089171" cy="84433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61" name="Text Box 57"/>
          <p:cNvSpPr txBox="1">
            <a:spLocks noChangeArrowheads="1"/>
          </p:cNvSpPr>
          <p:nvPr/>
        </p:nvSpPr>
        <p:spPr bwMode="auto">
          <a:xfrm>
            <a:off x="2098834" y="1608780"/>
            <a:ext cx="92937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柱面</a:t>
            </a:r>
          </a:p>
        </p:txBody>
      </p:sp>
      <p:sp>
        <p:nvSpPr>
          <p:cNvPr id="47162" name="AutoShape 58"/>
          <p:cNvSpPr>
            <a:spLocks/>
          </p:cNvSpPr>
          <p:nvPr/>
        </p:nvSpPr>
        <p:spPr bwMode="auto">
          <a:xfrm>
            <a:off x="4573693" y="2440577"/>
            <a:ext cx="159099" cy="1233414"/>
          </a:xfrm>
          <a:prstGeom prst="leftBrace">
            <a:avLst>
              <a:gd name="adj1" fmla="val 55052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44" name="Object 40"/>
              <p:cNvSpPr txBox="1"/>
              <p:nvPr/>
            </p:nvSpPr>
            <p:spPr bwMode="auto">
              <a:xfrm>
                <a:off x="8752036" y="4572854"/>
                <a:ext cx="1798338" cy="352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7144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52036" y="4572854"/>
                <a:ext cx="1798338" cy="352425"/>
              </a:xfrm>
              <a:prstGeom prst="rect">
                <a:avLst/>
              </a:prstGeom>
              <a:blipFill>
                <a:blip r:embed="rId30"/>
                <a:stretch>
                  <a:fillRect l="-1017" b="-482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64" name="Text Box 60"/>
          <p:cNvSpPr txBox="1">
            <a:spLocks noChangeArrowheads="1"/>
          </p:cNvSpPr>
          <p:nvPr/>
        </p:nvSpPr>
        <p:spPr bwMode="auto">
          <a:xfrm>
            <a:off x="2111272" y="2087576"/>
            <a:ext cx="2066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成半圆柱体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410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/>
      <p:bldP spid="47108" grpId="0"/>
      <p:bldP spid="47109" grpId="0"/>
      <p:bldP spid="47110" grpId="0"/>
      <p:bldP spid="47111" grpId="0"/>
      <p:bldP spid="47112" grpId="0" autoUpdateAnimBg="0"/>
      <p:bldP spid="47113" grpId="0"/>
      <p:bldP spid="47116" grpId="0"/>
      <p:bldP spid="47135" grpId="0"/>
      <p:bldP spid="47136" grpId="0"/>
      <p:bldP spid="47137" grpId="0"/>
      <p:bldP spid="47141" grpId="0"/>
      <p:bldP spid="47155" grpId="0" animBg="1"/>
      <p:bldP spid="47156" grpId="0"/>
      <p:bldP spid="47157" grpId="0"/>
      <p:bldP spid="47158" grpId="0"/>
      <p:bldP spid="47159" grpId="0"/>
      <p:bldP spid="47161" grpId="0"/>
      <p:bldP spid="47144" grpId="0"/>
      <p:bldP spid="47164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FA0534C-6807-65F7-FDED-213250666D08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5C7F4EB-BE41-882D-4F08-7211993F7DF6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5C7F4EB-BE41-882D-4F08-7211993F7D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49BFABE8-C42D-8EA3-3E8A-2CEB8D16FD8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F576F4E0-D0E6-A7B9-8E67-A846724DCB32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7300ED61-8459-4AE9-44CA-0ACE4A447134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D1179FD6-A37F-D131-DF38-E60630C94F6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36590" y="929346"/>
            <a:ext cx="3276600" cy="533400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 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计算三重积分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p:sp>
        <p:nvSpPr>
          <p:cNvPr id="30745" name="Text Box 25"/>
          <p:cNvSpPr txBox="1">
            <a:spLocks noChangeArrowheads="1"/>
          </p:cNvSpPr>
          <p:nvPr/>
        </p:nvSpPr>
        <p:spPr bwMode="auto">
          <a:xfrm>
            <a:off x="1236591" y="2866799"/>
            <a:ext cx="54949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75" name="Object 55"/>
              <p:cNvSpPr txBox="1"/>
              <p:nvPr/>
            </p:nvSpPr>
            <p:spPr bwMode="auto">
              <a:xfrm>
                <a:off x="2071427" y="5163011"/>
                <a:ext cx="3828078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rad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0775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1427" y="5163011"/>
                <a:ext cx="3828078" cy="9525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76" name="Object 56"/>
              <p:cNvSpPr txBox="1"/>
              <p:nvPr/>
            </p:nvSpPr>
            <p:spPr bwMode="auto">
              <a:xfrm>
                <a:off x="5768621" y="5326222"/>
                <a:ext cx="41910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[(1+4​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1+4​​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)−4​​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0776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8621" y="5326222"/>
                <a:ext cx="4191000" cy="838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88" name="Object 68"/>
              <p:cNvSpPr txBox="1"/>
              <p:nvPr/>
            </p:nvSpPr>
            <p:spPr bwMode="auto">
              <a:xfrm>
                <a:off x="2906261" y="4124068"/>
                <a:ext cx="3723139" cy="1096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rad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0788" name="Object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6261" y="4124068"/>
                <a:ext cx="3723139" cy="10963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39" name="Object 19"/>
              <p:cNvSpPr txBox="1"/>
              <p:nvPr/>
            </p:nvSpPr>
            <p:spPr bwMode="auto">
              <a:xfrm>
                <a:off x="4166545" y="514946"/>
                <a:ext cx="2758538" cy="12536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73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6545" y="514946"/>
                <a:ext cx="2758538" cy="12536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2" name="Object 22"/>
              <p:cNvSpPr txBox="1"/>
              <p:nvPr/>
            </p:nvSpPr>
            <p:spPr bwMode="auto">
              <a:xfrm>
                <a:off x="2050501" y="1676533"/>
                <a:ext cx="2374259" cy="5577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=4​​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74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0501" y="1676533"/>
                <a:ext cx="2374259" cy="5577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743" name="Object 23"/>
              <p:cNvSpPr txBox="1"/>
              <p:nvPr/>
            </p:nvSpPr>
            <p:spPr bwMode="auto">
              <a:xfrm>
                <a:off x="5188470" y="1657071"/>
                <a:ext cx="2332674" cy="5577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&gt;0)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74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8470" y="1657071"/>
                <a:ext cx="2332674" cy="55775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44" name="Text Box 24"/>
          <p:cNvSpPr txBox="1">
            <a:spLocks noChangeArrowheads="1"/>
          </p:cNvSpPr>
          <p:nvPr/>
        </p:nvSpPr>
        <p:spPr bwMode="auto">
          <a:xfrm>
            <a:off x="7316248" y="1674597"/>
            <a:ext cx="135142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所围成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30789" name="Text Box 69"/>
          <p:cNvSpPr txBox="1">
            <a:spLocks noChangeArrowheads="1"/>
          </p:cNvSpPr>
          <p:nvPr/>
        </p:nvSpPr>
        <p:spPr bwMode="auto">
          <a:xfrm>
            <a:off x="4124960" y="1674845"/>
            <a:ext cx="132172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与平面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40" name="Text Box 20"/>
              <p:cNvSpPr txBox="1">
                <a:spLocks noChangeArrowheads="1"/>
              </p:cNvSpPr>
              <p:nvPr/>
            </p:nvSpPr>
            <p:spPr bwMode="auto">
              <a:xfrm>
                <a:off x="6797864" y="913104"/>
                <a:ext cx="2758539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lang="el-GR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由抛物面</a:t>
                </a:r>
              </a:p>
            </p:txBody>
          </p:sp>
        </mc:Choice>
        <mc:Fallback xmlns="">
          <p:sp>
            <p:nvSpPr>
              <p:cNvPr id="30740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97864" y="913104"/>
                <a:ext cx="2758539" cy="519112"/>
              </a:xfrm>
              <a:prstGeom prst="rect">
                <a:avLst/>
              </a:prstGeom>
              <a:blipFill>
                <a:blip r:embed="rId10"/>
                <a:stretch>
                  <a:fillRect l="-4415"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02" name="Text Box 82"/>
          <p:cNvSpPr txBox="1">
            <a:spLocks noChangeArrowheads="1"/>
          </p:cNvSpPr>
          <p:nvPr/>
        </p:nvSpPr>
        <p:spPr bwMode="auto">
          <a:xfrm>
            <a:off x="2071427" y="4399330"/>
            <a:ext cx="9781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原式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</a:t>
            </a:r>
          </a:p>
        </p:txBody>
      </p:sp>
      <p:graphicFrame>
        <p:nvGraphicFramePr>
          <p:cNvPr id="4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836016"/>
              </p:ext>
            </p:extLst>
          </p:nvPr>
        </p:nvGraphicFramePr>
        <p:xfrm>
          <a:off x="9561264" y="3741811"/>
          <a:ext cx="20478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1" imgW="215640" imgH="241200" progId="Equation.3">
                  <p:embed/>
                </p:oleObj>
              </mc:Choice>
              <mc:Fallback>
                <p:oleObj name="Equation" r:id="rId11" imgW="215640" imgH="241200" progId="Equation.3">
                  <p:embed/>
                  <p:pic>
                    <p:nvPicPr>
                      <p:cNvPr id="1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biLevel thresh="50000"/>
                        <a:lum bright="-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1264" y="3741811"/>
                        <a:ext cx="204788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Group 86"/>
          <p:cNvGrpSpPr>
            <a:grpSpLocks/>
          </p:cNvGrpSpPr>
          <p:nvPr/>
        </p:nvGrpSpPr>
        <p:grpSpPr bwMode="auto">
          <a:xfrm>
            <a:off x="9024675" y="2463873"/>
            <a:ext cx="1260472" cy="1684336"/>
            <a:chOff x="4606" y="1259"/>
            <a:chExt cx="794" cy="1061"/>
          </a:xfrm>
        </p:grpSpPr>
        <p:grpSp>
          <p:nvGrpSpPr>
            <p:cNvPr id="44" name="Group 62"/>
            <p:cNvGrpSpPr>
              <a:grpSpLocks/>
            </p:cNvGrpSpPr>
            <p:nvPr/>
          </p:nvGrpSpPr>
          <p:grpSpPr bwMode="auto">
            <a:xfrm>
              <a:off x="4606" y="1259"/>
              <a:ext cx="794" cy="979"/>
              <a:chOff x="4512" y="1104"/>
              <a:chExt cx="930" cy="1144"/>
            </a:xfrm>
          </p:grpSpPr>
          <p:sp>
            <p:nvSpPr>
              <p:cNvPr id="46" name="Oval 61"/>
              <p:cNvSpPr>
                <a:spLocks noChangeArrowheads="1"/>
              </p:cNvSpPr>
              <p:nvPr/>
            </p:nvSpPr>
            <p:spPr bwMode="auto">
              <a:xfrm>
                <a:off x="4512" y="1968"/>
                <a:ext cx="930" cy="280"/>
              </a:xfrm>
              <a:prstGeom prst="ellipse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7" name="Line 59"/>
              <p:cNvSpPr>
                <a:spLocks noChangeShapeType="1"/>
              </p:cNvSpPr>
              <p:nvPr/>
            </p:nvSpPr>
            <p:spPr bwMode="auto">
              <a:xfrm>
                <a:off x="4512" y="1104"/>
                <a:ext cx="0" cy="9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8" name="Line 60"/>
              <p:cNvSpPr>
                <a:spLocks noChangeShapeType="1"/>
              </p:cNvSpPr>
              <p:nvPr/>
            </p:nvSpPr>
            <p:spPr bwMode="auto">
              <a:xfrm>
                <a:off x="5442" y="1104"/>
                <a:ext cx="0" cy="9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bject 85"/>
                <p:cNvSpPr txBox="1"/>
                <p:nvPr/>
              </p:nvSpPr>
              <p:spPr bwMode="auto">
                <a:xfrm>
                  <a:off x="4944" y="2076"/>
                  <a:ext cx="409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5" name="Object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44" y="2076"/>
                  <a:ext cx="409" cy="244"/>
                </a:xfrm>
                <a:prstGeom prst="rect">
                  <a:avLst/>
                </a:prstGeom>
                <a:blipFill>
                  <a:blip r:embed="rId13"/>
                  <a:stretch>
                    <a:fillRect l="-1869" b="-1746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84"/>
          <p:cNvGrpSpPr>
            <a:grpSpLocks/>
          </p:cNvGrpSpPr>
          <p:nvPr/>
        </p:nvGrpSpPr>
        <p:grpSpPr bwMode="auto">
          <a:xfrm>
            <a:off x="8910619" y="1630437"/>
            <a:ext cx="1845244" cy="2706688"/>
            <a:chOff x="4543" y="734"/>
            <a:chExt cx="1023" cy="17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bject 7"/>
                <p:cNvSpPr txBox="1"/>
                <p:nvPr/>
              </p:nvSpPr>
              <p:spPr bwMode="auto">
                <a:xfrm>
                  <a:off x="4543" y="2163"/>
                  <a:ext cx="375" cy="2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0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3" y="2163"/>
                  <a:ext cx="375" cy="27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bject 8"/>
                <p:cNvSpPr txBox="1"/>
                <p:nvPr/>
              </p:nvSpPr>
              <p:spPr bwMode="auto">
                <a:xfrm>
                  <a:off x="5415" y="2130"/>
                  <a:ext cx="151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1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5" y="2130"/>
                  <a:ext cx="151" cy="190"/>
                </a:xfrm>
                <a:prstGeom prst="rect">
                  <a:avLst/>
                </a:prstGeom>
                <a:blipFill>
                  <a:blip r:embed="rId15"/>
                  <a:stretch>
                    <a:fillRect l="-6818" r="-38636" b="-7551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bject 9"/>
                <p:cNvSpPr txBox="1"/>
                <p:nvPr/>
              </p:nvSpPr>
              <p:spPr bwMode="auto">
                <a:xfrm>
                  <a:off x="4769" y="734"/>
                  <a:ext cx="490" cy="4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 xmlns="">
            <p:sp>
              <p:nvSpPr>
                <p:cNvPr id="52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69" y="734"/>
                  <a:ext cx="490" cy="486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Group 83"/>
            <p:cNvGrpSpPr>
              <a:grpSpLocks/>
            </p:cNvGrpSpPr>
            <p:nvPr/>
          </p:nvGrpSpPr>
          <p:grpSpPr bwMode="auto">
            <a:xfrm>
              <a:off x="4608" y="807"/>
              <a:ext cx="934" cy="1539"/>
              <a:chOff x="4608" y="807"/>
              <a:chExt cx="934" cy="1539"/>
            </a:xfrm>
          </p:grpSpPr>
          <p:sp>
            <p:nvSpPr>
              <p:cNvPr id="54" name="Arc 71"/>
              <p:cNvSpPr>
                <a:spLocks/>
              </p:cNvSpPr>
              <p:nvPr/>
            </p:nvSpPr>
            <p:spPr bwMode="auto">
              <a:xfrm>
                <a:off x="4609" y="1259"/>
                <a:ext cx="697" cy="823"/>
              </a:xfrm>
              <a:custGeom>
                <a:avLst/>
                <a:gdLst>
                  <a:gd name="G0" fmla="+- 21600 0 0"/>
                  <a:gd name="G1" fmla="+- 852 0 0"/>
                  <a:gd name="G2" fmla="+- 21600 0 0"/>
                  <a:gd name="T0" fmla="*/ 43200 w 43200"/>
                  <a:gd name="T1" fmla="*/ 771 h 22452"/>
                  <a:gd name="T2" fmla="*/ 17 w 43200"/>
                  <a:gd name="T3" fmla="*/ 0 h 22452"/>
                  <a:gd name="T4" fmla="*/ 21600 w 43200"/>
                  <a:gd name="T5" fmla="*/ 852 h 22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452" fill="none" extrusionOk="0">
                    <a:moveTo>
                      <a:pt x="43199" y="771"/>
                    </a:moveTo>
                    <a:cubicBezTo>
                      <a:pt x="43199" y="798"/>
                      <a:pt x="43200" y="825"/>
                      <a:pt x="43200" y="852"/>
                    </a:cubicBezTo>
                    <a:cubicBezTo>
                      <a:pt x="43200" y="12781"/>
                      <a:pt x="33529" y="22452"/>
                      <a:pt x="21600" y="22452"/>
                    </a:cubicBezTo>
                    <a:cubicBezTo>
                      <a:pt x="9670" y="22452"/>
                      <a:pt x="0" y="12781"/>
                      <a:pt x="0" y="852"/>
                    </a:cubicBezTo>
                    <a:cubicBezTo>
                      <a:pt x="0" y="567"/>
                      <a:pt x="5" y="283"/>
                      <a:pt x="16" y="-1"/>
                    </a:cubicBezTo>
                  </a:path>
                  <a:path w="43200" h="22452" stroke="0" extrusionOk="0">
                    <a:moveTo>
                      <a:pt x="43199" y="771"/>
                    </a:moveTo>
                    <a:cubicBezTo>
                      <a:pt x="43199" y="798"/>
                      <a:pt x="43200" y="825"/>
                      <a:pt x="43200" y="852"/>
                    </a:cubicBezTo>
                    <a:cubicBezTo>
                      <a:pt x="43200" y="12781"/>
                      <a:pt x="33529" y="22452"/>
                      <a:pt x="21600" y="22452"/>
                    </a:cubicBezTo>
                    <a:cubicBezTo>
                      <a:pt x="9670" y="22452"/>
                      <a:pt x="0" y="12781"/>
                      <a:pt x="0" y="852"/>
                    </a:cubicBezTo>
                    <a:cubicBezTo>
                      <a:pt x="0" y="567"/>
                      <a:pt x="5" y="283"/>
                      <a:pt x="16" y="-1"/>
                    </a:cubicBezTo>
                    <a:lnTo>
                      <a:pt x="21600" y="852"/>
                    </a:lnTo>
                    <a:close/>
                  </a:path>
                </a:pathLst>
              </a:custGeom>
              <a:solidFill>
                <a:srgbClr val="04926A"/>
              </a:solidFill>
              <a:ln w="9525">
                <a:solidFill>
                  <a:srgbClr val="04926A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5" name="Oval 31"/>
              <p:cNvSpPr>
                <a:spLocks noChangeArrowheads="1"/>
              </p:cNvSpPr>
              <p:nvPr/>
            </p:nvSpPr>
            <p:spPr bwMode="auto">
              <a:xfrm>
                <a:off x="4608" y="1177"/>
                <a:ext cx="697" cy="16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6" name="Line 4"/>
              <p:cNvSpPr>
                <a:spLocks noChangeShapeType="1"/>
              </p:cNvSpPr>
              <p:nvPr/>
            </p:nvSpPr>
            <p:spPr bwMode="auto">
              <a:xfrm>
                <a:off x="4968" y="2082"/>
                <a:ext cx="57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7" name="Line 6"/>
              <p:cNvSpPr>
                <a:spLocks noChangeShapeType="1"/>
              </p:cNvSpPr>
              <p:nvPr/>
            </p:nvSpPr>
            <p:spPr bwMode="auto">
              <a:xfrm flipH="1">
                <a:off x="4704" y="2082"/>
                <a:ext cx="264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8" name="Line 5"/>
              <p:cNvSpPr>
                <a:spLocks noChangeShapeType="1"/>
              </p:cNvSpPr>
              <p:nvPr/>
            </p:nvSpPr>
            <p:spPr bwMode="auto">
              <a:xfrm flipV="1">
                <a:off x="4968" y="807"/>
                <a:ext cx="0" cy="4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9" name="Line 30"/>
              <p:cNvSpPr>
                <a:spLocks noChangeShapeType="1"/>
              </p:cNvSpPr>
              <p:nvPr/>
            </p:nvSpPr>
            <p:spPr bwMode="auto">
              <a:xfrm flipV="1">
                <a:off x="4968" y="1181"/>
                <a:ext cx="0" cy="9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32"/>
              <p:cNvSpPr txBox="1"/>
              <p:nvPr/>
            </p:nvSpPr>
            <p:spPr bwMode="auto">
              <a:xfrm>
                <a:off x="10068382" y="1981092"/>
                <a:ext cx="1035355" cy="2224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60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68382" y="1981092"/>
                <a:ext cx="1035355" cy="222432"/>
              </a:xfrm>
              <a:prstGeom prst="rect">
                <a:avLst/>
              </a:prstGeom>
              <a:blipFill>
                <a:blip r:embed="rId17"/>
                <a:stretch>
                  <a:fillRect b="-1055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/>
          <p:cNvGrpSpPr/>
          <p:nvPr/>
        </p:nvGrpSpPr>
        <p:grpSpPr>
          <a:xfrm>
            <a:off x="9197806" y="1991369"/>
            <a:ext cx="192537" cy="1962497"/>
            <a:chOff x="10540312" y="1556991"/>
            <a:chExt cx="192537" cy="1962497"/>
          </a:xfrm>
        </p:grpSpPr>
        <p:grpSp>
          <p:nvGrpSpPr>
            <p:cNvPr id="62" name="组合 61"/>
            <p:cNvGrpSpPr/>
            <p:nvPr/>
          </p:nvGrpSpPr>
          <p:grpSpPr>
            <a:xfrm>
              <a:off x="10540312" y="1556991"/>
              <a:ext cx="190500" cy="1793036"/>
              <a:chOff x="7592725" y="2084331"/>
              <a:chExt cx="190500" cy="1793036"/>
            </a:xfrm>
          </p:grpSpPr>
          <p:sp>
            <p:nvSpPr>
              <p:cNvPr id="64" name="Line 391"/>
              <p:cNvSpPr>
                <a:spLocks noChangeShapeType="1"/>
              </p:cNvSpPr>
              <p:nvPr/>
            </p:nvSpPr>
            <p:spPr bwMode="auto">
              <a:xfrm>
                <a:off x="7670517" y="2084331"/>
                <a:ext cx="7401" cy="1793036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5" name="对象 6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02491771"/>
                  </p:ext>
                </p:extLst>
              </p:nvPr>
            </p:nvGraphicFramePr>
            <p:xfrm>
              <a:off x="7592725" y="2440423"/>
              <a:ext cx="1905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0" name="Equation" r:id="rId18" imgW="190440" imgH="228600" progId="Equation.DSMT4">
                      <p:embed/>
                    </p:oleObj>
                  </mc:Choice>
                  <mc:Fallback>
                    <p:oleObj name="Equation" r:id="rId18" imgW="190440" imgH="228600" progId="Equation.DSMT4">
                      <p:embed/>
                      <p:pic>
                        <p:nvPicPr>
                          <p:cNvPr id="39" name="对象 38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7592725" y="2440423"/>
                            <a:ext cx="1905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" name="对象 6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24128956"/>
                  </p:ext>
                </p:extLst>
              </p:nvPr>
            </p:nvGraphicFramePr>
            <p:xfrm>
              <a:off x="7592725" y="3487702"/>
              <a:ext cx="1905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1" name="Equation" r:id="rId20" imgW="190440" imgH="228600" progId="Equation.DSMT4">
                      <p:embed/>
                    </p:oleObj>
                  </mc:Choice>
                  <mc:Fallback>
                    <p:oleObj name="Equation" r:id="rId20" imgW="190440" imgH="228600" progId="Equation.DSMT4">
                      <p:embed/>
                      <p:pic>
                        <p:nvPicPr>
                          <p:cNvPr id="40" name="对象 39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7592725" y="3487702"/>
                            <a:ext cx="1905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3" name="对象 6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86813297"/>
                </p:ext>
              </p:extLst>
            </p:nvPr>
          </p:nvGraphicFramePr>
          <p:xfrm>
            <a:off x="10542349" y="3290888"/>
            <a:ext cx="1905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22" imgW="190440" imgH="228600" progId="Equation.DSMT4">
                    <p:embed/>
                  </p:oleObj>
                </mc:Choice>
                <mc:Fallback>
                  <p:oleObj name="Equation" r:id="rId22" imgW="190440" imgH="228600" progId="Equation.DSMT4">
                    <p:embed/>
                    <p:pic>
                      <p:nvPicPr>
                        <p:cNvPr id="41" name="对象 40"/>
                        <p:cNvPicPr/>
                        <p:nvPr/>
                      </p:nvPicPr>
                      <p:blipFill>
                        <a:blip r:embed="rId23"/>
                        <a:stretch>
                          <a:fillRect/>
                        </a:stretch>
                      </p:blipFill>
                      <p:spPr>
                        <a:xfrm>
                          <a:off x="10542349" y="3290888"/>
                          <a:ext cx="1905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050502" y="2903758"/>
                <a:ext cx="1958732" cy="48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在柱坐标系下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502" y="2903758"/>
                <a:ext cx="1958732" cy="482153"/>
              </a:xfrm>
              <a:prstGeom prst="rect">
                <a:avLst/>
              </a:prstGeom>
              <a:blipFill>
                <a:blip r:embed="rId24"/>
                <a:stretch>
                  <a:fillRect l="-2174" b="-12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bject 31">
                <a:extLst>
                  <a:ext uri="{FF2B5EF4-FFF2-40B4-BE49-F238E27FC236}">
                    <a16:creationId xmlns:a16="http://schemas.microsoft.com/office/drawing/2014/main" id="{BD64E91D-3691-597D-2137-4309AC2B7CB7}"/>
                  </a:ext>
                </a:extLst>
              </p:cNvPr>
              <p:cNvSpPr txBox="1"/>
              <p:nvPr/>
            </p:nvSpPr>
            <p:spPr bwMode="auto">
              <a:xfrm>
                <a:off x="4557972" y="2822429"/>
                <a:ext cx="169373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8" name="Object 31">
                <a:extLst>
                  <a:ext uri="{FF2B5EF4-FFF2-40B4-BE49-F238E27FC236}">
                    <a16:creationId xmlns:a16="http://schemas.microsoft.com/office/drawing/2014/main" id="{BD64E91D-3691-597D-2137-4309AC2B7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7972" y="2822429"/>
                <a:ext cx="1693731" cy="51911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Object 32">
                <a:extLst>
                  <a:ext uri="{FF2B5EF4-FFF2-40B4-BE49-F238E27FC236}">
                    <a16:creationId xmlns:a16="http://schemas.microsoft.com/office/drawing/2014/main" id="{BB248BA5-C127-B9C0-737F-0FDCACD62D78}"/>
                  </a:ext>
                </a:extLst>
              </p:cNvPr>
              <p:cNvSpPr txBox="1"/>
              <p:nvPr/>
            </p:nvSpPr>
            <p:spPr bwMode="auto">
              <a:xfrm>
                <a:off x="4557972" y="2365279"/>
                <a:ext cx="14478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9" name="Object 32">
                <a:extLst>
                  <a:ext uri="{FF2B5EF4-FFF2-40B4-BE49-F238E27FC236}">
                    <a16:creationId xmlns:a16="http://schemas.microsoft.com/office/drawing/2014/main" id="{BB248BA5-C127-B9C0-737F-0FDCACD62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7972" y="2365279"/>
                <a:ext cx="1447800" cy="444500"/>
              </a:xfrm>
              <a:prstGeom prst="rect">
                <a:avLst/>
              </a:prstGeom>
              <a:blipFill>
                <a:blip r:embed="rId26"/>
                <a:stretch>
                  <a:fillRect l="-4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Object 33">
                <a:extLst>
                  <a:ext uri="{FF2B5EF4-FFF2-40B4-BE49-F238E27FC236}">
                    <a16:creationId xmlns:a16="http://schemas.microsoft.com/office/drawing/2014/main" id="{747AC1BB-0B0D-07F1-7812-E71F2D789088}"/>
                  </a:ext>
                </a:extLst>
              </p:cNvPr>
              <p:cNvSpPr txBox="1"/>
              <p:nvPr/>
            </p:nvSpPr>
            <p:spPr bwMode="auto">
              <a:xfrm>
                <a:off x="4611275" y="3346904"/>
                <a:ext cx="1538026" cy="8181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0" name="Object 33">
                <a:extLst>
                  <a:ext uri="{FF2B5EF4-FFF2-40B4-BE49-F238E27FC236}">
                    <a16:creationId xmlns:a16="http://schemas.microsoft.com/office/drawing/2014/main" id="{747AC1BB-0B0D-07F1-7812-E71F2D789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1275" y="3346904"/>
                <a:ext cx="1538026" cy="81817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AutoShape 58">
            <a:extLst>
              <a:ext uri="{FF2B5EF4-FFF2-40B4-BE49-F238E27FC236}">
                <a16:creationId xmlns:a16="http://schemas.microsoft.com/office/drawing/2014/main" id="{AC737722-5166-9285-A199-2DB8389F4353}"/>
              </a:ext>
            </a:extLst>
          </p:cNvPr>
          <p:cNvSpPr>
            <a:spLocks/>
          </p:cNvSpPr>
          <p:nvPr/>
        </p:nvSpPr>
        <p:spPr bwMode="auto">
          <a:xfrm>
            <a:off x="4382804" y="2409868"/>
            <a:ext cx="170169" cy="1469089"/>
          </a:xfrm>
          <a:prstGeom prst="leftBrace">
            <a:avLst>
              <a:gd name="adj1" fmla="val 55052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AD33151-EBCF-A58E-2FE4-F76E3C3E834A}"/>
                  </a:ext>
                </a:extLst>
              </p:cNvPr>
              <p:cNvSpPr txBox="1"/>
              <p:nvPr/>
            </p:nvSpPr>
            <p:spPr bwMode="auto">
              <a:xfrm>
                <a:off x="3791664" y="2869641"/>
                <a:ext cx="66997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：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AD33151-EBCF-A58E-2FE4-F76E3C3E83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1664" y="2869641"/>
                <a:ext cx="669976" cy="430887"/>
              </a:xfrm>
              <a:prstGeom prst="rect">
                <a:avLst/>
              </a:prstGeom>
              <a:blipFill>
                <a:blip r:embed="rId28"/>
                <a:stretch>
                  <a:fillRect l="-909" t="-14286" r="-10000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22">
                <a:extLst>
                  <a:ext uri="{FF2B5EF4-FFF2-40B4-BE49-F238E27FC236}">
                    <a16:creationId xmlns:a16="http://schemas.microsoft.com/office/drawing/2014/main" id="{6C6A4850-C9FE-80A5-A3E9-555005C989FB}"/>
                  </a:ext>
                </a:extLst>
              </p:cNvPr>
              <p:cNvSpPr txBox="1"/>
              <p:nvPr/>
            </p:nvSpPr>
            <p:spPr bwMode="auto">
              <a:xfrm>
                <a:off x="8710246" y="4491840"/>
                <a:ext cx="2253029" cy="5509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200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4​​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4" name="Object 22">
                <a:extLst>
                  <a:ext uri="{FF2B5EF4-FFF2-40B4-BE49-F238E27FC236}">
                    <a16:creationId xmlns:a16="http://schemas.microsoft.com/office/drawing/2014/main" id="{6C6A4850-C9FE-80A5-A3E9-555005C98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10246" y="4491840"/>
                <a:ext cx="2253029" cy="550978"/>
              </a:xfrm>
              <a:prstGeom prst="rect">
                <a:avLst/>
              </a:prstGeom>
              <a:blipFill>
                <a:blip r:embed="rId29"/>
                <a:stretch>
                  <a:fillRect l="-2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677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0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45" grpId="0" build="p" autoUpdateAnimBg="0"/>
      <p:bldP spid="30775" grpId="0"/>
      <p:bldP spid="30776" grpId="0"/>
      <p:bldP spid="30788" grpId="0"/>
      <p:bldP spid="30739" grpId="0"/>
      <p:bldP spid="30742" grpId="0"/>
      <p:bldP spid="30743" grpId="0"/>
      <p:bldP spid="30744" grpId="0" build="p" autoUpdateAnimBg="0" advAuto="0"/>
      <p:bldP spid="30789" grpId="0" build="p" autoUpdateAnimBg="0"/>
      <p:bldP spid="30740" grpId="0" build="p" autoUpdateAnimBg="0"/>
      <p:bldP spid="30802" grpId="0" build="p" autoUpdateAnimBg="0"/>
      <p:bldP spid="60" grpId="0"/>
      <p:bldP spid="3" grpId="0"/>
      <p:bldP spid="68" grpId="0"/>
      <p:bldP spid="69" grpId="0"/>
      <p:bldP spid="70" grpId="0"/>
      <p:bldP spid="73" grpId="0"/>
      <p:bldP spid="7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C91B700-5CBB-B277-8D18-CEFD62FBB871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7CFC894E-BA77-FA71-03A1-147999D1E70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9AC2E16-060E-F056-F7B7-88CD9242830F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16180816-DE5E-0298-77B8-765E9E8766BC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6381C2DF-B01E-ED3A-6959-0DC43A9A3FD0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DA9592A2-55F1-838B-E7AF-FF429333F77C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6502" name="Object 2054"/>
              <p:cNvSpPr txBox="1"/>
              <p:nvPr/>
            </p:nvSpPr>
            <p:spPr bwMode="auto">
              <a:xfrm>
                <a:off x="1412021" y="1186187"/>
                <a:ext cx="3481754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02" name="Object 20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2021" y="1186187"/>
                <a:ext cx="3481754" cy="5207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03" name="Object 2055"/>
              <p:cNvSpPr txBox="1"/>
              <p:nvPr/>
            </p:nvSpPr>
            <p:spPr bwMode="auto">
              <a:xfrm>
                <a:off x="4208780" y="1178274"/>
                <a:ext cx="37338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其柱坐标为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03" name="Object 20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8780" y="1178274"/>
                <a:ext cx="3733800" cy="431800"/>
              </a:xfrm>
              <a:prstGeom prst="rect">
                <a:avLst/>
              </a:prstGeom>
              <a:blipFill>
                <a:blip r:embed="rId6"/>
                <a:stretch>
                  <a:fillRect b="-112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04" name="Text Box 2056"/>
              <p:cNvSpPr txBox="1">
                <a:spLocks noChangeArrowheads="1"/>
              </p:cNvSpPr>
              <p:nvPr/>
            </p:nvSpPr>
            <p:spPr bwMode="auto">
              <a:xfrm>
                <a:off x="4914900" y="1685344"/>
                <a:ext cx="3733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就称为点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的球坐标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106504" name="Text Box 20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4900" y="1685344"/>
                <a:ext cx="3733800" cy="519113"/>
              </a:xfrm>
              <a:prstGeom prst="rect">
                <a:avLst/>
              </a:prstGeom>
              <a:blipFill>
                <a:blip r:embed="rId7"/>
                <a:stretch>
                  <a:fillRect l="-3263" t="-15116" b="-3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05" name="Text Box 2057"/>
          <p:cNvSpPr txBox="1">
            <a:spLocks noChangeArrowheads="1"/>
          </p:cNvSpPr>
          <p:nvPr/>
        </p:nvSpPr>
        <p:spPr bwMode="auto">
          <a:xfrm>
            <a:off x="1412021" y="2176155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直角坐标与球面坐标的关系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506" name="Object 2058"/>
              <p:cNvSpPr txBox="1"/>
              <p:nvPr/>
            </p:nvSpPr>
            <p:spPr bwMode="auto">
              <a:xfrm>
                <a:off x="1412021" y="1665660"/>
                <a:ext cx="2093179" cy="547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𝑍𝑂𝑀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06" name="Object 20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2021" y="1665660"/>
                <a:ext cx="2093179" cy="54717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29" name="Object 2081"/>
              <p:cNvSpPr txBox="1"/>
              <p:nvPr/>
            </p:nvSpPr>
            <p:spPr bwMode="auto">
              <a:xfrm>
                <a:off x="3282627" y="1684824"/>
                <a:ext cx="1822773" cy="5367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29" name="Object 20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2627" y="1684824"/>
                <a:ext cx="1822773" cy="53678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30" name="Object 2082"/>
              <p:cNvSpPr txBox="1"/>
              <p:nvPr/>
            </p:nvSpPr>
            <p:spPr bwMode="auto">
              <a:xfrm>
                <a:off x="4950656" y="2752725"/>
                <a:ext cx="2516943" cy="15501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&lt;+∞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en-US" altLang="zh-CN" sz="2800">
                                    <a:latin typeface="Cambria Math" panose="02040503050406030204" charset="0"/>
                                    <a:ea typeface="MS Mincho" panose="02020609040205080304" charset="-128"/>
                                    <a:cs typeface="Cambria Math" panose="02040503050406030204" charset="0"/>
                                  </a:rPr>
                                  <m:t>𝜑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30" name="Object 20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0656" y="2752725"/>
                <a:ext cx="2516943" cy="155010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31" name="Object 2083"/>
              <p:cNvSpPr txBox="1"/>
              <p:nvPr/>
            </p:nvSpPr>
            <p:spPr bwMode="auto">
              <a:xfrm>
                <a:off x="2245660" y="2739489"/>
                <a:ext cx="2717193" cy="5751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</m:func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31" name="Object 20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5660" y="2739489"/>
                <a:ext cx="2717193" cy="57514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32" name="Object 2084"/>
              <p:cNvSpPr txBox="1"/>
              <p:nvPr/>
            </p:nvSpPr>
            <p:spPr bwMode="auto">
              <a:xfrm>
                <a:off x="2245660" y="3111182"/>
                <a:ext cx="2734379" cy="5543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</m:func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32" name="Object 20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5660" y="3111182"/>
                <a:ext cx="2734379" cy="55438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533" name="Object 2085"/>
              <p:cNvSpPr txBox="1"/>
              <p:nvPr/>
            </p:nvSpPr>
            <p:spPr bwMode="auto">
              <a:xfrm>
                <a:off x="2245660" y="3480806"/>
                <a:ext cx="187893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33" name="Object 20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5660" y="3480806"/>
                <a:ext cx="1878931" cy="51911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34" name="AutoShape 2086"/>
          <p:cNvSpPr>
            <a:spLocks/>
          </p:cNvSpPr>
          <p:nvPr/>
        </p:nvSpPr>
        <p:spPr bwMode="auto">
          <a:xfrm>
            <a:off x="2062481" y="2876386"/>
            <a:ext cx="198512" cy="1052858"/>
          </a:xfrm>
          <a:prstGeom prst="lef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6535" name="Text Box 2087"/>
          <p:cNvSpPr txBox="1">
            <a:spLocks noChangeArrowheads="1"/>
          </p:cNvSpPr>
          <p:nvPr/>
        </p:nvSpPr>
        <p:spPr bwMode="auto">
          <a:xfrm>
            <a:off x="1412021" y="4062014"/>
            <a:ext cx="231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坐标面分别为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536" name="Object 2088"/>
              <p:cNvSpPr txBox="1"/>
              <p:nvPr/>
            </p:nvSpPr>
            <p:spPr bwMode="auto">
              <a:xfrm>
                <a:off x="2212559" y="4569004"/>
                <a:ext cx="2146300" cy="4175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36" name="Object 20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2559" y="4569004"/>
                <a:ext cx="2146300" cy="417512"/>
              </a:xfrm>
              <a:prstGeom prst="rect">
                <a:avLst/>
              </a:prstGeom>
              <a:blipFill>
                <a:blip r:embed="rId24"/>
                <a:stretch>
                  <a:fillRect b="-44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537" name="Group 2089"/>
          <p:cNvGrpSpPr>
            <a:grpSpLocks/>
          </p:cNvGrpSpPr>
          <p:nvPr/>
        </p:nvGrpSpPr>
        <p:grpSpPr bwMode="auto">
          <a:xfrm>
            <a:off x="3779755" y="4563911"/>
            <a:ext cx="2743200" cy="519112"/>
            <a:chOff x="1264" y="2064"/>
            <a:chExt cx="1728" cy="327"/>
          </a:xfrm>
        </p:grpSpPr>
        <p:sp>
          <p:nvSpPr>
            <p:cNvPr id="106538" name="AutoShape 2090"/>
            <p:cNvSpPr>
              <a:spLocks noChangeArrowheads="1"/>
            </p:cNvSpPr>
            <p:nvPr/>
          </p:nvSpPr>
          <p:spPr bwMode="auto">
            <a:xfrm>
              <a:off x="1264" y="2208"/>
              <a:ext cx="672" cy="96"/>
            </a:xfrm>
            <a:prstGeom prst="rightArrow">
              <a:avLst>
                <a:gd name="adj1" fmla="val 50000"/>
                <a:gd name="adj2" fmla="val 175000"/>
              </a:avLst>
            </a:prstGeom>
            <a:solidFill>
              <a:srgbClr val="04926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6539" name="Text Box 2091"/>
            <p:cNvSpPr txBox="1">
              <a:spLocks noChangeArrowheads="1"/>
            </p:cNvSpPr>
            <p:nvPr/>
          </p:nvSpPr>
          <p:spPr bwMode="auto">
            <a:xfrm>
              <a:off x="1936" y="2064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球面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6540" name="Object 2092"/>
              <p:cNvSpPr txBox="1"/>
              <p:nvPr/>
            </p:nvSpPr>
            <p:spPr bwMode="auto">
              <a:xfrm>
                <a:off x="2212559" y="5064304"/>
                <a:ext cx="2026920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40" name="Object 20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2559" y="5064304"/>
                <a:ext cx="2026920" cy="419100"/>
              </a:xfrm>
              <a:prstGeom prst="rect">
                <a:avLst/>
              </a:prstGeom>
              <a:blipFill>
                <a:blip r:embed="rId25"/>
                <a:stretch>
                  <a:fillRect b="-43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541" name="Group 2093"/>
          <p:cNvGrpSpPr>
            <a:grpSpLocks/>
          </p:cNvGrpSpPr>
          <p:nvPr/>
        </p:nvGrpSpPr>
        <p:grpSpPr bwMode="auto">
          <a:xfrm>
            <a:off x="3779755" y="5018026"/>
            <a:ext cx="2743200" cy="519112"/>
            <a:chOff x="1264" y="2352"/>
            <a:chExt cx="1728" cy="327"/>
          </a:xfrm>
        </p:grpSpPr>
        <p:sp>
          <p:nvSpPr>
            <p:cNvPr id="106542" name="AutoShape 2094"/>
            <p:cNvSpPr>
              <a:spLocks noChangeArrowheads="1"/>
            </p:cNvSpPr>
            <p:nvPr/>
          </p:nvSpPr>
          <p:spPr bwMode="auto">
            <a:xfrm>
              <a:off x="1264" y="2496"/>
              <a:ext cx="672" cy="96"/>
            </a:xfrm>
            <a:prstGeom prst="rightArrow">
              <a:avLst>
                <a:gd name="adj1" fmla="val 50000"/>
                <a:gd name="adj2" fmla="val 175000"/>
              </a:avLst>
            </a:prstGeom>
            <a:solidFill>
              <a:srgbClr val="04926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6543" name="Text Box 2095"/>
            <p:cNvSpPr txBox="1">
              <a:spLocks noChangeArrowheads="1"/>
            </p:cNvSpPr>
            <p:nvPr/>
          </p:nvSpPr>
          <p:spPr bwMode="auto">
            <a:xfrm>
              <a:off x="1936" y="2352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半平面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6544" name="Object 2096"/>
              <p:cNvSpPr txBox="1"/>
              <p:nvPr/>
            </p:nvSpPr>
            <p:spPr bwMode="auto">
              <a:xfrm>
                <a:off x="2212559" y="5470705"/>
                <a:ext cx="21463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6544" name="Object 20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2559" y="5470705"/>
                <a:ext cx="2146300" cy="457200"/>
              </a:xfrm>
              <a:prstGeom prst="rect">
                <a:avLst/>
              </a:prstGeom>
              <a:blipFill>
                <a:blip r:embed="rId26"/>
                <a:stretch>
                  <a:fillRect b="-5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545" name="Group 2097"/>
          <p:cNvGrpSpPr>
            <a:grpSpLocks/>
          </p:cNvGrpSpPr>
          <p:nvPr/>
        </p:nvGrpSpPr>
        <p:grpSpPr bwMode="auto">
          <a:xfrm>
            <a:off x="3779755" y="5423284"/>
            <a:ext cx="2362200" cy="519113"/>
            <a:chOff x="1264" y="2640"/>
            <a:chExt cx="1488" cy="327"/>
          </a:xfrm>
        </p:grpSpPr>
        <p:sp>
          <p:nvSpPr>
            <p:cNvPr id="106546" name="AutoShape 2098"/>
            <p:cNvSpPr>
              <a:spLocks noChangeArrowheads="1"/>
            </p:cNvSpPr>
            <p:nvPr/>
          </p:nvSpPr>
          <p:spPr bwMode="auto">
            <a:xfrm>
              <a:off x="1264" y="2784"/>
              <a:ext cx="672" cy="96"/>
            </a:xfrm>
            <a:prstGeom prst="rightArrow">
              <a:avLst>
                <a:gd name="adj1" fmla="val 50000"/>
                <a:gd name="adj2" fmla="val 175000"/>
              </a:avLst>
            </a:prstGeom>
            <a:solidFill>
              <a:srgbClr val="04926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6547" name="Text Box 2099"/>
            <p:cNvSpPr txBox="1">
              <a:spLocks noChangeArrowheads="1"/>
            </p:cNvSpPr>
            <p:nvPr/>
          </p:nvSpPr>
          <p:spPr bwMode="auto">
            <a:xfrm>
              <a:off x="1936" y="2640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锥面</a:t>
              </a:r>
            </a:p>
          </p:txBody>
        </p:sp>
      </p:grpSp>
      <p:grpSp>
        <p:nvGrpSpPr>
          <p:cNvPr id="106548" name="Group 2100"/>
          <p:cNvGrpSpPr>
            <a:grpSpLocks/>
          </p:cNvGrpSpPr>
          <p:nvPr/>
        </p:nvGrpSpPr>
        <p:grpSpPr bwMode="auto">
          <a:xfrm>
            <a:off x="7225358" y="1149957"/>
            <a:ext cx="2247292" cy="482600"/>
            <a:chOff x="4264" y="672"/>
            <a:chExt cx="1104" cy="3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549" name="Object 2101"/>
                <p:cNvSpPr txBox="1"/>
                <p:nvPr/>
              </p:nvSpPr>
              <p:spPr bwMode="auto">
                <a:xfrm>
                  <a:off x="4264" y="672"/>
                  <a:ext cx="1104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令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𝑂𝑀</m:t>
                            </m:r>
                          </m:e>
                        </m:d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06549" name="Object 2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64" y="672"/>
                  <a:ext cx="1104" cy="304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550" name="Line 2102"/>
            <p:cNvSpPr>
              <a:spLocks noChangeShapeType="1"/>
            </p:cNvSpPr>
            <p:nvPr/>
          </p:nvSpPr>
          <p:spPr bwMode="auto">
            <a:xfrm>
              <a:off x="4493" y="69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58" name="Rectangle 2"/>
          <p:cNvSpPr txBox="1">
            <a:spLocks noChangeArrowheads="1"/>
          </p:cNvSpPr>
          <p:nvPr/>
        </p:nvSpPr>
        <p:spPr>
          <a:xfrm>
            <a:off x="930743" y="609920"/>
            <a:ext cx="4984320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利用球坐标计算三重积分</a:t>
            </a:r>
            <a:endParaRPr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7F710642-4C9F-51A5-6027-DD9125C36113}"/>
              </a:ext>
            </a:extLst>
          </p:cNvPr>
          <p:cNvPicPr>
            <a:picLocks noChangeAspect="1"/>
          </p:cNvPicPr>
          <p:nvPr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706" y="1907177"/>
            <a:ext cx="2752687" cy="274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2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6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6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6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6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/>
      <p:bldP spid="106503" grpId="0"/>
      <p:bldP spid="106504" grpId="0" autoUpdateAnimBg="0"/>
      <p:bldP spid="106505" grpId="0" autoUpdateAnimBg="0"/>
      <p:bldP spid="106506" grpId="0"/>
      <p:bldP spid="106529" grpId="0"/>
      <p:bldP spid="106530" grpId="0"/>
      <p:bldP spid="106531" grpId="0"/>
      <p:bldP spid="106532" grpId="0"/>
      <p:bldP spid="106533" grpId="0"/>
      <p:bldP spid="106535" grpId="0" build="p" autoUpdateAnimBg="0"/>
      <p:bldP spid="106536" grpId="0"/>
      <p:bldP spid="106540" grpId="0"/>
      <p:bldP spid="106544" grpId="0"/>
      <p:bldP spid="5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51012" y="583473"/>
            <a:ext cx="6400800" cy="519113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如图所示，在球面坐标系中体积元素为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948" name="Object 156"/>
              <p:cNvSpPr txBox="1"/>
              <p:nvPr/>
            </p:nvSpPr>
            <p:spPr bwMode="auto">
              <a:xfrm>
                <a:off x="2693194" y="1019911"/>
                <a:ext cx="3545682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948" name="Object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3194" y="1019911"/>
                <a:ext cx="3545682" cy="469900"/>
              </a:xfrm>
              <a:prstGeom prst="rect">
                <a:avLst/>
              </a:prstGeom>
              <a:blipFill>
                <a:blip r:embed="rId4"/>
                <a:stretch>
                  <a:fillRect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50" name="Text Box 158"/>
          <p:cNvSpPr txBox="1">
            <a:spLocks noChangeArrowheads="1"/>
          </p:cNvSpPr>
          <p:nvPr/>
        </p:nvSpPr>
        <p:spPr bwMode="auto">
          <a:xfrm>
            <a:off x="1351013" y="145703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因此有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951" name="Object 159"/>
              <p:cNvSpPr txBox="1"/>
              <p:nvPr/>
            </p:nvSpPr>
            <p:spPr bwMode="auto">
              <a:xfrm>
                <a:off x="2379712" y="1819438"/>
                <a:ext cx="3440910" cy="1307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951" name="Object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9712" y="1819438"/>
                <a:ext cx="3440910" cy="13076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52" name="Object 160"/>
              <p:cNvSpPr txBox="1"/>
              <p:nvPr/>
            </p:nvSpPr>
            <p:spPr bwMode="auto">
              <a:xfrm>
                <a:off x="2379712" y="2948443"/>
                <a:ext cx="5208126" cy="1307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​,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952" name="Object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9712" y="2948443"/>
                <a:ext cx="5208126" cy="13076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53" name="Text Box 161"/>
          <p:cNvSpPr txBox="1">
            <a:spLocks noChangeArrowheads="1"/>
          </p:cNvSpPr>
          <p:nvPr/>
        </p:nvSpPr>
        <p:spPr bwMode="auto">
          <a:xfrm>
            <a:off x="1351012" y="4152908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954" name="Object 162"/>
              <p:cNvSpPr txBox="1"/>
              <p:nvPr/>
            </p:nvSpPr>
            <p:spPr bwMode="auto">
              <a:xfrm>
                <a:off x="2106467" y="4136655"/>
                <a:ext cx="7828108" cy="5986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954" name="Object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6467" y="4136655"/>
                <a:ext cx="7828108" cy="5986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17"/>
          <p:cNvSpPr txBox="1">
            <a:spLocks noChangeArrowheads="1"/>
          </p:cNvSpPr>
          <p:nvPr/>
        </p:nvSpPr>
        <p:spPr bwMode="auto">
          <a:xfrm>
            <a:off x="1351012" y="4678405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dirty="0">
                <a:solidFill>
                  <a:srgbClr val="04926A"/>
                </a:solidFill>
                <a:latin typeface="+mn-ea"/>
              </a:rPr>
              <a:t>适用范围</a:t>
            </a:r>
            <a:r>
              <a:rPr kumimoji="1" lang="en-US" altLang="zh-CN" sz="2800" dirty="0">
                <a:solidFill>
                  <a:srgbClr val="04926A"/>
                </a:solidFill>
                <a:latin typeface="+mn-ea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4"/>
              <p:cNvSpPr txBox="1"/>
              <p:nvPr/>
            </p:nvSpPr>
            <p:spPr>
              <a:xfrm>
                <a:off x="1351012" y="5723551"/>
                <a:ext cx="7421513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被积函数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中含有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对象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012" y="5723551"/>
                <a:ext cx="7421513" cy="469900"/>
              </a:xfrm>
              <a:prstGeom prst="rect">
                <a:avLst/>
              </a:prstGeom>
              <a:blipFill>
                <a:blip r:embed="rId8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/>
              <p:cNvSpPr txBox="1"/>
              <p:nvPr/>
            </p:nvSpPr>
            <p:spPr>
              <a:xfrm>
                <a:off x="1351012" y="5188914"/>
                <a:ext cx="5306963" cy="5346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积分域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为球或球的一部分；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对象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012" y="5188914"/>
                <a:ext cx="5306963" cy="53463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B91E29A8-9F9B-E01F-3A93-6F4DD7A2395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498" y="916911"/>
            <a:ext cx="2665788" cy="285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61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948" grpId="0"/>
      <p:bldP spid="33950" grpId="0" autoUpdateAnimBg="0"/>
      <p:bldP spid="33951" grpId="0"/>
      <p:bldP spid="33952" grpId="0"/>
      <p:bldP spid="33953" grpId="0" autoUpdateAnimBg="0"/>
      <p:bldP spid="33954" grpId="0"/>
      <p:bldP spid="14" grpId="0" autoUpdateAnimBg="0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307" name="Object 19"/>
              <p:cNvSpPr txBox="1"/>
              <p:nvPr/>
            </p:nvSpPr>
            <p:spPr bwMode="auto">
              <a:xfrm>
                <a:off x="2525662" y="3237559"/>
                <a:ext cx="5427714" cy="1310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30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5662" y="3237559"/>
                <a:ext cx="5427714" cy="1310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903036" y="699143"/>
            <a:ext cx="61314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将球坐标系下的三重积分化为累次积分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692021" y="1229624"/>
            <a:ext cx="378789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</a:rPr>
              <a:t>1</a:t>
            </a:r>
            <a:r>
              <a:rPr lang="zh-CN" altLang="en-US" sz="2800" dirty="0">
                <a:latin typeface="楷体_GB2312" pitchFamily="49" charset="-122"/>
              </a:rPr>
              <a:t>）积分次序的选择：</a:t>
            </a: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692021" y="1743346"/>
            <a:ext cx="342722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</a:rPr>
              <a:t>2</a:t>
            </a:r>
            <a:r>
              <a:rPr lang="zh-CN" altLang="en-US" sz="2800" dirty="0">
                <a:latin typeface="楷体_GB2312" pitchFamily="49" charset="-122"/>
              </a:rPr>
              <a:t>）积分限的确定：</a:t>
            </a:r>
          </a:p>
        </p:txBody>
      </p:sp>
      <p:sp>
        <p:nvSpPr>
          <p:cNvPr id="11" name="Text Box 37"/>
          <p:cNvSpPr txBox="1">
            <a:spLocks noChangeArrowheads="1"/>
          </p:cNvSpPr>
          <p:nvPr/>
        </p:nvSpPr>
        <p:spPr bwMode="auto">
          <a:xfrm>
            <a:off x="4968779" y="1760837"/>
            <a:ext cx="216405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itchFamily="49" charset="-122"/>
              </a:rPr>
              <a:t>观察、想象．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5228355" y="1207871"/>
                <a:ext cx="5096745" cy="6127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一般选择先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再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的次序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355" y="1207871"/>
                <a:ext cx="5096745" cy="612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1596548" y="2261273"/>
                <a:ext cx="9414351" cy="52444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的边界曲面是一个包含原点在内的闭曲面，其球面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548" y="2261273"/>
                <a:ext cx="9414351" cy="5244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478701" y="2785718"/>
                <a:ext cx="4265000" cy="5244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坐标方程为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701" y="2785718"/>
                <a:ext cx="4265000" cy="5244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/>
              <p:cNvSpPr txBox="1"/>
              <p:nvPr/>
            </p:nvSpPr>
            <p:spPr>
              <a:xfrm>
                <a:off x="2478700" y="5452196"/>
                <a:ext cx="8609623" cy="102994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特别地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≡1, 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则可求得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的体积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700" y="5452196"/>
                <a:ext cx="8609623" cy="10299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/>
              <p:cNvSpPr txBox="1"/>
              <p:nvPr/>
            </p:nvSpPr>
            <p:spPr>
              <a:xfrm>
                <a:off x="2758977" y="4449836"/>
                <a:ext cx="7775673" cy="115803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nary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977" y="4449836"/>
                <a:ext cx="7775673" cy="11580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>
            <a:extLst>
              <a:ext uri="{FF2B5EF4-FFF2-40B4-BE49-F238E27FC236}">
                <a16:creationId xmlns:a16="http://schemas.microsoft.com/office/drawing/2014/main" id="{40EB0017-C520-FDDB-0C34-DFC0672690B1}"/>
              </a:ext>
            </a:extLst>
          </p:cNvPr>
          <p:cNvGrpSpPr/>
          <p:nvPr/>
        </p:nvGrpSpPr>
        <p:grpSpPr>
          <a:xfrm>
            <a:off x="1079416" y="614105"/>
            <a:ext cx="612775" cy="612775"/>
            <a:chOff x="1601" y="872"/>
            <a:chExt cx="965" cy="965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65B2834D-DD8F-B8B9-A359-9E84319B9246}"/>
                </a:ext>
              </a:extLst>
            </p:cNvPr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E2050548-BEB4-4739-21B0-4519760D1588}"/>
                </a:ext>
              </a:extLst>
            </p:cNvPr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注</a:t>
              </a: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019EA5C-3ED9-3AB7-0DB3-49CBCBC588A7}"/>
                </a:ext>
              </a:extLst>
            </p:cNvPr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163862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7" grpId="0"/>
      <p:bldP spid="7" grpId="0" autoUpdateAnimBg="0"/>
      <p:bldP spid="8" grpId="0" autoUpdateAnimBg="0"/>
      <p:bldP spid="10" grpId="0" autoUpdateAnimBg="0"/>
      <p:bldP spid="11" grpId="0" autoUpdateAnimBg="0"/>
      <p:bldP spid="3" grpId="0"/>
      <p:bldP spid="4" grpId="0"/>
      <p:bldP spid="6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2A2339B-5F85-5A13-B5BF-6D494CE80958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2B3703A7-FD46-5213-33DB-F4AA04A11B93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2B3703A7-FD46-5213-33DB-F4AA04A11B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30BE9E68-09C5-5506-2900-1EFDEFDEA788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4C2D8CBE-99E2-6711-C8E4-33EED99C5703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AED0BF76-0F4C-6AE5-3550-3BD5FF6DDF60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2C027E69-FDDC-9BED-6B60-47D58D56B32C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2492" name="Rectangle 28"/>
          <p:cNvSpPr>
            <a:spLocks noGrp="1" noChangeArrowheads="1"/>
          </p:cNvSpPr>
          <p:nvPr>
            <p:ph type="title" idx="4294967295"/>
          </p:nvPr>
        </p:nvSpPr>
        <p:spPr>
          <a:xfrm>
            <a:off x="1326458" y="821067"/>
            <a:ext cx="1181100" cy="4572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/>
            <a:r>
              <a:rPr lang="zh-CN" altLang="en-US" sz="31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31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lang="zh-CN" altLang="en-US" sz="28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495" name="Text Box 31"/>
          <p:cNvSpPr txBox="1">
            <a:spLocks noChangeArrowheads="1"/>
          </p:cNvSpPr>
          <p:nvPr/>
        </p:nvSpPr>
        <p:spPr bwMode="auto">
          <a:xfrm>
            <a:off x="2030915" y="1261844"/>
            <a:ext cx="496996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内接锥面所围成的立体的体积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2497" name="Text Box 33"/>
          <p:cNvSpPr txBox="1">
            <a:spLocks noChangeArrowheads="1"/>
          </p:cNvSpPr>
          <p:nvPr/>
        </p:nvSpPr>
        <p:spPr bwMode="auto">
          <a:xfrm>
            <a:off x="1326458" y="1871839"/>
            <a:ext cx="540290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在球坐标系下空间立体所占区域为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498" name="Object 34"/>
              <p:cNvSpPr txBox="1"/>
              <p:nvPr/>
            </p:nvSpPr>
            <p:spPr bwMode="auto">
              <a:xfrm>
                <a:off x="2787695" y="2862529"/>
                <a:ext cx="476205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498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7695" y="2862529"/>
                <a:ext cx="476205" cy="430887"/>
              </a:xfrm>
              <a:prstGeom prst="rect">
                <a:avLst/>
              </a:prstGeom>
              <a:blipFill>
                <a:blip r:embed="rId3"/>
                <a:stretch>
                  <a:fillRect l="-12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499" name="Text Box 35"/>
          <p:cNvSpPr txBox="1">
            <a:spLocks noChangeArrowheads="1"/>
          </p:cNvSpPr>
          <p:nvPr/>
        </p:nvSpPr>
        <p:spPr bwMode="auto">
          <a:xfrm>
            <a:off x="2016564" y="3808164"/>
            <a:ext cx="187916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则立体体积为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501" name="Object 37"/>
              <p:cNvSpPr txBox="1"/>
              <p:nvPr/>
            </p:nvSpPr>
            <p:spPr bwMode="auto">
              <a:xfrm>
                <a:off x="6729359" y="4251443"/>
                <a:ext cx="1930956" cy="962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20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01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9359" y="4251443"/>
                <a:ext cx="1930956" cy="9624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02" name="Object 38"/>
              <p:cNvSpPr txBox="1"/>
              <p:nvPr/>
            </p:nvSpPr>
            <p:spPr bwMode="auto">
              <a:xfrm>
                <a:off x="2246021" y="5309871"/>
                <a:ext cx="3628920" cy="9004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  <m:r>
                        <a:rPr lang="en-US" altLang="zh-CN" sz="22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02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6021" y="5309871"/>
                <a:ext cx="3628920" cy="9004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03" name="Object 39"/>
              <p:cNvSpPr txBox="1"/>
              <p:nvPr/>
            </p:nvSpPr>
            <p:spPr bwMode="auto">
              <a:xfrm>
                <a:off x="5736865" y="5339775"/>
                <a:ext cx="2778485" cy="870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(1−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03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6865" y="5339775"/>
                <a:ext cx="2778485" cy="8705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19" name="Object 55"/>
              <p:cNvSpPr txBox="1"/>
              <p:nvPr/>
            </p:nvSpPr>
            <p:spPr bwMode="auto">
              <a:xfrm>
                <a:off x="3381953" y="2424921"/>
                <a:ext cx="2152072" cy="503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2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19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1953" y="2424921"/>
                <a:ext cx="2152072" cy="503475"/>
              </a:xfrm>
              <a:prstGeom prst="rect">
                <a:avLst/>
              </a:prstGeom>
              <a:blipFill>
                <a:blip r:embed="rId7"/>
                <a:stretch>
                  <a:fillRect l="-2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20" name="Object 56"/>
              <p:cNvSpPr txBox="1"/>
              <p:nvPr/>
            </p:nvSpPr>
            <p:spPr bwMode="auto">
              <a:xfrm>
                <a:off x="3381953" y="2892040"/>
                <a:ext cx="1312787" cy="503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en-US" altLang="zh-CN" sz="22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20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1953" y="2892040"/>
                <a:ext cx="1312787" cy="503475"/>
              </a:xfrm>
              <a:prstGeom prst="rect">
                <a:avLst/>
              </a:prstGeom>
              <a:blipFill>
                <a:blip r:embed="rId8"/>
                <a:stretch>
                  <a:fillRect l="-4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21" name="Object 57"/>
              <p:cNvSpPr txBox="1"/>
              <p:nvPr/>
            </p:nvSpPr>
            <p:spPr bwMode="auto">
              <a:xfrm>
                <a:off x="3381954" y="3388928"/>
                <a:ext cx="1506398" cy="4060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21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1954" y="3388928"/>
                <a:ext cx="1506398" cy="406029"/>
              </a:xfrm>
              <a:prstGeom prst="rect">
                <a:avLst/>
              </a:prstGeom>
              <a:blipFill>
                <a:blip r:embed="rId9"/>
                <a:stretch>
                  <a:fillRect l="-405" b="-59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23" name="Object 59"/>
              <p:cNvSpPr txBox="1"/>
              <p:nvPr/>
            </p:nvSpPr>
            <p:spPr bwMode="auto">
              <a:xfrm>
                <a:off x="5345615" y="4318600"/>
                <a:ext cx="2079205" cy="8953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200">
                                  <a:latin typeface="Cambria Math" panose="02040503050406030204" charset="0"/>
                                  <a:ea typeface="MS Mincho" panose="02020609040205080304" charset="-128"/>
                                  <a:cs typeface="Cambria Math" panose="02040503050406030204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23" name="Object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5615" y="4318600"/>
                <a:ext cx="2079205" cy="89531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24" name="Object 60"/>
              <p:cNvSpPr txBox="1"/>
              <p:nvPr/>
            </p:nvSpPr>
            <p:spPr bwMode="auto">
              <a:xfrm>
                <a:off x="4264729" y="4272588"/>
                <a:ext cx="1610211" cy="10556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24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4729" y="4272588"/>
                <a:ext cx="1610211" cy="105567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525" name="Object 61"/>
              <p:cNvSpPr txBox="1"/>
              <p:nvPr/>
            </p:nvSpPr>
            <p:spPr bwMode="auto">
              <a:xfrm>
                <a:off x="7974765" y="3591018"/>
                <a:ext cx="2804611" cy="471114"/>
              </a:xfrm>
              <a:prstGeom prst="rect">
                <a:avLst/>
              </a:prstGeom>
              <a:noFill/>
              <a:ln w="9525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200">
                              <a:latin typeface="Cambria Math" panose="02040503050406030204" charset="0"/>
                              <a:ea typeface="MS Mincho" panose="02020609040205080304" charset="-128"/>
                              <a:cs typeface="Cambria Math" panose="02040503050406030204" charset="0"/>
                            </a:rPr>
                            <m:t>𝜑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𝜑</m:t>
                      </m:r>
                      <m:r>
                        <m:rPr>
                          <m:sty m:val="p"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2525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74765" y="3591018"/>
                <a:ext cx="2804611" cy="471114"/>
              </a:xfrm>
              <a:prstGeom prst="rect">
                <a:avLst/>
              </a:prstGeom>
              <a:blipFill>
                <a:blip r:embed="rId12"/>
                <a:stretch>
                  <a:fillRect b="-1266"/>
                </a:stretch>
              </a:blipFill>
              <a:ln w="9525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552" name="AutoShape 88"/>
          <p:cNvSpPr>
            <a:spLocks/>
          </p:cNvSpPr>
          <p:nvPr/>
        </p:nvSpPr>
        <p:spPr bwMode="auto">
          <a:xfrm>
            <a:off x="3263900" y="2521262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044984" y="760130"/>
                <a:ext cx="5353050" cy="51968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求半径为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的球面与半顶角为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984" y="760130"/>
                <a:ext cx="5353050" cy="519687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5">
                <a:extLst>
                  <a:ext uri="{FF2B5EF4-FFF2-40B4-BE49-F238E27FC236}">
                    <a16:creationId xmlns:a16="http://schemas.microsoft.com/office/drawing/2014/main" id="{E763F4B4-862F-F115-1B26-F30C178E2CB3}"/>
                  </a:ext>
                </a:extLst>
              </p:cNvPr>
              <p:cNvSpPr txBox="1"/>
              <p:nvPr/>
            </p:nvSpPr>
            <p:spPr bwMode="auto">
              <a:xfrm>
                <a:off x="2036195" y="4252258"/>
                <a:ext cx="2973517" cy="103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Object 15">
                <a:extLst>
                  <a:ext uri="{FF2B5EF4-FFF2-40B4-BE49-F238E27FC236}">
                    <a16:creationId xmlns:a16="http://schemas.microsoft.com/office/drawing/2014/main" id="{E763F4B4-862F-F115-1B26-F30C178E2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195" y="4252258"/>
                <a:ext cx="2973517" cy="103120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图表, 雷达图&#10;&#10;描述已自动生成">
            <a:extLst>
              <a:ext uri="{FF2B5EF4-FFF2-40B4-BE49-F238E27FC236}">
                <a16:creationId xmlns:a16="http://schemas.microsoft.com/office/drawing/2014/main" id="{82C6753F-D172-F20E-30AB-AE606CA5D0CB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439" y="749967"/>
            <a:ext cx="2053732" cy="2715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81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92" grpId="0"/>
      <p:bldP spid="62495" grpId="0" autoUpdateAnimBg="0"/>
      <p:bldP spid="62497" grpId="0" autoUpdateAnimBg="0"/>
      <p:bldP spid="62498" grpId="0"/>
      <p:bldP spid="62499" grpId="0" autoUpdateAnimBg="0"/>
      <p:bldP spid="62501" grpId="0"/>
      <p:bldP spid="62502" grpId="0"/>
      <p:bldP spid="62503" grpId="0"/>
      <p:bldP spid="62519" grpId="0"/>
      <p:bldP spid="62520" grpId="0"/>
      <p:bldP spid="62521" grpId="0"/>
      <p:bldP spid="62523" grpId="0"/>
      <p:bldP spid="62524" grpId="0"/>
      <p:bldP spid="62525" grpId="0" animBg="1"/>
      <p:bldP spid="2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3292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cuilh纯白模板 </Template>
  <TotalTime>15617</TotalTime>
  <Words>1788</Words>
  <Application>Microsoft Macintosh PowerPoint</Application>
  <PresentationFormat>宽屏</PresentationFormat>
  <Paragraphs>316</Paragraphs>
  <Slides>25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9" baseType="lpstr">
      <vt:lpstr>等线</vt:lpstr>
      <vt:lpstr>黑体</vt:lpstr>
      <vt:lpstr>华文中宋</vt:lpstr>
      <vt:lpstr>楷体_GB2312</vt:lpstr>
      <vt:lpstr>宋体</vt:lpstr>
      <vt:lpstr>微软雅黑</vt:lpstr>
      <vt:lpstr>字魂36号-正文宋楷</vt:lpstr>
      <vt:lpstr>Arial</vt:lpstr>
      <vt:lpstr>Calibri</vt:lpstr>
      <vt:lpstr>Cambria Math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一、三重积分的概念</vt:lpstr>
      <vt:lpstr>PowerPoint 演示文稿</vt:lpstr>
      <vt:lpstr>PowerPoint 演示文稿</vt:lpstr>
      <vt:lpstr>PowerPoint 演示文稿</vt:lpstr>
      <vt:lpstr>二、三重积分的计算</vt:lpstr>
      <vt:lpstr>方法1.  投影法 (“先一后二” ) </vt:lpstr>
      <vt:lpstr>方法2.  截面法 (“先二后一”)</vt:lpstr>
      <vt:lpstr>方法3.  三次积分法</vt:lpstr>
      <vt:lpstr>PowerPoint 演示文稿</vt:lpstr>
      <vt:lpstr>小结: 三重积分的计算方法</vt:lpstr>
      <vt:lpstr>例1   计算三重积分</vt:lpstr>
      <vt:lpstr>例2   计算三重积分</vt:lpstr>
      <vt:lpstr>PowerPoint 演示文稿</vt:lpstr>
      <vt:lpstr>如图所示，在柱面坐标系中体积元素为</vt:lpstr>
      <vt:lpstr>例3   计算三重积分</vt:lpstr>
      <vt:lpstr>例4  计算三重积分</vt:lpstr>
      <vt:lpstr>PowerPoint 演示文稿</vt:lpstr>
      <vt:lpstr>如图所示，在球面坐标系中体积元素为</vt:lpstr>
      <vt:lpstr>PowerPoint 演示文稿</vt:lpstr>
      <vt:lpstr>例5 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 崔丽鸿</dc:creator>
  <cp:lastModifiedBy>Microsoft Office User</cp:lastModifiedBy>
  <cp:revision>1249</cp:revision>
  <dcterms:created xsi:type="dcterms:W3CDTF">2021-12-25T10:05:44Z</dcterms:created>
  <dcterms:modified xsi:type="dcterms:W3CDTF">2023-06-28T02:41:16Z</dcterms:modified>
</cp:coreProperties>
</file>