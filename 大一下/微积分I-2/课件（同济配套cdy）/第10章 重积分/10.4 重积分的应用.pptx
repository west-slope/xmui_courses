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7" r:id="rId2"/>
    <p:sldId id="865" r:id="rId3"/>
    <p:sldId id="814" r:id="rId4"/>
    <p:sldId id="817" r:id="rId5"/>
    <p:sldId id="818" r:id="rId6"/>
    <p:sldId id="711" r:id="rId7"/>
    <p:sldId id="819" r:id="rId8"/>
    <p:sldId id="821" r:id="rId9"/>
    <p:sldId id="822" r:id="rId10"/>
    <p:sldId id="831" r:id="rId11"/>
    <p:sldId id="832" r:id="rId12"/>
    <p:sldId id="824" r:id="rId13"/>
    <p:sldId id="825" r:id="rId14"/>
    <p:sldId id="826" r:id="rId15"/>
    <p:sldId id="827" r:id="rId16"/>
    <p:sldId id="829" r:id="rId17"/>
    <p:sldId id="834" r:id="rId18"/>
    <p:sldId id="830" r:id="rId19"/>
    <p:sldId id="840" r:id="rId20"/>
    <p:sldId id="838" r:id="rId21"/>
    <p:sldId id="842" r:id="rId22"/>
    <p:sldId id="835" r:id="rId23"/>
    <p:sldId id="841" r:id="rId24"/>
    <p:sldId id="844" r:id="rId25"/>
    <p:sldId id="845" r:id="rId26"/>
    <p:sldId id="846" r:id="rId27"/>
    <p:sldId id="851" r:id="rId28"/>
    <p:sldId id="848" r:id="rId29"/>
    <p:sldId id="850" r:id="rId30"/>
    <p:sldId id="853" r:id="rId31"/>
    <p:sldId id="854" r:id="rId32"/>
    <p:sldId id="856" r:id="rId33"/>
    <p:sldId id="857" r:id="rId34"/>
    <p:sldId id="364" r:id="rId35"/>
  </p:sldIdLst>
  <p:sldSz cx="12192000" cy="6858000"/>
  <p:notesSz cx="9945688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CDE9E1"/>
    <a:srgbClr val="87C2B1"/>
    <a:srgbClr val="0000FF"/>
    <a:srgbClr val="FF00FF"/>
    <a:srgbClr val="66CCFF"/>
    <a:srgbClr val="99FF99"/>
    <a:srgbClr val="FF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9798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3588" y="1"/>
            <a:ext cx="4309798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3AAC4-AEC9-45B6-8129-7AC04A374C48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0979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3588" y="6513910"/>
            <a:ext cx="430979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B50E2-0B44-4175-B25E-BDF40D211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99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9798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3588" y="1"/>
            <a:ext cx="4309798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E2628-425B-4711-85D1-DD3DDE2BDF3E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57250"/>
            <a:ext cx="4116388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569" y="3300412"/>
            <a:ext cx="795655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0979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3588" y="6513910"/>
            <a:ext cx="430979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AC77-7EE5-47C0-B214-037F908F1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728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动作按钮: 后退或前一项 5">
            <a:hlinkClick r:id="" action="ppaction://hlinkshowjump?jump=previousslide" highlightClick="1"/>
          </p:cNvPr>
          <p:cNvSpPr/>
          <p:nvPr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前进或下一项 6">
            <a:hlinkClick r:id="" action="ppaction://hlinkshowjump?jump=nextslide" highlightClick="1"/>
          </p:cNvPr>
          <p:cNvSpPr/>
          <p:nvPr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动作按钮: 第一张 7">
            <a:hlinkClick r:id="" action="ppaction://hlinkshowjump?jump=firstslide" highlightClick="1"/>
          </p:cNvPr>
          <p:cNvSpPr/>
          <p:nvPr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动作按钮: 后退或前一项 8">
            <a:hlinkClick r:id="" action="ppaction://hlinkshowjump?jump=previousslide" highlightClick="1"/>
          </p:cNvPr>
          <p:cNvSpPr/>
          <p:nvPr userDrawn="1"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动作按钮: 前进或下一项 9">
            <a:hlinkClick r:id="" action="ppaction://hlinkshowjump?jump=nextslide" highlightClick="1"/>
          </p:cNvPr>
          <p:cNvSpPr/>
          <p:nvPr userDrawn="1"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动作按钮: 第一张 10">
            <a:hlinkClick r:id="" action="ppaction://hlinkshowjump?jump=firstslide" highlightClick="1"/>
          </p:cNvPr>
          <p:cNvSpPr/>
          <p:nvPr userDrawn="1"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96031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220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8ED5435F-63E7-4B7B-574D-8BCF58F98F52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B8B10C-6A50-6793-2C31-D9A4D3F15E0E}"/>
              </a:ext>
            </a:extLst>
          </p:cNvPr>
          <p:cNvSpPr/>
          <p:nvPr userDrawn="1"/>
        </p:nvSpPr>
        <p:spPr>
          <a:xfrm rot="2659048">
            <a:off x="103464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EA0FC6-3190-2E32-A784-05CBD11462B7}"/>
              </a:ext>
            </a:extLst>
          </p:cNvPr>
          <p:cNvSpPr/>
          <p:nvPr userDrawn="1"/>
        </p:nvSpPr>
        <p:spPr>
          <a:xfrm>
            <a:off x="476828" y="6435405"/>
            <a:ext cx="1906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重积分的应用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9F8406-0BCC-6000-9834-15DC3D1F8EE4}"/>
              </a:ext>
            </a:extLst>
          </p:cNvPr>
          <p:cNvSpPr/>
          <p:nvPr userDrawn="1"/>
        </p:nvSpPr>
        <p:spPr>
          <a:xfrm>
            <a:off x="10601585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89E925F-B1A5-9A05-A3CF-C09AE65E0CC1}"/>
              </a:ext>
            </a:extLst>
          </p:cNvPr>
          <p:cNvCxnSpPr/>
          <p:nvPr userDrawn="1"/>
        </p:nvCxnSpPr>
        <p:spPr>
          <a:xfrm>
            <a:off x="0" y="248584"/>
            <a:ext cx="101346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EE338D3-D4A2-E835-7D22-00C492622776}"/>
              </a:ext>
            </a:extLst>
          </p:cNvPr>
          <p:cNvCxnSpPr/>
          <p:nvPr userDrawn="1"/>
        </p:nvCxnSpPr>
        <p:spPr>
          <a:xfrm>
            <a:off x="2409825" y="6578280"/>
            <a:ext cx="97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0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9.png"/><Relationship Id="rId10" Type="http://schemas.openxmlformats.org/officeDocument/2006/relationships/image" Target="../media/image48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7" Type="http://schemas.openxmlformats.org/officeDocument/2006/relationships/image" Target="../media/image6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6.jpe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40.png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6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79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0.png"/><Relationship Id="rId10" Type="http://schemas.openxmlformats.org/officeDocument/2006/relationships/image" Target="../media/image98.png"/><Relationship Id="rId9" Type="http://schemas.openxmlformats.org/officeDocument/2006/relationships/image" Target="../media/image97.png"/><Relationship Id="rId14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06.png"/><Relationship Id="rId3" Type="http://schemas.openxmlformats.org/officeDocument/2006/relationships/image" Target="../media/image104.png"/><Relationship Id="rId7" Type="http://schemas.openxmlformats.org/officeDocument/2006/relationships/image" Target="../media/image105.png"/><Relationship Id="rId12" Type="http://schemas.openxmlformats.org/officeDocument/2006/relationships/image" Target="../media/image791.png"/><Relationship Id="rId17" Type="http://schemas.openxmlformats.org/officeDocument/2006/relationships/image" Target="../media/image11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40.png"/><Relationship Id="rId11" Type="http://schemas.openxmlformats.org/officeDocument/2006/relationships/image" Target="../media/image108.png"/><Relationship Id="rId5" Type="http://schemas.openxmlformats.org/officeDocument/2006/relationships/image" Target="../media/image1030.png"/><Relationship Id="rId15" Type="http://schemas.openxmlformats.org/officeDocument/2006/relationships/image" Target="../media/image110.png"/><Relationship Id="rId10" Type="http://schemas.openxmlformats.org/officeDocument/2006/relationships/image" Target="../media/image107.png"/><Relationship Id="rId4" Type="http://schemas.openxmlformats.org/officeDocument/2006/relationships/image" Target="../media/image1020.png"/><Relationship Id="rId9" Type="http://schemas.openxmlformats.org/officeDocument/2006/relationships/image" Target="../media/image7.wmf"/><Relationship Id="rId14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4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134.png"/><Relationship Id="rId18" Type="http://schemas.openxmlformats.org/officeDocument/2006/relationships/image" Target="../media/image122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image" Target="../media/image40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65.png"/><Relationship Id="rId19" Type="http://schemas.openxmlformats.org/officeDocument/2006/relationships/image" Target="../media/image18.jpe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70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124.png"/><Relationship Id="rId4" Type="http://schemas.openxmlformats.org/officeDocument/2006/relationships/image" Target="../media/image156.png"/><Relationship Id="rId9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5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image" Target="../media/image171.png"/><Relationship Id="rId3" Type="http://schemas.openxmlformats.org/officeDocument/2006/relationships/image" Target="../media/image1570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7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00.png"/><Relationship Id="rId11" Type="http://schemas.openxmlformats.org/officeDocument/2006/relationships/image" Target="../media/image169.png"/><Relationship Id="rId5" Type="http://schemas.openxmlformats.org/officeDocument/2006/relationships/image" Target="../media/image1590.png"/><Relationship Id="rId10" Type="http://schemas.openxmlformats.org/officeDocument/2006/relationships/image" Target="../media/image168.png"/><Relationship Id="rId4" Type="http://schemas.openxmlformats.org/officeDocument/2006/relationships/image" Target="../media/image1580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81.png"/><Relationship Id="rId7" Type="http://schemas.openxmlformats.org/officeDocument/2006/relationships/image" Target="../media/image17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9.jpeg"/><Relationship Id="rId10" Type="http://schemas.openxmlformats.org/officeDocument/2006/relationships/image" Target="../media/image180.png"/><Relationship Id="rId4" Type="http://schemas.openxmlformats.org/officeDocument/2006/relationships/image" Target="../media/image103.png"/><Relationship Id="rId9" Type="http://schemas.openxmlformats.org/officeDocument/2006/relationships/image" Target="../media/image1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31.png"/><Relationship Id="rId7" Type="http://schemas.openxmlformats.org/officeDocument/2006/relationships/image" Target="../media/image18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0" Type="http://schemas.openxmlformats.org/officeDocument/2006/relationships/image" Target="../media/image192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10" Type="http://schemas.openxmlformats.org/officeDocument/2006/relationships/image" Target="../media/image175.png"/><Relationship Id="rId4" Type="http://schemas.openxmlformats.org/officeDocument/2006/relationships/image" Target="../media/image197.png"/><Relationship Id="rId9" Type="http://schemas.openxmlformats.org/officeDocument/2006/relationships/image" Target="../media/image20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207.png"/><Relationship Id="rId7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137.png"/><Relationship Id="rId10" Type="http://schemas.openxmlformats.org/officeDocument/2006/relationships/image" Target="../media/image214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399663" y="4118384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118384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8192" y="8109"/>
              <a:ext cx="232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118384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本章聚焦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51" y="7873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二重积分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4020027" y="884555"/>
            <a:ext cx="41519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第十章   重积分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128544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140609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第十章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652691"/>
            <a:ext cx="458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二重积分的概念与性质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437275"/>
            <a:ext cx="3839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二重积分的计算法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32218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三重积分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4006443"/>
            <a:ext cx="3456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重积分的应用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791026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含参变量的积分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986318"/>
            <a:ext cx="11536045" cy="55583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035180" y="234284"/>
            <a:ext cx="412164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重积分的应用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08F388-E127-1D4C-9428-90D171BA57B8}"/>
              </a:ext>
            </a:extLst>
          </p:cNvPr>
          <p:cNvGrpSpPr/>
          <p:nvPr/>
        </p:nvGrpSpPr>
        <p:grpSpPr>
          <a:xfrm>
            <a:off x="4304098" y="1227112"/>
            <a:ext cx="3583804" cy="901065"/>
            <a:chOff x="3376754" y="2223697"/>
            <a:chExt cx="3583804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4" y="2223697"/>
              <a:ext cx="358380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30572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一、微元法的推广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9B11AD-51E4-B841-A3B7-DEDE8869290F}"/>
              </a:ext>
            </a:extLst>
          </p:cNvPr>
          <p:cNvGrpSpPr/>
          <p:nvPr/>
        </p:nvGrpSpPr>
        <p:grpSpPr>
          <a:xfrm>
            <a:off x="4304098" y="2269215"/>
            <a:ext cx="3583804" cy="901065"/>
            <a:chOff x="3376754" y="3448291"/>
            <a:chExt cx="3583804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91"/>
              <a:ext cx="358380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二、曲面的面积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3BFD999-EFC5-C54F-9A86-BD05BAE70A2B}"/>
              </a:ext>
            </a:extLst>
          </p:cNvPr>
          <p:cNvGrpSpPr/>
          <p:nvPr/>
        </p:nvGrpSpPr>
        <p:grpSpPr>
          <a:xfrm>
            <a:off x="4304098" y="3311317"/>
            <a:ext cx="3583804" cy="901065"/>
            <a:chOff x="3376754" y="4664247"/>
            <a:chExt cx="3583804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4" y="4664247"/>
              <a:ext cx="358380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172835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三、质 心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4AB9A6E-27B7-9D47-B1BE-D14E828DE95F}"/>
              </a:ext>
            </a:extLst>
          </p:cNvPr>
          <p:cNvGrpSpPr/>
          <p:nvPr/>
        </p:nvGrpSpPr>
        <p:grpSpPr>
          <a:xfrm>
            <a:off x="4304098" y="4353419"/>
            <a:ext cx="3583804" cy="901065"/>
            <a:chOff x="3376754" y="3448291"/>
            <a:chExt cx="3583804" cy="901065"/>
          </a:xfrm>
        </p:grpSpPr>
        <p:sp>
          <p:nvSpPr>
            <p:cNvPr id="20" name="矩形: 圆角 40">
              <a:extLst>
                <a:ext uri="{FF2B5EF4-FFF2-40B4-BE49-F238E27FC236}">
                  <a16:creationId xmlns:a16="http://schemas.microsoft.com/office/drawing/2014/main" id="{F33242C4-1C28-E048-AAB1-0676A4F14307}"/>
                </a:ext>
              </a:extLst>
            </p:cNvPr>
            <p:cNvSpPr/>
            <p:nvPr/>
          </p:nvSpPr>
          <p:spPr>
            <a:xfrm flipV="1">
              <a:off x="3376754" y="3448291"/>
              <a:ext cx="358380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F541D8E-C98E-D846-9880-84BE5917EE40}"/>
                </a:ext>
              </a:extLst>
            </p:cNvPr>
            <p:cNvSpPr/>
            <p:nvPr/>
          </p:nvSpPr>
          <p:spPr>
            <a:xfrm>
              <a:off x="3616931" y="3637526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四、转动惯量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6822882-0268-A942-84CD-3EAF5D16F01C}"/>
              </a:ext>
            </a:extLst>
          </p:cNvPr>
          <p:cNvGrpSpPr/>
          <p:nvPr/>
        </p:nvGrpSpPr>
        <p:grpSpPr>
          <a:xfrm>
            <a:off x="4304098" y="5395521"/>
            <a:ext cx="3583804" cy="901065"/>
            <a:chOff x="3491472" y="4664247"/>
            <a:chExt cx="3583804" cy="901065"/>
          </a:xfrm>
        </p:grpSpPr>
        <p:sp>
          <p:nvSpPr>
            <p:cNvPr id="25" name="矩形: 圆角 40">
              <a:extLst>
                <a:ext uri="{FF2B5EF4-FFF2-40B4-BE49-F238E27FC236}">
                  <a16:creationId xmlns:a16="http://schemas.microsoft.com/office/drawing/2014/main" id="{9C71261E-9FE1-A14D-8D84-1BCA33A4FB6A}"/>
                </a:ext>
              </a:extLst>
            </p:cNvPr>
            <p:cNvSpPr/>
            <p:nvPr/>
          </p:nvSpPr>
          <p:spPr>
            <a:xfrm flipV="1">
              <a:off x="3491472" y="4664247"/>
              <a:ext cx="358380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A923C5B-7DD0-6042-BB40-6DEB06ADD2F8}"/>
                </a:ext>
              </a:extLst>
            </p:cNvPr>
            <p:cNvSpPr/>
            <p:nvPr/>
          </p:nvSpPr>
          <p:spPr>
            <a:xfrm>
              <a:off x="3740219" y="4853484"/>
              <a:ext cx="172835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五、引 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091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30D14F5-27CB-A9F3-3331-E2EE5F546BCD}"/>
              </a:ext>
            </a:extLst>
          </p:cNvPr>
          <p:cNvSpPr/>
          <p:nvPr/>
        </p:nvSpPr>
        <p:spPr>
          <a:xfrm>
            <a:off x="1990725" y="1429079"/>
            <a:ext cx="8774723" cy="457167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3971" y="692922"/>
            <a:ext cx="3582329" cy="72548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一、微元法的推广</a:t>
            </a:r>
          </a:p>
        </p:txBody>
      </p:sp>
      <p:sp>
        <p:nvSpPr>
          <p:cNvPr id="3" name="矩形 2"/>
          <p:cNvSpPr/>
          <p:nvPr/>
        </p:nvSpPr>
        <p:spPr>
          <a:xfrm>
            <a:off x="2588147" y="1565557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+mj-ea"/>
              </a:rPr>
              <a:t>回顾：</a:t>
            </a:r>
            <a:r>
              <a:rPr lang="zh-CN" altLang="en-US" sz="2800" dirty="0">
                <a:latin typeface="+mj-ea"/>
              </a:rPr>
              <a:t>应用定积分解决问题的元素法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2588147" y="2183949"/>
            <a:ext cx="62267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+mj-ea"/>
              </a:rPr>
              <a:t>推广：</a:t>
            </a:r>
            <a:r>
              <a:rPr lang="zh-CN" altLang="en-US" sz="2800" dirty="0">
                <a:latin typeface="+mj-ea"/>
              </a:rPr>
              <a:t>应用重积分解决问题的元素法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760052" y="3152029"/>
            <a:ext cx="23768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ea"/>
              </a:rPr>
              <a:t>所求量特点 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375153" y="3455485"/>
            <a:ext cx="31401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+mn-ea"/>
              </a:rPr>
              <a:t>对区域具有可加性</a:t>
            </a:r>
          </a:p>
        </p:txBody>
      </p:sp>
      <p:sp>
        <p:nvSpPr>
          <p:cNvPr id="16" name="AutoShape 7"/>
          <p:cNvSpPr>
            <a:spLocks/>
          </p:cNvSpPr>
          <p:nvPr/>
        </p:nvSpPr>
        <p:spPr bwMode="auto">
          <a:xfrm>
            <a:off x="5136906" y="3050047"/>
            <a:ext cx="163513" cy="696912"/>
          </a:xfrm>
          <a:prstGeom prst="leftBrace">
            <a:avLst>
              <a:gd name="adj1" fmla="val 3551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+mn-ea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5336931" y="2927472"/>
            <a:ext cx="453096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+mn-ea"/>
              </a:rPr>
              <a:t>分布在有界闭域上的整体量 </a:t>
            </a: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2636227" y="4687672"/>
            <a:ext cx="21399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解题步骤  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5089281" y="4164255"/>
            <a:ext cx="22320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+mn-ea"/>
              </a:rPr>
              <a:t>明确积分区域 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5089281" y="4728341"/>
            <a:ext cx="22320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4926A"/>
                </a:solidFill>
                <a:latin typeface="+mn-ea"/>
              </a:rPr>
              <a:t>确定积分元素 </a:t>
            </a:r>
          </a:p>
        </p:txBody>
      </p:sp>
      <p:sp>
        <p:nvSpPr>
          <p:cNvPr id="37" name="Text Box 22"/>
          <p:cNvSpPr txBox="1">
            <a:spLocks noChangeArrowheads="1"/>
          </p:cNvSpPr>
          <p:nvPr/>
        </p:nvSpPr>
        <p:spPr bwMode="auto">
          <a:xfrm>
            <a:off x="5089282" y="5292427"/>
            <a:ext cx="273074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+mn-ea"/>
              </a:rPr>
              <a:t>列出积分表达式 </a:t>
            </a:r>
          </a:p>
        </p:txBody>
      </p:sp>
      <p:sp>
        <p:nvSpPr>
          <p:cNvPr id="38" name="AutoShape 7"/>
          <p:cNvSpPr>
            <a:spLocks/>
          </p:cNvSpPr>
          <p:nvPr/>
        </p:nvSpPr>
        <p:spPr bwMode="auto">
          <a:xfrm>
            <a:off x="4725049" y="4253590"/>
            <a:ext cx="193036" cy="1380391"/>
          </a:xfrm>
          <a:prstGeom prst="leftBrace">
            <a:avLst>
              <a:gd name="adj1" fmla="val 3551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+mn-ea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63992B1-4218-4B44-8B63-096AE16E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244" y="4531061"/>
            <a:ext cx="1929423" cy="564085"/>
          </a:xfrm>
          <a:prstGeom prst="wedgeRectCallout">
            <a:avLst>
              <a:gd name="adj1" fmla="val -86638"/>
              <a:gd name="adj2" fmla="val 27908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/>
              <a:t>以直代曲</a:t>
            </a:r>
          </a:p>
        </p:txBody>
      </p:sp>
    </p:spTree>
    <p:extLst>
      <p:ext uri="{BB962C8B-B14F-4D97-AF65-F5344CB8AC3E}">
        <p14:creationId xmlns:p14="http://schemas.microsoft.com/office/powerpoint/2010/main" val="242322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  <p:bldP spid="3" grpId="0"/>
      <p:bldP spid="12" grpId="0"/>
      <p:bldP spid="13" grpId="0"/>
      <p:bldP spid="15" grpId="0"/>
      <p:bldP spid="16" grpId="0" animBg="1"/>
      <p:bldP spid="18" grpId="0"/>
      <p:bldP spid="34" grpId="0"/>
      <p:bldP spid="35" grpId="0"/>
      <p:bldP spid="36" grpId="0"/>
      <p:bldP spid="37" grpId="0"/>
      <p:bldP spid="38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5D7336A-7EE1-DC63-1356-02B39C32A749}"/>
              </a:ext>
            </a:extLst>
          </p:cNvPr>
          <p:cNvSpPr/>
          <p:nvPr/>
        </p:nvSpPr>
        <p:spPr>
          <a:xfrm>
            <a:off x="1936399" y="1746250"/>
            <a:ext cx="9055451" cy="439220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1092629" y="508822"/>
            <a:ext cx="3250771" cy="541648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二、曲面的面积</a:t>
            </a:r>
          </a:p>
        </p:txBody>
      </p:sp>
      <p:sp>
        <p:nvSpPr>
          <p:cNvPr id="88" name="Text Box 21"/>
          <p:cNvSpPr txBox="1">
            <a:spLocks noChangeArrowheads="1"/>
          </p:cNvSpPr>
          <p:nvPr/>
        </p:nvSpPr>
        <p:spPr bwMode="auto">
          <a:xfrm>
            <a:off x="2122194" y="4750550"/>
            <a:ext cx="409813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+mn-ea"/>
              </a:rPr>
              <a:t>如图，解决的</a:t>
            </a:r>
            <a:r>
              <a:rPr lang="zh-CN" altLang="en-US" sz="2800" dirty="0">
                <a:solidFill>
                  <a:srgbClr val="04926A"/>
                </a:solidFill>
                <a:latin typeface="+mn-ea"/>
              </a:rPr>
              <a:t>关键问题</a:t>
            </a:r>
            <a:r>
              <a:rPr lang="zh-CN" altLang="en-US" sz="2800" dirty="0">
                <a:latin typeface="+mn-ea"/>
              </a:rPr>
              <a:t>是：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6290670" y="4750550"/>
                <a:ext cx="2918519" cy="57573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确定面积元素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670" y="4750550"/>
                <a:ext cx="2918519" cy="575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051858" y="2720447"/>
                <a:ext cx="5215718" cy="68486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面上的投影区域为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858" y="2720447"/>
                <a:ext cx="5215718" cy="6848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051858" y="2066957"/>
                <a:ext cx="5110944" cy="6534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设曲面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的方程为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858" y="2066957"/>
                <a:ext cx="5110944" cy="6534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2051857" y="3405311"/>
                <a:ext cx="6123424" cy="6534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上具有连续偏导数，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857" y="3405311"/>
                <a:ext cx="6123424" cy="6534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051857" y="4157064"/>
                <a:ext cx="3034493" cy="59348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求曲面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857" y="4157064"/>
                <a:ext cx="3034493" cy="5934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7">
                <a:extLst>
                  <a:ext uri="{FF2B5EF4-FFF2-40B4-BE49-F238E27FC236}">
                    <a16:creationId xmlns:a16="http://schemas.microsoft.com/office/drawing/2014/main" id="{B72A8F20-8F3F-467F-2894-16D6FD6A35B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461332" y="1079569"/>
                <a:ext cx="5451046" cy="54164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CN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1. </a:t>
                </a:r>
                <a:r>
                  <a:rPr lang="zh-CN" altLang="en-US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曲面方程为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b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b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b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b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的情形</a:t>
                </a:r>
              </a:p>
            </p:txBody>
          </p:sp>
        </mc:Choice>
        <mc:Fallback xmlns="">
          <p:sp>
            <p:nvSpPr>
              <p:cNvPr id="2" name="Rectangle 27">
                <a:extLst>
                  <a:ext uri="{FF2B5EF4-FFF2-40B4-BE49-F238E27FC236}">
                    <a16:creationId xmlns:a16="http://schemas.microsoft.com/office/drawing/2014/main" id="{B72A8F20-8F3F-467F-2894-16D6FD6A3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332" y="1079569"/>
                <a:ext cx="5451046" cy="541648"/>
              </a:xfrm>
              <a:prstGeom prst="rect">
                <a:avLst/>
              </a:prstGeom>
              <a:blipFill>
                <a:blip r:embed="rId8"/>
                <a:stretch>
                  <a:fillRect l="-2349" t="-19101" b="-19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示&#10;&#10;描述已自动生成">
            <a:extLst>
              <a:ext uri="{FF2B5EF4-FFF2-40B4-BE49-F238E27FC236}">
                <a16:creationId xmlns:a16="http://schemas.microsoft.com/office/drawing/2014/main" id="{CF9B1472-EEE9-544D-499C-6D426B8AEE9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331" y="2076059"/>
            <a:ext cx="2617291" cy="223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057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8395" grpId="0"/>
      <p:bldP spid="88" grpId="0"/>
      <p:bldP spid="5" grpId="0" animBg="1"/>
      <p:bldP spid="3" grpId="0"/>
      <p:bldP spid="6" grpId="0"/>
      <p:bldP spid="7" grpId="0"/>
      <p:bldP spid="8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202" name="Object 2"/>
              <p:cNvSpPr txBox="1"/>
              <p:nvPr/>
            </p:nvSpPr>
            <p:spPr bwMode="auto">
              <a:xfrm>
                <a:off x="2029445" y="494366"/>
                <a:ext cx="4895230" cy="5709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0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445" y="494366"/>
                <a:ext cx="4895230" cy="5709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3" name="Object 3"/>
              <p:cNvSpPr txBox="1"/>
              <p:nvPr/>
            </p:nvSpPr>
            <p:spPr bwMode="auto">
              <a:xfrm>
                <a:off x="2029445" y="971286"/>
                <a:ext cx="3104529" cy="6362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0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445" y="971286"/>
                <a:ext cx="3104529" cy="636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4" name="Object 4"/>
              <p:cNvSpPr txBox="1"/>
              <p:nvPr/>
            </p:nvSpPr>
            <p:spPr bwMode="auto">
              <a:xfrm>
                <a:off x="2029445" y="1491017"/>
                <a:ext cx="5865189" cy="15738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0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445" y="1491017"/>
                <a:ext cx="5865189" cy="15738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5" name="Object 5"/>
              <p:cNvSpPr txBox="1"/>
              <p:nvPr/>
            </p:nvSpPr>
            <p:spPr bwMode="auto">
              <a:xfrm>
                <a:off x="2029445" y="2879034"/>
                <a:ext cx="5865189" cy="963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0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445" y="2879034"/>
                <a:ext cx="5865189" cy="9636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08" name="Object 8"/>
              <p:cNvSpPr txBox="1"/>
              <p:nvPr/>
            </p:nvSpPr>
            <p:spPr bwMode="auto">
              <a:xfrm>
                <a:off x="2029445" y="3800311"/>
                <a:ext cx="6077173" cy="13142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0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445" y="3800311"/>
                <a:ext cx="6077173" cy="13142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10" name="Rectangle 10"/>
              <p:cNvSpPr>
                <a:spLocks noChangeArrowheads="1"/>
              </p:cNvSpPr>
              <p:nvPr/>
            </p:nvSpPr>
            <p:spPr bwMode="auto">
              <a:xfrm>
                <a:off x="7696194" y="3099260"/>
                <a:ext cx="3008313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zh-CN" sz="2800" dirty="0">
                    <a:solidFill>
                      <a:srgbClr val="04926A"/>
                    </a:solidFill>
                  </a:rPr>
                  <a:t>曲面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zh-CN" altLang="zh-CN" sz="2800" dirty="0">
                    <a:solidFill>
                      <a:srgbClr val="04926A"/>
                    </a:solidFill>
                  </a:rPr>
                  <a:t>的面积元素</a:t>
                </a:r>
                <a:endParaRPr kumimoji="1"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5121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6194" y="3099260"/>
                <a:ext cx="3008313" cy="519113"/>
              </a:xfrm>
              <a:prstGeom prst="rect">
                <a:avLst/>
              </a:prstGeom>
              <a:blipFill>
                <a:blip r:embed="rId7"/>
                <a:stretch>
                  <a:fillRect l="-4049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8037536" y="4031123"/>
            <a:ext cx="237963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4A7BA8"/>
                </a:solidFill>
              </a:rPr>
              <a:t>曲面面积公式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12" name="Object 12"/>
              <p:cNvSpPr txBox="1"/>
              <p:nvPr/>
            </p:nvSpPr>
            <p:spPr bwMode="auto">
              <a:xfrm>
                <a:off x="2029445" y="4953400"/>
                <a:ext cx="6297361" cy="16532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445" y="4953400"/>
                <a:ext cx="6297361" cy="16532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71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  <p:bldP spid="51203" grpId="0"/>
      <p:bldP spid="51204" grpId="0"/>
      <p:bldP spid="51205" grpId="0"/>
      <p:bldP spid="51208" grpId="0"/>
      <p:bldP spid="51210" grpId="0" autoUpdateAnimBg="0"/>
      <p:bldP spid="51211" grpId="0" autoUpdateAnimBg="0"/>
      <p:bldP spid="512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4AE42E24-6EAA-0D85-C03B-374DD354AC0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8" name="PA-102232">
              <a:extLst>
                <a:ext uri="{FF2B5EF4-FFF2-40B4-BE49-F238E27FC236}">
                  <a16:creationId xmlns:a16="http://schemas.microsoft.com/office/drawing/2014/main" id="{6EB6B0B4-C0A6-17E1-39E1-28AF96A5AC6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A128DD7-EBD8-1254-9A17-72DAE19DAE49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20" name="Rectangle 1">
                <a:extLst>
                  <a:ext uri="{FF2B5EF4-FFF2-40B4-BE49-F238E27FC236}">
                    <a16:creationId xmlns:a16="http://schemas.microsoft.com/office/drawing/2014/main" id="{C7AC130F-84C5-2E50-5B69-CCEEC804161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1">
                <a:extLst>
                  <a:ext uri="{FF2B5EF4-FFF2-40B4-BE49-F238E27FC236}">
                    <a16:creationId xmlns:a16="http://schemas.microsoft.com/office/drawing/2014/main" id="{49DACC1E-83FA-C7E7-6CE3-C2543C1098D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1">
                <a:extLst>
                  <a:ext uri="{FF2B5EF4-FFF2-40B4-BE49-F238E27FC236}">
                    <a16:creationId xmlns:a16="http://schemas.microsoft.com/office/drawing/2014/main" id="{E1A7B314-16DA-5279-39FB-68B945DCE609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94"/>
          <p:cNvSpPr txBox="1">
            <a:spLocks noChangeArrowheads="1"/>
          </p:cNvSpPr>
          <p:nvPr/>
        </p:nvSpPr>
        <p:spPr bwMode="auto">
          <a:xfrm>
            <a:off x="1704016" y="1377013"/>
            <a:ext cx="40122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若光滑曲面方程为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95"/>
              <p:cNvSpPr txBox="1"/>
              <p:nvPr/>
            </p:nvSpPr>
            <p:spPr bwMode="auto">
              <a:xfrm>
                <a:off x="2372042" y="2005539"/>
                <a:ext cx="6091435" cy="16482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</m:sub>
                          </m:sSub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2042" y="2005539"/>
                <a:ext cx="6091435" cy="16482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96"/>
              <p:cNvSpPr txBox="1"/>
              <p:nvPr/>
            </p:nvSpPr>
            <p:spPr bwMode="auto">
              <a:xfrm>
                <a:off x="4974760" y="1347120"/>
                <a:ext cx="4149847" cy="5724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g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) , (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4760" y="1347120"/>
                <a:ext cx="4149847" cy="572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97"/>
          <p:cNvSpPr txBox="1">
            <a:spLocks noChangeArrowheads="1"/>
          </p:cNvSpPr>
          <p:nvPr/>
        </p:nvSpPr>
        <p:spPr bwMode="auto">
          <a:xfrm>
            <a:off x="8986982" y="1400461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6"/>
              <p:cNvSpPr txBox="1"/>
              <p:nvPr/>
            </p:nvSpPr>
            <p:spPr bwMode="auto">
              <a:xfrm>
                <a:off x="2372043" y="4122705"/>
                <a:ext cx="5933758" cy="15769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𝑧𝑥</m:t>
                              </m:r>
                            </m:sub>
                          </m:sSub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​​​​</m:t>
                                          </m:r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US" altLang="zh-CN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2043" y="4122705"/>
                <a:ext cx="5933758" cy="15769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704016" y="3534843"/>
            <a:ext cx="39887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1" lang="en-US" altLang="zh-CN" sz="28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若光滑曲面方程为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/>
              <p:cNvSpPr txBox="1"/>
              <p:nvPr/>
            </p:nvSpPr>
            <p:spPr bwMode="auto">
              <a:xfrm>
                <a:off x="4855373" y="3492625"/>
                <a:ext cx="4164459" cy="5724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) , (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5373" y="3492625"/>
                <a:ext cx="4164459" cy="5724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8827983" y="3544006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则有</a:t>
            </a:r>
          </a:p>
        </p:txBody>
      </p:sp>
      <p:sp>
        <p:nvSpPr>
          <p:cNvPr id="12" name="矩形 11"/>
          <p:cNvSpPr/>
          <p:nvPr/>
        </p:nvSpPr>
        <p:spPr>
          <a:xfrm>
            <a:off x="1704016" y="75819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/>
              <a:t>同理可得</a:t>
            </a:r>
          </a:p>
        </p:txBody>
      </p:sp>
    </p:spTree>
    <p:extLst>
      <p:ext uri="{BB962C8B-B14F-4D97-AF65-F5344CB8AC3E}">
        <p14:creationId xmlns:p14="http://schemas.microsoft.com/office/powerpoint/2010/main" val="159828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/>
      <p:bldP spid="4" grpId="0"/>
      <p:bldP spid="5" grpId="0" autoUpdateAnimBg="0"/>
      <p:bldP spid="7" grpId="0"/>
      <p:bldP spid="8" grpId="0"/>
      <p:bldP spid="9" grpId="0"/>
      <p:bldP spid="10" grpId="0" autoUpdateAnimBg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18D2D1D-3EE3-A703-2F0F-BB954AE526FF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>
              <a:extLst>
                <a:ext uri="{FF2B5EF4-FFF2-40B4-BE49-F238E27FC236}">
                  <a16:creationId xmlns:a16="http://schemas.microsoft.com/office/drawing/2014/main" id="{9379035E-B772-34CD-C438-DA352442568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BBEAA1-346E-D6D6-610D-50B8CF151C70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C6DC419A-D795-DC16-779D-69A3BFA9688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6DC3D5F7-DF75-6EE1-EA0F-26D7CF19BAF7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722956EA-676F-14B2-BBE3-8CD38063C33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668499" y="2076591"/>
            <a:ext cx="422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若光滑曲面方程为隐式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9"/>
              <p:cNvSpPr txBox="1"/>
              <p:nvPr/>
            </p:nvSpPr>
            <p:spPr bwMode="auto">
              <a:xfrm>
                <a:off x="5303393" y="2067212"/>
                <a:ext cx="3239354" cy="5959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3393" y="2067212"/>
                <a:ext cx="3239354" cy="595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8962440" y="2076004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3"/>
              <p:cNvSpPr txBox="1"/>
              <p:nvPr/>
            </p:nvSpPr>
            <p:spPr bwMode="auto">
              <a:xfrm>
                <a:off x="2012996" y="2761065"/>
                <a:ext cx="6627812" cy="1102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,   (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2996" y="2761065"/>
                <a:ext cx="6627812" cy="1102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4"/>
              <p:cNvSpPr txBox="1"/>
              <p:nvPr/>
            </p:nvSpPr>
            <p:spPr bwMode="auto">
              <a:xfrm>
                <a:off x="2001838" y="3917785"/>
                <a:ext cx="5584190" cy="18088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∴ 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1838" y="3917785"/>
                <a:ext cx="5584190" cy="18088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4"/>
              <p:cNvSpPr txBox="1">
                <a:spLocks noChangeArrowheads="1"/>
              </p:cNvSpPr>
              <p:nvPr/>
            </p:nvSpPr>
            <p:spPr bwMode="auto">
              <a:xfrm>
                <a:off x="7472408" y="2090072"/>
                <a:ext cx="159306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≠0,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72408" y="2090072"/>
                <a:ext cx="1593065" cy="523220"/>
              </a:xfrm>
              <a:prstGeom prst="rect">
                <a:avLst/>
              </a:prstGeom>
              <a:blipFill>
                <a:blip r:embed="rId6"/>
                <a:stretch>
                  <a:fillRect l="-8046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2"/>
              <p:cNvSpPr txBox="1">
                <a:spLocks noChangeArrowheads="1"/>
              </p:cNvSpPr>
              <p:nvPr/>
            </p:nvSpPr>
            <p:spPr bwMode="auto">
              <a:xfrm>
                <a:off x="1227007" y="1466760"/>
                <a:ext cx="569606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 </a:t>
                </a: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曲面方程为</a:t>
                </a:r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的情形 </a:t>
                </a:r>
              </a:p>
            </p:txBody>
          </p:sp>
        </mc:Choice>
        <mc:Fallback xmlns="">
          <p:sp>
            <p:nvSpPr>
              <p:cNvPr id="13" name="Text 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7007" y="1466760"/>
                <a:ext cx="5696063" cy="523220"/>
              </a:xfrm>
              <a:prstGeom prst="rect">
                <a:avLst/>
              </a:prstGeom>
              <a:blipFill>
                <a:blip r:embed="rId7"/>
                <a:stretch>
                  <a:fillRect l="-2139" t="-1294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33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/>
      <p:bldP spid="4" grpId="0" autoUpdateAnimBg="0"/>
      <p:bldP spid="5" grpId="0"/>
      <p:bldP spid="6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944B9F6-6CC4-D9A3-754F-44935D53341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5" name="PA-102232">
              <a:extLst>
                <a:ext uri="{FF2B5EF4-FFF2-40B4-BE49-F238E27FC236}">
                  <a16:creationId xmlns:a16="http://schemas.microsoft.com/office/drawing/2014/main" id="{53DE9AE8-A356-91DD-4F63-549F34BFA6A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02FC16E0-32EC-D0D0-89DF-CE5B19F97CDA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4BA0366-D16E-F60B-B7D3-3A1EAABC34E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05022CF2-5EA0-FC28-6FCB-B9EDC49FD4BA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DF917327-CD2D-982A-CF16-9C277169603A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1473005" y="711269"/>
            <a:ext cx="50325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曲面方程为参数方程的情形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05" name="Text Box 5"/>
              <p:cNvSpPr txBox="1">
                <a:spLocks noChangeArrowheads="1"/>
              </p:cNvSpPr>
              <p:nvPr/>
            </p:nvSpPr>
            <p:spPr bwMode="auto">
              <a:xfrm>
                <a:off x="1874740" y="1203806"/>
                <a:ext cx="364976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若曲面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的参数方程为</a:t>
                </a:r>
              </a:p>
            </p:txBody>
          </p:sp>
        </mc:Choice>
        <mc:Fallback xmlns="">
          <p:sp>
            <p:nvSpPr>
              <p:cNvPr id="10240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4740" y="1203806"/>
                <a:ext cx="3649760" cy="523220"/>
              </a:xfrm>
              <a:prstGeom prst="rect">
                <a:avLst/>
              </a:prstGeom>
              <a:blipFill>
                <a:blip r:embed="rId3"/>
                <a:stretch>
                  <a:fillRect l="-3512" t="-15116" r="-1505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07" name="Text Box 7"/>
              <p:cNvSpPr txBox="1">
                <a:spLocks noChangeArrowheads="1"/>
              </p:cNvSpPr>
              <p:nvPr/>
            </p:nvSpPr>
            <p:spPr bwMode="auto">
              <a:xfrm>
                <a:off x="1874740" y="3546119"/>
                <a:ext cx="5181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是一个平面有界闭区域，</a:t>
                </a:r>
              </a:p>
            </p:txBody>
          </p:sp>
        </mc:Choice>
        <mc:Fallback xmlns="">
          <p:sp>
            <p:nvSpPr>
              <p:cNvPr id="10240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4740" y="3546119"/>
                <a:ext cx="5181600" cy="523220"/>
              </a:xfrm>
              <a:prstGeom prst="rect">
                <a:avLst/>
              </a:prstGeom>
              <a:blipFill>
                <a:blip r:embed="rId4"/>
                <a:stretch>
                  <a:fillRect l="-2471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08" name="Text Box 8"/>
              <p:cNvSpPr txBox="1">
                <a:spLocks noChangeArrowheads="1"/>
              </p:cNvSpPr>
              <p:nvPr/>
            </p:nvSpPr>
            <p:spPr bwMode="auto">
              <a:xfrm>
                <a:off x="6620065" y="3514725"/>
                <a:ext cx="315258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) </m:t>
                    </m:r>
                  </m:oMath>
                </a14:m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0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0065" y="3514725"/>
                <a:ext cx="3152586" cy="523220"/>
              </a:xfrm>
              <a:prstGeom prst="rect">
                <a:avLst/>
              </a:prstGeom>
              <a:blipFill>
                <a:blip r:embed="rId5"/>
                <a:stretch>
                  <a:fillRect l="-4062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09" name="Text Box 9"/>
              <p:cNvSpPr txBox="1">
                <a:spLocks noChangeArrowheads="1"/>
              </p:cNvSpPr>
              <p:nvPr/>
            </p:nvSpPr>
            <p:spPr bwMode="auto">
              <a:xfrm>
                <a:off x="1874740" y="4069339"/>
                <a:ext cx="6781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上具有连续的一阶偏导数，且</a:t>
                </a:r>
              </a:p>
            </p:txBody>
          </p:sp>
        </mc:Choice>
        <mc:Fallback xmlns="">
          <p:sp>
            <p:nvSpPr>
              <p:cNvPr id="10240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4740" y="4069339"/>
                <a:ext cx="6781800" cy="523220"/>
              </a:xfrm>
              <a:prstGeom prst="rect">
                <a:avLst/>
              </a:prstGeom>
              <a:blipFill>
                <a:blip r:embed="rId6"/>
                <a:stretch>
                  <a:fillRect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091863" y="4730875"/>
                <a:ext cx="4232862" cy="105014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863" y="4730875"/>
                <a:ext cx="4232862" cy="10501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091863" y="1744903"/>
                <a:ext cx="4699587" cy="179400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),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863" y="1744903"/>
                <a:ext cx="4699587" cy="17940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77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02405" grpId="0"/>
      <p:bldP spid="102407" grpId="0"/>
      <p:bldP spid="102408" grpId="0"/>
      <p:bldP spid="102409" grpId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C6FCDFA-89AA-7165-9896-73376F5FA7F6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9BC8B99F-6348-1D1D-B68B-D098DAA5139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21F0CBD-40AE-B64A-C137-07C7984A867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7224EF2-60DC-0176-6599-AC41EFEF90A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DE0C6C73-C967-654B-0539-89C2B6772BC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686B3664-C629-0B95-3E5F-08B33307E517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2207207" y="1240937"/>
            <a:ext cx="1945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不全为零，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29" name="Text Box 5"/>
              <p:cNvSpPr txBox="1">
                <a:spLocks noChangeArrowheads="1"/>
              </p:cNvSpPr>
              <p:nvPr/>
            </p:nvSpPr>
            <p:spPr bwMode="auto">
              <a:xfrm>
                <a:off x="3858989" y="1269073"/>
                <a:ext cx="259896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则曲面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的面积</a:t>
                </a:r>
              </a:p>
            </p:txBody>
          </p:sp>
        </mc:Choice>
        <mc:Fallback xmlns="">
          <p:sp>
            <p:nvSpPr>
              <p:cNvPr id="10342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8989" y="1269073"/>
                <a:ext cx="2598961" cy="523220"/>
              </a:xfrm>
              <a:prstGeom prst="rect">
                <a:avLst/>
              </a:prstGeom>
              <a:blipFill>
                <a:blip r:embed="rId3"/>
                <a:stretch>
                  <a:fillRect l="-4695" t="-15116" r="-1643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371852" y="1400708"/>
                <a:ext cx="4975767" cy="390418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𝐸𝐺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2" y="1400708"/>
                <a:ext cx="4975767" cy="3904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72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/>
      <p:bldP spid="103429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4FF292C-5793-1DAF-E446-EF80C95CAA79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C168DEF-5F12-002A-8AFB-864B6B89BA88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C168DEF-5F12-002A-8AFB-864B6B89BA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7D812C94-8C81-AA16-E200-971FF18D31D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7F392709-DBA3-0C42-A4C1-8799F74DB9B1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72BD6BA4-4523-94B5-3AEB-9AAF59945F63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538BF700-CF3B-06F4-25C1-88307707AC9A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67" name="Text Box 319"/>
          <p:cNvSpPr txBox="1">
            <a:spLocks noChangeArrowheads="1"/>
          </p:cNvSpPr>
          <p:nvPr/>
        </p:nvSpPr>
        <p:spPr bwMode="auto">
          <a:xfrm>
            <a:off x="1611609" y="1834397"/>
            <a:ext cx="8913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431" name="Rectangle 383"/>
          <p:cNvSpPr>
            <a:spLocks noChangeArrowheads="1"/>
          </p:cNvSpPr>
          <p:nvPr/>
        </p:nvSpPr>
        <p:spPr bwMode="auto">
          <a:xfrm>
            <a:off x="1611609" y="1015182"/>
            <a:ext cx="401517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2433" name="Text Box 385"/>
          <p:cNvSpPr txBox="1">
            <a:spLocks noChangeArrowheads="1"/>
          </p:cNvSpPr>
          <p:nvPr/>
        </p:nvSpPr>
        <p:spPr bwMode="auto">
          <a:xfrm>
            <a:off x="2342647" y="1829667"/>
            <a:ext cx="36771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上半球面的直角坐标方程为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407674" y="1064769"/>
                <a:ext cx="4410543" cy="6033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求半径为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的球的表面积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674" y="1064769"/>
                <a:ext cx="4410543" cy="6033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390477" y="2491623"/>
                <a:ext cx="2969900" cy="9008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477" y="2491623"/>
                <a:ext cx="2969900" cy="900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342647" y="3840979"/>
                <a:ext cx="3983291" cy="53360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)|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647" y="3840979"/>
                <a:ext cx="3983291" cy="533604"/>
              </a:xfrm>
              <a:prstGeom prst="rect">
                <a:avLst/>
              </a:prstGeom>
              <a:blipFill>
                <a:blip r:embed="rId9"/>
                <a:stretch>
                  <a:fillRect l="-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380547" y="4606938"/>
                <a:ext cx="5772853" cy="111430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547" y="4606938"/>
                <a:ext cx="5772853" cy="11143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342647" y="3170194"/>
                <a:ext cx="3677153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面上的投影区域为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647" y="3170194"/>
                <a:ext cx="3677153" cy="444500"/>
              </a:xfrm>
              <a:prstGeom prst="rect">
                <a:avLst/>
              </a:prstGeom>
              <a:blipFill>
                <a:blip r:embed="rId11"/>
                <a:stretch>
                  <a:fillRect l="-1159"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02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7" grpId="0"/>
      <p:bldP spid="2431" grpId="0"/>
      <p:bldP spid="2433" grpId="0"/>
      <p:bldP spid="2" grpId="0"/>
      <p:bldP spid="4" grpId="0"/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00B77FC-D961-5950-D6DC-DC3A495765EE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C9BBE9B-01BF-AF87-1BE8-C4F1E53F287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C9BBE9B-01BF-AF87-1BE8-C4F1E53F28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0578D9D1-761C-AD3D-0E2D-A22EE12D719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55AA83BA-185A-34EB-F0E0-63DAF96FCDC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FF5CDA7C-77B9-6650-5737-68984567A447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1CA485B0-81F1-3FD3-CF7E-8E99B34DB58D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2205038" y="2455573"/>
            <a:ext cx="293714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于是所求的表面积为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936750" y="1021608"/>
                <a:ext cx="5379768" cy="1231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50" y="1021608"/>
                <a:ext cx="5379768" cy="1231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205038" y="2937053"/>
                <a:ext cx="3810000" cy="1028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038" y="2937053"/>
                <a:ext cx="3810000" cy="1028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419350" y="4193790"/>
                <a:ext cx="3810000" cy="1003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50" y="4193790"/>
                <a:ext cx="3810000" cy="1003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421616" y="5298275"/>
                <a:ext cx="1226459" cy="46900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616" y="5298275"/>
                <a:ext cx="1226459" cy="4690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5887531" y="4267524"/>
                <a:ext cx="2971800" cy="889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531" y="4267524"/>
                <a:ext cx="2971800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7">
            <a:extLst>
              <a:ext uri="{FF2B5EF4-FFF2-40B4-BE49-F238E27FC236}">
                <a16:creationId xmlns:a16="http://schemas.microsoft.com/office/drawing/2014/main" id="{FAE3FFBC-2488-D88E-A8D8-BD11A2CA8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313" y="2548025"/>
            <a:ext cx="2664218" cy="1028699"/>
          </a:xfrm>
          <a:prstGeom prst="wedgeRectCallout">
            <a:avLst>
              <a:gd name="adj1" fmla="val -89947"/>
              <a:gd name="adj2" fmla="val 33481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200" dirty="0">
                <a:latin typeface="+mn-ea"/>
              </a:rPr>
              <a:t>注意这是一个</a:t>
            </a:r>
            <a:endParaRPr lang="en-US" altLang="zh-CN" sz="22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200" dirty="0">
                <a:latin typeface="+mn-ea"/>
              </a:rPr>
              <a:t>广义二重积分</a:t>
            </a:r>
          </a:p>
        </p:txBody>
      </p:sp>
    </p:spTree>
    <p:extLst>
      <p:ext uri="{BB962C8B-B14F-4D97-AF65-F5344CB8AC3E}">
        <p14:creationId xmlns:p14="http://schemas.microsoft.com/office/powerpoint/2010/main" val="294326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2" grpId="0"/>
      <p:bldP spid="3" grpId="0"/>
      <p:bldP spid="4" grpId="0"/>
      <p:bldP spid="5" grpId="0"/>
      <p:bldP spid="6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564189B-6CF7-031D-1CE9-3969F498CCED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AAD3D11-BED6-47FF-040D-6FF01412C6B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AAD3D11-BED6-47FF-040D-6FF01412C6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F10E132A-9F9E-17D8-306C-F80D634DB858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AE1E6BEB-C0CE-9A73-A142-BA575465F47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D9A6C6CB-EA0A-4B00-D1FC-07597F79BC0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EA4C74A-E2DC-9B76-D943-8D68AA254ED6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7750" y="850392"/>
            <a:ext cx="3698918" cy="49903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计算双曲抛物面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3"/>
              <p:cNvSpPr txBox="1"/>
              <p:nvPr/>
            </p:nvSpPr>
            <p:spPr bwMode="auto">
              <a:xfrm>
                <a:off x="4668942" y="770146"/>
                <a:ext cx="1322284" cy="5792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3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8942" y="770146"/>
                <a:ext cx="1322284" cy="579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753143" y="784944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被柱面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3" name="Object 5"/>
              <p:cNvSpPr txBox="1"/>
              <p:nvPr/>
            </p:nvSpPr>
            <p:spPr bwMode="auto">
              <a:xfrm>
                <a:off x="6848212" y="783892"/>
                <a:ext cx="2625732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8212" y="783892"/>
                <a:ext cx="2625732" cy="520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8908304" y="784685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所截</a:t>
            </a:r>
            <a:endParaRPr kumimoji="1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5" name="Text Box 7"/>
              <p:cNvSpPr txBox="1">
                <a:spLocks noChangeArrowheads="1"/>
              </p:cNvSpPr>
              <p:nvPr/>
            </p:nvSpPr>
            <p:spPr bwMode="auto">
              <a:xfrm>
                <a:off x="1278385" y="1835242"/>
                <a:ext cx="51816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  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曲面在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面上投影为</a:t>
                </a:r>
              </a:p>
            </p:txBody>
          </p:sp>
        </mc:Choice>
        <mc:Fallback xmlns="">
          <p:sp>
            <p:nvSpPr>
              <p:cNvPr id="2253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8385" y="1835242"/>
                <a:ext cx="5181600" cy="519112"/>
              </a:xfrm>
              <a:prstGeom prst="rect">
                <a:avLst/>
              </a:prstGeom>
              <a:blipFill>
                <a:blip r:embed="rId5"/>
                <a:stretch>
                  <a:fillRect l="-2471" t="-11765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6" name="Object 8"/>
              <p:cNvSpPr txBox="1"/>
              <p:nvPr/>
            </p:nvSpPr>
            <p:spPr bwMode="auto">
              <a:xfrm>
                <a:off x="4976668" y="1901379"/>
                <a:ext cx="2286718" cy="4611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6668" y="1901379"/>
                <a:ext cx="2286718" cy="461145"/>
              </a:xfrm>
              <a:prstGeom prst="rect">
                <a:avLst/>
              </a:prstGeom>
              <a:blipFill>
                <a:blip r:embed="rId6"/>
                <a:stretch>
                  <a:fillRect l="-266" b="-3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7077276" y="1871338"/>
            <a:ext cx="56177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40" name="Object 12"/>
              <p:cNvSpPr txBox="1"/>
              <p:nvPr/>
            </p:nvSpPr>
            <p:spPr bwMode="auto">
              <a:xfrm>
                <a:off x="2820232" y="4387653"/>
                <a:ext cx="3275768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0232" y="4387653"/>
                <a:ext cx="3275768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1" name="Object 13"/>
              <p:cNvSpPr txBox="1"/>
              <p:nvPr/>
            </p:nvSpPr>
            <p:spPr bwMode="auto">
              <a:xfrm>
                <a:off x="2826582" y="5352684"/>
                <a:ext cx="3012243" cy="8021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6582" y="5352684"/>
                <a:ext cx="3012243" cy="8021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6" name="Text Box 18"/>
              <p:cNvSpPr txBox="1">
                <a:spLocks noChangeArrowheads="1"/>
              </p:cNvSpPr>
              <p:nvPr/>
            </p:nvSpPr>
            <p:spPr bwMode="auto">
              <a:xfrm>
                <a:off x="2162306" y="1291669"/>
                <a:ext cx="21336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出的面积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2254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306" y="1291669"/>
                <a:ext cx="2133600" cy="519113"/>
              </a:xfrm>
              <a:prstGeom prst="rect">
                <a:avLst/>
              </a:prstGeom>
              <a:blipFill>
                <a:blip r:embed="rId9"/>
                <a:stretch>
                  <a:fillRect l="-6000" t="-16471" b="-341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1">
                <a:extLst>
                  <a:ext uri="{FF2B5EF4-FFF2-40B4-BE49-F238E27FC236}">
                    <a16:creationId xmlns:a16="http://schemas.microsoft.com/office/drawing/2014/main" id="{F09D4F80-0CE1-E8E1-46E8-79490E22B5E9}"/>
                  </a:ext>
                </a:extLst>
              </p:cNvPr>
              <p:cNvSpPr txBox="1"/>
              <p:nvPr/>
            </p:nvSpPr>
            <p:spPr>
              <a:xfrm>
                <a:off x="2600179" y="2318058"/>
                <a:ext cx="3495821" cy="100364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br>
                  <a:rPr lang="zh-CN" altLang="en-US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1">
                <a:extLst>
                  <a:ext uri="{FF2B5EF4-FFF2-40B4-BE49-F238E27FC236}">
                    <a16:creationId xmlns:a16="http://schemas.microsoft.com/office/drawing/2014/main" id="{F09D4F80-0CE1-E8E1-46E8-79490E22B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179" y="2318058"/>
                <a:ext cx="3495821" cy="100364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">
                <a:extLst>
                  <a:ext uri="{FF2B5EF4-FFF2-40B4-BE49-F238E27FC236}">
                    <a16:creationId xmlns:a16="http://schemas.microsoft.com/office/drawing/2014/main" id="{E6D6482D-48F7-AD49-3EC0-F86A5E76A184}"/>
                  </a:ext>
                </a:extLst>
              </p:cNvPr>
              <p:cNvSpPr txBox="1"/>
              <p:nvPr/>
            </p:nvSpPr>
            <p:spPr>
              <a:xfrm>
                <a:off x="2820232" y="3295776"/>
                <a:ext cx="3275768" cy="100364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br>
                  <a:rPr lang="zh-CN" altLang="en-US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200" dirty="0"/>
              </a:p>
            </p:txBody>
          </p:sp>
        </mc:Choice>
        <mc:Fallback xmlns="">
          <p:sp>
            <p:nvSpPr>
              <p:cNvPr id="9" name="对象 1">
                <a:extLst>
                  <a:ext uri="{FF2B5EF4-FFF2-40B4-BE49-F238E27FC236}">
                    <a16:creationId xmlns:a16="http://schemas.microsoft.com/office/drawing/2014/main" id="{E6D6482D-48F7-AD49-3EC0-F86A5E76A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232" y="3295776"/>
                <a:ext cx="3275768" cy="10036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75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/>
      <p:bldP spid="22532" grpId="0"/>
      <p:bldP spid="22533" grpId="0"/>
      <p:bldP spid="22534" grpId="0"/>
      <p:bldP spid="22535" grpId="0" build="p" autoUpdateAnimBg="0"/>
      <p:bldP spid="22536" grpId="0"/>
      <p:bldP spid="22537" grpId="0" autoUpdateAnimBg="0"/>
      <p:bldP spid="22540" grpId="0"/>
      <p:bldP spid="22541" grpId="0"/>
      <p:bldP spid="22546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FD0F6AC-6E62-C3D4-DDB8-0F1498677BBD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A50BE91-16F9-AEFA-0286-84432B9BF7D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A50BE91-16F9-AEFA-0286-84432B9BF7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E7C061EA-9711-6E37-55B6-4ECAB3E887A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3213691E-C08A-5521-3CCD-DFBD537414F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ABCE9258-EA6B-380B-91F3-DDADF169F7ED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1A83A39C-74F9-12FD-73DF-9EE37BED4640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383"/>
          <p:cNvSpPr>
            <a:spLocks noChangeArrowheads="1"/>
          </p:cNvSpPr>
          <p:nvPr/>
        </p:nvSpPr>
        <p:spPr bwMode="auto">
          <a:xfrm>
            <a:off x="1231779" y="522805"/>
            <a:ext cx="72088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284271" y="3384022"/>
            <a:ext cx="49736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建立如图所示坐标系，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2209674" y="4037067"/>
                <a:ext cx="4486401" cy="5232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则通信卫星覆盖的曲面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的方程为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674" y="4037067"/>
                <a:ext cx="4486401" cy="523221"/>
              </a:xfrm>
              <a:prstGeom prst="rect">
                <a:avLst/>
              </a:prstGeom>
              <a:blipFill>
                <a:blip r:embed="rId4"/>
                <a:stretch>
                  <a:fillRect l="-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2209674" y="4483274"/>
                <a:ext cx="5884258" cy="5675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 ,  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674" y="4483274"/>
                <a:ext cx="5884258" cy="567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2209674" y="5624498"/>
                <a:ext cx="4486401" cy="4927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)|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674" y="5624498"/>
                <a:ext cx="4486401" cy="492746"/>
              </a:xfrm>
              <a:prstGeom prst="rect">
                <a:avLst/>
              </a:prstGeom>
              <a:blipFill>
                <a:blip r:embed="rId6"/>
                <a:stretch>
                  <a:fillRect l="-136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/>
              <p:cNvSpPr txBox="1"/>
              <p:nvPr/>
            </p:nvSpPr>
            <p:spPr>
              <a:xfrm>
                <a:off x="2209674" y="5091282"/>
                <a:ext cx="3552951" cy="4927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面上的投影区域为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674" y="5091282"/>
                <a:ext cx="3552951" cy="492746"/>
              </a:xfrm>
              <a:prstGeom prst="rect">
                <a:avLst/>
              </a:prstGeom>
              <a:blipFill>
                <a:blip r:embed="rId7"/>
                <a:stretch>
                  <a:fillRect l="-1201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19F3046B-A913-8D57-A467-8428D8E1F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4271" y="856896"/>
                <a:ext cx="9700769" cy="2462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  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设有一颗地球同步轨道通信卫星，距离地面的高度</a:t>
                </a:r>
                <a:endPara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2800" dirty="0">
                    <a:solidFill>
                      <a:srgbClr val="00000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=36000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运行的角速度与地球自转的角速度</a:t>
                </a:r>
                <a:endPara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       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相同</a:t>
                </a:r>
                <a:r>
                  <a:rPr kumimoji="1" lang="en-US" altLang="zh-CN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. 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试计算该通信卫星的覆盖面积与地球表面积的</a:t>
                </a:r>
                <a:endPara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       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比值（地球半径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6400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19F3046B-A913-8D57-A467-8428D8E1F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4271" y="856896"/>
                <a:ext cx="9700769" cy="2462213"/>
              </a:xfrm>
              <a:prstGeom prst="rect">
                <a:avLst/>
              </a:prstGeom>
              <a:blipFill>
                <a:blip r:embed="rId8"/>
                <a:stretch>
                  <a:fillRect l="-1320" t="-3474" b="-54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 descr="图片包含 雷达图&#10;&#10;描述已自动生成">
            <a:extLst>
              <a:ext uri="{FF2B5EF4-FFF2-40B4-BE49-F238E27FC236}">
                <a16:creationId xmlns:a16="http://schemas.microsoft.com/office/drawing/2014/main" id="{B79FB93D-2985-A0C4-98CF-812522F393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210" y="2681806"/>
            <a:ext cx="1946147" cy="328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7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/>
      <p:bldP spid="10" grpId="0"/>
      <p:bldP spid="11" grpId="0"/>
      <p:bldP spid="13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9030D94-C015-ED79-821A-2461BA575BE6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7456906-BE80-D0DE-DA9B-DC6C30DBBDE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7456906-BE80-D0DE-DA9B-DC6C30DBBD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BDA544C0-CEED-6AC5-5790-39CC5A8515A5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76F7A41D-A90C-8977-2B6B-10BB213AA0B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7AB6D241-4C06-8E58-199E-D8B65356234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2816B022-FF8F-F3CC-D333-BBD4150CB7F0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1362887" y="1543854"/>
                <a:ext cx="5245100" cy="1244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​​​​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887" y="1543854"/>
                <a:ext cx="5245100" cy="1244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1621903" y="2917364"/>
                <a:ext cx="3905561" cy="1003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03" y="2917364"/>
                <a:ext cx="3905561" cy="1003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5403944" y="3139904"/>
                <a:ext cx="2781300" cy="508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44" y="3139904"/>
                <a:ext cx="2781300" cy="508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5714478" y="1682026"/>
                <a:ext cx="3797300" cy="1028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m:rPr>
                          <m:nor/>
                        </m:rPr>
                        <a:rPr lang="en-US" altLang="zh-CN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478" y="1682026"/>
                <a:ext cx="3797300" cy="1028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1574306" y="4051366"/>
                <a:ext cx="2400300" cy="838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306" y="4051366"/>
                <a:ext cx="2400300" cy="838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362887" y="864498"/>
                <a:ext cx="3571063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于是通信卫星的覆盖面积为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887" y="864498"/>
                <a:ext cx="3571063" cy="406400"/>
              </a:xfrm>
              <a:prstGeom prst="rect">
                <a:avLst/>
              </a:prstGeom>
              <a:blipFill>
                <a:blip r:embed="rId8"/>
                <a:stretch>
                  <a:fillRect l="-1197" r="-513" b="-19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3741243" y="4070561"/>
                <a:ext cx="5196786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243" y="4070561"/>
                <a:ext cx="5196786" cy="952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/>
              <p:cNvSpPr txBox="1"/>
              <p:nvPr/>
            </p:nvSpPr>
            <p:spPr>
              <a:xfrm>
                <a:off x="1574306" y="4943804"/>
                <a:ext cx="6457138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den>
                      </m:f>
                      <m: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36⋅1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36+6⋅4</m:t>
                              </m:r>
                            </m:e>
                          </m:d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≈42.5%.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306" y="4943804"/>
                <a:ext cx="6457138" cy="952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 descr="图片包含 雷达图&#10;&#10;描述已自动生成">
            <a:extLst>
              <a:ext uri="{FF2B5EF4-FFF2-40B4-BE49-F238E27FC236}">
                <a16:creationId xmlns:a16="http://schemas.microsoft.com/office/drawing/2014/main" id="{91712710-9694-D9B3-AAB5-D5906305318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596" y="1818134"/>
            <a:ext cx="1946147" cy="328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3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4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FE72E3E-9532-1556-66CA-37A3EDB1FDAF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7FBB8CC0-6AB3-BE8A-D9B3-57A14BDD485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7FBB8CC0-6AB3-BE8A-D9B3-57A14BDD48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37AB779F-A57B-779D-B8D2-C50095FA009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249FEA75-114F-4A8C-68BC-D78E5B8B343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5E174182-3BDE-CA02-B612-42EE96030BD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E639217F-5730-F668-91C4-96AD59CF3D6A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 Box 3089"/>
          <p:cNvSpPr txBox="1">
            <a:spLocks noChangeArrowheads="1"/>
          </p:cNvSpPr>
          <p:nvPr/>
        </p:nvSpPr>
        <p:spPr bwMode="auto">
          <a:xfrm>
            <a:off x="1351158" y="817602"/>
            <a:ext cx="305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方法</a:t>
            </a:r>
            <a:r>
              <a:rPr kumimoji="1" lang="en-US" altLang="zh-CN" sz="22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利用参数方程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351158" y="1849971"/>
                <a:ext cx="2519701" cy="45732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的参数方程为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158" y="1849971"/>
                <a:ext cx="2519701" cy="457326"/>
              </a:xfrm>
              <a:prstGeom prst="rect">
                <a:avLst/>
              </a:prstGeom>
              <a:blipFill>
                <a:blip r:embed="rId7"/>
                <a:stretch>
                  <a:fillRect l="-242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268409" y="1469579"/>
                <a:ext cx="4475416" cy="127168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2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2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2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2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2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func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,      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𝜑𝜃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09" y="1469579"/>
                <a:ext cx="4475416" cy="12716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/>
              <p:cNvSpPr txBox="1"/>
              <p:nvPr/>
            </p:nvSpPr>
            <p:spPr>
              <a:xfrm>
                <a:off x="1351158" y="3389038"/>
                <a:ext cx="3706617" cy="45732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于是通信卫星的覆盖面积为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158" y="3389038"/>
                <a:ext cx="3706617" cy="457326"/>
              </a:xfrm>
              <a:prstGeom prst="rect">
                <a:avLst/>
              </a:prstGeom>
              <a:blipFill>
                <a:blip r:embed="rId9"/>
                <a:stretch>
                  <a:fillRect l="-1151"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351158" y="4030703"/>
                <a:ext cx="3612905" cy="10432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𝜑𝜃</m:t>
                              </m:r>
                            </m:sub>
                          </m:sSub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𝐸𝐺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158" y="4030703"/>
                <a:ext cx="3612905" cy="10432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4318956" y="4073577"/>
                <a:ext cx="2813000" cy="1000401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𝜑𝜃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56" y="4073577"/>
                <a:ext cx="2813000" cy="100040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6569123" y="4047431"/>
                <a:ext cx="3306274" cy="78602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123" y="4047431"/>
                <a:ext cx="3306274" cy="786029"/>
              </a:xfrm>
              <a:prstGeom prst="rect">
                <a:avLst/>
              </a:prstGeom>
              <a:blipFill>
                <a:blip r:embed="rId1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1559548" y="5322828"/>
                <a:ext cx="2799668" cy="57165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548" y="5322828"/>
                <a:ext cx="2799668" cy="57165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3980122" y="5145427"/>
                <a:ext cx="2176045" cy="86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122" y="5145427"/>
                <a:ext cx="2176045" cy="8644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1351158" y="2744014"/>
                <a:ext cx="5759317" cy="57165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𝜑𝜃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)|0</m:t>
                          </m:r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, 0</m:t>
                          </m:r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158" y="2744014"/>
                <a:ext cx="5759317" cy="571658"/>
              </a:xfrm>
              <a:prstGeom prst="rect">
                <a:avLst/>
              </a:prstGeom>
              <a:blipFill>
                <a:blip r:embed="rId15"/>
                <a:stretch>
                  <a:fillRect l="-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 descr="图片包含 雷达图&#10;&#10;描述已自动生成">
            <a:extLst>
              <a:ext uri="{FF2B5EF4-FFF2-40B4-BE49-F238E27FC236}">
                <a16:creationId xmlns:a16="http://schemas.microsoft.com/office/drawing/2014/main" id="{81DD8C7E-9622-8EFF-D57E-641A783B3A8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748" y="817602"/>
            <a:ext cx="1946147" cy="328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7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3" grpId="0"/>
      <p:bldP spid="16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3BEE1CF-0377-0FE3-60D5-5E1D545DD95F}"/>
              </a:ext>
            </a:extLst>
          </p:cNvPr>
          <p:cNvSpPr/>
          <p:nvPr/>
        </p:nvSpPr>
        <p:spPr>
          <a:xfrm>
            <a:off x="1680853" y="1267108"/>
            <a:ext cx="9623121" cy="510511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780233" y="334042"/>
            <a:ext cx="2242702" cy="55238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三、质心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5749587" y="1768532"/>
            <a:ext cx="55543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由力学知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该质点系的质心坐标为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1680854" y="1262381"/>
                <a:ext cx="4659312" cy="57070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平面上有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854" y="1262381"/>
                <a:ext cx="4659312" cy="5707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5881500" y="1252688"/>
                <a:ext cx="5554387" cy="62192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它们分别位于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),⋯,(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500" y="1252688"/>
                <a:ext cx="5554387" cy="6219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/>
              <p:cNvSpPr txBox="1"/>
              <p:nvPr/>
            </p:nvSpPr>
            <p:spPr>
              <a:xfrm>
                <a:off x="1667354" y="1751687"/>
                <a:ext cx="4361971" cy="6528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质量分别为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对象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354" y="1751687"/>
                <a:ext cx="4361971" cy="6528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1043"/>
              <p:cNvSpPr txBox="1"/>
              <p:nvPr/>
            </p:nvSpPr>
            <p:spPr bwMode="auto">
              <a:xfrm>
                <a:off x="7544840" y="3662743"/>
                <a:ext cx="5461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1" name="Object 10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4840" y="3662743"/>
                <a:ext cx="546100" cy="444500"/>
              </a:xfrm>
              <a:prstGeom prst="rect">
                <a:avLst/>
              </a:prstGeom>
              <a:blipFill>
                <a:blip r:embed="rId8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1044"/>
          <p:cNvSpPr>
            <a:spLocks noChangeArrowheads="1"/>
          </p:cNvSpPr>
          <p:nvPr/>
        </p:nvSpPr>
        <p:spPr bwMode="auto">
          <a:xfrm>
            <a:off x="7385655" y="3494600"/>
            <a:ext cx="3066757" cy="2171816"/>
          </a:xfrm>
          <a:prstGeom prst="rect">
            <a:avLst/>
          </a:prstGeom>
          <a:noFill/>
          <a:ln w="9525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1045"/>
              <p:cNvSpPr txBox="1"/>
              <p:nvPr/>
            </p:nvSpPr>
            <p:spPr bwMode="auto">
              <a:xfrm>
                <a:off x="7532140" y="4662185"/>
                <a:ext cx="5588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Object 10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2140" y="4662185"/>
                <a:ext cx="558800" cy="508000"/>
              </a:xfrm>
              <a:prstGeom prst="rect">
                <a:avLst/>
              </a:prstGeom>
              <a:blipFill>
                <a:blip r:embed="rId9"/>
                <a:stretch>
                  <a:fillRect b="-2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1047"/>
              <p:cNvSpPr txBox="1">
                <a:spLocks noChangeArrowheads="1"/>
              </p:cNvSpPr>
              <p:nvPr/>
            </p:nvSpPr>
            <p:spPr bwMode="auto">
              <a:xfrm>
                <a:off x="8117928" y="3577018"/>
                <a:ext cx="1912383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—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轴的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   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静矩</a:t>
                </a:r>
              </a:p>
            </p:txBody>
          </p:sp>
        </mc:Choice>
        <mc:Fallback xmlns="">
          <p:sp>
            <p:nvSpPr>
              <p:cNvPr id="44" name="Text Box 10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17928" y="3577018"/>
                <a:ext cx="1912383" cy="954107"/>
              </a:xfrm>
              <a:prstGeom prst="rect">
                <a:avLst/>
              </a:prstGeom>
              <a:blipFill>
                <a:blip r:embed="rId10"/>
                <a:stretch>
                  <a:fillRect l="-6709" t="-8974" r="-5431" b="-153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1048"/>
              <p:cNvSpPr txBox="1">
                <a:spLocks noChangeArrowheads="1"/>
              </p:cNvSpPr>
              <p:nvPr/>
            </p:nvSpPr>
            <p:spPr bwMode="auto">
              <a:xfrm>
                <a:off x="8117928" y="4636785"/>
                <a:ext cx="1917256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—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轴的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    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静矩</a:t>
                </a:r>
              </a:p>
            </p:txBody>
          </p:sp>
        </mc:Choice>
        <mc:Fallback xmlns="">
          <p:sp>
            <p:nvSpPr>
              <p:cNvPr id="45" name="Text Box 10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17928" y="4636785"/>
                <a:ext cx="1917256" cy="954107"/>
              </a:xfrm>
              <a:prstGeom prst="rect">
                <a:avLst/>
              </a:prstGeom>
              <a:blipFill>
                <a:blip r:embed="rId11"/>
                <a:stretch>
                  <a:fillRect l="-6688" t="-8974" r="-5414" b="-153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7">
            <a:extLst>
              <a:ext uri="{FF2B5EF4-FFF2-40B4-BE49-F238E27FC236}">
                <a16:creationId xmlns:a16="http://schemas.microsoft.com/office/drawing/2014/main" id="{93EC6EE7-E5BD-CEE0-C2D1-274323BAB531}"/>
              </a:ext>
            </a:extLst>
          </p:cNvPr>
          <p:cNvSpPr txBox="1">
            <a:spLocks noChangeArrowheads="1"/>
          </p:cNvSpPr>
          <p:nvPr/>
        </p:nvSpPr>
        <p:spPr>
          <a:xfrm>
            <a:off x="1175170" y="808718"/>
            <a:ext cx="3442852" cy="5731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平面薄片的质心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FECE40C-1E87-6CE7-3891-3B3C91320E11}"/>
              </a:ext>
            </a:extLst>
          </p:cNvPr>
          <p:cNvGrpSpPr/>
          <p:nvPr/>
        </p:nvGrpSpPr>
        <p:grpSpPr>
          <a:xfrm>
            <a:off x="2123281" y="2273273"/>
            <a:ext cx="3775914" cy="2109464"/>
            <a:chOff x="2123281" y="2273273"/>
            <a:chExt cx="3775914" cy="2109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9"/>
                <p:cNvSpPr txBox="1"/>
                <p:nvPr/>
              </p:nvSpPr>
              <p:spPr bwMode="auto">
                <a:xfrm>
                  <a:off x="2123281" y="2748888"/>
                  <a:ext cx="3775914" cy="16338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3281" y="2748888"/>
                  <a:ext cx="3775914" cy="163384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7E14857-39F1-EEC0-B4B0-77C8A51BABC0}"/>
                    </a:ext>
                  </a:extLst>
                </p:cNvPr>
                <p:cNvSpPr txBox="1"/>
                <p:nvPr/>
              </p:nvSpPr>
              <p:spPr>
                <a:xfrm>
                  <a:off x="4011238" y="3308249"/>
                  <a:ext cx="861390" cy="9241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57E14857-39F1-EEC0-B4B0-77C8A51BA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1238" y="3308249"/>
                  <a:ext cx="861390" cy="92416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5C349C2-980C-5A9D-FBFB-103708BE5ABB}"/>
                    </a:ext>
                  </a:extLst>
                </p:cNvPr>
                <p:cNvSpPr txBox="1"/>
                <p:nvPr/>
              </p:nvSpPr>
              <p:spPr>
                <a:xfrm>
                  <a:off x="3997496" y="2273273"/>
                  <a:ext cx="1178336" cy="9241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5C349C2-980C-5A9D-FBFB-103708BE5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7496" y="2273273"/>
                  <a:ext cx="1178336" cy="92416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A115543-6DAC-C73C-2803-84BA0A101867}"/>
              </a:ext>
            </a:extLst>
          </p:cNvPr>
          <p:cNvGrpSpPr/>
          <p:nvPr/>
        </p:nvGrpSpPr>
        <p:grpSpPr>
          <a:xfrm>
            <a:off x="2123280" y="4325587"/>
            <a:ext cx="3748926" cy="2003696"/>
            <a:chOff x="2123280" y="4325587"/>
            <a:chExt cx="3748926" cy="2003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10"/>
                <p:cNvSpPr txBox="1"/>
                <p:nvPr/>
              </p:nvSpPr>
              <p:spPr bwMode="auto">
                <a:xfrm>
                  <a:off x="2123280" y="4846160"/>
                  <a:ext cx="3748926" cy="11753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3280" y="4846160"/>
                  <a:ext cx="3748926" cy="117533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8B12880-0E6B-E1B3-AE61-52A31D633CBC}"/>
                    </a:ext>
                  </a:extLst>
                </p:cNvPr>
                <p:cNvSpPr txBox="1"/>
                <p:nvPr/>
              </p:nvSpPr>
              <p:spPr>
                <a:xfrm>
                  <a:off x="4054934" y="5405119"/>
                  <a:ext cx="861390" cy="9241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8B12880-0E6B-E1B3-AE61-52A31D633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4934" y="5405119"/>
                  <a:ext cx="861390" cy="92416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F99273A-0F41-3916-F4BE-8A758933F715}"/>
                    </a:ext>
                  </a:extLst>
                </p:cNvPr>
                <p:cNvSpPr txBox="1"/>
                <p:nvPr/>
              </p:nvSpPr>
              <p:spPr>
                <a:xfrm>
                  <a:off x="4022253" y="4325587"/>
                  <a:ext cx="1186350" cy="9241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F99273A-0F41-3916-F4BE-8A758933F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253" y="4325587"/>
                  <a:ext cx="1186350" cy="92416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2877346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8395" grpId="0"/>
      <p:bldP spid="15" grpId="0"/>
      <p:bldP spid="9" grpId="0"/>
      <p:bldP spid="10" grpId="0"/>
      <p:bldP spid="37" grpId="0"/>
      <p:bldP spid="41" grpId="0"/>
      <p:bldP spid="42" grpId="0" animBg="1"/>
      <p:bldP spid="43" grpId="0"/>
      <p:bldP spid="44" grpId="0"/>
      <p:bldP spid="4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C42BA1-315D-1B9A-827E-521CC65E8322}"/>
              </a:ext>
            </a:extLst>
          </p:cNvPr>
          <p:cNvSpPr/>
          <p:nvPr/>
        </p:nvSpPr>
        <p:spPr>
          <a:xfrm>
            <a:off x="1111250" y="473380"/>
            <a:ext cx="9863965" cy="58197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3" name="Object 1029"/>
              <p:cNvSpPr txBox="1"/>
              <p:nvPr/>
            </p:nvSpPr>
            <p:spPr bwMode="auto">
              <a:xfrm>
                <a:off x="8966376" y="4519576"/>
                <a:ext cx="1039813" cy="5926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68613" name="Object 10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66376" y="4519576"/>
                <a:ext cx="1039813" cy="592622"/>
              </a:xfrm>
              <a:prstGeom prst="rect">
                <a:avLst/>
              </a:prstGeom>
              <a:blipFill>
                <a:blip r:embed="rId3"/>
                <a:stretch>
                  <a:fillRect l="-5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Freeform 20"/>
          <p:cNvSpPr>
            <a:spLocks/>
          </p:cNvSpPr>
          <p:nvPr/>
        </p:nvSpPr>
        <p:spPr bwMode="auto">
          <a:xfrm>
            <a:off x="7583662" y="4201304"/>
            <a:ext cx="273050" cy="266700"/>
          </a:xfrm>
          <a:custGeom>
            <a:avLst/>
            <a:gdLst>
              <a:gd name="T0" fmla="*/ 96 w 240"/>
              <a:gd name="T1" fmla="*/ 240 h 240"/>
              <a:gd name="T2" fmla="*/ 0 w 240"/>
              <a:gd name="T3" fmla="*/ 96 h 240"/>
              <a:gd name="T4" fmla="*/ 144 w 240"/>
              <a:gd name="T5" fmla="*/ 0 h 240"/>
              <a:gd name="T6" fmla="*/ 240 w 240"/>
              <a:gd name="T7" fmla="*/ 96 h 240"/>
              <a:gd name="T8" fmla="*/ 96 w 240"/>
              <a:gd name="T9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240">
                <a:moveTo>
                  <a:pt x="96" y="240"/>
                </a:moveTo>
                <a:lnTo>
                  <a:pt x="0" y="96"/>
                </a:lnTo>
                <a:lnTo>
                  <a:pt x="144" y="0"/>
                </a:lnTo>
                <a:lnTo>
                  <a:pt x="240" y="96"/>
                </a:lnTo>
                <a:lnTo>
                  <a:pt x="96" y="240"/>
                </a:lnTo>
                <a:close/>
              </a:path>
            </a:pathLst>
          </a:custGeom>
          <a:solidFill>
            <a:srgbClr val="EE0E33"/>
          </a:solidFill>
          <a:ln w="12700" cap="sq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" name="Group 28"/>
          <p:cNvGrpSpPr>
            <a:grpSpLocks/>
          </p:cNvGrpSpPr>
          <p:nvPr/>
        </p:nvGrpSpPr>
        <p:grpSpPr bwMode="auto">
          <a:xfrm>
            <a:off x="7278942" y="2747471"/>
            <a:ext cx="2445774" cy="1560120"/>
            <a:chOff x="2372" y="713"/>
            <a:chExt cx="2147" cy="1398"/>
          </a:xfrm>
        </p:grpSpPr>
        <p:sp>
          <p:nvSpPr>
            <p:cNvPr id="55" name="Line 29"/>
            <p:cNvSpPr>
              <a:spLocks noChangeShapeType="1"/>
            </p:cNvSpPr>
            <p:nvPr/>
          </p:nvSpPr>
          <p:spPr bwMode="auto">
            <a:xfrm flipH="1">
              <a:off x="2798" y="1152"/>
              <a:ext cx="409" cy="959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30"/>
                <p:cNvSpPr txBox="1"/>
                <p:nvPr/>
              </p:nvSpPr>
              <p:spPr bwMode="auto">
                <a:xfrm>
                  <a:off x="2372" y="713"/>
                  <a:ext cx="214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2" y="713"/>
                  <a:ext cx="2147" cy="518"/>
                </a:xfrm>
                <a:prstGeom prst="rect">
                  <a:avLst/>
                </a:prstGeom>
                <a:blipFill>
                  <a:blip r:embed="rId4"/>
                  <a:stretch>
                    <a:fillRect l="-74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40"/>
          <p:cNvGrpSpPr>
            <a:grpSpLocks/>
          </p:cNvGrpSpPr>
          <p:nvPr/>
        </p:nvGrpSpPr>
        <p:grpSpPr bwMode="auto">
          <a:xfrm>
            <a:off x="7091538" y="3505979"/>
            <a:ext cx="1641475" cy="1443038"/>
            <a:chOff x="3453" y="1970"/>
            <a:chExt cx="1034" cy="909"/>
          </a:xfrm>
        </p:grpSpPr>
        <p:sp>
          <p:nvSpPr>
            <p:cNvPr id="58" name="Freeform 8" descr="大网格"/>
            <p:cNvSpPr>
              <a:spLocks/>
            </p:cNvSpPr>
            <p:nvPr/>
          </p:nvSpPr>
          <p:spPr bwMode="auto">
            <a:xfrm>
              <a:off x="3488" y="2475"/>
              <a:ext cx="447" cy="371"/>
            </a:xfrm>
            <a:custGeom>
              <a:avLst/>
              <a:gdLst>
                <a:gd name="T0" fmla="*/ 0 w 624"/>
                <a:gd name="T1" fmla="*/ 0 h 528"/>
                <a:gd name="T2" fmla="*/ 144 w 624"/>
                <a:gd name="T3" fmla="*/ 384 h 528"/>
                <a:gd name="T4" fmla="*/ 624 w 624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4" h="528">
                  <a:moveTo>
                    <a:pt x="0" y="0"/>
                  </a:moveTo>
                  <a:cubicBezTo>
                    <a:pt x="20" y="148"/>
                    <a:pt x="40" y="296"/>
                    <a:pt x="144" y="384"/>
                  </a:cubicBezTo>
                  <a:cubicBezTo>
                    <a:pt x="248" y="472"/>
                    <a:pt x="436" y="500"/>
                    <a:pt x="624" y="528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Freeform 9" descr="大网格"/>
            <p:cNvSpPr>
              <a:spLocks/>
            </p:cNvSpPr>
            <p:nvPr/>
          </p:nvSpPr>
          <p:spPr bwMode="auto">
            <a:xfrm>
              <a:off x="3591" y="2340"/>
              <a:ext cx="482" cy="438"/>
            </a:xfrm>
            <a:custGeom>
              <a:avLst/>
              <a:gdLst>
                <a:gd name="T0" fmla="*/ 0 w 672"/>
                <a:gd name="T1" fmla="*/ 0 h 624"/>
                <a:gd name="T2" fmla="*/ 144 w 672"/>
                <a:gd name="T3" fmla="*/ 480 h 624"/>
                <a:gd name="T4" fmla="*/ 672 w 672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624">
                  <a:moveTo>
                    <a:pt x="0" y="0"/>
                  </a:moveTo>
                  <a:cubicBezTo>
                    <a:pt x="16" y="188"/>
                    <a:pt x="32" y="376"/>
                    <a:pt x="144" y="480"/>
                  </a:cubicBezTo>
                  <a:cubicBezTo>
                    <a:pt x="256" y="584"/>
                    <a:pt x="464" y="604"/>
                    <a:pt x="672" y="624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Freeform 10" descr="大网格"/>
            <p:cNvSpPr>
              <a:spLocks/>
            </p:cNvSpPr>
            <p:nvPr/>
          </p:nvSpPr>
          <p:spPr bwMode="auto">
            <a:xfrm>
              <a:off x="3723" y="2206"/>
              <a:ext cx="454" cy="471"/>
            </a:xfrm>
            <a:custGeom>
              <a:avLst/>
              <a:gdLst>
                <a:gd name="T0" fmla="*/ 8 w 632"/>
                <a:gd name="T1" fmla="*/ 0 h 672"/>
                <a:gd name="T2" fmla="*/ 104 w 632"/>
                <a:gd name="T3" fmla="*/ 480 h 672"/>
                <a:gd name="T4" fmla="*/ 632 w 632"/>
                <a:gd name="T5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2" h="672">
                  <a:moveTo>
                    <a:pt x="8" y="0"/>
                  </a:moveTo>
                  <a:cubicBezTo>
                    <a:pt x="4" y="184"/>
                    <a:pt x="0" y="368"/>
                    <a:pt x="104" y="480"/>
                  </a:cubicBezTo>
                  <a:cubicBezTo>
                    <a:pt x="208" y="592"/>
                    <a:pt x="544" y="640"/>
                    <a:pt x="632" y="672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Freeform 11" descr="大网格"/>
            <p:cNvSpPr>
              <a:spLocks/>
            </p:cNvSpPr>
            <p:nvPr/>
          </p:nvSpPr>
          <p:spPr bwMode="auto">
            <a:xfrm>
              <a:off x="3826" y="2105"/>
              <a:ext cx="454" cy="471"/>
            </a:xfrm>
            <a:custGeom>
              <a:avLst/>
              <a:gdLst>
                <a:gd name="T0" fmla="*/ 8 w 632"/>
                <a:gd name="T1" fmla="*/ 0 h 672"/>
                <a:gd name="T2" fmla="*/ 104 w 632"/>
                <a:gd name="T3" fmla="*/ 480 h 672"/>
                <a:gd name="T4" fmla="*/ 632 w 632"/>
                <a:gd name="T5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2" h="672">
                  <a:moveTo>
                    <a:pt x="8" y="0"/>
                  </a:moveTo>
                  <a:cubicBezTo>
                    <a:pt x="4" y="184"/>
                    <a:pt x="0" y="368"/>
                    <a:pt x="104" y="480"/>
                  </a:cubicBezTo>
                  <a:cubicBezTo>
                    <a:pt x="208" y="592"/>
                    <a:pt x="544" y="640"/>
                    <a:pt x="632" y="672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Freeform 12" descr="大网格"/>
            <p:cNvSpPr>
              <a:spLocks/>
            </p:cNvSpPr>
            <p:nvPr/>
          </p:nvSpPr>
          <p:spPr bwMode="auto">
            <a:xfrm>
              <a:off x="3970" y="2037"/>
              <a:ext cx="413" cy="438"/>
            </a:xfrm>
            <a:custGeom>
              <a:avLst/>
              <a:gdLst>
                <a:gd name="T0" fmla="*/ 0 w 576"/>
                <a:gd name="T1" fmla="*/ 0 h 624"/>
                <a:gd name="T2" fmla="*/ 96 w 576"/>
                <a:gd name="T3" fmla="*/ 480 h 624"/>
                <a:gd name="T4" fmla="*/ 576 w 576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624">
                  <a:moveTo>
                    <a:pt x="0" y="0"/>
                  </a:moveTo>
                  <a:cubicBezTo>
                    <a:pt x="0" y="188"/>
                    <a:pt x="0" y="376"/>
                    <a:pt x="96" y="480"/>
                  </a:cubicBezTo>
                  <a:cubicBezTo>
                    <a:pt x="192" y="584"/>
                    <a:pt x="496" y="600"/>
                    <a:pt x="576" y="624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13" descr="大网格"/>
            <p:cNvSpPr>
              <a:spLocks/>
            </p:cNvSpPr>
            <p:nvPr/>
          </p:nvSpPr>
          <p:spPr bwMode="auto">
            <a:xfrm>
              <a:off x="4073" y="1970"/>
              <a:ext cx="379" cy="370"/>
            </a:xfrm>
            <a:custGeom>
              <a:avLst/>
              <a:gdLst>
                <a:gd name="T0" fmla="*/ 0 w 528"/>
                <a:gd name="T1" fmla="*/ 0 h 528"/>
                <a:gd name="T2" fmla="*/ 96 w 528"/>
                <a:gd name="T3" fmla="*/ 432 h 528"/>
                <a:gd name="T4" fmla="*/ 528 w 528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528">
                  <a:moveTo>
                    <a:pt x="0" y="0"/>
                  </a:moveTo>
                  <a:cubicBezTo>
                    <a:pt x="4" y="172"/>
                    <a:pt x="8" y="344"/>
                    <a:pt x="96" y="432"/>
                  </a:cubicBezTo>
                  <a:cubicBezTo>
                    <a:pt x="184" y="520"/>
                    <a:pt x="356" y="524"/>
                    <a:pt x="528" y="528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Freeform 14" descr="大网格"/>
            <p:cNvSpPr>
              <a:spLocks/>
            </p:cNvSpPr>
            <p:nvPr/>
          </p:nvSpPr>
          <p:spPr bwMode="auto">
            <a:xfrm>
              <a:off x="4205" y="1970"/>
              <a:ext cx="247" cy="275"/>
            </a:xfrm>
            <a:custGeom>
              <a:avLst/>
              <a:gdLst>
                <a:gd name="T0" fmla="*/ 8 w 344"/>
                <a:gd name="T1" fmla="*/ 0 h 392"/>
                <a:gd name="T2" fmla="*/ 56 w 344"/>
                <a:gd name="T3" fmla="*/ 336 h 392"/>
                <a:gd name="T4" fmla="*/ 344 w 344"/>
                <a:gd name="T5" fmla="*/ 33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4" h="392">
                  <a:moveTo>
                    <a:pt x="8" y="0"/>
                  </a:moveTo>
                  <a:cubicBezTo>
                    <a:pt x="4" y="140"/>
                    <a:pt x="0" y="280"/>
                    <a:pt x="56" y="336"/>
                  </a:cubicBezTo>
                  <a:cubicBezTo>
                    <a:pt x="112" y="392"/>
                    <a:pt x="296" y="336"/>
                    <a:pt x="344" y="336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Freeform 15" descr="大网格"/>
            <p:cNvSpPr>
              <a:spLocks/>
            </p:cNvSpPr>
            <p:nvPr/>
          </p:nvSpPr>
          <p:spPr bwMode="auto">
            <a:xfrm>
              <a:off x="3488" y="2004"/>
              <a:ext cx="551" cy="505"/>
            </a:xfrm>
            <a:custGeom>
              <a:avLst/>
              <a:gdLst>
                <a:gd name="T0" fmla="*/ 0 w 768"/>
                <a:gd name="T1" fmla="*/ 720 h 720"/>
                <a:gd name="T2" fmla="*/ 480 w 768"/>
                <a:gd name="T3" fmla="*/ 384 h 720"/>
                <a:gd name="T4" fmla="*/ 768 w 768"/>
                <a:gd name="T5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720">
                  <a:moveTo>
                    <a:pt x="0" y="720"/>
                  </a:moveTo>
                  <a:cubicBezTo>
                    <a:pt x="176" y="612"/>
                    <a:pt x="352" y="504"/>
                    <a:pt x="480" y="384"/>
                  </a:cubicBezTo>
                  <a:cubicBezTo>
                    <a:pt x="608" y="264"/>
                    <a:pt x="688" y="132"/>
                    <a:pt x="768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Freeform 16" descr="大网格"/>
            <p:cNvSpPr>
              <a:spLocks/>
            </p:cNvSpPr>
            <p:nvPr/>
          </p:nvSpPr>
          <p:spPr bwMode="auto">
            <a:xfrm>
              <a:off x="3453" y="1970"/>
              <a:ext cx="724" cy="707"/>
            </a:xfrm>
            <a:custGeom>
              <a:avLst/>
              <a:gdLst>
                <a:gd name="T0" fmla="*/ 0 w 1008"/>
                <a:gd name="T1" fmla="*/ 1008 h 1008"/>
                <a:gd name="T2" fmla="*/ 432 w 1008"/>
                <a:gd name="T3" fmla="*/ 720 h 1008"/>
                <a:gd name="T4" fmla="*/ 768 w 1008"/>
                <a:gd name="T5" fmla="*/ 432 h 1008"/>
                <a:gd name="T6" fmla="*/ 912 w 1008"/>
                <a:gd name="T7" fmla="*/ 192 h 1008"/>
                <a:gd name="T8" fmla="*/ 1008 w 1008"/>
                <a:gd name="T9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8" h="1008">
                  <a:moveTo>
                    <a:pt x="0" y="1008"/>
                  </a:moveTo>
                  <a:cubicBezTo>
                    <a:pt x="152" y="912"/>
                    <a:pt x="304" y="816"/>
                    <a:pt x="432" y="720"/>
                  </a:cubicBezTo>
                  <a:cubicBezTo>
                    <a:pt x="560" y="624"/>
                    <a:pt x="688" y="520"/>
                    <a:pt x="768" y="432"/>
                  </a:cubicBezTo>
                  <a:cubicBezTo>
                    <a:pt x="848" y="344"/>
                    <a:pt x="872" y="264"/>
                    <a:pt x="912" y="192"/>
                  </a:cubicBezTo>
                  <a:cubicBezTo>
                    <a:pt x="952" y="120"/>
                    <a:pt x="992" y="32"/>
                    <a:pt x="1008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Freeform 17" descr="大网格"/>
            <p:cNvSpPr>
              <a:spLocks/>
            </p:cNvSpPr>
            <p:nvPr/>
          </p:nvSpPr>
          <p:spPr bwMode="auto">
            <a:xfrm>
              <a:off x="3522" y="2004"/>
              <a:ext cx="792" cy="808"/>
            </a:xfrm>
            <a:custGeom>
              <a:avLst/>
              <a:gdLst>
                <a:gd name="T0" fmla="*/ 0 w 1104"/>
                <a:gd name="T1" fmla="*/ 1152 h 1152"/>
                <a:gd name="T2" fmla="*/ 432 w 1104"/>
                <a:gd name="T3" fmla="*/ 816 h 1152"/>
                <a:gd name="T4" fmla="*/ 720 w 1104"/>
                <a:gd name="T5" fmla="*/ 528 h 1152"/>
                <a:gd name="T6" fmla="*/ 1104 w 1104"/>
                <a:gd name="T7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4" h="1152">
                  <a:moveTo>
                    <a:pt x="0" y="1152"/>
                  </a:moveTo>
                  <a:cubicBezTo>
                    <a:pt x="156" y="1036"/>
                    <a:pt x="312" y="920"/>
                    <a:pt x="432" y="816"/>
                  </a:cubicBezTo>
                  <a:cubicBezTo>
                    <a:pt x="552" y="712"/>
                    <a:pt x="608" y="664"/>
                    <a:pt x="720" y="528"/>
                  </a:cubicBezTo>
                  <a:cubicBezTo>
                    <a:pt x="832" y="392"/>
                    <a:pt x="968" y="196"/>
                    <a:pt x="1104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Freeform 18" descr="大网格"/>
            <p:cNvSpPr>
              <a:spLocks/>
            </p:cNvSpPr>
            <p:nvPr/>
          </p:nvSpPr>
          <p:spPr bwMode="auto">
            <a:xfrm>
              <a:off x="3625" y="2037"/>
              <a:ext cx="793" cy="842"/>
            </a:xfrm>
            <a:custGeom>
              <a:avLst/>
              <a:gdLst>
                <a:gd name="T0" fmla="*/ 0 w 1104"/>
                <a:gd name="T1" fmla="*/ 1200 h 1200"/>
                <a:gd name="T2" fmla="*/ 432 w 1104"/>
                <a:gd name="T3" fmla="*/ 864 h 1200"/>
                <a:gd name="T4" fmla="*/ 912 w 1104"/>
                <a:gd name="T5" fmla="*/ 384 h 1200"/>
                <a:gd name="T6" fmla="*/ 1104 w 1104"/>
                <a:gd name="T7" fmla="*/ 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4" h="1200">
                  <a:moveTo>
                    <a:pt x="0" y="1200"/>
                  </a:moveTo>
                  <a:cubicBezTo>
                    <a:pt x="140" y="1100"/>
                    <a:pt x="280" y="1000"/>
                    <a:pt x="432" y="864"/>
                  </a:cubicBezTo>
                  <a:cubicBezTo>
                    <a:pt x="584" y="728"/>
                    <a:pt x="800" y="528"/>
                    <a:pt x="912" y="384"/>
                  </a:cubicBezTo>
                  <a:cubicBezTo>
                    <a:pt x="1024" y="240"/>
                    <a:pt x="1064" y="120"/>
                    <a:pt x="1104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Freeform 19" descr="大网格"/>
            <p:cNvSpPr>
              <a:spLocks/>
            </p:cNvSpPr>
            <p:nvPr/>
          </p:nvSpPr>
          <p:spPr bwMode="auto">
            <a:xfrm>
              <a:off x="3832" y="2172"/>
              <a:ext cx="655" cy="707"/>
            </a:xfrm>
            <a:custGeom>
              <a:avLst/>
              <a:gdLst>
                <a:gd name="T0" fmla="*/ 0 w 912"/>
                <a:gd name="T1" fmla="*/ 1008 h 1008"/>
                <a:gd name="T2" fmla="*/ 480 w 912"/>
                <a:gd name="T3" fmla="*/ 576 h 1008"/>
                <a:gd name="T4" fmla="*/ 768 w 912"/>
                <a:gd name="T5" fmla="*/ 240 h 1008"/>
                <a:gd name="T6" fmla="*/ 912 w 912"/>
                <a:gd name="T7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1008">
                  <a:moveTo>
                    <a:pt x="0" y="1008"/>
                  </a:moveTo>
                  <a:cubicBezTo>
                    <a:pt x="176" y="856"/>
                    <a:pt x="352" y="704"/>
                    <a:pt x="480" y="576"/>
                  </a:cubicBezTo>
                  <a:cubicBezTo>
                    <a:pt x="608" y="448"/>
                    <a:pt x="696" y="336"/>
                    <a:pt x="768" y="240"/>
                  </a:cubicBezTo>
                  <a:cubicBezTo>
                    <a:pt x="840" y="144"/>
                    <a:pt x="876" y="72"/>
                    <a:pt x="912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0" name="Group 41"/>
          <p:cNvGrpSpPr>
            <a:grpSpLocks/>
          </p:cNvGrpSpPr>
          <p:nvPr/>
        </p:nvGrpSpPr>
        <p:grpSpPr bwMode="auto">
          <a:xfrm>
            <a:off x="6261277" y="3226580"/>
            <a:ext cx="4400551" cy="2692400"/>
            <a:chOff x="2930" y="1794"/>
            <a:chExt cx="2772" cy="1696"/>
          </a:xfrm>
        </p:grpSpPr>
        <p:sp>
          <p:nvSpPr>
            <p:cNvPr id="71" name="Line 4"/>
            <p:cNvSpPr>
              <a:spLocks noChangeShapeType="1"/>
            </p:cNvSpPr>
            <p:nvPr/>
          </p:nvSpPr>
          <p:spPr bwMode="auto">
            <a:xfrm flipV="1">
              <a:off x="3271" y="1870"/>
              <a:ext cx="0" cy="137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6"/>
            <p:cNvSpPr>
              <a:spLocks noChangeShapeType="1"/>
            </p:cNvSpPr>
            <p:nvPr/>
          </p:nvSpPr>
          <p:spPr bwMode="auto">
            <a:xfrm>
              <a:off x="2930" y="3116"/>
              <a:ext cx="24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Oval 7" descr="大网格"/>
            <p:cNvSpPr>
              <a:spLocks noChangeArrowheads="1"/>
            </p:cNvSpPr>
            <p:nvPr/>
          </p:nvSpPr>
          <p:spPr bwMode="auto">
            <a:xfrm rot="-2528410">
              <a:off x="3350" y="2105"/>
              <a:ext cx="1205" cy="674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zh-C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bject 25"/>
                <p:cNvSpPr txBox="1"/>
                <p:nvPr/>
              </p:nvSpPr>
              <p:spPr bwMode="auto">
                <a:xfrm>
                  <a:off x="5099" y="3048"/>
                  <a:ext cx="603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4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99" y="3048"/>
                  <a:ext cx="603" cy="44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26"/>
                <p:cNvSpPr txBox="1"/>
                <p:nvPr/>
              </p:nvSpPr>
              <p:spPr bwMode="auto">
                <a:xfrm>
                  <a:off x="3059" y="1794"/>
                  <a:ext cx="435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5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9" y="1794"/>
                  <a:ext cx="435" cy="286"/>
                </a:xfrm>
                <a:prstGeom prst="rect">
                  <a:avLst/>
                </a:prstGeom>
                <a:blipFill>
                  <a:blip r:embed="rId6"/>
                  <a:stretch>
                    <a:fillRect l="-2632" b="-14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bject 37"/>
                <p:cNvSpPr txBox="1"/>
                <p:nvPr/>
              </p:nvSpPr>
              <p:spPr bwMode="auto">
                <a:xfrm>
                  <a:off x="3053" y="3090"/>
                  <a:ext cx="311" cy="3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3" y="3090"/>
                  <a:ext cx="311" cy="343"/>
                </a:xfrm>
                <a:prstGeom prst="rect">
                  <a:avLst/>
                </a:prstGeom>
                <a:blipFill>
                  <a:blip r:embed="rId7"/>
                  <a:stretch>
                    <a:fillRect l="-246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7" name="Line 29"/>
          <p:cNvSpPr>
            <a:spLocks noChangeShapeType="1"/>
          </p:cNvSpPr>
          <p:nvPr/>
        </p:nvSpPr>
        <p:spPr bwMode="auto">
          <a:xfrm flipH="1" flipV="1">
            <a:off x="7745759" y="4332504"/>
            <a:ext cx="1313445" cy="408363"/>
          </a:xfrm>
          <a:prstGeom prst="line">
            <a:avLst/>
          </a:prstGeom>
          <a:noFill/>
          <a:ln w="28575" cap="sq">
            <a:solidFill>
              <a:srgbClr val="04926A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" name="对象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162837"/>
              </p:ext>
            </p:extLst>
          </p:nvPr>
        </p:nvGraphicFramePr>
        <p:xfrm>
          <a:off x="7647753" y="4248241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8" imgW="152280" imgH="190440" progId="Equation.DSMT4">
                  <p:embed/>
                </p:oleObj>
              </mc:Choice>
              <mc:Fallback>
                <p:oleObj name="Equation" r:id="rId8" imgW="152280" imgH="190440" progId="Equation.DSMT4">
                  <p:embed/>
                  <p:pic>
                    <p:nvPicPr>
                      <p:cNvPr id="82" name="对象 8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47753" y="4248241"/>
                        <a:ext cx="152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1391300" y="1877044"/>
                <a:ext cx="5312999" cy="5445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可导出平面薄片的质心坐标公式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00" y="1877044"/>
                <a:ext cx="5312999" cy="5445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8E3D30A8-91A8-A8C4-8838-A0F1E97D48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299" y="627285"/>
                <a:ext cx="9119683" cy="1152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13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设有一平面薄片，占有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面上的闭区域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𝐷</m:t>
                    </m:r>
                    <m:r>
                      <a:rPr kumimoji="1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在点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处的面密度为</a:t>
                </a:r>
                <a14:m>
                  <m:oMath xmlns:m="http://schemas.openxmlformats.org/officeDocument/2006/math">
                    <m:r>
                      <a:rPr kumimoji="1" lang="zh-CN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𝜇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假定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上连续，则利用</a:t>
                </a:r>
                <a:r>
                  <a:rPr kumimoji="1" lang="zh-CN" altLang="en-US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元素法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8E3D30A8-91A8-A8C4-8838-A0F1E97D4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1299" y="627285"/>
                <a:ext cx="9119683" cy="1152367"/>
              </a:xfrm>
              <a:prstGeom prst="rect">
                <a:avLst/>
              </a:prstGeom>
              <a:blipFill>
                <a:blip r:embed="rId11"/>
                <a:stretch>
                  <a:fillRect l="-1337" t="-1587" r="-1070" b="-12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F0CC5973-6778-BBF6-EC08-21A51DF48BEA}"/>
              </a:ext>
            </a:extLst>
          </p:cNvPr>
          <p:cNvGrpSpPr/>
          <p:nvPr/>
        </p:nvGrpSpPr>
        <p:grpSpPr>
          <a:xfrm>
            <a:off x="1416605" y="2242446"/>
            <a:ext cx="4447798" cy="2241753"/>
            <a:chOff x="1523137" y="2242446"/>
            <a:chExt cx="4447798" cy="22417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1029">
                  <a:extLst>
                    <a:ext uri="{FF2B5EF4-FFF2-40B4-BE49-F238E27FC236}">
                      <a16:creationId xmlns:a16="http://schemas.microsoft.com/office/drawing/2014/main" id="{3070ADCA-D309-F9F2-DA93-6A0FEF212EE7}"/>
                    </a:ext>
                  </a:extLst>
                </p:cNvPr>
                <p:cNvSpPr txBox="1"/>
                <p:nvPr/>
              </p:nvSpPr>
              <p:spPr bwMode="auto">
                <a:xfrm>
                  <a:off x="1523137" y="2871299"/>
                  <a:ext cx="4447798" cy="1612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bar>
                          <m:barPr>
                            <m:pos m:val="top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Object 1029">
                  <a:extLst>
                    <a:ext uri="{FF2B5EF4-FFF2-40B4-BE49-F238E27FC236}">
                      <a16:creationId xmlns:a16="http://schemas.microsoft.com/office/drawing/2014/main" id="{3070ADCA-D309-F9F2-DA93-6A0FEF212E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23137" y="2871299"/>
                  <a:ext cx="4447798" cy="16129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">
                  <a:extLst>
                    <a:ext uri="{FF2B5EF4-FFF2-40B4-BE49-F238E27FC236}">
                      <a16:creationId xmlns:a16="http://schemas.microsoft.com/office/drawing/2014/main" id="{87F27C93-9705-3173-22FC-55C64F3E6D49}"/>
                    </a:ext>
                  </a:extLst>
                </p:cNvPr>
                <p:cNvSpPr txBox="1"/>
                <p:nvPr/>
              </p:nvSpPr>
              <p:spPr>
                <a:xfrm>
                  <a:off x="3087834" y="3229281"/>
                  <a:ext cx="1864290" cy="1139136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eqArr>
                              <m:eqArr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)​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eqAr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" name="对象 1">
                  <a:extLst>
                    <a:ext uri="{FF2B5EF4-FFF2-40B4-BE49-F238E27FC236}">
                      <a16:creationId xmlns:a16="http://schemas.microsoft.com/office/drawing/2014/main" id="{87F27C93-9705-3173-22FC-55C64F3E6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834" y="3229281"/>
                  <a:ext cx="1864290" cy="113913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1">
                  <a:extLst>
                    <a:ext uri="{FF2B5EF4-FFF2-40B4-BE49-F238E27FC236}">
                      <a16:creationId xmlns:a16="http://schemas.microsoft.com/office/drawing/2014/main" id="{E250D0BE-1585-1BFD-2FFB-02E948B268F2}"/>
                    </a:ext>
                  </a:extLst>
                </p:cNvPr>
                <p:cNvSpPr txBox="1"/>
                <p:nvPr/>
              </p:nvSpPr>
              <p:spPr>
                <a:xfrm>
                  <a:off x="3168382" y="2242446"/>
                  <a:ext cx="1864290" cy="113913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eqArr>
                              <m:eqArr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)​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eqAr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" name="对象 1">
                  <a:extLst>
                    <a:ext uri="{FF2B5EF4-FFF2-40B4-BE49-F238E27FC236}">
                      <a16:creationId xmlns:a16="http://schemas.microsoft.com/office/drawing/2014/main" id="{E250D0BE-1585-1BFD-2FFB-02E948B26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382" y="2242446"/>
                  <a:ext cx="1864290" cy="1139136"/>
                </a:xfrm>
                <a:prstGeom prst="rect">
                  <a:avLst/>
                </a:prstGeom>
                <a:blipFill>
                  <a:blip r:embed="rId14"/>
                  <a:stretch>
                    <a:fillRect r="-26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62DC34C-E091-015E-C8EC-9BC0DD9EE4EE}"/>
              </a:ext>
            </a:extLst>
          </p:cNvPr>
          <p:cNvGrpSpPr/>
          <p:nvPr/>
        </p:nvGrpSpPr>
        <p:grpSpPr>
          <a:xfrm>
            <a:off x="1374746" y="4206337"/>
            <a:ext cx="4134637" cy="2251278"/>
            <a:chOff x="1523137" y="2280546"/>
            <a:chExt cx="4134637" cy="2251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029">
                  <a:extLst>
                    <a:ext uri="{FF2B5EF4-FFF2-40B4-BE49-F238E27FC236}">
                      <a16:creationId xmlns:a16="http://schemas.microsoft.com/office/drawing/2014/main" id="{8873E65A-CF52-2B33-5056-C06CC82733AD}"/>
                    </a:ext>
                  </a:extLst>
                </p:cNvPr>
                <p:cNvSpPr txBox="1"/>
                <p:nvPr/>
              </p:nvSpPr>
              <p:spPr bwMode="auto">
                <a:xfrm>
                  <a:off x="1523137" y="2918924"/>
                  <a:ext cx="4134637" cy="1612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bar>
                          <m:barPr>
                            <m:pos m:val="top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              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Object 1029">
                  <a:extLst>
                    <a:ext uri="{FF2B5EF4-FFF2-40B4-BE49-F238E27FC236}">
                      <a16:creationId xmlns:a16="http://schemas.microsoft.com/office/drawing/2014/main" id="{8873E65A-CF52-2B33-5056-C06CC8273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23137" y="2918924"/>
                  <a:ext cx="4134637" cy="16129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1">
                  <a:extLst>
                    <a:ext uri="{FF2B5EF4-FFF2-40B4-BE49-F238E27FC236}">
                      <a16:creationId xmlns:a16="http://schemas.microsoft.com/office/drawing/2014/main" id="{FABFE1DD-01E9-A945-78BB-632A6E535D0E}"/>
                    </a:ext>
                  </a:extLst>
                </p:cNvPr>
                <p:cNvSpPr txBox="1"/>
                <p:nvPr/>
              </p:nvSpPr>
              <p:spPr>
                <a:xfrm>
                  <a:off x="3030684" y="3276906"/>
                  <a:ext cx="1864290" cy="1139136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eqArr>
                              <m:eqArr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)​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eqAr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" name="对象 1">
                  <a:extLst>
                    <a:ext uri="{FF2B5EF4-FFF2-40B4-BE49-F238E27FC236}">
                      <a16:creationId xmlns:a16="http://schemas.microsoft.com/office/drawing/2014/main" id="{FABFE1DD-01E9-A945-78BB-632A6E535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0684" y="3276906"/>
                  <a:ext cx="1864290" cy="113913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1">
                  <a:extLst>
                    <a:ext uri="{FF2B5EF4-FFF2-40B4-BE49-F238E27FC236}">
                      <a16:creationId xmlns:a16="http://schemas.microsoft.com/office/drawing/2014/main" id="{29671FC0-B0B7-54EE-3EDC-3FCF73BE43D0}"/>
                    </a:ext>
                  </a:extLst>
                </p:cNvPr>
                <p:cNvSpPr txBox="1"/>
                <p:nvPr/>
              </p:nvSpPr>
              <p:spPr>
                <a:xfrm>
                  <a:off x="3111232" y="2280546"/>
                  <a:ext cx="1864290" cy="113913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eqArr>
                              <m:eqArr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)​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eqAr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对象 1">
                  <a:extLst>
                    <a:ext uri="{FF2B5EF4-FFF2-40B4-BE49-F238E27FC236}">
                      <a16:creationId xmlns:a16="http://schemas.microsoft.com/office/drawing/2014/main" id="{29671FC0-B0B7-54EE-3EDC-3FCF73BE4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1232" y="2280546"/>
                  <a:ext cx="1864290" cy="1139136"/>
                </a:xfrm>
                <a:prstGeom prst="rect">
                  <a:avLst/>
                </a:prstGeom>
                <a:blipFill>
                  <a:blip r:embed="rId17"/>
                  <a:stretch>
                    <a:fillRect r="-26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4846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8613" grpId="0"/>
      <p:bldP spid="53" grpId="0" animBg="1"/>
      <p:bldP spid="77" grpId="0" animBg="1"/>
      <p:bldP spid="5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25D28B-F04B-790A-2A2D-9E84D5B97EE5}"/>
              </a:ext>
            </a:extLst>
          </p:cNvPr>
          <p:cNvSpPr/>
          <p:nvPr/>
        </p:nvSpPr>
        <p:spPr>
          <a:xfrm>
            <a:off x="1111250" y="670560"/>
            <a:ext cx="9863965" cy="540563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50B9F749-5721-DEF6-9FC1-AD738234FA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2812" y="841024"/>
                <a:ext cx="610050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为常数时，得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形心坐标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：</a:t>
                </a:r>
              </a:p>
            </p:txBody>
          </p:sp>
        </mc:Choice>
        <mc:Fallback xmlns=""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50B9F749-5721-DEF6-9FC1-AD738234F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2812" y="841024"/>
                <a:ext cx="6100509" cy="523220"/>
              </a:xfrm>
              <a:prstGeom prst="rect">
                <a:avLst/>
              </a:prstGeom>
              <a:blipFill>
                <a:blip r:embed="rId2"/>
                <a:stretch>
                  <a:fillRect l="-1998" t="-16279" r="-1998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F46A0D0A-0487-8A15-49C9-01E172474A87}"/>
              </a:ext>
            </a:extLst>
          </p:cNvPr>
          <p:cNvGrpSpPr/>
          <p:nvPr/>
        </p:nvGrpSpPr>
        <p:grpSpPr>
          <a:xfrm>
            <a:off x="2092812" y="1552150"/>
            <a:ext cx="3924811" cy="2205167"/>
            <a:chOff x="2092812" y="1675975"/>
            <a:chExt cx="3924811" cy="22051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028"/>
                <p:cNvSpPr txBox="1"/>
                <p:nvPr/>
              </p:nvSpPr>
              <p:spPr bwMode="auto">
                <a:xfrm>
                  <a:off x="4491139" y="2248006"/>
                  <a:ext cx="1526484" cy="11809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nary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4" name="Object 10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1139" y="2248006"/>
                  <a:ext cx="1526484" cy="11809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719901E-9842-8F58-45EC-3E8F2A71C545}"/>
                </a:ext>
              </a:extLst>
            </p:cNvPr>
            <p:cNvGrpSpPr/>
            <p:nvPr/>
          </p:nvGrpSpPr>
          <p:grpSpPr>
            <a:xfrm>
              <a:off x="2092812" y="1675975"/>
              <a:ext cx="2770385" cy="2205167"/>
              <a:chOff x="1523137" y="2102795"/>
              <a:chExt cx="2770385" cy="22051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Object 1029">
                    <a:extLst>
                      <a:ext uri="{FF2B5EF4-FFF2-40B4-BE49-F238E27FC236}">
                        <a16:creationId xmlns:a16="http://schemas.microsoft.com/office/drawing/2014/main" id="{2E07C340-0535-948E-F8A0-F7481047DC7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523137" y="2918924"/>
                    <a:ext cx="2770385" cy="74223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bar>
                            <m:barPr>
                              <m:pos m:val="top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3" name="Object 1029">
                    <a:extLst>
                      <a:ext uri="{FF2B5EF4-FFF2-40B4-BE49-F238E27FC236}">
                        <a16:creationId xmlns:a16="http://schemas.microsoft.com/office/drawing/2014/main" id="{2E07C340-0535-948E-F8A0-F7481047DC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523137" y="2918924"/>
                    <a:ext cx="2770385" cy="7422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对象 1">
                    <a:extLst>
                      <a:ext uri="{FF2B5EF4-FFF2-40B4-BE49-F238E27FC236}">
                        <a16:creationId xmlns:a16="http://schemas.microsoft.com/office/drawing/2014/main" id="{3274215C-93F4-A80A-32CD-DD1069E7D0F8}"/>
                      </a:ext>
                    </a:extLst>
                  </p:cNvPr>
                  <p:cNvSpPr txBox="1"/>
                  <p:nvPr/>
                </p:nvSpPr>
                <p:spPr>
                  <a:xfrm>
                    <a:off x="2312204" y="3168826"/>
                    <a:ext cx="1357867" cy="1139136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eqArr>
                                <m:eqArr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eqArr>
                            </m:e>
                          </m:nary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4" name="对象 1">
                    <a:extLst>
                      <a:ext uri="{FF2B5EF4-FFF2-40B4-BE49-F238E27FC236}">
                        <a16:creationId xmlns:a16="http://schemas.microsoft.com/office/drawing/2014/main" id="{3274215C-93F4-A80A-32CD-DD1069E7D0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2204" y="3168826"/>
                    <a:ext cx="1357867" cy="113913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对象 1">
                    <a:extLst>
                      <a:ext uri="{FF2B5EF4-FFF2-40B4-BE49-F238E27FC236}">
                        <a16:creationId xmlns:a16="http://schemas.microsoft.com/office/drawing/2014/main" id="{BDF81A7C-BBD3-48B1-C1B4-3EC8AF3B0D68}"/>
                      </a:ext>
                    </a:extLst>
                  </p:cNvPr>
                  <p:cNvSpPr txBox="1"/>
                  <p:nvPr/>
                </p:nvSpPr>
                <p:spPr>
                  <a:xfrm>
                    <a:off x="2391642" y="2102795"/>
                    <a:ext cx="1278429" cy="1139136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eqArr>
                                <m:eqArr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eqArr>
                            </m:e>
                          </m:nary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8" name="对象 1">
                    <a:extLst>
                      <a:ext uri="{FF2B5EF4-FFF2-40B4-BE49-F238E27FC236}">
                        <a16:creationId xmlns:a16="http://schemas.microsoft.com/office/drawing/2014/main" id="{BDF81A7C-BBD3-48B1-C1B4-3EC8AF3B0D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1642" y="2102795"/>
                    <a:ext cx="1278429" cy="113913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656E737-2FEF-6519-50AE-8088718929F7}"/>
              </a:ext>
            </a:extLst>
          </p:cNvPr>
          <p:cNvGrpSpPr/>
          <p:nvPr/>
        </p:nvGrpSpPr>
        <p:grpSpPr>
          <a:xfrm>
            <a:off x="2092812" y="3880692"/>
            <a:ext cx="3912780" cy="2186120"/>
            <a:chOff x="2092812" y="1675975"/>
            <a:chExt cx="3912780" cy="2186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1028">
                  <a:extLst>
                    <a:ext uri="{FF2B5EF4-FFF2-40B4-BE49-F238E27FC236}">
                      <a16:creationId xmlns:a16="http://schemas.microsoft.com/office/drawing/2014/main" id="{9EFE4E6D-E4BD-A124-F6B1-294522B6CA66}"/>
                    </a:ext>
                  </a:extLst>
                </p:cNvPr>
                <p:cNvSpPr txBox="1"/>
                <p:nvPr/>
              </p:nvSpPr>
              <p:spPr bwMode="auto">
                <a:xfrm>
                  <a:off x="4479108" y="2248006"/>
                  <a:ext cx="1526484" cy="11809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nary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Object 1028">
                  <a:extLst>
                    <a:ext uri="{FF2B5EF4-FFF2-40B4-BE49-F238E27FC236}">
                      <a16:creationId xmlns:a16="http://schemas.microsoft.com/office/drawing/2014/main" id="{9EFE4E6D-E4BD-A124-F6B1-294522B6C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79108" y="2248006"/>
                  <a:ext cx="1526484" cy="118099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981B613-5890-3B21-2E5E-47AF7C4F9739}"/>
                </a:ext>
              </a:extLst>
            </p:cNvPr>
            <p:cNvGrpSpPr/>
            <p:nvPr/>
          </p:nvGrpSpPr>
          <p:grpSpPr>
            <a:xfrm>
              <a:off x="2092812" y="1675975"/>
              <a:ext cx="2770385" cy="2186120"/>
              <a:chOff x="1523137" y="2102795"/>
              <a:chExt cx="2770385" cy="21861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Object 1029">
                    <a:extLst>
                      <a:ext uri="{FF2B5EF4-FFF2-40B4-BE49-F238E27FC236}">
                        <a16:creationId xmlns:a16="http://schemas.microsoft.com/office/drawing/2014/main" id="{EA459DEA-C966-081B-9ACE-55F09FE724E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523137" y="2918924"/>
                    <a:ext cx="2770385" cy="74223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bar>
                            <m:barPr>
                              <m:pos m:val="top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ba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4" name="Object 1029">
                    <a:extLst>
                      <a:ext uri="{FF2B5EF4-FFF2-40B4-BE49-F238E27FC236}">
                        <a16:creationId xmlns:a16="http://schemas.microsoft.com/office/drawing/2014/main" id="{EA459DEA-C966-081B-9ACE-55F09FE724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523137" y="2918924"/>
                    <a:ext cx="2770385" cy="74223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对象 1">
                    <a:extLst>
                      <a:ext uri="{FF2B5EF4-FFF2-40B4-BE49-F238E27FC236}">
                        <a16:creationId xmlns:a16="http://schemas.microsoft.com/office/drawing/2014/main" id="{BB1F0A1C-A8C4-FA1C-0089-CD309AA6FB9E}"/>
                      </a:ext>
                    </a:extLst>
                  </p:cNvPr>
                  <p:cNvSpPr txBox="1"/>
                  <p:nvPr/>
                </p:nvSpPr>
                <p:spPr>
                  <a:xfrm>
                    <a:off x="2312204" y="3149779"/>
                    <a:ext cx="1061001" cy="1139136"/>
                  </a:xfrm>
                  <a:prstGeom prst="rect">
                    <a:avLst/>
                  </a:prstGeom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eqArr>
                                <m:eqArr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eqArr>
                            </m:e>
                          </m:nary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5" name="对象 1">
                    <a:extLst>
                      <a:ext uri="{FF2B5EF4-FFF2-40B4-BE49-F238E27FC236}">
                        <a16:creationId xmlns:a16="http://schemas.microsoft.com/office/drawing/2014/main" id="{BB1F0A1C-A8C4-FA1C-0089-CD309AA6FB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2204" y="3149779"/>
                    <a:ext cx="1061001" cy="11391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对象 1">
                    <a:extLst>
                      <a:ext uri="{FF2B5EF4-FFF2-40B4-BE49-F238E27FC236}">
                        <a16:creationId xmlns:a16="http://schemas.microsoft.com/office/drawing/2014/main" id="{BAC01B27-C058-0100-5E48-176574ECE8C6}"/>
                      </a:ext>
                    </a:extLst>
                  </p:cNvPr>
                  <p:cNvSpPr txBox="1"/>
                  <p:nvPr/>
                </p:nvSpPr>
                <p:spPr>
                  <a:xfrm>
                    <a:off x="2391642" y="2102795"/>
                    <a:ext cx="1278429" cy="1139136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eqArr>
                                <m:eqArr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eqArr>
                            </m:e>
                          </m:nary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6" name="对象 1">
                    <a:extLst>
                      <a:ext uri="{FF2B5EF4-FFF2-40B4-BE49-F238E27FC236}">
                        <a16:creationId xmlns:a16="http://schemas.microsoft.com/office/drawing/2014/main" id="{BAC01B27-C058-0100-5E48-176574ECE8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1642" y="2102795"/>
                    <a:ext cx="1278429" cy="113913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66636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93DC350-16DD-1882-6703-6108BA05B7E1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3D2C4DC-E15F-09F3-0DC7-29F9F54248A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3D2C4DC-E15F-09F3-0DC7-29F9F54248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11B91CEF-E699-1980-C650-71B3513DEE4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68FF592B-0FA2-451A-83E3-A5579E558D1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9772E0D4-6713-535D-30D3-560DEEAF8D0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512DB852-AA50-DCC2-1B0F-B472DFC3EFB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8897" y="888688"/>
            <a:ext cx="30480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求位于两圆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99" name="Object 3"/>
              <p:cNvSpPr txBox="1"/>
              <p:nvPr/>
            </p:nvSpPr>
            <p:spPr bwMode="auto">
              <a:xfrm>
                <a:off x="3670900" y="796478"/>
                <a:ext cx="2119868" cy="7345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6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0900" y="796478"/>
                <a:ext cx="2119868" cy="7345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00" name="Object 4"/>
              <p:cNvSpPr txBox="1"/>
              <p:nvPr/>
            </p:nvSpPr>
            <p:spPr bwMode="auto">
              <a:xfrm>
                <a:off x="5716736" y="781034"/>
                <a:ext cx="2119867" cy="6173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70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6736" y="781034"/>
                <a:ext cx="2119867" cy="617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5300251" y="81311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和</a:t>
            </a:r>
          </a:p>
        </p:txBody>
      </p:sp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7374520" y="772533"/>
            <a:ext cx="39638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之间均匀薄片的质心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1078897" y="1539631"/>
            <a:ext cx="304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利用对称性可知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26"/>
              <p:cNvSpPr txBox="1"/>
              <p:nvPr/>
            </p:nvSpPr>
            <p:spPr bwMode="auto">
              <a:xfrm>
                <a:off x="3931799" y="1582036"/>
                <a:ext cx="114552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1799" y="1582036"/>
                <a:ext cx="1145528" cy="444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27"/>
          <p:cNvSpPr txBox="1">
            <a:spLocks noChangeArrowheads="1"/>
          </p:cNvSpPr>
          <p:nvPr/>
        </p:nvSpPr>
        <p:spPr bwMode="auto">
          <a:xfrm>
            <a:off x="1883803" y="2324990"/>
            <a:ext cx="914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30"/>
              <p:cNvSpPr txBox="1"/>
              <p:nvPr/>
            </p:nvSpPr>
            <p:spPr bwMode="auto">
              <a:xfrm>
                <a:off x="3931798" y="4045605"/>
                <a:ext cx="1858970" cy="869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1798" y="4045605"/>
                <a:ext cx="1858970" cy="8692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31"/>
              <p:cNvSpPr txBox="1"/>
              <p:nvPr/>
            </p:nvSpPr>
            <p:spPr bwMode="auto">
              <a:xfrm>
                <a:off x="5656305" y="4003498"/>
                <a:ext cx="2387231" cy="9113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56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9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6305" y="4003498"/>
                <a:ext cx="2387231" cy="9113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32"/>
              <p:cNvSpPr txBox="1"/>
              <p:nvPr/>
            </p:nvSpPr>
            <p:spPr bwMode="auto">
              <a:xfrm>
                <a:off x="4624985" y="5189373"/>
                <a:ext cx="1350697" cy="889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56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⋅2⋅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4985" y="5189373"/>
                <a:ext cx="1350697" cy="8890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33"/>
              <p:cNvSpPr txBox="1"/>
              <p:nvPr/>
            </p:nvSpPr>
            <p:spPr bwMode="auto">
              <a:xfrm>
                <a:off x="1909988" y="5100196"/>
                <a:ext cx="29972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56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⋅2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type m:val="skw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9988" y="5100196"/>
                <a:ext cx="2997200" cy="889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34"/>
              <p:cNvSpPr txBox="1"/>
              <p:nvPr/>
            </p:nvSpPr>
            <p:spPr bwMode="auto">
              <a:xfrm>
                <a:off x="6805285" y="5219653"/>
                <a:ext cx="1023015" cy="862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5285" y="5219653"/>
                <a:ext cx="1023015" cy="862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37"/>
              <p:cNvSpPr txBox="1"/>
              <p:nvPr/>
            </p:nvSpPr>
            <p:spPr bwMode="auto">
              <a:xfrm>
                <a:off x="1924455" y="4070295"/>
                <a:ext cx="2387231" cy="970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3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4455" y="4070295"/>
                <a:ext cx="2387231" cy="9707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38"/>
              <p:cNvSpPr txBox="1"/>
              <p:nvPr/>
            </p:nvSpPr>
            <p:spPr bwMode="auto">
              <a:xfrm>
                <a:off x="5797181" y="5208559"/>
                <a:ext cx="570528" cy="862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4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7181" y="5208559"/>
                <a:ext cx="570528" cy="8629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39"/>
              <p:cNvSpPr txBox="1"/>
              <p:nvPr/>
            </p:nvSpPr>
            <p:spPr bwMode="auto">
              <a:xfrm>
                <a:off x="6175738" y="5208020"/>
                <a:ext cx="495642" cy="8746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5738" y="5208020"/>
                <a:ext cx="495642" cy="8746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40"/>
              <p:cNvSpPr txBox="1"/>
              <p:nvPr/>
            </p:nvSpPr>
            <p:spPr bwMode="auto">
              <a:xfrm>
                <a:off x="6520022" y="5277411"/>
                <a:ext cx="452487" cy="8629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6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0022" y="5277411"/>
                <a:ext cx="452487" cy="862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对象 56"/>
              <p:cNvSpPr txBox="1"/>
              <p:nvPr/>
            </p:nvSpPr>
            <p:spPr>
              <a:xfrm>
                <a:off x="7471787" y="5204242"/>
                <a:ext cx="3024079" cy="80901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所求质心为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57" name="对象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787" y="5204242"/>
                <a:ext cx="3024079" cy="8090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">
                <a:extLst>
                  <a:ext uri="{FF2B5EF4-FFF2-40B4-BE49-F238E27FC236}">
                    <a16:creationId xmlns:a16="http://schemas.microsoft.com/office/drawing/2014/main" id="{DCC7C66E-7D41-8B3F-4F16-42650AB898F8}"/>
                  </a:ext>
                </a:extLst>
              </p:cNvPr>
              <p:cNvSpPr txBox="1"/>
              <p:nvPr/>
            </p:nvSpPr>
            <p:spPr>
              <a:xfrm>
                <a:off x="2278976" y="2100038"/>
                <a:ext cx="2544527" cy="100364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br>
                  <a:rPr lang="zh-CN" altLang="en-US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200" dirty="0"/>
              </a:p>
            </p:txBody>
          </p:sp>
        </mc:Choice>
        <mc:Fallback xmlns="">
          <p:sp>
            <p:nvSpPr>
              <p:cNvPr id="9" name="对象 1">
                <a:extLst>
                  <a:ext uri="{FF2B5EF4-FFF2-40B4-BE49-F238E27FC236}">
                    <a16:creationId xmlns:a16="http://schemas.microsoft.com/office/drawing/2014/main" id="{DCC7C66E-7D41-8B3F-4F16-42650AB89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976" y="2100038"/>
                <a:ext cx="2544527" cy="10036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1">
                <a:extLst>
                  <a:ext uri="{FF2B5EF4-FFF2-40B4-BE49-F238E27FC236}">
                    <a16:creationId xmlns:a16="http://schemas.microsoft.com/office/drawing/2014/main" id="{D2C74D2D-ADA0-30D7-188D-84EA8564F9DD}"/>
                  </a:ext>
                </a:extLst>
              </p:cNvPr>
              <p:cNvSpPr txBox="1"/>
              <p:nvPr/>
            </p:nvSpPr>
            <p:spPr>
              <a:xfrm>
                <a:off x="1924455" y="3036955"/>
                <a:ext cx="2815987" cy="108785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br>
                  <a:rPr lang="zh-CN" altLang="en-US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1">
                <a:extLst>
                  <a:ext uri="{FF2B5EF4-FFF2-40B4-BE49-F238E27FC236}">
                    <a16:creationId xmlns:a16="http://schemas.microsoft.com/office/drawing/2014/main" id="{D2C74D2D-ADA0-30D7-188D-84EA8564F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455" y="3036955"/>
                <a:ext cx="2815987" cy="10878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B96FA456-8279-72A5-B929-ACF2A421BF6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594" y="1722279"/>
            <a:ext cx="2544527" cy="24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  <p:bldP spid="29700" grpId="0"/>
      <p:bldP spid="29701" grpId="0"/>
      <p:bldP spid="29732" grpId="0"/>
      <p:bldP spid="43" grpId="0" build="p" autoUpdateAnimBg="0"/>
      <p:bldP spid="44" grpId="0"/>
      <p:bldP spid="45" grpId="0" build="p" autoUpdateAnimBg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219112" y="3462739"/>
                <a:ext cx="4432300" cy="1612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112" y="3462739"/>
                <a:ext cx="4432300" cy="1612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6096000" y="3437982"/>
                <a:ext cx="4419600" cy="107537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37982"/>
                <a:ext cx="4419600" cy="1075376"/>
              </a:xfrm>
              <a:prstGeom prst="rect">
                <a:avLst/>
              </a:prstGeom>
              <a:blipFill>
                <a:blip r:embed="rId3"/>
                <a:stretch>
                  <a:fillRect l="-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219112" y="5350285"/>
                <a:ext cx="4318000" cy="11251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112" y="5350285"/>
                <a:ext cx="4318000" cy="1125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212578" y="771491"/>
                <a:ext cx="8655447" cy="201464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若物体占有空间有界闭区域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处的密度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假定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上连续，则物体的质心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坐标公式为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578" y="771491"/>
                <a:ext cx="8655447" cy="20146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1492B8A1-BF59-DE6D-F71E-E8160D3FB401}"/>
              </a:ext>
            </a:extLst>
          </p:cNvPr>
          <p:cNvGrpSpPr/>
          <p:nvPr/>
        </p:nvGrpSpPr>
        <p:grpSpPr>
          <a:xfrm>
            <a:off x="2793176" y="2763286"/>
            <a:ext cx="2987612" cy="1702651"/>
            <a:chOff x="7360983" y="4114505"/>
            <a:chExt cx="2987612" cy="17026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1028">
                  <a:extLst>
                    <a:ext uri="{FF2B5EF4-FFF2-40B4-BE49-F238E27FC236}">
                      <a16:creationId xmlns:a16="http://schemas.microsoft.com/office/drawing/2014/main" id="{A46ECF99-D5D6-2B42-545F-5EE8E9B9C291}"/>
                    </a:ext>
                  </a:extLst>
                </p:cNvPr>
                <p:cNvSpPr txBox="1"/>
                <p:nvPr/>
              </p:nvSpPr>
              <p:spPr bwMode="auto">
                <a:xfrm>
                  <a:off x="7442710" y="4114505"/>
                  <a:ext cx="2905885" cy="800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limLoc m:val="undOvr"/>
                            <m:supHide m:val="on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nary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5" name="Object 1028">
                  <a:extLst>
                    <a:ext uri="{FF2B5EF4-FFF2-40B4-BE49-F238E27FC236}">
                      <a16:creationId xmlns:a16="http://schemas.microsoft.com/office/drawing/2014/main" id="{A46ECF99-D5D6-2B42-545F-5EE8E9B9C2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42710" y="4114505"/>
                  <a:ext cx="2905885" cy="800100"/>
                </a:xfrm>
                <a:prstGeom prst="rect">
                  <a:avLst/>
                </a:prstGeom>
                <a:blipFill>
                  <a:blip r:embed="rId6"/>
                  <a:stretch>
                    <a:fillRect b="-1439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1028">
                  <a:extLst>
                    <a:ext uri="{FF2B5EF4-FFF2-40B4-BE49-F238E27FC236}">
                      <a16:creationId xmlns:a16="http://schemas.microsoft.com/office/drawing/2014/main" id="{375698BE-54BD-1972-E939-9F809CD695E6}"/>
                    </a:ext>
                  </a:extLst>
                </p:cNvPr>
                <p:cNvSpPr txBox="1"/>
                <p:nvPr/>
              </p:nvSpPr>
              <p:spPr bwMode="auto">
                <a:xfrm>
                  <a:off x="7360983" y="5017056"/>
                  <a:ext cx="2837824" cy="800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limLoc m:val="undOvr"/>
                            <m:supHide m:val="on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m:rPr>
                                <m:nor/>
                              </m:rPr>
                              <a:rPr lang="en-US" altLang="zh-CN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nary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6" name="Object 1028">
                  <a:extLst>
                    <a:ext uri="{FF2B5EF4-FFF2-40B4-BE49-F238E27FC236}">
                      <a16:creationId xmlns:a16="http://schemas.microsoft.com/office/drawing/2014/main" id="{375698BE-54BD-1972-E939-9F809CD69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60983" y="5017056"/>
                  <a:ext cx="2837824" cy="800100"/>
                </a:xfrm>
                <a:prstGeom prst="rect">
                  <a:avLst/>
                </a:prstGeom>
                <a:blipFill>
                  <a:blip r:embed="rId7"/>
                  <a:stretch>
                    <a:fillRect b="-1439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9C9095A-65ED-CB21-C56E-847F25C7A0E2}"/>
                </a:ext>
              </a:extLst>
            </p:cNvPr>
            <p:cNvCxnSpPr/>
            <p:nvPr/>
          </p:nvCxnSpPr>
          <p:spPr>
            <a:xfrm>
              <a:off x="7389388" y="5085864"/>
              <a:ext cx="283782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5E0FD58-CEFB-83CC-487E-6D6CAF17307A}"/>
              </a:ext>
            </a:extLst>
          </p:cNvPr>
          <p:cNvGrpSpPr/>
          <p:nvPr/>
        </p:nvGrpSpPr>
        <p:grpSpPr>
          <a:xfrm>
            <a:off x="2788823" y="4681161"/>
            <a:ext cx="2837824" cy="1702332"/>
            <a:chOff x="7389388" y="4161733"/>
            <a:chExt cx="2837824" cy="1702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bject 1028">
                  <a:extLst>
                    <a:ext uri="{FF2B5EF4-FFF2-40B4-BE49-F238E27FC236}">
                      <a16:creationId xmlns:a16="http://schemas.microsoft.com/office/drawing/2014/main" id="{05DF50DC-0DBB-B34F-9351-4F047304951F}"/>
                    </a:ext>
                  </a:extLst>
                </p:cNvPr>
                <p:cNvSpPr txBox="1"/>
                <p:nvPr/>
              </p:nvSpPr>
              <p:spPr bwMode="auto">
                <a:xfrm>
                  <a:off x="7574823" y="4161733"/>
                  <a:ext cx="2652389" cy="800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limLoc m:val="undOvr"/>
                            <m:supHide m:val="on"/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nary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4" name="Object 1028">
                  <a:extLst>
                    <a:ext uri="{FF2B5EF4-FFF2-40B4-BE49-F238E27FC236}">
                      <a16:creationId xmlns:a16="http://schemas.microsoft.com/office/drawing/2014/main" id="{05DF50DC-0DBB-B34F-9351-4F0473049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74823" y="4161733"/>
                  <a:ext cx="2652389" cy="800100"/>
                </a:xfrm>
                <a:prstGeom prst="rect">
                  <a:avLst/>
                </a:prstGeom>
                <a:blipFill>
                  <a:blip r:embed="rId8"/>
                  <a:stretch>
                    <a:fillRect b="-53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1028">
                  <a:extLst>
                    <a:ext uri="{FF2B5EF4-FFF2-40B4-BE49-F238E27FC236}">
                      <a16:creationId xmlns:a16="http://schemas.microsoft.com/office/drawing/2014/main" id="{B5A28AD4-FAA9-23CA-5B13-B065F75CEF94}"/>
                    </a:ext>
                  </a:extLst>
                </p:cNvPr>
                <p:cNvSpPr txBox="1"/>
                <p:nvPr/>
              </p:nvSpPr>
              <p:spPr bwMode="auto">
                <a:xfrm>
                  <a:off x="7498623" y="5063965"/>
                  <a:ext cx="2660528" cy="800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limLoc m:val="undOvr"/>
                            <m:supHide m:val="on"/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nary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5" name="Object 1028">
                  <a:extLst>
                    <a:ext uri="{FF2B5EF4-FFF2-40B4-BE49-F238E27FC236}">
                      <a16:creationId xmlns:a16="http://schemas.microsoft.com/office/drawing/2014/main" id="{B5A28AD4-FAA9-23CA-5B13-B065F75CE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98623" y="5063965"/>
                  <a:ext cx="2660528" cy="800100"/>
                </a:xfrm>
                <a:prstGeom prst="rect">
                  <a:avLst/>
                </a:prstGeom>
                <a:blipFill>
                  <a:blip r:embed="rId9"/>
                  <a:stretch>
                    <a:fillRect b="-53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CC3B5BB-078E-E5CE-2471-F270BDA499D5}"/>
                </a:ext>
              </a:extLst>
            </p:cNvPr>
            <p:cNvCxnSpPr/>
            <p:nvPr/>
          </p:nvCxnSpPr>
          <p:spPr>
            <a:xfrm>
              <a:off x="7389388" y="5085864"/>
              <a:ext cx="283782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B58CACF-8D44-5880-120B-386460651507}"/>
              </a:ext>
            </a:extLst>
          </p:cNvPr>
          <p:cNvGrpSpPr/>
          <p:nvPr/>
        </p:nvGrpSpPr>
        <p:grpSpPr>
          <a:xfrm>
            <a:off x="6827243" y="2781564"/>
            <a:ext cx="2837824" cy="1619250"/>
            <a:chOff x="7389388" y="4197906"/>
            <a:chExt cx="2837824" cy="1619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1028">
                  <a:extLst>
                    <a:ext uri="{FF2B5EF4-FFF2-40B4-BE49-F238E27FC236}">
                      <a16:creationId xmlns:a16="http://schemas.microsoft.com/office/drawing/2014/main" id="{4D73BEAC-C470-478E-B47F-9D9984CD0293}"/>
                    </a:ext>
                  </a:extLst>
                </p:cNvPr>
                <p:cNvSpPr txBox="1"/>
                <p:nvPr/>
              </p:nvSpPr>
              <p:spPr bwMode="auto">
                <a:xfrm>
                  <a:off x="7452205" y="4197906"/>
                  <a:ext cx="2590673" cy="800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limLoc m:val="undOvr"/>
                            <m:supHide m:val="on"/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nary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8" name="Object 1028">
                  <a:extLst>
                    <a:ext uri="{FF2B5EF4-FFF2-40B4-BE49-F238E27FC236}">
                      <a16:creationId xmlns:a16="http://schemas.microsoft.com/office/drawing/2014/main" id="{4D73BEAC-C470-478E-B47F-9D9984CD02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52205" y="4197906"/>
                  <a:ext cx="2590673" cy="800100"/>
                </a:xfrm>
                <a:prstGeom prst="rect">
                  <a:avLst/>
                </a:prstGeom>
                <a:blipFill>
                  <a:blip r:embed="rId10"/>
                  <a:stretch>
                    <a:fillRect b="-454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1028">
                  <a:extLst>
                    <a:ext uri="{FF2B5EF4-FFF2-40B4-BE49-F238E27FC236}">
                      <a16:creationId xmlns:a16="http://schemas.microsoft.com/office/drawing/2014/main" id="{E1F4998E-FF08-7BA8-6DDB-2F3F0E3B3519}"/>
                    </a:ext>
                  </a:extLst>
                </p:cNvPr>
                <p:cNvSpPr txBox="1"/>
                <p:nvPr/>
              </p:nvSpPr>
              <p:spPr bwMode="auto">
                <a:xfrm>
                  <a:off x="7412394" y="5017056"/>
                  <a:ext cx="2569976" cy="800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limLoc m:val="undOvr"/>
                            <m:supHide m:val="on"/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𝛺</m:t>
                            </m:r>
                          </m:sub>
                          <m:sup/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m:rPr>
                                <m:nor/>
                              </m:rPr>
                              <a:rPr lang="en-US" altLang="zh-CN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nary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9" name="Object 1028">
                  <a:extLst>
                    <a:ext uri="{FF2B5EF4-FFF2-40B4-BE49-F238E27FC236}">
                      <a16:creationId xmlns:a16="http://schemas.microsoft.com/office/drawing/2014/main" id="{E1F4998E-FF08-7BA8-6DDB-2F3F0E3B3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12394" y="5017056"/>
                  <a:ext cx="2569976" cy="800100"/>
                </a:xfrm>
                <a:prstGeom prst="rect">
                  <a:avLst/>
                </a:prstGeom>
                <a:blipFill>
                  <a:blip r:embed="rId11"/>
                  <a:stretch>
                    <a:fillRect b="-53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CB6E2CE-B787-3F01-F3FF-5FB0F7927EF1}"/>
                </a:ext>
              </a:extLst>
            </p:cNvPr>
            <p:cNvCxnSpPr/>
            <p:nvPr/>
          </p:nvCxnSpPr>
          <p:spPr>
            <a:xfrm>
              <a:off x="7389388" y="5085864"/>
              <a:ext cx="283782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ectangle 27">
            <a:extLst>
              <a:ext uri="{FF2B5EF4-FFF2-40B4-BE49-F238E27FC236}">
                <a16:creationId xmlns:a16="http://schemas.microsoft.com/office/drawing/2014/main" id="{5AB3649D-8830-EA79-47F2-61D06DD85A5E}"/>
              </a:ext>
            </a:extLst>
          </p:cNvPr>
          <p:cNvSpPr txBox="1">
            <a:spLocks noChangeArrowheads="1"/>
          </p:cNvSpPr>
          <p:nvPr/>
        </p:nvSpPr>
        <p:spPr>
          <a:xfrm>
            <a:off x="1837507" y="466832"/>
            <a:ext cx="3515543" cy="5731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空间物体的质心</a:t>
            </a:r>
          </a:p>
        </p:txBody>
      </p:sp>
    </p:spTree>
    <p:extLst>
      <p:ext uri="{BB962C8B-B14F-4D97-AF65-F5344CB8AC3E}">
        <p14:creationId xmlns:p14="http://schemas.microsoft.com/office/powerpoint/2010/main" val="344235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A55D0F-BA58-017D-FA98-E1EE430AE5BF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1310F342-5EDA-DE0E-8E1E-FE61B893CFB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BB6041B-905D-4D92-097B-0118DAF5C300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4572CB4-70FE-5B29-994F-D3DD31FF0C0A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F5E03088-3CEF-4049-5002-11FD7170F6D6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590F749A-6727-E923-2AF2-5544E92AE06E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028"/>
              <p:cNvSpPr txBox="1"/>
              <p:nvPr/>
            </p:nvSpPr>
            <p:spPr bwMode="auto">
              <a:xfrm>
                <a:off x="2048026" y="1747389"/>
                <a:ext cx="345440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bar>
                        <m:barPr>
                          <m:pos m:val="top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4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8026" y="1747389"/>
                <a:ext cx="3454400" cy="939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28"/>
              <p:cNvSpPr txBox="1"/>
              <p:nvPr/>
            </p:nvSpPr>
            <p:spPr bwMode="auto">
              <a:xfrm>
                <a:off x="2048026" y="3044137"/>
                <a:ext cx="344170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bar>
                        <m:barPr>
                          <m:pos m:val="top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8026" y="3044137"/>
                <a:ext cx="3441700" cy="939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28"/>
              <p:cNvSpPr txBox="1"/>
              <p:nvPr/>
            </p:nvSpPr>
            <p:spPr bwMode="auto">
              <a:xfrm>
                <a:off x="2048026" y="4463942"/>
                <a:ext cx="334010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bar>
                        <m:barPr>
                          <m:pos m:val="top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8026" y="4463942"/>
                <a:ext cx="3340100" cy="939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28"/>
              <p:cNvSpPr txBox="1"/>
              <p:nvPr/>
            </p:nvSpPr>
            <p:spPr bwMode="auto">
              <a:xfrm>
                <a:off x="5148338" y="3112664"/>
                <a:ext cx="3128887" cy="9837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Object 10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8338" y="3112664"/>
                <a:ext cx="3128887" cy="9837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02E19BF-F0F8-A9A3-54A1-485AAD9B0AEA}"/>
                  </a:ext>
                </a:extLst>
              </p:cNvPr>
              <p:cNvSpPr txBox="1"/>
              <p:nvPr/>
            </p:nvSpPr>
            <p:spPr bwMode="auto">
              <a:xfrm>
                <a:off x="2048026" y="1138028"/>
                <a:ext cx="5095724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2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当</m:t>
                    </m:r>
                    <m:r>
                      <a:rPr kumimoji="1" lang="zh-CN" altLang="en-US" sz="22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kumimoji="1" lang="zh-CN" altLang="en-US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200" dirty="0"/>
                  <a:t>常数时，得</a:t>
                </a:r>
                <a14:m>
                  <m:oMath xmlns:m="http://schemas.openxmlformats.org/officeDocument/2006/math">
                    <m:r>
                      <a:rPr lang="zh-CN" altLang="en-US" sz="2200" i="1" dirty="0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200" dirty="0"/>
                  <a:t>的</a:t>
                </a:r>
                <a:r>
                  <a:rPr lang="zh-CN" altLang="en-US" sz="2200" dirty="0">
                    <a:solidFill>
                      <a:srgbClr val="04926A"/>
                    </a:solidFill>
                  </a:rPr>
                  <a:t>形心坐标</a:t>
                </a:r>
                <a:r>
                  <a:rPr lang="zh-CN" altLang="en-US" sz="2200" dirty="0"/>
                  <a:t>：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02E19BF-F0F8-A9A3-54A1-485AAD9B0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8026" y="1138028"/>
                <a:ext cx="5095724" cy="430887"/>
              </a:xfrm>
              <a:prstGeom prst="rect">
                <a:avLst/>
              </a:prstGeom>
              <a:blipFill>
                <a:blip r:embed="rId7"/>
                <a:stretch>
                  <a:fillRect l="-837" t="-14286" r="-1077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27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" grpId="0"/>
      <p:bldP spid="7" grpId="0"/>
      <p:bldP spid="8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7199A01-C2DC-86FA-5E82-22A02B50ED84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69BC7F38-1C22-391B-97F6-18A47A5CF32E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69BC7F38-1C22-391B-97F6-18A47A5CF3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6BC9BC0-2E49-A50C-B7E6-2691511041F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2AE16D1-8AFF-CA0F-6D74-ADE514700D9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C09ED1CF-4006-D958-FDF0-D727C7A9CBA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9998789B-0DF6-7DA8-94CA-F1E8866FFCEF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1973291" y="1762861"/>
            <a:ext cx="3429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2" name="Object 26"/>
              <p:cNvSpPr txBox="1"/>
              <p:nvPr/>
            </p:nvSpPr>
            <p:spPr bwMode="auto">
              <a:xfrm>
                <a:off x="2731592" y="2355475"/>
                <a:ext cx="3757474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利用对称性可知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bar>
                        <m:barPr>
                          <m:pos m:val="top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1592" y="2355475"/>
                <a:ext cx="3757474" cy="482600"/>
              </a:xfrm>
              <a:prstGeom prst="rect">
                <a:avLst/>
              </a:prstGeom>
              <a:blipFill>
                <a:blip r:embed="rId3"/>
                <a:stretch>
                  <a:fillRect l="-11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6166706" y="2367263"/>
            <a:ext cx="66271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4" name="Object 28"/>
              <p:cNvSpPr txBox="1"/>
              <p:nvPr/>
            </p:nvSpPr>
            <p:spPr bwMode="auto">
              <a:xfrm>
                <a:off x="2805094" y="2821424"/>
                <a:ext cx="2491812" cy="9797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ba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5094" y="2821424"/>
                <a:ext cx="2491812" cy="9797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5601198" y="5104841"/>
                <a:ext cx="5333502" cy="952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所求质心为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0, 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198" y="5104841"/>
                <a:ext cx="5333502" cy="952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28"/>
              <p:cNvSpPr txBox="1"/>
              <p:nvPr/>
            </p:nvSpPr>
            <p:spPr bwMode="auto">
              <a:xfrm>
                <a:off x="3022729" y="3864491"/>
                <a:ext cx="6359396" cy="10437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0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2729" y="3864491"/>
                <a:ext cx="6359396" cy="1043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28"/>
              <p:cNvSpPr txBox="1"/>
              <p:nvPr/>
            </p:nvSpPr>
            <p:spPr bwMode="auto">
              <a:xfrm>
                <a:off x="3020546" y="5069181"/>
                <a:ext cx="2276359" cy="11060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1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0546" y="5069181"/>
                <a:ext cx="2276359" cy="11060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4724898" y="5104841"/>
                <a:ext cx="876300" cy="838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898" y="5104841"/>
                <a:ext cx="8763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1973291" y="870702"/>
            <a:ext cx="4515775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ea typeface="黑体" panose="02010609060101010101" pitchFamily="49" charset="-122"/>
              </a:rPr>
              <a:t>求均匀半球体的质心</a:t>
            </a:r>
            <a:r>
              <a:rPr lang="en-US" altLang="zh-CN" sz="2800" b="0" dirty="0">
                <a:ea typeface="黑体" panose="02010609060101010101" pitchFamily="49" charset="-122"/>
              </a:rPr>
              <a:t>.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747991" y="1790996"/>
                <a:ext cx="5681634" cy="5232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US" altLang="zh-CN" sz="22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991" y="1790996"/>
                <a:ext cx="5681634" cy="523220"/>
              </a:xfrm>
              <a:prstGeom prst="rect">
                <a:avLst/>
              </a:prstGeom>
              <a:blipFill>
                <a:blip r:embed="rId9"/>
                <a:stretch>
                  <a:fillRect l="-107" t="-102326" b="-140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96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1" grpId="0" build="p" autoUpdateAnimBg="0"/>
      <p:bldP spid="29722" grpId="0"/>
      <p:bldP spid="29723" grpId="0" build="p" autoUpdateAnimBg="0"/>
      <p:bldP spid="29724" grpId="0"/>
      <p:bldP spid="3" grpId="0"/>
      <p:bldP spid="40" grpId="0"/>
      <p:bldP spid="41" grpId="0"/>
      <p:bldP spid="4" grpId="0"/>
      <p:bldP spid="17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FAEF845-EE6C-DD15-C54F-67A77D014A8B}"/>
              </a:ext>
            </a:extLst>
          </p:cNvPr>
          <p:cNvSpPr/>
          <p:nvPr/>
        </p:nvSpPr>
        <p:spPr>
          <a:xfrm>
            <a:off x="1308100" y="2022475"/>
            <a:ext cx="9863974" cy="3997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826310" y="668859"/>
            <a:ext cx="2826003" cy="58656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四、转动惯量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8"/>
              <p:cNvSpPr txBox="1">
                <a:spLocks noChangeArrowheads="1"/>
              </p:cNvSpPr>
              <p:nvPr/>
            </p:nvSpPr>
            <p:spPr bwMode="auto">
              <a:xfrm>
                <a:off x="5583102" y="2994359"/>
                <a:ext cx="609156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由力学知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该质点系对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轴和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轴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</a:t>
                </a:r>
              </a:p>
            </p:txBody>
          </p:sp>
        </mc:Choice>
        <mc:Fallback xmlns="">
          <p:sp>
            <p:nvSpPr>
              <p:cNvPr id="15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3102" y="2994359"/>
                <a:ext cx="6091561" cy="523220"/>
              </a:xfrm>
              <a:prstGeom prst="rect">
                <a:avLst/>
              </a:prstGeom>
              <a:blipFill>
                <a:blip r:embed="rId2"/>
                <a:stretch>
                  <a:fillRect l="-2102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1490274" y="2311864"/>
                <a:ext cx="5285508" cy="69436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平面上有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74" y="2311864"/>
                <a:ext cx="5285508" cy="694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5649851" y="2310355"/>
                <a:ext cx="5425953" cy="6374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它们分别位于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),⋯,(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851" y="2310355"/>
                <a:ext cx="5425953" cy="637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/>
              <p:cNvSpPr txBox="1"/>
              <p:nvPr/>
            </p:nvSpPr>
            <p:spPr>
              <a:xfrm>
                <a:off x="1490274" y="2951334"/>
                <a:ext cx="4453326" cy="60927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质量分别为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对象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74" y="2951334"/>
                <a:ext cx="4453326" cy="6092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1490275" y="3583146"/>
            <a:ext cx="27388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转动惯量依次为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207551" y="4245714"/>
                <a:ext cx="5155276" cy="144083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551" y="4245714"/>
                <a:ext cx="5155276" cy="14408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7">
            <a:extLst>
              <a:ext uri="{FF2B5EF4-FFF2-40B4-BE49-F238E27FC236}">
                <a16:creationId xmlns:a16="http://schemas.microsoft.com/office/drawing/2014/main" id="{957B35D5-33D3-140C-E88B-DB205311FC38}"/>
              </a:ext>
            </a:extLst>
          </p:cNvPr>
          <p:cNvSpPr txBox="1">
            <a:spLocks noChangeArrowheads="1"/>
          </p:cNvSpPr>
          <p:nvPr/>
        </p:nvSpPr>
        <p:spPr>
          <a:xfrm>
            <a:off x="1161137" y="1279428"/>
            <a:ext cx="4092828" cy="5731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平面薄片的转动惯量</a:t>
            </a:r>
          </a:p>
        </p:txBody>
      </p:sp>
    </p:spTree>
    <p:extLst>
      <p:ext uri="{BB962C8B-B14F-4D97-AF65-F5344CB8AC3E}">
        <p14:creationId xmlns:p14="http://schemas.microsoft.com/office/powerpoint/2010/main" val="12040085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8395" grpId="0"/>
      <p:bldP spid="15" grpId="0"/>
      <p:bldP spid="9" grpId="0"/>
      <p:bldP spid="10" grpId="0"/>
      <p:bldP spid="37" grpId="0"/>
      <p:bldP spid="18" grpId="0"/>
      <p:bldP spid="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B17D078-05CD-AEE0-CA32-8B47CB9AE15D}"/>
              </a:ext>
            </a:extLst>
          </p:cNvPr>
          <p:cNvSpPr/>
          <p:nvPr/>
        </p:nvSpPr>
        <p:spPr>
          <a:xfrm>
            <a:off x="1111250" y="670560"/>
            <a:ext cx="9863965" cy="540563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3" name="Freeform 20"/>
          <p:cNvSpPr>
            <a:spLocks/>
          </p:cNvSpPr>
          <p:nvPr/>
        </p:nvSpPr>
        <p:spPr bwMode="auto">
          <a:xfrm>
            <a:off x="8254496" y="4279713"/>
            <a:ext cx="273050" cy="266700"/>
          </a:xfrm>
          <a:custGeom>
            <a:avLst/>
            <a:gdLst>
              <a:gd name="T0" fmla="*/ 96 w 240"/>
              <a:gd name="T1" fmla="*/ 240 h 240"/>
              <a:gd name="T2" fmla="*/ 0 w 240"/>
              <a:gd name="T3" fmla="*/ 96 h 240"/>
              <a:gd name="T4" fmla="*/ 144 w 240"/>
              <a:gd name="T5" fmla="*/ 0 h 240"/>
              <a:gd name="T6" fmla="*/ 240 w 240"/>
              <a:gd name="T7" fmla="*/ 96 h 240"/>
              <a:gd name="T8" fmla="*/ 96 w 240"/>
              <a:gd name="T9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240">
                <a:moveTo>
                  <a:pt x="96" y="240"/>
                </a:moveTo>
                <a:lnTo>
                  <a:pt x="0" y="96"/>
                </a:lnTo>
                <a:lnTo>
                  <a:pt x="144" y="0"/>
                </a:lnTo>
                <a:lnTo>
                  <a:pt x="240" y="96"/>
                </a:lnTo>
                <a:lnTo>
                  <a:pt x="96" y="240"/>
                </a:lnTo>
                <a:close/>
              </a:path>
            </a:pathLst>
          </a:custGeom>
          <a:solidFill>
            <a:srgbClr val="EE0E33"/>
          </a:solidFill>
          <a:ln w="12700" cap="sq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" name="Group 28"/>
          <p:cNvGrpSpPr>
            <a:grpSpLocks/>
          </p:cNvGrpSpPr>
          <p:nvPr/>
        </p:nvGrpSpPr>
        <p:grpSpPr bwMode="auto">
          <a:xfrm>
            <a:off x="8106300" y="2898250"/>
            <a:ext cx="2434383" cy="1474191"/>
            <a:chOff x="2584" y="790"/>
            <a:chExt cx="2137" cy="1321"/>
          </a:xfrm>
        </p:grpSpPr>
        <p:sp>
          <p:nvSpPr>
            <p:cNvPr id="55" name="Line 29"/>
            <p:cNvSpPr>
              <a:spLocks noChangeShapeType="1"/>
            </p:cNvSpPr>
            <p:nvPr/>
          </p:nvSpPr>
          <p:spPr bwMode="auto">
            <a:xfrm flipH="1">
              <a:off x="2798" y="1152"/>
              <a:ext cx="409" cy="959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30"/>
                <p:cNvSpPr txBox="1"/>
                <p:nvPr/>
              </p:nvSpPr>
              <p:spPr bwMode="auto">
                <a:xfrm>
                  <a:off x="2584" y="790"/>
                  <a:ext cx="2137" cy="3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4" y="790"/>
                  <a:ext cx="2137" cy="315"/>
                </a:xfrm>
                <a:prstGeom prst="rect">
                  <a:avLst/>
                </a:prstGeom>
                <a:blipFill>
                  <a:blip r:embed="rId3"/>
                  <a:stretch>
                    <a:fillRect l="-752" b="-5689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40"/>
          <p:cNvGrpSpPr>
            <a:grpSpLocks/>
          </p:cNvGrpSpPr>
          <p:nvPr/>
        </p:nvGrpSpPr>
        <p:grpSpPr bwMode="auto">
          <a:xfrm>
            <a:off x="7762372" y="3584388"/>
            <a:ext cx="1641475" cy="1443038"/>
            <a:chOff x="3453" y="1970"/>
            <a:chExt cx="1034" cy="909"/>
          </a:xfrm>
        </p:grpSpPr>
        <p:sp>
          <p:nvSpPr>
            <p:cNvPr id="58" name="Freeform 8" descr="大网格"/>
            <p:cNvSpPr>
              <a:spLocks/>
            </p:cNvSpPr>
            <p:nvPr/>
          </p:nvSpPr>
          <p:spPr bwMode="auto">
            <a:xfrm>
              <a:off x="3488" y="2475"/>
              <a:ext cx="447" cy="371"/>
            </a:xfrm>
            <a:custGeom>
              <a:avLst/>
              <a:gdLst>
                <a:gd name="T0" fmla="*/ 0 w 624"/>
                <a:gd name="T1" fmla="*/ 0 h 528"/>
                <a:gd name="T2" fmla="*/ 144 w 624"/>
                <a:gd name="T3" fmla="*/ 384 h 528"/>
                <a:gd name="T4" fmla="*/ 624 w 624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4" h="528">
                  <a:moveTo>
                    <a:pt x="0" y="0"/>
                  </a:moveTo>
                  <a:cubicBezTo>
                    <a:pt x="20" y="148"/>
                    <a:pt x="40" y="296"/>
                    <a:pt x="144" y="384"/>
                  </a:cubicBezTo>
                  <a:cubicBezTo>
                    <a:pt x="248" y="472"/>
                    <a:pt x="436" y="500"/>
                    <a:pt x="624" y="528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Freeform 9" descr="大网格"/>
            <p:cNvSpPr>
              <a:spLocks/>
            </p:cNvSpPr>
            <p:nvPr/>
          </p:nvSpPr>
          <p:spPr bwMode="auto">
            <a:xfrm>
              <a:off x="3591" y="2340"/>
              <a:ext cx="482" cy="438"/>
            </a:xfrm>
            <a:custGeom>
              <a:avLst/>
              <a:gdLst>
                <a:gd name="T0" fmla="*/ 0 w 672"/>
                <a:gd name="T1" fmla="*/ 0 h 624"/>
                <a:gd name="T2" fmla="*/ 144 w 672"/>
                <a:gd name="T3" fmla="*/ 480 h 624"/>
                <a:gd name="T4" fmla="*/ 672 w 672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624">
                  <a:moveTo>
                    <a:pt x="0" y="0"/>
                  </a:moveTo>
                  <a:cubicBezTo>
                    <a:pt x="16" y="188"/>
                    <a:pt x="32" y="376"/>
                    <a:pt x="144" y="480"/>
                  </a:cubicBezTo>
                  <a:cubicBezTo>
                    <a:pt x="256" y="584"/>
                    <a:pt x="464" y="604"/>
                    <a:pt x="672" y="624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Freeform 10" descr="大网格"/>
            <p:cNvSpPr>
              <a:spLocks/>
            </p:cNvSpPr>
            <p:nvPr/>
          </p:nvSpPr>
          <p:spPr bwMode="auto">
            <a:xfrm>
              <a:off x="3723" y="2206"/>
              <a:ext cx="454" cy="471"/>
            </a:xfrm>
            <a:custGeom>
              <a:avLst/>
              <a:gdLst>
                <a:gd name="T0" fmla="*/ 8 w 632"/>
                <a:gd name="T1" fmla="*/ 0 h 672"/>
                <a:gd name="T2" fmla="*/ 104 w 632"/>
                <a:gd name="T3" fmla="*/ 480 h 672"/>
                <a:gd name="T4" fmla="*/ 632 w 632"/>
                <a:gd name="T5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2" h="672">
                  <a:moveTo>
                    <a:pt x="8" y="0"/>
                  </a:moveTo>
                  <a:cubicBezTo>
                    <a:pt x="4" y="184"/>
                    <a:pt x="0" y="368"/>
                    <a:pt x="104" y="480"/>
                  </a:cubicBezTo>
                  <a:cubicBezTo>
                    <a:pt x="208" y="592"/>
                    <a:pt x="544" y="640"/>
                    <a:pt x="632" y="672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Freeform 11" descr="大网格"/>
            <p:cNvSpPr>
              <a:spLocks/>
            </p:cNvSpPr>
            <p:nvPr/>
          </p:nvSpPr>
          <p:spPr bwMode="auto">
            <a:xfrm>
              <a:off x="3826" y="2105"/>
              <a:ext cx="454" cy="471"/>
            </a:xfrm>
            <a:custGeom>
              <a:avLst/>
              <a:gdLst>
                <a:gd name="T0" fmla="*/ 8 w 632"/>
                <a:gd name="T1" fmla="*/ 0 h 672"/>
                <a:gd name="T2" fmla="*/ 104 w 632"/>
                <a:gd name="T3" fmla="*/ 480 h 672"/>
                <a:gd name="T4" fmla="*/ 632 w 632"/>
                <a:gd name="T5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2" h="672">
                  <a:moveTo>
                    <a:pt x="8" y="0"/>
                  </a:moveTo>
                  <a:cubicBezTo>
                    <a:pt x="4" y="184"/>
                    <a:pt x="0" y="368"/>
                    <a:pt x="104" y="480"/>
                  </a:cubicBezTo>
                  <a:cubicBezTo>
                    <a:pt x="208" y="592"/>
                    <a:pt x="544" y="640"/>
                    <a:pt x="632" y="672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Freeform 12" descr="大网格"/>
            <p:cNvSpPr>
              <a:spLocks/>
            </p:cNvSpPr>
            <p:nvPr/>
          </p:nvSpPr>
          <p:spPr bwMode="auto">
            <a:xfrm>
              <a:off x="3970" y="2037"/>
              <a:ext cx="413" cy="438"/>
            </a:xfrm>
            <a:custGeom>
              <a:avLst/>
              <a:gdLst>
                <a:gd name="T0" fmla="*/ 0 w 576"/>
                <a:gd name="T1" fmla="*/ 0 h 624"/>
                <a:gd name="T2" fmla="*/ 96 w 576"/>
                <a:gd name="T3" fmla="*/ 480 h 624"/>
                <a:gd name="T4" fmla="*/ 576 w 576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624">
                  <a:moveTo>
                    <a:pt x="0" y="0"/>
                  </a:moveTo>
                  <a:cubicBezTo>
                    <a:pt x="0" y="188"/>
                    <a:pt x="0" y="376"/>
                    <a:pt x="96" y="480"/>
                  </a:cubicBezTo>
                  <a:cubicBezTo>
                    <a:pt x="192" y="584"/>
                    <a:pt x="496" y="600"/>
                    <a:pt x="576" y="624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13" descr="大网格"/>
            <p:cNvSpPr>
              <a:spLocks/>
            </p:cNvSpPr>
            <p:nvPr/>
          </p:nvSpPr>
          <p:spPr bwMode="auto">
            <a:xfrm>
              <a:off x="4073" y="1970"/>
              <a:ext cx="379" cy="370"/>
            </a:xfrm>
            <a:custGeom>
              <a:avLst/>
              <a:gdLst>
                <a:gd name="T0" fmla="*/ 0 w 528"/>
                <a:gd name="T1" fmla="*/ 0 h 528"/>
                <a:gd name="T2" fmla="*/ 96 w 528"/>
                <a:gd name="T3" fmla="*/ 432 h 528"/>
                <a:gd name="T4" fmla="*/ 528 w 528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528">
                  <a:moveTo>
                    <a:pt x="0" y="0"/>
                  </a:moveTo>
                  <a:cubicBezTo>
                    <a:pt x="4" y="172"/>
                    <a:pt x="8" y="344"/>
                    <a:pt x="96" y="432"/>
                  </a:cubicBezTo>
                  <a:cubicBezTo>
                    <a:pt x="184" y="520"/>
                    <a:pt x="356" y="524"/>
                    <a:pt x="528" y="528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Freeform 14" descr="大网格"/>
            <p:cNvSpPr>
              <a:spLocks/>
            </p:cNvSpPr>
            <p:nvPr/>
          </p:nvSpPr>
          <p:spPr bwMode="auto">
            <a:xfrm>
              <a:off x="4205" y="1970"/>
              <a:ext cx="247" cy="275"/>
            </a:xfrm>
            <a:custGeom>
              <a:avLst/>
              <a:gdLst>
                <a:gd name="T0" fmla="*/ 8 w 344"/>
                <a:gd name="T1" fmla="*/ 0 h 392"/>
                <a:gd name="T2" fmla="*/ 56 w 344"/>
                <a:gd name="T3" fmla="*/ 336 h 392"/>
                <a:gd name="T4" fmla="*/ 344 w 344"/>
                <a:gd name="T5" fmla="*/ 33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4" h="392">
                  <a:moveTo>
                    <a:pt x="8" y="0"/>
                  </a:moveTo>
                  <a:cubicBezTo>
                    <a:pt x="4" y="140"/>
                    <a:pt x="0" y="280"/>
                    <a:pt x="56" y="336"/>
                  </a:cubicBezTo>
                  <a:cubicBezTo>
                    <a:pt x="112" y="392"/>
                    <a:pt x="296" y="336"/>
                    <a:pt x="344" y="336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Freeform 15" descr="大网格"/>
            <p:cNvSpPr>
              <a:spLocks/>
            </p:cNvSpPr>
            <p:nvPr/>
          </p:nvSpPr>
          <p:spPr bwMode="auto">
            <a:xfrm>
              <a:off x="3488" y="2004"/>
              <a:ext cx="551" cy="505"/>
            </a:xfrm>
            <a:custGeom>
              <a:avLst/>
              <a:gdLst>
                <a:gd name="T0" fmla="*/ 0 w 768"/>
                <a:gd name="T1" fmla="*/ 720 h 720"/>
                <a:gd name="T2" fmla="*/ 480 w 768"/>
                <a:gd name="T3" fmla="*/ 384 h 720"/>
                <a:gd name="T4" fmla="*/ 768 w 768"/>
                <a:gd name="T5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720">
                  <a:moveTo>
                    <a:pt x="0" y="720"/>
                  </a:moveTo>
                  <a:cubicBezTo>
                    <a:pt x="176" y="612"/>
                    <a:pt x="352" y="504"/>
                    <a:pt x="480" y="384"/>
                  </a:cubicBezTo>
                  <a:cubicBezTo>
                    <a:pt x="608" y="264"/>
                    <a:pt x="688" y="132"/>
                    <a:pt x="768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Freeform 16" descr="大网格"/>
            <p:cNvSpPr>
              <a:spLocks/>
            </p:cNvSpPr>
            <p:nvPr/>
          </p:nvSpPr>
          <p:spPr bwMode="auto">
            <a:xfrm>
              <a:off x="3453" y="1970"/>
              <a:ext cx="724" cy="707"/>
            </a:xfrm>
            <a:custGeom>
              <a:avLst/>
              <a:gdLst>
                <a:gd name="T0" fmla="*/ 0 w 1008"/>
                <a:gd name="T1" fmla="*/ 1008 h 1008"/>
                <a:gd name="T2" fmla="*/ 432 w 1008"/>
                <a:gd name="T3" fmla="*/ 720 h 1008"/>
                <a:gd name="T4" fmla="*/ 768 w 1008"/>
                <a:gd name="T5" fmla="*/ 432 h 1008"/>
                <a:gd name="T6" fmla="*/ 912 w 1008"/>
                <a:gd name="T7" fmla="*/ 192 h 1008"/>
                <a:gd name="T8" fmla="*/ 1008 w 1008"/>
                <a:gd name="T9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8" h="1008">
                  <a:moveTo>
                    <a:pt x="0" y="1008"/>
                  </a:moveTo>
                  <a:cubicBezTo>
                    <a:pt x="152" y="912"/>
                    <a:pt x="304" y="816"/>
                    <a:pt x="432" y="720"/>
                  </a:cubicBezTo>
                  <a:cubicBezTo>
                    <a:pt x="560" y="624"/>
                    <a:pt x="688" y="520"/>
                    <a:pt x="768" y="432"/>
                  </a:cubicBezTo>
                  <a:cubicBezTo>
                    <a:pt x="848" y="344"/>
                    <a:pt x="872" y="264"/>
                    <a:pt x="912" y="192"/>
                  </a:cubicBezTo>
                  <a:cubicBezTo>
                    <a:pt x="952" y="120"/>
                    <a:pt x="992" y="32"/>
                    <a:pt x="1008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Freeform 17" descr="大网格"/>
            <p:cNvSpPr>
              <a:spLocks/>
            </p:cNvSpPr>
            <p:nvPr/>
          </p:nvSpPr>
          <p:spPr bwMode="auto">
            <a:xfrm>
              <a:off x="3522" y="2004"/>
              <a:ext cx="792" cy="808"/>
            </a:xfrm>
            <a:custGeom>
              <a:avLst/>
              <a:gdLst>
                <a:gd name="T0" fmla="*/ 0 w 1104"/>
                <a:gd name="T1" fmla="*/ 1152 h 1152"/>
                <a:gd name="T2" fmla="*/ 432 w 1104"/>
                <a:gd name="T3" fmla="*/ 816 h 1152"/>
                <a:gd name="T4" fmla="*/ 720 w 1104"/>
                <a:gd name="T5" fmla="*/ 528 h 1152"/>
                <a:gd name="T6" fmla="*/ 1104 w 1104"/>
                <a:gd name="T7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4" h="1152">
                  <a:moveTo>
                    <a:pt x="0" y="1152"/>
                  </a:moveTo>
                  <a:cubicBezTo>
                    <a:pt x="156" y="1036"/>
                    <a:pt x="312" y="920"/>
                    <a:pt x="432" y="816"/>
                  </a:cubicBezTo>
                  <a:cubicBezTo>
                    <a:pt x="552" y="712"/>
                    <a:pt x="608" y="664"/>
                    <a:pt x="720" y="528"/>
                  </a:cubicBezTo>
                  <a:cubicBezTo>
                    <a:pt x="832" y="392"/>
                    <a:pt x="968" y="196"/>
                    <a:pt x="1104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Freeform 18" descr="大网格"/>
            <p:cNvSpPr>
              <a:spLocks/>
            </p:cNvSpPr>
            <p:nvPr/>
          </p:nvSpPr>
          <p:spPr bwMode="auto">
            <a:xfrm>
              <a:off x="3625" y="2037"/>
              <a:ext cx="793" cy="842"/>
            </a:xfrm>
            <a:custGeom>
              <a:avLst/>
              <a:gdLst>
                <a:gd name="T0" fmla="*/ 0 w 1104"/>
                <a:gd name="T1" fmla="*/ 1200 h 1200"/>
                <a:gd name="T2" fmla="*/ 432 w 1104"/>
                <a:gd name="T3" fmla="*/ 864 h 1200"/>
                <a:gd name="T4" fmla="*/ 912 w 1104"/>
                <a:gd name="T5" fmla="*/ 384 h 1200"/>
                <a:gd name="T6" fmla="*/ 1104 w 1104"/>
                <a:gd name="T7" fmla="*/ 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4" h="1200">
                  <a:moveTo>
                    <a:pt x="0" y="1200"/>
                  </a:moveTo>
                  <a:cubicBezTo>
                    <a:pt x="140" y="1100"/>
                    <a:pt x="280" y="1000"/>
                    <a:pt x="432" y="864"/>
                  </a:cubicBezTo>
                  <a:cubicBezTo>
                    <a:pt x="584" y="728"/>
                    <a:pt x="800" y="528"/>
                    <a:pt x="912" y="384"/>
                  </a:cubicBezTo>
                  <a:cubicBezTo>
                    <a:pt x="1024" y="240"/>
                    <a:pt x="1064" y="120"/>
                    <a:pt x="1104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Freeform 19" descr="大网格"/>
            <p:cNvSpPr>
              <a:spLocks/>
            </p:cNvSpPr>
            <p:nvPr/>
          </p:nvSpPr>
          <p:spPr bwMode="auto">
            <a:xfrm>
              <a:off x="3832" y="2172"/>
              <a:ext cx="655" cy="707"/>
            </a:xfrm>
            <a:custGeom>
              <a:avLst/>
              <a:gdLst>
                <a:gd name="T0" fmla="*/ 0 w 912"/>
                <a:gd name="T1" fmla="*/ 1008 h 1008"/>
                <a:gd name="T2" fmla="*/ 480 w 912"/>
                <a:gd name="T3" fmla="*/ 576 h 1008"/>
                <a:gd name="T4" fmla="*/ 768 w 912"/>
                <a:gd name="T5" fmla="*/ 240 h 1008"/>
                <a:gd name="T6" fmla="*/ 912 w 912"/>
                <a:gd name="T7" fmla="*/ 0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1008">
                  <a:moveTo>
                    <a:pt x="0" y="1008"/>
                  </a:moveTo>
                  <a:cubicBezTo>
                    <a:pt x="176" y="856"/>
                    <a:pt x="352" y="704"/>
                    <a:pt x="480" y="576"/>
                  </a:cubicBezTo>
                  <a:cubicBezTo>
                    <a:pt x="608" y="448"/>
                    <a:pt x="696" y="336"/>
                    <a:pt x="768" y="240"/>
                  </a:cubicBezTo>
                  <a:cubicBezTo>
                    <a:pt x="840" y="144"/>
                    <a:pt x="876" y="72"/>
                    <a:pt x="912" y="0"/>
                  </a:cubicBez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0" name="Group 41"/>
          <p:cNvGrpSpPr>
            <a:grpSpLocks/>
          </p:cNvGrpSpPr>
          <p:nvPr/>
        </p:nvGrpSpPr>
        <p:grpSpPr bwMode="auto">
          <a:xfrm>
            <a:off x="6932111" y="3238314"/>
            <a:ext cx="4197350" cy="2646363"/>
            <a:chOff x="2930" y="1752"/>
            <a:chExt cx="2644" cy="1667"/>
          </a:xfrm>
        </p:grpSpPr>
        <p:sp>
          <p:nvSpPr>
            <p:cNvPr id="71" name="Line 4"/>
            <p:cNvSpPr>
              <a:spLocks noChangeShapeType="1"/>
            </p:cNvSpPr>
            <p:nvPr/>
          </p:nvSpPr>
          <p:spPr bwMode="auto">
            <a:xfrm flipV="1">
              <a:off x="3271" y="1870"/>
              <a:ext cx="0" cy="137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6"/>
            <p:cNvSpPr>
              <a:spLocks noChangeShapeType="1"/>
            </p:cNvSpPr>
            <p:nvPr/>
          </p:nvSpPr>
          <p:spPr bwMode="auto">
            <a:xfrm>
              <a:off x="2930" y="3116"/>
              <a:ext cx="24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Oval 7" descr="大网格"/>
            <p:cNvSpPr>
              <a:spLocks noChangeArrowheads="1"/>
            </p:cNvSpPr>
            <p:nvPr/>
          </p:nvSpPr>
          <p:spPr bwMode="auto">
            <a:xfrm rot="-2528410">
              <a:off x="3350" y="2105"/>
              <a:ext cx="1205" cy="674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zh-C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bject 25"/>
                <p:cNvSpPr txBox="1"/>
                <p:nvPr/>
              </p:nvSpPr>
              <p:spPr bwMode="auto">
                <a:xfrm>
                  <a:off x="5092" y="3078"/>
                  <a:ext cx="482" cy="3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4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92" y="3078"/>
                  <a:ext cx="482" cy="34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26"/>
                <p:cNvSpPr txBox="1"/>
                <p:nvPr/>
              </p:nvSpPr>
              <p:spPr bwMode="auto">
                <a:xfrm>
                  <a:off x="3033" y="1752"/>
                  <a:ext cx="631" cy="4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5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3" y="1752"/>
                  <a:ext cx="631" cy="420"/>
                </a:xfrm>
                <a:prstGeom prst="rect">
                  <a:avLst/>
                </a:prstGeom>
                <a:blipFill>
                  <a:blip r:embed="rId5"/>
                  <a:stretch>
                    <a:fillRect l="-18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bject 37"/>
                <p:cNvSpPr txBox="1"/>
                <p:nvPr/>
              </p:nvSpPr>
              <p:spPr bwMode="auto">
                <a:xfrm>
                  <a:off x="2997" y="3076"/>
                  <a:ext cx="548" cy="3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97" y="3076"/>
                  <a:ext cx="548" cy="343"/>
                </a:xfrm>
                <a:prstGeom prst="rect">
                  <a:avLst/>
                </a:prstGeom>
                <a:blipFill>
                  <a:blip r:embed="rId6"/>
                  <a:stretch>
                    <a:fillRect l="-21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7" name="Line 29"/>
          <p:cNvSpPr>
            <a:spLocks noChangeShapeType="1"/>
          </p:cNvSpPr>
          <p:nvPr/>
        </p:nvSpPr>
        <p:spPr bwMode="auto">
          <a:xfrm flipH="1" flipV="1">
            <a:off x="8416593" y="4410913"/>
            <a:ext cx="1313445" cy="408363"/>
          </a:xfrm>
          <a:prstGeom prst="line">
            <a:avLst/>
          </a:prstGeom>
          <a:noFill/>
          <a:ln w="28575" cap="sq">
            <a:solidFill>
              <a:srgbClr val="04926A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" name="对象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000522"/>
              </p:ext>
            </p:extLst>
          </p:nvPr>
        </p:nvGraphicFramePr>
        <p:xfrm>
          <a:off x="8318584" y="432665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7" imgW="152280" imgH="190440" progId="Equation.DSMT4">
                  <p:embed/>
                </p:oleObj>
              </mc:Choice>
              <mc:Fallback>
                <p:oleObj name="Equation" r:id="rId7" imgW="152280" imgH="190440" progId="Equation.DSMT4">
                  <p:embed/>
                  <p:pic>
                    <p:nvPicPr>
                      <p:cNvPr id="79" name="对象 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18584" y="4326650"/>
                        <a:ext cx="1524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1505767" y="2096298"/>
                <a:ext cx="9133025" cy="6104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可导出平面薄片对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轴以及原点的转动惯量依次为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767" y="2096298"/>
                <a:ext cx="9133025" cy="6104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553208" y="2537191"/>
                <a:ext cx="4621421" cy="121788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08" y="2537191"/>
                <a:ext cx="4621421" cy="12178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553208" y="3718340"/>
                <a:ext cx="3904617" cy="12533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08" y="3718340"/>
                <a:ext cx="3904617" cy="12533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1553209" y="4840162"/>
                <a:ext cx="4969642" cy="11407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09" y="4840162"/>
                <a:ext cx="4969642" cy="1140760"/>
              </a:xfrm>
              <a:prstGeom prst="rect">
                <a:avLst/>
              </a:prstGeom>
              <a:blipFill>
                <a:blip r:embed="rId12"/>
                <a:stretch>
                  <a:fillRect b="-2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58272CD-1CFD-D0DE-CF61-9FE7C0B8BD61}"/>
                  </a:ext>
                </a:extLst>
              </p:cNvPr>
              <p:cNvSpPr txBox="1"/>
              <p:nvPr/>
            </p:nvSpPr>
            <p:spPr bwMode="auto">
              <a:xfrm>
                <a:off x="1505767" y="850761"/>
                <a:ext cx="9180466" cy="1148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kumimoji="1" lang="zh-CN" alt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设有</m:t>
                    </m:r>
                  </m:oMath>
                </a14:m>
                <a:r>
                  <a:rPr lang="zh-CN" altLang="en-US" sz="2800" dirty="0"/>
                  <a:t>一平面薄片，占有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800" dirty="0"/>
                  <a:t>面上的闭区域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/>
                  <a:t>，在点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处的面密度为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kumimoji="1"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假定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/>
                  <a:t>上连续，则利用元素法，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58272CD-1CFD-D0DE-CF61-9FE7C0B8B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5767" y="850761"/>
                <a:ext cx="9180466" cy="1148969"/>
              </a:xfrm>
              <a:prstGeom prst="rect">
                <a:avLst/>
              </a:prstGeom>
              <a:blipFill>
                <a:blip r:embed="rId13"/>
                <a:stretch>
                  <a:fillRect l="-1328" t="-1596" r="-5312" b="-127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96446B3-827B-D65D-FB87-BCBE16BEBF4D}"/>
                  </a:ext>
                </a:extLst>
              </p:cNvPr>
              <p:cNvSpPr txBox="1"/>
              <p:nvPr/>
            </p:nvSpPr>
            <p:spPr bwMode="auto">
              <a:xfrm>
                <a:off x="9073315" y="4803422"/>
                <a:ext cx="105595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96446B3-827B-D65D-FB87-BCBE16BEB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73315" y="4803422"/>
                <a:ext cx="1055955" cy="461665"/>
              </a:xfrm>
              <a:prstGeom prst="rect">
                <a:avLst/>
              </a:prstGeom>
              <a:blipFill>
                <a:blip r:embed="rId14"/>
                <a:stretch>
                  <a:fillRect b="-19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11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7" grpId="0" animBg="1"/>
      <p:bldP spid="5" grpId="0"/>
      <p:bldP spid="3" grpId="0"/>
      <p:bldP spid="4" grpId="0"/>
      <p:bldP spid="6" grpId="0"/>
      <p:bldP spid="24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199963D-8781-5810-1C6E-3DA9D9FB364C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799C6AD-599F-F533-1550-FA42042BCE3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799C6AD-599F-F533-1550-FA42042BCE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F6A8228C-8E5E-03EC-0AE0-4F537B7EECF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B431F5BC-5DA4-A656-45AB-F6540150D32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237B9A4E-A985-4852-CBDB-F69EFACD609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FC9623C5-4F7A-ACCE-B7E8-7CB766DAF21D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367" name="Text Box 319"/>
          <p:cNvSpPr txBox="1">
            <a:spLocks noChangeArrowheads="1"/>
          </p:cNvSpPr>
          <p:nvPr/>
        </p:nvSpPr>
        <p:spPr bwMode="auto">
          <a:xfrm>
            <a:off x="1246605" y="2062596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1" name="Rectangle 473"/>
              <p:cNvSpPr>
                <a:spLocks noChangeArrowheads="1"/>
              </p:cNvSpPr>
              <p:nvPr/>
            </p:nvSpPr>
            <p:spPr bwMode="auto">
              <a:xfrm>
                <a:off x="1246605" y="647018"/>
                <a:ext cx="9656526" cy="655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求半径为 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的均匀半圆薄片（面密度为常量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）对其直</a:t>
                </a:r>
                <a:endPara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21" name="Rectangle 4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6605" y="647018"/>
                <a:ext cx="9656526" cy="655638"/>
              </a:xfrm>
              <a:prstGeom prst="rect">
                <a:avLst/>
              </a:prstGeom>
              <a:blipFill>
                <a:blip r:embed="rId3"/>
                <a:stretch>
                  <a:fillRect l="-1262" t="-1852" b="-157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2" name="Text Box 474"/>
          <p:cNvSpPr txBox="1">
            <a:spLocks noChangeArrowheads="1"/>
          </p:cNvSpPr>
          <p:nvPr/>
        </p:nvSpPr>
        <p:spPr bwMode="auto">
          <a:xfrm>
            <a:off x="2081444" y="2119760"/>
            <a:ext cx="258639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建立坐标系如图，</a:t>
            </a:r>
            <a:endParaRPr kumimoji="1"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8" name="Text Box 480"/>
          <p:cNvSpPr txBox="1">
            <a:spLocks noChangeArrowheads="1"/>
          </p:cNvSpPr>
          <p:nvPr/>
        </p:nvSpPr>
        <p:spPr bwMode="auto">
          <a:xfrm>
            <a:off x="3757843" y="5720981"/>
            <a:ext cx="274773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为半圆薄片的质量．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4217246" y="1935589"/>
                <a:ext cx="2586395" cy="10153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≥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0 .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2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246" y="1935589"/>
                <a:ext cx="2586395" cy="10153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042756" y="2668078"/>
                <a:ext cx="2586394" cy="10153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756" y="2668078"/>
                <a:ext cx="2586394" cy="10153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599991" y="3570886"/>
                <a:ext cx="2910453" cy="10153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991" y="3570886"/>
                <a:ext cx="2910453" cy="10153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599991" y="4639929"/>
                <a:ext cx="3219784" cy="88640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991" y="4639929"/>
                <a:ext cx="3219784" cy="8864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5614102" y="4658253"/>
                <a:ext cx="3444173" cy="83061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⋅2⋅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102" y="4658253"/>
                <a:ext cx="3444173" cy="8306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273828" y="5536949"/>
                <a:ext cx="1679047" cy="80221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828" y="5536949"/>
                <a:ext cx="1679047" cy="8022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473">
            <a:extLst>
              <a:ext uri="{FF2B5EF4-FFF2-40B4-BE49-F238E27FC236}">
                <a16:creationId xmlns:a16="http://schemas.microsoft.com/office/drawing/2014/main" id="{562FA100-2E1A-CF5A-4452-ECD5F2387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45" y="1294234"/>
            <a:ext cx="3178532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径边的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转动</a:t>
            </a:r>
            <a:r>
              <a:rPr kumimoji="1" lang="zh-CN" altLang="en-US" sz="2800" dirty="0">
                <a:solidFill>
                  <a:srgbClr val="04926A"/>
                </a:solidFill>
                <a:latin typeface="+mn-ea"/>
                <a:ea typeface="+mn-ea"/>
                <a:cs typeface="Times New Roman" panose="02020603050405020304" pitchFamily="18" charset="0"/>
              </a:rPr>
              <a:t>惯量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6" name="图片 15" descr="图示&#10;&#10;描述已自动生成">
            <a:extLst>
              <a:ext uri="{FF2B5EF4-FFF2-40B4-BE49-F238E27FC236}">
                <a16:creationId xmlns:a16="http://schemas.microsoft.com/office/drawing/2014/main" id="{2098EA50-552B-B78B-EEED-0FF40EDDDA9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127" y="2062596"/>
            <a:ext cx="2910453" cy="209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4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7" grpId="0"/>
      <p:bldP spid="2521" grpId="0"/>
      <p:bldP spid="2522" grpId="0"/>
      <p:bldP spid="2528" grpId="0"/>
      <p:bldP spid="2" grpId="0"/>
      <p:bldP spid="4" grpId="0"/>
      <p:bldP spid="5" grpId="0"/>
      <p:bldP spid="6" grpId="0"/>
      <p:bldP spid="7" grpId="0"/>
      <p:bldP spid="8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1406335" y="905505"/>
                <a:ext cx="10414190" cy="18091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若物体为占有空间有界闭区域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处的密度为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假定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上连续，则物体对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轴以及原点的转动惯量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依次为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335" y="905505"/>
                <a:ext cx="10414190" cy="1809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462975" y="2753263"/>
                <a:ext cx="6557985" cy="14567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75" y="2753263"/>
                <a:ext cx="6557985" cy="1456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2462975" y="3924837"/>
                <a:ext cx="6557985" cy="137124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75" y="3924837"/>
                <a:ext cx="6557985" cy="13712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462976" y="5102667"/>
                <a:ext cx="6633399" cy="137124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76" y="5102667"/>
                <a:ext cx="6633399" cy="1371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7">
            <a:extLst>
              <a:ext uri="{FF2B5EF4-FFF2-40B4-BE49-F238E27FC236}">
                <a16:creationId xmlns:a16="http://schemas.microsoft.com/office/drawing/2014/main" id="{A61A8962-0505-08B0-F4EC-889A5C5848E3}"/>
              </a:ext>
            </a:extLst>
          </p:cNvPr>
          <p:cNvSpPr txBox="1">
            <a:spLocks noChangeArrowheads="1"/>
          </p:cNvSpPr>
          <p:nvPr/>
        </p:nvSpPr>
        <p:spPr>
          <a:xfrm>
            <a:off x="1018262" y="511290"/>
            <a:ext cx="4092828" cy="5731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空间物体的转动惯量</a:t>
            </a:r>
          </a:p>
        </p:txBody>
      </p:sp>
    </p:spTree>
    <p:extLst>
      <p:ext uri="{BB962C8B-B14F-4D97-AF65-F5344CB8AC3E}">
        <p14:creationId xmlns:p14="http://schemas.microsoft.com/office/powerpoint/2010/main" val="257761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0657228-3986-5324-F6D8-04A763EE0DEF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09926E3-D068-B5CC-4589-683F35821BBD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09926E3-D068-B5CC-4589-683F35821B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A2A5F11F-DA9D-297A-C6DE-8ABD39D004F5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7FC726E5-5422-0B8B-5DFB-475767BE465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FA070CE1-3A3E-8F27-2014-3DEBB284CC3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0F3D7853-FF03-DDD8-FEDF-518DA1753A6A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1269743" y="1384822"/>
            <a:ext cx="6813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2" name="Object 26"/>
              <p:cNvSpPr txBox="1"/>
              <p:nvPr/>
            </p:nvSpPr>
            <p:spPr bwMode="auto">
              <a:xfrm>
                <a:off x="1985002" y="1976940"/>
                <a:ext cx="6235889" cy="5076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设球所占空间闭区域为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5002" y="1976940"/>
                <a:ext cx="6235889" cy="507657"/>
              </a:xfrm>
              <a:prstGeom prst="rect">
                <a:avLst/>
              </a:prstGeom>
              <a:blipFill>
                <a:blip r:embed="rId3"/>
                <a:stretch>
                  <a:fillRect l="-6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7646561" y="1974186"/>
            <a:ext cx="9989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4" name="Object 28"/>
              <p:cNvSpPr txBox="1"/>
              <p:nvPr/>
            </p:nvSpPr>
            <p:spPr bwMode="auto">
              <a:xfrm>
                <a:off x="2029627" y="2341304"/>
                <a:ext cx="2996006" cy="9968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627" y="2341304"/>
                <a:ext cx="2996006" cy="996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5655165" y="5327978"/>
                <a:ext cx="3982792" cy="83071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为球体的质量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165" y="5327978"/>
                <a:ext cx="3982792" cy="830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28"/>
              <p:cNvSpPr txBox="1"/>
              <p:nvPr/>
            </p:nvSpPr>
            <p:spPr bwMode="auto">
              <a:xfrm>
                <a:off x="2281063" y="4403528"/>
                <a:ext cx="4243562" cy="9026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nary>
                      <m:r>
                        <m:rPr>
                          <m:sty m:val="p"/>
                        </m:rPr>
                        <a:rPr lang="en-US" altLang="zh-CN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0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1063" y="4403528"/>
                <a:ext cx="4243562" cy="9026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28"/>
              <p:cNvSpPr txBox="1"/>
              <p:nvPr/>
            </p:nvSpPr>
            <p:spPr bwMode="auto">
              <a:xfrm>
                <a:off x="2263071" y="5327106"/>
                <a:ext cx="2471912" cy="830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⋅2⋅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1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3071" y="5327106"/>
                <a:ext cx="2471912" cy="8307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4457254" y="5325180"/>
                <a:ext cx="1317848" cy="81446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254" y="5325180"/>
                <a:ext cx="1317848" cy="8144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1269744" y="731663"/>
            <a:ext cx="1082932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endParaRPr lang="zh-CN" altLang="en-US" sz="280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1985002" y="1451527"/>
                <a:ext cx="3501397" cy="44980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取球心为原点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轴为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002" y="1451527"/>
                <a:ext cx="3501397" cy="449802"/>
              </a:xfrm>
              <a:prstGeom prst="rect">
                <a:avLst/>
              </a:prstGeom>
              <a:blipFill>
                <a:blip r:embed="rId9"/>
                <a:stretch>
                  <a:fillRect l="-1220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001635" y="730616"/>
                <a:ext cx="8920622" cy="6460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求密度为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的均匀球体对于过球心的一条轴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的转动惯量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635" y="730616"/>
                <a:ext cx="8920622" cy="6460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281063" y="3289242"/>
                <a:ext cx="7726938" cy="10319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)⋅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063" y="3289242"/>
                <a:ext cx="7726938" cy="10319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10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1" grpId="0"/>
      <p:bldP spid="29722" grpId="0"/>
      <p:bldP spid="29723" grpId="0"/>
      <p:bldP spid="29724" grpId="0"/>
      <p:bldP spid="3" grpId="0"/>
      <p:bldP spid="40" grpId="0"/>
      <p:bldP spid="41" grpId="0"/>
      <p:bldP spid="4" grpId="0"/>
      <p:bldP spid="17" grpId="0"/>
      <p:bldP spid="5" grpId="0"/>
      <p:bldP spid="2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678" name="Object 198"/>
              <p:cNvSpPr txBox="1"/>
              <p:nvPr/>
            </p:nvSpPr>
            <p:spPr bwMode="auto">
              <a:xfrm>
                <a:off x="2503012" y="5746635"/>
                <a:ext cx="6710484" cy="56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678" name="Object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3012" y="5746635"/>
                <a:ext cx="6710484" cy="560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79" name="Text Box 199"/>
              <p:cNvSpPr txBox="1">
                <a:spLocks noChangeArrowheads="1"/>
              </p:cNvSpPr>
              <p:nvPr/>
            </p:nvSpPr>
            <p:spPr bwMode="auto">
              <a:xfrm>
                <a:off x="8724900" y="5839330"/>
                <a:ext cx="269557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kumimoji="1" lang="zh-CN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为引力常数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．</a:t>
                </a:r>
              </a:p>
            </p:txBody>
          </p:sp>
        </mc:Choice>
        <mc:Fallback xmlns="">
          <p:sp>
            <p:nvSpPr>
              <p:cNvPr id="20679" name="Text Box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24900" y="5839330"/>
                <a:ext cx="2695575" cy="523220"/>
              </a:xfrm>
              <a:prstGeom prst="rect">
                <a:avLst/>
              </a:prstGeom>
              <a:blipFill>
                <a:blip r:embed="rId3"/>
                <a:stretch>
                  <a:fillRect t="-16279" r="-2489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0" name="Rectangle 200"/>
          <p:cNvSpPr>
            <a:spLocks noChangeArrowheads="1"/>
          </p:cNvSpPr>
          <p:nvPr/>
        </p:nvSpPr>
        <p:spPr bwMode="auto">
          <a:xfrm>
            <a:off x="883604" y="462456"/>
            <a:ext cx="1935796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五、引力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81" name="Text Box 201"/>
              <p:cNvSpPr txBox="1">
                <a:spLocks noChangeArrowheads="1"/>
              </p:cNvSpPr>
              <p:nvPr/>
            </p:nvSpPr>
            <p:spPr bwMode="auto">
              <a:xfrm>
                <a:off x="1676400" y="1056350"/>
                <a:ext cx="381181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设物体占有空间区域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681" name="Text Box 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1056350"/>
                <a:ext cx="3811812" cy="523220"/>
              </a:xfrm>
              <a:prstGeom prst="rect">
                <a:avLst/>
              </a:prstGeom>
              <a:blipFill>
                <a:blip r:embed="rId4"/>
                <a:stretch>
                  <a:fillRect l="-3200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83" name="Text Box 203"/>
              <p:cNvSpPr txBox="1">
                <a:spLocks noChangeArrowheads="1"/>
              </p:cNvSpPr>
              <p:nvPr/>
            </p:nvSpPr>
            <p:spPr bwMode="auto">
              <a:xfrm>
                <a:off x="1676400" y="1629990"/>
                <a:ext cx="8839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物体对位于点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2800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baseline="-25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baseline="-25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baseline="-25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处的单位质量质点的引力为</a:t>
                </a:r>
              </a:p>
            </p:txBody>
          </p:sp>
        </mc:Choice>
        <mc:Fallback xmlns="">
          <p:sp>
            <p:nvSpPr>
              <p:cNvPr id="20683" name="Text Box 2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1629990"/>
                <a:ext cx="8839200" cy="523220"/>
              </a:xfrm>
              <a:prstGeom prst="rect">
                <a:avLst/>
              </a:prstGeom>
              <a:blipFill>
                <a:blip r:embed="rId5"/>
                <a:stretch>
                  <a:fillRect l="-1379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84" name="Object 204"/>
              <p:cNvSpPr txBox="1"/>
              <p:nvPr/>
            </p:nvSpPr>
            <p:spPr bwMode="auto">
              <a:xfrm>
                <a:off x="3600380" y="2782234"/>
                <a:ext cx="4962595" cy="957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684" name="Object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380" y="2782234"/>
                <a:ext cx="4962595" cy="957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85" name="Object 205"/>
              <p:cNvSpPr txBox="1"/>
              <p:nvPr/>
            </p:nvSpPr>
            <p:spPr bwMode="auto">
              <a:xfrm>
                <a:off x="3600381" y="3775633"/>
                <a:ext cx="4962595" cy="957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685" name="Object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381" y="3775633"/>
                <a:ext cx="4962595" cy="9577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86" name="Object 206"/>
              <p:cNvSpPr txBox="1"/>
              <p:nvPr/>
            </p:nvSpPr>
            <p:spPr bwMode="auto">
              <a:xfrm>
                <a:off x="3600380" y="4733370"/>
                <a:ext cx="4962596" cy="957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686" name="Object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380" y="4733370"/>
                <a:ext cx="4962596" cy="9577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87" name="Text Box 207"/>
              <p:cNvSpPr txBox="1">
                <a:spLocks noChangeArrowheads="1"/>
              </p:cNvSpPr>
              <p:nvPr/>
            </p:nvSpPr>
            <p:spPr bwMode="auto">
              <a:xfrm>
                <a:off x="5326286" y="1070739"/>
                <a:ext cx="490349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其密度函数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连续，</a:t>
                </a:r>
                <a:endParaRPr kumimoji="1"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0687" name="Text Box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6286" y="1070739"/>
                <a:ext cx="4903493" cy="523220"/>
              </a:xfrm>
              <a:prstGeom prst="rect">
                <a:avLst/>
              </a:prstGeom>
              <a:blipFill>
                <a:blip r:embed="rId9"/>
                <a:stretch>
                  <a:fillRect l="-2612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8" name="Text Box 208"/>
          <p:cNvSpPr txBox="1">
            <a:spLocks noChangeArrowheads="1"/>
          </p:cNvSpPr>
          <p:nvPr/>
        </p:nvSpPr>
        <p:spPr bwMode="auto">
          <a:xfrm>
            <a:off x="4164013" y="2210774"/>
            <a:ext cx="533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引力元素在三坐标轴上分量为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0" name="Object 210"/>
              <p:cNvSpPr txBox="1"/>
              <p:nvPr/>
            </p:nvSpPr>
            <p:spPr bwMode="auto">
              <a:xfrm>
                <a:off x="1676400" y="2163288"/>
                <a:ext cx="2487613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690" name="Object 2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2163288"/>
                <a:ext cx="2487613" cy="508000"/>
              </a:xfrm>
              <a:prstGeom prst="rect">
                <a:avLst/>
              </a:prstGeom>
              <a:blipFill>
                <a:blip r:embed="rId10"/>
                <a:stretch>
                  <a:fillRect b="-2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92" name="Text Box 212"/>
          <p:cNvSpPr txBox="1">
            <a:spLocks noChangeArrowheads="1"/>
          </p:cNvSpPr>
          <p:nvPr/>
        </p:nvSpPr>
        <p:spPr bwMode="auto">
          <a:xfrm>
            <a:off x="1676400" y="5868385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4723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78" grpId="0"/>
      <p:bldP spid="20679" grpId="0" build="p" autoUpdateAnimBg="0" advAuto="0"/>
      <p:bldP spid="20680" grpId="0"/>
      <p:bldP spid="20681" grpId="0" autoUpdateAnimBg="0"/>
      <p:bldP spid="20683" grpId="0" autoUpdateAnimBg="0"/>
      <p:bldP spid="20684" grpId="0"/>
      <p:bldP spid="20685" grpId="0"/>
      <p:bldP spid="20686" grpId="0"/>
      <p:bldP spid="20687" grpId="0" autoUpdateAnimBg="0"/>
      <p:bldP spid="20688" grpId="0" autoUpdateAnimBg="0"/>
      <p:bldP spid="20690" grpId="0"/>
      <p:bldP spid="20692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FE9D29-E6AD-8978-35E5-53E116B87439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DF97C87F-2685-A4BE-9B5F-BCF26CB0881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B0C0817-3478-3202-7255-7C9CBD5C76D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7F63EE2-4B7F-D0E0-E0ED-9BCA376813BE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9EA50600-AE1C-EB33-F75D-F61C4781A69B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3F0A8419-FDEA-FBDA-6B01-3B11F48CD8FD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452" name="Object 4"/>
              <p:cNvSpPr txBox="1"/>
              <p:nvPr/>
            </p:nvSpPr>
            <p:spPr bwMode="auto">
              <a:xfrm>
                <a:off x="3354516" y="1286731"/>
                <a:ext cx="5584190" cy="12828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445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4516" y="1286731"/>
                <a:ext cx="5584190" cy="12828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55" name="Text Box 7"/>
          <p:cNvSpPr txBox="1">
            <a:spLocks noChangeArrowheads="1"/>
          </p:cNvSpPr>
          <p:nvPr/>
        </p:nvSpPr>
        <p:spPr bwMode="auto">
          <a:xfrm>
            <a:off x="1676400" y="651673"/>
            <a:ext cx="2877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+mn-ea"/>
              </a:rPr>
              <a:t>因此引力分量为 </a:t>
            </a:r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1676400" y="5248367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+mn-ea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57" name="Object 9"/>
              <p:cNvSpPr txBox="1"/>
              <p:nvPr/>
            </p:nvSpPr>
            <p:spPr bwMode="auto">
              <a:xfrm>
                <a:off x="2466976" y="5150557"/>
                <a:ext cx="6424105" cy="620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445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6976" y="5150557"/>
                <a:ext cx="6424105" cy="620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58" name="Object 10"/>
              <p:cNvSpPr txBox="1"/>
              <p:nvPr/>
            </p:nvSpPr>
            <p:spPr bwMode="auto">
              <a:xfrm>
                <a:off x="3354516" y="2472949"/>
                <a:ext cx="5446584" cy="12828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445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4516" y="2472949"/>
                <a:ext cx="5446584" cy="1282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59" name="Object 11"/>
              <p:cNvSpPr txBox="1"/>
              <p:nvPr/>
            </p:nvSpPr>
            <p:spPr bwMode="auto">
              <a:xfrm>
                <a:off x="3354516" y="3671727"/>
                <a:ext cx="5584190" cy="12828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445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4516" y="3671727"/>
                <a:ext cx="5584190" cy="12828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67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  <p:bldP spid="104455" grpId="0"/>
      <p:bldP spid="104456" grpId="0" build="p" autoUpdateAnimBg="0"/>
      <p:bldP spid="104457" grpId="0"/>
      <p:bldP spid="104458" grpId="0"/>
      <p:bldP spid="10445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Text Box 319"/>
          <p:cNvSpPr txBox="1">
            <a:spLocks noChangeArrowheads="1"/>
          </p:cNvSpPr>
          <p:nvPr/>
        </p:nvSpPr>
        <p:spPr bwMode="auto">
          <a:xfrm>
            <a:off x="1408696" y="2105227"/>
            <a:ext cx="6027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555" name="Rectangle 507"/>
          <p:cNvSpPr>
            <a:spLocks noChangeArrowheads="1"/>
          </p:cNvSpPr>
          <p:nvPr/>
        </p:nvSpPr>
        <p:spPr bwMode="auto">
          <a:xfrm>
            <a:off x="1408696" y="713326"/>
            <a:ext cx="4191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求半径为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的均匀球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6" name="Object 508"/>
              <p:cNvSpPr txBox="1"/>
              <p:nvPr/>
            </p:nvSpPr>
            <p:spPr bwMode="auto">
              <a:xfrm>
                <a:off x="5431288" y="775705"/>
                <a:ext cx="3781425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56" name="Object 5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1288" y="775705"/>
                <a:ext cx="3781425" cy="45402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7" name="Text Box 509"/>
          <p:cNvSpPr txBox="1">
            <a:spLocks noChangeArrowheads="1"/>
          </p:cNvSpPr>
          <p:nvPr/>
        </p:nvSpPr>
        <p:spPr bwMode="auto">
          <a:xfrm>
            <a:off x="8184013" y="813993"/>
            <a:ext cx="1815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对位于点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8" name="Object 510"/>
              <p:cNvSpPr txBox="1"/>
              <p:nvPr/>
            </p:nvSpPr>
            <p:spPr bwMode="auto">
              <a:xfrm>
                <a:off x="2330318" y="1436031"/>
                <a:ext cx="3192168" cy="5893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(0,0,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58" name="Object 5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0318" y="1436031"/>
                <a:ext cx="3192168" cy="589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9" name="Text Box 511"/>
          <p:cNvSpPr txBox="1">
            <a:spLocks noChangeArrowheads="1"/>
          </p:cNvSpPr>
          <p:nvPr/>
        </p:nvSpPr>
        <p:spPr bwMode="auto">
          <a:xfrm>
            <a:off x="5353024" y="1415382"/>
            <a:ext cx="40111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的单位质量质点的引力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" name="Text Box 512"/>
          <p:cNvSpPr txBox="1">
            <a:spLocks noChangeArrowheads="1"/>
          </p:cNvSpPr>
          <p:nvPr/>
        </p:nvSpPr>
        <p:spPr bwMode="auto">
          <a:xfrm>
            <a:off x="2301961" y="2151798"/>
            <a:ext cx="30510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利用对称性知引力分量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" name="Object 513"/>
              <p:cNvSpPr txBox="1"/>
              <p:nvPr/>
            </p:nvSpPr>
            <p:spPr bwMode="auto">
              <a:xfrm>
                <a:off x="5131717" y="2127528"/>
                <a:ext cx="1783433" cy="479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1" name="Object 5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1717" y="2127528"/>
                <a:ext cx="1783433" cy="479425"/>
              </a:xfrm>
              <a:prstGeom prst="rect">
                <a:avLst/>
              </a:prstGeom>
              <a:blipFill>
                <a:blip r:embed="rId5"/>
                <a:stretch>
                  <a:fillRect l="-342" b="-12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2" name="Object 514"/>
              <p:cNvSpPr txBox="1"/>
              <p:nvPr/>
            </p:nvSpPr>
            <p:spPr bwMode="auto">
              <a:xfrm>
                <a:off x="2330318" y="2883164"/>
                <a:ext cx="908182" cy="5458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2" name="Object 5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0318" y="2883164"/>
                <a:ext cx="908182" cy="545836"/>
              </a:xfrm>
              <a:prstGeom prst="rect">
                <a:avLst/>
              </a:prstGeom>
              <a:blipFill>
                <a:blip r:embed="rId6"/>
                <a:stretch>
                  <a:fillRect l="-6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3" name="Object 515"/>
              <p:cNvSpPr txBox="1"/>
              <p:nvPr/>
            </p:nvSpPr>
            <p:spPr bwMode="auto">
              <a:xfrm>
                <a:off x="2349564" y="5036293"/>
                <a:ext cx="2517712" cy="9063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3" name="Object 5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564" y="5036293"/>
                <a:ext cx="2517712" cy="9063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4" name="Object 516"/>
              <p:cNvSpPr txBox="1"/>
              <p:nvPr/>
            </p:nvSpPr>
            <p:spPr bwMode="auto">
              <a:xfrm>
                <a:off x="2866315" y="2617575"/>
                <a:ext cx="4486887" cy="10881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f>
                                    <m:fPr>
                                      <m:type m:val="skw"/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4" name="Object 5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6315" y="2617575"/>
                <a:ext cx="4486887" cy="10881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5" name="Object 517"/>
              <p:cNvSpPr txBox="1"/>
              <p:nvPr/>
            </p:nvSpPr>
            <p:spPr bwMode="auto">
              <a:xfrm>
                <a:off x="2326567" y="3801134"/>
                <a:ext cx="2702633" cy="9663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5" name="Object 5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6567" y="3801134"/>
                <a:ext cx="2702633" cy="9663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6" name="Object 518"/>
              <p:cNvSpPr txBox="1"/>
              <p:nvPr/>
            </p:nvSpPr>
            <p:spPr bwMode="auto">
              <a:xfrm>
                <a:off x="4681637" y="4909272"/>
                <a:ext cx="4341219" cy="12302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f>
                                    <m:fPr>
                                      <m:type m:val="skw"/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6" name="Object 5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1637" y="4909272"/>
                <a:ext cx="4341219" cy="12302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7" name="Object 519"/>
              <p:cNvSpPr txBox="1"/>
              <p:nvPr/>
            </p:nvSpPr>
            <p:spPr bwMode="auto">
              <a:xfrm>
                <a:off x="4656739" y="3725903"/>
                <a:ext cx="3563723" cy="11334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f>
                                    <m:fPr>
                                      <m:type m:val="skw"/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67" name="Object 5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6739" y="3725903"/>
                <a:ext cx="3563723" cy="11334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26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7" grpId="0"/>
      <p:bldP spid="2555" grpId="0"/>
      <p:bldP spid="2556" grpId="0"/>
      <p:bldP spid="2557" grpId="0"/>
      <p:bldP spid="2558" grpId="0"/>
      <p:bldP spid="2559" grpId="0"/>
      <p:bldP spid="2560" grpId="0" autoUpdateAnimBg="0"/>
      <p:bldP spid="2561" grpId="0"/>
      <p:bldP spid="2562" grpId="0"/>
      <p:bldP spid="2563" grpId="0"/>
      <p:bldP spid="2564" grpId="0"/>
      <p:bldP spid="2565" grpId="0"/>
      <p:bldP spid="2566" grpId="0"/>
      <p:bldP spid="256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43B4B81-C0F2-2DB3-BB01-7B376E783BAB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62FF2796-16B2-31C3-F756-9F6503120CC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62FF2796-16B2-31C3-F756-9F6503120C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0265043E-FC78-0E4F-F7FF-6C49685C44B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886BE36B-29B2-F221-670C-DDAEBC43A1C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F7A213A-3326-184C-5E43-1D64516EF29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E9D003ED-3B29-004E-6EE9-717D1347F886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68" name="Object 4"/>
              <p:cNvSpPr txBox="1"/>
              <p:nvPr/>
            </p:nvSpPr>
            <p:spPr bwMode="auto">
              <a:xfrm>
                <a:off x="2219967" y="2530271"/>
                <a:ext cx="1222004" cy="5098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6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967" y="2530271"/>
                <a:ext cx="1222004" cy="509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Object 5"/>
              <p:cNvSpPr txBox="1"/>
              <p:nvPr/>
            </p:nvSpPr>
            <p:spPr bwMode="auto">
              <a:xfrm>
                <a:off x="3262252" y="2264425"/>
                <a:ext cx="5246993" cy="10365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𝑎𝑧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6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2252" y="2264425"/>
                <a:ext cx="5246993" cy="10365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78" name="Group 14"/>
          <p:cNvGrpSpPr>
            <a:grpSpLocks/>
          </p:cNvGrpSpPr>
          <p:nvPr/>
        </p:nvGrpSpPr>
        <p:grpSpPr bwMode="auto">
          <a:xfrm>
            <a:off x="2220211" y="960719"/>
            <a:ext cx="6909392" cy="1095228"/>
            <a:chOff x="863" y="745"/>
            <a:chExt cx="3911" cy="4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0" name="Object 6"/>
                <p:cNvSpPr txBox="1"/>
                <p:nvPr/>
              </p:nvSpPr>
              <p:spPr bwMode="auto">
                <a:xfrm>
                  <a:off x="863" y="811"/>
                  <a:ext cx="1603" cy="3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nary>
                          <m:nary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zh-CN" altLang="en-US"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nary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27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3" y="811"/>
                  <a:ext cx="1603" cy="39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1" name="Object 7"/>
                <p:cNvSpPr txBox="1"/>
                <p:nvPr/>
              </p:nvSpPr>
              <p:spPr bwMode="auto">
                <a:xfrm>
                  <a:off x="2312" y="745"/>
                  <a:ext cx="2462" cy="4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nary>
                        <m:nary>
                          <m:nary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sup>
                          <m:e>
                            <m:f>
                              <m:f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2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fName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  <m:sup>
                                    <m:f>
                                      <m:fPr>
                                        <m:type m:val="skw"/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271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2" y="745"/>
                  <a:ext cx="2462" cy="4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72" name="Object 8"/>
              <p:cNvSpPr txBox="1"/>
              <p:nvPr/>
            </p:nvSpPr>
            <p:spPr bwMode="auto">
              <a:xfrm>
                <a:off x="2219968" y="3300981"/>
                <a:ext cx="5983930" cy="1025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7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968" y="3300981"/>
                <a:ext cx="5983930" cy="10250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3" name="Object 9"/>
              <p:cNvSpPr txBox="1"/>
              <p:nvPr/>
            </p:nvSpPr>
            <p:spPr bwMode="auto">
              <a:xfrm>
                <a:off x="2219968" y="4318873"/>
                <a:ext cx="3609332" cy="9535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7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968" y="4318873"/>
                <a:ext cx="3609332" cy="9535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4" name="Object 10"/>
              <p:cNvSpPr txBox="1"/>
              <p:nvPr/>
            </p:nvSpPr>
            <p:spPr bwMode="auto">
              <a:xfrm>
                <a:off x="5656144" y="4334335"/>
                <a:ext cx="2547753" cy="9208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7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6144" y="4334335"/>
                <a:ext cx="2547753" cy="9208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5" name="Object 11"/>
              <p:cNvSpPr txBox="1"/>
              <p:nvPr/>
            </p:nvSpPr>
            <p:spPr bwMode="auto">
              <a:xfrm>
                <a:off x="2219967" y="5362519"/>
                <a:ext cx="1462790" cy="7694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7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967" y="5362519"/>
                <a:ext cx="1462790" cy="7694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6" name="Object 12"/>
              <p:cNvSpPr txBox="1"/>
              <p:nvPr/>
            </p:nvSpPr>
            <p:spPr bwMode="auto">
              <a:xfrm>
                <a:off x="3441971" y="5315135"/>
                <a:ext cx="1669736" cy="8084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7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971" y="5315135"/>
                <a:ext cx="1669736" cy="8084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4914645" y="5525075"/>
            <a:ext cx="202789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/>
              <a:t>为球的质量．</a:t>
            </a:r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1665263" y="2045683"/>
            <a:ext cx="8856663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37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2" grpId="0"/>
      <p:bldP spid="11273" grpId="0"/>
      <p:bldP spid="11274" grpId="0"/>
      <p:bldP spid="11275" grpId="0"/>
      <p:bldP spid="11276" grpId="0"/>
      <p:bldP spid="11277" grpId="0"/>
      <p:bldP spid="1127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2181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16719</TotalTime>
  <Words>1975</Words>
  <Application>Microsoft Macintosh PowerPoint</Application>
  <PresentationFormat>宽屏</PresentationFormat>
  <Paragraphs>320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Cambria Math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一、微元法的推广</vt:lpstr>
      <vt:lpstr>二、曲面的面积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   计算双曲抛物面</vt:lpstr>
      <vt:lpstr>PowerPoint 演示文稿</vt:lpstr>
      <vt:lpstr>PowerPoint 演示文稿</vt:lpstr>
      <vt:lpstr>PowerPoint 演示文稿</vt:lpstr>
      <vt:lpstr>三、质心</vt:lpstr>
      <vt:lpstr>PowerPoint 演示文稿</vt:lpstr>
      <vt:lpstr>PowerPoint 演示文稿</vt:lpstr>
      <vt:lpstr>例4  求位于两圆</vt:lpstr>
      <vt:lpstr>PowerPoint 演示文稿</vt:lpstr>
      <vt:lpstr>PowerPoint 演示文稿</vt:lpstr>
      <vt:lpstr>PowerPoint 演示文稿</vt:lpstr>
      <vt:lpstr>四、转动惯量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Microsoft Office User</cp:lastModifiedBy>
  <cp:revision>1350</cp:revision>
  <cp:lastPrinted>2022-10-15T07:12:36Z</cp:lastPrinted>
  <dcterms:created xsi:type="dcterms:W3CDTF">2021-12-25T10:05:44Z</dcterms:created>
  <dcterms:modified xsi:type="dcterms:W3CDTF">2023-06-28T02:45:18Z</dcterms:modified>
</cp:coreProperties>
</file>