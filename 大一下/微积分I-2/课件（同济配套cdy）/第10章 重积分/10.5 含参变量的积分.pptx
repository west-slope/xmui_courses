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2"/>
    <p:sldId id="865" r:id="rId3"/>
    <p:sldId id="814" r:id="rId4"/>
    <p:sldId id="817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6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CDE9E1"/>
    <a:srgbClr val="FF00FF"/>
    <a:srgbClr val="0000FF"/>
    <a:srgbClr val="66CCFF"/>
    <a:srgbClr val="99FF99"/>
    <a:srgbClr val="FFCCFF"/>
    <a:srgbClr val="00FFFF"/>
    <a:srgbClr val="0D1C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3AAC4-AEC9-45B6-8129-7AC04A374C48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B50E2-0B44-4175-B25E-BDF40D211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999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E2628-425B-4711-85D1-DD3DDE2BDF3E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5AC77-7EE5-47C0-B214-037F908F1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43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5AC77-7EE5-47C0-B214-037F908F1CB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445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5AC77-7EE5-47C0-B214-037F908F1CB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375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5AC77-7EE5-47C0-B214-037F908F1CB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585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15AC77-7EE5-47C0-B214-037F908F1CB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222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87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70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09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8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12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动作按钮: 后退或前一项 5">
            <a:hlinkClick r:id="" action="ppaction://hlinkshowjump?jump=previousslide" highlightClick="1"/>
          </p:cNvPr>
          <p:cNvSpPr/>
          <p:nvPr/>
        </p:nvSpPr>
        <p:spPr>
          <a:xfrm>
            <a:off x="10566200" y="6366510"/>
            <a:ext cx="360000" cy="360000"/>
          </a:xfrm>
          <a:prstGeom prst="actionButtonBackPrevious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前进或下一项 6">
            <a:hlinkClick r:id="" action="ppaction://hlinkshowjump?jump=nextslide" highlightClick="1"/>
          </p:cNvPr>
          <p:cNvSpPr/>
          <p:nvPr/>
        </p:nvSpPr>
        <p:spPr>
          <a:xfrm>
            <a:off x="11013440" y="6366510"/>
            <a:ext cx="360000" cy="360000"/>
          </a:xfrm>
          <a:prstGeom prst="actionButtonForwardNex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动作按钮: 第一张 7">
            <a:hlinkClick r:id="" action="ppaction://hlinkshowjump?jump=firstslide" highlightClick="1"/>
          </p:cNvPr>
          <p:cNvSpPr/>
          <p:nvPr/>
        </p:nvSpPr>
        <p:spPr>
          <a:xfrm>
            <a:off x="11462820" y="6366510"/>
            <a:ext cx="360000" cy="360000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动作按钮: 后退或前一项 8">
            <a:hlinkClick r:id="" action="ppaction://hlinkshowjump?jump=previousslide" highlightClick="1"/>
          </p:cNvPr>
          <p:cNvSpPr/>
          <p:nvPr userDrawn="1"/>
        </p:nvSpPr>
        <p:spPr>
          <a:xfrm>
            <a:off x="10566200" y="6366510"/>
            <a:ext cx="360000" cy="360000"/>
          </a:xfrm>
          <a:prstGeom prst="actionButtonBackPrevious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动作按钮: 前进或下一项 9">
            <a:hlinkClick r:id="" action="ppaction://hlinkshowjump?jump=nextslide" highlightClick="1"/>
          </p:cNvPr>
          <p:cNvSpPr/>
          <p:nvPr userDrawn="1"/>
        </p:nvSpPr>
        <p:spPr>
          <a:xfrm>
            <a:off x="11013440" y="6366510"/>
            <a:ext cx="360000" cy="360000"/>
          </a:xfrm>
          <a:prstGeom prst="actionButtonForwardNex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动作按钮: 第一张 10">
            <a:hlinkClick r:id="" action="ppaction://hlinkshowjump?jump=firstslide" highlightClick="1"/>
          </p:cNvPr>
          <p:cNvSpPr/>
          <p:nvPr userDrawn="1"/>
        </p:nvSpPr>
        <p:spPr>
          <a:xfrm>
            <a:off x="11462820" y="6366510"/>
            <a:ext cx="360000" cy="360000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棱台 15"/>
          <p:cNvSpPr/>
          <p:nvPr userDrawn="1"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5052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44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1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95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73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84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7519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88686E91-BF23-106E-B349-D2A9B1A71495}"/>
              </a:ext>
            </a:extLst>
          </p:cNvPr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5A763D1-0D1E-6CCD-C7C6-3C21E7B8760C}"/>
              </a:ext>
            </a:extLst>
          </p:cNvPr>
          <p:cNvSpPr/>
          <p:nvPr userDrawn="1"/>
        </p:nvSpPr>
        <p:spPr>
          <a:xfrm rot="2659048">
            <a:off x="103083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9B5360-3751-356B-4A04-82928444B48A}"/>
              </a:ext>
            </a:extLst>
          </p:cNvPr>
          <p:cNvSpPr/>
          <p:nvPr userDrawn="1"/>
        </p:nvSpPr>
        <p:spPr>
          <a:xfrm>
            <a:off x="476828" y="6435405"/>
            <a:ext cx="20858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含参变量的积分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6B518A6-80D7-7215-59DC-D0C55F7E7DD4}"/>
              </a:ext>
            </a:extLst>
          </p:cNvPr>
          <p:cNvSpPr/>
          <p:nvPr userDrawn="1"/>
        </p:nvSpPr>
        <p:spPr>
          <a:xfrm>
            <a:off x="10563485" y="112357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第十章  重积分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2586AEF-9F89-92C5-C89D-576DEA1703FC}"/>
              </a:ext>
            </a:extLst>
          </p:cNvPr>
          <p:cNvCxnSpPr/>
          <p:nvPr userDrawn="1"/>
        </p:nvCxnSpPr>
        <p:spPr>
          <a:xfrm>
            <a:off x="0" y="245253"/>
            <a:ext cx="100203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7DD2CE7F-D6CA-7413-66B8-2EC6BDA4E2DE}"/>
              </a:ext>
            </a:extLst>
          </p:cNvPr>
          <p:cNvCxnSpPr/>
          <p:nvPr userDrawn="1"/>
        </p:nvCxnSpPr>
        <p:spPr>
          <a:xfrm>
            <a:off x="2590800" y="6600825"/>
            <a:ext cx="961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45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6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10.png"/><Relationship Id="rId7" Type="http://schemas.openxmlformats.org/officeDocument/2006/relationships/image" Target="../media/image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1.png"/><Relationship Id="rId3" Type="http://schemas.openxmlformats.org/officeDocument/2006/relationships/image" Target="../media/image10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15" Type="http://schemas.openxmlformats.org/officeDocument/2006/relationships/image" Target="../media/image83.png"/><Relationship Id="rId4" Type="http://schemas.openxmlformats.org/officeDocument/2006/relationships/image" Target="../media/image76.png"/><Relationship Id="rId9" Type="http://schemas.openxmlformats.org/officeDocument/2006/relationships/image" Target="../media/image770.png"/><Relationship Id="rId14" Type="http://schemas.openxmlformats.org/officeDocument/2006/relationships/image" Target="../media/image82.png"/></Relationships>
</file>

<file path=ppt/slides/_rels/slide14.xml.rels><?xml version="1.0" encoding="UTF-8" standalone="yes"?>
<Relationships xmlns="http://schemas.openxmlformats.org/package/2006/relationships"><Relationship Id="rId18" Type="http://schemas.openxmlformats.org/officeDocument/2006/relationships/image" Target="../media/image96.png"/><Relationship Id="rId3" Type="http://schemas.openxmlformats.org/officeDocument/2006/relationships/image" Target="../media/image860.png"/><Relationship Id="rId21" Type="http://schemas.openxmlformats.org/officeDocument/2006/relationships/image" Target="../media/image99.png"/><Relationship Id="rId2" Type="http://schemas.openxmlformats.org/officeDocument/2006/relationships/notesSlide" Target="../notesSlides/notesSlide3.xml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8.png"/><Relationship Id="rId19" Type="http://schemas.openxmlformats.org/officeDocument/2006/relationships/image" Target="../media/image97.png"/><Relationship Id="rId4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0" Type="http://schemas.openxmlformats.org/officeDocument/2006/relationships/image" Target="../media/image127.png"/><Relationship Id="rId4" Type="http://schemas.openxmlformats.org/officeDocument/2006/relationships/image" Target="../media/image121.png"/><Relationship Id="rId9" Type="http://schemas.openxmlformats.org/officeDocument/2006/relationships/image" Target="../media/image1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399663" y="4118384"/>
            <a:ext cx="2469515" cy="1557020"/>
            <a:chOff x="3032" y="6990"/>
            <a:chExt cx="3889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965" y="6486"/>
              <a:ext cx="2023" cy="388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338" y="6990"/>
              <a:ext cx="32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3100" y="8196"/>
              <a:ext cx="3752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59331" y="4118384"/>
            <a:ext cx="2795905" cy="1561109"/>
            <a:chOff x="7155" y="6949"/>
            <a:chExt cx="4403" cy="2458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45" y="6193"/>
              <a:ext cx="2024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719" y="6949"/>
              <a:ext cx="3277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8192" y="8109"/>
              <a:ext cx="232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8065" y="4118384"/>
            <a:ext cx="2080895" cy="1559203"/>
            <a:chOff x="8027" y="6949"/>
            <a:chExt cx="3277" cy="2455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5" y="6745"/>
              <a:ext cx="2041" cy="3277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337" y="6949"/>
              <a:ext cx="2656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本章聚焦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551" y="7873"/>
              <a:ext cx="2240" cy="13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二重积分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三重积分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4020027" y="884555"/>
            <a:ext cx="41519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第十章   重积分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33317" y="4128544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7358085" y="4140609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E2B425-399F-554D-45F0-E467133D88B7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图文框 19"/>
          <p:cNvSpPr/>
          <p:nvPr/>
        </p:nvSpPr>
        <p:spPr>
          <a:xfrm>
            <a:off x="0" y="0"/>
            <a:ext cx="12192001" cy="686915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-1" y="569167"/>
            <a:ext cx="6996701" cy="5718449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7143115" cy="5731549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2"/>
          <p:cNvSpPr/>
          <p:nvPr>
            <p:custDataLst>
              <p:tags r:id="rId1"/>
            </p:custDataLst>
          </p:nvPr>
        </p:nvSpPr>
        <p:spPr>
          <a:xfrm>
            <a:off x="3193962" y="985594"/>
            <a:ext cx="8667480" cy="48894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7" name="PA-文本框 8"/>
          <p:cNvSpPr txBox="1"/>
          <p:nvPr>
            <p:custDataLst>
              <p:tags r:id="rId2"/>
            </p:custDataLst>
          </p:nvPr>
        </p:nvSpPr>
        <p:spPr>
          <a:xfrm>
            <a:off x="763914" y="3419985"/>
            <a:ext cx="243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</a:p>
        </p:txBody>
      </p:sp>
      <p:sp>
        <p:nvSpPr>
          <p:cNvPr id="9" name="PA-矩形 6"/>
          <p:cNvSpPr/>
          <p:nvPr>
            <p:custDataLst>
              <p:tags r:id="rId3"/>
            </p:custDataLst>
          </p:nvPr>
        </p:nvSpPr>
        <p:spPr>
          <a:xfrm>
            <a:off x="70588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825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</a:p>
        </p:txBody>
      </p:sp>
      <p:sp>
        <p:nvSpPr>
          <p:cNvPr id="14" name="矩形 13"/>
          <p:cNvSpPr/>
          <p:nvPr/>
        </p:nvSpPr>
        <p:spPr>
          <a:xfrm>
            <a:off x="824436" y="1860681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第十章</a:t>
            </a:r>
          </a:p>
        </p:txBody>
      </p:sp>
      <p:sp>
        <p:nvSpPr>
          <p:cNvPr id="3" name="矩形 2"/>
          <p:cNvSpPr/>
          <p:nvPr/>
        </p:nvSpPr>
        <p:spPr>
          <a:xfrm>
            <a:off x="5748849" y="1652691"/>
            <a:ext cx="4588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二重积分的概念与性质</a:t>
            </a:r>
          </a:p>
        </p:txBody>
      </p:sp>
      <p:sp>
        <p:nvSpPr>
          <p:cNvPr id="24" name="矩形 23"/>
          <p:cNvSpPr/>
          <p:nvPr/>
        </p:nvSpPr>
        <p:spPr>
          <a:xfrm>
            <a:off x="5748849" y="2437275"/>
            <a:ext cx="38395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二重积分的计算法</a:t>
            </a:r>
          </a:p>
        </p:txBody>
      </p:sp>
      <p:sp>
        <p:nvSpPr>
          <p:cNvPr id="28" name="矩形 27"/>
          <p:cNvSpPr/>
          <p:nvPr/>
        </p:nvSpPr>
        <p:spPr>
          <a:xfrm>
            <a:off x="5748849" y="3221859"/>
            <a:ext cx="2613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三重积分</a:t>
            </a:r>
          </a:p>
        </p:txBody>
      </p:sp>
      <p:sp>
        <p:nvSpPr>
          <p:cNvPr id="29" name="矩形 28"/>
          <p:cNvSpPr/>
          <p:nvPr/>
        </p:nvSpPr>
        <p:spPr>
          <a:xfrm>
            <a:off x="5749162" y="4006443"/>
            <a:ext cx="34567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重积分的应用</a:t>
            </a:r>
          </a:p>
        </p:txBody>
      </p:sp>
      <p:sp>
        <p:nvSpPr>
          <p:cNvPr id="32" name="矩形 31"/>
          <p:cNvSpPr/>
          <p:nvPr/>
        </p:nvSpPr>
        <p:spPr>
          <a:xfrm>
            <a:off x="5749162" y="4791026"/>
            <a:ext cx="3536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第五节   含参变量的积分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>
            <a:cxnSpLocks/>
          </p:cNvCxnSpPr>
          <p:nvPr/>
        </p:nvCxnSpPr>
        <p:spPr>
          <a:xfrm flipH="1">
            <a:off x="5225323" y="1652691"/>
            <a:ext cx="26504" cy="360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0" y="-35820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946315"/>
            <a:ext cx="11536045" cy="354008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829995" y="727441"/>
            <a:ext cx="4532010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含参变量的积分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08F388-E127-1D4C-9428-90D171BA57B8}"/>
              </a:ext>
            </a:extLst>
          </p:cNvPr>
          <p:cNvGrpSpPr/>
          <p:nvPr/>
        </p:nvGrpSpPr>
        <p:grpSpPr>
          <a:xfrm>
            <a:off x="3446206" y="2552465"/>
            <a:ext cx="5299589" cy="901065"/>
            <a:chOff x="3376753" y="2223697"/>
            <a:chExt cx="5299589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3" y="2223697"/>
              <a:ext cx="5299589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412933"/>
              <a:ext cx="485261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一、被积函数含参变量的积分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89B11AD-51E4-B841-A3B7-DEDE8869290F}"/>
              </a:ext>
            </a:extLst>
          </p:cNvPr>
          <p:cNvGrpSpPr/>
          <p:nvPr/>
        </p:nvGrpSpPr>
        <p:grpSpPr>
          <a:xfrm>
            <a:off x="3446206" y="4003086"/>
            <a:ext cx="5299589" cy="901065"/>
            <a:chOff x="3376753" y="3448289"/>
            <a:chExt cx="5299589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3" y="3448289"/>
              <a:ext cx="5299589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460094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二、积分限含参变量的积分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6414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878" y="511297"/>
            <a:ext cx="5638800" cy="60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008000"/>
                  </a:outerShdw>
                </a:effectLst>
              </a14:hiddenEffects>
            </a:ext>
          </a:extLst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一、被积函数含参变量的积分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67" name="Object 7"/>
              <p:cNvSpPr txBox="1"/>
              <p:nvPr/>
            </p:nvSpPr>
            <p:spPr bwMode="auto">
              <a:xfrm>
                <a:off x="1747244" y="1148427"/>
                <a:ext cx="5705475" cy="5960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是矩形域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]×[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16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7244" y="1148427"/>
                <a:ext cx="5705475" cy="59605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168" name="Text Box 8"/>
          <p:cNvSpPr txBox="1">
            <a:spLocks noChangeArrowheads="1"/>
          </p:cNvSpPr>
          <p:nvPr/>
        </p:nvSpPr>
        <p:spPr bwMode="auto">
          <a:xfrm>
            <a:off x="7248525" y="1181477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上的连续函数，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2169" name="Text Box 9"/>
          <p:cNvSpPr txBox="1">
            <a:spLocks noChangeArrowheads="1"/>
          </p:cNvSpPr>
          <p:nvPr/>
        </p:nvSpPr>
        <p:spPr bwMode="auto">
          <a:xfrm>
            <a:off x="1747244" y="1921633"/>
            <a:ext cx="1250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70" name="Object 10"/>
              <p:cNvSpPr txBox="1"/>
              <p:nvPr/>
            </p:nvSpPr>
            <p:spPr bwMode="auto">
              <a:xfrm>
                <a:off x="2823134" y="1680671"/>
                <a:ext cx="2263216" cy="11508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17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23134" y="1680671"/>
                <a:ext cx="2263216" cy="11508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171" name="Text Box 11"/>
              <p:cNvSpPr txBox="1">
                <a:spLocks noChangeArrowheads="1"/>
              </p:cNvSpPr>
              <p:nvPr/>
            </p:nvSpPr>
            <p:spPr bwMode="auto">
              <a:xfrm>
                <a:off x="4906228" y="1945726"/>
                <a:ext cx="546771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确定了一个定义在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上的函数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</a:p>
            </p:txBody>
          </p:sp>
        </mc:Choice>
        <mc:Fallback xmlns="">
          <p:sp>
            <p:nvSpPr>
              <p:cNvPr id="92171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06228" y="1945726"/>
                <a:ext cx="5467715" cy="523220"/>
              </a:xfrm>
              <a:prstGeom prst="rect">
                <a:avLst/>
              </a:prstGeom>
              <a:blipFill>
                <a:blip r:embed="rId4"/>
                <a:stretch>
                  <a:fillRect l="-2341" t="-15116" r="-1226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172" name="Text Box 12"/>
          <p:cNvSpPr txBox="1">
            <a:spLocks noChangeArrowheads="1"/>
          </p:cNvSpPr>
          <p:nvPr/>
        </p:nvSpPr>
        <p:spPr bwMode="auto">
          <a:xfrm>
            <a:off x="1747244" y="2916018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记作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73" name="Object 13"/>
              <p:cNvSpPr txBox="1"/>
              <p:nvPr/>
            </p:nvSpPr>
            <p:spPr bwMode="auto">
              <a:xfrm>
                <a:off x="3520901" y="2630419"/>
                <a:ext cx="3473624" cy="1184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17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20901" y="2630419"/>
                <a:ext cx="3473624" cy="11846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174" name="Text Box 14"/>
              <p:cNvSpPr txBox="1">
                <a:spLocks noChangeArrowheads="1"/>
              </p:cNvSpPr>
              <p:nvPr/>
            </p:nvSpPr>
            <p:spPr bwMode="auto">
              <a:xfrm>
                <a:off x="1747244" y="3764831"/>
                <a:ext cx="658032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称为参变量，上式称为含参变量的积分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92174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7244" y="3764831"/>
                <a:ext cx="6580328" cy="523220"/>
              </a:xfrm>
              <a:prstGeom prst="rect">
                <a:avLst/>
              </a:prstGeom>
              <a:blipFill>
                <a:blip r:embed="rId6"/>
                <a:stretch>
                  <a:fillRect t="-16471" r="-556" b="-3411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175" name="Text Box 15"/>
          <p:cNvSpPr txBox="1">
            <a:spLocks noChangeArrowheads="1"/>
          </p:cNvSpPr>
          <p:nvPr/>
        </p:nvSpPr>
        <p:spPr bwMode="auto">
          <a:xfrm>
            <a:off x="1747244" y="4392195"/>
            <a:ext cx="276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含参积分的性质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77" name="Object 17"/>
              <p:cNvSpPr txBox="1"/>
              <p:nvPr/>
            </p:nvSpPr>
            <p:spPr bwMode="auto">
              <a:xfrm>
                <a:off x="4496206" y="5152699"/>
                <a:ext cx="5828488" cy="6169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在矩形域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]×[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17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6206" y="5152699"/>
                <a:ext cx="5828488" cy="6169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178" name="Text Box 18"/>
          <p:cNvSpPr txBox="1">
            <a:spLocks noChangeArrowheads="1"/>
          </p:cNvSpPr>
          <p:nvPr/>
        </p:nvSpPr>
        <p:spPr bwMode="auto">
          <a:xfrm>
            <a:off x="1747244" y="5745809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上连续</a:t>
            </a:r>
            <a:r>
              <a:rPr kumimoji="1" lang="zh-CN" altLang="en-US" sz="2800" noProof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180" name="Text Box 20"/>
              <p:cNvSpPr txBox="1">
                <a:spLocks noChangeArrowheads="1"/>
              </p:cNvSpPr>
              <p:nvPr/>
            </p:nvSpPr>
            <p:spPr bwMode="auto">
              <a:xfrm>
                <a:off x="3116887" y="5784096"/>
                <a:ext cx="627562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则由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①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确定的含参积分在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]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上连续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92180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16887" y="5784096"/>
                <a:ext cx="6275629" cy="523220"/>
              </a:xfrm>
              <a:prstGeom prst="rect">
                <a:avLst/>
              </a:prstGeom>
              <a:blipFill>
                <a:blip r:embed="rId8"/>
                <a:stretch>
                  <a:fillRect l="-1942" t="-16279" r="-583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182" name="Text Box 22"/>
          <p:cNvSpPr txBox="1">
            <a:spLocks noChangeArrowheads="1"/>
          </p:cNvSpPr>
          <p:nvPr/>
        </p:nvSpPr>
        <p:spPr bwMode="auto">
          <a:xfrm>
            <a:off x="4309964" y="4387246"/>
            <a:ext cx="51315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连续性，可积性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可微性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 </a:t>
            </a:r>
          </a:p>
        </p:txBody>
      </p:sp>
      <p:sp>
        <p:nvSpPr>
          <p:cNvPr id="92185" name="Rectangle 25"/>
          <p:cNvSpPr>
            <a:spLocks noChangeArrowheads="1"/>
          </p:cNvSpPr>
          <p:nvPr/>
        </p:nvSpPr>
        <p:spPr bwMode="auto">
          <a:xfrm>
            <a:off x="6994525" y="2938069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</a:rPr>
              <a:t>①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D364CB8-7BC4-3A14-DA22-03B8ADF17015}"/>
              </a:ext>
            </a:extLst>
          </p:cNvPr>
          <p:cNvGrpSpPr/>
          <p:nvPr/>
        </p:nvGrpSpPr>
        <p:grpSpPr>
          <a:xfrm>
            <a:off x="1747244" y="5162337"/>
            <a:ext cx="2727984" cy="448945"/>
            <a:chOff x="1553" y="3803"/>
            <a:chExt cx="3005" cy="707"/>
          </a:xfrm>
        </p:grpSpPr>
        <p:sp>
          <p:nvSpPr>
            <p:cNvPr id="6" name="圆角矩形 57">
              <a:extLst>
                <a:ext uri="{FF2B5EF4-FFF2-40B4-BE49-F238E27FC236}">
                  <a16:creationId xmlns:a16="http://schemas.microsoft.com/office/drawing/2014/main" id="{230796D7-D1E0-C63F-9D33-65E9C9D4C4AC}"/>
                </a:ext>
              </a:extLst>
            </p:cNvPr>
            <p:cNvSpPr/>
            <p:nvPr/>
          </p:nvSpPr>
          <p:spPr>
            <a:xfrm>
              <a:off x="1553" y="3803"/>
              <a:ext cx="141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EAEFF451-73F0-BAF1-1F1B-E4F236987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" y="3831"/>
              <a:ext cx="2859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  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(</a:t>
              </a: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连续性</a:t>
              </a:r>
              <a:r>
                <a: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2549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1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2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2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2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2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2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2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21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2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92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9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2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nimBg="1"/>
      <p:bldP spid="92167" grpId="0"/>
      <p:bldP spid="92168" grpId="0" build="p" autoUpdateAnimBg="0"/>
      <p:bldP spid="92169" grpId="0" build="p" autoUpdateAnimBg="0"/>
      <p:bldP spid="92170" grpId="0"/>
      <p:bldP spid="92171" grpId="0" build="p" autoUpdateAnimBg="0" advAuto="0"/>
      <p:bldP spid="92172" grpId="0" build="p" autoUpdateAnimBg="0"/>
      <p:bldP spid="92173" grpId="0"/>
      <p:bldP spid="92174" grpId="0" build="p" autoUpdateAnimBg="0"/>
      <p:bldP spid="92175" grpId="0" build="p" autoUpdateAnimBg="0"/>
      <p:bldP spid="92177" grpId="0"/>
      <p:bldP spid="92178" grpId="0" build="p" autoUpdateAnimBg="0" advAuto="0"/>
      <p:bldP spid="92180" grpId="0" build="p" autoUpdateAnimBg="0"/>
      <p:bldP spid="92182" grpId="0" build="p" autoUpdateAnimBg="0"/>
      <p:bldP spid="9218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81BA422-5D4F-EEF0-22B4-6EEF14EE091D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8DAC0A5A-41D6-B005-5A37-A9315930464C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矩形 6">
                  <a:extLst>
                    <a:ext uri="{FF2B5EF4-FFF2-40B4-BE49-F238E27FC236}">
                      <a16:creationId xmlns:a16="http://schemas.microsoft.com/office/drawing/2014/main" id="{8DAC0A5A-41D6-B005-5A37-A931593046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CE82883E-28A0-A4BB-6DC0-BF3D978AB104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30F1ABEA-D82D-2DE4-037A-D30E53644C0A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934D8973-537B-49A2-8F32-A8FC123256B9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D1D0DB00-C065-C57E-2972-F56D1401EC37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7827" y="946293"/>
            <a:ext cx="914400" cy="60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008000"/>
                  </a:outerShdw>
                </a:effectLst>
              </a14:hiddenEffects>
            </a:ext>
          </a:extLst>
        </p:spPr>
        <p:txBody>
          <a:bodyPr>
            <a:normAutofit/>
          </a:bodyPr>
          <a:lstStyle/>
          <a:p>
            <a:pPr algn="l"/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证</a:t>
            </a:r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202" name="Object 18"/>
              <p:cNvSpPr txBox="1"/>
              <p:nvPr/>
            </p:nvSpPr>
            <p:spPr bwMode="auto">
              <a:xfrm>
                <a:off x="2712068" y="895555"/>
                <a:ext cx="1763290" cy="4553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由于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02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2068" y="895555"/>
                <a:ext cx="1763290" cy="455334"/>
              </a:xfrm>
              <a:prstGeom prst="rect">
                <a:avLst/>
              </a:prstGeom>
              <a:blipFill>
                <a:blip r:embed="rId3"/>
                <a:stretch>
                  <a:fillRect l="-2422" b="-12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203" name="Text Box 19"/>
          <p:cNvSpPr txBox="1">
            <a:spLocks noChangeArrowheads="1"/>
          </p:cNvSpPr>
          <p:nvPr/>
        </p:nvSpPr>
        <p:spPr bwMode="auto">
          <a:xfrm>
            <a:off x="4136276" y="932717"/>
            <a:ext cx="458723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在闭区域</a:t>
            </a:r>
            <a:r>
              <a:rPr kumimoji="1" lang="en-US" altLang="zh-CN" sz="2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R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上连续，所以一致连续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3204" name="Text Box 20"/>
          <p:cNvSpPr txBox="1">
            <a:spLocks noChangeArrowheads="1"/>
          </p:cNvSpPr>
          <p:nvPr/>
        </p:nvSpPr>
        <p:spPr bwMode="auto">
          <a:xfrm>
            <a:off x="8447791" y="956429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205" name="Object 21"/>
              <p:cNvSpPr txBox="1"/>
              <p:nvPr/>
            </p:nvSpPr>
            <p:spPr bwMode="auto">
              <a:xfrm>
                <a:off x="2712069" y="1432062"/>
                <a:ext cx="1534690" cy="4406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任给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05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2069" y="1432062"/>
                <a:ext cx="1534690" cy="440682"/>
              </a:xfrm>
              <a:prstGeom prst="rect">
                <a:avLst/>
              </a:prstGeom>
              <a:blipFill>
                <a:blip r:embed="rId4"/>
                <a:stretch>
                  <a:fillRect l="-2778" b="-97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206" name="Object 22"/>
              <p:cNvSpPr txBox="1"/>
              <p:nvPr/>
            </p:nvSpPr>
            <p:spPr bwMode="auto">
              <a:xfrm>
                <a:off x="4051868" y="1426559"/>
                <a:ext cx="1715568" cy="4516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存在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0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1868" y="1426559"/>
                <a:ext cx="1715568" cy="451688"/>
              </a:xfrm>
              <a:prstGeom prst="rect">
                <a:avLst/>
              </a:prstGeom>
              <a:blipFill>
                <a:blip r:embed="rId5"/>
                <a:stretch>
                  <a:fillRect l="-2491" b="-81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207" name="Object 23"/>
              <p:cNvSpPr txBox="1"/>
              <p:nvPr/>
            </p:nvSpPr>
            <p:spPr bwMode="auto">
              <a:xfrm>
                <a:off x="5586558" y="1416938"/>
                <a:ext cx="4230913" cy="4709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内任意两点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0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6558" y="1416938"/>
                <a:ext cx="4230913" cy="470930"/>
              </a:xfrm>
              <a:prstGeom prst="rect">
                <a:avLst/>
              </a:prstGeom>
              <a:blipFill>
                <a:blip r:embed="rId6"/>
                <a:stretch>
                  <a:fillRect l="-865" b="-7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208" name="Text Box 24"/>
          <p:cNvSpPr txBox="1">
            <a:spLocks noChangeArrowheads="1"/>
          </p:cNvSpPr>
          <p:nvPr/>
        </p:nvSpPr>
        <p:spPr bwMode="auto">
          <a:xfrm>
            <a:off x="2712069" y="1962356"/>
            <a:ext cx="75204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只要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209" name="Object 25"/>
              <p:cNvSpPr txBox="1"/>
              <p:nvPr/>
            </p:nvSpPr>
            <p:spPr bwMode="auto">
              <a:xfrm>
                <a:off x="3821780" y="1909457"/>
                <a:ext cx="3936863" cy="5343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09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1780" y="1909457"/>
                <a:ext cx="3936863" cy="53430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210" name="Text Box 26"/>
          <p:cNvSpPr txBox="1">
            <a:spLocks noChangeArrowheads="1"/>
          </p:cNvSpPr>
          <p:nvPr/>
        </p:nvSpPr>
        <p:spPr bwMode="auto">
          <a:xfrm>
            <a:off x="2712069" y="2537853"/>
            <a:ext cx="75204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就有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211" name="Object 27"/>
              <p:cNvSpPr txBox="1"/>
              <p:nvPr/>
            </p:nvSpPr>
            <p:spPr bwMode="auto">
              <a:xfrm>
                <a:off x="3821780" y="2519057"/>
                <a:ext cx="3563819" cy="5129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11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1780" y="2519057"/>
                <a:ext cx="3563819" cy="5129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213" name="Object 29"/>
              <p:cNvSpPr txBox="1"/>
              <p:nvPr/>
            </p:nvSpPr>
            <p:spPr bwMode="auto">
              <a:xfrm>
                <a:off x="2712068" y="3127919"/>
                <a:ext cx="2315740" cy="4645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因此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任给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13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2068" y="3127919"/>
                <a:ext cx="2315740" cy="464592"/>
              </a:xfrm>
              <a:prstGeom prst="rect">
                <a:avLst/>
              </a:prstGeom>
              <a:blipFill>
                <a:blip r:embed="rId9"/>
                <a:stretch>
                  <a:fillRect l="-1842" b="-52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214" name="Object 30"/>
              <p:cNvSpPr txBox="1"/>
              <p:nvPr/>
            </p:nvSpPr>
            <p:spPr bwMode="auto">
              <a:xfrm>
                <a:off x="4747603" y="3148259"/>
                <a:ext cx="1531588" cy="450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存在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14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7603" y="3148259"/>
                <a:ext cx="1531588" cy="450150"/>
              </a:xfrm>
              <a:prstGeom prst="rect">
                <a:avLst/>
              </a:prstGeom>
              <a:blipFill>
                <a:blip r:embed="rId10"/>
                <a:stretch>
                  <a:fillRect l="-2789" b="-81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215" name="Object 31"/>
              <p:cNvSpPr txBox="1"/>
              <p:nvPr/>
            </p:nvSpPr>
            <p:spPr bwMode="auto">
              <a:xfrm>
                <a:off x="6161021" y="3172782"/>
                <a:ext cx="1916004" cy="4645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15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1021" y="3172782"/>
                <a:ext cx="1916004" cy="464592"/>
              </a:xfrm>
              <a:prstGeom prst="rect">
                <a:avLst/>
              </a:prstGeom>
              <a:blipFill>
                <a:blip r:embed="rId11"/>
                <a:stretch>
                  <a:fillRect l="-2229" b="-389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216" name="Text Box 32"/>
          <p:cNvSpPr txBox="1">
            <a:spLocks noChangeArrowheads="1"/>
          </p:cNvSpPr>
          <p:nvPr/>
        </p:nvSpPr>
        <p:spPr bwMode="auto">
          <a:xfrm>
            <a:off x="7867474" y="3182656"/>
            <a:ext cx="90763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就有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217" name="Object 33"/>
              <p:cNvSpPr txBox="1"/>
              <p:nvPr/>
            </p:nvSpPr>
            <p:spPr bwMode="auto">
              <a:xfrm>
                <a:off x="3384264" y="3930258"/>
                <a:ext cx="2742922" cy="5032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17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4264" y="3930258"/>
                <a:ext cx="2742922" cy="503207"/>
              </a:xfrm>
              <a:prstGeom prst="rect">
                <a:avLst/>
              </a:prstGeom>
              <a:blipFill>
                <a:blip r:embed="rId12"/>
                <a:stretch>
                  <a:fillRect b="-24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218" name="Object 34"/>
              <p:cNvSpPr txBox="1"/>
              <p:nvPr/>
            </p:nvSpPr>
            <p:spPr bwMode="auto">
              <a:xfrm>
                <a:off x="5743616" y="3716636"/>
                <a:ext cx="4381066" cy="9247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)]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func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18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43616" y="3716636"/>
                <a:ext cx="4381066" cy="92476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219" name="Object 35"/>
              <p:cNvSpPr txBox="1"/>
              <p:nvPr/>
            </p:nvSpPr>
            <p:spPr bwMode="auto">
              <a:xfrm>
                <a:off x="4051868" y="4496259"/>
                <a:ext cx="4268190" cy="10187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d>
                            <m:dPr>
                              <m:begChr m:val="|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begChr m:val="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19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1868" y="4496259"/>
                <a:ext cx="4268190" cy="101871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220" name="Object 36"/>
              <p:cNvSpPr txBox="1"/>
              <p:nvPr/>
            </p:nvSpPr>
            <p:spPr bwMode="auto">
              <a:xfrm>
                <a:off x="8077024" y="4750995"/>
                <a:ext cx="1553094" cy="4557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20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77024" y="4750995"/>
                <a:ext cx="1553094" cy="455730"/>
              </a:xfrm>
              <a:prstGeom prst="rect">
                <a:avLst/>
              </a:prstGeom>
              <a:blipFill>
                <a:blip r:embed="rId15"/>
                <a:stretch>
                  <a:fillRect b="-12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221" name="Text Box 37"/>
          <p:cNvSpPr txBox="1">
            <a:spLocks noChangeArrowheads="1"/>
          </p:cNvSpPr>
          <p:nvPr/>
        </p:nvSpPr>
        <p:spPr bwMode="auto">
          <a:xfrm>
            <a:off x="2691988" y="5370835"/>
            <a:ext cx="139422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这说明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222" name="Object 38"/>
              <p:cNvSpPr txBox="1"/>
              <p:nvPr/>
            </p:nvSpPr>
            <p:spPr bwMode="auto">
              <a:xfrm>
                <a:off x="3551711" y="5370207"/>
                <a:ext cx="2742922" cy="5083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3222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1711" y="5370207"/>
                <a:ext cx="2742922" cy="508341"/>
              </a:xfrm>
              <a:prstGeom prst="rect">
                <a:avLst/>
              </a:prstGeom>
              <a:blipFill>
                <a:blip r:embed="rId16"/>
                <a:stretch>
                  <a:fillRect l="-444" b="-12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对象 22"/>
              <p:cNvSpPr txBox="1"/>
              <p:nvPr/>
            </p:nvSpPr>
            <p:spPr>
              <a:xfrm>
                <a:off x="6514233" y="5419457"/>
                <a:ext cx="810669" cy="461032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证毕</m:t>
                      </m:r>
                    </m:oMath>
                  </m:oMathPara>
                </a14:m>
                <a:endParaRPr lang="zh-CN" altLang="en-US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对象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4233" y="5419457"/>
                <a:ext cx="810669" cy="461032"/>
              </a:xfrm>
              <a:prstGeom prst="rect">
                <a:avLst/>
              </a:prstGeom>
              <a:blipFill>
                <a:blip r:embed="rId17"/>
                <a:stretch>
                  <a:fillRect l="-5263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443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3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3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3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3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3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32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3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93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93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3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3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3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animBg="1"/>
      <p:bldP spid="93202" grpId="0"/>
      <p:bldP spid="93203" grpId="0"/>
      <p:bldP spid="93204" grpId="0" build="p" autoUpdateAnimBg="0"/>
      <p:bldP spid="93205" grpId="0"/>
      <p:bldP spid="93206" grpId="0"/>
      <p:bldP spid="93207" grpId="0"/>
      <p:bldP spid="93208" grpId="0" build="p" autoUpdateAnimBg="0"/>
      <p:bldP spid="93209" grpId="0"/>
      <p:bldP spid="93210" grpId="0" build="p" autoUpdateAnimBg="0"/>
      <p:bldP spid="93211" grpId="0"/>
      <p:bldP spid="93213" grpId="0"/>
      <p:bldP spid="93214" grpId="0"/>
      <p:bldP spid="93215" grpId="0"/>
      <p:bldP spid="93216" grpId="0" build="p" autoUpdateAnimBg="0" advAuto="0"/>
      <p:bldP spid="93217" grpId="0"/>
      <p:bldP spid="93218" grpId="0"/>
      <p:bldP spid="93219" grpId="0"/>
      <p:bldP spid="93220" grpId="0"/>
      <p:bldP spid="93221" grpId="0" build="p" autoUpdateAnimBg="0"/>
      <p:bldP spid="93222" grpId="0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88F3259A-2944-B356-D0AC-5E006579A723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8" name="PA-102232">
              <a:extLst>
                <a:ext uri="{FF2B5EF4-FFF2-40B4-BE49-F238E27FC236}">
                  <a16:creationId xmlns:a16="http://schemas.microsoft.com/office/drawing/2014/main" id="{826F717F-8FB7-4AAC-FF48-442578FBB21A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F6AC84B-D9AB-E751-60C1-03F4AE3ACC17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91C3793F-9DBC-24B6-43A8-B0F8E654FD7F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F3A1A284-9D5D-7884-8D3B-FB9F6B1BBD1E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0CCE8C27-48FF-671A-EF55-B56CB012EED3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2366257" y="650220"/>
            <a:ext cx="3209925" cy="60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008000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kumimoji="1" lang="zh-CN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定理</a:t>
            </a:r>
            <a:r>
              <a:rPr kumimoji="1" lang="en-US" altLang="zh-CN" b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b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表明，</a:t>
            </a:r>
            <a:endParaRPr kumimoji="1" lang="en-US" altLang="zh-CN" b="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4249032" y="604377"/>
            <a:ext cx="52116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定义在</a:t>
            </a:r>
            <a:r>
              <a:rPr kumimoji="1"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闭矩形域上的连续函数，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4213" name="Text Box 5"/>
          <p:cNvSpPr txBox="1">
            <a:spLocks noChangeArrowheads="1"/>
          </p:cNvSpPr>
          <p:nvPr/>
        </p:nvSpPr>
        <p:spPr bwMode="auto">
          <a:xfrm>
            <a:off x="9084557" y="617209"/>
            <a:ext cx="1695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其极限运 </a:t>
            </a:r>
          </a:p>
        </p:txBody>
      </p:sp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1600249" y="1152020"/>
            <a:ext cx="5340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算与积分运算的顺序是可交换的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215" name="Object 7"/>
              <p:cNvSpPr txBox="1"/>
              <p:nvPr/>
            </p:nvSpPr>
            <p:spPr bwMode="auto">
              <a:xfrm>
                <a:off x="6704037" y="1175657"/>
                <a:ext cx="3404150" cy="6246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即对任意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421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4037" y="1175657"/>
                <a:ext cx="3404150" cy="6246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216" name="Object 8"/>
              <p:cNvSpPr txBox="1"/>
              <p:nvPr/>
            </p:nvSpPr>
            <p:spPr bwMode="auto">
              <a:xfrm>
                <a:off x="2295526" y="1588048"/>
                <a:ext cx="3192438" cy="12110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421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95526" y="1588048"/>
                <a:ext cx="3192438" cy="12110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217" name="Object 9"/>
              <p:cNvSpPr txBox="1"/>
              <p:nvPr/>
            </p:nvSpPr>
            <p:spPr bwMode="auto">
              <a:xfrm>
                <a:off x="4995863" y="1663642"/>
                <a:ext cx="3404150" cy="11040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lim>
                              </m:limLow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fun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421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95863" y="1663642"/>
                <a:ext cx="3404150" cy="11040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218" name="Text Box 10"/>
          <p:cNvSpPr txBox="1">
            <a:spLocks noChangeArrowheads="1"/>
          </p:cNvSpPr>
          <p:nvPr/>
        </p:nvSpPr>
        <p:spPr bwMode="auto">
          <a:xfrm>
            <a:off x="2314624" y="2773637"/>
            <a:ext cx="206979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同理可证，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219" name="Object 11"/>
              <p:cNvSpPr txBox="1"/>
              <p:nvPr/>
            </p:nvSpPr>
            <p:spPr bwMode="auto">
              <a:xfrm>
                <a:off x="4071621" y="2794126"/>
                <a:ext cx="6715442" cy="5819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在矩形域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]×[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421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1621" y="2794126"/>
                <a:ext cx="6715442" cy="5819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220" name="Text Box 12"/>
          <p:cNvSpPr txBox="1">
            <a:spLocks noChangeArrowheads="1"/>
          </p:cNvSpPr>
          <p:nvPr/>
        </p:nvSpPr>
        <p:spPr bwMode="auto">
          <a:xfrm>
            <a:off x="1600249" y="3415754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续，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222" name="Object 14"/>
              <p:cNvSpPr txBox="1"/>
              <p:nvPr/>
            </p:nvSpPr>
            <p:spPr bwMode="auto">
              <a:xfrm>
                <a:off x="3587263" y="3891925"/>
                <a:ext cx="3461238" cy="1089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4222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7263" y="3891925"/>
                <a:ext cx="3461238" cy="10896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223" name="Text Box 15"/>
          <p:cNvSpPr txBox="1">
            <a:spLocks noChangeArrowheads="1"/>
          </p:cNvSpPr>
          <p:nvPr/>
        </p:nvSpPr>
        <p:spPr bwMode="auto">
          <a:xfrm>
            <a:off x="2295526" y="3415754"/>
            <a:ext cx="3028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则含参变量的积分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225" name="Object 17"/>
              <p:cNvSpPr txBox="1"/>
              <p:nvPr/>
            </p:nvSpPr>
            <p:spPr bwMode="auto">
              <a:xfrm>
                <a:off x="1600249" y="4823461"/>
                <a:ext cx="3028950" cy="6038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也在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422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00249" y="4823461"/>
                <a:ext cx="3028950" cy="6038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233" name="Text Box 25"/>
          <p:cNvSpPr txBox="1">
            <a:spLocks noChangeArrowheads="1"/>
          </p:cNvSpPr>
          <p:nvPr/>
        </p:nvSpPr>
        <p:spPr bwMode="auto">
          <a:xfrm>
            <a:off x="2263288" y="5360011"/>
            <a:ext cx="5705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由连续性定理易得下述可积性定理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 </a:t>
            </a:r>
          </a:p>
        </p:txBody>
      </p:sp>
    </p:spTree>
    <p:extLst>
      <p:ext uri="{BB962C8B-B14F-4D97-AF65-F5344CB8AC3E}">
        <p14:creationId xmlns:p14="http://schemas.microsoft.com/office/powerpoint/2010/main" val="780773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42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4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4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4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4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4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4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4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94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 animBg="1"/>
      <p:bldP spid="94212" grpId="0" build="p" autoUpdateAnimBg="0"/>
      <p:bldP spid="94213" grpId="0" build="p" autoUpdateAnimBg="0"/>
      <p:bldP spid="94214" grpId="0" build="p" autoUpdateAnimBg="0" advAuto="0"/>
      <p:bldP spid="94215" grpId="0"/>
      <p:bldP spid="94216" grpId="0"/>
      <p:bldP spid="94217" grpId="0"/>
      <p:bldP spid="94218" grpId="0" build="p" autoUpdateAnimBg="0"/>
      <p:bldP spid="94219" grpId="0"/>
      <p:bldP spid="94220" grpId="0" build="p" autoUpdateAnimBg="0" advAuto="0"/>
      <p:bldP spid="94222" grpId="0"/>
      <p:bldP spid="94223" grpId="0" build="p" autoUpdateAnimBg="0"/>
      <p:bldP spid="94225" grpId="0"/>
      <p:bldP spid="94233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5237" name="Object 4101"/>
              <p:cNvSpPr txBox="1"/>
              <p:nvPr/>
            </p:nvSpPr>
            <p:spPr bwMode="auto">
              <a:xfrm>
                <a:off x="4305671" y="490449"/>
                <a:ext cx="4622337" cy="5280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在矩形域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]×[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5237" name="Object 4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05671" y="490449"/>
                <a:ext cx="4622337" cy="528039"/>
              </a:xfrm>
              <a:prstGeom prst="rect">
                <a:avLst/>
              </a:prstGeom>
              <a:blipFill>
                <a:blip r:embed="rId2"/>
                <a:stretch>
                  <a:fillRect l="-9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238" name="Text Box 4102"/>
          <p:cNvSpPr txBox="1">
            <a:spLocks noChangeArrowheads="1"/>
          </p:cNvSpPr>
          <p:nvPr/>
        </p:nvSpPr>
        <p:spPr bwMode="auto">
          <a:xfrm>
            <a:off x="2862267" y="1231333"/>
            <a:ext cx="131318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上连续</a:t>
            </a:r>
            <a:r>
              <a:rPr kumimoji="1" lang="zh-CN" altLang="en-US" sz="2200" noProof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243" name="Object 4107"/>
              <p:cNvSpPr txBox="1"/>
              <p:nvPr/>
            </p:nvSpPr>
            <p:spPr bwMode="auto">
              <a:xfrm>
                <a:off x="3898747" y="1009024"/>
                <a:ext cx="3013993" cy="9953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5243" name="Object 4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8747" y="1009024"/>
                <a:ext cx="3013993" cy="9953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48" name="Object 4112"/>
              <p:cNvSpPr txBox="1"/>
              <p:nvPr/>
            </p:nvSpPr>
            <p:spPr bwMode="auto">
              <a:xfrm>
                <a:off x="6666249" y="1222093"/>
                <a:ext cx="2413541" cy="430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上可积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5248" name="Object 4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66249" y="1222093"/>
                <a:ext cx="2413541" cy="430887"/>
              </a:xfrm>
              <a:prstGeom prst="rect">
                <a:avLst/>
              </a:prstGeom>
              <a:blipFill>
                <a:blip r:embed="rId4"/>
                <a:stretch>
                  <a:fillRect l="-1772" b="-197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49" name="Object 4113"/>
              <p:cNvSpPr txBox="1"/>
              <p:nvPr/>
            </p:nvSpPr>
            <p:spPr bwMode="auto">
              <a:xfrm>
                <a:off x="2898579" y="1937455"/>
                <a:ext cx="4393373" cy="9953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e>
                      </m:d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5249" name="Object 4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8579" y="1937455"/>
                <a:ext cx="4393373" cy="99536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50" name="Object 4114"/>
              <p:cNvSpPr txBox="1"/>
              <p:nvPr/>
            </p:nvSpPr>
            <p:spPr bwMode="auto">
              <a:xfrm>
                <a:off x="7101757" y="1946980"/>
                <a:ext cx="2413541" cy="10803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5250" name="Object 4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01757" y="1946980"/>
                <a:ext cx="2413541" cy="10803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251" name="Text Box 4115"/>
          <p:cNvSpPr txBox="1">
            <a:spLocks noChangeArrowheads="1"/>
          </p:cNvSpPr>
          <p:nvPr/>
        </p:nvSpPr>
        <p:spPr bwMode="auto">
          <a:xfrm>
            <a:off x="2903774" y="3135170"/>
            <a:ext cx="10310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同样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252" name="Object 4116"/>
              <p:cNvSpPr txBox="1"/>
              <p:nvPr/>
            </p:nvSpPr>
            <p:spPr bwMode="auto">
              <a:xfrm>
                <a:off x="3602519" y="2897556"/>
                <a:ext cx="2777321" cy="9431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l-GR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5252" name="Object 4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2519" y="2897556"/>
                <a:ext cx="2777321" cy="94310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53" name="Object 4117"/>
              <p:cNvSpPr txBox="1"/>
              <p:nvPr/>
            </p:nvSpPr>
            <p:spPr bwMode="auto">
              <a:xfrm>
                <a:off x="6096000" y="3116538"/>
                <a:ext cx="2404513" cy="4522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上可积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5253" name="Object 4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0" y="3116538"/>
                <a:ext cx="2404513" cy="452286"/>
              </a:xfrm>
              <a:prstGeom prst="rect">
                <a:avLst/>
              </a:prstGeom>
              <a:blipFill>
                <a:blip r:embed="rId8"/>
                <a:stretch>
                  <a:fillRect l="-1777" b="-148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54" name="Object 4118"/>
              <p:cNvSpPr txBox="1"/>
              <p:nvPr/>
            </p:nvSpPr>
            <p:spPr bwMode="auto">
              <a:xfrm>
                <a:off x="2898579" y="3841270"/>
                <a:ext cx="4498148" cy="9680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el-GR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𝛹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</m:e>
                      </m:d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5254" name="Object 4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8579" y="3841270"/>
                <a:ext cx="4498148" cy="9680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55" name="Object 4119"/>
              <p:cNvSpPr txBox="1"/>
              <p:nvPr/>
            </p:nvSpPr>
            <p:spPr bwMode="auto">
              <a:xfrm>
                <a:off x="7204741" y="3819071"/>
                <a:ext cx="2404513" cy="10723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5255" name="Object 4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04741" y="3819071"/>
                <a:ext cx="2404513" cy="10723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257" name="Text Box 4121"/>
          <p:cNvSpPr txBox="1">
            <a:spLocks noChangeArrowheads="1"/>
          </p:cNvSpPr>
          <p:nvPr/>
        </p:nvSpPr>
        <p:spPr bwMode="auto">
          <a:xfrm>
            <a:off x="2778729" y="4844561"/>
            <a:ext cx="74558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在定理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的条件下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累次积分可交换求积顺序</a:t>
            </a:r>
            <a:r>
              <a:rPr kumimoji="1" lang="zh-CN" altLang="en-US" sz="2800" noProof="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5258" name="Text Box 4122"/>
          <p:cNvSpPr txBox="1">
            <a:spLocks noChangeArrowheads="1"/>
          </p:cNvSpPr>
          <p:nvPr/>
        </p:nvSpPr>
        <p:spPr bwMode="auto">
          <a:xfrm>
            <a:off x="2826725" y="5711379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259" name="Object 4123"/>
              <p:cNvSpPr txBox="1"/>
              <p:nvPr/>
            </p:nvSpPr>
            <p:spPr bwMode="auto">
              <a:xfrm>
                <a:off x="3162061" y="5506370"/>
                <a:ext cx="2362588" cy="9680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5259" name="Object 4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2061" y="5506370"/>
                <a:ext cx="2362588" cy="9680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260" name="Object 4124"/>
              <p:cNvSpPr txBox="1"/>
              <p:nvPr/>
            </p:nvSpPr>
            <p:spPr bwMode="auto">
              <a:xfrm>
                <a:off x="5465511" y="5488525"/>
                <a:ext cx="2831960" cy="8765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5260" name="Object 41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5511" y="5488525"/>
                <a:ext cx="2831960" cy="8765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2C6BEEA7-B2AB-2F5E-D208-82C3AE916964}"/>
              </a:ext>
            </a:extLst>
          </p:cNvPr>
          <p:cNvGrpSpPr/>
          <p:nvPr/>
        </p:nvGrpSpPr>
        <p:grpSpPr>
          <a:xfrm>
            <a:off x="1597852" y="460691"/>
            <a:ext cx="2707819" cy="448945"/>
            <a:chOff x="1553" y="3803"/>
            <a:chExt cx="3004" cy="707"/>
          </a:xfrm>
        </p:grpSpPr>
        <p:sp>
          <p:nvSpPr>
            <p:cNvPr id="3" name="圆角矩形 57">
              <a:extLst>
                <a:ext uri="{FF2B5EF4-FFF2-40B4-BE49-F238E27FC236}">
                  <a16:creationId xmlns:a16="http://schemas.microsoft.com/office/drawing/2014/main" id="{CDD67718-6E32-FA3C-95E2-175904D0FF36}"/>
                </a:ext>
              </a:extLst>
            </p:cNvPr>
            <p:cNvSpPr/>
            <p:nvPr/>
          </p:nvSpPr>
          <p:spPr>
            <a:xfrm>
              <a:off x="1553" y="3803"/>
              <a:ext cx="14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1854E5A4-9559-0885-BDF2-5031A5D401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" y="3831"/>
              <a:ext cx="285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2   </a:t>
              </a:r>
              <a:r>
                <a:rPr lang="en-US" altLang="zh-CN" sz="2800" b="0" dirty="0">
                  <a:solidFill>
                    <a:srgbClr val="04926A"/>
                  </a:solidFill>
                  <a:ea typeface="黑体" panose="02010609060101010101" pitchFamily="49" charset="-122"/>
                </a:rPr>
                <a:t>(</a:t>
              </a:r>
              <a:r>
                <a:rPr lang="zh-CN" altLang="en-US" sz="2800" b="0" dirty="0">
                  <a:solidFill>
                    <a:srgbClr val="04926A"/>
                  </a:solidFill>
                  <a:ea typeface="黑体" panose="02010609060101010101" pitchFamily="49" charset="-122"/>
                </a:rPr>
                <a:t>可积性</a:t>
              </a:r>
              <a:r>
                <a:rPr lang="en-US" altLang="zh-CN" sz="2800" b="0" dirty="0">
                  <a:solidFill>
                    <a:srgbClr val="04926A"/>
                  </a:solidFill>
                  <a:ea typeface="黑体" panose="02010609060101010101" pitchFamily="49" charset="-122"/>
                </a:rPr>
                <a:t>)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4034BBC7-5318-9227-621C-2A8D7AA9D9AE}"/>
              </a:ext>
            </a:extLst>
          </p:cNvPr>
          <p:cNvGrpSpPr/>
          <p:nvPr/>
        </p:nvGrpSpPr>
        <p:grpSpPr>
          <a:xfrm>
            <a:off x="1597852" y="4886593"/>
            <a:ext cx="1169122" cy="448945"/>
            <a:chOff x="1553" y="3803"/>
            <a:chExt cx="1297" cy="707"/>
          </a:xfrm>
        </p:grpSpPr>
        <p:sp>
          <p:nvSpPr>
            <p:cNvPr id="6" name="圆角矩形 57">
              <a:extLst>
                <a:ext uri="{FF2B5EF4-FFF2-40B4-BE49-F238E27FC236}">
                  <a16:creationId xmlns:a16="http://schemas.microsoft.com/office/drawing/2014/main" id="{90E53FFF-9D5A-548C-FDB4-D14AEA37BD13}"/>
                </a:ext>
              </a:extLst>
            </p:cNvPr>
            <p:cNvSpPr/>
            <p:nvPr/>
          </p:nvSpPr>
          <p:spPr>
            <a:xfrm>
              <a:off x="1553" y="3803"/>
              <a:ext cx="129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28AD894E-02C0-4480-6E8B-4B03433B3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" y="3831"/>
              <a:ext cx="101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推论 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137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5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5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5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5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5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5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5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5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95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5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95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95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5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7" grpId="0"/>
      <p:bldP spid="95238" grpId="0" build="p" autoUpdateAnimBg="0" advAuto="0"/>
      <p:bldP spid="95243" grpId="0"/>
      <p:bldP spid="95248" grpId="0"/>
      <p:bldP spid="95249" grpId="0"/>
      <p:bldP spid="95250" grpId="0"/>
      <p:bldP spid="95251" grpId="0" build="p" autoUpdateAnimBg="0"/>
      <p:bldP spid="95252" grpId="0"/>
      <p:bldP spid="95253" grpId="0"/>
      <p:bldP spid="95254" grpId="0"/>
      <p:bldP spid="95255" grpId="0"/>
      <p:bldP spid="95257" grpId="0" build="p" autoUpdateAnimBg="0"/>
      <p:bldP spid="95258" grpId="0" build="p" autoUpdateAnimBg="0"/>
      <p:bldP spid="95259" grpId="0"/>
      <p:bldP spid="9526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6C2A7D17-5D59-A28B-6402-8A23A1E50D75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3" name="PA-102232">
              <a:extLst>
                <a:ext uri="{FF2B5EF4-FFF2-40B4-BE49-F238E27FC236}">
                  <a16:creationId xmlns:a16="http://schemas.microsoft.com/office/drawing/2014/main" id="{B180E49F-1079-2454-D3FA-4F4240C28F2D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08FCBE3D-AF36-FE1D-CD88-2193226F9DBA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D71781FF-2518-860C-E8C7-67CC122ABAD2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748A8745-A00A-AAD0-0D25-B7AE6C21F4D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2CBAF042-F9A8-CC6B-6BCF-C5F65A6F1568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331" name="Object 3"/>
              <p:cNvSpPr txBox="1"/>
              <p:nvPr/>
            </p:nvSpPr>
            <p:spPr bwMode="auto">
              <a:xfrm>
                <a:off x="4598321" y="796385"/>
                <a:ext cx="4621879" cy="6107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及其偏导数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933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8321" y="796385"/>
                <a:ext cx="4621879" cy="6107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348" name="Text Box 20"/>
          <p:cNvSpPr txBox="1">
            <a:spLocks noChangeArrowheads="1"/>
          </p:cNvSpPr>
          <p:nvPr/>
        </p:nvSpPr>
        <p:spPr bwMode="auto">
          <a:xfrm>
            <a:off x="9022427" y="812364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都在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351" name="Object 23"/>
              <p:cNvSpPr txBox="1"/>
              <p:nvPr/>
            </p:nvSpPr>
            <p:spPr bwMode="auto">
              <a:xfrm>
                <a:off x="1794932" y="1721832"/>
                <a:ext cx="5186894" cy="5673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矩形域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]×[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9351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4932" y="1721832"/>
                <a:ext cx="5186894" cy="5673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353" name="Object 25"/>
              <p:cNvSpPr txBox="1"/>
              <p:nvPr/>
            </p:nvSpPr>
            <p:spPr bwMode="auto">
              <a:xfrm>
                <a:off x="6769494" y="1476296"/>
                <a:ext cx="4912189" cy="1092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9353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69494" y="1476296"/>
                <a:ext cx="4912189" cy="1092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354" name="Object 26"/>
              <p:cNvSpPr txBox="1"/>
              <p:nvPr/>
            </p:nvSpPr>
            <p:spPr bwMode="auto">
              <a:xfrm>
                <a:off x="1794931" y="2512560"/>
                <a:ext cx="3005669" cy="5185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上可微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且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9354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4931" y="2512560"/>
                <a:ext cx="3005669" cy="5185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355" name="Object 27"/>
              <p:cNvSpPr txBox="1"/>
              <p:nvPr/>
            </p:nvSpPr>
            <p:spPr bwMode="auto">
              <a:xfrm>
                <a:off x="2331506" y="3068407"/>
                <a:ext cx="3911819" cy="12142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9355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31506" y="3068407"/>
                <a:ext cx="3911819" cy="12142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356" name="Object 28"/>
              <p:cNvSpPr txBox="1"/>
              <p:nvPr/>
            </p:nvSpPr>
            <p:spPr bwMode="auto">
              <a:xfrm>
                <a:off x="6081400" y="3069424"/>
                <a:ext cx="2700650" cy="10921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9356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81400" y="3069424"/>
                <a:ext cx="2700650" cy="10921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357" name="Text Box 29"/>
          <p:cNvSpPr txBox="1">
            <a:spLocks noChangeArrowheads="1"/>
          </p:cNvSpPr>
          <p:nvPr/>
        </p:nvSpPr>
        <p:spPr bwMode="auto">
          <a:xfrm>
            <a:off x="1794931" y="4523157"/>
            <a:ext cx="12025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358" name="Object 30"/>
              <p:cNvSpPr txBox="1"/>
              <p:nvPr/>
            </p:nvSpPr>
            <p:spPr bwMode="auto">
              <a:xfrm>
                <a:off x="2857271" y="4350490"/>
                <a:ext cx="2972030" cy="9192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200" i="1" dirty="0" smtClean="0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g</m:t>
                      </m:r>
                      <m:r>
                        <a:rPr lang="en-US" altLang="zh-CN" sz="22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9358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7271" y="4350490"/>
                <a:ext cx="2972030" cy="91928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360" name="Object 32"/>
              <p:cNvSpPr txBox="1"/>
              <p:nvPr/>
            </p:nvSpPr>
            <p:spPr bwMode="auto">
              <a:xfrm>
                <a:off x="5617700" y="4606967"/>
                <a:ext cx="316435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m:rPr>
                          <m:nor/>
                        </m:rPr>
                        <a:rPr lang="en-US" altLang="zh-CN" sz="2200" i="1" dirty="0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g</m:t>
                      </m:r>
                      <m:r>
                        <a:rPr lang="en-US" altLang="zh-CN" sz="22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上的连续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9360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7700" y="4606967"/>
                <a:ext cx="3164350" cy="431800"/>
              </a:xfrm>
              <a:prstGeom prst="rect">
                <a:avLst/>
              </a:prstGeom>
              <a:blipFill>
                <a:blip r:embed="rId11"/>
                <a:stretch>
                  <a:fillRect l="-1349"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361" name="Text Box 33"/>
          <p:cNvSpPr txBox="1">
            <a:spLocks noChangeArrowheads="1"/>
          </p:cNvSpPr>
          <p:nvPr/>
        </p:nvSpPr>
        <p:spPr bwMode="auto">
          <a:xfrm>
            <a:off x="2503120" y="5269772"/>
            <a:ext cx="103105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函数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362" name="Object 34"/>
              <p:cNvSpPr txBox="1"/>
              <p:nvPr/>
            </p:nvSpPr>
            <p:spPr bwMode="auto">
              <a:xfrm>
                <a:off x="3252932" y="5279297"/>
                <a:ext cx="25781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故当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9362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52932" y="5279297"/>
                <a:ext cx="2578100" cy="431800"/>
              </a:xfrm>
              <a:prstGeom prst="rect">
                <a:avLst/>
              </a:prstGeom>
              <a:blipFill>
                <a:blip r:embed="rId12"/>
                <a:stretch>
                  <a:fillRect l="-1655" b="-197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9F26058D-68EE-2401-CC60-44BCE9867FB3}"/>
              </a:ext>
            </a:extLst>
          </p:cNvPr>
          <p:cNvGrpSpPr/>
          <p:nvPr/>
        </p:nvGrpSpPr>
        <p:grpSpPr>
          <a:xfrm>
            <a:off x="1794931" y="838558"/>
            <a:ext cx="2700608" cy="448945"/>
            <a:chOff x="1553" y="3803"/>
            <a:chExt cx="2996" cy="707"/>
          </a:xfrm>
        </p:grpSpPr>
        <p:sp>
          <p:nvSpPr>
            <p:cNvPr id="3" name="圆角矩形 57">
              <a:extLst>
                <a:ext uri="{FF2B5EF4-FFF2-40B4-BE49-F238E27FC236}">
                  <a16:creationId xmlns:a16="http://schemas.microsoft.com/office/drawing/2014/main" id="{CD388129-44EF-4E43-6856-017267B89058}"/>
                </a:ext>
              </a:extLst>
            </p:cNvPr>
            <p:cNvSpPr/>
            <p:nvPr/>
          </p:nvSpPr>
          <p:spPr>
            <a:xfrm>
              <a:off x="1553" y="3803"/>
              <a:ext cx="14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293E0BB9-65B1-0AE4-CFE9-B7DDBE9E92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" y="3831"/>
              <a:ext cx="2850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   </a:t>
              </a:r>
              <a:r>
                <a:rPr lang="en-US" altLang="zh-CN" b="0" dirty="0">
                  <a:solidFill>
                    <a:srgbClr val="04926A"/>
                  </a:solidFill>
                  <a:latin typeface="Cambria Math" panose="02040503050406030204" pitchFamily="18" charset="0"/>
                  <a:ea typeface="+mn-ea"/>
                  <a:cs typeface="+mn-cs"/>
                </a:rPr>
                <a:t>(</a:t>
              </a:r>
              <a:r>
                <a:rPr lang="zh-CN" altLang="en-US" b="0" dirty="0">
                  <a:solidFill>
                    <a:srgbClr val="04926A"/>
                  </a:solidFill>
                  <a:latin typeface="Cambria Math" panose="02040503050406030204" pitchFamily="18" charset="0"/>
                  <a:ea typeface="+mn-ea"/>
                  <a:cs typeface="+mn-cs"/>
                </a:rPr>
                <a:t>可微性</a:t>
              </a:r>
              <a:r>
                <a:rPr lang="en-US" altLang="zh-CN" b="0" dirty="0">
                  <a:solidFill>
                    <a:srgbClr val="04926A"/>
                  </a:solidFill>
                  <a:latin typeface="Cambria Math" panose="02040503050406030204" pitchFamily="18" charset="0"/>
                  <a:ea typeface="+mn-ea"/>
                  <a:cs typeface="+mn-cs"/>
                </a:rPr>
                <a:t>)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3220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9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9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93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/>
      <p:bldP spid="99348" grpId="0" build="p" autoUpdateAnimBg="0"/>
      <p:bldP spid="99351" grpId="0"/>
      <p:bldP spid="99353" grpId="0"/>
      <p:bldP spid="99354" grpId="0"/>
      <p:bldP spid="99355" grpId="0"/>
      <p:bldP spid="99356" grpId="0"/>
      <p:bldP spid="99357" grpId="0" build="p" autoUpdateAnimBg="0"/>
      <p:bldP spid="99358" grpId="0"/>
      <p:bldP spid="99360" grpId="0"/>
      <p:bldP spid="99361" grpId="0" build="p" autoUpdateAnimBg="0" advAuto="0"/>
      <p:bldP spid="993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E60F29F1-26F4-F5C8-6E2C-07C85E89381F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2" name="PA-102232">
              <a:extLst>
                <a:ext uri="{FF2B5EF4-FFF2-40B4-BE49-F238E27FC236}">
                  <a16:creationId xmlns:a16="http://schemas.microsoft.com/office/drawing/2014/main" id="{18BFD419-A527-0BAB-6566-D84C9EC6DC1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19603194-C39D-166E-6BC8-3F66FC7C072D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32EAAA29-3B5A-C340-CF27-4CB8AD724D22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C325D0EA-B23D-8C04-A78F-93676D5BF2E1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A4590A05-BEC2-8B4E-C2B9-06FD94FF85B3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363" name="Object 35"/>
              <p:cNvSpPr txBox="1"/>
              <p:nvPr/>
            </p:nvSpPr>
            <p:spPr bwMode="auto">
              <a:xfrm>
                <a:off x="2408194" y="960836"/>
                <a:ext cx="1563731" cy="8429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altLang="zh-CN" sz="2200" i="1" dirty="0">
                              <a:latin typeface="Cambria Math" panose="02040503050406030204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g</m:t>
                          </m:r>
                          <m:r>
                            <a:rPr lang="en-US" altLang="zh-CN" sz="22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charset="0"/>
                            </a:rPr>
                            <m:t> 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9363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8194" y="960836"/>
                <a:ext cx="1563731" cy="8429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364" name="Object 36"/>
              <p:cNvSpPr txBox="1"/>
              <p:nvPr/>
            </p:nvSpPr>
            <p:spPr bwMode="auto">
              <a:xfrm>
                <a:off x="3837728" y="951194"/>
                <a:ext cx="3277447" cy="897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e>
                      </m:d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9364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37728" y="951194"/>
                <a:ext cx="3277447" cy="8971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365" name="Object 37"/>
              <p:cNvSpPr txBox="1"/>
              <p:nvPr/>
            </p:nvSpPr>
            <p:spPr bwMode="auto">
              <a:xfrm>
                <a:off x="3837726" y="1930705"/>
                <a:ext cx="3677499" cy="10046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</m:e>
                      </m:d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9365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37726" y="1930705"/>
                <a:ext cx="3677499" cy="10046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3837727" y="2855809"/>
                <a:ext cx="3599090" cy="92298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d>
                            <m:dPr>
                              <m:begChr m:val="["/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"/>
                          <m:endChr m:val="]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7727" y="2855809"/>
                <a:ext cx="3599090" cy="9229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7319158" y="3087150"/>
                <a:ext cx="2196317" cy="40200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158" y="3087150"/>
                <a:ext cx="2196317" cy="402006"/>
              </a:xfrm>
              <a:prstGeom prst="rect">
                <a:avLst/>
              </a:prstGeom>
              <a:blipFill>
                <a:blip r:embed="rId7"/>
                <a:stretch>
                  <a:fillRect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15"/>
          <p:cNvSpPr txBox="1">
            <a:spLocks noChangeArrowheads="1"/>
          </p:cNvSpPr>
          <p:nvPr/>
        </p:nvSpPr>
        <p:spPr bwMode="auto">
          <a:xfrm>
            <a:off x="2404107" y="4642614"/>
            <a:ext cx="674415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此定理说明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</a:rPr>
              <a:t>被积函数及其偏导数在闭矩形域上连续 </a:t>
            </a:r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2418175" y="5143801"/>
            <a:ext cx="7489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时，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2879158" y="5159689"/>
            <a:ext cx="455765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求导与求积运算是可以交换顺序的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408194" y="3722993"/>
                <a:ext cx="4260905" cy="92298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200" i="1" dirty="0">
                          <a:latin typeface="Cambria Math" panose="02040503050406030204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g</m:t>
                      </m:r>
                      <m:r>
                        <a:rPr lang="en-US" altLang="zh-CN" sz="22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194" y="3722993"/>
                <a:ext cx="4260905" cy="9229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22">
                <a:extLst>
                  <a:ext uri="{FF2B5EF4-FFF2-40B4-BE49-F238E27FC236}">
                    <a16:creationId xmlns:a16="http://schemas.microsoft.com/office/drawing/2014/main" id="{CDDE57B2-1317-368C-C872-8AC4A71B8287}"/>
                  </a:ext>
                </a:extLst>
              </p:cNvPr>
              <p:cNvSpPr txBox="1"/>
              <p:nvPr/>
            </p:nvSpPr>
            <p:spPr>
              <a:xfrm>
                <a:off x="7515225" y="4006840"/>
                <a:ext cx="810669" cy="461032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证毕</m:t>
                      </m:r>
                    </m:oMath>
                  </m:oMathPara>
                </a14:m>
                <a:endParaRPr lang="zh-CN" altLang="en-US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对象 22">
                <a:extLst>
                  <a:ext uri="{FF2B5EF4-FFF2-40B4-BE49-F238E27FC236}">
                    <a16:creationId xmlns:a16="http://schemas.microsoft.com/office/drawing/2014/main" id="{CDDE57B2-1317-368C-C872-8AC4A71B8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225" y="4006840"/>
                <a:ext cx="810669" cy="461032"/>
              </a:xfrm>
              <a:prstGeom prst="rect">
                <a:avLst/>
              </a:prstGeom>
              <a:blipFill>
                <a:blip r:embed="rId9"/>
                <a:stretch>
                  <a:fillRect l="-5263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111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9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63" grpId="0"/>
      <p:bldP spid="99364" grpId="0"/>
      <p:bldP spid="99365" grpId="0"/>
      <p:bldP spid="3" grpId="0"/>
      <p:bldP spid="4" grpId="0"/>
      <p:bldP spid="21" grpId="0" build="p" autoUpdateAnimBg="0"/>
      <p:bldP spid="22" grpId="0" build="p" autoUpdateAnimBg="0" advAuto="0"/>
      <p:bldP spid="23" grpId="0" build="p" autoUpdateAnimBg="0" advAuto="0"/>
      <p:bldP spid="2" grpId="0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8AD8D6E-7D5F-C4B5-6FA0-907505058596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EC69E4EB-AD79-1DFF-84C5-9FBE9E6106D1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EC69E4EB-AD79-1DFF-84C5-9FBE9E6106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BAE12ACC-4444-C538-3767-4FE394EAEE68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9000D112-E87B-CE72-32ED-D36A77E30C62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69D9D262-6E70-7086-E784-AA4926CA6448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BE8FA7BB-5335-8B84-6A0E-436738999D89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63317" y="895191"/>
            <a:ext cx="1066800" cy="685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008000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283" name="Object 3"/>
              <p:cNvSpPr txBox="1"/>
              <p:nvPr/>
            </p:nvSpPr>
            <p:spPr bwMode="auto">
              <a:xfrm>
                <a:off x="3019099" y="574210"/>
                <a:ext cx="5707966" cy="11035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p>
                            </m:num>
                            <m:den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</m:den>
                          </m:f>
                        </m:e>
                      </m:nary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 (0&lt;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728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9099" y="574210"/>
                <a:ext cx="5707966" cy="11035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2163317" y="1751883"/>
            <a:ext cx="665567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286" name="Object 6"/>
              <p:cNvSpPr txBox="1"/>
              <p:nvPr/>
            </p:nvSpPr>
            <p:spPr bwMode="auto">
              <a:xfrm>
                <a:off x="3019099" y="2292152"/>
                <a:ext cx="1248101" cy="9778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nary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728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9099" y="2292152"/>
                <a:ext cx="1248101" cy="9778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287" name="Text Box 7"/>
          <p:cNvSpPr txBox="1">
            <a:spLocks noChangeArrowheads="1"/>
          </p:cNvSpPr>
          <p:nvPr/>
        </p:nvSpPr>
        <p:spPr bwMode="auto">
          <a:xfrm>
            <a:off x="3019099" y="1740947"/>
            <a:ext cx="376270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由被积函数的特点想到积分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288" name="Object 8"/>
              <p:cNvSpPr txBox="1"/>
              <p:nvPr/>
            </p:nvSpPr>
            <p:spPr bwMode="auto">
              <a:xfrm>
                <a:off x="4112622" y="2240405"/>
                <a:ext cx="1392474" cy="951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p>
                                  </m:sSup>
                                </m:num>
                                <m:den>
                                  <m:func>
                                    <m:func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ln</m:t>
                                      </m:r>
                                    </m:fName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728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2622" y="2240405"/>
                <a:ext cx="1392474" cy="9514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289" name="Object 9"/>
              <p:cNvSpPr txBox="1"/>
              <p:nvPr/>
            </p:nvSpPr>
            <p:spPr bwMode="auto">
              <a:xfrm>
                <a:off x="5288135" y="2300760"/>
                <a:ext cx="1690292" cy="8822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</m:num>
                        <m:den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728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88135" y="2300760"/>
                <a:ext cx="1690292" cy="8822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290" name="Object 10"/>
              <p:cNvSpPr txBox="1"/>
              <p:nvPr/>
            </p:nvSpPr>
            <p:spPr bwMode="auto">
              <a:xfrm>
                <a:off x="3019099" y="3242260"/>
                <a:ext cx="3076901" cy="9870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∴  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nary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729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9099" y="3242260"/>
                <a:ext cx="3076901" cy="9870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291" name="Object 11"/>
              <p:cNvSpPr txBox="1"/>
              <p:nvPr/>
            </p:nvSpPr>
            <p:spPr bwMode="auto">
              <a:xfrm>
                <a:off x="3634160" y="4303544"/>
                <a:ext cx="2235632" cy="9225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e>
                      </m:nary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729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4160" y="4303544"/>
                <a:ext cx="2235632" cy="92253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292" name="Object 12"/>
              <p:cNvSpPr txBox="1"/>
              <p:nvPr/>
            </p:nvSpPr>
            <p:spPr bwMode="auto">
              <a:xfrm>
                <a:off x="5699916" y="4292954"/>
                <a:ext cx="2235632" cy="9130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sSubSup>
                        <m:sSubSupPr>
                          <m:ctrlPr>
                            <a:rPr lang="en-US" altLang="zh-CN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729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99916" y="4292954"/>
                <a:ext cx="2235632" cy="9130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293" name="Object 13"/>
              <p:cNvSpPr txBox="1"/>
              <p:nvPr/>
            </p:nvSpPr>
            <p:spPr bwMode="auto">
              <a:xfrm>
                <a:off x="3640894" y="5293746"/>
                <a:ext cx="1936389" cy="8993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nary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729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40894" y="5293746"/>
                <a:ext cx="1936389" cy="8993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294" name="Object 14"/>
              <p:cNvSpPr txBox="1"/>
              <p:nvPr/>
            </p:nvSpPr>
            <p:spPr bwMode="auto">
              <a:xfrm>
                <a:off x="5428240" y="5369129"/>
                <a:ext cx="1567077" cy="8239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729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8240" y="5369129"/>
                <a:ext cx="1567077" cy="8239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296" name="Object 16"/>
              <p:cNvSpPr txBox="1"/>
              <p:nvPr/>
            </p:nvSpPr>
            <p:spPr bwMode="auto">
              <a:xfrm>
                <a:off x="5840116" y="3497859"/>
                <a:ext cx="3480668" cy="5141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[0,1]×[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729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40116" y="3497859"/>
                <a:ext cx="3480668" cy="514181"/>
              </a:xfrm>
              <a:prstGeom prst="rect">
                <a:avLst/>
              </a:prstGeom>
              <a:blipFill>
                <a:blip r:embed="rId12"/>
                <a:stretch>
                  <a:fillRect l="-10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229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7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7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7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7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97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97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2" grpId="0" animBg="1"/>
      <p:bldP spid="97283" grpId="0"/>
      <p:bldP spid="97285" grpId="0" build="p" autoUpdateAnimBg="0"/>
      <p:bldP spid="97286" grpId="0"/>
      <p:bldP spid="97287" grpId="0" build="p" autoUpdateAnimBg="0"/>
      <p:bldP spid="97288" grpId="0"/>
      <p:bldP spid="97289" grpId="0"/>
      <p:bldP spid="97290" grpId="0"/>
      <p:bldP spid="97291" grpId="0"/>
      <p:bldP spid="97292" grpId="0"/>
      <p:bldP spid="97293" grpId="0"/>
      <p:bldP spid="97294" grpId="0"/>
      <p:bldP spid="9729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BEE7765-0C00-6BAE-5EA3-786A097DBA7B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BB0B7A2F-B3C0-AA34-73AA-DF79EFE3A3F2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BB0B7A2F-B3C0-AA34-73AA-DF79EFE3A3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E6632940-F085-8D67-8EF6-3723F068383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D0B588D4-7BE6-A866-9113-9D7B204C77CC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09C6F246-FF36-715B-0D04-F343BCE8BC46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14E961D2-AAF0-8675-EF2F-8468D773677F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34773" y="1011913"/>
            <a:ext cx="1066800" cy="685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008000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55" name="Object 3"/>
              <p:cNvSpPr txBox="1"/>
              <p:nvPr/>
            </p:nvSpPr>
            <p:spPr bwMode="auto">
              <a:xfrm>
                <a:off x="2741930" y="696003"/>
                <a:ext cx="3954145" cy="11605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35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1930" y="696003"/>
                <a:ext cx="3954145" cy="11605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57" name="Text Box 5"/>
          <p:cNvSpPr txBox="1">
            <a:spLocks noChangeArrowheads="1"/>
          </p:cNvSpPr>
          <p:nvPr/>
        </p:nvSpPr>
        <p:spPr bwMode="auto">
          <a:xfrm>
            <a:off x="1834773" y="1965276"/>
            <a:ext cx="646331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59" name="Text Box 7"/>
              <p:cNvSpPr txBox="1">
                <a:spLocks noChangeArrowheads="1"/>
              </p:cNvSpPr>
              <p:nvPr/>
            </p:nvSpPr>
            <p:spPr bwMode="auto">
              <a:xfrm>
                <a:off x="2741930" y="1984224"/>
                <a:ext cx="450659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考虑含参变量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的积分所确定的函数</a:t>
                </a:r>
              </a:p>
            </p:txBody>
          </p:sp>
        </mc:Choice>
        <mc:Fallback xmlns="">
          <p:sp>
            <p:nvSpPr>
              <p:cNvPr id="10035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1930" y="1984224"/>
                <a:ext cx="4506595" cy="430887"/>
              </a:xfrm>
              <a:prstGeom prst="rect">
                <a:avLst/>
              </a:prstGeom>
              <a:blipFill>
                <a:blip r:embed="rId4"/>
                <a:stretch>
                  <a:fillRect l="-1759" t="-12676" r="-1353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368" name="Object 16"/>
              <p:cNvSpPr txBox="1"/>
              <p:nvPr/>
            </p:nvSpPr>
            <p:spPr bwMode="auto">
              <a:xfrm>
                <a:off x="2741930" y="2475080"/>
                <a:ext cx="3354070" cy="8307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036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1930" y="2475080"/>
                <a:ext cx="3354070" cy="83078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70" name="Text Box 18"/>
          <p:cNvSpPr txBox="1">
            <a:spLocks noChangeArrowheads="1"/>
          </p:cNvSpPr>
          <p:nvPr/>
        </p:nvSpPr>
        <p:spPr bwMode="auto">
          <a:xfrm>
            <a:off x="2741930" y="3654240"/>
            <a:ext cx="103105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显然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71" name="Object 19"/>
              <p:cNvSpPr txBox="1"/>
              <p:nvPr/>
            </p:nvSpPr>
            <p:spPr bwMode="auto">
              <a:xfrm>
                <a:off x="3496310" y="3480763"/>
                <a:ext cx="4273062" cy="8307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[0,1]×[0,1]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0371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6310" y="3480763"/>
                <a:ext cx="4273062" cy="83078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373" name="Object 21"/>
              <p:cNvSpPr txBox="1"/>
              <p:nvPr/>
            </p:nvSpPr>
            <p:spPr bwMode="auto">
              <a:xfrm>
                <a:off x="7539980" y="3614656"/>
                <a:ext cx="2718445" cy="5297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(0)=0, </m:t>
                      </m:r>
                      <m:r>
                        <a:rPr lang="en-US" altLang="zh-CN" sz="22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0373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39980" y="3614656"/>
                <a:ext cx="2718445" cy="529761"/>
              </a:xfrm>
              <a:prstGeom prst="rect">
                <a:avLst/>
              </a:prstGeom>
              <a:blipFill>
                <a:blip r:embed="rId7"/>
                <a:stretch>
                  <a:fillRect l="-4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74" name="Text Box 22"/>
          <p:cNvSpPr txBox="1">
            <a:spLocks noChangeArrowheads="1"/>
          </p:cNvSpPr>
          <p:nvPr/>
        </p:nvSpPr>
        <p:spPr bwMode="auto">
          <a:xfrm>
            <a:off x="2741930" y="4508539"/>
            <a:ext cx="7489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由于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75" name="Object 23"/>
              <p:cNvSpPr txBox="1"/>
              <p:nvPr/>
            </p:nvSpPr>
            <p:spPr bwMode="auto">
              <a:xfrm>
                <a:off x="3344470" y="4277688"/>
                <a:ext cx="4273062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)(1+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0375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4470" y="4277688"/>
                <a:ext cx="4273062" cy="965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377" name="Object 25"/>
              <p:cNvSpPr txBox="1"/>
              <p:nvPr/>
            </p:nvSpPr>
            <p:spPr bwMode="auto">
              <a:xfrm>
                <a:off x="4072353" y="5191882"/>
                <a:ext cx="620169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𝑡𝑥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0377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2353" y="5191882"/>
                <a:ext cx="6201690" cy="927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464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0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03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0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0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00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0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00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animBg="1"/>
      <p:bldP spid="100355" grpId="0"/>
      <p:bldP spid="100357" grpId="0" build="p" autoUpdateAnimBg="0"/>
      <p:bldP spid="100359" grpId="0" build="p" autoUpdateAnimBg="0"/>
      <p:bldP spid="100368" grpId="0"/>
      <p:bldP spid="100370" grpId="0" build="p" autoUpdateAnimBg="0"/>
      <p:bldP spid="100371" grpId="0"/>
      <p:bldP spid="100373" grpId="0"/>
      <p:bldP spid="100374" grpId="0" build="p" autoUpdateAnimBg="0"/>
      <p:bldP spid="100375" grpId="0"/>
      <p:bldP spid="10037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004B450-3D91-48DA-1147-CA9FBEFDD192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AFB26632-740E-5BCE-B6A5-A87E4F193789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AFB26632-740E-5BCE-B6A5-A87E4F19378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C981EBAA-7DA9-3257-AE48-64238B8E946C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E1E375C0-09A7-C4E1-A1A1-DA86EF221791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A828633B-8E8C-F90A-3120-50542D64CE0E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44092EAB-9692-0FC7-5A50-F2CD4E27A8DD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8309" name="Object 5"/>
              <p:cNvSpPr txBox="1"/>
              <p:nvPr/>
            </p:nvSpPr>
            <p:spPr bwMode="auto">
              <a:xfrm>
                <a:off x="2712715" y="710137"/>
                <a:ext cx="6351386" cy="9247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Sup>
                        <m:sSubSupPr>
                          <m:ctrl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arctan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b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830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2715" y="710137"/>
                <a:ext cx="6351386" cy="9247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312" name="Object 8"/>
              <p:cNvSpPr txBox="1"/>
              <p:nvPr/>
            </p:nvSpPr>
            <p:spPr bwMode="auto">
              <a:xfrm>
                <a:off x="2712715" y="1727102"/>
                <a:ext cx="4407076" cy="8151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9831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2715" y="1727102"/>
                <a:ext cx="4407076" cy="815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314" name="Object 10"/>
              <p:cNvSpPr txBox="1"/>
              <p:nvPr/>
            </p:nvSpPr>
            <p:spPr bwMode="auto">
              <a:xfrm>
                <a:off x="2712715" y="2818780"/>
                <a:ext cx="2721330" cy="5366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(1)−</m:t>
                      </m:r>
                      <m:r>
                        <a:rPr lang="en-US" altLang="zh-CN" sz="22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831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2715" y="2818780"/>
                <a:ext cx="2721330" cy="536611"/>
              </a:xfrm>
              <a:prstGeom prst="rect">
                <a:avLst/>
              </a:prstGeom>
              <a:blipFill>
                <a:blip r:embed="rId7"/>
                <a:stretch>
                  <a:fillRect l="-2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315" name="Object 11"/>
              <p:cNvSpPr txBox="1"/>
              <p:nvPr/>
            </p:nvSpPr>
            <p:spPr bwMode="auto">
              <a:xfrm>
                <a:off x="4791243" y="2634401"/>
                <a:ext cx="5062860" cy="8880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831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1243" y="2634401"/>
                <a:ext cx="5062860" cy="8880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318" name="Object 14"/>
              <p:cNvSpPr txBox="1"/>
              <p:nvPr/>
            </p:nvSpPr>
            <p:spPr bwMode="auto">
              <a:xfrm>
                <a:off x="7155367" y="3552167"/>
                <a:ext cx="2518131" cy="8754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831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55367" y="3552167"/>
                <a:ext cx="2518131" cy="8754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319" name="Object 15"/>
              <p:cNvSpPr txBox="1"/>
              <p:nvPr/>
            </p:nvSpPr>
            <p:spPr bwMode="auto">
              <a:xfrm>
                <a:off x="2712716" y="4502428"/>
                <a:ext cx="1640210" cy="6933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831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2716" y="4502428"/>
                <a:ext cx="1640210" cy="69338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320" name="Text Box 16"/>
          <p:cNvSpPr txBox="1">
            <a:spLocks noChangeArrowheads="1"/>
          </p:cNvSpPr>
          <p:nvPr/>
        </p:nvSpPr>
        <p:spPr bwMode="auto">
          <a:xfrm>
            <a:off x="1603710" y="2832454"/>
            <a:ext cx="58153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321" name="Object 17"/>
              <p:cNvSpPr txBox="1"/>
              <p:nvPr/>
            </p:nvSpPr>
            <p:spPr bwMode="auto">
              <a:xfrm>
                <a:off x="2509517" y="5301036"/>
                <a:ext cx="1487684" cy="6933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832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9517" y="5301036"/>
                <a:ext cx="1487684" cy="69338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322" name="Text Box 18"/>
          <p:cNvSpPr txBox="1">
            <a:spLocks noChangeArrowheads="1"/>
          </p:cNvSpPr>
          <p:nvPr/>
        </p:nvSpPr>
        <p:spPr bwMode="auto">
          <a:xfrm>
            <a:off x="1603710" y="5417943"/>
            <a:ext cx="128448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因此得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9DE45DF-842A-42A4-AE30-65850A02883F}"/>
              </a:ext>
            </a:extLst>
          </p:cNvPr>
          <p:cNvGrpSpPr/>
          <p:nvPr/>
        </p:nvGrpSpPr>
        <p:grpSpPr>
          <a:xfrm>
            <a:off x="2712716" y="3286429"/>
            <a:ext cx="2391944" cy="1284962"/>
            <a:chOff x="2712716" y="3286429"/>
            <a:chExt cx="2391944" cy="12849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316" name="Object 12"/>
                <p:cNvSpPr txBox="1"/>
                <p:nvPr/>
              </p:nvSpPr>
              <p:spPr bwMode="auto">
                <a:xfrm>
                  <a:off x="2712716" y="3580305"/>
                  <a:ext cx="2391944" cy="9416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func>
                          <m:func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func>
                        <m:func>
                          <m:func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func>
                        <m:d>
                          <m:dPr>
                            <m:begChr m:val="|"/>
                            <m:endChr m:val=""/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</m:mr>
                                      <m:mr>
                                        <m:e/>
                                      </m:mr>
                                    </m:m>
                                  </m:e>
                                </m:eqAr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98316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712716" y="3580305"/>
                  <a:ext cx="2391944" cy="94160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Object 17">
                  <a:extLst>
                    <a:ext uri="{FF2B5EF4-FFF2-40B4-BE49-F238E27FC236}">
                      <a16:creationId xmlns:a16="http://schemas.microsoft.com/office/drawing/2014/main" id="{037ED035-40D5-2B08-CE13-E7B0CBD605A1}"/>
                    </a:ext>
                  </a:extLst>
                </p:cNvPr>
                <p:cNvSpPr txBox="1"/>
                <p:nvPr/>
              </p:nvSpPr>
              <p:spPr bwMode="auto">
                <a:xfrm>
                  <a:off x="4750170" y="3286429"/>
                  <a:ext cx="332166" cy="12849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>
                    <a:lnSpc>
                      <a:spcPct val="2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CN" sz="1600" b="0" dirty="0">
                    <a:solidFill>
                      <a:srgbClr val="000000"/>
                    </a:solidFill>
                  </a:endParaRPr>
                </a:p>
                <a:p>
                  <a:pPr>
                    <a:lnSpc>
                      <a:spcPct val="250000"/>
                    </a:lnSpc>
                  </a:pPr>
                  <a:r>
                    <a:rPr lang="en-US" altLang="zh-CN" sz="1600" dirty="0"/>
                    <a:t>0</a:t>
                  </a:r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3" name="Object 17">
                  <a:extLst>
                    <a:ext uri="{FF2B5EF4-FFF2-40B4-BE49-F238E27FC236}">
                      <a16:creationId xmlns:a16="http://schemas.microsoft.com/office/drawing/2014/main" id="{037ED035-40D5-2B08-CE13-E7B0CBD605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50170" y="3286429"/>
                  <a:ext cx="332166" cy="1284962"/>
                </a:xfrm>
                <a:prstGeom prst="rect">
                  <a:avLst/>
                </a:prstGeom>
                <a:blipFill>
                  <a:blip r:embed="rId15"/>
                  <a:stretch>
                    <a:fillRect l="-909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8C40EAF-82DB-7F16-D303-767BAA8F3D54}"/>
              </a:ext>
            </a:extLst>
          </p:cNvPr>
          <p:cNvGrpSpPr/>
          <p:nvPr/>
        </p:nvGrpSpPr>
        <p:grpSpPr>
          <a:xfrm>
            <a:off x="5113596" y="3278833"/>
            <a:ext cx="2209077" cy="1284962"/>
            <a:chOff x="5113596" y="3278833"/>
            <a:chExt cx="2209077" cy="12849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317" name="Object 13"/>
                <p:cNvSpPr txBox="1"/>
                <p:nvPr/>
              </p:nvSpPr>
              <p:spPr bwMode="auto">
                <a:xfrm>
                  <a:off x="5113596" y="3567996"/>
                  <a:ext cx="2209077" cy="8880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zh-CN" altLang="en-US" sz="2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func>
                          <m:func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2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func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r>
                                  <a:rPr lang="en-US" altLang="zh-CN" sz="22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eqArr>
                                  <m:eqArr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zh-CN" sz="22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zh-CN" altLang="en-US" sz="22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/>
                                      </m:mr>
                                      <m:mr>
                                        <m:e/>
                                      </m:mr>
                                    </m:m>
                                  </m:e>
                                </m:eqArr>
                              </m:e>
                            </m:eqArr>
                          </m:e>
                        </m:d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98317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13596" y="3567996"/>
                  <a:ext cx="2209077" cy="88802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17">
                  <a:extLst>
                    <a:ext uri="{FF2B5EF4-FFF2-40B4-BE49-F238E27FC236}">
                      <a16:creationId xmlns:a16="http://schemas.microsoft.com/office/drawing/2014/main" id="{5138DED6-CD14-7B50-15CC-6CF556694296}"/>
                    </a:ext>
                  </a:extLst>
                </p:cNvPr>
                <p:cNvSpPr txBox="1"/>
                <p:nvPr/>
              </p:nvSpPr>
              <p:spPr bwMode="auto">
                <a:xfrm>
                  <a:off x="6989284" y="3278833"/>
                  <a:ext cx="332166" cy="128496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>
                    <a:lnSpc>
                      <a:spcPct val="250000"/>
                    </a:lnSpc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CN" sz="1600" b="0" dirty="0">
                    <a:solidFill>
                      <a:srgbClr val="000000"/>
                    </a:solidFill>
                  </a:endParaRPr>
                </a:p>
                <a:p>
                  <a:pPr>
                    <a:lnSpc>
                      <a:spcPct val="250000"/>
                    </a:lnSpc>
                  </a:pPr>
                  <a:r>
                    <a:rPr lang="en-US" altLang="zh-CN" sz="1600" dirty="0"/>
                    <a:t>0</a:t>
                  </a:r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0" name="Object 17">
                  <a:extLst>
                    <a:ext uri="{FF2B5EF4-FFF2-40B4-BE49-F238E27FC236}">
                      <a16:creationId xmlns:a16="http://schemas.microsoft.com/office/drawing/2014/main" id="{5138DED6-CD14-7B50-15CC-6CF5566942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89284" y="3278833"/>
                  <a:ext cx="332166" cy="1284962"/>
                </a:xfrm>
                <a:prstGeom prst="rect">
                  <a:avLst/>
                </a:prstGeom>
                <a:blipFill>
                  <a:blip r:embed="rId17"/>
                  <a:stretch>
                    <a:fillRect l="-1111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7568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8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8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8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8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9" grpId="0"/>
      <p:bldP spid="98312" grpId="0"/>
      <p:bldP spid="98314" grpId="0"/>
      <p:bldP spid="98315" grpId="0"/>
      <p:bldP spid="98318" grpId="0"/>
      <p:bldP spid="98319" grpId="0"/>
      <p:bldP spid="98320" grpId="0" build="p" autoUpdateAnimBg="0"/>
      <p:bldP spid="98321" grpId="0"/>
      <p:bldP spid="98322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523000"/>
            <a:ext cx="5257800" cy="60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008000"/>
                  </a:outerShdw>
                </a:effectLst>
              </a14:hiddenEffects>
            </a:ext>
          </a:extLst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二、积分限含参变量的积分</a:t>
            </a:r>
          </a:p>
        </p:txBody>
      </p:sp>
      <p:sp>
        <p:nvSpPr>
          <p:cNvPr id="101379" name="Text Box 3"/>
          <p:cNvSpPr txBox="1">
            <a:spLocks noChangeArrowheads="1"/>
          </p:cNvSpPr>
          <p:nvPr/>
        </p:nvSpPr>
        <p:spPr bwMode="auto">
          <a:xfrm>
            <a:off x="1645919" y="1102706"/>
            <a:ext cx="772519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在实际问题中，常遇到积分限含参变量的情形</a:t>
            </a:r>
            <a:r>
              <a:rPr kumimoji="1" lang="zh-CN" altLang="en-US" sz="2800" noProof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1380" name="Text Box 4"/>
          <p:cNvSpPr txBox="1">
            <a:spLocks noChangeArrowheads="1"/>
          </p:cNvSpPr>
          <p:nvPr/>
        </p:nvSpPr>
        <p:spPr bwMode="auto">
          <a:xfrm>
            <a:off x="8990087" y="1103470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例如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381" name="Object 5"/>
              <p:cNvSpPr txBox="1"/>
              <p:nvPr/>
            </p:nvSpPr>
            <p:spPr bwMode="auto">
              <a:xfrm>
                <a:off x="1645920" y="1642187"/>
                <a:ext cx="1697356" cy="5416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138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5920" y="1642187"/>
                <a:ext cx="1697356" cy="5416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382" name="Text Box 6"/>
          <p:cNvSpPr txBox="1">
            <a:spLocks noChangeArrowheads="1"/>
          </p:cNvSpPr>
          <p:nvPr/>
        </p:nvSpPr>
        <p:spPr bwMode="auto">
          <a:xfrm>
            <a:off x="3094159" y="1664681"/>
            <a:ext cx="24955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为定义在区域  </a:t>
            </a:r>
          </a:p>
        </p:txBody>
      </p:sp>
      <p:sp>
        <p:nvSpPr>
          <p:cNvPr id="101383" name="AutoShape 7"/>
          <p:cNvSpPr>
            <a:spLocks/>
          </p:cNvSpPr>
          <p:nvPr/>
        </p:nvSpPr>
        <p:spPr bwMode="auto">
          <a:xfrm>
            <a:off x="4038600" y="2355901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386" name="Object 10"/>
              <p:cNvSpPr txBox="1"/>
              <p:nvPr/>
            </p:nvSpPr>
            <p:spPr bwMode="auto">
              <a:xfrm>
                <a:off x="4160520" y="2861819"/>
                <a:ext cx="1838324" cy="5011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1386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0520" y="2861819"/>
                <a:ext cx="1838324" cy="5011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387" name="Text Box 11"/>
          <p:cNvSpPr txBox="1">
            <a:spLocks noChangeArrowheads="1"/>
          </p:cNvSpPr>
          <p:nvPr/>
        </p:nvSpPr>
        <p:spPr bwMode="auto">
          <a:xfrm>
            <a:off x="1645919" y="3513009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上的连续函数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390" name="Object 14"/>
              <p:cNvSpPr txBox="1"/>
              <p:nvPr/>
            </p:nvSpPr>
            <p:spPr bwMode="auto">
              <a:xfrm>
                <a:off x="4181476" y="2189517"/>
                <a:ext cx="2833515" cy="539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1390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81476" y="2189517"/>
                <a:ext cx="2833515" cy="5397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423" name="Text Box 47"/>
          <p:cNvSpPr txBox="1">
            <a:spLocks noChangeArrowheads="1"/>
          </p:cNvSpPr>
          <p:nvPr/>
        </p:nvSpPr>
        <p:spPr bwMode="auto">
          <a:xfrm>
            <a:off x="4059005" y="3528967"/>
            <a:ext cx="62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424" name="Text Box 48"/>
              <p:cNvSpPr txBox="1">
                <a:spLocks noChangeArrowheads="1"/>
              </p:cNvSpPr>
              <p:nvPr/>
            </p:nvSpPr>
            <p:spPr bwMode="auto">
              <a:xfrm>
                <a:off x="1645919" y="5186547"/>
                <a:ext cx="36576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也是参变量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的函数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01424" name="Text 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5919" y="5186547"/>
                <a:ext cx="3657600" cy="519113"/>
              </a:xfrm>
              <a:prstGeom prst="rect">
                <a:avLst/>
              </a:prstGeom>
              <a:blipFill>
                <a:blip r:embed="rId18"/>
                <a:stretch>
                  <a:fillRect l="-3333" t="-16471" r="-1333" b="-2941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425" name="Object 49"/>
              <p:cNvSpPr txBox="1"/>
              <p:nvPr/>
            </p:nvSpPr>
            <p:spPr bwMode="auto">
              <a:xfrm>
                <a:off x="3497871" y="4067160"/>
                <a:ext cx="3734705" cy="11048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1425" name="Object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97871" y="4067160"/>
                <a:ext cx="3734705" cy="11048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427" name="Object 51"/>
              <p:cNvSpPr txBox="1"/>
              <p:nvPr/>
            </p:nvSpPr>
            <p:spPr bwMode="auto">
              <a:xfrm>
                <a:off x="3541799" y="2507017"/>
                <a:ext cx="457200" cy="317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1427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1799" y="2507017"/>
                <a:ext cx="457200" cy="317500"/>
              </a:xfrm>
              <a:prstGeom prst="rect">
                <a:avLst/>
              </a:prstGeom>
              <a:blipFill>
                <a:blip r:embed="rId20"/>
                <a:stretch>
                  <a:fillRect b="-2692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428" name="Text Box 52"/>
              <p:cNvSpPr txBox="1">
                <a:spLocks noChangeArrowheads="1"/>
              </p:cNvSpPr>
              <p:nvPr/>
            </p:nvSpPr>
            <p:spPr bwMode="auto">
              <a:xfrm>
                <a:off x="4986134" y="5186547"/>
                <a:ext cx="296724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其定义域为</a:t>
                </a:r>
                <a14:m>
                  <m:oMath xmlns:m="http://schemas.openxmlformats.org/officeDocument/2006/math">
                    <m:r>
                      <a:rPr kumimoji="1" lang="en-US" altLang="zh-CN" sz="2800" noProof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01428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86134" y="5186547"/>
                <a:ext cx="2967241" cy="523220"/>
              </a:xfrm>
              <a:prstGeom prst="rect">
                <a:avLst/>
              </a:prstGeom>
              <a:blipFill>
                <a:blip r:embed="rId21"/>
                <a:stretch>
                  <a:fillRect l="-4312"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430" name="Text Box 54"/>
          <p:cNvSpPr txBox="1">
            <a:spLocks noChangeArrowheads="1"/>
          </p:cNvSpPr>
          <p:nvPr/>
        </p:nvSpPr>
        <p:spPr bwMode="auto">
          <a:xfrm>
            <a:off x="1645919" y="5757036"/>
            <a:ext cx="7118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利用前面的定理可推出这种含参积分的性质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78041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1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1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1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1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1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14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1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 animBg="1"/>
      <p:bldP spid="101379" grpId="0" build="p" autoUpdateAnimBg="0"/>
      <p:bldP spid="101380" grpId="0" build="p" autoUpdateAnimBg="0"/>
      <p:bldP spid="101381" grpId="0"/>
      <p:bldP spid="101382" grpId="0" build="p" autoUpdateAnimBg="0" advAuto="0"/>
      <p:bldP spid="101386" grpId="0"/>
      <p:bldP spid="101387" grpId="0" build="p" autoUpdateAnimBg="0" advAuto="0"/>
      <p:bldP spid="101390" grpId="0"/>
      <p:bldP spid="101423" grpId="0" build="p" autoUpdateAnimBg="0"/>
      <p:bldP spid="101424" grpId="0" build="p" autoUpdateAnimBg="0"/>
      <p:bldP spid="101425" grpId="0"/>
      <p:bldP spid="101427" grpId="0"/>
      <p:bldP spid="101428" grpId="0" build="p" autoUpdateAnimBg="0"/>
      <p:bldP spid="101430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2404" name="Object 4"/>
              <p:cNvSpPr txBox="1"/>
              <p:nvPr/>
            </p:nvSpPr>
            <p:spPr bwMode="auto">
              <a:xfrm>
                <a:off x="4049472" y="547483"/>
                <a:ext cx="2758358" cy="58864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在区域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40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9472" y="547483"/>
                <a:ext cx="2758358" cy="5886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06" name="Object 6"/>
              <p:cNvSpPr txBox="1"/>
              <p:nvPr/>
            </p:nvSpPr>
            <p:spPr bwMode="auto">
              <a:xfrm>
                <a:off x="2654431" y="1089437"/>
                <a:ext cx="5946644" cy="6089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:{(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40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4431" y="1089437"/>
                <a:ext cx="5946644" cy="6089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07" name="Text Box 7"/>
          <p:cNvSpPr txBox="1">
            <a:spLocks noChangeArrowheads="1"/>
          </p:cNvSpPr>
          <p:nvPr/>
        </p:nvSpPr>
        <p:spPr bwMode="auto">
          <a:xfrm>
            <a:off x="2540827" y="1688989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上连续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08" name="Object 8"/>
              <p:cNvSpPr txBox="1"/>
              <p:nvPr/>
            </p:nvSpPr>
            <p:spPr bwMode="auto">
              <a:xfrm>
                <a:off x="3870856" y="1707860"/>
                <a:ext cx="6303438" cy="6101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上的连续函数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40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70856" y="1707860"/>
                <a:ext cx="6303438" cy="6101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09" name="Text Box 9"/>
          <p:cNvSpPr txBox="1">
            <a:spLocks noChangeArrowheads="1"/>
          </p:cNvSpPr>
          <p:nvPr/>
        </p:nvSpPr>
        <p:spPr bwMode="auto">
          <a:xfrm>
            <a:off x="9578932" y="1698514"/>
            <a:ext cx="1250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10" name="Object 10"/>
              <p:cNvSpPr txBox="1"/>
              <p:nvPr/>
            </p:nvSpPr>
            <p:spPr bwMode="auto">
              <a:xfrm>
                <a:off x="3215268" y="2249162"/>
                <a:ext cx="3882531" cy="12321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4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5268" y="2249162"/>
                <a:ext cx="3882531" cy="12321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11" name="Object 11"/>
              <p:cNvSpPr txBox="1"/>
              <p:nvPr/>
            </p:nvSpPr>
            <p:spPr bwMode="auto">
              <a:xfrm>
                <a:off x="2494701" y="3343557"/>
                <a:ext cx="3048676" cy="6809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241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4701" y="3343557"/>
                <a:ext cx="3048676" cy="6809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12" name="Text Box 12"/>
          <p:cNvSpPr txBox="1">
            <a:spLocks noChangeArrowheads="1"/>
          </p:cNvSpPr>
          <p:nvPr/>
        </p:nvSpPr>
        <p:spPr bwMode="auto">
          <a:xfrm>
            <a:off x="1895452" y="3928554"/>
            <a:ext cx="11079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令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13" name="Object 13"/>
              <p:cNvSpPr txBox="1"/>
              <p:nvPr/>
            </p:nvSpPr>
            <p:spPr bwMode="auto">
              <a:xfrm>
                <a:off x="2751129" y="3962109"/>
                <a:ext cx="5040100" cy="4870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)],  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∈[0, 1],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241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1129" y="3962109"/>
                <a:ext cx="5040100" cy="487018"/>
              </a:xfrm>
              <a:prstGeom prst="rect">
                <a:avLst/>
              </a:prstGeom>
              <a:blipFill>
                <a:blip r:embed="rId8"/>
                <a:stretch>
                  <a:fillRect l="-121" b="-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14" name="Text Box 14"/>
          <p:cNvSpPr txBox="1">
            <a:spLocks noChangeArrowheads="1"/>
          </p:cNvSpPr>
          <p:nvPr/>
        </p:nvSpPr>
        <p:spPr bwMode="auto">
          <a:xfrm>
            <a:off x="7526424" y="3991755"/>
            <a:ext cx="54205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15" name="Object 15"/>
              <p:cNvSpPr txBox="1"/>
              <p:nvPr/>
            </p:nvSpPr>
            <p:spPr bwMode="auto">
              <a:xfrm>
                <a:off x="2431431" y="4389467"/>
                <a:ext cx="5040100" cy="8554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            )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241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1431" y="4389467"/>
                <a:ext cx="5040100" cy="85541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16" name="Text Box 16"/>
          <p:cNvSpPr txBox="1">
            <a:spLocks noChangeArrowheads="1"/>
          </p:cNvSpPr>
          <p:nvPr/>
        </p:nvSpPr>
        <p:spPr bwMode="auto">
          <a:xfrm>
            <a:off x="2431431" y="5247396"/>
            <a:ext cx="29978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由于被积函数在矩形域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17" name="Object 17"/>
              <p:cNvSpPr txBox="1"/>
              <p:nvPr/>
            </p:nvSpPr>
            <p:spPr bwMode="auto">
              <a:xfrm>
                <a:off x="5267608" y="5241818"/>
                <a:ext cx="1870109" cy="4840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]×[0, 1]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241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67608" y="5241818"/>
                <a:ext cx="1870109" cy="484090"/>
              </a:xfrm>
              <a:prstGeom prst="rect">
                <a:avLst/>
              </a:prstGeom>
              <a:blipFill>
                <a:blip r:embed="rId10"/>
                <a:stretch>
                  <a:fillRect l="-2280" b="-6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18" name="Text Box 18"/>
          <p:cNvSpPr txBox="1">
            <a:spLocks noChangeArrowheads="1"/>
          </p:cNvSpPr>
          <p:nvPr/>
        </p:nvSpPr>
        <p:spPr bwMode="auto">
          <a:xfrm>
            <a:off x="6938301" y="5264955"/>
            <a:ext cx="134018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上连续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2419" name="Text Box 19"/>
          <p:cNvSpPr txBox="1">
            <a:spLocks noChangeArrowheads="1"/>
          </p:cNvSpPr>
          <p:nvPr/>
        </p:nvSpPr>
        <p:spPr bwMode="auto">
          <a:xfrm>
            <a:off x="7978132" y="5274441"/>
            <a:ext cx="185253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由定理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知</a:t>
            </a:r>
            <a:r>
              <a:rPr kumimoji="1"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2420" name="Text Box 20"/>
          <p:cNvSpPr txBox="1">
            <a:spLocks noChangeArrowheads="1"/>
          </p:cNvSpPr>
          <p:nvPr/>
        </p:nvSpPr>
        <p:spPr bwMode="auto">
          <a:xfrm>
            <a:off x="2435696" y="5828531"/>
            <a:ext cx="276509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上述积分确定的函数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21" name="Object 21"/>
              <p:cNvSpPr txBox="1"/>
              <p:nvPr/>
            </p:nvSpPr>
            <p:spPr bwMode="auto">
              <a:xfrm>
                <a:off x="4985942" y="5826329"/>
                <a:ext cx="2795983" cy="4610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24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85942" y="5826329"/>
                <a:ext cx="2795983" cy="461032"/>
              </a:xfrm>
              <a:prstGeom prst="rect">
                <a:avLst/>
              </a:prstGeom>
              <a:blipFill>
                <a:blip r:embed="rId11"/>
                <a:stretch>
                  <a:fillRect l="-218" b="-12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22" name="Object 22"/>
              <p:cNvSpPr txBox="1"/>
              <p:nvPr/>
            </p:nvSpPr>
            <p:spPr bwMode="auto">
              <a:xfrm>
                <a:off x="4256274" y="4592178"/>
                <a:ext cx="3075432" cy="462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242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6274" y="4592178"/>
                <a:ext cx="3075432" cy="462212"/>
              </a:xfrm>
              <a:prstGeom prst="rect">
                <a:avLst/>
              </a:prstGeom>
              <a:blipFill>
                <a:blip r:embed="rId12"/>
                <a:stretch>
                  <a:fillRect b="-1184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23" name="Object 23"/>
              <p:cNvSpPr txBox="1"/>
              <p:nvPr/>
            </p:nvSpPr>
            <p:spPr bwMode="auto">
              <a:xfrm>
                <a:off x="7137717" y="4591719"/>
                <a:ext cx="2213325" cy="4840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)]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242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37717" y="4591719"/>
                <a:ext cx="2213325" cy="484090"/>
              </a:xfrm>
              <a:prstGeom prst="rect">
                <a:avLst/>
              </a:prstGeom>
              <a:blipFill>
                <a:blip r:embed="rId13"/>
                <a:stretch>
                  <a:fillRect l="-1928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22">
                <a:extLst>
                  <a:ext uri="{FF2B5EF4-FFF2-40B4-BE49-F238E27FC236}">
                    <a16:creationId xmlns:a16="http://schemas.microsoft.com/office/drawing/2014/main" id="{03706C9B-11FB-4E52-F51B-510111C40264}"/>
                  </a:ext>
                </a:extLst>
              </p:cNvPr>
              <p:cNvSpPr txBox="1"/>
              <p:nvPr/>
            </p:nvSpPr>
            <p:spPr>
              <a:xfrm>
                <a:off x="7869930" y="5798829"/>
                <a:ext cx="810669" cy="461032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证毕</m:t>
                      </m:r>
                    </m:oMath>
                  </m:oMathPara>
                </a14:m>
                <a:endParaRPr lang="zh-CN" altLang="en-US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对象 22">
                <a:extLst>
                  <a:ext uri="{FF2B5EF4-FFF2-40B4-BE49-F238E27FC236}">
                    <a16:creationId xmlns:a16="http://schemas.microsoft.com/office/drawing/2014/main" id="{03706C9B-11FB-4E52-F51B-510111C40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9930" y="5798829"/>
                <a:ext cx="810669" cy="461032"/>
              </a:xfrm>
              <a:prstGeom prst="rect">
                <a:avLst/>
              </a:prstGeom>
              <a:blipFill>
                <a:blip r:embed="rId14"/>
                <a:stretch>
                  <a:fillRect l="-5263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4ADA75A9-788F-DFD0-39C3-8E4478A1DAAB}"/>
              </a:ext>
            </a:extLst>
          </p:cNvPr>
          <p:cNvGrpSpPr/>
          <p:nvPr/>
        </p:nvGrpSpPr>
        <p:grpSpPr>
          <a:xfrm>
            <a:off x="1371577" y="552859"/>
            <a:ext cx="2809678" cy="448945"/>
            <a:chOff x="1553" y="3803"/>
            <a:chExt cx="3117" cy="707"/>
          </a:xfrm>
        </p:grpSpPr>
        <p:sp>
          <p:nvSpPr>
            <p:cNvPr id="6" name="圆角矩形 57">
              <a:extLst>
                <a:ext uri="{FF2B5EF4-FFF2-40B4-BE49-F238E27FC236}">
                  <a16:creationId xmlns:a16="http://schemas.microsoft.com/office/drawing/2014/main" id="{58D8F21E-C646-E366-CB71-D063DB4EDEC0}"/>
                </a:ext>
              </a:extLst>
            </p:cNvPr>
            <p:cNvSpPr/>
            <p:nvPr/>
          </p:nvSpPr>
          <p:spPr>
            <a:xfrm>
              <a:off x="1553" y="3803"/>
              <a:ext cx="14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28">
              <a:extLst>
                <a:ext uri="{FF2B5EF4-FFF2-40B4-BE49-F238E27FC236}">
                  <a16:creationId xmlns:a16="http://schemas.microsoft.com/office/drawing/2014/main" id="{C7F067EE-8949-23DB-82D4-3569652C4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" y="3831"/>
              <a:ext cx="2971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4   </a:t>
              </a:r>
              <a:r>
                <a:rPr lang="en-US" altLang="zh-CN" sz="2800" b="0" dirty="0">
                  <a:solidFill>
                    <a:srgbClr val="04926A"/>
                  </a:solidFill>
                  <a:ea typeface="黑体" panose="02010609060101010101" pitchFamily="49" charset="-122"/>
                </a:rPr>
                <a:t>(</a:t>
              </a:r>
              <a:r>
                <a:rPr lang="zh-CN" altLang="en-US" sz="2800" b="0" dirty="0">
                  <a:solidFill>
                    <a:srgbClr val="04926A"/>
                  </a:solidFill>
                  <a:ea typeface="黑体" panose="02010609060101010101" pitchFamily="49" charset="-122"/>
                </a:rPr>
                <a:t>连续性</a:t>
              </a:r>
              <a:r>
                <a:rPr lang="en-US" altLang="zh-CN" sz="2800" b="0" dirty="0">
                  <a:solidFill>
                    <a:srgbClr val="04926A"/>
                  </a:solidFill>
                  <a:ea typeface="黑体" panose="02010609060101010101" pitchFamily="49" charset="-122"/>
                </a:rPr>
                <a:t>)</a:t>
              </a:r>
              <a:endPara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8525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2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2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2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0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0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2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2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0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02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0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/>
      <p:bldP spid="102406" grpId="0"/>
      <p:bldP spid="102407" grpId="0" build="p" autoUpdateAnimBg="0"/>
      <p:bldP spid="102408" grpId="0"/>
      <p:bldP spid="102409" grpId="0" build="p" autoUpdateAnimBg="0"/>
      <p:bldP spid="102410" grpId="0"/>
      <p:bldP spid="102411" grpId="0"/>
      <p:bldP spid="102412" grpId="0" build="p" autoUpdateAnimBg="0"/>
      <p:bldP spid="102413" grpId="0"/>
      <p:bldP spid="102414" grpId="0" build="p" autoUpdateAnimBg="0"/>
      <p:bldP spid="102415" grpId="0"/>
      <p:bldP spid="102416" grpId="0" build="p" autoUpdateAnimBg="0"/>
      <p:bldP spid="102417" grpId="0"/>
      <p:bldP spid="102418" grpId="0" build="p" autoUpdateAnimBg="0" advAuto="0"/>
      <p:bldP spid="102419" grpId="0" build="p" autoUpdateAnimBg="0"/>
      <p:bldP spid="102420" grpId="0" build="p" autoUpdateAnimBg="0"/>
      <p:bldP spid="102421" grpId="0"/>
      <p:bldP spid="102422" grpId="0"/>
      <p:bldP spid="102423" grpId="0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6499" name="Object 3"/>
              <p:cNvSpPr txBox="1"/>
              <p:nvPr/>
            </p:nvSpPr>
            <p:spPr bwMode="auto">
              <a:xfrm>
                <a:off x="3823277" y="540273"/>
                <a:ext cx="4516609" cy="5273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及其偏导数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49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3277" y="540273"/>
                <a:ext cx="4516609" cy="5273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500" name="Text Box 4"/>
          <p:cNvSpPr txBox="1">
            <a:spLocks noChangeArrowheads="1"/>
          </p:cNvSpPr>
          <p:nvPr/>
        </p:nvSpPr>
        <p:spPr bwMode="auto">
          <a:xfrm>
            <a:off x="8144387" y="580256"/>
            <a:ext cx="895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都在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501" name="Object 5"/>
              <p:cNvSpPr txBox="1"/>
              <p:nvPr/>
            </p:nvSpPr>
            <p:spPr bwMode="auto">
              <a:xfrm>
                <a:off x="2302111" y="1176443"/>
                <a:ext cx="5237675" cy="5626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矩形域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]×[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0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2111" y="1176443"/>
                <a:ext cx="5237675" cy="562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03" name="Object 7"/>
              <p:cNvSpPr txBox="1"/>
              <p:nvPr/>
            </p:nvSpPr>
            <p:spPr bwMode="auto">
              <a:xfrm>
                <a:off x="7292896" y="1151662"/>
                <a:ext cx="3360730" cy="5874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为定义在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0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92896" y="1151662"/>
                <a:ext cx="3360730" cy="5874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04" name="Object 8"/>
              <p:cNvSpPr txBox="1"/>
              <p:nvPr/>
            </p:nvSpPr>
            <p:spPr bwMode="auto">
              <a:xfrm>
                <a:off x="2302111" y="1803333"/>
                <a:ext cx="1698878" cy="6387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0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2111" y="1803333"/>
                <a:ext cx="1698878" cy="6387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05" name="Object 9"/>
              <p:cNvSpPr txBox="1"/>
              <p:nvPr/>
            </p:nvSpPr>
            <p:spPr bwMode="auto">
              <a:xfrm>
                <a:off x="4251661" y="2360507"/>
                <a:ext cx="3989967" cy="12504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0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1661" y="2360507"/>
                <a:ext cx="3989967" cy="12504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09" name="Object 13"/>
              <p:cNvSpPr txBox="1"/>
              <p:nvPr/>
            </p:nvSpPr>
            <p:spPr bwMode="auto">
              <a:xfrm>
                <a:off x="2302111" y="3488872"/>
                <a:ext cx="3211359" cy="6058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上可微，且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0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2111" y="3488872"/>
                <a:ext cx="3211359" cy="6058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515" name="Text Box 19"/>
          <p:cNvSpPr txBox="1">
            <a:spLocks noChangeArrowheads="1"/>
          </p:cNvSpPr>
          <p:nvPr/>
        </p:nvSpPr>
        <p:spPr bwMode="auto">
          <a:xfrm>
            <a:off x="6090071" y="1829037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中的可微函数，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6516" name="Text Box 20"/>
          <p:cNvSpPr txBox="1">
            <a:spLocks noChangeArrowheads="1"/>
          </p:cNvSpPr>
          <p:nvPr/>
        </p:nvSpPr>
        <p:spPr bwMode="auto">
          <a:xfrm>
            <a:off x="8492870" y="1837287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517" name="Object 21"/>
              <p:cNvSpPr txBox="1"/>
              <p:nvPr/>
            </p:nvSpPr>
            <p:spPr bwMode="auto">
              <a:xfrm>
                <a:off x="1441911" y="4153890"/>
                <a:ext cx="11159391" cy="20526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func>
                          <m:func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80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d</m:t>
                            </m:r>
                          </m:fName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func>
                      </m:e>
                    </m:nary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)−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))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br>
                  <a:rPr lang="zh-CN" altLang="en-US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    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17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1911" y="4153890"/>
                <a:ext cx="11159391" cy="20526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26" name="Object 30"/>
              <p:cNvSpPr txBox="1"/>
              <p:nvPr/>
            </p:nvSpPr>
            <p:spPr bwMode="auto">
              <a:xfrm>
                <a:off x="3484534" y="1817579"/>
                <a:ext cx="2919254" cy="6387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其值域含于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26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4534" y="1817579"/>
                <a:ext cx="2919254" cy="63871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2351665" y="5156900"/>
            <a:ext cx="3799992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/>
              <a:t>式</a:t>
            </a:r>
            <a:r>
              <a:rPr lang="zh-CN" altLang="en-US" sz="2600" b="1" dirty="0">
                <a:solidFill>
                  <a:srgbClr val="04926A"/>
                </a:solidFill>
              </a:rPr>
              <a:t>①</a:t>
            </a:r>
            <a:r>
              <a:rPr lang="zh-CN" altLang="en-US" sz="2600" dirty="0"/>
              <a:t>称为</a:t>
            </a:r>
            <a:r>
              <a:rPr lang="zh-CN" altLang="en-US" sz="2600" dirty="0">
                <a:solidFill>
                  <a:srgbClr val="4A7BA8"/>
                </a:solidFill>
                <a:ea typeface="黑体" panose="02010609060101010101" pitchFamily="49" charset="-122"/>
              </a:rPr>
              <a:t>莱布尼茨公式</a:t>
            </a:r>
            <a:r>
              <a:rPr lang="en-US" altLang="zh-CN" sz="2600" dirty="0">
                <a:solidFill>
                  <a:srgbClr val="4A7BA8"/>
                </a:solidFill>
              </a:rPr>
              <a:t>.</a:t>
            </a:r>
          </a:p>
        </p:txBody>
      </p:sp>
      <p:sp>
        <p:nvSpPr>
          <p:cNvPr id="2" name="矩形 1"/>
          <p:cNvSpPr/>
          <p:nvPr/>
        </p:nvSpPr>
        <p:spPr>
          <a:xfrm>
            <a:off x="11331379" y="4386676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4926A"/>
                </a:solidFill>
              </a:rPr>
              <a:t>①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5F0762F-7B17-19C3-96E5-044CD8E6F11E}"/>
              </a:ext>
            </a:extLst>
          </p:cNvPr>
          <p:cNvGrpSpPr/>
          <p:nvPr/>
        </p:nvGrpSpPr>
        <p:grpSpPr>
          <a:xfrm>
            <a:off x="1006570" y="558346"/>
            <a:ext cx="2816889" cy="448945"/>
            <a:chOff x="1553" y="3803"/>
            <a:chExt cx="3125" cy="707"/>
          </a:xfrm>
        </p:grpSpPr>
        <p:sp>
          <p:nvSpPr>
            <p:cNvPr id="4" name="圆角矩形 57">
              <a:extLst>
                <a:ext uri="{FF2B5EF4-FFF2-40B4-BE49-F238E27FC236}">
                  <a16:creationId xmlns:a16="http://schemas.microsoft.com/office/drawing/2014/main" id="{8823EB50-1748-A846-6704-30EAD42A87F9}"/>
                </a:ext>
              </a:extLst>
            </p:cNvPr>
            <p:cNvSpPr/>
            <p:nvPr/>
          </p:nvSpPr>
          <p:spPr>
            <a:xfrm>
              <a:off x="1553" y="3803"/>
              <a:ext cx="1404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Text Box 28">
              <a:extLst>
                <a:ext uri="{FF2B5EF4-FFF2-40B4-BE49-F238E27FC236}">
                  <a16:creationId xmlns:a16="http://schemas.microsoft.com/office/drawing/2014/main" id="{92E1E161-57BB-9348-94B4-E14A944A1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" y="3831"/>
              <a:ext cx="2979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定理</a:t>
              </a:r>
              <a:r>
                <a:rPr lang="en-US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5   </a:t>
              </a:r>
              <a:r>
                <a:rPr lang="en-US" altLang="zh-CN" b="0" dirty="0">
                  <a:solidFill>
                    <a:srgbClr val="04926A"/>
                  </a:solidFill>
                  <a:latin typeface="Cambria Math" panose="02040503050406030204" pitchFamily="18" charset="0"/>
                  <a:ea typeface="+mn-ea"/>
                </a:rPr>
                <a:t>(</a:t>
              </a:r>
              <a:r>
                <a:rPr lang="zh-CN" altLang="en-US" b="0" dirty="0">
                  <a:solidFill>
                    <a:srgbClr val="04926A"/>
                  </a:solidFill>
                  <a:latin typeface="Cambria Math" panose="02040503050406030204" pitchFamily="18" charset="0"/>
                  <a:ea typeface="+mn-ea"/>
                </a:rPr>
                <a:t>可微性</a:t>
              </a:r>
              <a:r>
                <a:rPr lang="en-US" altLang="zh-CN" b="0" dirty="0">
                  <a:solidFill>
                    <a:srgbClr val="04926A"/>
                  </a:solidFill>
                  <a:latin typeface="Cambria Math" panose="02040503050406030204" pitchFamily="18" charset="0"/>
                  <a:ea typeface="+mn-ea"/>
                </a:rPr>
                <a:t>)</a:t>
              </a:r>
              <a:endParaRPr lang="zh-CN" altLang="en-US" b="0" dirty="0">
                <a:solidFill>
                  <a:srgbClr val="04926A"/>
                </a:solidFill>
                <a:latin typeface="Cambria Math" panose="02040503050406030204" pitchFamily="18" charset="0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693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65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6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6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/>
      <p:bldP spid="106500" grpId="0" build="p" autoUpdateAnimBg="0"/>
      <p:bldP spid="106501" grpId="0"/>
      <p:bldP spid="106503" grpId="0"/>
      <p:bldP spid="106505" grpId="0"/>
      <p:bldP spid="106509" grpId="0"/>
      <p:bldP spid="106515" grpId="0" build="p" autoUpdateAnimBg="0" advAuto="0"/>
      <p:bldP spid="106516" grpId="0" build="p" autoUpdateAnimBg="0"/>
      <p:bldP spid="106517" grpId="0"/>
      <p:bldP spid="106526" grpId="0"/>
      <p:bldP spid="22" grpId="0" autoUpdateAnimBg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E40A8A1F-694E-69CC-24FC-6FB95F76E1E5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79E45BA-59C5-4A74-F96B-6F57A7664858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79E45BA-59C5-4A74-F96B-6F57A76648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9197EA96-0958-57DF-910E-E747E2F79D94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1F68D565-6209-58CA-52B3-B05E28DA17D0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6ABFCC79-6C7A-EFF4-9253-0EDDDFDE9F1C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1518744B-CD1D-8B10-A549-6F9C9D894E17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>
          <a:xfrm>
            <a:off x="2710715" y="2685024"/>
            <a:ext cx="5600604" cy="38504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008000"/>
                  </a:outerShdw>
                </a:effectLst>
              </a14:hiddenEffects>
            </a:ext>
          </a:extLst>
        </p:spPr>
        <p:txBody>
          <a:bodyPr>
            <a:noAutofit/>
          </a:bodyPr>
          <a:lstStyle/>
          <a:p>
            <a:pPr algn="l"/>
            <a:r>
              <a:rPr lang="zh-CN" altLang="en-US" sz="2200" b="0" dirty="0">
                <a:solidFill>
                  <a:schemeClr val="tx1"/>
                </a:solidFill>
                <a:ea typeface="黑体" panose="02010609060101010101" pitchFamily="49" charset="-122"/>
              </a:rPr>
              <a:t>利用复合函数求导法则及变限积分求导</a:t>
            </a:r>
            <a:r>
              <a:rPr lang="en-US" altLang="zh-CN" sz="2200" b="0" dirty="0">
                <a:solidFill>
                  <a:schemeClr val="tx1"/>
                </a:solidFill>
                <a:ea typeface="黑体" panose="02010609060101010101" pitchFamily="49" charset="-122"/>
              </a:rPr>
              <a:t>, </a:t>
            </a:r>
            <a:r>
              <a:rPr lang="zh-CN" altLang="en-US" sz="2200" b="0" dirty="0">
                <a:solidFill>
                  <a:schemeClr val="tx1"/>
                </a:solidFill>
                <a:ea typeface="黑体" panose="02010609060101010101" pitchFamily="49" charset="-122"/>
              </a:rPr>
              <a:t>得</a:t>
            </a:r>
            <a:endParaRPr lang="zh-CN" altLang="en-US" sz="22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430" name="Object 6"/>
              <p:cNvSpPr txBox="1"/>
              <p:nvPr/>
            </p:nvSpPr>
            <p:spPr bwMode="auto">
              <a:xfrm>
                <a:off x="2710715" y="3238738"/>
                <a:ext cx="5403475" cy="828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𝜕𝛼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𝜕𝛽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343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0715" y="3238738"/>
                <a:ext cx="5403475" cy="8280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31" name="Object 7"/>
              <p:cNvSpPr txBox="1"/>
              <p:nvPr/>
            </p:nvSpPr>
            <p:spPr bwMode="auto">
              <a:xfrm>
                <a:off x="3449041" y="4096394"/>
                <a:ext cx="2633524" cy="977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343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9041" y="4096394"/>
                <a:ext cx="2633524" cy="9771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33" name="Object 9"/>
              <p:cNvSpPr txBox="1"/>
              <p:nvPr/>
            </p:nvSpPr>
            <p:spPr bwMode="auto">
              <a:xfrm>
                <a:off x="5764188" y="4332408"/>
                <a:ext cx="2532087" cy="5378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343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4188" y="4332408"/>
                <a:ext cx="2532087" cy="5378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434" name="Object 10"/>
              <p:cNvSpPr txBox="1"/>
              <p:nvPr/>
            </p:nvSpPr>
            <p:spPr bwMode="auto">
              <a:xfrm>
                <a:off x="5760896" y="4960668"/>
                <a:ext cx="2417073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343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0896" y="4960668"/>
                <a:ext cx="2417073" cy="406400"/>
              </a:xfrm>
              <a:prstGeom prst="rect">
                <a:avLst/>
              </a:prstGeom>
              <a:blipFill>
                <a:blip r:embed="rId6"/>
                <a:stretch>
                  <a:fillRect b="-27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24"/>
          <p:cNvSpPr txBox="1">
            <a:spLocks noChangeArrowheads="1"/>
          </p:cNvSpPr>
          <p:nvPr/>
        </p:nvSpPr>
        <p:spPr bwMode="auto">
          <a:xfrm>
            <a:off x="2064066" y="1129618"/>
            <a:ext cx="646331" cy="480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25"/>
              <p:cNvSpPr txBox="1"/>
              <p:nvPr/>
            </p:nvSpPr>
            <p:spPr bwMode="auto">
              <a:xfrm>
                <a:off x="2710715" y="1129618"/>
                <a:ext cx="35052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把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看作复合函数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0715" y="1129618"/>
                <a:ext cx="3505200" cy="444500"/>
              </a:xfrm>
              <a:prstGeom prst="rect">
                <a:avLst/>
              </a:prstGeom>
              <a:blipFill>
                <a:blip r:embed="rId7"/>
                <a:stretch>
                  <a:fillRect l="-1217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26"/>
          <p:cNvSpPr txBox="1">
            <a:spLocks noChangeArrowheads="1"/>
          </p:cNvSpPr>
          <p:nvPr/>
        </p:nvSpPr>
        <p:spPr bwMode="auto">
          <a:xfrm>
            <a:off x="5385248" y="1131899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27"/>
              <p:cNvSpPr txBox="1"/>
              <p:nvPr/>
            </p:nvSpPr>
            <p:spPr bwMode="auto">
              <a:xfrm>
                <a:off x="2710715" y="1806913"/>
                <a:ext cx="2674533" cy="47547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𝛷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0715" y="1806913"/>
                <a:ext cx="2674533" cy="475477"/>
              </a:xfrm>
              <a:prstGeom prst="rect">
                <a:avLst/>
              </a:prstGeom>
              <a:blipFill>
                <a:blip r:embed="rId8"/>
                <a:stretch>
                  <a:fillRect l="-228" b="-7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28"/>
              <p:cNvSpPr txBox="1"/>
              <p:nvPr/>
            </p:nvSpPr>
            <p:spPr bwMode="auto">
              <a:xfrm>
                <a:off x="4894958" y="1634247"/>
                <a:ext cx="2175473" cy="800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</m:e>
                      </m:nary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94958" y="1634247"/>
                <a:ext cx="2175473" cy="8001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29"/>
              <p:cNvSpPr txBox="1"/>
              <p:nvPr/>
            </p:nvSpPr>
            <p:spPr bwMode="auto">
              <a:xfrm>
                <a:off x="6787319" y="1808758"/>
                <a:ext cx="30480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),  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7319" y="1808758"/>
                <a:ext cx="3048000" cy="393700"/>
              </a:xfrm>
              <a:prstGeom prst="rect">
                <a:avLst/>
              </a:prstGeom>
              <a:blipFill>
                <a:blip r:embed="rId10"/>
                <a:stretch>
                  <a:fillRect l="-1200"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22">
                <a:extLst>
                  <a:ext uri="{FF2B5EF4-FFF2-40B4-BE49-F238E27FC236}">
                    <a16:creationId xmlns:a16="http://schemas.microsoft.com/office/drawing/2014/main" id="{8CC2A9CD-D7C6-7552-DEC3-58CAD8D8D310}"/>
                  </a:ext>
                </a:extLst>
              </p:cNvPr>
              <p:cNvSpPr txBox="1"/>
              <p:nvPr/>
            </p:nvSpPr>
            <p:spPr>
              <a:xfrm>
                <a:off x="8177969" y="4974798"/>
                <a:ext cx="810669" cy="461032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证毕</m:t>
                      </m:r>
                    </m:oMath>
                  </m:oMathPara>
                </a14:m>
                <a:endParaRPr lang="zh-CN" altLang="en-US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对象 22">
                <a:extLst>
                  <a:ext uri="{FF2B5EF4-FFF2-40B4-BE49-F238E27FC236}">
                    <a16:creationId xmlns:a16="http://schemas.microsoft.com/office/drawing/2014/main" id="{8CC2A9CD-D7C6-7552-DEC3-58CAD8D8D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969" y="4974798"/>
                <a:ext cx="810669" cy="461032"/>
              </a:xfrm>
              <a:prstGeom prst="rect">
                <a:avLst/>
              </a:prstGeom>
              <a:blipFill>
                <a:blip r:embed="rId11"/>
                <a:stretch>
                  <a:fillRect l="-5263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120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3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6" grpId="0" animBg="1"/>
      <p:bldP spid="103430" grpId="0"/>
      <p:bldP spid="103431" grpId="0"/>
      <p:bldP spid="103433" grpId="0"/>
      <p:bldP spid="103434" grpId="0"/>
      <p:bldP spid="12" grpId="0" build="p" autoUpdateAnimBg="0"/>
      <p:bldP spid="13" grpId="0"/>
      <p:bldP spid="14" grpId="0" build="p" autoUpdateAnimBg="0"/>
      <p:bldP spid="15" grpId="0"/>
      <p:bldP spid="16" grpId="0"/>
      <p:bldP spid="17" grpId="0"/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047D3C2-F862-D4B8-BC18-4E75F53F0E4C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64252A0B-D7D7-47A7-DFE7-666AC1F6B54E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 smtClean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64252A0B-D7D7-47A7-DFE7-666AC1F6B5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F7D66901-09C9-B8D1-4485-2B08485E1C5C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6C88F66A-12B2-40CC-EB0C-9828226A64D3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9EF71AF1-C794-CBAA-732A-FE3CFD223197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4B9CC8A9-F502-83A3-611C-32F0FE9E11E8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95983" y="1295268"/>
            <a:ext cx="914400" cy="609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0033CC"/>
                </a:solidFill>
              </a14:hiddenFill>
            </a:ext>
            <a:ext uri="{91240B29-F687-4F45-9708-019B960494DF}">
              <a14:hiddenLine xmlns:a14="http://schemas.microsoft.com/office/drawing/2010/main" w="76200" cmpd="tri">
                <a:solidFill>
                  <a:srgbClr val="66FF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rgbClr val="008000"/>
                  </a:outerShdw>
                </a:effectLst>
              </a14:hiddenEffects>
            </a:ext>
          </a:extLst>
        </p:spPr>
        <p:txBody>
          <a:bodyPr/>
          <a:lstStyle/>
          <a:p>
            <a:pPr algn="l"/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451" name="Object 3"/>
              <p:cNvSpPr txBox="1"/>
              <p:nvPr/>
            </p:nvSpPr>
            <p:spPr bwMode="auto">
              <a:xfrm>
                <a:off x="3215548" y="918753"/>
                <a:ext cx="5706604" cy="12043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func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nary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445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5548" y="918753"/>
                <a:ext cx="5706604" cy="12043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457" name="Text Box 9"/>
          <p:cNvSpPr txBox="1">
            <a:spLocks noChangeArrowheads="1"/>
          </p:cNvSpPr>
          <p:nvPr/>
        </p:nvSpPr>
        <p:spPr bwMode="auto">
          <a:xfrm>
            <a:off x="2295983" y="2525647"/>
            <a:ext cx="7508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458" name="Object 10"/>
              <p:cNvSpPr txBox="1"/>
              <p:nvPr/>
            </p:nvSpPr>
            <p:spPr bwMode="auto">
              <a:xfrm>
                <a:off x="3215548" y="2557101"/>
                <a:ext cx="1223799" cy="5763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445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5548" y="2557101"/>
                <a:ext cx="1223799" cy="576332"/>
              </a:xfrm>
              <a:prstGeom prst="rect">
                <a:avLst/>
              </a:prstGeom>
              <a:blipFill>
                <a:blip r:embed="rId4"/>
                <a:stretch>
                  <a:fillRect l="-49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64" name="Object 16"/>
              <p:cNvSpPr txBox="1"/>
              <p:nvPr/>
            </p:nvSpPr>
            <p:spPr bwMode="auto">
              <a:xfrm>
                <a:off x="4220206" y="2303101"/>
                <a:ext cx="1875794" cy="10556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446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0206" y="2303101"/>
                <a:ext cx="1875794" cy="10556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65" name="Object 17"/>
              <p:cNvSpPr txBox="1"/>
              <p:nvPr/>
            </p:nvSpPr>
            <p:spPr bwMode="auto">
              <a:xfrm>
                <a:off x="5952330" y="2364122"/>
                <a:ext cx="1717421" cy="8719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446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2330" y="2364122"/>
                <a:ext cx="1717421" cy="8719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66" name="Object 18"/>
              <p:cNvSpPr txBox="1"/>
              <p:nvPr/>
            </p:nvSpPr>
            <p:spPr bwMode="auto">
              <a:xfrm>
                <a:off x="7551750" y="2341502"/>
                <a:ext cx="1566747" cy="9169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4466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51750" y="2341502"/>
                <a:ext cx="1566747" cy="9169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67" name="Object 19"/>
              <p:cNvSpPr txBox="1"/>
              <p:nvPr/>
            </p:nvSpPr>
            <p:spPr bwMode="auto">
              <a:xfrm>
                <a:off x="3980007" y="3350605"/>
                <a:ext cx="1751028" cy="8530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func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b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446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80007" y="3350605"/>
                <a:ext cx="1751028" cy="8530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68" name="Object 20"/>
              <p:cNvSpPr txBox="1"/>
              <p:nvPr/>
            </p:nvSpPr>
            <p:spPr bwMode="auto">
              <a:xfrm>
                <a:off x="5472168" y="3480386"/>
                <a:ext cx="1593785" cy="8719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func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4468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72168" y="3480386"/>
                <a:ext cx="1593785" cy="8719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69" name="Object 21"/>
              <p:cNvSpPr txBox="1"/>
              <p:nvPr/>
            </p:nvSpPr>
            <p:spPr bwMode="auto">
              <a:xfrm>
                <a:off x="6708300" y="3464549"/>
                <a:ext cx="1351871" cy="9169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4469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8300" y="3464549"/>
                <a:ext cx="1351871" cy="9169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70" name="Object 22"/>
              <p:cNvSpPr txBox="1"/>
              <p:nvPr/>
            </p:nvSpPr>
            <p:spPr bwMode="auto">
              <a:xfrm>
                <a:off x="4004624" y="4503147"/>
                <a:ext cx="2907753" cy="8793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func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4470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4624" y="4503147"/>
                <a:ext cx="2907753" cy="8793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37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4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4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4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4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4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0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animBg="1"/>
      <p:bldP spid="104451" grpId="0"/>
      <p:bldP spid="104457" grpId="0" build="p" autoUpdateAnimBg="0"/>
      <p:bldP spid="104458" grpId="0"/>
      <p:bldP spid="104464" grpId="0"/>
      <p:bldP spid="104465" grpId="0"/>
      <p:bldP spid="104466" grpId="0"/>
      <p:bldP spid="104467" grpId="0"/>
      <p:bldP spid="104468" grpId="0"/>
      <p:bldP spid="104469" grpId="0"/>
      <p:bldP spid="10447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96087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cuilh纯白模板 </Template>
  <TotalTime>16544</TotalTime>
  <Words>1524</Words>
  <Application>Microsoft Macintosh PowerPoint</Application>
  <PresentationFormat>宽屏</PresentationFormat>
  <Paragraphs>235</Paragraphs>
  <Slides>19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一、被积函数含参变量的积分</vt:lpstr>
      <vt:lpstr>证 </vt:lpstr>
      <vt:lpstr>定理1表明，</vt:lpstr>
      <vt:lpstr>PowerPoint 演示文稿</vt:lpstr>
      <vt:lpstr>PowerPoint 演示文稿</vt:lpstr>
      <vt:lpstr>PowerPoint 演示文稿</vt:lpstr>
      <vt:lpstr>例1 </vt:lpstr>
      <vt:lpstr>例2 </vt:lpstr>
      <vt:lpstr>PowerPoint 演示文稿</vt:lpstr>
      <vt:lpstr>二、积分限含参变量的积分</vt:lpstr>
      <vt:lpstr>PowerPoint 演示文稿</vt:lpstr>
      <vt:lpstr>PowerPoint 演示文稿</vt:lpstr>
      <vt:lpstr>利用复合函数求导法则及变限积分求导, 得</vt:lpstr>
      <vt:lpstr>例3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 崔丽鸿</dc:creator>
  <cp:lastModifiedBy>Microsoft Office User</cp:lastModifiedBy>
  <cp:revision>1346</cp:revision>
  <dcterms:created xsi:type="dcterms:W3CDTF">2021-12-25T10:05:44Z</dcterms:created>
  <dcterms:modified xsi:type="dcterms:W3CDTF">2023-06-28T02:47:21Z</dcterms:modified>
</cp:coreProperties>
</file>