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7" r:id="rId2"/>
    <p:sldId id="773" r:id="rId3"/>
    <p:sldId id="774" r:id="rId4"/>
    <p:sldId id="817" r:id="rId5"/>
    <p:sldId id="663" r:id="rId6"/>
    <p:sldId id="665" r:id="rId7"/>
    <p:sldId id="706" r:id="rId8"/>
    <p:sldId id="707" r:id="rId9"/>
    <p:sldId id="708" r:id="rId10"/>
    <p:sldId id="709" r:id="rId11"/>
    <p:sldId id="710" r:id="rId12"/>
    <p:sldId id="711" r:id="rId13"/>
    <p:sldId id="664" r:id="rId14"/>
    <p:sldId id="659" r:id="rId15"/>
    <p:sldId id="660" r:id="rId16"/>
    <p:sldId id="673" r:id="rId17"/>
    <p:sldId id="657" r:id="rId18"/>
    <p:sldId id="674" r:id="rId19"/>
    <p:sldId id="675" r:id="rId20"/>
    <p:sldId id="689" r:id="rId21"/>
    <p:sldId id="691" r:id="rId22"/>
    <p:sldId id="690" r:id="rId23"/>
    <p:sldId id="694" r:id="rId24"/>
    <p:sldId id="695" r:id="rId25"/>
    <p:sldId id="696" r:id="rId26"/>
    <p:sldId id="697" r:id="rId27"/>
    <p:sldId id="698" r:id="rId28"/>
    <p:sldId id="701" r:id="rId29"/>
    <p:sldId id="699" r:id="rId30"/>
    <p:sldId id="364" r:id="rId31"/>
  </p:sldIdLst>
  <p:sldSz cx="12192000" cy="6858000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CC6600"/>
    <a:srgbClr val="66CCFF"/>
    <a:srgbClr val="BBBBBB"/>
    <a:srgbClr val="A9D18E"/>
    <a:srgbClr val="CDE9E1"/>
    <a:srgbClr val="0000FF"/>
    <a:srgbClr val="99FF99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474" autoAdjust="0"/>
  </p:normalViewPr>
  <p:slideViewPr>
    <p:cSldViewPr snapToGrid="0">
      <p:cViewPr varScale="1">
        <p:scale>
          <a:sx n="123" d="100"/>
          <a:sy n="12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3AAC4-AEC9-45B6-8129-7AC04A374C48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B50E2-0B44-4175-B25E-BDF40D211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99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E2628-425B-4711-85D1-DD3DDE2BDF3E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AC77-7EE5-47C0-B214-037F908F1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4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15AC77-7EE5-47C0-B214-037F908F1C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7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E523D05-538F-467B-BE20-BD6FCD31A6D7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2697163" y="509588"/>
            <a:ext cx="4533900" cy="2549525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24752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878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0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12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505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4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2089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8C9C68CC-DB9C-8493-2DDB-C05844CE7D7D}"/>
              </a:ext>
            </a:extLst>
          </p:cNvPr>
          <p:cNvSpPr/>
          <p:nvPr userDrawn="1"/>
        </p:nvSpPr>
        <p:spPr>
          <a:xfrm>
            <a:off x="297498" y="6596180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535CD43-69BB-1D9F-F705-13F3327BDB11}"/>
              </a:ext>
            </a:extLst>
          </p:cNvPr>
          <p:cNvSpPr/>
          <p:nvPr userDrawn="1"/>
        </p:nvSpPr>
        <p:spPr>
          <a:xfrm rot="2659048">
            <a:off x="1033688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5AE437-46D4-0EFF-07B9-9FAF44D82A68}"/>
              </a:ext>
            </a:extLst>
          </p:cNvPr>
          <p:cNvSpPr/>
          <p:nvPr userDrawn="1"/>
        </p:nvSpPr>
        <p:spPr>
          <a:xfrm>
            <a:off x="476828" y="6483030"/>
            <a:ext cx="2624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二重积分的概念与性质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F0413A-1CCC-CEB4-481B-FD3332199F1A}"/>
              </a:ext>
            </a:extLst>
          </p:cNvPr>
          <p:cNvSpPr/>
          <p:nvPr userDrawn="1"/>
        </p:nvSpPr>
        <p:spPr>
          <a:xfrm>
            <a:off x="10592060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8885EC-62CB-033E-B106-A46F8DDB47E1}"/>
              </a:ext>
            </a:extLst>
          </p:cNvPr>
          <p:cNvCxnSpPr/>
          <p:nvPr userDrawn="1"/>
        </p:nvCxnSpPr>
        <p:spPr>
          <a:xfrm>
            <a:off x="-1" y="248584"/>
            <a:ext cx="10152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3FA9E9-6C5C-6C3A-4FF8-5B06997FB12B}"/>
              </a:ext>
            </a:extLst>
          </p:cNvPr>
          <p:cNvCxnSpPr>
            <a:cxnSpLocks/>
          </p:cNvCxnSpPr>
          <p:nvPr userDrawn="1"/>
        </p:nvCxnSpPr>
        <p:spPr>
          <a:xfrm>
            <a:off x="3162299" y="6636918"/>
            <a:ext cx="903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png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jpeg"/><Relationship Id="rId12" Type="http://schemas.openxmlformats.org/officeDocument/2006/relationships/image" Target="../media/image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10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62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6" Type="http://schemas.openxmlformats.org/officeDocument/2006/relationships/image" Target="../media/image64.png"/><Relationship Id="rId5" Type="http://schemas.openxmlformats.org/officeDocument/2006/relationships/image" Target="../media/image610.png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9.png"/><Relationship Id="rId7" Type="http://schemas.openxmlformats.org/officeDocument/2006/relationships/image" Target="../media/image86.png"/><Relationship Id="rId12" Type="http://schemas.openxmlformats.org/officeDocument/2006/relationships/image" Target="../media/image8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image" Target="../media/image85.png"/><Relationship Id="rId5" Type="http://schemas.openxmlformats.org/officeDocument/2006/relationships/image" Target="../media/image81.png"/><Relationship Id="rId10" Type="http://schemas.openxmlformats.org/officeDocument/2006/relationships/image" Target="../media/image84.png"/><Relationship Id="rId4" Type="http://schemas.openxmlformats.org/officeDocument/2006/relationships/image" Target="../media/image80.png"/><Relationship Id="rId9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0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Relationship Id="rId6" Type="http://schemas.openxmlformats.org/officeDocument/2006/relationships/image" Target="../media/image6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46.png"/><Relationship Id="rId3" Type="http://schemas.openxmlformats.org/officeDocument/2006/relationships/image" Target="../media/image137.png"/><Relationship Id="rId7" Type="http://schemas.openxmlformats.org/officeDocument/2006/relationships/image" Target="../media/image142.png"/><Relationship Id="rId12" Type="http://schemas.openxmlformats.org/officeDocument/2006/relationships/image" Target="../media/image143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11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9.png"/><Relationship Id="rId9" Type="http://schemas.openxmlformats.org/officeDocument/2006/relationships/image" Target="../media/image1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109.png"/><Relationship Id="rId7" Type="http://schemas.openxmlformats.org/officeDocument/2006/relationships/image" Target="../media/image14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10.png"/><Relationship Id="rId9" Type="http://schemas.openxmlformats.org/officeDocument/2006/relationships/image" Target="../media/image9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5.png"/><Relationship Id="rId3" Type="http://schemas.openxmlformats.org/officeDocument/2006/relationships/image" Target="../media/image151.png"/><Relationship Id="rId21" Type="http://schemas.openxmlformats.org/officeDocument/2006/relationships/image" Target="../media/image167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4.png"/><Relationship Id="rId2" Type="http://schemas.openxmlformats.org/officeDocument/2006/relationships/image" Target="../media/image150.png"/><Relationship Id="rId16" Type="http://schemas.openxmlformats.org/officeDocument/2006/relationships/image" Target="../media/image163.png"/><Relationship Id="rId20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94.png"/><Relationship Id="rId5" Type="http://schemas.openxmlformats.org/officeDocument/2006/relationships/image" Target="../media/image153.png"/><Relationship Id="rId15" Type="http://schemas.openxmlformats.org/officeDocument/2006/relationships/image" Target="../media/image96.png"/><Relationship Id="rId10" Type="http://schemas.openxmlformats.org/officeDocument/2006/relationships/image" Target="../media/image158.png"/><Relationship Id="rId19" Type="http://schemas.openxmlformats.org/officeDocument/2006/relationships/image" Target="../media/image166.png"/><Relationship Id="rId4" Type="http://schemas.openxmlformats.org/officeDocument/2006/relationships/image" Target="../media/image93.png"/><Relationship Id="rId9" Type="http://schemas.openxmlformats.org/officeDocument/2006/relationships/image" Target="../media/image157.png"/><Relationship Id="rId14" Type="http://schemas.openxmlformats.org/officeDocument/2006/relationships/image" Target="../media/image9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399663" y="4118384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118384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8192" y="8109"/>
              <a:ext cx="232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118384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本章聚焦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551" y="7873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二重积分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4020027" y="884555"/>
            <a:ext cx="41519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第十章   重积分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128544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140609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E2B425-399F-554D-45F0-E467133D88B7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1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2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9" name="PA-矩形 6"/>
          <p:cNvSpPr/>
          <p:nvPr>
            <p:custDataLst>
              <p:tags r:id="rId3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第十章</a:t>
            </a:r>
          </a:p>
        </p:txBody>
      </p:sp>
      <p:sp>
        <p:nvSpPr>
          <p:cNvPr id="3" name="矩形 2"/>
          <p:cNvSpPr/>
          <p:nvPr/>
        </p:nvSpPr>
        <p:spPr>
          <a:xfrm>
            <a:off x="5748849" y="1652691"/>
            <a:ext cx="458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二重积分的概念与性质</a:t>
            </a:r>
          </a:p>
        </p:txBody>
      </p:sp>
      <p:sp>
        <p:nvSpPr>
          <p:cNvPr id="24" name="矩形 23"/>
          <p:cNvSpPr/>
          <p:nvPr/>
        </p:nvSpPr>
        <p:spPr>
          <a:xfrm>
            <a:off x="5748849" y="2437275"/>
            <a:ext cx="3813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二重积分的计算法</a:t>
            </a:r>
          </a:p>
        </p:txBody>
      </p:sp>
      <p:sp>
        <p:nvSpPr>
          <p:cNvPr id="28" name="矩形 27"/>
          <p:cNvSpPr/>
          <p:nvPr/>
        </p:nvSpPr>
        <p:spPr>
          <a:xfrm>
            <a:off x="5748849" y="3221859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三重积分</a:t>
            </a:r>
          </a:p>
        </p:txBody>
      </p:sp>
      <p:sp>
        <p:nvSpPr>
          <p:cNvPr id="29" name="矩形 28"/>
          <p:cNvSpPr/>
          <p:nvPr/>
        </p:nvSpPr>
        <p:spPr>
          <a:xfrm>
            <a:off x="5749162" y="4006443"/>
            <a:ext cx="3456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重积分的应用</a:t>
            </a:r>
          </a:p>
        </p:txBody>
      </p:sp>
      <p:sp>
        <p:nvSpPr>
          <p:cNvPr id="32" name="矩形 31"/>
          <p:cNvSpPr/>
          <p:nvPr/>
        </p:nvSpPr>
        <p:spPr>
          <a:xfrm>
            <a:off x="5749162" y="4791026"/>
            <a:ext cx="3536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含参变量的积分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214442" y="686345"/>
            <a:ext cx="576311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二重积分的概念与性质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08F388-E127-1D4C-9428-90D171BA57B8}"/>
              </a:ext>
            </a:extLst>
          </p:cNvPr>
          <p:cNvGrpSpPr/>
          <p:nvPr/>
        </p:nvGrpSpPr>
        <p:grpSpPr>
          <a:xfrm>
            <a:off x="4142362" y="2223699"/>
            <a:ext cx="3907275" cy="901065"/>
            <a:chOff x="3376753" y="2223699"/>
            <a:chExt cx="3907275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9"/>
              <a:ext cx="3907275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问题的提出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9B11AD-51E4-B841-A3B7-DEDE8869290F}"/>
              </a:ext>
            </a:extLst>
          </p:cNvPr>
          <p:cNvGrpSpPr/>
          <p:nvPr/>
        </p:nvGrpSpPr>
        <p:grpSpPr>
          <a:xfrm>
            <a:off x="4142363" y="3448292"/>
            <a:ext cx="3907274" cy="901065"/>
            <a:chOff x="3376754" y="3448292"/>
            <a:chExt cx="3907274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4" y="3448292"/>
              <a:ext cx="390727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二重积分的概念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3BFD999-EFC5-C54F-9A86-BD05BAE70A2B}"/>
              </a:ext>
            </a:extLst>
          </p:cNvPr>
          <p:cNvGrpSpPr/>
          <p:nvPr/>
        </p:nvGrpSpPr>
        <p:grpSpPr>
          <a:xfrm>
            <a:off x="4142363" y="4664248"/>
            <a:ext cx="3907274" cy="901065"/>
            <a:chOff x="3376754" y="4664248"/>
            <a:chExt cx="3907274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4" y="4664248"/>
              <a:ext cx="390727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853484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二重积分的性质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2341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5" name="Rectangle 27"/>
          <p:cNvSpPr>
            <a:spLocks noGrp="1" noChangeArrowheads="1"/>
          </p:cNvSpPr>
          <p:nvPr>
            <p:ph type="title"/>
          </p:nvPr>
        </p:nvSpPr>
        <p:spPr>
          <a:xfrm>
            <a:off x="1082531" y="468786"/>
            <a:ext cx="3260869" cy="542402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一、问题的提出</a:t>
            </a:r>
          </a:p>
        </p:txBody>
      </p:sp>
      <p:sp>
        <p:nvSpPr>
          <p:cNvPr id="44" name="AutoShape 3"/>
          <p:cNvSpPr>
            <a:spLocks noChangeArrowheads="1"/>
          </p:cNvSpPr>
          <p:nvPr/>
        </p:nvSpPr>
        <p:spPr bwMode="auto">
          <a:xfrm>
            <a:off x="2177217" y="2547568"/>
            <a:ext cx="1025525" cy="1219200"/>
          </a:xfrm>
          <a:prstGeom prst="can">
            <a:avLst>
              <a:gd name="adj" fmla="val 29721"/>
            </a:avLst>
          </a:prstGeom>
          <a:solidFill>
            <a:srgbClr val="04926A"/>
          </a:solidFill>
          <a:ln w="12700" cap="sq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/>
          </a:p>
        </p:txBody>
      </p:sp>
      <p:sp>
        <p:nvSpPr>
          <p:cNvPr id="46" name="AutoShape 4" descr="大网格"/>
          <p:cNvSpPr>
            <a:spLocks noChangeArrowheads="1"/>
          </p:cNvSpPr>
          <p:nvPr/>
        </p:nvSpPr>
        <p:spPr bwMode="auto">
          <a:xfrm>
            <a:off x="4242817" y="2562297"/>
            <a:ext cx="893763" cy="1219200"/>
          </a:xfrm>
          <a:prstGeom prst="cube">
            <a:avLst>
              <a:gd name="adj" fmla="val 25000"/>
            </a:avLst>
          </a:prstGeom>
          <a:pattFill prst="lgGrid">
            <a:fgClr>
              <a:schemeClr val="tx2"/>
            </a:fgClr>
            <a:bgClr>
              <a:srgbClr val="FFFFFF"/>
            </a:bgClr>
          </a:pattFill>
          <a:ln w="1270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6105379" y="3179763"/>
                <a:ext cx="4135900" cy="60173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底面积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379" y="3179763"/>
                <a:ext cx="4135900" cy="6017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 Box 28" descr="大网格"/>
          <p:cNvSpPr txBox="1">
            <a:spLocks noChangeArrowheads="1"/>
          </p:cNvSpPr>
          <p:nvPr/>
        </p:nvSpPr>
        <p:spPr bwMode="auto">
          <a:xfrm>
            <a:off x="6105379" y="2640118"/>
            <a:ext cx="29035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特点</a:t>
            </a:r>
            <a:r>
              <a:rPr lang="zh-CN" altLang="en-US" sz="2800" dirty="0">
                <a:solidFill>
                  <a:srgbClr val="04926A"/>
                </a:solidFill>
              </a:rPr>
              <a:t>：平顶柱体</a:t>
            </a:r>
            <a:r>
              <a:rPr lang="en-US" altLang="zh-CN" sz="2800" dirty="0">
                <a:solidFill>
                  <a:srgbClr val="04926A"/>
                </a:solidFill>
              </a:rPr>
              <a:t>.</a:t>
            </a:r>
          </a:p>
        </p:txBody>
      </p:sp>
      <p:sp>
        <p:nvSpPr>
          <p:cNvPr id="71" name="Rectangle 2"/>
          <p:cNvSpPr txBox="1">
            <a:spLocks noChangeArrowheads="1"/>
          </p:cNvSpPr>
          <p:nvPr/>
        </p:nvSpPr>
        <p:spPr>
          <a:xfrm>
            <a:off x="1446759" y="1038329"/>
            <a:ext cx="3260869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曲顶柱体的体积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p:sp>
        <p:nvSpPr>
          <p:cNvPr id="74" name="Text Box 28" descr="大网格"/>
          <p:cNvSpPr txBox="1">
            <a:spLocks noChangeArrowheads="1"/>
          </p:cNvSpPr>
          <p:nvPr/>
        </p:nvSpPr>
        <p:spPr bwMode="auto">
          <a:xfrm>
            <a:off x="6105379" y="4550479"/>
            <a:ext cx="29035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特点</a:t>
            </a:r>
            <a:r>
              <a:rPr lang="zh-CN" altLang="en-US" sz="2800" dirty="0">
                <a:solidFill>
                  <a:srgbClr val="04926A"/>
                </a:solidFill>
              </a:rPr>
              <a:t>：曲顶柱体</a:t>
            </a:r>
            <a:endParaRPr lang="en-US" altLang="zh-CN" sz="2800" dirty="0">
              <a:solidFill>
                <a:srgbClr val="04926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对象 76"/>
              <p:cNvSpPr txBox="1"/>
              <p:nvPr/>
            </p:nvSpPr>
            <p:spPr>
              <a:xfrm>
                <a:off x="6105379" y="5095223"/>
                <a:ext cx="1971821" cy="57848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？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7" name="对象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379" y="5095223"/>
                <a:ext cx="1971821" cy="5784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368818"/>
              </p:ext>
            </p:extLst>
          </p:nvPr>
        </p:nvGraphicFramePr>
        <p:xfrm>
          <a:off x="3837574" y="4300587"/>
          <a:ext cx="1820863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BMP 图像" r:id="rId5" imgW="3381480" imgH="2762280" progId="Paint.Picture">
                  <p:embed/>
                </p:oleObj>
              </mc:Choice>
              <mc:Fallback>
                <p:oleObj name="BMP 图像" r:id="rId5" imgW="3381480" imgH="2762280" progId="Paint.Picture">
                  <p:embed/>
                  <p:pic>
                    <p:nvPicPr>
                      <p:cNvPr id="1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7574" y="4300587"/>
                        <a:ext cx="1820863" cy="1546225"/>
                      </a:xfrm>
                      <a:prstGeom prst="rect">
                        <a:avLst/>
                      </a:prstGeom>
                      <a:noFill/>
                      <a:ln w="317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 descr="图示, 示意图&#10;&#10;描述已自动生成">
            <a:extLst>
              <a:ext uri="{FF2B5EF4-FFF2-40B4-BE49-F238E27FC236}">
                <a16:creationId xmlns:a16="http://schemas.microsoft.com/office/drawing/2014/main" id="{E476F45A-36EE-80ED-BD12-31E456BE03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759" y="4064567"/>
            <a:ext cx="1398211" cy="165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794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5" grpId="0"/>
      <p:bldP spid="44" grpId="0" animBg="1"/>
      <p:bldP spid="46" grpId="0" animBg="1"/>
      <p:bldP spid="7" grpId="0"/>
      <p:bldP spid="51" grpId="0"/>
      <p:bldP spid="71" grpId="0" animBg="1"/>
      <p:bldP spid="74" grpId="0"/>
      <p:bldP spid="7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9E30E14-F6EE-7AD0-0754-DE018ED1DF9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5" name="PA-102232">
              <a:extLst>
                <a:ext uri="{FF2B5EF4-FFF2-40B4-BE49-F238E27FC236}">
                  <a16:creationId xmlns:a16="http://schemas.microsoft.com/office/drawing/2014/main" id="{FE7EC94A-1E53-101F-A366-93387CE821FC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3720CFF-30E4-78D3-FD84-E1F3B8D57CFF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CD5D13CB-5CBD-1CDB-5D38-98258B8A5D1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D5720873-0BEE-4461-DBB2-8553D779C46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9EC5C526-3796-80FD-AD8D-9C07B5F671B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759" name="Text Box 15" descr="大网格"/>
          <p:cNvSpPr txBox="1">
            <a:spLocks noChangeArrowheads="1"/>
          </p:cNvSpPr>
          <p:nvPr/>
        </p:nvSpPr>
        <p:spPr bwMode="auto">
          <a:xfrm>
            <a:off x="1786301" y="2158150"/>
            <a:ext cx="301717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200" dirty="0"/>
              <a:t>如下动画演示．</a:t>
            </a:r>
          </a:p>
        </p:txBody>
      </p:sp>
      <p:sp>
        <p:nvSpPr>
          <p:cNvPr id="13" name="Text Box 41"/>
          <p:cNvSpPr txBox="1">
            <a:spLocks noChangeArrowheads="1"/>
          </p:cNvSpPr>
          <p:nvPr/>
        </p:nvSpPr>
        <p:spPr bwMode="auto">
          <a:xfrm>
            <a:off x="1786301" y="735938"/>
            <a:ext cx="477642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9900">
                        <a:gamma/>
                        <a:shade val="46275"/>
                        <a:invGamma/>
                      </a:srgbClr>
                    </a:gs>
                    <a:gs pos="50000">
                      <a:srgbClr val="009900"/>
                    </a:gs>
                    <a:gs pos="100000">
                      <a:srgbClr val="009900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解法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类似定积分解决问题的思想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p:sp>
        <p:nvSpPr>
          <p:cNvPr id="14" name="Text Box 73"/>
          <p:cNvSpPr txBox="1">
            <a:spLocks noChangeArrowheads="1"/>
          </p:cNvSpPr>
          <p:nvPr/>
        </p:nvSpPr>
        <p:spPr bwMode="auto">
          <a:xfrm>
            <a:off x="2908451" y="1319413"/>
            <a:ext cx="4980851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“大化小，常代变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近似和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求极限”</a:t>
            </a:r>
          </a:p>
        </p:txBody>
      </p:sp>
      <p:grpSp>
        <p:nvGrpSpPr>
          <p:cNvPr id="21" name="Group 14"/>
          <p:cNvGrpSpPr>
            <a:grpSpLocks/>
          </p:cNvGrpSpPr>
          <p:nvPr/>
        </p:nvGrpSpPr>
        <p:grpSpPr bwMode="auto">
          <a:xfrm>
            <a:off x="3884309" y="2007927"/>
            <a:ext cx="4797425" cy="3644900"/>
            <a:chOff x="1405" y="1313"/>
            <a:chExt cx="3022" cy="2296"/>
          </a:xfrm>
        </p:grpSpPr>
        <p:sp>
          <p:nvSpPr>
            <p:cNvPr id="24" name="Rectangle 3"/>
            <p:cNvSpPr>
              <a:spLocks noChangeArrowheads="1"/>
            </p:cNvSpPr>
            <p:nvPr/>
          </p:nvSpPr>
          <p:spPr bwMode="auto">
            <a:xfrm>
              <a:off x="1405" y="1313"/>
              <a:ext cx="3022" cy="2296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6947672"/>
                </p:ext>
              </p:extLst>
            </p:nvPr>
          </p:nvGraphicFramePr>
          <p:xfrm>
            <a:off x="1810" y="1577"/>
            <a:ext cx="2126" cy="1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" name="BMP 图象" r:id="rId5" imgW="3333333" imgH="2742857" progId="Paint.Picture">
                    <p:embed/>
                  </p:oleObj>
                </mc:Choice>
                <mc:Fallback>
                  <p:oleObj name="BMP 图象" r:id="rId5" imgW="3333333" imgH="2742857" progId="Paint.Picture">
                    <p:embed/>
                    <p:pic>
                      <p:nvPicPr>
                        <p:cNvPr id="3175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0" y="1577"/>
                          <a:ext cx="2126" cy="1818"/>
                        </a:xfrm>
                        <a:prstGeom prst="rect">
                          <a:avLst/>
                        </a:prstGeom>
                        <a:noFill/>
                        <a:ln w="12700">
                          <a:solidFill>
                            <a:srgbClr val="04926A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2019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9" grpId="0"/>
      <p:bldP spid="1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F26FC3D-31CD-3649-035D-947D467EC01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7D8EBFC5-F4B6-BF80-0746-091310E142E4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4E32C043-1BE3-5D31-A59A-9F457B47E1B9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AE17EC26-4E49-8B88-40A3-0342BF55A9DF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2F092F1B-9ECC-1DD0-1149-C066E2D5A046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1AFD9D9E-95F8-3BD3-C7AC-EAFC86EDD1DD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1F221DF-0874-A5E1-85FE-CF1AC6BD4775}"/>
              </a:ext>
            </a:extLst>
          </p:cNvPr>
          <p:cNvGrpSpPr/>
          <p:nvPr/>
        </p:nvGrpSpPr>
        <p:grpSpPr>
          <a:xfrm>
            <a:off x="3705039" y="1461992"/>
            <a:ext cx="4798503" cy="3645201"/>
            <a:chOff x="3753934" y="1564738"/>
            <a:chExt cx="4798503" cy="3645201"/>
          </a:xfrm>
        </p:grpSpPr>
        <p:sp>
          <p:nvSpPr>
            <p:cNvPr id="41987" name="Rectangle 3"/>
            <p:cNvSpPr>
              <a:spLocks noChangeArrowheads="1"/>
            </p:cNvSpPr>
            <p:nvPr/>
          </p:nvSpPr>
          <p:spPr bwMode="auto">
            <a:xfrm>
              <a:off x="3753934" y="1564738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199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6887963"/>
                </p:ext>
              </p:extLst>
            </p:nvPr>
          </p:nvGraphicFramePr>
          <p:xfrm>
            <a:off x="4397376" y="1982982"/>
            <a:ext cx="3375025" cy="288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BMP 图象" r:id="rId4" imgW="3333333" imgH="2742857" progId="Paint.Picture">
                    <p:embed/>
                  </p:oleObj>
                </mc:Choice>
                <mc:Fallback>
                  <p:oleObj name="BMP 图象" r:id="rId4" imgW="3333333" imgH="2742857" progId="Paint.Picture">
                    <p:embed/>
                    <p:pic>
                      <p:nvPicPr>
                        <p:cNvPr id="4199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7376" y="1982982"/>
                          <a:ext cx="3375025" cy="2886075"/>
                        </a:xfrm>
                        <a:prstGeom prst="rect">
                          <a:avLst/>
                        </a:prstGeom>
                        <a:noFill/>
                        <a:ln w="3175">
                          <a:solidFill>
                            <a:schemeClr val="accent2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26732788"/>
      </p:ext>
    </p:extLst>
  </p:cSld>
  <p:clrMapOvr>
    <a:masterClrMapping/>
  </p:clrMapOvr>
  <p:transition advTm="2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393FE75-E84B-3970-31C8-A5B7BA03FDA0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06977A23-866D-CC8A-363E-4277DECE016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771E6E2-3E0E-F4FC-7990-1BE32E8B32E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096366CE-338F-9127-1F00-D221FA717AEC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A513EDEE-9CC3-D2DF-A142-BD53711EF37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0BCAF264-60D4-6BF7-B0E8-40CF39E22289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3705039" y="1461992"/>
            <a:ext cx="4798503" cy="3645201"/>
          </a:xfrm>
          <a:prstGeom prst="rect">
            <a:avLst/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4301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662" y="1840547"/>
            <a:ext cx="3367087" cy="29210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784445"/>
      </p:ext>
    </p:extLst>
  </p:cSld>
  <p:clrMapOvr>
    <a:masterClrMapping/>
  </p:clrMapOvr>
  <p:transition advTm="2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FCCEDE6-DF58-C89A-4DA1-2E1997D1539F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92EB708C-085F-D358-047A-734D3A4E3A4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38089FA-CE65-73F2-DC7A-C88798D2B0FC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4A447076-F94C-D096-B692-B28855066F89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5AD5B2E6-47CD-080E-0744-26D43B768E68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2F23A60B-20F2-C113-8B99-25EBB78C3AD2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C31EF210-5B5A-1681-C25C-B4D12296E82E}"/>
              </a:ext>
            </a:extLst>
          </p:cNvPr>
          <p:cNvGrpSpPr/>
          <p:nvPr/>
        </p:nvGrpSpPr>
        <p:grpSpPr>
          <a:xfrm>
            <a:off x="3705039" y="1461993"/>
            <a:ext cx="4798503" cy="3645201"/>
            <a:chOff x="3753934" y="2085246"/>
            <a:chExt cx="4798503" cy="3645201"/>
          </a:xfrm>
        </p:grpSpPr>
        <p:sp>
          <p:nvSpPr>
            <p:cNvPr id="44035" name="Rectangle 3"/>
            <p:cNvSpPr>
              <a:spLocks noChangeArrowheads="1"/>
            </p:cNvSpPr>
            <p:nvPr/>
          </p:nvSpPr>
          <p:spPr bwMode="auto">
            <a:xfrm>
              <a:off x="3753934" y="2085246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4042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075" y="2486026"/>
              <a:ext cx="3371850" cy="2924175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33898791"/>
      </p:ext>
    </p:extLst>
  </p:cSld>
  <p:clrMapOvr>
    <a:masterClrMapping/>
  </p:clrMapOvr>
  <p:transition advTm="2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C9DC00E-5E95-83D6-4D79-CB207B158098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E10AC9F7-8B14-2B69-6187-9C805F39D28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6A9466E-804D-C50A-6E45-67E7538EE72B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8E842B2B-C627-C424-E255-EFB9ED27D069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DDCD04F6-DB37-1DB0-EBC7-30BE913BFBFC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90403938-F25E-A095-C87D-180069084EC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431697F-A99A-657B-F0EF-A1E1242FF2B2}"/>
              </a:ext>
            </a:extLst>
          </p:cNvPr>
          <p:cNvGrpSpPr/>
          <p:nvPr/>
        </p:nvGrpSpPr>
        <p:grpSpPr>
          <a:xfrm>
            <a:off x="3705039" y="1461993"/>
            <a:ext cx="4798503" cy="3645201"/>
            <a:chOff x="3753934" y="2085246"/>
            <a:chExt cx="4798503" cy="3645201"/>
          </a:xfrm>
        </p:grpSpPr>
        <p:sp>
          <p:nvSpPr>
            <p:cNvPr id="45059" name="Rectangle 3"/>
            <p:cNvSpPr>
              <a:spLocks noChangeArrowheads="1"/>
            </p:cNvSpPr>
            <p:nvPr/>
          </p:nvSpPr>
          <p:spPr bwMode="auto">
            <a:xfrm>
              <a:off x="3753934" y="2085246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5066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0075" y="2486026"/>
              <a:ext cx="3371850" cy="2924175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91917480"/>
      </p:ext>
    </p:extLst>
  </p:cSld>
  <p:clrMapOvr>
    <a:masterClrMapping/>
  </p:clrMapOvr>
  <p:transition advTm="2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CCE1A46-A16F-C6A7-66E0-589AAB260F84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532E9120-ED0E-1882-67E6-E1A14B9BBB6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6AAFBB4B-C043-456E-EFD3-737C2C814D6B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D3C863B7-7A4D-0126-7CC1-05271AB761B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08407A78-32A3-B77F-8182-75222966102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6659A460-F355-9104-31DC-B4FBD0F39330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F8956D8-264C-E08C-8EA1-F3FC78201A96}"/>
              </a:ext>
            </a:extLst>
          </p:cNvPr>
          <p:cNvGrpSpPr/>
          <p:nvPr/>
        </p:nvGrpSpPr>
        <p:grpSpPr>
          <a:xfrm>
            <a:off x="3705039" y="1461993"/>
            <a:ext cx="4798503" cy="3645201"/>
            <a:chOff x="3753934" y="2085246"/>
            <a:chExt cx="4798503" cy="3645201"/>
          </a:xfrm>
        </p:grpSpPr>
        <p:sp>
          <p:nvSpPr>
            <p:cNvPr id="46083" name="Rectangle 3"/>
            <p:cNvSpPr>
              <a:spLocks noChangeArrowheads="1"/>
            </p:cNvSpPr>
            <p:nvPr/>
          </p:nvSpPr>
          <p:spPr bwMode="auto">
            <a:xfrm>
              <a:off x="3753934" y="2085246"/>
              <a:ext cx="4798503" cy="3645201"/>
            </a:xfrm>
            <a:prstGeom prst="rect">
              <a:avLst/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6090" name="Picture 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4839" y="2495550"/>
              <a:ext cx="3362325" cy="2914650"/>
            </a:xfrm>
            <a:prstGeom prst="rect">
              <a:avLst/>
            </a:prstGeom>
            <a:noFill/>
            <a:ln w="31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39536709"/>
      </p:ext>
    </p:extLst>
  </p:cSld>
  <p:clrMapOvr>
    <a:masterClrMapping/>
  </p:clrMapOvr>
  <p:transition advTm="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2E81B2F-8B2D-B4EB-6461-4E72D01AAD9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C5A0D6CC-12B8-55E2-A97B-D982CC43924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C843827-1341-A75C-B766-4BA891BB4E4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2FD8D790-086E-4E04-0A4B-381A634E2BB9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83FF16AA-1FF5-DD19-ED41-530C7AF10C26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867A0829-6325-090E-CA24-A92FDD1ED74C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3705038" y="1461992"/>
            <a:ext cx="4798502" cy="3645201"/>
          </a:xfrm>
          <a:prstGeom prst="rect">
            <a:avLst/>
          </a:prstGeom>
          <a:solidFill>
            <a:srgbClr val="04926A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711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912438"/>
              </p:ext>
            </p:extLst>
          </p:nvPr>
        </p:nvGraphicFramePr>
        <p:xfrm>
          <a:off x="4415949" y="1852454"/>
          <a:ext cx="3338512" cy="289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BMP 图象" r:id="rId4" imgW="3323810" imgH="2886478" progId="Paint.Picture">
                  <p:embed/>
                </p:oleObj>
              </mc:Choice>
              <mc:Fallback>
                <p:oleObj name="BMP 图象" r:id="rId4" imgW="3323810" imgH="2886478" progId="Paint.Picture">
                  <p:embed/>
                  <p:pic>
                    <p:nvPicPr>
                      <p:cNvPr id="4711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949" y="1852454"/>
                        <a:ext cx="3338512" cy="2897187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493327"/>
      </p:ext>
    </p:extLst>
  </p:cSld>
  <p:clrMapOvr>
    <a:masterClrMapping/>
  </p:clrMapOvr>
  <p:transition advTm="2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846971" y="697116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给定曲顶柱体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8" name="Object 6"/>
              <p:cNvSpPr txBox="1"/>
              <p:nvPr/>
            </p:nvSpPr>
            <p:spPr bwMode="auto">
              <a:xfrm>
                <a:off x="3841262" y="1942964"/>
                <a:ext cx="2607164" cy="6019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9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1262" y="1942964"/>
                <a:ext cx="2607164" cy="601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34" name="Text Box 42"/>
              <p:cNvSpPr txBox="1">
                <a:spLocks noChangeArrowheads="1"/>
              </p:cNvSpPr>
              <p:nvPr/>
            </p:nvSpPr>
            <p:spPr bwMode="auto">
              <a:xfrm>
                <a:off x="1846971" y="1381535"/>
                <a:ext cx="4191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底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: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𝑂𝑦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面上的闭区域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8234" name="Text 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6971" y="1381535"/>
                <a:ext cx="4191000" cy="519113"/>
              </a:xfrm>
              <a:prstGeom prst="rect">
                <a:avLst/>
              </a:prstGeom>
              <a:blipFill>
                <a:blip r:embed="rId4"/>
                <a:stretch>
                  <a:fillRect l="-3057" t="-16471" b="-341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35" name="Text Box 43"/>
          <p:cNvSpPr txBox="1">
            <a:spLocks noChangeArrowheads="1"/>
          </p:cNvSpPr>
          <p:nvPr/>
        </p:nvSpPr>
        <p:spPr bwMode="auto">
          <a:xfrm>
            <a:off x="1846971" y="1963218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顶</a:t>
            </a:r>
            <a:r>
              <a:rPr kumimoji="1" lang="en-US" altLang="zh-CN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连续曲面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36" name="Text Box 44"/>
              <p:cNvSpPr txBox="1">
                <a:spLocks noChangeArrowheads="1"/>
              </p:cNvSpPr>
              <p:nvPr/>
            </p:nvSpPr>
            <p:spPr bwMode="auto">
              <a:xfrm>
                <a:off x="1846972" y="2566850"/>
                <a:ext cx="806855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侧面</a:t>
                </a:r>
                <a:r>
                  <a:rPr kumimoji="1" lang="en-US" altLang="zh-CN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: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以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的边界为准线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母线平行于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轴的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柱面</a:t>
                </a:r>
                <a:r>
                  <a:rPr kumimoji="1"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.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8236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6972" y="2566850"/>
                <a:ext cx="8068554" cy="523220"/>
              </a:xfrm>
              <a:prstGeom prst="rect">
                <a:avLst/>
              </a:prstGeom>
              <a:blipFill>
                <a:blip r:embed="rId5"/>
                <a:stretch>
                  <a:fillRect l="-1586" t="-15116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1846971" y="3216794"/>
            <a:ext cx="189635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求其体积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pic>
        <p:nvPicPr>
          <p:cNvPr id="3" name="图片 2" descr="图示, 示意图&#10;&#10;描述已自动生成">
            <a:extLst>
              <a:ext uri="{FF2B5EF4-FFF2-40B4-BE49-F238E27FC236}">
                <a16:creationId xmlns:a16="http://schemas.microsoft.com/office/drawing/2014/main" id="{427B7A55-F626-09DB-8F30-4D96F182D7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128" y="3389806"/>
            <a:ext cx="2141438" cy="253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9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utoUpdateAnimBg="0"/>
      <p:bldP spid="8198" grpId="0"/>
      <p:bldP spid="8234" grpId="0" autoUpdateAnimBg="0"/>
      <p:bldP spid="8235" grpId="0" autoUpdateAnimBg="0"/>
      <p:bldP spid="8236" grpId="0" autoUpdateAnimBg="0"/>
      <p:bldP spid="2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069365" y="1246766"/>
            <a:ext cx="2788257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）“大化小”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Text Box 4"/>
              <p:cNvSpPr txBox="1">
                <a:spLocks noChangeArrowheads="1"/>
              </p:cNvSpPr>
              <p:nvPr/>
            </p:nvSpPr>
            <p:spPr bwMode="auto">
              <a:xfrm>
                <a:off x="999026" y="1948821"/>
                <a:ext cx="49530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用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任意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曲线网分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个区域</a:t>
                </a:r>
              </a:p>
            </p:txBody>
          </p:sp>
        </mc:Choice>
        <mc:Fallback xmlns="">
          <p:sp>
            <p:nvSpPr>
              <p:cNvPr id="25604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026" y="1948821"/>
                <a:ext cx="4953000" cy="519112"/>
              </a:xfrm>
              <a:prstGeom prst="rect">
                <a:avLst/>
              </a:prstGeom>
              <a:blipFill>
                <a:blip r:embed="rId2"/>
                <a:stretch>
                  <a:fillRect l="-2586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5" name="Object 5"/>
              <p:cNvSpPr txBox="1"/>
              <p:nvPr/>
            </p:nvSpPr>
            <p:spPr bwMode="auto">
              <a:xfrm>
                <a:off x="1726850" y="2431633"/>
                <a:ext cx="2998347" cy="5869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, ⋯, 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60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6850" y="2431633"/>
                <a:ext cx="2998347" cy="586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06" name="Text Box 6"/>
              <p:cNvSpPr txBox="1">
                <a:spLocks noChangeArrowheads="1"/>
              </p:cNvSpPr>
              <p:nvPr/>
            </p:nvSpPr>
            <p:spPr bwMode="auto">
              <a:xfrm>
                <a:off x="999026" y="3041036"/>
                <a:ext cx="509128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以它们为底把曲顶柱体分为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个</a:t>
                </a:r>
              </a:p>
            </p:txBody>
          </p:sp>
        </mc:Choice>
        <mc:Fallback xmlns="">
          <p:sp>
            <p:nvSpPr>
              <p:cNvPr id="25606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9026" y="3041036"/>
                <a:ext cx="5091280" cy="519113"/>
              </a:xfrm>
              <a:prstGeom prst="rect">
                <a:avLst/>
              </a:prstGeom>
              <a:blipFill>
                <a:blip r:embed="rId4"/>
                <a:stretch>
                  <a:fillRect l="-2515" t="-16471" r="-958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1069365" y="4343148"/>
            <a:ext cx="2606845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）“常代变”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999026" y="5048274"/>
            <a:ext cx="1264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在每个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10" name="Object 10"/>
              <p:cNvSpPr txBox="1"/>
              <p:nvPr/>
            </p:nvSpPr>
            <p:spPr bwMode="auto">
              <a:xfrm>
                <a:off x="2096686" y="5011935"/>
                <a:ext cx="723642" cy="5661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6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6686" y="5011935"/>
                <a:ext cx="723642" cy="5661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11" name="Object 11"/>
              <p:cNvSpPr txBox="1"/>
              <p:nvPr/>
            </p:nvSpPr>
            <p:spPr bwMode="auto">
              <a:xfrm>
                <a:off x="4463260" y="4996789"/>
                <a:ext cx="1405534" cy="5661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6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3260" y="4996789"/>
                <a:ext cx="1405534" cy="566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669" name="Object 69"/>
              <p:cNvSpPr txBox="1"/>
              <p:nvPr/>
            </p:nvSpPr>
            <p:spPr bwMode="auto">
              <a:xfrm>
                <a:off x="1726850" y="5535330"/>
                <a:ext cx="5724838" cy="6809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669" name="Object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6850" y="5535330"/>
                <a:ext cx="5724838" cy="6809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70" name="Text Box 70"/>
          <p:cNvSpPr txBox="1">
            <a:spLocks noChangeArrowheads="1"/>
          </p:cNvSpPr>
          <p:nvPr/>
        </p:nvSpPr>
        <p:spPr bwMode="auto">
          <a:xfrm>
            <a:off x="5714469" y="5039712"/>
            <a:ext cx="604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p:sp>
        <p:nvSpPr>
          <p:cNvPr id="25704" name="Text Box 104"/>
          <p:cNvSpPr txBox="1">
            <a:spLocks noChangeArrowheads="1"/>
          </p:cNvSpPr>
          <p:nvPr/>
        </p:nvSpPr>
        <p:spPr bwMode="auto">
          <a:xfrm>
            <a:off x="2640187" y="5021348"/>
            <a:ext cx="208501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中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任取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一点</a:t>
            </a:r>
          </a:p>
        </p:txBody>
      </p:sp>
      <p:sp>
        <p:nvSpPr>
          <p:cNvPr id="25705" name="Text Box 105"/>
          <p:cNvSpPr txBox="1">
            <a:spLocks noChangeArrowheads="1"/>
          </p:cNvSpPr>
          <p:nvPr/>
        </p:nvSpPr>
        <p:spPr bwMode="auto">
          <a:xfrm>
            <a:off x="999026" y="359349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小曲顶柱体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BE12A269-F180-AA4F-8AFF-E62CB0BF2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026" y="534369"/>
            <a:ext cx="194419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步骤如下：</a:t>
            </a:r>
          </a:p>
        </p:txBody>
      </p: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48156C89-45FC-3581-CABC-603B7897241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322" y="1053481"/>
            <a:ext cx="3192175" cy="365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9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/>
      <p:bldP spid="25604" grpId="0" autoUpdateAnimBg="0"/>
      <p:bldP spid="25605" grpId="0"/>
      <p:bldP spid="25606" grpId="0" autoUpdateAnimBg="0"/>
      <p:bldP spid="25607" grpId="0" animBg="1" autoUpdateAnimBg="0"/>
      <p:bldP spid="25609" grpId="0" autoUpdateAnimBg="0"/>
      <p:bldP spid="25610" grpId="0"/>
      <p:bldP spid="25611" grpId="0"/>
      <p:bldP spid="25669" grpId="0"/>
      <p:bldP spid="25670" grpId="0" autoUpdateAnimBg="0"/>
      <p:bldP spid="25704" grpId="0" autoUpdateAnimBg="0"/>
      <p:bldP spid="25705" grpId="0" autoUpdateAnimBg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41" name="Text Box 13"/>
          <p:cNvSpPr txBox="1">
            <a:spLocks noChangeArrowheads="1"/>
          </p:cNvSpPr>
          <p:nvPr/>
        </p:nvSpPr>
        <p:spPr bwMode="auto">
          <a:xfrm>
            <a:off x="1506957" y="2425050"/>
            <a:ext cx="2743200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4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取极限”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44" name="Object 16"/>
              <p:cNvSpPr txBox="1"/>
              <p:nvPr/>
            </p:nvSpPr>
            <p:spPr bwMode="auto">
              <a:xfrm>
                <a:off x="1397714" y="3057464"/>
                <a:ext cx="3131676" cy="6133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定义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的直径为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4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714" y="3057464"/>
                <a:ext cx="3131676" cy="6133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5" name="Object 17"/>
              <p:cNvSpPr txBox="1"/>
              <p:nvPr/>
            </p:nvSpPr>
            <p:spPr bwMode="auto">
              <a:xfrm>
                <a:off x="1397713" y="3635209"/>
                <a:ext cx="5494502" cy="6582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4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713" y="3635209"/>
                <a:ext cx="5494502" cy="6582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146" name="Text Box 18"/>
          <p:cNvSpPr txBox="1">
            <a:spLocks noChangeArrowheads="1"/>
          </p:cNvSpPr>
          <p:nvPr/>
        </p:nvSpPr>
        <p:spPr bwMode="auto">
          <a:xfrm>
            <a:off x="1397713" y="426629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147" name="Object 19"/>
              <p:cNvSpPr txBox="1"/>
              <p:nvPr/>
            </p:nvSpPr>
            <p:spPr bwMode="auto">
              <a:xfrm>
                <a:off x="1827888" y="4277509"/>
                <a:ext cx="3093460" cy="7240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}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4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7888" y="4277509"/>
                <a:ext cx="3093460" cy="7240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148" name="Object 20"/>
              <p:cNvSpPr txBox="1"/>
              <p:nvPr/>
            </p:nvSpPr>
            <p:spPr bwMode="auto">
              <a:xfrm>
                <a:off x="1397714" y="5055288"/>
                <a:ext cx="4040438" cy="12800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14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7714" y="5055288"/>
                <a:ext cx="4040438" cy="12800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1506957" y="453034"/>
            <a:ext cx="2590800" cy="523220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近似和”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3"/>
              <p:cNvSpPr txBox="1"/>
              <p:nvPr/>
            </p:nvSpPr>
            <p:spPr bwMode="auto">
              <a:xfrm>
                <a:off x="1604895" y="1031084"/>
                <a:ext cx="1983502" cy="13238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4895" y="1031084"/>
                <a:ext cx="1983502" cy="13238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4"/>
              <p:cNvSpPr txBox="1"/>
              <p:nvPr/>
            </p:nvSpPr>
            <p:spPr bwMode="auto">
              <a:xfrm>
                <a:off x="3543733" y="1050798"/>
                <a:ext cx="2679700" cy="12844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3733" y="1050798"/>
                <a:ext cx="2679700" cy="1284433"/>
              </a:xfrm>
              <a:prstGeom prst="rect">
                <a:avLst/>
              </a:prstGeom>
              <a:blipFill>
                <a:blip r:embed="rId8"/>
                <a:stretch>
                  <a:fillRect r="-45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70"/>
          <p:cNvSpPr txBox="1">
            <a:spLocks noChangeArrowheads="1"/>
          </p:cNvSpPr>
          <p:nvPr/>
        </p:nvSpPr>
        <p:spPr bwMode="auto">
          <a:xfrm>
            <a:off x="4834035" y="4287354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32A041B9-0FDD-ED47-AA2D-CF54342B832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390" y="1396534"/>
            <a:ext cx="3192175" cy="365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3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1" grpId="0" animBg="1"/>
      <p:bldP spid="48144" grpId="0"/>
      <p:bldP spid="48145" grpId="0"/>
      <p:bldP spid="48146" grpId="0" build="p" autoUpdateAnimBg="0"/>
      <p:bldP spid="48147" grpId="0"/>
      <p:bldP spid="48148" grpId="0"/>
      <p:bldP spid="24" grpId="0" animBg="1" autoUpdateAnimBg="0"/>
      <p:bldP spid="25" grpId="0"/>
      <p:bldP spid="26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172544" y="2171765"/>
            <a:ext cx="192989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解决步骤：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020139" y="2722130"/>
            <a:ext cx="25747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</a:rPr>
              <a:t>1</a:t>
            </a:r>
            <a:r>
              <a:rPr lang="zh-CN" altLang="en-US" sz="2800" dirty="0">
                <a:solidFill>
                  <a:srgbClr val="04926A"/>
                </a:solidFill>
              </a:rPr>
              <a:t>）大化小：</a:t>
            </a: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1020139" y="4381888"/>
            <a:ext cx="22030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）近似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和：</a:t>
            </a: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1020140" y="5615855"/>
            <a:ext cx="23633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）取极限：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020139" y="3396718"/>
            <a:ext cx="224009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+mn-ea"/>
                <a:ea typeface="+mn-ea"/>
              </a:rPr>
              <a:t>（</a:t>
            </a:r>
            <a:r>
              <a:rPr lang="en-US" altLang="zh-CN" sz="2800" dirty="0">
                <a:solidFill>
                  <a:srgbClr val="04926A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rgbClr val="04926A"/>
                </a:solidFill>
                <a:latin typeface="+mn-ea"/>
                <a:ea typeface="+mn-ea"/>
              </a:rPr>
              <a:t>）</a:t>
            </a: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</a:rPr>
              <a:t>常代变：</a:t>
            </a:r>
          </a:p>
        </p:txBody>
      </p:sp>
      <p:sp>
        <p:nvSpPr>
          <p:cNvPr id="20" name="矩形 19"/>
          <p:cNvSpPr/>
          <p:nvPr/>
        </p:nvSpPr>
        <p:spPr>
          <a:xfrm>
            <a:off x="774133" y="326298"/>
            <a:ext cx="3353652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平面薄片的质量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1172544" y="836685"/>
                <a:ext cx="9017645" cy="144146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设有一平面薄片占有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它在点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的面密度为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假定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)&gt;0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上连续，平面薄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片的质量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为多少？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544" y="836685"/>
                <a:ext cx="9017645" cy="14414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34"/>
              <p:cNvSpPr txBox="1"/>
              <p:nvPr/>
            </p:nvSpPr>
            <p:spPr bwMode="auto">
              <a:xfrm>
                <a:off x="3193502" y="5246801"/>
                <a:ext cx="4079222" cy="14414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3502" y="5246801"/>
                <a:ext cx="4079222" cy="14414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34"/>
              <p:cNvSpPr txBox="1"/>
              <p:nvPr/>
            </p:nvSpPr>
            <p:spPr bwMode="auto">
              <a:xfrm>
                <a:off x="3236874" y="3994481"/>
                <a:ext cx="3735416" cy="13096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3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6874" y="3994481"/>
                <a:ext cx="3735416" cy="13096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34"/>
              <p:cNvSpPr txBox="1"/>
              <p:nvPr/>
            </p:nvSpPr>
            <p:spPr bwMode="auto">
              <a:xfrm>
                <a:off x="3304680" y="3426380"/>
                <a:ext cx="3651994" cy="4909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4680" y="3426380"/>
                <a:ext cx="3651994" cy="4909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383496" y="2752088"/>
                <a:ext cx="3114465" cy="48199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​, ⋯, 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496" y="2752088"/>
                <a:ext cx="3114465" cy="4819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卡通人物&#10;&#10;中度可信度描述已自动生成">
            <a:extLst>
              <a:ext uri="{FF2B5EF4-FFF2-40B4-BE49-F238E27FC236}">
                <a16:creationId xmlns:a16="http://schemas.microsoft.com/office/drawing/2014/main" id="{A20CFD5B-425F-DE0C-88EC-AB3E0008C03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724" y="2993905"/>
            <a:ext cx="3162323" cy="262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2741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 autoUpdateAnimBg="0"/>
      <p:bldP spid="6" grpId="0"/>
      <p:bldP spid="8" grpId="0" autoUpdateAnimBg="0"/>
      <p:bldP spid="10" grpId="0" autoUpdateAnimBg="0"/>
      <p:bldP spid="13" grpId="0" autoUpdateAnimBg="0"/>
      <p:bldP spid="20" grpId="0" animBg="1"/>
      <p:bldP spid="3" grpId="0"/>
      <p:bldP spid="32" grpId="0"/>
      <p:bldP spid="53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D021E300-363D-DF5E-480F-BA6537AC968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1" name="PA-102232">
              <a:extLst>
                <a:ext uri="{FF2B5EF4-FFF2-40B4-BE49-F238E27FC236}">
                  <a16:creationId xmlns:a16="http://schemas.microsoft.com/office/drawing/2014/main" id="{E92C70BB-85C4-B425-E0AF-79752868464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2CDAA153-B133-EFE0-156D-EBC9D9DC5E9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33" name="Rectangle 1">
                <a:extLst>
                  <a:ext uri="{FF2B5EF4-FFF2-40B4-BE49-F238E27FC236}">
                    <a16:creationId xmlns:a16="http://schemas.microsoft.com/office/drawing/2014/main" id="{7CD35DA1-B134-9DCE-9EF3-57A72779E8B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 1">
                <a:extLst>
                  <a:ext uri="{FF2B5EF4-FFF2-40B4-BE49-F238E27FC236}">
                    <a16:creationId xmlns:a16="http://schemas.microsoft.com/office/drawing/2014/main" id="{DCF4C164-56EB-E224-EF0A-D0CB6343F3C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Rectangle 1">
                <a:extLst>
                  <a:ext uri="{FF2B5EF4-FFF2-40B4-BE49-F238E27FC236}">
                    <a16:creationId xmlns:a16="http://schemas.microsoft.com/office/drawing/2014/main" id="{95924D6D-5C28-D7AD-663B-A34A97269992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 bwMode="auto">
          <a:xfrm>
            <a:off x="1530886" y="4388252"/>
            <a:ext cx="30700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不同点：背景不同</a:t>
            </a:r>
          </a:p>
        </p:txBody>
      </p:sp>
      <p:sp>
        <p:nvSpPr>
          <p:cNvPr id="19" name="文本框 18"/>
          <p:cNvSpPr txBox="1"/>
          <p:nvPr/>
        </p:nvSpPr>
        <p:spPr bwMode="auto">
          <a:xfrm>
            <a:off x="1530886" y="5000186"/>
            <a:ext cx="55948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相同点：方法相同，数学形式相同</a:t>
            </a:r>
          </a:p>
        </p:txBody>
      </p:sp>
      <p:grpSp>
        <p:nvGrpSpPr>
          <p:cNvPr id="20" name="Group 55"/>
          <p:cNvGrpSpPr>
            <a:grpSpLocks/>
          </p:cNvGrpSpPr>
          <p:nvPr/>
        </p:nvGrpSpPr>
        <p:grpSpPr bwMode="auto">
          <a:xfrm>
            <a:off x="1591807" y="1403129"/>
            <a:ext cx="4321175" cy="2698780"/>
            <a:chOff x="380" y="-369"/>
            <a:chExt cx="2358" cy="2585"/>
          </a:xfrm>
          <a:solidFill>
            <a:srgbClr val="A9D18E"/>
          </a:solidFill>
        </p:grpSpPr>
        <p:sp>
          <p:nvSpPr>
            <p:cNvPr id="21" name="Rectangle 56"/>
            <p:cNvSpPr>
              <a:spLocks noChangeArrowheads="1"/>
            </p:cNvSpPr>
            <p:nvPr/>
          </p:nvSpPr>
          <p:spPr bwMode="auto">
            <a:xfrm>
              <a:off x="380" y="-369"/>
              <a:ext cx="2358" cy="2585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spcBef>
                  <a:spcPct val="0"/>
                </a:spcBef>
                <a:buFontTx/>
                <a:buNone/>
              </a:pPr>
              <a:endParaRPr lang="zh-CN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 Box 57"/>
            <p:cNvSpPr txBox="1">
              <a:spLocks noChangeArrowheads="1"/>
            </p:cNvSpPr>
            <p:nvPr/>
          </p:nvSpPr>
          <p:spPr bwMode="auto">
            <a:xfrm>
              <a:off x="955" y="1244"/>
              <a:ext cx="1255" cy="501"/>
            </a:xfrm>
            <a:prstGeom prst="rect">
              <a:avLst/>
            </a:prstGeom>
            <a:solidFill>
              <a:srgbClr val="04926A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buFontTx/>
                <a:buNone/>
              </a:pPr>
              <a:r>
                <a:rPr lang="zh-CN" altLang="en-US" sz="2800" dirty="0"/>
                <a:t>几 何 问 题</a:t>
              </a:r>
            </a:p>
          </p:txBody>
        </p:sp>
      </p:grpSp>
      <p:grpSp>
        <p:nvGrpSpPr>
          <p:cNvPr id="23" name="Group 58"/>
          <p:cNvGrpSpPr>
            <a:grpSpLocks/>
          </p:cNvGrpSpPr>
          <p:nvPr/>
        </p:nvGrpSpPr>
        <p:grpSpPr bwMode="auto">
          <a:xfrm>
            <a:off x="6090316" y="1403130"/>
            <a:ext cx="4427537" cy="2698780"/>
            <a:chOff x="2835" y="754"/>
            <a:chExt cx="2721" cy="2631"/>
          </a:xfrm>
          <a:solidFill>
            <a:srgbClr val="BBBBBB"/>
          </a:solidFill>
        </p:grpSpPr>
        <p:sp>
          <p:nvSpPr>
            <p:cNvPr id="24" name="Rectangle 59"/>
            <p:cNvSpPr>
              <a:spLocks noChangeArrowheads="1"/>
            </p:cNvSpPr>
            <p:nvPr/>
          </p:nvSpPr>
          <p:spPr bwMode="auto">
            <a:xfrm>
              <a:off x="2835" y="754"/>
              <a:ext cx="2721" cy="2631"/>
            </a:xfrm>
            <a:prstGeom prst="rect">
              <a:avLst/>
            </a:prstGeom>
            <a:solidFill>
              <a:srgbClr val="4A7BA8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>
                <a:spcBef>
                  <a:spcPct val="0"/>
                </a:spcBef>
                <a:buFontTx/>
                <a:buNone/>
              </a:pPr>
              <a:endParaRPr lang="zh-CN" altLang="zh-CN" sz="2000">
                <a:solidFill>
                  <a:srgbClr val="FF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60"/>
            <p:cNvSpPr txBox="1">
              <a:spLocks noChangeArrowheads="1"/>
            </p:cNvSpPr>
            <p:nvPr/>
          </p:nvSpPr>
          <p:spPr bwMode="auto">
            <a:xfrm>
              <a:off x="3519" y="2392"/>
              <a:ext cx="1345" cy="510"/>
            </a:xfrm>
            <a:prstGeom prst="rect">
              <a:avLst/>
            </a:prstGeom>
            <a:solidFill>
              <a:srgbClr val="4A7BA8">
                <a:alpha val="42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buFontTx/>
                <a:buNone/>
              </a:pPr>
              <a:r>
                <a:rPr lang="zh-CN" altLang="en-US" sz="2800" dirty="0"/>
                <a:t>物 理 问 题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6895993" y="4559726"/>
                <a:ext cx="3165284" cy="122422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993" y="4559726"/>
                <a:ext cx="3165284" cy="1224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C88D60B2-A69C-0782-95CE-1DBA0A8B24F1}"/>
              </a:ext>
            </a:extLst>
          </p:cNvPr>
          <p:cNvSpPr txBox="1"/>
          <p:nvPr/>
        </p:nvSpPr>
        <p:spPr bwMode="auto">
          <a:xfrm>
            <a:off x="2381253" y="820797"/>
            <a:ext cx="27422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曲顶柱体的体积</a:t>
            </a:r>
            <a:endParaRPr lang="en-US" altLang="zh-CN" sz="28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26206C-6FFF-408A-FF56-722210FDEC88}"/>
              </a:ext>
            </a:extLst>
          </p:cNvPr>
          <p:cNvSpPr txBox="1"/>
          <p:nvPr/>
        </p:nvSpPr>
        <p:spPr bwMode="auto">
          <a:xfrm>
            <a:off x="6872298" y="846248"/>
            <a:ext cx="28635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平面薄片的质量</a:t>
            </a:r>
            <a:endParaRPr lang="en-US" altLang="zh-CN" sz="28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4">
                <a:extLst>
                  <a:ext uri="{FF2B5EF4-FFF2-40B4-BE49-F238E27FC236}">
                    <a16:creationId xmlns:a16="http://schemas.microsoft.com/office/drawing/2014/main" id="{AC654C9C-E8A7-55F2-C903-2D50BE209B95}"/>
                  </a:ext>
                </a:extLst>
              </p:cNvPr>
              <p:cNvSpPr txBox="1"/>
              <p:nvPr/>
            </p:nvSpPr>
            <p:spPr bwMode="auto">
              <a:xfrm>
                <a:off x="2167314" y="1484662"/>
                <a:ext cx="3346059" cy="14786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Object 34">
                <a:extLst>
                  <a:ext uri="{FF2B5EF4-FFF2-40B4-BE49-F238E27FC236}">
                    <a16:creationId xmlns:a16="http://schemas.microsoft.com/office/drawing/2014/main" id="{AC654C9C-E8A7-55F2-C903-2D50BE209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7314" y="1484662"/>
                <a:ext cx="3346059" cy="14786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4">
                <a:extLst>
                  <a:ext uri="{FF2B5EF4-FFF2-40B4-BE49-F238E27FC236}">
                    <a16:creationId xmlns:a16="http://schemas.microsoft.com/office/drawing/2014/main" id="{893D371F-D3AA-A840-35A6-1D743834FF1E}"/>
                  </a:ext>
                </a:extLst>
              </p:cNvPr>
              <p:cNvSpPr txBox="1"/>
              <p:nvPr/>
            </p:nvSpPr>
            <p:spPr bwMode="auto">
              <a:xfrm>
                <a:off x="6546890" y="1477147"/>
                <a:ext cx="3514387" cy="13772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34">
                <a:extLst>
                  <a:ext uri="{FF2B5EF4-FFF2-40B4-BE49-F238E27FC236}">
                    <a16:creationId xmlns:a16="http://schemas.microsoft.com/office/drawing/2014/main" id="{893D371F-D3AA-A840-35A6-1D743834F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46890" y="1477147"/>
                <a:ext cx="3514387" cy="1377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272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6" grpId="0"/>
      <p:bldP spid="7" grpId="0"/>
      <p:bldP spid="9" grpId="0"/>
      <p:bldP spid="2" grpId="0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剪去单角的矩形 10">
            <a:extLst>
              <a:ext uri="{FF2B5EF4-FFF2-40B4-BE49-F238E27FC236}">
                <a16:creationId xmlns:a16="http://schemas.microsoft.com/office/drawing/2014/main" id="{CFACF76E-94F0-222A-927C-008BBDAC282A}"/>
              </a:ext>
            </a:extLst>
          </p:cNvPr>
          <p:cNvSpPr/>
          <p:nvPr/>
        </p:nvSpPr>
        <p:spPr>
          <a:xfrm>
            <a:off x="1443789" y="1852863"/>
            <a:ext cx="9706176" cy="4518471"/>
          </a:xfrm>
          <a:prstGeom prst="snip1Rect">
            <a:avLst>
              <a:gd name="adj" fmla="val 5435"/>
            </a:avLst>
          </a:prstGeom>
          <a:solidFill>
            <a:srgbClr val="0492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58467" name="Rectangle 99"/>
          <p:cNvSpPr>
            <a:spLocks noChangeArrowheads="1"/>
          </p:cNvSpPr>
          <p:nvPr/>
        </p:nvSpPr>
        <p:spPr bwMode="auto">
          <a:xfrm>
            <a:off x="1073085" y="432918"/>
            <a:ext cx="40403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二、二重积分的概念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69" name="Text Box 101"/>
              <p:cNvSpPr txBox="1">
                <a:spLocks noChangeArrowheads="1"/>
              </p:cNvSpPr>
              <p:nvPr/>
            </p:nvSpPr>
            <p:spPr bwMode="auto">
              <a:xfrm>
                <a:off x="2036533" y="2115010"/>
                <a:ext cx="75045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   </m:t>
                    </m:r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𝑦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是有界闭区域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上的有界函数，</a:t>
                </a:r>
              </a:p>
            </p:txBody>
          </p:sp>
        </mc:Choice>
        <mc:Fallback xmlns="">
          <p:sp>
            <p:nvSpPr>
              <p:cNvPr id="58469" name="Text 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2115010"/>
                <a:ext cx="7504510" cy="523220"/>
              </a:xfrm>
              <a:prstGeom prst="rect">
                <a:avLst/>
              </a:prstGeom>
              <a:blipFill>
                <a:blip r:embed="rId2"/>
                <a:stretch>
                  <a:fillRect l="-1625" t="-16279" r="-731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70" name="Text Box 102"/>
              <p:cNvSpPr txBox="1">
                <a:spLocks noChangeArrowheads="1"/>
              </p:cNvSpPr>
              <p:nvPr/>
            </p:nvSpPr>
            <p:spPr bwMode="auto">
              <a:xfrm>
                <a:off x="2036533" y="2739493"/>
                <a:ext cx="569353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任意分成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个小闭区域</a:t>
                </a:r>
              </a:p>
            </p:txBody>
          </p:sp>
        </mc:Choice>
        <mc:Fallback xmlns="">
          <p:sp>
            <p:nvSpPr>
              <p:cNvPr id="58470" name="Text 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2739493"/>
                <a:ext cx="5693537" cy="523220"/>
              </a:xfrm>
              <a:prstGeom prst="rect">
                <a:avLst/>
              </a:prstGeom>
              <a:blipFill>
                <a:blip r:embed="rId3"/>
                <a:stretch>
                  <a:fillRect l="-2141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71" name="Object 103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7433063" y="2767413"/>
                <a:ext cx="290195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</m:t>
                      </m:r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​,⋯, </m:t>
                      </m:r>
                      <m:r>
                        <m:rPr>
                          <m:sty m:val="p"/>
                        </m:rP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zh-CN" altLang="en-US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471" name="Object 10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7433063" y="2767413"/>
                <a:ext cx="2901950" cy="444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73" name="Text Box 105"/>
              <p:cNvSpPr txBox="1">
                <a:spLocks noChangeArrowheads="1"/>
              </p:cNvSpPr>
              <p:nvPr/>
            </p:nvSpPr>
            <p:spPr bwMode="auto">
              <a:xfrm>
                <a:off x="2036533" y="3305757"/>
                <a:ext cx="50927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表示第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个小闭区域，</a:t>
                </a:r>
              </a:p>
            </p:txBody>
          </p:sp>
        </mc:Choice>
        <mc:Fallback xmlns="">
          <p:sp>
            <p:nvSpPr>
              <p:cNvPr id="58473" name="Text 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3305757"/>
                <a:ext cx="5092700" cy="523220"/>
              </a:xfrm>
              <a:prstGeom prst="rect">
                <a:avLst/>
              </a:prstGeom>
              <a:blipFill>
                <a:blip r:embed="rId5"/>
                <a:stretch>
                  <a:fillRect l="-2395" t="-15116" r="-1198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74" name="Text Box 106"/>
          <p:cNvSpPr txBox="1">
            <a:spLocks noChangeArrowheads="1"/>
          </p:cNvSpPr>
          <p:nvPr/>
        </p:nvSpPr>
        <p:spPr bwMode="auto">
          <a:xfrm>
            <a:off x="6868883" y="3305757"/>
            <a:ext cx="29019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也表示它的面积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8475" name="Text Box 107"/>
          <p:cNvSpPr txBox="1">
            <a:spLocks noChangeArrowheads="1"/>
          </p:cNvSpPr>
          <p:nvPr/>
        </p:nvSpPr>
        <p:spPr bwMode="auto">
          <a:xfrm>
            <a:off x="9556026" y="3303531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76" name="Text Box 108"/>
              <p:cNvSpPr txBox="1">
                <a:spLocks noChangeArrowheads="1"/>
              </p:cNvSpPr>
              <p:nvPr/>
            </p:nvSpPr>
            <p:spPr bwMode="auto">
              <a:xfrm>
                <a:off x="2036533" y="3898740"/>
                <a:ext cx="456468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CN" alt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上任意取一点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476" name="Text 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3898740"/>
                <a:ext cx="4564680" cy="523220"/>
              </a:xfrm>
              <a:prstGeom prst="rect">
                <a:avLst/>
              </a:prstGeom>
              <a:blipFill>
                <a:blip r:embed="rId6"/>
                <a:stretch>
                  <a:fillRect l="-2670" t="-16471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78" name="Text Box 110"/>
              <p:cNvSpPr txBox="1">
                <a:spLocks noChangeArrowheads="1"/>
              </p:cNvSpPr>
              <p:nvPr/>
            </p:nvSpPr>
            <p:spPr bwMode="auto">
              <a:xfrm>
                <a:off x="6341833" y="3914484"/>
                <a:ext cx="3429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作乘积</a:t>
                </a:r>
                <a14:m>
                  <m:oMath xmlns:m="http://schemas.openxmlformats.org/officeDocument/2006/math">
                    <m:r>
                      <a:rPr lang="en-US" altLang="zh-CN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800" i="1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zh-CN" alt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478" name="Text 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41833" y="3914484"/>
                <a:ext cx="3429000" cy="523220"/>
              </a:xfrm>
              <a:prstGeom prst="rect">
                <a:avLst/>
              </a:prstGeom>
              <a:blipFill>
                <a:blip r:embed="rId7"/>
                <a:stretch>
                  <a:fillRect l="-3552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79" name="Text Box 111"/>
          <p:cNvSpPr txBox="1">
            <a:spLocks noChangeArrowheads="1"/>
          </p:cNvSpPr>
          <p:nvPr/>
        </p:nvSpPr>
        <p:spPr bwMode="auto">
          <a:xfrm>
            <a:off x="9556026" y="3898740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并作</a:t>
            </a:r>
          </a:p>
        </p:txBody>
      </p:sp>
      <p:sp>
        <p:nvSpPr>
          <p:cNvPr id="58480" name="Text Box 112"/>
          <p:cNvSpPr txBox="1">
            <a:spLocks noChangeArrowheads="1"/>
          </p:cNvSpPr>
          <p:nvPr/>
        </p:nvSpPr>
        <p:spPr bwMode="auto">
          <a:xfrm>
            <a:off x="2036533" y="4837294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</a:p>
        </p:txBody>
      </p:sp>
      <p:sp>
        <p:nvSpPr>
          <p:cNvPr id="58485" name="Text Box 117"/>
          <p:cNvSpPr txBox="1">
            <a:spLocks noChangeArrowheads="1"/>
          </p:cNvSpPr>
          <p:nvPr/>
        </p:nvSpPr>
        <p:spPr bwMode="auto">
          <a:xfrm>
            <a:off x="4788572" y="4821420"/>
            <a:ext cx="5791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如果当各小闭区域的直径中的最大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86" name="Text Box 118"/>
              <p:cNvSpPr txBox="1">
                <a:spLocks noChangeArrowheads="1"/>
              </p:cNvSpPr>
              <p:nvPr/>
            </p:nvSpPr>
            <p:spPr bwMode="auto">
              <a:xfrm>
                <a:off x="2036533" y="5618880"/>
                <a:ext cx="2590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值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趋于零时，</a:t>
                </a:r>
              </a:p>
            </p:txBody>
          </p:sp>
        </mc:Choice>
        <mc:Fallback xmlns="">
          <p:sp>
            <p:nvSpPr>
              <p:cNvPr id="58486" name="Text 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533" y="5618880"/>
                <a:ext cx="2590800" cy="523220"/>
              </a:xfrm>
              <a:prstGeom prst="rect">
                <a:avLst/>
              </a:prstGeom>
              <a:blipFill>
                <a:blip r:embed="rId8"/>
                <a:stretch>
                  <a:fillRect l="-4706" t="-16279" r="-1647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87" name="Text Box 119"/>
          <p:cNvSpPr txBox="1">
            <a:spLocks noChangeArrowheads="1"/>
          </p:cNvSpPr>
          <p:nvPr/>
        </p:nvSpPr>
        <p:spPr bwMode="auto">
          <a:xfrm>
            <a:off x="4328177" y="5596655"/>
            <a:ext cx="388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这和式的极限总存在，</a:t>
            </a:r>
          </a:p>
        </p:txBody>
      </p:sp>
      <p:sp>
        <p:nvSpPr>
          <p:cNvPr id="58488" name="Text Box 120"/>
          <p:cNvSpPr txBox="1">
            <a:spLocks noChangeArrowheads="1"/>
          </p:cNvSpPr>
          <p:nvPr/>
        </p:nvSpPr>
        <p:spPr bwMode="auto">
          <a:xfrm>
            <a:off x="7909577" y="5596655"/>
            <a:ext cx="2667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且与闭区域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35696" y="1082129"/>
            <a:ext cx="1477610" cy="584775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567799" y="4496614"/>
                <a:ext cx="2220773" cy="105783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799" y="4496614"/>
                <a:ext cx="2220773" cy="10578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19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8467" grpId="0"/>
      <p:bldP spid="58469" grpId="0"/>
      <p:bldP spid="58470" grpId="0"/>
      <p:bldP spid="58471" grpId="0" build="p"/>
      <p:bldP spid="58473" grpId="0"/>
      <p:bldP spid="58474" grpId="0"/>
      <p:bldP spid="58475" grpId="0"/>
      <p:bldP spid="58476" grpId="0"/>
      <p:bldP spid="58478" grpId="0"/>
      <p:bldP spid="58479" grpId="0"/>
      <p:bldP spid="58480" grpId="0"/>
      <p:bldP spid="58485" grpId="0"/>
      <p:bldP spid="58486" grpId="0"/>
      <p:bldP spid="58487" grpId="0"/>
      <p:bldP spid="58488" grpId="0"/>
      <p:bldP spid="19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9AFD061-F7AD-4D1F-84C3-80535AD7E09C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4205B14B-F0FB-08DE-85C8-385F99D46AA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467CAA7-F092-1C9F-C9E2-8A42A11CB49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05C9FBC3-DDD9-1530-939E-207F9BFDF75E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C173EAEE-DF62-251E-99C6-4CAF07895A3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AE8F293D-388C-BA1F-7B9D-2173FED87477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37" name="Text Box 101"/>
              <p:cNvSpPr txBox="1">
                <a:spLocks noChangeArrowheads="1"/>
              </p:cNvSpPr>
              <p:nvPr/>
            </p:nvSpPr>
            <p:spPr bwMode="auto">
              <a:xfrm>
                <a:off x="1689100" y="1153921"/>
                <a:ext cx="66929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函数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effectLst/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𝑦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</a:rPr>
                  <a:t>)</a:t>
                </a:r>
                <a:r>
                  <a:rPr lang="zh-CN" altLang="en-US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在闭区域 </a:t>
                </a:r>
                <a:r>
                  <a:rPr kumimoji="1" lang="en-US" altLang="zh-CN" sz="2800" i="1" dirty="0">
                    <a:effectLst/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D</a:t>
                </a:r>
                <a:r>
                  <a:rPr lang="en-US" altLang="zh-CN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上的二重积分，</a:t>
                </a:r>
              </a:p>
            </p:txBody>
          </p:sp>
        </mc:Choice>
        <mc:Fallback xmlns="">
          <p:sp>
            <p:nvSpPr>
              <p:cNvPr id="14437" name="Text 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9100" y="1153921"/>
                <a:ext cx="6692900" cy="523220"/>
              </a:xfrm>
              <a:prstGeom prst="rect">
                <a:avLst/>
              </a:prstGeom>
              <a:blipFill>
                <a:blip r:embed="rId3"/>
                <a:stretch>
                  <a:fillRect l="-1821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39" name="Text Box 103"/>
          <p:cNvSpPr txBox="1">
            <a:spLocks noChangeArrowheads="1"/>
          </p:cNvSpPr>
          <p:nvPr/>
        </p:nvSpPr>
        <p:spPr bwMode="auto">
          <a:xfrm>
            <a:off x="7920239" y="1183044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记作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40" name="Object 104"/>
              <p:cNvSpPr txBox="1">
                <a:spLocks noGrp="1"/>
              </p:cNvSpPr>
              <p:nvPr>
                <p:ph idx="4294967295"/>
              </p:nvPr>
            </p:nvSpPr>
            <p:spPr bwMode="auto">
              <a:xfrm>
                <a:off x="4106602" y="1534513"/>
                <a:ext cx="2473624" cy="12396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dirty="0">
                  <a:effectLst/>
                </a:endParaRPr>
              </a:p>
            </p:txBody>
          </p:sp>
        </mc:Choice>
        <mc:Fallback xmlns="">
          <p:sp>
            <p:nvSpPr>
              <p:cNvPr id="14440" name="Object 10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 bwMode="auto">
              <a:xfrm>
                <a:off x="4106602" y="1534513"/>
                <a:ext cx="2473624" cy="12396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42" name="Text Box 106"/>
          <p:cNvSpPr txBox="1">
            <a:spLocks noChangeArrowheads="1"/>
          </p:cNvSpPr>
          <p:nvPr/>
        </p:nvSpPr>
        <p:spPr bwMode="auto">
          <a:xfrm>
            <a:off x="1689100" y="2929674"/>
            <a:ext cx="762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</a:p>
        </p:txBody>
      </p:sp>
      <p:grpSp>
        <p:nvGrpSpPr>
          <p:cNvPr id="40" name="Group 2"/>
          <p:cNvGrpSpPr>
            <a:grpSpLocks/>
          </p:cNvGrpSpPr>
          <p:nvPr/>
        </p:nvGrpSpPr>
        <p:grpSpPr bwMode="auto">
          <a:xfrm>
            <a:off x="2610898" y="3540066"/>
            <a:ext cx="563562" cy="685800"/>
            <a:chOff x="0" y="1536"/>
            <a:chExt cx="480" cy="528"/>
          </a:xfrm>
          <a:solidFill>
            <a:srgbClr val="BBBBBB"/>
          </a:solidFill>
        </p:grpSpPr>
        <p:sp>
          <p:nvSpPr>
            <p:cNvPr id="41" name="Rectangle 3"/>
            <p:cNvSpPr>
              <a:spLocks noChangeArrowheads="1"/>
            </p:cNvSpPr>
            <p:nvPr/>
          </p:nvSpPr>
          <p:spPr bwMode="auto">
            <a:xfrm>
              <a:off x="0" y="1536"/>
              <a:ext cx="480" cy="240"/>
            </a:xfrm>
            <a:prstGeom prst="rect">
              <a:avLst/>
            </a:prstGeom>
            <a:solidFill>
              <a:srgbClr val="4A7BA8">
                <a:alpha val="42000"/>
              </a:srgbClr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AutoShape 4"/>
            <p:cNvSpPr>
              <a:spLocks noChangeArrowheads="1"/>
            </p:cNvSpPr>
            <p:nvPr/>
          </p:nvSpPr>
          <p:spPr bwMode="auto">
            <a:xfrm>
              <a:off x="144" y="1776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4A7BA8">
                <a:alpha val="42000"/>
              </a:srgbClr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" name="Text Box 5" descr="大网格"/>
          <p:cNvSpPr txBox="1">
            <a:spLocks noChangeArrowheads="1"/>
          </p:cNvSpPr>
          <p:nvPr/>
        </p:nvSpPr>
        <p:spPr bwMode="auto">
          <a:xfrm>
            <a:off x="2524994" y="4220516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7030A0"/>
                </a:solidFill>
              </a:rPr>
              <a:t>积分区域</a:t>
            </a:r>
            <a:endParaRPr lang="zh-CN" altLang="en-US" sz="4000" dirty="0">
              <a:solidFill>
                <a:srgbClr val="7030A0"/>
              </a:solidFill>
            </a:endParaRPr>
          </a:p>
        </p:txBody>
      </p:sp>
      <p:grpSp>
        <p:nvGrpSpPr>
          <p:cNvPr id="44" name="Group 7"/>
          <p:cNvGrpSpPr>
            <a:grpSpLocks/>
          </p:cNvGrpSpPr>
          <p:nvPr/>
        </p:nvGrpSpPr>
        <p:grpSpPr bwMode="auto">
          <a:xfrm>
            <a:off x="5980015" y="2560952"/>
            <a:ext cx="2473624" cy="2147687"/>
            <a:chOff x="3353" y="883"/>
            <a:chExt cx="2664" cy="1517"/>
          </a:xfrm>
        </p:grpSpPr>
        <p:sp>
          <p:nvSpPr>
            <p:cNvPr id="45" name="Rectangle 8" descr="大网格"/>
            <p:cNvSpPr>
              <a:spLocks noChangeArrowheads="1"/>
            </p:cNvSpPr>
            <p:nvPr/>
          </p:nvSpPr>
          <p:spPr bwMode="auto">
            <a:xfrm>
              <a:off x="3353" y="883"/>
              <a:ext cx="2664" cy="845"/>
            </a:xfrm>
            <a:prstGeom prst="rect">
              <a:avLst/>
            </a:prstGeom>
            <a:noFill/>
            <a:ln w="38100" cap="sq">
              <a:solidFill>
                <a:srgbClr val="04926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AutoShape 9"/>
            <p:cNvSpPr>
              <a:spLocks noChangeArrowheads="1"/>
            </p:cNvSpPr>
            <p:nvPr/>
          </p:nvSpPr>
          <p:spPr bwMode="auto">
            <a:xfrm>
              <a:off x="4416" y="1728"/>
              <a:ext cx="96" cy="672"/>
            </a:xfrm>
            <a:prstGeom prst="down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12700" cap="sq">
              <a:solidFill>
                <a:srgbClr val="04926A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" name="Text Box 10" descr="大网格"/>
          <p:cNvSpPr txBox="1">
            <a:spLocks noChangeArrowheads="1"/>
          </p:cNvSpPr>
          <p:nvPr/>
        </p:nvSpPr>
        <p:spPr bwMode="auto">
          <a:xfrm>
            <a:off x="6716330" y="4761562"/>
            <a:ext cx="615553" cy="1404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</a:rPr>
              <a:t>积分和</a:t>
            </a:r>
            <a:endParaRPr lang="zh-CN" altLang="en-US" sz="4000" dirty="0">
              <a:solidFill>
                <a:srgbClr val="04926A"/>
              </a:solidFill>
            </a:endParaRPr>
          </a:p>
        </p:txBody>
      </p:sp>
      <p:grpSp>
        <p:nvGrpSpPr>
          <p:cNvPr id="48" name="Group 11"/>
          <p:cNvGrpSpPr>
            <a:grpSpLocks/>
          </p:cNvGrpSpPr>
          <p:nvPr/>
        </p:nvGrpSpPr>
        <p:grpSpPr bwMode="auto">
          <a:xfrm>
            <a:off x="3189750" y="2898129"/>
            <a:ext cx="1082431" cy="1403350"/>
            <a:chOff x="416" y="1056"/>
            <a:chExt cx="1108" cy="1056"/>
          </a:xfrm>
        </p:grpSpPr>
        <p:sp>
          <p:nvSpPr>
            <p:cNvPr id="49" name="Rectangle 12" descr="大网格"/>
            <p:cNvSpPr>
              <a:spLocks noChangeArrowheads="1"/>
            </p:cNvSpPr>
            <p:nvPr/>
          </p:nvSpPr>
          <p:spPr bwMode="auto">
            <a:xfrm>
              <a:off x="416" y="1056"/>
              <a:ext cx="1108" cy="576"/>
            </a:xfrm>
            <a:prstGeom prst="rect">
              <a:avLst/>
            </a:prstGeom>
            <a:noFill/>
            <a:ln w="38100" cap="sq">
              <a:solidFill>
                <a:srgbClr val="A9D18E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AutoShape 13"/>
            <p:cNvSpPr>
              <a:spLocks noChangeArrowheads="1"/>
            </p:cNvSpPr>
            <p:nvPr/>
          </p:nvSpPr>
          <p:spPr bwMode="auto">
            <a:xfrm>
              <a:off x="960" y="1632"/>
              <a:ext cx="48" cy="480"/>
            </a:xfrm>
            <a:prstGeom prst="downArrow">
              <a:avLst>
                <a:gd name="adj1" fmla="val 50000"/>
                <a:gd name="adj2" fmla="val 250000"/>
              </a:avLst>
            </a:prstGeom>
            <a:solidFill>
              <a:srgbClr val="A9D18E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1" name="Text Box 14" descr="大网格"/>
          <p:cNvSpPr txBox="1">
            <a:spLocks noChangeArrowheads="1"/>
          </p:cNvSpPr>
          <p:nvPr/>
        </p:nvSpPr>
        <p:spPr bwMode="auto">
          <a:xfrm>
            <a:off x="3240895" y="4296352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A9D18E"/>
                </a:solidFill>
              </a:rPr>
              <a:t>被积函数</a:t>
            </a:r>
            <a:endParaRPr lang="zh-CN" altLang="en-US" sz="1800" dirty="0">
              <a:solidFill>
                <a:srgbClr val="A9D18E"/>
              </a:solidFill>
            </a:endParaRPr>
          </a:p>
        </p:txBody>
      </p:sp>
      <p:grpSp>
        <p:nvGrpSpPr>
          <p:cNvPr id="52" name="Group 15"/>
          <p:cNvGrpSpPr>
            <a:grpSpLocks/>
          </p:cNvGrpSpPr>
          <p:nvPr/>
        </p:nvGrpSpPr>
        <p:grpSpPr bwMode="auto">
          <a:xfrm>
            <a:off x="3555433" y="3026716"/>
            <a:ext cx="768795" cy="1217613"/>
            <a:chOff x="956" y="1248"/>
            <a:chExt cx="630" cy="969"/>
          </a:xfrm>
        </p:grpSpPr>
        <p:sp>
          <p:nvSpPr>
            <p:cNvPr id="53" name="Rectangle 16" descr="大网格"/>
            <p:cNvSpPr>
              <a:spLocks noChangeArrowheads="1"/>
            </p:cNvSpPr>
            <p:nvPr/>
          </p:nvSpPr>
          <p:spPr bwMode="auto">
            <a:xfrm>
              <a:off x="956" y="1248"/>
              <a:ext cx="484" cy="288"/>
            </a:xfrm>
            <a:prstGeom prst="rect">
              <a:avLst/>
            </a:prstGeom>
            <a:noFill/>
            <a:ln w="19050" cap="sq">
              <a:solidFill>
                <a:srgbClr val="00B0F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AutoShape 17"/>
            <p:cNvSpPr>
              <a:spLocks noChangeArrowheads="1"/>
            </p:cNvSpPr>
            <p:nvPr/>
          </p:nvSpPr>
          <p:spPr bwMode="auto">
            <a:xfrm rot="-1475677">
              <a:off x="1538" y="1497"/>
              <a:ext cx="48" cy="720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rgbClr val="00B0F0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5" name="Text Box 18" descr="大网格"/>
          <p:cNvSpPr txBox="1">
            <a:spLocks noChangeArrowheads="1"/>
          </p:cNvSpPr>
          <p:nvPr/>
        </p:nvSpPr>
        <p:spPr bwMode="auto">
          <a:xfrm>
            <a:off x="4202982" y="4220516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66CCFF"/>
                </a:solidFill>
              </a:rPr>
              <a:t>积分变量</a:t>
            </a:r>
            <a:endParaRPr lang="zh-CN" altLang="en-US" sz="4000" dirty="0">
              <a:solidFill>
                <a:srgbClr val="66CCFF"/>
              </a:solidFill>
            </a:endParaRPr>
          </a:p>
        </p:txBody>
      </p:sp>
      <p:sp>
        <p:nvSpPr>
          <p:cNvPr id="56" name="Text Box 19" descr="大网格"/>
          <p:cNvSpPr txBox="1">
            <a:spLocks noChangeArrowheads="1"/>
          </p:cNvSpPr>
          <p:nvPr/>
        </p:nvSpPr>
        <p:spPr bwMode="auto">
          <a:xfrm>
            <a:off x="5572994" y="4076054"/>
            <a:ext cx="61555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CC6600"/>
                </a:solidFill>
              </a:rPr>
              <a:t>被积表达式</a:t>
            </a:r>
            <a:endParaRPr lang="zh-CN" altLang="en-US" sz="4000" dirty="0">
              <a:solidFill>
                <a:srgbClr val="CC66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667000" y="2526400"/>
                <a:ext cx="6781129" cy="141783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effectLst/>
                </a:endParaRPr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526400"/>
                <a:ext cx="6781129" cy="14178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20"/>
          <p:cNvGrpSpPr>
            <a:grpSpLocks/>
          </p:cNvGrpSpPr>
          <p:nvPr/>
        </p:nvGrpSpPr>
        <p:grpSpPr bwMode="auto">
          <a:xfrm>
            <a:off x="3126240" y="2785521"/>
            <a:ext cx="2755323" cy="1307994"/>
            <a:chOff x="900" y="1913"/>
            <a:chExt cx="1548" cy="727"/>
          </a:xfrm>
        </p:grpSpPr>
        <p:sp>
          <p:nvSpPr>
            <p:cNvPr id="58" name="Rectangle 21" descr="大网格"/>
            <p:cNvSpPr>
              <a:spLocks noChangeArrowheads="1"/>
            </p:cNvSpPr>
            <p:nvPr/>
          </p:nvSpPr>
          <p:spPr bwMode="auto">
            <a:xfrm>
              <a:off x="900" y="1913"/>
              <a:ext cx="888" cy="467"/>
            </a:xfrm>
            <a:prstGeom prst="rect">
              <a:avLst/>
            </a:prstGeom>
            <a:noFill/>
            <a:ln w="38100" cap="sq">
              <a:solidFill>
                <a:srgbClr val="CC66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22"/>
            <p:cNvSpPr>
              <a:spLocks noChangeShapeType="1"/>
            </p:cNvSpPr>
            <p:nvPr/>
          </p:nvSpPr>
          <p:spPr bwMode="auto">
            <a:xfrm>
              <a:off x="1797" y="2374"/>
              <a:ext cx="651" cy="266"/>
            </a:xfrm>
            <a:prstGeom prst="line">
              <a:avLst/>
            </a:prstGeom>
            <a:noFill/>
            <a:ln w="38100" cap="sq">
              <a:solidFill>
                <a:srgbClr val="CC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0" name="Group 23"/>
          <p:cNvGrpSpPr>
            <a:grpSpLocks/>
          </p:cNvGrpSpPr>
          <p:nvPr/>
        </p:nvGrpSpPr>
        <p:grpSpPr bwMode="auto">
          <a:xfrm>
            <a:off x="4256917" y="2912315"/>
            <a:ext cx="2115188" cy="863699"/>
            <a:chOff x="1679" y="1173"/>
            <a:chExt cx="1921" cy="696"/>
          </a:xfrm>
        </p:grpSpPr>
        <p:sp>
          <p:nvSpPr>
            <p:cNvPr id="61" name="Oval 24" descr="大网格"/>
            <p:cNvSpPr>
              <a:spLocks noChangeArrowheads="1"/>
            </p:cNvSpPr>
            <p:nvPr/>
          </p:nvSpPr>
          <p:spPr bwMode="auto">
            <a:xfrm>
              <a:off x="1679" y="1173"/>
              <a:ext cx="467" cy="423"/>
            </a:xfrm>
            <a:prstGeom prst="ellipse">
              <a:avLst/>
            </a:prstGeom>
            <a:noFill/>
            <a:ln w="28575" cap="sq">
              <a:solidFill>
                <a:srgbClr val="7030A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62" name="AutoShape 25"/>
            <p:cNvSpPr>
              <a:spLocks noChangeArrowheads="1"/>
            </p:cNvSpPr>
            <p:nvPr/>
          </p:nvSpPr>
          <p:spPr bwMode="auto">
            <a:xfrm rot="-3949303">
              <a:off x="2764" y="1034"/>
              <a:ext cx="93" cy="1578"/>
            </a:xfrm>
            <a:prstGeom prst="downArrow">
              <a:avLst>
                <a:gd name="adj1" fmla="val 50000"/>
                <a:gd name="adj2" fmla="val 424194"/>
              </a:avLst>
            </a:prstGeom>
            <a:solidFill>
              <a:srgbClr val="7030A0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3" name="Text Box 26" descr="大网格"/>
          <p:cNvSpPr txBox="1">
            <a:spLocks noChangeArrowheads="1"/>
          </p:cNvSpPr>
          <p:nvPr/>
        </p:nvSpPr>
        <p:spPr bwMode="auto">
          <a:xfrm>
            <a:off x="6227579" y="4076054"/>
            <a:ext cx="615553" cy="1818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squar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7030A0"/>
                </a:solidFill>
              </a:rPr>
              <a:t>面积元素</a:t>
            </a:r>
            <a:endParaRPr lang="zh-CN" altLang="en-US" sz="40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C7CDDD9-7804-6521-D064-340EA1B16487}"/>
                  </a:ext>
                </a:extLst>
              </p:cNvPr>
              <p:cNvSpPr txBox="1"/>
              <p:nvPr/>
            </p:nvSpPr>
            <p:spPr bwMode="auto">
              <a:xfrm>
                <a:off x="1718770" y="724596"/>
                <a:ext cx="891439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的分法及点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CN" sz="28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8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的取法无关，则称此极限为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C7CDDD9-7804-6521-D064-340EA1B16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8770" y="724596"/>
                <a:ext cx="8914395" cy="523220"/>
              </a:xfrm>
              <a:prstGeom prst="rect">
                <a:avLst/>
              </a:prstGeom>
              <a:blipFill>
                <a:blip r:embed="rId6"/>
                <a:stretch>
                  <a:fillRect l="-1436" t="-16279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469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7" grpId="0"/>
      <p:bldP spid="14439" grpId="0"/>
      <p:bldP spid="14440" grpId="0" build="p"/>
      <p:bldP spid="14442" grpId="0"/>
      <p:bldP spid="43" grpId="0" autoUpdateAnimBg="0"/>
      <p:bldP spid="47" grpId="0" autoUpdateAnimBg="0"/>
      <p:bldP spid="51" grpId="0" autoUpdateAnimBg="0"/>
      <p:bldP spid="55" grpId="0" autoUpdateAnimBg="0"/>
      <p:bldP spid="56" grpId="0" autoUpdateAnimBg="0"/>
      <p:bldP spid="2" grpId="0"/>
      <p:bldP spid="63" grpId="0" autoUpdateAnimBg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A695481-30D5-362B-1E88-5A434B1C711A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0F8C5756-2718-83E7-C0EA-22D3F79C814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2881233E-9653-470C-9059-43B1F7035895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95E7ECBF-0662-59EA-5498-80067471A5B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22872EEC-434F-A0F6-CD2D-4AFF6EB5C9B2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A6E077B3-9A3C-C686-C785-D01A95C7FFEE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651152" y="1389151"/>
                <a:ext cx="5161157" cy="55566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二重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仍然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是一个数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！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52" y="1389151"/>
                <a:ext cx="5161157" cy="555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633782" y="3948201"/>
                <a:ext cx="9732962" cy="128366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在有界闭区域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上连续，则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必存在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82" y="3948201"/>
                <a:ext cx="9732962" cy="1283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/>
              <p:cNvSpPr txBox="1"/>
              <p:nvPr/>
            </p:nvSpPr>
            <p:spPr>
              <a:xfrm>
                <a:off x="1158797" y="5291579"/>
                <a:ext cx="9501650" cy="5445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后续讨论总假定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上连续，即有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上可积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797" y="5291579"/>
                <a:ext cx="9501650" cy="5445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E12A3802-47FB-2E08-FB7E-77B181C40517}"/>
                  </a:ext>
                </a:extLst>
              </p:cNvPr>
              <p:cNvSpPr txBox="1"/>
              <p:nvPr/>
            </p:nvSpPr>
            <p:spPr>
              <a:xfrm>
                <a:off x="633782" y="2773445"/>
                <a:ext cx="3040063" cy="555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二重</m:t>
                    </m:r>
                    <m:r>
                      <m:rPr>
                        <m:nor/>
                      </m:rPr>
                      <a:rPr lang="zh-CN" altLang="en-US" sz="28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积分</m:t>
                    </m:r>
                  </m:oMath>
                </a14:m>
                <a:r>
                  <a:rPr lang="zh-CN" altLang="en-US" sz="2800" dirty="0"/>
                  <a:t>仅与</a:t>
                </a:r>
              </a:p>
            </p:txBody>
          </p:sp>
        </mc:Choice>
        <mc:Fallback xmlns="">
          <p:sp>
            <p:nvSpPr>
              <p:cNvPr id="10" name="对象 2">
                <a:extLst>
                  <a:ext uri="{FF2B5EF4-FFF2-40B4-BE49-F238E27FC236}">
                    <a16:creationId xmlns:a16="http://schemas.microsoft.com/office/drawing/2014/main" id="{E12A3802-47FB-2E08-FB7E-77B181C40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82" y="2773445"/>
                <a:ext cx="3040063" cy="555670"/>
              </a:xfrm>
              <a:prstGeom prst="rect">
                <a:avLst/>
              </a:prstGeom>
              <a:blipFill>
                <a:blip r:embed="rId6"/>
                <a:stretch>
                  <a:fillRect t="-14286" b="-21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6FA869-7523-6239-80A1-40FB82CDD49F}"/>
                  </a:ext>
                </a:extLst>
              </p:cNvPr>
              <p:cNvSpPr txBox="1"/>
              <p:nvPr/>
            </p:nvSpPr>
            <p:spPr>
              <a:xfrm>
                <a:off x="3375666" y="2567528"/>
                <a:ext cx="3040063" cy="961353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被积函数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积分区域</m:t>
                              </m:r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𝐷</m:t>
                              </m:r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          </m:t>
                              </m:r>
                            </m:e>
                          </m:eqArr>
                          <m:r>
                            <a:rPr lang="en-US" altLang="zh-CN" sz="2800" b="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6FA869-7523-6239-80A1-40FB82CDD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666" y="2567528"/>
                <a:ext cx="3040063" cy="9613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D0ACD240-2AB2-4100-EE3B-4EBC1533EDA7}"/>
                  </a:ext>
                </a:extLst>
              </p:cNvPr>
              <p:cNvSpPr txBox="1"/>
              <p:nvPr/>
            </p:nvSpPr>
            <p:spPr>
              <a:xfrm>
                <a:off x="6096000" y="2756703"/>
                <a:ext cx="1750073" cy="55567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有关</m:t>
                    </m:r>
                  </m:oMath>
                </a14:m>
                <a:r>
                  <a:rPr lang="zh-CN" altLang="en-US" sz="2800" dirty="0"/>
                  <a:t>，与</a:t>
                </a:r>
              </a:p>
            </p:txBody>
          </p:sp>
        </mc:Choice>
        <mc:Fallback xmlns="">
          <p:sp>
            <p:nvSpPr>
              <p:cNvPr id="15" name="对象 2">
                <a:extLst>
                  <a:ext uri="{FF2B5EF4-FFF2-40B4-BE49-F238E27FC236}">
                    <a16:creationId xmlns:a16="http://schemas.microsoft.com/office/drawing/2014/main" id="{D0ACD240-2AB2-4100-EE3B-4EBC1533E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56703"/>
                <a:ext cx="1750073" cy="555670"/>
              </a:xfrm>
              <a:prstGeom prst="rect">
                <a:avLst/>
              </a:prstGeom>
              <a:blipFill>
                <a:blip r:embed="rId8"/>
                <a:stretch>
                  <a:fillRect t="-13187" b="-21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C98AE8E-5405-520D-7450-62AE2E4B2CDE}"/>
                  </a:ext>
                </a:extLst>
              </p:cNvPr>
              <p:cNvSpPr txBox="1"/>
              <p:nvPr/>
            </p:nvSpPr>
            <p:spPr>
              <a:xfrm>
                <a:off x="7589573" y="2278770"/>
                <a:ext cx="3797898" cy="146796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 </m:t>
                          </m:r>
                          <m:eqArr>
                            <m:eqArr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区域分法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                         </m:t>
                              </m:r>
                            </m:e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点</m:t>
                              </m:r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kumimoji="1" lang="en-US" altLang="zh-CN" sz="2800" i="1" dirty="0">
                                          <a:latin typeface="Cambria Math" panose="02040503050406030204" charset="0"/>
                                          <a:ea typeface="MS Mincho" panose="02020609040205080304" charset="-128"/>
                                          <a:cs typeface="Cambria Math" panose="02040503050406030204" charset="0"/>
                                          <a:sym typeface="Symbol" panose="05050102010706020507" pitchFamily="18" charset="2"/>
                                        </a:rPr>
                                        <m:t></m:t>
                                      </m:r>
                                    </m:e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的取法</m:t>
                              </m:r>
                              <m:r>
                                <a:rPr lang="zh-CN" altLang="en-US" sz="2800" b="1" i="1" smtClean="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无关</m:t>
                              </m:r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；</m:t>
                              </m:r>
                            </m:e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积分变量符号</m:t>
                              </m:r>
                              <m:r>
                                <a:rPr lang="en-US" altLang="zh-CN" sz="2800" b="1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                 </m:t>
                              </m:r>
                            </m:e>
                          </m:eqArr>
                          <m:r>
                            <a:rPr lang="en-US" altLang="zh-CN" sz="2800" b="1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800" b="1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C98AE8E-5405-520D-7450-62AE2E4B2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573" y="2278770"/>
                <a:ext cx="3797898" cy="146796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EFD2E8A2-E0DA-A758-2B07-3F5C4C09E35D}"/>
              </a:ext>
            </a:extLst>
          </p:cNvPr>
          <p:cNvGrpSpPr/>
          <p:nvPr/>
        </p:nvGrpSpPr>
        <p:grpSpPr>
          <a:xfrm>
            <a:off x="791420" y="656047"/>
            <a:ext cx="612775" cy="612775"/>
            <a:chOff x="1601" y="872"/>
            <a:chExt cx="965" cy="965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2629F6F-CC41-89DF-12D4-F804E03E0DB3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C4D0766-9C72-CF61-557D-6E06E2392F4A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0891493-C3AE-ED96-C58F-6CBC6C553240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264753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10" grpId="0"/>
      <p:bldP spid="14" grpId="0"/>
      <p:bldP spid="15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9434" name="Object 42"/>
              <p:cNvSpPr txBox="1"/>
              <p:nvPr/>
            </p:nvSpPr>
            <p:spPr bwMode="auto">
              <a:xfrm>
                <a:off x="2543712" y="3637496"/>
                <a:ext cx="2825730" cy="1320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434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3637496"/>
                <a:ext cx="2825730" cy="13202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35" name="Text Box 43"/>
          <p:cNvSpPr txBox="1">
            <a:spLocks noChangeArrowheads="1"/>
          </p:cNvSpPr>
          <p:nvPr/>
        </p:nvSpPr>
        <p:spPr bwMode="auto">
          <a:xfrm>
            <a:off x="1344275" y="3165437"/>
            <a:ext cx="3886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中曲顶柱体体积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36" name="Object 44"/>
              <p:cNvSpPr txBox="1"/>
              <p:nvPr/>
            </p:nvSpPr>
            <p:spPr bwMode="auto">
              <a:xfrm>
                <a:off x="2543712" y="5253076"/>
                <a:ext cx="2946707" cy="1250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436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5253076"/>
                <a:ext cx="2946707" cy="12500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37" name="Text Box 45"/>
          <p:cNvSpPr txBox="1">
            <a:spLocks noChangeArrowheads="1"/>
          </p:cNvSpPr>
          <p:nvPr/>
        </p:nvSpPr>
        <p:spPr bwMode="auto">
          <a:xfrm>
            <a:off x="1344275" y="4866286"/>
            <a:ext cx="4038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r>
              <a:rPr kumimoji="1"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平面薄板的质量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457" name="Object 65"/>
              <p:cNvSpPr txBox="1"/>
              <p:nvPr/>
            </p:nvSpPr>
            <p:spPr bwMode="auto">
              <a:xfrm>
                <a:off x="5257554" y="3642856"/>
                <a:ext cx="2948488" cy="12837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457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554" y="3642856"/>
                <a:ext cx="2948488" cy="1283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458" name="Object 66"/>
              <p:cNvSpPr txBox="1"/>
              <p:nvPr/>
            </p:nvSpPr>
            <p:spPr bwMode="auto">
              <a:xfrm>
                <a:off x="5275371" y="5266931"/>
                <a:ext cx="2948489" cy="12837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458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5371" y="5266931"/>
                <a:ext cx="2948489" cy="12837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 11" descr="大网格"/>
          <p:cNvSpPr>
            <a:spLocks/>
          </p:cNvSpPr>
          <p:nvPr/>
        </p:nvSpPr>
        <p:spPr bwMode="auto">
          <a:xfrm>
            <a:off x="8911121" y="2554562"/>
            <a:ext cx="1397000" cy="1400175"/>
          </a:xfrm>
          <a:custGeom>
            <a:avLst/>
            <a:gdLst>
              <a:gd name="T0" fmla="*/ 0 w 1309"/>
              <a:gd name="T1" fmla="*/ 546 h 1327"/>
              <a:gd name="T2" fmla="*/ 18 w 1309"/>
              <a:gd name="T3" fmla="*/ 891 h 1327"/>
              <a:gd name="T4" fmla="*/ 73 w 1309"/>
              <a:gd name="T5" fmla="*/ 1145 h 1327"/>
              <a:gd name="T6" fmla="*/ 146 w 1309"/>
              <a:gd name="T7" fmla="*/ 1218 h 1327"/>
              <a:gd name="T8" fmla="*/ 200 w 1309"/>
              <a:gd name="T9" fmla="*/ 1236 h 1327"/>
              <a:gd name="T10" fmla="*/ 346 w 1309"/>
              <a:gd name="T11" fmla="*/ 1273 h 1327"/>
              <a:gd name="T12" fmla="*/ 637 w 1309"/>
              <a:gd name="T13" fmla="*/ 1309 h 1327"/>
              <a:gd name="T14" fmla="*/ 946 w 1309"/>
              <a:gd name="T15" fmla="*/ 1327 h 1327"/>
              <a:gd name="T16" fmla="*/ 1182 w 1309"/>
              <a:gd name="T17" fmla="*/ 1218 h 1327"/>
              <a:gd name="T18" fmla="*/ 1255 w 1309"/>
              <a:gd name="T19" fmla="*/ 1109 h 1327"/>
              <a:gd name="T20" fmla="*/ 1309 w 1309"/>
              <a:gd name="T21" fmla="*/ 909 h 1327"/>
              <a:gd name="T22" fmla="*/ 1200 w 1309"/>
              <a:gd name="T23" fmla="*/ 364 h 1327"/>
              <a:gd name="T24" fmla="*/ 964 w 1309"/>
              <a:gd name="T25" fmla="*/ 55 h 1327"/>
              <a:gd name="T26" fmla="*/ 927 w 1309"/>
              <a:gd name="T27" fmla="*/ 18 h 1327"/>
              <a:gd name="T28" fmla="*/ 764 w 1309"/>
              <a:gd name="T29" fmla="*/ 0 h 1327"/>
              <a:gd name="T30" fmla="*/ 527 w 1309"/>
              <a:gd name="T31" fmla="*/ 37 h 1327"/>
              <a:gd name="T32" fmla="*/ 400 w 1309"/>
              <a:gd name="T33" fmla="*/ 200 h 1327"/>
              <a:gd name="T34" fmla="*/ 237 w 1309"/>
              <a:gd name="T35" fmla="*/ 346 h 1327"/>
              <a:gd name="T36" fmla="*/ 0 w 1309"/>
              <a:gd name="T37" fmla="*/ 546 h 1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09" h="1327">
                <a:moveTo>
                  <a:pt x="0" y="546"/>
                </a:moveTo>
                <a:cubicBezTo>
                  <a:pt x="6" y="661"/>
                  <a:pt x="9" y="776"/>
                  <a:pt x="18" y="891"/>
                </a:cubicBezTo>
                <a:cubicBezTo>
                  <a:pt x="20" y="920"/>
                  <a:pt x="39" y="1111"/>
                  <a:pt x="73" y="1145"/>
                </a:cubicBezTo>
                <a:cubicBezTo>
                  <a:pt x="97" y="1169"/>
                  <a:pt x="122" y="1194"/>
                  <a:pt x="146" y="1218"/>
                </a:cubicBezTo>
                <a:cubicBezTo>
                  <a:pt x="159" y="1231"/>
                  <a:pt x="182" y="1231"/>
                  <a:pt x="200" y="1236"/>
                </a:cubicBezTo>
                <a:cubicBezTo>
                  <a:pt x="248" y="1249"/>
                  <a:pt x="296" y="1265"/>
                  <a:pt x="346" y="1273"/>
                </a:cubicBezTo>
                <a:cubicBezTo>
                  <a:pt x="442" y="1289"/>
                  <a:pt x="540" y="1301"/>
                  <a:pt x="637" y="1309"/>
                </a:cubicBezTo>
                <a:cubicBezTo>
                  <a:pt x="740" y="1318"/>
                  <a:pt x="843" y="1321"/>
                  <a:pt x="946" y="1327"/>
                </a:cubicBezTo>
                <a:cubicBezTo>
                  <a:pt x="1086" y="1304"/>
                  <a:pt x="1082" y="1318"/>
                  <a:pt x="1182" y="1218"/>
                </a:cubicBezTo>
                <a:cubicBezTo>
                  <a:pt x="1213" y="1187"/>
                  <a:pt x="1255" y="1109"/>
                  <a:pt x="1255" y="1109"/>
                </a:cubicBezTo>
                <a:cubicBezTo>
                  <a:pt x="1296" y="945"/>
                  <a:pt x="1276" y="1011"/>
                  <a:pt x="1309" y="909"/>
                </a:cubicBezTo>
                <a:cubicBezTo>
                  <a:pt x="1297" y="722"/>
                  <a:pt x="1307" y="525"/>
                  <a:pt x="1200" y="364"/>
                </a:cubicBezTo>
                <a:cubicBezTo>
                  <a:pt x="1154" y="225"/>
                  <a:pt x="1075" y="144"/>
                  <a:pt x="964" y="55"/>
                </a:cubicBezTo>
                <a:cubicBezTo>
                  <a:pt x="950" y="44"/>
                  <a:pt x="944" y="23"/>
                  <a:pt x="927" y="18"/>
                </a:cubicBezTo>
                <a:cubicBezTo>
                  <a:pt x="874" y="4"/>
                  <a:pt x="818" y="6"/>
                  <a:pt x="764" y="0"/>
                </a:cubicBezTo>
                <a:cubicBezTo>
                  <a:pt x="764" y="0"/>
                  <a:pt x="576" y="4"/>
                  <a:pt x="527" y="37"/>
                </a:cubicBezTo>
                <a:cubicBezTo>
                  <a:pt x="451" y="88"/>
                  <a:pt x="471" y="129"/>
                  <a:pt x="400" y="200"/>
                </a:cubicBezTo>
                <a:cubicBezTo>
                  <a:pt x="353" y="247"/>
                  <a:pt x="292" y="309"/>
                  <a:pt x="237" y="346"/>
                </a:cubicBezTo>
                <a:cubicBezTo>
                  <a:pt x="146" y="407"/>
                  <a:pt x="52" y="439"/>
                  <a:pt x="0" y="546"/>
                </a:cubicBezTo>
                <a:close/>
              </a:path>
            </a:pathLst>
          </a:custGeom>
          <a:pattFill prst="lgGrid">
            <a:fgClr>
              <a:schemeClr val="tx1"/>
            </a:fgClr>
            <a:bgClr>
              <a:srgbClr val="FFFFFF"/>
            </a:bgClr>
          </a:pattFill>
          <a:ln w="28575" cap="sq" cmpd="sng">
            <a:solidFill>
              <a:schemeClr val="accent2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8145948" y="2233887"/>
            <a:ext cx="2774951" cy="2395538"/>
            <a:chOff x="3406" y="758"/>
            <a:chExt cx="1748" cy="1509"/>
          </a:xfrm>
        </p:grpSpPr>
        <p:grpSp>
          <p:nvGrpSpPr>
            <p:cNvPr id="24" name="Group 5"/>
            <p:cNvGrpSpPr>
              <a:grpSpLocks/>
            </p:cNvGrpSpPr>
            <p:nvPr/>
          </p:nvGrpSpPr>
          <p:grpSpPr bwMode="auto">
            <a:xfrm>
              <a:off x="3406" y="758"/>
              <a:ext cx="1748" cy="1509"/>
              <a:chOff x="380" y="3"/>
              <a:chExt cx="2600" cy="2270"/>
            </a:xfrm>
          </p:grpSpPr>
          <p:sp>
            <p:nvSpPr>
              <p:cNvPr id="27" name="Line 6"/>
              <p:cNvSpPr>
                <a:spLocks noChangeShapeType="1"/>
              </p:cNvSpPr>
              <p:nvPr/>
            </p:nvSpPr>
            <p:spPr bwMode="auto">
              <a:xfrm flipV="1">
                <a:off x="888" y="137"/>
                <a:ext cx="0" cy="196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7"/>
              <p:cNvSpPr>
                <a:spLocks noChangeShapeType="1"/>
              </p:cNvSpPr>
              <p:nvPr/>
            </p:nvSpPr>
            <p:spPr bwMode="auto">
              <a:xfrm>
                <a:off x="380" y="1850"/>
                <a:ext cx="254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Object 8"/>
                  <p:cNvSpPr txBox="1"/>
                  <p:nvPr/>
                </p:nvSpPr>
                <p:spPr bwMode="auto">
                  <a:xfrm>
                    <a:off x="2589" y="1759"/>
                    <a:ext cx="391" cy="48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29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589" y="1759"/>
                    <a:ext cx="391" cy="48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Object 9"/>
                  <p:cNvSpPr txBox="1"/>
                  <p:nvPr/>
                </p:nvSpPr>
                <p:spPr bwMode="auto">
                  <a:xfrm>
                    <a:off x="491" y="3"/>
                    <a:ext cx="507" cy="49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30" name="Object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91" y="3"/>
                    <a:ext cx="507" cy="49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Object 10"/>
                  <p:cNvSpPr txBox="1"/>
                  <p:nvPr/>
                </p:nvSpPr>
                <p:spPr bwMode="auto">
                  <a:xfrm>
                    <a:off x="542" y="1786"/>
                    <a:ext cx="691" cy="48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2800" i="1" dirty="0"/>
                  </a:p>
                </p:txBody>
              </p:sp>
            </mc:Choice>
            <mc:Fallback xmlns="">
              <p:sp>
                <p:nvSpPr>
                  <p:cNvPr id="31" name="Object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42" y="1786"/>
                    <a:ext cx="691" cy="48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 Box 12" descr="大网格"/>
                <p:cNvSpPr txBox="1">
                  <a:spLocks noChangeArrowheads="1"/>
                </p:cNvSpPr>
                <p:nvPr/>
              </p:nvSpPr>
              <p:spPr bwMode="auto">
                <a:xfrm>
                  <a:off x="4282" y="1337"/>
                  <a:ext cx="393" cy="33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pattFill prst="lgGrid">
                        <a:fgClr>
                          <a:schemeClr val="tx2"/>
                        </a:fgClr>
                        <a:bgClr>
                          <a:srgbClr val="FFFFFF"/>
                        </a:bgClr>
                      </a:pattFill>
                    </a14:hiddenFill>
                  </a:ext>
                  <a:ext uri="{91240B29-F687-4F45-9708-019B960494DF}">
                    <a14:hiddenLine w="12700" cap="sq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𝐷</m:t>
                        </m:r>
                      </m:oMath>
                    </m:oMathPara>
                  </a14:m>
                  <a:endParaRPr lang="en-US" altLang="zh-CN" sz="1800" dirty="0"/>
                </a:p>
              </p:txBody>
            </p:sp>
          </mc:Choice>
          <mc:Fallback xmlns="">
            <p:sp>
              <p:nvSpPr>
                <p:cNvPr id="25" name="Text Box 12" descr="大网格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2" y="1337"/>
                  <a:ext cx="393" cy="33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pattFill prst="lgGrid">
                        <a:fgClr>
                          <a:schemeClr val="tx2"/>
                        </a:fgClr>
                        <a:bgClr>
                          <a:srgbClr val="FFFFFF"/>
                        </a:bgClr>
                      </a:patt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Freeform 17" descr="大网格"/>
            <p:cNvSpPr>
              <a:spLocks/>
            </p:cNvSpPr>
            <p:nvPr/>
          </p:nvSpPr>
          <p:spPr bwMode="auto">
            <a:xfrm>
              <a:off x="3888" y="960"/>
              <a:ext cx="880" cy="882"/>
            </a:xfrm>
            <a:custGeom>
              <a:avLst/>
              <a:gdLst>
                <a:gd name="T0" fmla="*/ 0 w 1309"/>
                <a:gd name="T1" fmla="*/ 546 h 1327"/>
                <a:gd name="T2" fmla="*/ 18 w 1309"/>
                <a:gd name="T3" fmla="*/ 891 h 1327"/>
                <a:gd name="T4" fmla="*/ 73 w 1309"/>
                <a:gd name="T5" fmla="*/ 1145 h 1327"/>
                <a:gd name="T6" fmla="*/ 146 w 1309"/>
                <a:gd name="T7" fmla="*/ 1218 h 1327"/>
                <a:gd name="T8" fmla="*/ 200 w 1309"/>
                <a:gd name="T9" fmla="*/ 1236 h 1327"/>
                <a:gd name="T10" fmla="*/ 346 w 1309"/>
                <a:gd name="T11" fmla="*/ 1273 h 1327"/>
                <a:gd name="T12" fmla="*/ 637 w 1309"/>
                <a:gd name="T13" fmla="*/ 1309 h 1327"/>
                <a:gd name="T14" fmla="*/ 946 w 1309"/>
                <a:gd name="T15" fmla="*/ 1327 h 1327"/>
                <a:gd name="T16" fmla="*/ 1182 w 1309"/>
                <a:gd name="T17" fmla="*/ 1218 h 1327"/>
                <a:gd name="T18" fmla="*/ 1255 w 1309"/>
                <a:gd name="T19" fmla="*/ 1109 h 1327"/>
                <a:gd name="T20" fmla="*/ 1309 w 1309"/>
                <a:gd name="T21" fmla="*/ 909 h 1327"/>
                <a:gd name="T22" fmla="*/ 1200 w 1309"/>
                <a:gd name="T23" fmla="*/ 364 h 1327"/>
                <a:gd name="T24" fmla="*/ 964 w 1309"/>
                <a:gd name="T25" fmla="*/ 55 h 1327"/>
                <a:gd name="T26" fmla="*/ 927 w 1309"/>
                <a:gd name="T27" fmla="*/ 18 h 1327"/>
                <a:gd name="T28" fmla="*/ 764 w 1309"/>
                <a:gd name="T29" fmla="*/ 0 h 1327"/>
                <a:gd name="T30" fmla="*/ 527 w 1309"/>
                <a:gd name="T31" fmla="*/ 37 h 1327"/>
                <a:gd name="T32" fmla="*/ 400 w 1309"/>
                <a:gd name="T33" fmla="*/ 200 h 1327"/>
                <a:gd name="T34" fmla="*/ 237 w 1309"/>
                <a:gd name="T35" fmla="*/ 346 h 1327"/>
                <a:gd name="T36" fmla="*/ 0 w 1309"/>
                <a:gd name="T37" fmla="*/ 546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09" h="1327">
                  <a:moveTo>
                    <a:pt x="0" y="546"/>
                  </a:moveTo>
                  <a:cubicBezTo>
                    <a:pt x="6" y="661"/>
                    <a:pt x="9" y="776"/>
                    <a:pt x="18" y="891"/>
                  </a:cubicBezTo>
                  <a:cubicBezTo>
                    <a:pt x="20" y="920"/>
                    <a:pt x="39" y="1111"/>
                    <a:pt x="73" y="1145"/>
                  </a:cubicBezTo>
                  <a:cubicBezTo>
                    <a:pt x="97" y="1169"/>
                    <a:pt x="122" y="1194"/>
                    <a:pt x="146" y="1218"/>
                  </a:cubicBezTo>
                  <a:cubicBezTo>
                    <a:pt x="159" y="1231"/>
                    <a:pt x="182" y="1231"/>
                    <a:pt x="200" y="1236"/>
                  </a:cubicBezTo>
                  <a:cubicBezTo>
                    <a:pt x="248" y="1249"/>
                    <a:pt x="296" y="1265"/>
                    <a:pt x="346" y="1273"/>
                  </a:cubicBezTo>
                  <a:cubicBezTo>
                    <a:pt x="442" y="1289"/>
                    <a:pt x="540" y="1301"/>
                    <a:pt x="637" y="1309"/>
                  </a:cubicBezTo>
                  <a:cubicBezTo>
                    <a:pt x="740" y="1318"/>
                    <a:pt x="843" y="1321"/>
                    <a:pt x="946" y="1327"/>
                  </a:cubicBezTo>
                  <a:cubicBezTo>
                    <a:pt x="1086" y="1304"/>
                    <a:pt x="1082" y="1318"/>
                    <a:pt x="1182" y="1218"/>
                  </a:cubicBezTo>
                  <a:cubicBezTo>
                    <a:pt x="1213" y="1187"/>
                    <a:pt x="1255" y="1109"/>
                    <a:pt x="1255" y="1109"/>
                  </a:cubicBezTo>
                  <a:cubicBezTo>
                    <a:pt x="1296" y="945"/>
                    <a:pt x="1276" y="1011"/>
                    <a:pt x="1309" y="909"/>
                  </a:cubicBezTo>
                  <a:cubicBezTo>
                    <a:pt x="1297" y="722"/>
                    <a:pt x="1307" y="525"/>
                    <a:pt x="1200" y="364"/>
                  </a:cubicBezTo>
                  <a:cubicBezTo>
                    <a:pt x="1154" y="225"/>
                    <a:pt x="1075" y="144"/>
                    <a:pt x="964" y="55"/>
                  </a:cubicBezTo>
                  <a:cubicBezTo>
                    <a:pt x="950" y="44"/>
                    <a:pt x="944" y="23"/>
                    <a:pt x="927" y="18"/>
                  </a:cubicBezTo>
                  <a:cubicBezTo>
                    <a:pt x="874" y="4"/>
                    <a:pt x="818" y="6"/>
                    <a:pt x="764" y="0"/>
                  </a:cubicBezTo>
                  <a:cubicBezTo>
                    <a:pt x="764" y="0"/>
                    <a:pt x="576" y="4"/>
                    <a:pt x="527" y="37"/>
                  </a:cubicBezTo>
                  <a:cubicBezTo>
                    <a:pt x="451" y="88"/>
                    <a:pt x="471" y="129"/>
                    <a:pt x="400" y="200"/>
                  </a:cubicBezTo>
                  <a:cubicBezTo>
                    <a:pt x="353" y="247"/>
                    <a:pt x="292" y="309"/>
                    <a:pt x="237" y="346"/>
                  </a:cubicBezTo>
                  <a:cubicBezTo>
                    <a:pt x="146" y="407"/>
                    <a:pt x="52" y="439"/>
                    <a:pt x="0" y="546"/>
                  </a:cubicBezTo>
                  <a:close/>
                </a:path>
              </a:pathLst>
            </a:custGeom>
            <a:noFill/>
            <a:ln w="28575" cap="sq" cmpd="sng">
              <a:solidFill>
                <a:srgbClr val="04926A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763954" y="600507"/>
                <a:ext cx="994422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/>
                  <a:t>在直角坐标系下用平行于坐标轴的直线网来划分区域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𝐷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954" y="600507"/>
                <a:ext cx="9944224" cy="523220"/>
              </a:xfrm>
              <a:prstGeom prst="rect">
                <a:avLst/>
              </a:prstGeom>
              <a:blipFill>
                <a:blip r:embed="rId10"/>
                <a:stretch>
                  <a:fillRect t="-15294" b="-3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1344275" y="1083347"/>
            <a:ext cx="23643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/>
              <a:t>则面积元素为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559816" y="1094573"/>
                <a:ext cx="1877438" cy="56119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16" y="1094573"/>
                <a:ext cx="1877438" cy="56119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"/>
              <p:cNvSpPr txBox="1"/>
              <p:nvPr/>
            </p:nvSpPr>
            <p:spPr bwMode="auto">
              <a:xfrm>
                <a:off x="2543712" y="1977598"/>
                <a:ext cx="5247728" cy="11660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3712" y="1977598"/>
                <a:ext cx="5247728" cy="116600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Box 14" descr="大网格"/>
          <p:cNvSpPr txBox="1">
            <a:spLocks noChangeArrowheads="1"/>
          </p:cNvSpPr>
          <p:nvPr/>
        </p:nvSpPr>
        <p:spPr bwMode="auto">
          <a:xfrm>
            <a:off x="1344275" y="1573952"/>
            <a:ext cx="30335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/>
              <a:t>故二重积分可写为</a:t>
            </a:r>
          </a:p>
        </p:txBody>
      </p:sp>
    </p:spTree>
    <p:extLst>
      <p:ext uri="{BB962C8B-B14F-4D97-AF65-F5344CB8AC3E}">
        <p14:creationId xmlns:p14="http://schemas.microsoft.com/office/powerpoint/2010/main" val="11528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4" grpId="0"/>
      <p:bldP spid="59435" grpId="0"/>
      <p:bldP spid="59436" grpId="0"/>
      <p:bldP spid="59437" grpId="0"/>
      <p:bldP spid="59457" grpId="0"/>
      <p:bldP spid="59458" grpId="0"/>
      <p:bldP spid="22" grpId="0" animBg="1"/>
      <p:bldP spid="2" grpId="0"/>
      <p:bldP spid="33" grpId="0"/>
      <p:bldP spid="3" grpId="0"/>
      <p:bldP spid="35" grpId="0"/>
      <p:bldP spid="3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4177311-BB8F-7A08-EFF5-DB380728F69C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6" name="PA-102232">
              <a:extLst>
                <a:ext uri="{FF2B5EF4-FFF2-40B4-BE49-F238E27FC236}">
                  <a16:creationId xmlns:a16="http://schemas.microsoft.com/office/drawing/2014/main" id="{F1BCBDCC-064F-F235-1C9A-EADD8FFBAB2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3101807-A45A-2431-6168-82F7966FBD2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D4E937FB-CB36-1915-8342-466E61C0AD84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3EBF59AC-A67A-88CA-008B-7F0973348E34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F190A161-43E9-885F-5865-E81A6C9BCE83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2493" y="1142251"/>
            <a:ext cx="4363806" cy="609600"/>
          </a:xfrm>
          <a:ln w="28575">
            <a:noFill/>
            <a:prstDash val="dashDot"/>
          </a:ln>
        </p:spPr>
        <p:txBody>
          <a:bodyPr>
            <a:normAutofit/>
          </a:bodyPr>
          <a:lstStyle/>
          <a:p>
            <a:pPr algn="l"/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二重积分的几何意义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Text Box 4"/>
          <p:cNvSpPr txBox="1">
            <a:spLocks noChangeArrowheads="1"/>
          </p:cNvSpPr>
          <p:nvPr/>
        </p:nvSpPr>
        <p:spPr bwMode="auto">
          <a:xfrm>
            <a:off x="6355511" y="2038126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曲顶柱体的体积；</a:t>
            </a:r>
          </a:p>
        </p:txBody>
      </p:sp>
      <p:sp>
        <p:nvSpPr>
          <p:cNvPr id="43" name="Text Box 6"/>
          <p:cNvSpPr txBox="1">
            <a:spLocks noChangeArrowheads="1"/>
          </p:cNvSpPr>
          <p:nvPr/>
        </p:nvSpPr>
        <p:spPr bwMode="auto">
          <a:xfrm>
            <a:off x="6355511" y="2576938"/>
            <a:ext cx="37925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曲顶柱体的体积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的负值；</a:t>
            </a:r>
          </a:p>
        </p:txBody>
      </p:sp>
      <p:sp>
        <p:nvSpPr>
          <p:cNvPr id="44" name="Text Box 29"/>
          <p:cNvSpPr txBox="1">
            <a:spLocks noChangeArrowheads="1"/>
          </p:cNvSpPr>
          <p:nvPr/>
        </p:nvSpPr>
        <p:spPr bwMode="auto">
          <a:xfrm>
            <a:off x="6341656" y="3119858"/>
            <a:ext cx="51142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各部分曲顶柱体体积的代数和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对象 44"/>
              <p:cNvSpPr txBox="1"/>
              <p:nvPr/>
            </p:nvSpPr>
            <p:spPr>
              <a:xfrm>
                <a:off x="3563067" y="2142053"/>
                <a:ext cx="2362515" cy="181824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)&gt;0 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)&lt;0 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一般情况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5" name="对象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067" y="2142053"/>
                <a:ext cx="2362515" cy="18182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对象 45"/>
              <p:cNvSpPr txBox="1"/>
              <p:nvPr/>
            </p:nvSpPr>
            <p:spPr>
              <a:xfrm>
                <a:off x="1524370" y="2334546"/>
                <a:ext cx="2362515" cy="12761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对象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370" y="2334546"/>
                <a:ext cx="2362515" cy="12761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/>
          <p:cNvCxnSpPr>
            <a:cxnSpLocks/>
          </p:cNvCxnSpPr>
          <p:nvPr/>
        </p:nvCxnSpPr>
        <p:spPr>
          <a:xfrm flipV="1">
            <a:off x="5711511" y="2327834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cxnSpLocks/>
          </p:cNvCxnSpPr>
          <p:nvPr/>
        </p:nvCxnSpPr>
        <p:spPr>
          <a:xfrm flipV="1">
            <a:off x="5711511" y="2852987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cxnSpLocks/>
          </p:cNvCxnSpPr>
          <p:nvPr/>
        </p:nvCxnSpPr>
        <p:spPr>
          <a:xfrm flipV="1">
            <a:off x="5697656" y="3393884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对象 53"/>
              <p:cNvSpPr txBox="1"/>
              <p:nvPr/>
            </p:nvSpPr>
            <p:spPr>
              <a:xfrm>
                <a:off x="1483527" y="3856442"/>
                <a:ext cx="2348484" cy="127337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4" name="对象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527" y="3856442"/>
                <a:ext cx="2348484" cy="12733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4"/>
          <p:cNvSpPr txBox="1">
            <a:spLocks noChangeArrowheads="1"/>
          </p:cNvSpPr>
          <p:nvPr/>
        </p:nvSpPr>
        <p:spPr bwMode="auto">
          <a:xfrm>
            <a:off x="4400136" y="4203641"/>
            <a:ext cx="4572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各部分曲顶柱体体积之和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3756136" y="4470097"/>
            <a:ext cx="644000" cy="13424"/>
          </a:xfrm>
          <a:prstGeom prst="line">
            <a:avLst/>
          </a:prstGeom>
          <a:ln w="38100">
            <a:solidFill>
              <a:srgbClr val="04926A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569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42" grpId="0"/>
      <p:bldP spid="43" grpId="0"/>
      <p:bldP spid="44" grpId="0"/>
      <p:bldP spid="45" grpId="0"/>
      <p:bldP spid="46" grpId="0"/>
      <p:bldP spid="54" grpId="0"/>
      <p:bldP spid="5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5" name="Rectangle 27"/>
          <p:cNvSpPr>
            <a:spLocks noGrp="1" noChangeArrowheads="1"/>
          </p:cNvSpPr>
          <p:nvPr>
            <p:ph type="title"/>
          </p:nvPr>
        </p:nvSpPr>
        <p:spPr>
          <a:xfrm>
            <a:off x="614548" y="777136"/>
            <a:ext cx="4106309" cy="59193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三、二重积分的性质</a:t>
            </a:r>
          </a:p>
        </p:txBody>
      </p:sp>
      <p:sp>
        <p:nvSpPr>
          <p:cNvPr id="12" name="Text Box 122"/>
          <p:cNvSpPr txBox="1">
            <a:spLocks noChangeArrowheads="1"/>
          </p:cNvSpPr>
          <p:nvPr/>
        </p:nvSpPr>
        <p:spPr bwMode="auto">
          <a:xfrm>
            <a:off x="581046" y="1477268"/>
            <a:ext cx="26618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（线性）</a:t>
            </a:r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124"/>
          <p:cNvSpPr txBox="1">
            <a:spLocks noChangeArrowheads="1"/>
          </p:cNvSpPr>
          <p:nvPr/>
        </p:nvSpPr>
        <p:spPr bwMode="auto">
          <a:xfrm>
            <a:off x="581046" y="3351856"/>
            <a:ext cx="37775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（区域可加性）</a:t>
            </a:r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537433" y="2010412"/>
                <a:ext cx="11348685" cy="125563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33" y="2010412"/>
                <a:ext cx="11348685" cy="12556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537433" y="4017250"/>
                <a:ext cx="8477894" cy="13813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33" y="4017250"/>
                <a:ext cx="8477894" cy="13813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4177878" y="3351856"/>
                <a:ext cx="6159798" cy="57958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设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i="0" dirty="0">
                    <a:solidFill>
                      <a:srgbClr val="000000"/>
                    </a:solidFill>
                    <a:latin typeface="+mj-lt"/>
                  </a:rPr>
                  <a:t>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无公共内点，则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878" y="3351856"/>
                <a:ext cx="6159798" cy="579589"/>
              </a:xfrm>
              <a:prstGeom prst="rect">
                <a:avLst/>
              </a:prstGeom>
              <a:blipFill>
                <a:blip r:embed="rId4"/>
                <a:stretch>
                  <a:fillRect t="-10526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3122491" y="1483519"/>
                <a:ext cx="3216560" cy="55972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为常数，则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491" y="1483519"/>
                <a:ext cx="3216560" cy="559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24"/>
          <p:cNvSpPr txBox="1">
            <a:spLocks noChangeArrowheads="1"/>
          </p:cNvSpPr>
          <p:nvPr/>
        </p:nvSpPr>
        <p:spPr bwMode="auto">
          <a:xfrm>
            <a:off x="581046" y="5484357"/>
            <a:ext cx="55645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性质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均可推广到有限多情形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861795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5" grpId="0"/>
      <p:bldP spid="12" grpId="0"/>
      <p:bldP spid="14" grpId="0"/>
      <p:bldP spid="2" grpId="0"/>
      <p:bldP spid="3" grpId="0"/>
      <p:bldP spid="4" grpId="0"/>
      <p:bldP spid="5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BB29A5F-E919-A4A3-5131-D2F91F1149BC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0" name="PA-102232">
              <a:extLst>
                <a:ext uri="{FF2B5EF4-FFF2-40B4-BE49-F238E27FC236}">
                  <a16:creationId xmlns:a16="http://schemas.microsoft.com/office/drawing/2014/main" id="{761993BC-CA90-6A92-194C-FB282733432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3D4B1A8-F2EB-2012-1428-507161751798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B4B2C11E-59BB-6690-2D78-A3AB0E918728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371A68CC-6457-DBC3-24DF-2879932E3CD9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156960F4-195D-37C5-4B89-32156C11D965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Text Box 122"/>
          <p:cNvSpPr txBox="1">
            <a:spLocks noChangeArrowheads="1"/>
          </p:cNvSpPr>
          <p:nvPr/>
        </p:nvSpPr>
        <p:spPr bwMode="auto">
          <a:xfrm>
            <a:off x="2382219" y="596717"/>
            <a:ext cx="11477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124"/>
          <p:cNvSpPr txBox="1">
            <a:spLocks noChangeArrowheads="1"/>
          </p:cNvSpPr>
          <p:nvPr/>
        </p:nvSpPr>
        <p:spPr bwMode="auto">
          <a:xfrm>
            <a:off x="2382219" y="2526080"/>
            <a:ext cx="12434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487892" y="1201391"/>
                <a:ext cx="4529057" cy="12649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2" y="1201391"/>
                <a:ext cx="4529057" cy="12649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487893" y="3181228"/>
                <a:ext cx="5815596" cy="130715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lang="en-US" altLang="zh-CN" sz="2800" b="0" i="1" dirty="0" smtClean="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3" y="3181228"/>
                <a:ext cx="5815596" cy="13071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3487892" y="2553680"/>
                <a:ext cx="6081410" cy="51443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上，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g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2" y="2553680"/>
                <a:ext cx="6081410" cy="5144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3487892" y="617983"/>
                <a:ext cx="3923001" cy="49973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的面积，则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892" y="617983"/>
                <a:ext cx="3923001" cy="4997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2382219" y="5015041"/>
            <a:ext cx="13502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特殊地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7"/>
              <p:cNvSpPr txBox="1"/>
              <p:nvPr/>
            </p:nvSpPr>
            <p:spPr bwMode="auto">
              <a:xfrm>
                <a:off x="3487892" y="4507771"/>
                <a:ext cx="5996350" cy="1537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7892" y="4507771"/>
                <a:ext cx="5996350" cy="15377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98138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" grpId="0"/>
      <p:bldP spid="3" grpId="0"/>
      <p:bldP spid="4" grpId="0"/>
      <p:bldP spid="5" grpId="0"/>
      <p:bldP spid="11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F7A6D403-B7C4-AA18-55B2-35868070A34C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3" name="PA-102232">
              <a:extLst>
                <a:ext uri="{FF2B5EF4-FFF2-40B4-BE49-F238E27FC236}">
                  <a16:creationId xmlns:a16="http://schemas.microsoft.com/office/drawing/2014/main" id="{83C97832-BC51-3FEB-A094-F162076AFFE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BE4B63CA-7D3D-48DA-5EDB-1307A36AF3F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3298C63E-EDBF-B543-6237-C1691C46C91E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Rectangle 1">
                <a:extLst>
                  <a:ext uri="{FF2B5EF4-FFF2-40B4-BE49-F238E27FC236}">
                    <a16:creationId xmlns:a16="http://schemas.microsoft.com/office/drawing/2014/main" id="{FC50ADB8-752F-5B22-0A66-DA224FC0C0C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Rectangle 1">
                <a:extLst>
                  <a:ext uri="{FF2B5EF4-FFF2-40B4-BE49-F238E27FC236}">
                    <a16:creationId xmlns:a16="http://schemas.microsoft.com/office/drawing/2014/main" id="{9DAB0F32-8770-0780-E1BB-180CD55255C2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" name="Text Box 122"/>
          <p:cNvSpPr txBox="1">
            <a:spLocks noChangeArrowheads="1"/>
          </p:cNvSpPr>
          <p:nvPr/>
        </p:nvSpPr>
        <p:spPr bwMode="auto">
          <a:xfrm>
            <a:off x="1458794" y="889047"/>
            <a:ext cx="11956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4" name="Text Box 124"/>
          <p:cNvSpPr txBox="1">
            <a:spLocks noChangeArrowheads="1"/>
          </p:cNvSpPr>
          <p:nvPr/>
        </p:nvSpPr>
        <p:spPr bwMode="auto">
          <a:xfrm>
            <a:off x="1458794" y="3296753"/>
            <a:ext cx="12864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04926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745195" y="2000241"/>
                <a:ext cx="5008429" cy="122819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2000241"/>
                <a:ext cx="5008429" cy="12281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745195" y="4568459"/>
                <a:ext cx="4288170" cy="131134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m:rPr>
                          <m:nor/>
                        </m:rPr>
                        <a:rPr kumimoji="1" lang="en-US" altLang="zh-CN" sz="2800" b="0" i="1" dirty="0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4568459"/>
                <a:ext cx="4288170" cy="13113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654449" y="3296753"/>
                <a:ext cx="8056083" cy="61500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的面积，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449" y="3296753"/>
                <a:ext cx="8056083" cy="6150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654449" y="879664"/>
                <a:ext cx="9008802" cy="61500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分别是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在闭区域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上的最大值和最小值，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449" y="879664"/>
                <a:ext cx="9008802" cy="6150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745195" y="1519867"/>
                <a:ext cx="3269619" cy="59743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的面积，则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1519867"/>
                <a:ext cx="3269619" cy="59743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2745195" y="3980078"/>
                <a:ext cx="5359304" cy="57483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上至少存在一点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  <m:r>
                            <a:rPr kumimoji="1" lang="en-US" altLang="zh-CN" sz="2800" b="0" i="1" dirty="0" smtClean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使得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195" y="3980078"/>
                <a:ext cx="5359304" cy="57483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7319619" y="2291392"/>
            <a:ext cx="40891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（二重积分估值不等式）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6830521" y="4898724"/>
            <a:ext cx="441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（二重积分中值定理）</a:t>
            </a:r>
          </a:p>
        </p:txBody>
      </p:sp>
    </p:spTree>
    <p:extLst>
      <p:ext uri="{BB962C8B-B14F-4D97-AF65-F5344CB8AC3E}">
        <p14:creationId xmlns:p14="http://schemas.microsoft.com/office/powerpoint/2010/main" val="293072426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2" grpId="0"/>
      <p:bldP spid="3" grpId="0"/>
      <p:bldP spid="4" grpId="0"/>
      <p:bldP spid="5" grpId="0"/>
      <p:bldP spid="6" grpId="0"/>
      <p:bldP spid="7" grpId="0"/>
      <p:bldP spid="15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46C1C5D-9AAE-A5BA-0EB9-807E267BB246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1" name="PA-102232">
              <a:extLst>
                <a:ext uri="{FF2B5EF4-FFF2-40B4-BE49-F238E27FC236}">
                  <a16:creationId xmlns:a16="http://schemas.microsoft.com/office/drawing/2014/main" id="{70D7B895-47E8-8900-7E47-A3232ADFFC3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947EC32-466C-FC5B-DD51-D29F0E83428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F45649A8-9A5C-E3C1-3335-F430E55975B7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4ABA023C-F5DB-943F-22CF-F13CFD224E1A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F97EF559-8259-461B-EADB-198583587D83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2273333" y="925452"/>
            <a:ext cx="26548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由性质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5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可知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2866537" y="2533074"/>
            <a:ext cx="5410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由连续函数介值定理</a:t>
            </a:r>
            <a:r>
              <a:rPr kumimoji="1" lang="zh-CN" altLang="en-US" sz="22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至少有一点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9"/>
              <p:cNvSpPr txBox="1"/>
              <p:nvPr/>
            </p:nvSpPr>
            <p:spPr bwMode="auto">
              <a:xfrm>
                <a:off x="7050882" y="2507719"/>
                <a:ext cx="146047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2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50882" y="2507719"/>
                <a:ext cx="1460471" cy="519113"/>
              </a:xfrm>
              <a:prstGeom prst="rect">
                <a:avLst/>
              </a:prstGeom>
              <a:blipFill>
                <a:blip r:embed="rId3"/>
                <a:stretch>
                  <a:fillRect l="-29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8334375" y="2551831"/>
            <a:ext cx="533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使</a:t>
            </a:r>
          </a:p>
        </p:txBody>
      </p:sp>
      <p:sp>
        <p:nvSpPr>
          <p:cNvPr id="9" name="Text Box 34"/>
          <p:cNvSpPr txBox="1">
            <a:spLocks noChangeArrowheads="1"/>
          </p:cNvSpPr>
          <p:nvPr/>
        </p:nvSpPr>
        <p:spPr bwMode="auto">
          <a:xfrm>
            <a:off x="2877170" y="4091935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/>
              <p:cNvSpPr txBox="1"/>
              <p:nvPr/>
            </p:nvSpPr>
            <p:spPr>
              <a:xfrm>
                <a:off x="4013890" y="1445362"/>
                <a:ext cx="3561796" cy="106668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对象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890" y="1445362"/>
                <a:ext cx="3561796" cy="1066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17"/>
              <p:cNvSpPr txBox="1"/>
              <p:nvPr/>
            </p:nvSpPr>
            <p:spPr>
              <a:xfrm>
                <a:off x="4013890" y="3117296"/>
                <a:ext cx="3381043" cy="105020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​)=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" name="对象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890" y="3117296"/>
                <a:ext cx="3381043" cy="1050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8"/>
              <p:cNvSpPr txBox="1"/>
              <p:nvPr/>
            </p:nvSpPr>
            <p:spPr>
              <a:xfrm>
                <a:off x="4013891" y="4547066"/>
                <a:ext cx="3259002" cy="105020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4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m:rPr>
                          <m:nor/>
                        </m:rPr>
                        <a:rPr kumimoji="1" lang="en-US" altLang="zh-CN" sz="2400" b="0" i="1" dirty="0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​)​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9" name="对象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891" y="4547066"/>
                <a:ext cx="3259002" cy="105020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7575686" y="4830483"/>
            <a:ext cx="846563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证毕</a:t>
            </a:r>
            <a:endParaRPr kumimoji="1" lang="en-US" altLang="zh-CN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82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8" grpId="0"/>
      <p:bldP spid="9" grpId="0"/>
      <p:bldP spid="17" grpId="0"/>
      <p:bldP spid="18" grpId="0"/>
      <p:bldP spid="19" grpId="0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005700" y="722954"/>
            <a:ext cx="556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二重积分中值公式的几何解释：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17"/>
              <p:cNvSpPr txBox="1"/>
              <p:nvPr/>
            </p:nvSpPr>
            <p:spPr>
              <a:xfrm>
                <a:off x="2602368" y="1746441"/>
                <a:ext cx="4256857" cy="45477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必可找到一个与它同底，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对象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368" y="1746441"/>
                <a:ext cx="4256857" cy="454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8"/>
              <p:cNvSpPr txBox="1"/>
              <p:nvPr/>
            </p:nvSpPr>
            <p:spPr>
              <a:xfrm>
                <a:off x="1005700" y="1310613"/>
                <a:ext cx="6233709" cy="106588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对于一个以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为底以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为顶的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曲顶柱体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对象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00" y="1310613"/>
                <a:ext cx="6233709" cy="10658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58"/>
          <p:cNvGrpSpPr>
            <a:grpSpLocks/>
          </p:cNvGrpSpPr>
          <p:nvPr/>
        </p:nvGrpSpPr>
        <p:grpSpPr bwMode="auto">
          <a:xfrm>
            <a:off x="7582132" y="1023429"/>
            <a:ext cx="2662561" cy="2215553"/>
            <a:chOff x="144" y="1656"/>
            <a:chExt cx="2592" cy="2409"/>
          </a:xfrm>
        </p:grpSpPr>
        <p:pic>
          <p:nvPicPr>
            <p:cNvPr id="26" name="Picture 48" descr="PicSSurface_3416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62" t="29857" r="12070" b="5396"/>
            <a:stretch>
              <a:fillRect/>
            </a:stretch>
          </p:blipFill>
          <p:spPr bwMode="auto">
            <a:xfrm>
              <a:off x="144" y="1728"/>
              <a:ext cx="2592" cy="2160"/>
            </a:xfrm>
            <a:prstGeom prst="rect">
              <a:avLst/>
            </a:prstGeom>
            <a:noFill/>
            <a:ln>
              <a:solidFill>
                <a:srgbClr val="04926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55"/>
                <p:cNvSpPr>
                  <a:spLocks noChangeArrowheads="1"/>
                </p:cNvSpPr>
                <p:nvPr/>
              </p:nvSpPr>
              <p:spPr bwMode="auto">
                <a:xfrm>
                  <a:off x="1754" y="3563"/>
                  <a:ext cx="629" cy="5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 xmlns="">
            <p:sp>
              <p:nvSpPr>
                <p:cNvPr id="27" name="Rectangle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54" y="3563"/>
                  <a:ext cx="629" cy="50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57"/>
                <p:cNvSpPr>
                  <a:spLocks noChangeArrowheads="1"/>
                </p:cNvSpPr>
                <p:nvPr/>
              </p:nvSpPr>
              <p:spPr bwMode="auto">
                <a:xfrm>
                  <a:off x="240" y="1656"/>
                  <a:ext cx="392" cy="5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 xmlns="">
            <p:sp>
              <p:nvSpPr>
                <p:cNvPr id="2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0" y="1656"/>
                  <a:ext cx="392" cy="50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62"/>
          <p:cNvGrpSpPr>
            <a:grpSpLocks/>
          </p:cNvGrpSpPr>
          <p:nvPr/>
        </p:nvGrpSpPr>
        <p:grpSpPr bwMode="auto">
          <a:xfrm>
            <a:off x="7534878" y="3142413"/>
            <a:ext cx="2709813" cy="2421421"/>
            <a:chOff x="5158" y="1821"/>
            <a:chExt cx="2638" cy="2515"/>
          </a:xfrm>
        </p:grpSpPr>
        <p:pic>
          <p:nvPicPr>
            <p:cNvPr id="30" name="Picture 49" descr="PicSSurface_34702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62" t="29857" r="12070" b="5396"/>
            <a:stretch>
              <a:fillRect/>
            </a:stretch>
          </p:blipFill>
          <p:spPr bwMode="auto">
            <a:xfrm>
              <a:off x="5204" y="1955"/>
              <a:ext cx="2592" cy="2160"/>
            </a:xfrm>
            <a:prstGeom prst="rect">
              <a:avLst/>
            </a:prstGeom>
            <a:noFill/>
            <a:ln>
              <a:solidFill>
                <a:srgbClr val="04926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59"/>
                <p:cNvSpPr>
                  <a:spLocks noChangeArrowheads="1"/>
                </p:cNvSpPr>
                <p:nvPr/>
              </p:nvSpPr>
              <p:spPr bwMode="auto">
                <a:xfrm>
                  <a:off x="6744" y="3856"/>
                  <a:ext cx="629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 xmlns="">
            <p:sp>
              <p:nvSpPr>
                <p:cNvPr id="31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44" y="3856"/>
                  <a:ext cx="629" cy="48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61"/>
                <p:cNvSpPr>
                  <a:spLocks noChangeArrowheads="1"/>
                </p:cNvSpPr>
                <p:nvPr/>
              </p:nvSpPr>
              <p:spPr bwMode="auto">
                <a:xfrm>
                  <a:off x="5158" y="1821"/>
                  <a:ext cx="629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altLang="zh-CN" sz="2400" i="1" dirty="0"/>
                </a:p>
              </p:txBody>
            </p:sp>
          </mc:Choice>
          <mc:Fallback xmlns="">
            <p:sp>
              <p:nvSpPr>
                <p:cNvPr id="32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58" y="1821"/>
                  <a:ext cx="629" cy="48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20"/>
              <p:cNvSpPr txBox="1"/>
              <p:nvPr/>
            </p:nvSpPr>
            <p:spPr>
              <a:xfrm>
                <a:off x="1005700" y="2272247"/>
                <a:ext cx="4695708" cy="483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顶的平顶柱体，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对象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00" y="2272247"/>
                <a:ext cx="4695708" cy="483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32"/>
              <p:cNvSpPr txBox="1"/>
              <p:nvPr/>
            </p:nvSpPr>
            <p:spPr>
              <a:xfrm>
                <a:off x="1005700" y="2819287"/>
                <a:ext cx="3803377" cy="45477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使得两者的体积相等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对象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700" y="2819287"/>
                <a:ext cx="3803377" cy="454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对象 33"/>
              <p:cNvSpPr txBox="1"/>
              <p:nvPr/>
            </p:nvSpPr>
            <p:spPr>
              <a:xfrm>
                <a:off x="1111916" y="3337904"/>
                <a:ext cx="4172465" cy="123526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​)​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对象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16" y="3337904"/>
                <a:ext cx="4172465" cy="12352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utoShape 7">
            <a:extLst>
              <a:ext uri="{FF2B5EF4-FFF2-40B4-BE49-F238E27FC236}">
                <a16:creationId xmlns:a16="http://schemas.microsoft.com/office/drawing/2014/main" id="{816960B5-4853-2F49-AC55-B24DE08E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263" y="5457382"/>
            <a:ext cx="2729181" cy="504000"/>
          </a:xfrm>
          <a:prstGeom prst="wedgeRectCallout">
            <a:avLst>
              <a:gd name="adj1" fmla="val -2940"/>
              <a:gd name="adj2" fmla="val -296622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/>
              <a:t>曲顶柱体的体积</a:t>
            </a:r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614DC365-4F66-FB96-42AE-3A7E2BF2B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596" y="5457382"/>
            <a:ext cx="2715495" cy="504000"/>
          </a:xfrm>
          <a:prstGeom prst="wedgeRectCallout">
            <a:avLst>
              <a:gd name="adj1" fmla="val -33506"/>
              <a:gd name="adj2" fmla="val -30825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/>
              <a:t>平顶柱体的体积</a:t>
            </a:r>
          </a:p>
        </p:txBody>
      </p:sp>
    </p:spTree>
    <p:extLst>
      <p:ext uri="{BB962C8B-B14F-4D97-AF65-F5344CB8AC3E}">
        <p14:creationId xmlns:p14="http://schemas.microsoft.com/office/powerpoint/2010/main" val="311819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1" grpId="0"/>
      <p:bldP spid="33" grpId="0"/>
      <p:bldP spid="34" grpId="0"/>
      <p:bldP spid="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7146070-06D6-768A-B8AB-2E6D4C02FE50}"/>
              </a:ext>
            </a:extLst>
          </p:cNvPr>
          <p:cNvGrpSpPr/>
          <p:nvPr/>
        </p:nvGrpSpPr>
        <p:grpSpPr>
          <a:xfrm>
            <a:off x="687006" y="53644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0B689E0-F7E5-B30F-5186-B34D030BABDA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0B689E0-F7E5-B30F-5186-B34D030BAB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C7D0B638-49FB-D143-DE0D-D77163BCFC3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8D68253D-876A-604A-C4B0-CB33EDF3EF1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C0AA571-AAF0-CF20-9FA6-90CE5A98FDF4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BBB326B7-F671-13B5-80FB-5D71B0844C58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533" name="Object 5"/>
              <p:cNvSpPr txBox="1"/>
              <p:nvPr/>
            </p:nvSpPr>
            <p:spPr bwMode="auto">
              <a:xfrm>
                <a:off x="3843223" y="3936527"/>
                <a:ext cx="3253240" cy="5546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∴1=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43223" y="3936527"/>
                <a:ext cx="3253240" cy="5546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5" name="Object 7"/>
              <p:cNvSpPr txBox="1"/>
              <p:nvPr/>
            </p:nvSpPr>
            <p:spPr bwMode="auto">
              <a:xfrm>
                <a:off x="4119447" y="4433407"/>
                <a:ext cx="3777779" cy="8872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9447" y="4433407"/>
                <a:ext cx="3777779" cy="887252"/>
              </a:xfrm>
              <a:prstGeom prst="rect">
                <a:avLst/>
              </a:prstGeom>
              <a:blipFill>
                <a:blip r:embed="rId4"/>
                <a:stretch>
                  <a:fillRect b="-34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1785510" y="2830212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8" name="Object 10"/>
              <p:cNvSpPr txBox="1"/>
              <p:nvPr/>
            </p:nvSpPr>
            <p:spPr bwMode="auto">
              <a:xfrm>
                <a:off x="2789121" y="5298110"/>
                <a:ext cx="4074974" cy="10284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121" y="5298110"/>
                <a:ext cx="4074974" cy="10284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9">
                <a:extLst>
                  <a:ext uri="{FF2B5EF4-FFF2-40B4-BE49-F238E27FC236}">
                    <a16:creationId xmlns:a16="http://schemas.microsoft.com/office/drawing/2014/main" id="{DB87EA48-5555-B85C-6B10-DD991A41B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9121" y="2891582"/>
                <a:ext cx="296151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ea typeface="黑体" panose="02010609060101010101" pitchFamily="49" charset="-122"/>
                  </a:rPr>
                  <a:t>区域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lang="zh-CN" altLang="en-US" sz="2200" dirty="0">
                    <a:ea typeface="黑体" panose="02010609060101010101" pitchFamily="49" charset="-122"/>
                  </a:rPr>
                  <a:t>的面积</a:t>
                </a:r>
                <a14:m>
                  <m:oMath xmlns:m="http://schemas.openxmlformats.org/officeDocument/2006/math">
                    <m:r>
                      <a:rPr lang="zh-CN" alt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m:rPr>
                        <m:sty m:val="p"/>
                      </m:rPr>
                      <a:rPr lang="zh-CN" alt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200" dirty="0"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Text Box 9">
                <a:extLst>
                  <a:ext uri="{FF2B5EF4-FFF2-40B4-BE49-F238E27FC236}">
                    <a16:creationId xmlns:a16="http://schemas.microsoft.com/office/drawing/2014/main" id="{DB87EA48-5555-B85C-6B10-DD991A41B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121" y="2891582"/>
                <a:ext cx="2961518" cy="430887"/>
              </a:xfrm>
              <a:prstGeom prst="rect">
                <a:avLst/>
              </a:prstGeom>
              <a:blipFill>
                <a:blip r:embed="rId6"/>
                <a:stretch>
                  <a:fillRect l="-2680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9">
                <a:extLst>
                  <a:ext uri="{FF2B5EF4-FFF2-40B4-BE49-F238E27FC236}">
                    <a16:creationId xmlns:a16="http://schemas.microsoft.com/office/drawing/2014/main" id="{4F1C4F19-2830-0E75-442C-A7B7E03D13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9121" y="3437986"/>
                <a:ext cx="3627299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lang="zh-CN" altLang="en-US" sz="2200" dirty="0">
                    <a:ea typeface="黑体" panose="02010609060101010101" pitchFamily="49" charset="-122"/>
                  </a:rPr>
                  <a:t>上  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+mn-ea"/>
                      </a:rPr>
                      <m:t>∵</m:t>
                    </m:r>
                    <m:r>
                      <a:rPr lang="en-US" altLang="zh-CN" sz="22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altLang="zh-CN" sz="22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≤</m:t>
                    </m:r>
                    <m:sSup>
                      <m:sSup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</m:e>
                      <m: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200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≤</m:t>
                    </m:r>
                    <m:sSup>
                      <m:sSup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𝑎</m:t>
                        </m:r>
                      </m:e>
                      <m: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endParaRPr lang="en-US" altLang="zh-CN" sz="22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 Box 9">
                <a:extLst>
                  <a:ext uri="{FF2B5EF4-FFF2-40B4-BE49-F238E27FC236}">
                    <a16:creationId xmlns:a16="http://schemas.microsoft.com/office/drawing/2014/main" id="{4F1C4F19-2830-0E75-442C-A7B7E03D1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9121" y="3437986"/>
                <a:ext cx="3627299" cy="430887"/>
              </a:xfrm>
              <a:prstGeom prst="rect">
                <a:avLst/>
              </a:prstGeom>
              <a:blipFill>
                <a:blip r:embed="rId7"/>
                <a:stretch>
                  <a:fillRect l="-2185" t="-14085" b="-225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9">
            <a:extLst>
              <a:ext uri="{FF2B5EF4-FFF2-40B4-BE49-F238E27FC236}">
                <a16:creationId xmlns:a16="http://schemas.microsoft.com/office/drawing/2014/main" id="{39D74086-48E8-B76C-669F-B42A4033A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121" y="4643211"/>
            <a:ext cx="16206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200" dirty="0">
                <a:ea typeface="黑体" panose="02010609060101010101" pitchFamily="49" charset="-122"/>
              </a:rPr>
              <a:t>由性质</a:t>
            </a:r>
            <a:r>
              <a:rPr lang="en-US" altLang="zh-CN" sz="2200" dirty="0">
                <a:ea typeface="黑体" panose="02010609060101010101" pitchFamily="49" charset="-122"/>
              </a:rPr>
              <a:t>6</a:t>
            </a:r>
            <a:r>
              <a:rPr lang="zh-CN" altLang="en-US" sz="2200" dirty="0">
                <a:ea typeface="黑体" panose="02010609060101010101" pitchFamily="49" charset="-122"/>
              </a:rPr>
              <a:t>知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C88F4F4-118B-26D7-7B4A-DE17A38CC054}"/>
              </a:ext>
            </a:extLst>
          </p:cNvPr>
          <p:cNvGrpSpPr/>
          <p:nvPr/>
        </p:nvGrpSpPr>
        <p:grpSpPr>
          <a:xfrm>
            <a:off x="809821" y="498271"/>
            <a:ext cx="10013073" cy="2298114"/>
            <a:chOff x="581221" y="837833"/>
            <a:chExt cx="10013073" cy="22981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42">
                  <a:extLst>
                    <a:ext uri="{FF2B5EF4-FFF2-40B4-BE49-F238E27FC236}">
                      <a16:creationId xmlns:a16="http://schemas.microsoft.com/office/drawing/2014/main" id="{814AEABC-5E2A-DEE6-7C8C-A30AC78AC216}"/>
                    </a:ext>
                  </a:extLst>
                </p:cNvPr>
                <p:cNvSpPr txBox="1"/>
                <p:nvPr/>
              </p:nvSpPr>
              <p:spPr bwMode="auto">
                <a:xfrm>
                  <a:off x="4990328" y="837833"/>
                  <a:ext cx="3219569" cy="12577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∬"/>
                            <m:limLoc m:val="undOvr"/>
                            <m:supHide m:val="on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en-US" altLang="zh-CN" sz="2800" b="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lang="zh-CN" altLang="en-US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Object 42">
                  <a:extLst>
                    <a:ext uri="{FF2B5EF4-FFF2-40B4-BE49-F238E27FC236}">
                      <a16:creationId xmlns:a16="http://schemas.microsoft.com/office/drawing/2014/main" id="{814AEABC-5E2A-DEE6-7C8C-A30AC78AC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90328" y="837833"/>
                  <a:ext cx="3219569" cy="12577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506D530-F764-43F4-730C-77FB272605A2}"/>
                    </a:ext>
                  </a:extLst>
                </p:cNvPr>
                <p:cNvSpPr txBox="1"/>
                <p:nvPr/>
              </p:nvSpPr>
              <p:spPr>
                <a:xfrm>
                  <a:off x="581221" y="1101800"/>
                  <a:ext cx="10013073" cy="203414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2800" b="1" i="0" dirty="0" smtClean="0">
                            <a:solidFill>
                              <a:srgbClr val="04926A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        </m:t>
                        </m:r>
                        <m:r>
                          <m:rPr>
                            <m:nor/>
                          </m:rPr>
                          <a:rPr lang="zh-CN" altLang="en-US" sz="2800" b="1" dirty="0">
                            <a:solidFill>
                              <a:srgbClr val="04926A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例</m:t>
                        </m:r>
                        <m:r>
                          <m:rPr>
                            <m:nor/>
                          </m:rPr>
                          <a:rPr lang="en-US" altLang="zh-CN" sz="2800" b="1" i="0" dirty="0" smtClean="0">
                            <a:solidFill>
                              <a:srgbClr val="04926A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CN" sz="2800" b="0" i="0" dirty="0" smtClean="0"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ea typeface="黑体" panose="02010609060101010101" pitchFamily="49" charset="-122"/>
                          </a:rPr>
                          <m:t>不作计算</m:t>
                        </m:r>
                        <m:r>
                          <a:rPr lang="zh-CN" altLang="en-US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ea typeface="黑体" panose="02010609060101010101" pitchFamily="49" charset="-122"/>
                          </a:rPr>
                          <m:t>估计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ea typeface="黑体" panose="02010609060101010101" pitchFamily="49" charset="-122"/>
                          </a:rPr>
                          <m:t>                 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ea typeface="黑体" panose="02010609060101010101" pitchFamily="49" charset="-122"/>
                          </a:rPr>
                          <m:t>的值，其中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𝐷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ea typeface="黑体" panose="02010609060101010101" pitchFamily="49" charset="-122"/>
                          </a:rPr>
                          <m:t>是</m:t>
                        </m:r>
                      </m:oMath>
                    </m:oMathPara>
                  </a14:m>
                  <a:endParaRPr lang="en-US" altLang="zh-CN" sz="2800" dirty="0"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50000"/>
                    </a:spcBef>
                  </a:pPr>
                  <a:endParaRPr lang="en-US" altLang="zh-CN" sz="2800" dirty="0">
                    <a:ea typeface="黑体" panose="02010609060101010101" pitchFamily="49" charset="-122"/>
                  </a:endParaRPr>
                </a:p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800" dirty="0">
                            <a:ea typeface="黑体" panose="02010609060101010101" pitchFamily="49" charset="-122"/>
                          </a:rPr>
                          <m:t>椭圆闭区域</m:t>
                        </m:r>
                        <m:r>
                          <m:rPr>
                            <m:nor/>
                          </m:rPr>
                          <a:rPr kumimoji="1"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：</m:t>
                        </m:r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+</m:t>
                        </m:r>
                        <m:f>
                          <m:fPr>
                            <m:ctrlPr>
                              <a:rPr kumimoji="1" lang="en-US" altLang="zh-CN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=1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（</m:t>
                        </m:r>
                        <m:r>
                          <m:rPr>
                            <m:nor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0&lt;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&lt;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kumimoji="1" lang="zh-CN" altLang="en-US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）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506D530-F764-43F4-730C-77FB27260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221" y="1101800"/>
                  <a:ext cx="10013073" cy="203414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676008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/>
      <p:bldP spid="22535" grpId="0"/>
      <p:bldP spid="22537" grpId="0" autoUpdateAnimBg="0"/>
      <p:bldP spid="22538" grpId="0"/>
      <p:bldP spid="18" grpId="0" autoUpdateAnimBg="0"/>
      <p:bldP spid="21" grpId="0" autoUpdateAnimBg="0"/>
      <p:bldP spid="2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F87D2F9F-0EA0-8605-FA50-978AA1B57355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9A929B8-2CBA-7736-7255-B1DE1E52FC3A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9A929B8-2CBA-7736-7255-B1DE1E52FC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4713B5E7-A4C9-C96D-1E6E-5CFD6BF3961B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77614A0-F3DB-4BCB-0794-EE262BA5BB53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CB045A7C-11A7-1EA5-28C4-631D6D0BA2E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79FB9E34-ACA7-2A25-7145-908FADA12F1A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4761" y="768763"/>
            <a:ext cx="4648200" cy="60960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en-US" altLang="zh-CN" sz="2800" dirty="0">
                <a:ea typeface="黑体" panose="02010609060101010101" pitchFamily="49" charset="-122"/>
              </a:rPr>
              <a:t>  </a:t>
            </a:r>
            <a:r>
              <a:rPr lang="zh-CN" altLang="en-US" sz="2800" b="0" dirty="0">
                <a:ea typeface="黑体" panose="02010609060101010101" pitchFamily="49" charset="-122"/>
              </a:rPr>
              <a:t>比较下列积分的大小</a:t>
            </a:r>
            <a:r>
              <a:rPr lang="en-US" altLang="zh-CN" sz="2800" b="0" dirty="0">
                <a:ea typeface="黑体" panose="02010609060101010101" pitchFamily="49" charset="-122"/>
              </a:rPr>
              <a:t>:</a:t>
            </a:r>
            <a:endParaRPr lang="en-US" altLang="zh-CN" sz="2800" b="0" dirty="0">
              <a:ea typeface="仿宋_GB2312" pitchFamily="49" charset="-122"/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021754" y="241187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8" name="Object 6"/>
              <p:cNvSpPr txBox="1"/>
              <p:nvPr/>
            </p:nvSpPr>
            <p:spPr bwMode="auto">
              <a:xfrm>
                <a:off x="2879005" y="2395765"/>
                <a:ext cx="4663900" cy="6363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9005" y="2395765"/>
                <a:ext cx="4663900" cy="6363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39" name="Text Box 7"/>
              <p:cNvSpPr txBox="1">
                <a:spLocks noChangeArrowheads="1"/>
              </p:cNvSpPr>
              <p:nvPr/>
            </p:nvSpPr>
            <p:spPr bwMode="auto">
              <a:xfrm>
                <a:off x="1204761" y="2896464"/>
                <a:ext cx="40386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 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积分域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的边界为圆周</a:t>
                </a:r>
              </a:p>
            </p:txBody>
          </p:sp>
        </mc:Choice>
        <mc:Fallback xmlns="">
          <p:sp>
            <p:nvSpPr>
              <p:cNvPr id="1843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4761" y="2896464"/>
                <a:ext cx="4038600" cy="519113"/>
              </a:xfrm>
              <a:prstGeom prst="rect">
                <a:avLst/>
              </a:prstGeom>
              <a:blipFill>
                <a:blip r:embed="rId4"/>
                <a:stretch>
                  <a:fillRect l="-3172" t="-11765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6" name="Object 34"/>
              <p:cNvSpPr txBox="1"/>
              <p:nvPr/>
            </p:nvSpPr>
            <p:spPr bwMode="auto">
              <a:xfrm>
                <a:off x="3837715" y="4814460"/>
                <a:ext cx="27178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66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7715" y="4814460"/>
                <a:ext cx="2717800" cy="520700"/>
              </a:xfrm>
              <a:prstGeom prst="rect">
                <a:avLst/>
              </a:prstGeom>
              <a:blipFill>
                <a:blip r:embed="rId5"/>
                <a:stretch>
                  <a:fillRect l="-15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8" name="Object 36"/>
              <p:cNvSpPr txBox="1"/>
              <p:nvPr/>
            </p:nvSpPr>
            <p:spPr bwMode="auto">
              <a:xfrm>
                <a:off x="2603348" y="3416672"/>
                <a:ext cx="31877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68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3348" y="3416672"/>
                <a:ext cx="3187700" cy="520700"/>
              </a:xfrm>
              <a:prstGeom prst="rect">
                <a:avLst/>
              </a:prstGeom>
              <a:blipFill>
                <a:blip r:embed="rId6"/>
                <a:stretch>
                  <a:fillRect l="-11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67" name="Text Box 35"/>
              <p:cNvSpPr txBox="1">
                <a:spLocks noChangeArrowheads="1"/>
              </p:cNvSpPr>
              <p:nvPr/>
            </p:nvSpPr>
            <p:spPr bwMode="auto">
              <a:xfrm>
                <a:off x="2008914" y="3893578"/>
                <a:ext cx="29664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它与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轴交于点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8467" name="Text 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8914" y="3893578"/>
                <a:ext cx="2966498" cy="430887"/>
              </a:xfrm>
              <a:prstGeom prst="rect">
                <a:avLst/>
              </a:prstGeom>
              <a:blipFill>
                <a:blip r:embed="rId7"/>
                <a:stretch>
                  <a:fillRect l="-2675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70" name="Object 38"/>
              <p:cNvSpPr txBox="1"/>
              <p:nvPr/>
            </p:nvSpPr>
            <p:spPr bwMode="auto">
              <a:xfrm>
                <a:off x="4695328" y="3898342"/>
                <a:ext cx="3150077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与直线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相切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70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5328" y="3898342"/>
                <a:ext cx="3150077" cy="444500"/>
              </a:xfrm>
              <a:prstGeom prst="rect">
                <a:avLst/>
              </a:prstGeom>
              <a:blipFill>
                <a:blip r:embed="rId8"/>
                <a:stretch>
                  <a:fillRect l="-1354" b="-109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71" name="Text Box 39"/>
              <p:cNvSpPr txBox="1">
                <a:spLocks noChangeArrowheads="1"/>
              </p:cNvSpPr>
              <p:nvPr/>
            </p:nvSpPr>
            <p:spPr bwMode="auto">
              <a:xfrm>
                <a:off x="7558525" y="3878717"/>
                <a:ext cx="203891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而区域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位</a:t>
                </a:r>
              </a:p>
            </p:txBody>
          </p:sp>
        </mc:Choice>
        <mc:Fallback xmlns="">
          <p:sp>
            <p:nvSpPr>
              <p:cNvPr id="18471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8525" y="3878717"/>
                <a:ext cx="2038916" cy="430887"/>
              </a:xfrm>
              <a:prstGeom prst="rect">
                <a:avLst/>
              </a:prstGeom>
              <a:blipFill>
                <a:blip r:embed="rId9"/>
                <a:stretch>
                  <a:fillRect l="-3892" t="-12676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72" name="Object 40"/>
              <p:cNvSpPr txBox="1"/>
              <p:nvPr/>
            </p:nvSpPr>
            <p:spPr bwMode="auto">
              <a:xfrm>
                <a:off x="5208922" y="4367329"/>
                <a:ext cx="1358900" cy="4643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72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8922" y="4367329"/>
                <a:ext cx="1358900" cy="464324"/>
              </a:xfrm>
              <a:prstGeom prst="rect">
                <a:avLst/>
              </a:prstGeom>
              <a:blipFill>
                <a:blip r:embed="rId10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6437937" y="4393358"/>
            <a:ext cx="914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从而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74" name="Object 42"/>
              <p:cNvSpPr txBox="1"/>
              <p:nvPr/>
            </p:nvSpPr>
            <p:spPr bwMode="auto">
              <a:xfrm>
                <a:off x="1510149" y="5201804"/>
                <a:ext cx="5630880" cy="10084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∴ 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74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0149" y="5201804"/>
                <a:ext cx="5630880" cy="10084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78" name="Text Box 46"/>
              <p:cNvSpPr txBox="1">
                <a:spLocks noChangeArrowheads="1"/>
              </p:cNvSpPr>
              <p:nvPr/>
            </p:nvSpPr>
            <p:spPr bwMode="auto">
              <a:xfrm>
                <a:off x="2008915" y="4384976"/>
                <a:ext cx="337271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于直线的上方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故在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𝐷</m:t>
                    </m:r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上 </a:t>
                </a:r>
              </a:p>
            </p:txBody>
          </p:sp>
        </mc:Choice>
        <mc:Fallback xmlns="">
          <p:sp>
            <p:nvSpPr>
              <p:cNvPr id="18478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8915" y="4384976"/>
                <a:ext cx="3372710" cy="430887"/>
              </a:xfrm>
              <a:prstGeom prst="rect">
                <a:avLst/>
              </a:prstGeom>
              <a:blipFill>
                <a:blip r:embed="rId12"/>
                <a:stretch>
                  <a:fillRect l="-2351" t="-12676" r="-904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3" name="Line 21"/>
          <p:cNvSpPr>
            <a:spLocks noChangeShapeType="1"/>
          </p:cNvSpPr>
          <p:nvPr/>
        </p:nvSpPr>
        <p:spPr bwMode="auto">
          <a:xfrm>
            <a:off x="7728666" y="1793316"/>
            <a:ext cx="1600200" cy="1601787"/>
          </a:xfrm>
          <a:prstGeom prst="line">
            <a:avLst/>
          </a:prstGeom>
          <a:ln>
            <a:solidFill>
              <a:srgbClr val="04926A"/>
            </a:solidFill>
            <a:headEnd/>
            <a:tailEnd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58" name="Object 26"/>
              <p:cNvSpPr txBox="1"/>
              <p:nvPr/>
            </p:nvSpPr>
            <p:spPr bwMode="auto">
              <a:xfrm>
                <a:off x="9341566" y="3169678"/>
                <a:ext cx="1481964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458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41566" y="3169678"/>
                <a:ext cx="1481964" cy="5191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59" name="Object 27"/>
              <p:cNvSpPr txBox="1"/>
              <p:nvPr/>
            </p:nvSpPr>
            <p:spPr bwMode="auto">
              <a:xfrm>
                <a:off x="9593598" y="2648978"/>
                <a:ext cx="48895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5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93598" y="2648978"/>
                <a:ext cx="488950" cy="519112"/>
              </a:xfrm>
              <a:prstGeom prst="rect">
                <a:avLst/>
              </a:prstGeom>
              <a:blipFill>
                <a:blip r:embed="rId14"/>
                <a:stretch>
                  <a:fillRect l="-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79" name="Object 47"/>
              <p:cNvSpPr txBox="1"/>
              <p:nvPr/>
            </p:nvSpPr>
            <p:spPr bwMode="auto">
              <a:xfrm>
                <a:off x="8424854" y="2619190"/>
                <a:ext cx="304799" cy="5083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79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4854" y="2619190"/>
                <a:ext cx="304799" cy="508394"/>
              </a:xfrm>
              <a:prstGeom prst="rect">
                <a:avLst/>
              </a:prstGeom>
              <a:blipFill>
                <a:blip r:embed="rId15"/>
                <a:stretch>
                  <a:fillRect l="-2000" r="-1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87" name="Group 55"/>
          <p:cNvGrpSpPr>
            <a:grpSpLocks/>
          </p:cNvGrpSpPr>
          <p:nvPr/>
        </p:nvGrpSpPr>
        <p:grpSpPr bwMode="auto">
          <a:xfrm>
            <a:off x="7914408" y="810652"/>
            <a:ext cx="2557464" cy="2400300"/>
            <a:chOff x="3909" y="388"/>
            <a:chExt cx="1611" cy="1512"/>
          </a:xfrm>
        </p:grpSpPr>
        <p:sp>
          <p:nvSpPr>
            <p:cNvPr id="18442" name="Oval 10"/>
            <p:cNvSpPr>
              <a:spLocks noChangeArrowheads="1"/>
            </p:cNvSpPr>
            <p:nvPr/>
          </p:nvSpPr>
          <p:spPr bwMode="auto">
            <a:xfrm>
              <a:off x="4272" y="838"/>
              <a:ext cx="884" cy="907"/>
            </a:xfrm>
            <a:prstGeom prst="ellipse">
              <a:avLst/>
            </a:prstGeom>
            <a:solidFill>
              <a:srgbClr val="A9D18E"/>
            </a:solidFill>
            <a:ln w="9525">
              <a:solidFill>
                <a:srgbClr val="04926A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4080" y="1584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4080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 flipV="1">
              <a:off x="4080" y="5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>
              <a:off x="4704" y="129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60" name="Object 28"/>
                <p:cNvSpPr txBox="1"/>
                <p:nvPr/>
              </p:nvSpPr>
              <p:spPr bwMode="auto">
                <a:xfrm>
                  <a:off x="4080" y="388"/>
                  <a:ext cx="236" cy="31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460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80" y="388"/>
                  <a:ext cx="236" cy="314"/>
                </a:xfrm>
                <a:prstGeom prst="rect">
                  <a:avLst/>
                </a:prstGeom>
                <a:blipFill>
                  <a:blip r:embed="rId16"/>
                  <a:stretch>
                    <a:fillRect l="-4918" b="-365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0" name="Object 48"/>
                <p:cNvSpPr txBox="1"/>
                <p:nvPr/>
              </p:nvSpPr>
              <p:spPr bwMode="auto">
                <a:xfrm>
                  <a:off x="4588" y="1568"/>
                  <a:ext cx="260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8480" name="Object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88" y="1568"/>
                  <a:ext cx="260" cy="304"/>
                </a:xfrm>
                <a:prstGeom prst="rect">
                  <a:avLst/>
                </a:prstGeom>
                <a:blipFill>
                  <a:blip r:embed="rId17"/>
                  <a:stretch>
                    <a:fillRect l="-14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1" name="Object 49"/>
                <p:cNvSpPr txBox="1"/>
                <p:nvPr/>
              </p:nvSpPr>
              <p:spPr bwMode="auto">
                <a:xfrm>
                  <a:off x="5232" y="1568"/>
                  <a:ext cx="288" cy="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481" name="Object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32" y="1568"/>
                  <a:ext cx="288" cy="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3" name="Object 51"/>
                <p:cNvSpPr txBox="1"/>
                <p:nvPr/>
              </p:nvSpPr>
              <p:spPr bwMode="auto">
                <a:xfrm>
                  <a:off x="3909" y="1523"/>
                  <a:ext cx="244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483" name="Object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09" y="1523"/>
                  <a:ext cx="244" cy="320"/>
                </a:xfrm>
                <a:prstGeom prst="rect">
                  <a:avLst/>
                </a:prstGeom>
                <a:blipFill>
                  <a:blip r:embed="rId19"/>
                  <a:stretch>
                    <a:fillRect l="-3125" r="-468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82" name="Object 50"/>
                <p:cNvSpPr txBox="1"/>
                <p:nvPr/>
              </p:nvSpPr>
              <p:spPr bwMode="auto">
                <a:xfrm>
                  <a:off x="4600" y="989"/>
                  <a:ext cx="200" cy="1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8482" name="Object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00" y="989"/>
                  <a:ext cx="200" cy="184"/>
                </a:xfrm>
                <a:prstGeom prst="rect">
                  <a:avLst/>
                </a:prstGeom>
                <a:blipFill>
                  <a:blip r:embed="rId20"/>
                  <a:stretch>
                    <a:fillRect l="-3846" r="-30769" b="-541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42">
                <a:extLst>
                  <a:ext uri="{FF2B5EF4-FFF2-40B4-BE49-F238E27FC236}">
                    <a16:creationId xmlns:a16="http://schemas.microsoft.com/office/drawing/2014/main" id="{C76F35ED-C109-C426-70F0-02E04D277516}"/>
                  </a:ext>
                </a:extLst>
              </p:cNvPr>
              <p:cNvSpPr txBox="1"/>
              <p:nvPr/>
            </p:nvSpPr>
            <p:spPr bwMode="auto">
              <a:xfrm>
                <a:off x="2019446" y="1120137"/>
                <a:ext cx="5467918" cy="1117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8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800" b="0" i="1" baseline="300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Object 42">
                <a:extLst>
                  <a:ext uri="{FF2B5EF4-FFF2-40B4-BE49-F238E27FC236}">
                    <a16:creationId xmlns:a16="http://schemas.microsoft.com/office/drawing/2014/main" id="{C76F35ED-C109-C426-70F0-02E04D277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9446" y="1120137"/>
                <a:ext cx="5467918" cy="1117113"/>
              </a:xfrm>
              <a:prstGeom prst="rect">
                <a:avLst/>
              </a:prstGeom>
              <a:blipFill>
                <a:blip r:embed="rId21"/>
                <a:stretch>
                  <a:fillRect b="-43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46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7" grpId="0"/>
      <p:bldP spid="18438" grpId="0"/>
      <p:bldP spid="18439" grpId="0" autoUpdateAnimBg="0"/>
      <p:bldP spid="18466" grpId="0"/>
      <p:bldP spid="18468" grpId="0"/>
      <p:bldP spid="18467" grpId="0" autoUpdateAnimBg="0"/>
      <p:bldP spid="18470" grpId="0"/>
      <p:bldP spid="18471" grpId="0" autoUpdateAnimBg="0"/>
      <p:bldP spid="18472" grpId="0"/>
      <p:bldP spid="18473" grpId="0" autoUpdateAnimBg="0"/>
      <p:bldP spid="18474" grpId="0"/>
      <p:bldP spid="18478" grpId="0" autoUpdateAnimBg="0"/>
      <p:bldP spid="18453" grpId="0" animBg="1"/>
      <p:bldP spid="18458" grpId="0"/>
      <p:bldP spid="18459" grpId="0"/>
      <p:bldP spid="18479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4960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13605</TotalTime>
  <Words>1445</Words>
  <Application>Microsoft Macintosh PowerPoint</Application>
  <PresentationFormat>宽屏</PresentationFormat>
  <Paragraphs>225</Paragraphs>
  <Slides>30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Cambria Math</vt:lpstr>
      <vt:lpstr>Times New Roman</vt:lpstr>
      <vt:lpstr>Office 主题​​</vt:lpstr>
      <vt:lpstr>BMP 图像</vt:lpstr>
      <vt:lpstr>BMP 图象</vt:lpstr>
      <vt:lpstr>PowerPoint 演示文稿</vt:lpstr>
      <vt:lpstr>PowerPoint 演示文稿</vt:lpstr>
      <vt:lpstr>PowerPoint 演示文稿</vt:lpstr>
      <vt:lpstr>PowerPoint 演示文稿</vt:lpstr>
      <vt:lpstr>一、问题的提出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二重积分的几何意义</vt:lpstr>
      <vt:lpstr>三、二重积分的性质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例2  比较下列积分的大小: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Microsoft Office User</cp:lastModifiedBy>
  <cp:revision>1044</cp:revision>
  <cp:lastPrinted>2023-06-07T06:56:56Z</cp:lastPrinted>
  <dcterms:created xsi:type="dcterms:W3CDTF">2021-12-25T10:05:44Z</dcterms:created>
  <dcterms:modified xsi:type="dcterms:W3CDTF">2023-06-28T02:54:49Z</dcterms:modified>
</cp:coreProperties>
</file>