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257" r:id="rId2"/>
    <p:sldId id="678" r:id="rId3"/>
    <p:sldId id="664" r:id="rId4"/>
    <p:sldId id="836" r:id="rId5"/>
    <p:sldId id="811" r:id="rId6"/>
    <p:sldId id="812" r:id="rId7"/>
    <p:sldId id="813" r:id="rId8"/>
    <p:sldId id="814" r:id="rId9"/>
    <p:sldId id="815" r:id="rId10"/>
    <p:sldId id="816" r:id="rId11"/>
    <p:sldId id="817" r:id="rId12"/>
    <p:sldId id="818" r:id="rId13"/>
    <p:sldId id="819" r:id="rId14"/>
    <p:sldId id="820" r:id="rId15"/>
    <p:sldId id="821" r:id="rId16"/>
    <p:sldId id="822" r:id="rId17"/>
    <p:sldId id="823" r:id="rId18"/>
    <p:sldId id="824" r:id="rId19"/>
    <p:sldId id="825" r:id="rId20"/>
    <p:sldId id="826" r:id="rId21"/>
    <p:sldId id="827" r:id="rId22"/>
    <p:sldId id="829" r:id="rId23"/>
    <p:sldId id="830" r:id="rId24"/>
    <p:sldId id="831" r:id="rId25"/>
    <p:sldId id="832" r:id="rId26"/>
    <p:sldId id="833" r:id="rId27"/>
    <p:sldId id="834" r:id="rId28"/>
    <p:sldId id="828" r:id="rId29"/>
    <p:sldId id="835" r:id="rId30"/>
    <p:sldId id="364" r:id="rId31"/>
  </p:sldIdLst>
  <p:sldSz cx="12192000" cy="6858000"/>
  <p:notesSz cx="9928225" cy="6797675"/>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138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26A"/>
    <a:srgbClr val="04926A"/>
    <a:srgbClr val="4A7BA8"/>
    <a:srgbClr val="A9D18E"/>
    <a:srgbClr val="C5E0B4"/>
    <a:srgbClr val="019B4E"/>
    <a:srgbClr val="1D9D79"/>
    <a:srgbClr val="3333CC"/>
    <a:srgbClr val="335AE6"/>
    <a:srgbClr val="EEF9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4" autoAdjust="0"/>
    <p:restoredTop sz="97078" autoAdjust="0"/>
  </p:normalViewPr>
  <p:slideViewPr>
    <p:cSldViewPr snapToGrid="0" showGuides="1">
      <p:cViewPr varScale="1">
        <p:scale>
          <a:sx n="77" d="100"/>
          <a:sy n="77" d="100"/>
        </p:scale>
        <p:origin x="244" y="60"/>
      </p:cViewPr>
      <p:guideLst>
        <p:guide pos="3840"/>
        <p:guide orient="horz" pos="1389"/>
      </p:guideLst>
    </p:cSldViewPr>
  </p:slideViewPr>
  <p:notesTextViewPr>
    <p:cViewPr>
      <p:scale>
        <a:sx n="1" d="1"/>
        <a:sy n="1" d="1"/>
      </p:scale>
      <p:origin x="0" y="0"/>
    </p:cViewPr>
  </p:notesTextViewPr>
  <p:notesViewPr>
    <p:cSldViewPr snapToGrid="0">
      <p:cViewPr varScale="1">
        <p:scale>
          <a:sx n="86" d="100"/>
          <a:sy n="86" d="100"/>
        </p:scale>
        <p:origin x="3864" y="108"/>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9294E0C-3D65-03D8-4091-95C912A52F72}"/>
              </a:ext>
            </a:extLst>
          </p:cNvPr>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933F10D-F9E8-8D22-977F-84681A376B4A}"/>
              </a:ext>
            </a:extLst>
          </p:cNvPr>
          <p:cNvSpPr>
            <a:spLocks noGrp="1"/>
          </p:cNvSpPr>
          <p:nvPr>
            <p:ph type="dt" sz="quarter" idx="1"/>
          </p:nvPr>
        </p:nvSpPr>
        <p:spPr>
          <a:xfrm>
            <a:off x="5623697" y="1"/>
            <a:ext cx="4302231" cy="341064"/>
          </a:xfrm>
          <a:prstGeom prst="rect">
            <a:avLst/>
          </a:prstGeom>
        </p:spPr>
        <p:txBody>
          <a:bodyPr vert="horz" lIns="91440" tIns="45720" rIns="91440" bIns="45720" rtlCol="0"/>
          <a:lstStyle>
            <a:lvl1pPr algn="r">
              <a:defRPr sz="1200"/>
            </a:lvl1pPr>
          </a:lstStyle>
          <a:p>
            <a:fld id="{CD661C34-6C36-4319-A46B-BB551073C321}" type="datetimeFigureOut">
              <a:rPr lang="zh-CN" altLang="en-US" smtClean="0"/>
              <a:t>2023/7/6</a:t>
            </a:fld>
            <a:endParaRPr lang="zh-CN" altLang="en-US"/>
          </a:p>
        </p:txBody>
      </p:sp>
      <p:sp>
        <p:nvSpPr>
          <p:cNvPr id="4" name="页脚占位符 3">
            <a:extLst>
              <a:ext uri="{FF2B5EF4-FFF2-40B4-BE49-F238E27FC236}">
                <a16:creationId xmlns:a16="http://schemas.microsoft.com/office/drawing/2014/main" id="{A96E44E7-0D88-4AE1-4D27-D94FE6EA6541}"/>
              </a:ext>
            </a:extLst>
          </p:cNvPr>
          <p:cNvSpPr>
            <a:spLocks noGrp="1"/>
          </p:cNvSpPr>
          <p:nvPr>
            <p:ph type="ftr" sz="quarter" idx="2"/>
          </p:nvPr>
        </p:nvSpPr>
        <p:spPr>
          <a:xfrm>
            <a:off x="0" y="6456612"/>
            <a:ext cx="4302231" cy="3410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B9AD3F8-6AF4-2EEC-19F8-CE4975A2B4D3}"/>
              </a:ext>
            </a:extLst>
          </p:cNvPr>
          <p:cNvSpPr>
            <a:spLocks noGrp="1"/>
          </p:cNvSpPr>
          <p:nvPr>
            <p:ph type="sldNum" sz="quarter" idx="3"/>
          </p:nvPr>
        </p:nvSpPr>
        <p:spPr>
          <a:xfrm>
            <a:off x="5623697" y="6456612"/>
            <a:ext cx="4302231" cy="341063"/>
          </a:xfrm>
          <a:prstGeom prst="rect">
            <a:avLst/>
          </a:prstGeom>
        </p:spPr>
        <p:txBody>
          <a:bodyPr vert="horz" lIns="91440" tIns="45720" rIns="91440" bIns="45720" rtlCol="0" anchor="b"/>
          <a:lstStyle>
            <a:lvl1pPr algn="r">
              <a:defRPr sz="1200"/>
            </a:lvl1pPr>
          </a:lstStyle>
          <a:p>
            <a:fld id="{D3A3AE40-E968-4202-8EA4-C293C1D84F80}" type="slidenum">
              <a:rPr lang="zh-CN" altLang="en-US" smtClean="0"/>
              <a:t>‹#›</a:t>
            </a:fld>
            <a:endParaRPr lang="zh-CN" altLang="en-US"/>
          </a:p>
        </p:txBody>
      </p:sp>
    </p:spTree>
    <p:extLst>
      <p:ext uri="{BB962C8B-B14F-4D97-AF65-F5344CB8AC3E}">
        <p14:creationId xmlns:p14="http://schemas.microsoft.com/office/powerpoint/2010/main" val="1750375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3697" y="1"/>
            <a:ext cx="4302231" cy="341064"/>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2023/7/6</a:t>
            </a:fld>
            <a:endParaRPr lang="zh-CN" altLang="en-US"/>
          </a:p>
        </p:txBody>
      </p:sp>
      <p:sp>
        <p:nvSpPr>
          <p:cNvPr id="4" name="幻灯片图像占位符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23" y="3271381"/>
            <a:ext cx="7942580" cy="267658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456612"/>
            <a:ext cx="4302231" cy="3410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3697" y="6456612"/>
            <a:ext cx="4302231" cy="341063"/>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5" name="Rectangle 1">
            <a:extLst>
              <a:ext uri="{FF2B5EF4-FFF2-40B4-BE49-F238E27FC236}">
                <a16:creationId xmlns:a16="http://schemas.microsoft.com/office/drawing/2014/main" id="{CA52C10C-CA5C-9EBB-F1BD-1E08E1E51736}"/>
              </a:ext>
            </a:extLst>
          </p:cNvPr>
          <p:cNvSpPr/>
          <p:nvPr userDrawn="1"/>
        </p:nvSpPr>
        <p:spPr>
          <a:xfrm>
            <a:off x="297498" y="6546328"/>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7" name="Rectangle 1">
            <a:extLst>
              <a:ext uri="{FF2B5EF4-FFF2-40B4-BE49-F238E27FC236}">
                <a16:creationId xmlns:a16="http://schemas.microsoft.com/office/drawing/2014/main" id="{4B8ECBB3-09C6-0A72-6D97-75B6EE3856EE}"/>
              </a:ext>
            </a:extLst>
          </p:cNvPr>
          <p:cNvSpPr/>
          <p:nvPr userDrawn="1"/>
        </p:nvSpPr>
        <p:spPr>
          <a:xfrm rot="2659048">
            <a:off x="8885680" y="172138"/>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8" name="矩形 17">
            <a:extLst>
              <a:ext uri="{FF2B5EF4-FFF2-40B4-BE49-F238E27FC236}">
                <a16:creationId xmlns:a16="http://schemas.microsoft.com/office/drawing/2014/main" id="{CED56D0D-0137-51F1-4A56-181163141B94}"/>
              </a:ext>
            </a:extLst>
          </p:cNvPr>
          <p:cNvSpPr/>
          <p:nvPr userDrawn="1"/>
        </p:nvSpPr>
        <p:spPr>
          <a:xfrm>
            <a:off x="476828" y="6435405"/>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p>
        </p:txBody>
      </p:sp>
      <p:sp>
        <p:nvSpPr>
          <p:cNvPr id="19" name="矩形 18">
            <a:extLst>
              <a:ext uri="{FF2B5EF4-FFF2-40B4-BE49-F238E27FC236}">
                <a16:creationId xmlns:a16="http://schemas.microsoft.com/office/drawing/2014/main" id="{2CBEA272-6474-9E85-316F-BA4230ABAA14}"/>
              </a:ext>
            </a:extLst>
          </p:cNvPr>
          <p:cNvSpPr/>
          <p:nvPr userDrawn="1"/>
        </p:nvSpPr>
        <p:spPr>
          <a:xfrm>
            <a:off x="9140852" y="112357"/>
            <a:ext cx="285687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多元函数微分法及其应用</a:t>
            </a:r>
          </a:p>
        </p:txBody>
      </p:sp>
      <p:cxnSp>
        <p:nvCxnSpPr>
          <p:cNvPr id="20" name="直接连接符 19">
            <a:extLst>
              <a:ext uri="{FF2B5EF4-FFF2-40B4-BE49-F238E27FC236}">
                <a16:creationId xmlns:a16="http://schemas.microsoft.com/office/drawing/2014/main" id="{27789B73-73F1-4B9A-005D-46D21C97DB16}"/>
              </a:ext>
            </a:extLst>
          </p:cNvPr>
          <p:cNvCxnSpPr/>
          <p:nvPr userDrawn="1"/>
        </p:nvCxnSpPr>
        <p:spPr>
          <a:xfrm>
            <a:off x="0" y="251555"/>
            <a:ext cx="8665828"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21254B6F-5397-25BE-7B02-E53938EA4CED}"/>
              </a:ext>
            </a:extLst>
          </p:cNvPr>
          <p:cNvCxnSpPr>
            <a:cxnSpLocks/>
          </p:cNvCxnSpPr>
          <p:nvPr userDrawn="1"/>
        </p:nvCxnSpPr>
        <p:spPr>
          <a:xfrm>
            <a:off x="2032000" y="6589556"/>
            <a:ext cx="1015728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FC84FB-A274-A954-63FB-B1C8E40D3942}"/>
              </a:ext>
            </a:extLst>
          </p:cNvPr>
          <p:cNvSpPr/>
          <p:nvPr userDrawn="1"/>
        </p:nvSpPr>
        <p:spPr>
          <a:xfrm>
            <a:off x="297498" y="6546328"/>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 name="Rectangle 1">
            <a:extLst>
              <a:ext uri="{FF2B5EF4-FFF2-40B4-BE49-F238E27FC236}">
                <a16:creationId xmlns:a16="http://schemas.microsoft.com/office/drawing/2014/main" id="{FD234BC1-8CA9-A956-4203-69EC96B8D8AD}"/>
              </a:ext>
            </a:extLst>
          </p:cNvPr>
          <p:cNvSpPr/>
          <p:nvPr userDrawn="1"/>
        </p:nvSpPr>
        <p:spPr>
          <a:xfrm rot="2659048">
            <a:off x="8885680" y="172138"/>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 name="矩形 3">
            <a:extLst>
              <a:ext uri="{FF2B5EF4-FFF2-40B4-BE49-F238E27FC236}">
                <a16:creationId xmlns:a16="http://schemas.microsoft.com/office/drawing/2014/main" id="{B9449F88-BFCB-D7A5-21BE-73AF246AAE21}"/>
              </a:ext>
            </a:extLst>
          </p:cNvPr>
          <p:cNvSpPr/>
          <p:nvPr userDrawn="1"/>
        </p:nvSpPr>
        <p:spPr>
          <a:xfrm>
            <a:off x="476828" y="6435405"/>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p>
        </p:txBody>
      </p:sp>
      <p:sp>
        <p:nvSpPr>
          <p:cNvPr id="5" name="矩形 4">
            <a:extLst>
              <a:ext uri="{FF2B5EF4-FFF2-40B4-BE49-F238E27FC236}">
                <a16:creationId xmlns:a16="http://schemas.microsoft.com/office/drawing/2014/main" id="{B4019A16-F795-15C8-5573-80D68605A311}"/>
              </a:ext>
            </a:extLst>
          </p:cNvPr>
          <p:cNvSpPr/>
          <p:nvPr userDrawn="1"/>
        </p:nvSpPr>
        <p:spPr>
          <a:xfrm>
            <a:off x="9140852" y="112357"/>
            <a:ext cx="285687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多元函数微分法及其应用</a:t>
            </a:r>
          </a:p>
        </p:txBody>
      </p:sp>
      <p:cxnSp>
        <p:nvCxnSpPr>
          <p:cNvPr id="6" name="直接连接符 5">
            <a:extLst>
              <a:ext uri="{FF2B5EF4-FFF2-40B4-BE49-F238E27FC236}">
                <a16:creationId xmlns:a16="http://schemas.microsoft.com/office/drawing/2014/main" id="{D6389943-7959-4473-E231-97E6163D1110}"/>
              </a:ext>
            </a:extLst>
          </p:cNvPr>
          <p:cNvCxnSpPr/>
          <p:nvPr userDrawn="1"/>
        </p:nvCxnSpPr>
        <p:spPr>
          <a:xfrm>
            <a:off x="0" y="251555"/>
            <a:ext cx="8665828"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03635136-6171-8486-A6E4-8D21CCAAB975}"/>
              </a:ext>
            </a:extLst>
          </p:cNvPr>
          <p:cNvCxnSpPr>
            <a:cxnSpLocks/>
          </p:cNvCxnSpPr>
          <p:nvPr userDrawn="1"/>
        </p:nvCxnSpPr>
        <p:spPr>
          <a:xfrm>
            <a:off x="2032000" y="6589556"/>
            <a:ext cx="1015728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EF5D6DFA-4B96-34BF-6719-74299715169A}"/>
              </a:ext>
            </a:extLst>
          </p:cNvPr>
          <p:cNvSpPr/>
          <p:nvPr userDrawn="1"/>
        </p:nvSpPr>
        <p:spPr>
          <a:xfrm>
            <a:off x="297498" y="6546328"/>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Rectangle 1">
            <a:extLst>
              <a:ext uri="{FF2B5EF4-FFF2-40B4-BE49-F238E27FC236}">
                <a16:creationId xmlns:a16="http://schemas.microsoft.com/office/drawing/2014/main" id="{7FB4A33C-B1E9-C948-42CF-DE11FF583035}"/>
              </a:ext>
            </a:extLst>
          </p:cNvPr>
          <p:cNvSpPr/>
          <p:nvPr userDrawn="1"/>
        </p:nvSpPr>
        <p:spPr>
          <a:xfrm rot="2659048">
            <a:off x="8885680" y="172138"/>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矩形 9">
            <a:extLst>
              <a:ext uri="{FF2B5EF4-FFF2-40B4-BE49-F238E27FC236}">
                <a16:creationId xmlns:a16="http://schemas.microsoft.com/office/drawing/2014/main" id="{26823DD8-7DC2-8B96-C0D2-DF2D9A6134BF}"/>
              </a:ext>
            </a:extLst>
          </p:cNvPr>
          <p:cNvSpPr/>
          <p:nvPr userDrawn="1"/>
        </p:nvSpPr>
        <p:spPr>
          <a:xfrm>
            <a:off x="476828" y="6435405"/>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p>
        </p:txBody>
      </p:sp>
      <p:sp>
        <p:nvSpPr>
          <p:cNvPr id="11" name="矩形 10">
            <a:extLst>
              <a:ext uri="{FF2B5EF4-FFF2-40B4-BE49-F238E27FC236}">
                <a16:creationId xmlns:a16="http://schemas.microsoft.com/office/drawing/2014/main" id="{AC081FC3-554E-50D9-A995-9B617FE650A2}"/>
              </a:ext>
            </a:extLst>
          </p:cNvPr>
          <p:cNvSpPr/>
          <p:nvPr userDrawn="1"/>
        </p:nvSpPr>
        <p:spPr>
          <a:xfrm>
            <a:off x="9140852" y="112357"/>
            <a:ext cx="285687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多元函数微分法及其应用</a:t>
            </a:r>
          </a:p>
        </p:txBody>
      </p:sp>
      <p:cxnSp>
        <p:nvCxnSpPr>
          <p:cNvPr id="12" name="直接连接符 11">
            <a:extLst>
              <a:ext uri="{FF2B5EF4-FFF2-40B4-BE49-F238E27FC236}">
                <a16:creationId xmlns:a16="http://schemas.microsoft.com/office/drawing/2014/main" id="{012FE1FD-E62F-19EF-0F40-386279B24220}"/>
              </a:ext>
            </a:extLst>
          </p:cNvPr>
          <p:cNvCxnSpPr/>
          <p:nvPr userDrawn="1"/>
        </p:nvCxnSpPr>
        <p:spPr>
          <a:xfrm>
            <a:off x="0" y="251555"/>
            <a:ext cx="8665828"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473A020-3839-C629-5161-CF3120D497B3}"/>
              </a:ext>
            </a:extLst>
          </p:cNvPr>
          <p:cNvCxnSpPr>
            <a:cxnSpLocks/>
          </p:cNvCxnSpPr>
          <p:nvPr userDrawn="1"/>
        </p:nvCxnSpPr>
        <p:spPr>
          <a:xfrm>
            <a:off x="2032000" y="6589556"/>
            <a:ext cx="1015728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图文框 6"/>
          <p:cNvSpPr/>
          <p:nvPr userDrawn="1"/>
        </p:nvSpPr>
        <p:spPr>
          <a:xfrm>
            <a:off x="0" y="-1"/>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pic>
        <p:nvPicPr>
          <p:cNvPr id="8" name="图片 7"/>
          <p:cNvPicPr>
            <a:picLocks noChangeAspect="1"/>
          </p:cNvPicPr>
          <p:nvPr userDrawn="1"/>
        </p:nvPicPr>
        <p:blipFill rotWithShape="1">
          <a:blip r:embed="rId2" cstate="print">
            <a:extLst>
              <a:ext uri="{28A0092B-C50C-407E-A947-70E740481C1C}">
                <a14:useLocalDpi xmlns:a14="http://schemas.microsoft.com/office/drawing/2010/main" val="0"/>
              </a:ext>
            </a:extLst>
          </a:blip>
          <a:srcRect l="35303" r="7303" b="29466"/>
          <a:stretch>
            <a:fillRect/>
          </a:stretch>
        </p:blipFill>
        <p:spPr>
          <a:xfrm flipH="1">
            <a:off x="0" y="-1905"/>
            <a:ext cx="6996430" cy="6859905"/>
          </a:xfrm>
          <a:prstGeom prst="rect">
            <a:avLst/>
          </a:prstGeom>
        </p:spPr>
      </p:pic>
      <p:sp>
        <p:nvSpPr>
          <p:cNvPr id="9" name="Rectangle 1"/>
          <p:cNvSpPr/>
          <p:nvPr userDrawn="1"/>
        </p:nvSpPr>
        <p:spPr>
          <a:xfrm>
            <a:off x="0" y="-1270"/>
            <a:ext cx="12192000" cy="685863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矩形: 剪去对角 21"/>
          <p:cNvSpPr/>
          <p:nvPr userDrawn="1"/>
        </p:nvSpPr>
        <p:spPr>
          <a:xfrm>
            <a:off x="2496186" y="1627425"/>
            <a:ext cx="7199628" cy="3231673"/>
          </a:xfrm>
          <a:prstGeom prst="snip2DiagRect">
            <a:avLst>
              <a:gd name="adj1" fmla="val 0"/>
              <a:gd name="adj2" fmla="val 6393"/>
            </a:avLst>
          </a:prstGeom>
          <a:gradFill flip="none" rotWithShape="1">
            <a:gsLst>
              <a:gs pos="0">
                <a:schemeClr val="bg1"/>
              </a:gs>
              <a:gs pos="29000">
                <a:schemeClr val="bg1">
                  <a:alpha val="50000"/>
                </a:schemeClr>
              </a:gs>
              <a:gs pos="66000">
                <a:schemeClr val="bg1"/>
              </a:gs>
              <a:gs pos="100000">
                <a:schemeClr val="bg1">
                  <a:lumMod val="95000"/>
                </a:schemeClr>
              </a:gs>
            </a:gsLst>
            <a:lin ang="8100000" scaled="1"/>
            <a:tileRect/>
          </a:gradFill>
          <a:ln>
            <a:gradFill flip="none" rotWithShape="1">
              <a:gsLst>
                <a:gs pos="53000">
                  <a:srgbClr val="AA69D6"/>
                </a:gs>
                <a:gs pos="2419">
                  <a:srgbClr val="AC5FD4"/>
                </a:gs>
                <a:gs pos="26000">
                  <a:srgbClr val="AC5FD4"/>
                </a:gs>
                <a:gs pos="100000">
                  <a:srgbClr val="7030A0"/>
                </a:gs>
              </a:gsLst>
              <a:path path="circle">
                <a:fillToRect l="50000" t="50000" r="50000" b="50000"/>
              </a:path>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矩形 10"/>
          <p:cNvSpPr/>
          <p:nvPr userDrawn="1"/>
        </p:nvSpPr>
        <p:spPr>
          <a:xfrm>
            <a:off x="2914015" y="2211408"/>
            <a:ext cx="6363970" cy="2123658"/>
          </a:xfrm>
          <a:prstGeom prst="rect">
            <a:avLst/>
          </a:prstGeom>
        </p:spPr>
        <p:txBody>
          <a:bodyPr wrap="square">
            <a:spAutoFit/>
          </a:bodyPr>
          <a:lstStyle/>
          <a:p>
            <a:pPr lvl="0" indent="575945" algn="just">
              <a:lnSpc>
                <a:spcPct val="150000"/>
              </a:lnSpc>
            </a:pP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本</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PPT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为高等教育出版社出版的</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高等数学</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（第八版）教材配套课件，仅供受赠老师本人用于“高等数学”课堂教学。未经许可，任何人不能进行任何其他方式的传播。</a:t>
            </a:r>
            <a:endPar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sym typeface="+mn-ea"/>
            </a:endParaRPr>
          </a:p>
        </p:txBody>
      </p:sp>
      <p:grpSp>
        <p:nvGrpSpPr>
          <p:cNvPr id="12" name="组合 11"/>
          <p:cNvGrpSpPr/>
          <p:nvPr userDrawn="1"/>
        </p:nvGrpSpPr>
        <p:grpSpPr>
          <a:xfrm>
            <a:off x="4981488" y="5711355"/>
            <a:ext cx="2229025" cy="475907"/>
            <a:chOff x="3928951" y="7786292"/>
            <a:chExt cx="2663761" cy="568726"/>
          </a:xfrm>
        </p:grpSpPr>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1954" y="7786292"/>
              <a:ext cx="2050758" cy="472171"/>
            </a:xfrm>
            <a:prstGeom prst="rect">
              <a:avLst/>
            </a:prstGeom>
          </p:spPr>
        </p:pic>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28951" y="7804037"/>
              <a:ext cx="551568" cy="550981"/>
            </a:xfrm>
            <a:prstGeom prst="rect">
              <a:avLst/>
            </a:prstGeom>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D453706-F419-4023-A58A-D6EE144B71A3}" type="datetimeFigureOut">
              <a:rPr lang="zh-CN" altLang="en-US" smtClean="0"/>
              <a:t>2023/7/6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D7C98F-223D-4AB2-8916-8559149228E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D453706-F419-4023-A58A-D6EE144B71A3}" type="datetimeFigureOut">
              <a:rPr lang="zh-CN" altLang="en-US" smtClean="0"/>
              <a:t>2023/7/6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D7C98F-223D-4AB2-8916-8559149228E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D453706-F419-4023-A58A-D6EE144B71A3}" type="datetimeFigureOut">
              <a:rPr lang="zh-CN" altLang="en-US" smtClean="0"/>
              <a:t>2023/7/6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D7C98F-223D-4AB2-8916-8559149228E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D453706-F419-4023-A58A-D6EE144B71A3}" type="datetimeFigureOut">
              <a:rPr lang="zh-CN" altLang="en-US" smtClean="0"/>
              <a:t>2023/7/6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1D7C98F-223D-4AB2-8916-8559149228E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D453706-F419-4023-A58A-D6EE144B71A3}" type="datetimeFigureOut">
              <a:rPr lang="zh-CN" altLang="en-US" smtClean="0"/>
              <a:t>2023/7/6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D7C98F-223D-4AB2-8916-8559149228E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D453706-F419-4023-A58A-D6EE144B71A3}" type="datetimeFigureOut">
              <a:rPr lang="zh-CN" altLang="en-US" smtClean="0"/>
              <a:t>2023/7/6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D7C98F-223D-4AB2-8916-8559149228E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D453706-F419-4023-A58A-D6EE144B71A3}" type="datetimeFigureOut">
              <a:rPr lang="zh-CN" altLang="en-US" smtClean="0"/>
              <a:t>2023/7/6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D7C98F-223D-4AB2-8916-8559149228E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D453706-F419-4023-A58A-D6EE144B71A3}" type="datetimeFigureOut">
              <a:rPr lang="zh-CN" altLang="en-US" smtClean="0"/>
              <a:t>2023/7/6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D7C98F-223D-4AB2-8916-8559149228E5}"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453706-F419-4023-A58A-D6EE144B71A3}" type="datetimeFigureOut">
              <a:rPr lang="zh-CN" altLang="en-US" smtClean="0"/>
              <a:t>2023/7/6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D7C98F-223D-4AB2-8916-8559149228E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10.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7"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30.png"/><Relationship Id="rId16"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3.png"/><Relationship Id="rId18" Type="http://schemas.openxmlformats.org/officeDocument/2006/relationships/image" Target="../media/image56.png"/><Relationship Id="rId21" Type="http://schemas.openxmlformats.org/officeDocument/2006/relationships/image" Target="../media/image52.png"/><Relationship Id="rId7" Type="http://schemas.openxmlformats.org/officeDocument/2006/relationships/image" Target="../media/image29.png"/><Relationship Id="rId12" Type="http://schemas.openxmlformats.org/officeDocument/2006/relationships/image" Target="../media/image50.png"/><Relationship Id="rId17" Type="http://schemas.openxmlformats.org/officeDocument/2006/relationships/image" Target="../media/image55.png"/><Relationship Id="rId2" Type="http://schemas.openxmlformats.org/officeDocument/2006/relationships/image" Target="../media/image230.png"/><Relationship Id="rId16" Type="http://schemas.openxmlformats.org/officeDocument/2006/relationships/image" Target="../media/image54.png"/><Relationship Id="rId20"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46.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450.png"/><Relationship Id="rId19" Type="http://schemas.openxmlformats.org/officeDocument/2006/relationships/image" Target="../media/image59.png"/><Relationship Id="rId4" Type="http://schemas.openxmlformats.org/officeDocument/2006/relationships/image" Target="../media/image47.png"/><Relationship Id="rId14" Type="http://schemas.openxmlformats.org/officeDocument/2006/relationships/image" Target="../media/image57.png"/></Relationships>
</file>

<file path=ppt/slides/_rels/slide1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0.png"/><Relationship Id="rId10" Type="http://schemas.openxmlformats.org/officeDocument/2006/relationships/image" Target="../media/image62.png"/><Relationship Id="rId4" Type="http://schemas.openxmlformats.org/officeDocument/2006/relationships/image" Target="../media/image65.png"/><Relationship Id="rId9" Type="http://schemas.openxmlformats.org/officeDocument/2006/relationships/image" Target="../media/image61.png"/></Relationships>
</file>

<file path=ppt/slides/_rels/slide1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74.png"/><Relationship Id="rId4" Type="http://schemas.openxmlformats.org/officeDocument/2006/relationships/image" Target="../media/image7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15.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87.png"/><Relationship Id="rId4" Type="http://schemas.openxmlformats.org/officeDocument/2006/relationships/image" Target="../media/image86.png"/></Relationships>
</file>

<file path=ppt/slides/_rels/slide1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66.png"/><Relationship Id="rId4" Type="http://schemas.openxmlformats.org/officeDocument/2006/relationships/image" Target="../media/image89.png"/></Relationships>
</file>

<file path=ppt/slides/_rels/slide18.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95.png"/><Relationship Id="rId5" Type="http://schemas.openxmlformats.org/officeDocument/2006/relationships/image" Target="../media/image94.png"/><Relationship Id="rId10" Type="http://schemas.openxmlformats.org/officeDocument/2006/relationships/image" Target="../media/image90.png"/><Relationship Id="rId4" Type="http://schemas.openxmlformats.org/officeDocument/2006/relationships/image" Target="../media/image93.png"/><Relationship Id="rId9" Type="http://schemas.openxmlformats.org/officeDocument/2006/relationships/image" Target="../media/image71.png"/></Relationships>
</file>

<file path=ppt/slides/_rels/slide1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png"/></Relationships>
</file>

<file path=ppt/slides/_rels/slide20.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 Id="rId9" Type="http://schemas.openxmlformats.org/officeDocument/2006/relationships/image" Target="../media/image114.png"/></Relationships>
</file>

<file path=ppt/slides/_rels/slide2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22.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06.png"/><Relationship Id="rId7" Type="http://schemas.openxmlformats.org/officeDocument/2006/relationships/image" Target="../media/image99.png"/><Relationship Id="rId12" Type="http://schemas.openxmlformats.org/officeDocument/2006/relationships/image" Target="../media/image129.png"/><Relationship Id="rId17" Type="http://schemas.openxmlformats.org/officeDocument/2006/relationships/image" Target="../media/image132.png"/><Relationship Id="rId2" Type="http://schemas.openxmlformats.org/officeDocument/2006/relationships/image" Target="../media/image115.png"/><Relationship Id="rId16"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image" Target="../media/image98.png"/><Relationship Id="rId11" Type="http://schemas.openxmlformats.org/officeDocument/2006/relationships/image" Target="../media/image100.png"/><Relationship Id="rId5" Type="http://schemas.openxmlformats.org/officeDocument/2006/relationships/image" Target="../media/image122.png"/><Relationship Id="rId15" Type="http://schemas.openxmlformats.org/officeDocument/2006/relationships/image" Target="../media/image130.png"/><Relationship Id="rId10" Type="http://schemas.openxmlformats.org/officeDocument/2006/relationships/image" Target="../media/image127.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20.png"/></Relationships>
</file>

<file path=ppt/slides/_rels/slide23.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135.png"/><Relationship Id="rId7" Type="http://schemas.openxmlformats.org/officeDocument/2006/relationships/image" Target="../media/image139.png"/><Relationship Id="rId12" Type="http://schemas.openxmlformats.org/officeDocument/2006/relationships/image" Target="../media/image144.png"/><Relationship Id="rId2"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38.png"/><Relationship Id="rId11" Type="http://schemas.openxmlformats.org/officeDocument/2006/relationships/image" Target="../media/image143.png"/><Relationship Id="rId5" Type="http://schemas.openxmlformats.org/officeDocument/2006/relationships/image" Target="../media/image137.png"/><Relationship Id="rId10" Type="http://schemas.openxmlformats.org/officeDocument/2006/relationships/image" Target="../media/image142.png"/><Relationship Id="rId4" Type="http://schemas.openxmlformats.org/officeDocument/2006/relationships/image" Target="../media/image136.png"/><Relationship Id="rId9" Type="http://schemas.openxmlformats.org/officeDocument/2006/relationships/image" Target="../media/image141.png"/></Relationships>
</file>

<file path=ppt/slides/_rels/slide24.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55.png"/><Relationship Id="rId3" Type="http://schemas.openxmlformats.org/officeDocument/2006/relationships/image" Target="../media/image145.png"/><Relationship Id="rId7" Type="http://schemas.openxmlformats.org/officeDocument/2006/relationships/image" Target="../media/image149.png"/><Relationship Id="rId12" Type="http://schemas.openxmlformats.org/officeDocument/2006/relationships/image" Target="../media/image154.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148.png"/><Relationship Id="rId11" Type="http://schemas.openxmlformats.org/officeDocument/2006/relationships/image" Target="../media/image153.png"/><Relationship Id="rId5" Type="http://schemas.openxmlformats.org/officeDocument/2006/relationships/image" Target="../media/image147.png"/><Relationship Id="rId15" Type="http://schemas.openxmlformats.org/officeDocument/2006/relationships/image" Target="../media/image157.png"/><Relationship Id="rId10" Type="http://schemas.openxmlformats.org/officeDocument/2006/relationships/image" Target="../media/image152.png"/><Relationship Id="rId4" Type="http://schemas.openxmlformats.org/officeDocument/2006/relationships/image" Target="../media/image146.png"/><Relationship Id="rId9" Type="http://schemas.openxmlformats.org/officeDocument/2006/relationships/image" Target="../media/image151.png"/><Relationship Id="rId14" Type="http://schemas.openxmlformats.org/officeDocument/2006/relationships/image" Target="../media/image156.png"/></Relationships>
</file>

<file path=ppt/slides/_rels/slide25.xml.rels><?xml version="1.0" encoding="UTF-8" standalone="yes"?>
<Relationships xmlns="http://schemas.openxmlformats.org/package/2006/relationships"><Relationship Id="rId8" Type="http://schemas.openxmlformats.org/officeDocument/2006/relationships/image" Target="../media/image163.png"/><Relationship Id="rId13" Type="http://schemas.openxmlformats.org/officeDocument/2006/relationships/image" Target="../media/image168.png"/><Relationship Id="rId3" Type="http://schemas.openxmlformats.org/officeDocument/2006/relationships/image" Target="../media/image158.png"/><Relationship Id="rId7" Type="http://schemas.openxmlformats.org/officeDocument/2006/relationships/image" Target="../media/image162.png"/><Relationship Id="rId12" Type="http://schemas.openxmlformats.org/officeDocument/2006/relationships/image" Target="../media/image167.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161.png"/><Relationship Id="rId11" Type="http://schemas.openxmlformats.org/officeDocument/2006/relationships/image" Target="../media/image166.png"/><Relationship Id="rId5" Type="http://schemas.openxmlformats.org/officeDocument/2006/relationships/image" Target="../media/image160.png"/><Relationship Id="rId10" Type="http://schemas.openxmlformats.org/officeDocument/2006/relationships/image" Target="../media/image165.png"/><Relationship Id="rId4" Type="http://schemas.openxmlformats.org/officeDocument/2006/relationships/image" Target="../media/image159.png"/><Relationship Id="rId9" Type="http://schemas.openxmlformats.org/officeDocument/2006/relationships/image" Target="../media/image164.png"/></Relationships>
</file>

<file path=ppt/slides/_rels/slide26.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image" Target="../media/image170.png"/><Relationship Id="rId7" Type="http://schemas.openxmlformats.org/officeDocument/2006/relationships/image" Target="../media/image123.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173.png"/><Relationship Id="rId5" Type="http://schemas.openxmlformats.org/officeDocument/2006/relationships/image" Target="../media/image107.png"/><Relationship Id="rId4" Type="http://schemas.openxmlformats.org/officeDocument/2006/relationships/image" Target="../media/image171.png"/></Relationships>
</file>

<file path=ppt/slides/_rels/slide27.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6.png"/><Relationship Id="rId3" Type="http://schemas.openxmlformats.org/officeDocument/2006/relationships/image" Target="../media/image177.png"/><Relationship Id="rId7" Type="http://schemas.openxmlformats.org/officeDocument/2006/relationships/image" Target="../media/image176.png"/><Relationship Id="rId12" Type="http://schemas.openxmlformats.org/officeDocument/2006/relationships/image" Target="../media/image184.png"/><Relationship Id="rId1" Type="http://schemas.openxmlformats.org/officeDocument/2006/relationships/slideLayout" Target="../slideLayouts/slideLayout2.xml"/><Relationship Id="rId6" Type="http://schemas.openxmlformats.org/officeDocument/2006/relationships/image" Target="../media/image133.png"/><Relationship Id="rId11" Type="http://schemas.openxmlformats.org/officeDocument/2006/relationships/image" Target="../media/image183.png"/><Relationship Id="rId5" Type="http://schemas.openxmlformats.org/officeDocument/2006/relationships/image" Target="../media/image179.png"/><Relationship Id="rId10" Type="http://schemas.openxmlformats.org/officeDocument/2006/relationships/image" Target="../media/image182.png"/><Relationship Id="rId4" Type="http://schemas.openxmlformats.org/officeDocument/2006/relationships/image" Target="../media/image178.png"/><Relationship Id="rId9" Type="http://schemas.openxmlformats.org/officeDocument/2006/relationships/image" Target="../media/image181.png"/></Relationships>
</file>

<file path=ppt/slides/_rels/slide28.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15.png"/><Relationship Id="rId1" Type="http://schemas.openxmlformats.org/officeDocument/2006/relationships/slideLayout" Target="../slideLayouts/slideLayout2.xml"/><Relationship Id="rId4" Type="http://schemas.openxmlformats.org/officeDocument/2006/relationships/image" Target="../media/image188.png"/></Relationships>
</file>

<file path=ppt/slides/_rels/slide29.xml.rels><?xml version="1.0" encoding="UTF-8" standalone="yes"?>
<Relationships xmlns="http://schemas.openxmlformats.org/package/2006/relationships"><Relationship Id="rId8" Type="http://schemas.openxmlformats.org/officeDocument/2006/relationships/image" Target="../media/image193.png"/><Relationship Id="rId3" Type="http://schemas.openxmlformats.org/officeDocument/2006/relationships/image" Target="../media/image189.png"/><Relationship Id="rId7" Type="http://schemas.openxmlformats.org/officeDocument/2006/relationships/image" Target="../media/image1920.pn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92.png"/><Relationship Id="rId11" Type="http://schemas.openxmlformats.org/officeDocument/2006/relationships/image" Target="../media/image196.png"/><Relationship Id="rId5" Type="http://schemas.openxmlformats.org/officeDocument/2006/relationships/image" Target="../media/image191.png"/><Relationship Id="rId10" Type="http://schemas.openxmlformats.org/officeDocument/2006/relationships/image" Target="../media/image195.png"/><Relationship Id="rId4" Type="http://schemas.openxmlformats.org/officeDocument/2006/relationships/image" Target="../media/image190.png"/><Relationship Id="rId9" Type="http://schemas.openxmlformats.org/officeDocument/2006/relationships/image" Target="../media/image19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1" y="-1"/>
            <a:ext cx="12192000" cy="6871855"/>
          </a:xfrm>
          <a:prstGeom prst="rect">
            <a:avLst/>
          </a:prstGeom>
        </p:spPr>
      </p:pic>
      <p:sp>
        <p:nvSpPr>
          <p:cNvPr id="9" name="图文框 8"/>
          <p:cNvSpPr/>
          <p:nvPr/>
        </p:nvSpPr>
        <p:spPr>
          <a:xfrm>
            <a:off x="0" y="-1"/>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sp>
        <p:nvSpPr>
          <p:cNvPr id="6" name="Rectangle 1"/>
          <p:cNvSpPr/>
          <p:nvPr/>
        </p:nvSpPr>
        <p:spPr>
          <a:xfrm>
            <a:off x="0" y="1312540"/>
            <a:ext cx="11144250" cy="356426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 name="TextBox 12"/>
          <p:cNvSpPr txBox="1"/>
          <p:nvPr/>
        </p:nvSpPr>
        <p:spPr>
          <a:xfrm>
            <a:off x="5524507" y="2152682"/>
            <a:ext cx="5109091" cy="1569660"/>
          </a:xfrm>
          <a:prstGeom prst="rect">
            <a:avLst/>
          </a:prstGeom>
          <a:noFill/>
        </p:spPr>
        <p:txBody>
          <a:bodyPr wrap="none" rtlCol="0">
            <a:spAutoFit/>
          </a:bodyPr>
          <a:lstStyle/>
          <a:p>
            <a:pPr defTabSz="1218565"/>
            <a:r>
              <a:rPr lang="zh-CN" altLang="en-US" sz="9600" b="1">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rPr>
              <a:t>高等数学</a:t>
            </a:r>
            <a:endParaRPr lang="en-US" altLang="zh-CN" sz="96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endParaRPr>
          </a:p>
        </p:txBody>
      </p:sp>
      <p:sp>
        <p:nvSpPr>
          <p:cNvPr id="4" name="TextBox 12"/>
          <p:cNvSpPr txBox="1"/>
          <p:nvPr/>
        </p:nvSpPr>
        <p:spPr>
          <a:xfrm>
            <a:off x="9118170" y="3703526"/>
            <a:ext cx="1415772" cy="584775"/>
          </a:xfrm>
          <a:prstGeom prst="rect">
            <a:avLst/>
          </a:prstGeom>
          <a:noFill/>
        </p:spPr>
        <p:txBody>
          <a:bodyPr wrap="none" rtlCol="0">
            <a:spAutoFit/>
          </a:bodyPr>
          <a:lstStyle/>
          <a:p>
            <a:pPr defTabSz="1218565"/>
            <a:r>
              <a:rPr lang="zh-CN" altLang="en-US" sz="32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rPr>
              <a:t>第八版</a:t>
            </a:r>
            <a:endParaRPr lang="en-US" altLang="zh-CN" sz="32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endParaRPr>
          </a:p>
        </p:txBody>
      </p:sp>
      <p:sp>
        <p:nvSpPr>
          <p:cNvPr id="5" name="文本框 4"/>
          <p:cNvSpPr txBox="1"/>
          <p:nvPr/>
        </p:nvSpPr>
        <p:spPr>
          <a:xfrm>
            <a:off x="6783949" y="5176128"/>
            <a:ext cx="3672673" cy="430887"/>
          </a:xfrm>
          <a:prstGeom prst="rect">
            <a:avLst/>
          </a:prstGeom>
          <a:noFill/>
        </p:spPr>
        <p:txBody>
          <a:bodyPr wrap="square" rtlCol="0">
            <a:spAutoFit/>
          </a:bodyPr>
          <a:lstStyle/>
          <a:p>
            <a:pPr algn="r"/>
            <a:r>
              <a:rPr lang="zh-CN" altLang="en-US" sz="2200" b="1" dirty="0">
                <a:solidFill>
                  <a:srgbClr val="04926A"/>
                </a:solidFill>
                <a:latin typeface="微软雅黑" panose="020B0503020204020204" pitchFamily="34" charset="-122"/>
                <a:ea typeface="微软雅黑" panose="020B0503020204020204" pitchFamily="34" charset="-122"/>
              </a:rPr>
              <a:t>同济大学数学科学学院   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flipH="1">
            <a:off x="0" y="0"/>
            <a:ext cx="12192000" cy="687299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矩形 13"/>
          <p:cNvSpPr/>
          <p:nvPr/>
        </p:nvSpPr>
        <p:spPr>
          <a:xfrm>
            <a:off x="789305" y="2369185"/>
            <a:ext cx="11083290" cy="4504055"/>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29285" y="2499995"/>
            <a:ext cx="10923270" cy="4373245"/>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87045" y="2640330"/>
            <a:ext cx="10746105" cy="4232910"/>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41"/>
          <p:cNvSpPr/>
          <p:nvPr/>
        </p:nvSpPr>
        <p:spPr>
          <a:xfrm flipH="1">
            <a:off x="4914237" y="3160432"/>
            <a:ext cx="1784904" cy="429397"/>
          </a:xfrm>
          <a:custGeom>
            <a:avLst/>
            <a:gdLst/>
            <a:ahLst/>
            <a:cxnLst/>
            <a:rect l="l" t="t" r="r" b="b"/>
            <a:pathLst>
              <a:path w="1784904" h="429397">
                <a:moveTo>
                  <a:pt x="326672" y="316347"/>
                </a:moveTo>
                <a:cubicBezTo>
                  <a:pt x="322782" y="316737"/>
                  <a:pt x="318710" y="321188"/>
                  <a:pt x="314454" y="329699"/>
                </a:cubicBezTo>
                <a:cubicBezTo>
                  <a:pt x="309673" y="355056"/>
                  <a:pt x="310417" y="375966"/>
                  <a:pt x="316687" y="392430"/>
                </a:cubicBezTo>
                <a:cubicBezTo>
                  <a:pt x="326956" y="411666"/>
                  <a:pt x="343187" y="421926"/>
                  <a:pt x="365381" y="423210"/>
                </a:cubicBezTo>
                <a:cubicBezTo>
                  <a:pt x="383985" y="421777"/>
                  <a:pt x="393287" y="411824"/>
                  <a:pt x="393287" y="393351"/>
                </a:cubicBezTo>
                <a:cubicBezTo>
                  <a:pt x="393287" y="384012"/>
                  <a:pt x="384450" y="374934"/>
                  <a:pt x="366777" y="366116"/>
                </a:cubicBezTo>
                <a:cubicBezTo>
                  <a:pt x="348062" y="355102"/>
                  <a:pt x="337634" y="344787"/>
                  <a:pt x="335495" y="335169"/>
                </a:cubicBezTo>
                <a:cubicBezTo>
                  <a:pt x="334286" y="325439"/>
                  <a:pt x="332621" y="319486"/>
                  <a:pt x="330500" y="317309"/>
                </a:cubicBezTo>
                <a:cubicBezTo>
                  <a:pt x="329244" y="316537"/>
                  <a:pt x="327968" y="316216"/>
                  <a:pt x="326672" y="316347"/>
                </a:cubicBezTo>
                <a:close/>
                <a:moveTo>
                  <a:pt x="90072" y="314517"/>
                </a:moveTo>
                <a:cubicBezTo>
                  <a:pt x="88181" y="314481"/>
                  <a:pt x="85529" y="315049"/>
                  <a:pt x="82115" y="316221"/>
                </a:cubicBezTo>
                <a:cubicBezTo>
                  <a:pt x="78822" y="316221"/>
                  <a:pt x="74432" y="316919"/>
                  <a:pt x="68944" y="318314"/>
                </a:cubicBezTo>
                <a:cubicBezTo>
                  <a:pt x="41001" y="328025"/>
                  <a:pt x="20240" y="340294"/>
                  <a:pt x="6659" y="355121"/>
                </a:cubicBezTo>
                <a:cubicBezTo>
                  <a:pt x="-7721" y="387658"/>
                  <a:pt x="1190" y="408606"/>
                  <a:pt x="33393" y="417964"/>
                </a:cubicBezTo>
                <a:cubicBezTo>
                  <a:pt x="52480" y="417964"/>
                  <a:pt x="62712" y="406969"/>
                  <a:pt x="64088" y="384980"/>
                </a:cubicBezTo>
                <a:cubicBezTo>
                  <a:pt x="65205" y="364051"/>
                  <a:pt x="72683" y="346107"/>
                  <a:pt x="86524" y="331150"/>
                </a:cubicBezTo>
                <a:cubicBezTo>
                  <a:pt x="94561" y="320170"/>
                  <a:pt x="95743" y="314625"/>
                  <a:pt x="90072" y="314517"/>
                </a:cubicBezTo>
                <a:close/>
                <a:moveTo>
                  <a:pt x="187597" y="314463"/>
                </a:moveTo>
                <a:cubicBezTo>
                  <a:pt x="184025" y="314463"/>
                  <a:pt x="177449" y="315663"/>
                  <a:pt x="167868" y="318063"/>
                </a:cubicBezTo>
                <a:cubicBezTo>
                  <a:pt x="140149" y="326881"/>
                  <a:pt x="121899" y="339420"/>
                  <a:pt x="113118" y="355679"/>
                </a:cubicBezTo>
                <a:cubicBezTo>
                  <a:pt x="103630" y="385742"/>
                  <a:pt x="112662" y="404169"/>
                  <a:pt x="140214" y="410959"/>
                </a:cubicBezTo>
                <a:cubicBezTo>
                  <a:pt x="159506" y="410959"/>
                  <a:pt x="169152" y="398086"/>
                  <a:pt x="169152" y="372338"/>
                </a:cubicBezTo>
                <a:cubicBezTo>
                  <a:pt x="169152" y="352712"/>
                  <a:pt x="173217" y="338322"/>
                  <a:pt x="181346" y="329169"/>
                </a:cubicBezTo>
                <a:cubicBezTo>
                  <a:pt x="188397" y="323941"/>
                  <a:pt x="190481" y="319039"/>
                  <a:pt x="187597" y="314463"/>
                </a:cubicBezTo>
                <a:close/>
                <a:moveTo>
                  <a:pt x="277968" y="311505"/>
                </a:moveTo>
                <a:cubicBezTo>
                  <a:pt x="274629" y="311868"/>
                  <a:pt x="269620" y="313003"/>
                  <a:pt x="262941" y="314909"/>
                </a:cubicBezTo>
                <a:cubicBezTo>
                  <a:pt x="234701" y="328434"/>
                  <a:pt x="216898" y="342564"/>
                  <a:pt x="209531" y="357298"/>
                </a:cubicBezTo>
                <a:cubicBezTo>
                  <a:pt x="198815" y="387528"/>
                  <a:pt x="209121" y="406002"/>
                  <a:pt x="240450" y="412717"/>
                </a:cubicBezTo>
                <a:cubicBezTo>
                  <a:pt x="260616" y="411285"/>
                  <a:pt x="269536" y="397118"/>
                  <a:pt x="267211" y="370218"/>
                </a:cubicBezTo>
                <a:cubicBezTo>
                  <a:pt x="264867" y="350610"/>
                  <a:pt x="266634" y="337485"/>
                  <a:pt x="272513" y="330843"/>
                </a:cubicBezTo>
                <a:cubicBezTo>
                  <a:pt x="280643" y="318770"/>
                  <a:pt x="284131" y="312733"/>
                  <a:pt x="282977" y="312733"/>
                </a:cubicBezTo>
                <a:cubicBezTo>
                  <a:pt x="282977" y="311551"/>
                  <a:pt x="281308" y="311142"/>
                  <a:pt x="277968" y="311505"/>
                </a:cubicBezTo>
                <a:close/>
                <a:moveTo>
                  <a:pt x="637411" y="288371"/>
                </a:moveTo>
                <a:lnTo>
                  <a:pt x="637411" y="330229"/>
                </a:lnTo>
                <a:lnTo>
                  <a:pt x="576578" y="330229"/>
                </a:lnTo>
                <a:lnTo>
                  <a:pt x="560588" y="304138"/>
                </a:lnTo>
                <a:cubicBezTo>
                  <a:pt x="576922" y="307635"/>
                  <a:pt x="584503" y="302380"/>
                  <a:pt x="583331" y="288371"/>
                </a:cubicBezTo>
                <a:close/>
                <a:moveTo>
                  <a:pt x="1182178" y="241100"/>
                </a:moveTo>
                <a:lnTo>
                  <a:pt x="1182178" y="272438"/>
                </a:lnTo>
                <a:lnTo>
                  <a:pt x="1049293" y="272438"/>
                </a:lnTo>
                <a:lnTo>
                  <a:pt x="1049293" y="241100"/>
                </a:lnTo>
                <a:close/>
                <a:moveTo>
                  <a:pt x="637411" y="225333"/>
                </a:moveTo>
                <a:lnTo>
                  <a:pt x="637411" y="270707"/>
                </a:lnTo>
                <a:lnTo>
                  <a:pt x="583331" y="270707"/>
                </a:lnTo>
                <a:lnTo>
                  <a:pt x="583331" y="225333"/>
                </a:lnTo>
                <a:close/>
                <a:moveTo>
                  <a:pt x="752995" y="225333"/>
                </a:moveTo>
                <a:lnTo>
                  <a:pt x="752995" y="268949"/>
                </a:lnTo>
                <a:lnTo>
                  <a:pt x="697157" y="268949"/>
                </a:lnTo>
                <a:lnTo>
                  <a:pt x="697157" y="225333"/>
                </a:lnTo>
                <a:close/>
                <a:moveTo>
                  <a:pt x="1170514" y="197317"/>
                </a:moveTo>
                <a:cubicBezTo>
                  <a:pt x="1180616" y="196163"/>
                  <a:pt x="1184504" y="199679"/>
                  <a:pt x="1182178" y="207865"/>
                </a:cubicBezTo>
                <a:lnTo>
                  <a:pt x="1182178" y="225166"/>
                </a:lnTo>
                <a:lnTo>
                  <a:pt x="1049293" y="225166"/>
                </a:lnTo>
                <a:lnTo>
                  <a:pt x="1049293" y="197317"/>
                </a:lnTo>
                <a:close/>
                <a:moveTo>
                  <a:pt x="1604553" y="188582"/>
                </a:moveTo>
                <a:cubicBezTo>
                  <a:pt x="1622710" y="230459"/>
                  <a:pt x="1648327" y="264252"/>
                  <a:pt x="1681404" y="289962"/>
                </a:cubicBezTo>
                <a:lnTo>
                  <a:pt x="1604553" y="289962"/>
                </a:lnTo>
                <a:close/>
                <a:moveTo>
                  <a:pt x="250830" y="181578"/>
                </a:moveTo>
                <a:cubicBezTo>
                  <a:pt x="259276" y="182415"/>
                  <a:pt x="263499" y="185299"/>
                  <a:pt x="263499" y="190229"/>
                </a:cubicBezTo>
                <a:lnTo>
                  <a:pt x="263499" y="261945"/>
                </a:lnTo>
                <a:lnTo>
                  <a:pt x="132373" y="261945"/>
                </a:lnTo>
                <a:lnTo>
                  <a:pt x="132373" y="181578"/>
                </a:lnTo>
                <a:close/>
                <a:moveTo>
                  <a:pt x="737759" y="165812"/>
                </a:moveTo>
                <a:cubicBezTo>
                  <a:pt x="750242" y="164639"/>
                  <a:pt x="755321" y="168156"/>
                  <a:pt x="752995" y="176360"/>
                </a:cubicBezTo>
                <a:lnTo>
                  <a:pt x="752995" y="209400"/>
                </a:lnTo>
                <a:lnTo>
                  <a:pt x="697157" y="209400"/>
                </a:lnTo>
                <a:lnTo>
                  <a:pt x="697157" y="165812"/>
                </a:lnTo>
                <a:close/>
                <a:moveTo>
                  <a:pt x="1229548" y="165184"/>
                </a:moveTo>
                <a:cubicBezTo>
                  <a:pt x="1224915" y="165677"/>
                  <a:pt x="1219311" y="167783"/>
                  <a:pt x="1212735" y="171504"/>
                </a:cubicBezTo>
                <a:cubicBezTo>
                  <a:pt x="1199340" y="177085"/>
                  <a:pt x="1189118" y="180378"/>
                  <a:pt x="1182067" y="181383"/>
                </a:cubicBezTo>
                <a:lnTo>
                  <a:pt x="1049991" y="181383"/>
                </a:lnTo>
                <a:cubicBezTo>
                  <a:pt x="1052707" y="181364"/>
                  <a:pt x="1054214" y="180611"/>
                  <a:pt x="1054512" y="179122"/>
                </a:cubicBezTo>
                <a:cubicBezTo>
                  <a:pt x="1050121" y="171793"/>
                  <a:pt x="1044559" y="167300"/>
                  <a:pt x="1037824" y="165644"/>
                </a:cubicBezTo>
                <a:cubicBezTo>
                  <a:pt x="1010607" y="166909"/>
                  <a:pt x="988683" y="177913"/>
                  <a:pt x="972052" y="198656"/>
                </a:cubicBezTo>
                <a:cubicBezTo>
                  <a:pt x="973745" y="204423"/>
                  <a:pt x="977075" y="209790"/>
                  <a:pt x="982042" y="214757"/>
                </a:cubicBezTo>
                <a:cubicBezTo>
                  <a:pt x="983549" y="217008"/>
                  <a:pt x="984302" y="218171"/>
                  <a:pt x="984302" y="218246"/>
                </a:cubicBezTo>
                <a:lnTo>
                  <a:pt x="984302" y="283962"/>
                </a:lnTo>
                <a:cubicBezTo>
                  <a:pt x="983130" y="303068"/>
                  <a:pt x="995790" y="313300"/>
                  <a:pt x="1022281" y="314658"/>
                </a:cubicBezTo>
                <a:cubicBezTo>
                  <a:pt x="1043787" y="318156"/>
                  <a:pt x="1052791" y="312119"/>
                  <a:pt x="1049293" y="296548"/>
                </a:cubicBezTo>
                <a:lnTo>
                  <a:pt x="1049293" y="290130"/>
                </a:lnTo>
                <a:lnTo>
                  <a:pt x="1080715" y="290130"/>
                </a:lnTo>
                <a:cubicBezTo>
                  <a:pt x="1086482" y="290130"/>
                  <a:pt x="1088193" y="293599"/>
                  <a:pt x="1085849" y="300538"/>
                </a:cubicBezTo>
                <a:lnTo>
                  <a:pt x="1085849" y="326741"/>
                </a:lnTo>
                <a:lnTo>
                  <a:pt x="998422" y="326741"/>
                </a:lnTo>
                <a:cubicBezTo>
                  <a:pt x="999538" y="326741"/>
                  <a:pt x="998320" y="324072"/>
                  <a:pt x="994766" y="318732"/>
                </a:cubicBezTo>
                <a:cubicBezTo>
                  <a:pt x="986916" y="303050"/>
                  <a:pt x="979102" y="295208"/>
                  <a:pt x="971326" y="295208"/>
                </a:cubicBezTo>
                <a:cubicBezTo>
                  <a:pt x="960517" y="297924"/>
                  <a:pt x="945263" y="307282"/>
                  <a:pt x="925561" y="323281"/>
                </a:cubicBezTo>
                <a:cubicBezTo>
                  <a:pt x="921524" y="329197"/>
                  <a:pt x="920092" y="333699"/>
                  <a:pt x="921264" y="336787"/>
                </a:cubicBezTo>
                <a:cubicBezTo>
                  <a:pt x="921264" y="343038"/>
                  <a:pt x="925719" y="345577"/>
                  <a:pt x="934631" y="344405"/>
                </a:cubicBezTo>
                <a:lnTo>
                  <a:pt x="1085849" y="344405"/>
                </a:lnTo>
                <a:lnTo>
                  <a:pt x="1085849" y="407192"/>
                </a:lnTo>
                <a:cubicBezTo>
                  <a:pt x="1083524" y="420029"/>
                  <a:pt x="1096639" y="427098"/>
                  <a:pt x="1125196" y="428400"/>
                </a:cubicBezTo>
                <a:cubicBezTo>
                  <a:pt x="1144636" y="431953"/>
                  <a:pt x="1153194" y="426010"/>
                  <a:pt x="1150869" y="410569"/>
                </a:cubicBezTo>
                <a:lnTo>
                  <a:pt x="1150869" y="344405"/>
                </a:lnTo>
                <a:lnTo>
                  <a:pt x="1299604" y="344405"/>
                </a:lnTo>
                <a:cubicBezTo>
                  <a:pt x="1307678" y="344405"/>
                  <a:pt x="1312794" y="342266"/>
                  <a:pt x="1314952" y="337987"/>
                </a:cubicBezTo>
                <a:cubicBezTo>
                  <a:pt x="1316459" y="332518"/>
                  <a:pt x="1312691" y="328769"/>
                  <a:pt x="1303650" y="326741"/>
                </a:cubicBezTo>
                <a:lnTo>
                  <a:pt x="1150869" y="326741"/>
                </a:lnTo>
                <a:lnTo>
                  <a:pt x="1150869" y="290130"/>
                </a:lnTo>
                <a:lnTo>
                  <a:pt x="1182178" y="290130"/>
                </a:lnTo>
                <a:lnTo>
                  <a:pt x="1182178" y="293785"/>
                </a:lnTo>
                <a:cubicBezTo>
                  <a:pt x="1183927" y="302622"/>
                  <a:pt x="1196559" y="308993"/>
                  <a:pt x="1220074" y="312900"/>
                </a:cubicBezTo>
                <a:cubicBezTo>
                  <a:pt x="1239310" y="316398"/>
                  <a:pt x="1248342" y="310435"/>
                  <a:pt x="1247170" y="295013"/>
                </a:cubicBezTo>
                <a:lnTo>
                  <a:pt x="1247170" y="194219"/>
                </a:lnTo>
                <a:cubicBezTo>
                  <a:pt x="1248342" y="179969"/>
                  <a:pt x="1246128" y="171411"/>
                  <a:pt x="1240528" y="168546"/>
                </a:cubicBezTo>
                <a:cubicBezTo>
                  <a:pt x="1237840" y="165812"/>
                  <a:pt x="1234180" y="164691"/>
                  <a:pt x="1229548" y="165184"/>
                </a:cubicBezTo>
                <a:close/>
                <a:moveTo>
                  <a:pt x="637411" y="164053"/>
                </a:moveTo>
                <a:lnTo>
                  <a:pt x="637411" y="209400"/>
                </a:lnTo>
                <a:lnTo>
                  <a:pt x="583331" y="209400"/>
                </a:lnTo>
                <a:lnTo>
                  <a:pt x="583331" y="164053"/>
                </a:lnTo>
                <a:close/>
                <a:moveTo>
                  <a:pt x="1539561" y="122028"/>
                </a:moveTo>
                <a:lnTo>
                  <a:pt x="1539561" y="289962"/>
                </a:lnTo>
                <a:lnTo>
                  <a:pt x="1537915" y="289962"/>
                </a:lnTo>
                <a:cubicBezTo>
                  <a:pt x="1537747" y="289962"/>
                  <a:pt x="1534696" y="286009"/>
                  <a:pt x="1528762" y="278102"/>
                </a:cubicBezTo>
                <a:cubicBezTo>
                  <a:pt x="1523795" y="269433"/>
                  <a:pt x="1519228" y="264047"/>
                  <a:pt x="1515060" y="261945"/>
                </a:cubicBezTo>
                <a:cubicBezTo>
                  <a:pt x="1508140" y="261945"/>
                  <a:pt x="1500615" y="264847"/>
                  <a:pt x="1492485" y="270652"/>
                </a:cubicBezTo>
                <a:cubicBezTo>
                  <a:pt x="1518102" y="240514"/>
                  <a:pt x="1533729" y="190973"/>
                  <a:pt x="1539366" y="122028"/>
                </a:cubicBezTo>
                <a:close/>
                <a:moveTo>
                  <a:pt x="1178662" y="78245"/>
                </a:moveTo>
                <a:cubicBezTo>
                  <a:pt x="1159798" y="81184"/>
                  <a:pt x="1145306" y="88970"/>
                  <a:pt x="1135186" y="101601"/>
                </a:cubicBezTo>
                <a:cubicBezTo>
                  <a:pt x="1129158" y="116019"/>
                  <a:pt x="1132563" y="128605"/>
                  <a:pt x="1145399" y="139357"/>
                </a:cubicBezTo>
                <a:lnTo>
                  <a:pt x="1103737" y="139357"/>
                </a:lnTo>
                <a:cubicBezTo>
                  <a:pt x="1089617" y="112252"/>
                  <a:pt x="1082556" y="91881"/>
                  <a:pt x="1082556" y="78245"/>
                </a:cubicBezTo>
                <a:close/>
                <a:moveTo>
                  <a:pt x="215553" y="11133"/>
                </a:moveTo>
                <a:cubicBezTo>
                  <a:pt x="212440" y="10891"/>
                  <a:pt x="208712" y="11077"/>
                  <a:pt x="204368" y="11691"/>
                </a:cubicBezTo>
                <a:cubicBezTo>
                  <a:pt x="201168" y="12751"/>
                  <a:pt x="199085" y="13281"/>
                  <a:pt x="198117" y="13281"/>
                </a:cubicBezTo>
                <a:cubicBezTo>
                  <a:pt x="168166" y="14714"/>
                  <a:pt x="154520" y="20155"/>
                  <a:pt x="157180" y="29606"/>
                </a:cubicBezTo>
                <a:cubicBezTo>
                  <a:pt x="158706" y="32620"/>
                  <a:pt x="160817" y="35494"/>
                  <a:pt x="163515" y="38229"/>
                </a:cubicBezTo>
                <a:cubicBezTo>
                  <a:pt x="167124" y="41838"/>
                  <a:pt x="168928" y="45224"/>
                  <a:pt x="168928" y="48386"/>
                </a:cubicBezTo>
                <a:lnTo>
                  <a:pt x="168928" y="81593"/>
                </a:lnTo>
                <a:lnTo>
                  <a:pt x="93752" y="81593"/>
                </a:lnTo>
                <a:cubicBezTo>
                  <a:pt x="93752" y="81593"/>
                  <a:pt x="91454" y="77984"/>
                  <a:pt x="86859" y="70766"/>
                </a:cubicBezTo>
                <a:cubicBezTo>
                  <a:pt x="77167" y="53446"/>
                  <a:pt x="67967" y="46135"/>
                  <a:pt x="59261" y="48833"/>
                </a:cubicBezTo>
                <a:cubicBezTo>
                  <a:pt x="48508" y="57223"/>
                  <a:pt x="35765" y="67548"/>
                  <a:pt x="21031" y="79807"/>
                </a:cubicBezTo>
                <a:cubicBezTo>
                  <a:pt x="16901" y="83919"/>
                  <a:pt x="14835" y="86868"/>
                  <a:pt x="14835" y="88653"/>
                </a:cubicBezTo>
                <a:cubicBezTo>
                  <a:pt x="14835" y="94569"/>
                  <a:pt x="17793" y="97527"/>
                  <a:pt x="23709" y="97527"/>
                </a:cubicBezTo>
                <a:lnTo>
                  <a:pt x="168928" y="97527"/>
                </a:lnTo>
                <a:lnTo>
                  <a:pt x="168928" y="163886"/>
                </a:lnTo>
                <a:lnTo>
                  <a:pt x="131312" y="163886"/>
                </a:lnTo>
                <a:cubicBezTo>
                  <a:pt x="133061" y="163867"/>
                  <a:pt x="133414" y="161942"/>
                  <a:pt x="132373" y="158110"/>
                </a:cubicBezTo>
                <a:cubicBezTo>
                  <a:pt x="126866" y="148492"/>
                  <a:pt x="120345" y="142232"/>
                  <a:pt x="112811" y="139329"/>
                </a:cubicBezTo>
                <a:cubicBezTo>
                  <a:pt x="89296" y="148185"/>
                  <a:pt x="70646" y="162770"/>
                  <a:pt x="56861" y="183085"/>
                </a:cubicBezTo>
                <a:cubicBezTo>
                  <a:pt x="58572" y="188778"/>
                  <a:pt x="63028" y="194507"/>
                  <a:pt x="70227" y="200275"/>
                </a:cubicBezTo>
                <a:cubicBezTo>
                  <a:pt x="71827" y="201335"/>
                  <a:pt x="72627" y="201484"/>
                  <a:pt x="72627" y="200721"/>
                </a:cubicBezTo>
                <a:lnTo>
                  <a:pt x="72627" y="282037"/>
                </a:lnTo>
                <a:cubicBezTo>
                  <a:pt x="76981" y="296604"/>
                  <a:pt x="88915" y="304538"/>
                  <a:pt x="108430" y="305840"/>
                </a:cubicBezTo>
                <a:cubicBezTo>
                  <a:pt x="127889" y="308203"/>
                  <a:pt x="135870" y="303385"/>
                  <a:pt x="132373" y="291385"/>
                </a:cubicBezTo>
                <a:lnTo>
                  <a:pt x="132373" y="277879"/>
                </a:lnTo>
                <a:lnTo>
                  <a:pt x="137535" y="277879"/>
                </a:lnTo>
                <a:lnTo>
                  <a:pt x="263499" y="277879"/>
                </a:lnTo>
                <a:lnTo>
                  <a:pt x="263499" y="291274"/>
                </a:lnTo>
                <a:cubicBezTo>
                  <a:pt x="269545" y="303347"/>
                  <a:pt x="282224" y="309384"/>
                  <a:pt x="301534" y="309384"/>
                </a:cubicBezTo>
                <a:cubicBezTo>
                  <a:pt x="314836" y="310556"/>
                  <a:pt x="320901" y="305077"/>
                  <a:pt x="319729" y="292948"/>
                </a:cubicBezTo>
                <a:lnTo>
                  <a:pt x="319729" y="153449"/>
                </a:lnTo>
                <a:cubicBezTo>
                  <a:pt x="319729" y="144036"/>
                  <a:pt x="307162" y="145357"/>
                  <a:pt x="282029" y="157412"/>
                </a:cubicBezTo>
                <a:cubicBezTo>
                  <a:pt x="270141" y="161728"/>
                  <a:pt x="262830" y="163886"/>
                  <a:pt x="260095" y="163886"/>
                </a:cubicBezTo>
                <a:lnTo>
                  <a:pt x="226943" y="163886"/>
                </a:lnTo>
                <a:lnTo>
                  <a:pt x="226943" y="148203"/>
                </a:lnTo>
                <a:lnTo>
                  <a:pt x="226943" y="24862"/>
                </a:lnTo>
                <a:cubicBezTo>
                  <a:pt x="228688" y="16435"/>
                  <a:pt x="224891" y="11858"/>
                  <a:pt x="215553" y="11133"/>
                </a:cubicBezTo>
                <a:close/>
                <a:moveTo>
                  <a:pt x="1149983" y="6033"/>
                </a:moveTo>
                <a:cubicBezTo>
                  <a:pt x="1146011" y="5638"/>
                  <a:pt x="1140930" y="5738"/>
                  <a:pt x="1134739" y="6333"/>
                </a:cubicBezTo>
                <a:cubicBezTo>
                  <a:pt x="1109643" y="7579"/>
                  <a:pt x="1093002" y="12305"/>
                  <a:pt x="1084817" y="20509"/>
                </a:cubicBezTo>
                <a:cubicBezTo>
                  <a:pt x="1072669" y="40061"/>
                  <a:pt x="1073013" y="53418"/>
                  <a:pt x="1085849" y="60581"/>
                </a:cubicBezTo>
                <a:lnTo>
                  <a:pt x="1022923" y="60581"/>
                </a:lnTo>
                <a:cubicBezTo>
                  <a:pt x="1024169" y="60581"/>
                  <a:pt x="1023035" y="57706"/>
                  <a:pt x="1019518" y="51958"/>
                </a:cubicBezTo>
                <a:cubicBezTo>
                  <a:pt x="1010589" y="34917"/>
                  <a:pt x="1002682" y="25532"/>
                  <a:pt x="995799" y="23802"/>
                </a:cubicBezTo>
                <a:cubicBezTo>
                  <a:pt x="985400" y="23802"/>
                  <a:pt x="968433" y="34340"/>
                  <a:pt x="944900" y="55418"/>
                </a:cubicBezTo>
                <a:cubicBezTo>
                  <a:pt x="939654" y="63027"/>
                  <a:pt x="938723" y="68971"/>
                  <a:pt x="942109" y="73250"/>
                </a:cubicBezTo>
                <a:cubicBezTo>
                  <a:pt x="945681" y="76580"/>
                  <a:pt x="953002" y="77668"/>
                  <a:pt x="964071" y="76515"/>
                </a:cubicBezTo>
                <a:lnTo>
                  <a:pt x="1035089" y="76515"/>
                </a:lnTo>
                <a:cubicBezTo>
                  <a:pt x="1002403" y="89295"/>
                  <a:pt x="997111" y="99695"/>
                  <a:pt x="1019211" y="107713"/>
                </a:cubicBezTo>
                <a:cubicBezTo>
                  <a:pt x="1024309" y="110261"/>
                  <a:pt x="1027406" y="111536"/>
                  <a:pt x="1028504" y="111536"/>
                </a:cubicBezTo>
                <a:cubicBezTo>
                  <a:pt x="1044466" y="121098"/>
                  <a:pt x="1057163" y="130372"/>
                  <a:pt x="1066595" y="139357"/>
                </a:cubicBezTo>
                <a:lnTo>
                  <a:pt x="991557" y="139357"/>
                </a:lnTo>
                <a:cubicBezTo>
                  <a:pt x="979074" y="117796"/>
                  <a:pt x="967652" y="105545"/>
                  <a:pt x="957290" y="102606"/>
                </a:cubicBezTo>
                <a:cubicBezTo>
                  <a:pt x="950369" y="102606"/>
                  <a:pt x="937189" y="111099"/>
                  <a:pt x="917748" y="128084"/>
                </a:cubicBezTo>
                <a:cubicBezTo>
                  <a:pt x="915255" y="130539"/>
                  <a:pt x="912716" y="132409"/>
                  <a:pt x="910130" y="133693"/>
                </a:cubicBezTo>
                <a:cubicBezTo>
                  <a:pt x="904716" y="142901"/>
                  <a:pt x="902586" y="148454"/>
                  <a:pt x="903739" y="150352"/>
                </a:cubicBezTo>
                <a:cubicBezTo>
                  <a:pt x="903739" y="154817"/>
                  <a:pt x="909879" y="156463"/>
                  <a:pt x="922157" y="155291"/>
                </a:cubicBezTo>
                <a:lnTo>
                  <a:pt x="1313612" y="155291"/>
                </a:lnTo>
                <a:cubicBezTo>
                  <a:pt x="1321686" y="155291"/>
                  <a:pt x="1326532" y="153691"/>
                  <a:pt x="1328151" y="150492"/>
                </a:cubicBezTo>
                <a:cubicBezTo>
                  <a:pt x="1331369" y="146027"/>
                  <a:pt x="1328458" y="142315"/>
                  <a:pt x="1319417" y="139357"/>
                </a:cubicBezTo>
                <a:lnTo>
                  <a:pt x="1191136" y="139357"/>
                </a:lnTo>
                <a:cubicBezTo>
                  <a:pt x="1198131" y="137367"/>
                  <a:pt x="1200466" y="129795"/>
                  <a:pt x="1198140" y="116642"/>
                </a:cubicBezTo>
                <a:cubicBezTo>
                  <a:pt x="1195796" y="100197"/>
                  <a:pt x="1198364" y="87398"/>
                  <a:pt x="1205842" y="78245"/>
                </a:cubicBezTo>
                <a:lnTo>
                  <a:pt x="1278591" y="78245"/>
                </a:lnTo>
                <a:cubicBezTo>
                  <a:pt x="1285977" y="78245"/>
                  <a:pt x="1291344" y="76580"/>
                  <a:pt x="1294693" y="73250"/>
                </a:cubicBezTo>
                <a:cubicBezTo>
                  <a:pt x="1298023" y="67129"/>
                  <a:pt x="1295176" y="62906"/>
                  <a:pt x="1286153" y="60581"/>
                </a:cubicBezTo>
                <a:lnTo>
                  <a:pt x="1136042" y="60581"/>
                </a:lnTo>
                <a:lnTo>
                  <a:pt x="1137551" y="59046"/>
                </a:lnTo>
                <a:cubicBezTo>
                  <a:pt x="1138718" y="56944"/>
                  <a:pt x="1139651" y="53251"/>
                  <a:pt x="1140348" y="47968"/>
                </a:cubicBezTo>
                <a:cubicBezTo>
                  <a:pt x="1142376" y="37494"/>
                  <a:pt x="1147520" y="29159"/>
                  <a:pt x="1155780" y="22964"/>
                </a:cubicBezTo>
                <a:cubicBezTo>
                  <a:pt x="1163831" y="12863"/>
                  <a:pt x="1161898" y="7219"/>
                  <a:pt x="1149983" y="6033"/>
                </a:cubicBezTo>
                <a:close/>
                <a:moveTo>
                  <a:pt x="582640" y="3654"/>
                </a:moveTo>
                <a:cubicBezTo>
                  <a:pt x="574534" y="4640"/>
                  <a:pt x="566448" y="8258"/>
                  <a:pt x="558384" y="14509"/>
                </a:cubicBezTo>
                <a:cubicBezTo>
                  <a:pt x="513010" y="48833"/>
                  <a:pt x="509922" y="64822"/>
                  <a:pt x="549119" y="62478"/>
                </a:cubicBezTo>
                <a:cubicBezTo>
                  <a:pt x="554719" y="61306"/>
                  <a:pt x="557686" y="60730"/>
                  <a:pt x="558021" y="60748"/>
                </a:cubicBezTo>
                <a:cubicBezTo>
                  <a:pt x="568420" y="63055"/>
                  <a:pt x="582550" y="64804"/>
                  <a:pt x="600409" y="65994"/>
                </a:cubicBezTo>
                <a:cubicBezTo>
                  <a:pt x="619013" y="67166"/>
                  <a:pt x="631347" y="67752"/>
                  <a:pt x="637411" y="67752"/>
                </a:cubicBezTo>
                <a:lnTo>
                  <a:pt x="637411" y="99090"/>
                </a:lnTo>
                <a:lnTo>
                  <a:pt x="530702" y="99090"/>
                </a:lnTo>
                <a:cubicBezTo>
                  <a:pt x="530683" y="99090"/>
                  <a:pt x="526907" y="93193"/>
                  <a:pt x="519372" y="81398"/>
                </a:cubicBezTo>
                <a:cubicBezTo>
                  <a:pt x="511094" y="69548"/>
                  <a:pt x="504917" y="62609"/>
                  <a:pt x="500843" y="60581"/>
                </a:cubicBezTo>
                <a:cubicBezTo>
                  <a:pt x="493439" y="60581"/>
                  <a:pt x="477942" y="71110"/>
                  <a:pt x="454353" y="92170"/>
                </a:cubicBezTo>
                <a:cubicBezTo>
                  <a:pt x="445646" y="107406"/>
                  <a:pt x="446586" y="115024"/>
                  <a:pt x="457171" y="115024"/>
                </a:cubicBezTo>
                <a:lnTo>
                  <a:pt x="637411" y="115024"/>
                </a:lnTo>
                <a:lnTo>
                  <a:pt x="637411" y="148120"/>
                </a:lnTo>
                <a:lnTo>
                  <a:pt x="588493" y="148120"/>
                </a:lnTo>
                <a:cubicBezTo>
                  <a:pt x="589182" y="148120"/>
                  <a:pt x="586661" y="145255"/>
                  <a:pt x="580931" y="139525"/>
                </a:cubicBezTo>
                <a:cubicBezTo>
                  <a:pt x="572969" y="128921"/>
                  <a:pt x="565667" y="123619"/>
                  <a:pt x="559025" y="123619"/>
                </a:cubicBezTo>
                <a:cubicBezTo>
                  <a:pt x="531232" y="136232"/>
                  <a:pt x="513587" y="152203"/>
                  <a:pt x="506089" y="171532"/>
                </a:cubicBezTo>
                <a:cubicBezTo>
                  <a:pt x="508303" y="176425"/>
                  <a:pt x="511615" y="179606"/>
                  <a:pt x="516023" y="181076"/>
                </a:cubicBezTo>
                <a:cubicBezTo>
                  <a:pt x="517568" y="182099"/>
                  <a:pt x="518340" y="182229"/>
                  <a:pt x="518340" y="181466"/>
                </a:cubicBezTo>
                <a:lnTo>
                  <a:pt x="518340" y="279526"/>
                </a:lnTo>
                <a:cubicBezTo>
                  <a:pt x="518340" y="290427"/>
                  <a:pt x="524758" y="297050"/>
                  <a:pt x="537594" y="299394"/>
                </a:cubicBezTo>
                <a:cubicBezTo>
                  <a:pt x="520925" y="306891"/>
                  <a:pt x="507140" y="316695"/>
                  <a:pt x="496239" y="328806"/>
                </a:cubicBezTo>
                <a:cubicBezTo>
                  <a:pt x="492295" y="338052"/>
                  <a:pt x="494146" y="343838"/>
                  <a:pt x="501792" y="346163"/>
                </a:cubicBezTo>
                <a:lnTo>
                  <a:pt x="637411" y="346163"/>
                </a:lnTo>
                <a:lnTo>
                  <a:pt x="637411" y="389779"/>
                </a:lnTo>
                <a:lnTo>
                  <a:pt x="547501" y="389779"/>
                </a:lnTo>
                <a:cubicBezTo>
                  <a:pt x="546589" y="388849"/>
                  <a:pt x="543929" y="383975"/>
                  <a:pt x="539520" y="375157"/>
                </a:cubicBezTo>
                <a:cubicBezTo>
                  <a:pt x="530106" y="360386"/>
                  <a:pt x="522497" y="353000"/>
                  <a:pt x="516693" y="353000"/>
                </a:cubicBezTo>
                <a:cubicBezTo>
                  <a:pt x="510554" y="353000"/>
                  <a:pt x="497727" y="360302"/>
                  <a:pt x="478212" y="374906"/>
                </a:cubicBezTo>
                <a:cubicBezTo>
                  <a:pt x="476835" y="376189"/>
                  <a:pt x="475459" y="377520"/>
                  <a:pt x="474082" y="378896"/>
                </a:cubicBezTo>
                <a:cubicBezTo>
                  <a:pt x="466585" y="383882"/>
                  <a:pt x="462073" y="388672"/>
                  <a:pt x="460548" y="393267"/>
                </a:cubicBezTo>
                <a:cubicBezTo>
                  <a:pt x="460548" y="399648"/>
                  <a:pt x="464371" y="403797"/>
                  <a:pt x="472017" y="405713"/>
                </a:cubicBezTo>
                <a:lnTo>
                  <a:pt x="845138" y="405713"/>
                </a:lnTo>
                <a:cubicBezTo>
                  <a:pt x="850999" y="404243"/>
                  <a:pt x="855956" y="401481"/>
                  <a:pt x="860012" y="397425"/>
                </a:cubicBezTo>
                <a:cubicBezTo>
                  <a:pt x="860012" y="392328"/>
                  <a:pt x="855891" y="389779"/>
                  <a:pt x="847650" y="389779"/>
                </a:cubicBezTo>
                <a:lnTo>
                  <a:pt x="697157" y="389779"/>
                </a:lnTo>
                <a:lnTo>
                  <a:pt x="697157" y="347921"/>
                </a:lnTo>
                <a:lnTo>
                  <a:pt x="819633" y="347921"/>
                </a:lnTo>
                <a:cubicBezTo>
                  <a:pt x="825865" y="347921"/>
                  <a:pt x="830842" y="346061"/>
                  <a:pt x="834562" y="342340"/>
                </a:cubicBezTo>
                <a:cubicBezTo>
                  <a:pt x="836348" y="336480"/>
                  <a:pt x="833418" y="332443"/>
                  <a:pt x="825772" y="330229"/>
                </a:cubicBezTo>
                <a:lnTo>
                  <a:pt x="697157" y="330229"/>
                </a:lnTo>
                <a:lnTo>
                  <a:pt x="697157" y="284883"/>
                </a:lnTo>
                <a:lnTo>
                  <a:pt x="751237" y="284883"/>
                </a:lnTo>
                <a:cubicBezTo>
                  <a:pt x="751237" y="299748"/>
                  <a:pt x="758409" y="307887"/>
                  <a:pt x="772752" y="309300"/>
                </a:cubicBezTo>
                <a:cubicBezTo>
                  <a:pt x="799411" y="316370"/>
                  <a:pt x="811568" y="310947"/>
                  <a:pt x="809224" y="293032"/>
                </a:cubicBezTo>
                <a:lnTo>
                  <a:pt x="809224" y="147115"/>
                </a:lnTo>
                <a:cubicBezTo>
                  <a:pt x="810396" y="139525"/>
                  <a:pt x="808024" y="134679"/>
                  <a:pt x="802109" y="132576"/>
                </a:cubicBezTo>
                <a:cubicBezTo>
                  <a:pt x="797067" y="130083"/>
                  <a:pt x="789942" y="131572"/>
                  <a:pt x="780733" y="137041"/>
                </a:cubicBezTo>
                <a:cubicBezTo>
                  <a:pt x="779580" y="138195"/>
                  <a:pt x="778231" y="139153"/>
                  <a:pt x="776687" y="139915"/>
                </a:cubicBezTo>
                <a:cubicBezTo>
                  <a:pt x="766008" y="145366"/>
                  <a:pt x="758325" y="148101"/>
                  <a:pt x="753637" y="148120"/>
                </a:cubicBezTo>
                <a:lnTo>
                  <a:pt x="697157" y="148120"/>
                </a:lnTo>
                <a:lnTo>
                  <a:pt x="697157" y="115024"/>
                </a:lnTo>
                <a:lnTo>
                  <a:pt x="863416" y="115024"/>
                </a:lnTo>
                <a:cubicBezTo>
                  <a:pt x="871490" y="115024"/>
                  <a:pt x="876337" y="113424"/>
                  <a:pt x="877955" y="110224"/>
                </a:cubicBezTo>
                <a:cubicBezTo>
                  <a:pt x="881173" y="105759"/>
                  <a:pt x="878262" y="102048"/>
                  <a:pt x="869221" y="99090"/>
                </a:cubicBezTo>
                <a:lnTo>
                  <a:pt x="697157" y="99090"/>
                </a:lnTo>
                <a:lnTo>
                  <a:pt x="697157" y="71241"/>
                </a:lnTo>
                <a:cubicBezTo>
                  <a:pt x="729490" y="73585"/>
                  <a:pt x="760976" y="74757"/>
                  <a:pt x="791616" y="74757"/>
                </a:cubicBezTo>
                <a:cubicBezTo>
                  <a:pt x="817363" y="74757"/>
                  <a:pt x="823595" y="70766"/>
                  <a:pt x="810313" y="62785"/>
                </a:cubicBezTo>
                <a:cubicBezTo>
                  <a:pt x="740921" y="49856"/>
                  <a:pt x="676339" y="32852"/>
                  <a:pt x="616566" y="11774"/>
                </a:cubicBezTo>
                <a:cubicBezTo>
                  <a:pt x="613031" y="10602"/>
                  <a:pt x="609850" y="9542"/>
                  <a:pt x="607023" y="8593"/>
                </a:cubicBezTo>
                <a:cubicBezTo>
                  <a:pt x="598874" y="4314"/>
                  <a:pt x="590747" y="2668"/>
                  <a:pt x="582640" y="3654"/>
                </a:cubicBezTo>
                <a:close/>
                <a:moveTo>
                  <a:pt x="1593345" y="363"/>
                </a:moveTo>
                <a:cubicBezTo>
                  <a:pt x="1590269" y="-308"/>
                  <a:pt x="1586582" y="-48"/>
                  <a:pt x="1582284" y="1143"/>
                </a:cubicBezTo>
                <a:cubicBezTo>
                  <a:pt x="1543291" y="5124"/>
                  <a:pt x="1525544" y="10974"/>
                  <a:pt x="1529041" y="18695"/>
                </a:cubicBezTo>
                <a:cubicBezTo>
                  <a:pt x="1529041" y="21318"/>
                  <a:pt x="1530846" y="24425"/>
                  <a:pt x="1534455" y="28015"/>
                </a:cubicBezTo>
                <a:cubicBezTo>
                  <a:pt x="1537859" y="32276"/>
                  <a:pt x="1539561" y="36145"/>
                  <a:pt x="1539561" y="39624"/>
                </a:cubicBezTo>
                <a:lnTo>
                  <a:pt x="1539561" y="106094"/>
                </a:lnTo>
                <a:lnTo>
                  <a:pt x="1462627" y="106094"/>
                </a:lnTo>
                <a:cubicBezTo>
                  <a:pt x="1463761" y="106094"/>
                  <a:pt x="1460627" y="100271"/>
                  <a:pt x="1453222" y="88626"/>
                </a:cubicBezTo>
                <a:cubicBezTo>
                  <a:pt x="1446023" y="76645"/>
                  <a:pt x="1440674" y="69789"/>
                  <a:pt x="1437177" y="68059"/>
                </a:cubicBezTo>
                <a:cubicBezTo>
                  <a:pt x="1426071" y="64208"/>
                  <a:pt x="1406918" y="75603"/>
                  <a:pt x="1379720" y="102243"/>
                </a:cubicBezTo>
                <a:cubicBezTo>
                  <a:pt x="1374213" y="109145"/>
                  <a:pt x="1371460" y="113368"/>
                  <a:pt x="1371460" y="114912"/>
                </a:cubicBezTo>
                <a:cubicBezTo>
                  <a:pt x="1371460" y="120828"/>
                  <a:pt x="1376399" y="123200"/>
                  <a:pt x="1386278" y="122028"/>
                </a:cubicBezTo>
                <a:lnTo>
                  <a:pt x="1520307" y="122028"/>
                </a:lnTo>
                <a:cubicBezTo>
                  <a:pt x="1506540" y="196386"/>
                  <a:pt x="1458134" y="248913"/>
                  <a:pt x="1375088" y="279609"/>
                </a:cubicBezTo>
                <a:cubicBezTo>
                  <a:pt x="1362158" y="287255"/>
                  <a:pt x="1362540" y="294678"/>
                  <a:pt x="1376232" y="301878"/>
                </a:cubicBezTo>
                <a:cubicBezTo>
                  <a:pt x="1380418" y="303980"/>
                  <a:pt x="1383050" y="305570"/>
                  <a:pt x="1384129" y="306649"/>
                </a:cubicBezTo>
                <a:cubicBezTo>
                  <a:pt x="1390733" y="311040"/>
                  <a:pt x="1397905" y="319337"/>
                  <a:pt x="1405644" y="331541"/>
                </a:cubicBezTo>
                <a:cubicBezTo>
                  <a:pt x="1411355" y="340117"/>
                  <a:pt x="1415253" y="344405"/>
                  <a:pt x="1417336" y="344405"/>
                </a:cubicBezTo>
                <a:cubicBezTo>
                  <a:pt x="1424833" y="347921"/>
                  <a:pt x="1442479" y="335671"/>
                  <a:pt x="1470273" y="307654"/>
                </a:cubicBezTo>
                <a:lnTo>
                  <a:pt x="1539561" y="307654"/>
                </a:lnTo>
                <a:lnTo>
                  <a:pt x="1539561" y="398430"/>
                </a:lnTo>
                <a:cubicBezTo>
                  <a:pt x="1536064" y="413443"/>
                  <a:pt x="1550798" y="422261"/>
                  <a:pt x="1583763" y="424884"/>
                </a:cubicBezTo>
                <a:cubicBezTo>
                  <a:pt x="1598795" y="426112"/>
                  <a:pt x="1605725" y="418410"/>
                  <a:pt x="1604553" y="401779"/>
                </a:cubicBezTo>
                <a:lnTo>
                  <a:pt x="1604553" y="307654"/>
                </a:lnTo>
                <a:lnTo>
                  <a:pt x="1693487" y="307654"/>
                </a:lnTo>
                <a:cubicBezTo>
                  <a:pt x="1703309" y="316398"/>
                  <a:pt x="1723885" y="328881"/>
                  <a:pt x="1755213" y="345103"/>
                </a:cubicBezTo>
                <a:cubicBezTo>
                  <a:pt x="1770803" y="353977"/>
                  <a:pt x="1780700" y="356832"/>
                  <a:pt x="1784904" y="353670"/>
                </a:cubicBezTo>
                <a:cubicBezTo>
                  <a:pt x="1784904" y="349019"/>
                  <a:pt x="1777147" y="340610"/>
                  <a:pt x="1761631" y="328443"/>
                </a:cubicBezTo>
                <a:cubicBezTo>
                  <a:pt x="1699961" y="279721"/>
                  <a:pt x="1659275" y="210916"/>
                  <a:pt x="1639574" y="122028"/>
                </a:cubicBezTo>
                <a:lnTo>
                  <a:pt x="1744526" y="122028"/>
                </a:lnTo>
                <a:cubicBezTo>
                  <a:pt x="1753381" y="122028"/>
                  <a:pt x="1760059" y="121275"/>
                  <a:pt x="1764562" y="119768"/>
                </a:cubicBezTo>
                <a:cubicBezTo>
                  <a:pt x="1769957" y="113126"/>
                  <a:pt x="1767594" y="108569"/>
                  <a:pt x="1757474" y="106094"/>
                </a:cubicBezTo>
                <a:lnTo>
                  <a:pt x="1604553" y="106094"/>
                </a:lnTo>
                <a:lnTo>
                  <a:pt x="1604553" y="31531"/>
                </a:lnTo>
                <a:cubicBezTo>
                  <a:pt x="1606311" y="12765"/>
                  <a:pt x="1602575" y="2376"/>
                  <a:pt x="1593345" y="363"/>
                </a:cubicBezTo>
                <a:close/>
              </a:path>
            </a:pathLst>
          </a:cu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cxnSp>
        <p:nvCxnSpPr>
          <p:cNvPr id="47" name="直接连接符 46"/>
          <p:cNvCxnSpPr/>
          <p:nvPr/>
        </p:nvCxnSpPr>
        <p:spPr>
          <a:xfrm>
            <a:off x="1735983" y="3843270"/>
            <a:ext cx="8388000" cy="0"/>
          </a:xfrm>
          <a:prstGeom prst="line">
            <a:avLst/>
          </a:prstGeom>
          <a:ln w="12700">
            <a:solidFill>
              <a:srgbClr val="04926A"/>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1765935" y="4450080"/>
            <a:ext cx="2087880" cy="1556385"/>
            <a:chOff x="3633" y="6990"/>
            <a:chExt cx="3288" cy="2451"/>
          </a:xfrm>
        </p:grpSpPr>
        <p:sp>
          <p:nvSpPr>
            <p:cNvPr id="51" name="矩形: 圆角 40"/>
            <p:cNvSpPr/>
            <p:nvPr/>
          </p:nvSpPr>
          <p:spPr>
            <a:xfrm rot="16200000" flipV="1">
              <a:off x="4265" y="6786"/>
              <a:ext cx="2023" cy="3288"/>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50" name="矩形 49"/>
            <p:cNvSpPr/>
            <p:nvPr/>
          </p:nvSpPr>
          <p:spPr>
            <a:xfrm>
              <a:off x="4056" y="6990"/>
              <a:ext cx="2441" cy="725"/>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lvl="0" algn="ctr"/>
              <a:r>
                <a:rPr lang="zh-CN" altLang="en-US" sz="2400" b="1" dirty="0">
                  <a:solidFill>
                    <a:schemeClr val="bg1"/>
                  </a:solidFill>
                </a:rPr>
                <a:t>一元函数</a:t>
              </a:r>
            </a:p>
          </p:txBody>
        </p:sp>
        <p:sp>
          <p:nvSpPr>
            <p:cNvPr id="52" name="矩形 51"/>
            <p:cNvSpPr/>
            <p:nvPr/>
          </p:nvSpPr>
          <p:spPr>
            <a:xfrm>
              <a:off x="4131" y="8233"/>
              <a:ext cx="2269" cy="727"/>
            </a:xfrm>
            <a:prstGeom prst="rect">
              <a:avLst/>
            </a:prstGeom>
          </p:spPr>
          <p:txBody>
            <a:bodyPr wrap="square">
              <a:spAutoFit/>
            </a:bodyPr>
            <a:lstStyle/>
            <a:p>
              <a:pPr lvl="0" algn="ctr"/>
              <a:r>
                <a:rPr lang="zh-CN" altLang="en-US" sz="2400" b="1" dirty="0"/>
                <a:t>微分学</a:t>
              </a:r>
            </a:p>
          </p:txBody>
        </p:sp>
      </p:grpSp>
      <p:sp>
        <p:nvSpPr>
          <p:cNvPr id="5" name="右箭头 4"/>
          <p:cNvSpPr/>
          <p:nvPr/>
        </p:nvSpPr>
        <p:spPr>
          <a:xfrm>
            <a:off x="3825875" y="4460240"/>
            <a:ext cx="936000" cy="250190"/>
          </a:xfrm>
          <a:prstGeom prst="rightArrow">
            <a:avLst/>
          </a:prstGeom>
          <a:gradFill flip="none" rotWithShape="1">
            <a:gsLst>
              <a:gs pos="100000">
                <a:srgbClr val="007434">
                  <a:alpha val="100000"/>
                </a:srgbClr>
              </a:gs>
              <a:gs pos="4000">
                <a:schemeClr val="bg1"/>
              </a:gs>
            </a:gsLst>
            <a:lin ang="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0000500000000000000" pitchFamily="2" charset="-122"/>
              <a:ea typeface="字魂36号-正文宋楷" panose="00000500000000000000" pitchFamily="2" charset="-122"/>
            </a:endParaRPr>
          </a:p>
        </p:txBody>
      </p:sp>
      <p:sp>
        <p:nvSpPr>
          <p:cNvPr id="6" name="右箭头 5"/>
          <p:cNvSpPr/>
          <p:nvPr/>
        </p:nvSpPr>
        <p:spPr>
          <a:xfrm>
            <a:off x="6962140" y="4460240"/>
            <a:ext cx="936000" cy="250190"/>
          </a:xfrm>
          <a:prstGeom prst="rightArrow">
            <a:avLst/>
          </a:prstGeom>
          <a:gradFill flip="none" rotWithShape="1">
            <a:gsLst>
              <a:gs pos="100000">
                <a:srgbClr val="007434">
                  <a:alpha val="100000"/>
                </a:srgbClr>
              </a:gs>
              <a:gs pos="4000">
                <a:schemeClr val="bg1"/>
              </a:gs>
            </a:gsLst>
            <a:lin ang="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0000500000000000000" pitchFamily="2" charset="-122"/>
              <a:ea typeface="字魂36号-正文宋楷" panose="00000500000000000000" pitchFamily="2" charset="-122"/>
            </a:endParaRPr>
          </a:p>
        </p:txBody>
      </p:sp>
      <p:sp>
        <p:nvSpPr>
          <p:cNvPr id="7" name="矩形 6">
            <a:extLst>
              <a:ext uri="{FF2B5EF4-FFF2-40B4-BE49-F238E27FC236}">
                <a16:creationId xmlns:a16="http://schemas.microsoft.com/office/drawing/2014/main" id="{BE61B6C4-35F1-7875-98C1-A82818FC227F}"/>
              </a:ext>
            </a:extLst>
          </p:cNvPr>
          <p:cNvSpPr/>
          <p:nvPr/>
        </p:nvSpPr>
        <p:spPr>
          <a:xfrm>
            <a:off x="1801178" y="884555"/>
            <a:ext cx="8589645" cy="769441"/>
          </a:xfrm>
          <a:prstGeom prst="rect">
            <a:avLst/>
          </a:prstGeom>
        </p:spPr>
        <p:txBody>
          <a:bodyPr wrap="square">
            <a:spAutoFit/>
          </a:bodyPr>
          <a:lstStyle/>
          <a:p>
            <a:r>
              <a:rPr lang="zh-CN" altLang="en-US" sz="4400" b="1" dirty="0">
                <a:solidFill>
                  <a:schemeClr val="bg1"/>
                </a:solidFill>
                <a:latin typeface="微软雅黑" panose="020B0503020204020204" pitchFamily="34" charset="-122"/>
                <a:ea typeface="微软雅黑" panose="020B0503020204020204" pitchFamily="34" charset="-122"/>
                <a:sym typeface="+mn-lt"/>
              </a:rPr>
              <a:t>第九章   </a:t>
            </a:r>
            <a:r>
              <a:rPr lang="zh-CN" altLang="en-US" sz="4400" b="1" dirty="0">
                <a:solidFill>
                  <a:schemeClr val="bg1"/>
                </a:solidFill>
                <a:latin typeface="微软雅黑" panose="020B0503020204020204" pitchFamily="34" charset="-122"/>
                <a:ea typeface="微软雅黑" panose="020B0503020204020204" pitchFamily="34" charset="-122"/>
              </a:rPr>
              <a:t>多元函数微分法及其应用</a:t>
            </a:r>
          </a:p>
        </p:txBody>
      </p:sp>
      <p:grpSp>
        <p:nvGrpSpPr>
          <p:cNvPr id="8" name="组合 7">
            <a:extLst>
              <a:ext uri="{FF2B5EF4-FFF2-40B4-BE49-F238E27FC236}">
                <a16:creationId xmlns:a16="http://schemas.microsoft.com/office/drawing/2014/main" id="{2B066930-DF94-DF6F-9EC0-A1295840C882}"/>
              </a:ext>
            </a:extLst>
          </p:cNvPr>
          <p:cNvGrpSpPr/>
          <p:nvPr/>
        </p:nvGrpSpPr>
        <p:grpSpPr>
          <a:xfrm>
            <a:off x="4730442" y="4450080"/>
            <a:ext cx="2087880" cy="1556385"/>
            <a:chOff x="3633" y="6990"/>
            <a:chExt cx="3288" cy="2451"/>
          </a:xfrm>
        </p:grpSpPr>
        <p:sp>
          <p:nvSpPr>
            <p:cNvPr id="9" name="矩形: 圆角 40">
              <a:extLst>
                <a:ext uri="{FF2B5EF4-FFF2-40B4-BE49-F238E27FC236}">
                  <a16:creationId xmlns:a16="http://schemas.microsoft.com/office/drawing/2014/main" id="{2EB9713E-EEE0-DC80-43B7-769012092E62}"/>
                </a:ext>
              </a:extLst>
            </p:cNvPr>
            <p:cNvSpPr/>
            <p:nvPr/>
          </p:nvSpPr>
          <p:spPr>
            <a:xfrm rot="16200000" flipV="1">
              <a:off x="4265" y="6786"/>
              <a:ext cx="2023" cy="3288"/>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10" name="矩形 9">
              <a:extLst>
                <a:ext uri="{FF2B5EF4-FFF2-40B4-BE49-F238E27FC236}">
                  <a16:creationId xmlns:a16="http://schemas.microsoft.com/office/drawing/2014/main" id="{EEF3844B-AAC9-5582-BC84-02299D166C65}"/>
                </a:ext>
              </a:extLst>
            </p:cNvPr>
            <p:cNvSpPr/>
            <p:nvPr/>
          </p:nvSpPr>
          <p:spPr>
            <a:xfrm>
              <a:off x="4056" y="6990"/>
              <a:ext cx="2441" cy="727"/>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lvl="0" algn="ctr"/>
              <a:r>
                <a:rPr lang="zh-CN" altLang="en-US" sz="2400" b="1" dirty="0">
                  <a:solidFill>
                    <a:schemeClr val="bg1"/>
                  </a:solidFill>
                </a:rPr>
                <a:t>多元函数</a:t>
              </a:r>
            </a:p>
          </p:txBody>
        </p:sp>
        <p:sp>
          <p:nvSpPr>
            <p:cNvPr id="11" name="矩形 10">
              <a:extLst>
                <a:ext uri="{FF2B5EF4-FFF2-40B4-BE49-F238E27FC236}">
                  <a16:creationId xmlns:a16="http://schemas.microsoft.com/office/drawing/2014/main" id="{F533C61B-C6F5-3F38-0087-496DEA7A139A}"/>
                </a:ext>
              </a:extLst>
            </p:cNvPr>
            <p:cNvSpPr/>
            <p:nvPr/>
          </p:nvSpPr>
          <p:spPr>
            <a:xfrm>
              <a:off x="4131" y="8233"/>
              <a:ext cx="2263" cy="727"/>
            </a:xfrm>
            <a:prstGeom prst="rect">
              <a:avLst/>
            </a:prstGeom>
          </p:spPr>
          <p:txBody>
            <a:bodyPr wrap="square">
              <a:spAutoFit/>
            </a:bodyPr>
            <a:lstStyle/>
            <a:p>
              <a:pPr lvl="0" algn="ctr"/>
              <a:r>
                <a:rPr lang="zh-CN" altLang="en-US" sz="2400" b="1" dirty="0"/>
                <a:t>微分学</a:t>
              </a:r>
            </a:p>
          </p:txBody>
        </p:sp>
      </p:grpSp>
      <p:grpSp>
        <p:nvGrpSpPr>
          <p:cNvPr id="12" name="组合 11">
            <a:extLst>
              <a:ext uri="{FF2B5EF4-FFF2-40B4-BE49-F238E27FC236}">
                <a16:creationId xmlns:a16="http://schemas.microsoft.com/office/drawing/2014/main" id="{0DA8E5B8-DE15-F373-0143-9F49B2503382}"/>
              </a:ext>
            </a:extLst>
          </p:cNvPr>
          <p:cNvGrpSpPr/>
          <p:nvPr/>
        </p:nvGrpSpPr>
        <p:grpSpPr>
          <a:xfrm>
            <a:off x="7938154" y="4469765"/>
            <a:ext cx="2087880" cy="1556385"/>
            <a:chOff x="3633" y="6990"/>
            <a:chExt cx="3288" cy="2451"/>
          </a:xfrm>
        </p:grpSpPr>
        <p:sp>
          <p:nvSpPr>
            <p:cNvPr id="17" name="矩形: 圆角 40">
              <a:extLst>
                <a:ext uri="{FF2B5EF4-FFF2-40B4-BE49-F238E27FC236}">
                  <a16:creationId xmlns:a16="http://schemas.microsoft.com/office/drawing/2014/main" id="{57FF1588-584F-6CCF-8E4D-ACAA5D847F7B}"/>
                </a:ext>
              </a:extLst>
            </p:cNvPr>
            <p:cNvSpPr/>
            <p:nvPr/>
          </p:nvSpPr>
          <p:spPr>
            <a:xfrm rot="16200000" flipV="1">
              <a:off x="4265" y="6786"/>
              <a:ext cx="2023" cy="3288"/>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22" name="矩形 21">
              <a:extLst>
                <a:ext uri="{FF2B5EF4-FFF2-40B4-BE49-F238E27FC236}">
                  <a16:creationId xmlns:a16="http://schemas.microsoft.com/office/drawing/2014/main" id="{C7CE5D6D-1331-95F7-B14D-69F1DEC4A353}"/>
                </a:ext>
              </a:extLst>
            </p:cNvPr>
            <p:cNvSpPr/>
            <p:nvPr/>
          </p:nvSpPr>
          <p:spPr>
            <a:xfrm>
              <a:off x="4056" y="6990"/>
              <a:ext cx="2441" cy="725"/>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lvl="0" algn="ctr"/>
              <a:r>
                <a:rPr lang="zh-CN" altLang="en-US" sz="2400" b="1" dirty="0">
                  <a:solidFill>
                    <a:schemeClr val="bg1"/>
                  </a:solidFill>
                </a:rPr>
                <a:t>注意</a:t>
              </a:r>
            </a:p>
          </p:txBody>
        </p:sp>
        <p:sp>
          <p:nvSpPr>
            <p:cNvPr id="25" name="矩形 24">
              <a:extLst>
                <a:ext uri="{FF2B5EF4-FFF2-40B4-BE49-F238E27FC236}">
                  <a16:creationId xmlns:a16="http://schemas.microsoft.com/office/drawing/2014/main" id="{C4BA4533-8480-3426-1642-FAFD9FB15DB4}"/>
                </a:ext>
              </a:extLst>
            </p:cNvPr>
            <p:cNvSpPr/>
            <p:nvPr/>
          </p:nvSpPr>
          <p:spPr>
            <a:xfrm>
              <a:off x="3889" y="7955"/>
              <a:ext cx="2821" cy="1309"/>
            </a:xfrm>
            <a:prstGeom prst="rect">
              <a:avLst/>
            </a:prstGeom>
          </p:spPr>
          <p:txBody>
            <a:bodyPr wrap="square">
              <a:spAutoFit/>
            </a:bodyPr>
            <a:lstStyle/>
            <a:p>
              <a:pPr algn="ctr"/>
              <a:r>
                <a:rPr lang="zh-CN" altLang="en-US" sz="2400" b="1" dirty="0"/>
                <a:t>善于类比</a:t>
              </a:r>
            </a:p>
            <a:p>
              <a:pPr algn="ctr"/>
              <a:r>
                <a:rPr lang="zh-CN" altLang="en-US" sz="2400" b="1" dirty="0"/>
                <a:t>区别异同</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图文框 19"/>
          <p:cNvSpPr/>
          <p:nvPr/>
        </p:nvSpPr>
        <p:spPr>
          <a:xfrm>
            <a:off x="0" y="11150"/>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字魂36号-正文宋楷" panose="00000500000000000000" pitchFamily="2" charset="-122"/>
              <a:ea typeface="字魂36号-正文宋楷" panose="00000500000000000000" pitchFamily="2" charset="-122"/>
              <a:cs typeface="+mn-cs"/>
            </a:endParaRPr>
          </a:p>
        </p:txBody>
      </p:sp>
      <p:pic>
        <p:nvPicPr>
          <p:cNvPr id="19" name="图片 18"/>
          <p:cNvPicPr>
            <a:picLocks noChangeAspect="1"/>
          </p:cNvPicPr>
          <p:nvPr/>
        </p:nvPicPr>
        <p:blipFill rotWithShape="1">
          <a:blip r:embed="rId4" cstate="print">
            <a:extLst>
              <a:ext uri="{28A0092B-C50C-407E-A947-70E740481C1C}">
                <a14:useLocalDpi xmlns:a14="http://schemas.microsoft.com/office/drawing/2010/main" val="0"/>
              </a:ext>
            </a:extLst>
          </a:blip>
          <a:srcRect l="35303" r="7303" b="29466"/>
          <a:stretch>
            <a:fillRect/>
          </a:stretch>
        </p:blipFill>
        <p:spPr>
          <a:xfrm flipH="1">
            <a:off x="0" y="8611"/>
            <a:ext cx="6996430" cy="6860540"/>
          </a:xfrm>
          <a:prstGeom prst="rect">
            <a:avLst/>
          </a:prstGeom>
        </p:spPr>
      </p:pic>
      <p:sp>
        <p:nvSpPr>
          <p:cNvPr id="11" name="Rectangle 1"/>
          <p:cNvSpPr/>
          <p:nvPr/>
        </p:nvSpPr>
        <p:spPr>
          <a:xfrm>
            <a:off x="-6985" y="-47904"/>
            <a:ext cx="12289790" cy="691705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 name="PA-102232"/>
          <p:cNvSpPr/>
          <p:nvPr>
            <p:custDataLst>
              <p:tags r:id="rId1"/>
            </p:custDataLst>
          </p:nvPr>
        </p:nvSpPr>
        <p:spPr>
          <a:xfrm>
            <a:off x="378053" y="250074"/>
            <a:ext cx="11536045" cy="6397625"/>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6BB6"/>
              </a:solidFill>
              <a:effectLst/>
              <a:uLnTx/>
              <a:uFillTx/>
              <a:latin typeface="Calibri"/>
              <a:ea typeface="宋体" panose="02010600030101010101" pitchFamily="2" charset="-122"/>
              <a:cs typeface="+mn-ea"/>
              <a:sym typeface="+mn-lt"/>
            </a:endParaRPr>
          </a:p>
        </p:txBody>
      </p:sp>
      <p:sp>
        <p:nvSpPr>
          <p:cNvPr id="10" name="PA-文本框 8"/>
          <p:cNvSpPr txBox="1"/>
          <p:nvPr>
            <p:custDataLst>
              <p:tags r:id="rId2"/>
            </p:custDataLst>
          </p:nvPr>
        </p:nvSpPr>
        <p:spPr>
          <a:xfrm>
            <a:off x="876000" y="638872"/>
            <a:ext cx="306930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altLang="zh-CN" sz="7200" b="1" i="0" u="none" strike="noStrike" kern="1200" cap="none" spc="0" normalizeH="0" baseline="0" noProof="0" dirty="0">
                <a:ln>
                  <a:noFill/>
                </a:ln>
                <a:solidFill>
                  <a:srgbClr val="1D9D79"/>
                </a:solidFill>
                <a:effectLst/>
                <a:uLnTx/>
                <a:uFillTx/>
                <a:latin typeface="Calisto MT" panose="02040603050505030304" pitchFamily="18" charset="0"/>
                <a:ea typeface="宋体" panose="02010600030101010101" pitchFamily="2" charset="-122"/>
                <a:cs typeface="+mn-ea"/>
                <a:sym typeface="+mn-lt"/>
              </a:rPr>
              <a:t>C</a:t>
            </a:r>
            <a:r>
              <a:rPr kumimoji="1" lang="en-GB" altLang="zh-CN" sz="3200" b="1" i="0" u="none" strike="noStrike" kern="1200" cap="none" spc="0" normalizeH="0" baseline="0" noProof="0" dirty="0">
                <a:ln>
                  <a:noFill/>
                </a:ln>
                <a:solidFill>
                  <a:srgbClr val="1D9D79"/>
                </a:solidFill>
                <a:effectLst/>
                <a:uLnTx/>
                <a:uFillTx/>
                <a:latin typeface="Calisto MT" panose="02040603050505030304" pitchFamily="18" charset="0"/>
                <a:ea typeface="宋体" panose="02010600030101010101" pitchFamily="2" charset="-122"/>
                <a:cs typeface="+mn-ea"/>
                <a:sym typeface="+mn-lt"/>
              </a:rPr>
              <a:t>ONTENTS</a:t>
            </a:r>
          </a:p>
        </p:txBody>
      </p:sp>
      <p:sp>
        <p:nvSpPr>
          <p:cNvPr id="2" name="矩形 1"/>
          <p:cNvSpPr/>
          <p:nvPr/>
        </p:nvSpPr>
        <p:spPr>
          <a:xfrm>
            <a:off x="1769401" y="516286"/>
            <a:ext cx="1515158" cy="707886"/>
          </a:xfrm>
          <a:prstGeom prst="rect">
            <a:avLst/>
          </a:prstGeom>
        </p:spPr>
        <p:txBody>
          <a:bodyPr wrap="non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1D9D79"/>
                </a:solidFill>
                <a:effectLst/>
                <a:uLnTx/>
                <a:uFillTx/>
                <a:latin typeface="微软雅黑" panose="020B0503020204020204" pitchFamily="34" charset="-122"/>
                <a:ea typeface="微软雅黑" panose="020B0503020204020204" pitchFamily="34" charset="-122"/>
                <a:cs typeface="+mn-cs"/>
                <a:sym typeface="+mn-lt"/>
              </a:rPr>
              <a:t>目  录</a:t>
            </a:r>
            <a:endParaRPr kumimoji="1" lang="zh-CN" altLang="en-US" sz="4000" b="1" i="0" u="none" strike="noStrike" kern="1200" cap="none" spc="0" normalizeH="0" baseline="0" noProof="0" dirty="0">
              <a:ln>
                <a:noFill/>
              </a:ln>
              <a:solidFill>
                <a:srgbClr val="1D9D79"/>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p:txBody>
      </p:sp>
      <p:cxnSp>
        <p:nvCxnSpPr>
          <p:cNvPr id="6" name="直接连接符 5"/>
          <p:cNvCxnSpPr/>
          <p:nvPr/>
        </p:nvCxnSpPr>
        <p:spPr>
          <a:xfrm rot="5400000" flipH="1">
            <a:off x="6082748" y="-3357984"/>
            <a:ext cx="26504" cy="10440000"/>
          </a:xfrm>
          <a:prstGeom prst="line">
            <a:avLst/>
          </a:prstGeom>
          <a:ln>
            <a:solidFill>
              <a:srgbClr val="007434"/>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F3975876-371D-E943-BDE0-7053794AE009}"/>
              </a:ext>
            </a:extLst>
          </p:cNvPr>
          <p:cNvSpPr/>
          <p:nvPr/>
        </p:nvSpPr>
        <p:spPr>
          <a:xfrm>
            <a:off x="945202" y="2378656"/>
            <a:ext cx="4152099"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第一节   多元函数的基本概念</a:t>
            </a:r>
          </a:p>
        </p:txBody>
      </p:sp>
      <p:sp>
        <p:nvSpPr>
          <p:cNvPr id="22" name="矩形 21">
            <a:extLst>
              <a:ext uri="{FF2B5EF4-FFF2-40B4-BE49-F238E27FC236}">
                <a16:creationId xmlns:a16="http://schemas.microsoft.com/office/drawing/2014/main" id="{C1657142-156F-BC40-A369-9AC5D1511533}"/>
              </a:ext>
            </a:extLst>
          </p:cNvPr>
          <p:cNvSpPr/>
          <p:nvPr/>
        </p:nvSpPr>
        <p:spPr>
          <a:xfrm>
            <a:off x="945202" y="3144845"/>
            <a:ext cx="2305439" cy="461665"/>
          </a:xfrm>
          <a:prstGeom prst="rect">
            <a:avLst/>
          </a:prstGeom>
        </p:spPr>
        <p:txBody>
          <a:bodyPr wrap="none">
            <a:spAutoFit/>
          </a:bodyPr>
          <a:lstStyle/>
          <a:p>
            <a:r>
              <a:rPr lang="zh-CN" altLang="en-US" sz="2400" b="1" dirty="0">
                <a:solidFill>
                  <a:srgbClr val="007434"/>
                </a:solidFill>
                <a:latin typeface="微软雅黑" panose="020B0503020204020204" pitchFamily="34" charset="-122"/>
                <a:ea typeface="微软雅黑" panose="020B0503020204020204" pitchFamily="34" charset="-122"/>
              </a:rPr>
              <a:t>第三节   全微分</a:t>
            </a:r>
          </a:p>
        </p:txBody>
      </p:sp>
      <p:sp>
        <p:nvSpPr>
          <p:cNvPr id="23" name="矩形 22">
            <a:extLst>
              <a:ext uri="{FF2B5EF4-FFF2-40B4-BE49-F238E27FC236}">
                <a16:creationId xmlns:a16="http://schemas.microsoft.com/office/drawing/2014/main" id="{36321BC7-FF39-1E4C-A373-3F26FDA536D1}"/>
              </a:ext>
            </a:extLst>
          </p:cNvPr>
          <p:cNvSpPr/>
          <p:nvPr/>
        </p:nvSpPr>
        <p:spPr>
          <a:xfrm>
            <a:off x="6146076" y="2378656"/>
            <a:ext cx="2305439"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第二节   偏导数</a:t>
            </a:r>
          </a:p>
        </p:txBody>
      </p:sp>
      <p:sp>
        <p:nvSpPr>
          <p:cNvPr id="25" name="矩形 24">
            <a:extLst>
              <a:ext uri="{FF2B5EF4-FFF2-40B4-BE49-F238E27FC236}">
                <a16:creationId xmlns:a16="http://schemas.microsoft.com/office/drawing/2014/main" id="{D4C3F917-6EB5-AF43-9C27-AC487099C634}"/>
              </a:ext>
            </a:extLst>
          </p:cNvPr>
          <p:cNvSpPr/>
          <p:nvPr/>
        </p:nvSpPr>
        <p:spPr>
          <a:xfrm>
            <a:off x="6146076" y="3144845"/>
            <a:ext cx="5334635" cy="46037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第四节   </a:t>
            </a:r>
            <a:r>
              <a:rPr lang="zh-CN" altLang="en-US" sz="2400" dirty="0">
                <a:latin typeface="微软雅黑" panose="020B0503020204020204" pitchFamily="34" charset="-122"/>
                <a:ea typeface="微软雅黑" panose="020B0503020204020204" pitchFamily="34" charset="-122"/>
                <a:sym typeface="+mn-lt"/>
              </a:rPr>
              <a:t>多元复合函数的求导法则</a:t>
            </a:r>
            <a:endParaRPr lang="zh-CN" altLang="en-US" sz="2400" dirty="0">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02BE5E46-5684-754B-A1A9-127A41F07D2F}"/>
              </a:ext>
            </a:extLst>
          </p:cNvPr>
          <p:cNvSpPr/>
          <p:nvPr/>
        </p:nvSpPr>
        <p:spPr>
          <a:xfrm>
            <a:off x="945202" y="3911034"/>
            <a:ext cx="5203825" cy="46037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第五节   隐函数的</a:t>
            </a:r>
            <a:r>
              <a:rPr lang="zh-CN" altLang="en-US" sz="2400" dirty="0">
                <a:latin typeface="微软雅黑" panose="020B0503020204020204" pitchFamily="34" charset="-122"/>
                <a:ea typeface="微软雅黑" panose="020B0503020204020204" pitchFamily="34" charset="-122"/>
                <a:sym typeface="+mn-lt"/>
              </a:rPr>
              <a:t>求导公式</a:t>
            </a:r>
            <a:endParaRPr lang="zh-CN" altLang="en-US" sz="2400" dirty="0">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C1DB2DEE-225F-E442-8E1E-33456E4415A2}"/>
              </a:ext>
            </a:extLst>
          </p:cNvPr>
          <p:cNvSpPr/>
          <p:nvPr/>
        </p:nvSpPr>
        <p:spPr>
          <a:xfrm>
            <a:off x="945202" y="4675933"/>
            <a:ext cx="3691255" cy="46037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第七节   方向导数与梯度</a:t>
            </a:r>
          </a:p>
        </p:txBody>
      </p:sp>
      <p:sp>
        <p:nvSpPr>
          <p:cNvPr id="34" name="矩形 33">
            <a:extLst>
              <a:ext uri="{FF2B5EF4-FFF2-40B4-BE49-F238E27FC236}">
                <a16:creationId xmlns:a16="http://schemas.microsoft.com/office/drawing/2014/main" id="{F624D60B-0ECD-E147-8CE1-4C5B182862BE}"/>
              </a:ext>
            </a:extLst>
          </p:cNvPr>
          <p:cNvSpPr/>
          <p:nvPr/>
        </p:nvSpPr>
        <p:spPr>
          <a:xfrm>
            <a:off x="6146076" y="3909744"/>
            <a:ext cx="5075428"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第六节   </a:t>
            </a:r>
            <a:r>
              <a:rPr kumimoji="1" lang="zh-CN" altLang="en-US" sz="2400" dirty="0">
                <a:latin typeface="微软雅黑" panose="020B0503020204020204" pitchFamily="34" charset="-122"/>
                <a:ea typeface="微软雅黑" panose="020B0503020204020204" pitchFamily="34" charset="-122"/>
              </a:rPr>
              <a:t>多元函数微分学的几何应用</a:t>
            </a:r>
            <a:endParaRPr lang="zh-CN" altLang="en-US" sz="2400" dirty="0">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C98B4882-32F6-3E47-B43D-2E381BD7331B}"/>
              </a:ext>
            </a:extLst>
          </p:cNvPr>
          <p:cNvSpPr/>
          <p:nvPr/>
        </p:nvSpPr>
        <p:spPr>
          <a:xfrm>
            <a:off x="6146076" y="4675933"/>
            <a:ext cx="5601335" cy="46037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第八节   </a:t>
            </a:r>
            <a:r>
              <a:rPr lang="zh-CN" altLang="en-US" sz="2400" dirty="0">
                <a:solidFill>
                  <a:srgbClr val="000000"/>
                </a:solidFill>
                <a:latin typeface="Times New Roman" panose="02020603050405020304" pitchFamily="18" charset="0"/>
                <a:ea typeface="微软雅黑" panose="020B0503020204020204" pitchFamily="34" charset="-122"/>
              </a:rPr>
              <a:t>多元函数的极值及其求法</a:t>
            </a:r>
            <a:endParaRPr lang="zh-CN" altLang="en-US" sz="2400" dirty="0">
              <a:latin typeface="微软雅黑" panose="020B0503020204020204" pitchFamily="34" charset="-122"/>
              <a:ea typeface="微软雅黑" panose="020B0503020204020204" pitchFamily="34" charset="-122"/>
            </a:endParaRPr>
          </a:p>
        </p:txBody>
      </p:sp>
      <p:sp>
        <p:nvSpPr>
          <p:cNvPr id="36" name="矩形 35">
            <a:extLst>
              <a:ext uri="{FF2B5EF4-FFF2-40B4-BE49-F238E27FC236}">
                <a16:creationId xmlns:a16="http://schemas.microsoft.com/office/drawing/2014/main" id="{AE00EF9C-1D20-A540-B9A1-9EA25E112FAE}"/>
              </a:ext>
            </a:extLst>
          </p:cNvPr>
          <p:cNvSpPr/>
          <p:nvPr/>
        </p:nvSpPr>
        <p:spPr>
          <a:xfrm>
            <a:off x="945202" y="5440831"/>
            <a:ext cx="4906010" cy="46166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第九节   二元函数的泰勒公式</a:t>
            </a:r>
          </a:p>
        </p:txBody>
      </p:sp>
      <p:sp>
        <p:nvSpPr>
          <p:cNvPr id="37" name="矩形 36">
            <a:extLst>
              <a:ext uri="{FF2B5EF4-FFF2-40B4-BE49-F238E27FC236}">
                <a16:creationId xmlns:a16="http://schemas.microsoft.com/office/drawing/2014/main" id="{9AA557CA-A43B-FE4D-AEC3-A535128611AD}"/>
              </a:ext>
            </a:extLst>
          </p:cNvPr>
          <p:cNvSpPr/>
          <p:nvPr/>
        </p:nvSpPr>
        <p:spPr>
          <a:xfrm>
            <a:off x="6146076" y="5440831"/>
            <a:ext cx="5481955" cy="46037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第十节   最小二乘法</a:t>
            </a:r>
          </a:p>
        </p:txBody>
      </p:sp>
      <p:sp>
        <p:nvSpPr>
          <p:cNvPr id="24" name="矩形 23">
            <a:extLst>
              <a:ext uri="{FF2B5EF4-FFF2-40B4-BE49-F238E27FC236}">
                <a16:creationId xmlns:a16="http://schemas.microsoft.com/office/drawing/2014/main" id="{185AADE9-7329-0D46-8E21-74C0FC130A9E}"/>
              </a:ext>
            </a:extLst>
          </p:cNvPr>
          <p:cNvSpPr/>
          <p:nvPr/>
        </p:nvSpPr>
        <p:spPr>
          <a:xfrm>
            <a:off x="5157282" y="691154"/>
            <a:ext cx="1877437" cy="769441"/>
          </a:xfrm>
          <a:prstGeom prst="rect">
            <a:avLst/>
          </a:prstGeom>
        </p:spPr>
        <p:txBody>
          <a:bodyPr wrap="non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1D9D79"/>
                </a:solidFill>
                <a:effectLst/>
                <a:uLnTx/>
                <a:uFillTx/>
                <a:latin typeface="微软雅黑" panose="020B0503020204020204" pitchFamily="34" charset="-122"/>
                <a:ea typeface="微软雅黑" panose="020B0503020204020204" pitchFamily="34" charset="-122"/>
                <a:cs typeface="+mn-cs"/>
                <a:sym typeface="+mn-lt"/>
              </a:rPr>
              <a:t>第</a:t>
            </a:r>
            <a:r>
              <a:rPr lang="zh-CN" altLang="en-US" sz="4400" b="1" dirty="0">
                <a:solidFill>
                  <a:srgbClr val="1D9D79"/>
                </a:solidFill>
                <a:latin typeface="微软雅黑" panose="020B0503020204020204" pitchFamily="34" charset="-122"/>
                <a:ea typeface="微软雅黑" panose="020B0503020204020204" pitchFamily="34" charset="-122"/>
                <a:sym typeface="+mn-lt"/>
              </a:rPr>
              <a:t>九</a:t>
            </a:r>
            <a:r>
              <a:rPr kumimoji="0" lang="zh-CN" altLang="en-US" sz="4400" b="1" i="0" u="none" strike="noStrike" kern="1200" cap="none" spc="0" normalizeH="0" baseline="0" noProof="0" dirty="0">
                <a:ln>
                  <a:noFill/>
                </a:ln>
                <a:solidFill>
                  <a:srgbClr val="1D9D79"/>
                </a:solidFill>
                <a:effectLst/>
                <a:uLnTx/>
                <a:uFillTx/>
                <a:latin typeface="微软雅黑" panose="020B0503020204020204" pitchFamily="34" charset="-122"/>
                <a:ea typeface="微软雅黑" panose="020B0503020204020204" pitchFamily="34" charset="-122"/>
                <a:cs typeface="+mn-cs"/>
                <a:sym typeface="+mn-lt"/>
              </a:rPr>
              <a:t>章</a:t>
            </a:r>
            <a:endParaRPr kumimoji="1" lang="zh-CN" altLang="en-US" sz="4400" b="1" i="0" u="none" strike="noStrike" kern="1200" cap="none" spc="0" normalizeH="0" baseline="0" noProof="0" dirty="0">
              <a:ln>
                <a:noFill/>
              </a:ln>
              <a:solidFill>
                <a:srgbClr val="1D9D79"/>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494919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F2A10CEB-5CA9-4551-5EE7-D195BAB94096}"/>
              </a:ext>
            </a:extLst>
          </p:cNvPr>
          <p:cNvGrpSpPr/>
          <p:nvPr/>
        </p:nvGrpSpPr>
        <p:grpSpPr>
          <a:xfrm>
            <a:off x="-6985" y="-47904"/>
            <a:ext cx="12289790" cy="6917055"/>
            <a:chOff x="-6985" y="-47904"/>
            <a:chExt cx="12289790" cy="6917055"/>
          </a:xfrm>
        </p:grpSpPr>
        <p:sp>
          <p:nvSpPr>
            <p:cNvPr id="7" name="图文框 6">
              <a:extLst>
                <a:ext uri="{FF2B5EF4-FFF2-40B4-BE49-F238E27FC236}">
                  <a16:creationId xmlns:a16="http://schemas.microsoft.com/office/drawing/2014/main" id="{3CA61783-234C-EFE9-EC35-35C4F7127CF9}"/>
                </a:ext>
              </a:extLst>
            </p:cNvPr>
            <p:cNvSpPr/>
            <p:nvPr/>
          </p:nvSpPr>
          <p:spPr>
            <a:xfrm>
              <a:off x="0" y="11150"/>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pic>
          <p:nvPicPr>
            <p:cNvPr id="13" name="图片 12">
              <a:extLst>
                <a:ext uri="{FF2B5EF4-FFF2-40B4-BE49-F238E27FC236}">
                  <a16:creationId xmlns:a16="http://schemas.microsoft.com/office/drawing/2014/main" id="{9949B233-E9E5-C6C4-356E-99FC6DEEA75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5303" r="7303" b="29466"/>
            <a:stretch>
              <a:fillRect/>
            </a:stretch>
          </p:blipFill>
          <p:spPr>
            <a:xfrm flipH="1">
              <a:off x="0" y="8611"/>
              <a:ext cx="6996430" cy="6860540"/>
            </a:xfrm>
            <a:prstGeom prst="rect">
              <a:avLst/>
            </a:prstGeom>
          </p:spPr>
        </p:pic>
        <p:sp>
          <p:nvSpPr>
            <p:cNvPr id="14" name="Rectangle 1">
              <a:extLst>
                <a:ext uri="{FF2B5EF4-FFF2-40B4-BE49-F238E27FC236}">
                  <a16:creationId xmlns:a16="http://schemas.microsoft.com/office/drawing/2014/main" id="{85486088-4289-7ED4-3CCB-07E732450E04}"/>
                </a:ext>
              </a:extLst>
            </p:cNvPr>
            <p:cNvSpPr/>
            <p:nvPr/>
          </p:nvSpPr>
          <p:spPr>
            <a:xfrm>
              <a:off x="-6985" y="-47904"/>
              <a:ext cx="12289790" cy="691705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16" name="PA-102232">
            <a:extLst>
              <a:ext uri="{FF2B5EF4-FFF2-40B4-BE49-F238E27FC236}">
                <a16:creationId xmlns:a16="http://schemas.microsoft.com/office/drawing/2014/main" id="{FA395C5F-797D-7C0F-0C0A-391EC34DE262}"/>
              </a:ext>
            </a:extLst>
          </p:cNvPr>
          <p:cNvSpPr/>
          <p:nvPr>
            <p:custDataLst>
              <p:tags r:id="rId1"/>
            </p:custDataLst>
          </p:nvPr>
        </p:nvSpPr>
        <p:spPr>
          <a:xfrm>
            <a:off x="369888" y="1731523"/>
            <a:ext cx="11536045" cy="3589507"/>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sp>
        <p:nvSpPr>
          <p:cNvPr id="6" name="Text Box 62"/>
          <p:cNvSpPr txBox="1">
            <a:spLocks noChangeArrowheads="1"/>
          </p:cNvSpPr>
          <p:nvPr/>
        </p:nvSpPr>
        <p:spPr bwMode="auto">
          <a:xfrm>
            <a:off x="4650733" y="686345"/>
            <a:ext cx="2890535" cy="584775"/>
          </a:xfrm>
          <a:prstGeom prst="rect">
            <a:avLst/>
          </a:prstGeom>
          <a:noFill/>
          <a:ln>
            <a:noFill/>
          </a:ln>
          <a:effectLst/>
        </p:spPr>
        <p:txBody>
          <a:bodyPr wrap="none">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第三节  全微分</a:t>
            </a:r>
            <a:endParaRPr lang="en-US" altLang="zh-CN" sz="3200" b="1" dirty="0">
              <a:solidFill>
                <a:schemeClr val="bg1"/>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386D9470-445D-1A4E-8C79-4FABC6F415EB}"/>
              </a:ext>
            </a:extLst>
          </p:cNvPr>
          <p:cNvGrpSpPr/>
          <p:nvPr/>
        </p:nvGrpSpPr>
        <p:grpSpPr>
          <a:xfrm>
            <a:off x="3115100" y="2320980"/>
            <a:ext cx="5961800" cy="901065"/>
            <a:chOff x="3977909" y="1027773"/>
            <a:chExt cx="5961800" cy="901065"/>
          </a:xfrm>
        </p:grpSpPr>
        <p:sp>
          <p:nvSpPr>
            <p:cNvPr id="4" name="矩形: 圆角 40">
              <a:extLst>
                <a:ext uri="{FF2B5EF4-FFF2-40B4-BE49-F238E27FC236}">
                  <a16:creationId xmlns:a16="http://schemas.microsoft.com/office/drawing/2014/main" id="{0AFCECA3-3830-4C31-F876-EF09B7116080}"/>
                </a:ext>
              </a:extLst>
            </p:cNvPr>
            <p:cNvSpPr/>
            <p:nvPr/>
          </p:nvSpPr>
          <p:spPr>
            <a:xfrm flipV="1">
              <a:off x="3977909" y="1027773"/>
              <a:ext cx="5961800" cy="901065"/>
            </a:xfrm>
            <a:prstGeom prst="roundRect">
              <a:avLst>
                <a:gd name="adj" fmla="val 6487"/>
              </a:avLst>
            </a:prstGeom>
            <a:solidFill>
              <a:srgbClr val="FFFFFF"/>
            </a:solidFill>
            <a:ln w="19050" cap="flat" cmpd="sng" algn="ctr">
              <a:gradFill flip="none" rotWithShape="1">
                <a:gsLst>
                  <a:gs pos="0">
                    <a:srgbClr val="058C79"/>
                  </a:gs>
                  <a:gs pos="100000">
                    <a:schemeClr val="bg1"/>
                  </a:gs>
                </a:gsLst>
                <a:lin ang="0" scaled="1"/>
                <a:tileRect/>
              </a:gradFill>
              <a:prstDash val="solid"/>
              <a:miter lim="800000"/>
            </a:ln>
            <a:effectLst>
              <a:outerShdw blurRad="63500" dist="38100" dir="2280000" algn="tl" rotWithShape="0">
                <a:prstClr val="black">
                  <a:alpha val="45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5" name="矩形 4">
              <a:extLst>
                <a:ext uri="{FF2B5EF4-FFF2-40B4-BE49-F238E27FC236}">
                  <a16:creationId xmlns:a16="http://schemas.microsoft.com/office/drawing/2014/main" id="{DFF17138-8605-1774-D008-6AE81E15D8D9}"/>
                </a:ext>
              </a:extLst>
            </p:cNvPr>
            <p:cNvSpPr/>
            <p:nvPr/>
          </p:nvSpPr>
          <p:spPr>
            <a:xfrm>
              <a:off x="4304152" y="1217006"/>
              <a:ext cx="3057247"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一、全微分</a:t>
              </a:r>
              <a:r>
                <a:rPr lang="zh-CN" altLang="en-US" sz="2800" b="1" dirty="0">
                  <a:latin typeface="微软雅黑" panose="020B0503020204020204" pitchFamily="34" charset="-122"/>
                  <a:ea typeface="微软雅黑" panose="020B0503020204020204" pitchFamily="34" charset="-122"/>
                  <a:sym typeface="+mn-lt"/>
                </a:rPr>
                <a:t>的定义</a:t>
              </a:r>
              <a:endParaRPr lang="zh-CN" altLang="en-US" sz="2800" b="1" dirty="0">
                <a:latin typeface="微软雅黑" panose="020B0503020204020204" pitchFamily="34" charset="-122"/>
                <a:ea typeface="微软雅黑" panose="020B0503020204020204" pitchFamily="34" charset="-122"/>
              </a:endParaRPr>
            </a:p>
          </p:txBody>
        </p:sp>
      </p:grpSp>
      <p:grpSp>
        <p:nvGrpSpPr>
          <p:cNvPr id="8" name="组合 7">
            <a:extLst>
              <a:ext uri="{FF2B5EF4-FFF2-40B4-BE49-F238E27FC236}">
                <a16:creationId xmlns:a16="http://schemas.microsoft.com/office/drawing/2014/main" id="{585AC671-4239-4442-839D-0B10800C5DE4}"/>
              </a:ext>
            </a:extLst>
          </p:cNvPr>
          <p:cNvGrpSpPr/>
          <p:nvPr/>
        </p:nvGrpSpPr>
        <p:grpSpPr>
          <a:xfrm>
            <a:off x="3115100" y="3756601"/>
            <a:ext cx="5961801" cy="901065"/>
            <a:chOff x="3977909" y="2138089"/>
            <a:chExt cx="5961801" cy="901065"/>
          </a:xfrm>
        </p:grpSpPr>
        <p:sp>
          <p:nvSpPr>
            <p:cNvPr id="22" name="矩形: 圆角 40">
              <a:extLst>
                <a:ext uri="{FF2B5EF4-FFF2-40B4-BE49-F238E27FC236}">
                  <a16:creationId xmlns:a16="http://schemas.microsoft.com/office/drawing/2014/main" id="{2AFCDF72-0B32-3B23-3BEA-A6D0061312B5}"/>
                </a:ext>
              </a:extLst>
            </p:cNvPr>
            <p:cNvSpPr/>
            <p:nvPr/>
          </p:nvSpPr>
          <p:spPr>
            <a:xfrm flipV="1">
              <a:off x="3977909" y="2138089"/>
              <a:ext cx="5961801" cy="901065"/>
            </a:xfrm>
            <a:prstGeom prst="roundRect">
              <a:avLst>
                <a:gd name="adj" fmla="val 6487"/>
              </a:avLst>
            </a:prstGeom>
            <a:solidFill>
              <a:srgbClr val="FFFFFF"/>
            </a:solidFill>
            <a:ln w="19050" cap="flat" cmpd="sng" algn="ctr">
              <a:gradFill flip="none" rotWithShape="1">
                <a:gsLst>
                  <a:gs pos="0">
                    <a:srgbClr val="058C79"/>
                  </a:gs>
                  <a:gs pos="100000">
                    <a:schemeClr val="bg1"/>
                  </a:gs>
                </a:gsLst>
                <a:lin ang="0" scaled="1"/>
                <a:tileRect/>
              </a:gradFill>
              <a:prstDash val="solid"/>
              <a:miter lim="800000"/>
            </a:ln>
            <a:effectLst>
              <a:outerShdw blurRad="63500" dist="38100" dir="2280000" algn="tl" rotWithShape="0">
                <a:prstClr val="black">
                  <a:alpha val="45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23" name="矩形 22">
              <a:extLst>
                <a:ext uri="{FF2B5EF4-FFF2-40B4-BE49-F238E27FC236}">
                  <a16:creationId xmlns:a16="http://schemas.microsoft.com/office/drawing/2014/main" id="{39FFA758-C763-F6DD-43E6-7491515A6524}"/>
                </a:ext>
              </a:extLst>
            </p:cNvPr>
            <p:cNvSpPr/>
            <p:nvPr/>
          </p:nvSpPr>
          <p:spPr>
            <a:xfrm>
              <a:off x="4218088" y="2327323"/>
              <a:ext cx="5386411" cy="523220"/>
            </a:xfrm>
            <a:prstGeom prst="rect">
              <a:avLst/>
            </a:prstGeom>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mn-lt"/>
                </a:rPr>
                <a:t>*</a:t>
              </a: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lt"/>
                </a:rPr>
                <a:t>全微分在数值计算中的应用</a:t>
              </a:r>
              <a:endParaRPr lang="zh-CN" altLang="en-US" sz="28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679463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a:extLst>
              <a:ext uri="{FF2B5EF4-FFF2-40B4-BE49-F238E27FC236}">
                <a16:creationId xmlns:a16="http://schemas.microsoft.com/office/drawing/2014/main" id="{35BF8659-A600-0E1F-2EB0-3738289A09A0}"/>
              </a:ext>
            </a:extLst>
          </p:cNvPr>
          <p:cNvGrpSpPr/>
          <p:nvPr/>
        </p:nvGrpSpPr>
        <p:grpSpPr>
          <a:xfrm>
            <a:off x="0" y="0"/>
            <a:ext cx="12192000" cy="6858000"/>
            <a:chOff x="0" y="0"/>
            <a:chExt cx="12192000" cy="6858000"/>
          </a:xfrm>
        </p:grpSpPr>
        <p:sp>
          <p:nvSpPr>
            <p:cNvPr id="29" name="Rectangle 1">
              <a:extLst>
                <a:ext uri="{FF2B5EF4-FFF2-40B4-BE49-F238E27FC236}">
                  <a16:creationId xmlns:a16="http://schemas.microsoft.com/office/drawing/2014/main" id="{C52DDE69-44AB-E254-B56B-5191DBBCB384}"/>
                </a:ext>
              </a:extLst>
            </p:cNvPr>
            <p:cNvSpPr/>
            <p:nvPr/>
          </p:nvSpPr>
          <p:spPr>
            <a:xfrm>
              <a:off x="0" y="0"/>
              <a:ext cx="12192000" cy="685800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0" name="圆角矩形 2">
              <a:extLst>
                <a:ext uri="{FF2B5EF4-FFF2-40B4-BE49-F238E27FC236}">
                  <a16:creationId xmlns:a16="http://schemas.microsoft.com/office/drawing/2014/main" id="{87E96AE0-F365-13A9-2D72-28D5CB9ED3CB}"/>
                </a:ext>
              </a:extLst>
            </p:cNvPr>
            <p:cNvSpPr/>
            <p:nvPr/>
          </p:nvSpPr>
          <p:spPr>
            <a:xfrm>
              <a:off x="224790" y="196850"/>
              <a:ext cx="11743055" cy="6456045"/>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1" name="组合 30">
              <a:extLst>
                <a:ext uri="{FF2B5EF4-FFF2-40B4-BE49-F238E27FC236}">
                  <a16:creationId xmlns:a16="http://schemas.microsoft.com/office/drawing/2014/main" id="{8C367187-6A82-4915-2205-519944CC0F7D}"/>
                </a:ext>
              </a:extLst>
            </p:cNvPr>
            <p:cNvGrpSpPr/>
            <p:nvPr/>
          </p:nvGrpSpPr>
          <p:grpSpPr>
            <a:xfrm>
              <a:off x="228600" y="236182"/>
              <a:ext cx="11771970" cy="6421275"/>
              <a:chOff x="228600" y="236182"/>
              <a:chExt cx="11771970" cy="6421275"/>
            </a:xfrm>
          </p:grpSpPr>
          <p:sp>
            <p:nvSpPr>
              <p:cNvPr id="32" name="Rectangle 1">
                <a:extLst>
                  <a:ext uri="{FF2B5EF4-FFF2-40B4-BE49-F238E27FC236}">
                    <a16:creationId xmlns:a16="http://schemas.microsoft.com/office/drawing/2014/main" id="{FA90ACF4-64A8-FC9C-A2C5-E06E9DD834DF}"/>
                  </a:ext>
                </a:extLst>
              </p:cNvPr>
              <p:cNvSpPr/>
              <p:nvPr/>
            </p:nvSpPr>
            <p:spPr>
              <a:xfrm>
                <a:off x="364173" y="6462830"/>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3" name="Rectangle 1">
                <a:extLst>
                  <a:ext uri="{FF2B5EF4-FFF2-40B4-BE49-F238E27FC236}">
                    <a16:creationId xmlns:a16="http://schemas.microsoft.com/office/drawing/2014/main" id="{8D0FFCC1-8B81-CB9B-CC64-791BF25FA21A}"/>
                  </a:ext>
                </a:extLst>
              </p:cNvPr>
              <p:cNvSpPr/>
              <p:nvPr/>
            </p:nvSpPr>
            <p:spPr>
              <a:xfrm rot="2659048">
                <a:off x="8838055" y="320052"/>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34" name="矩形 33">
                <a:extLst>
                  <a:ext uri="{FF2B5EF4-FFF2-40B4-BE49-F238E27FC236}">
                    <a16:creationId xmlns:a16="http://schemas.microsoft.com/office/drawing/2014/main" id="{842BD0DD-ED7B-B989-4063-2E34724C532C}"/>
                  </a:ext>
                </a:extLst>
              </p:cNvPr>
              <p:cNvSpPr/>
              <p:nvPr/>
            </p:nvSpPr>
            <p:spPr>
              <a:xfrm>
                <a:off x="543503" y="6349680"/>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p>
            </p:txBody>
          </p:sp>
          <p:sp>
            <p:nvSpPr>
              <p:cNvPr id="35" name="矩形 34">
                <a:extLst>
                  <a:ext uri="{FF2B5EF4-FFF2-40B4-BE49-F238E27FC236}">
                    <a16:creationId xmlns:a16="http://schemas.microsoft.com/office/drawing/2014/main" id="{50ECCC3E-24C0-AB01-9C6B-DD2C15EF1092}"/>
                  </a:ext>
                </a:extLst>
              </p:cNvPr>
              <p:cNvSpPr/>
              <p:nvPr/>
            </p:nvSpPr>
            <p:spPr>
              <a:xfrm>
                <a:off x="9055533" y="236182"/>
                <a:ext cx="2945037"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多元函数微分法及其应用</a:t>
                </a:r>
              </a:p>
            </p:txBody>
          </p:sp>
          <p:cxnSp>
            <p:nvCxnSpPr>
              <p:cNvPr id="36" name="直接连接符 35">
                <a:extLst>
                  <a:ext uri="{FF2B5EF4-FFF2-40B4-BE49-F238E27FC236}">
                    <a16:creationId xmlns:a16="http://schemas.microsoft.com/office/drawing/2014/main" id="{FC0C2D81-5381-9B29-7666-11B00C6CCF76}"/>
                  </a:ext>
                </a:extLst>
              </p:cNvPr>
              <p:cNvCxnSpPr>
                <a:cxnSpLocks/>
              </p:cNvCxnSpPr>
              <p:nvPr/>
            </p:nvCxnSpPr>
            <p:spPr>
              <a:xfrm>
                <a:off x="228600" y="390070"/>
                <a:ext cx="8388000"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36CBC6E-9E05-F1CC-3C34-AECF58AF786E}"/>
                  </a:ext>
                </a:extLst>
              </p:cNvPr>
              <p:cNvCxnSpPr>
                <a:cxnSpLocks/>
              </p:cNvCxnSpPr>
              <p:nvPr/>
            </p:nvCxnSpPr>
            <p:spPr>
              <a:xfrm>
                <a:off x="2047875" y="6503568"/>
                <a:ext cx="989402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sp>
        <p:nvSpPr>
          <p:cNvPr id="2" name="Rectangle 27">
            <a:extLst>
              <a:ext uri="{FF2B5EF4-FFF2-40B4-BE49-F238E27FC236}">
                <a16:creationId xmlns:a16="http://schemas.microsoft.com/office/drawing/2014/main" id="{11CDA684-1D57-C6D1-91D7-4F952D1E8E53}"/>
              </a:ext>
            </a:extLst>
          </p:cNvPr>
          <p:cNvSpPr txBox="1">
            <a:spLocks noChangeArrowheads="1"/>
          </p:cNvSpPr>
          <p:nvPr/>
        </p:nvSpPr>
        <p:spPr>
          <a:xfrm>
            <a:off x="1226806" y="619963"/>
            <a:ext cx="3886200" cy="60960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rgbClr val="04926A"/>
                </a:solidFill>
                <a:latin typeface="微软雅黑" panose="020B0503020204020204" pitchFamily="34" charset="-122"/>
                <a:ea typeface="微软雅黑" panose="020B0503020204020204" pitchFamily="34" charset="-122"/>
                <a:cs typeface="+mn-cs"/>
              </a:rPr>
              <a:t>一、全微分的定义</a:t>
            </a:r>
          </a:p>
        </p:txBody>
      </p:sp>
      <p:sp>
        <p:nvSpPr>
          <p:cNvPr id="3" name="右箭头 11">
            <a:extLst>
              <a:ext uri="{FF2B5EF4-FFF2-40B4-BE49-F238E27FC236}">
                <a16:creationId xmlns:a16="http://schemas.microsoft.com/office/drawing/2014/main" id="{913E55CE-89E3-8C41-5CFF-9D67E77C9242}"/>
              </a:ext>
            </a:extLst>
          </p:cNvPr>
          <p:cNvSpPr/>
          <p:nvPr/>
        </p:nvSpPr>
        <p:spPr>
          <a:xfrm>
            <a:off x="5581985" y="3288829"/>
            <a:ext cx="4666806" cy="1022166"/>
          </a:xfrm>
          <a:prstGeom prst="rightArrow">
            <a:avLst>
              <a:gd name="adj1" fmla="val 50000"/>
              <a:gd name="adj2" fmla="val 57680"/>
            </a:avLst>
          </a:prstGeom>
          <a:solidFill>
            <a:srgbClr val="04926A">
              <a:alpha val="20000"/>
            </a:srgbClr>
          </a:solidFill>
          <a:ln>
            <a:solidFill>
              <a:srgbClr val="0492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solidFill>
                  <a:srgbClr val="04926A"/>
                </a:solidFill>
                <a:latin typeface="Cambria Math" panose="02040503050406030204" charset="0"/>
                <a:ea typeface="黑体" panose="02010609060101010101" pitchFamily="49" charset="-122"/>
              </a:rPr>
              <a:t>先引出多元函数的增量</a:t>
            </a:r>
          </a:p>
        </p:txBody>
      </p:sp>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5099E42D-2550-C7A2-7A58-8D0929AD093A}"/>
                  </a:ext>
                </a:extLst>
              </p:cNvPr>
              <p:cNvSpPr txBox="1"/>
              <p:nvPr/>
            </p:nvSpPr>
            <p:spPr>
              <a:xfrm>
                <a:off x="3240087" y="2041625"/>
                <a:ext cx="5965227" cy="431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一元函数</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微分与增量的关系</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5099E42D-2550-C7A2-7A58-8D0929AD093A}"/>
                  </a:ext>
                </a:extLst>
              </p:cNvPr>
              <p:cNvSpPr txBox="1">
                <a:spLocks noRot="1" noChangeAspect="1" noMove="1" noResize="1" noEditPoints="1" noAdjustHandles="1" noChangeArrowheads="1" noChangeShapeType="1" noTextEdit="1"/>
              </p:cNvSpPr>
              <p:nvPr/>
            </p:nvSpPr>
            <p:spPr>
              <a:xfrm>
                <a:off x="3240087" y="2041625"/>
                <a:ext cx="5965227" cy="431800"/>
              </a:xfrm>
              <a:prstGeom prst="rect">
                <a:avLst/>
              </a:prstGeom>
              <a:blipFill>
                <a:blip r:embed="rId2"/>
                <a:stretch>
                  <a:fillRect b="-9859"/>
                </a:stretch>
              </a:blipFill>
            </p:spPr>
            <p:txBody>
              <a:bodyPr/>
              <a:lstStyle/>
              <a:p>
                <a:r>
                  <a:rPr lang="zh-CN" altLang="en-US">
                    <a:noFill/>
                  </a:rPr>
                  <a:t> </a:t>
                </a:r>
              </a:p>
            </p:txBody>
          </p:sp>
        </mc:Fallback>
      </mc:AlternateContent>
      <p:sp>
        <p:nvSpPr>
          <p:cNvPr id="6" name="Rectangle 2">
            <a:extLst>
              <a:ext uri="{FF2B5EF4-FFF2-40B4-BE49-F238E27FC236}">
                <a16:creationId xmlns:a16="http://schemas.microsoft.com/office/drawing/2014/main" id="{A4E8F50D-3ED3-51A8-45F2-D5BD643AD998}"/>
              </a:ext>
            </a:extLst>
          </p:cNvPr>
          <p:cNvSpPr txBox="1">
            <a:spLocks noChangeArrowheads="1"/>
          </p:cNvSpPr>
          <p:nvPr/>
        </p:nvSpPr>
        <p:spPr>
          <a:xfrm>
            <a:off x="1651202" y="1311704"/>
            <a:ext cx="3134158"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1. </a:t>
            </a:r>
            <a:r>
              <a:rPr kumimoji="1" lang="zh-CN" altLang="en-US" dirty="0">
                <a:solidFill>
                  <a:srgbClr val="04926A"/>
                </a:solidFill>
                <a:latin typeface="微软雅黑" panose="020B0503020204020204" pitchFamily="34" charset="-122"/>
                <a:ea typeface="微软雅黑" panose="020B0503020204020204" pitchFamily="34" charset="-122"/>
                <a:cs typeface="+mn-cs"/>
              </a:rPr>
              <a:t>二元函数的增量</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7" name="Object 5">
                <a:extLst>
                  <a:ext uri="{FF2B5EF4-FFF2-40B4-BE49-F238E27FC236}">
                    <a16:creationId xmlns:a16="http://schemas.microsoft.com/office/drawing/2014/main" id="{8EF399AE-4F55-C93A-2B87-85AE6C333FDF}"/>
                  </a:ext>
                </a:extLst>
              </p:cNvPr>
              <p:cNvSpPr txBox="1"/>
              <p:nvPr/>
            </p:nvSpPr>
            <p:spPr bwMode="auto">
              <a:xfrm>
                <a:off x="3240087" y="2695500"/>
                <a:ext cx="4941945" cy="431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b>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sub>
                      </m:sSub>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b>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sub>
                      </m:sSub>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Object 5">
                <a:extLst>
                  <a:ext uri="{FF2B5EF4-FFF2-40B4-BE49-F238E27FC236}">
                    <a16:creationId xmlns:a16="http://schemas.microsoft.com/office/drawing/2014/main" id="{8EF399AE-4F55-C93A-2B87-85AE6C333FDF}"/>
                  </a:ext>
                </a:extLst>
              </p:cNvPr>
              <p:cNvSpPr txBox="1">
                <a:spLocks noRot="1" noChangeAspect="1" noMove="1" noResize="1" noEditPoints="1" noAdjustHandles="1" noChangeArrowheads="1" noChangeShapeType="1" noTextEdit="1"/>
              </p:cNvSpPr>
              <p:nvPr/>
            </p:nvSpPr>
            <p:spPr bwMode="auto">
              <a:xfrm>
                <a:off x="3240087" y="2695500"/>
                <a:ext cx="4941945" cy="431800"/>
              </a:xfrm>
              <a:prstGeom prst="rect">
                <a:avLst/>
              </a:prstGeom>
              <a:blipFill>
                <a:blip r:embed="rId3"/>
                <a:stretch>
                  <a:fillRect b="-985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对象 7">
                <a:extLst>
                  <a:ext uri="{FF2B5EF4-FFF2-40B4-BE49-F238E27FC236}">
                    <a16:creationId xmlns:a16="http://schemas.microsoft.com/office/drawing/2014/main" id="{09FC0FFB-F90B-CD7C-5F74-DC00DE9F4D53}"/>
                  </a:ext>
                </a:extLst>
              </p:cNvPr>
              <p:cNvSpPr txBox="1"/>
              <p:nvPr/>
            </p:nvSpPr>
            <p:spPr>
              <a:xfrm>
                <a:off x="3240087" y="3532676"/>
                <a:ext cx="2341898" cy="431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设</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8" name="对象 7">
                <a:extLst>
                  <a:ext uri="{FF2B5EF4-FFF2-40B4-BE49-F238E27FC236}">
                    <a16:creationId xmlns:a16="http://schemas.microsoft.com/office/drawing/2014/main" id="{09FC0FFB-F90B-CD7C-5F74-DC00DE9F4D53}"/>
                  </a:ext>
                </a:extLst>
              </p:cNvPr>
              <p:cNvSpPr txBox="1">
                <a:spLocks noRot="1" noChangeAspect="1" noMove="1" noResize="1" noEditPoints="1" noAdjustHandles="1" noChangeArrowheads="1" noChangeShapeType="1" noTextEdit="1"/>
              </p:cNvSpPr>
              <p:nvPr/>
            </p:nvSpPr>
            <p:spPr>
              <a:xfrm>
                <a:off x="3240087" y="3532676"/>
                <a:ext cx="2341898" cy="431800"/>
              </a:xfrm>
              <a:prstGeom prst="rect">
                <a:avLst/>
              </a:prstGeom>
              <a:blipFill>
                <a:blip r:embed="rId4"/>
                <a:stretch>
                  <a:fillRect b="-10000"/>
                </a:stretch>
              </a:blipFill>
            </p:spPr>
            <p:txBody>
              <a:bodyPr/>
              <a:lstStyle/>
              <a:p>
                <a:r>
                  <a:rPr lang="zh-CN" altLang="en-US">
                    <a:noFill/>
                  </a:rPr>
                  <a:t> </a:t>
                </a:r>
              </a:p>
            </p:txBody>
          </p:sp>
        </mc:Fallback>
      </mc:AlternateContent>
      <p:grpSp>
        <p:nvGrpSpPr>
          <p:cNvPr id="19" name="组合 18">
            <a:extLst>
              <a:ext uri="{FF2B5EF4-FFF2-40B4-BE49-F238E27FC236}">
                <a16:creationId xmlns:a16="http://schemas.microsoft.com/office/drawing/2014/main" id="{5531DC7E-DE69-2C68-CFA5-51D81A0AFE8B}"/>
              </a:ext>
            </a:extLst>
          </p:cNvPr>
          <p:cNvGrpSpPr/>
          <p:nvPr/>
        </p:nvGrpSpPr>
        <p:grpSpPr>
          <a:xfrm>
            <a:off x="2152852" y="2074246"/>
            <a:ext cx="1231265" cy="449580"/>
            <a:chOff x="1553" y="3802"/>
            <a:chExt cx="1939" cy="708"/>
          </a:xfrm>
        </p:grpSpPr>
        <p:sp>
          <p:nvSpPr>
            <p:cNvPr id="20" name="圆角矩形 21">
              <a:extLst>
                <a:ext uri="{FF2B5EF4-FFF2-40B4-BE49-F238E27FC236}">
                  <a16:creationId xmlns:a16="http://schemas.microsoft.com/office/drawing/2014/main" id="{93909FB7-BA4E-0AD9-252B-55CAB611EE41}"/>
                </a:ext>
              </a:extLst>
            </p:cNvPr>
            <p:cNvSpPr/>
            <p:nvPr/>
          </p:nvSpPr>
          <p:spPr>
            <a:xfrm>
              <a:off x="1553" y="3803"/>
              <a:ext cx="1506"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1" name="Text Box 28">
              <a:extLst>
                <a:ext uri="{FF2B5EF4-FFF2-40B4-BE49-F238E27FC236}">
                  <a16:creationId xmlns:a16="http://schemas.microsoft.com/office/drawing/2014/main" id="{25156E6C-E68F-05EF-AFE8-8D99BC66DFD7}"/>
                </a:ext>
              </a:extLst>
            </p:cNvPr>
            <p:cNvSpPr txBox="1">
              <a:spLocks noChangeArrowheads="1"/>
            </p:cNvSpPr>
            <p:nvPr/>
          </p:nvSpPr>
          <p:spPr bwMode="auto">
            <a:xfrm>
              <a:off x="1650" y="3802"/>
              <a:ext cx="1842"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fontAlgn="base">
                <a:lnSpc>
                  <a:spcPct val="100000"/>
                </a:lnSpc>
                <a:spcBef>
                  <a:spcPct val="50000"/>
                </a:spcBef>
                <a:spcAft>
                  <a:spcPct val="0"/>
                </a:spcAft>
                <a:defRPr/>
              </a:pPr>
              <a:r>
                <a:rPr lang="zh-CN" altLang="en-US" kern="0" dirty="0">
                  <a:solidFill>
                    <a:schemeClr val="bg1"/>
                  </a:solidFill>
                  <a:latin typeface="微软雅黑" panose="020B0503020204020204" charset="-122"/>
                  <a:ea typeface="微软雅黑" panose="020B0503020204020204" charset="-122"/>
                </a:rPr>
                <a:t>回顾：</a:t>
              </a:r>
            </a:p>
          </p:txBody>
        </p:sp>
      </p:grpSp>
      <mc:AlternateContent xmlns:mc="http://schemas.openxmlformats.org/markup-compatibility/2006" xmlns:a14="http://schemas.microsoft.com/office/drawing/2010/main">
        <mc:Choice Requires="a14">
          <p:sp>
            <p:nvSpPr>
              <p:cNvPr id="25" name="对象 7">
                <a:extLst>
                  <a:ext uri="{FF2B5EF4-FFF2-40B4-BE49-F238E27FC236}">
                    <a16:creationId xmlns:a16="http://schemas.microsoft.com/office/drawing/2014/main" id="{D5712ECC-2A58-8F18-499A-3A437146BFF4}"/>
                  </a:ext>
                </a:extLst>
              </p:cNvPr>
              <p:cNvSpPr txBox="1"/>
              <p:nvPr/>
            </p:nvSpPr>
            <p:spPr>
              <a:xfrm>
                <a:off x="3240087" y="4426615"/>
                <a:ext cx="7867986" cy="431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b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e>
                        <m:sub>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en-US" altLang="zh-CN" sz="2800" i="1" dirty="0">
                          <a:latin typeface="Cambria Math" panose="02040503050406030204" charset="0"/>
                          <a:ea typeface="黑体" panose="02010609060101010101" pitchFamily="49" charset="-122"/>
                          <a:cs typeface="Cambria Math" panose="02040503050406030204" charset="0"/>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cs typeface="Cambria Math" panose="02040503050406030204" charset="0"/>
                        </a:rPr>
                        <m:t>,</m:t>
                      </m:r>
                      <m:r>
                        <m:rPr>
                          <m:nor/>
                        </m:rPr>
                        <a:rPr kumimoji="1" lang="zh-CN" altLang="en-US" sz="2800">
                          <a:solidFill>
                            <a:schemeClr val="tx1">
                              <a:lumMod val="95000"/>
                              <a:lumOff val="5000"/>
                            </a:schemeClr>
                          </a:solidFill>
                          <a:latin typeface="Cambria Math" panose="02040503050406030204" charset="0"/>
                          <a:ea typeface="黑体" panose="02010609060101010101" pitchFamily="49" charset="-122"/>
                        </a:rPr>
                        <m:t>称为</m:t>
                      </m:r>
                      <m:r>
                        <a:rPr kumimoji="1" lang="zh-CN" altLang="en-US" sz="2800" b="0" i="1" smtClean="0">
                          <a:solidFill>
                            <a:srgbClr val="04926A"/>
                          </a:solidFill>
                          <a:latin typeface="Cambria Math" panose="02040503050406030204" charset="0"/>
                          <a:ea typeface="黑体" panose="02010609060101010101" pitchFamily="49" charset="-122"/>
                        </a:rPr>
                        <m:t>𝑧</m:t>
                      </m:r>
                      <m:r>
                        <m:rPr>
                          <m:nor/>
                        </m:rPr>
                        <a:rPr kumimoji="1" lang="zh-CN" altLang="en-US" sz="2800" b="1">
                          <a:solidFill>
                            <a:srgbClr val="04926A"/>
                          </a:solidFill>
                          <a:latin typeface="Cambria Math" panose="02040503050406030204" charset="0"/>
                          <a:ea typeface="黑体" panose="02010609060101010101" pitchFamily="49" charset="-122"/>
                        </a:rPr>
                        <m:t>对</m:t>
                      </m:r>
                      <m:r>
                        <a:rPr kumimoji="1" lang="zh-CN" altLang="en-US" sz="2800" b="0" i="1">
                          <a:solidFill>
                            <a:srgbClr val="04926A"/>
                          </a:solidFill>
                          <a:latin typeface="Cambria Math" panose="02040503050406030204" charset="0"/>
                          <a:ea typeface="黑体" panose="02010609060101010101" pitchFamily="49" charset="-122"/>
                        </a:rPr>
                        <m:t>𝑥</m:t>
                      </m:r>
                      <m:r>
                        <m:rPr>
                          <m:nor/>
                        </m:rPr>
                        <a:rPr kumimoji="1" lang="zh-CN" altLang="en-US" sz="2800" b="1">
                          <a:solidFill>
                            <a:srgbClr val="04926A"/>
                          </a:solidFill>
                          <a:latin typeface="Cambria Math" panose="02040503050406030204" charset="0"/>
                          <a:ea typeface="黑体" panose="02010609060101010101" pitchFamily="49" charset="-122"/>
                        </a:rPr>
                        <m:t>的偏增量</m:t>
                      </m:r>
                      <m:r>
                        <a:rPr kumimoji="1" lang="en-US" altLang="zh-CN" sz="2800" dirty="0">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5" name="对象 7">
                <a:extLst>
                  <a:ext uri="{FF2B5EF4-FFF2-40B4-BE49-F238E27FC236}">
                    <a16:creationId xmlns:a16="http://schemas.microsoft.com/office/drawing/2014/main" id="{D5712ECC-2A58-8F18-499A-3A437146BFF4}"/>
                  </a:ext>
                </a:extLst>
              </p:cNvPr>
              <p:cNvSpPr txBox="1">
                <a:spLocks noRot="1" noChangeAspect="1" noMove="1" noResize="1" noEditPoints="1" noAdjustHandles="1" noChangeArrowheads="1" noChangeShapeType="1" noTextEdit="1"/>
              </p:cNvSpPr>
              <p:nvPr/>
            </p:nvSpPr>
            <p:spPr>
              <a:xfrm>
                <a:off x="3240087" y="4426615"/>
                <a:ext cx="7867986" cy="431800"/>
              </a:xfrm>
              <a:prstGeom prst="rect">
                <a:avLst/>
              </a:prstGeom>
              <a:blipFill>
                <a:blip r:embed="rId5"/>
                <a:stretch>
                  <a:fillRect b="-98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对象 7">
                <a:extLst>
                  <a:ext uri="{FF2B5EF4-FFF2-40B4-BE49-F238E27FC236}">
                    <a16:creationId xmlns:a16="http://schemas.microsoft.com/office/drawing/2014/main" id="{68CD9CFB-EB79-F380-952C-EFEDE0B1A058}"/>
                  </a:ext>
                </a:extLst>
              </p:cNvPr>
              <p:cNvSpPr txBox="1"/>
              <p:nvPr/>
            </p:nvSpPr>
            <p:spPr>
              <a:xfrm>
                <a:off x="3240087" y="5056585"/>
                <a:ext cx="7867986" cy="431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b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e>
                        <m:sub>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en-US" altLang="zh-CN" sz="2800" i="1" dirty="0">
                          <a:latin typeface="Cambria Math" panose="02040503050406030204" charset="0"/>
                          <a:ea typeface="黑体" panose="02010609060101010101" pitchFamily="49" charset="-122"/>
                          <a:cs typeface="Cambria Math" panose="02040503050406030204" charset="0"/>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cs typeface="Cambria Math" panose="02040503050406030204" charset="0"/>
                        </a:rPr>
                        <m:t>,</m:t>
                      </m:r>
                      <m:r>
                        <m:rPr>
                          <m:nor/>
                        </m:rPr>
                        <a:rPr kumimoji="1" lang="zh-CN" altLang="en-US" sz="2800" smtClean="0">
                          <a:solidFill>
                            <a:schemeClr val="tx1"/>
                          </a:solidFill>
                          <a:latin typeface="Cambria Math" panose="02040503050406030204" charset="0"/>
                          <a:ea typeface="黑体" panose="02010609060101010101" pitchFamily="49" charset="-122"/>
                        </a:rPr>
                        <m:t>称为</m:t>
                      </m:r>
                      <m:r>
                        <a:rPr kumimoji="1" lang="zh-CN" altLang="en-US" sz="2800" b="0" i="1">
                          <a:solidFill>
                            <a:srgbClr val="04926A"/>
                          </a:solidFill>
                          <a:latin typeface="Cambria Math" panose="02040503050406030204" charset="0"/>
                          <a:ea typeface="黑体" panose="02010609060101010101" pitchFamily="49" charset="-122"/>
                        </a:rPr>
                        <m:t>𝑧</m:t>
                      </m:r>
                      <m:r>
                        <m:rPr>
                          <m:nor/>
                        </m:rPr>
                        <a:rPr kumimoji="1" lang="zh-CN" altLang="en-US" sz="2800" b="1">
                          <a:solidFill>
                            <a:srgbClr val="04926A"/>
                          </a:solidFill>
                          <a:latin typeface="Cambria Math" panose="02040503050406030204" charset="0"/>
                          <a:ea typeface="黑体" panose="02010609060101010101" pitchFamily="49" charset="-122"/>
                        </a:rPr>
                        <m:t>对</m:t>
                      </m:r>
                      <m:r>
                        <a:rPr kumimoji="1" lang="zh-CN" altLang="en-US" sz="2800" b="0" i="1">
                          <a:solidFill>
                            <a:srgbClr val="04926A"/>
                          </a:solidFill>
                          <a:latin typeface="Cambria Math" panose="02040503050406030204" charset="0"/>
                          <a:ea typeface="黑体" panose="02010609060101010101" pitchFamily="49" charset="-122"/>
                        </a:rPr>
                        <m:t>𝑦</m:t>
                      </m:r>
                      <m:r>
                        <m:rPr>
                          <m:nor/>
                        </m:rPr>
                        <a:rPr kumimoji="1" lang="zh-CN" altLang="en-US" sz="2800" b="1">
                          <a:solidFill>
                            <a:srgbClr val="04926A"/>
                          </a:solidFill>
                          <a:latin typeface="Cambria Math" panose="02040503050406030204" charset="0"/>
                          <a:ea typeface="黑体" panose="02010609060101010101" pitchFamily="49" charset="-122"/>
                        </a:rPr>
                        <m:t>的偏增量</m:t>
                      </m:r>
                      <m:r>
                        <a:rPr kumimoji="1" lang="en-US" altLang="zh-CN" sz="2800" dirty="0">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6" name="对象 7">
                <a:extLst>
                  <a:ext uri="{FF2B5EF4-FFF2-40B4-BE49-F238E27FC236}">
                    <a16:creationId xmlns:a16="http://schemas.microsoft.com/office/drawing/2014/main" id="{68CD9CFB-EB79-F380-952C-EFEDE0B1A058}"/>
                  </a:ext>
                </a:extLst>
              </p:cNvPr>
              <p:cNvSpPr txBox="1">
                <a:spLocks noRot="1" noChangeAspect="1" noMove="1" noResize="1" noEditPoints="1" noAdjustHandles="1" noChangeArrowheads="1" noChangeShapeType="1" noTextEdit="1"/>
              </p:cNvSpPr>
              <p:nvPr/>
            </p:nvSpPr>
            <p:spPr>
              <a:xfrm>
                <a:off x="3240087" y="5056585"/>
                <a:ext cx="7867986" cy="431800"/>
              </a:xfrm>
              <a:prstGeom prst="rect">
                <a:avLst/>
              </a:prstGeom>
              <a:blipFill>
                <a:blip r:embed="rId6"/>
                <a:stretch>
                  <a:fillRect b="-211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对象 7">
                <a:extLst>
                  <a:ext uri="{FF2B5EF4-FFF2-40B4-BE49-F238E27FC236}">
                    <a16:creationId xmlns:a16="http://schemas.microsoft.com/office/drawing/2014/main" id="{5C072C4A-7D24-5904-8E90-D27F9772DDA0}"/>
                  </a:ext>
                </a:extLst>
              </p:cNvPr>
              <p:cNvSpPr txBox="1"/>
              <p:nvPr/>
            </p:nvSpPr>
            <p:spPr>
              <a:xfrm>
                <a:off x="3240088" y="5686555"/>
                <a:ext cx="7583488" cy="431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ctrlPr>
                        </m:sSub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e>
                        <m:sub>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en-US" altLang="zh-CN" sz="2800" i="1" dirty="0">
                              <a:latin typeface="Cambria Math" panose="02040503050406030204" charset="0"/>
                              <a:ea typeface="黑体" panose="02010609060101010101" pitchFamily="49" charset="-122"/>
                              <a:cs typeface="Cambria Math" panose="02040503050406030204" charset="0"/>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d>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d>
                      <m:r>
                        <a:rPr kumimoji="1" lang="en-US" altLang="zh-CN" sz="2800" i="1" dirty="0">
                          <a:latin typeface="Cambria Math" panose="02040503050406030204" charset="0"/>
                          <a:ea typeface="黑体" panose="02010609060101010101" pitchFamily="49" charset="-122"/>
                          <a:cs typeface="Cambria Math" panose="02040503050406030204" charset="0"/>
                        </a:rPr>
                        <m:t>,</m:t>
                      </m:r>
                      <m:r>
                        <m:rPr>
                          <m:nor/>
                        </m:rPr>
                        <a:rPr kumimoji="1" lang="zh-CN" altLang="en-US" sz="2800">
                          <a:solidFill>
                            <a:schemeClr val="tx1">
                              <a:lumMod val="95000"/>
                              <a:lumOff val="5000"/>
                            </a:schemeClr>
                          </a:solidFill>
                          <a:latin typeface="Cambria Math" panose="02040503050406030204" charset="0"/>
                          <a:ea typeface="黑体" panose="02010609060101010101" pitchFamily="49" charset="-122"/>
                        </a:rPr>
                        <m:t>称为</m:t>
                      </m:r>
                      <m:r>
                        <a:rPr kumimoji="1" lang="zh-CN" altLang="en-US" sz="2800" b="1" i="0" smtClean="0">
                          <a:solidFill>
                            <a:srgbClr val="04926A"/>
                          </a:solidFill>
                          <a:latin typeface="Cambria Math" panose="02040503050406030204" pitchFamily="18" charset="0"/>
                          <a:ea typeface="黑体" panose="02010609060101010101" pitchFamily="49" charset="-122"/>
                        </a:rPr>
                        <m:t>全</m:t>
                      </m:r>
                      <m:r>
                        <m:rPr>
                          <m:nor/>
                        </m:rPr>
                        <a:rPr kumimoji="1" lang="zh-CN" altLang="en-US" sz="2800" b="1">
                          <a:solidFill>
                            <a:srgbClr val="04926A"/>
                          </a:solidFill>
                          <a:latin typeface="Cambria Math" panose="02040503050406030204" charset="0"/>
                          <a:ea typeface="黑体" panose="02010609060101010101" pitchFamily="49" charset="-122"/>
                        </a:rPr>
                        <m:t>增量</m:t>
                      </m:r>
                      <m:r>
                        <a:rPr kumimoji="1" lang="en-US" altLang="zh-CN" sz="2800" b="0" i="1" smtClean="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7" name="对象 7">
                <a:extLst>
                  <a:ext uri="{FF2B5EF4-FFF2-40B4-BE49-F238E27FC236}">
                    <a16:creationId xmlns:a16="http://schemas.microsoft.com/office/drawing/2014/main" id="{5C072C4A-7D24-5904-8E90-D27F9772DDA0}"/>
                  </a:ext>
                </a:extLst>
              </p:cNvPr>
              <p:cNvSpPr txBox="1">
                <a:spLocks noRot="1" noChangeAspect="1" noMove="1" noResize="1" noEditPoints="1" noAdjustHandles="1" noChangeArrowheads="1" noChangeShapeType="1" noTextEdit="1"/>
              </p:cNvSpPr>
              <p:nvPr/>
            </p:nvSpPr>
            <p:spPr>
              <a:xfrm>
                <a:off x="3240088" y="5686555"/>
                <a:ext cx="7583488" cy="431800"/>
              </a:xfrm>
              <a:prstGeom prst="rect">
                <a:avLst/>
              </a:prstGeom>
              <a:blipFill>
                <a:blip r:embed="rId7"/>
                <a:stretch>
                  <a:fillRect b="-197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78710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left)">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left)">
                                      <p:cBhvr>
                                        <p:cTn id="5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p:bldP spid="6" grpId="0" animBg="1"/>
      <p:bldP spid="7" grpId="0"/>
      <p:bldP spid="8" grpId="0"/>
      <p:bldP spid="25" grpId="0"/>
      <p:bldP spid="26"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01F7C1B9-27E9-51C3-2EC9-DDD1948746D5}"/>
              </a:ext>
            </a:extLst>
          </p:cNvPr>
          <p:cNvGrpSpPr/>
          <p:nvPr/>
        </p:nvGrpSpPr>
        <p:grpSpPr>
          <a:xfrm>
            <a:off x="0" y="0"/>
            <a:ext cx="12192000" cy="6858000"/>
            <a:chOff x="0" y="0"/>
            <a:chExt cx="12192000" cy="6858000"/>
          </a:xfrm>
        </p:grpSpPr>
        <p:sp>
          <p:nvSpPr>
            <p:cNvPr id="44" name="Rectangle 1">
              <a:extLst>
                <a:ext uri="{FF2B5EF4-FFF2-40B4-BE49-F238E27FC236}">
                  <a16:creationId xmlns:a16="http://schemas.microsoft.com/office/drawing/2014/main" id="{7FCD444F-8B5E-B72F-9DE5-7C7F6D171940}"/>
                </a:ext>
              </a:extLst>
            </p:cNvPr>
            <p:cNvSpPr/>
            <p:nvPr/>
          </p:nvSpPr>
          <p:spPr>
            <a:xfrm>
              <a:off x="0" y="0"/>
              <a:ext cx="12192000" cy="685800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5" name="圆角矩形 2">
              <a:extLst>
                <a:ext uri="{FF2B5EF4-FFF2-40B4-BE49-F238E27FC236}">
                  <a16:creationId xmlns:a16="http://schemas.microsoft.com/office/drawing/2014/main" id="{2095E3F8-8631-4EAF-2EC1-D5512285331E}"/>
                </a:ext>
              </a:extLst>
            </p:cNvPr>
            <p:cNvSpPr/>
            <p:nvPr/>
          </p:nvSpPr>
          <p:spPr>
            <a:xfrm>
              <a:off x="224790" y="196850"/>
              <a:ext cx="11743055" cy="6456045"/>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6" name="组合 45">
              <a:extLst>
                <a:ext uri="{FF2B5EF4-FFF2-40B4-BE49-F238E27FC236}">
                  <a16:creationId xmlns:a16="http://schemas.microsoft.com/office/drawing/2014/main" id="{DE538B62-8D25-16C8-1B15-EAC418DAFE40}"/>
                </a:ext>
              </a:extLst>
            </p:cNvPr>
            <p:cNvGrpSpPr/>
            <p:nvPr/>
          </p:nvGrpSpPr>
          <p:grpSpPr>
            <a:xfrm>
              <a:off x="228600" y="236182"/>
              <a:ext cx="11771970" cy="6421275"/>
              <a:chOff x="228600" y="236182"/>
              <a:chExt cx="11771970" cy="6421275"/>
            </a:xfrm>
          </p:grpSpPr>
          <p:sp>
            <p:nvSpPr>
              <p:cNvPr id="47" name="Rectangle 1">
                <a:extLst>
                  <a:ext uri="{FF2B5EF4-FFF2-40B4-BE49-F238E27FC236}">
                    <a16:creationId xmlns:a16="http://schemas.microsoft.com/office/drawing/2014/main" id="{6B2CA68D-92C1-1870-2621-0B3E5EE67F57}"/>
                  </a:ext>
                </a:extLst>
              </p:cNvPr>
              <p:cNvSpPr/>
              <p:nvPr/>
            </p:nvSpPr>
            <p:spPr>
              <a:xfrm>
                <a:off x="364173" y="6462830"/>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8" name="Rectangle 1">
                <a:extLst>
                  <a:ext uri="{FF2B5EF4-FFF2-40B4-BE49-F238E27FC236}">
                    <a16:creationId xmlns:a16="http://schemas.microsoft.com/office/drawing/2014/main" id="{9D699704-88CD-211F-763D-39F9402F4E7D}"/>
                  </a:ext>
                </a:extLst>
              </p:cNvPr>
              <p:cNvSpPr/>
              <p:nvPr/>
            </p:nvSpPr>
            <p:spPr>
              <a:xfrm rot="2659048">
                <a:off x="8838055" y="320052"/>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49" name="矩形 48">
                <a:extLst>
                  <a:ext uri="{FF2B5EF4-FFF2-40B4-BE49-F238E27FC236}">
                    <a16:creationId xmlns:a16="http://schemas.microsoft.com/office/drawing/2014/main" id="{BFDEC6DD-F42A-5862-D858-F22F265FEBE6}"/>
                  </a:ext>
                </a:extLst>
              </p:cNvPr>
              <p:cNvSpPr/>
              <p:nvPr/>
            </p:nvSpPr>
            <p:spPr>
              <a:xfrm>
                <a:off x="543503" y="6349680"/>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p>
            </p:txBody>
          </p:sp>
          <p:sp>
            <p:nvSpPr>
              <p:cNvPr id="50" name="矩形 49">
                <a:extLst>
                  <a:ext uri="{FF2B5EF4-FFF2-40B4-BE49-F238E27FC236}">
                    <a16:creationId xmlns:a16="http://schemas.microsoft.com/office/drawing/2014/main" id="{24F07734-D8C2-8EF9-46DA-D6129F6DE915}"/>
                  </a:ext>
                </a:extLst>
              </p:cNvPr>
              <p:cNvSpPr/>
              <p:nvPr/>
            </p:nvSpPr>
            <p:spPr>
              <a:xfrm>
                <a:off x="9055533" y="236182"/>
                <a:ext cx="2945037"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多元函数微分法及其应用</a:t>
                </a:r>
              </a:p>
            </p:txBody>
          </p:sp>
          <p:cxnSp>
            <p:nvCxnSpPr>
              <p:cNvPr id="51" name="直接连接符 50">
                <a:extLst>
                  <a:ext uri="{FF2B5EF4-FFF2-40B4-BE49-F238E27FC236}">
                    <a16:creationId xmlns:a16="http://schemas.microsoft.com/office/drawing/2014/main" id="{7E258F95-100C-FCBA-83BC-4A6BBAC8AEF8}"/>
                  </a:ext>
                </a:extLst>
              </p:cNvPr>
              <p:cNvCxnSpPr>
                <a:cxnSpLocks/>
              </p:cNvCxnSpPr>
              <p:nvPr/>
            </p:nvCxnSpPr>
            <p:spPr>
              <a:xfrm>
                <a:off x="228600" y="390070"/>
                <a:ext cx="8388000"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68D5F2E-E15E-E11E-932E-46D45CE058C3}"/>
                  </a:ext>
                </a:extLst>
              </p:cNvPr>
              <p:cNvCxnSpPr>
                <a:cxnSpLocks/>
              </p:cNvCxnSpPr>
              <p:nvPr/>
            </p:nvCxnSpPr>
            <p:spPr>
              <a:xfrm>
                <a:off x="2047875" y="6503568"/>
                <a:ext cx="989402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sp>
        <p:nvSpPr>
          <p:cNvPr id="2" name="Rectangle 25">
            <a:extLst>
              <a:ext uri="{FF2B5EF4-FFF2-40B4-BE49-F238E27FC236}">
                <a16:creationId xmlns:a16="http://schemas.microsoft.com/office/drawing/2014/main" id="{24E6689F-12F6-D31F-7ADB-395CAA458F59}"/>
              </a:ext>
            </a:extLst>
          </p:cNvPr>
          <p:cNvSpPr>
            <a:spLocks noChangeArrowheads="1"/>
          </p:cNvSpPr>
          <p:nvPr/>
        </p:nvSpPr>
        <p:spPr bwMode="auto">
          <a:xfrm>
            <a:off x="3911351" y="2696762"/>
            <a:ext cx="1828800" cy="508000"/>
          </a:xfrm>
          <a:prstGeom prst="rect">
            <a:avLst/>
          </a:prstGeom>
          <a:solidFill>
            <a:srgbClr val="04926A">
              <a:alpha val="42000"/>
            </a:srgbClr>
          </a:solidFill>
          <a:ln w="19050">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4800" b="0" i="0" u="none" strike="noStrike" kern="1200" cap="none" spc="0" normalizeH="0" baseline="0" noProof="0">
              <a:ln>
                <a:noFill/>
              </a:ln>
              <a:solidFill>
                <a:prstClr val="black"/>
              </a:solidFill>
              <a:effectLst/>
              <a:uLnTx/>
              <a:uFillTx/>
              <a:latin typeface="Times New Roman" panose="020F0502020204030204"/>
              <a:ea typeface="黑体"/>
              <a:cs typeface="+mn-ea"/>
              <a:sym typeface="+mn-lt"/>
            </a:endParaRPr>
          </a:p>
        </p:txBody>
      </p:sp>
      <mc:AlternateContent xmlns:mc="http://schemas.openxmlformats.org/markup-compatibility/2006" xmlns:a14="http://schemas.microsoft.com/office/drawing/2010/main">
        <mc:Choice Requires="a14">
          <p:sp>
            <p:nvSpPr>
              <p:cNvPr id="4" name="Text Box 3">
                <a:extLst>
                  <a:ext uri="{FF2B5EF4-FFF2-40B4-BE49-F238E27FC236}">
                    <a16:creationId xmlns:a16="http://schemas.microsoft.com/office/drawing/2014/main" id="{ECB0CB0D-00DD-DF61-A85E-C4CB1F12117B}"/>
                  </a:ext>
                </a:extLst>
              </p:cNvPr>
              <p:cNvSpPr txBox="1">
                <a:spLocks noChangeArrowheads="1"/>
              </p:cNvSpPr>
              <p:nvPr/>
            </p:nvSpPr>
            <p:spPr bwMode="auto">
              <a:xfrm>
                <a:off x="2450787" y="1462088"/>
                <a:ext cx="6991595" cy="47625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marR="0" lvl="0" indent="0" fontAlgn="base">
                  <a:lnSpc>
                    <a:spcPct val="90000"/>
                  </a:lnSpc>
                  <a:spcBef>
                    <a:spcPct val="50000"/>
                  </a:spcBef>
                  <a:spcAft>
                    <a:spcPct val="0"/>
                  </a:spcAft>
                  <a:buClrTx/>
                  <a:buSzTx/>
                  <a:buFontTx/>
                  <a:buNone/>
                  <a:tabLst/>
                  <a:defRPr/>
                </a:pP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如果函数</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定义域 </a:t>
                </a:r>
                <a14:m>
                  <m:oMath xmlns:m="http://schemas.openxmlformats.org/officeDocument/2006/math">
                    <m:r>
                      <a:rPr kumimoji="1" lang="en-US" altLang="zh-CN" sz="2800" i="1">
                        <a:solidFill>
                          <a:schemeClr val="tx1">
                            <a:lumMod val="95000"/>
                            <a:lumOff val="5000"/>
                          </a:schemeClr>
                        </a:solidFill>
                        <a:latin typeface="Cambria Math" panose="02040503050406030204" pitchFamily="18" charset="0"/>
                        <a:ea typeface="黑体" panose="02010609060101010101" pitchFamily="49" charset="-122"/>
                      </a:rPr>
                      <m:t>𝐷</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的内点</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p>
            </p:txBody>
          </p:sp>
        </mc:Choice>
        <mc:Fallback xmlns="">
          <p:sp>
            <p:nvSpPr>
              <p:cNvPr id="4" name="Text Box 3">
                <a:extLst>
                  <a:ext uri="{FF2B5EF4-FFF2-40B4-BE49-F238E27FC236}">
                    <a16:creationId xmlns:a16="http://schemas.microsoft.com/office/drawing/2014/main" id="{ECB0CB0D-00DD-DF61-A85E-C4CB1F12117B}"/>
                  </a:ext>
                </a:extLst>
              </p:cNvPr>
              <p:cNvSpPr txBox="1">
                <a:spLocks noRot="1" noChangeAspect="1" noMove="1" noResize="1" noEditPoints="1" noAdjustHandles="1" noChangeArrowheads="1" noChangeShapeType="1" noTextEdit="1"/>
              </p:cNvSpPr>
              <p:nvPr/>
            </p:nvSpPr>
            <p:spPr bwMode="auto">
              <a:xfrm>
                <a:off x="2450787" y="1462088"/>
                <a:ext cx="6991595" cy="476250"/>
              </a:xfrm>
              <a:prstGeom prst="rect">
                <a:avLst/>
              </a:prstGeom>
              <a:blipFill>
                <a:blip r:embed="rId2"/>
                <a:stretch>
                  <a:fillRect l="-610" t="-26923" b="-35897"/>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721C04DF-1838-2602-CC9B-ACBAA2B4BAAF}"/>
                  </a:ext>
                </a:extLst>
              </p:cNvPr>
              <p:cNvSpPr txBox="1"/>
              <p:nvPr/>
            </p:nvSpPr>
            <p:spPr bwMode="auto">
              <a:xfrm>
                <a:off x="3961013" y="2002749"/>
                <a:ext cx="5582749" cy="48260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5" name="Object 4">
                <a:extLst>
                  <a:ext uri="{FF2B5EF4-FFF2-40B4-BE49-F238E27FC236}">
                    <a16:creationId xmlns:a16="http://schemas.microsoft.com/office/drawing/2014/main" id="{721C04DF-1838-2602-CC9B-ACBAA2B4BAAF}"/>
                  </a:ext>
                </a:extLst>
              </p:cNvPr>
              <p:cNvSpPr txBox="1">
                <a:spLocks noRot="1" noChangeAspect="1" noMove="1" noResize="1" noEditPoints="1" noAdjustHandles="1" noChangeArrowheads="1" noChangeShapeType="1" noTextEdit="1"/>
              </p:cNvSpPr>
              <p:nvPr/>
            </p:nvSpPr>
            <p:spPr bwMode="auto">
              <a:xfrm>
                <a:off x="3961013" y="2002749"/>
                <a:ext cx="5582749" cy="482601"/>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6" name="Text Box 5">
            <a:extLst>
              <a:ext uri="{FF2B5EF4-FFF2-40B4-BE49-F238E27FC236}">
                <a16:creationId xmlns:a16="http://schemas.microsoft.com/office/drawing/2014/main" id="{4AD396CB-FED5-1237-17B2-CA76C9EFB0A0}"/>
              </a:ext>
            </a:extLst>
          </p:cNvPr>
          <p:cNvSpPr txBox="1">
            <a:spLocks noChangeArrowheads="1"/>
          </p:cNvSpPr>
          <p:nvPr/>
        </p:nvSpPr>
        <p:spPr bwMode="auto">
          <a:xfrm>
            <a:off x="9014706" y="2012082"/>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可表示成</a:t>
            </a:r>
          </a:p>
        </p:txBody>
      </p:sp>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4657DDAD-A95E-8739-314B-C6694369CD97}"/>
                  </a:ext>
                </a:extLst>
              </p:cNvPr>
              <p:cNvSpPr txBox="1"/>
              <p:nvPr/>
            </p:nvSpPr>
            <p:spPr bwMode="auto">
              <a:xfrm>
                <a:off x="3014054" y="2677963"/>
                <a:ext cx="4136047" cy="4762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𝐴</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𝐵</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Object 6">
                <a:extLst>
                  <a:ext uri="{FF2B5EF4-FFF2-40B4-BE49-F238E27FC236}">
                    <a16:creationId xmlns:a16="http://schemas.microsoft.com/office/drawing/2014/main" id="{4657DDAD-A95E-8739-314B-C6694369CD97}"/>
                  </a:ext>
                </a:extLst>
              </p:cNvPr>
              <p:cNvSpPr txBox="1">
                <a:spLocks noRot="1" noChangeAspect="1" noMove="1" noResize="1" noEditPoints="1" noAdjustHandles="1" noChangeArrowheads="1" noChangeShapeType="1" noTextEdit="1"/>
              </p:cNvSpPr>
              <p:nvPr/>
            </p:nvSpPr>
            <p:spPr bwMode="auto">
              <a:xfrm>
                <a:off x="3014054" y="2677963"/>
                <a:ext cx="4136047" cy="476250"/>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8" name="Text Box 10">
            <a:extLst>
              <a:ext uri="{FF2B5EF4-FFF2-40B4-BE49-F238E27FC236}">
                <a16:creationId xmlns:a16="http://schemas.microsoft.com/office/drawing/2014/main" id="{26AC2EC7-0A17-EF87-D7A7-954810A5506C}"/>
              </a:ext>
            </a:extLst>
          </p:cNvPr>
          <p:cNvSpPr txBox="1">
            <a:spLocks noChangeArrowheads="1"/>
          </p:cNvSpPr>
          <p:nvPr/>
        </p:nvSpPr>
        <p:spPr bwMode="auto">
          <a:xfrm>
            <a:off x="7832551" y="3931703"/>
            <a:ext cx="1676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称为函数</a:t>
            </a:r>
          </a:p>
        </p:txBody>
      </p:sp>
      <mc:AlternateContent xmlns:mc="http://schemas.openxmlformats.org/markup-compatibility/2006" xmlns:a14="http://schemas.microsoft.com/office/drawing/2010/main">
        <mc:Choice Requires="a14">
          <p:sp>
            <p:nvSpPr>
              <p:cNvPr id="9" name="Object 11">
                <a:extLst>
                  <a:ext uri="{FF2B5EF4-FFF2-40B4-BE49-F238E27FC236}">
                    <a16:creationId xmlns:a16="http://schemas.microsoft.com/office/drawing/2014/main" id="{2718ABC0-7AC9-259F-CDDD-51F49E9C696D}"/>
                  </a:ext>
                </a:extLst>
              </p:cNvPr>
              <p:cNvSpPr txBox="1"/>
              <p:nvPr/>
            </p:nvSpPr>
            <p:spPr bwMode="auto">
              <a:xfrm>
                <a:off x="9293650" y="3931938"/>
                <a:ext cx="1409700" cy="4937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d>
                    </m:oMath>
                  </m:oMathPara>
                </a14:m>
                <a:endParaRPr kumimoji="1" lang="zh-CN" altLang="en-US" sz="2800" i="1"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9" name="Object 11">
                <a:extLst>
                  <a:ext uri="{FF2B5EF4-FFF2-40B4-BE49-F238E27FC236}">
                    <a16:creationId xmlns:a16="http://schemas.microsoft.com/office/drawing/2014/main" id="{2718ABC0-7AC9-259F-CDDD-51F49E9C696D}"/>
                  </a:ext>
                </a:extLst>
              </p:cNvPr>
              <p:cNvSpPr txBox="1">
                <a:spLocks noRot="1" noChangeAspect="1" noMove="1" noResize="1" noEditPoints="1" noAdjustHandles="1" noChangeArrowheads="1" noChangeShapeType="1" noTextEdit="1"/>
              </p:cNvSpPr>
              <p:nvPr/>
            </p:nvSpPr>
            <p:spPr bwMode="auto">
              <a:xfrm>
                <a:off x="9293650" y="3931938"/>
                <a:ext cx="1409700" cy="493713"/>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 Box 13">
                <a:extLst>
                  <a:ext uri="{FF2B5EF4-FFF2-40B4-BE49-F238E27FC236}">
                    <a16:creationId xmlns:a16="http://schemas.microsoft.com/office/drawing/2014/main" id="{8426A2FB-1FCB-94CE-CBEF-D8984CF5DD65}"/>
                  </a:ext>
                </a:extLst>
              </p:cNvPr>
              <p:cNvSpPr txBox="1">
                <a:spLocks noChangeArrowheads="1"/>
              </p:cNvSpPr>
              <p:nvPr/>
            </p:nvSpPr>
            <p:spPr bwMode="auto">
              <a:xfrm>
                <a:off x="2508048" y="4510011"/>
                <a:ext cx="4419600" cy="519112"/>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在点</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的</a:t>
                </a:r>
                <a:r>
                  <a:rPr kumimoji="1" lang="zh-CN" altLang="en-US" sz="2800" b="1" dirty="0">
                    <a:solidFill>
                      <a:srgbClr val="04926A"/>
                    </a:solidFill>
                    <a:latin typeface="Cambria Math" panose="02040503050406030204" charset="0"/>
                    <a:ea typeface="黑体" panose="02010609060101010101" pitchFamily="49" charset="-122"/>
                    <a:sym typeface="+mn-lt"/>
                  </a:rPr>
                  <a:t>全微分</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记作</a:t>
                </a:r>
              </a:p>
            </p:txBody>
          </p:sp>
        </mc:Choice>
        <mc:Fallback xmlns="">
          <p:sp>
            <p:nvSpPr>
              <p:cNvPr id="10" name="Text Box 13">
                <a:extLst>
                  <a:ext uri="{FF2B5EF4-FFF2-40B4-BE49-F238E27FC236}">
                    <a16:creationId xmlns:a16="http://schemas.microsoft.com/office/drawing/2014/main" id="{8426A2FB-1FCB-94CE-CBEF-D8984CF5DD65}"/>
                  </a:ext>
                </a:extLst>
              </p:cNvPr>
              <p:cNvSpPr txBox="1">
                <a:spLocks noRot="1" noChangeAspect="1" noMove="1" noResize="1" noEditPoints="1" noAdjustHandles="1" noChangeArrowheads="1" noChangeShapeType="1" noTextEdit="1"/>
              </p:cNvSpPr>
              <p:nvPr/>
            </p:nvSpPr>
            <p:spPr bwMode="auto">
              <a:xfrm>
                <a:off x="2508048" y="4510011"/>
                <a:ext cx="4419600" cy="519112"/>
              </a:xfrm>
              <a:prstGeom prst="rect">
                <a:avLst/>
              </a:prstGeom>
              <a:blipFill>
                <a:blip r:embed="rId6"/>
                <a:stretch>
                  <a:fillRect l="-2759" t="-16471" b="-32941"/>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15">
                <a:extLst>
                  <a:ext uri="{FF2B5EF4-FFF2-40B4-BE49-F238E27FC236}">
                    <a16:creationId xmlns:a16="http://schemas.microsoft.com/office/drawing/2014/main" id="{9BC728DC-3AD8-02E2-51E0-7E29EC89F907}"/>
                  </a:ext>
                </a:extLst>
              </p:cNvPr>
              <p:cNvSpPr txBox="1"/>
              <p:nvPr/>
            </p:nvSpPr>
            <p:spPr bwMode="auto">
              <a:xfrm>
                <a:off x="3996662" y="5038648"/>
                <a:ext cx="3912089" cy="5191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𝐵</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1" name="Object 15">
                <a:extLst>
                  <a:ext uri="{FF2B5EF4-FFF2-40B4-BE49-F238E27FC236}">
                    <a16:creationId xmlns:a16="http://schemas.microsoft.com/office/drawing/2014/main" id="{9BC728DC-3AD8-02E2-51E0-7E29EC89F907}"/>
                  </a:ext>
                </a:extLst>
              </p:cNvPr>
              <p:cNvSpPr txBox="1">
                <a:spLocks noRot="1" noChangeAspect="1" noMove="1" noResize="1" noEditPoints="1" noAdjustHandles="1" noChangeArrowheads="1" noChangeShapeType="1" noTextEdit="1"/>
              </p:cNvSpPr>
              <p:nvPr/>
            </p:nvSpPr>
            <p:spPr bwMode="auto">
              <a:xfrm>
                <a:off x="3996662" y="5038648"/>
                <a:ext cx="3912089" cy="519112"/>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Text Box 16">
                <a:extLst>
                  <a:ext uri="{FF2B5EF4-FFF2-40B4-BE49-F238E27FC236}">
                    <a16:creationId xmlns:a16="http://schemas.microsoft.com/office/drawing/2014/main" id="{474ED4BF-B442-EDDB-88CB-1B8AEC56F638}"/>
                  </a:ext>
                </a:extLst>
              </p:cNvPr>
              <p:cNvSpPr txBox="1">
                <a:spLocks noChangeArrowheads="1"/>
              </p:cNvSpPr>
              <p:nvPr/>
            </p:nvSpPr>
            <p:spPr bwMode="auto">
              <a:xfrm>
                <a:off x="2508048" y="5593825"/>
                <a:ext cx="4724400" cy="519113"/>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若函数在域</a:t>
                </a:r>
                <a14:m>
                  <m:oMath xmlns:m="http://schemas.openxmlformats.org/officeDocument/2006/math">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en-US" altLang="zh-CN" sz="2800" i="1">
                        <a:solidFill>
                          <a:schemeClr val="tx1">
                            <a:lumMod val="95000"/>
                            <a:lumOff val="5000"/>
                          </a:schemeClr>
                        </a:solidFill>
                        <a:latin typeface="Cambria Math" panose="02040503050406030204" pitchFamily="18" charset="0"/>
                        <a:ea typeface="黑体" panose="02010609060101010101" pitchFamily="49" charset="-122"/>
                      </a:rPr>
                      <m:t>𝐷</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 内各点都可微</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p>
            </p:txBody>
          </p:sp>
        </mc:Choice>
        <mc:Fallback xmlns="">
          <p:sp>
            <p:nvSpPr>
              <p:cNvPr id="12" name="Text Box 16">
                <a:extLst>
                  <a:ext uri="{FF2B5EF4-FFF2-40B4-BE49-F238E27FC236}">
                    <a16:creationId xmlns:a16="http://schemas.microsoft.com/office/drawing/2014/main" id="{474ED4BF-B442-EDDB-88CB-1B8AEC56F638}"/>
                  </a:ext>
                </a:extLst>
              </p:cNvPr>
              <p:cNvSpPr txBox="1">
                <a:spLocks noRot="1" noChangeAspect="1" noMove="1" noResize="1" noEditPoints="1" noAdjustHandles="1" noChangeArrowheads="1" noChangeShapeType="1" noTextEdit="1"/>
              </p:cNvSpPr>
              <p:nvPr/>
            </p:nvSpPr>
            <p:spPr bwMode="auto">
              <a:xfrm>
                <a:off x="2508048" y="5593825"/>
                <a:ext cx="4724400" cy="519113"/>
              </a:xfrm>
              <a:prstGeom prst="rect">
                <a:avLst/>
              </a:prstGeom>
              <a:blipFill>
                <a:blip r:embed="rId8"/>
                <a:stretch>
                  <a:fillRect l="-2581" t="-16471" b="-32941"/>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21">
                <a:extLst>
                  <a:ext uri="{FF2B5EF4-FFF2-40B4-BE49-F238E27FC236}">
                    <a16:creationId xmlns:a16="http://schemas.microsoft.com/office/drawing/2014/main" id="{C727469C-B7DF-F419-CE59-FDC2A101E97D}"/>
                  </a:ext>
                </a:extLst>
              </p:cNvPr>
              <p:cNvSpPr txBox="1"/>
              <p:nvPr/>
            </p:nvSpPr>
            <p:spPr bwMode="auto">
              <a:xfrm>
                <a:off x="6834475" y="2594732"/>
                <a:ext cx="3665169" cy="558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ad>
                        <m:radPr>
                          <m:degHide m:val="on"/>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e>
                      </m:ra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3" name="Object 21">
                <a:extLst>
                  <a:ext uri="{FF2B5EF4-FFF2-40B4-BE49-F238E27FC236}">
                    <a16:creationId xmlns:a16="http://schemas.microsoft.com/office/drawing/2014/main" id="{C727469C-B7DF-F419-CE59-FDC2A101E97D}"/>
                  </a:ext>
                </a:extLst>
              </p:cNvPr>
              <p:cNvSpPr txBox="1">
                <a:spLocks noRot="1" noChangeAspect="1" noMove="1" noResize="1" noEditPoints="1" noAdjustHandles="1" noChangeArrowheads="1" noChangeShapeType="1" noTextEdit="1"/>
              </p:cNvSpPr>
              <p:nvPr/>
            </p:nvSpPr>
            <p:spPr bwMode="auto">
              <a:xfrm>
                <a:off x="6834475" y="2594732"/>
                <a:ext cx="3665169" cy="558800"/>
              </a:xfrm>
              <a:prstGeom prst="rect">
                <a:avLst/>
              </a:prstGeom>
              <a:blipFill>
                <a:blip r:embed="rId9"/>
                <a:stretch>
                  <a:fillRect b="-1099"/>
                </a:stretch>
              </a:blipFill>
              <a:ln>
                <a:noFill/>
              </a:ln>
              <a:effectLst/>
            </p:spPr>
            <p:txBody>
              <a:bodyPr/>
              <a:lstStyle/>
              <a:p>
                <a:r>
                  <a:rPr lang="zh-CN" altLang="en-US">
                    <a:noFill/>
                  </a:rPr>
                  <a:t> </a:t>
                </a:r>
              </a:p>
            </p:txBody>
          </p:sp>
        </mc:Fallback>
      </mc:AlternateContent>
      <p:sp>
        <p:nvSpPr>
          <p:cNvPr id="14" name="Text Box 23">
            <a:extLst>
              <a:ext uri="{FF2B5EF4-FFF2-40B4-BE49-F238E27FC236}">
                <a16:creationId xmlns:a16="http://schemas.microsoft.com/office/drawing/2014/main" id="{964EAB0F-5DA8-ACD1-3170-D77A10FED08B}"/>
              </a:ext>
            </a:extLst>
          </p:cNvPr>
          <p:cNvSpPr txBox="1">
            <a:spLocks noChangeArrowheads="1"/>
          </p:cNvSpPr>
          <p:nvPr/>
        </p:nvSpPr>
        <p:spPr bwMode="auto">
          <a:xfrm>
            <a:off x="8572589" y="3330706"/>
            <a:ext cx="1676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则称函数</a:t>
            </a:r>
          </a:p>
        </p:txBody>
      </p:sp>
      <mc:AlternateContent xmlns:mc="http://schemas.openxmlformats.org/markup-compatibility/2006" xmlns:a14="http://schemas.microsoft.com/office/drawing/2010/main">
        <mc:Choice Requires="a14">
          <p:sp>
            <p:nvSpPr>
              <p:cNvPr id="15" name="Text Box 24">
                <a:extLst>
                  <a:ext uri="{FF2B5EF4-FFF2-40B4-BE49-F238E27FC236}">
                    <a16:creationId xmlns:a16="http://schemas.microsoft.com/office/drawing/2014/main" id="{65CF37F6-709A-DF2A-53FB-F797B67DDD36}"/>
                  </a:ext>
                </a:extLst>
              </p:cNvPr>
              <p:cNvSpPr txBox="1">
                <a:spLocks noChangeArrowheads="1"/>
              </p:cNvSpPr>
              <p:nvPr/>
            </p:nvSpPr>
            <p:spPr bwMode="auto">
              <a:xfrm>
                <a:off x="2508048" y="3931938"/>
                <a:ext cx="3557220" cy="519112"/>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marR="0" lvl="0" indent="0" fontAlgn="base">
                  <a:lnSpc>
                    <a:spcPct val="100000"/>
                  </a:lnSpc>
                  <a:spcBef>
                    <a:spcPct val="50000"/>
                  </a:spcBef>
                  <a:spcAft>
                    <a:spcPct val="0"/>
                  </a:spcAft>
                  <a:buClrTx/>
                  <a:buSzTx/>
                  <a:buFontTx/>
                  <a:buNone/>
                  <a:tabLst/>
                  <a:defRPr/>
                </a:pPr>
                <a14:m>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d>
                      <m:dPr>
                        <m:ctrlP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e>
                    </m:d>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在点</a:t>
                </a:r>
                <a14:m>
                  <m:oMath xmlns:m="http://schemas.openxmlformats.org/officeDocument/2006/math">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d>
                  </m:oMath>
                </a14:m>
                <a:r>
                  <a:rPr kumimoji="1" lang="zh-CN" altLang="en-US" sz="2800" b="1" dirty="0">
                    <a:solidFill>
                      <a:srgbClr val="04926A"/>
                    </a:solidFill>
                    <a:latin typeface="Cambria Math" panose="02040503050406030204" charset="0"/>
                    <a:ea typeface="黑体" panose="02010609060101010101" pitchFamily="49" charset="-122"/>
                    <a:sym typeface="+mn-lt"/>
                  </a:rPr>
                  <a:t>可微</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Choice>
        <mc:Fallback xmlns="">
          <p:sp>
            <p:nvSpPr>
              <p:cNvPr id="15" name="Text Box 24">
                <a:extLst>
                  <a:ext uri="{FF2B5EF4-FFF2-40B4-BE49-F238E27FC236}">
                    <a16:creationId xmlns:a16="http://schemas.microsoft.com/office/drawing/2014/main" id="{65CF37F6-709A-DF2A-53FB-F797B67DDD36}"/>
                  </a:ext>
                </a:extLst>
              </p:cNvPr>
              <p:cNvSpPr txBox="1">
                <a:spLocks noRot="1" noChangeAspect="1" noMove="1" noResize="1" noEditPoints="1" noAdjustHandles="1" noChangeArrowheads="1" noChangeShapeType="1" noTextEdit="1"/>
              </p:cNvSpPr>
              <p:nvPr/>
            </p:nvSpPr>
            <p:spPr bwMode="auto">
              <a:xfrm>
                <a:off x="2508048" y="3931938"/>
                <a:ext cx="3557220" cy="519112"/>
              </a:xfrm>
              <a:prstGeom prst="rect">
                <a:avLst/>
              </a:prstGeom>
              <a:blipFill>
                <a:blip r:embed="rId10"/>
                <a:stretch>
                  <a:fillRect t="-15294" r="-1199" b="-2941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16" name="Text Box 34">
            <a:extLst>
              <a:ext uri="{FF2B5EF4-FFF2-40B4-BE49-F238E27FC236}">
                <a16:creationId xmlns:a16="http://schemas.microsoft.com/office/drawing/2014/main" id="{4A1202C8-DDCB-570C-F4E4-33839DA537E5}"/>
              </a:ext>
            </a:extLst>
          </p:cNvPr>
          <p:cNvSpPr txBox="1">
            <a:spLocks noChangeArrowheads="1"/>
          </p:cNvSpPr>
          <p:nvPr/>
        </p:nvSpPr>
        <p:spPr bwMode="auto">
          <a:xfrm>
            <a:off x="2523288" y="2023988"/>
            <a:ext cx="1675332"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9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处全增量</a:t>
            </a:r>
          </a:p>
        </p:txBody>
      </p:sp>
      <mc:AlternateContent xmlns:mc="http://schemas.openxmlformats.org/markup-compatibility/2006" xmlns:a14="http://schemas.microsoft.com/office/drawing/2010/main">
        <mc:Choice Requires="a14">
          <p:sp>
            <p:nvSpPr>
              <p:cNvPr id="17" name="Text Box 35">
                <a:extLst>
                  <a:ext uri="{FF2B5EF4-FFF2-40B4-BE49-F238E27FC236}">
                    <a16:creationId xmlns:a16="http://schemas.microsoft.com/office/drawing/2014/main" id="{DE1C7A43-8330-F193-CA36-BE7C487C81D2}"/>
                  </a:ext>
                </a:extLst>
              </p:cNvPr>
              <p:cNvSpPr txBox="1">
                <a:spLocks noChangeArrowheads="1"/>
              </p:cNvSpPr>
              <p:nvPr/>
            </p:nvSpPr>
            <p:spPr bwMode="auto">
              <a:xfrm>
                <a:off x="6922518" y="5593825"/>
                <a:ext cx="3962400" cy="519113"/>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 则称此函数</a:t>
                </a:r>
                <a:r>
                  <a:rPr kumimoji="1" lang="zh-CN" altLang="en-US" sz="2800" b="1" dirty="0">
                    <a:solidFill>
                      <a:srgbClr val="04926A"/>
                    </a:solidFill>
                    <a:latin typeface="Cambria Math" panose="02040503050406030204" charset="0"/>
                    <a:ea typeface="黑体" panose="02010609060101010101" pitchFamily="49" charset="-122"/>
                    <a:sym typeface="+mn-lt"/>
                  </a:rPr>
                  <a:t>在 </a:t>
                </a:r>
                <a14:m>
                  <m:oMath xmlns:m="http://schemas.openxmlformats.org/officeDocument/2006/math">
                    <m:r>
                      <a:rPr kumimoji="1" lang="en-US" altLang="zh-CN" sz="2800" b="1">
                        <a:solidFill>
                          <a:srgbClr val="04926A"/>
                        </a:solidFill>
                        <a:latin typeface="Cambria Math" panose="02040503050406030204" charset="0"/>
                        <a:ea typeface="黑体" panose="02010609060101010101" pitchFamily="49" charset="-122"/>
                      </a:rPr>
                      <m:t>𝐷</m:t>
                    </m:r>
                  </m:oMath>
                </a14:m>
                <a:r>
                  <a:rPr kumimoji="1" lang="zh-CN" altLang="en-US" sz="2800" b="1" dirty="0">
                    <a:solidFill>
                      <a:srgbClr val="04926A"/>
                    </a:solidFill>
                    <a:latin typeface="Cambria Math" panose="02040503050406030204" charset="0"/>
                    <a:ea typeface="黑体" panose="02010609060101010101" pitchFamily="49" charset="-122"/>
                    <a:sym typeface="+mn-lt"/>
                  </a:rPr>
                  <a:t> 内可微</a:t>
                </a:r>
                <a:r>
                  <a:rPr kumimoji="1" lang="en-US" altLang="zh-CN" sz="2800" dirty="0">
                    <a:solidFill>
                      <a:srgbClr val="04926A"/>
                    </a:solidFill>
                    <a:latin typeface="Cambria Math" panose="02040503050406030204" charset="0"/>
                    <a:ea typeface="黑体" panose="02010609060101010101" pitchFamily="49" charset="-122"/>
                    <a:sym typeface="+mn-lt"/>
                  </a:rPr>
                  <a:t>.</a:t>
                </a:r>
              </a:p>
            </p:txBody>
          </p:sp>
        </mc:Choice>
        <mc:Fallback xmlns="">
          <p:sp>
            <p:nvSpPr>
              <p:cNvPr id="17" name="Text Box 35">
                <a:extLst>
                  <a:ext uri="{FF2B5EF4-FFF2-40B4-BE49-F238E27FC236}">
                    <a16:creationId xmlns:a16="http://schemas.microsoft.com/office/drawing/2014/main" id="{DE1C7A43-8330-F193-CA36-BE7C487C81D2}"/>
                  </a:ext>
                </a:extLst>
              </p:cNvPr>
              <p:cNvSpPr txBox="1">
                <a:spLocks noRot="1" noChangeAspect="1" noMove="1" noResize="1" noEditPoints="1" noAdjustHandles="1" noChangeArrowheads="1" noChangeShapeType="1" noTextEdit="1"/>
              </p:cNvSpPr>
              <p:nvPr/>
            </p:nvSpPr>
            <p:spPr bwMode="auto">
              <a:xfrm>
                <a:off x="6922518" y="5593825"/>
                <a:ext cx="3962400" cy="519113"/>
              </a:xfrm>
              <a:prstGeom prst="rect">
                <a:avLst/>
              </a:prstGeom>
              <a:blipFill>
                <a:blip r:embed="rId11"/>
                <a:stretch>
                  <a:fillRect l="-1231" t="-16471" r="-2923" b="-32941"/>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对象 17">
                <a:extLst>
                  <a:ext uri="{FF2B5EF4-FFF2-40B4-BE49-F238E27FC236}">
                    <a16:creationId xmlns:a16="http://schemas.microsoft.com/office/drawing/2014/main" id="{5A7C24A9-AD1C-C357-6A4E-F817034D9BFA}"/>
                  </a:ext>
                </a:extLst>
              </p:cNvPr>
              <p:cNvSpPr txBox="1"/>
              <p:nvPr/>
            </p:nvSpPr>
            <p:spPr>
              <a:xfrm>
                <a:off x="2508048" y="3335113"/>
                <a:ext cx="6302096" cy="431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其中</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𝐴</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𝐵</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不依赖于</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仅与</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有关</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8" name="对象 17">
                <a:extLst>
                  <a:ext uri="{FF2B5EF4-FFF2-40B4-BE49-F238E27FC236}">
                    <a16:creationId xmlns:a16="http://schemas.microsoft.com/office/drawing/2014/main" id="{5A7C24A9-AD1C-C357-6A4E-F817034D9BFA}"/>
                  </a:ext>
                </a:extLst>
              </p:cNvPr>
              <p:cNvSpPr txBox="1">
                <a:spLocks noRot="1" noChangeAspect="1" noMove="1" noResize="1" noEditPoints="1" noAdjustHandles="1" noChangeArrowheads="1" noChangeShapeType="1" noTextEdit="1"/>
              </p:cNvSpPr>
              <p:nvPr/>
            </p:nvSpPr>
            <p:spPr>
              <a:xfrm>
                <a:off x="2508048" y="3335113"/>
                <a:ext cx="6302096" cy="431800"/>
              </a:xfrm>
              <a:prstGeom prst="rect">
                <a:avLst/>
              </a:prstGeom>
              <a:blipFill>
                <a:blip r:embed="rId12"/>
                <a:stretch>
                  <a:fillRect b="-84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对象 18">
                <a:extLst>
                  <a:ext uri="{FF2B5EF4-FFF2-40B4-BE49-F238E27FC236}">
                    <a16:creationId xmlns:a16="http://schemas.microsoft.com/office/drawing/2014/main" id="{C8795901-1106-7D28-4466-3F402AB4ED90}"/>
                  </a:ext>
                </a:extLst>
              </p:cNvPr>
              <p:cNvSpPr txBox="1"/>
              <p:nvPr/>
            </p:nvSpPr>
            <p:spPr>
              <a:xfrm>
                <a:off x="5989068" y="3936394"/>
                <a:ext cx="2110886" cy="3937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𝐴</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𝐵</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9" name="对象 18">
                <a:extLst>
                  <a:ext uri="{FF2B5EF4-FFF2-40B4-BE49-F238E27FC236}">
                    <a16:creationId xmlns:a16="http://schemas.microsoft.com/office/drawing/2014/main" id="{C8795901-1106-7D28-4466-3F402AB4ED90}"/>
                  </a:ext>
                </a:extLst>
              </p:cNvPr>
              <p:cNvSpPr txBox="1">
                <a:spLocks noRot="1" noChangeAspect="1" noMove="1" noResize="1" noEditPoints="1" noAdjustHandles="1" noChangeArrowheads="1" noChangeShapeType="1" noTextEdit="1"/>
              </p:cNvSpPr>
              <p:nvPr/>
            </p:nvSpPr>
            <p:spPr>
              <a:xfrm>
                <a:off x="5989068" y="3936394"/>
                <a:ext cx="2110886" cy="393700"/>
              </a:xfrm>
              <a:prstGeom prst="rect">
                <a:avLst/>
              </a:prstGeom>
              <a:blipFill>
                <a:blip r:embed="rId13"/>
                <a:stretch>
                  <a:fillRect b="-20313"/>
                </a:stretch>
              </a:blipFill>
            </p:spPr>
            <p:txBody>
              <a:bodyPr/>
              <a:lstStyle/>
              <a:p>
                <a:r>
                  <a:rPr lang="zh-CN" altLang="en-US">
                    <a:noFill/>
                  </a:rPr>
                  <a:t> </a:t>
                </a:r>
              </a:p>
            </p:txBody>
          </p:sp>
        </mc:Fallback>
      </mc:AlternateContent>
      <p:sp>
        <p:nvSpPr>
          <p:cNvPr id="35" name="Rectangle 2">
            <a:extLst>
              <a:ext uri="{FF2B5EF4-FFF2-40B4-BE49-F238E27FC236}">
                <a16:creationId xmlns:a16="http://schemas.microsoft.com/office/drawing/2014/main" id="{4E2FB162-79FE-C8C9-D95D-69ECA379185E}"/>
              </a:ext>
            </a:extLst>
          </p:cNvPr>
          <p:cNvSpPr txBox="1">
            <a:spLocks noChangeArrowheads="1"/>
          </p:cNvSpPr>
          <p:nvPr/>
        </p:nvSpPr>
        <p:spPr>
          <a:xfrm>
            <a:off x="1147216" y="785735"/>
            <a:ext cx="2411140"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2. </a:t>
            </a:r>
            <a:r>
              <a:rPr kumimoji="1" lang="zh-CN" altLang="en-US" dirty="0">
                <a:solidFill>
                  <a:srgbClr val="04926A"/>
                </a:solidFill>
                <a:latin typeface="微软雅黑" panose="020B0503020204020204" pitchFamily="34" charset="-122"/>
                <a:ea typeface="微软雅黑" panose="020B0503020204020204" pitchFamily="34" charset="-122"/>
                <a:cs typeface="+mn-cs"/>
              </a:rPr>
              <a:t>可微的定义</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grpSp>
        <p:nvGrpSpPr>
          <p:cNvPr id="20" name="组合 19">
            <a:extLst>
              <a:ext uri="{FF2B5EF4-FFF2-40B4-BE49-F238E27FC236}">
                <a16:creationId xmlns:a16="http://schemas.microsoft.com/office/drawing/2014/main" id="{D348FCEB-A029-5E01-7A75-71BB435DF7E6}"/>
              </a:ext>
            </a:extLst>
          </p:cNvPr>
          <p:cNvGrpSpPr/>
          <p:nvPr/>
        </p:nvGrpSpPr>
        <p:grpSpPr>
          <a:xfrm>
            <a:off x="1659232" y="1458820"/>
            <a:ext cx="971550" cy="448945"/>
            <a:chOff x="1553" y="3803"/>
            <a:chExt cx="1530" cy="707"/>
          </a:xfrm>
        </p:grpSpPr>
        <p:sp>
          <p:nvSpPr>
            <p:cNvPr id="21" name="圆角矩形 57">
              <a:extLst>
                <a:ext uri="{FF2B5EF4-FFF2-40B4-BE49-F238E27FC236}">
                  <a16:creationId xmlns:a16="http://schemas.microsoft.com/office/drawing/2014/main" id="{41E0B09F-3D8D-B207-977B-102C891777C2}"/>
                </a:ext>
              </a:extLst>
            </p:cNvPr>
            <p:cNvSpPr/>
            <p:nvPr/>
          </p:nvSpPr>
          <p:spPr>
            <a:xfrm>
              <a:off x="1553" y="3803"/>
              <a:ext cx="1417"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2" name="Text Box 28">
              <a:extLst>
                <a:ext uri="{FF2B5EF4-FFF2-40B4-BE49-F238E27FC236}">
                  <a16:creationId xmlns:a16="http://schemas.microsoft.com/office/drawing/2014/main" id="{03B62A04-6D05-3E84-ED45-D63423ECAF9E}"/>
                </a:ext>
              </a:extLst>
            </p:cNvPr>
            <p:cNvSpPr txBox="1">
              <a:spLocks noChangeArrowheads="1"/>
            </p:cNvSpPr>
            <p:nvPr/>
          </p:nvSpPr>
          <p:spPr bwMode="auto">
            <a:xfrm>
              <a:off x="1645" y="3912"/>
              <a:ext cx="1438" cy="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r>
                <a:rPr kumimoji="1" lang="zh-CN" altLang="en-US" sz="2800" b="1" dirty="0">
                  <a:solidFill>
                    <a:schemeClr val="bg1"/>
                  </a:solidFill>
                  <a:latin typeface="微软雅黑" panose="020B0503020204020204" pitchFamily="34" charset="-122"/>
                  <a:ea typeface="微软雅黑" panose="020B0503020204020204" pitchFamily="34" charset="-122"/>
                  <a:cs typeface="+mn-cs"/>
                  <a:sym typeface="+mn-lt"/>
                </a:rPr>
                <a:t>定义</a:t>
              </a:r>
              <a:r>
                <a:rPr kumimoji="1" lang="en-US" altLang="zh-CN" sz="2800" b="1" dirty="0">
                  <a:solidFill>
                    <a:schemeClr val="bg1"/>
                  </a:solidFill>
                  <a:latin typeface="微软雅黑" panose="020B0503020204020204" pitchFamily="34" charset="-122"/>
                  <a:ea typeface="微软雅黑" panose="020B0503020204020204" pitchFamily="34" charset="-122"/>
                  <a:cs typeface="+mn-cs"/>
                  <a:sym typeface="+mn-lt"/>
                </a:rPr>
                <a:t> </a:t>
              </a:r>
            </a:p>
          </p:txBody>
        </p:sp>
      </p:grpSp>
    </p:spTree>
    <p:extLst>
      <p:ext uri="{BB962C8B-B14F-4D97-AF65-F5344CB8AC3E}">
        <p14:creationId xmlns:p14="http://schemas.microsoft.com/office/powerpoint/2010/main" val="109202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wipe(left)">
                                      <p:cBhvr>
                                        <p:cTn id="67" dur="500"/>
                                        <p:tgtEl>
                                          <p:spTgt spid="19"/>
                                        </p:tgtEl>
                                      </p:cBhvr>
                                    </p:animEffect>
                                  </p:childTnLst>
                                </p:cTn>
                              </p:par>
                            </p:childTnLst>
                          </p:cTn>
                        </p:par>
                        <p:par>
                          <p:cTn id="68" fill="hold">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wipe(left)">
                                      <p:cBhvr>
                                        <p:cTn id="71" dur="500"/>
                                        <p:tgtEl>
                                          <p:spTgt spid="8"/>
                                        </p:tgtEl>
                                      </p:cBhvr>
                                    </p:animEffect>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wipe(left)">
                                      <p:cBhvr>
                                        <p:cTn id="75" dur="500"/>
                                        <p:tgtEl>
                                          <p:spTgt spid="9"/>
                                        </p:tgtEl>
                                      </p:cBhvr>
                                    </p:animEffect>
                                  </p:childTnLst>
                                </p:cTn>
                              </p:par>
                            </p:childTnLst>
                          </p:cTn>
                        </p:par>
                        <p:par>
                          <p:cTn id="76" fill="hold">
                            <p:stCondLst>
                              <p:cond delay="1500"/>
                            </p:stCondLst>
                            <p:childTnLst>
                              <p:par>
                                <p:cTn id="77" presetID="22" presetClass="entr" presetSubtype="8" fill="hold" grpId="0" nodeType="after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left)">
                                      <p:cBhvr>
                                        <p:cTn id="79" dur="500"/>
                                        <p:tgtEl>
                                          <p:spTgt spid="1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ipe(left)">
                                      <p:cBhvr>
                                        <p:cTn id="84" dur="500"/>
                                        <p:tgtEl>
                                          <p:spTgt spid="11"/>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2"/>
                                        </p:tgtEl>
                                        <p:attrNameLst>
                                          <p:attrName>style.visibility</p:attrName>
                                        </p:attrNameLst>
                                      </p:cBhvr>
                                      <p:to>
                                        <p:strVal val="visible"/>
                                      </p:to>
                                    </p:set>
                                    <p:animEffect transition="in" filter="wipe(left)">
                                      <p:cBhvr>
                                        <p:cTn id="89" dur="500"/>
                                        <p:tgtEl>
                                          <p:spTgt spid="12"/>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wipe(left)">
                                      <p:cBhvr>
                                        <p:cTn id="9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a:extLst>
              <a:ext uri="{FF2B5EF4-FFF2-40B4-BE49-F238E27FC236}">
                <a16:creationId xmlns:a16="http://schemas.microsoft.com/office/drawing/2014/main" id="{B89F5AE4-7E40-3EC3-ABB6-003BFAB89620}"/>
              </a:ext>
            </a:extLst>
          </p:cNvPr>
          <p:cNvGrpSpPr/>
          <p:nvPr/>
        </p:nvGrpSpPr>
        <p:grpSpPr>
          <a:xfrm>
            <a:off x="1139825" y="699135"/>
            <a:ext cx="9970770" cy="5509895"/>
            <a:chOff x="1649" y="2344"/>
            <a:chExt cx="16057" cy="7346"/>
          </a:xfrm>
        </p:grpSpPr>
        <p:sp>
          <p:nvSpPr>
            <p:cNvPr id="28" name="矩形 27">
              <a:extLst>
                <a:ext uri="{FF2B5EF4-FFF2-40B4-BE49-F238E27FC236}">
                  <a16:creationId xmlns:a16="http://schemas.microsoft.com/office/drawing/2014/main" id="{0AE655D2-3015-E006-FF37-FFA1DA7CC75C}"/>
                </a:ext>
              </a:extLst>
            </p:cNvPr>
            <p:cNvSpPr/>
            <p:nvPr/>
          </p:nvSpPr>
          <p:spPr>
            <a:xfrm>
              <a:off x="1821" y="2483"/>
              <a:ext cx="15885" cy="720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CB7165F5-5201-8BAF-98E8-D03F8AF11202}"/>
                </a:ext>
              </a:extLst>
            </p:cNvPr>
            <p:cNvSpPr/>
            <p:nvPr/>
          </p:nvSpPr>
          <p:spPr>
            <a:xfrm>
              <a:off x="1649" y="2344"/>
              <a:ext cx="15885" cy="7207"/>
            </a:xfrm>
            <a:prstGeom prst="rect">
              <a:avLst/>
            </a:prstGeom>
            <a:solidFill>
              <a:schemeClr val="bg1"/>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ct val="50000"/>
                </a:spcBef>
              </a:pPr>
              <a:endParaRPr lang="zh-CN" altLang="en-US" sz="2800" dirty="0">
                <a:solidFill>
                  <a:srgbClr val="04926A"/>
                </a:solidFill>
                <a:latin typeface="黑体" panose="02010609060101010101" pitchFamily="49" charset="-122"/>
                <a:ea typeface="黑体" panose="02010609060101010101" pitchFamily="49" charset="-122"/>
                <a:sym typeface="+mn-ea"/>
              </a:endParaRPr>
            </a:p>
          </p:txBody>
        </p:sp>
      </p:grpSp>
      <mc:AlternateContent xmlns:mc="http://schemas.openxmlformats.org/markup-compatibility/2006" xmlns:a14="http://schemas.microsoft.com/office/drawing/2010/main">
        <mc:Choice Requires="a14">
          <p:sp>
            <p:nvSpPr>
              <p:cNvPr id="3" name="Object 5">
                <a:extLst>
                  <a:ext uri="{FF2B5EF4-FFF2-40B4-BE49-F238E27FC236}">
                    <a16:creationId xmlns:a16="http://schemas.microsoft.com/office/drawing/2014/main" id="{C312602B-9F4E-BCFC-0D08-70257774D1CB}"/>
                  </a:ext>
                </a:extLst>
              </p:cNvPr>
              <p:cNvSpPr txBox="1"/>
              <p:nvPr/>
            </p:nvSpPr>
            <p:spPr bwMode="auto">
              <a:xfrm>
                <a:off x="4167230" y="2135310"/>
                <a:ext cx="4478386" cy="6731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limLow>
                        <m:limLow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8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lim>
                      </m:limLow>
                      <m:d>
                        <m:dPr>
                          <m:begChr m:val=""/>
                          <m:endChr m:val="]"/>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d>
                            <m:dPr>
                              <m:begChr m:val="["/>
                              <m:endChr m:val=""/>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en-US" altLang="zh-CN"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𝐴</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𝐵</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d>
                        </m:e>
                      </m: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3" name="Object 5">
                <a:extLst>
                  <a:ext uri="{FF2B5EF4-FFF2-40B4-BE49-F238E27FC236}">
                    <a16:creationId xmlns:a16="http://schemas.microsoft.com/office/drawing/2014/main" id="{C312602B-9F4E-BCFC-0D08-70257774D1CB}"/>
                  </a:ext>
                </a:extLst>
              </p:cNvPr>
              <p:cNvSpPr txBox="1">
                <a:spLocks noRot="1" noChangeAspect="1" noMove="1" noResize="1" noEditPoints="1" noAdjustHandles="1" noChangeArrowheads="1" noChangeShapeType="1" noTextEdit="1"/>
              </p:cNvSpPr>
              <p:nvPr/>
            </p:nvSpPr>
            <p:spPr bwMode="auto">
              <a:xfrm>
                <a:off x="4167230" y="2135310"/>
                <a:ext cx="4478386" cy="673100"/>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4" name="Rectangle 24">
            <a:extLst>
              <a:ext uri="{FF2B5EF4-FFF2-40B4-BE49-F238E27FC236}">
                <a16:creationId xmlns:a16="http://schemas.microsoft.com/office/drawing/2014/main" id="{9990E88B-502C-C37C-4471-9D1861788BEA}"/>
              </a:ext>
            </a:extLst>
          </p:cNvPr>
          <p:cNvSpPr>
            <a:spLocks noChangeArrowheads="1"/>
          </p:cNvSpPr>
          <p:nvPr/>
        </p:nvSpPr>
        <p:spPr bwMode="auto">
          <a:xfrm>
            <a:off x="2717433" y="4315732"/>
            <a:ext cx="7496908" cy="976312"/>
          </a:xfrm>
          <a:prstGeom prst="rect">
            <a:avLst/>
          </a:prstGeom>
          <a:solidFill>
            <a:schemeClr val="bg1"/>
          </a:solidFill>
          <a:ln w="19050">
            <a:solidFill>
              <a:srgbClr val="04926A"/>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4800" b="0" i="0" u="none" strike="noStrike" kern="1200" cap="none" spc="0" normalizeH="0" baseline="0" noProof="0">
              <a:ln>
                <a:noFill/>
              </a:ln>
              <a:solidFill>
                <a:prstClr val="black"/>
              </a:solidFill>
              <a:effectLst/>
              <a:uLnTx/>
              <a:uFillTx/>
              <a:latin typeface="Times New Roman" panose="020F0502020204030204"/>
              <a:ea typeface="黑体"/>
              <a:cs typeface="+mn-ea"/>
              <a:sym typeface="+mn-lt"/>
            </a:endParaRPr>
          </a:p>
        </p:txBody>
      </p:sp>
      <mc:AlternateContent xmlns:mc="http://schemas.openxmlformats.org/markup-compatibility/2006" xmlns:a14="http://schemas.microsoft.com/office/drawing/2010/main">
        <mc:Choice Requires="a14">
          <p:sp>
            <p:nvSpPr>
              <p:cNvPr id="5" name="Text Box 3">
                <a:extLst>
                  <a:ext uri="{FF2B5EF4-FFF2-40B4-BE49-F238E27FC236}">
                    <a16:creationId xmlns:a16="http://schemas.microsoft.com/office/drawing/2014/main" id="{2F844339-A107-7B0F-E367-4F2EC7FF8F37}"/>
                  </a:ext>
                </a:extLst>
              </p:cNvPr>
              <p:cNvSpPr txBox="1">
                <a:spLocks noChangeArrowheads="1"/>
              </p:cNvSpPr>
              <p:nvPr/>
            </p:nvSpPr>
            <p:spPr bwMode="auto">
              <a:xfrm>
                <a:off x="2726958" y="4308598"/>
                <a:ext cx="5105400" cy="519112"/>
              </a:xfrm>
              <a:prstGeom prst="rect">
                <a:avLst/>
              </a:prstGeom>
              <a:noFill/>
              <a:ln>
                <a:noFill/>
              </a:ln>
              <a:extLst>
                <a:ext uri="{909E8E84-426E-40DD-AFC4-6F175D3DCCD1}">
                  <a14:hiddenFill>
                    <a:solidFill>
                      <a:schemeClr val="bg1"/>
                    </a:solidFill>
                  </a14:hiddenFill>
                </a:ext>
                <a:ext uri="{91240B29-F687-4F45-9708-019B960494DF}">
                  <a14:hiddenLine w="9525">
                    <a:solidFill>
                      <a:schemeClr val="tx1"/>
                    </a:solidFill>
                    <a:miter lim="800000"/>
                    <a:headEnd/>
                    <a:tailEnd/>
                  </a14:hiddenLine>
                </a:ext>
              </a:extLst>
            </p:spPr>
            <p:txBody>
              <a:bodyPr>
                <a:spAutoFit/>
              </a:bodyPr>
              <a:lstStyle/>
              <a:p>
                <a:pPr lvl="0" fontAlgn="base">
                  <a:spcBef>
                    <a:spcPct val="50000"/>
                  </a:spcBef>
                  <a:spcAft>
                    <a:spcPct val="0"/>
                  </a:spcAf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函数</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在点</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可微</a:t>
                </a:r>
              </a:p>
            </p:txBody>
          </p:sp>
        </mc:Choice>
        <mc:Fallback xmlns="">
          <p:sp>
            <p:nvSpPr>
              <p:cNvPr id="5" name="Text Box 3">
                <a:extLst>
                  <a:ext uri="{FF2B5EF4-FFF2-40B4-BE49-F238E27FC236}">
                    <a16:creationId xmlns:a16="http://schemas.microsoft.com/office/drawing/2014/main" id="{2F844339-A107-7B0F-E367-4F2EC7FF8F37}"/>
                  </a:ext>
                </a:extLst>
              </p:cNvPr>
              <p:cNvSpPr txBox="1">
                <a:spLocks noRot="1" noChangeAspect="1" noMove="1" noResize="1" noEditPoints="1" noAdjustHandles="1" noChangeArrowheads="1" noChangeShapeType="1" noTextEdit="1"/>
              </p:cNvSpPr>
              <p:nvPr/>
            </p:nvSpPr>
            <p:spPr bwMode="auto">
              <a:xfrm>
                <a:off x="2726958" y="4308598"/>
                <a:ext cx="5105400" cy="519112"/>
              </a:xfrm>
              <a:prstGeom prst="rect">
                <a:avLst/>
              </a:prstGeom>
              <a:blipFill>
                <a:blip r:embed="rId4"/>
                <a:stretch>
                  <a:fillRect l="-2387" t="-16471" b="-32941"/>
                </a:stretch>
              </a:blip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22">
                <a:extLst>
                  <a:ext uri="{FF2B5EF4-FFF2-40B4-BE49-F238E27FC236}">
                    <a16:creationId xmlns:a16="http://schemas.microsoft.com/office/drawing/2014/main" id="{876495A9-B1F0-251A-2AA9-6264EFEB3283}"/>
                  </a:ext>
                </a:extLst>
              </p:cNvPr>
              <p:cNvSpPr txBox="1"/>
              <p:nvPr/>
            </p:nvSpPr>
            <p:spPr bwMode="auto">
              <a:xfrm>
                <a:off x="2576325" y="3143765"/>
                <a:ext cx="5653912" cy="939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800">
                                  <a:latin typeface="Cambria Math" panose="02040503050406030204" charset="0"/>
                                  <a:ea typeface="黑体" panose="02010609060101010101" pitchFamily="49" charset="-122"/>
                                  <a:cs typeface="Cambria Math" panose="02040503050406030204" charset="0"/>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latin typeface="Cambria Math" panose="02040503050406030204" charset="0"/>
                                  <a:ea typeface="黑体" panose="02010609060101010101" pitchFamily="49" charset="-122"/>
                                  <a:cs typeface="Cambria Math" panose="02040503050406030204" charset="0"/>
                                </a:rPr>
                                <m:t>𝑥</m:t>
                              </m:r>
                              <m:r>
                                <a:rPr kumimoji="1" lang="zh-CN" altLang="en-US" sz="2800">
                                  <a:latin typeface="Cambria Math" panose="02040503050406030204" charset="0"/>
                                  <a:ea typeface="黑体" panose="02010609060101010101" pitchFamily="49" charset="-122"/>
                                  <a:cs typeface="Cambria Math" panose="02040503050406030204" charset="0"/>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latin typeface="Cambria Math" panose="02040503050406030204" charset="0"/>
                                  <a:ea typeface="黑体" panose="02010609060101010101" pitchFamily="49" charset="-122"/>
                                  <a:cs typeface="Cambria Math" panose="02040503050406030204" charset="0"/>
                                </a:rPr>
                                <m:t>𝑦</m:t>
                              </m:r>
                              <m:r>
                                <a:rPr kumimoji="1" lang="zh-CN" altLang="en-US" sz="2800">
                                  <a:latin typeface="Cambria Math" panose="02040503050406030204" charset="0"/>
                                  <a:ea typeface="黑体" panose="02010609060101010101" pitchFamily="49" charset="-122"/>
                                  <a:cs typeface="Cambria Math" panose="02040503050406030204" charset="0"/>
                                </a:rPr>
                                <m:t>)→(</m:t>
                              </m:r>
                              <m:r>
                                <a:rPr kumimoji="1" lang="en-US" altLang="zh-CN" sz="2800" i="1">
                                  <a:latin typeface="Cambria Math" panose="02040503050406030204" pitchFamily="18" charset="0"/>
                                  <a:ea typeface="黑体" panose="02010609060101010101" pitchFamily="49" charset="-122"/>
                                  <a:cs typeface="Cambria Math" panose="02040503050406030204" charset="0"/>
                                </a:rPr>
                                <m:t>0</m:t>
                              </m:r>
                              <m:r>
                                <a:rPr kumimoji="1" lang="zh-CN" altLang="en-US" sz="2800">
                                  <a:latin typeface="Cambria Math" panose="02040503050406030204" charset="0"/>
                                  <a:ea typeface="黑体" panose="02010609060101010101" pitchFamily="49" charset="-122"/>
                                  <a:cs typeface="Cambria Math" panose="02040503050406030204" charset="0"/>
                                </a:rPr>
                                <m:t>,</m:t>
                              </m:r>
                              <m:r>
                                <a:rPr kumimoji="1" lang="en-US" altLang="zh-CN" sz="2800" i="1">
                                  <a:latin typeface="Cambria Math" panose="02040503050406030204" pitchFamily="18" charset="0"/>
                                  <a:ea typeface="黑体" panose="02010609060101010101" pitchFamily="49" charset="-122"/>
                                  <a:cs typeface="Cambria Math" panose="02040503050406030204" charset="0"/>
                                </a:rPr>
                                <m:t>0</m:t>
                              </m:r>
                              <m:r>
                                <a:rPr kumimoji="1" lang="zh-CN" altLang="en-US" sz="2800">
                                  <a:latin typeface="Cambria Math" panose="02040503050406030204" charset="0"/>
                                  <a:ea typeface="黑体" panose="02010609060101010101" pitchFamily="49" charset="-122"/>
                                  <a:cs typeface="Cambria Math" panose="02040503050406030204" charset="0"/>
                                </a:rPr>
                                <m:t>)</m:t>
                              </m:r>
                            </m:lim>
                          </m:limLow>
                        </m:fName>
                        <m:e>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e>
                      </m:func>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6" name="Object 22">
                <a:extLst>
                  <a:ext uri="{FF2B5EF4-FFF2-40B4-BE49-F238E27FC236}">
                    <a16:creationId xmlns:a16="http://schemas.microsoft.com/office/drawing/2014/main" id="{876495A9-B1F0-251A-2AA9-6264EFEB3283}"/>
                  </a:ext>
                </a:extLst>
              </p:cNvPr>
              <p:cNvSpPr txBox="1">
                <a:spLocks noRot="1" noChangeAspect="1" noMove="1" noResize="1" noEditPoints="1" noAdjustHandles="1" noChangeArrowheads="1" noChangeShapeType="1" noTextEdit="1"/>
              </p:cNvSpPr>
              <p:nvPr/>
            </p:nvSpPr>
            <p:spPr bwMode="auto">
              <a:xfrm>
                <a:off x="2576325" y="3143765"/>
                <a:ext cx="5653912" cy="939800"/>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7" name="Rectangle 27">
            <a:extLst>
              <a:ext uri="{FF2B5EF4-FFF2-40B4-BE49-F238E27FC236}">
                <a16:creationId xmlns:a16="http://schemas.microsoft.com/office/drawing/2014/main" id="{9986F015-2B99-B9F2-1BD6-F97896CF4831}"/>
              </a:ext>
            </a:extLst>
          </p:cNvPr>
          <p:cNvSpPr txBox="1">
            <a:spLocks noChangeArrowheads="1"/>
          </p:cNvSpPr>
          <p:nvPr/>
        </p:nvSpPr>
        <p:spPr>
          <a:xfrm>
            <a:off x="1960196" y="1551110"/>
            <a:ext cx="2514600" cy="533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n-cs"/>
                <a:sym typeface="+mn-lt"/>
              </a:rPr>
              <a:t>由微分定义</a:t>
            </a:r>
            <a:r>
              <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mn-cs"/>
                <a:sym typeface="+mn-lt"/>
              </a:rPr>
              <a:t>:</a:t>
            </a:r>
          </a:p>
        </p:txBody>
      </p:sp>
      <p:sp>
        <p:nvSpPr>
          <p:cNvPr id="8" name="Text Box 28">
            <a:extLst>
              <a:ext uri="{FF2B5EF4-FFF2-40B4-BE49-F238E27FC236}">
                <a16:creationId xmlns:a16="http://schemas.microsoft.com/office/drawing/2014/main" id="{72C565C9-3509-10E6-A66E-6B53CA9F7D8A}"/>
              </a:ext>
            </a:extLst>
          </p:cNvPr>
          <p:cNvSpPr txBox="1">
            <a:spLocks noChangeArrowheads="1"/>
          </p:cNvSpPr>
          <p:nvPr/>
        </p:nvSpPr>
        <p:spPr bwMode="auto">
          <a:xfrm>
            <a:off x="1966546" y="3166551"/>
            <a:ext cx="68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得</a:t>
            </a:r>
          </a:p>
        </p:txBody>
      </p:sp>
      <mc:AlternateContent xmlns:mc="http://schemas.openxmlformats.org/markup-compatibility/2006" xmlns:a14="http://schemas.microsoft.com/office/drawing/2010/main">
        <mc:Choice Requires="a14">
          <p:sp>
            <p:nvSpPr>
              <p:cNvPr id="9" name="Object 29">
                <a:extLst>
                  <a:ext uri="{FF2B5EF4-FFF2-40B4-BE49-F238E27FC236}">
                    <a16:creationId xmlns:a16="http://schemas.microsoft.com/office/drawing/2014/main" id="{E0C44AC3-9DBB-7F2D-52BC-0161428AC188}"/>
                  </a:ext>
                </a:extLst>
              </p:cNvPr>
              <p:cNvSpPr txBox="1"/>
              <p:nvPr/>
            </p:nvSpPr>
            <p:spPr bwMode="auto">
              <a:xfrm>
                <a:off x="1870364" y="2135310"/>
                <a:ext cx="2039282" cy="939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800">
                                  <a:latin typeface="Cambria Math" panose="02040503050406030204" charset="0"/>
                                  <a:ea typeface="黑体" panose="02010609060101010101" pitchFamily="49" charset="-122"/>
                                  <a:cs typeface="Cambria Math" panose="02040503050406030204" charset="0"/>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latin typeface="Cambria Math" panose="02040503050406030204" charset="0"/>
                                  <a:ea typeface="黑体" panose="02010609060101010101" pitchFamily="49" charset="-122"/>
                                  <a:cs typeface="Cambria Math" panose="02040503050406030204" charset="0"/>
                                </a:rPr>
                                <m:t>𝑥</m:t>
                              </m:r>
                              <m:r>
                                <a:rPr kumimoji="1" lang="zh-CN" altLang="en-US" sz="2800">
                                  <a:latin typeface="Cambria Math" panose="02040503050406030204" charset="0"/>
                                  <a:ea typeface="黑体" panose="02010609060101010101" pitchFamily="49" charset="-122"/>
                                  <a:cs typeface="Cambria Math" panose="02040503050406030204" charset="0"/>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latin typeface="Cambria Math" panose="02040503050406030204" charset="0"/>
                                  <a:ea typeface="黑体" panose="02010609060101010101" pitchFamily="49" charset="-122"/>
                                  <a:cs typeface="Cambria Math" panose="02040503050406030204" charset="0"/>
                                </a:rPr>
                                <m:t>𝑦</m:t>
                              </m:r>
                              <m:r>
                                <a:rPr kumimoji="1" lang="zh-CN" altLang="en-US" sz="2800">
                                  <a:latin typeface="Cambria Math" panose="02040503050406030204" charset="0"/>
                                  <a:ea typeface="黑体" panose="02010609060101010101" pitchFamily="49" charset="-122"/>
                                  <a:cs typeface="Cambria Math" panose="02040503050406030204" charset="0"/>
                                </a:rPr>
                                <m:t>)→(</m:t>
                              </m:r>
                              <m:r>
                                <a:rPr kumimoji="1" lang="en-US" altLang="zh-CN" sz="2800" b="0" i="1" smtClean="0">
                                  <a:latin typeface="Cambria Math" panose="02040503050406030204" pitchFamily="18" charset="0"/>
                                  <a:ea typeface="黑体" panose="02010609060101010101" pitchFamily="49" charset="-122"/>
                                  <a:cs typeface="Cambria Math" panose="02040503050406030204" charset="0"/>
                                </a:rPr>
                                <m:t>0</m:t>
                              </m:r>
                              <m:r>
                                <a:rPr kumimoji="1" lang="zh-CN" altLang="en-US" sz="2800">
                                  <a:latin typeface="Cambria Math" panose="02040503050406030204" charset="0"/>
                                  <a:ea typeface="黑体" panose="02010609060101010101" pitchFamily="49" charset="-122"/>
                                  <a:cs typeface="Cambria Math" panose="02040503050406030204" charset="0"/>
                                </a:rPr>
                                <m:t>,</m:t>
                              </m:r>
                              <m:r>
                                <a:rPr kumimoji="1" lang="en-US" altLang="zh-CN" sz="2800" b="0" i="1" smtClean="0">
                                  <a:latin typeface="Cambria Math" panose="02040503050406030204" pitchFamily="18" charset="0"/>
                                  <a:ea typeface="黑体" panose="02010609060101010101" pitchFamily="49" charset="-122"/>
                                  <a:cs typeface="Cambria Math" panose="02040503050406030204" charset="0"/>
                                </a:rPr>
                                <m:t>0</m:t>
                              </m:r>
                              <m:r>
                                <a:rPr kumimoji="1" lang="zh-CN" altLang="en-US" sz="2800">
                                  <a:latin typeface="Cambria Math" panose="02040503050406030204" charset="0"/>
                                  <a:ea typeface="黑体" panose="02010609060101010101" pitchFamily="49" charset="-122"/>
                                  <a:cs typeface="Cambria Math" panose="02040503050406030204" charset="0"/>
                                </a:rPr>
                                <m:t>)</m:t>
                              </m:r>
                            </m:lim>
                          </m:limLow>
                        </m:fName>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e>
                      </m:func>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9" name="Object 29">
                <a:extLst>
                  <a:ext uri="{FF2B5EF4-FFF2-40B4-BE49-F238E27FC236}">
                    <a16:creationId xmlns:a16="http://schemas.microsoft.com/office/drawing/2014/main" id="{E0C44AC3-9DBB-7F2D-52BC-0161428AC188}"/>
                  </a:ext>
                </a:extLst>
              </p:cNvPr>
              <p:cNvSpPr txBox="1">
                <a:spLocks noRot="1" noChangeAspect="1" noMove="1" noResize="1" noEditPoints="1" noAdjustHandles="1" noChangeArrowheads="1" noChangeShapeType="1" noTextEdit="1"/>
              </p:cNvSpPr>
              <p:nvPr/>
            </p:nvSpPr>
            <p:spPr bwMode="auto">
              <a:xfrm>
                <a:off x="1870364" y="2135310"/>
                <a:ext cx="2039282" cy="939800"/>
              </a:xfrm>
              <a:prstGeom prst="rect">
                <a:avLst/>
              </a:prstGeom>
              <a:blipFill>
                <a:blip r:embed="rId6"/>
                <a:stretch>
                  <a:fillRect r="-1167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30">
                <a:extLst>
                  <a:ext uri="{FF2B5EF4-FFF2-40B4-BE49-F238E27FC236}">
                    <a16:creationId xmlns:a16="http://schemas.microsoft.com/office/drawing/2014/main" id="{1C7AE633-29B2-8356-E032-ADAEA4CB8A0D}"/>
                  </a:ext>
                </a:extLst>
              </p:cNvPr>
              <p:cNvSpPr txBox="1"/>
              <p:nvPr/>
            </p:nvSpPr>
            <p:spPr bwMode="auto">
              <a:xfrm>
                <a:off x="8507102" y="2142528"/>
                <a:ext cx="792195" cy="46268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0" name="Object 30">
                <a:extLst>
                  <a:ext uri="{FF2B5EF4-FFF2-40B4-BE49-F238E27FC236}">
                    <a16:creationId xmlns:a16="http://schemas.microsoft.com/office/drawing/2014/main" id="{1C7AE633-29B2-8356-E032-ADAEA4CB8A0D}"/>
                  </a:ext>
                </a:extLst>
              </p:cNvPr>
              <p:cNvSpPr txBox="1">
                <a:spLocks noRot="1" noChangeAspect="1" noMove="1" noResize="1" noEditPoints="1" noAdjustHandles="1" noChangeArrowheads="1" noChangeShapeType="1" noTextEdit="1"/>
              </p:cNvSpPr>
              <p:nvPr/>
            </p:nvSpPr>
            <p:spPr bwMode="auto">
              <a:xfrm>
                <a:off x="8507102" y="2142528"/>
                <a:ext cx="792195" cy="462682"/>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31">
                <a:extLst>
                  <a:ext uri="{FF2B5EF4-FFF2-40B4-BE49-F238E27FC236}">
                    <a16:creationId xmlns:a16="http://schemas.microsoft.com/office/drawing/2014/main" id="{A1AB226B-E4CC-79B2-9A69-5B81C475739D}"/>
                  </a:ext>
                </a:extLst>
              </p:cNvPr>
              <p:cNvSpPr txBox="1"/>
              <p:nvPr/>
            </p:nvSpPr>
            <p:spPr bwMode="auto">
              <a:xfrm>
                <a:off x="7260742" y="3159860"/>
                <a:ext cx="1642457" cy="4841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1" name="Object 31">
                <a:extLst>
                  <a:ext uri="{FF2B5EF4-FFF2-40B4-BE49-F238E27FC236}">
                    <a16:creationId xmlns:a16="http://schemas.microsoft.com/office/drawing/2014/main" id="{A1AB226B-E4CC-79B2-9A69-5B81C475739D}"/>
                  </a:ext>
                </a:extLst>
              </p:cNvPr>
              <p:cNvSpPr txBox="1">
                <a:spLocks noRot="1" noChangeAspect="1" noMove="1" noResize="1" noEditPoints="1" noAdjustHandles="1" noChangeArrowheads="1" noChangeShapeType="1" noTextEdit="1"/>
              </p:cNvSpPr>
              <p:nvPr/>
            </p:nvSpPr>
            <p:spPr bwMode="auto">
              <a:xfrm>
                <a:off x="7260742" y="3159860"/>
                <a:ext cx="1642457" cy="484188"/>
              </a:xfrm>
              <a:prstGeom prst="rect">
                <a:avLst/>
              </a:prstGeom>
              <a:blipFill>
                <a:blip r:embed="rId8"/>
                <a:stretch>
                  <a:fillRect/>
                </a:stretch>
              </a:blipFill>
              <a:ln>
                <a:noFill/>
              </a:ln>
              <a:effectLst/>
            </p:spPr>
            <p:txBody>
              <a:bodyPr/>
              <a:lstStyle/>
              <a:p>
                <a:r>
                  <a:rPr lang="zh-CN" altLang="en-US">
                    <a:noFill/>
                  </a:rPr>
                  <a:t> </a:t>
                </a:r>
              </a:p>
            </p:txBody>
          </p:sp>
        </mc:Fallback>
      </mc:AlternateContent>
      <p:sp>
        <p:nvSpPr>
          <p:cNvPr id="12" name="Text Box 33">
            <a:extLst>
              <a:ext uri="{FF2B5EF4-FFF2-40B4-BE49-F238E27FC236}">
                <a16:creationId xmlns:a16="http://schemas.microsoft.com/office/drawing/2014/main" id="{79B1A3BB-C140-6929-9C1C-B5D0FA243AAA}"/>
              </a:ext>
            </a:extLst>
          </p:cNvPr>
          <p:cNvSpPr txBox="1">
            <a:spLocks noChangeArrowheads="1"/>
          </p:cNvSpPr>
          <p:nvPr/>
        </p:nvSpPr>
        <p:spPr bwMode="auto">
          <a:xfrm>
            <a:off x="7375158" y="4765798"/>
            <a:ext cx="2743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函数在该点连续</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p:sp>
        <p:nvSpPr>
          <p:cNvPr id="13" name="AutoShape 34">
            <a:extLst>
              <a:ext uri="{FF2B5EF4-FFF2-40B4-BE49-F238E27FC236}">
                <a16:creationId xmlns:a16="http://schemas.microsoft.com/office/drawing/2014/main" id="{18C0729B-0F2B-0E05-E63F-0AD0476CCD85}"/>
              </a:ext>
            </a:extLst>
          </p:cNvPr>
          <p:cNvSpPr>
            <a:spLocks noChangeArrowheads="1"/>
          </p:cNvSpPr>
          <p:nvPr/>
        </p:nvSpPr>
        <p:spPr bwMode="auto">
          <a:xfrm>
            <a:off x="6315978" y="4962647"/>
            <a:ext cx="1066800" cy="152400"/>
          </a:xfrm>
          <a:prstGeom prst="rightArrow">
            <a:avLst>
              <a:gd name="adj1" fmla="val 50000"/>
              <a:gd name="adj2" fmla="val 175000"/>
            </a:avLst>
          </a:prstGeom>
          <a:solidFill>
            <a:srgbClr val="04926A"/>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4800" b="0" i="0" u="none" strike="noStrike" kern="1200" cap="none" spc="0" normalizeH="0" baseline="0" noProof="0">
              <a:ln>
                <a:noFill/>
              </a:ln>
              <a:solidFill>
                <a:prstClr val="black"/>
              </a:solidFill>
              <a:effectLst/>
              <a:uLnTx/>
              <a:uFillTx/>
              <a:latin typeface="Times New Roman" panose="020F0502020204030204"/>
              <a:ea typeface="黑体"/>
              <a:cs typeface="+mn-ea"/>
              <a:sym typeface="+mn-lt"/>
            </a:endParaRPr>
          </a:p>
        </p:txBody>
      </p:sp>
      <p:sp>
        <p:nvSpPr>
          <p:cNvPr id="14" name="Text Box 48">
            <a:extLst>
              <a:ext uri="{FF2B5EF4-FFF2-40B4-BE49-F238E27FC236}">
                <a16:creationId xmlns:a16="http://schemas.microsoft.com/office/drawing/2014/main" id="{F53562B3-F33C-04E6-A323-5BCD8D5F9EED}"/>
              </a:ext>
            </a:extLst>
          </p:cNvPr>
          <p:cNvSpPr txBox="1">
            <a:spLocks noChangeArrowheads="1"/>
          </p:cNvSpPr>
          <p:nvPr/>
        </p:nvSpPr>
        <p:spPr bwMode="auto">
          <a:xfrm>
            <a:off x="1960196" y="430859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即</a:t>
            </a:r>
          </a:p>
        </p:txBody>
      </p:sp>
    </p:spTree>
    <p:extLst>
      <p:ext uri="{BB962C8B-B14F-4D97-AF65-F5344CB8AC3E}">
        <p14:creationId xmlns:p14="http://schemas.microsoft.com/office/powerpoint/2010/main" val="3543626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left)">
                                      <p:cBhvr>
                                        <p:cTn id="49" dur="500"/>
                                        <p:tgtEl>
                                          <p:spTgt spid="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wipe(left)">
                                      <p:cBhvr>
                                        <p:cTn id="54" dur="500"/>
                                        <p:tgtEl>
                                          <p:spTgt spid="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wipe(left)">
                                      <p:cBhvr>
                                        <p:cTn id="59" dur="500"/>
                                        <p:tgtEl>
                                          <p:spTgt spid="1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wipe(left)">
                                      <p:cBhvr>
                                        <p:cTn id="6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p:bldP spid="8" grpId="0"/>
      <p:bldP spid="9" grpId="0"/>
      <p:bldP spid="10" grpId="0"/>
      <p:bldP spid="11" grpId="0"/>
      <p:bldP spid="12" grpId="0"/>
      <p:bldP spid="13" grpId="0" animBg="1"/>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D48363D2-41A4-B6EB-F8C7-7073CCC9C6DB}"/>
              </a:ext>
            </a:extLst>
          </p:cNvPr>
          <p:cNvGrpSpPr/>
          <p:nvPr/>
        </p:nvGrpSpPr>
        <p:grpSpPr>
          <a:xfrm>
            <a:off x="1111250" y="699135"/>
            <a:ext cx="9970770" cy="5509895"/>
            <a:chOff x="1649" y="2344"/>
            <a:chExt cx="16057" cy="7346"/>
          </a:xfrm>
        </p:grpSpPr>
        <p:sp>
          <p:nvSpPr>
            <p:cNvPr id="18" name="矩形 17">
              <a:extLst>
                <a:ext uri="{FF2B5EF4-FFF2-40B4-BE49-F238E27FC236}">
                  <a16:creationId xmlns:a16="http://schemas.microsoft.com/office/drawing/2014/main" id="{5FF10B33-74CF-E997-2BD2-A60F8ECA1F0F}"/>
                </a:ext>
              </a:extLst>
            </p:cNvPr>
            <p:cNvSpPr/>
            <p:nvPr/>
          </p:nvSpPr>
          <p:spPr>
            <a:xfrm>
              <a:off x="1821" y="2483"/>
              <a:ext cx="15885" cy="720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566420E8-AD48-CD42-C9A8-FA9EA523E3EB}"/>
                </a:ext>
              </a:extLst>
            </p:cNvPr>
            <p:cNvSpPr/>
            <p:nvPr/>
          </p:nvSpPr>
          <p:spPr>
            <a:xfrm>
              <a:off x="1649" y="2344"/>
              <a:ext cx="15885" cy="7207"/>
            </a:xfrm>
            <a:prstGeom prst="rect">
              <a:avLst/>
            </a:prstGeom>
            <a:solidFill>
              <a:schemeClr val="bg1"/>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ct val="50000"/>
                </a:spcBef>
              </a:pPr>
              <a:endParaRPr lang="zh-CN" altLang="en-US" sz="2800" dirty="0">
                <a:solidFill>
                  <a:srgbClr val="04926A"/>
                </a:solidFill>
                <a:latin typeface="黑体" panose="02010609060101010101" pitchFamily="49" charset="-122"/>
                <a:ea typeface="黑体" panose="02010609060101010101" pitchFamily="49" charset="-122"/>
                <a:sym typeface="+mn-ea"/>
              </a:endParaRPr>
            </a:p>
          </p:txBody>
        </p:sp>
      </p:grpSp>
      <p:sp>
        <p:nvSpPr>
          <p:cNvPr id="3" name="Text Box 8">
            <a:extLst>
              <a:ext uri="{FF2B5EF4-FFF2-40B4-BE49-F238E27FC236}">
                <a16:creationId xmlns:a16="http://schemas.microsoft.com/office/drawing/2014/main" id="{AC1CFEE3-3F22-2F64-EB5D-857172377380}"/>
              </a:ext>
            </a:extLst>
          </p:cNvPr>
          <p:cNvSpPr txBox="1">
            <a:spLocks noChangeArrowheads="1"/>
          </p:cNvSpPr>
          <p:nvPr/>
        </p:nvSpPr>
        <p:spPr bwMode="auto">
          <a:xfrm>
            <a:off x="2972428" y="4307474"/>
            <a:ext cx="2590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(2)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偏导数连续</a:t>
            </a:r>
          </a:p>
        </p:txBody>
      </p:sp>
      <p:sp>
        <p:nvSpPr>
          <p:cNvPr id="4" name="Line 11">
            <a:extLst>
              <a:ext uri="{FF2B5EF4-FFF2-40B4-BE49-F238E27FC236}">
                <a16:creationId xmlns:a16="http://schemas.microsoft.com/office/drawing/2014/main" id="{97F2DBEB-AD66-5EC2-5543-201A257F312D}"/>
              </a:ext>
            </a:extLst>
          </p:cNvPr>
          <p:cNvSpPr>
            <a:spLocks noChangeShapeType="1"/>
          </p:cNvSpPr>
          <p:nvPr/>
        </p:nvSpPr>
        <p:spPr bwMode="auto">
          <a:xfrm>
            <a:off x="5540368" y="4498751"/>
            <a:ext cx="1371600"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4800" b="0" i="0" u="none" strike="noStrike" kern="1200" cap="none" spc="0" normalizeH="0" baseline="0" noProof="0">
              <a:ln>
                <a:noFill/>
              </a:ln>
              <a:solidFill>
                <a:prstClr val="black"/>
              </a:solidFill>
              <a:effectLst/>
              <a:uLnTx/>
              <a:uFillTx/>
              <a:latin typeface="Times New Roman" panose="020F0502020204030204"/>
              <a:ea typeface="黑体"/>
              <a:cs typeface="+mn-ea"/>
              <a:sym typeface="+mn-lt"/>
            </a:endParaRPr>
          </a:p>
        </p:txBody>
      </p:sp>
      <p:sp>
        <p:nvSpPr>
          <p:cNvPr id="5" name="Text Box 6">
            <a:extLst>
              <a:ext uri="{FF2B5EF4-FFF2-40B4-BE49-F238E27FC236}">
                <a16:creationId xmlns:a16="http://schemas.microsoft.com/office/drawing/2014/main" id="{E28ADD80-A5E1-D539-C90A-00EEB4DEDD09}"/>
              </a:ext>
            </a:extLst>
          </p:cNvPr>
          <p:cNvSpPr txBox="1">
            <a:spLocks noChangeArrowheads="1"/>
          </p:cNvSpPr>
          <p:nvPr/>
        </p:nvSpPr>
        <p:spPr bwMode="auto">
          <a:xfrm>
            <a:off x="2972428" y="2792377"/>
            <a:ext cx="6781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下面两个定理给出了可微与偏导数的关系</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p>
        </p:txBody>
      </p:sp>
      <p:sp>
        <p:nvSpPr>
          <p:cNvPr id="6" name="Text Box 7">
            <a:extLst>
              <a:ext uri="{FF2B5EF4-FFF2-40B4-BE49-F238E27FC236}">
                <a16:creationId xmlns:a16="http://schemas.microsoft.com/office/drawing/2014/main" id="{56B784F1-097A-4ACC-E0AE-C329C671B9A7}"/>
              </a:ext>
            </a:extLst>
          </p:cNvPr>
          <p:cNvSpPr txBox="1">
            <a:spLocks noChangeArrowheads="1"/>
          </p:cNvSpPr>
          <p:nvPr/>
        </p:nvSpPr>
        <p:spPr bwMode="auto">
          <a:xfrm>
            <a:off x="2972428" y="3549925"/>
            <a:ext cx="2209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(1)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函数可微</a:t>
            </a:r>
          </a:p>
        </p:txBody>
      </p:sp>
      <p:sp>
        <p:nvSpPr>
          <p:cNvPr id="7" name="Line 9">
            <a:extLst>
              <a:ext uri="{FF2B5EF4-FFF2-40B4-BE49-F238E27FC236}">
                <a16:creationId xmlns:a16="http://schemas.microsoft.com/office/drawing/2014/main" id="{9DC36105-5D4B-41A2-1A8F-F30BD0B8B47A}"/>
              </a:ext>
            </a:extLst>
          </p:cNvPr>
          <p:cNvSpPr>
            <a:spLocks noChangeShapeType="1"/>
          </p:cNvSpPr>
          <p:nvPr/>
        </p:nvSpPr>
        <p:spPr bwMode="auto">
          <a:xfrm>
            <a:off x="5182107" y="3723427"/>
            <a:ext cx="137160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4800" b="0" i="0" u="none" strike="noStrike" kern="1200" cap="none" spc="0" normalizeH="0" baseline="0" noProof="0">
              <a:ln>
                <a:noFill/>
              </a:ln>
              <a:solidFill>
                <a:prstClr val="black"/>
              </a:solidFill>
              <a:effectLst/>
              <a:uLnTx/>
              <a:uFillTx/>
              <a:latin typeface="Times New Roman" panose="020F0502020204030204"/>
              <a:ea typeface="黑体"/>
              <a:cs typeface="+mn-ea"/>
              <a:sym typeface="+mn-lt"/>
            </a:endParaRPr>
          </a:p>
        </p:txBody>
      </p:sp>
      <p:grpSp>
        <p:nvGrpSpPr>
          <p:cNvPr id="8" name="Group 18">
            <a:extLst>
              <a:ext uri="{FF2B5EF4-FFF2-40B4-BE49-F238E27FC236}">
                <a16:creationId xmlns:a16="http://schemas.microsoft.com/office/drawing/2014/main" id="{36F8DE05-9F7E-3071-348A-61EB5F2224BF}"/>
              </a:ext>
            </a:extLst>
          </p:cNvPr>
          <p:cNvGrpSpPr>
            <a:grpSpLocks/>
          </p:cNvGrpSpPr>
          <p:nvPr/>
        </p:nvGrpSpPr>
        <p:grpSpPr bwMode="auto">
          <a:xfrm>
            <a:off x="5540368" y="4576537"/>
            <a:ext cx="1371600" cy="228600"/>
            <a:chOff x="2400" y="3456"/>
            <a:chExt cx="864" cy="144"/>
          </a:xfrm>
        </p:grpSpPr>
        <p:sp>
          <p:nvSpPr>
            <p:cNvPr id="9" name="Line 13">
              <a:extLst>
                <a:ext uri="{FF2B5EF4-FFF2-40B4-BE49-F238E27FC236}">
                  <a16:creationId xmlns:a16="http://schemas.microsoft.com/office/drawing/2014/main" id="{5F893CBD-5E3E-B162-13E0-2CE975604D2A}"/>
                </a:ext>
              </a:extLst>
            </p:cNvPr>
            <p:cNvSpPr>
              <a:spLocks noChangeShapeType="1"/>
            </p:cNvSpPr>
            <p:nvPr/>
          </p:nvSpPr>
          <p:spPr bwMode="auto">
            <a:xfrm flipH="1">
              <a:off x="2400" y="3504"/>
              <a:ext cx="864" cy="0"/>
            </a:xfrm>
            <a:prstGeom prst="line">
              <a:avLst/>
            </a:prstGeom>
            <a:noFill/>
            <a:ln w="19050">
              <a:solidFill>
                <a:srgbClr val="04926A"/>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4800" b="0" i="0" u="none" strike="noStrike" kern="1200" cap="none" spc="0" normalizeH="0" baseline="0" noProof="0">
                <a:ln>
                  <a:noFill/>
                </a:ln>
                <a:solidFill>
                  <a:prstClr val="black"/>
                </a:solidFill>
                <a:effectLst/>
                <a:uLnTx/>
                <a:uFillTx/>
                <a:latin typeface="Times New Roman" panose="020F0502020204030204"/>
                <a:ea typeface="黑体"/>
                <a:cs typeface="+mn-ea"/>
                <a:sym typeface="+mn-lt"/>
              </a:endParaRPr>
            </a:p>
          </p:txBody>
        </p:sp>
        <p:sp>
          <p:nvSpPr>
            <p:cNvPr id="10" name="Line 14">
              <a:extLst>
                <a:ext uri="{FF2B5EF4-FFF2-40B4-BE49-F238E27FC236}">
                  <a16:creationId xmlns:a16="http://schemas.microsoft.com/office/drawing/2014/main" id="{EE5FAF5D-5C98-5CB1-6780-0E350EBB9689}"/>
                </a:ext>
              </a:extLst>
            </p:cNvPr>
            <p:cNvSpPr>
              <a:spLocks noChangeShapeType="1"/>
            </p:cNvSpPr>
            <p:nvPr/>
          </p:nvSpPr>
          <p:spPr bwMode="auto">
            <a:xfrm>
              <a:off x="2688" y="3456"/>
              <a:ext cx="288" cy="144"/>
            </a:xfrm>
            <a:prstGeom prst="line">
              <a:avLst/>
            </a:prstGeom>
            <a:noFill/>
            <a:ln w="19050">
              <a:solidFill>
                <a:srgbClr val="04926A"/>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4800" b="0" i="0" u="none" strike="noStrike" kern="1200" cap="none" spc="0" normalizeH="0" baseline="0" noProof="0">
                <a:ln>
                  <a:noFill/>
                </a:ln>
                <a:solidFill>
                  <a:prstClr val="black"/>
                </a:solidFill>
                <a:effectLst/>
                <a:uLnTx/>
                <a:uFillTx/>
                <a:latin typeface="Times New Roman" panose="020F0502020204030204"/>
                <a:ea typeface="黑体"/>
                <a:cs typeface="+mn-ea"/>
                <a:sym typeface="+mn-lt"/>
              </a:endParaRPr>
            </a:p>
          </p:txBody>
        </p:sp>
      </p:grpSp>
      <p:grpSp>
        <p:nvGrpSpPr>
          <p:cNvPr id="11" name="Group 17">
            <a:extLst>
              <a:ext uri="{FF2B5EF4-FFF2-40B4-BE49-F238E27FC236}">
                <a16:creationId xmlns:a16="http://schemas.microsoft.com/office/drawing/2014/main" id="{F2FAF981-04D4-99F0-8FE4-F7B704CAAEBA}"/>
              </a:ext>
            </a:extLst>
          </p:cNvPr>
          <p:cNvGrpSpPr>
            <a:grpSpLocks/>
          </p:cNvGrpSpPr>
          <p:nvPr/>
        </p:nvGrpSpPr>
        <p:grpSpPr bwMode="auto">
          <a:xfrm>
            <a:off x="5182107" y="3799627"/>
            <a:ext cx="1371600" cy="228600"/>
            <a:chOff x="2304" y="2928"/>
            <a:chExt cx="864" cy="144"/>
          </a:xfrm>
        </p:grpSpPr>
        <p:sp>
          <p:nvSpPr>
            <p:cNvPr id="12" name="Line 12">
              <a:extLst>
                <a:ext uri="{FF2B5EF4-FFF2-40B4-BE49-F238E27FC236}">
                  <a16:creationId xmlns:a16="http://schemas.microsoft.com/office/drawing/2014/main" id="{66CB7FFD-C52C-C2F3-E29D-CB48719D7FB0}"/>
                </a:ext>
              </a:extLst>
            </p:cNvPr>
            <p:cNvSpPr>
              <a:spLocks noChangeShapeType="1"/>
            </p:cNvSpPr>
            <p:nvPr/>
          </p:nvSpPr>
          <p:spPr bwMode="auto">
            <a:xfrm flipH="1">
              <a:off x="2304" y="2976"/>
              <a:ext cx="864" cy="0"/>
            </a:xfrm>
            <a:prstGeom prst="line">
              <a:avLst/>
            </a:prstGeom>
            <a:noFill/>
            <a:ln w="19050">
              <a:solidFill>
                <a:srgbClr val="04926A"/>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4800" b="0" i="0" u="none" strike="noStrike" kern="1200" cap="none" spc="0" normalizeH="0" baseline="0" noProof="0">
                <a:ln>
                  <a:noFill/>
                </a:ln>
                <a:solidFill>
                  <a:prstClr val="black"/>
                </a:solidFill>
                <a:effectLst/>
                <a:uLnTx/>
                <a:uFillTx/>
                <a:latin typeface="Times New Roman" panose="020F0502020204030204"/>
                <a:ea typeface="黑体"/>
                <a:cs typeface="+mn-ea"/>
                <a:sym typeface="+mn-lt"/>
              </a:endParaRPr>
            </a:p>
          </p:txBody>
        </p:sp>
        <p:sp>
          <p:nvSpPr>
            <p:cNvPr id="13" name="Line 15">
              <a:extLst>
                <a:ext uri="{FF2B5EF4-FFF2-40B4-BE49-F238E27FC236}">
                  <a16:creationId xmlns:a16="http://schemas.microsoft.com/office/drawing/2014/main" id="{74CC64E1-2A18-9CA9-AE27-F5C85C3B8913}"/>
                </a:ext>
              </a:extLst>
            </p:cNvPr>
            <p:cNvSpPr>
              <a:spLocks noChangeShapeType="1"/>
            </p:cNvSpPr>
            <p:nvPr/>
          </p:nvSpPr>
          <p:spPr bwMode="auto">
            <a:xfrm>
              <a:off x="2592" y="2928"/>
              <a:ext cx="288" cy="144"/>
            </a:xfrm>
            <a:prstGeom prst="line">
              <a:avLst/>
            </a:prstGeom>
            <a:noFill/>
            <a:ln w="19050">
              <a:solidFill>
                <a:srgbClr val="04926A"/>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4800" b="0" i="0" u="none" strike="noStrike" kern="1200" cap="none" spc="0" normalizeH="0" baseline="0" noProof="0">
                <a:ln>
                  <a:noFill/>
                </a:ln>
                <a:solidFill>
                  <a:prstClr val="black"/>
                </a:solidFill>
                <a:effectLst/>
                <a:uLnTx/>
                <a:uFillTx/>
                <a:latin typeface="Times New Roman" panose="020F0502020204030204"/>
                <a:ea typeface="黑体"/>
                <a:cs typeface="+mn-ea"/>
                <a:sym typeface="+mn-lt"/>
              </a:endParaRPr>
            </a:p>
          </p:txBody>
        </p:sp>
      </p:grpSp>
      <p:sp>
        <p:nvSpPr>
          <p:cNvPr id="14" name="Text Box 46">
            <a:extLst>
              <a:ext uri="{FF2B5EF4-FFF2-40B4-BE49-F238E27FC236}">
                <a16:creationId xmlns:a16="http://schemas.microsoft.com/office/drawing/2014/main" id="{C0E4E935-FB96-84E9-492D-D10F468FE3FE}"/>
              </a:ext>
            </a:extLst>
          </p:cNvPr>
          <p:cNvSpPr txBox="1">
            <a:spLocks noChangeArrowheads="1"/>
          </p:cNvSpPr>
          <p:nvPr/>
        </p:nvSpPr>
        <p:spPr bwMode="auto">
          <a:xfrm>
            <a:off x="6590439" y="3552160"/>
            <a:ext cx="2051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偏导数存在 </a:t>
            </a:r>
          </a:p>
        </p:txBody>
      </p:sp>
      <p:sp>
        <p:nvSpPr>
          <p:cNvPr id="15" name="Text Box 47">
            <a:extLst>
              <a:ext uri="{FF2B5EF4-FFF2-40B4-BE49-F238E27FC236}">
                <a16:creationId xmlns:a16="http://schemas.microsoft.com/office/drawing/2014/main" id="{288FE9DE-B235-B6C6-401D-CF10D573CECD}"/>
              </a:ext>
            </a:extLst>
          </p:cNvPr>
          <p:cNvSpPr txBox="1">
            <a:spLocks noChangeArrowheads="1"/>
          </p:cNvSpPr>
          <p:nvPr/>
        </p:nvSpPr>
        <p:spPr bwMode="auto">
          <a:xfrm>
            <a:off x="6946039" y="4315094"/>
            <a:ext cx="1695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函数可微 </a:t>
            </a:r>
          </a:p>
        </p:txBody>
      </p:sp>
      <p:sp>
        <p:nvSpPr>
          <p:cNvPr id="16" name="Rectangle 2">
            <a:extLst>
              <a:ext uri="{FF2B5EF4-FFF2-40B4-BE49-F238E27FC236}">
                <a16:creationId xmlns:a16="http://schemas.microsoft.com/office/drawing/2014/main" id="{10A7CBB1-A4D2-38B4-33B9-DC9057BB4FC9}"/>
              </a:ext>
            </a:extLst>
          </p:cNvPr>
          <p:cNvSpPr txBox="1">
            <a:spLocks noChangeArrowheads="1"/>
          </p:cNvSpPr>
          <p:nvPr/>
        </p:nvSpPr>
        <p:spPr>
          <a:xfrm>
            <a:off x="2542094" y="2010121"/>
            <a:ext cx="2397368"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3. </a:t>
            </a:r>
            <a:r>
              <a:rPr kumimoji="1" lang="zh-CN" altLang="en-US" dirty="0">
                <a:solidFill>
                  <a:srgbClr val="04926A"/>
                </a:solidFill>
                <a:latin typeface="微软雅黑" panose="020B0503020204020204" pitchFamily="34" charset="-122"/>
                <a:ea typeface="微软雅黑" panose="020B0503020204020204" pitchFamily="34" charset="-122"/>
                <a:cs typeface="+mn-cs"/>
              </a:rPr>
              <a:t>可微的条件</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96766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right)">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500"/>
                                        <p:tgtEl>
                                          <p:spTgt spid="4"/>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left)">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right)">
                                      <p:cBhvr>
                                        <p:cTn id="5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animBg="1"/>
      <p:bldP spid="14" grpId="0"/>
      <p:bldP spid="15" grpId="0"/>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图文框 60">
            <a:extLst>
              <a:ext uri="{FF2B5EF4-FFF2-40B4-BE49-F238E27FC236}">
                <a16:creationId xmlns:a16="http://schemas.microsoft.com/office/drawing/2014/main" id="{CA5A73BD-8141-887E-A328-602B0893FB7B}"/>
              </a:ext>
            </a:extLst>
          </p:cNvPr>
          <p:cNvSpPr/>
          <p:nvPr/>
        </p:nvSpPr>
        <p:spPr>
          <a:xfrm rot="5400000">
            <a:off x="2705095" y="-2639699"/>
            <a:ext cx="6858001" cy="12137397"/>
          </a:xfrm>
          <a:prstGeom prst="frame">
            <a:avLst>
              <a:gd name="adj1" fmla="val 50000"/>
            </a:avLst>
          </a:prstGeom>
          <a:gradFill flip="none" rotWithShape="1">
            <a:gsLst>
              <a:gs pos="100000">
                <a:srgbClr val="007434">
                  <a:alpha val="10000"/>
                </a:srgbClr>
              </a:gs>
              <a:gs pos="4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sp>
        <p:nvSpPr>
          <p:cNvPr id="62" name="矩形 61">
            <a:extLst>
              <a:ext uri="{FF2B5EF4-FFF2-40B4-BE49-F238E27FC236}">
                <a16:creationId xmlns:a16="http://schemas.microsoft.com/office/drawing/2014/main" id="{F10E93E2-3E9B-BC2E-A27B-5060947AD8A4}"/>
              </a:ext>
            </a:extLst>
          </p:cNvPr>
          <p:cNvSpPr/>
          <p:nvPr/>
        </p:nvSpPr>
        <p:spPr>
          <a:xfrm rot="16200000" flipH="1">
            <a:off x="-3338945" y="3338945"/>
            <a:ext cx="6858000" cy="180109"/>
          </a:xfrm>
          <a:prstGeom prst="rect">
            <a:avLst/>
          </a:prstGeom>
          <a:gradFill flip="none" rotWithShape="1">
            <a:gsLst>
              <a:gs pos="100000">
                <a:srgbClr val="2C8894">
                  <a:alpha val="55000"/>
                </a:srgbClr>
              </a:gs>
              <a:gs pos="55000">
                <a:srgbClr val="389479">
                  <a:alpha val="87000"/>
                </a:srgbClr>
              </a:gs>
              <a:gs pos="0">
                <a:srgbClr val="3F9B67"/>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Text Box 3">
                <a:extLst>
                  <a:ext uri="{FF2B5EF4-FFF2-40B4-BE49-F238E27FC236}">
                    <a16:creationId xmlns:a16="http://schemas.microsoft.com/office/drawing/2014/main" id="{70CA6FC8-7C17-A08F-63F6-092F8B8DC4E7}"/>
                  </a:ext>
                </a:extLst>
              </p:cNvPr>
              <p:cNvSpPr txBox="1">
                <a:spLocks noChangeArrowheads="1"/>
              </p:cNvSpPr>
              <p:nvPr/>
            </p:nvSpPr>
            <p:spPr bwMode="auto">
              <a:xfrm>
                <a:off x="5022101" y="628263"/>
                <a:ext cx="5167604" cy="52322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fontAlgn="base">
                  <a:spcBef>
                    <a:spcPct val="50000"/>
                  </a:spcBef>
                  <a:spcAft>
                    <a:spcPct val="0"/>
                  </a:spcAf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若函数</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在点</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800" b="1" dirty="0">
                    <a:solidFill>
                      <a:srgbClr val="04926A"/>
                    </a:solidFill>
                    <a:latin typeface="Cambria Math" panose="02040503050406030204" charset="0"/>
                    <a:ea typeface="黑体" panose="02010609060101010101" pitchFamily="49" charset="-122"/>
                    <a:sym typeface="+mn-lt"/>
                  </a:rPr>
                  <a:t>可微</a:t>
                </a:r>
                <a:r>
                  <a:rPr kumimoji="1" lang="en-US" altLang="zh-CN" sz="2800" b="1" dirty="0">
                    <a:solidFill>
                      <a:srgbClr val="04926A"/>
                    </a:solidFill>
                    <a:latin typeface="Cambria Math" panose="02040503050406030204" charset="0"/>
                    <a:ea typeface="黑体" panose="02010609060101010101" pitchFamily="49" charset="-122"/>
                    <a:sym typeface="+mn-lt"/>
                  </a:rPr>
                  <a:t>,</a:t>
                </a:r>
              </a:p>
            </p:txBody>
          </p:sp>
        </mc:Choice>
        <mc:Fallback xmlns="">
          <p:sp>
            <p:nvSpPr>
              <p:cNvPr id="3" name="Text Box 3">
                <a:extLst>
                  <a:ext uri="{FF2B5EF4-FFF2-40B4-BE49-F238E27FC236}">
                    <a16:creationId xmlns:a16="http://schemas.microsoft.com/office/drawing/2014/main" id="{70CA6FC8-7C17-A08F-63F6-092F8B8DC4E7}"/>
                  </a:ext>
                </a:extLst>
              </p:cNvPr>
              <p:cNvSpPr txBox="1">
                <a:spLocks noRot="1" noChangeAspect="1" noMove="1" noResize="1" noEditPoints="1" noAdjustHandles="1" noChangeArrowheads="1" noChangeShapeType="1" noTextEdit="1"/>
              </p:cNvSpPr>
              <p:nvPr/>
            </p:nvSpPr>
            <p:spPr bwMode="auto">
              <a:xfrm>
                <a:off x="5022101" y="628263"/>
                <a:ext cx="5167604" cy="523220"/>
              </a:xfrm>
              <a:prstGeom prst="rect">
                <a:avLst/>
              </a:prstGeom>
              <a:blipFill>
                <a:blip r:embed="rId2"/>
                <a:stretch>
                  <a:fillRect l="-2476" t="-15116" r="-118" b="-31395"/>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4" name="Text Box 4">
            <a:extLst>
              <a:ext uri="{FF2B5EF4-FFF2-40B4-BE49-F238E27FC236}">
                <a16:creationId xmlns:a16="http://schemas.microsoft.com/office/drawing/2014/main" id="{FE4978EB-1301-8BE0-59D8-421B7E664DEA}"/>
              </a:ext>
            </a:extLst>
          </p:cNvPr>
          <p:cNvSpPr txBox="1">
            <a:spLocks noChangeArrowheads="1"/>
          </p:cNvSpPr>
          <p:nvPr/>
        </p:nvSpPr>
        <p:spPr bwMode="auto">
          <a:xfrm>
            <a:off x="3293497" y="1421046"/>
            <a:ext cx="4038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则该函数在该点偏导数</a:t>
            </a:r>
          </a:p>
        </p:txBody>
      </p:sp>
      <mc:AlternateContent xmlns:mc="http://schemas.openxmlformats.org/markup-compatibility/2006" xmlns:a14="http://schemas.microsoft.com/office/drawing/2010/main">
        <mc:Choice Requires="a14">
          <p:sp>
            <p:nvSpPr>
              <p:cNvPr id="5" name="Object 5">
                <a:extLst>
                  <a:ext uri="{FF2B5EF4-FFF2-40B4-BE49-F238E27FC236}">
                    <a16:creationId xmlns:a16="http://schemas.microsoft.com/office/drawing/2014/main" id="{FA81817D-5D6E-AB91-FFD2-FADC0C2A9282}"/>
                  </a:ext>
                </a:extLst>
              </p:cNvPr>
              <p:cNvSpPr txBox="1"/>
              <p:nvPr/>
            </p:nvSpPr>
            <p:spPr bwMode="auto">
              <a:xfrm>
                <a:off x="6982265" y="1157943"/>
                <a:ext cx="1092200" cy="9271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5" name="Object 5">
                <a:extLst>
                  <a:ext uri="{FF2B5EF4-FFF2-40B4-BE49-F238E27FC236}">
                    <a16:creationId xmlns:a16="http://schemas.microsoft.com/office/drawing/2014/main" id="{FA81817D-5D6E-AB91-FFD2-FADC0C2A9282}"/>
                  </a:ext>
                </a:extLst>
              </p:cNvPr>
              <p:cNvSpPr txBox="1">
                <a:spLocks noRot="1" noChangeAspect="1" noMove="1" noResize="1" noEditPoints="1" noAdjustHandles="1" noChangeArrowheads="1" noChangeShapeType="1" noTextEdit="1"/>
              </p:cNvSpPr>
              <p:nvPr/>
            </p:nvSpPr>
            <p:spPr bwMode="auto">
              <a:xfrm>
                <a:off x="6982265" y="1157943"/>
                <a:ext cx="1092200" cy="927100"/>
              </a:xfrm>
              <a:prstGeom prst="rect">
                <a:avLst/>
              </a:prstGeom>
              <a:blipFill>
                <a:blip r:embed="rId3"/>
                <a:stretch>
                  <a:fillRect b="-65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6">
                <a:extLst>
                  <a:ext uri="{FF2B5EF4-FFF2-40B4-BE49-F238E27FC236}">
                    <a16:creationId xmlns:a16="http://schemas.microsoft.com/office/drawing/2014/main" id="{BD5A9418-A4C5-C7C7-C629-9B6101D30984}"/>
                  </a:ext>
                </a:extLst>
              </p:cNvPr>
              <p:cNvSpPr txBox="1"/>
              <p:nvPr/>
            </p:nvSpPr>
            <p:spPr bwMode="auto">
              <a:xfrm>
                <a:off x="4647570" y="2085043"/>
                <a:ext cx="3270152" cy="914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6" name="Object 6">
                <a:extLst>
                  <a:ext uri="{FF2B5EF4-FFF2-40B4-BE49-F238E27FC236}">
                    <a16:creationId xmlns:a16="http://schemas.microsoft.com/office/drawing/2014/main" id="{BD5A9418-A4C5-C7C7-C629-9B6101D30984}"/>
                  </a:ext>
                </a:extLst>
              </p:cNvPr>
              <p:cNvSpPr txBox="1">
                <a:spLocks noRot="1" noChangeAspect="1" noMove="1" noResize="1" noEditPoints="1" noAdjustHandles="1" noChangeArrowheads="1" noChangeShapeType="1" noTextEdit="1"/>
              </p:cNvSpPr>
              <p:nvPr/>
            </p:nvSpPr>
            <p:spPr bwMode="auto">
              <a:xfrm>
                <a:off x="4647570" y="2085043"/>
                <a:ext cx="3270152" cy="914400"/>
              </a:xfrm>
              <a:prstGeom prst="rect">
                <a:avLst/>
              </a:prstGeom>
              <a:blipFill>
                <a:blip r:embed="rId4"/>
                <a:stretch>
                  <a:fillRect b="-200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9">
                <a:extLst>
                  <a:ext uri="{FF2B5EF4-FFF2-40B4-BE49-F238E27FC236}">
                    <a16:creationId xmlns:a16="http://schemas.microsoft.com/office/drawing/2014/main" id="{7E0037F3-EA6A-CE2F-74C5-4BC4D03F9BD7}"/>
                  </a:ext>
                </a:extLst>
              </p:cNvPr>
              <p:cNvSpPr txBox="1"/>
              <p:nvPr/>
            </p:nvSpPr>
            <p:spPr bwMode="auto">
              <a:xfrm>
                <a:off x="3330951" y="4163752"/>
                <a:ext cx="3763338" cy="4445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sSub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nor/>
                        </m:rP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nor/>
                        </m:rP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m:rPr>
                          <m:nor/>
                        </m:rP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nor/>
                        </m:rP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Object 9">
                <a:extLst>
                  <a:ext uri="{FF2B5EF4-FFF2-40B4-BE49-F238E27FC236}">
                    <a16:creationId xmlns:a16="http://schemas.microsoft.com/office/drawing/2014/main" id="{7E0037F3-EA6A-CE2F-74C5-4BC4D03F9BD7}"/>
                  </a:ext>
                </a:extLst>
              </p:cNvPr>
              <p:cNvSpPr txBox="1">
                <a:spLocks noRot="1" noChangeAspect="1" noMove="1" noResize="1" noEditPoints="1" noAdjustHandles="1" noChangeArrowheads="1" noChangeShapeType="1" noTextEdit="1"/>
              </p:cNvSpPr>
              <p:nvPr/>
            </p:nvSpPr>
            <p:spPr bwMode="auto">
              <a:xfrm>
                <a:off x="3330951" y="4163752"/>
                <a:ext cx="3763338" cy="444500"/>
              </a:xfrm>
              <a:prstGeom prst="rect">
                <a:avLst/>
              </a:prstGeom>
              <a:blipFill>
                <a:blip r:embed="rId5"/>
                <a:stretch>
                  <a:fillRect l="-162" b="-1506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10">
                <a:extLst>
                  <a:ext uri="{FF2B5EF4-FFF2-40B4-BE49-F238E27FC236}">
                    <a16:creationId xmlns:a16="http://schemas.microsoft.com/office/drawing/2014/main" id="{95C4E70E-F853-0C30-A409-DCB6096B2F50}"/>
                  </a:ext>
                </a:extLst>
              </p:cNvPr>
              <p:cNvSpPr txBox="1"/>
              <p:nvPr/>
            </p:nvSpPr>
            <p:spPr bwMode="auto">
              <a:xfrm>
                <a:off x="3330951" y="4679148"/>
                <a:ext cx="1507412" cy="9271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8" name="Object 10">
                <a:extLst>
                  <a:ext uri="{FF2B5EF4-FFF2-40B4-BE49-F238E27FC236}">
                    <a16:creationId xmlns:a16="http://schemas.microsoft.com/office/drawing/2014/main" id="{95C4E70E-F853-0C30-A409-DCB6096B2F50}"/>
                  </a:ext>
                </a:extLst>
              </p:cNvPr>
              <p:cNvSpPr txBox="1">
                <a:spLocks noRot="1" noChangeAspect="1" noMove="1" noResize="1" noEditPoints="1" noAdjustHandles="1" noChangeArrowheads="1" noChangeShapeType="1" noTextEdit="1"/>
              </p:cNvSpPr>
              <p:nvPr/>
            </p:nvSpPr>
            <p:spPr bwMode="auto">
              <a:xfrm>
                <a:off x="3330951" y="4679148"/>
                <a:ext cx="1507412" cy="927100"/>
              </a:xfrm>
              <a:prstGeom prst="rect">
                <a:avLst/>
              </a:prstGeom>
              <a:blipFill>
                <a:blip r:embed="rId6"/>
                <a:stretch>
                  <a:fillRect/>
                </a:stretch>
              </a:blipFill>
              <a:ln>
                <a:noFill/>
              </a:ln>
              <a:effectLst/>
            </p:spPr>
            <p:txBody>
              <a:bodyPr/>
              <a:lstStyle/>
              <a:p>
                <a:r>
                  <a:rPr lang="zh-CN" altLang="en-US">
                    <a:noFill/>
                  </a:rPr>
                  <a:t> </a:t>
                </a:r>
              </a:p>
            </p:txBody>
          </p:sp>
        </mc:Fallback>
      </mc:AlternateContent>
      <p:sp>
        <p:nvSpPr>
          <p:cNvPr id="9" name="Text Box 11">
            <a:extLst>
              <a:ext uri="{FF2B5EF4-FFF2-40B4-BE49-F238E27FC236}">
                <a16:creationId xmlns:a16="http://schemas.microsoft.com/office/drawing/2014/main" id="{E3DC1C8F-A07F-F776-2A75-E9A777892032}"/>
              </a:ext>
            </a:extLst>
          </p:cNvPr>
          <p:cNvSpPr txBox="1">
            <a:spLocks noChangeArrowheads="1"/>
          </p:cNvSpPr>
          <p:nvPr/>
        </p:nvSpPr>
        <p:spPr bwMode="auto">
          <a:xfrm>
            <a:off x="3314070" y="5666251"/>
            <a:ext cx="13335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同样可证</a:t>
            </a:r>
          </a:p>
        </p:txBody>
      </p:sp>
      <mc:AlternateContent xmlns:mc="http://schemas.openxmlformats.org/markup-compatibility/2006" xmlns:a14="http://schemas.microsoft.com/office/drawing/2010/main">
        <mc:Choice Requires="a14">
          <p:sp>
            <p:nvSpPr>
              <p:cNvPr id="10" name="Object 13">
                <a:extLst>
                  <a:ext uri="{FF2B5EF4-FFF2-40B4-BE49-F238E27FC236}">
                    <a16:creationId xmlns:a16="http://schemas.microsoft.com/office/drawing/2014/main" id="{13066A33-0891-D9FC-883F-095502C466ED}"/>
                  </a:ext>
                </a:extLst>
              </p:cNvPr>
              <p:cNvSpPr txBox="1"/>
              <p:nvPr/>
            </p:nvSpPr>
            <p:spPr bwMode="auto">
              <a:xfrm>
                <a:off x="4566003" y="5471940"/>
                <a:ext cx="1142999" cy="9271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𝐵</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0" name="Object 13">
                <a:extLst>
                  <a:ext uri="{FF2B5EF4-FFF2-40B4-BE49-F238E27FC236}">
                    <a16:creationId xmlns:a16="http://schemas.microsoft.com/office/drawing/2014/main" id="{13066A33-0891-D9FC-883F-095502C466ED}"/>
                  </a:ext>
                </a:extLst>
              </p:cNvPr>
              <p:cNvSpPr txBox="1">
                <a:spLocks noRot="1" noChangeAspect="1" noMove="1" noResize="1" noEditPoints="1" noAdjustHandles="1" noChangeArrowheads="1" noChangeShapeType="1" noTextEdit="1"/>
              </p:cNvSpPr>
              <p:nvPr/>
            </p:nvSpPr>
            <p:spPr bwMode="auto">
              <a:xfrm>
                <a:off x="4566003" y="5471940"/>
                <a:ext cx="1142999" cy="927100"/>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16">
                <a:extLst>
                  <a:ext uri="{FF2B5EF4-FFF2-40B4-BE49-F238E27FC236}">
                    <a16:creationId xmlns:a16="http://schemas.microsoft.com/office/drawing/2014/main" id="{E5CB831E-50AB-822C-3CAD-ED1EA27F1444}"/>
                  </a:ext>
                </a:extLst>
              </p:cNvPr>
              <p:cNvSpPr txBox="1"/>
              <p:nvPr/>
            </p:nvSpPr>
            <p:spPr bwMode="auto">
              <a:xfrm>
                <a:off x="6550347" y="5473527"/>
                <a:ext cx="2617553" cy="914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1" name="Object 16">
                <a:extLst>
                  <a:ext uri="{FF2B5EF4-FFF2-40B4-BE49-F238E27FC236}">
                    <a16:creationId xmlns:a16="http://schemas.microsoft.com/office/drawing/2014/main" id="{E5CB831E-50AB-822C-3CAD-ED1EA27F1444}"/>
                  </a:ext>
                </a:extLst>
              </p:cNvPr>
              <p:cNvSpPr txBox="1">
                <a:spLocks noRot="1" noChangeAspect="1" noMove="1" noResize="1" noEditPoints="1" noAdjustHandles="1" noChangeArrowheads="1" noChangeShapeType="1" noTextEdit="1"/>
              </p:cNvSpPr>
              <p:nvPr/>
            </p:nvSpPr>
            <p:spPr bwMode="auto">
              <a:xfrm>
                <a:off x="6550347" y="5473527"/>
                <a:ext cx="2617553" cy="914400"/>
              </a:xfrm>
              <a:prstGeom prst="rect">
                <a:avLst/>
              </a:prstGeom>
              <a:blipFill>
                <a:blip r:embed="rId8"/>
                <a:stretch>
                  <a:fillRect/>
                </a:stretch>
              </a:blipFill>
              <a:ln>
                <a:noFill/>
              </a:ln>
              <a:effectLst/>
            </p:spPr>
            <p:txBody>
              <a:bodyPr/>
              <a:lstStyle/>
              <a:p>
                <a:r>
                  <a:rPr lang="zh-CN" altLang="en-US">
                    <a:noFill/>
                  </a:rPr>
                  <a:t> </a:t>
                </a:r>
              </a:p>
            </p:txBody>
          </p:sp>
        </mc:Fallback>
      </mc:AlternateContent>
      <p:sp>
        <p:nvSpPr>
          <p:cNvPr id="12" name="Text Box 7">
            <a:extLst>
              <a:ext uri="{FF2B5EF4-FFF2-40B4-BE49-F238E27FC236}">
                <a16:creationId xmlns:a16="http://schemas.microsoft.com/office/drawing/2014/main" id="{B5BAF515-E080-5DD3-992C-8189B2284B7D}"/>
              </a:ext>
            </a:extLst>
          </p:cNvPr>
          <p:cNvSpPr txBox="1">
            <a:spLocks noChangeArrowheads="1"/>
          </p:cNvSpPr>
          <p:nvPr/>
        </p:nvSpPr>
        <p:spPr bwMode="auto">
          <a:xfrm>
            <a:off x="2086205" y="3108919"/>
            <a:ext cx="3657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0" fontAlgn="base">
              <a:spcBef>
                <a:spcPct val="50000"/>
              </a:spcBef>
              <a:spcAft>
                <a:spcPct val="0"/>
              </a:spcAft>
              <a:defRPr/>
            </a:pPr>
            <a:r>
              <a:rPr kumimoji="1" lang="zh-CN" altLang="en-US" sz="2800" b="1" kern="0" dirty="0">
                <a:solidFill>
                  <a:srgbClr val="04926A"/>
                </a:solidFill>
                <a:latin typeface="微软雅黑" panose="020B0503020204020204" charset="-122"/>
                <a:ea typeface="微软雅黑" panose="020B0503020204020204" charset="-122"/>
                <a:cs typeface="微软雅黑" panose="020B0503020204020204" charset="-122"/>
              </a:rPr>
              <a:t>证        </a:t>
            </a: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由全增量公式</a:t>
            </a:r>
          </a:p>
        </p:txBody>
      </p:sp>
      <mc:AlternateContent xmlns:mc="http://schemas.openxmlformats.org/markup-compatibility/2006" xmlns:a14="http://schemas.microsoft.com/office/drawing/2010/main">
        <mc:Choice Requires="a14">
          <p:sp>
            <p:nvSpPr>
              <p:cNvPr id="13" name="Object 25">
                <a:extLst>
                  <a:ext uri="{FF2B5EF4-FFF2-40B4-BE49-F238E27FC236}">
                    <a16:creationId xmlns:a16="http://schemas.microsoft.com/office/drawing/2014/main" id="{5D38BB4B-ABC1-653A-49C0-07105D80B3F8}"/>
                  </a:ext>
                </a:extLst>
              </p:cNvPr>
              <p:cNvSpPr txBox="1"/>
              <p:nvPr/>
            </p:nvSpPr>
            <p:spPr bwMode="auto">
              <a:xfrm>
                <a:off x="5129054" y="3169240"/>
                <a:ext cx="3270153" cy="46533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𝐴</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𝐵</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3" name="Object 25">
                <a:extLst>
                  <a:ext uri="{FF2B5EF4-FFF2-40B4-BE49-F238E27FC236}">
                    <a16:creationId xmlns:a16="http://schemas.microsoft.com/office/drawing/2014/main" id="{5D38BB4B-ABC1-653A-49C0-07105D80B3F8}"/>
                  </a:ext>
                </a:extLst>
              </p:cNvPr>
              <p:cNvSpPr txBox="1">
                <a:spLocks noRot="1" noChangeAspect="1" noMove="1" noResize="1" noEditPoints="1" noAdjustHandles="1" noChangeArrowheads="1" noChangeShapeType="1" noTextEdit="1"/>
              </p:cNvSpPr>
              <p:nvPr/>
            </p:nvSpPr>
            <p:spPr bwMode="auto">
              <a:xfrm>
                <a:off x="5129054" y="3169240"/>
                <a:ext cx="3270153" cy="465336"/>
              </a:xfrm>
              <a:prstGeom prst="rect">
                <a:avLst/>
              </a:prstGeom>
              <a:blipFill>
                <a:blip r:embed="rId9"/>
                <a:stretch>
                  <a:fillRect l="-186" b="-10526"/>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8">
                <a:extLst>
                  <a:ext uri="{FF2B5EF4-FFF2-40B4-BE49-F238E27FC236}">
                    <a16:creationId xmlns:a16="http://schemas.microsoft.com/office/drawing/2014/main" id="{AB8CE75E-C4A8-9EAE-5ED0-98C8BD5F7F58}"/>
                  </a:ext>
                </a:extLst>
              </p:cNvPr>
              <p:cNvSpPr txBox="1"/>
              <p:nvPr/>
            </p:nvSpPr>
            <p:spPr bwMode="auto">
              <a:xfrm>
                <a:off x="8109285" y="3169240"/>
                <a:ext cx="1739900" cy="4445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令</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4" name="Object 8">
                <a:extLst>
                  <a:ext uri="{FF2B5EF4-FFF2-40B4-BE49-F238E27FC236}">
                    <a16:creationId xmlns:a16="http://schemas.microsoft.com/office/drawing/2014/main" id="{AB8CE75E-C4A8-9EAE-5ED0-98C8BD5F7F58}"/>
                  </a:ext>
                </a:extLst>
              </p:cNvPr>
              <p:cNvSpPr txBox="1">
                <a:spLocks noRot="1" noChangeAspect="1" noMove="1" noResize="1" noEditPoints="1" noAdjustHandles="1" noChangeArrowheads="1" noChangeShapeType="1" noTextEdit="1"/>
              </p:cNvSpPr>
              <p:nvPr/>
            </p:nvSpPr>
            <p:spPr bwMode="auto">
              <a:xfrm>
                <a:off x="8109285" y="3169240"/>
                <a:ext cx="1739900" cy="444500"/>
              </a:xfrm>
              <a:prstGeom prst="rect">
                <a:avLst/>
              </a:prstGeom>
              <a:blipFill>
                <a:blip r:embed="rId10"/>
                <a:stretch>
                  <a:fillRect l="-2448" b="-1369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34">
                <a:extLst>
                  <a:ext uri="{FF2B5EF4-FFF2-40B4-BE49-F238E27FC236}">
                    <a16:creationId xmlns:a16="http://schemas.microsoft.com/office/drawing/2014/main" id="{2D77CC01-C229-5824-85B9-2B8B564D7F80}"/>
                  </a:ext>
                </a:extLst>
              </p:cNvPr>
              <p:cNvSpPr txBox="1"/>
              <p:nvPr/>
            </p:nvSpPr>
            <p:spPr bwMode="auto">
              <a:xfrm>
                <a:off x="6969905" y="4165339"/>
                <a:ext cx="2810847" cy="4953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𝐴</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d>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5" name="Object 34">
                <a:extLst>
                  <a:ext uri="{FF2B5EF4-FFF2-40B4-BE49-F238E27FC236}">
                    <a16:creationId xmlns:a16="http://schemas.microsoft.com/office/drawing/2014/main" id="{2D77CC01-C229-5824-85B9-2B8B564D7F80}"/>
                  </a:ext>
                </a:extLst>
              </p:cNvPr>
              <p:cNvSpPr txBox="1">
                <a:spLocks noRot="1" noChangeAspect="1" noMove="1" noResize="1" noEditPoints="1" noAdjustHandles="1" noChangeArrowheads="1" noChangeShapeType="1" noTextEdit="1"/>
              </p:cNvSpPr>
              <p:nvPr/>
            </p:nvSpPr>
            <p:spPr bwMode="auto">
              <a:xfrm>
                <a:off x="6969905" y="4165339"/>
                <a:ext cx="2810847" cy="495300"/>
              </a:xfrm>
              <a:prstGeom prst="rect">
                <a:avLst/>
              </a:prstGeom>
              <a:blipFill>
                <a:blip r:embed="rId11"/>
                <a:stretch>
                  <a:fillRect b="-2439"/>
                </a:stretch>
              </a:blipFill>
              <a:ln>
                <a:noFill/>
              </a:ln>
              <a:effectLst/>
            </p:spPr>
            <p:txBody>
              <a:bodyPr/>
              <a:lstStyle/>
              <a:p>
                <a:r>
                  <a:rPr lang="zh-CN" altLang="en-US">
                    <a:noFill/>
                  </a:rPr>
                  <a:t> </a:t>
                </a:r>
              </a:p>
            </p:txBody>
          </p:sp>
        </mc:Fallback>
      </mc:AlternateContent>
      <p:sp>
        <p:nvSpPr>
          <p:cNvPr id="16" name="Text Box 36">
            <a:extLst>
              <a:ext uri="{FF2B5EF4-FFF2-40B4-BE49-F238E27FC236}">
                <a16:creationId xmlns:a16="http://schemas.microsoft.com/office/drawing/2014/main" id="{A6BB0A8D-4849-5834-5C2C-19AD26CF4D2C}"/>
              </a:ext>
            </a:extLst>
          </p:cNvPr>
          <p:cNvSpPr txBox="1">
            <a:spLocks noChangeArrowheads="1"/>
          </p:cNvSpPr>
          <p:nvPr/>
        </p:nvSpPr>
        <p:spPr bwMode="auto">
          <a:xfrm>
            <a:off x="8079502" y="1421046"/>
            <a:ext cx="204018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必存在</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且有</a:t>
            </a:r>
          </a:p>
        </p:txBody>
      </p:sp>
      <mc:AlternateContent xmlns:mc="http://schemas.openxmlformats.org/markup-compatibility/2006" xmlns:a14="http://schemas.microsoft.com/office/drawing/2010/main">
        <mc:Choice Requires="a14">
          <p:sp>
            <p:nvSpPr>
              <p:cNvPr id="17" name="Text Box 37">
                <a:extLst>
                  <a:ext uri="{FF2B5EF4-FFF2-40B4-BE49-F238E27FC236}">
                    <a16:creationId xmlns:a16="http://schemas.microsoft.com/office/drawing/2014/main" id="{2319A9D5-F2BB-7F92-80E0-B7ABDE61E9A1}"/>
                  </a:ext>
                </a:extLst>
              </p:cNvPr>
              <p:cNvSpPr txBox="1">
                <a:spLocks noChangeArrowheads="1"/>
              </p:cNvSpPr>
              <p:nvPr/>
            </p:nvSpPr>
            <p:spPr bwMode="auto">
              <a:xfrm>
                <a:off x="3295019" y="3690953"/>
                <a:ext cx="2541969" cy="430887"/>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fontAlgn="base">
                  <a:spcBef>
                    <a:spcPct val="50000"/>
                  </a:spcBef>
                  <a:spcAft>
                    <a:spcPct val="0"/>
                  </a:spcAf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得到对</a:t>
                </a:r>
                <a14:m>
                  <m:oMath xmlns:m="http://schemas.openxmlformats.org/officeDocument/2006/math">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的偏增量</a:t>
                </a:r>
              </a:p>
            </p:txBody>
          </p:sp>
        </mc:Choice>
        <mc:Fallback xmlns="">
          <p:sp>
            <p:nvSpPr>
              <p:cNvPr id="17" name="Text Box 37">
                <a:extLst>
                  <a:ext uri="{FF2B5EF4-FFF2-40B4-BE49-F238E27FC236}">
                    <a16:creationId xmlns:a16="http://schemas.microsoft.com/office/drawing/2014/main" id="{2319A9D5-F2BB-7F92-80E0-B7ABDE61E9A1}"/>
                  </a:ext>
                </a:extLst>
              </p:cNvPr>
              <p:cNvSpPr txBox="1">
                <a:spLocks noRot="1" noChangeAspect="1" noMove="1" noResize="1" noEditPoints="1" noAdjustHandles="1" noChangeArrowheads="1" noChangeShapeType="1" noTextEdit="1"/>
              </p:cNvSpPr>
              <p:nvPr/>
            </p:nvSpPr>
            <p:spPr bwMode="auto">
              <a:xfrm>
                <a:off x="3295019" y="3690953"/>
                <a:ext cx="2541969" cy="430887"/>
              </a:xfrm>
              <a:prstGeom prst="rect">
                <a:avLst/>
              </a:prstGeom>
              <a:blipFill>
                <a:blip r:embed="rId12"/>
                <a:stretch>
                  <a:fillRect l="-3118" t="-12676" b="-23944"/>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Object 38">
                <a:extLst>
                  <a:ext uri="{FF2B5EF4-FFF2-40B4-BE49-F238E27FC236}">
                    <a16:creationId xmlns:a16="http://schemas.microsoft.com/office/drawing/2014/main" id="{48A1BE5E-8D37-585E-7F69-E833ED8280C0}"/>
                  </a:ext>
                </a:extLst>
              </p:cNvPr>
              <p:cNvSpPr txBox="1"/>
              <p:nvPr/>
            </p:nvSpPr>
            <p:spPr bwMode="auto">
              <a:xfrm>
                <a:off x="4429462" y="4163558"/>
                <a:ext cx="1064628" cy="43302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8" name="Object 38">
                <a:extLst>
                  <a:ext uri="{FF2B5EF4-FFF2-40B4-BE49-F238E27FC236}">
                    <a16:creationId xmlns:a16="http://schemas.microsoft.com/office/drawing/2014/main" id="{48A1BE5E-8D37-585E-7F69-E833ED8280C0}"/>
                  </a:ext>
                </a:extLst>
              </p:cNvPr>
              <p:cNvSpPr txBox="1">
                <a:spLocks noRot="1" noChangeAspect="1" noMove="1" noResize="1" noEditPoints="1" noAdjustHandles="1" noChangeArrowheads="1" noChangeShapeType="1" noTextEdit="1"/>
              </p:cNvSpPr>
              <p:nvPr/>
            </p:nvSpPr>
            <p:spPr bwMode="auto">
              <a:xfrm>
                <a:off x="4429462" y="4163558"/>
                <a:ext cx="1064628" cy="433020"/>
              </a:xfrm>
              <a:prstGeom prst="rect">
                <a:avLst/>
              </a:prstGeom>
              <a:blipFill>
                <a:blip r:embed="rId1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39">
                <a:extLst>
                  <a:ext uri="{FF2B5EF4-FFF2-40B4-BE49-F238E27FC236}">
                    <a16:creationId xmlns:a16="http://schemas.microsoft.com/office/drawing/2014/main" id="{60428AE2-D5CC-6FB2-8D9B-7A9C5BFFBF41}"/>
                  </a:ext>
                </a:extLst>
              </p:cNvPr>
              <p:cNvSpPr txBox="1"/>
              <p:nvPr/>
            </p:nvSpPr>
            <p:spPr bwMode="auto">
              <a:xfrm>
                <a:off x="6282646" y="4170295"/>
                <a:ext cx="290512" cy="4953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9" name="Object 39">
                <a:extLst>
                  <a:ext uri="{FF2B5EF4-FFF2-40B4-BE49-F238E27FC236}">
                    <a16:creationId xmlns:a16="http://schemas.microsoft.com/office/drawing/2014/main" id="{60428AE2-D5CC-6FB2-8D9B-7A9C5BFFBF41}"/>
                  </a:ext>
                </a:extLst>
              </p:cNvPr>
              <p:cNvSpPr txBox="1">
                <a:spLocks noRot="1" noChangeAspect="1" noMove="1" noResize="1" noEditPoints="1" noAdjustHandles="1" noChangeArrowheads="1" noChangeShapeType="1" noTextEdit="1"/>
              </p:cNvSpPr>
              <p:nvPr/>
            </p:nvSpPr>
            <p:spPr bwMode="auto">
              <a:xfrm>
                <a:off x="6282646" y="4170295"/>
                <a:ext cx="290512" cy="495300"/>
              </a:xfrm>
              <a:prstGeom prst="rect">
                <a:avLst/>
              </a:prstGeom>
              <a:blipFill>
                <a:blip r:embed="rId14"/>
                <a:stretch>
                  <a:fillRect r="-6383"/>
                </a:stretch>
              </a:blipFill>
              <a:ln>
                <a:noFill/>
              </a:ln>
              <a:effectLst/>
            </p:spPr>
            <p:txBody>
              <a:bodyPr/>
              <a:lstStyle/>
              <a:p>
                <a:r>
                  <a:rPr lang="zh-CN" altLang="en-US">
                    <a:noFill/>
                  </a:rPr>
                  <a:t> </a:t>
                </a:r>
              </a:p>
            </p:txBody>
          </p:sp>
        </mc:Fallback>
      </mc:AlternateContent>
      <p:sp>
        <p:nvSpPr>
          <p:cNvPr id="20" name="Text Box 40">
            <a:extLst>
              <a:ext uri="{FF2B5EF4-FFF2-40B4-BE49-F238E27FC236}">
                <a16:creationId xmlns:a16="http://schemas.microsoft.com/office/drawing/2014/main" id="{27DB1E42-5638-A652-9E5B-4CE4E10330BC}"/>
              </a:ext>
            </a:extLst>
          </p:cNvPr>
          <p:cNvSpPr txBox="1">
            <a:spLocks noChangeArrowheads="1"/>
          </p:cNvSpPr>
          <p:nvPr/>
        </p:nvSpPr>
        <p:spPr bwMode="auto">
          <a:xfrm>
            <a:off x="5619059" y="5667204"/>
            <a:ext cx="1072966"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因此有                  </a:t>
            </a:r>
          </a:p>
        </p:txBody>
      </p:sp>
      <mc:AlternateContent xmlns:mc="http://schemas.openxmlformats.org/markup-compatibility/2006" xmlns:a14="http://schemas.microsoft.com/office/drawing/2010/main">
        <mc:Choice Requires="a14">
          <p:sp>
            <p:nvSpPr>
              <p:cNvPr id="21" name="Object 41">
                <a:extLst>
                  <a:ext uri="{FF2B5EF4-FFF2-40B4-BE49-F238E27FC236}">
                    <a16:creationId xmlns:a16="http://schemas.microsoft.com/office/drawing/2014/main" id="{17297151-00DD-C50E-46D9-E9B19FE558D9}"/>
                  </a:ext>
                </a:extLst>
              </p:cNvPr>
              <p:cNvSpPr txBox="1"/>
              <p:nvPr/>
            </p:nvSpPr>
            <p:spPr bwMode="auto">
              <a:xfrm>
                <a:off x="4296799" y="4690261"/>
                <a:ext cx="1839912" cy="939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1" name="Object 41">
                <a:extLst>
                  <a:ext uri="{FF2B5EF4-FFF2-40B4-BE49-F238E27FC236}">
                    <a16:creationId xmlns:a16="http://schemas.microsoft.com/office/drawing/2014/main" id="{17297151-00DD-C50E-46D9-E9B19FE558D9}"/>
                  </a:ext>
                </a:extLst>
              </p:cNvPr>
              <p:cNvSpPr txBox="1">
                <a:spLocks noRot="1" noChangeAspect="1" noMove="1" noResize="1" noEditPoints="1" noAdjustHandles="1" noChangeArrowheads="1" noChangeShapeType="1" noTextEdit="1"/>
              </p:cNvSpPr>
              <p:nvPr/>
            </p:nvSpPr>
            <p:spPr bwMode="auto">
              <a:xfrm>
                <a:off x="4296799" y="4690261"/>
                <a:ext cx="1839912" cy="939800"/>
              </a:xfrm>
              <a:prstGeom prst="rect">
                <a:avLst/>
              </a:prstGeom>
              <a:blipFill>
                <a:blip r:embed="rId1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42">
                <a:extLst>
                  <a:ext uri="{FF2B5EF4-FFF2-40B4-BE49-F238E27FC236}">
                    <a16:creationId xmlns:a16="http://schemas.microsoft.com/office/drawing/2014/main" id="{F26500A7-7DBE-CECE-8EE1-42B8C922C2AA}"/>
                  </a:ext>
                </a:extLst>
              </p:cNvPr>
              <p:cNvSpPr txBox="1"/>
              <p:nvPr/>
            </p:nvSpPr>
            <p:spPr bwMode="auto">
              <a:xfrm>
                <a:off x="5743805" y="4858454"/>
                <a:ext cx="785812" cy="44449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2" name="Object 42">
                <a:extLst>
                  <a:ext uri="{FF2B5EF4-FFF2-40B4-BE49-F238E27FC236}">
                    <a16:creationId xmlns:a16="http://schemas.microsoft.com/office/drawing/2014/main" id="{F26500A7-7DBE-CECE-8EE1-42B8C922C2AA}"/>
                  </a:ext>
                </a:extLst>
              </p:cNvPr>
              <p:cNvSpPr txBox="1">
                <a:spLocks noRot="1" noChangeAspect="1" noMove="1" noResize="1" noEditPoints="1" noAdjustHandles="1" noChangeArrowheads="1" noChangeShapeType="1" noTextEdit="1"/>
              </p:cNvSpPr>
              <p:nvPr/>
            </p:nvSpPr>
            <p:spPr bwMode="auto">
              <a:xfrm>
                <a:off x="5743805" y="4858454"/>
                <a:ext cx="785812" cy="444499"/>
              </a:xfrm>
              <a:prstGeom prst="rect">
                <a:avLst/>
              </a:prstGeom>
              <a:blipFill>
                <a:blip r:embed="rId16"/>
                <a:stretch>
                  <a:fillRect/>
                </a:stretch>
              </a:blipFill>
              <a:ln>
                <a:noFill/>
              </a:ln>
              <a:effectLst/>
            </p:spPr>
            <p:txBody>
              <a:bodyPr/>
              <a:lstStyle/>
              <a:p>
                <a:r>
                  <a:rPr lang="zh-CN" altLang="en-US">
                    <a:noFill/>
                  </a:rPr>
                  <a:t> </a:t>
                </a:r>
              </a:p>
            </p:txBody>
          </p:sp>
        </mc:Fallback>
      </mc:AlternateContent>
      <p:grpSp>
        <p:nvGrpSpPr>
          <p:cNvPr id="23" name="组合 22">
            <a:extLst>
              <a:ext uri="{FF2B5EF4-FFF2-40B4-BE49-F238E27FC236}">
                <a16:creationId xmlns:a16="http://schemas.microsoft.com/office/drawing/2014/main" id="{EBC2443B-2B4E-C069-4B3D-73BB64308DDD}"/>
              </a:ext>
            </a:extLst>
          </p:cNvPr>
          <p:cNvGrpSpPr/>
          <p:nvPr/>
        </p:nvGrpSpPr>
        <p:grpSpPr>
          <a:xfrm>
            <a:off x="2177802" y="656468"/>
            <a:ext cx="3549650" cy="449580"/>
            <a:chOff x="1553" y="3802"/>
            <a:chExt cx="5590" cy="708"/>
          </a:xfrm>
        </p:grpSpPr>
        <p:sp>
          <p:nvSpPr>
            <p:cNvPr id="24" name="圆角矩形 3">
              <a:extLst>
                <a:ext uri="{FF2B5EF4-FFF2-40B4-BE49-F238E27FC236}">
                  <a16:creationId xmlns:a16="http://schemas.microsoft.com/office/drawing/2014/main" id="{D9737038-198E-EA56-1594-95E3CA58C132}"/>
                </a:ext>
              </a:extLst>
            </p:cNvPr>
            <p:cNvSpPr/>
            <p:nvPr/>
          </p:nvSpPr>
          <p:spPr>
            <a:xfrm>
              <a:off x="1553" y="3803"/>
              <a:ext cx="1757"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5" name="Text Box 28">
              <a:extLst>
                <a:ext uri="{FF2B5EF4-FFF2-40B4-BE49-F238E27FC236}">
                  <a16:creationId xmlns:a16="http://schemas.microsoft.com/office/drawing/2014/main" id="{906FA68E-1B07-76C2-E617-F25829BAA815}"/>
                </a:ext>
              </a:extLst>
            </p:cNvPr>
            <p:cNvSpPr txBox="1">
              <a:spLocks noChangeArrowheads="1"/>
            </p:cNvSpPr>
            <p:nvPr/>
          </p:nvSpPr>
          <p:spPr bwMode="auto">
            <a:xfrm>
              <a:off x="1710" y="3802"/>
              <a:ext cx="5433"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定理</a:t>
              </a:r>
              <a:r>
                <a:rPr lang="en-US" altLang="zh-CN" kern="0" dirty="0">
                  <a:solidFill>
                    <a:schemeClr val="bg1"/>
                  </a:solidFill>
                  <a:latin typeface="微软雅黑" panose="020B0503020204020204" charset="-122"/>
                  <a:ea typeface="微软雅黑" panose="020B0503020204020204" charset="-122"/>
                  <a:cs typeface="微软雅黑" panose="020B0503020204020204" charset="-122"/>
                </a:rPr>
                <a:t>1</a:t>
              </a:r>
              <a:r>
                <a:rPr kumimoji="1" lang="en-US" altLang="zh-CN" sz="2800" dirty="0">
                  <a:solidFill>
                    <a:srgbClr val="4A7BA8"/>
                  </a:solidFill>
                  <a:latin typeface="Cambria Math" panose="02040503050406030204" charset="0"/>
                  <a:ea typeface="黑体" panose="02010609060101010101" pitchFamily="49" charset="-122"/>
                  <a:cs typeface="+mn-cs"/>
                  <a:sym typeface="+mn-lt"/>
                </a:rPr>
                <a:t>  </a:t>
              </a:r>
              <a:r>
                <a:rPr kumimoji="1" lang="en-US" altLang="zh-CN" sz="2800" dirty="0">
                  <a:solidFill>
                    <a:srgbClr val="00926A"/>
                  </a:solidFill>
                  <a:latin typeface="Cambria Math" panose="02040503050406030204" charset="0"/>
                  <a:ea typeface="黑体" panose="02010609060101010101" pitchFamily="49" charset="-122"/>
                  <a:cs typeface="+mn-cs"/>
                  <a:sym typeface="+mn-lt"/>
                </a:rPr>
                <a:t>(</a:t>
              </a:r>
              <a:r>
                <a:rPr kumimoji="1" lang="zh-CN" altLang="en-US" sz="2800" dirty="0">
                  <a:solidFill>
                    <a:srgbClr val="00926A"/>
                  </a:solidFill>
                  <a:latin typeface="Cambria Math" panose="02040503050406030204" charset="0"/>
                  <a:ea typeface="黑体" panose="02010609060101010101" pitchFamily="49" charset="-122"/>
                  <a:cs typeface="+mn-cs"/>
                  <a:sym typeface="+mn-lt"/>
                </a:rPr>
                <a:t>必要条件</a:t>
              </a:r>
              <a:r>
                <a:rPr kumimoji="1" lang="en-US" altLang="zh-CN" sz="2800" dirty="0">
                  <a:solidFill>
                    <a:srgbClr val="00926A"/>
                  </a:solidFill>
                  <a:latin typeface="Cambria Math" panose="02040503050406030204" charset="0"/>
                  <a:ea typeface="黑体" panose="02010609060101010101" pitchFamily="49" charset="-122"/>
                  <a:cs typeface="+mn-cs"/>
                  <a:sym typeface="+mn-lt"/>
                </a:rPr>
                <a:t>)</a:t>
              </a:r>
              <a:endParaRPr kumimoji="1" lang="en-US" altLang="zh-CN" i="0" u="none" strike="noStrike" kern="0" cap="none" spc="0" normalizeH="0" baseline="0" noProof="0" dirty="0">
                <a:ln>
                  <a:noFill/>
                </a:ln>
                <a:solidFill>
                  <a:srgbClr val="00926A"/>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26" name="组合 25">
            <a:extLst>
              <a:ext uri="{FF2B5EF4-FFF2-40B4-BE49-F238E27FC236}">
                <a16:creationId xmlns:a16="http://schemas.microsoft.com/office/drawing/2014/main" id="{60666F5E-66CA-CB0B-8752-D05867377681}"/>
              </a:ext>
            </a:extLst>
          </p:cNvPr>
          <p:cNvGrpSpPr/>
          <p:nvPr/>
        </p:nvGrpSpPr>
        <p:grpSpPr>
          <a:xfrm>
            <a:off x="9395056" y="5701558"/>
            <a:ext cx="716209" cy="360271"/>
            <a:chOff x="1553" y="3803"/>
            <a:chExt cx="1165" cy="579"/>
          </a:xfrm>
        </p:grpSpPr>
        <p:sp>
          <p:nvSpPr>
            <p:cNvPr id="27" name="圆角矩形 21">
              <a:extLst>
                <a:ext uri="{FF2B5EF4-FFF2-40B4-BE49-F238E27FC236}">
                  <a16:creationId xmlns:a16="http://schemas.microsoft.com/office/drawing/2014/main" id="{5379C7BB-3C05-8377-0809-069AF61AAC77}"/>
                </a:ext>
              </a:extLst>
            </p:cNvPr>
            <p:cNvSpPr/>
            <p:nvPr/>
          </p:nvSpPr>
          <p:spPr>
            <a:xfrm>
              <a:off x="1553" y="3803"/>
              <a:ext cx="1131" cy="579"/>
            </a:xfrm>
            <a:prstGeom prst="roundRect">
              <a:avLst>
                <a:gd name="adj" fmla="val 0"/>
              </a:avLst>
            </a:prstGeom>
            <a:solidFill>
              <a:srgbClr val="04926A">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latin typeface="微软雅黑" panose="020B0503020204020204" charset="-122"/>
                <a:ea typeface="微软雅黑" panose="020B0503020204020204" charset="-122"/>
              </a:endParaRPr>
            </a:p>
          </p:txBody>
        </p:sp>
        <p:sp>
          <p:nvSpPr>
            <p:cNvPr id="28" name="Text Box 28">
              <a:extLst>
                <a:ext uri="{FF2B5EF4-FFF2-40B4-BE49-F238E27FC236}">
                  <a16:creationId xmlns:a16="http://schemas.microsoft.com/office/drawing/2014/main" id="{27226863-D2FE-881A-890E-73A018A0DB2A}"/>
                </a:ext>
              </a:extLst>
            </p:cNvPr>
            <p:cNvSpPr txBox="1">
              <a:spLocks noChangeArrowheads="1"/>
            </p:cNvSpPr>
            <p:nvPr/>
          </p:nvSpPr>
          <p:spPr bwMode="auto">
            <a:xfrm>
              <a:off x="1650" y="3817"/>
              <a:ext cx="1068"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lang="zh-CN" altLang="en-US" sz="2200" b="0" dirty="0">
                  <a:solidFill>
                    <a:schemeClr val="tx1">
                      <a:lumMod val="95000"/>
                      <a:lumOff val="5000"/>
                    </a:schemeClr>
                  </a:solidFill>
                  <a:latin typeface="Cambria Math" panose="02040503050406030204" charset="0"/>
                  <a:ea typeface="黑体" panose="02010609060101010101" pitchFamily="49" charset="-122"/>
                  <a:cs typeface="+mj-cs"/>
                </a:rPr>
                <a:t>证毕</a:t>
              </a:r>
            </a:p>
          </p:txBody>
        </p:sp>
      </p:grpSp>
    </p:spTree>
    <p:extLst>
      <p:ext uri="{BB962C8B-B14F-4D97-AF65-F5344CB8AC3E}">
        <p14:creationId xmlns:p14="http://schemas.microsoft.com/office/powerpoint/2010/main" val="379047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ipe(left)">
                                      <p:cBhvr>
                                        <p:cTn id="55" dur="500"/>
                                        <p:tgtEl>
                                          <p:spTgt spid="7"/>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childTnLst>
                          </p:cTn>
                        </p:par>
                        <p:par>
                          <p:cTn id="60" fill="hold">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left)">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wipe(left)">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wipe(left)">
                                      <p:cBhvr>
                                        <p:cTn id="73" dur="500"/>
                                        <p:tgtEl>
                                          <p:spTgt spid="8"/>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left)">
                                      <p:cBhvr>
                                        <p:cTn id="78" dur="500"/>
                                        <p:tgtEl>
                                          <p:spTgt spid="2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wipe(left)">
                                      <p:cBhvr>
                                        <p:cTn id="83" dur="500"/>
                                        <p:tgtEl>
                                          <p:spTgt spid="2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9"/>
                                        </p:tgtEl>
                                        <p:attrNameLst>
                                          <p:attrName>style.visibility</p:attrName>
                                        </p:attrNameLst>
                                      </p:cBhvr>
                                      <p:to>
                                        <p:strVal val="visible"/>
                                      </p:to>
                                    </p:set>
                                    <p:animEffect transition="in" filter="wipe(left)">
                                      <p:cBhvr>
                                        <p:cTn id="88" dur="500"/>
                                        <p:tgtEl>
                                          <p:spTgt spid="9"/>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0"/>
                                        </p:tgtEl>
                                        <p:attrNameLst>
                                          <p:attrName>style.visibility</p:attrName>
                                        </p:attrNameLst>
                                      </p:cBhvr>
                                      <p:to>
                                        <p:strVal val="visible"/>
                                      </p:to>
                                    </p:set>
                                    <p:animEffect transition="in" filter="wipe(left)">
                                      <p:cBhvr>
                                        <p:cTn id="93" dur="500"/>
                                        <p:tgtEl>
                                          <p:spTgt spid="10"/>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20"/>
                                        </p:tgtEl>
                                        <p:attrNameLst>
                                          <p:attrName>style.visibility</p:attrName>
                                        </p:attrNameLst>
                                      </p:cBhvr>
                                      <p:to>
                                        <p:strVal val="visible"/>
                                      </p:to>
                                    </p:set>
                                    <p:animEffect transition="in" filter="wipe(left)">
                                      <p:cBhvr>
                                        <p:cTn id="98" dur="500"/>
                                        <p:tgtEl>
                                          <p:spTgt spid="20"/>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1"/>
                                        </p:tgtEl>
                                        <p:attrNameLst>
                                          <p:attrName>style.visibility</p:attrName>
                                        </p:attrNameLst>
                                      </p:cBhvr>
                                      <p:to>
                                        <p:strVal val="visible"/>
                                      </p:to>
                                    </p:set>
                                    <p:animEffect transition="in" filter="wipe(left)">
                                      <p:cBhvr>
                                        <p:cTn id="103" dur="500"/>
                                        <p:tgtEl>
                                          <p:spTgt spid="11"/>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26"/>
                                        </p:tgtEl>
                                        <p:attrNameLst>
                                          <p:attrName>style.visibility</p:attrName>
                                        </p:attrNameLst>
                                      </p:cBhvr>
                                      <p:to>
                                        <p:strVal val="visible"/>
                                      </p:to>
                                    </p:set>
                                    <p:animEffect transition="in" filter="wipe(left)">
                                      <p:cBhvr>
                                        <p:cTn id="10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F5BF2EF3-220E-D751-42E2-AC4B5227CCD5}"/>
                  </a:ext>
                </a:extLst>
              </p:cNvPr>
              <p:cNvSpPr txBox="1"/>
              <p:nvPr/>
            </p:nvSpPr>
            <p:spPr>
              <a:xfrm>
                <a:off x="3556166" y="5483381"/>
                <a:ext cx="3344570" cy="6736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200" i="1" smtClean="0">
                              <a:latin typeface="Cambria Math" panose="02040503050406030204" pitchFamily="18" charset="0"/>
                            </a:rPr>
                          </m:ctrlPr>
                        </m:dPr>
                        <m:e>
                          <m:func>
                            <m:funcPr>
                              <m:ctrlPr>
                                <a:rPr kumimoji="1" lang="zh-CN" altLang="en-US" sz="2200" i="1" smtClean="0">
                                  <a:solidFill>
                                    <a:schemeClr val="bg1"/>
                                  </a:solidFill>
                                  <a:latin typeface="Cambria Math" panose="02040503050406030204" pitchFamily="18" charset="0"/>
                                  <a:ea typeface="黑体" panose="02010609060101010101" pitchFamily="49" charset="-122"/>
                                </a:rPr>
                              </m:ctrlPr>
                            </m:funcPr>
                            <m:fName>
                              <m:limLow>
                                <m:limLowPr>
                                  <m:ctrlPr>
                                    <a:rPr kumimoji="1" lang="zh-CN" altLang="en-US" sz="2200" i="1">
                                      <a:solidFill>
                                        <a:schemeClr val="bg1"/>
                                      </a:solidFill>
                                      <a:latin typeface="Cambria Math" panose="02040503050406030204" pitchFamily="18" charset="0"/>
                                      <a:ea typeface="黑体" panose="02010609060101010101" pitchFamily="49" charset="-122"/>
                                    </a:rPr>
                                  </m:ctrlPr>
                                </m:limLowPr>
                                <m:e>
                                  <m:r>
                                    <m:rPr>
                                      <m:sty m:val="p"/>
                                    </m:rPr>
                                    <a:rPr kumimoji="1" lang="zh-CN" altLang="en-US" sz="2200">
                                      <a:solidFill>
                                        <a:schemeClr val="bg1"/>
                                      </a:solidFill>
                                      <a:latin typeface="Cambria Math" panose="02040503050406030204" charset="0"/>
                                      <a:ea typeface="黑体" panose="02010609060101010101" pitchFamily="49" charset="-122"/>
                                    </a:rPr>
                                    <m:t>lim</m:t>
                                  </m:r>
                                </m:e>
                                <m:lim>
                                  <m:eqArr>
                                    <m:eqArrPr>
                                      <m:ctrlPr>
                                        <a:rPr kumimoji="1" lang="zh-CN" altLang="en-US" sz="2200" i="1">
                                          <a:solidFill>
                                            <a:schemeClr val="bg1"/>
                                          </a:solidFill>
                                          <a:latin typeface="Cambria Math" panose="02040503050406030204" pitchFamily="18" charset="0"/>
                                          <a:ea typeface="黑体" panose="02010609060101010101" pitchFamily="49" charset="-122"/>
                                        </a:rPr>
                                      </m:ctrlPr>
                                    </m:eqArrPr>
                                    <m:e>
                                      <m:r>
                                        <a:rPr kumimoji="1" lang="zh-CN" altLang="en-US" sz="2200">
                                          <a:solidFill>
                                            <a:schemeClr val="bg1"/>
                                          </a:solidFill>
                                          <a:latin typeface="Cambria Math" panose="02040503050406030204" charset="0"/>
                                          <a:ea typeface="黑体" panose="02010609060101010101" pitchFamily="49" charset="-122"/>
                                        </a:rPr>
                                        <m:t>&amp;</m:t>
                                      </m:r>
                                      <m:r>
                                        <m:rPr>
                                          <m:sty m:val="p"/>
                                        </m:rPr>
                                        <a:rPr kumimoji="1" lang="zh-CN" altLang="en-US" sz="2200">
                                          <a:solidFill>
                                            <a:schemeClr val="bg1"/>
                                          </a:solidFill>
                                          <a:latin typeface="Cambria Math" panose="02040503050406030204" charset="0"/>
                                          <a:ea typeface="黑体" panose="02010609060101010101" pitchFamily="49" charset="-122"/>
                                        </a:rPr>
                                        <m:t>Δ</m:t>
                                      </m:r>
                                      <m:r>
                                        <a:rPr kumimoji="1" lang="zh-CN" altLang="en-US" sz="2200">
                                          <a:solidFill>
                                            <a:schemeClr val="bg1"/>
                                          </a:solidFill>
                                          <a:latin typeface="Cambria Math" panose="02040503050406030204" charset="0"/>
                                          <a:ea typeface="黑体" panose="02010609060101010101" pitchFamily="49" charset="-122"/>
                                        </a:rPr>
                                        <m:t>𝑥</m:t>
                                      </m:r>
                                      <m:r>
                                        <a:rPr kumimoji="1" lang="zh-CN" altLang="en-US" sz="2200">
                                          <a:solidFill>
                                            <a:schemeClr val="bg1"/>
                                          </a:solidFill>
                                          <a:latin typeface="Cambria Math" panose="02040503050406030204" charset="0"/>
                                          <a:ea typeface="黑体" panose="02010609060101010101" pitchFamily="49" charset="-122"/>
                                        </a:rPr>
                                        <m:t>→0</m:t>
                                      </m:r>
                                    </m:e>
                                    <m:e>
                                      <m:r>
                                        <a:rPr kumimoji="1" lang="zh-CN" altLang="en-US" sz="2200">
                                          <a:solidFill>
                                            <a:schemeClr val="bg1"/>
                                          </a:solidFill>
                                          <a:latin typeface="Cambria Math" panose="02040503050406030204" charset="0"/>
                                          <a:ea typeface="黑体" panose="02010609060101010101" pitchFamily="49" charset="-122"/>
                                        </a:rPr>
                                        <m:t>&amp;</m:t>
                                      </m:r>
                                      <m:r>
                                        <m:rPr>
                                          <m:sty m:val="p"/>
                                        </m:rPr>
                                        <a:rPr kumimoji="1" lang="zh-CN" altLang="en-US" sz="2200">
                                          <a:solidFill>
                                            <a:schemeClr val="bg1"/>
                                          </a:solidFill>
                                          <a:latin typeface="Cambria Math" panose="02040503050406030204" charset="0"/>
                                          <a:ea typeface="黑体" panose="02010609060101010101" pitchFamily="49" charset="-122"/>
                                        </a:rPr>
                                        <m:t>Δ</m:t>
                                      </m:r>
                                      <m:r>
                                        <a:rPr kumimoji="1" lang="zh-CN" altLang="en-US" sz="2200">
                                          <a:solidFill>
                                            <a:schemeClr val="bg1"/>
                                          </a:solidFill>
                                          <a:latin typeface="Cambria Math" panose="02040503050406030204" charset="0"/>
                                          <a:ea typeface="黑体" panose="02010609060101010101" pitchFamily="49" charset="-122"/>
                                        </a:rPr>
                                        <m:t>𝑦</m:t>
                                      </m:r>
                                      <m:r>
                                        <a:rPr kumimoji="1" lang="zh-CN" altLang="en-US" sz="2200">
                                          <a:solidFill>
                                            <a:schemeClr val="bg1"/>
                                          </a:solidFill>
                                          <a:latin typeface="Cambria Math" panose="02040503050406030204" charset="0"/>
                                          <a:ea typeface="黑体" panose="02010609060101010101" pitchFamily="49" charset="-122"/>
                                        </a:rPr>
                                        <m:t>→0</m:t>
                                      </m:r>
                                    </m:e>
                                  </m:eqArr>
                                </m:lim>
                              </m:limLow>
                            </m:fName>
                            <m:e>
                              <m:r>
                                <a:rPr kumimoji="1" lang="zh-CN" altLang="en-US" sz="2200">
                                  <a:solidFill>
                                    <a:schemeClr val="bg1"/>
                                  </a:solidFill>
                                  <a:latin typeface="Cambria Math" panose="02040503050406030204" charset="0"/>
                                  <a:ea typeface="黑体" panose="02010609060101010101" pitchFamily="49" charset="-122"/>
                                </a:rPr>
                                <m:t>𝛽</m:t>
                              </m:r>
                            </m:e>
                          </m:func>
                          <m:r>
                            <a:rPr kumimoji="1" lang="en-US" altLang="zh-CN" sz="2200" b="0" i="0" smtClean="0">
                              <a:solidFill>
                                <a:schemeClr val="bg1"/>
                              </a:solidFill>
                              <a:latin typeface="Cambria Math" panose="02040503050406030204" pitchFamily="18" charset="0"/>
                              <a:ea typeface="黑体" panose="02010609060101010101" pitchFamily="49" charset="-122"/>
                            </a:rPr>
                            <m:t>                           </m:t>
                          </m:r>
                          <m:r>
                            <a:rPr kumimoji="1" lang="zh-CN" altLang="en-US" sz="2200">
                              <a:solidFill>
                                <a:schemeClr val="bg1"/>
                              </a:solidFill>
                              <a:latin typeface="Cambria Math" panose="02040503050406030204" charset="0"/>
                              <a:ea typeface="黑体" panose="02010609060101010101" pitchFamily="49" charset="-122"/>
                            </a:rPr>
                            <m:t>=0</m:t>
                          </m:r>
                        </m:e>
                      </m:d>
                    </m:oMath>
                  </m:oMathPara>
                </a14:m>
                <a:endParaRPr lang="zh-CN" altLang="en-US" sz="2200" dirty="0"/>
              </a:p>
            </p:txBody>
          </p:sp>
        </mc:Choice>
        <mc:Fallback xmlns="">
          <p:sp>
            <p:nvSpPr>
              <p:cNvPr id="61" name="文本框 60">
                <a:extLst>
                  <a:ext uri="{FF2B5EF4-FFF2-40B4-BE49-F238E27FC236}">
                    <a16:creationId xmlns:a16="http://schemas.microsoft.com/office/drawing/2014/main" id="{F5BF2EF3-220E-D751-42E2-AC4B5227CCD5}"/>
                  </a:ext>
                </a:extLst>
              </p:cNvPr>
              <p:cNvSpPr txBox="1">
                <a:spLocks noRot="1" noChangeAspect="1" noMove="1" noResize="1" noEditPoints="1" noAdjustHandles="1" noChangeArrowheads="1" noChangeShapeType="1" noTextEdit="1"/>
              </p:cNvSpPr>
              <p:nvPr/>
            </p:nvSpPr>
            <p:spPr>
              <a:xfrm>
                <a:off x="3556166" y="5483381"/>
                <a:ext cx="3344570" cy="673646"/>
              </a:xfrm>
              <a:prstGeom prst="rect">
                <a:avLst/>
              </a:prstGeom>
              <a:blipFill>
                <a:blip r:embed="rId2"/>
                <a:stretch>
                  <a:fillRect b="-13636"/>
                </a:stretch>
              </a:blipFill>
            </p:spPr>
            <p:txBody>
              <a:bodyPr/>
              <a:lstStyle/>
              <a:p>
                <a:r>
                  <a:rPr lang="zh-CN" altLang="en-US">
                    <a:noFill/>
                  </a:rPr>
                  <a:t> </a:t>
                </a:r>
              </a:p>
            </p:txBody>
          </p:sp>
        </mc:Fallback>
      </mc:AlternateContent>
      <p:sp>
        <p:nvSpPr>
          <p:cNvPr id="62" name="图文框 61">
            <a:extLst>
              <a:ext uri="{FF2B5EF4-FFF2-40B4-BE49-F238E27FC236}">
                <a16:creationId xmlns:a16="http://schemas.microsoft.com/office/drawing/2014/main" id="{EAC116FB-715E-2C70-16F6-B2BA46144AAE}"/>
              </a:ext>
            </a:extLst>
          </p:cNvPr>
          <p:cNvSpPr/>
          <p:nvPr/>
        </p:nvSpPr>
        <p:spPr>
          <a:xfrm rot="5400000">
            <a:off x="2705095" y="-2639699"/>
            <a:ext cx="6858001" cy="12137397"/>
          </a:xfrm>
          <a:prstGeom prst="frame">
            <a:avLst>
              <a:gd name="adj1" fmla="val 50000"/>
            </a:avLst>
          </a:prstGeom>
          <a:gradFill flip="none" rotWithShape="1">
            <a:gsLst>
              <a:gs pos="100000">
                <a:srgbClr val="007434">
                  <a:alpha val="10000"/>
                </a:srgbClr>
              </a:gs>
              <a:gs pos="4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latin typeface="字魂36号-正文宋楷" panose="00000500000000000000" pitchFamily="2" charset="-122"/>
              <a:ea typeface="字魂36号-正文宋楷" panose="00000500000000000000" pitchFamily="2" charset="-122"/>
            </a:endParaRPr>
          </a:p>
        </p:txBody>
      </p:sp>
      <p:sp>
        <p:nvSpPr>
          <p:cNvPr id="63" name="矩形 62">
            <a:extLst>
              <a:ext uri="{FF2B5EF4-FFF2-40B4-BE49-F238E27FC236}">
                <a16:creationId xmlns:a16="http://schemas.microsoft.com/office/drawing/2014/main" id="{F2D15832-1DA5-EF61-F42D-C5797A66A0A2}"/>
              </a:ext>
            </a:extLst>
          </p:cNvPr>
          <p:cNvSpPr/>
          <p:nvPr/>
        </p:nvSpPr>
        <p:spPr>
          <a:xfrm rot="16200000" flipH="1">
            <a:off x="-3338945" y="3338945"/>
            <a:ext cx="6858000" cy="180109"/>
          </a:xfrm>
          <a:prstGeom prst="rect">
            <a:avLst/>
          </a:prstGeom>
          <a:gradFill flip="none" rotWithShape="1">
            <a:gsLst>
              <a:gs pos="100000">
                <a:srgbClr val="2C8894">
                  <a:alpha val="55000"/>
                </a:srgbClr>
              </a:gs>
              <a:gs pos="55000">
                <a:srgbClr val="389479">
                  <a:alpha val="87000"/>
                </a:srgbClr>
              </a:gs>
              <a:gs pos="0">
                <a:srgbClr val="3F9B67"/>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3E103B4B-3E7A-9F32-FB64-0887C80FC71C}"/>
                  </a:ext>
                </a:extLst>
              </p:cNvPr>
              <p:cNvSpPr txBox="1"/>
              <p:nvPr/>
            </p:nvSpPr>
            <p:spPr bwMode="auto">
              <a:xfrm>
                <a:off x="9125797" y="621718"/>
                <a:ext cx="1131888" cy="9271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4" name="Object 4">
                <a:extLst>
                  <a:ext uri="{FF2B5EF4-FFF2-40B4-BE49-F238E27FC236}">
                    <a16:creationId xmlns:a16="http://schemas.microsoft.com/office/drawing/2014/main" id="{3E103B4B-3E7A-9F32-FB64-0887C80FC71C}"/>
                  </a:ext>
                </a:extLst>
              </p:cNvPr>
              <p:cNvSpPr txBox="1">
                <a:spLocks noRot="1" noChangeAspect="1" noMove="1" noResize="1" noEditPoints="1" noAdjustHandles="1" noChangeArrowheads="1" noChangeShapeType="1" noTextEdit="1"/>
              </p:cNvSpPr>
              <p:nvPr/>
            </p:nvSpPr>
            <p:spPr bwMode="auto">
              <a:xfrm>
                <a:off x="9125797" y="621718"/>
                <a:ext cx="1131888" cy="927100"/>
              </a:xfrm>
              <a:prstGeom prst="rect">
                <a:avLst/>
              </a:prstGeom>
              <a:blipFill>
                <a:blip r:embed="rId4"/>
                <a:stretch>
                  <a:fillRect b="-658"/>
                </a:stretch>
              </a:blipFill>
              <a:ln>
                <a:noFill/>
              </a:ln>
              <a:effectLst/>
            </p:spPr>
            <p:txBody>
              <a:bodyPr/>
              <a:lstStyle/>
              <a:p>
                <a:r>
                  <a:rPr lang="zh-CN" altLang="en-US">
                    <a:noFill/>
                  </a:rPr>
                  <a:t> </a:t>
                </a:r>
              </a:p>
            </p:txBody>
          </p:sp>
        </mc:Fallback>
      </mc:AlternateContent>
      <p:sp>
        <p:nvSpPr>
          <p:cNvPr id="5" name="Text Box 5">
            <a:extLst>
              <a:ext uri="{FF2B5EF4-FFF2-40B4-BE49-F238E27FC236}">
                <a16:creationId xmlns:a16="http://schemas.microsoft.com/office/drawing/2014/main" id="{5CD7ABB0-CDE4-D476-643A-16710471C7BF}"/>
              </a:ext>
            </a:extLst>
          </p:cNvPr>
          <p:cNvSpPr txBox="1">
            <a:spLocks noChangeArrowheads="1"/>
          </p:cNvSpPr>
          <p:nvPr/>
        </p:nvSpPr>
        <p:spPr bwMode="auto">
          <a:xfrm>
            <a:off x="1924963" y="2319562"/>
            <a:ext cx="1066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kern="0" dirty="0">
                <a:solidFill>
                  <a:srgbClr val="04926A"/>
                </a:solidFill>
                <a:latin typeface="微软雅黑" panose="020B0503020204020204" charset="-122"/>
                <a:ea typeface="微软雅黑" panose="020B0503020204020204" charset="-122"/>
                <a:cs typeface="微软雅黑" panose="020B0503020204020204" charset="-122"/>
                <a:sym typeface="+mn-lt"/>
              </a:rPr>
              <a:t>证 </a:t>
            </a:r>
          </a:p>
        </p:txBody>
      </p:sp>
      <mc:AlternateContent xmlns:mc="http://schemas.openxmlformats.org/markup-compatibility/2006" xmlns:a14="http://schemas.microsoft.com/office/drawing/2010/main">
        <mc:Choice Requires="a14">
          <p:sp>
            <p:nvSpPr>
              <p:cNvPr id="6" name="Object 6">
                <a:extLst>
                  <a:ext uri="{FF2B5EF4-FFF2-40B4-BE49-F238E27FC236}">
                    <a16:creationId xmlns:a16="http://schemas.microsoft.com/office/drawing/2014/main" id="{BBD987D0-F4BE-BD04-883E-70207A2FC452}"/>
                  </a:ext>
                </a:extLst>
              </p:cNvPr>
              <p:cNvSpPr txBox="1"/>
              <p:nvPr/>
            </p:nvSpPr>
            <p:spPr bwMode="auto">
              <a:xfrm>
                <a:off x="3144064" y="2311465"/>
                <a:ext cx="4219839"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6" name="Object 6">
                <a:extLst>
                  <a:ext uri="{FF2B5EF4-FFF2-40B4-BE49-F238E27FC236}">
                    <a16:creationId xmlns:a16="http://schemas.microsoft.com/office/drawing/2014/main" id="{BBD987D0-F4BE-BD04-883E-70207A2FC452}"/>
                  </a:ext>
                </a:extLst>
              </p:cNvPr>
              <p:cNvSpPr txBox="1">
                <a:spLocks noRot="1" noChangeAspect="1" noMove="1" noResize="1" noEditPoints="1" noAdjustHandles="1" noChangeArrowheads="1" noChangeShapeType="1" noTextEdit="1"/>
              </p:cNvSpPr>
              <p:nvPr/>
            </p:nvSpPr>
            <p:spPr bwMode="auto">
              <a:xfrm>
                <a:off x="3144064" y="2311465"/>
                <a:ext cx="4219839" cy="406400"/>
              </a:xfrm>
              <a:prstGeom prst="rect">
                <a:avLst/>
              </a:prstGeom>
              <a:blipFill>
                <a:blip r:embed="rId5"/>
                <a:stretch>
                  <a:fillRect l="-145" b="-2537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7">
                <a:extLst>
                  <a:ext uri="{FF2B5EF4-FFF2-40B4-BE49-F238E27FC236}">
                    <a16:creationId xmlns:a16="http://schemas.microsoft.com/office/drawing/2014/main" id="{66C1A146-3997-AC15-18AD-3F5C08042F70}"/>
                  </a:ext>
                </a:extLst>
              </p:cNvPr>
              <p:cNvSpPr txBox="1"/>
              <p:nvPr/>
            </p:nvSpPr>
            <p:spPr bwMode="auto">
              <a:xfrm>
                <a:off x="6722981" y="4422882"/>
                <a:ext cx="2452056" cy="469849"/>
              </a:xfrm>
              <a:prstGeom prst="rect">
                <a:avLst/>
              </a:prstGeom>
              <a:noFill/>
              <a:ln w="28575">
                <a:solidFill>
                  <a:srgbClr val="04926A"/>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(0&lt;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 , </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&lt;1 )</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Object 7">
                <a:extLst>
                  <a:ext uri="{FF2B5EF4-FFF2-40B4-BE49-F238E27FC236}">
                    <a16:creationId xmlns:a16="http://schemas.microsoft.com/office/drawing/2014/main" id="{66C1A146-3997-AC15-18AD-3F5C08042F70}"/>
                  </a:ext>
                </a:extLst>
              </p:cNvPr>
              <p:cNvSpPr txBox="1">
                <a:spLocks noRot="1" noChangeAspect="1" noMove="1" noResize="1" noEditPoints="1" noAdjustHandles="1" noChangeArrowheads="1" noChangeShapeType="1" noTextEdit="1"/>
              </p:cNvSpPr>
              <p:nvPr/>
            </p:nvSpPr>
            <p:spPr bwMode="auto">
              <a:xfrm>
                <a:off x="6722981" y="4422882"/>
                <a:ext cx="2452056" cy="469849"/>
              </a:xfrm>
              <a:prstGeom prst="rect">
                <a:avLst/>
              </a:prstGeom>
              <a:blipFill>
                <a:blip r:embed="rId6"/>
                <a:stretch>
                  <a:fillRect l="-1229" b="-4878"/>
                </a:stretch>
              </a:blipFill>
              <a:ln w="28575">
                <a:solidFill>
                  <a:srgbClr val="04926A"/>
                </a:solid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17">
                <a:extLst>
                  <a:ext uri="{FF2B5EF4-FFF2-40B4-BE49-F238E27FC236}">
                    <a16:creationId xmlns:a16="http://schemas.microsoft.com/office/drawing/2014/main" id="{CA68AD36-9891-BDC1-7450-2BB513B0811E}"/>
                  </a:ext>
                </a:extLst>
              </p:cNvPr>
              <p:cNvSpPr txBox="1"/>
              <p:nvPr/>
            </p:nvSpPr>
            <p:spPr bwMode="auto">
              <a:xfrm>
                <a:off x="6911263" y="3688313"/>
                <a:ext cx="2399421" cy="4953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b>
                      </m:sSub>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0" name="Object 17">
                <a:extLst>
                  <a:ext uri="{FF2B5EF4-FFF2-40B4-BE49-F238E27FC236}">
                    <a16:creationId xmlns:a16="http://schemas.microsoft.com/office/drawing/2014/main" id="{CA68AD36-9891-BDC1-7450-2BB513B0811E}"/>
                  </a:ext>
                </a:extLst>
              </p:cNvPr>
              <p:cNvSpPr txBox="1">
                <a:spLocks noRot="1" noChangeAspect="1" noMove="1" noResize="1" noEditPoints="1" noAdjustHandles="1" noChangeArrowheads="1" noChangeShapeType="1" noTextEdit="1"/>
              </p:cNvSpPr>
              <p:nvPr/>
            </p:nvSpPr>
            <p:spPr bwMode="auto">
              <a:xfrm>
                <a:off x="6911263" y="3688313"/>
                <a:ext cx="2399421" cy="495300"/>
              </a:xfrm>
              <a:prstGeom prst="rect">
                <a:avLst/>
              </a:prstGeom>
              <a:blipFill>
                <a:blip r:embed="rId7"/>
                <a:stretch>
                  <a:fillRect l="-1781" b="-246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18">
                <a:extLst>
                  <a:ext uri="{FF2B5EF4-FFF2-40B4-BE49-F238E27FC236}">
                    <a16:creationId xmlns:a16="http://schemas.microsoft.com/office/drawing/2014/main" id="{07827792-0CB9-DAB2-F53F-5F9612D06D71}"/>
                  </a:ext>
                </a:extLst>
              </p:cNvPr>
              <p:cNvSpPr txBox="1"/>
              <p:nvPr/>
            </p:nvSpPr>
            <p:spPr bwMode="auto">
              <a:xfrm>
                <a:off x="3534356" y="3670212"/>
                <a:ext cx="3609809" cy="4445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sub>
                      </m:sSub>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1" name="Object 18">
                <a:extLst>
                  <a:ext uri="{FF2B5EF4-FFF2-40B4-BE49-F238E27FC236}">
                    <a16:creationId xmlns:a16="http://schemas.microsoft.com/office/drawing/2014/main" id="{07827792-0CB9-DAB2-F53F-5F9612D06D71}"/>
                  </a:ext>
                </a:extLst>
              </p:cNvPr>
              <p:cNvSpPr txBox="1">
                <a:spLocks noRot="1" noChangeAspect="1" noMove="1" noResize="1" noEditPoints="1" noAdjustHandles="1" noChangeArrowheads="1" noChangeShapeType="1" noTextEdit="1"/>
              </p:cNvSpPr>
              <p:nvPr/>
            </p:nvSpPr>
            <p:spPr bwMode="auto">
              <a:xfrm>
                <a:off x="3534356" y="3670212"/>
                <a:ext cx="3609809" cy="444500"/>
              </a:xfrm>
              <a:prstGeom prst="rect">
                <a:avLst/>
              </a:prstGeom>
              <a:blipFill>
                <a:blip r:embed="rId8"/>
                <a:stretch>
                  <a:fillRect b="-15068"/>
                </a:stretch>
              </a:blipFill>
              <a:ln>
                <a:noFill/>
              </a:ln>
              <a:effectLst/>
            </p:spPr>
            <p:txBody>
              <a:bodyPr/>
              <a:lstStyle/>
              <a:p>
                <a:r>
                  <a:rPr lang="zh-CN" altLang="en-US">
                    <a:noFill/>
                  </a:rPr>
                  <a:t> </a:t>
                </a:r>
              </a:p>
            </p:txBody>
          </p:sp>
        </mc:Fallback>
      </mc:AlternateContent>
      <p:grpSp>
        <p:nvGrpSpPr>
          <p:cNvPr id="29" name="组合 28">
            <a:extLst>
              <a:ext uri="{FF2B5EF4-FFF2-40B4-BE49-F238E27FC236}">
                <a16:creationId xmlns:a16="http://schemas.microsoft.com/office/drawing/2014/main" id="{5A7C5EDD-BDF1-4BDD-A56C-850EF1A6BF1D}"/>
              </a:ext>
            </a:extLst>
          </p:cNvPr>
          <p:cNvGrpSpPr/>
          <p:nvPr/>
        </p:nvGrpSpPr>
        <p:grpSpPr>
          <a:xfrm>
            <a:off x="3524417" y="2885141"/>
            <a:ext cx="4609933" cy="410840"/>
            <a:chOff x="3524417" y="2885141"/>
            <a:chExt cx="4609933" cy="410840"/>
          </a:xfrm>
        </p:grpSpPr>
        <mc:AlternateContent xmlns:mc="http://schemas.openxmlformats.org/markup-compatibility/2006" xmlns:a14="http://schemas.microsoft.com/office/drawing/2010/main">
          <mc:Choice Requires="a14">
            <p:sp>
              <p:nvSpPr>
                <p:cNvPr id="2" name="Object 2">
                  <a:extLst>
                    <a:ext uri="{FF2B5EF4-FFF2-40B4-BE49-F238E27FC236}">
                      <a16:creationId xmlns:a16="http://schemas.microsoft.com/office/drawing/2014/main" id="{A568777D-28A5-6FC0-D502-98D68FE269BD}"/>
                    </a:ext>
                  </a:extLst>
                </p:cNvPr>
                <p:cNvSpPr txBox="1"/>
                <p:nvPr/>
              </p:nvSpPr>
              <p:spPr bwMode="auto">
                <a:xfrm>
                  <a:off x="3524417" y="2889581"/>
                  <a:ext cx="4609933"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nor/>
                          </m:rP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nor/>
                          </m:rP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 name="Object 2">
                  <a:extLst>
                    <a:ext uri="{FF2B5EF4-FFF2-40B4-BE49-F238E27FC236}">
                      <a16:creationId xmlns:a16="http://schemas.microsoft.com/office/drawing/2014/main" id="{A568777D-28A5-6FC0-D502-98D68FE269BD}"/>
                    </a:ext>
                  </a:extLst>
                </p:cNvPr>
                <p:cNvSpPr txBox="1">
                  <a:spLocks noRot="1" noChangeAspect="1" noMove="1" noResize="1" noEditPoints="1" noAdjustHandles="1" noChangeArrowheads="1" noChangeShapeType="1" noTextEdit="1"/>
                </p:cNvSpPr>
                <p:nvPr/>
              </p:nvSpPr>
              <p:spPr bwMode="auto">
                <a:xfrm>
                  <a:off x="3524417" y="2889581"/>
                  <a:ext cx="4609933" cy="406400"/>
                </a:xfrm>
                <a:prstGeom prst="rect">
                  <a:avLst/>
                </a:prstGeom>
                <a:blipFill>
                  <a:blip r:embed="rId10"/>
                  <a:stretch>
                    <a:fillRect b="-26866"/>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19">
                  <a:extLst>
                    <a:ext uri="{FF2B5EF4-FFF2-40B4-BE49-F238E27FC236}">
                      <a16:creationId xmlns:a16="http://schemas.microsoft.com/office/drawing/2014/main" id="{A3A710E6-EBD8-AA49-BE64-90A174D9C7DD}"/>
                    </a:ext>
                  </a:extLst>
                </p:cNvPr>
                <p:cNvSpPr txBox="1"/>
                <p:nvPr/>
              </p:nvSpPr>
              <p:spPr bwMode="auto">
                <a:xfrm>
                  <a:off x="6086641" y="2885141"/>
                  <a:ext cx="1927059"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2" name="Object 19">
                  <a:extLst>
                    <a:ext uri="{FF2B5EF4-FFF2-40B4-BE49-F238E27FC236}">
                      <a16:creationId xmlns:a16="http://schemas.microsoft.com/office/drawing/2014/main" id="{A3A710E6-EBD8-AA49-BE64-90A174D9C7DD}"/>
                    </a:ext>
                  </a:extLst>
                </p:cNvPr>
                <p:cNvSpPr txBox="1">
                  <a:spLocks noRot="1" noChangeAspect="1" noMove="1" noResize="1" noEditPoints="1" noAdjustHandles="1" noChangeArrowheads="1" noChangeShapeType="1" noTextEdit="1"/>
                </p:cNvSpPr>
                <p:nvPr/>
              </p:nvSpPr>
              <p:spPr bwMode="auto">
                <a:xfrm>
                  <a:off x="6086641" y="2885141"/>
                  <a:ext cx="1927059" cy="406400"/>
                </a:xfrm>
                <a:prstGeom prst="rect">
                  <a:avLst/>
                </a:prstGeom>
                <a:blipFill>
                  <a:blip r:embed="rId11"/>
                  <a:stretch>
                    <a:fillRect b="-25373"/>
                  </a:stretch>
                </a:blipFill>
                <a:ln>
                  <a:noFill/>
                </a:ln>
                <a:effectLst/>
              </p:spPr>
              <p:txBody>
                <a:bodyPr/>
                <a:lstStyle/>
                <a:p>
                  <a:r>
                    <a:rPr lang="zh-CN" altLang="en-US">
                      <a:noFill/>
                    </a:rPr>
                    <a:t> </a:t>
                  </a:r>
                </a:p>
              </p:txBody>
            </p:sp>
          </mc:Fallback>
        </mc:AlternateContent>
      </p:grpSp>
      <p:grpSp>
        <p:nvGrpSpPr>
          <p:cNvPr id="30" name="组合 29">
            <a:extLst>
              <a:ext uri="{FF2B5EF4-FFF2-40B4-BE49-F238E27FC236}">
                <a16:creationId xmlns:a16="http://schemas.microsoft.com/office/drawing/2014/main" id="{AB2161E1-0E10-4FC2-B3D7-4995916953B0}"/>
              </a:ext>
            </a:extLst>
          </p:cNvPr>
          <p:cNvGrpSpPr/>
          <p:nvPr/>
        </p:nvGrpSpPr>
        <p:grpSpPr>
          <a:xfrm>
            <a:off x="7949009" y="2889581"/>
            <a:ext cx="3270044" cy="508912"/>
            <a:chOff x="4798178" y="3416882"/>
            <a:chExt cx="3270044" cy="508912"/>
          </a:xfrm>
        </p:grpSpPr>
        <mc:AlternateContent xmlns:mc="http://schemas.openxmlformats.org/markup-compatibility/2006" xmlns:a14="http://schemas.microsoft.com/office/drawing/2010/main">
          <mc:Choice Requires="a14">
            <p:sp>
              <p:nvSpPr>
                <p:cNvPr id="13" name="Object 20">
                  <a:extLst>
                    <a:ext uri="{FF2B5EF4-FFF2-40B4-BE49-F238E27FC236}">
                      <a16:creationId xmlns:a16="http://schemas.microsoft.com/office/drawing/2014/main" id="{FEC639E1-D020-0A99-D3DA-A95728EE8F86}"/>
                    </a:ext>
                  </a:extLst>
                </p:cNvPr>
                <p:cNvSpPr txBox="1"/>
                <p:nvPr/>
              </p:nvSpPr>
              <p:spPr bwMode="auto">
                <a:xfrm>
                  <a:off x="4798178" y="3416882"/>
                  <a:ext cx="3270044" cy="5089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m:rPr>
                            <m:nor/>
                          </m:rP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nor/>
                          </m:rP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3" name="Object 20">
                  <a:extLst>
                    <a:ext uri="{FF2B5EF4-FFF2-40B4-BE49-F238E27FC236}">
                      <a16:creationId xmlns:a16="http://schemas.microsoft.com/office/drawing/2014/main" id="{FEC639E1-D020-0A99-D3DA-A95728EE8F86}"/>
                    </a:ext>
                  </a:extLst>
                </p:cNvPr>
                <p:cNvSpPr txBox="1">
                  <a:spLocks noRot="1" noChangeAspect="1" noMove="1" noResize="1" noEditPoints="1" noAdjustHandles="1" noChangeArrowheads="1" noChangeShapeType="1" noTextEdit="1"/>
                </p:cNvSpPr>
                <p:nvPr/>
              </p:nvSpPr>
              <p:spPr bwMode="auto">
                <a:xfrm>
                  <a:off x="4798178" y="3416882"/>
                  <a:ext cx="3270044" cy="508912"/>
                </a:xfrm>
                <a:prstGeom prst="rect">
                  <a:avLst/>
                </a:prstGeom>
                <a:blipFill>
                  <a:blip r:embed="rId12"/>
                  <a:stretch>
                    <a:fillRect b="-120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21">
                  <a:extLst>
                    <a:ext uri="{FF2B5EF4-FFF2-40B4-BE49-F238E27FC236}">
                      <a16:creationId xmlns:a16="http://schemas.microsoft.com/office/drawing/2014/main" id="{FF2FF39F-9916-97FD-DDDB-C26009098B5F}"/>
                    </a:ext>
                  </a:extLst>
                </p:cNvPr>
                <p:cNvSpPr txBox="1"/>
                <p:nvPr/>
              </p:nvSpPr>
              <p:spPr bwMode="auto">
                <a:xfrm>
                  <a:off x="5116954" y="3416882"/>
                  <a:ext cx="1704571"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4" name="Object 21">
                  <a:extLst>
                    <a:ext uri="{FF2B5EF4-FFF2-40B4-BE49-F238E27FC236}">
                      <a16:creationId xmlns:a16="http://schemas.microsoft.com/office/drawing/2014/main" id="{FF2FF39F-9916-97FD-DDDB-C26009098B5F}"/>
                    </a:ext>
                  </a:extLst>
                </p:cNvPr>
                <p:cNvSpPr txBox="1">
                  <a:spLocks noRot="1" noChangeAspect="1" noMove="1" noResize="1" noEditPoints="1" noAdjustHandles="1" noChangeArrowheads="1" noChangeShapeType="1" noTextEdit="1"/>
                </p:cNvSpPr>
                <p:nvPr/>
              </p:nvSpPr>
              <p:spPr bwMode="auto">
                <a:xfrm>
                  <a:off x="5116954" y="3416882"/>
                  <a:ext cx="1704571" cy="406400"/>
                </a:xfrm>
                <a:prstGeom prst="rect">
                  <a:avLst/>
                </a:prstGeom>
                <a:blipFill>
                  <a:blip r:embed="rId13"/>
                  <a:stretch>
                    <a:fillRect l="-2143" b="-27273"/>
                  </a:stretch>
                </a:blipFill>
                <a:ln>
                  <a:noFill/>
                </a:ln>
                <a:effectLst/>
              </p:spPr>
              <p:txBody>
                <a:bodyPr/>
                <a:lstStyle/>
                <a:p>
                  <a:r>
                    <a:rPr lang="zh-CN" altLang="en-US">
                      <a:noFill/>
                    </a:rPr>
                    <a:t> </a:t>
                  </a:r>
                </a:p>
              </p:txBody>
            </p:sp>
          </mc:Fallback>
        </mc:AlternateContent>
      </p:grpSp>
      <p:sp>
        <p:nvSpPr>
          <p:cNvPr id="16" name="Text Box 24">
            <a:extLst>
              <a:ext uri="{FF2B5EF4-FFF2-40B4-BE49-F238E27FC236}">
                <a16:creationId xmlns:a16="http://schemas.microsoft.com/office/drawing/2014/main" id="{DDAFC15F-1370-38B2-B9A5-3756792B0E51}"/>
              </a:ext>
            </a:extLst>
          </p:cNvPr>
          <p:cNvSpPr txBox="1">
            <a:spLocks noChangeArrowheads="1"/>
          </p:cNvSpPr>
          <p:nvPr/>
        </p:nvSpPr>
        <p:spPr bwMode="auto">
          <a:xfrm>
            <a:off x="4839578" y="869563"/>
            <a:ext cx="130492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若函数</a:t>
            </a:r>
          </a:p>
        </p:txBody>
      </p:sp>
      <mc:AlternateContent xmlns:mc="http://schemas.openxmlformats.org/markup-compatibility/2006" xmlns:a14="http://schemas.microsoft.com/office/drawing/2010/main">
        <mc:Choice Requires="a14">
          <p:sp>
            <p:nvSpPr>
              <p:cNvPr id="17" name="Object 25">
                <a:extLst>
                  <a:ext uri="{FF2B5EF4-FFF2-40B4-BE49-F238E27FC236}">
                    <a16:creationId xmlns:a16="http://schemas.microsoft.com/office/drawing/2014/main" id="{B292EC66-A8B8-DB56-F639-AA6008D9A175}"/>
                  </a:ext>
                </a:extLst>
              </p:cNvPr>
              <p:cNvSpPr txBox="1"/>
              <p:nvPr/>
            </p:nvSpPr>
            <p:spPr bwMode="auto">
              <a:xfrm>
                <a:off x="5968289" y="840989"/>
                <a:ext cx="1885949" cy="4032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7" name="Object 25">
                <a:extLst>
                  <a:ext uri="{FF2B5EF4-FFF2-40B4-BE49-F238E27FC236}">
                    <a16:creationId xmlns:a16="http://schemas.microsoft.com/office/drawing/2014/main" id="{B292EC66-A8B8-DB56-F639-AA6008D9A175}"/>
                  </a:ext>
                </a:extLst>
              </p:cNvPr>
              <p:cNvSpPr txBox="1">
                <a:spLocks noRot="1" noChangeAspect="1" noMove="1" noResize="1" noEditPoints="1" noAdjustHandles="1" noChangeArrowheads="1" noChangeShapeType="1" noTextEdit="1"/>
              </p:cNvSpPr>
              <p:nvPr/>
            </p:nvSpPr>
            <p:spPr bwMode="auto">
              <a:xfrm>
                <a:off x="5968289" y="840989"/>
                <a:ext cx="1885949" cy="403225"/>
              </a:xfrm>
              <a:prstGeom prst="rect">
                <a:avLst/>
              </a:prstGeom>
              <a:blipFill>
                <a:blip r:embed="rId14"/>
                <a:stretch>
                  <a:fillRect b="-18182"/>
                </a:stretch>
              </a:blipFill>
              <a:ln>
                <a:noFill/>
              </a:ln>
              <a:effectLst/>
            </p:spPr>
            <p:txBody>
              <a:bodyPr/>
              <a:lstStyle/>
              <a:p>
                <a:r>
                  <a:rPr lang="zh-CN" altLang="en-US">
                    <a:noFill/>
                  </a:rPr>
                  <a:t> </a:t>
                </a:r>
              </a:p>
            </p:txBody>
          </p:sp>
        </mc:Fallback>
      </mc:AlternateContent>
      <p:sp>
        <p:nvSpPr>
          <p:cNvPr id="18" name="Text Box 26">
            <a:extLst>
              <a:ext uri="{FF2B5EF4-FFF2-40B4-BE49-F238E27FC236}">
                <a16:creationId xmlns:a16="http://schemas.microsoft.com/office/drawing/2014/main" id="{C9C4732F-F9FB-FE64-5B63-8DAF3F220936}"/>
              </a:ext>
            </a:extLst>
          </p:cNvPr>
          <p:cNvSpPr txBox="1">
            <a:spLocks noChangeArrowheads="1"/>
          </p:cNvSpPr>
          <p:nvPr/>
        </p:nvSpPr>
        <p:spPr bwMode="auto">
          <a:xfrm>
            <a:off x="7630336" y="874519"/>
            <a:ext cx="1673358"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的偏导数</a:t>
            </a:r>
          </a:p>
        </p:txBody>
      </p:sp>
      <mc:AlternateContent xmlns:mc="http://schemas.openxmlformats.org/markup-compatibility/2006" xmlns:a14="http://schemas.microsoft.com/office/drawing/2010/main">
        <mc:Choice Requires="a14">
          <p:sp>
            <p:nvSpPr>
              <p:cNvPr id="19" name="Object 27">
                <a:extLst>
                  <a:ext uri="{FF2B5EF4-FFF2-40B4-BE49-F238E27FC236}">
                    <a16:creationId xmlns:a16="http://schemas.microsoft.com/office/drawing/2014/main" id="{14342966-ED43-C3A0-9B55-39F3DD8D3A5B}"/>
                  </a:ext>
                </a:extLst>
              </p:cNvPr>
              <p:cNvSpPr txBox="1"/>
              <p:nvPr/>
            </p:nvSpPr>
            <p:spPr bwMode="auto">
              <a:xfrm>
                <a:off x="3126383" y="1600870"/>
                <a:ext cx="2754312" cy="4572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在点</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连续</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9" name="Object 27">
                <a:extLst>
                  <a:ext uri="{FF2B5EF4-FFF2-40B4-BE49-F238E27FC236}">
                    <a16:creationId xmlns:a16="http://schemas.microsoft.com/office/drawing/2014/main" id="{14342966-ED43-C3A0-9B55-39F3DD8D3A5B}"/>
                  </a:ext>
                </a:extLst>
              </p:cNvPr>
              <p:cNvSpPr txBox="1">
                <a:spLocks noRot="1" noChangeAspect="1" noMove="1" noResize="1" noEditPoints="1" noAdjustHandles="1" noChangeArrowheads="1" noChangeShapeType="1" noTextEdit="1"/>
              </p:cNvSpPr>
              <p:nvPr/>
            </p:nvSpPr>
            <p:spPr bwMode="auto">
              <a:xfrm>
                <a:off x="3126383" y="1600870"/>
                <a:ext cx="2754312" cy="457200"/>
              </a:xfrm>
              <a:prstGeom prst="rect">
                <a:avLst/>
              </a:prstGeom>
              <a:blipFill>
                <a:blip r:embed="rId15"/>
                <a:stretch>
                  <a:fillRect b="-2667"/>
                </a:stretch>
              </a:blipFill>
              <a:ln>
                <a:noFill/>
              </a:ln>
              <a:effectLst/>
            </p:spPr>
            <p:txBody>
              <a:bodyPr/>
              <a:lstStyle/>
              <a:p>
                <a:r>
                  <a:rPr lang="zh-CN" altLang="en-US">
                    <a:noFill/>
                  </a:rPr>
                  <a:t> </a:t>
                </a:r>
              </a:p>
            </p:txBody>
          </p:sp>
        </mc:Fallback>
      </mc:AlternateContent>
      <p:sp>
        <p:nvSpPr>
          <p:cNvPr id="20" name="Text Box 28">
            <a:extLst>
              <a:ext uri="{FF2B5EF4-FFF2-40B4-BE49-F238E27FC236}">
                <a16:creationId xmlns:a16="http://schemas.microsoft.com/office/drawing/2014/main" id="{542C3063-8FFC-93CF-CA06-9CC9FC59F4F0}"/>
              </a:ext>
            </a:extLst>
          </p:cNvPr>
          <p:cNvSpPr txBox="1">
            <a:spLocks noChangeArrowheads="1"/>
          </p:cNvSpPr>
          <p:nvPr/>
        </p:nvSpPr>
        <p:spPr bwMode="auto">
          <a:xfrm>
            <a:off x="5752144" y="1595460"/>
            <a:ext cx="3657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则函数在该点可微分</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p>
        </p:txBody>
      </p:sp>
      <p:grpSp>
        <p:nvGrpSpPr>
          <p:cNvPr id="3" name="组合 2">
            <a:extLst>
              <a:ext uri="{FF2B5EF4-FFF2-40B4-BE49-F238E27FC236}">
                <a16:creationId xmlns:a16="http://schemas.microsoft.com/office/drawing/2014/main" id="{513BF94F-90A1-4D2F-B981-82EBC9F0621B}"/>
              </a:ext>
            </a:extLst>
          </p:cNvPr>
          <p:cNvGrpSpPr/>
          <p:nvPr/>
        </p:nvGrpSpPr>
        <p:grpSpPr>
          <a:xfrm>
            <a:off x="3524795" y="4819937"/>
            <a:ext cx="5059792" cy="539949"/>
            <a:chOff x="3524795" y="4819937"/>
            <a:chExt cx="5059792" cy="539949"/>
          </a:xfrm>
        </p:grpSpPr>
        <mc:AlternateContent xmlns:mc="http://schemas.openxmlformats.org/markup-compatibility/2006" xmlns:a14="http://schemas.microsoft.com/office/drawing/2010/main">
          <mc:Choice Requires="a14">
            <p:sp>
              <p:nvSpPr>
                <p:cNvPr id="8" name="Object 8">
                  <a:extLst>
                    <a:ext uri="{FF2B5EF4-FFF2-40B4-BE49-F238E27FC236}">
                      <a16:creationId xmlns:a16="http://schemas.microsoft.com/office/drawing/2014/main" id="{BFE1EEBB-2913-9D72-18A5-2AC02B0C8976}"/>
                    </a:ext>
                  </a:extLst>
                </p:cNvPr>
                <p:cNvSpPr txBox="1"/>
                <p:nvPr/>
              </p:nvSpPr>
              <p:spPr bwMode="auto">
                <a:xfrm>
                  <a:off x="3524795" y="4821525"/>
                  <a:ext cx="2792412" cy="4445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8" name="Object 8">
                  <a:extLst>
                    <a:ext uri="{FF2B5EF4-FFF2-40B4-BE49-F238E27FC236}">
                      <a16:creationId xmlns:a16="http://schemas.microsoft.com/office/drawing/2014/main" id="{BFE1EEBB-2913-9D72-18A5-2AC02B0C8976}"/>
                    </a:ext>
                  </a:extLst>
                </p:cNvPr>
                <p:cNvSpPr txBox="1">
                  <a:spLocks noRot="1" noChangeAspect="1" noMove="1" noResize="1" noEditPoints="1" noAdjustHandles="1" noChangeArrowheads="1" noChangeShapeType="1" noTextEdit="1"/>
                </p:cNvSpPr>
                <p:nvPr/>
              </p:nvSpPr>
              <p:spPr bwMode="auto">
                <a:xfrm>
                  <a:off x="3524795" y="4821525"/>
                  <a:ext cx="2792412" cy="444500"/>
                </a:xfrm>
                <a:prstGeom prst="rect">
                  <a:avLst/>
                </a:prstGeom>
                <a:blipFill>
                  <a:blip r:embed="rId1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22">
                  <a:extLst>
                    <a:ext uri="{FF2B5EF4-FFF2-40B4-BE49-F238E27FC236}">
                      <a16:creationId xmlns:a16="http://schemas.microsoft.com/office/drawing/2014/main" id="{F68CEAD5-91EF-B04F-3EFE-F1B2D9AC10CC}"/>
                    </a:ext>
                  </a:extLst>
                </p:cNvPr>
                <p:cNvSpPr txBox="1"/>
                <p:nvPr/>
              </p:nvSpPr>
              <p:spPr bwMode="auto">
                <a:xfrm>
                  <a:off x="5766775" y="4819937"/>
                  <a:ext cx="2817812" cy="508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5" name="Object 22">
                  <a:extLst>
                    <a:ext uri="{FF2B5EF4-FFF2-40B4-BE49-F238E27FC236}">
                      <a16:creationId xmlns:a16="http://schemas.microsoft.com/office/drawing/2014/main" id="{F68CEAD5-91EF-B04F-3EFE-F1B2D9AC10CC}"/>
                    </a:ext>
                  </a:extLst>
                </p:cNvPr>
                <p:cNvSpPr txBox="1">
                  <a:spLocks noRot="1" noChangeAspect="1" noMove="1" noResize="1" noEditPoints="1" noAdjustHandles="1" noChangeArrowheads="1" noChangeShapeType="1" noTextEdit="1"/>
                </p:cNvSpPr>
                <p:nvPr/>
              </p:nvSpPr>
              <p:spPr bwMode="auto">
                <a:xfrm>
                  <a:off x="5766775" y="4819937"/>
                  <a:ext cx="2817812" cy="508000"/>
                </a:xfrm>
                <a:prstGeom prst="rect">
                  <a:avLst/>
                </a:prstGeom>
                <a:blipFill>
                  <a:blip r:embed="rId1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Object 33">
                  <a:extLst>
                    <a:ext uri="{FF2B5EF4-FFF2-40B4-BE49-F238E27FC236}">
                      <a16:creationId xmlns:a16="http://schemas.microsoft.com/office/drawing/2014/main" id="{5DD7C8F3-EEC8-DB23-EA23-586CC5B7BF95}"/>
                    </a:ext>
                  </a:extLst>
                </p:cNvPr>
                <p:cNvSpPr txBox="1"/>
                <p:nvPr/>
              </p:nvSpPr>
              <p:spPr bwMode="auto">
                <a:xfrm>
                  <a:off x="5042200" y="4861410"/>
                  <a:ext cx="297061" cy="36473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1" name="Object 33">
                  <a:extLst>
                    <a:ext uri="{FF2B5EF4-FFF2-40B4-BE49-F238E27FC236}">
                      <a16:creationId xmlns:a16="http://schemas.microsoft.com/office/drawing/2014/main" id="{5DD7C8F3-EEC8-DB23-EA23-586CC5B7BF95}"/>
                    </a:ext>
                  </a:extLst>
                </p:cNvPr>
                <p:cNvSpPr txBox="1">
                  <a:spLocks noRot="1" noChangeAspect="1" noMove="1" noResize="1" noEditPoints="1" noAdjustHandles="1" noChangeArrowheads="1" noChangeShapeType="1" noTextEdit="1"/>
                </p:cNvSpPr>
                <p:nvPr/>
              </p:nvSpPr>
              <p:spPr bwMode="auto">
                <a:xfrm>
                  <a:off x="5042200" y="4861410"/>
                  <a:ext cx="297061" cy="364730"/>
                </a:xfrm>
                <a:prstGeom prst="rect">
                  <a:avLst/>
                </a:prstGeom>
                <a:blipFill>
                  <a:blip r:embed="rId18"/>
                  <a:stretch>
                    <a:fillRect r="-12245" b="-666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34">
                  <a:extLst>
                    <a:ext uri="{FF2B5EF4-FFF2-40B4-BE49-F238E27FC236}">
                      <a16:creationId xmlns:a16="http://schemas.microsoft.com/office/drawing/2014/main" id="{9B88693E-36B1-9231-091C-1A5030FF309E}"/>
                    </a:ext>
                  </a:extLst>
                </p:cNvPr>
                <p:cNvSpPr txBox="1"/>
                <p:nvPr/>
              </p:nvSpPr>
              <p:spPr bwMode="auto">
                <a:xfrm>
                  <a:off x="7240326" y="4861410"/>
                  <a:ext cx="421141" cy="49847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2" name="Object 34">
                  <a:extLst>
                    <a:ext uri="{FF2B5EF4-FFF2-40B4-BE49-F238E27FC236}">
                      <a16:creationId xmlns:a16="http://schemas.microsoft.com/office/drawing/2014/main" id="{9B88693E-36B1-9231-091C-1A5030FF309E}"/>
                    </a:ext>
                  </a:extLst>
                </p:cNvPr>
                <p:cNvSpPr txBox="1">
                  <a:spLocks noRot="1" noChangeAspect="1" noMove="1" noResize="1" noEditPoints="1" noAdjustHandles="1" noChangeArrowheads="1" noChangeShapeType="1" noTextEdit="1"/>
                </p:cNvSpPr>
                <p:nvPr/>
              </p:nvSpPr>
              <p:spPr bwMode="auto">
                <a:xfrm>
                  <a:off x="7240326" y="4861410"/>
                  <a:ext cx="421141" cy="498476"/>
                </a:xfrm>
                <a:prstGeom prst="rect">
                  <a:avLst/>
                </a:prstGeom>
                <a:blipFill>
                  <a:blip r:embed="rId19"/>
                  <a:stretch>
                    <a:fillRect l="-10145" b="-2439"/>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3" name="Object 42">
                <a:extLst>
                  <a:ext uri="{FF2B5EF4-FFF2-40B4-BE49-F238E27FC236}">
                    <a16:creationId xmlns:a16="http://schemas.microsoft.com/office/drawing/2014/main" id="{EF0C892B-BB4F-5FE8-C65E-5CA7B7C3DD7E}"/>
                  </a:ext>
                </a:extLst>
              </p:cNvPr>
              <p:cNvSpPr txBox="1"/>
              <p:nvPr/>
            </p:nvSpPr>
            <p:spPr bwMode="auto">
              <a:xfrm>
                <a:off x="3819545" y="5820204"/>
                <a:ext cx="2817811" cy="8985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4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400">
                                  <a:latin typeface="Cambria Math" panose="02040503050406030204" charset="0"/>
                                  <a:ea typeface="黑体" panose="02010609060101010101" pitchFamily="49" charset="-122"/>
                                  <a:cs typeface="Cambria Math" panose="02040503050406030204" charset="0"/>
                                </a:rPr>
                                <m:t>(</m:t>
                              </m:r>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Δ</m:t>
                              </m:r>
                              <m:r>
                                <a:rPr kumimoji="1" lang="zh-CN" altLang="en-US" sz="2400">
                                  <a:latin typeface="Cambria Math" panose="02040503050406030204" charset="0"/>
                                  <a:ea typeface="黑体" panose="02010609060101010101" pitchFamily="49" charset="-122"/>
                                  <a:cs typeface="Cambria Math" panose="02040503050406030204" charset="0"/>
                                </a:rPr>
                                <m:t>𝑥</m:t>
                              </m:r>
                              <m:r>
                                <a:rPr kumimoji="1" lang="zh-CN" altLang="en-US" sz="2400">
                                  <a:latin typeface="Cambria Math" panose="02040503050406030204" charset="0"/>
                                  <a:ea typeface="黑体" panose="02010609060101010101" pitchFamily="49" charset="-122"/>
                                  <a:cs typeface="Cambria Math" panose="02040503050406030204" charset="0"/>
                                </a:rPr>
                                <m:t>,</m:t>
                              </m:r>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Δ</m:t>
                              </m:r>
                              <m:r>
                                <a:rPr kumimoji="1" lang="zh-CN" altLang="en-US" sz="2400">
                                  <a:latin typeface="Cambria Math" panose="02040503050406030204" charset="0"/>
                                  <a:ea typeface="黑体" panose="02010609060101010101" pitchFamily="49" charset="-122"/>
                                  <a:cs typeface="Cambria Math" panose="02040503050406030204" charset="0"/>
                                </a:rPr>
                                <m:t>𝑦</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pitchFamily="18"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pitchFamily="18"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lim>
                          </m:limLow>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3" name="Object 42">
                <a:extLst>
                  <a:ext uri="{FF2B5EF4-FFF2-40B4-BE49-F238E27FC236}">
                    <a16:creationId xmlns:a16="http://schemas.microsoft.com/office/drawing/2014/main" id="{EF0C892B-BB4F-5FE8-C65E-5CA7B7C3DD7E}"/>
                  </a:ext>
                </a:extLst>
              </p:cNvPr>
              <p:cNvSpPr txBox="1">
                <a:spLocks noRot="1" noChangeAspect="1" noMove="1" noResize="1" noEditPoints="1" noAdjustHandles="1" noChangeArrowheads="1" noChangeShapeType="1" noTextEdit="1"/>
              </p:cNvSpPr>
              <p:nvPr/>
            </p:nvSpPr>
            <p:spPr bwMode="auto">
              <a:xfrm>
                <a:off x="3819545" y="5820204"/>
                <a:ext cx="2817811" cy="898525"/>
              </a:xfrm>
              <a:prstGeom prst="rect">
                <a:avLst/>
              </a:prstGeom>
              <a:blipFill>
                <a:blip r:embed="rId20"/>
                <a:stretch>
                  <a:fillRect l="-64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Object 43">
                <a:extLst>
                  <a:ext uri="{FF2B5EF4-FFF2-40B4-BE49-F238E27FC236}">
                    <a16:creationId xmlns:a16="http://schemas.microsoft.com/office/drawing/2014/main" id="{E77D96A2-2FE8-77E3-5966-CD85A3481E07}"/>
                  </a:ext>
                </a:extLst>
              </p:cNvPr>
              <p:cNvSpPr txBox="1"/>
              <p:nvPr/>
            </p:nvSpPr>
            <p:spPr bwMode="auto">
              <a:xfrm>
                <a:off x="3814150" y="5367822"/>
                <a:ext cx="3297544" cy="9747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4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400">
                                  <a:latin typeface="Cambria Math" panose="02040503050406030204" charset="0"/>
                                  <a:ea typeface="黑体" panose="02010609060101010101" pitchFamily="49" charset="-122"/>
                                  <a:cs typeface="Cambria Math" panose="02040503050406030204" charset="0"/>
                                </a:rPr>
                                <m:t>(</m:t>
                              </m:r>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Δ</m:t>
                              </m:r>
                              <m:r>
                                <a:rPr kumimoji="1" lang="zh-CN" altLang="en-US" sz="2400">
                                  <a:latin typeface="Cambria Math" panose="02040503050406030204" charset="0"/>
                                  <a:ea typeface="黑体" panose="02010609060101010101" pitchFamily="49" charset="-122"/>
                                  <a:cs typeface="Cambria Math" panose="02040503050406030204" charset="0"/>
                                </a:rPr>
                                <m:t>𝑥</m:t>
                              </m:r>
                              <m:r>
                                <a:rPr kumimoji="1" lang="zh-CN" altLang="en-US" sz="2400">
                                  <a:latin typeface="Cambria Math" panose="02040503050406030204" charset="0"/>
                                  <a:ea typeface="黑体" panose="02010609060101010101" pitchFamily="49" charset="-122"/>
                                  <a:cs typeface="Cambria Math" panose="02040503050406030204" charset="0"/>
                                </a:rPr>
                                <m:t>,</m:t>
                              </m:r>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Δ</m:t>
                              </m:r>
                              <m:r>
                                <a:rPr kumimoji="1" lang="zh-CN" altLang="en-US" sz="2400">
                                  <a:latin typeface="Cambria Math" panose="02040503050406030204" charset="0"/>
                                  <a:ea typeface="黑体" panose="02010609060101010101" pitchFamily="49" charset="-122"/>
                                  <a:cs typeface="Cambria Math" panose="02040503050406030204" charset="0"/>
                                </a:rPr>
                                <m:t>𝑦</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pitchFamily="18"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pitchFamily="18"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lim>
                          </m:limLow>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4" name="Object 43">
                <a:extLst>
                  <a:ext uri="{FF2B5EF4-FFF2-40B4-BE49-F238E27FC236}">
                    <a16:creationId xmlns:a16="http://schemas.microsoft.com/office/drawing/2014/main" id="{E77D96A2-2FE8-77E3-5966-CD85A3481E07}"/>
                  </a:ext>
                </a:extLst>
              </p:cNvPr>
              <p:cNvSpPr txBox="1">
                <a:spLocks noRot="1" noChangeAspect="1" noMove="1" noResize="1" noEditPoints="1" noAdjustHandles="1" noChangeArrowheads="1" noChangeShapeType="1" noTextEdit="1"/>
              </p:cNvSpPr>
              <p:nvPr/>
            </p:nvSpPr>
            <p:spPr bwMode="auto">
              <a:xfrm>
                <a:off x="3814150" y="5367822"/>
                <a:ext cx="3297544" cy="974725"/>
              </a:xfrm>
              <a:prstGeom prst="rect">
                <a:avLst/>
              </a:prstGeom>
              <a:blipFill>
                <a:blip r:embed="rId21"/>
                <a:stretch>
                  <a:fillRect l="-555"/>
                </a:stretch>
              </a:blipFill>
              <a:ln>
                <a:noFill/>
              </a:ln>
              <a:effectLst/>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8965AE85-52C8-5545-E33F-8D7563D03573}"/>
              </a:ext>
            </a:extLst>
          </p:cNvPr>
          <p:cNvGrpSpPr/>
          <p:nvPr/>
        </p:nvGrpSpPr>
        <p:grpSpPr>
          <a:xfrm>
            <a:off x="2020213" y="913166"/>
            <a:ext cx="3549650" cy="449580"/>
            <a:chOff x="1553" y="3802"/>
            <a:chExt cx="5590" cy="708"/>
          </a:xfrm>
        </p:grpSpPr>
        <p:sp>
          <p:nvSpPr>
            <p:cNvPr id="25" name="圆角矩形 3">
              <a:extLst>
                <a:ext uri="{FF2B5EF4-FFF2-40B4-BE49-F238E27FC236}">
                  <a16:creationId xmlns:a16="http://schemas.microsoft.com/office/drawing/2014/main" id="{39803B3B-AC3D-5790-4B9F-75F966661715}"/>
                </a:ext>
              </a:extLst>
            </p:cNvPr>
            <p:cNvSpPr/>
            <p:nvPr/>
          </p:nvSpPr>
          <p:spPr>
            <a:xfrm>
              <a:off x="1553" y="3803"/>
              <a:ext cx="1757"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6" name="Text Box 28">
              <a:extLst>
                <a:ext uri="{FF2B5EF4-FFF2-40B4-BE49-F238E27FC236}">
                  <a16:creationId xmlns:a16="http://schemas.microsoft.com/office/drawing/2014/main" id="{AE6025B7-D7BD-0A7E-39CF-93C7EE242626}"/>
                </a:ext>
              </a:extLst>
            </p:cNvPr>
            <p:cNvSpPr txBox="1">
              <a:spLocks noChangeArrowheads="1"/>
            </p:cNvSpPr>
            <p:nvPr/>
          </p:nvSpPr>
          <p:spPr bwMode="auto">
            <a:xfrm>
              <a:off x="1710" y="3802"/>
              <a:ext cx="5433"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定理</a:t>
              </a:r>
              <a:r>
                <a:rPr lang="en-US" altLang="zh-CN" kern="0" dirty="0">
                  <a:solidFill>
                    <a:schemeClr val="bg1"/>
                  </a:solidFill>
                  <a:latin typeface="微软雅黑" panose="020B0503020204020204" charset="-122"/>
                  <a:ea typeface="微软雅黑" panose="020B0503020204020204" charset="-122"/>
                  <a:cs typeface="微软雅黑" panose="020B0503020204020204" charset="-122"/>
                </a:rPr>
                <a:t>2</a:t>
              </a:r>
              <a:r>
                <a:rPr kumimoji="1" lang="en-US" altLang="zh-CN" sz="2800" dirty="0">
                  <a:solidFill>
                    <a:srgbClr val="4A7BA8"/>
                  </a:solidFill>
                  <a:latin typeface="Cambria Math" panose="02040503050406030204" charset="0"/>
                  <a:ea typeface="黑体" panose="02010609060101010101" pitchFamily="49" charset="-122"/>
                  <a:cs typeface="+mn-cs"/>
                  <a:sym typeface="+mn-lt"/>
                </a:rPr>
                <a:t>  </a:t>
              </a:r>
              <a:r>
                <a:rPr kumimoji="1" lang="en-US" altLang="zh-CN" sz="2800" dirty="0">
                  <a:solidFill>
                    <a:srgbClr val="00926A"/>
                  </a:solidFill>
                  <a:latin typeface="Cambria Math" panose="02040503050406030204" charset="0"/>
                  <a:ea typeface="黑体" panose="02010609060101010101" pitchFamily="49" charset="-122"/>
                  <a:cs typeface="+mn-cs"/>
                  <a:sym typeface="+mn-lt"/>
                </a:rPr>
                <a:t>(</a:t>
              </a:r>
              <a:r>
                <a:rPr kumimoji="1" lang="zh-CN" altLang="en-US" sz="2800" b="1" dirty="0">
                  <a:solidFill>
                    <a:srgbClr val="00926A"/>
                  </a:solidFill>
                  <a:latin typeface="Cambria Math" panose="02040503050406030204" charset="0"/>
                  <a:ea typeface="黑体" panose="02010609060101010101" pitchFamily="49" charset="-122"/>
                  <a:cs typeface="+mn-cs"/>
                  <a:sym typeface="+mn-lt"/>
                </a:rPr>
                <a:t>充分</a:t>
              </a:r>
              <a:r>
                <a:rPr kumimoji="1" lang="zh-CN" altLang="en-US" sz="2800" dirty="0">
                  <a:solidFill>
                    <a:srgbClr val="00926A"/>
                  </a:solidFill>
                  <a:latin typeface="Cambria Math" panose="02040503050406030204" charset="0"/>
                  <a:ea typeface="黑体" panose="02010609060101010101" pitchFamily="49" charset="-122"/>
                  <a:cs typeface="+mn-cs"/>
                  <a:sym typeface="+mn-lt"/>
                </a:rPr>
                <a:t>条件</a:t>
              </a:r>
              <a:r>
                <a:rPr kumimoji="1" lang="en-US" altLang="zh-CN" sz="2800" dirty="0">
                  <a:solidFill>
                    <a:srgbClr val="00926A"/>
                  </a:solidFill>
                  <a:latin typeface="Cambria Math" panose="02040503050406030204" charset="0"/>
                  <a:ea typeface="黑体" panose="02010609060101010101" pitchFamily="49" charset="-122"/>
                  <a:cs typeface="+mn-cs"/>
                  <a:sym typeface="+mn-lt"/>
                </a:rPr>
                <a:t>)</a:t>
              </a:r>
              <a:endParaRPr kumimoji="1" lang="en-US" altLang="zh-CN" i="0" u="none" strike="noStrike" kern="0" cap="none" spc="0" normalizeH="0" baseline="0" noProof="0" dirty="0">
                <a:ln>
                  <a:noFill/>
                </a:ln>
                <a:solidFill>
                  <a:srgbClr val="00926A"/>
                </a:solidFill>
                <a:effectLst/>
                <a:uLnTx/>
                <a:uFillTx/>
                <a:latin typeface="微软雅黑" panose="020B0503020204020204" charset="-122"/>
                <a:ea typeface="微软雅黑" panose="020B0503020204020204" charset="-122"/>
                <a:cs typeface="微软雅黑" panose="020B0503020204020204" charset="-122"/>
              </a:endParaRPr>
            </a:p>
          </p:txBody>
        </p:sp>
      </p:grpSp>
    </p:spTree>
    <p:extLst>
      <p:ext uri="{BB962C8B-B14F-4D97-AF65-F5344CB8AC3E}">
        <p14:creationId xmlns:p14="http://schemas.microsoft.com/office/powerpoint/2010/main" val="14783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500"/>
                                        <p:tgtEl>
                                          <p:spTgt spid="1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left)">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left)">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left)">
                                      <p:cBhvr>
                                        <p:cTn id="41" dur="500"/>
                                        <p:tgtEl>
                                          <p:spTgt spid="6"/>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wipe(left)">
                                      <p:cBhvr>
                                        <p:cTn id="45" dur="500"/>
                                        <p:tgtEl>
                                          <p:spTgt spid="29"/>
                                        </p:tgtEl>
                                      </p:cBhvr>
                                    </p:animEffect>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wipe(left)">
                                      <p:cBhvr>
                                        <p:cTn id="49" dur="500"/>
                                        <p:tgtEl>
                                          <p:spTgt spid="3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wipe(left)">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wipe(left)">
                                      <p:cBhvr>
                                        <p:cTn id="64" dur="500"/>
                                        <p:tgtEl>
                                          <p:spTgt spid="7"/>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wipe(left)">
                                      <p:cBhvr>
                                        <p:cTn id="68" dur="500"/>
                                        <p:tgtEl>
                                          <p:spTgt spid="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61"/>
                                        </p:tgtEl>
                                        <p:attrNameLst>
                                          <p:attrName>style.visibility</p:attrName>
                                        </p:attrNameLst>
                                      </p:cBhvr>
                                      <p:to>
                                        <p:strVal val="visible"/>
                                      </p:to>
                                    </p:set>
                                    <p:animEffect transition="in" filter="wipe(left)">
                                      <p:cBhvr>
                                        <p:cTn id="73" dur="500"/>
                                        <p:tgtEl>
                                          <p:spTgt spid="61"/>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wipe(left)">
                                      <p:cBhvr>
                                        <p:cTn id="77" dur="500"/>
                                        <p:tgtEl>
                                          <p:spTgt spid="24"/>
                                        </p:tgtEl>
                                      </p:cBhvr>
                                    </p:animEffect>
                                  </p:childTnLst>
                                </p:cTn>
                              </p:par>
                            </p:childTnLst>
                          </p:cTn>
                        </p:par>
                        <p:par>
                          <p:cTn id="78" fill="hold">
                            <p:stCondLst>
                              <p:cond delay="1000"/>
                            </p:stCondLst>
                            <p:childTnLst>
                              <p:par>
                                <p:cTn id="79" presetID="22" presetClass="entr" presetSubtype="8" fill="hold" grpId="0" nodeType="after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wipe(left)">
                                      <p:cBhvr>
                                        <p:cTn id="8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4" grpId="0"/>
      <p:bldP spid="5" grpId="0"/>
      <p:bldP spid="6" grpId="0"/>
      <p:bldP spid="7" grpId="0" animBg="1"/>
      <p:bldP spid="10" grpId="0"/>
      <p:bldP spid="11" grpId="0"/>
      <p:bldP spid="16" grpId="0"/>
      <p:bldP spid="17" grpId="0"/>
      <p:bldP spid="18" grpId="0"/>
      <p:bldP spid="19" grpId="0"/>
      <p:bldP spid="20" grpId="0"/>
      <p:bldP spid="23"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图文框 38">
            <a:extLst>
              <a:ext uri="{FF2B5EF4-FFF2-40B4-BE49-F238E27FC236}">
                <a16:creationId xmlns:a16="http://schemas.microsoft.com/office/drawing/2014/main" id="{6B78FC7D-1892-44AA-7A6C-C68F87A6BF92}"/>
              </a:ext>
            </a:extLst>
          </p:cNvPr>
          <p:cNvSpPr/>
          <p:nvPr/>
        </p:nvSpPr>
        <p:spPr>
          <a:xfrm rot="5400000">
            <a:off x="2705095" y="-2639699"/>
            <a:ext cx="6858001" cy="12137397"/>
          </a:xfrm>
          <a:prstGeom prst="frame">
            <a:avLst>
              <a:gd name="adj1" fmla="val 50000"/>
            </a:avLst>
          </a:prstGeom>
          <a:gradFill flip="none" rotWithShape="1">
            <a:gsLst>
              <a:gs pos="100000">
                <a:srgbClr val="007434">
                  <a:alpha val="10000"/>
                </a:srgbClr>
              </a:gs>
              <a:gs pos="4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sp>
        <p:nvSpPr>
          <p:cNvPr id="40" name="矩形 39">
            <a:extLst>
              <a:ext uri="{FF2B5EF4-FFF2-40B4-BE49-F238E27FC236}">
                <a16:creationId xmlns:a16="http://schemas.microsoft.com/office/drawing/2014/main" id="{819142DE-8697-BD40-3D9B-F3B28609A6A0}"/>
              </a:ext>
            </a:extLst>
          </p:cNvPr>
          <p:cNvSpPr/>
          <p:nvPr/>
        </p:nvSpPr>
        <p:spPr>
          <a:xfrm rot="16200000" flipH="1">
            <a:off x="-3338945" y="3338945"/>
            <a:ext cx="6858000" cy="180109"/>
          </a:xfrm>
          <a:prstGeom prst="rect">
            <a:avLst/>
          </a:prstGeom>
          <a:gradFill flip="none" rotWithShape="1">
            <a:gsLst>
              <a:gs pos="100000">
                <a:srgbClr val="2C8894">
                  <a:alpha val="55000"/>
                </a:srgbClr>
              </a:gs>
              <a:gs pos="55000">
                <a:srgbClr val="389479">
                  <a:alpha val="87000"/>
                </a:srgbClr>
              </a:gs>
              <a:gs pos="0">
                <a:srgbClr val="3F9B67"/>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Object 10">
                <a:extLst>
                  <a:ext uri="{FF2B5EF4-FFF2-40B4-BE49-F238E27FC236}">
                    <a16:creationId xmlns:a16="http://schemas.microsoft.com/office/drawing/2014/main" id="{3E59792C-94D8-D114-08CF-D09A7665A563}"/>
                  </a:ext>
                </a:extLst>
              </p:cNvPr>
              <p:cNvSpPr txBox="1"/>
              <p:nvPr/>
            </p:nvSpPr>
            <p:spPr bwMode="auto">
              <a:xfrm>
                <a:off x="3328595" y="1306191"/>
                <a:ext cx="6991350" cy="4587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 name="Object 10">
                <a:extLst>
                  <a:ext uri="{FF2B5EF4-FFF2-40B4-BE49-F238E27FC236}">
                    <a16:creationId xmlns:a16="http://schemas.microsoft.com/office/drawing/2014/main" id="{3E59792C-94D8-D114-08CF-D09A7665A563}"/>
                  </a:ext>
                </a:extLst>
              </p:cNvPr>
              <p:cNvSpPr txBox="1">
                <a:spLocks noRot="1" noChangeAspect="1" noMove="1" noResize="1" noEditPoints="1" noAdjustHandles="1" noChangeArrowheads="1" noChangeShapeType="1" noTextEdit="1"/>
              </p:cNvSpPr>
              <p:nvPr/>
            </p:nvSpPr>
            <p:spPr bwMode="auto">
              <a:xfrm>
                <a:off x="3328595" y="1306191"/>
                <a:ext cx="6991350" cy="458788"/>
              </a:xfrm>
              <a:prstGeom prst="rect">
                <a:avLst/>
              </a:prstGeom>
              <a:blipFill>
                <a:blip r:embed="rId2"/>
                <a:stretch>
                  <a:fillRect l="-87" b="-921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Object 11">
                <a:extLst>
                  <a:ext uri="{FF2B5EF4-FFF2-40B4-BE49-F238E27FC236}">
                    <a16:creationId xmlns:a16="http://schemas.microsoft.com/office/drawing/2014/main" id="{E5366AF4-0841-87E5-F687-5FD180D16913}"/>
                  </a:ext>
                </a:extLst>
              </p:cNvPr>
              <p:cNvSpPr txBox="1"/>
              <p:nvPr/>
            </p:nvSpPr>
            <p:spPr bwMode="auto">
              <a:xfrm>
                <a:off x="2898776" y="4427178"/>
                <a:ext cx="3882326" cy="45878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3" name="Object 11">
                <a:extLst>
                  <a:ext uri="{FF2B5EF4-FFF2-40B4-BE49-F238E27FC236}">
                    <a16:creationId xmlns:a16="http://schemas.microsoft.com/office/drawing/2014/main" id="{E5366AF4-0841-87E5-F687-5FD180D16913}"/>
                  </a:ext>
                </a:extLst>
              </p:cNvPr>
              <p:cNvSpPr txBox="1">
                <a:spLocks noRot="1" noChangeAspect="1" noMove="1" noResize="1" noEditPoints="1" noAdjustHandles="1" noChangeArrowheads="1" noChangeShapeType="1" noTextEdit="1"/>
              </p:cNvSpPr>
              <p:nvPr/>
            </p:nvSpPr>
            <p:spPr bwMode="auto">
              <a:xfrm>
                <a:off x="2898776" y="4427178"/>
                <a:ext cx="3882326" cy="458787"/>
              </a:xfrm>
              <a:prstGeom prst="rect">
                <a:avLst/>
              </a:prstGeom>
              <a:blipFill>
                <a:blip r:embed="rId3"/>
                <a:stretch>
                  <a:fillRect r="-472" b="-921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12">
                <a:extLst>
                  <a:ext uri="{FF2B5EF4-FFF2-40B4-BE49-F238E27FC236}">
                    <a16:creationId xmlns:a16="http://schemas.microsoft.com/office/drawing/2014/main" id="{675B233B-A650-AC6D-3C93-0A358026EEB3}"/>
                  </a:ext>
                </a:extLst>
              </p:cNvPr>
              <p:cNvSpPr txBox="1"/>
              <p:nvPr/>
            </p:nvSpPr>
            <p:spPr bwMode="auto">
              <a:xfrm>
                <a:off x="2898775" y="2111257"/>
                <a:ext cx="3882326" cy="9509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m:rPr>
                          <m:nor/>
                        </m:rPr>
                        <a:rPr lang="en-US" altLang="zh-CN" sz="2200" dirty="0">
                          <a:latin typeface="宋体" panose="02010600030101010101" pitchFamily="2"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den>
                          </m:f>
                        </m:e>
                      </m:d>
                      <m:r>
                        <m:rPr>
                          <m:nor/>
                        </m:rPr>
                        <a:rPr lang="en-US" altLang="zh-CN" sz="2200" dirty="0">
                          <a:latin typeface="宋体" panose="02010600030101010101" pitchFamily="2"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e>
                      </m:d>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e>
                      </m:d>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4" name="Object 12">
                <a:extLst>
                  <a:ext uri="{FF2B5EF4-FFF2-40B4-BE49-F238E27FC236}">
                    <a16:creationId xmlns:a16="http://schemas.microsoft.com/office/drawing/2014/main" id="{675B233B-A650-AC6D-3C93-0A358026EEB3}"/>
                  </a:ext>
                </a:extLst>
              </p:cNvPr>
              <p:cNvSpPr txBox="1">
                <a:spLocks noRot="1" noChangeAspect="1" noMove="1" noResize="1" noEditPoints="1" noAdjustHandles="1" noChangeArrowheads="1" noChangeShapeType="1" noTextEdit="1"/>
              </p:cNvSpPr>
              <p:nvPr/>
            </p:nvSpPr>
            <p:spPr bwMode="auto">
              <a:xfrm>
                <a:off x="2898775" y="2111257"/>
                <a:ext cx="3882326" cy="950913"/>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5" name="Text Box 14">
            <a:extLst>
              <a:ext uri="{FF2B5EF4-FFF2-40B4-BE49-F238E27FC236}">
                <a16:creationId xmlns:a16="http://schemas.microsoft.com/office/drawing/2014/main" id="{B1FC3ECC-1CDC-0488-AD16-436BEF32B803}"/>
              </a:ext>
            </a:extLst>
          </p:cNvPr>
          <p:cNvSpPr txBox="1">
            <a:spLocks noChangeArrowheads="1"/>
          </p:cNvSpPr>
          <p:nvPr/>
        </p:nvSpPr>
        <p:spPr bwMode="auto">
          <a:xfrm>
            <a:off x="2898775" y="5161640"/>
            <a:ext cx="18288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故函数</a:t>
            </a:r>
          </a:p>
        </p:txBody>
      </p:sp>
      <mc:AlternateContent xmlns:mc="http://schemas.openxmlformats.org/markup-compatibility/2006" xmlns:a14="http://schemas.microsoft.com/office/drawing/2010/main">
        <mc:Choice Requires="a14">
          <p:sp>
            <p:nvSpPr>
              <p:cNvPr id="6" name="Object 15">
                <a:extLst>
                  <a:ext uri="{FF2B5EF4-FFF2-40B4-BE49-F238E27FC236}">
                    <a16:creationId xmlns:a16="http://schemas.microsoft.com/office/drawing/2014/main" id="{108A9480-D1DB-50B9-7DF2-09A8CEEBB904}"/>
                  </a:ext>
                </a:extLst>
              </p:cNvPr>
              <p:cNvSpPr txBox="1"/>
              <p:nvPr/>
            </p:nvSpPr>
            <p:spPr bwMode="auto">
              <a:xfrm>
                <a:off x="3834582" y="5122079"/>
                <a:ext cx="1691188" cy="51434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6" name="Object 15">
                <a:extLst>
                  <a:ext uri="{FF2B5EF4-FFF2-40B4-BE49-F238E27FC236}">
                    <a16:creationId xmlns:a16="http://schemas.microsoft.com/office/drawing/2014/main" id="{108A9480-D1DB-50B9-7DF2-09A8CEEBB904}"/>
                  </a:ext>
                </a:extLst>
              </p:cNvPr>
              <p:cNvSpPr txBox="1">
                <a:spLocks noRot="1" noChangeAspect="1" noMove="1" noResize="1" noEditPoints="1" noAdjustHandles="1" noChangeArrowheads="1" noChangeShapeType="1" noTextEdit="1"/>
              </p:cNvSpPr>
              <p:nvPr/>
            </p:nvSpPr>
            <p:spPr bwMode="auto">
              <a:xfrm>
                <a:off x="3834582" y="5122079"/>
                <a:ext cx="1691188" cy="514346"/>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16">
                <a:extLst>
                  <a:ext uri="{FF2B5EF4-FFF2-40B4-BE49-F238E27FC236}">
                    <a16:creationId xmlns:a16="http://schemas.microsoft.com/office/drawing/2014/main" id="{A34B91BC-41CD-AC23-7F21-0B26A71A82F1}"/>
                  </a:ext>
                </a:extLst>
              </p:cNvPr>
              <p:cNvSpPr txBox="1"/>
              <p:nvPr/>
            </p:nvSpPr>
            <p:spPr bwMode="auto">
              <a:xfrm>
                <a:off x="5942497" y="5130013"/>
                <a:ext cx="829025" cy="47436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Object 16">
                <a:extLst>
                  <a:ext uri="{FF2B5EF4-FFF2-40B4-BE49-F238E27FC236}">
                    <a16:creationId xmlns:a16="http://schemas.microsoft.com/office/drawing/2014/main" id="{A34B91BC-41CD-AC23-7F21-0B26A71A82F1}"/>
                  </a:ext>
                </a:extLst>
              </p:cNvPr>
              <p:cNvSpPr txBox="1">
                <a:spLocks noRot="1" noChangeAspect="1" noMove="1" noResize="1" noEditPoints="1" noAdjustHandles="1" noChangeArrowheads="1" noChangeShapeType="1" noTextEdit="1"/>
              </p:cNvSpPr>
              <p:nvPr/>
            </p:nvSpPr>
            <p:spPr bwMode="auto">
              <a:xfrm>
                <a:off x="5942497" y="5130013"/>
                <a:ext cx="829025" cy="474360"/>
              </a:xfrm>
              <a:prstGeom prst="rect">
                <a:avLst/>
              </a:prstGeom>
              <a:blipFill>
                <a:blip r:embed="rId6"/>
                <a:stretch>
                  <a:fillRect l="-5147" r="-5147" b="-9091"/>
                </a:stretch>
              </a:blipFill>
              <a:ln>
                <a:noFill/>
              </a:ln>
              <a:effectLst/>
            </p:spPr>
            <p:txBody>
              <a:bodyPr/>
              <a:lstStyle/>
              <a:p>
                <a:r>
                  <a:rPr lang="zh-CN" altLang="en-US">
                    <a:noFill/>
                  </a:rPr>
                  <a:t> </a:t>
                </a:r>
              </a:p>
            </p:txBody>
          </p:sp>
        </mc:Fallback>
      </mc:AlternateContent>
      <p:sp>
        <p:nvSpPr>
          <p:cNvPr id="8" name="Text Box 29">
            <a:extLst>
              <a:ext uri="{FF2B5EF4-FFF2-40B4-BE49-F238E27FC236}">
                <a16:creationId xmlns:a16="http://schemas.microsoft.com/office/drawing/2014/main" id="{A3EC99EC-EE4E-307B-E948-A48DE22A3FC9}"/>
              </a:ext>
            </a:extLst>
          </p:cNvPr>
          <p:cNvSpPr txBox="1">
            <a:spLocks noChangeArrowheads="1"/>
          </p:cNvSpPr>
          <p:nvPr/>
        </p:nvSpPr>
        <p:spPr bwMode="auto">
          <a:xfrm>
            <a:off x="5266975" y="5149570"/>
            <a:ext cx="829025"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在点</a:t>
            </a:r>
          </a:p>
        </p:txBody>
      </p:sp>
      <p:sp>
        <p:nvSpPr>
          <p:cNvPr id="9" name="Text Box 30">
            <a:extLst>
              <a:ext uri="{FF2B5EF4-FFF2-40B4-BE49-F238E27FC236}">
                <a16:creationId xmlns:a16="http://schemas.microsoft.com/office/drawing/2014/main" id="{6CB84454-4F25-EE9B-FA61-89DFDACC2A47}"/>
              </a:ext>
            </a:extLst>
          </p:cNvPr>
          <p:cNvSpPr txBox="1">
            <a:spLocks noChangeArrowheads="1"/>
          </p:cNvSpPr>
          <p:nvPr/>
        </p:nvSpPr>
        <p:spPr bwMode="auto">
          <a:xfrm>
            <a:off x="6638058" y="5161335"/>
            <a:ext cx="770817"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可微</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a:t>
            </a:r>
          </a:p>
        </p:txBody>
      </p:sp>
      <mc:AlternateContent xmlns:mc="http://schemas.openxmlformats.org/markup-compatibility/2006" xmlns:a14="http://schemas.microsoft.com/office/drawing/2010/main">
        <mc:Choice Requires="a14">
          <p:sp>
            <p:nvSpPr>
              <p:cNvPr id="10" name="Object 48">
                <a:extLst>
                  <a:ext uri="{FF2B5EF4-FFF2-40B4-BE49-F238E27FC236}">
                    <a16:creationId xmlns:a16="http://schemas.microsoft.com/office/drawing/2014/main" id="{4C53F4E8-3A50-0C71-D24D-BED95F232599}"/>
                  </a:ext>
                </a:extLst>
              </p:cNvPr>
              <p:cNvSpPr txBox="1"/>
              <p:nvPr/>
            </p:nvSpPr>
            <p:spPr bwMode="auto">
              <a:xfrm>
                <a:off x="6645275" y="4427178"/>
                <a:ext cx="1112838" cy="45878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0" name="Object 48">
                <a:extLst>
                  <a:ext uri="{FF2B5EF4-FFF2-40B4-BE49-F238E27FC236}">
                    <a16:creationId xmlns:a16="http://schemas.microsoft.com/office/drawing/2014/main" id="{4C53F4E8-3A50-0C71-D24D-BED95F232599}"/>
                  </a:ext>
                </a:extLst>
              </p:cNvPr>
              <p:cNvSpPr txBox="1">
                <a:spLocks noRot="1" noChangeAspect="1" noMove="1" noResize="1" noEditPoints="1" noAdjustHandles="1" noChangeArrowheads="1" noChangeShapeType="1" noTextEdit="1"/>
              </p:cNvSpPr>
              <p:nvPr/>
            </p:nvSpPr>
            <p:spPr bwMode="auto">
              <a:xfrm>
                <a:off x="6645275" y="4427178"/>
                <a:ext cx="1112838" cy="458787"/>
              </a:xfrm>
              <a:prstGeom prst="rect">
                <a:avLst/>
              </a:prstGeom>
              <a:blipFill>
                <a:blip r:embed="rId7"/>
                <a:stretch>
                  <a:fillRect b="-10526"/>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10">
                <a:extLst>
                  <a:ext uri="{FF2B5EF4-FFF2-40B4-BE49-F238E27FC236}">
                    <a16:creationId xmlns:a16="http://schemas.microsoft.com/office/drawing/2014/main" id="{B22E3A3C-0169-E8CF-0EDC-924FF379690C}"/>
                  </a:ext>
                </a:extLst>
              </p:cNvPr>
              <p:cNvSpPr txBox="1"/>
              <p:nvPr/>
            </p:nvSpPr>
            <p:spPr bwMode="auto">
              <a:xfrm>
                <a:off x="2898775" y="3226621"/>
                <a:ext cx="3686291" cy="9509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rad>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1" name="Object 10">
                <a:extLst>
                  <a:ext uri="{FF2B5EF4-FFF2-40B4-BE49-F238E27FC236}">
                    <a16:creationId xmlns:a16="http://schemas.microsoft.com/office/drawing/2014/main" id="{B22E3A3C-0169-E8CF-0EDC-924FF379690C}"/>
                  </a:ext>
                </a:extLst>
              </p:cNvPr>
              <p:cNvSpPr txBox="1">
                <a:spLocks noRot="1" noChangeAspect="1" noMove="1" noResize="1" noEditPoints="1" noAdjustHandles="1" noChangeArrowheads="1" noChangeShapeType="1" noTextEdit="1"/>
              </p:cNvSpPr>
              <p:nvPr/>
            </p:nvSpPr>
            <p:spPr bwMode="auto">
              <a:xfrm>
                <a:off x="2898775" y="3226621"/>
                <a:ext cx="3686291" cy="950913"/>
              </a:xfrm>
              <a:prstGeom prst="rect">
                <a:avLst/>
              </a:prstGeom>
              <a:blipFill>
                <a:blip r:embed="rId8"/>
                <a:stretch>
                  <a:fillRect/>
                </a:stretch>
              </a:blipFill>
              <a:ln>
                <a:noFill/>
              </a:ln>
              <a:effectLst/>
            </p:spPr>
            <p:txBody>
              <a:bodyPr/>
              <a:lstStyle/>
              <a:p>
                <a:r>
                  <a:rPr lang="zh-CN" altLang="en-US">
                    <a:noFill/>
                  </a:rPr>
                  <a:t> </a:t>
                </a:r>
              </a:p>
            </p:txBody>
          </p:sp>
        </mc:Fallback>
      </mc:AlternateContent>
      <p:sp>
        <p:nvSpPr>
          <p:cNvPr id="12" name="Text Box 14">
            <a:extLst>
              <a:ext uri="{FF2B5EF4-FFF2-40B4-BE49-F238E27FC236}">
                <a16:creationId xmlns:a16="http://schemas.microsoft.com/office/drawing/2014/main" id="{FABFC592-52E2-CFFD-DA22-D09F529B5E88}"/>
              </a:ext>
            </a:extLst>
          </p:cNvPr>
          <p:cNvSpPr txBox="1">
            <a:spLocks noChangeArrowheads="1"/>
          </p:cNvSpPr>
          <p:nvPr/>
        </p:nvSpPr>
        <p:spPr bwMode="auto">
          <a:xfrm>
            <a:off x="2898775" y="1304574"/>
            <a:ext cx="5334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即</a:t>
            </a:r>
          </a:p>
        </p:txBody>
      </p:sp>
      <mc:AlternateContent xmlns:mc="http://schemas.openxmlformats.org/markup-compatibility/2006" xmlns:a14="http://schemas.microsoft.com/office/drawing/2010/main">
        <mc:Choice Requires="a14">
          <p:sp>
            <p:nvSpPr>
              <p:cNvPr id="13" name="Object 42">
                <a:extLst>
                  <a:ext uri="{FF2B5EF4-FFF2-40B4-BE49-F238E27FC236}">
                    <a16:creationId xmlns:a16="http://schemas.microsoft.com/office/drawing/2014/main" id="{684E141D-C175-AB0C-9692-D5AF1C2798C0}"/>
                  </a:ext>
                </a:extLst>
              </p:cNvPr>
              <p:cNvSpPr txBox="1"/>
              <p:nvPr/>
            </p:nvSpPr>
            <p:spPr bwMode="auto">
              <a:xfrm>
                <a:off x="9225301" y="2305516"/>
                <a:ext cx="2430624" cy="74725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0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000">
                                  <a:latin typeface="Cambria Math" panose="02040503050406030204" charset="0"/>
                                  <a:ea typeface="黑体" panose="02010609060101010101" pitchFamily="49" charset="-122"/>
                                  <a:cs typeface="Cambria Math" panose="02040503050406030204" charset="0"/>
                                </a:rPr>
                                <m:t>(</m:t>
                              </m:r>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Δ</m:t>
                              </m:r>
                              <m:r>
                                <a:rPr kumimoji="1" lang="zh-CN" altLang="en-US" sz="2000">
                                  <a:latin typeface="Cambria Math" panose="02040503050406030204" charset="0"/>
                                  <a:ea typeface="黑体" panose="02010609060101010101" pitchFamily="49" charset="-122"/>
                                  <a:cs typeface="Cambria Math" panose="02040503050406030204" charset="0"/>
                                </a:rPr>
                                <m:t>𝑥</m:t>
                              </m:r>
                              <m:r>
                                <a:rPr kumimoji="1" lang="zh-CN" altLang="en-US" sz="2000">
                                  <a:latin typeface="Cambria Math" panose="02040503050406030204" charset="0"/>
                                  <a:ea typeface="黑体" panose="02010609060101010101" pitchFamily="49" charset="-122"/>
                                  <a:cs typeface="Cambria Math" panose="02040503050406030204" charset="0"/>
                                </a:rPr>
                                <m:t>,</m:t>
                              </m:r>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Δ</m:t>
                              </m:r>
                              <m:r>
                                <a:rPr kumimoji="1" lang="zh-CN" altLang="en-US" sz="2000">
                                  <a:latin typeface="Cambria Math" panose="02040503050406030204" charset="0"/>
                                  <a:ea typeface="黑体" panose="02010609060101010101" pitchFamily="49" charset="-122"/>
                                  <a:cs typeface="Cambria Math" panose="02040503050406030204" charset="0"/>
                                </a:rPr>
                                <m:t>𝑦</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pitchFamily="18"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pitchFamily="18"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lim>
                          </m:limLow>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3" name="Object 42">
                <a:extLst>
                  <a:ext uri="{FF2B5EF4-FFF2-40B4-BE49-F238E27FC236}">
                    <a16:creationId xmlns:a16="http://schemas.microsoft.com/office/drawing/2014/main" id="{684E141D-C175-AB0C-9692-D5AF1C2798C0}"/>
                  </a:ext>
                </a:extLst>
              </p:cNvPr>
              <p:cNvSpPr txBox="1">
                <a:spLocks noRot="1" noChangeAspect="1" noMove="1" noResize="1" noEditPoints="1" noAdjustHandles="1" noChangeArrowheads="1" noChangeShapeType="1" noTextEdit="1"/>
              </p:cNvSpPr>
              <p:nvPr/>
            </p:nvSpPr>
            <p:spPr bwMode="auto">
              <a:xfrm>
                <a:off x="9225301" y="2305516"/>
                <a:ext cx="2430624" cy="747252"/>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43">
                <a:extLst>
                  <a:ext uri="{FF2B5EF4-FFF2-40B4-BE49-F238E27FC236}">
                    <a16:creationId xmlns:a16="http://schemas.microsoft.com/office/drawing/2014/main" id="{D8DE73FF-426A-99C6-F9D1-24D49EDB74C3}"/>
                  </a:ext>
                </a:extLst>
              </p:cNvPr>
              <p:cNvSpPr txBox="1"/>
              <p:nvPr/>
            </p:nvSpPr>
            <p:spPr bwMode="auto">
              <a:xfrm>
                <a:off x="6689724" y="2334787"/>
                <a:ext cx="2703658" cy="73495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且</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0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000">
                                  <a:latin typeface="Cambria Math" panose="02040503050406030204" charset="0"/>
                                  <a:ea typeface="黑体" panose="02010609060101010101" pitchFamily="49" charset="-122"/>
                                  <a:cs typeface="Cambria Math" panose="02040503050406030204" charset="0"/>
                                </a:rPr>
                                <m:t>(</m:t>
                              </m:r>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Δ</m:t>
                              </m:r>
                              <m:r>
                                <a:rPr kumimoji="1" lang="zh-CN" altLang="en-US" sz="2000">
                                  <a:latin typeface="Cambria Math" panose="02040503050406030204" charset="0"/>
                                  <a:ea typeface="黑体" panose="02010609060101010101" pitchFamily="49" charset="-122"/>
                                  <a:cs typeface="Cambria Math" panose="02040503050406030204" charset="0"/>
                                </a:rPr>
                                <m:t>𝑥</m:t>
                              </m:r>
                              <m:r>
                                <a:rPr kumimoji="1" lang="zh-CN" altLang="en-US" sz="2000">
                                  <a:latin typeface="Cambria Math" panose="02040503050406030204" charset="0"/>
                                  <a:ea typeface="黑体" panose="02010609060101010101" pitchFamily="49" charset="-122"/>
                                  <a:cs typeface="Cambria Math" panose="02040503050406030204" charset="0"/>
                                </a:rPr>
                                <m:t>,</m:t>
                              </m:r>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Δ</m:t>
                              </m:r>
                              <m:r>
                                <a:rPr kumimoji="1" lang="zh-CN" altLang="en-US" sz="2000">
                                  <a:latin typeface="Cambria Math" panose="02040503050406030204" charset="0"/>
                                  <a:ea typeface="黑体" panose="02010609060101010101" pitchFamily="49" charset="-122"/>
                                  <a:cs typeface="Cambria Math" panose="02040503050406030204" charset="0"/>
                                </a:rPr>
                                <m:t>𝑦</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pitchFamily="18"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pitchFamily="18"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lim>
                          </m:limLow>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4" name="Object 43">
                <a:extLst>
                  <a:ext uri="{FF2B5EF4-FFF2-40B4-BE49-F238E27FC236}">
                    <a16:creationId xmlns:a16="http://schemas.microsoft.com/office/drawing/2014/main" id="{D8DE73FF-426A-99C6-F9D1-24D49EDB74C3}"/>
                  </a:ext>
                </a:extLst>
              </p:cNvPr>
              <p:cNvSpPr txBox="1">
                <a:spLocks noRot="1" noChangeAspect="1" noMove="1" noResize="1" noEditPoints="1" noAdjustHandles="1" noChangeArrowheads="1" noChangeShapeType="1" noTextEdit="1"/>
              </p:cNvSpPr>
              <p:nvPr/>
            </p:nvSpPr>
            <p:spPr bwMode="auto">
              <a:xfrm>
                <a:off x="6689724" y="2334787"/>
                <a:ext cx="2703658" cy="734958"/>
              </a:xfrm>
              <a:prstGeom prst="rect">
                <a:avLst/>
              </a:prstGeom>
              <a:blipFill>
                <a:blip r:embed="rId10"/>
                <a:stretch>
                  <a:fillRect l="-901"/>
                </a:stretch>
              </a:blipFill>
              <a:ln>
                <a:noFill/>
              </a:ln>
              <a:effectLst/>
            </p:spPr>
            <p:txBody>
              <a:bodyPr/>
              <a:lstStyle/>
              <a:p>
                <a:r>
                  <a:rPr lang="zh-CN" altLang="en-US">
                    <a:noFill/>
                  </a:rPr>
                  <a:t> </a:t>
                </a:r>
              </a:p>
            </p:txBody>
          </p:sp>
        </mc:Fallback>
      </mc:AlternateContent>
      <p:grpSp>
        <p:nvGrpSpPr>
          <p:cNvPr id="15" name="组合 14">
            <a:extLst>
              <a:ext uri="{FF2B5EF4-FFF2-40B4-BE49-F238E27FC236}">
                <a16:creationId xmlns:a16="http://schemas.microsoft.com/office/drawing/2014/main" id="{BDD0A805-F215-3949-D668-F624DEE044AB}"/>
              </a:ext>
            </a:extLst>
          </p:cNvPr>
          <p:cNvGrpSpPr/>
          <p:nvPr/>
        </p:nvGrpSpPr>
        <p:grpSpPr>
          <a:xfrm>
            <a:off x="9225301" y="5187057"/>
            <a:ext cx="716209" cy="360271"/>
            <a:chOff x="1553" y="3803"/>
            <a:chExt cx="1165" cy="579"/>
          </a:xfrm>
        </p:grpSpPr>
        <p:sp>
          <p:nvSpPr>
            <p:cNvPr id="16" name="圆角矩形 21">
              <a:extLst>
                <a:ext uri="{FF2B5EF4-FFF2-40B4-BE49-F238E27FC236}">
                  <a16:creationId xmlns:a16="http://schemas.microsoft.com/office/drawing/2014/main" id="{32749A25-DF57-88AC-9123-ACC96B9C02CA}"/>
                </a:ext>
              </a:extLst>
            </p:cNvPr>
            <p:cNvSpPr/>
            <p:nvPr/>
          </p:nvSpPr>
          <p:spPr>
            <a:xfrm>
              <a:off x="1553" y="3803"/>
              <a:ext cx="1131" cy="579"/>
            </a:xfrm>
            <a:prstGeom prst="roundRect">
              <a:avLst>
                <a:gd name="adj" fmla="val 0"/>
              </a:avLst>
            </a:prstGeom>
            <a:solidFill>
              <a:srgbClr val="04926A">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latin typeface="微软雅黑" panose="020B0503020204020204" charset="-122"/>
                <a:ea typeface="微软雅黑" panose="020B0503020204020204" charset="-122"/>
              </a:endParaRPr>
            </a:p>
          </p:txBody>
        </p:sp>
        <p:sp>
          <p:nvSpPr>
            <p:cNvPr id="17" name="Text Box 28">
              <a:extLst>
                <a:ext uri="{FF2B5EF4-FFF2-40B4-BE49-F238E27FC236}">
                  <a16:creationId xmlns:a16="http://schemas.microsoft.com/office/drawing/2014/main" id="{304D9E9A-F708-A7D1-3FCF-C7F54E3CCFBF}"/>
                </a:ext>
              </a:extLst>
            </p:cNvPr>
            <p:cNvSpPr txBox="1">
              <a:spLocks noChangeArrowheads="1"/>
            </p:cNvSpPr>
            <p:nvPr/>
          </p:nvSpPr>
          <p:spPr bwMode="auto">
            <a:xfrm>
              <a:off x="1650" y="3817"/>
              <a:ext cx="1068"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lang="zh-CN" altLang="en-US" sz="2200" b="0" dirty="0">
                  <a:solidFill>
                    <a:schemeClr val="tx1">
                      <a:lumMod val="95000"/>
                      <a:lumOff val="5000"/>
                    </a:schemeClr>
                  </a:solidFill>
                  <a:latin typeface="Cambria Math" panose="02040503050406030204" charset="0"/>
                  <a:ea typeface="黑体" panose="02010609060101010101" pitchFamily="49" charset="-122"/>
                  <a:cs typeface="+mj-cs"/>
                </a:rPr>
                <a:t>证毕</a:t>
              </a:r>
            </a:p>
          </p:txBody>
        </p:sp>
      </p:grpSp>
    </p:spTree>
    <p:extLst>
      <p:ext uri="{BB962C8B-B14F-4D97-AF65-F5344CB8AC3E}">
        <p14:creationId xmlns:p14="http://schemas.microsoft.com/office/powerpoint/2010/main" val="3330911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left)">
                                      <p:cBhvr>
                                        <p:cTn id="50" dur="500"/>
                                        <p:tgtEl>
                                          <p:spTgt spid="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left)">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left)">
                                      <p:cBhvr>
                                        <p:cTn id="60" dur="500"/>
                                        <p:tgtEl>
                                          <p:spTgt spid="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wipe(left)">
                                      <p:cBhvr>
                                        <p:cTn id="65" dur="500"/>
                                        <p:tgtEl>
                                          <p:spTgt spid="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left)">
                                      <p:cBhvr>
                                        <p:cTn id="7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6021283C-195F-A324-43B4-A76B82AD5505}"/>
              </a:ext>
            </a:extLst>
          </p:cNvPr>
          <p:cNvGrpSpPr/>
          <p:nvPr/>
        </p:nvGrpSpPr>
        <p:grpSpPr>
          <a:xfrm>
            <a:off x="510540" y="494665"/>
            <a:ext cx="11149330" cy="5612765"/>
            <a:chOff x="838" y="906"/>
            <a:chExt cx="17558" cy="8839"/>
          </a:xfrm>
        </p:grpSpPr>
        <p:sp>
          <p:nvSpPr>
            <p:cNvPr id="20" name="PA-102232">
              <a:extLst>
                <a:ext uri="{FF2B5EF4-FFF2-40B4-BE49-F238E27FC236}">
                  <a16:creationId xmlns:a16="http://schemas.microsoft.com/office/drawing/2014/main" id="{162D9373-1F9A-CA81-C37D-6E5E75EE9193}"/>
                </a:ext>
              </a:extLst>
            </p:cNvPr>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21" name="组合 20">
              <a:extLst>
                <a:ext uri="{FF2B5EF4-FFF2-40B4-BE49-F238E27FC236}">
                  <a16:creationId xmlns:a16="http://schemas.microsoft.com/office/drawing/2014/main" id="{0674260D-9836-27AA-0150-96B4670E009C}"/>
                </a:ext>
              </a:extLst>
            </p:cNvPr>
            <p:cNvGrpSpPr/>
            <p:nvPr/>
          </p:nvGrpSpPr>
          <p:grpSpPr>
            <a:xfrm>
              <a:off x="838" y="9635"/>
              <a:ext cx="17558" cy="110"/>
              <a:chOff x="838" y="9635"/>
              <a:chExt cx="17558" cy="110"/>
            </a:xfrm>
          </p:grpSpPr>
          <p:sp>
            <p:nvSpPr>
              <p:cNvPr id="22" name="Rectangle 1">
                <a:extLst>
                  <a:ext uri="{FF2B5EF4-FFF2-40B4-BE49-F238E27FC236}">
                    <a16:creationId xmlns:a16="http://schemas.microsoft.com/office/drawing/2014/main" id="{10AFA5E1-BB66-F3A6-3ED9-3C49EF13028B}"/>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3" name="Rectangle 1">
                <a:extLst>
                  <a:ext uri="{FF2B5EF4-FFF2-40B4-BE49-F238E27FC236}">
                    <a16:creationId xmlns:a16="http://schemas.microsoft.com/office/drawing/2014/main" id="{6753B9B5-BFAF-5EAC-4B18-C1A2408C1A18}"/>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
                <a:extLst>
                  <a:ext uri="{FF2B5EF4-FFF2-40B4-BE49-F238E27FC236}">
                    <a16:creationId xmlns:a16="http://schemas.microsoft.com/office/drawing/2014/main" id="{99592326-9A43-DDE1-874E-658556381EDB}"/>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xmlns:a14="http://schemas.microsoft.com/office/drawing/2010/main">
        <mc:Choice Requires="a14">
          <p:sp>
            <p:nvSpPr>
              <p:cNvPr id="2" name="Text Box 20">
                <a:extLst>
                  <a:ext uri="{FF2B5EF4-FFF2-40B4-BE49-F238E27FC236}">
                    <a16:creationId xmlns:a16="http://schemas.microsoft.com/office/drawing/2014/main" id="{826228E4-E124-939F-617C-B5F0465D6E2C}"/>
                  </a:ext>
                </a:extLst>
              </p:cNvPr>
              <p:cNvSpPr txBox="1">
                <a:spLocks noChangeArrowheads="1"/>
              </p:cNvSpPr>
              <p:nvPr/>
            </p:nvSpPr>
            <p:spPr bwMode="auto">
              <a:xfrm>
                <a:off x="1591408" y="1707617"/>
                <a:ext cx="3602892"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1.</a:t>
                </a: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习惯上</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记全微分为</a:t>
                </a:r>
              </a:p>
            </p:txBody>
          </p:sp>
        </mc:Choice>
        <mc:Fallback xmlns="">
          <p:sp>
            <p:nvSpPr>
              <p:cNvPr id="2" name="Text Box 20">
                <a:extLst>
                  <a:ext uri="{FF2B5EF4-FFF2-40B4-BE49-F238E27FC236}">
                    <a16:creationId xmlns:a16="http://schemas.microsoft.com/office/drawing/2014/main" id="{826228E4-E124-939F-617C-B5F0465D6E2C}"/>
                  </a:ext>
                </a:extLst>
              </p:cNvPr>
              <p:cNvSpPr txBox="1">
                <a:spLocks noRot="1" noChangeAspect="1" noMove="1" noResize="1" noEditPoints="1" noAdjustHandles="1" noChangeArrowheads="1" noChangeShapeType="1" noTextEdit="1"/>
              </p:cNvSpPr>
              <p:nvPr/>
            </p:nvSpPr>
            <p:spPr bwMode="auto">
              <a:xfrm>
                <a:off x="1591408" y="1707617"/>
                <a:ext cx="3602892" cy="523220"/>
              </a:xfrm>
              <a:prstGeom prst="rect">
                <a:avLst/>
              </a:prstGeom>
              <a:blipFill>
                <a:blip r:embed="rId3"/>
                <a:stretch>
                  <a:fillRect l="-3384" t="-15116" b="-3139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Object 21">
                <a:extLst>
                  <a:ext uri="{FF2B5EF4-FFF2-40B4-BE49-F238E27FC236}">
                    <a16:creationId xmlns:a16="http://schemas.microsoft.com/office/drawing/2014/main" id="{FAF36745-A9C9-CEC1-D924-FC99FA7A0598}"/>
                  </a:ext>
                </a:extLst>
              </p:cNvPr>
              <p:cNvSpPr txBox="1"/>
              <p:nvPr/>
            </p:nvSpPr>
            <p:spPr bwMode="auto">
              <a:xfrm>
                <a:off x="4897047" y="1483771"/>
                <a:ext cx="3444875" cy="914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3" name="Object 21">
                <a:extLst>
                  <a:ext uri="{FF2B5EF4-FFF2-40B4-BE49-F238E27FC236}">
                    <a16:creationId xmlns:a16="http://schemas.microsoft.com/office/drawing/2014/main" id="{FAF36745-A9C9-CEC1-D924-FC99FA7A0598}"/>
                  </a:ext>
                </a:extLst>
              </p:cNvPr>
              <p:cNvSpPr txBox="1">
                <a:spLocks noRot="1" noChangeAspect="1" noMove="1" noResize="1" noEditPoints="1" noAdjustHandles="1" noChangeArrowheads="1" noChangeShapeType="1" noTextEdit="1"/>
              </p:cNvSpPr>
              <p:nvPr/>
            </p:nvSpPr>
            <p:spPr bwMode="auto">
              <a:xfrm>
                <a:off x="4897047" y="1483771"/>
                <a:ext cx="3444875" cy="914400"/>
              </a:xfrm>
              <a:prstGeom prst="rect">
                <a:avLst/>
              </a:prstGeom>
              <a:blipFill>
                <a:blip r:embed="rId4"/>
                <a:stretch>
                  <a:fillRect b="-2667"/>
                </a:stretch>
              </a:blipFill>
              <a:ln>
                <a:noFill/>
              </a:ln>
              <a:effectLst/>
            </p:spPr>
            <p:txBody>
              <a:bodyPr/>
              <a:lstStyle/>
              <a:p>
                <a:r>
                  <a:rPr lang="zh-CN" altLang="en-US">
                    <a:noFill/>
                  </a:rPr>
                  <a:t> </a:t>
                </a:r>
              </a:p>
            </p:txBody>
          </p:sp>
        </mc:Fallback>
      </mc:AlternateContent>
      <p:sp>
        <p:nvSpPr>
          <p:cNvPr id="4" name="Text Box 22">
            <a:extLst>
              <a:ext uri="{FF2B5EF4-FFF2-40B4-BE49-F238E27FC236}">
                <a16:creationId xmlns:a16="http://schemas.microsoft.com/office/drawing/2014/main" id="{CFA5944C-27EA-0D3E-A1C6-43E060976704}"/>
              </a:ext>
            </a:extLst>
          </p:cNvPr>
          <p:cNvSpPr txBox="1">
            <a:spLocks noChangeArrowheads="1"/>
          </p:cNvSpPr>
          <p:nvPr/>
        </p:nvSpPr>
        <p:spPr bwMode="auto">
          <a:xfrm>
            <a:off x="1591408" y="3593082"/>
            <a:ext cx="7391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2.</a:t>
            </a: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全微分的定义可推广到三元及三元以上函数</a:t>
            </a:r>
          </a:p>
        </p:txBody>
      </p:sp>
      <mc:AlternateContent xmlns:mc="http://schemas.openxmlformats.org/markup-compatibility/2006" xmlns:a14="http://schemas.microsoft.com/office/drawing/2010/main">
        <mc:Choice Requires="a14">
          <p:sp>
            <p:nvSpPr>
              <p:cNvPr id="5" name="Object 23">
                <a:extLst>
                  <a:ext uri="{FF2B5EF4-FFF2-40B4-BE49-F238E27FC236}">
                    <a16:creationId xmlns:a16="http://schemas.microsoft.com/office/drawing/2014/main" id="{9B1EFD23-9751-0E36-A1E8-CD908209E3F8}"/>
                  </a:ext>
                </a:extLst>
              </p:cNvPr>
              <p:cNvSpPr txBox="1"/>
              <p:nvPr/>
            </p:nvSpPr>
            <p:spPr bwMode="auto">
              <a:xfrm>
                <a:off x="2738276" y="4139601"/>
                <a:ext cx="4813300" cy="914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5" name="Object 23">
                <a:extLst>
                  <a:ext uri="{FF2B5EF4-FFF2-40B4-BE49-F238E27FC236}">
                    <a16:creationId xmlns:a16="http://schemas.microsoft.com/office/drawing/2014/main" id="{9B1EFD23-9751-0E36-A1E8-CD908209E3F8}"/>
                  </a:ext>
                </a:extLst>
              </p:cNvPr>
              <p:cNvSpPr txBox="1">
                <a:spLocks noRot="1" noChangeAspect="1" noMove="1" noResize="1" noEditPoints="1" noAdjustHandles="1" noChangeArrowheads="1" noChangeShapeType="1" noTextEdit="1"/>
              </p:cNvSpPr>
              <p:nvPr/>
            </p:nvSpPr>
            <p:spPr bwMode="auto">
              <a:xfrm>
                <a:off x="2738276" y="4139601"/>
                <a:ext cx="4813300" cy="914400"/>
              </a:xfrm>
              <a:prstGeom prst="rect">
                <a:avLst/>
              </a:prstGeom>
              <a:blipFill>
                <a:blip r:embed="rId5"/>
                <a:stretch>
                  <a:fillRect b="-2000"/>
                </a:stretch>
              </a:blipFill>
              <a:ln>
                <a:noFill/>
              </a:ln>
              <a:effectLst/>
            </p:spPr>
            <p:txBody>
              <a:bodyPr/>
              <a:lstStyle/>
              <a:p>
                <a:r>
                  <a:rPr lang="zh-CN" altLang="en-US">
                    <a:noFill/>
                  </a:rPr>
                  <a:t> </a:t>
                </a:r>
              </a:p>
            </p:txBody>
          </p:sp>
        </mc:Fallback>
      </mc:AlternateContent>
      <p:sp>
        <p:nvSpPr>
          <p:cNvPr id="6" name="Text Box 24">
            <a:extLst>
              <a:ext uri="{FF2B5EF4-FFF2-40B4-BE49-F238E27FC236}">
                <a16:creationId xmlns:a16="http://schemas.microsoft.com/office/drawing/2014/main" id="{FC6730D5-8915-C7B9-C352-8B604976BBBB}"/>
              </a:ext>
            </a:extLst>
          </p:cNvPr>
          <p:cNvSpPr txBox="1">
            <a:spLocks noChangeArrowheads="1"/>
          </p:cNvSpPr>
          <p:nvPr/>
        </p:nvSpPr>
        <p:spPr bwMode="auto">
          <a:xfrm>
            <a:off x="1886683" y="2396958"/>
            <a:ext cx="8827476" cy="1150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30000"/>
              </a:lnSpc>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通常我们把二元函数的全微分等于它的两个偏微分之和这件事称为二元函数的微分符合叠加原理．</a:t>
            </a:r>
          </a:p>
        </p:txBody>
      </p:sp>
      <p:sp>
        <p:nvSpPr>
          <p:cNvPr id="7" name="Rectangle 25">
            <a:extLst>
              <a:ext uri="{FF2B5EF4-FFF2-40B4-BE49-F238E27FC236}">
                <a16:creationId xmlns:a16="http://schemas.microsoft.com/office/drawing/2014/main" id="{956B4AC5-06DE-BE1E-0EB2-BF9D24AC20C9}"/>
              </a:ext>
            </a:extLst>
          </p:cNvPr>
          <p:cNvSpPr>
            <a:spLocks noChangeArrowheads="1"/>
          </p:cNvSpPr>
          <p:nvPr/>
        </p:nvSpPr>
        <p:spPr bwMode="auto">
          <a:xfrm>
            <a:off x="1886683" y="5118732"/>
            <a:ext cx="693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叠加原理也适用于二元以上函数的情况．</a:t>
            </a:r>
          </a:p>
        </p:txBody>
      </p:sp>
      <p:grpSp>
        <p:nvGrpSpPr>
          <p:cNvPr id="13" name="组合 12">
            <a:extLst>
              <a:ext uri="{FF2B5EF4-FFF2-40B4-BE49-F238E27FC236}">
                <a16:creationId xmlns:a16="http://schemas.microsoft.com/office/drawing/2014/main" id="{5025A130-0CB6-5321-B64A-FDBD2FE70338}"/>
              </a:ext>
            </a:extLst>
          </p:cNvPr>
          <p:cNvGrpSpPr/>
          <p:nvPr/>
        </p:nvGrpSpPr>
        <p:grpSpPr>
          <a:xfrm>
            <a:off x="1713230" y="1021202"/>
            <a:ext cx="612775" cy="612775"/>
            <a:chOff x="1601" y="872"/>
            <a:chExt cx="965" cy="965"/>
          </a:xfrm>
        </p:grpSpPr>
        <p:sp>
          <p:nvSpPr>
            <p:cNvPr id="14" name="椭圆 13">
              <a:extLst>
                <a:ext uri="{FF2B5EF4-FFF2-40B4-BE49-F238E27FC236}">
                  <a16:creationId xmlns:a16="http://schemas.microsoft.com/office/drawing/2014/main" id="{964D78BB-37AB-4B94-3ADD-C950546DCE0A}"/>
                </a:ext>
              </a:extLst>
            </p:cNvPr>
            <p:cNvSpPr/>
            <p:nvPr/>
          </p:nvSpPr>
          <p:spPr>
            <a:xfrm>
              <a:off x="1663" y="934"/>
              <a:ext cx="841" cy="841"/>
            </a:xfrm>
            <a:prstGeom prst="ellipse">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5" name="文本框 14">
              <a:extLst>
                <a:ext uri="{FF2B5EF4-FFF2-40B4-BE49-F238E27FC236}">
                  <a16:creationId xmlns:a16="http://schemas.microsoft.com/office/drawing/2014/main" id="{10F89E94-A495-9B26-86F7-1A249BD0A649}"/>
                </a:ext>
              </a:extLst>
            </p:cNvPr>
            <p:cNvSpPr txBox="1"/>
            <p:nvPr/>
          </p:nvSpPr>
          <p:spPr bwMode="auto">
            <a:xfrm>
              <a:off x="1625" y="921"/>
              <a:ext cx="848" cy="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lang="zh-CN" altLang="en-US" sz="28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注</a:t>
              </a:r>
            </a:p>
          </p:txBody>
        </p:sp>
        <p:sp>
          <p:nvSpPr>
            <p:cNvPr id="16" name="椭圆 15">
              <a:extLst>
                <a:ext uri="{FF2B5EF4-FFF2-40B4-BE49-F238E27FC236}">
                  <a16:creationId xmlns:a16="http://schemas.microsoft.com/office/drawing/2014/main" id="{8C728E64-905A-62AC-A5E7-E3AE5D025CBC}"/>
                </a:ext>
              </a:extLst>
            </p:cNvPr>
            <p:cNvSpPr/>
            <p:nvPr/>
          </p:nvSpPr>
          <p:spPr>
            <a:xfrm>
              <a:off x="1601" y="872"/>
              <a:ext cx="965" cy="965"/>
            </a:xfrm>
            <a:prstGeom prst="ellipse">
              <a:avLst/>
            </a:prstGeom>
            <a:noFill/>
            <a:ln>
              <a:solidFill>
                <a:srgbClr val="0492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spTree>
    <p:extLst>
      <p:ext uri="{BB962C8B-B14F-4D97-AF65-F5344CB8AC3E}">
        <p14:creationId xmlns:p14="http://schemas.microsoft.com/office/powerpoint/2010/main" val="1289284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E667C0E-0125-02C9-03E1-ED5A0AD46050}"/>
              </a:ext>
            </a:extLst>
          </p:cNvPr>
          <p:cNvGrpSpPr/>
          <p:nvPr/>
        </p:nvGrpSpPr>
        <p:grpSpPr>
          <a:xfrm>
            <a:off x="510540" y="494665"/>
            <a:ext cx="11149330" cy="5612765"/>
            <a:chOff x="838" y="906"/>
            <a:chExt cx="17558" cy="8839"/>
          </a:xfrm>
        </p:grpSpPr>
        <p:sp>
          <p:nvSpPr>
            <p:cNvPr id="29" name="PA-102232">
              <a:extLst>
                <a:ext uri="{FF2B5EF4-FFF2-40B4-BE49-F238E27FC236}">
                  <a16:creationId xmlns:a16="http://schemas.microsoft.com/office/drawing/2014/main" id="{D6A4955D-0D56-90EC-ADAB-42D50690B741}"/>
                </a:ext>
              </a:extLst>
            </p:cNvPr>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30" name="组合 29">
              <a:extLst>
                <a:ext uri="{FF2B5EF4-FFF2-40B4-BE49-F238E27FC236}">
                  <a16:creationId xmlns:a16="http://schemas.microsoft.com/office/drawing/2014/main" id="{A2C3E770-6FE0-6722-BEB5-A1D66FF2DED9}"/>
                </a:ext>
              </a:extLst>
            </p:cNvPr>
            <p:cNvGrpSpPr/>
            <p:nvPr/>
          </p:nvGrpSpPr>
          <p:grpSpPr>
            <a:xfrm>
              <a:off x="838" y="9635"/>
              <a:ext cx="17558" cy="110"/>
              <a:chOff x="838" y="9635"/>
              <a:chExt cx="17558" cy="110"/>
            </a:xfrm>
          </p:grpSpPr>
          <p:sp>
            <p:nvSpPr>
              <p:cNvPr id="31" name="Rectangle 1">
                <a:extLst>
                  <a:ext uri="{FF2B5EF4-FFF2-40B4-BE49-F238E27FC236}">
                    <a16:creationId xmlns:a16="http://schemas.microsoft.com/office/drawing/2014/main" id="{579963ED-AAF3-C11D-00C8-02897C3C9094}"/>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2" name="Rectangle 1">
                <a:extLst>
                  <a:ext uri="{FF2B5EF4-FFF2-40B4-BE49-F238E27FC236}">
                    <a16:creationId xmlns:a16="http://schemas.microsoft.com/office/drawing/2014/main" id="{503C4D8F-20EE-D922-19EF-C36C001C1F34}"/>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3" name="Rectangle 1">
                <a:extLst>
                  <a:ext uri="{FF2B5EF4-FFF2-40B4-BE49-F238E27FC236}">
                    <a16:creationId xmlns:a16="http://schemas.microsoft.com/office/drawing/2014/main" id="{9A1E148D-0CB4-B406-D51C-393A82E5C762}"/>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3" name="Text Box 166">
            <a:extLst>
              <a:ext uri="{FF2B5EF4-FFF2-40B4-BE49-F238E27FC236}">
                <a16:creationId xmlns:a16="http://schemas.microsoft.com/office/drawing/2014/main" id="{934011F4-E7B7-C978-2D5E-8DBBFF2D2488}"/>
              </a:ext>
            </a:extLst>
          </p:cNvPr>
          <p:cNvSpPr txBox="1">
            <a:spLocks noChangeArrowheads="1"/>
          </p:cNvSpPr>
          <p:nvPr/>
        </p:nvSpPr>
        <p:spPr bwMode="auto">
          <a:xfrm>
            <a:off x="5227673" y="3638790"/>
            <a:ext cx="2057400" cy="523220"/>
          </a:xfrm>
          <a:prstGeom prst="rect">
            <a:avLst/>
          </a:prstGeom>
          <a:noFill/>
          <a:ln w="19050">
            <a:solidFill>
              <a:srgbClr val="04926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函数可微</a:t>
            </a:r>
          </a:p>
        </p:txBody>
      </p:sp>
      <p:sp>
        <p:nvSpPr>
          <p:cNvPr id="4" name="Text Box 167">
            <a:extLst>
              <a:ext uri="{FF2B5EF4-FFF2-40B4-BE49-F238E27FC236}">
                <a16:creationId xmlns:a16="http://schemas.microsoft.com/office/drawing/2014/main" id="{048242C1-076C-478A-C871-855EB7637064}"/>
              </a:ext>
            </a:extLst>
          </p:cNvPr>
          <p:cNvSpPr txBox="1">
            <a:spLocks noChangeArrowheads="1"/>
          </p:cNvSpPr>
          <p:nvPr/>
        </p:nvSpPr>
        <p:spPr bwMode="auto">
          <a:xfrm>
            <a:off x="3714785" y="2343390"/>
            <a:ext cx="2057400" cy="523220"/>
          </a:xfrm>
          <a:prstGeom prst="rect">
            <a:avLst/>
          </a:prstGeom>
          <a:noFill/>
          <a:ln w="19050">
            <a:solidFill>
              <a:srgbClr val="04926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函数连续</a:t>
            </a:r>
          </a:p>
        </p:txBody>
      </p:sp>
      <p:sp>
        <p:nvSpPr>
          <p:cNvPr id="5" name="Text Box 168">
            <a:extLst>
              <a:ext uri="{FF2B5EF4-FFF2-40B4-BE49-F238E27FC236}">
                <a16:creationId xmlns:a16="http://schemas.microsoft.com/office/drawing/2014/main" id="{1B560022-F543-3487-4B22-09E8B4318260}"/>
              </a:ext>
            </a:extLst>
          </p:cNvPr>
          <p:cNvSpPr txBox="1">
            <a:spLocks noChangeArrowheads="1"/>
          </p:cNvSpPr>
          <p:nvPr/>
        </p:nvSpPr>
        <p:spPr bwMode="auto">
          <a:xfrm>
            <a:off x="6838985" y="2343390"/>
            <a:ext cx="2057400" cy="523220"/>
          </a:xfrm>
          <a:prstGeom prst="rect">
            <a:avLst/>
          </a:prstGeom>
          <a:noFill/>
          <a:ln w="19050">
            <a:solidFill>
              <a:srgbClr val="04926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偏导数存在</a:t>
            </a:r>
          </a:p>
        </p:txBody>
      </p:sp>
      <p:sp>
        <p:nvSpPr>
          <p:cNvPr id="6" name="Text Box 169">
            <a:extLst>
              <a:ext uri="{FF2B5EF4-FFF2-40B4-BE49-F238E27FC236}">
                <a16:creationId xmlns:a16="http://schemas.microsoft.com/office/drawing/2014/main" id="{2FEC883A-089F-658A-F4E4-136D05BB6CEF}"/>
              </a:ext>
            </a:extLst>
          </p:cNvPr>
          <p:cNvSpPr txBox="1">
            <a:spLocks noChangeArrowheads="1"/>
          </p:cNvSpPr>
          <p:nvPr/>
        </p:nvSpPr>
        <p:spPr bwMode="auto">
          <a:xfrm>
            <a:off x="5227673" y="4950067"/>
            <a:ext cx="2057400" cy="523220"/>
          </a:xfrm>
          <a:prstGeom prst="rect">
            <a:avLst/>
          </a:prstGeom>
          <a:noFill/>
          <a:ln w="19050">
            <a:solidFill>
              <a:srgbClr val="04926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偏导数连续</a:t>
            </a:r>
          </a:p>
        </p:txBody>
      </p:sp>
      <p:grpSp>
        <p:nvGrpSpPr>
          <p:cNvPr id="7" name="Group 172">
            <a:extLst>
              <a:ext uri="{FF2B5EF4-FFF2-40B4-BE49-F238E27FC236}">
                <a16:creationId xmlns:a16="http://schemas.microsoft.com/office/drawing/2014/main" id="{166D793C-41AE-D4FF-F78E-3144278712C8}"/>
              </a:ext>
            </a:extLst>
          </p:cNvPr>
          <p:cNvGrpSpPr>
            <a:grpSpLocks/>
          </p:cNvGrpSpPr>
          <p:nvPr/>
        </p:nvGrpSpPr>
        <p:grpSpPr bwMode="auto">
          <a:xfrm>
            <a:off x="5848385" y="2301789"/>
            <a:ext cx="914400" cy="228600"/>
            <a:chOff x="2784" y="1035"/>
            <a:chExt cx="576" cy="144"/>
          </a:xfrm>
        </p:grpSpPr>
        <p:sp>
          <p:nvSpPr>
            <p:cNvPr id="8" name="Line 170">
              <a:extLst>
                <a:ext uri="{FF2B5EF4-FFF2-40B4-BE49-F238E27FC236}">
                  <a16:creationId xmlns:a16="http://schemas.microsoft.com/office/drawing/2014/main" id="{2E5F3C1F-4D4B-5D81-CBE8-4FC5DD908F29}"/>
                </a:ext>
              </a:extLst>
            </p:cNvPr>
            <p:cNvSpPr>
              <a:spLocks noChangeShapeType="1"/>
            </p:cNvSpPr>
            <p:nvPr/>
          </p:nvSpPr>
          <p:spPr bwMode="auto">
            <a:xfrm>
              <a:off x="2784" y="1104"/>
              <a:ext cx="576" cy="0"/>
            </a:xfrm>
            <a:prstGeom prst="line">
              <a:avLst/>
            </a:prstGeom>
            <a:noFill/>
            <a:ln w="28575">
              <a:solidFill>
                <a:srgbClr val="04926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9" name="Line 171">
              <a:extLst>
                <a:ext uri="{FF2B5EF4-FFF2-40B4-BE49-F238E27FC236}">
                  <a16:creationId xmlns:a16="http://schemas.microsoft.com/office/drawing/2014/main" id="{8BE1B52B-1A67-F2E5-40BC-B0F22D6F1F43}"/>
                </a:ext>
              </a:extLst>
            </p:cNvPr>
            <p:cNvSpPr>
              <a:spLocks noChangeShapeType="1"/>
            </p:cNvSpPr>
            <p:nvPr/>
          </p:nvSpPr>
          <p:spPr bwMode="auto">
            <a:xfrm flipV="1">
              <a:off x="2949" y="1035"/>
              <a:ext cx="192" cy="144"/>
            </a:xfrm>
            <a:prstGeom prst="line">
              <a:avLst/>
            </a:prstGeom>
            <a:noFill/>
            <a:ln w="28575">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grpSp>
        <p:nvGrpSpPr>
          <p:cNvPr id="10" name="Group 175">
            <a:extLst>
              <a:ext uri="{FF2B5EF4-FFF2-40B4-BE49-F238E27FC236}">
                <a16:creationId xmlns:a16="http://schemas.microsoft.com/office/drawing/2014/main" id="{51A6682B-933D-EE03-3C11-AB969AAD749F}"/>
              </a:ext>
            </a:extLst>
          </p:cNvPr>
          <p:cNvGrpSpPr>
            <a:grpSpLocks/>
          </p:cNvGrpSpPr>
          <p:nvPr/>
        </p:nvGrpSpPr>
        <p:grpSpPr bwMode="auto">
          <a:xfrm>
            <a:off x="5848385" y="2639926"/>
            <a:ext cx="914400" cy="304800"/>
            <a:chOff x="2784" y="1248"/>
            <a:chExt cx="576" cy="192"/>
          </a:xfrm>
        </p:grpSpPr>
        <p:sp>
          <p:nvSpPr>
            <p:cNvPr id="11" name="Line 173">
              <a:extLst>
                <a:ext uri="{FF2B5EF4-FFF2-40B4-BE49-F238E27FC236}">
                  <a16:creationId xmlns:a16="http://schemas.microsoft.com/office/drawing/2014/main" id="{C29A3EF1-A160-69C0-0A48-0FD721C6F414}"/>
                </a:ext>
              </a:extLst>
            </p:cNvPr>
            <p:cNvSpPr>
              <a:spLocks noChangeShapeType="1"/>
            </p:cNvSpPr>
            <p:nvPr/>
          </p:nvSpPr>
          <p:spPr bwMode="auto">
            <a:xfrm flipH="1">
              <a:off x="2784" y="1344"/>
              <a:ext cx="576" cy="0"/>
            </a:xfrm>
            <a:prstGeom prst="line">
              <a:avLst/>
            </a:prstGeom>
            <a:noFill/>
            <a:ln w="28575">
              <a:solidFill>
                <a:srgbClr val="04926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12" name="Line 174">
              <a:extLst>
                <a:ext uri="{FF2B5EF4-FFF2-40B4-BE49-F238E27FC236}">
                  <a16:creationId xmlns:a16="http://schemas.microsoft.com/office/drawing/2014/main" id="{199ACDA6-189A-EDEA-CE0D-CA85368FBD00}"/>
                </a:ext>
              </a:extLst>
            </p:cNvPr>
            <p:cNvSpPr>
              <a:spLocks noChangeShapeType="1"/>
            </p:cNvSpPr>
            <p:nvPr/>
          </p:nvSpPr>
          <p:spPr bwMode="auto">
            <a:xfrm>
              <a:off x="2976" y="1248"/>
              <a:ext cx="240" cy="192"/>
            </a:xfrm>
            <a:prstGeom prst="line">
              <a:avLst/>
            </a:prstGeom>
            <a:noFill/>
            <a:ln w="28575">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13" name="Line 176">
            <a:extLst>
              <a:ext uri="{FF2B5EF4-FFF2-40B4-BE49-F238E27FC236}">
                <a16:creationId xmlns:a16="http://schemas.microsoft.com/office/drawing/2014/main" id="{9A3C7AD1-47CE-E2D9-CA3D-F57B9B5802D4}"/>
              </a:ext>
            </a:extLst>
          </p:cNvPr>
          <p:cNvSpPr>
            <a:spLocks noChangeShapeType="1"/>
          </p:cNvSpPr>
          <p:nvPr/>
        </p:nvSpPr>
        <p:spPr bwMode="auto">
          <a:xfrm flipV="1">
            <a:off x="5610259" y="2904708"/>
            <a:ext cx="0" cy="685800"/>
          </a:xfrm>
          <a:prstGeom prst="line">
            <a:avLst/>
          </a:prstGeom>
          <a:noFill/>
          <a:ln w="28575">
            <a:solidFill>
              <a:srgbClr val="4A7BA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nvGrpSpPr>
          <p:cNvPr id="14" name="Group 179">
            <a:extLst>
              <a:ext uri="{FF2B5EF4-FFF2-40B4-BE49-F238E27FC236}">
                <a16:creationId xmlns:a16="http://schemas.microsoft.com/office/drawing/2014/main" id="{8F96D368-A005-3861-61AB-2D015040378E}"/>
              </a:ext>
            </a:extLst>
          </p:cNvPr>
          <p:cNvGrpSpPr>
            <a:grpSpLocks/>
          </p:cNvGrpSpPr>
          <p:nvPr/>
        </p:nvGrpSpPr>
        <p:grpSpPr bwMode="auto">
          <a:xfrm>
            <a:off x="5153059" y="2904708"/>
            <a:ext cx="304800" cy="685800"/>
            <a:chOff x="2352" y="1412"/>
            <a:chExt cx="192" cy="432"/>
          </a:xfrm>
        </p:grpSpPr>
        <p:sp>
          <p:nvSpPr>
            <p:cNvPr id="15" name="Line 177">
              <a:extLst>
                <a:ext uri="{FF2B5EF4-FFF2-40B4-BE49-F238E27FC236}">
                  <a16:creationId xmlns:a16="http://schemas.microsoft.com/office/drawing/2014/main" id="{823FA47B-499C-62E5-B8A9-079DEB443160}"/>
                </a:ext>
              </a:extLst>
            </p:cNvPr>
            <p:cNvSpPr>
              <a:spLocks noChangeShapeType="1"/>
            </p:cNvSpPr>
            <p:nvPr/>
          </p:nvSpPr>
          <p:spPr bwMode="auto">
            <a:xfrm flipV="1">
              <a:off x="2448" y="1412"/>
              <a:ext cx="0" cy="432"/>
            </a:xfrm>
            <a:prstGeom prst="line">
              <a:avLst/>
            </a:prstGeom>
            <a:noFill/>
            <a:ln w="28575">
              <a:solidFill>
                <a:srgbClr val="04926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16" name="Line 178">
              <a:extLst>
                <a:ext uri="{FF2B5EF4-FFF2-40B4-BE49-F238E27FC236}">
                  <a16:creationId xmlns:a16="http://schemas.microsoft.com/office/drawing/2014/main" id="{D73FE4A6-5681-C09A-D56A-01B9FD52909E}"/>
                </a:ext>
              </a:extLst>
            </p:cNvPr>
            <p:cNvSpPr>
              <a:spLocks noChangeShapeType="1"/>
            </p:cNvSpPr>
            <p:nvPr/>
          </p:nvSpPr>
          <p:spPr bwMode="auto">
            <a:xfrm>
              <a:off x="2352" y="1529"/>
              <a:ext cx="192" cy="192"/>
            </a:xfrm>
            <a:prstGeom prst="line">
              <a:avLst/>
            </a:prstGeom>
            <a:noFill/>
            <a:ln w="28575">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17" name="Line 180">
            <a:extLst>
              <a:ext uri="{FF2B5EF4-FFF2-40B4-BE49-F238E27FC236}">
                <a16:creationId xmlns:a16="http://schemas.microsoft.com/office/drawing/2014/main" id="{BD5F533B-F847-6735-BE43-F2A07E7C45E1}"/>
              </a:ext>
            </a:extLst>
          </p:cNvPr>
          <p:cNvSpPr>
            <a:spLocks noChangeShapeType="1"/>
          </p:cNvSpPr>
          <p:nvPr/>
        </p:nvSpPr>
        <p:spPr bwMode="auto">
          <a:xfrm flipV="1">
            <a:off x="6937409" y="2904708"/>
            <a:ext cx="0" cy="685800"/>
          </a:xfrm>
          <a:prstGeom prst="line">
            <a:avLst/>
          </a:prstGeom>
          <a:noFill/>
          <a:ln w="28575">
            <a:solidFill>
              <a:srgbClr val="4A7BA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nvGrpSpPr>
          <p:cNvPr id="18" name="Group 181">
            <a:extLst>
              <a:ext uri="{FF2B5EF4-FFF2-40B4-BE49-F238E27FC236}">
                <a16:creationId xmlns:a16="http://schemas.microsoft.com/office/drawing/2014/main" id="{CAB85ABC-FB59-DBC4-E18A-33B4883BADD8}"/>
              </a:ext>
            </a:extLst>
          </p:cNvPr>
          <p:cNvGrpSpPr>
            <a:grpSpLocks/>
          </p:cNvGrpSpPr>
          <p:nvPr/>
        </p:nvGrpSpPr>
        <p:grpSpPr bwMode="auto">
          <a:xfrm>
            <a:off x="7058059" y="2904708"/>
            <a:ext cx="304800" cy="685800"/>
            <a:chOff x="2352" y="1412"/>
            <a:chExt cx="192" cy="432"/>
          </a:xfrm>
        </p:grpSpPr>
        <p:sp>
          <p:nvSpPr>
            <p:cNvPr id="19" name="Line 182">
              <a:extLst>
                <a:ext uri="{FF2B5EF4-FFF2-40B4-BE49-F238E27FC236}">
                  <a16:creationId xmlns:a16="http://schemas.microsoft.com/office/drawing/2014/main" id="{37826C62-609D-E73C-0ADA-14A4A02900A1}"/>
                </a:ext>
              </a:extLst>
            </p:cNvPr>
            <p:cNvSpPr>
              <a:spLocks noChangeShapeType="1"/>
            </p:cNvSpPr>
            <p:nvPr/>
          </p:nvSpPr>
          <p:spPr bwMode="auto">
            <a:xfrm flipV="1">
              <a:off x="2448" y="1412"/>
              <a:ext cx="0" cy="432"/>
            </a:xfrm>
            <a:prstGeom prst="line">
              <a:avLst/>
            </a:prstGeom>
            <a:noFill/>
            <a:ln w="28575">
              <a:solidFill>
                <a:srgbClr val="04926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20" name="Line 183">
              <a:extLst>
                <a:ext uri="{FF2B5EF4-FFF2-40B4-BE49-F238E27FC236}">
                  <a16:creationId xmlns:a16="http://schemas.microsoft.com/office/drawing/2014/main" id="{874354C3-3C7A-E844-6710-60E38266028E}"/>
                </a:ext>
              </a:extLst>
            </p:cNvPr>
            <p:cNvSpPr>
              <a:spLocks noChangeShapeType="1"/>
            </p:cNvSpPr>
            <p:nvPr/>
          </p:nvSpPr>
          <p:spPr bwMode="auto">
            <a:xfrm>
              <a:off x="2352" y="1529"/>
              <a:ext cx="192" cy="192"/>
            </a:xfrm>
            <a:prstGeom prst="line">
              <a:avLst/>
            </a:prstGeom>
            <a:noFill/>
            <a:ln w="28575">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21" name="Line 184">
            <a:extLst>
              <a:ext uri="{FF2B5EF4-FFF2-40B4-BE49-F238E27FC236}">
                <a16:creationId xmlns:a16="http://schemas.microsoft.com/office/drawing/2014/main" id="{B4CD5468-93D4-9DFD-2205-54F4CE06CFD5}"/>
              </a:ext>
            </a:extLst>
          </p:cNvPr>
          <p:cNvSpPr>
            <a:spLocks noChangeShapeType="1"/>
          </p:cNvSpPr>
          <p:nvPr/>
        </p:nvSpPr>
        <p:spPr bwMode="auto">
          <a:xfrm flipV="1">
            <a:off x="6130960" y="4205528"/>
            <a:ext cx="0" cy="685800"/>
          </a:xfrm>
          <a:prstGeom prst="line">
            <a:avLst/>
          </a:prstGeom>
          <a:noFill/>
          <a:ln w="28575">
            <a:solidFill>
              <a:srgbClr val="4A7BA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nvGrpSpPr>
          <p:cNvPr id="22" name="Group 185">
            <a:extLst>
              <a:ext uri="{FF2B5EF4-FFF2-40B4-BE49-F238E27FC236}">
                <a16:creationId xmlns:a16="http://schemas.microsoft.com/office/drawing/2014/main" id="{1F3F2697-ECC4-59BA-6ADF-A40542DC87EF}"/>
              </a:ext>
            </a:extLst>
          </p:cNvPr>
          <p:cNvGrpSpPr>
            <a:grpSpLocks/>
          </p:cNvGrpSpPr>
          <p:nvPr/>
        </p:nvGrpSpPr>
        <p:grpSpPr bwMode="auto">
          <a:xfrm>
            <a:off x="6251610" y="4203940"/>
            <a:ext cx="304800" cy="685800"/>
            <a:chOff x="2352" y="1412"/>
            <a:chExt cx="192" cy="432"/>
          </a:xfrm>
        </p:grpSpPr>
        <p:sp>
          <p:nvSpPr>
            <p:cNvPr id="23" name="Line 186">
              <a:extLst>
                <a:ext uri="{FF2B5EF4-FFF2-40B4-BE49-F238E27FC236}">
                  <a16:creationId xmlns:a16="http://schemas.microsoft.com/office/drawing/2014/main" id="{FC7B9385-E654-3EC1-C314-876A51FC38A8}"/>
                </a:ext>
              </a:extLst>
            </p:cNvPr>
            <p:cNvSpPr>
              <a:spLocks noChangeShapeType="1"/>
            </p:cNvSpPr>
            <p:nvPr/>
          </p:nvSpPr>
          <p:spPr bwMode="auto">
            <a:xfrm flipV="1">
              <a:off x="2448" y="1412"/>
              <a:ext cx="0" cy="432"/>
            </a:xfrm>
            <a:prstGeom prst="line">
              <a:avLst/>
            </a:prstGeom>
            <a:noFill/>
            <a:ln w="28575">
              <a:solidFill>
                <a:srgbClr val="04926A"/>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24" name="Line 187">
              <a:extLst>
                <a:ext uri="{FF2B5EF4-FFF2-40B4-BE49-F238E27FC236}">
                  <a16:creationId xmlns:a16="http://schemas.microsoft.com/office/drawing/2014/main" id="{8C9C06CE-99BD-2154-847D-294B9DC9C6E7}"/>
                </a:ext>
              </a:extLst>
            </p:cNvPr>
            <p:cNvSpPr>
              <a:spLocks noChangeShapeType="1"/>
            </p:cNvSpPr>
            <p:nvPr/>
          </p:nvSpPr>
          <p:spPr bwMode="auto">
            <a:xfrm>
              <a:off x="2352" y="1529"/>
              <a:ext cx="192" cy="192"/>
            </a:xfrm>
            <a:prstGeom prst="line">
              <a:avLst/>
            </a:prstGeom>
            <a:noFill/>
            <a:ln w="28575">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25" name="Rectangle 2">
            <a:extLst>
              <a:ext uri="{FF2B5EF4-FFF2-40B4-BE49-F238E27FC236}">
                <a16:creationId xmlns:a16="http://schemas.microsoft.com/office/drawing/2014/main" id="{67CE8878-62B8-7DA6-00DE-FC1BA04973E1}"/>
              </a:ext>
            </a:extLst>
          </p:cNvPr>
          <p:cNvSpPr txBox="1">
            <a:spLocks noChangeArrowheads="1"/>
          </p:cNvSpPr>
          <p:nvPr/>
        </p:nvSpPr>
        <p:spPr>
          <a:xfrm>
            <a:off x="3152446" y="1325452"/>
            <a:ext cx="5616451"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4. </a:t>
            </a:r>
            <a:r>
              <a:rPr kumimoji="1" lang="zh-CN" altLang="en-US" dirty="0">
                <a:solidFill>
                  <a:srgbClr val="04926A"/>
                </a:solidFill>
                <a:latin typeface="微软雅黑" panose="020B0503020204020204" pitchFamily="34" charset="-122"/>
                <a:ea typeface="微软雅黑" panose="020B0503020204020204" pitchFamily="34" charset="-122"/>
                <a:cs typeface="+mn-cs"/>
              </a:rPr>
              <a:t>连续、偏导数存在、可微的关系</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16844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righ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down)">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up)">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down)">
                                      <p:cBhvr>
                                        <p:cTn id="62" dur="5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up)">
                                      <p:cBhvr>
                                        <p:cTn id="6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13" grpId="0" animBg="1"/>
      <p:bldP spid="17" grpId="0" animBg="1"/>
      <p:bldP spid="21"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1A00B44C-8B4D-F927-2143-A95325860990}"/>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15" name="矩形 14">
                <a:extLst>
                  <a:ext uri="{FF2B5EF4-FFF2-40B4-BE49-F238E27FC236}">
                    <a16:creationId xmlns:a16="http://schemas.microsoft.com/office/drawing/2014/main" id="{1A00B44C-8B4D-F927-2143-A95325860990}"/>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16" name="半闭框 15">
            <a:extLst>
              <a:ext uri="{FF2B5EF4-FFF2-40B4-BE49-F238E27FC236}">
                <a16:creationId xmlns:a16="http://schemas.microsoft.com/office/drawing/2014/main" id="{4208E977-B82A-DF5D-2C7C-F016A434B21D}"/>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半闭框 16">
            <a:extLst>
              <a:ext uri="{FF2B5EF4-FFF2-40B4-BE49-F238E27FC236}">
                <a16:creationId xmlns:a16="http://schemas.microsoft.com/office/drawing/2014/main" id="{3322FF06-225F-E4B2-6B1C-A61D264BF392}"/>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半闭框 17">
            <a:extLst>
              <a:ext uri="{FF2B5EF4-FFF2-40B4-BE49-F238E27FC236}">
                <a16:creationId xmlns:a16="http://schemas.microsoft.com/office/drawing/2014/main" id="{A4116E32-8A90-8922-CB18-7425B36C35BE}"/>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9" name="半闭框 18">
            <a:extLst>
              <a:ext uri="{FF2B5EF4-FFF2-40B4-BE49-F238E27FC236}">
                <a16:creationId xmlns:a16="http://schemas.microsoft.com/office/drawing/2014/main" id="{9C365EDE-67ED-10D2-AD87-74C0B2FF6AE7}"/>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3" name="Object 7">
                <a:extLst>
                  <a:ext uri="{FF2B5EF4-FFF2-40B4-BE49-F238E27FC236}">
                    <a16:creationId xmlns:a16="http://schemas.microsoft.com/office/drawing/2014/main" id="{F6E6A3C2-29B2-9F5B-4C04-E3973BF91EA2}"/>
                  </a:ext>
                </a:extLst>
              </p:cNvPr>
              <p:cNvSpPr txBox="1"/>
              <p:nvPr/>
            </p:nvSpPr>
            <p:spPr bwMode="auto">
              <a:xfrm>
                <a:off x="1912931" y="3136377"/>
                <a:ext cx="896975" cy="4953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函数</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3" name="Object 7">
                <a:extLst>
                  <a:ext uri="{FF2B5EF4-FFF2-40B4-BE49-F238E27FC236}">
                    <a16:creationId xmlns:a16="http://schemas.microsoft.com/office/drawing/2014/main" id="{F6E6A3C2-29B2-9F5B-4C04-E3973BF91EA2}"/>
                  </a:ext>
                </a:extLst>
              </p:cNvPr>
              <p:cNvSpPr txBox="1">
                <a:spLocks noRot="1" noChangeAspect="1" noMove="1" noResize="1" noEditPoints="1" noAdjustHandles="1" noChangeArrowheads="1" noChangeShapeType="1" noTextEdit="1"/>
              </p:cNvSpPr>
              <p:nvPr/>
            </p:nvSpPr>
            <p:spPr bwMode="auto">
              <a:xfrm>
                <a:off x="1912931" y="3136377"/>
                <a:ext cx="896975" cy="495300"/>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5283052E-6D81-D9C0-2328-61DC6DDC68EA}"/>
                  </a:ext>
                </a:extLst>
              </p:cNvPr>
              <p:cNvSpPr txBox="1"/>
              <p:nvPr/>
            </p:nvSpPr>
            <p:spPr>
              <a:xfrm>
                <a:off x="1931616" y="4483862"/>
                <a:ext cx="8350715" cy="4953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在</m:t>
                      </m:r>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0, 0</m:t>
                          </m:r>
                        </m:e>
                      </m:d>
                      <m:r>
                        <a:rPr kumimoji="1" lang="zh-CN" altLang="en-US" sz="2800">
                          <a:solidFill>
                            <a:schemeClr val="tx1">
                              <a:lumMod val="95000"/>
                              <a:lumOff val="5000"/>
                            </a:schemeClr>
                          </a:solidFill>
                          <a:latin typeface="Cambria Math" panose="02040503050406030204" charset="0"/>
                          <a:ea typeface="黑体" panose="02010609060101010101" pitchFamily="49" charset="-122"/>
                        </a:rPr>
                        <m:t>处的两个偏导数都存在</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但函数在该点不可微</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5283052E-6D81-D9C0-2328-61DC6DDC68EA}"/>
                  </a:ext>
                </a:extLst>
              </p:cNvPr>
              <p:cNvSpPr txBox="1">
                <a:spLocks noRot="1" noChangeAspect="1" noMove="1" noResize="1" noEditPoints="1" noAdjustHandles="1" noChangeArrowheads="1" noChangeShapeType="1" noTextEdit="1"/>
              </p:cNvSpPr>
              <p:nvPr/>
            </p:nvSpPr>
            <p:spPr>
              <a:xfrm>
                <a:off x="1931616" y="4483862"/>
                <a:ext cx="8350715" cy="49530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对象 4">
                <a:extLst>
                  <a:ext uri="{FF2B5EF4-FFF2-40B4-BE49-F238E27FC236}">
                    <a16:creationId xmlns:a16="http://schemas.microsoft.com/office/drawing/2014/main" id="{D096EF58-602D-D6B8-5A95-274800E98205}"/>
                  </a:ext>
                </a:extLst>
              </p:cNvPr>
              <p:cNvSpPr txBox="1"/>
              <p:nvPr/>
            </p:nvSpPr>
            <p:spPr>
              <a:xfrm>
                <a:off x="2752600" y="2527481"/>
                <a:ext cx="5890443" cy="16510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eqArr>
                            <m:eqArr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eqArrPr>
                            <m:e>
                              <m:r>
                                <a:rPr kumimoji="1" lang="zh-CN" altLang="en-US" sz="2800">
                                  <a:solidFill>
                                    <a:schemeClr val="tx1">
                                      <a:lumMod val="95000"/>
                                      <a:lumOff val="5000"/>
                                    </a:schemeClr>
                                  </a:solidFill>
                                  <a:latin typeface="Cambria Math" panose="02040503050406030204" charset="0"/>
                                  <a:ea typeface="黑体" panose="02010609060101010101" pitchFamily="49" charset="-122"/>
                                </a:rPr>
                                <m:t>&amp;</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radPr>
                                    <m:deg/>
                                    <m:e>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e>
                                  </m:rad>
                                </m:den>
                              </m:f>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e>
                            <m:e>
                              <m:r>
                                <a:rPr kumimoji="1" lang="zh-CN" altLang="en-US" sz="2800">
                                  <a:solidFill>
                                    <a:schemeClr val="tx1">
                                      <a:lumMod val="95000"/>
                                      <a:lumOff val="5000"/>
                                    </a:schemeClr>
                                  </a:solidFill>
                                  <a:latin typeface="Cambria Math" panose="02040503050406030204" charset="0"/>
                                  <a:ea typeface="黑体" panose="02010609060101010101" pitchFamily="49" charset="-122"/>
                                </a:rPr>
                                <m:t>&amp;0,    </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e>
                          </m:eqArr>
                        </m:e>
                      </m: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5" name="对象 4">
                <a:extLst>
                  <a:ext uri="{FF2B5EF4-FFF2-40B4-BE49-F238E27FC236}">
                    <a16:creationId xmlns:a16="http://schemas.microsoft.com/office/drawing/2014/main" id="{D096EF58-602D-D6B8-5A95-274800E98205}"/>
                  </a:ext>
                </a:extLst>
              </p:cNvPr>
              <p:cNvSpPr txBox="1">
                <a:spLocks noRot="1" noChangeAspect="1" noMove="1" noResize="1" noEditPoints="1" noAdjustHandles="1" noChangeArrowheads="1" noChangeShapeType="1" noTextEdit="1"/>
              </p:cNvSpPr>
              <p:nvPr/>
            </p:nvSpPr>
            <p:spPr>
              <a:xfrm>
                <a:off x="2752600" y="2527481"/>
                <a:ext cx="5890443" cy="1651000"/>
              </a:xfrm>
              <a:prstGeom prst="rect">
                <a:avLst/>
              </a:prstGeom>
              <a:blipFill>
                <a:blip r:embed="rId5"/>
                <a:stretch>
                  <a:fillRect/>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C4906635-24BC-7BCC-D794-5CB151AC4E8A}"/>
              </a:ext>
            </a:extLst>
          </p:cNvPr>
          <p:cNvGrpSpPr/>
          <p:nvPr/>
        </p:nvGrpSpPr>
        <p:grpSpPr>
          <a:xfrm>
            <a:off x="2037910" y="1869751"/>
            <a:ext cx="1126490" cy="448945"/>
            <a:chOff x="1553" y="3803"/>
            <a:chExt cx="1774" cy="707"/>
          </a:xfrm>
        </p:grpSpPr>
        <p:sp>
          <p:nvSpPr>
            <p:cNvPr id="13" name="圆角矩形 3">
              <a:extLst>
                <a:ext uri="{FF2B5EF4-FFF2-40B4-BE49-F238E27FC236}">
                  <a16:creationId xmlns:a16="http://schemas.microsoft.com/office/drawing/2014/main" id="{F2526092-7A4A-7000-F178-0DB359305114}"/>
                </a:ext>
              </a:extLst>
            </p:cNvPr>
            <p:cNvSpPr/>
            <p:nvPr/>
          </p:nvSpPr>
          <p:spPr>
            <a:xfrm>
              <a:off x="1553" y="3803"/>
              <a:ext cx="1684"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Text Box 28">
              <a:extLst>
                <a:ext uri="{FF2B5EF4-FFF2-40B4-BE49-F238E27FC236}">
                  <a16:creationId xmlns:a16="http://schemas.microsoft.com/office/drawing/2014/main" id="{48E3F036-4A74-1A86-10CA-1D153C49B9CB}"/>
                </a:ext>
              </a:extLst>
            </p:cNvPr>
            <p:cNvSpPr txBox="1">
              <a:spLocks noChangeArrowheads="1"/>
            </p:cNvSpPr>
            <p:nvPr/>
          </p:nvSpPr>
          <p:spPr bwMode="auto">
            <a:xfrm>
              <a:off x="1702" y="3810"/>
              <a:ext cx="1625"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kern="0" dirty="0">
                  <a:solidFill>
                    <a:schemeClr val="bg1"/>
                  </a:solidFill>
                  <a:latin typeface="微软雅黑" panose="020B0503020204020204" charset="-122"/>
                  <a:ea typeface="微软雅黑" panose="020B0503020204020204" charset="-122"/>
                  <a:cs typeface="微软雅黑" panose="020B0503020204020204" charset="-122"/>
                  <a:sym typeface="+mn-lt"/>
                </a:rPr>
                <a:t>反例</a:t>
              </a:r>
              <a:r>
                <a:rPr kumimoji="1" lang="en-US" altLang="zh-CN" sz="2800" b="1" kern="0" dirty="0">
                  <a:solidFill>
                    <a:schemeClr val="bg1"/>
                  </a:solidFill>
                  <a:latin typeface="微软雅黑" panose="020B0503020204020204" charset="-122"/>
                  <a:ea typeface="微软雅黑" panose="020B0503020204020204" charset="-122"/>
                  <a:cs typeface="微软雅黑" panose="020B0503020204020204" charset="-122"/>
                  <a:sym typeface="+mn-lt"/>
                </a:rPr>
                <a:t>1</a:t>
              </a:r>
              <a:endParaRPr kumimoji="1" lang="zh-CN" altLang="en-US" sz="2800" b="1"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grpSp>
    </p:spTree>
    <p:extLst>
      <p:ext uri="{BB962C8B-B14F-4D97-AF65-F5344CB8AC3E}">
        <p14:creationId xmlns:p14="http://schemas.microsoft.com/office/powerpoint/2010/main" val="234311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BC262712-7C26-4699-2EFB-CFA7C4727EA4}"/>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26" name="矩形 25">
                <a:extLst>
                  <a:ext uri="{FF2B5EF4-FFF2-40B4-BE49-F238E27FC236}">
                    <a16:creationId xmlns:a16="http://schemas.microsoft.com/office/drawing/2014/main" id="{BC262712-7C26-4699-2EFB-CFA7C4727EA4}"/>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27" name="半闭框 26">
            <a:extLst>
              <a:ext uri="{FF2B5EF4-FFF2-40B4-BE49-F238E27FC236}">
                <a16:creationId xmlns:a16="http://schemas.microsoft.com/office/drawing/2014/main" id="{97BDE888-EAC2-80D7-0D4E-796945D5352B}"/>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半闭框 27">
            <a:extLst>
              <a:ext uri="{FF2B5EF4-FFF2-40B4-BE49-F238E27FC236}">
                <a16:creationId xmlns:a16="http://schemas.microsoft.com/office/drawing/2014/main" id="{0055DB26-C560-3902-B9BA-F645CF2411C5}"/>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半闭框 28">
            <a:extLst>
              <a:ext uri="{FF2B5EF4-FFF2-40B4-BE49-F238E27FC236}">
                <a16:creationId xmlns:a16="http://schemas.microsoft.com/office/drawing/2014/main" id="{D7B8D6A8-8D76-5763-25A4-104D0C8AC1BB}"/>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30" name="半闭框 29">
            <a:extLst>
              <a:ext uri="{FF2B5EF4-FFF2-40B4-BE49-F238E27FC236}">
                <a16:creationId xmlns:a16="http://schemas.microsoft.com/office/drawing/2014/main" id="{3EFB271F-F7B8-8281-7DE0-80B184F6C309}"/>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 Box 8">
            <a:extLst>
              <a:ext uri="{FF2B5EF4-FFF2-40B4-BE49-F238E27FC236}">
                <a16:creationId xmlns:a16="http://schemas.microsoft.com/office/drawing/2014/main" id="{7C01796C-A607-F3B7-604E-21214372EF66}"/>
              </a:ext>
            </a:extLst>
          </p:cNvPr>
          <p:cNvSpPr txBox="1">
            <a:spLocks noChangeArrowheads="1"/>
          </p:cNvSpPr>
          <p:nvPr/>
        </p:nvSpPr>
        <p:spPr bwMode="auto">
          <a:xfrm>
            <a:off x="2206427" y="2741835"/>
            <a:ext cx="751634"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易知</a:t>
            </a:r>
          </a:p>
        </p:txBody>
      </p:sp>
      <mc:AlternateContent xmlns:mc="http://schemas.openxmlformats.org/markup-compatibility/2006" xmlns:a14="http://schemas.microsoft.com/office/drawing/2010/main">
        <mc:Choice Requires="a14">
          <p:sp>
            <p:nvSpPr>
              <p:cNvPr id="3" name="Object 9">
                <a:extLst>
                  <a:ext uri="{FF2B5EF4-FFF2-40B4-BE49-F238E27FC236}">
                    <a16:creationId xmlns:a16="http://schemas.microsoft.com/office/drawing/2014/main" id="{63B26B3A-2B09-1583-96F3-9123B594C7F4}"/>
                  </a:ext>
                </a:extLst>
              </p:cNvPr>
              <p:cNvSpPr txBox="1"/>
              <p:nvPr/>
            </p:nvSpPr>
            <p:spPr bwMode="auto">
              <a:xfrm>
                <a:off x="2831268" y="2711562"/>
                <a:ext cx="2809034" cy="4826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3" name="Object 9">
                <a:extLst>
                  <a:ext uri="{FF2B5EF4-FFF2-40B4-BE49-F238E27FC236}">
                    <a16:creationId xmlns:a16="http://schemas.microsoft.com/office/drawing/2014/main" id="{63B26B3A-2B09-1583-96F3-9123B594C7F4}"/>
                  </a:ext>
                </a:extLst>
              </p:cNvPr>
              <p:cNvSpPr txBox="1">
                <a:spLocks noRot="1" noChangeAspect="1" noMove="1" noResize="1" noEditPoints="1" noAdjustHandles="1" noChangeArrowheads="1" noChangeShapeType="1" noTextEdit="1"/>
              </p:cNvSpPr>
              <p:nvPr/>
            </p:nvSpPr>
            <p:spPr bwMode="auto">
              <a:xfrm>
                <a:off x="2831268" y="2711562"/>
                <a:ext cx="2809034" cy="482600"/>
              </a:xfrm>
              <a:prstGeom prst="rect">
                <a:avLst/>
              </a:prstGeom>
              <a:blipFill>
                <a:blip r:embed="rId3"/>
                <a:stretch>
                  <a:fillRect l="-1302" b="-5063"/>
                </a:stretch>
              </a:blipFill>
              <a:ln>
                <a:noFill/>
              </a:ln>
              <a:effectLst/>
            </p:spPr>
            <p:txBody>
              <a:bodyPr/>
              <a:lstStyle/>
              <a:p>
                <a:r>
                  <a:rPr lang="zh-CN" altLang="en-US">
                    <a:noFill/>
                  </a:rPr>
                  <a:t> </a:t>
                </a:r>
              </a:p>
            </p:txBody>
          </p:sp>
        </mc:Fallback>
      </mc:AlternateContent>
      <p:sp>
        <p:nvSpPr>
          <p:cNvPr id="4" name="Text Box 10">
            <a:extLst>
              <a:ext uri="{FF2B5EF4-FFF2-40B4-BE49-F238E27FC236}">
                <a16:creationId xmlns:a16="http://schemas.microsoft.com/office/drawing/2014/main" id="{03813EF6-EE06-BD70-F241-1FC9C58EB237}"/>
              </a:ext>
            </a:extLst>
          </p:cNvPr>
          <p:cNvSpPr txBox="1">
            <a:spLocks noChangeArrowheads="1"/>
          </p:cNvSpPr>
          <p:nvPr/>
        </p:nvSpPr>
        <p:spPr bwMode="auto">
          <a:xfrm>
            <a:off x="2206427" y="3436118"/>
            <a:ext cx="7620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但</a:t>
            </a:r>
          </a:p>
        </p:txBody>
      </p:sp>
      <mc:AlternateContent xmlns:mc="http://schemas.openxmlformats.org/markup-compatibility/2006" xmlns:a14="http://schemas.microsoft.com/office/drawing/2010/main">
        <mc:Choice Requires="a14">
          <p:sp>
            <p:nvSpPr>
              <p:cNvPr id="5" name="Object 11">
                <a:extLst>
                  <a:ext uri="{FF2B5EF4-FFF2-40B4-BE49-F238E27FC236}">
                    <a16:creationId xmlns:a16="http://schemas.microsoft.com/office/drawing/2014/main" id="{9F79F04F-318F-DAEE-3FD0-59DB8CA139A8}"/>
                  </a:ext>
                </a:extLst>
              </p:cNvPr>
              <p:cNvSpPr txBox="1"/>
              <p:nvPr/>
            </p:nvSpPr>
            <p:spPr bwMode="auto">
              <a:xfrm>
                <a:off x="2554511" y="3413459"/>
                <a:ext cx="3701733" cy="4826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5" name="Object 11">
                <a:extLst>
                  <a:ext uri="{FF2B5EF4-FFF2-40B4-BE49-F238E27FC236}">
                    <a16:creationId xmlns:a16="http://schemas.microsoft.com/office/drawing/2014/main" id="{9F79F04F-318F-DAEE-3FD0-59DB8CA139A8}"/>
                  </a:ext>
                </a:extLst>
              </p:cNvPr>
              <p:cNvSpPr txBox="1">
                <a:spLocks noRot="1" noChangeAspect="1" noMove="1" noResize="1" noEditPoints="1" noAdjustHandles="1" noChangeArrowheads="1" noChangeShapeType="1" noTextEdit="1"/>
              </p:cNvSpPr>
              <p:nvPr/>
            </p:nvSpPr>
            <p:spPr bwMode="auto">
              <a:xfrm>
                <a:off x="2554511" y="3413459"/>
                <a:ext cx="3701733" cy="482600"/>
              </a:xfrm>
              <a:prstGeom prst="rect">
                <a:avLst/>
              </a:prstGeom>
              <a:blipFill>
                <a:blip r:embed="rId4"/>
                <a:stretch>
                  <a:fillRect l="-165" r="-494" b="-5063"/>
                </a:stretch>
              </a:blipFill>
              <a:ln>
                <a:noFill/>
              </a:ln>
              <a:effectLst/>
            </p:spPr>
            <p:txBody>
              <a:bodyPr/>
              <a:lstStyle/>
              <a:p>
                <a:r>
                  <a:rPr lang="zh-CN" altLang="en-US">
                    <a:noFill/>
                  </a:rPr>
                  <a:t> </a:t>
                </a:r>
              </a:p>
            </p:txBody>
          </p:sp>
        </mc:Fallback>
      </mc:AlternateContent>
      <p:sp>
        <p:nvSpPr>
          <p:cNvPr id="6" name="Text Box 12">
            <a:extLst>
              <a:ext uri="{FF2B5EF4-FFF2-40B4-BE49-F238E27FC236}">
                <a16:creationId xmlns:a16="http://schemas.microsoft.com/office/drawing/2014/main" id="{AA2DEA50-1979-EF72-F961-C748C754A1A0}"/>
              </a:ext>
            </a:extLst>
          </p:cNvPr>
          <p:cNvSpPr txBox="1">
            <a:spLocks noChangeArrowheads="1"/>
          </p:cNvSpPr>
          <p:nvPr/>
        </p:nvSpPr>
        <p:spPr bwMode="auto">
          <a:xfrm>
            <a:off x="7491269" y="5419223"/>
            <a:ext cx="3213806" cy="430887"/>
          </a:xfrm>
          <a:prstGeom prst="rect">
            <a:avLst/>
          </a:prstGeom>
          <a:solidFill>
            <a:srgbClr val="04926A">
              <a:alpha val="20000"/>
            </a:srgbClr>
          </a:solidFill>
          <a:ln>
            <a:noFill/>
          </a:ln>
        </p:spPr>
        <p:txBody>
          <a:bodyPr wrap="square">
            <a:spAutoFit/>
          </a:bodyPr>
          <a:lstStyle/>
          <a:p>
            <a:pPr marR="0" lvl="0" indent="0" fontAlgn="base">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即函数在点 </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(0,0) </a:t>
            </a:r>
            <a:r>
              <a:rPr kumimoji="1" lang="zh-CN" altLang="en-US" sz="2200" b="1" dirty="0">
                <a:solidFill>
                  <a:srgbClr val="04926A"/>
                </a:solidFill>
                <a:latin typeface="Cambria Math" panose="02040503050406030204" charset="0"/>
                <a:ea typeface="黑体" panose="02010609060101010101" pitchFamily="49" charset="-122"/>
                <a:sym typeface="+mn-lt"/>
              </a:rPr>
              <a:t>不可微</a:t>
            </a: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 </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a:t>
            </a:r>
          </a:p>
        </p:txBody>
      </p:sp>
      <mc:AlternateContent xmlns:mc="http://schemas.openxmlformats.org/markup-compatibility/2006" xmlns:a14="http://schemas.microsoft.com/office/drawing/2010/main">
        <mc:Choice Requires="a14">
          <p:sp>
            <p:nvSpPr>
              <p:cNvPr id="7" name="Object 15">
                <a:extLst>
                  <a:ext uri="{FF2B5EF4-FFF2-40B4-BE49-F238E27FC236}">
                    <a16:creationId xmlns:a16="http://schemas.microsoft.com/office/drawing/2014/main" id="{8A791D35-AC3E-B5AB-56CF-4DD1312AAC9A}"/>
                  </a:ext>
                </a:extLst>
              </p:cNvPr>
              <p:cNvSpPr txBox="1"/>
              <p:nvPr/>
            </p:nvSpPr>
            <p:spPr bwMode="auto">
              <a:xfrm>
                <a:off x="2201348" y="4067272"/>
                <a:ext cx="6410908" cy="123623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rad>
                                </m:den>
                              </m:f>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不存在</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Object 15">
                <a:extLst>
                  <a:ext uri="{FF2B5EF4-FFF2-40B4-BE49-F238E27FC236}">
                    <a16:creationId xmlns:a16="http://schemas.microsoft.com/office/drawing/2014/main" id="{8A791D35-AC3E-B5AB-56CF-4DD1312AAC9A}"/>
                  </a:ext>
                </a:extLst>
              </p:cNvPr>
              <p:cNvSpPr txBox="1">
                <a:spLocks noRot="1" noChangeAspect="1" noMove="1" noResize="1" noEditPoints="1" noAdjustHandles="1" noChangeArrowheads="1" noChangeShapeType="1" noTextEdit="1"/>
              </p:cNvSpPr>
              <p:nvPr/>
            </p:nvSpPr>
            <p:spPr bwMode="auto">
              <a:xfrm>
                <a:off x="2201348" y="4067272"/>
                <a:ext cx="6410908" cy="1236236"/>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18">
                <a:extLst>
                  <a:ext uri="{FF2B5EF4-FFF2-40B4-BE49-F238E27FC236}">
                    <a16:creationId xmlns:a16="http://schemas.microsoft.com/office/drawing/2014/main" id="{972CC2CC-1D58-063F-12C6-E54D5FCA2ED1}"/>
                  </a:ext>
                </a:extLst>
              </p:cNvPr>
              <p:cNvSpPr txBox="1"/>
              <p:nvPr/>
            </p:nvSpPr>
            <p:spPr bwMode="auto">
              <a:xfrm>
                <a:off x="6101312" y="3242246"/>
                <a:ext cx="2455538" cy="89107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rad>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8" name="Object 18">
                <a:extLst>
                  <a:ext uri="{FF2B5EF4-FFF2-40B4-BE49-F238E27FC236}">
                    <a16:creationId xmlns:a16="http://schemas.microsoft.com/office/drawing/2014/main" id="{972CC2CC-1D58-063F-12C6-E54D5FCA2ED1}"/>
                  </a:ext>
                </a:extLst>
              </p:cNvPr>
              <p:cNvSpPr txBox="1">
                <a:spLocks noRot="1" noChangeAspect="1" noMove="1" noResize="1" noEditPoints="1" noAdjustHandles="1" noChangeArrowheads="1" noChangeShapeType="1" noTextEdit="1"/>
              </p:cNvSpPr>
              <p:nvPr/>
            </p:nvSpPr>
            <p:spPr bwMode="auto">
              <a:xfrm>
                <a:off x="6101312" y="3242246"/>
                <a:ext cx="2455538" cy="891073"/>
              </a:xfrm>
              <a:prstGeom prst="rect">
                <a:avLst/>
              </a:prstGeom>
              <a:blipFill>
                <a:blip r:embed="rId6"/>
                <a:stretch>
                  <a:fillRect/>
                </a:stretch>
              </a:blipFill>
              <a:ln>
                <a:noFill/>
              </a:ln>
              <a:effectLst/>
            </p:spPr>
            <p:txBody>
              <a:bodyPr/>
              <a:lstStyle/>
              <a:p>
                <a:r>
                  <a:rPr lang="zh-CN" altLang="en-US">
                    <a:noFill/>
                  </a:rPr>
                  <a:t> </a:t>
                </a:r>
              </a:p>
            </p:txBody>
          </p:sp>
        </mc:Fallback>
      </mc:AlternateContent>
      <p:sp>
        <p:nvSpPr>
          <p:cNvPr id="9" name="Text Box 221">
            <a:extLst>
              <a:ext uri="{FF2B5EF4-FFF2-40B4-BE49-F238E27FC236}">
                <a16:creationId xmlns:a16="http://schemas.microsoft.com/office/drawing/2014/main" id="{D2E88AF1-6E88-0C21-411A-B9D4259A5CF1}"/>
              </a:ext>
            </a:extLst>
          </p:cNvPr>
          <p:cNvSpPr txBox="1">
            <a:spLocks noChangeArrowheads="1"/>
          </p:cNvSpPr>
          <p:nvPr/>
        </p:nvSpPr>
        <p:spPr bwMode="auto">
          <a:xfrm>
            <a:off x="1423349" y="2689972"/>
            <a:ext cx="991462"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defRPr/>
            </a:pPr>
            <a:r>
              <a:rPr kumimoji="1" lang="zh-CN" altLang="en-US" sz="2800" b="1" kern="0" dirty="0">
                <a:solidFill>
                  <a:srgbClr val="04926A"/>
                </a:solidFill>
                <a:latin typeface="微软雅黑" panose="020B0503020204020204" charset="-122"/>
                <a:ea typeface="微软雅黑" panose="020B0503020204020204" charset="-122"/>
                <a:cs typeface="微软雅黑" panose="020B0503020204020204" charset="-122"/>
              </a:rPr>
              <a:t>证明</a:t>
            </a:r>
          </a:p>
        </p:txBody>
      </p:sp>
      <mc:AlternateContent xmlns:mc="http://schemas.openxmlformats.org/markup-compatibility/2006" xmlns:a14="http://schemas.microsoft.com/office/drawing/2010/main">
        <mc:Choice Requires="a14">
          <p:sp>
            <p:nvSpPr>
              <p:cNvPr id="10" name="对象 9">
                <a:extLst>
                  <a:ext uri="{FF2B5EF4-FFF2-40B4-BE49-F238E27FC236}">
                    <a16:creationId xmlns:a16="http://schemas.microsoft.com/office/drawing/2014/main" id="{939F40C9-A41B-D247-0605-F1DCB6D9BCBC}"/>
                  </a:ext>
                </a:extLst>
              </p:cNvPr>
              <p:cNvSpPr txBox="1"/>
              <p:nvPr/>
            </p:nvSpPr>
            <p:spPr>
              <a:xfrm>
                <a:off x="2201348" y="5402111"/>
                <a:ext cx="5376672" cy="4826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0" name="对象 9">
                <a:extLst>
                  <a:ext uri="{FF2B5EF4-FFF2-40B4-BE49-F238E27FC236}">
                    <a16:creationId xmlns:a16="http://schemas.microsoft.com/office/drawing/2014/main" id="{939F40C9-A41B-D247-0605-F1DCB6D9BCBC}"/>
                  </a:ext>
                </a:extLst>
              </p:cNvPr>
              <p:cNvSpPr txBox="1">
                <a:spLocks noRot="1" noChangeAspect="1" noMove="1" noResize="1" noEditPoints="1" noAdjustHandles="1" noChangeArrowheads="1" noChangeShapeType="1" noTextEdit="1"/>
              </p:cNvSpPr>
              <p:nvPr/>
            </p:nvSpPr>
            <p:spPr>
              <a:xfrm>
                <a:off x="2201348" y="5402111"/>
                <a:ext cx="5376672" cy="482600"/>
              </a:xfrm>
              <a:prstGeom prst="rect">
                <a:avLst/>
              </a:prstGeom>
              <a:blipFill>
                <a:blip r:embed="rId7"/>
                <a:stretch>
                  <a:fillRect b="-6329"/>
                </a:stretch>
              </a:blipFill>
            </p:spPr>
            <p:txBody>
              <a:bodyPr/>
              <a:lstStyle/>
              <a:p>
                <a:r>
                  <a:rPr lang="zh-CN" altLang="en-US">
                    <a:noFill/>
                  </a:rPr>
                  <a:t> </a:t>
                </a:r>
              </a:p>
            </p:txBody>
          </p:sp>
        </mc:Fallback>
      </mc:AlternateContent>
      <p:sp>
        <p:nvSpPr>
          <p:cNvPr id="11" name="Text Box 12">
            <a:extLst>
              <a:ext uri="{FF2B5EF4-FFF2-40B4-BE49-F238E27FC236}">
                <a16:creationId xmlns:a16="http://schemas.microsoft.com/office/drawing/2014/main" id="{2A890031-BE21-5A58-BCF5-3AD147A791E2}"/>
              </a:ext>
            </a:extLst>
          </p:cNvPr>
          <p:cNvSpPr txBox="1">
            <a:spLocks noChangeArrowheads="1"/>
          </p:cNvSpPr>
          <p:nvPr/>
        </p:nvSpPr>
        <p:spPr bwMode="auto">
          <a:xfrm>
            <a:off x="5621507" y="2728108"/>
            <a:ext cx="3697725" cy="430887"/>
          </a:xfrm>
          <a:prstGeom prst="rect">
            <a:avLst/>
          </a:prstGeom>
          <a:solidFill>
            <a:srgbClr val="04926A">
              <a:alpha val="20000"/>
            </a:srgbClr>
          </a:solidFill>
          <a:ln>
            <a:noFill/>
          </a:ln>
        </p:spPr>
        <p:txBody>
          <a:bodyPr wrap="square">
            <a:spAutoFit/>
          </a:bodyPr>
          <a:lstStyle/>
          <a:p>
            <a:pPr marR="0" lvl="0" indent="0" fontAlgn="base">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即在点 </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(0,0)</a:t>
            </a: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两个</a:t>
            </a:r>
            <a:r>
              <a:rPr kumimoji="1" lang="zh-CN" altLang="en-US" sz="2200" b="1" dirty="0">
                <a:solidFill>
                  <a:srgbClr val="04926A"/>
                </a:solidFill>
                <a:latin typeface="Cambria Math" panose="02040503050406030204" charset="0"/>
                <a:ea typeface="黑体" panose="02010609060101010101" pitchFamily="49" charset="-122"/>
                <a:sym typeface="+mn-lt"/>
              </a:rPr>
              <a:t>偏导数存在</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a:t>
            </a:r>
          </a:p>
        </p:txBody>
      </p:sp>
      <p:sp>
        <p:nvSpPr>
          <p:cNvPr id="12" name="Line 33">
            <a:extLst>
              <a:ext uri="{FF2B5EF4-FFF2-40B4-BE49-F238E27FC236}">
                <a16:creationId xmlns:a16="http://schemas.microsoft.com/office/drawing/2014/main" id="{8752C13C-8059-2729-14EA-323C233015B7}"/>
              </a:ext>
            </a:extLst>
          </p:cNvPr>
          <p:cNvSpPr>
            <a:spLocks noChangeShapeType="1"/>
          </p:cNvSpPr>
          <p:nvPr/>
        </p:nvSpPr>
        <p:spPr bwMode="auto">
          <a:xfrm flipV="1">
            <a:off x="1550425" y="2356389"/>
            <a:ext cx="9091150" cy="35425"/>
          </a:xfrm>
          <a:prstGeom prst="line">
            <a:avLst/>
          </a:prstGeom>
          <a:noFill/>
          <a:ln w="19050">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13" name="对象 12">
                <a:extLst>
                  <a:ext uri="{FF2B5EF4-FFF2-40B4-BE49-F238E27FC236}">
                    <a16:creationId xmlns:a16="http://schemas.microsoft.com/office/drawing/2014/main" id="{A8689414-6175-87B0-1E1F-46BC2B0B22DC}"/>
                  </a:ext>
                </a:extLst>
              </p:cNvPr>
              <p:cNvSpPr txBox="1"/>
              <p:nvPr/>
            </p:nvSpPr>
            <p:spPr>
              <a:xfrm>
                <a:off x="3539301" y="858618"/>
                <a:ext cx="4656199" cy="1314709"/>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eqArr>
                            <m:eqArr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rad>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&amp;0,  </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eqArr>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3" name="对象 12">
                <a:extLst>
                  <a:ext uri="{FF2B5EF4-FFF2-40B4-BE49-F238E27FC236}">
                    <a16:creationId xmlns:a16="http://schemas.microsoft.com/office/drawing/2014/main" id="{A8689414-6175-87B0-1E1F-46BC2B0B22DC}"/>
                  </a:ext>
                </a:extLst>
              </p:cNvPr>
              <p:cNvSpPr txBox="1">
                <a:spLocks noRot="1" noChangeAspect="1" noMove="1" noResize="1" noEditPoints="1" noAdjustHandles="1" noChangeArrowheads="1" noChangeShapeType="1" noTextEdit="1"/>
              </p:cNvSpPr>
              <p:nvPr/>
            </p:nvSpPr>
            <p:spPr>
              <a:xfrm>
                <a:off x="3539301" y="858618"/>
                <a:ext cx="4656199" cy="1314709"/>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62147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left)">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animBg="1"/>
      <p:bldP spid="7" grpId="0"/>
      <p:bldP spid="8" grpId="0"/>
      <p:bldP spid="9" grpId="0"/>
      <p:bldP spid="10" grpId="0"/>
      <p:bldP spid="11" grpId="0" animBg="1"/>
      <p:bldP spid="12" grpId="0" animBg="1"/>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7F8DD0A1-510F-6692-2043-6E8EDEC144E2}"/>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14" name="矩形 13">
                <a:extLst>
                  <a:ext uri="{FF2B5EF4-FFF2-40B4-BE49-F238E27FC236}">
                    <a16:creationId xmlns:a16="http://schemas.microsoft.com/office/drawing/2014/main" id="{7F8DD0A1-510F-6692-2043-6E8EDEC144E2}"/>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15" name="半闭框 14">
            <a:extLst>
              <a:ext uri="{FF2B5EF4-FFF2-40B4-BE49-F238E27FC236}">
                <a16:creationId xmlns:a16="http://schemas.microsoft.com/office/drawing/2014/main" id="{7BC3C818-FF32-8236-E09B-C958E99D9C85}"/>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半闭框 15">
            <a:extLst>
              <a:ext uri="{FF2B5EF4-FFF2-40B4-BE49-F238E27FC236}">
                <a16:creationId xmlns:a16="http://schemas.microsoft.com/office/drawing/2014/main" id="{294D5213-15D8-CF40-F1C0-C2A1824529B5}"/>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tx1"/>
              </a:solidFill>
            </a:endParaRPr>
          </a:p>
        </p:txBody>
      </p:sp>
      <p:sp>
        <p:nvSpPr>
          <p:cNvPr id="17" name="半闭框 16">
            <a:extLst>
              <a:ext uri="{FF2B5EF4-FFF2-40B4-BE49-F238E27FC236}">
                <a16:creationId xmlns:a16="http://schemas.microsoft.com/office/drawing/2014/main" id="{14D9D37A-9F2B-F5C7-0686-7210FF8310AB}"/>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8" name="半闭框 17">
            <a:extLst>
              <a:ext uri="{FF2B5EF4-FFF2-40B4-BE49-F238E27FC236}">
                <a16:creationId xmlns:a16="http://schemas.microsoft.com/office/drawing/2014/main" id="{75CA4845-DACE-F506-889F-5922B564FE46}"/>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tx1"/>
              </a:solidFill>
            </a:endParaRPr>
          </a:p>
        </p:txBody>
      </p:sp>
      <mc:AlternateContent xmlns:mc="http://schemas.openxmlformats.org/markup-compatibility/2006" xmlns:a14="http://schemas.microsoft.com/office/drawing/2010/main">
        <mc:Choice Requires="a14">
          <p:sp>
            <p:nvSpPr>
              <p:cNvPr id="2" name="Text Box 277">
                <a:extLst>
                  <a:ext uri="{FF2B5EF4-FFF2-40B4-BE49-F238E27FC236}">
                    <a16:creationId xmlns:a16="http://schemas.microsoft.com/office/drawing/2014/main" id="{829230B0-9288-700D-2A2C-16044A73972E}"/>
                  </a:ext>
                </a:extLst>
              </p:cNvPr>
              <p:cNvSpPr txBox="1">
                <a:spLocks noChangeArrowheads="1"/>
              </p:cNvSpPr>
              <p:nvPr/>
            </p:nvSpPr>
            <p:spPr bwMode="auto">
              <a:xfrm>
                <a:off x="1951867" y="4480536"/>
                <a:ext cx="6260856" cy="51911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b="0" dirty="0">
                    <a:solidFill>
                      <a:schemeClr val="tx1">
                        <a:lumMod val="95000"/>
                        <a:lumOff val="5000"/>
                      </a:schemeClr>
                    </a:solidFill>
                    <a:latin typeface="Cambria Math" panose="02040503050406030204" charset="0"/>
                  </a:rPr>
                  <a:t>在</a:t>
                </a:r>
                <a:r>
                  <a:rPr kumimoji="1" lang="en-US" altLang="zh-CN" b="0" dirty="0">
                    <a:solidFill>
                      <a:schemeClr val="tx1">
                        <a:lumMod val="95000"/>
                        <a:lumOff val="5000"/>
                      </a:schemeClr>
                    </a:solidFill>
                    <a:latin typeface="Cambria Math" panose="02040503050406030204" charset="0"/>
                  </a:rPr>
                  <a:t>(0 , 0)</a:t>
                </a:r>
                <a:r>
                  <a:rPr kumimoji="1" lang="zh-CN" altLang="en-US" b="0" dirty="0">
                    <a:solidFill>
                      <a:schemeClr val="tx1">
                        <a:lumMod val="95000"/>
                        <a:lumOff val="5000"/>
                      </a:schemeClr>
                    </a:solidFill>
                    <a:latin typeface="Cambria Math" panose="02040503050406030204" charset="0"/>
                  </a:rPr>
                  <a:t>处可微</a:t>
                </a:r>
                <a14:m>
                  <m:oMath xmlns:m="http://schemas.openxmlformats.org/officeDocument/2006/math">
                    <m:r>
                      <a:rPr kumimoji="1" lang="zh-CN" altLang="en-US" b="0">
                        <a:solidFill>
                          <a:schemeClr val="tx1">
                            <a:lumMod val="95000"/>
                            <a:lumOff val="5000"/>
                          </a:schemeClr>
                        </a:solidFill>
                        <a:latin typeface="Cambria Math" panose="02040503050406030204" charset="0"/>
                      </a:rPr>
                      <m:t>,</m:t>
                    </m:r>
                  </m:oMath>
                </a14:m>
                <a:r>
                  <a:rPr kumimoji="1" lang="zh-CN" altLang="en-US" b="0" dirty="0">
                    <a:solidFill>
                      <a:schemeClr val="tx1">
                        <a:lumMod val="95000"/>
                        <a:lumOff val="5000"/>
                      </a:schemeClr>
                    </a:solidFill>
                    <a:latin typeface="Cambria Math" panose="02040503050406030204" charset="0"/>
                  </a:rPr>
                  <a:t>但两个偏导数都不连续</a:t>
                </a:r>
                <a:r>
                  <a:rPr kumimoji="1" lang="en-US" altLang="zh-CN" b="0" dirty="0">
                    <a:solidFill>
                      <a:schemeClr val="tx1">
                        <a:lumMod val="95000"/>
                        <a:lumOff val="5000"/>
                      </a:schemeClr>
                    </a:solidFill>
                    <a:latin typeface="Cambria Math" panose="02040503050406030204" charset="0"/>
                  </a:rPr>
                  <a:t>.</a:t>
                </a:r>
              </a:p>
            </p:txBody>
          </p:sp>
        </mc:Choice>
        <mc:Fallback xmlns="">
          <p:sp>
            <p:nvSpPr>
              <p:cNvPr id="2" name="Text Box 277">
                <a:extLst>
                  <a:ext uri="{FF2B5EF4-FFF2-40B4-BE49-F238E27FC236}">
                    <a16:creationId xmlns:a16="http://schemas.microsoft.com/office/drawing/2014/main" id="{829230B0-9288-700D-2A2C-16044A73972E}"/>
                  </a:ext>
                </a:extLst>
              </p:cNvPr>
              <p:cNvSpPr txBox="1">
                <a:spLocks noRot="1" noChangeAspect="1" noMove="1" noResize="1" noEditPoints="1" noAdjustHandles="1" noChangeArrowheads="1" noChangeShapeType="1" noTextEdit="1"/>
              </p:cNvSpPr>
              <p:nvPr/>
            </p:nvSpPr>
            <p:spPr bwMode="auto">
              <a:xfrm>
                <a:off x="1951867" y="4480536"/>
                <a:ext cx="6260856" cy="519113"/>
              </a:xfrm>
              <a:prstGeom prst="rect">
                <a:avLst/>
              </a:prstGeom>
              <a:blipFill>
                <a:blip r:embed="rId3"/>
                <a:stretch>
                  <a:fillRect l="-1947" t="-16471" r="-974" b="-329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A5586B28-94D7-1622-C49B-283796057260}"/>
                  </a:ext>
                </a:extLst>
              </p:cNvPr>
              <p:cNvSpPr txBox="1"/>
              <p:nvPr/>
            </p:nvSpPr>
            <p:spPr>
              <a:xfrm>
                <a:off x="2789237" y="2525712"/>
                <a:ext cx="7553325" cy="1751013"/>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1"/>
                                    <m:mcJc m:val="center"/>
                                  </m:mcPr>
                                </m:mc>
                              </m:mcs>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mPr>
                            <m:mr>
                              <m:e>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800">
                                    <a:solidFill>
                                      <a:schemeClr val="tx1">
                                        <a:lumMod val="95000"/>
                                        <a:lumOff val="5000"/>
                                      </a:schemeClr>
                                    </a:solidFill>
                                    <a:latin typeface="Cambria Math" panose="02040503050406030204" charset="0"/>
                                    <a:ea typeface="黑体" panose="02010609060101010101" pitchFamily="49" charset="-122"/>
                                  </a:rPr>
                                  <m:t>0,             </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=0 </m:t>
                                </m:r>
                              </m:e>
                            </m:mr>
                          </m:m>
                        </m:e>
                      </m: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3" name="对象 2">
                <a:extLst>
                  <a:ext uri="{FF2B5EF4-FFF2-40B4-BE49-F238E27FC236}">
                    <a16:creationId xmlns:a16="http://schemas.microsoft.com/office/drawing/2014/main" id="{A5586B28-94D7-1622-C49B-283796057260}"/>
                  </a:ext>
                </a:extLst>
              </p:cNvPr>
              <p:cNvSpPr txBox="1">
                <a:spLocks noRot="1" noChangeAspect="1" noMove="1" noResize="1" noEditPoints="1" noAdjustHandles="1" noChangeArrowheads="1" noChangeShapeType="1" noTextEdit="1"/>
              </p:cNvSpPr>
              <p:nvPr/>
            </p:nvSpPr>
            <p:spPr>
              <a:xfrm>
                <a:off x="2789237" y="2525712"/>
                <a:ext cx="7553325" cy="175101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7">
                <a:extLst>
                  <a:ext uri="{FF2B5EF4-FFF2-40B4-BE49-F238E27FC236}">
                    <a16:creationId xmlns:a16="http://schemas.microsoft.com/office/drawing/2014/main" id="{2A1CF2BA-6068-D76F-2AAA-968EE246ACC9}"/>
                  </a:ext>
                </a:extLst>
              </p:cNvPr>
              <p:cNvSpPr txBox="1"/>
              <p:nvPr/>
            </p:nvSpPr>
            <p:spPr bwMode="auto">
              <a:xfrm>
                <a:off x="1951867" y="3132138"/>
                <a:ext cx="837370" cy="5191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函数</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5" name="Object 7">
                <a:extLst>
                  <a:ext uri="{FF2B5EF4-FFF2-40B4-BE49-F238E27FC236}">
                    <a16:creationId xmlns:a16="http://schemas.microsoft.com/office/drawing/2014/main" id="{2A1CF2BA-6068-D76F-2AAA-968EE246ACC9}"/>
                  </a:ext>
                </a:extLst>
              </p:cNvPr>
              <p:cNvSpPr txBox="1">
                <a:spLocks noRot="1" noChangeAspect="1" noMove="1" noResize="1" noEditPoints="1" noAdjustHandles="1" noChangeArrowheads="1" noChangeShapeType="1" noTextEdit="1"/>
              </p:cNvSpPr>
              <p:nvPr/>
            </p:nvSpPr>
            <p:spPr bwMode="auto">
              <a:xfrm>
                <a:off x="1951867" y="3132138"/>
                <a:ext cx="837370" cy="519112"/>
              </a:xfrm>
              <a:prstGeom prst="rect">
                <a:avLst/>
              </a:prstGeom>
              <a:blipFill>
                <a:blip r:embed="rId5"/>
                <a:stretch>
                  <a:fillRect/>
                </a:stretch>
              </a:blipFill>
              <a:ln>
                <a:noFill/>
              </a:ln>
              <a:effectLst/>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84735632-53E0-CD44-E23D-BC20F57B12DE}"/>
              </a:ext>
            </a:extLst>
          </p:cNvPr>
          <p:cNvGrpSpPr/>
          <p:nvPr/>
        </p:nvGrpSpPr>
        <p:grpSpPr>
          <a:xfrm>
            <a:off x="2082360" y="1915675"/>
            <a:ext cx="1107440" cy="448945"/>
            <a:chOff x="1553" y="3803"/>
            <a:chExt cx="1744" cy="707"/>
          </a:xfrm>
        </p:grpSpPr>
        <p:sp>
          <p:nvSpPr>
            <p:cNvPr id="11" name="圆角矩形 3">
              <a:extLst>
                <a:ext uri="{FF2B5EF4-FFF2-40B4-BE49-F238E27FC236}">
                  <a16:creationId xmlns:a16="http://schemas.microsoft.com/office/drawing/2014/main" id="{9A984F0A-1F08-93E2-1E2B-70AB16992705}"/>
                </a:ext>
              </a:extLst>
            </p:cNvPr>
            <p:cNvSpPr/>
            <p:nvPr/>
          </p:nvSpPr>
          <p:spPr>
            <a:xfrm>
              <a:off x="1553" y="3803"/>
              <a:ext cx="1684"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charset="-122"/>
                <a:ea typeface="微软雅黑" panose="020B0503020204020204" charset="-122"/>
              </a:endParaRPr>
            </a:p>
          </p:txBody>
        </p:sp>
        <p:sp>
          <p:nvSpPr>
            <p:cNvPr id="12" name="Text Box 28">
              <a:extLst>
                <a:ext uri="{FF2B5EF4-FFF2-40B4-BE49-F238E27FC236}">
                  <a16:creationId xmlns:a16="http://schemas.microsoft.com/office/drawing/2014/main" id="{D4E8C071-A04D-FDA1-EE0D-153300F1788C}"/>
                </a:ext>
              </a:extLst>
            </p:cNvPr>
            <p:cNvSpPr txBox="1">
              <a:spLocks noChangeArrowheads="1"/>
            </p:cNvSpPr>
            <p:nvPr/>
          </p:nvSpPr>
          <p:spPr bwMode="auto">
            <a:xfrm>
              <a:off x="1672" y="3810"/>
              <a:ext cx="1625"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b="1" kern="0" dirty="0">
                  <a:solidFill>
                    <a:schemeClr val="bg1"/>
                  </a:solidFill>
                  <a:latin typeface="微软雅黑" panose="020B0503020204020204" charset="-122"/>
                  <a:ea typeface="微软雅黑" panose="020B0503020204020204" charset="-122"/>
                  <a:cs typeface="微软雅黑" panose="020B0503020204020204" charset="-122"/>
                  <a:sym typeface="+mn-lt"/>
                </a:rPr>
                <a:t>反例</a:t>
              </a:r>
              <a:r>
                <a:rPr kumimoji="1" lang="en-US" altLang="zh-CN" b="1" kern="0" dirty="0">
                  <a:solidFill>
                    <a:schemeClr val="bg1"/>
                  </a:solidFill>
                  <a:latin typeface="微软雅黑" panose="020B0503020204020204" charset="-122"/>
                  <a:ea typeface="微软雅黑" panose="020B0503020204020204" charset="-122"/>
                  <a:cs typeface="微软雅黑" panose="020B0503020204020204" charset="-122"/>
                  <a:sym typeface="+mn-lt"/>
                </a:rPr>
                <a:t>2</a:t>
              </a:r>
              <a:endParaRPr kumimoji="1" lang="zh-CN" altLang="en-US" b="1"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grpSp>
    </p:spTree>
    <p:extLst>
      <p:ext uri="{BB962C8B-B14F-4D97-AF65-F5344CB8AC3E}">
        <p14:creationId xmlns:p14="http://schemas.microsoft.com/office/powerpoint/2010/main" val="43003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3A87D92B-04C1-D76C-2F29-B8E06E6D83AA}"/>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18" name="矩形 17">
                <a:extLst>
                  <a:ext uri="{FF2B5EF4-FFF2-40B4-BE49-F238E27FC236}">
                    <a16:creationId xmlns:a16="http://schemas.microsoft.com/office/drawing/2014/main" id="{3A87D92B-04C1-D76C-2F29-B8E06E6D83AA}"/>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19" name="半闭框 18">
            <a:extLst>
              <a:ext uri="{FF2B5EF4-FFF2-40B4-BE49-F238E27FC236}">
                <a16:creationId xmlns:a16="http://schemas.microsoft.com/office/drawing/2014/main" id="{7584DD9E-FE92-DC06-8E00-70146D01D084}"/>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半闭框 19">
            <a:extLst>
              <a:ext uri="{FF2B5EF4-FFF2-40B4-BE49-F238E27FC236}">
                <a16:creationId xmlns:a16="http://schemas.microsoft.com/office/drawing/2014/main" id="{4412C72E-62F2-AA72-02B8-4FAC13A4CA3E}"/>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半闭框 20">
            <a:extLst>
              <a:ext uri="{FF2B5EF4-FFF2-40B4-BE49-F238E27FC236}">
                <a16:creationId xmlns:a16="http://schemas.microsoft.com/office/drawing/2014/main" id="{3ABC03F8-2AE5-C319-6D2D-5F76F71166D8}"/>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2" name="半闭框 21">
            <a:extLst>
              <a:ext uri="{FF2B5EF4-FFF2-40B4-BE49-F238E27FC236}">
                <a16:creationId xmlns:a16="http://schemas.microsoft.com/office/drawing/2014/main" id="{A7BF5C20-6BF5-E35A-B16C-8535946D101E}"/>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 Box 221">
            <a:extLst>
              <a:ext uri="{FF2B5EF4-FFF2-40B4-BE49-F238E27FC236}">
                <a16:creationId xmlns:a16="http://schemas.microsoft.com/office/drawing/2014/main" id="{D395137E-D3A3-0E23-D83E-80145C30691A}"/>
              </a:ext>
            </a:extLst>
          </p:cNvPr>
          <p:cNvSpPr txBox="1">
            <a:spLocks noChangeArrowheads="1"/>
          </p:cNvSpPr>
          <p:nvPr/>
        </p:nvSpPr>
        <p:spPr bwMode="auto">
          <a:xfrm>
            <a:off x="2378564" y="3236936"/>
            <a:ext cx="945661"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defRPr/>
            </a:pPr>
            <a:r>
              <a:rPr kumimoji="1" lang="zh-CN" altLang="en-US" sz="2800" b="1" kern="0" dirty="0">
                <a:solidFill>
                  <a:srgbClr val="04926A"/>
                </a:solidFill>
                <a:latin typeface="微软雅黑" panose="020B0503020204020204" charset="-122"/>
                <a:ea typeface="微软雅黑" panose="020B0503020204020204" charset="-122"/>
              </a:rPr>
              <a:t>证</a:t>
            </a:r>
          </a:p>
        </p:txBody>
      </p:sp>
      <p:sp>
        <p:nvSpPr>
          <p:cNvPr id="3" name="Text Box 271">
            <a:extLst>
              <a:ext uri="{FF2B5EF4-FFF2-40B4-BE49-F238E27FC236}">
                <a16:creationId xmlns:a16="http://schemas.microsoft.com/office/drawing/2014/main" id="{92E11B76-06BA-014C-8C62-4CC305CB535C}"/>
              </a:ext>
            </a:extLst>
          </p:cNvPr>
          <p:cNvSpPr txBox="1">
            <a:spLocks noChangeArrowheads="1"/>
          </p:cNvSpPr>
          <p:nvPr/>
        </p:nvSpPr>
        <p:spPr bwMode="auto">
          <a:xfrm>
            <a:off x="3437136" y="4952891"/>
            <a:ext cx="19446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同理可得</a:t>
            </a:r>
          </a:p>
        </p:txBody>
      </p:sp>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9C6CFA3C-2485-8215-F89F-994D82C6F01B}"/>
                  </a:ext>
                </a:extLst>
              </p:cNvPr>
              <p:cNvSpPr txBox="1"/>
              <p:nvPr/>
            </p:nvSpPr>
            <p:spPr>
              <a:xfrm>
                <a:off x="2988326" y="1242109"/>
                <a:ext cx="5949156" cy="1335179"/>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1"/>
                                    <m:mcJc m:val="center"/>
                                  </m:mcPr>
                                </m:mc>
                              </m:mcs>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0, </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9C6CFA3C-2485-8215-F89F-994D82C6F01B}"/>
                  </a:ext>
                </a:extLst>
              </p:cNvPr>
              <p:cNvSpPr txBox="1">
                <a:spLocks noRot="1" noChangeAspect="1" noMove="1" noResize="1" noEditPoints="1" noAdjustHandles="1" noChangeArrowheads="1" noChangeShapeType="1" noTextEdit="1"/>
              </p:cNvSpPr>
              <p:nvPr/>
            </p:nvSpPr>
            <p:spPr>
              <a:xfrm>
                <a:off x="2988326" y="1242109"/>
                <a:ext cx="5949156" cy="133517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5">
                <a:extLst>
                  <a:ext uri="{FF2B5EF4-FFF2-40B4-BE49-F238E27FC236}">
                    <a16:creationId xmlns:a16="http://schemas.microsoft.com/office/drawing/2014/main" id="{9E99DD49-B043-C5AB-7C71-C61E8D9368F3}"/>
                  </a:ext>
                </a:extLst>
              </p:cNvPr>
              <p:cNvSpPr txBox="1"/>
              <p:nvPr/>
            </p:nvSpPr>
            <p:spPr>
              <a:xfrm>
                <a:off x="3437136" y="3088971"/>
                <a:ext cx="5270500" cy="8382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num>
                            <m:den>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6" name="对象 5">
                <a:extLst>
                  <a:ext uri="{FF2B5EF4-FFF2-40B4-BE49-F238E27FC236}">
                    <a16:creationId xmlns:a16="http://schemas.microsoft.com/office/drawing/2014/main" id="{9E99DD49-B043-C5AB-7C71-C61E8D9368F3}"/>
                  </a:ext>
                </a:extLst>
              </p:cNvPr>
              <p:cNvSpPr txBox="1">
                <a:spLocks noRot="1" noChangeAspect="1" noMove="1" noResize="1" noEditPoints="1" noAdjustHandles="1" noChangeArrowheads="1" noChangeShapeType="1" noTextEdit="1"/>
              </p:cNvSpPr>
              <p:nvPr/>
            </p:nvSpPr>
            <p:spPr>
              <a:xfrm>
                <a:off x="3437136" y="3088971"/>
                <a:ext cx="5270500" cy="83820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对象 6">
                <a:extLst>
                  <a:ext uri="{FF2B5EF4-FFF2-40B4-BE49-F238E27FC236}">
                    <a16:creationId xmlns:a16="http://schemas.microsoft.com/office/drawing/2014/main" id="{39C1E51B-CEEF-3201-184C-D96BDC902990}"/>
                  </a:ext>
                </a:extLst>
              </p:cNvPr>
              <p:cNvSpPr txBox="1"/>
              <p:nvPr/>
            </p:nvSpPr>
            <p:spPr>
              <a:xfrm>
                <a:off x="4348606" y="3837891"/>
                <a:ext cx="3873500" cy="9144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limLow>
                        <m:limLow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=0 ,</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对象 6">
                <a:extLst>
                  <a:ext uri="{FF2B5EF4-FFF2-40B4-BE49-F238E27FC236}">
                    <a16:creationId xmlns:a16="http://schemas.microsoft.com/office/drawing/2014/main" id="{39C1E51B-CEEF-3201-184C-D96BDC902990}"/>
                  </a:ext>
                </a:extLst>
              </p:cNvPr>
              <p:cNvSpPr txBox="1">
                <a:spLocks noRot="1" noChangeAspect="1" noMove="1" noResize="1" noEditPoints="1" noAdjustHandles="1" noChangeArrowheads="1" noChangeShapeType="1" noTextEdit="1"/>
              </p:cNvSpPr>
              <p:nvPr/>
            </p:nvSpPr>
            <p:spPr>
              <a:xfrm>
                <a:off x="4348606" y="3837891"/>
                <a:ext cx="3873500" cy="91440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对象 7">
                <a:extLst>
                  <a:ext uri="{FF2B5EF4-FFF2-40B4-BE49-F238E27FC236}">
                    <a16:creationId xmlns:a16="http://schemas.microsoft.com/office/drawing/2014/main" id="{A7A3B5CA-0707-B82C-8F13-C513A066EA71}"/>
                  </a:ext>
                </a:extLst>
              </p:cNvPr>
              <p:cNvSpPr txBox="1"/>
              <p:nvPr/>
            </p:nvSpPr>
            <p:spPr>
              <a:xfrm>
                <a:off x="4680720" y="4752291"/>
                <a:ext cx="5270500" cy="9144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num>
                            <m:den>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8" name="对象 7">
                <a:extLst>
                  <a:ext uri="{FF2B5EF4-FFF2-40B4-BE49-F238E27FC236}">
                    <a16:creationId xmlns:a16="http://schemas.microsoft.com/office/drawing/2014/main" id="{A7A3B5CA-0707-B82C-8F13-C513A066EA71}"/>
                  </a:ext>
                </a:extLst>
              </p:cNvPr>
              <p:cNvSpPr txBox="1">
                <a:spLocks noRot="1" noChangeAspect="1" noMove="1" noResize="1" noEditPoints="1" noAdjustHandles="1" noChangeArrowheads="1" noChangeShapeType="1" noTextEdit="1"/>
              </p:cNvSpPr>
              <p:nvPr/>
            </p:nvSpPr>
            <p:spPr>
              <a:xfrm>
                <a:off x="4680720" y="4752291"/>
                <a:ext cx="5270500" cy="914400"/>
              </a:xfrm>
              <a:prstGeom prst="rect">
                <a:avLst/>
              </a:prstGeom>
              <a:blipFill>
                <a:blip r:embed="rId6"/>
                <a:stretch>
                  <a:fillRect/>
                </a:stretch>
              </a:blipFill>
            </p:spPr>
            <p:txBody>
              <a:bodyPr/>
              <a:lstStyle/>
              <a:p>
                <a:r>
                  <a:rPr lang="zh-CN" altLang="en-US">
                    <a:noFill/>
                  </a:rPr>
                  <a:t> </a:t>
                </a:r>
              </a:p>
            </p:txBody>
          </p:sp>
        </mc:Fallback>
      </mc:AlternateContent>
      <p:sp>
        <p:nvSpPr>
          <p:cNvPr id="17" name="Line 33">
            <a:extLst>
              <a:ext uri="{FF2B5EF4-FFF2-40B4-BE49-F238E27FC236}">
                <a16:creationId xmlns:a16="http://schemas.microsoft.com/office/drawing/2014/main" id="{A2429C86-6DD4-1642-80BB-6C373F7B6D4A}"/>
              </a:ext>
            </a:extLst>
          </p:cNvPr>
          <p:cNvSpPr>
            <a:spLocks noChangeShapeType="1"/>
          </p:cNvSpPr>
          <p:nvPr/>
        </p:nvSpPr>
        <p:spPr bwMode="auto">
          <a:xfrm flipV="1">
            <a:off x="2492772" y="2830584"/>
            <a:ext cx="7159228" cy="18427"/>
          </a:xfrm>
          <a:prstGeom prst="line">
            <a:avLst/>
          </a:prstGeom>
          <a:noFill/>
          <a:ln w="19050">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15683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7" grpId="0"/>
      <p:bldP spid="8" grpId="0"/>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8F556B5B-7E7A-1B5E-5AA0-4C9F6863F1A7}"/>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30" name="矩形 29">
                <a:extLst>
                  <a:ext uri="{FF2B5EF4-FFF2-40B4-BE49-F238E27FC236}">
                    <a16:creationId xmlns:a16="http://schemas.microsoft.com/office/drawing/2014/main" id="{8F556B5B-7E7A-1B5E-5AA0-4C9F6863F1A7}"/>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31" name="半闭框 30">
            <a:extLst>
              <a:ext uri="{FF2B5EF4-FFF2-40B4-BE49-F238E27FC236}">
                <a16:creationId xmlns:a16="http://schemas.microsoft.com/office/drawing/2014/main" id="{4A749E58-CDF5-BB50-CC53-D6DB73C4555A}"/>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半闭框 31">
            <a:extLst>
              <a:ext uri="{FF2B5EF4-FFF2-40B4-BE49-F238E27FC236}">
                <a16:creationId xmlns:a16="http://schemas.microsoft.com/office/drawing/2014/main" id="{9C3EB8B9-E46C-723A-2222-9CD8D7D2533B}"/>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半闭框 32">
            <a:extLst>
              <a:ext uri="{FF2B5EF4-FFF2-40B4-BE49-F238E27FC236}">
                <a16:creationId xmlns:a16="http://schemas.microsoft.com/office/drawing/2014/main" id="{51A430D7-BBA9-0724-A82C-3DAFD20840F4}"/>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34" name="半闭框 33">
            <a:extLst>
              <a:ext uri="{FF2B5EF4-FFF2-40B4-BE49-F238E27FC236}">
                <a16:creationId xmlns:a16="http://schemas.microsoft.com/office/drawing/2014/main" id="{72C7D8C3-A718-245F-3D04-65A1136637B7}"/>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3" name="Object 5">
                <a:extLst>
                  <a:ext uri="{FF2B5EF4-FFF2-40B4-BE49-F238E27FC236}">
                    <a16:creationId xmlns:a16="http://schemas.microsoft.com/office/drawing/2014/main" id="{ECEA0FEF-DD27-1EDA-8BEA-8DAAE49DEC37}"/>
                  </a:ext>
                </a:extLst>
              </p:cNvPr>
              <p:cNvSpPr txBox="1"/>
              <p:nvPr/>
            </p:nvSpPr>
            <p:spPr bwMode="auto">
              <a:xfrm>
                <a:off x="1892068" y="589605"/>
                <a:ext cx="5797549" cy="1279525"/>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1"/>
                                    <m:mcJc m:val="center"/>
                                  </m:mcPr>
                                </m:mc>
                              </m:mcs>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3" name="Object 5">
                <a:extLst>
                  <a:ext uri="{FF2B5EF4-FFF2-40B4-BE49-F238E27FC236}">
                    <a16:creationId xmlns:a16="http://schemas.microsoft.com/office/drawing/2014/main" id="{ECEA0FEF-DD27-1EDA-8BEA-8DAAE49DEC37}"/>
                  </a:ext>
                </a:extLst>
              </p:cNvPr>
              <p:cNvSpPr txBox="1">
                <a:spLocks noRot="1" noChangeAspect="1" noMove="1" noResize="1" noEditPoints="1" noAdjustHandles="1" noChangeArrowheads="1" noChangeShapeType="1" noTextEdit="1"/>
              </p:cNvSpPr>
              <p:nvPr/>
            </p:nvSpPr>
            <p:spPr bwMode="auto">
              <a:xfrm>
                <a:off x="1892068" y="589605"/>
                <a:ext cx="5797549" cy="1279525"/>
              </a:xfrm>
              <a:prstGeom prst="rect">
                <a:avLst/>
              </a:prstGeom>
              <a:blipFill>
                <a:blip r:embed="rId3"/>
                <a:stretch>
                  <a:fillRect/>
                </a:stretch>
              </a:blipFill>
            </p:spPr>
            <p:txBody>
              <a:bodyPr/>
              <a:lstStyle/>
              <a:p>
                <a:r>
                  <a:rPr lang="zh-CN" altLang="en-US">
                    <a:noFill/>
                  </a:rPr>
                  <a:t> </a:t>
                </a:r>
              </a:p>
            </p:txBody>
          </p:sp>
        </mc:Fallback>
      </mc:AlternateContent>
      <p:sp>
        <p:nvSpPr>
          <p:cNvPr id="4" name="Text Box 6">
            <a:extLst>
              <a:ext uri="{FF2B5EF4-FFF2-40B4-BE49-F238E27FC236}">
                <a16:creationId xmlns:a16="http://schemas.microsoft.com/office/drawing/2014/main" id="{84532A02-3175-2B59-A798-22DBDBA5BAD1}"/>
              </a:ext>
            </a:extLst>
          </p:cNvPr>
          <p:cNvSpPr txBox="1">
            <a:spLocks noChangeArrowheads="1"/>
          </p:cNvSpPr>
          <p:nvPr/>
        </p:nvSpPr>
        <p:spPr bwMode="auto">
          <a:xfrm>
            <a:off x="1847851" y="2430496"/>
            <a:ext cx="1089588" cy="430887"/>
          </a:xfrm>
          <a:prstGeom prst="rect">
            <a:avLst/>
          </a:prstGeom>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于是有</a:t>
            </a:r>
          </a:p>
        </p:txBody>
      </p:sp>
      <mc:AlternateContent xmlns:mc="http://schemas.openxmlformats.org/markup-compatibility/2006" xmlns:a14="http://schemas.microsoft.com/office/drawing/2010/main">
        <mc:Choice Requires="a14">
          <p:sp>
            <p:nvSpPr>
              <p:cNvPr id="5" name="Object 7">
                <a:extLst>
                  <a:ext uri="{FF2B5EF4-FFF2-40B4-BE49-F238E27FC236}">
                    <a16:creationId xmlns:a16="http://schemas.microsoft.com/office/drawing/2014/main" id="{41A93B49-F5AF-B621-8655-A27D06DE8F28}"/>
                  </a:ext>
                </a:extLst>
              </p:cNvPr>
              <p:cNvSpPr txBox="1"/>
              <p:nvPr/>
            </p:nvSpPr>
            <p:spPr bwMode="auto">
              <a:xfrm>
                <a:off x="2747410" y="1953179"/>
                <a:ext cx="8443504" cy="1279525"/>
              </a:xfrm>
              <a:prstGeom prst="rect">
                <a:avLst/>
              </a:prstGeom>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1"/>
                                    <m:mcJc m:val="center"/>
                                  </m:mcPr>
                                </m:mc>
                              </m:mcs>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0,                                              </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5" name="Object 7">
                <a:extLst>
                  <a:ext uri="{FF2B5EF4-FFF2-40B4-BE49-F238E27FC236}">
                    <a16:creationId xmlns:a16="http://schemas.microsoft.com/office/drawing/2014/main" id="{41A93B49-F5AF-B621-8655-A27D06DE8F28}"/>
                  </a:ext>
                </a:extLst>
              </p:cNvPr>
              <p:cNvSpPr txBox="1">
                <a:spLocks noRot="1" noChangeAspect="1" noMove="1" noResize="1" noEditPoints="1" noAdjustHandles="1" noChangeArrowheads="1" noChangeShapeType="1" noTextEdit="1"/>
              </p:cNvSpPr>
              <p:nvPr/>
            </p:nvSpPr>
            <p:spPr bwMode="auto">
              <a:xfrm>
                <a:off x="2747410" y="1953179"/>
                <a:ext cx="8443504" cy="1279525"/>
              </a:xfrm>
              <a:prstGeom prst="rect">
                <a:avLst/>
              </a:prstGeom>
              <a:blipFill>
                <a:blip r:embed="rId4"/>
                <a:stretch>
                  <a:fillRect b="-4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8">
                <a:extLst>
                  <a:ext uri="{FF2B5EF4-FFF2-40B4-BE49-F238E27FC236}">
                    <a16:creationId xmlns:a16="http://schemas.microsoft.com/office/drawing/2014/main" id="{2934D0B5-17B7-0215-CB60-6542F9ACFE22}"/>
                  </a:ext>
                </a:extLst>
              </p:cNvPr>
              <p:cNvSpPr txBox="1"/>
              <p:nvPr/>
            </p:nvSpPr>
            <p:spPr bwMode="auto">
              <a:xfrm>
                <a:off x="2737888" y="3253876"/>
                <a:ext cx="8671140" cy="1279525"/>
              </a:xfrm>
              <a:prstGeom prst="rect">
                <a:avLst/>
              </a:prstGeom>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1"/>
                                    <m:mcJc m:val="center"/>
                                  </m:mcPr>
                                </m:mc>
                              </m:mcs>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0,                                         </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6" name="Object 8">
                <a:extLst>
                  <a:ext uri="{FF2B5EF4-FFF2-40B4-BE49-F238E27FC236}">
                    <a16:creationId xmlns:a16="http://schemas.microsoft.com/office/drawing/2014/main" id="{2934D0B5-17B7-0215-CB60-6542F9ACFE22}"/>
                  </a:ext>
                </a:extLst>
              </p:cNvPr>
              <p:cNvSpPr txBox="1">
                <a:spLocks noRot="1" noChangeAspect="1" noMove="1" noResize="1" noEditPoints="1" noAdjustHandles="1" noChangeArrowheads="1" noChangeShapeType="1" noTextEdit="1"/>
              </p:cNvSpPr>
              <p:nvPr/>
            </p:nvSpPr>
            <p:spPr bwMode="auto">
              <a:xfrm>
                <a:off x="2737888" y="3253876"/>
                <a:ext cx="8671140" cy="1279525"/>
              </a:xfrm>
              <a:prstGeom prst="rect">
                <a:avLst/>
              </a:prstGeom>
              <a:blipFill>
                <a:blip r:embed="rId5"/>
                <a:stretch>
                  <a:fillRect/>
                </a:stretch>
              </a:blipFill>
            </p:spPr>
            <p:txBody>
              <a:bodyPr/>
              <a:lstStyle/>
              <a:p>
                <a:r>
                  <a:rPr lang="zh-CN" altLang="en-US">
                    <a:noFill/>
                  </a:rPr>
                  <a:t> </a:t>
                </a:r>
              </a:p>
            </p:txBody>
          </p:sp>
        </mc:Fallback>
      </mc:AlternateContent>
      <p:sp>
        <p:nvSpPr>
          <p:cNvPr id="7" name="Text Box 9">
            <a:extLst>
              <a:ext uri="{FF2B5EF4-FFF2-40B4-BE49-F238E27FC236}">
                <a16:creationId xmlns:a16="http://schemas.microsoft.com/office/drawing/2014/main" id="{4C2C3544-F104-EBB9-AC5C-A8D6B5C47116}"/>
              </a:ext>
            </a:extLst>
          </p:cNvPr>
          <p:cNvSpPr txBox="1">
            <a:spLocks noChangeArrowheads="1"/>
          </p:cNvSpPr>
          <p:nvPr/>
        </p:nvSpPr>
        <p:spPr bwMode="auto">
          <a:xfrm>
            <a:off x="1465641" y="4780739"/>
            <a:ext cx="1584325" cy="430887"/>
          </a:xfrm>
          <a:prstGeom prst="rect">
            <a:avLst/>
          </a:prstGeom>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又因为</a:t>
            </a:r>
          </a:p>
        </p:txBody>
      </p:sp>
      <p:sp>
        <p:nvSpPr>
          <p:cNvPr id="10" name="Text Box 12">
            <a:extLst>
              <a:ext uri="{FF2B5EF4-FFF2-40B4-BE49-F238E27FC236}">
                <a16:creationId xmlns:a16="http://schemas.microsoft.com/office/drawing/2014/main" id="{9E08C7E7-C05F-F2B6-8552-0F6D8BAAFEFE}"/>
              </a:ext>
            </a:extLst>
          </p:cNvPr>
          <p:cNvSpPr txBox="1">
            <a:spLocks noChangeArrowheads="1"/>
          </p:cNvSpPr>
          <p:nvPr/>
        </p:nvSpPr>
        <p:spPr bwMode="auto">
          <a:xfrm>
            <a:off x="1847851" y="5509402"/>
            <a:ext cx="1008062" cy="430887"/>
          </a:xfrm>
          <a:prstGeom prst="rect">
            <a:avLst/>
          </a:prstGeom>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所以</a:t>
            </a:r>
          </a:p>
        </p:txBody>
      </p:sp>
      <p:sp>
        <p:nvSpPr>
          <p:cNvPr id="12" name="Text Box 14">
            <a:extLst>
              <a:ext uri="{FF2B5EF4-FFF2-40B4-BE49-F238E27FC236}">
                <a16:creationId xmlns:a16="http://schemas.microsoft.com/office/drawing/2014/main" id="{C05DC16F-AF55-2BAB-FCD2-C900F793B809}"/>
              </a:ext>
            </a:extLst>
          </p:cNvPr>
          <p:cNvSpPr txBox="1">
            <a:spLocks noChangeArrowheads="1"/>
          </p:cNvSpPr>
          <p:nvPr/>
        </p:nvSpPr>
        <p:spPr bwMode="auto">
          <a:xfrm>
            <a:off x="4613718" y="5531627"/>
            <a:ext cx="1439862" cy="430887"/>
          </a:xfrm>
          <a:prstGeom prst="rect">
            <a:avLst/>
          </a:prstGeom>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不存在</a:t>
            </a:r>
            <a:r>
              <a:rPr kumimoji="1" lang="en-US" altLang="zh-CN" sz="2200" b="0" dirty="0">
                <a:solidFill>
                  <a:schemeClr val="tx1">
                    <a:lumMod val="95000"/>
                    <a:lumOff val="5000"/>
                  </a:schemeClr>
                </a:solidFill>
                <a:latin typeface="Cambria Math" panose="02040503050406030204" charset="0"/>
              </a:rPr>
              <a:t>.</a:t>
            </a:r>
          </a:p>
        </p:txBody>
      </p:sp>
      <mc:AlternateContent xmlns:mc="http://schemas.openxmlformats.org/markup-compatibility/2006" xmlns:a14="http://schemas.microsoft.com/office/drawing/2010/main">
        <mc:Choice Requires="a14">
          <p:sp>
            <p:nvSpPr>
              <p:cNvPr id="13" name="Text Box 15">
                <a:extLst>
                  <a:ext uri="{FF2B5EF4-FFF2-40B4-BE49-F238E27FC236}">
                    <a16:creationId xmlns:a16="http://schemas.microsoft.com/office/drawing/2014/main" id="{5DECC164-E2E9-BBE1-DB7F-F1C198262B7B}"/>
                  </a:ext>
                </a:extLst>
              </p:cNvPr>
              <p:cNvSpPr txBox="1">
                <a:spLocks noChangeArrowheads="1"/>
              </p:cNvSpPr>
              <p:nvPr/>
            </p:nvSpPr>
            <p:spPr bwMode="auto">
              <a:xfrm>
                <a:off x="5683027" y="5509401"/>
                <a:ext cx="4752975" cy="430887"/>
              </a:xfrm>
              <a:prstGeom prst="rect">
                <a:avLst/>
              </a:prstGeom>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故</a:t>
                </a:r>
                <a14:m>
                  <m:oMath xmlns:m="http://schemas.openxmlformats.org/officeDocument/2006/math">
                    <m:sSub>
                      <m:sSubPr>
                        <m:ctrlPr>
                          <a:rPr kumimoji="1" lang="zh-CN" altLang="en-US" sz="2200" i="1">
                            <a:solidFill>
                              <a:schemeClr val="tx1">
                                <a:lumMod val="95000"/>
                                <a:lumOff val="5000"/>
                              </a:schemeClr>
                            </a:solidFill>
                            <a:latin typeface="Cambria Math" panose="02040503050406030204" pitchFamily="18" charset="0"/>
                          </a:rPr>
                        </m:ctrlPr>
                      </m:sSubPr>
                      <m:e>
                        <m:r>
                          <a:rPr kumimoji="1" lang="zh-CN" altLang="en-US" sz="2200">
                            <a:solidFill>
                              <a:schemeClr val="tx1">
                                <a:lumMod val="95000"/>
                                <a:lumOff val="5000"/>
                              </a:schemeClr>
                            </a:solidFill>
                            <a:latin typeface="Cambria Math" panose="02040503050406030204" charset="0"/>
                          </a:rPr>
                          <m:t>𝑓</m:t>
                        </m:r>
                      </m:e>
                      <m:sub>
                        <m:r>
                          <a:rPr kumimoji="1" lang="zh-CN" altLang="en-US" sz="2200">
                            <a:solidFill>
                              <a:schemeClr val="tx1">
                                <a:lumMod val="95000"/>
                                <a:lumOff val="5000"/>
                              </a:schemeClr>
                            </a:solidFill>
                            <a:latin typeface="Cambria Math" panose="02040503050406030204" charset="0"/>
                          </a:rPr>
                          <m:t>𝑥</m:t>
                        </m:r>
                      </m:sub>
                    </m:sSub>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𝑥</m:t>
                    </m:r>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𝑦</m:t>
                    </m:r>
                    <m:r>
                      <a:rPr kumimoji="1" lang="zh-CN" altLang="en-US" sz="2200">
                        <a:solidFill>
                          <a:schemeClr val="tx1">
                            <a:lumMod val="95000"/>
                            <a:lumOff val="5000"/>
                          </a:schemeClr>
                        </a:solidFill>
                        <a:latin typeface="Cambria Math" panose="02040503050406030204" charset="0"/>
                      </a:rPr>
                      <m:t>)</m:t>
                    </m:r>
                  </m:oMath>
                </a14:m>
                <a:r>
                  <a:rPr kumimoji="1" lang="zh-CN" altLang="en-US" sz="2200" b="0" dirty="0">
                    <a:solidFill>
                      <a:schemeClr val="tx1">
                        <a:lumMod val="95000"/>
                        <a:lumOff val="5000"/>
                      </a:schemeClr>
                    </a:solidFill>
                    <a:latin typeface="Cambria Math" panose="02040503050406030204" charset="0"/>
                  </a:rPr>
                  <a:t>在</a:t>
                </a:r>
                <a:r>
                  <a:rPr kumimoji="1" lang="en-US" altLang="zh-CN" sz="2200" b="0" dirty="0">
                    <a:solidFill>
                      <a:schemeClr val="tx1">
                        <a:lumMod val="95000"/>
                        <a:lumOff val="5000"/>
                      </a:schemeClr>
                    </a:solidFill>
                    <a:latin typeface="Cambria Math" panose="02040503050406030204" charset="0"/>
                  </a:rPr>
                  <a:t>(0, 0)</a:t>
                </a:r>
                <a:r>
                  <a:rPr kumimoji="1" lang="zh-CN" altLang="en-US" sz="2200" b="0" dirty="0">
                    <a:solidFill>
                      <a:schemeClr val="tx1">
                        <a:lumMod val="95000"/>
                        <a:lumOff val="5000"/>
                      </a:schemeClr>
                    </a:solidFill>
                    <a:latin typeface="Cambria Math" panose="02040503050406030204" charset="0"/>
                  </a:rPr>
                  <a:t>不连续</a:t>
                </a:r>
                <a:r>
                  <a:rPr kumimoji="1" lang="en-US" altLang="zh-CN" sz="2200" b="0" dirty="0">
                    <a:solidFill>
                      <a:schemeClr val="tx1">
                        <a:lumMod val="95000"/>
                        <a:lumOff val="5000"/>
                      </a:schemeClr>
                    </a:solidFill>
                    <a:latin typeface="Cambria Math" panose="02040503050406030204" charset="0"/>
                  </a:rPr>
                  <a:t>.</a:t>
                </a:r>
              </a:p>
            </p:txBody>
          </p:sp>
        </mc:Choice>
        <mc:Fallback xmlns="">
          <p:sp>
            <p:nvSpPr>
              <p:cNvPr id="13" name="Text Box 15">
                <a:extLst>
                  <a:ext uri="{FF2B5EF4-FFF2-40B4-BE49-F238E27FC236}">
                    <a16:creationId xmlns:a16="http://schemas.microsoft.com/office/drawing/2014/main" id="{5DECC164-E2E9-BBE1-DB7F-F1C198262B7B}"/>
                  </a:ext>
                </a:extLst>
              </p:cNvPr>
              <p:cNvSpPr txBox="1">
                <a:spLocks noRot="1" noChangeAspect="1" noMove="1" noResize="1" noEditPoints="1" noAdjustHandles="1" noChangeArrowheads="1" noChangeShapeType="1" noTextEdit="1"/>
              </p:cNvSpPr>
              <p:nvPr/>
            </p:nvSpPr>
            <p:spPr bwMode="auto">
              <a:xfrm>
                <a:off x="5683027" y="5509401"/>
                <a:ext cx="4752975" cy="430887"/>
              </a:xfrm>
              <a:prstGeom prst="rect">
                <a:avLst/>
              </a:prstGeom>
              <a:blipFill>
                <a:blip r:embed="rId6"/>
                <a:stretch>
                  <a:fillRect l="-1667" t="-14286"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16">
                <a:extLst>
                  <a:ext uri="{FF2B5EF4-FFF2-40B4-BE49-F238E27FC236}">
                    <a16:creationId xmlns:a16="http://schemas.microsoft.com/office/drawing/2014/main" id="{F4B8FAF7-2CD7-C99E-90D0-9F02C72C7672}"/>
                  </a:ext>
                </a:extLst>
              </p:cNvPr>
              <p:cNvSpPr txBox="1"/>
              <p:nvPr/>
            </p:nvSpPr>
            <p:spPr bwMode="auto">
              <a:xfrm>
                <a:off x="7746056" y="842864"/>
                <a:ext cx="1597024" cy="454025"/>
              </a:xfrm>
              <a:prstGeom prst="rect">
                <a:avLst/>
              </a:prstGeom>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4" name="Object 16">
                <a:extLst>
                  <a:ext uri="{FF2B5EF4-FFF2-40B4-BE49-F238E27FC236}">
                    <a16:creationId xmlns:a16="http://schemas.microsoft.com/office/drawing/2014/main" id="{F4B8FAF7-2CD7-C99E-90D0-9F02C72C7672}"/>
                  </a:ext>
                </a:extLst>
              </p:cNvPr>
              <p:cNvSpPr txBox="1">
                <a:spLocks noRot="1" noChangeAspect="1" noMove="1" noResize="1" noEditPoints="1" noAdjustHandles="1" noChangeArrowheads="1" noChangeShapeType="1" noTextEdit="1"/>
              </p:cNvSpPr>
              <p:nvPr/>
            </p:nvSpPr>
            <p:spPr bwMode="auto">
              <a:xfrm>
                <a:off x="7746056" y="842864"/>
                <a:ext cx="1597024" cy="454025"/>
              </a:xfrm>
              <a:prstGeom prst="rect">
                <a:avLst/>
              </a:prstGeom>
              <a:blipFill>
                <a:blip r:embed="rId7"/>
                <a:stretch>
                  <a:fillRect l="-2672"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17">
                <a:extLst>
                  <a:ext uri="{FF2B5EF4-FFF2-40B4-BE49-F238E27FC236}">
                    <a16:creationId xmlns:a16="http://schemas.microsoft.com/office/drawing/2014/main" id="{E41AD4F1-A250-C37F-3547-D0EBCAEF4AB0}"/>
                  </a:ext>
                </a:extLst>
              </p:cNvPr>
              <p:cNvSpPr txBox="1"/>
              <p:nvPr/>
            </p:nvSpPr>
            <p:spPr bwMode="auto">
              <a:xfrm>
                <a:off x="7746056" y="1414597"/>
                <a:ext cx="1597024" cy="479425"/>
              </a:xfrm>
              <a:prstGeom prst="rect">
                <a:avLst/>
              </a:prstGeom>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5" name="Object 17">
                <a:extLst>
                  <a:ext uri="{FF2B5EF4-FFF2-40B4-BE49-F238E27FC236}">
                    <a16:creationId xmlns:a16="http://schemas.microsoft.com/office/drawing/2014/main" id="{E41AD4F1-A250-C37F-3547-D0EBCAEF4AB0}"/>
                  </a:ext>
                </a:extLst>
              </p:cNvPr>
              <p:cNvSpPr txBox="1">
                <a:spLocks noRot="1" noChangeAspect="1" noMove="1" noResize="1" noEditPoints="1" noAdjustHandles="1" noChangeArrowheads="1" noChangeShapeType="1" noTextEdit="1"/>
              </p:cNvSpPr>
              <p:nvPr/>
            </p:nvSpPr>
            <p:spPr bwMode="auto">
              <a:xfrm>
                <a:off x="7746056" y="1414597"/>
                <a:ext cx="1597024" cy="479425"/>
              </a:xfrm>
              <a:prstGeom prst="rect">
                <a:avLst/>
              </a:prstGeom>
              <a:blipFill>
                <a:blip r:embed="rId8"/>
                <a:stretch>
                  <a:fillRect l="-2672" b="-5063"/>
                </a:stretch>
              </a:blipFill>
            </p:spPr>
            <p:txBody>
              <a:bodyPr/>
              <a:lstStyle/>
              <a:p>
                <a:r>
                  <a:rPr lang="zh-CN" altLang="en-US">
                    <a:noFill/>
                  </a:rPr>
                  <a:t> </a:t>
                </a:r>
              </a:p>
            </p:txBody>
          </p:sp>
        </mc:Fallback>
      </mc:AlternateContent>
      <p:sp>
        <p:nvSpPr>
          <p:cNvPr id="26" name="Line 33">
            <a:extLst>
              <a:ext uri="{FF2B5EF4-FFF2-40B4-BE49-F238E27FC236}">
                <a16:creationId xmlns:a16="http://schemas.microsoft.com/office/drawing/2014/main" id="{9A11E629-1201-18EB-ECE0-7665A2977785}"/>
              </a:ext>
            </a:extLst>
          </p:cNvPr>
          <p:cNvSpPr>
            <a:spLocks noChangeShapeType="1"/>
          </p:cNvSpPr>
          <p:nvPr/>
        </p:nvSpPr>
        <p:spPr bwMode="auto">
          <a:xfrm flipV="1">
            <a:off x="1963174" y="1966468"/>
            <a:ext cx="8525729" cy="4486"/>
          </a:xfrm>
          <a:prstGeom prst="line">
            <a:avLst/>
          </a:prstGeom>
          <a:ln w="19050">
            <a:solidFill>
              <a:srgbClr val="04926A"/>
            </a:solidFill>
          </a:ln>
        </p:spPr>
        <p:txBody>
          <a:bodyPr/>
          <a:lstStyle/>
          <a:p>
            <a:endParaRPr lang="zh-CN" altLang="en-US"/>
          </a:p>
        </p:txBody>
      </p:sp>
      <mc:AlternateContent xmlns:mc="http://schemas.openxmlformats.org/markup-compatibility/2006" xmlns:a14="http://schemas.microsoft.com/office/drawing/2010/main">
        <mc:Choice Requires="a14">
          <p:sp>
            <p:nvSpPr>
              <p:cNvPr id="27" name="Object 42">
                <a:extLst>
                  <a:ext uri="{FF2B5EF4-FFF2-40B4-BE49-F238E27FC236}">
                    <a16:creationId xmlns:a16="http://schemas.microsoft.com/office/drawing/2014/main" id="{6715F6B1-24B8-8739-0393-1EBD3EABFC61}"/>
                  </a:ext>
                </a:extLst>
              </p:cNvPr>
              <p:cNvSpPr txBox="1"/>
              <p:nvPr/>
            </p:nvSpPr>
            <p:spPr bwMode="auto">
              <a:xfrm>
                <a:off x="2374594" y="4600724"/>
                <a:ext cx="2808288" cy="97472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limLow>
                        <m:limLowPr>
                          <m:ctrlPr>
                            <a:rPr kumimoji="1" lang="zh-CN" altLang="en-US" sz="20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000">
                              <a:latin typeface="Cambria Math" panose="02040503050406030204" charset="0"/>
                              <a:ea typeface="黑体" panose="02010609060101010101" pitchFamily="49" charset="-122"/>
                              <a:cs typeface="Cambria Math" panose="02040503050406030204" charset="0"/>
                            </a:rPr>
                            <m:t>(</m:t>
                          </m:r>
                          <m:r>
                            <a:rPr kumimoji="1" lang="zh-CN" altLang="en-US" sz="2000">
                              <a:latin typeface="Cambria Math" panose="02040503050406030204" charset="0"/>
                              <a:ea typeface="黑体" panose="02010609060101010101" pitchFamily="49" charset="-122"/>
                              <a:cs typeface="Cambria Math" panose="02040503050406030204" charset="0"/>
                            </a:rPr>
                            <m:t>𝑥</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zh-CN" altLang="en-US" sz="2000">
                              <a:latin typeface="Cambria Math" panose="02040503050406030204" charset="0"/>
                              <a:ea typeface="黑体" panose="02010609060101010101" pitchFamily="49" charset="-122"/>
                              <a:cs typeface="Cambria Math" panose="02040503050406030204" charset="0"/>
                            </a:rPr>
                            <m:t>𝑦</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pitchFamily="18"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pitchFamily="18"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lim>
                      </m:limLow>
                      <m:r>
                        <a:rPr kumimoji="1" lang="zh-CN" altLang="en-US" sz="2000" i="1">
                          <a:latin typeface="Cambria Math" panose="02040503050406030204" pitchFamily="18" charset="0"/>
                          <a:ea typeface="黑体" panose="02010609060101010101" pitchFamily="49" charset="-122"/>
                          <a:cs typeface="Cambria Math" panose="02040503050406030204" charset="0"/>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7" name="Object 42">
                <a:extLst>
                  <a:ext uri="{FF2B5EF4-FFF2-40B4-BE49-F238E27FC236}">
                    <a16:creationId xmlns:a16="http://schemas.microsoft.com/office/drawing/2014/main" id="{6715F6B1-24B8-8739-0393-1EBD3EABFC61}"/>
                  </a:ext>
                </a:extLst>
              </p:cNvPr>
              <p:cNvSpPr txBox="1">
                <a:spLocks noRot="1" noChangeAspect="1" noMove="1" noResize="1" noEditPoints="1" noAdjustHandles="1" noChangeArrowheads="1" noChangeShapeType="1" noTextEdit="1"/>
              </p:cNvSpPr>
              <p:nvPr/>
            </p:nvSpPr>
            <p:spPr bwMode="auto">
              <a:xfrm>
                <a:off x="2374594" y="4600724"/>
                <a:ext cx="2808288" cy="974726"/>
              </a:xfrm>
              <a:prstGeom prst="rect">
                <a:avLst/>
              </a:prstGeom>
              <a:blipFill>
                <a:blip r:embed="rId9"/>
                <a:stretch>
                  <a:fillRect r="-2021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Object 42">
                <a:extLst>
                  <a:ext uri="{FF2B5EF4-FFF2-40B4-BE49-F238E27FC236}">
                    <a16:creationId xmlns:a16="http://schemas.microsoft.com/office/drawing/2014/main" id="{A29406D5-3EEB-6E34-E88D-6CB537CEFB23}"/>
                  </a:ext>
                </a:extLst>
              </p:cNvPr>
              <p:cNvSpPr txBox="1"/>
              <p:nvPr/>
            </p:nvSpPr>
            <p:spPr bwMode="auto">
              <a:xfrm>
                <a:off x="5796897" y="4489578"/>
                <a:ext cx="5495341" cy="97472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limLow>
                        <m:limLowPr>
                          <m:ctrlPr>
                            <a:rPr kumimoji="1" lang="zh-CN" altLang="en-US" sz="20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000" i="1">
                                  <a:solidFill>
                                    <a:schemeClr val="tx1">
                                      <a:lumMod val="95000"/>
                                      <a:lumOff val="5000"/>
                                    </a:schemeClr>
                                  </a:solidFill>
                                  <a:latin typeface="Cambria Math" panose="02040503050406030204" pitchFamily="18" charset="0"/>
                                  <a:ea typeface="黑体" panose="02010609060101010101" pitchFamily="49" charset="-122"/>
                                </a:rPr>
                              </m:ctrlPr>
                            </m:eqArrPr>
                            <m:e>
                              <m:r>
                                <a:rPr kumimoji="1" lang="zh-CN" altLang="en-US" sz="20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0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0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0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en-US" altLang="zh-CN" sz="2000" i="1">
                                      <a:solidFill>
                                        <a:schemeClr val="tx1">
                                          <a:lumMod val="95000"/>
                                          <a:lumOff val="5000"/>
                                        </a:schemeClr>
                                      </a:solidFill>
                                      <a:latin typeface="Cambria Math" panose="02040503050406030204" pitchFamily="18" charset="0"/>
                                      <a:ea typeface="黑体" panose="02010609060101010101" pitchFamily="49" charset="-122"/>
                                    </a:rPr>
                                    <m:t>𝑘</m:t>
                                  </m:r>
                                  <m:r>
                                    <a:rPr kumimoji="1" lang="zh-CN" altLang="en-US" sz="20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000">
                                      <a:solidFill>
                                        <a:schemeClr val="tx1">
                                          <a:lumMod val="95000"/>
                                          <a:lumOff val="5000"/>
                                        </a:schemeClr>
                                      </a:solidFill>
                                      <a:latin typeface="Cambria Math" panose="02040503050406030204" charset="0"/>
                                      <a:ea typeface="黑体" panose="02010609060101010101" pitchFamily="49" charset="-122"/>
                                    </a:rPr>
                                    <m:t>2</m:t>
                                  </m:r>
                                </m:sup>
                              </m:sSup>
                            </m:e>
                            <m:e>
                              <m:r>
                                <a:rPr kumimoji="1" lang="zh-CN" altLang="en-US" sz="2000">
                                  <a:solidFill>
                                    <a:schemeClr val="tx1">
                                      <a:lumMod val="95000"/>
                                      <a:lumOff val="5000"/>
                                    </a:schemeClr>
                                  </a:solidFill>
                                  <a:latin typeface="Cambria Math" panose="02040503050406030204" charset="0"/>
                                  <a:ea typeface="黑体" panose="02010609060101010101" pitchFamily="49" charset="-122"/>
                                </a:rPr>
                                <m:t>&amp;​</m:t>
                              </m:r>
                              <m:r>
                                <a:rPr kumimoji="1" lang="en-US" altLang="zh-CN" sz="200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0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000">
                                  <a:solidFill>
                                    <a:schemeClr val="tx1">
                                      <a:lumMod val="95000"/>
                                      <a:lumOff val="5000"/>
                                    </a:schemeClr>
                                  </a:solidFill>
                                  <a:latin typeface="Cambria Math" panose="02040503050406030204" charset="0"/>
                                  <a:ea typeface="黑体" panose="02010609060101010101" pitchFamily="49" charset="-122"/>
                                </a:rPr>
                                <m:t>→0</m:t>
                              </m:r>
                            </m:e>
                          </m:eqArr>
                        </m:lim>
                      </m:limLow>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limLow>
                        <m:limLow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𝑘</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eqArr>
                        </m:lim>
                      </m:limLow>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en-US" altLang="zh-CN" sz="2200" i="1">
                                  <a:solidFill>
                                    <a:schemeClr val="tx1">
                                      <a:lumMod val="95000"/>
                                      <a:lumOff val="5000"/>
                                    </a:schemeClr>
                                  </a:solidFill>
                                  <a:latin typeface="Cambria Math" panose="02040503050406030204" pitchFamily="18" charset="0"/>
                                  <a:ea typeface="黑体" panose="02010609060101010101" pitchFamily="49" charset="-122"/>
                                </a:rPr>
                                <m:t>𝑘</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𝑘</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4</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i="1">
                          <a:solidFill>
                            <a:schemeClr val="tx1">
                              <a:lumMod val="95000"/>
                              <a:lumOff val="5000"/>
                            </a:schemeClr>
                          </a:solidFill>
                          <a:latin typeface="Cambria Math" panose="02040503050406030204" pitchFamily="18" charset="0"/>
                          <a:ea typeface="黑体" panose="02010609060101010101" pitchFamily="49" charset="-122"/>
                        </a:rPr>
                        <m:t>𝑘</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8" name="Object 42">
                <a:extLst>
                  <a:ext uri="{FF2B5EF4-FFF2-40B4-BE49-F238E27FC236}">
                    <a16:creationId xmlns:a16="http://schemas.microsoft.com/office/drawing/2014/main" id="{A29406D5-3EEB-6E34-E88D-6CB537CEFB23}"/>
                  </a:ext>
                </a:extLst>
              </p:cNvPr>
              <p:cNvSpPr txBox="1">
                <a:spLocks noRot="1" noChangeAspect="1" noMove="1" noResize="1" noEditPoints="1" noAdjustHandles="1" noChangeArrowheads="1" noChangeShapeType="1" noTextEdit="1"/>
              </p:cNvSpPr>
              <p:nvPr/>
            </p:nvSpPr>
            <p:spPr bwMode="auto">
              <a:xfrm>
                <a:off x="5796897" y="4489578"/>
                <a:ext cx="5495341" cy="974726"/>
              </a:xfrm>
              <a:prstGeom prst="rect">
                <a:avLst/>
              </a:prstGeom>
              <a:blipFill>
                <a:blip r:embed="rId1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Object 42">
                <a:extLst>
                  <a:ext uri="{FF2B5EF4-FFF2-40B4-BE49-F238E27FC236}">
                    <a16:creationId xmlns:a16="http://schemas.microsoft.com/office/drawing/2014/main" id="{4E76A93F-909F-5F12-E63D-BBAE1C29684D}"/>
                  </a:ext>
                </a:extLst>
              </p:cNvPr>
              <p:cNvSpPr txBox="1"/>
              <p:nvPr/>
            </p:nvSpPr>
            <p:spPr bwMode="auto">
              <a:xfrm>
                <a:off x="2409491" y="5470681"/>
                <a:ext cx="1439862" cy="64292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limLow>
                        <m:limLowPr>
                          <m:ctrlPr>
                            <a:rPr kumimoji="1" lang="zh-CN" altLang="en-US" sz="2400" i="1">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400">
                              <a:latin typeface="Cambria Math" panose="02040503050406030204" charset="0"/>
                              <a:ea typeface="黑体" panose="02010609060101010101" pitchFamily="49" charset="-122"/>
                              <a:cs typeface="Cambria Math" panose="02040503050406030204" charset="0"/>
                            </a:rPr>
                            <m:t>(</m:t>
                          </m:r>
                          <m:r>
                            <a:rPr kumimoji="1" lang="zh-CN" altLang="en-US" sz="2400">
                              <a:latin typeface="Cambria Math" panose="02040503050406030204" charset="0"/>
                              <a:ea typeface="黑体" panose="02010609060101010101" pitchFamily="49" charset="-122"/>
                              <a:cs typeface="Cambria Math" panose="02040503050406030204" charset="0"/>
                            </a:rPr>
                            <m:t>𝑥</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zh-CN" altLang="en-US" sz="2400">
                              <a:latin typeface="Cambria Math" panose="02040503050406030204" charset="0"/>
                              <a:ea typeface="黑体" panose="02010609060101010101" pitchFamily="49" charset="-122"/>
                              <a:cs typeface="Cambria Math" panose="02040503050406030204" charset="0"/>
                            </a:rPr>
                            <m:t>𝑦</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pitchFamily="18"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pitchFamily="18"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lim>
                      </m:limLow>
                      <m:r>
                        <a:rPr kumimoji="1" lang="zh-CN" altLang="en-US" sz="2400" i="1">
                          <a:latin typeface="Cambria Math" panose="02040503050406030204" pitchFamily="18" charset="0"/>
                          <a:ea typeface="黑体" panose="02010609060101010101" pitchFamily="49" charset="-122"/>
                          <a:cs typeface="Cambria Math" panose="02040503050406030204" charset="0"/>
                        </a:rPr>
                        <m:t> </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9" name="Object 42">
                <a:extLst>
                  <a:ext uri="{FF2B5EF4-FFF2-40B4-BE49-F238E27FC236}">
                    <a16:creationId xmlns:a16="http://schemas.microsoft.com/office/drawing/2014/main" id="{4E76A93F-909F-5F12-E63D-BBAE1C29684D}"/>
                  </a:ext>
                </a:extLst>
              </p:cNvPr>
              <p:cNvSpPr txBox="1">
                <a:spLocks noRot="1" noChangeAspect="1" noMove="1" noResize="1" noEditPoints="1" noAdjustHandles="1" noChangeArrowheads="1" noChangeShapeType="1" noTextEdit="1"/>
              </p:cNvSpPr>
              <p:nvPr/>
            </p:nvSpPr>
            <p:spPr bwMode="auto">
              <a:xfrm>
                <a:off x="2409491" y="5470681"/>
                <a:ext cx="1439862" cy="642928"/>
              </a:xfrm>
              <a:prstGeom prst="rect">
                <a:avLst/>
              </a:prstGeom>
              <a:blipFill>
                <a:blip r:embed="rId11"/>
                <a:stretch>
                  <a:fillRect l="-847" r="-64831" b="-4717"/>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16846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left)">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left)">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left)">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5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left)">
                                      <p:cBhvr>
                                        <p:cTn id="6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10" grpId="0"/>
      <p:bldP spid="12" grpId="0"/>
      <p:bldP spid="13" grpId="0"/>
      <p:bldP spid="14" grpId="0"/>
      <p:bldP spid="15" grpId="0"/>
      <p:bldP spid="26" grpId="0" animBg="1"/>
      <p:bldP spid="27" grpId="0"/>
      <p:bldP spid="28" grpId="0"/>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F8BE7CCA-EAF1-63E8-CDAC-61DC614DF033}"/>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17" name="矩形 16">
                <a:extLst>
                  <a:ext uri="{FF2B5EF4-FFF2-40B4-BE49-F238E27FC236}">
                    <a16:creationId xmlns:a16="http://schemas.microsoft.com/office/drawing/2014/main" id="{F8BE7CCA-EAF1-63E8-CDAC-61DC614DF033}"/>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18" name="半闭框 17">
            <a:extLst>
              <a:ext uri="{FF2B5EF4-FFF2-40B4-BE49-F238E27FC236}">
                <a16:creationId xmlns:a16="http://schemas.microsoft.com/office/drawing/2014/main" id="{E715947F-E4DF-84F4-2706-812D87F9BBC9}"/>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半闭框 18">
            <a:extLst>
              <a:ext uri="{FF2B5EF4-FFF2-40B4-BE49-F238E27FC236}">
                <a16:creationId xmlns:a16="http://schemas.microsoft.com/office/drawing/2014/main" id="{EFAB40A8-3EAE-95D4-F118-1256211709BF}"/>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半闭框 19">
            <a:extLst>
              <a:ext uri="{FF2B5EF4-FFF2-40B4-BE49-F238E27FC236}">
                <a16:creationId xmlns:a16="http://schemas.microsoft.com/office/drawing/2014/main" id="{93BEE831-B5A7-79D8-B5F1-8697125717E0}"/>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1" name="半闭框 20">
            <a:extLst>
              <a:ext uri="{FF2B5EF4-FFF2-40B4-BE49-F238E27FC236}">
                <a16:creationId xmlns:a16="http://schemas.microsoft.com/office/drawing/2014/main" id="{395E25D6-DC71-D3F1-7177-FF2BAA38CADF}"/>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3" name="Object 5">
                <a:extLst>
                  <a:ext uri="{FF2B5EF4-FFF2-40B4-BE49-F238E27FC236}">
                    <a16:creationId xmlns:a16="http://schemas.microsoft.com/office/drawing/2014/main" id="{3D2C51F7-1FA0-4247-B9BA-57B6A57A0F6B}"/>
                  </a:ext>
                </a:extLst>
              </p:cNvPr>
              <p:cNvSpPr txBox="1"/>
              <p:nvPr/>
            </p:nvSpPr>
            <p:spPr bwMode="auto">
              <a:xfrm>
                <a:off x="2268379" y="624682"/>
                <a:ext cx="8838645" cy="12795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1"/>
                                    <m:mcJc m:val="center"/>
                                  </m:mcPr>
                                </m:mc>
                              </m:mcs>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0,                                            </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3" name="Object 5">
                <a:extLst>
                  <a:ext uri="{FF2B5EF4-FFF2-40B4-BE49-F238E27FC236}">
                    <a16:creationId xmlns:a16="http://schemas.microsoft.com/office/drawing/2014/main" id="{3D2C51F7-1FA0-4247-B9BA-57B6A57A0F6B}"/>
                  </a:ext>
                </a:extLst>
              </p:cNvPr>
              <p:cNvSpPr txBox="1">
                <a:spLocks noRot="1" noChangeAspect="1" noMove="1" noResize="1" noEditPoints="1" noAdjustHandles="1" noChangeArrowheads="1" noChangeShapeType="1" noTextEdit="1"/>
              </p:cNvSpPr>
              <p:nvPr/>
            </p:nvSpPr>
            <p:spPr bwMode="auto">
              <a:xfrm>
                <a:off x="2268379" y="624682"/>
                <a:ext cx="8838645" cy="1279525"/>
              </a:xfrm>
              <a:prstGeom prst="rect">
                <a:avLst/>
              </a:prstGeom>
              <a:blipFill>
                <a:blip r:embed="rId3"/>
                <a:stretch>
                  <a:fillRect b="-476"/>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6">
                <a:extLst>
                  <a:ext uri="{FF2B5EF4-FFF2-40B4-BE49-F238E27FC236}">
                    <a16:creationId xmlns:a16="http://schemas.microsoft.com/office/drawing/2014/main" id="{D8C61495-10E1-A2C5-8D62-27B3FC69DF8A}"/>
                  </a:ext>
                </a:extLst>
              </p:cNvPr>
              <p:cNvSpPr txBox="1"/>
              <p:nvPr/>
            </p:nvSpPr>
            <p:spPr bwMode="auto">
              <a:xfrm>
                <a:off x="2246153" y="1935162"/>
                <a:ext cx="8491755" cy="12795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1"/>
                                    <m:mcJc m:val="center"/>
                                  </m:mcPr>
                                </m:mc>
                              </m:mcs>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0,                                              </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4" name="Object 6">
                <a:extLst>
                  <a:ext uri="{FF2B5EF4-FFF2-40B4-BE49-F238E27FC236}">
                    <a16:creationId xmlns:a16="http://schemas.microsoft.com/office/drawing/2014/main" id="{D8C61495-10E1-A2C5-8D62-27B3FC69DF8A}"/>
                  </a:ext>
                </a:extLst>
              </p:cNvPr>
              <p:cNvSpPr txBox="1">
                <a:spLocks noRot="1" noChangeAspect="1" noMove="1" noResize="1" noEditPoints="1" noAdjustHandles="1" noChangeArrowheads="1" noChangeShapeType="1" noTextEdit="1"/>
              </p:cNvSpPr>
              <p:nvPr/>
            </p:nvSpPr>
            <p:spPr bwMode="auto">
              <a:xfrm>
                <a:off x="2246153" y="1935162"/>
                <a:ext cx="8491755" cy="1279525"/>
              </a:xfrm>
              <a:prstGeom prst="rect">
                <a:avLst/>
              </a:prstGeom>
              <a:blipFill>
                <a:blip r:embed="rId4"/>
                <a:stretch>
                  <a:fillRect b="-476"/>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 Box 7">
                <a:extLst>
                  <a:ext uri="{FF2B5EF4-FFF2-40B4-BE49-F238E27FC236}">
                    <a16:creationId xmlns:a16="http://schemas.microsoft.com/office/drawing/2014/main" id="{3BE90686-9531-D2C7-1999-1EF44242CD00}"/>
                  </a:ext>
                </a:extLst>
              </p:cNvPr>
              <p:cNvSpPr txBox="1">
                <a:spLocks noChangeArrowheads="1"/>
              </p:cNvSpPr>
              <p:nvPr/>
            </p:nvSpPr>
            <p:spPr bwMode="auto">
              <a:xfrm>
                <a:off x="2139473" y="3465688"/>
                <a:ext cx="4032250" cy="45756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同理可证</a:t>
                </a:r>
                <a14:m>
                  <m:oMath xmlns:m="http://schemas.openxmlformats.org/officeDocument/2006/math">
                    <m:sSub>
                      <m:sSubPr>
                        <m:ctrlPr>
                          <a:rPr kumimoji="1" lang="zh-CN" altLang="en-US" sz="2200" i="1">
                            <a:solidFill>
                              <a:schemeClr val="tx1">
                                <a:lumMod val="95000"/>
                                <a:lumOff val="5000"/>
                              </a:schemeClr>
                            </a:solidFill>
                            <a:latin typeface="Cambria Math" panose="02040503050406030204" pitchFamily="18" charset="0"/>
                          </a:rPr>
                        </m:ctrlPr>
                      </m:sSubPr>
                      <m:e>
                        <m:r>
                          <a:rPr kumimoji="1" lang="zh-CN" altLang="en-US" sz="2200">
                            <a:solidFill>
                              <a:schemeClr val="tx1">
                                <a:lumMod val="95000"/>
                                <a:lumOff val="5000"/>
                              </a:schemeClr>
                            </a:solidFill>
                            <a:latin typeface="Cambria Math" panose="02040503050406030204" charset="0"/>
                          </a:rPr>
                          <m:t>𝑓</m:t>
                        </m:r>
                      </m:e>
                      <m:sub>
                        <m:r>
                          <a:rPr kumimoji="1" lang="zh-CN" altLang="en-US" sz="2200">
                            <a:solidFill>
                              <a:schemeClr val="tx1">
                                <a:lumMod val="95000"/>
                                <a:lumOff val="5000"/>
                              </a:schemeClr>
                            </a:solidFill>
                            <a:latin typeface="Cambria Math" panose="02040503050406030204" charset="0"/>
                          </a:rPr>
                          <m:t>𝑦</m:t>
                        </m:r>
                      </m:sub>
                    </m:sSub>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𝑥</m:t>
                    </m:r>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𝑦</m:t>
                    </m:r>
                    <m:r>
                      <a:rPr kumimoji="1" lang="zh-CN" altLang="en-US" sz="2200">
                        <a:solidFill>
                          <a:schemeClr val="tx1">
                            <a:lumMod val="95000"/>
                            <a:lumOff val="5000"/>
                          </a:schemeClr>
                        </a:solidFill>
                        <a:latin typeface="Cambria Math" panose="02040503050406030204" charset="0"/>
                      </a:rPr>
                      <m:t>)</m:t>
                    </m:r>
                  </m:oMath>
                </a14:m>
                <a:r>
                  <a:rPr kumimoji="1" lang="zh-CN" altLang="en-US" sz="2200" b="0" dirty="0">
                    <a:solidFill>
                      <a:schemeClr val="tx1">
                        <a:lumMod val="95000"/>
                        <a:lumOff val="5000"/>
                      </a:schemeClr>
                    </a:solidFill>
                    <a:latin typeface="Cambria Math" panose="02040503050406030204" charset="0"/>
                  </a:rPr>
                  <a:t>在</a:t>
                </a:r>
                <a:r>
                  <a:rPr kumimoji="1" lang="en-US" altLang="zh-CN" sz="2200" b="0" dirty="0">
                    <a:solidFill>
                      <a:schemeClr val="tx1">
                        <a:lumMod val="95000"/>
                        <a:lumOff val="5000"/>
                      </a:schemeClr>
                    </a:solidFill>
                    <a:latin typeface="Cambria Math" panose="02040503050406030204" charset="0"/>
                  </a:rPr>
                  <a:t>(0, 0)</a:t>
                </a:r>
                <a:r>
                  <a:rPr kumimoji="1" lang="zh-CN" altLang="en-US" sz="2200" b="0" dirty="0">
                    <a:solidFill>
                      <a:schemeClr val="tx1">
                        <a:lumMod val="95000"/>
                        <a:lumOff val="5000"/>
                      </a:schemeClr>
                    </a:solidFill>
                    <a:latin typeface="Cambria Math" panose="02040503050406030204" charset="0"/>
                  </a:rPr>
                  <a:t>不连续</a:t>
                </a:r>
                <a:r>
                  <a:rPr kumimoji="1" lang="en-US" altLang="zh-CN" sz="2200" b="0" dirty="0">
                    <a:solidFill>
                      <a:schemeClr val="tx1">
                        <a:lumMod val="95000"/>
                        <a:lumOff val="5000"/>
                      </a:schemeClr>
                    </a:solidFill>
                    <a:latin typeface="Cambria Math" panose="02040503050406030204" charset="0"/>
                  </a:rPr>
                  <a:t>.</a:t>
                </a:r>
              </a:p>
            </p:txBody>
          </p:sp>
        </mc:Choice>
        <mc:Fallback xmlns="">
          <p:sp>
            <p:nvSpPr>
              <p:cNvPr id="5" name="Text Box 7">
                <a:extLst>
                  <a:ext uri="{FF2B5EF4-FFF2-40B4-BE49-F238E27FC236}">
                    <a16:creationId xmlns:a16="http://schemas.microsoft.com/office/drawing/2014/main" id="{3BE90686-9531-D2C7-1999-1EF44242CD00}"/>
                  </a:ext>
                </a:extLst>
              </p:cNvPr>
              <p:cNvSpPr txBox="1">
                <a:spLocks noRot="1" noChangeAspect="1" noMove="1" noResize="1" noEditPoints="1" noAdjustHandles="1" noChangeArrowheads="1" noChangeShapeType="1" noTextEdit="1"/>
              </p:cNvSpPr>
              <p:nvPr/>
            </p:nvSpPr>
            <p:spPr bwMode="auto">
              <a:xfrm>
                <a:off x="2139473" y="3465688"/>
                <a:ext cx="4032250" cy="457561"/>
              </a:xfrm>
              <a:prstGeom prst="rect">
                <a:avLst/>
              </a:prstGeom>
              <a:blipFill>
                <a:blip r:embed="rId5"/>
                <a:stretch>
                  <a:fillRect l="-1967" t="-14667" r="-3480" b="-186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6" name="Line 33">
            <a:extLst>
              <a:ext uri="{FF2B5EF4-FFF2-40B4-BE49-F238E27FC236}">
                <a16:creationId xmlns:a16="http://schemas.microsoft.com/office/drawing/2014/main" id="{90D11791-073A-5E7E-BEFF-EC2EB9EB6097}"/>
              </a:ext>
            </a:extLst>
          </p:cNvPr>
          <p:cNvSpPr>
            <a:spLocks noChangeShapeType="1"/>
          </p:cNvSpPr>
          <p:nvPr/>
        </p:nvSpPr>
        <p:spPr bwMode="auto">
          <a:xfrm flipV="1">
            <a:off x="2246153" y="3335079"/>
            <a:ext cx="7655241" cy="0"/>
          </a:xfrm>
          <a:prstGeom prst="line">
            <a:avLst/>
          </a:prstGeom>
          <a:ln w="19050">
            <a:solidFill>
              <a:srgbClr val="04926A"/>
            </a:solidFill>
          </a:ln>
        </p:spPr>
        <p:txBody>
          <a:bodyPr/>
          <a:lstStyle/>
          <a:p>
            <a:endParaRPr lang="zh-CN" altLang="en-US"/>
          </a:p>
        </p:txBody>
      </p:sp>
    </p:spTree>
    <p:extLst>
      <p:ext uri="{BB962C8B-B14F-4D97-AF65-F5344CB8AC3E}">
        <p14:creationId xmlns:p14="http://schemas.microsoft.com/office/powerpoint/2010/main" val="862596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2DB7CF06-6CCA-E8DB-EA73-0ACD241C31C5}"/>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27" name="矩形 26">
                <a:extLst>
                  <a:ext uri="{FF2B5EF4-FFF2-40B4-BE49-F238E27FC236}">
                    <a16:creationId xmlns:a16="http://schemas.microsoft.com/office/drawing/2014/main" id="{2DB7CF06-6CCA-E8DB-EA73-0ACD241C31C5}"/>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28" name="半闭框 27">
            <a:extLst>
              <a:ext uri="{FF2B5EF4-FFF2-40B4-BE49-F238E27FC236}">
                <a16:creationId xmlns:a16="http://schemas.microsoft.com/office/drawing/2014/main" id="{E973A7B6-0489-88E7-43BF-182A393E517A}"/>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半闭框 28">
            <a:extLst>
              <a:ext uri="{FF2B5EF4-FFF2-40B4-BE49-F238E27FC236}">
                <a16:creationId xmlns:a16="http://schemas.microsoft.com/office/drawing/2014/main" id="{BB4F90AA-4D81-7690-55E2-CBDAE49D483E}"/>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半闭框 29">
            <a:extLst>
              <a:ext uri="{FF2B5EF4-FFF2-40B4-BE49-F238E27FC236}">
                <a16:creationId xmlns:a16="http://schemas.microsoft.com/office/drawing/2014/main" id="{7BC207DC-29D4-192B-C0A7-C6C10199F74B}"/>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31" name="半闭框 30">
            <a:extLst>
              <a:ext uri="{FF2B5EF4-FFF2-40B4-BE49-F238E27FC236}">
                <a16:creationId xmlns:a16="http://schemas.microsoft.com/office/drawing/2014/main" id="{7B27D701-A8F5-09AC-EC97-3A75BA59B08D}"/>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 Box 32">
            <a:extLst>
              <a:ext uri="{FF2B5EF4-FFF2-40B4-BE49-F238E27FC236}">
                <a16:creationId xmlns:a16="http://schemas.microsoft.com/office/drawing/2014/main" id="{D9C51B4C-FEC2-60ED-7FFC-CE261FC1E760}"/>
              </a:ext>
            </a:extLst>
          </p:cNvPr>
          <p:cNvSpPr txBox="1">
            <a:spLocks noChangeArrowheads="1"/>
          </p:cNvSpPr>
          <p:nvPr/>
        </p:nvSpPr>
        <p:spPr bwMode="auto">
          <a:xfrm>
            <a:off x="2172890" y="2467357"/>
            <a:ext cx="10795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因为</a:t>
            </a:r>
          </a:p>
        </p:txBody>
      </p:sp>
      <mc:AlternateContent xmlns:mc="http://schemas.openxmlformats.org/markup-compatibility/2006" xmlns:a14="http://schemas.microsoft.com/office/drawing/2010/main">
        <mc:Choice Requires="a14">
          <p:sp>
            <p:nvSpPr>
              <p:cNvPr id="4" name="Object 34">
                <a:extLst>
                  <a:ext uri="{FF2B5EF4-FFF2-40B4-BE49-F238E27FC236}">
                    <a16:creationId xmlns:a16="http://schemas.microsoft.com/office/drawing/2014/main" id="{0294967B-B140-66F9-7D54-E7B6C6F7BE2F}"/>
                  </a:ext>
                </a:extLst>
              </p:cNvPr>
              <p:cNvSpPr txBox="1"/>
              <p:nvPr/>
            </p:nvSpPr>
            <p:spPr bwMode="auto">
              <a:xfrm>
                <a:off x="2866257" y="2449514"/>
                <a:ext cx="4168775" cy="473075"/>
              </a:xfrm>
              <a:prstGeom prst="rect">
                <a:avLst/>
              </a:prstGeom>
              <a:noFill/>
              <a:ln>
                <a:noFill/>
              </a:ln>
              <a:effectLst/>
            </p:spPr>
            <p:txBody>
              <a:bodyPr>
                <a:noAutofit/>
              </a:bodyPr>
              <a:lstStyle/>
              <a:p>
                <a:pPr>
                  <a:spcBef>
                    <a:spcPct val="50000"/>
                  </a:spcBef>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4" name="Object 34">
                <a:extLst>
                  <a:ext uri="{FF2B5EF4-FFF2-40B4-BE49-F238E27FC236}">
                    <a16:creationId xmlns:a16="http://schemas.microsoft.com/office/drawing/2014/main" id="{0294967B-B140-66F9-7D54-E7B6C6F7BE2F}"/>
                  </a:ext>
                </a:extLst>
              </p:cNvPr>
              <p:cNvSpPr txBox="1">
                <a:spLocks noRot="1" noChangeAspect="1" noMove="1" noResize="1" noEditPoints="1" noAdjustHandles="1" noChangeArrowheads="1" noChangeShapeType="1" noTextEdit="1"/>
              </p:cNvSpPr>
              <p:nvPr/>
            </p:nvSpPr>
            <p:spPr bwMode="auto">
              <a:xfrm>
                <a:off x="2866257" y="2449514"/>
                <a:ext cx="4168775" cy="473075"/>
              </a:xfrm>
              <a:prstGeom prst="rect">
                <a:avLst/>
              </a:prstGeom>
              <a:blipFill>
                <a:blip r:embed="rId3"/>
                <a:stretch>
                  <a:fillRect l="-146" b="-7792"/>
                </a:stretch>
              </a:blipFill>
              <a:ln>
                <a:noFill/>
              </a:ln>
              <a:effectLst/>
            </p:spPr>
            <p:txBody>
              <a:bodyPr/>
              <a:lstStyle/>
              <a:p>
                <a:r>
                  <a:rPr lang="zh-CN" altLang="en-US">
                    <a:noFill/>
                  </a:rPr>
                  <a:t> </a:t>
                </a:r>
              </a:p>
            </p:txBody>
          </p:sp>
        </mc:Fallback>
      </mc:AlternateContent>
      <p:sp>
        <p:nvSpPr>
          <p:cNvPr id="6" name="Text Box 37">
            <a:extLst>
              <a:ext uri="{FF2B5EF4-FFF2-40B4-BE49-F238E27FC236}">
                <a16:creationId xmlns:a16="http://schemas.microsoft.com/office/drawing/2014/main" id="{D8A6C3E9-BE00-0832-553C-4C303A51B679}"/>
              </a:ext>
            </a:extLst>
          </p:cNvPr>
          <p:cNvSpPr txBox="1">
            <a:spLocks noChangeArrowheads="1"/>
          </p:cNvSpPr>
          <p:nvPr/>
        </p:nvSpPr>
        <p:spPr bwMode="auto">
          <a:xfrm>
            <a:off x="2172890" y="5039864"/>
            <a:ext cx="100806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所以</a:t>
            </a:r>
          </a:p>
        </p:txBody>
      </p:sp>
      <mc:AlternateContent xmlns:mc="http://schemas.openxmlformats.org/markup-compatibility/2006" xmlns:a14="http://schemas.microsoft.com/office/drawing/2010/main">
        <mc:Choice Requires="a14">
          <p:sp>
            <p:nvSpPr>
              <p:cNvPr id="7" name="Object 38">
                <a:extLst>
                  <a:ext uri="{FF2B5EF4-FFF2-40B4-BE49-F238E27FC236}">
                    <a16:creationId xmlns:a16="http://schemas.microsoft.com/office/drawing/2014/main" id="{947C3056-9700-A4DF-6C1F-B2B9EC05471D}"/>
                  </a:ext>
                </a:extLst>
              </p:cNvPr>
              <p:cNvSpPr txBox="1"/>
              <p:nvPr/>
            </p:nvSpPr>
            <p:spPr bwMode="auto">
              <a:xfrm>
                <a:off x="2810273" y="5019563"/>
                <a:ext cx="5162549" cy="471487"/>
              </a:xfrm>
              <a:prstGeom prst="rect">
                <a:avLst/>
              </a:prstGeom>
              <a:noFill/>
              <a:ln>
                <a:noFill/>
              </a:ln>
              <a:effectLst/>
            </p:spPr>
            <p:txBody>
              <a:bodyPr>
                <a:noAutofit/>
              </a:bodyPr>
              <a:lstStyle/>
              <a:p>
                <a:pPr>
                  <a:spcBef>
                    <a:spcPct val="50000"/>
                  </a:spcBef>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(0,0)⋅</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Object 38">
                <a:extLst>
                  <a:ext uri="{FF2B5EF4-FFF2-40B4-BE49-F238E27FC236}">
                    <a16:creationId xmlns:a16="http://schemas.microsoft.com/office/drawing/2014/main" id="{947C3056-9700-A4DF-6C1F-B2B9EC05471D}"/>
                  </a:ext>
                </a:extLst>
              </p:cNvPr>
              <p:cNvSpPr txBox="1">
                <a:spLocks noRot="1" noChangeAspect="1" noMove="1" noResize="1" noEditPoints="1" noAdjustHandles="1" noChangeArrowheads="1" noChangeShapeType="1" noTextEdit="1"/>
              </p:cNvSpPr>
              <p:nvPr/>
            </p:nvSpPr>
            <p:spPr bwMode="auto">
              <a:xfrm>
                <a:off x="2810273" y="5019563"/>
                <a:ext cx="5162549" cy="471487"/>
              </a:xfrm>
              <a:prstGeom prst="rect">
                <a:avLst/>
              </a:prstGeom>
              <a:blipFill>
                <a:blip r:embed="rId4"/>
                <a:stretch>
                  <a:fillRect l="-118" b="-7692"/>
                </a:stretch>
              </a:blipFill>
              <a:ln>
                <a:noFill/>
              </a:ln>
              <a:effectLst/>
            </p:spPr>
            <p:txBody>
              <a:bodyPr/>
              <a:lstStyle/>
              <a:p>
                <a:r>
                  <a:rPr lang="zh-CN" altLang="en-US">
                    <a:noFill/>
                  </a:rPr>
                  <a:t> </a:t>
                </a:r>
              </a:p>
            </p:txBody>
          </p:sp>
        </mc:Fallback>
      </mc:AlternateContent>
      <p:sp>
        <p:nvSpPr>
          <p:cNvPr id="8" name="Text Box 39">
            <a:extLst>
              <a:ext uri="{FF2B5EF4-FFF2-40B4-BE49-F238E27FC236}">
                <a16:creationId xmlns:a16="http://schemas.microsoft.com/office/drawing/2014/main" id="{DFEFB704-1D38-D5BC-4BCB-A93FD18C4EB8}"/>
              </a:ext>
            </a:extLst>
          </p:cNvPr>
          <p:cNvSpPr txBox="1">
            <a:spLocks noChangeArrowheads="1"/>
          </p:cNvSpPr>
          <p:nvPr/>
        </p:nvSpPr>
        <p:spPr bwMode="auto">
          <a:xfrm>
            <a:off x="7747394" y="5039864"/>
            <a:ext cx="235267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即函数在</a:t>
            </a:r>
            <a:r>
              <a:rPr kumimoji="1" lang="en-US" altLang="zh-CN" sz="2200" b="0" dirty="0">
                <a:solidFill>
                  <a:schemeClr val="tx1">
                    <a:lumMod val="95000"/>
                    <a:lumOff val="5000"/>
                  </a:schemeClr>
                </a:solidFill>
                <a:latin typeface="Cambria Math" panose="02040503050406030204" charset="0"/>
              </a:rPr>
              <a:t>(0 , 0)</a:t>
            </a:r>
            <a:r>
              <a:rPr kumimoji="1" lang="zh-CN" altLang="en-US" sz="2200" b="0" dirty="0">
                <a:solidFill>
                  <a:schemeClr val="tx1">
                    <a:lumMod val="95000"/>
                    <a:lumOff val="5000"/>
                  </a:schemeClr>
                </a:solidFill>
                <a:latin typeface="Cambria Math" panose="02040503050406030204" charset="0"/>
              </a:rPr>
              <a:t>处</a:t>
            </a:r>
          </a:p>
        </p:txBody>
      </p:sp>
      <mc:AlternateContent xmlns:mc="http://schemas.openxmlformats.org/markup-compatibility/2006" xmlns:a14="http://schemas.microsoft.com/office/drawing/2010/main">
        <mc:Choice Requires="a14">
          <p:sp>
            <p:nvSpPr>
              <p:cNvPr id="9" name="Object 40">
                <a:extLst>
                  <a:ext uri="{FF2B5EF4-FFF2-40B4-BE49-F238E27FC236}">
                    <a16:creationId xmlns:a16="http://schemas.microsoft.com/office/drawing/2014/main" id="{963F8DF2-BAA3-E20B-433C-4131F1379262}"/>
                  </a:ext>
                </a:extLst>
              </p:cNvPr>
              <p:cNvSpPr txBox="1"/>
              <p:nvPr/>
            </p:nvSpPr>
            <p:spPr bwMode="auto">
              <a:xfrm>
                <a:off x="2934099" y="735705"/>
                <a:ext cx="6115016" cy="12795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1"/>
                                    <m:mcJc m:val="center"/>
                                  </m:mcPr>
                                </m:mc>
                              </m:mcs>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0 ,                           </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9" name="Object 40">
                <a:extLst>
                  <a:ext uri="{FF2B5EF4-FFF2-40B4-BE49-F238E27FC236}">
                    <a16:creationId xmlns:a16="http://schemas.microsoft.com/office/drawing/2014/main" id="{963F8DF2-BAA3-E20B-433C-4131F1379262}"/>
                  </a:ext>
                </a:extLst>
              </p:cNvPr>
              <p:cNvSpPr txBox="1">
                <a:spLocks noRot="1" noChangeAspect="1" noMove="1" noResize="1" noEditPoints="1" noAdjustHandles="1" noChangeArrowheads="1" noChangeShapeType="1" noTextEdit="1"/>
              </p:cNvSpPr>
              <p:nvPr/>
            </p:nvSpPr>
            <p:spPr bwMode="auto">
              <a:xfrm>
                <a:off x="2934099" y="735705"/>
                <a:ext cx="6115016" cy="1279525"/>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41">
                <a:extLst>
                  <a:ext uri="{FF2B5EF4-FFF2-40B4-BE49-F238E27FC236}">
                    <a16:creationId xmlns:a16="http://schemas.microsoft.com/office/drawing/2014/main" id="{E1825DDC-98E8-8E1D-7E97-7E517ECECB2A}"/>
                  </a:ext>
                </a:extLst>
              </p:cNvPr>
              <p:cNvSpPr txBox="1"/>
              <p:nvPr/>
            </p:nvSpPr>
            <p:spPr bwMode="auto">
              <a:xfrm>
                <a:off x="3513958" y="2925764"/>
                <a:ext cx="4738687" cy="8207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0" name="Object 41">
                <a:extLst>
                  <a:ext uri="{FF2B5EF4-FFF2-40B4-BE49-F238E27FC236}">
                    <a16:creationId xmlns:a16="http://schemas.microsoft.com/office/drawing/2014/main" id="{E1825DDC-98E8-8E1D-7E97-7E517ECECB2A}"/>
                  </a:ext>
                </a:extLst>
              </p:cNvPr>
              <p:cNvSpPr txBox="1">
                <a:spLocks noRot="1" noChangeAspect="1" noMove="1" noResize="1" noEditPoints="1" noAdjustHandles="1" noChangeArrowheads="1" noChangeShapeType="1" noTextEdit="1"/>
              </p:cNvSpPr>
              <p:nvPr/>
            </p:nvSpPr>
            <p:spPr bwMode="auto">
              <a:xfrm>
                <a:off x="3513958" y="2925764"/>
                <a:ext cx="4738687" cy="820737"/>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42">
                <a:extLst>
                  <a:ext uri="{FF2B5EF4-FFF2-40B4-BE49-F238E27FC236}">
                    <a16:creationId xmlns:a16="http://schemas.microsoft.com/office/drawing/2014/main" id="{2F2C6C53-E35A-DD11-6C67-274A12CC53B6}"/>
                  </a:ext>
                </a:extLst>
              </p:cNvPr>
              <p:cNvSpPr txBox="1"/>
              <p:nvPr/>
            </p:nvSpPr>
            <p:spPr bwMode="auto">
              <a:xfrm>
                <a:off x="8127233" y="2925763"/>
                <a:ext cx="1589088" cy="82073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1" name="Object 42">
                <a:extLst>
                  <a:ext uri="{FF2B5EF4-FFF2-40B4-BE49-F238E27FC236}">
                    <a16:creationId xmlns:a16="http://schemas.microsoft.com/office/drawing/2014/main" id="{2F2C6C53-E35A-DD11-6C67-274A12CC53B6}"/>
                  </a:ext>
                </a:extLst>
              </p:cNvPr>
              <p:cNvSpPr txBox="1">
                <a:spLocks noRot="1" noChangeAspect="1" noMove="1" noResize="1" noEditPoints="1" noAdjustHandles="1" noChangeArrowheads="1" noChangeShapeType="1" noTextEdit="1"/>
              </p:cNvSpPr>
              <p:nvPr/>
            </p:nvSpPr>
            <p:spPr bwMode="auto">
              <a:xfrm>
                <a:off x="8127233" y="2925763"/>
                <a:ext cx="1589088" cy="820737"/>
              </a:xfrm>
              <a:prstGeom prst="rect">
                <a:avLst/>
              </a:prstGeom>
              <a:blipFill>
                <a:blip r:embed="rId7"/>
                <a:stretch>
                  <a:fillRect r="-383"/>
                </a:stretch>
              </a:blipFill>
              <a:ln>
                <a:noFill/>
              </a:ln>
              <a:effectLst/>
            </p:spPr>
            <p:txBody>
              <a:bodyPr/>
              <a:lstStyle/>
              <a:p>
                <a:r>
                  <a:rPr lang="zh-CN" altLang="en-US">
                    <a:noFill/>
                  </a:rPr>
                  <a:t> </a:t>
                </a:r>
              </a:p>
            </p:txBody>
          </p:sp>
        </mc:Fallback>
      </mc:AlternateContent>
      <p:sp>
        <p:nvSpPr>
          <p:cNvPr id="13" name="Rectangle 44">
            <a:extLst>
              <a:ext uri="{FF2B5EF4-FFF2-40B4-BE49-F238E27FC236}">
                <a16:creationId xmlns:a16="http://schemas.microsoft.com/office/drawing/2014/main" id="{02DAA549-AA46-3C50-B4DD-5F0FE3ECE8DA}"/>
              </a:ext>
            </a:extLst>
          </p:cNvPr>
          <p:cNvSpPr>
            <a:spLocks noChangeArrowheads="1"/>
          </p:cNvSpPr>
          <p:nvPr/>
        </p:nvSpPr>
        <p:spPr bwMode="auto">
          <a:xfrm>
            <a:off x="2172890" y="5618433"/>
            <a:ext cx="80823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可微</a:t>
            </a:r>
            <a:r>
              <a:rPr kumimoji="1" lang="en-US" altLang="zh-CN" sz="2200" b="0" dirty="0">
                <a:solidFill>
                  <a:schemeClr val="tx1">
                    <a:lumMod val="95000"/>
                    <a:lumOff val="5000"/>
                  </a:schemeClr>
                </a:solidFill>
                <a:latin typeface="Cambria Math" panose="02040503050406030204" charset="0"/>
              </a:rPr>
              <a:t>.</a:t>
            </a:r>
          </a:p>
        </p:txBody>
      </p:sp>
      <mc:AlternateContent xmlns:mc="http://schemas.openxmlformats.org/markup-compatibility/2006" xmlns:a14="http://schemas.microsoft.com/office/drawing/2010/main">
        <mc:Choice Requires="a14">
          <p:sp>
            <p:nvSpPr>
              <p:cNvPr id="24" name="Object 42">
                <a:extLst>
                  <a:ext uri="{FF2B5EF4-FFF2-40B4-BE49-F238E27FC236}">
                    <a16:creationId xmlns:a16="http://schemas.microsoft.com/office/drawing/2014/main" id="{BDE8BE13-8C88-B1C5-9090-07A73FA4414F}"/>
                  </a:ext>
                </a:extLst>
              </p:cNvPr>
              <p:cNvSpPr txBox="1"/>
              <p:nvPr/>
            </p:nvSpPr>
            <p:spPr bwMode="auto">
              <a:xfrm>
                <a:off x="3513958" y="3857131"/>
                <a:ext cx="1691480" cy="97472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limLow>
                        <m:limLow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e>
                          </m:eqArr>
                        </m:lim>
                      </m:limLow>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den>
                      </m:f>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4" name="Object 42">
                <a:extLst>
                  <a:ext uri="{FF2B5EF4-FFF2-40B4-BE49-F238E27FC236}">
                    <a16:creationId xmlns:a16="http://schemas.microsoft.com/office/drawing/2014/main" id="{BDE8BE13-8C88-B1C5-9090-07A73FA4414F}"/>
                  </a:ext>
                </a:extLst>
              </p:cNvPr>
              <p:cNvSpPr txBox="1">
                <a:spLocks noRot="1" noChangeAspect="1" noMove="1" noResize="1" noEditPoints="1" noAdjustHandles="1" noChangeArrowheads="1" noChangeShapeType="1" noTextEdit="1"/>
              </p:cNvSpPr>
              <p:nvPr/>
            </p:nvSpPr>
            <p:spPr bwMode="auto">
              <a:xfrm>
                <a:off x="3513958" y="3857131"/>
                <a:ext cx="1691480" cy="974726"/>
              </a:xfrm>
              <a:prstGeom prst="rect">
                <a:avLst/>
              </a:prstGeom>
              <a:blipFill>
                <a:blip r:embed="rId8"/>
                <a:stretch>
                  <a:fillRect b="-562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Object 42">
                <a:extLst>
                  <a:ext uri="{FF2B5EF4-FFF2-40B4-BE49-F238E27FC236}">
                    <a16:creationId xmlns:a16="http://schemas.microsoft.com/office/drawing/2014/main" id="{29E09756-A2A8-EA66-ED9C-82DB447AAD6B}"/>
                  </a:ext>
                </a:extLst>
              </p:cNvPr>
              <p:cNvSpPr txBox="1"/>
              <p:nvPr/>
            </p:nvSpPr>
            <p:spPr bwMode="auto">
              <a:xfrm>
                <a:off x="5143333" y="4150583"/>
                <a:ext cx="2505076" cy="86898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m:t>
                      </m:r>
                      <m:limLow>
                        <m:limLow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e>
                          </m:eqArr>
                        </m:lim>
                      </m:limLow>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5" name="Object 42">
                <a:extLst>
                  <a:ext uri="{FF2B5EF4-FFF2-40B4-BE49-F238E27FC236}">
                    <a16:creationId xmlns:a16="http://schemas.microsoft.com/office/drawing/2014/main" id="{29E09756-A2A8-EA66-ED9C-82DB447AAD6B}"/>
                  </a:ext>
                </a:extLst>
              </p:cNvPr>
              <p:cNvSpPr txBox="1">
                <a:spLocks noRot="1" noChangeAspect="1" noMove="1" noResize="1" noEditPoints="1" noAdjustHandles="1" noChangeArrowheads="1" noChangeShapeType="1" noTextEdit="1"/>
              </p:cNvSpPr>
              <p:nvPr/>
            </p:nvSpPr>
            <p:spPr bwMode="auto">
              <a:xfrm>
                <a:off x="5143333" y="4150583"/>
                <a:ext cx="2505076" cy="868980"/>
              </a:xfrm>
              <a:prstGeom prst="rect">
                <a:avLst/>
              </a:prstGeom>
              <a:blipFill>
                <a:blip r:embed="rId9"/>
                <a:stretch>
                  <a:fillRect/>
                </a:stretch>
              </a:blipFill>
              <a:ln>
                <a:noFill/>
              </a:ln>
              <a:effectLst/>
            </p:spPr>
            <p:txBody>
              <a:bodyPr/>
              <a:lstStyle/>
              <a:p>
                <a:r>
                  <a:rPr lang="zh-CN" altLang="en-US">
                    <a:noFill/>
                  </a:rPr>
                  <a:t> </a:t>
                </a:r>
              </a:p>
            </p:txBody>
          </p:sp>
        </mc:Fallback>
      </mc:AlternateContent>
      <p:sp>
        <p:nvSpPr>
          <p:cNvPr id="26" name="Line 33">
            <a:extLst>
              <a:ext uri="{FF2B5EF4-FFF2-40B4-BE49-F238E27FC236}">
                <a16:creationId xmlns:a16="http://schemas.microsoft.com/office/drawing/2014/main" id="{F19F79B7-6E1E-E74B-EF24-B80563797B75}"/>
              </a:ext>
            </a:extLst>
          </p:cNvPr>
          <p:cNvSpPr>
            <a:spLocks noChangeShapeType="1"/>
          </p:cNvSpPr>
          <p:nvPr/>
        </p:nvSpPr>
        <p:spPr bwMode="auto">
          <a:xfrm flipV="1">
            <a:off x="2172890" y="2241293"/>
            <a:ext cx="7846220" cy="0"/>
          </a:xfrm>
          <a:prstGeom prst="line">
            <a:avLst/>
          </a:prstGeom>
          <a:ln w="19050">
            <a:solidFill>
              <a:srgbClr val="04926A"/>
            </a:solidFill>
          </a:ln>
        </p:spPr>
        <p:txBody>
          <a:bodyPr/>
          <a:lstStyle/>
          <a:p>
            <a:endParaRPr lang="zh-CN" altLang="en-US"/>
          </a:p>
        </p:txBody>
      </p:sp>
    </p:spTree>
    <p:extLst>
      <p:ext uri="{BB962C8B-B14F-4D97-AF65-F5344CB8AC3E}">
        <p14:creationId xmlns:p14="http://schemas.microsoft.com/office/powerpoint/2010/main" val="4214378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left)">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left)">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left)">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left)">
                                      <p:cBhvr>
                                        <p:cTn id="55" dur="500"/>
                                        <p:tgtEl>
                                          <p:spTgt spid="8"/>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wipe(left)">
                                      <p:cBhvr>
                                        <p:cTn id="5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7" grpId="0"/>
      <p:bldP spid="8" grpId="0"/>
      <p:bldP spid="9" grpId="0"/>
      <p:bldP spid="10" grpId="0"/>
      <p:bldP spid="11" grpId="0"/>
      <p:bldP spid="13" grpId="0"/>
      <p:bldP spid="24" grpId="0"/>
      <p:bldP spid="25" grpId="0"/>
      <p:bldP spid="2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A3C8EBF0-1214-7C8E-001D-3EE18EF29766}"/>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8" name="矩形 7">
                <a:extLst>
                  <a:ext uri="{FF2B5EF4-FFF2-40B4-BE49-F238E27FC236}">
                    <a16:creationId xmlns:a16="http://schemas.microsoft.com/office/drawing/2014/main" id="{A3C8EBF0-1214-7C8E-001D-3EE18EF29766}"/>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9" name="半闭框 8">
            <a:extLst>
              <a:ext uri="{FF2B5EF4-FFF2-40B4-BE49-F238E27FC236}">
                <a16:creationId xmlns:a16="http://schemas.microsoft.com/office/drawing/2014/main" id="{F821E596-B9FA-8735-32A5-92E024C8C37E}"/>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半闭框 10">
            <a:extLst>
              <a:ext uri="{FF2B5EF4-FFF2-40B4-BE49-F238E27FC236}">
                <a16:creationId xmlns:a16="http://schemas.microsoft.com/office/drawing/2014/main" id="{C82AA8B6-F39C-743C-F77D-E03805CA787C}"/>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半闭框 11">
            <a:extLst>
              <a:ext uri="{FF2B5EF4-FFF2-40B4-BE49-F238E27FC236}">
                <a16:creationId xmlns:a16="http://schemas.microsoft.com/office/drawing/2014/main" id="{1208EFE5-4832-BF16-3F56-800830D0E381}"/>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3" name="半闭框 12">
            <a:extLst>
              <a:ext uri="{FF2B5EF4-FFF2-40B4-BE49-F238E27FC236}">
                <a16:creationId xmlns:a16="http://schemas.microsoft.com/office/drawing/2014/main" id="{FAD9941B-D5C1-59AC-4BA8-4E0F890EFA63}"/>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Rectangle 2">
            <a:extLst>
              <a:ext uri="{FF2B5EF4-FFF2-40B4-BE49-F238E27FC236}">
                <a16:creationId xmlns:a16="http://schemas.microsoft.com/office/drawing/2014/main" id="{DCB8432E-B2D5-D8AA-8490-5D2424A14B2A}"/>
              </a:ext>
            </a:extLst>
          </p:cNvPr>
          <p:cNvSpPr txBox="1">
            <a:spLocks noChangeArrowheads="1"/>
          </p:cNvSpPr>
          <p:nvPr/>
        </p:nvSpPr>
        <p:spPr>
          <a:xfrm>
            <a:off x="3178464" y="2814268"/>
            <a:ext cx="2438400" cy="5334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900" b="1" dirty="0">
                <a:solidFill>
                  <a:srgbClr val="04926A"/>
                </a:solidFill>
                <a:latin typeface="微软雅黑" panose="020B0503020204020204" pitchFamily="34" charset="-122"/>
                <a:ea typeface="微软雅黑" panose="020B0503020204020204" pitchFamily="34" charset="-122"/>
                <a:cs typeface="+mn-cs"/>
                <a:sym typeface="+mn-lt"/>
              </a:rPr>
              <a:t>例</a:t>
            </a:r>
            <a:r>
              <a:rPr kumimoji="1" lang="en-US" altLang="zh-CN" sz="2900" b="1" dirty="0">
                <a:solidFill>
                  <a:srgbClr val="04926A"/>
                </a:solidFill>
                <a:latin typeface="微软雅黑" panose="020B0503020204020204" pitchFamily="34" charset="-122"/>
                <a:ea typeface="微软雅黑" panose="020B0503020204020204" pitchFamily="34" charset="-122"/>
                <a:cs typeface="+mn-cs"/>
                <a:sym typeface="+mn-lt"/>
              </a:rPr>
              <a:t>1  </a:t>
            </a:r>
            <a:r>
              <a:rPr kumimoji="1" lang="zh-CN" altLang="en-US" sz="2900" dirty="0">
                <a:solidFill>
                  <a:schemeClr val="tx1">
                    <a:lumMod val="95000"/>
                    <a:lumOff val="5000"/>
                  </a:schemeClr>
                </a:solidFill>
                <a:latin typeface="Cambria Math" panose="02040503050406030204" charset="0"/>
                <a:ea typeface="黑体" panose="02010609060101010101" pitchFamily="49" charset="-122"/>
                <a:cs typeface="+mn-cs"/>
                <a:sym typeface="+mn-lt"/>
              </a:rPr>
              <a:t>计算函数</a:t>
            </a:r>
          </a:p>
        </p:txBody>
      </p:sp>
      <p:sp>
        <p:nvSpPr>
          <p:cNvPr id="3" name="Text Box 4">
            <a:extLst>
              <a:ext uri="{FF2B5EF4-FFF2-40B4-BE49-F238E27FC236}">
                <a16:creationId xmlns:a16="http://schemas.microsoft.com/office/drawing/2014/main" id="{D3070278-7042-2B60-56D5-B4AB2BC68375}"/>
              </a:ext>
            </a:extLst>
          </p:cNvPr>
          <p:cNvSpPr txBox="1">
            <a:spLocks noChangeArrowheads="1"/>
          </p:cNvSpPr>
          <p:nvPr/>
        </p:nvSpPr>
        <p:spPr bwMode="auto">
          <a:xfrm>
            <a:off x="7820802" y="2788072"/>
            <a:ext cx="2053492"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的全微分</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 </a:t>
            </a:r>
          </a:p>
        </p:txBody>
      </p:sp>
      <mc:AlternateContent xmlns:mc="http://schemas.openxmlformats.org/markup-compatibility/2006" xmlns:a14="http://schemas.microsoft.com/office/drawing/2010/main">
        <mc:Choice Requires="a14">
          <p:sp>
            <p:nvSpPr>
              <p:cNvPr id="4" name="Object 5">
                <a:extLst>
                  <a:ext uri="{FF2B5EF4-FFF2-40B4-BE49-F238E27FC236}">
                    <a16:creationId xmlns:a16="http://schemas.microsoft.com/office/drawing/2014/main" id="{CCD02518-CB0B-F6B8-22E9-497B7D3B86F5}"/>
                  </a:ext>
                </a:extLst>
              </p:cNvPr>
              <p:cNvSpPr txBox="1"/>
              <p:nvPr/>
            </p:nvSpPr>
            <p:spPr bwMode="auto">
              <a:xfrm>
                <a:off x="5585114" y="2792592"/>
                <a:ext cx="2235688" cy="49450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4" name="Object 5">
                <a:extLst>
                  <a:ext uri="{FF2B5EF4-FFF2-40B4-BE49-F238E27FC236}">
                    <a16:creationId xmlns:a16="http://schemas.microsoft.com/office/drawing/2014/main" id="{CCD02518-CB0B-F6B8-22E9-497B7D3B86F5}"/>
                  </a:ext>
                </a:extLst>
              </p:cNvPr>
              <p:cNvSpPr txBox="1">
                <a:spLocks noRot="1" noChangeAspect="1" noMove="1" noResize="1" noEditPoints="1" noAdjustHandles="1" noChangeArrowheads="1" noChangeShapeType="1" noTextEdit="1"/>
              </p:cNvSpPr>
              <p:nvPr/>
            </p:nvSpPr>
            <p:spPr bwMode="auto">
              <a:xfrm>
                <a:off x="5585114" y="2792592"/>
                <a:ext cx="2235688" cy="494506"/>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5" name="Text Box 8">
            <a:extLst>
              <a:ext uri="{FF2B5EF4-FFF2-40B4-BE49-F238E27FC236}">
                <a16:creationId xmlns:a16="http://schemas.microsoft.com/office/drawing/2014/main" id="{AAD2F1E2-CEA9-B6DD-0C8D-4BA2D9E0CDB2}"/>
              </a:ext>
            </a:extLst>
          </p:cNvPr>
          <p:cNvSpPr txBox="1">
            <a:spLocks noChangeArrowheads="1"/>
          </p:cNvSpPr>
          <p:nvPr/>
        </p:nvSpPr>
        <p:spPr bwMode="auto">
          <a:xfrm>
            <a:off x="3178464" y="3698046"/>
            <a:ext cx="636732"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fontAlgn="base">
              <a:spcBef>
                <a:spcPct val="50000"/>
              </a:spcBef>
              <a:spcAft>
                <a:spcPct val="0"/>
              </a:spcAft>
              <a:tabLst/>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endParaRPr kumimoji="1" lang="en-US" altLang="zh-CN" sz="2800" b="1" dirty="0">
              <a:solidFill>
                <a:srgbClr val="04926A"/>
              </a:solidFill>
              <a:latin typeface="微软雅黑" panose="020B0503020204020204" pitchFamily="34" charset="-122"/>
              <a:ea typeface="微软雅黑" panose="020B0503020204020204" pitchFamily="34" charset="-122"/>
              <a:sym typeface="+mn-lt"/>
            </a:endParaRPr>
          </a:p>
        </p:txBody>
      </p:sp>
      <mc:AlternateContent xmlns:mc="http://schemas.openxmlformats.org/markup-compatibility/2006" xmlns:a14="http://schemas.microsoft.com/office/drawing/2010/main">
        <mc:Choice Requires="a14">
          <p:sp>
            <p:nvSpPr>
              <p:cNvPr id="6" name="Object 9">
                <a:extLst>
                  <a:ext uri="{FF2B5EF4-FFF2-40B4-BE49-F238E27FC236}">
                    <a16:creationId xmlns:a16="http://schemas.microsoft.com/office/drawing/2014/main" id="{993B8C71-2B20-9A81-3DE9-9A5483B4EAB0}"/>
                  </a:ext>
                </a:extLst>
              </p:cNvPr>
              <p:cNvSpPr txBox="1"/>
              <p:nvPr/>
            </p:nvSpPr>
            <p:spPr bwMode="auto">
              <a:xfrm>
                <a:off x="3980798" y="3584081"/>
                <a:ext cx="1684631" cy="74704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6" name="Object 9">
                <a:extLst>
                  <a:ext uri="{FF2B5EF4-FFF2-40B4-BE49-F238E27FC236}">
                    <a16:creationId xmlns:a16="http://schemas.microsoft.com/office/drawing/2014/main" id="{993B8C71-2B20-9A81-3DE9-9A5483B4EAB0}"/>
                  </a:ext>
                </a:extLst>
              </p:cNvPr>
              <p:cNvSpPr txBox="1">
                <a:spLocks noRot="1" noChangeAspect="1" noMove="1" noResize="1" noEditPoints="1" noAdjustHandles="1" noChangeArrowheads="1" noChangeShapeType="1" noTextEdit="1"/>
              </p:cNvSpPr>
              <p:nvPr/>
            </p:nvSpPr>
            <p:spPr bwMode="auto">
              <a:xfrm>
                <a:off x="3980798" y="3584081"/>
                <a:ext cx="1684631" cy="747041"/>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23">
                <a:extLst>
                  <a:ext uri="{FF2B5EF4-FFF2-40B4-BE49-F238E27FC236}">
                    <a16:creationId xmlns:a16="http://schemas.microsoft.com/office/drawing/2014/main" id="{14147360-3F43-7B2A-D790-D1B054D9C68C}"/>
                  </a:ext>
                </a:extLst>
              </p:cNvPr>
              <p:cNvSpPr txBox="1"/>
              <p:nvPr/>
            </p:nvSpPr>
            <p:spPr bwMode="auto">
              <a:xfrm>
                <a:off x="5457594" y="3584081"/>
                <a:ext cx="2126283" cy="74704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Object 23">
                <a:extLst>
                  <a:ext uri="{FF2B5EF4-FFF2-40B4-BE49-F238E27FC236}">
                    <a16:creationId xmlns:a16="http://schemas.microsoft.com/office/drawing/2014/main" id="{14147360-3F43-7B2A-D790-D1B054D9C68C}"/>
                  </a:ext>
                </a:extLst>
              </p:cNvPr>
              <p:cNvSpPr txBox="1">
                <a:spLocks noRot="1" noChangeAspect="1" noMove="1" noResize="1" noEditPoints="1" noAdjustHandles="1" noChangeArrowheads="1" noChangeShapeType="1" noTextEdit="1"/>
              </p:cNvSpPr>
              <p:nvPr/>
            </p:nvSpPr>
            <p:spPr bwMode="auto">
              <a:xfrm>
                <a:off x="5457594" y="3584081"/>
                <a:ext cx="2126283" cy="747041"/>
              </a:xfrm>
              <a:prstGeom prst="rect">
                <a:avLst/>
              </a:prstGeom>
              <a:blipFill>
                <a:blip r:embed="rId5"/>
                <a:stretch>
                  <a:fillRect b="-82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9">
                <a:extLst>
                  <a:ext uri="{FF2B5EF4-FFF2-40B4-BE49-F238E27FC236}">
                    <a16:creationId xmlns:a16="http://schemas.microsoft.com/office/drawing/2014/main" id="{170C4462-36F7-232F-20C9-17EA69F08D8F}"/>
                  </a:ext>
                </a:extLst>
              </p:cNvPr>
              <p:cNvSpPr txBox="1"/>
              <p:nvPr/>
            </p:nvSpPr>
            <p:spPr bwMode="auto">
              <a:xfrm>
                <a:off x="3980798" y="4471463"/>
                <a:ext cx="3840004" cy="5191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𝑥𝑦</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0" name="Object 9">
                <a:extLst>
                  <a:ext uri="{FF2B5EF4-FFF2-40B4-BE49-F238E27FC236}">
                    <a16:creationId xmlns:a16="http://schemas.microsoft.com/office/drawing/2014/main" id="{170C4462-36F7-232F-20C9-17EA69F08D8F}"/>
                  </a:ext>
                </a:extLst>
              </p:cNvPr>
              <p:cNvSpPr txBox="1">
                <a:spLocks noRot="1" noChangeAspect="1" noMove="1" noResize="1" noEditPoints="1" noAdjustHandles="1" noChangeArrowheads="1" noChangeShapeType="1" noTextEdit="1"/>
              </p:cNvSpPr>
              <p:nvPr/>
            </p:nvSpPr>
            <p:spPr bwMode="auto">
              <a:xfrm>
                <a:off x="3980798" y="4471463"/>
                <a:ext cx="3840004" cy="519112"/>
              </a:xfrm>
              <a:prstGeom prst="rect">
                <a:avLst/>
              </a:prstGeom>
              <a:blipFill>
                <a:blip r:embed="rId6"/>
                <a:stretch>
                  <a:fillRect/>
                </a:stretch>
              </a:blipFill>
              <a:ln>
                <a:noFill/>
              </a:ln>
              <a:effectLst/>
            </p:spPr>
            <p:txBody>
              <a:bodyPr/>
              <a:lstStyle/>
              <a:p>
                <a:r>
                  <a:rPr lang="zh-CN" altLang="en-US">
                    <a:noFill/>
                  </a:rPr>
                  <a:t> </a:t>
                </a:r>
              </a:p>
            </p:txBody>
          </p:sp>
        </mc:Fallback>
      </mc:AlternateContent>
      <p:sp>
        <p:nvSpPr>
          <p:cNvPr id="21" name="Rectangle 2">
            <a:extLst>
              <a:ext uri="{FF2B5EF4-FFF2-40B4-BE49-F238E27FC236}">
                <a16:creationId xmlns:a16="http://schemas.microsoft.com/office/drawing/2014/main" id="{D844F1EC-BF43-6E2D-613E-AB339A5F05A9}"/>
              </a:ext>
            </a:extLst>
          </p:cNvPr>
          <p:cNvSpPr txBox="1">
            <a:spLocks noChangeArrowheads="1"/>
          </p:cNvSpPr>
          <p:nvPr/>
        </p:nvSpPr>
        <p:spPr>
          <a:xfrm>
            <a:off x="2745977" y="1939000"/>
            <a:ext cx="1333926"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4. </a:t>
            </a:r>
            <a:r>
              <a:rPr kumimoji="1" lang="zh-CN" altLang="en-US" dirty="0">
                <a:solidFill>
                  <a:srgbClr val="04926A"/>
                </a:solidFill>
                <a:latin typeface="微软雅黑" panose="020B0503020204020204" pitchFamily="34" charset="-122"/>
                <a:ea typeface="微软雅黑" panose="020B0503020204020204" pitchFamily="34" charset="-122"/>
                <a:cs typeface="+mn-cs"/>
              </a:rPr>
              <a:t>举例</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448808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10" grpId="0"/>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6" name="矩形 55">
                <a:extLst>
                  <a:ext uri="{FF2B5EF4-FFF2-40B4-BE49-F238E27FC236}">
                    <a16:creationId xmlns:a16="http://schemas.microsoft.com/office/drawing/2014/main" id="{3E26C568-4EBB-3C0C-8BD4-B0438E164DB7}"/>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56" name="矩形 55">
                <a:extLst>
                  <a:ext uri="{FF2B5EF4-FFF2-40B4-BE49-F238E27FC236}">
                    <a16:creationId xmlns:a16="http://schemas.microsoft.com/office/drawing/2014/main" id="{3E26C568-4EBB-3C0C-8BD4-B0438E164DB7}"/>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57" name="半闭框 56">
            <a:extLst>
              <a:ext uri="{FF2B5EF4-FFF2-40B4-BE49-F238E27FC236}">
                <a16:creationId xmlns:a16="http://schemas.microsoft.com/office/drawing/2014/main" id="{771E087B-0C00-87D7-389B-2C66C6459897}"/>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半闭框 57">
            <a:extLst>
              <a:ext uri="{FF2B5EF4-FFF2-40B4-BE49-F238E27FC236}">
                <a16:creationId xmlns:a16="http://schemas.microsoft.com/office/drawing/2014/main" id="{AB5169AF-2089-CDB3-228D-AE06860CA4AC}"/>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半闭框 58">
            <a:extLst>
              <a:ext uri="{FF2B5EF4-FFF2-40B4-BE49-F238E27FC236}">
                <a16:creationId xmlns:a16="http://schemas.microsoft.com/office/drawing/2014/main" id="{61F3E1ED-D159-A132-3DDF-84387362807A}"/>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60" name="半闭框 59">
            <a:extLst>
              <a:ext uri="{FF2B5EF4-FFF2-40B4-BE49-F238E27FC236}">
                <a16:creationId xmlns:a16="http://schemas.microsoft.com/office/drawing/2014/main" id="{5F0ED80D-FDD2-BFEB-E4A2-F211D00E3BC3}"/>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Rectangle 2">
            <a:extLst>
              <a:ext uri="{FF2B5EF4-FFF2-40B4-BE49-F238E27FC236}">
                <a16:creationId xmlns:a16="http://schemas.microsoft.com/office/drawing/2014/main" id="{7AABBB51-9A76-4155-DF5A-FE4A470BF560}"/>
              </a:ext>
            </a:extLst>
          </p:cNvPr>
          <p:cNvSpPr txBox="1">
            <a:spLocks noChangeArrowheads="1"/>
          </p:cNvSpPr>
          <p:nvPr/>
        </p:nvSpPr>
        <p:spPr>
          <a:xfrm>
            <a:off x="2533143" y="932433"/>
            <a:ext cx="2438400" cy="5334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900" b="1" dirty="0">
                <a:solidFill>
                  <a:srgbClr val="04926A"/>
                </a:solidFill>
                <a:latin typeface="微软雅黑" panose="020B0503020204020204" pitchFamily="34" charset="-122"/>
                <a:ea typeface="微软雅黑" panose="020B0503020204020204" pitchFamily="34" charset="-122"/>
                <a:cs typeface="+mn-cs"/>
                <a:sym typeface="+mn-lt"/>
              </a:rPr>
              <a:t>例</a:t>
            </a:r>
            <a:r>
              <a:rPr kumimoji="1" lang="en-US" altLang="zh-CN" sz="2900" b="1" dirty="0">
                <a:solidFill>
                  <a:srgbClr val="04926A"/>
                </a:solidFill>
                <a:latin typeface="微软雅黑" panose="020B0503020204020204" pitchFamily="34" charset="-122"/>
                <a:ea typeface="微软雅黑" panose="020B0503020204020204" pitchFamily="34" charset="-122"/>
                <a:cs typeface="+mn-cs"/>
                <a:sym typeface="+mn-lt"/>
              </a:rPr>
              <a:t>2  </a:t>
            </a:r>
            <a:r>
              <a:rPr kumimoji="1" lang="zh-CN" altLang="en-US" sz="2900" dirty="0">
                <a:solidFill>
                  <a:schemeClr val="tx1">
                    <a:lumMod val="95000"/>
                    <a:lumOff val="5000"/>
                  </a:schemeClr>
                </a:solidFill>
                <a:latin typeface="Cambria Math" panose="02040503050406030204" charset="0"/>
                <a:ea typeface="黑体" panose="02010609060101010101" pitchFamily="49" charset="-122"/>
                <a:cs typeface="+mn-cs"/>
                <a:sym typeface="+mn-lt"/>
              </a:rPr>
              <a:t>计算函数</a:t>
            </a:r>
          </a:p>
        </p:txBody>
      </p:sp>
      <p:sp>
        <p:nvSpPr>
          <p:cNvPr id="3" name="Text Box 4">
            <a:extLst>
              <a:ext uri="{FF2B5EF4-FFF2-40B4-BE49-F238E27FC236}">
                <a16:creationId xmlns:a16="http://schemas.microsoft.com/office/drawing/2014/main" id="{3586C70E-B592-B7B3-253C-40C53317F07D}"/>
              </a:ext>
            </a:extLst>
          </p:cNvPr>
          <p:cNvSpPr txBox="1">
            <a:spLocks noChangeArrowheads="1"/>
          </p:cNvSpPr>
          <p:nvPr/>
        </p:nvSpPr>
        <p:spPr bwMode="auto">
          <a:xfrm>
            <a:off x="6027787" y="924098"/>
            <a:ext cx="3689271"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在点 </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(2,1)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处的全微分</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 </a:t>
            </a:r>
          </a:p>
        </p:txBody>
      </p:sp>
      <mc:AlternateContent xmlns:mc="http://schemas.openxmlformats.org/markup-compatibility/2006" xmlns:a14="http://schemas.microsoft.com/office/drawing/2010/main">
        <mc:Choice Requires="a14">
          <p:sp>
            <p:nvSpPr>
              <p:cNvPr id="4" name="Object 5">
                <a:extLst>
                  <a:ext uri="{FF2B5EF4-FFF2-40B4-BE49-F238E27FC236}">
                    <a16:creationId xmlns:a16="http://schemas.microsoft.com/office/drawing/2014/main" id="{AC80960F-C358-028D-0432-191F090FD6B1}"/>
                  </a:ext>
                </a:extLst>
              </p:cNvPr>
              <p:cNvSpPr txBox="1"/>
              <p:nvPr/>
            </p:nvSpPr>
            <p:spPr bwMode="auto">
              <a:xfrm>
                <a:off x="4807502" y="896105"/>
                <a:ext cx="1576587" cy="4445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8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𝑥𝑦</m:t>
                          </m:r>
                        </m:sup>
                      </m:sSup>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4" name="Object 5">
                <a:extLst>
                  <a:ext uri="{FF2B5EF4-FFF2-40B4-BE49-F238E27FC236}">
                    <a16:creationId xmlns:a16="http://schemas.microsoft.com/office/drawing/2014/main" id="{AC80960F-C358-028D-0432-191F090FD6B1}"/>
                  </a:ext>
                </a:extLst>
              </p:cNvPr>
              <p:cNvSpPr txBox="1">
                <a:spLocks noRot="1" noChangeAspect="1" noMove="1" noResize="1" noEditPoints="1" noAdjustHandles="1" noChangeArrowheads="1" noChangeShapeType="1" noTextEdit="1"/>
              </p:cNvSpPr>
              <p:nvPr/>
            </p:nvSpPr>
            <p:spPr bwMode="auto">
              <a:xfrm>
                <a:off x="4807502" y="896105"/>
                <a:ext cx="1576587" cy="444500"/>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5" name="Text Box 8">
            <a:extLst>
              <a:ext uri="{FF2B5EF4-FFF2-40B4-BE49-F238E27FC236}">
                <a16:creationId xmlns:a16="http://schemas.microsoft.com/office/drawing/2014/main" id="{1E75DCE3-E149-CC43-1EE7-FA6D45DDED1E}"/>
              </a:ext>
            </a:extLst>
          </p:cNvPr>
          <p:cNvSpPr txBox="1">
            <a:spLocks noChangeArrowheads="1"/>
          </p:cNvSpPr>
          <p:nvPr/>
        </p:nvSpPr>
        <p:spPr bwMode="auto">
          <a:xfrm>
            <a:off x="2533143" y="1647603"/>
            <a:ext cx="914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endParaRPr kumimoji="1" lang="en-US" altLang="zh-CN" sz="2800" b="1" dirty="0">
              <a:solidFill>
                <a:srgbClr val="04926A"/>
              </a:solidFill>
              <a:latin typeface="微软雅黑" panose="020B0503020204020204" pitchFamily="34" charset="-122"/>
              <a:ea typeface="微软雅黑" panose="020B0503020204020204" pitchFamily="34" charset="-122"/>
              <a:sym typeface="+mn-lt"/>
            </a:endParaRPr>
          </a:p>
        </p:txBody>
      </p:sp>
      <mc:AlternateContent xmlns:mc="http://schemas.openxmlformats.org/markup-compatibility/2006" xmlns:a14="http://schemas.microsoft.com/office/drawing/2010/main">
        <mc:Choice Requires="a14">
          <p:sp>
            <p:nvSpPr>
              <p:cNvPr id="6" name="Object 9">
                <a:extLst>
                  <a:ext uri="{FF2B5EF4-FFF2-40B4-BE49-F238E27FC236}">
                    <a16:creationId xmlns:a16="http://schemas.microsoft.com/office/drawing/2014/main" id="{9AD1ECFD-3D5B-A0ED-94FC-22C85719B4ED}"/>
                  </a:ext>
                </a:extLst>
              </p:cNvPr>
              <p:cNvSpPr txBox="1"/>
              <p:nvPr/>
            </p:nvSpPr>
            <p:spPr bwMode="auto">
              <a:xfrm>
                <a:off x="3337711" y="1568025"/>
                <a:ext cx="914400" cy="9271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6" name="Object 9">
                <a:extLst>
                  <a:ext uri="{FF2B5EF4-FFF2-40B4-BE49-F238E27FC236}">
                    <a16:creationId xmlns:a16="http://schemas.microsoft.com/office/drawing/2014/main" id="{9AD1ECFD-3D5B-A0ED-94FC-22C85719B4ED}"/>
                  </a:ext>
                </a:extLst>
              </p:cNvPr>
              <p:cNvSpPr txBox="1">
                <a:spLocks noRot="1" noChangeAspect="1" noMove="1" noResize="1" noEditPoints="1" noAdjustHandles="1" noChangeArrowheads="1" noChangeShapeType="1" noTextEdit="1"/>
              </p:cNvSpPr>
              <p:nvPr/>
            </p:nvSpPr>
            <p:spPr bwMode="auto">
              <a:xfrm>
                <a:off x="3337711" y="1568025"/>
                <a:ext cx="914400" cy="927100"/>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10">
                <a:extLst>
                  <a:ext uri="{FF2B5EF4-FFF2-40B4-BE49-F238E27FC236}">
                    <a16:creationId xmlns:a16="http://schemas.microsoft.com/office/drawing/2014/main" id="{DEA27CEE-0C1A-6686-CA17-49D37D5F9852}"/>
                  </a:ext>
                </a:extLst>
              </p:cNvPr>
              <p:cNvSpPr txBox="1"/>
              <p:nvPr/>
            </p:nvSpPr>
            <p:spPr bwMode="auto">
              <a:xfrm>
                <a:off x="3337712" y="2442351"/>
                <a:ext cx="3962326" cy="981868"/>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kumimoji="1" lang="en-US" altLang="zh-CN" sz="2200" i="1" dirty="0" smtClean="0">
                              <a:solidFill>
                                <a:schemeClr val="tx1">
                                  <a:lumMod val="95000"/>
                                  <a:lumOff val="5000"/>
                                </a:schemeClr>
                              </a:solidFill>
                              <a:latin typeface="Cambria Math" panose="02040503050406030204" pitchFamily="18" charset="0"/>
                              <a:sym typeface="Symbol" panose="05050102010706020507" pitchFamily="18" charset="2"/>
                            </a:rPr>
                          </m:ctrlPr>
                        </m:sSubPr>
                        <m:e>
                          <m:d>
                            <m:dPr>
                              <m:begChr m:val=""/>
                              <m:endChr m:val="|"/>
                              <m:ctrlPr>
                                <a:rPr kumimoji="1" lang="en-US" altLang="zh-CN" sz="2200" i="1" dirty="0">
                                  <a:solidFill>
                                    <a:schemeClr val="tx1">
                                      <a:lumMod val="95000"/>
                                      <a:lumOff val="5000"/>
                                    </a:schemeClr>
                                  </a:solidFill>
                                  <a:latin typeface="Cambria Math" panose="02040503050406030204" pitchFamily="18" charset="0"/>
                                  <a:sym typeface="Symbol" panose="05050102010706020507" pitchFamily="18" charset="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e>
                          </m:d>
                        </m:e>
                        <m:sub>
                          <m:eqArr>
                            <m:eqArrPr>
                              <m:ctrlPr>
                                <a:rPr kumimoji="1" lang="en-US" altLang="zh-CN" sz="2400" i="1" dirty="0">
                                  <a:latin typeface="Cambria Math" panose="02040503050406030204" pitchFamily="18" charset="0"/>
                                </a:rPr>
                              </m:ctrlPr>
                            </m:eqArrPr>
                            <m:e>
                              <m:r>
                                <a:rPr kumimoji="1" lang="en-US" altLang="zh-CN" sz="2400" i="1" dirty="0">
                                  <a:latin typeface="Cambria Math" panose="02040503050406030204" pitchFamily="18" charset="0"/>
                                </a:rPr>
                                <m:t>𝑥</m:t>
                              </m:r>
                              <m:r>
                                <a:rPr kumimoji="1" lang="en-US" altLang="zh-CN" sz="2400" i="1" dirty="0">
                                  <a:latin typeface="Cambria Math" panose="02040503050406030204" pitchFamily="18" charset="0"/>
                                </a:rPr>
                                <m:t>=2</m:t>
                              </m:r>
                            </m:e>
                            <m:e>
                              <m:r>
                                <a:rPr kumimoji="1" lang="en-US" altLang="zh-CN" sz="2400" i="1">
                                  <a:solidFill>
                                    <a:schemeClr val="tx1">
                                      <a:lumMod val="95000"/>
                                      <a:lumOff val="5000"/>
                                    </a:schemeClr>
                                  </a:solidFill>
                                  <a:latin typeface="Cambria Math" panose="02040503050406030204" pitchFamily="18" charset="0"/>
                                  <a:ea typeface="黑体" panose="02010609060101010101" pitchFamily="49" charset="-122"/>
                                </a:rPr>
                                <m:t>𝑦</m:t>
                              </m:r>
                              <m:r>
                                <a:rPr kumimoji="1" lang="en-US" altLang="zh-CN" sz="2400" i="1" dirty="0">
                                  <a:latin typeface="Cambria Math" panose="02040503050406030204" pitchFamily="18" charset="0"/>
                                </a:rPr>
                                <m:t>=</m:t>
                              </m:r>
                              <m:r>
                                <a:rPr kumimoji="1" lang="en-US" altLang="zh-CN" sz="2400" b="0" i="1" smtClean="0">
                                  <a:solidFill>
                                    <a:schemeClr val="tx1">
                                      <a:lumMod val="95000"/>
                                      <a:lumOff val="5000"/>
                                    </a:schemeClr>
                                  </a:solidFill>
                                  <a:latin typeface="Cambria Math" panose="02040503050406030204" pitchFamily="18" charset="0"/>
                                  <a:ea typeface="黑体" panose="02010609060101010101" pitchFamily="49" charset="-122"/>
                                </a:rPr>
                                <m:t>1</m:t>
                              </m:r>
                            </m:e>
                          </m:eqAr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b>
                        <m:sSubPr>
                          <m:ctrlPr>
                            <a:rPr kumimoji="1" lang="en-US" altLang="zh-CN" sz="2200" i="1" dirty="0">
                              <a:solidFill>
                                <a:schemeClr val="tx1">
                                  <a:lumMod val="95000"/>
                                  <a:lumOff val="5000"/>
                                </a:schemeClr>
                              </a:solidFill>
                              <a:latin typeface="Cambria Math" panose="02040503050406030204" pitchFamily="18" charset="0"/>
                              <a:sym typeface="Symbol" panose="05050102010706020507" pitchFamily="18" charset="2"/>
                            </a:rPr>
                          </m:ctrlPr>
                        </m:sSubPr>
                        <m:e>
                          <m:d>
                            <m:dPr>
                              <m:begChr m:val=""/>
                              <m:endChr m:val="|"/>
                              <m:ctrlPr>
                                <a:rPr kumimoji="1" lang="en-US" altLang="zh-CN" sz="2200" i="1" dirty="0">
                                  <a:solidFill>
                                    <a:schemeClr val="tx1">
                                      <a:lumMod val="95000"/>
                                      <a:lumOff val="5000"/>
                                    </a:schemeClr>
                                  </a:solidFill>
                                  <a:latin typeface="Cambria Math" panose="02040503050406030204" pitchFamily="18" charset="0"/>
                                  <a:sym typeface="Symbol" panose="05050102010706020507" pitchFamily="18" charset="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e>
                          </m:d>
                        </m:e>
                        <m:sub>
                          <m:eqArr>
                            <m:eqArrPr>
                              <m:ctrlPr>
                                <a:rPr kumimoji="1" lang="en-US" altLang="zh-CN" sz="2400" i="1" dirty="0">
                                  <a:latin typeface="Cambria Math" panose="02040503050406030204" pitchFamily="18" charset="0"/>
                                </a:rPr>
                              </m:ctrlPr>
                            </m:eqArrPr>
                            <m:e>
                              <m:r>
                                <a:rPr kumimoji="1" lang="en-US" altLang="zh-CN" sz="2400" i="1" dirty="0">
                                  <a:latin typeface="Cambria Math" panose="02040503050406030204" pitchFamily="18" charset="0"/>
                                </a:rPr>
                                <m:t>𝑥</m:t>
                              </m:r>
                              <m:r>
                                <a:rPr kumimoji="1" lang="en-US" altLang="zh-CN" sz="2400" i="1" dirty="0">
                                  <a:latin typeface="Cambria Math" panose="02040503050406030204" pitchFamily="18" charset="0"/>
                                </a:rPr>
                                <m:t>=2</m:t>
                              </m:r>
                            </m:e>
                            <m:e>
                              <m:r>
                                <a:rPr kumimoji="1" lang="en-US" altLang="zh-CN" sz="2400" i="1">
                                  <a:solidFill>
                                    <a:schemeClr val="tx1">
                                      <a:lumMod val="95000"/>
                                      <a:lumOff val="5000"/>
                                    </a:schemeClr>
                                  </a:solidFill>
                                  <a:latin typeface="Cambria Math" panose="02040503050406030204" pitchFamily="18" charset="0"/>
                                  <a:ea typeface="黑体" panose="02010609060101010101" pitchFamily="49" charset="-122"/>
                                </a:rPr>
                                <m:t>𝑦</m:t>
                              </m:r>
                              <m:r>
                                <a:rPr kumimoji="1" lang="en-US" altLang="zh-CN" sz="2400" i="1" dirty="0">
                                  <a:latin typeface="Cambria Math" panose="02040503050406030204" pitchFamily="18" charset="0"/>
                                </a:rPr>
                                <m:t>=</m:t>
                              </m:r>
                              <m:r>
                                <a:rPr kumimoji="1" lang="en-US" altLang="zh-CN" sz="2400" b="0" i="1" smtClean="0">
                                  <a:solidFill>
                                    <a:schemeClr val="tx1">
                                      <a:lumMod val="95000"/>
                                      <a:lumOff val="5000"/>
                                    </a:schemeClr>
                                  </a:solidFill>
                                  <a:latin typeface="Cambria Math" panose="02040503050406030204" pitchFamily="18" charset="0"/>
                                  <a:ea typeface="黑体" panose="02010609060101010101" pitchFamily="49" charset="-122"/>
                                </a:rPr>
                                <m:t>1</m:t>
                              </m:r>
                            </m:e>
                          </m:eqAr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Object 10">
                <a:extLst>
                  <a:ext uri="{FF2B5EF4-FFF2-40B4-BE49-F238E27FC236}">
                    <a16:creationId xmlns:a16="http://schemas.microsoft.com/office/drawing/2014/main" id="{DEA27CEE-0C1A-6686-CA17-49D37D5F9852}"/>
                  </a:ext>
                </a:extLst>
              </p:cNvPr>
              <p:cNvSpPr txBox="1">
                <a:spLocks noRot="1" noChangeAspect="1" noMove="1" noResize="1" noEditPoints="1" noAdjustHandles="1" noChangeArrowheads="1" noChangeShapeType="1" noTextEdit="1"/>
              </p:cNvSpPr>
              <p:nvPr/>
            </p:nvSpPr>
            <p:spPr bwMode="auto">
              <a:xfrm>
                <a:off x="3337712" y="2442351"/>
                <a:ext cx="3962326" cy="981868"/>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11">
                <a:extLst>
                  <a:ext uri="{FF2B5EF4-FFF2-40B4-BE49-F238E27FC236}">
                    <a16:creationId xmlns:a16="http://schemas.microsoft.com/office/drawing/2014/main" id="{82F307EB-BD5B-FFDB-1083-122CC7D94E85}"/>
                  </a:ext>
                </a:extLst>
              </p:cNvPr>
              <p:cNvSpPr txBox="1"/>
              <p:nvPr/>
            </p:nvSpPr>
            <p:spPr bwMode="auto">
              <a:xfrm>
                <a:off x="3317013" y="3497507"/>
                <a:ext cx="3962326" cy="731044"/>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∴ </m:t>
                      </m:r>
                      <m:sSub>
                        <m:sSubPr>
                          <m:ctrlPr>
                            <a:rPr kumimoji="1" lang="en-US" altLang="zh-CN" sz="2200" i="1" dirty="0">
                              <a:solidFill>
                                <a:schemeClr val="tx1">
                                  <a:lumMod val="95000"/>
                                  <a:lumOff val="5000"/>
                                </a:schemeClr>
                              </a:solidFill>
                              <a:latin typeface="Cambria Math" panose="02040503050406030204" pitchFamily="18" charset="0"/>
                              <a:sym typeface="Symbol" panose="05050102010706020507" pitchFamily="18" charset="2"/>
                            </a:rPr>
                          </m:ctrlPr>
                        </m:sSubPr>
                        <m:e>
                          <m:d>
                            <m:dPr>
                              <m:begChr m:val=""/>
                              <m:endChr m:val="|"/>
                              <m:ctrlPr>
                                <a:rPr kumimoji="1" lang="en-US" altLang="zh-CN" sz="2200" i="1" dirty="0">
                                  <a:solidFill>
                                    <a:schemeClr val="tx1">
                                      <a:lumMod val="95000"/>
                                      <a:lumOff val="5000"/>
                                    </a:schemeClr>
                                  </a:solidFill>
                                  <a:latin typeface="Cambria Math" panose="02040503050406030204" pitchFamily="18" charset="0"/>
                                  <a:sym typeface="Symbol" panose="05050102010706020507" pitchFamily="18" charset="2"/>
                                </a:rPr>
                              </m:ctrlPr>
                            </m:d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e>
                          </m:d>
                        </m:e>
                        <m:sub>
                          <m:eqArr>
                            <m:eqArrPr>
                              <m:ctrlPr>
                                <a:rPr kumimoji="1" lang="en-US" altLang="zh-CN" sz="2400" i="1" dirty="0">
                                  <a:latin typeface="Cambria Math" panose="02040503050406030204" pitchFamily="18" charset="0"/>
                                </a:rPr>
                              </m:ctrlPr>
                            </m:eqArrPr>
                            <m:e>
                              <m:r>
                                <a:rPr kumimoji="1" lang="en-US" altLang="zh-CN" sz="2400" i="1" dirty="0">
                                  <a:latin typeface="Cambria Math" panose="02040503050406030204" pitchFamily="18" charset="0"/>
                                </a:rPr>
                                <m:t>𝑥</m:t>
                              </m:r>
                              <m:r>
                                <a:rPr kumimoji="1" lang="en-US" altLang="zh-CN" sz="2400" i="1" dirty="0">
                                  <a:latin typeface="Cambria Math" panose="02040503050406030204" pitchFamily="18" charset="0"/>
                                </a:rPr>
                                <m:t>=2</m:t>
                              </m:r>
                            </m:e>
                            <m:e>
                              <m:r>
                                <a:rPr kumimoji="1" lang="en-US" altLang="zh-CN" sz="2400" i="1">
                                  <a:solidFill>
                                    <a:schemeClr val="tx1">
                                      <a:lumMod val="95000"/>
                                      <a:lumOff val="5000"/>
                                    </a:schemeClr>
                                  </a:solidFill>
                                  <a:latin typeface="Cambria Math" panose="02040503050406030204" pitchFamily="18" charset="0"/>
                                  <a:ea typeface="黑体" panose="02010609060101010101" pitchFamily="49" charset="-122"/>
                                </a:rPr>
                                <m:t>𝑦</m:t>
                              </m:r>
                              <m:r>
                                <a:rPr kumimoji="1" lang="en-US" altLang="zh-CN" sz="2400" i="1" dirty="0">
                                  <a:latin typeface="Cambria Math" panose="02040503050406030204" pitchFamily="18" charset="0"/>
                                </a:rPr>
                                <m:t>=</m:t>
                              </m:r>
                              <m:r>
                                <a:rPr kumimoji="1" lang="en-US" altLang="zh-CN" sz="2400" b="0" i="1" smtClean="0">
                                  <a:solidFill>
                                    <a:schemeClr val="tx1">
                                      <a:lumMod val="95000"/>
                                      <a:lumOff val="5000"/>
                                    </a:schemeClr>
                                  </a:solidFill>
                                  <a:latin typeface="Cambria Math" panose="02040503050406030204" pitchFamily="18" charset="0"/>
                                  <a:ea typeface="黑体" panose="02010609060101010101" pitchFamily="49" charset="-122"/>
                                </a:rPr>
                                <m:t>1</m:t>
                              </m:r>
                            </m:e>
                          </m:eqAr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8" name="Object 11">
                <a:extLst>
                  <a:ext uri="{FF2B5EF4-FFF2-40B4-BE49-F238E27FC236}">
                    <a16:creationId xmlns:a16="http://schemas.microsoft.com/office/drawing/2014/main" id="{82F307EB-BD5B-FFDB-1083-122CC7D94E85}"/>
                  </a:ext>
                </a:extLst>
              </p:cNvPr>
              <p:cNvSpPr txBox="1">
                <a:spLocks noRot="1" noChangeAspect="1" noMove="1" noResize="1" noEditPoints="1" noAdjustHandles="1" noChangeArrowheads="1" noChangeShapeType="1" noTextEdit="1"/>
              </p:cNvSpPr>
              <p:nvPr/>
            </p:nvSpPr>
            <p:spPr bwMode="auto">
              <a:xfrm>
                <a:off x="3317013" y="3497507"/>
                <a:ext cx="3962326" cy="731044"/>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23">
                <a:extLst>
                  <a:ext uri="{FF2B5EF4-FFF2-40B4-BE49-F238E27FC236}">
                    <a16:creationId xmlns:a16="http://schemas.microsoft.com/office/drawing/2014/main" id="{4FCF22AC-1C93-1E47-69A0-345BD5DE1D91}"/>
                  </a:ext>
                </a:extLst>
              </p:cNvPr>
              <p:cNvSpPr txBox="1"/>
              <p:nvPr/>
            </p:nvSpPr>
            <p:spPr bwMode="auto">
              <a:xfrm>
                <a:off x="4947313" y="1568025"/>
                <a:ext cx="1094014" cy="9271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9" name="Object 23">
                <a:extLst>
                  <a:ext uri="{FF2B5EF4-FFF2-40B4-BE49-F238E27FC236}">
                    <a16:creationId xmlns:a16="http://schemas.microsoft.com/office/drawing/2014/main" id="{4FCF22AC-1C93-1E47-69A0-345BD5DE1D91}"/>
                  </a:ext>
                </a:extLst>
              </p:cNvPr>
              <p:cNvSpPr txBox="1">
                <a:spLocks noRot="1" noChangeAspect="1" noMove="1" noResize="1" noEditPoints="1" noAdjustHandles="1" noChangeArrowheads="1" noChangeShapeType="1" noTextEdit="1"/>
              </p:cNvSpPr>
              <p:nvPr/>
            </p:nvSpPr>
            <p:spPr bwMode="auto">
              <a:xfrm>
                <a:off x="4947313" y="1568025"/>
                <a:ext cx="1094014" cy="927100"/>
              </a:xfrm>
              <a:prstGeom prst="rect">
                <a:avLst/>
              </a:prstGeom>
              <a:blipFill>
                <a:blip r:embed="rId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25">
                <a:extLst>
                  <a:ext uri="{FF2B5EF4-FFF2-40B4-BE49-F238E27FC236}">
                    <a16:creationId xmlns:a16="http://schemas.microsoft.com/office/drawing/2014/main" id="{2710D532-C7FB-C618-0350-5626C8DEF20A}"/>
                  </a:ext>
                </a:extLst>
              </p:cNvPr>
              <p:cNvSpPr txBox="1"/>
              <p:nvPr/>
            </p:nvSpPr>
            <p:spPr bwMode="auto">
              <a:xfrm>
                <a:off x="5754391" y="1710899"/>
                <a:ext cx="876300" cy="5207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𝑥𝑦</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0" name="Object 25">
                <a:extLst>
                  <a:ext uri="{FF2B5EF4-FFF2-40B4-BE49-F238E27FC236}">
                    <a16:creationId xmlns:a16="http://schemas.microsoft.com/office/drawing/2014/main" id="{2710D532-C7FB-C618-0350-5626C8DEF20A}"/>
                  </a:ext>
                </a:extLst>
              </p:cNvPr>
              <p:cNvSpPr txBox="1">
                <a:spLocks noRot="1" noChangeAspect="1" noMove="1" noResize="1" noEditPoints="1" noAdjustHandles="1" noChangeArrowheads="1" noChangeShapeType="1" noTextEdit="1"/>
              </p:cNvSpPr>
              <p:nvPr/>
            </p:nvSpPr>
            <p:spPr bwMode="auto">
              <a:xfrm>
                <a:off x="5754391" y="1710899"/>
                <a:ext cx="876300" cy="520700"/>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26">
                <a:extLst>
                  <a:ext uri="{FF2B5EF4-FFF2-40B4-BE49-F238E27FC236}">
                    <a16:creationId xmlns:a16="http://schemas.microsoft.com/office/drawing/2014/main" id="{195D7A63-F788-7CD9-3274-F69D7748D59B}"/>
                  </a:ext>
                </a:extLst>
              </p:cNvPr>
              <p:cNvSpPr txBox="1"/>
              <p:nvPr/>
            </p:nvSpPr>
            <p:spPr bwMode="auto">
              <a:xfrm>
                <a:off x="4032913" y="1702961"/>
                <a:ext cx="1045029" cy="4699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1" name="Object 26">
                <a:extLst>
                  <a:ext uri="{FF2B5EF4-FFF2-40B4-BE49-F238E27FC236}">
                    <a16:creationId xmlns:a16="http://schemas.microsoft.com/office/drawing/2014/main" id="{195D7A63-F788-7CD9-3274-F69D7748D59B}"/>
                  </a:ext>
                </a:extLst>
              </p:cNvPr>
              <p:cNvSpPr txBox="1">
                <a:spLocks noRot="1" noChangeAspect="1" noMove="1" noResize="1" noEditPoints="1" noAdjustHandles="1" noChangeArrowheads="1" noChangeShapeType="1" noTextEdit="1"/>
              </p:cNvSpPr>
              <p:nvPr/>
            </p:nvSpPr>
            <p:spPr bwMode="auto">
              <a:xfrm>
                <a:off x="4032913" y="1702961"/>
                <a:ext cx="1045029" cy="469900"/>
              </a:xfrm>
              <a:prstGeom prst="rect">
                <a:avLst/>
              </a:prstGeom>
              <a:blipFill>
                <a:blip r:embed="rId10"/>
                <a:stretch>
                  <a:fillRect l="-1170" b="-259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27">
                <a:extLst>
                  <a:ext uri="{FF2B5EF4-FFF2-40B4-BE49-F238E27FC236}">
                    <a16:creationId xmlns:a16="http://schemas.microsoft.com/office/drawing/2014/main" id="{14B3145C-CE56-A5B4-75BE-29A106CDDC11}"/>
                  </a:ext>
                </a:extLst>
              </p:cNvPr>
              <p:cNvSpPr txBox="1"/>
              <p:nvPr/>
            </p:nvSpPr>
            <p:spPr bwMode="auto">
              <a:xfrm>
                <a:off x="6483974" y="3562391"/>
                <a:ext cx="2202498" cy="4730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2" name="Object 27">
                <a:extLst>
                  <a:ext uri="{FF2B5EF4-FFF2-40B4-BE49-F238E27FC236}">
                    <a16:creationId xmlns:a16="http://schemas.microsoft.com/office/drawing/2014/main" id="{14B3145C-CE56-A5B4-75BE-29A106CDDC11}"/>
                  </a:ext>
                </a:extLst>
              </p:cNvPr>
              <p:cNvSpPr txBox="1">
                <a:spLocks noRot="1" noChangeAspect="1" noMove="1" noResize="1" noEditPoints="1" noAdjustHandles="1" noChangeArrowheads="1" noChangeShapeType="1" noTextEdit="1"/>
              </p:cNvSpPr>
              <p:nvPr/>
            </p:nvSpPr>
            <p:spPr bwMode="auto">
              <a:xfrm>
                <a:off x="6483974" y="3562391"/>
                <a:ext cx="2202498" cy="473075"/>
              </a:xfrm>
              <a:prstGeom prst="rect">
                <a:avLst/>
              </a:prstGeom>
              <a:blipFill>
                <a:blip r:embed="rId11"/>
                <a:stretch>
                  <a:fillRect b="-7692"/>
                </a:stretch>
              </a:blipFill>
              <a:ln>
                <a:noFill/>
              </a:ln>
              <a:effectLst/>
            </p:spPr>
            <p:txBody>
              <a:bodyPr/>
              <a:lstStyle/>
              <a:p>
                <a:r>
                  <a:rPr lang="zh-CN" altLang="en-US">
                    <a:noFill/>
                  </a:rPr>
                  <a:t> </a:t>
                </a:r>
              </a:p>
            </p:txBody>
          </p:sp>
        </mc:Fallback>
      </mc:AlternateContent>
      <p:sp>
        <p:nvSpPr>
          <p:cNvPr id="13" name="对象 12">
            <a:extLst>
              <a:ext uri="{FF2B5EF4-FFF2-40B4-BE49-F238E27FC236}">
                <a16:creationId xmlns:a16="http://schemas.microsoft.com/office/drawing/2014/main" id="{34102802-B457-690D-F32D-46E062666462}"/>
              </a:ext>
            </a:extLst>
          </p:cNvPr>
          <p:cNvSpPr txBox="1"/>
          <p:nvPr/>
        </p:nvSpPr>
        <p:spPr>
          <a:xfrm>
            <a:off x="6851143" y="3742309"/>
            <a:ext cx="914400" cy="198438"/>
          </a:xfrm>
          <a:prstGeom prst="rect">
            <a:avLst/>
          </a:prstGeom>
        </p:spPr>
        <p:txBody>
          <a:bodyPr>
            <a:normAutofit fontScale="40000" lnSpcReduction="20000"/>
          </a:bodyPr>
          <a:lstStyle/>
          <a:p>
            <a:endParaRPr lang="zh-CN" altLang="en-US"/>
          </a:p>
        </p:txBody>
      </p:sp>
      <p:sp>
        <p:nvSpPr>
          <p:cNvPr id="14" name="Text Box 12">
            <a:extLst>
              <a:ext uri="{FF2B5EF4-FFF2-40B4-BE49-F238E27FC236}">
                <a16:creationId xmlns:a16="http://schemas.microsoft.com/office/drawing/2014/main" id="{2D78EBCE-8EF7-9280-4494-E72EE9F936D3}"/>
              </a:ext>
            </a:extLst>
          </p:cNvPr>
          <p:cNvSpPr txBox="1">
            <a:spLocks noChangeArrowheads="1"/>
          </p:cNvSpPr>
          <p:nvPr/>
        </p:nvSpPr>
        <p:spPr bwMode="auto">
          <a:xfrm>
            <a:off x="2533143" y="4562234"/>
            <a:ext cx="2743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例</a:t>
            </a:r>
            <a:r>
              <a:rPr kumimoji="1" lang="en-US" altLang="zh-CN" sz="2800" b="1" dirty="0">
                <a:solidFill>
                  <a:srgbClr val="04926A"/>
                </a:solidFill>
                <a:latin typeface="微软雅黑" panose="020B0503020204020204" pitchFamily="34" charset="-122"/>
                <a:ea typeface="微软雅黑" panose="020B0503020204020204" pitchFamily="34" charset="-122"/>
                <a:sym typeface="+mn-lt"/>
              </a:rPr>
              <a:t>3  </a:t>
            </a:r>
            <a:r>
              <a:rPr kumimoji="1" lang="zh-CN" altLang="en-US" sz="2800" b="0" i="0" u="none" strike="noStrike" kern="1200" cap="none" spc="0" normalizeH="0" baseline="0" noProof="0" dirty="0">
                <a:ln>
                  <a:noFill/>
                </a:ln>
                <a:solidFill>
                  <a:prstClr val="black"/>
                </a:solidFill>
                <a:effectLst/>
                <a:uLnTx/>
                <a:uFillTx/>
                <a:latin typeface="Times New Roman" panose="020F0502020204030204"/>
                <a:ea typeface="黑体"/>
                <a:cs typeface="+mn-ea"/>
                <a:sym typeface="+mn-lt"/>
              </a:rPr>
              <a:t>计算函数</a:t>
            </a:r>
          </a:p>
        </p:txBody>
      </p:sp>
      <p:sp>
        <p:nvSpPr>
          <p:cNvPr id="15" name="Text Box 13">
            <a:extLst>
              <a:ext uri="{FF2B5EF4-FFF2-40B4-BE49-F238E27FC236}">
                <a16:creationId xmlns:a16="http://schemas.microsoft.com/office/drawing/2014/main" id="{8D364DC9-EECA-DF77-8DEE-458BD3CC5258}"/>
              </a:ext>
            </a:extLst>
          </p:cNvPr>
          <p:cNvSpPr txBox="1">
            <a:spLocks noChangeArrowheads="1"/>
          </p:cNvSpPr>
          <p:nvPr/>
        </p:nvSpPr>
        <p:spPr bwMode="auto">
          <a:xfrm>
            <a:off x="7802225" y="4547947"/>
            <a:ext cx="172003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Times New Roman" panose="020F0502020204030204"/>
                <a:ea typeface="黑体"/>
                <a:cs typeface="+mn-ea"/>
                <a:sym typeface="+mn-lt"/>
              </a:rPr>
              <a:t>的全微分</a:t>
            </a:r>
            <a:r>
              <a:rPr kumimoji="1" lang="en-US" altLang="zh-CN" sz="2800" b="0" i="0" u="none" strike="noStrike" kern="1200" cap="none" spc="0" normalizeH="0" baseline="0" noProof="0" dirty="0">
                <a:ln>
                  <a:noFill/>
                </a:ln>
                <a:solidFill>
                  <a:prstClr val="black"/>
                </a:solidFill>
                <a:effectLst/>
                <a:uLnTx/>
                <a:uFillTx/>
                <a:latin typeface="Times New Roman" panose="020F0502020204030204"/>
                <a:ea typeface="黑体"/>
                <a:cs typeface="+mn-ea"/>
                <a:sym typeface="+mn-lt"/>
              </a:rPr>
              <a:t>. </a:t>
            </a:r>
            <a:endParaRPr kumimoji="1" lang="en-US" altLang="zh-CN" sz="2400" b="0" i="0" u="none" strike="noStrike" kern="1200" cap="none" spc="0" normalizeH="0" baseline="0" noProof="0" dirty="0">
              <a:ln>
                <a:noFill/>
              </a:ln>
              <a:solidFill>
                <a:srgbClr val="ED7D31"/>
              </a:solidFill>
              <a:effectLst/>
              <a:uLnTx/>
              <a:uFillTx/>
              <a:latin typeface="Times New Roman" panose="020F0502020204030204"/>
              <a:ea typeface="黑体"/>
              <a:cs typeface="+mn-ea"/>
              <a:sym typeface="+mn-lt"/>
            </a:endParaRPr>
          </a:p>
        </p:txBody>
      </p:sp>
      <mc:AlternateContent xmlns:mc="http://schemas.openxmlformats.org/markup-compatibility/2006" xmlns:a14="http://schemas.microsoft.com/office/drawing/2010/main">
        <mc:Choice Requires="a14">
          <p:sp>
            <p:nvSpPr>
              <p:cNvPr id="16" name="Object 14">
                <a:extLst>
                  <a:ext uri="{FF2B5EF4-FFF2-40B4-BE49-F238E27FC236}">
                    <a16:creationId xmlns:a16="http://schemas.microsoft.com/office/drawing/2014/main" id="{2455F283-9DFF-D4A4-9770-F8D51A5B37F5}"/>
                  </a:ext>
                </a:extLst>
              </p:cNvPr>
              <p:cNvSpPr txBox="1"/>
              <p:nvPr/>
            </p:nvSpPr>
            <p:spPr bwMode="auto">
              <a:xfrm>
                <a:off x="4798101" y="4386021"/>
                <a:ext cx="3174267" cy="8509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den>
                          </m:f>
                        </m:e>
                      </m:func>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8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𝑦𝑧</m:t>
                          </m:r>
                        </m:sup>
                      </m:sSup>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6" name="Object 14">
                <a:extLst>
                  <a:ext uri="{FF2B5EF4-FFF2-40B4-BE49-F238E27FC236}">
                    <a16:creationId xmlns:a16="http://schemas.microsoft.com/office/drawing/2014/main" id="{2455F283-9DFF-D4A4-9770-F8D51A5B37F5}"/>
                  </a:ext>
                </a:extLst>
              </p:cNvPr>
              <p:cNvSpPr txBox="1">
                <a:spLocks noRot="1" noChangeAspect="1" noMove="1" noResize="1" noEditPoints="1" noAdjustHandles="1" noChangeArrowheads="1" noChangeShapeType="1" noTextEdit="1"/>
              </p:cNvSpPr>
              <p:nvPr/>
            </p:nvSpPr>
            <p:spPr bwMode="auto">
              <a:xfrm>
                <a:off x="4798101" y="4386021"/>
                <a:ext cx="3174267" cy="850900"/>
              </a:xfrm>
              <a:prstGeom prst="rect">
                <a:avLst/>
              </a:prstGeom>
              <a:blipFill>
                <a:blip r:embed="rId12"/>
                <a:stretch>
                  <a:fillRect/>
                </a:stretch>
              </a:blipFill>
              <a:ln>
                <a:noFill/>
              </a:ln>
              <a:effectLst/>
            </p:spPr>
            <p:txBody>
              <a:bodyPr/>
              <a:lstStyle/>
              <a:p>
                <a:r>
                  <a:rPr lang="zh-CN" altLang="en-US">
                    <a:noFill/>
                  </a:rPr>
                  <a:t> </a:t>
                </a:r>
              </a:p>
            </p:txBody>
          </p:sp>
        </mc:Fallback>
      </mc:AlternateContent>
      <p:sp>
        <p:nvSpPr>
          <p:cNvPr id="17" name="Text Box 15">
            <a:extLst>
              <a:ext uri="{FF2B5EF4-FFF2-40B4-BE49-F238E27FC236}">
                <a16:creationId xmlns:a16="http://schemas.microsoft.com/office/drawing/2014/main" id="{95D98348-002E-88E2-4927-47A2EE9FB5E3}"/>
              </a:ext>
            </a:extLst>
          </p:cNvPr>
          <p:cNvSpPr txBox="1">
            <a:spLocks noChangeArrowheads="1"/>
          </p:cNvSpPr>
          <p:nvPr/>
        </p:nvSpPr>
        <p:spPr bwMode="auto">
          <a:xfrm>
            <a:off x="2533143" y="5346216"/>
            <a:ext cx="838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r>
              <a:rPr kumimoji="1" lang="en-US" altLang="zh-CN" sz="2800" b="1" dirty="0">
                <a:solidFill>
                  <a:srgbClr val="04926A"/>
                </a:solidFill>
                <a:latin typeface="微软雅黑" panose="020B0503020204020204" pitchFamily="34" charset="-122"/>
                <a:ea typeface="微软雅黑" panose="020B0503020204020204" pitchFamily="34" charset="-122"/>
                <a:sym typeface="+mn-lt"/>
              </a:rPr>
              <a:t> </a:t>
            </a:r>
          </a:p>
        </p:txBody>
      </p:sp>
      <p:grpSp>
        <p:nvGrpSpPr>
          <p:cNvPr id="20" name="组合 19">
            <a:extLst>
              <a:ext uri="{FF2B5EF4-FFF2-40B4-BE49-F238E27FC236}">
                <a16:creationId xmlns:a16="http://schemas.microsoft.com/office/drawing/2014/main" id="{F94D917B-8308-4752-9FFC-1AF54A1DEC76}"/>
              </a:ext>
            </a:extLst>
          </p:cNvPr>
          <p:cNvGrpSpPr/>
          <p:nvPr/>
        </p:nvGrpSpPr>
        <p:grpSpPr>
          <a:xfrm>
            <a:off x="3335611" y="5210400"/>
            <a:ext cx="5292414" cy="834304"/>
            <a:chOff x="3335611" y="5210400"/>
            <a:chExt cx="5292414" cy="834304"/>
          </a:xfrm>
        </p:grpSpPr>
        <mc:AlternateContent xmlns:mc="http://schemas.openxmlformats.org/markup-compatibility/2006" xmlns:a14="http://schemas.microsoft.com/office/drawing/2010/main">
          <mc:Choice Requires="a14">
            <p:sp>
              <p:nvSpPr>
                <p:cNvPr id="55" name="Object 19">
                  <a:extLst>
                    <a:ext uri="{FF2B5EF4-FFF2-40B4-BE49-F238E27FC236}">
                      <a16:creationId xmlns:a16="http://schemas.microsoft.com/office/drawing/2014/main" id="{7B5D4A6B-BA2B-7174-6083-6FF84C0FC5E4}"/>
                    </a:ext>
                  </a:extLst>
                </p:cNvPr>
                <p:cNvSpPr txBox="1"/>
                <p:nvPr/>
              </p:nvSpPr>
              <p:spPr bwMode="auto">
                <a:xfrm>
                  <a:off x="5161475" y="5210400"/>
                  <a:ext cx="2443963" cy="834304"/>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d>
                          <m:d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den>
                            </m:f>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e>
                        </m:d>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55" name="Object 19">
                  <a:extLst>
                    <a:ext uri="{FF2B5EF4-FFF2-40B4-BE49-F238E27FC236}">
                      <a16:creationId xmlns:a16="http://schemas.microsoft.com/office/drawing/2014/main" id="{7B5D4A6B-BA2B-7174-6083-6FF84C0FC5E4}"/>
                    </a:ext>
                  </a:extLst>
                </p:cNvPr>
                <p:cNvSpPr txBox="1">
                  <a:spLocks noRot="1" noChangeAspect="1" noMove="1" noResize="1" noEditPoints="1" noAdjustHandles="1" noChangeArrowheads="1" noChangeShapeType="1" noTextEdit="1"/>
                </p:cNvSpPr>
                <p:nvPr/>
              </p:nvSpPr>
              <p:spPr bwMode="auto">
                <a:xfrm>
                  <a:off x="5161475" y="5210400"/>
                  <a:ext cx="2443963" cy="834304"/>
                </a:xfrm>
                <a:prstGeom prst="rect">
                  <a:avLst/>
                </a:prstGeom>
                <a:blipFill>
                  <a:blip r:embed="rId1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Object 16">
                  <a:extLst>
                    <a:ext uri="{FF2B5EF4-FFF2-40B4-BE49-F238E27FC236}">
                      <a16:creationId xmlns:a16="http://schemas.microsoft.com/office/drawing/2014/main" id="{9C98D6B3-A44B-55B3-7872-8CFA1CC4E9B2}"/>
                    </a:ext>
                  </a:extLst>
                </p:cNvPr>
                <p:cNvSpPr txBox="1"/>
                <p:nvPr/>
              </p:nvSpPr>
              <p:spPr bwMode="auto">
                <a:xfrm>
                  <a:off x="3335611" y="5376559"/>
                  <a:ext cx="803277"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8" name="Object 16">
                  <a:extLst>
                    <a:ext uri="{FF2B5EF4-FFF2-40B4-BE49-F238E27FC236}">
                      <a16:creationId xmlns:a16="http://schemas.microsoft.com/office/drawing/2014/main" id="{9C98D6B3-A44B-55B3-7872-8CFA1CC4E9B2}"/>
                    </a:ext>
                  </a:extLst>
                </p:cNvPr>
                <p:cNvSpPr txBox="1">
                  <a:spLocks noRot="1" noChangeAspect="1" noMove="1" noResize="1" noEditPoints="1" noAdjustHandles="1" noChangeArrowheads="1" noChangeShapeType="1" noTextEdit="1"/>
                </p:cNvSpPr>
                <p:nvPr/>
              </p:nvSpPr>
              <p:spPr bwMode="auto">
                <a:xfrm>
                  <a:off x="3335611" y="5376559"/>
                  <a:ext cx="803277" cy="406400"/>
                </a:xfrm>
                <a:prstGeom prst="rect">
                  <a:avLst/>
                </a:prstGeom>
                <a:blipFill>
                  <a:blip r:embed="rId14"/>
                  <a:stretch>
                    <a:fillRect l="-758" b="-298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17">
                  <a:extLst>
                    <a:ext uri="{FF2B5EF4-FFF2-40B4-BE49-F238E27FC236}">
                      <a16:creationId xmlns:a16="http://schemas.microsoft.com/office/drawing/2014/main" id="{EF2386CB-FA06-6283-E1C1-BE6B29D396EF}"/>
                    </a:ext>
                  </a:extLst>
                </p:cNvPr>
                <p:cNvSpPr txBox="1"/>
                <p:nvPr/>
              </p:nvSpPr>
              <p:spPr bwMode="auto">
                <a:xfrm>
                  <a:off x="4153175" y="5373384"/>
                  <a:ext cx="1195388"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9" name="Object 17">
                  <a:extLst>
                    <a:ext uri="{FF2B5EF4-FFF2-40B4-BE49-F238E27FC236}">
                      <a16:creationId xmlns:a16="http://schemas.microsoft.com/office/drawing/2014/main" id="{EF2386CB-FA06-6283-E1C1-BE6B29D396EF}"/>
                    </a:ext>
                  </a:extLst>
                </p:cNvPr>
                <p:cNvSpPr txBox="1">
                  <a:spLocks noRot="1" noChangeAspect="1" noMove="1" noResize="1" noEditPoints="1" noAdjustHandles="1" noChangeArrowheads="1" noChangeShapeType="1" noTextEdit="1"/>
                </p:cNvSpPr>
                <p:nvPr/>
              </p:nvSpPr>
              <p:spPr bwMode="auto">
                <a:xfrm>
                  <a:off x="4153175" y="5373384"/>
                  <a:ext cx="1195388" cy="406400"/>
                </a:xfrm>
                <a:prstGeom prst="rect">
                  <a:avLst/>
                </a:prstGeom>
                <a:blipFill>
                  <a:blip r:embed="rId15"/>
                  <a:stretch>
                    <a:fillRect l="-510" b="-298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Object 19">
                  <a:extLst>
                    <a:ext uri="{FF2B5EF4-FFF2-40B4-BE49-F238E27FC236}">
                      <a16:creationId xmlns:a16="http://schemas.microsoft.com/office/drawing/2014/main" id="{96003C83-6499-7865-68E8-38E497FDDE34}"/>
                    </a:ext>
                  </a:extLst>
                </p:cNvPr>
                <p:cNvSpPr txBox="1"/>
                <p:nvPr/>
              </p:nvSpPr>
              <p:spPr bwMode="auto">
                <a:xfrm>
                  <a:off x="7375145" y="5371204"/>
                  <a:ext cx="1252880" cy="4699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sup>
                        </m:sSup>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1" name="Object 19">
                  <a:extLst>
                    <a:ext uri="{FF2B5EF4-FFF2-40B4-BE49-F238E27FC236}">
                      <a16:creationId xmlns:a16="http://schemas.microsoft.com/office/drawing/2014/main" id="{96003C83-6499-7865-68E8-38E497FDDE34}"/>
                    </a:ext>
                  </a:extLst>
                </p:cNvPr>
                <p:cNvSpPr txBox="1">
                  <a:spLocks noRot="1" noChangeAspect="1" noMove="1" noResize="1" noEditPoints="1" noAdjustHandles="1" noChangeArrowheads="1" noChangeShapeType="1" noTextEdit="1"/>
                </p:cNvSpPr>
                <p:nvPr/>
              </p:nvSpPr>
              <p:spPr bwMode="auto">
                <a:xfrm>
                  <a:off x="7375145" y="5371204"/>
                  <a:ext cx="1252880" cy="469900"/>
                </a:xfrm>
                <a:prstGeom prst="rect">
                  <a:avLst/>
                </a:prstGeom>
                <a:blipFill>
                  <a:blip r:embed="rId16"/>
                  <a:stretch>
                    <a:fillRect b="-259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28">
                  <a:extLst>
                    <a:ext uri="{FF2B5EF4-FFF2-40B4-BE49-F238E27FC236}">
                      <a16:creationId xmlns:a16="http://schemas.microsoft.com/office/drawing/2014/main" id="{12E02F36-3CD9-CB30-C977-FBB4413A82B3}"/>
                    </a:ext>
                  </a:extLst>
                </p:cNvPr>
                <p:cNvSpPr txBox="1"/>
                <p:nvPr/>
              </p:nvSpPr>
              <p:spPr bwMode="auto">
                <a:xfrm>
                  <a:off x="6312991" y="5371204"/>
                  <a:ext cx="802576" cy="4699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𝑦𝑧</m:t>
                            </m:r>
                          </m:sup>
                        </m:sSup>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22" name="Object 28">
                  <a:extLst>
                    <a:ext uri="{FF2B5EF4-FFF2-40B4-BE49-F238E27FC236}">
                      <a16:creationId xmlns:a16="http://schemas.microsoft.com/office/drawing/2014/main" id="{12E02F36-3CD9-CB30-C977-FBB4413A82B3}"/>
                    </a:ext>
                  </a:extLst>
                </p:cNvPr>
                <p:cNvSpPr txBox="1">
                  <a:spLocks noRot="1" noChangeAspect="1" noMove="1" noResize="1" noEditPoints="1" noAdjustHandles="1" noChangeArrowheads="1" noChangeShapeType="1" noTextEdit="1"/>
                </p:cNvSpPr>
                <p:nvPr/>
              </p:nvSpPr>
              <p:spPr bwMode="auto">
                <a:xfrm>
                  <a:off x="6312991" y="5371204"/>
                  <a:ext cx="802576" cy="469900"/>
                </a:xfrm>
                <a:prstGeom prst="rect">
                  <a:avLst/>
                </a:prstGeom>
                <a:blipFill>
                  <a:blip r:embed="rId17"/>
                  <a:stretch>
                    <a:fillRect/>
                  </a:stretch>
                </a:blipFill>
                <a:ln>
                  <a:noFill/>
                </a:ln>
                <a:effectLst/>
              </p:spPr>
              <p:txBody>
                <a:bodyPr/>
                <a:lstStyle/>
                <a:p>
                  <a:r>
                    <a:rPr lang="zh-CN" altLang="en-US">
                      <a:noFill/>
                    </a:rPr>
                    <a:t> </a:t>
                  </a:r>
                </a:p>
              </p:txBody>
            </p:sp>
          </mc:Fallback>
        </mc:AlternateContent>
      </p:grpSp>
    </p:spTree>
    <p:extLst>
      <p:ext uri="{BB962C8B-B14F-4D97-AF65-F5344CB8AC3E}">
        <p14:creationId xmlns:p14="http://schemas.microsoft.com/office/powerpoint/2010/main" val="1758985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left)">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wipe(left)">
                                      <p:cBhvr>
                                        <p:cTn id="58" dur="500"/>
                                        <p:tgtEl>
                                          <p:spTgt spid="14"/>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ipe(left)">
                                      <p:cBhvr>
                                        <p:cTn id="62" dur="500"/>
                                        <p:tgtEl>
                                          <p:spTgt spid="16"/>
                                        </p:tgtEl>
                                      </p:cBhvr>
                                    </p:animEffect>
                                  </p:childTnLst>
                                </p:cTn>
                              </p:par>
                            </p:childTnLst>
                          </p:cTn>
                        </p:par>
                        <p:par>
                          <p:cTn id="63" fill="hold">
                            <p:stCondLst>
                              <p:cond delay="1000"/>
                            </p:stCondLst>
                            <p:childTnLst>
                              <p:par>
                                <p:cTn id="64" presetID="22" presetClass="entr" presetSubtype="8" fill="hold" grpId="0"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left)">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wipe(left)">
                                      <p:cBhvr>
                                        <p:cTn id="71" dur="500"/>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wipe(left)">
                                      <p:cBhvr>
                                        <p:cTn id="7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4" grpId="0"/>
      <p:bldP spid="15" grpId="0"/>
      <p:bldP spid="16" grpId="0"/>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a:extLst>
              <a:ext uri="{FF2B5EF4-FFF2-40B4-BE49-F238E27FC236}">
                <a16:creationId xmlns:a16="http://schemas.microsoft.com/office/drawing/2014/main" id="{F9BA1B35-E413-6223-D2DF-B31756C5B82A}"/>
              </a:ext>
            </a:extLst>
          </p:cNvPr>
          <p:cNvGrpSpPr/>
          <p:nvPr/>
        </p:nvGrpSpPr>
        <p:grpSpPr>
          <a:xfrm>
            <a:off x="0" y="0"/>
            <a:ext cx="12192000" cy="6858000"/>
            <a:chOff x="0" y="0"/>
            <a:chExt cx="12192000" cy="6858000"/>
          </a:xfrm>
        </p:grpSpPr>
        <p:sp>
          <p:nvSpPr>
            <p:cNvPr id="38" name="Rectangle 1">
              <a:extLst>
                <a:ext uri="{FF2B5EF4-FFF2-40B4-BE49-F238E27FC236}">
                  <a16:creationId xmlns:a16="http://schemas.microsoft.com/office/drawing/2014/main" id="{7EFCC8CE-8241-8913-811F-E0194D7E78C1}"/>
                </a:ext>
              </a:extLst>
            </p:cNvPr>
            <p:cNvSpPr/>
            <p:nvPr/>
          </p:nvSpPr>
          <p:spPr>
            <a:xfrm>
              <a:off x="0" y="0"/>
              <a:ext cx="12192000" cy="685800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9" name="圆角矩形 2">
              <a:extLst>
                <a:ext uri="{FF2B5EF4-FFF2-40B4-BE49-F238E27FC236}">
                  <a16:creationId xmlns:a16="http://schemas.microsoft.com/office/drawing/2014/main" id="{262A04E3-8EA0-7FB3-D627-C3446AB1A4C9}"/>
                </a:ext>
              </a:extLst>
            </p:cNvPr>
            <p:cNvSpPr/>
            <p:nvPr/>
          </p:nvSpPr>
          <p:spPr>
            <a:xfrm>
              <a:off x="224790" y="196850"/>
              <a:ext cx="11743055" cy="6456045"/>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0" name="组合 39">
              <a:extLst>
                <a:ext uri="{FF2B5EF4-FFF2-40B4-BE49-F238E27FC236}">
                  <a16:creationId xmlns:a16="http://schemas.microsoft.com/office/drawing/2014/main" id="{BD69011E-8B64-1F06-B69C-CB511CFDF14F}"/>
                </a:ext>
              </a:extLst>
            </p:cNvPr>
            <p:cNvGrpSpPr/>
            <p:nvPr/>
          </p:nvGrpSpPr>
          <p:grpSpPr>
            <a:xfrm>
              <a:off x="228600" y="236182"/>
              <a:ext cx="11771970" cy="6421275"/>
              <a:chOff x="228600" y="236182"/>
              <a:chExt cx="11771970" cy="6421275"/>
            </a:xfrm>
          </p:grpSpPr>
          <p:sp>
            <p:nvSpPr>
              <p:cNvPr id="41" name="Rectangle 1">
                <a:extLst>
                  <a:ext uri="{FF2B5EF4-FFF2-40B4-BE49-F238E27FC236}">
                    <a16:creationId xmlns:a16="http://schemas.microsoft.com/office/drawing/2014/main" id="{20AE8630-E20D-DE63-97A7-C17A0371DD25}"/>
                  </a:ext>
                </a:extLst>
              </p:cNvPr>
              <p:cNvSpPr/>
              <p:nvPr/>
            </p:nvSpPr>
            <p:spPr>
              <a:xfrm>
                <a:off x="364173" y="6462830"/>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2" name="Rectangle 1">
                <a:extLst>
                  <a:ext uri="{FF2B5EF4-FFF2-40B4-BE49-F238E27FC236}">
                    <a16:creationId xmlns:a16="http://schemas.microsoft.com/office/drawing/2014/main" id="{426BF8C3-DE3E-0F4F-92E3-A7AA635F2E87}"/>
                  </a:ext>
                </a:extLst>
              </p:cNvPr>
              <p:cNvSpPr/>
              <p:nvPr/>
            </p:nvSpPr>
            <p:spPr>
              <a:xfrm rot="2659048">
                <a:off x="8838055" y="320052"/>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43" name="矩形 42">
                <a:extLst>
                  <a:ext uri="{FF2B5EF4-FFF2-40B4-BE49-F238E27FC236}">
                    <a16:creationId xmlns:a16="http://schemas.microsoft.com/office/drawing/2014/main" id="{82E03284-9ADB-5C9C-9AB1-22A6FBF0264E}"/>
                  </a:ext>
                </a:extLst>
              </p:cNvPr>
              <p:cNvSpPr/>
              <p:nvPr/>
            </p:nvSpPr>
            <p:spPr>
              <a:xfrm>
                <a:off x="543503" y="6349680"/>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p>
            </p:txBody>
          </p:sp>
          <p:sp>
            <p:nvSpPr>
              <p:cNvPr id="44" name="矩形 43">
                <a:extLst>
                  <a:ext uri="{FF2B5EF4-FFF2-40B4-BE49-F238E27FC236}">
                    <a16:creationId xmlns:a16="http://schemas.microsoft.com/office/drawing/2014/main" id="{A5010229-618C-0234-3624-91893CD1BE41}"/>
                  </a:ext>
                </a:extLst>
              </p:cNvPr>
              <p:cNvSpPr/>
              <p:nvPr/>
            </p:nvSpPr>
            <p:spPr>
              <a:xfrm>
                <a:off x="9055533" y="236182"/>
                <a:ext cx="2945037"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多元函数微分法及其应用</a:t>
                </a:r>
              </a:p>
            </p:txBody>
          </p:sp>
          <p:cxnSp>
            <p:nvCxnSpPr>
              <p:cNvPr id="45" name="直接连接符 44">
                <a:extLst>
                  <a:ext uri="{FF2B5EF4-FFF2-40B4-BE49-F238E27FC236}">
                    <a16:creationId xmlns:a16="http://schemas.microsoft.com/office/drawing/2014/main" id="{123F36ED-A63D-1597-3012-41FD1441FD0C}"/>
                  </a:ext>
                </a:extLst>
              </p:cNvPr>
              <p:cNvCxnSpPr>
                <a:cxnSpLocks/>
              </p:cNvCxnSpPr>
              <p:nvPr/>
            </p:nvCxnSpPr>
            <p:spPr>
              <a:xfrm>
                <a:off x="228600" y="390070"/>
                <a:ext cx="8388000"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6B31152E-DD0D-E164-A67A-4042573B11A7}"/>
                  </a:ext>
                </a:extLst>
              </p:cNvPr>
              <p:cNvCxnSpPr>
                <a:cxnSpLocks/>
              </p:cNvCxnSpPr>
              <p:nvPr/>
            </p:nvCxnSpPr>
            <p:spPr>
              <a:xfrm>
                <a:off x="2047875" y="6503568"/>
                <a:ext cx="989402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ext Box 29">
            <a:extLst>
              <a:ext uri="{FF2B5EF4-FFF2-40B4-BE49-F238E27FC236}">
                <a16:creationId xmlns:a16="http://schemas.microsoft.com/office/drawing/2014/main" id="{B99DF007-22C0-C7FD-A789-7EEA67F01CEE}"/>
              </a:ext>
            </a:extLst>
          </p:cNvPr>
          <p:cNvSpPr txBox="1">
            <a:spLocks noChangeArrowheads="1"/>
          </p:cNvSpPr>
          <p:nvPr/>
        </p:nvSpPr>
        <p:spPr bwMode="auto">
          <a:xfrm>
            <a:off x="2446655" y="3352065"/>
            <a:ext cx="1308102"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prstClr val="black"/>
                </a:solidFill>
                <a:latin typeface="Times New Roman" panose="020F0502020204030204"/>
                <a:ea typeface="黑体"/>
                <a:cs typeface="+mn-ea"/>
                <a:sym typeface="+mn-lt"/>
              </a:rPr>
              <a:t>可知当</a:t>
            </a:r>
          </a:p>
        </p:txBody>
      </p:sp>
      <p:sp>
        <p:nvSpPr>
          <p:cNvPr id="3" name="Rectangle 2">
            <a:extLst>
              <a:ext uri="{FF2B5EF4-FFF2-40B4-BE49-F238E27FC236}">
                <a16:creationId xmlns:a16="http://schemas.microsoft.com/office/drawing/2014/main" id="{CD4E8269-15AB-83C8-95A5-87F98E9C342B}"/>
              </a:ext>
            </a:extLst>
          </p:cNvPr>
          <p:cNvSpPr txBox="1">
            <a:spLocks noChangeArrowheads="1"/>
          </p:cNvSpPr>
          <p:nvPr/>
        </p:nvSpPr>
        <p:spPr>
          <a:xfrm>
            <a:off x="1435100" y="658014"/>
            <a:ext cx="6172200" cy="609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rgbClr val="04926A"/>
                </a:solidFill>
                <a:latin typeface="微软雅黑" panose="020B0503020204020204" pitchFamily="34" charset="-122"/>
                <a:ea typeface="微软雅黑" panose="020B0503020204020204" pitchFamily="34" charset="-122"/>
                <a:cs typeface="+mn-cs"/>
                <a:sym typeface="+mn-lt"/>
              </a:rPr>
              <a:t>*</a:t>
            </a:r>
            <a:r>
              <a:rPr lang="zh-CN" altLang="en-US" sz="3200" b="1" dirty="0">
                <a:solidFill>
                  <a:srgbClr val="04926A"/>
                </a:solidFill>
                <a:latin typeface="微软雅黑" panose="020B0503020204020204" pitchFamily="34" charset="-122"/>
                <a:ea typeface="微软雅黑" panose="020B0503020204020204" pitchFamily="34" charset="-122"/>
                <a:cs typeface="+mn-cs"/>
                <a:sym typeface="+mn-lt"/>
              </a:rPr>
              <a:t>二、全微分在数值计算中的应用</a:t>
            </a:r>
          </a:p>
        </p:txBody>
      </p:sp>
      <p:sp>
        <p:nvSpPr>
          <p:cNvPr id="4" name="Text Box 4">
            <a:extLst>
              <a:ext uri="{FF2B5EF4-FFF2-40B4-BE49-F238E27FC236}">
                <a16:creationId xmlns:a16="http://schemas.microsoft.com/office/drawing/2014/main" id="{D5558D11-F323-6D6D-9DBB-A9EC9E07CB34}"/>
              </a:ext>
            </a:extLst>
          </p:cNvPr>
          <p:cNvSpPr txBox="1">
            <a:spLocks noChangeArrowheads="1"/>
          </p:cNvSpPr>
          <p:nvPr/>
        </p:nvSpPr>
        <p:spPr bwMode="auto">
          <a:xfrm>
            <a:off x="2446655" y="1839177"/>
            <a:ext cx="23717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prstClr val="black"/>
                </a:solidFill>
                <a:latin typeface="Times New Roman" panose="020F0502020204030204"/>
                <a:ea typeface="黑体"/>
                <a:cs typeface="+mn-ea"/>
                <a:sym typeface="+mn-lt"/>
              </a:rPr>
              <a:t>由全微分定义</a:t>
            </a:r>
          </a:p>
        </p:txBody>
      </p:sp>
      <mc:AlternateContent xmlns:mc="http://schemas.openxmlformats.org/markup-compatibility/2006" xmlns:a14="http://schemas.microsoft.com/office/drawing/2010/main">
        <mc:Choice Requires="a14">
          <p:sp>
            <p:nvSpPr>
              <p:cNvPr id="5" name="Object 5">
                <a:extLst>
                  <a:ext uri="{FF2B5EF4-FFF2-40B4-BE49-F238E27FC236}">
                    <a16:creationId xmlns:a16="http://schemas.microsoft.com/office/drawing/2014/main" id="{7BA33BDF-95C5-EC6D-D78B-5B4D9CD59A35}"/>
                  </a:ext>
                </a:extLst>
              </p:cNvPr>
              <p:cNvSpPr txBox="1"/>
              <p:nvPr/>
            </p:nvSpPr>
            <p:spPr bwMode="auto">
              <a:xfrm>
                <a:off x="3519807" y="3325481"/>
                <a:ext cx="654048" cy="4826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kumimoji="1" lang="zh-CN" altLang="en-US" sz="2800" i="1">
                              <a:solidFill>
                                <a:prstClr val="black"/>
                              </a:solidFill>
                              <a:latin typeface="Cambria Math" panose="02040503050406030204" pitchFamily="18" charset="0"/>
                              <a:ea typeface="黑体"/>
                              <a:cs typeface="+mn-ea"/>
                            </a:rPr>
                          </m:ctrlPr>
                        </m:dPr>
                        <m:e>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𝑥</m:t>
                          </m:r>
                        </m:e>
                      </m:d>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5" name="Object 5">
                <a:extLst>
                  <a:ext uri="{FF2B5EF4-FFF2-40B4-BE49-F238E27FC236}">
                    <a16:creationId xmlns:a16="http://schemas.microsoft.com/office/drawing/2014/main" id="{7BA33BDF-95C5-EC6D-D78B-5B4D9CD59A35}"/>
                  </a:ext>
                </a:extLst>
              </p:cNvPr>
              <p:cNvSpPr txBox="1">
                <a:spLocks noRot="1" noChangeAspect="1" noMove="1" noResize="1" noEditPoints="1" noAdjustHandles="1" noChangeArrowheads="1" noChangeShapeType="1" noTextEdit="1"/>
              </p:cNvSpPr>
              <p:nvPr/>
            </p:nvSpPr>
            <p:spPr bwMode="auto">
              <a:xfrm>
                <a:off x="3519807" y="3325481"/>
                <a:ext cx="654048" cy="482600"/>
              </a:xfrm>
              <a:prstGeom prst="rect">
                <a:avLst/>
              </a:prstGeom>
              <a:blipFill>
                <a:blip r:embed="rId2"/>
                <a:stretch>
                  <a:fillRect r="-463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6">
                <a:extLst>
                  <a:ext uri="{FF2B5EF4-FFF2-40B4-BE49-F238E27FC236}">
                    <a16:creationId xmlns:a16="http://schemas.microsoft.com/office/drawing/2014/main" id="{7D7BD954-5C4E-1645-B8E8-ABAB9C4DA7AB}"/>
                  </a:ext>
                </a:extLst>
              </p:cNvPr>
              <p:cNvSpPr txBox="1"/>
              <p:nvPr/>
            </p:nvSpPr>
            <p:spPr bwMode="auto">
              <a:xfrm>
                <a:off x="4516757" y="3325480"/>
                <a:ext cx="768350" cy="51553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kumimoji="1" lang="zh-CN" altLang="en-US" sz="2800" i="1">
                              <a:solidFill>
                                <a:prstClr val="black"/>
                              </a:solidFill>
                              <a:latin typeface="Cambria Math" panose="02040503050406030204" pitchFamily="18" charset="0"/>
                              <a:ea typeface="黑体"/>
                              <a:cs typeface="+mn-ea"/>
                            </a:rPr>
                          </m:ctrlPr>
                        </m:dPr>
                        <m:e>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𝑦</m:t>
                          </m:r>
                        </m:e>
                      </m:d>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6" name="Object 6">
                <a:extLst>
                  <a:ext uri="{FF2B5EF4-FFF2-40B4-BE49-F238E27FC236}">
                    <a16:creationId xmlns:a16="http://schemas.microsoft.com/office/drawing/2014/main" id="{7D7BD954-5C4E-1645-B8E8-ABAB9C4DA7AB}"/>
                  </a:ext>
                </a:extLst>
              </p:cNvPr>
              <p:cNvSpPr txBox="1">
                <a:spLocks noRot="1" noChangeAspect="1" noMove="1" noResize="1" noEditPoints="1" noAdjustHandles="1" noChangeArrowheads="1" noChangeShapeType="1" noTextEdit="1"/>
              </p:cNvSpPr>
              <p:nvPr/>
            </p:nvSpPr>
            <p:spPr bwMode="auto">
              <a:xfrm>
                <a:off x="4516757" y="3325480"/>
                <a:ext cx="768350" cy="515535"/>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7">
                <a:extLst>
                  <a:ext uri="{FF2B5EF4-FFF2-40B4-BE49-F238E27FC236}">
                    <a16:creationId xmlns:a16="http://schemas.microsoft.com/office/drawing/2014/main" id="{97B9D528-DEDE-8537-5E9D-EDBCC89A8A3F}"/>
                  </a:ext>
                </a:extLst>
              </p:cNvPr>
              <p:cNvSpPr txBox="1"/>
              <p:nvPr/>
            </p:nvSpPr>
            <p:spPr bwMode="auto">
              <a:xfrm>
                <a:off x="3243580" y="2308283"/>
                <a:ext cx="5775325" cy="4826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𝑧</m:t>
                      </m:r>
                      <m:r>
                        <a:rPr kumimoji="1" lang="zh-CN" altLang="en-US" sz="2800">
                          <a:solidFill>
                            <a:prstClr val="black"/>
                          </a:solidFill>
                          <a:latin typeface="Cambria Math" panose="02040503050406030204" pitchFamily="18" charset="0"/>
                          <a:ea typeface="黑体"/>
                          <a:cs typeface="+mn-ea"/>
                        </a:rPr>
                        <m:t>=</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𝑥</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𝑦</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𝑜</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𝜌</m:t>
                      </m:r>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7" name="Object 7">
                <a:extLst>
                  <a:ext uri="{FF2B5EF4-FFF2-40B4-BE49-F238E27FC236}">
                    <a16:creationId xmlns:a16="http://schemas.microsoft.com/office/drawing/2014/main" id="{97B9D528-DEDE-8537-5E9D-EDBCC89A8A3F}"/>
                  </a:ext>
                </a:extLst>
              </p:cNvPr>
              <p:cNvSpPr txBox="1">
                <a:spLocks noRot="1" noChangeAspect="1" noMove="1" noResize="1" noEditPoints="1" noAdjustHandles="1" noChangeArrowheads="1" noChangeShapeType="1" noTextEdit="1"/>
              </p:cNvSpPr>
              <p:nvPr/>
            </p:nvSpPr>
            <p:spPr bwMode="auto">
              <a:xfrm>
                <a:off x="3243580" y="2308283"/>
                <a:ext cx="5775325" cy="482600"/>
              </a:xfrm>
              <a:prstGeom prst="rect">
                <a:avLst/>
              </a:prstGeom>
              <a:blipFill>
                <a:blip r:embed="rId4"/>
                <a:stretch>
                  <a:fillRect b="-632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9">
                <a:extLst>
                  <a:ext uri="{FF2B5EF4-FFF2-40B4-BE49-F238E27FC236}">
                    <a16:creationId xmlns:a16="http://schemas.microsoft.com/office/drawing/2014/main" id="{0B1824FF-B2FA-F4FE-1BFC-4A8214562E0A}"/>
                  </a:ext>
                </a:extLst>
              </p:cNvPr>
              <p:cNvSpPr txBox="1"/>
              <p:nvPr/>
            </p:nvSpPr>
            <p:spPr bwMode="auto">
              <a:xfrm>
                <a:off x="2446655" y="5021708"/>
                <a:ext cx="3137324"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a:cs typeface="+mn-ea"/>
                        </a:rPr>
                        <m:t>𝑓</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8" name="Object 9">
                <a:extLst>
                  <a:ext uri="{FF2B5EF4-FFF2-40B4-BE49-F238E27FC236}">
                    <a16:creationId xmlns:a16="http://schemas.microsoft.com/office/drawing/2014/main" id="{0B1824FF-B2FA-F4FE-1BFC-4A8214562E0A}"/>
                  </a:ext>
                </a:extLst>
              </p:cNvPr>
              <p:cNvSpPr txBox="1">
                <a:spLocks noRot="1" noChangeAspect="1" noMove="1" noResize="1" noEditPoints="1" noAdjustHandles="1" noChangeArrowheads="1" noChangeShapeType="1" noTextEdit="1"/>
              </p:cNvSpPr>
              <p:nvPr/>
            </p:nvSpPr>
            <p:spPr bwMode="auto">
              <a:xfrm>
                <a:off x="2446655" y="5021708"/>
                <a:ext cx="3137324" cy="406400"/>
              </a:xfrm>
              <a:prstGeom prst="rect">
                <a:avLst/>
              </a:prstGeom>
              <a:blipFill>
                <a:blip r:embed="rId5"/>
                <a:stretch>
                  <a:fillRect b="-1666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28">
                <a:extLst>
                  <a:ext uri="{FF2B5EF4-FFF2-40B4-BE49-F238E27FC236}">
                    <a16:creationId xmlns:a16="http://schemas.microsoft.com/office/drawing/2014/main" id="{01C2073A-00D5-5E76-354B-890833F97F41}"/>
                  </a:ext>
                </a:extLst>
              </p:cNvPr>
              <p:cNvSpPr txBox="1"/>
              <p:nvPr/>
            </p:nvSpPr>
            <p:spPr bwMode="auto">
              <a:xfrm>
                <a:off x="7079773" y="5046306"/>
                <a:ext cx="3935571" cy="4826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𝑥</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𝑦</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9" name="Object 28">
                <a:extLst>
                  <a:ext uri="{FF2B5EF4-FFF2-40B4-BE49-F238E27FC236}">
                    <a16:creationId xmlns:a16="http://schemas.microsoft.com/office/drawing/2014/main" id="{01C2073A-00D5-5E76-354B-890833F97F41}"/>
                  </a:ext>
                </a:extLst>
              </p:cNvPr>
              <p:cNvSpPr txBox="1">
                <a:spLocks noRot="1" noChangeAspect="1" noMove="1" noResize="1" noEditPoints="1" noAdjustHandles="1" noChangeArrowheads="1" noChangeShapeType="1" noTextEdit="1"/>
              </p:cNvSpPr>
              <p:nvPr/>
            </p:nvSpPr>
            <p:spPr bwMode="auto">
              <a:xfrm>
                <a:off x="7079773" y="5046306"/>
                <a:ext cx="3935571" cy="482600"/>
              </a:xfrm>
              <a:prstGeom prst="rect">
                <a:avLst/>
              </a:prstGeom>
              <a:blipFill>
                <a:blip r:embed="rId6"/>
                <a:stretch>
                  <a:fillRect b="-632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 Box 30">
                <a:extLst>
                  <a:ext uri="{FF2B5EF4-FFF2-40B4-BE49-F238E27FC236}">
                    <a16:creationId xmlns:a16="http://schemas.microsoft.com/office/drawing/2014/main" id="{4B2D71F1-27FE-8DCA-5109-1CBF4A851A69}"/>
                  </a:ext>
                </a:extLst>
              </p:cNvPr>
              <p:cNvSpPr txBox="1">
                <a:spLocks noChangeArrowheads="1"/>
              </p:cNvSpPr>
              <p:nvPr/>
            </p:nvSpPr>
            <p:spPr bwMode="auto">
              <a:xfrm>
                <a:off x="5154933" y="3352065"/>
                <a:ext cx="1371600" cy="519112"/>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a:spAutoFit/>
              </a:bodyPr>
              <a:lstStyle/>
              <a:p>
                <a:pPr lvl="0" fontAlgn="base">
                  <a:spcBef>
                    <a:spcPct val="50000"/>
                  </a:spcBef>
                  <a:spcAft>
                    <a:spcPct val="0"/>
                  </a:spcAft>
                  <a:defRPr/>
                </a:pPr>
                <a:r>
                  <a:rPr kumimoji="1" lang="zh-CN" altLang="en-US" sz="2800" dirty="0">
                    <a:solidFill>
                      <a:prstClr val="black"/>
                    </a:solidFill>
                    <a:latin typeface="Times New Roman" panose="020F0502020204030204"/>
                    <a:ea typeface="黑体"/>
                    <a:cs typeface="+mn-ea"/>
                    <a:sym typeface="+mn-lt"/>
                  </a:rPr>
                  <a:t>较小时</a:t>
                </a:r>
                <a14:m>
                  <m:oMath xmlns:m="http://schemas.openxmlformats.org/officeDocument/2006/math">
                    <m:r>
                      <a:rPr kumimoji="1" lang="zh-CN" altLang="en-US" sz="2800">
                        <a:solidFill>
                          <a:prstClr val="black"/>
                        </a:solidFill>
                        <a:latin typeface="Cambria Math" panose="02040503050406030204" pitchFamily="18" charset="0"/>
                        <a:ea typeface="黑体"/>
                        <a:cs typeface="+mn-ea"/>
                      </a:rPr>
                      <m:t>,</m:t>
                    </m:r>
                  </m:oMath>
                </a14:m>
                <a:endParaRPr kumimoji="1" lang="en-US" altLang="zh-CN" sz="2800" dirty="0">
                  <a:solidFill>
                    <a:prstClr val="black"/>
                  </a:solidFill>
                  <a:latin typeface="Times New Roman" panose="020F0502020204030204"/>
                  <a:ea typeface="黑体"/>
                  <a:cs typeface="+mn-ea"/>
                  <a:sym typeface="+mn-lt"/>
                </a:endParaRPr>
              </a:p>
            </p:txBody>
          </p:sp>
        </mc:Choice>
        <mc:Fallback xmlns="">
          <p:sp>
            <p:nvSpPr>
              <p:cNvPr id="10" name="Text Box 30">
                <a:extLst>
                  <a:ext uri="{FF2B5EF4-FFF2-40B4-BE49-F238E27FC236}">
                    <a16:creationId xmlns:a16="http://schemas.microsoft.com/office/drawing/2014/main" id="{4B2D71F1-27FE-8DCA-5109-1CBF4A851A69}"/>
                  </a:ext>
                </a:extLst>
              </p:cNvPr>
              <p:cNvSpPr txBox="1">
                <a:spLocks noRot="1" noChangeAspect="1" noMove="1" noResize="1" noEditPoints="1" noAdjustHandles="1" noChangeArrowheads="1" noChangeShapeType="1" noTextEdit="1"/>
              </p:cNvSpPr>
              <p:nvPr/>
            </p:nvSpPr>
            <p:spPr bwMode="auto">
              <a:xfrm>
                <a:off x="5154933" y="3352065"/>
                <a:ext cx="1371600" cy="519112"/>
              </a:xfrm>
              <a:prstGeom prst="rect">
                <a:avLst/>
              </a:prstGeom>
              <a:blipFill>
                <a:blip r:embed="rId7"/>
                <a:stretch>
                  <a:fillRect l="-9333" t="-16471" b="-2941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32">
                <a:extLst>
                  <a:ext uri="{FF2B5EF4-FFF2-40B4-BE49-F238E27FC236}">
                    <a16:creationId xmlns:a16="http://schemas.microsoft.com/office/drawing/2014/main" id="{61D447B8-9818-E784-EED7-9B0AB1A76C3D}"/>
                  </a:ext>
                </a:extLst>
              </p:cNvPr>
              <p:cNvSpPr txBox="1"/>
              <p:nvPr/>
            </p:nvSpPr>
            <p:spPr bwMode="auto">
              <a:xfrm>
                <a:off x="3243580" y="3877328"/>
                <a:ext cx="5561012" cy="4826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𝑧</m:t>
                      </m:r>
                      <m:r>
                        <a:rPr kumimoji="1" lang="zh-CN" altLang="en-US" sz="2800">
                          <a:solidFill>
                            <a:prstClr val="black"/>
                          </a:solidFill>
                          <a:latin typeface="Cambria Math" panose="02040503050406030204" pitchFamily="18" charset="0"/>
                          <a:ea typeface="黑体"/>
                          <a:cs typeface="+mn-ea"/>
                        </a:rPr>
                        <m:t>≈</m:t>
                      </m:r>
                      <m:r>
                        <m:rPr>
                          <m:sty m:val="p"/>
                        </m:rPr>
                        <a:rPr kumimoji="1" lang="zh-CN" altLang="en-US" sz="2800">
                          <a:solidFill>
                            <a:prstClr val="black"/>
                          </a:solidFill>
                          <a:latin typeface="Cambria Math" panose="02040503050406030204" pitchFamily="18" charset="0"/>
                          <a:ea typeface="黑体"/>
                          <a:cs typeface="+mn-ea"/>
                        </a:rPr>
                        <m:t>d</m:t>
                      </m:r>
                      <m:r>
                        <a:rPr kumimoji="1" lang="zh-CN" altLang="en-US" sz="2800">
                          <a:solidFill>
                            <a:prstClr val="black"/>
                          </a:solidFill>
                          <a:latin typeface="Cambria Math" panose="02040503050406030204" pitchFamily="18" charset="0"/>
                          <a:ea typeface="黑体"/>
                          <a:cs typeface="+mn-ea"/>
                        </a:rPr>
                        <m:t>𝑧</m:t>
                      </m:r>
                      <m:r>
                        <a:rPr kumimoji="1" lang="zh-CN" altLang="en-US" sz="2800">
                          <a:solidFill>
                            <a:prstClr val="black"/>
                          </a:solidFill>
                          <a:latin typeface="Cambria Math" panose="02040503050406030204" pitchFamily="18" charset="0"/>
                          <a:ea typeface="黑体"/>
                          <a:cs typeface="+mn-ea"/>
                        </a:rPr>
                        <m:t>=</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𝑥</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𝑦</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11" name="Object 32">
                <a:extLst>
                  <a:ext uri="{FF2B5EF4-FFF2-40B4-BE49-F238E27FC236}">
                    <a16:creationId xmlns:a16="http://schemas.microsoft.com/office/drawing/2014/main" id="{61D447B8-9818-E784-EED7-9B0AB1A76C3D}"/>
                  </a:ext>
                </a:extLst>
              </p:cNvPr>
              <p:cNvSpPr txBox="1">
                <a:spLocks noRot="1" noChangeAspect="1" noMove="1" noResize="1" noEditPoints="1" noAdjustHandles="1" noChangeArrowheads="1" noChangeShapeType="1" noTextEdit="1"/>
              </p:cNvSpPr>
              <p:nvPr/>
            </p:nvSpPr>
            <p:spPr bwMode="auto">
              <a:xfrm>
                <a:off x="3243580" y="3877328"/>
                <a:ext cx="5561012" cy="482600"/>
              </a:xfrm>
              <a:prstGeom prst="rect">
                <a:avLst/>
              </a:prstGeom>
              <a:blipFill>
                <a:blip r:embed="rId8"/>
                <a:stretch>
                  <a:fillRect b="-6329"/>
                </a:stretch>
              </a:blipFill>
              <a:ln>
                <a:noFill/>
              </a:ln>
              <a:effectLst/>
            </p:spPr>
            <p:txBody>
              <a:bodyPr/>
              <a:lstStyle/>
              <a:p>
                <a:r>
                  <a:rPr lang="zh-CN" altLang="en-US">
                    <a:noFill/>
                  </a:rPr>
                  <a:t> </a:t>
                </a:r>
              </a:p>
            </p:txBody>
          </p:sp>
        </mc:Fallback>
      </mc:AlternateContent>
      <p:sp>
        <p:nvSpPr>
          <p:cNvPr id="12" name="AutoShape 33">
            <a:extLst>
              <a:ext uri="{FF2B5EF4-FFF2-40B4-BE49-F238E27FC236}">
                <a16:creationId xmlns:a16="http://schemas.microsoft.com/office/drawing/2014/main" id="{C618D47A-DCC6-A302-8FEC-E9118C84294C}"/>
              </a:ext>
            </a:extLst>
          </p:cNvPr>
          <p:cNvSpPr>
            <a:spLocks/>
          </p:cNvSpPr>
          <p:nvPr/>
        </p:nvSpPr>
        <p:spPr bwMode="auto">
          <a:xfrm rot="5400000">
            <a:off x="5818806" y="1205622"/>
            <a:ext cx="199421" cy="3419475"/>
          </a:xfrm>
          <a:prstGeom prst="rightBrace">
            <a:avLst>
              <a:gd name="adj1" fmla="val 125000"/>
              <a:gd name="adj2" fmla="val 49861"/>
            </a:avLst>
          </a:prstGeom>
          <a:noFill/>
          <a:ln w="19050">
            <a:solidFill>
              <a:srgbClr val="04926A"/>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4800" b="0" i="0" u="none" strike="noStrike" kern="1200" cap="none" spc="0" normalizeH="0" baseline="0" noProof="0">
              <a:ln>
                <a:noFill/>
              </a:ln>
              <a:solidFill>
                <a:prstClr val="black"/>
              </a:solidFill>
              <a:effectLst/>
              <a:uLnTx/>
              <a:uFillTx/>
              <a:latin typeface="Times New Roman" panose="020F0502020204030204"/>
              <a:ea typeface="黑体"/>
              <a:cs typeface="+mn-ea"/>
              <a:sym typeface="+mn-lt"/>
            </a:endParaRPr>
          </a:p>
        </p:txBody>
      </p:sp>
      <mc:AlternateContent xmlns:mc="http://schemas.openxmlformats.org/markup-compatibility/2006" xmlns:a14="http://schemas.microsoft.com/office/drawing/2010/main">
        <mc:Choice Requires="a14">
          <p:sp>
            <p:nvSpPr>
              <p:cNvPr id="13" name="Object 34">
                <a:extLst>
                  <a:ext uri="{FF2B5EF4-FFF2-40B4-BE49-F238E27FC236}">
                    <a16:creationId xmlns:a16="http://schemas.microsoft.com/office/drawing/2014/main" id="{2571EFC1-17DB-895C-8307-A2E90B62FFA2}"/>
                  </a:ext>
                </a:extLst>
              </p:cNvPr>
              <p:cNvSpPr txBox="1"/>
              <p:nvPr/>
            </p:nvSpPr>
            <p:spPr bwMode="auto">
              <a:xfrm>
                <a:off x="5641496" y="2952418"/>
                <a:ext cx="534987" cy="4746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800">
                          <a:solidFill>
                            <a:prstClr val="black"/>
                          </a:solidFill>
                          <a:latin typeface="Cambria Math" panose="02040503050406030204" pitchFamily="18" charset="0"/>
                          <a:ea typeface="黑体"/>
                          <a:cs typeface="+mn-ea"/>
                        </a:rPr>
                        <m:t>d</m:t>
                      </m:r>
                      <m:r>
                        <a:rPr kumimoji="1" lang="zh-CN" altLang="en-US" sz="2800">
                          <a:solidFill>
                            <a:prstClr val="black"/>
                          </a:solidFill>
                          <a:latin typeface="Cambria Math" panose="02040503050406030204" pitchFamily="18" charset="0"/>
                          <a:ea typeface="黑体"/>
                          <a:cs typeface="+mn-ea"/>
                        </a:rPr>
                        <m:t>𝑧</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13" name="Object 34">
                <a:extLst>
                  <a:ext uri="{FF2B5EF4-FFF2-40B4-BE49-F238E27FC236}">
                    <a16:creationId xmlns:a16="http://schemas.microsoft.com/office/drawing/2014/main" id="{2571EFC1-17DB-895C-8307-A2E90B62FFA2}"/>
                  </a:ext>
                </a:extLst>
              </p:cNvPr>
              <p:cNvSpPr txBox="1">
                <a:spLocks noRot="1" noChangeAspect="1" noMove="1" noResize="1" noEditPoints="1" noAdjustHandles="1" noChangeArrowheads="1" noChangeShapeType="1" noTextEdit="1"/>
              </p:cNvSpPr>
              <p:nvPr/>
            </p:nvSpPr>
            <p:spPr bwMode="auto">
              <a:xfrm>
                <a:off x="5641496" y="2952418"/>
                <a:ext cx="534987" cy="474662"/>
              </a:xfrm>
              <a:prstGeom prst="rect">
                <a:avLst/>
              </a:prstGeom>
              <a:blipFill>
                <a:blip r:embed="rId9"/>
                <a:stretch>
                  <a:fillRect/>
                </a:stretch>
              </a:blipFill>
              <a:ln>
                <a:noFill/>
              </a:ln>
              <a:effectLst/>
            </p:spPr>
            <p:txBody>
              <a:bodyPr/>
              <a:lstStyle/>
              <a:p>
                <a:r>
                  <a:rPr lang="zh-CN" altLang="en-US">
                    <a:noFill/>
                  </a:rPr>
                  <a:t> </a:t>
                </a:r>
              </a:p>
            </p:txBody>
          </p:sp>
        </mc:Fallback>
      </mc:AlternateContent>
      <p:sp>
        <p:nvSpPr>
          <p:cNvPr id="14" name="Text Box 35">
            <a:extLst>
              <a:ext uri="{FF2B5EF4-FFF2-40B4-BE49-F238E27FC236}">
                <a16:creationId xmlns:a16="http://schemas.microsoft.com/office/drawing/2014/main" id="{2122E1A8-0041-BBE6-D8DC-8C9D4E2948BC}"/>
              </a:ext>
            </a:extLst>
          </p:cNvPr>
          <p:cNvSpPr txBox="1">
            <a:spLocks noChangeArrowheads="1"/>
          </p:cNvSpPr>
          <p:nvPr/>
        </p:nvSpPr>
        <p:spPr bwMode="auto">
          <a:xfrm>
            <a:off x="4161157" y="3339365"/>
            <a:ext cx="609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prstClr val="black"/>
                </a:solidFill>
                <a:latin typeface="Times New Roman" panose="020F0502020204030204"/>
                <a:ea typeface="黑体"/>
                <a:cs typeface="+mn-ea"/>
                <a:sym typeface="+mn-lt"/>
              </a:rPr>
              <a:t>及</a:t>
            </a:r>
          </a:p>
        </p:txBody>
      </p:sp>
      <p:sp>
        <p:nvSpPr>
          <p:cNvPr id="15" name="Text Box 36">
            <a:extLst>
              <a:ext uri="{FF2B5EF4-FFF2-40B4-BE49-F238E27FC236}">
                <a16:creationId xmlns:a16="http://schemas.microsoft.com/office/drawing/2014/main" id="{2250E1AB-F9FC-BCD4-972E-EE4736FE03F1}"/>
              </a:ext>
            </a:extLst>
          </p:cNvPr>
          <p:cNvSpPr txBox="1">
            <a:spLocks noChangeArrowheads="1"/>
          </p:cNvSpPr>
          <p:nvPr/>
        </p:nvSpPr>
        <p:spPr bwMode="auto">
          <a:xfrm>
            <a:off x="6313805" y="3337778"/>
            <a:ext cx="2133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prstClr val="black"/>
                </a:solidFill>
                <a:latin typeface="Times New Roman" panose="020F0502020204030204"/>
                <a:ea typeface="黑体"/>
                <a:cs typeface="+mn-ea"/>
                <a:sym typeface="+mn-lt"/>
              </a:rPr>
              <a:t>有近似等式</a:t>
            </a:r>
            <a:r>
              <a:rPr kumimoji="1" lang="en-US" altLang="zh-CN" sz="2800" dirty="0">
                <a:solidFill>
                  <a:prstClr val="black"/>
                </a:solidFill>
                <a:latin typeface="Times New Roman" panose="020F0502020204030204"/>
                <a:ea typeface="黑体"/>
                <a:cs typeface="+mn-ea"/>
                <a:sym typeface="+mn-lt"/>
              </a:rPr>
              <a:t>:</a:t>
            </a:r>
          </a:p>
        </p:txBody>
      </p:sp>
      <mc:AlternateContent xmlns:mc="http://schemas.openxmlformats.org/markup-compatibility/2006" xmlns:a14="http://schemas.microsoft.com/office/drawing/2010/main">
        <mc:Choice Requires="a14">
          <p:sp>
            <p:nvSpPr>
              <p:cNvPr id="16" name="Object 37">
                <a:extLst>
                  <a:ext uri="{FF2B5EF4-FFF2-40B4-BE49-F238E27FC236}">
                    <a16:creationId xmlns:a16="http://schemas.microsoft.com/office/drawing/2014/main" id="{F1205544-7EF4-3F49-8003-7BA5E337D5BC}"/>
                  </a:ext>
                </a:extLst>
              </p:cNvPr>
              <p:cNvSpPr txBox="1"/>
              <p:nvPr/>
            </p:nvSpPr>
            <p:spPr bwMode="auto">
              <a:xfrm>
                <a:off x="5243248" y="5037001"/>
                <a:ext cx="1990725" cy="62686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𝑓</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16" name="Object 37">
                <a:extLst>
                  <a:ext uri="{FF2B5EF4-FFF2-40B4-BE49-F238E27FC236}">
                    <a16:creationId xmlns:a16="http://schemas.microsoft.com/office/drawing/2014/main" id="{F1205544-7EF4-3F49-8003-7BA5E337D5BC}"/>
                  </a:ext>
                </a:extLst>
              </p:cNvPr>
              <p:cNvSpPr txBox="1">
                <a:spLocks noRot="1" noChangeAspect="1" noMove="1" noResize="1" noEditPoints="1" noAdjustHandles="1" noChangeArrowheads="1" noChangeShapeType="1" noTextEdit="1"/>
              </p:cNvSpPr>
              <p:nvPr/>
            </p:nvSpPr>
            <p:spPr bwMode="auto">
              <a:xfrm>
                <a:off x="5243248" y="5037001"/>
                <a:ext cx="1990725" cy="626860"/>
              </a:xfrm>
              <a:prstGeom prst="rect">
                <a:avLst/>
              </a:prstGeom>
              <a:blipFill>
                <a:blip r:embed="rId1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Text Box 47">
                <a:extLst>
                  <a:ext uri="{FF2B5EF4-FFF2-40B4-BE49-F238E27FC236}">
                    <a16:creationId xmlns:a16="http://schemas.microsoft.com/office/drawing/2014/main" id="{82E3F4F9-1317-E410-44B0-56D014FE5AF9}"/>
                  </a:ext>
                </a:extLst>
              </p:cNvPr>
              <p:cNvSpPr txBox="1">
                <a:spLocks noChangeArrowheads="1"/>
              </p:cNvSpPr>
              <p:nvPr/>
            </p:nvSpPr>
            <p:spPr bwMode="auto">
              <a:xfrm>
                <a:off x="3243580" y="4480775"/>
                <a:ext cx="4676775" cy="51911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lvl="0" eaLnBrk="0" fontAlgn="base" hangingPunct="0">
                  <a:spcBef>
                    <a:spcPct val="0"/>
                  </a:spcBef>
                  <a:spcAft>
                    <a:spcPct val="0"/>
                  </a:spcAft>
                  <a:defRPr/>
                </a:pPr>
                <a14:m>
                  <m:oMath xmlns:m="http://schemas.openxmlformats.org/officeDocument/2006/math">
                    <m:r>
                      <a:rPr kumimoji="1" lang="zh-CN" altLang="en-US" sz="2800" smtClean="0">
                        <a:solidFill>
                          <a:prstClr val="black"/>
                        </a:solidFill>
                        <a:latin typeface="Cambria Math" panose="02040503050406030204" pitchFamily="18" charset="0"/>
                        <a:ea typeface="黑体"/>
                        <a:cs typeface="+mn-ea"/>
                      </a:rPr>
                      <m:t>(</m:t>
                    </m:r>
                  </m:oMath>
                </a14:m>
                <a:r>
                  <a:rPr kumimoji="1" lang="zh-CN" altLang="en-US" sz="2800" dirty="0">
                    <a:solidFill>
                      <a:prstClr val="black"/>
                    </a:solidFill>
                    <a:latin typeface="Times New Roman" panose="020F0502020204030204"/>
                    <a:ea typeface="黑体"/>
                    <a:cs typeface="+mn-ea"/>
                    <a:sym typeface="+mn-lt"/>
                  </a:rPr>
                  <a:t>可用于近似计算</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800" dirty="0">
                    <a:solidFill>
                      <a:prstClr val="black"/>
                    </a:solidFill>
                    <a:latin typeface="Times New Roman" panose="020F0502020204030204"/>
                    <a:ea typeface="黑体"/>
                    <a:cs typeface="+mn-ea"/>
                    <a:sym typeface="+mn-lt"/>
                  </a:rPr>
                  <a:t>误差分析</a:t>
                </a:r>
                <a14:m>
                  <m:oMath xmlns:m="http://schemas.openxmlformats.org/officeDocument/2006/math">
                    <m:r>
                      <a:rPr kumimoji="1" lang="zh-CN" altLang="en-US" sz="2800">
                        <a:solidFill>
                          <a:prstClr val="black"/>
                        </a:solidFill>
                        <a:latin typeface="Cambria Math" panose="02040503050406030204" pitchFamily="18" charset="0"/>
                        <a:ea typeface="黑体"/>
                        <a:cs typeface="+mn-ea"/>
                      </a:rPr>
                      <m:t>)</m:t>
                    </m:r>
                  </m:oMath>
                </a14:m>
                <a:endParaRPr kumimoji="1" lang="en-US" altLang="zh-CN" sz="2800" dirty="0">
                  <a:solidFill>
                    <a:prstClr val="black"/>
                  </a:solidFill>
                  <a:latin typeface="Times New Roman" panose="020F0502020204030204"/>
                  <a:ea typeface="黑体"/>
                  <a:cs typeface="+mn-ea"/>
                  <a:sym typeface="+mn-lt"/>
                </a:endParaRPr>
              </a:p>
            </p:txBody>
          </p:sp>
        </mc:Choice>
        <mc:Fallback xmlns="">
          <p:sp>
            <p:nvSpPr>
              <p:cNvPr id="17" name="Text Box 47">
                <a:extLst>
                  <a:ext uri="{FF2B5EF4-FFF2-40B4-BE49-F238E27FC236}">
                    <a16:creationId xmlns:a16="http://schemas.microsoft.com/office/drawing/2014/main" id="{82E3F4F9-1317-E410-44B0-56D014FE5AF9}"/>
                  </a:ext>
                </a:extLst>
              </p:cNvPr>
              <p:cNvSpPr txBox="1">
                <a:spLocks noRot="1" noChangeAspect="1" noMove="1" noResize="1" noEditPoints="1" noAdjustHandles="1" noChangeArrowheads="1" noChangeShapeType="1" noTextEdit="1"/>
              </p:cNvSpPr>
              <p:nvPr/>
            </p:nvSpPr>
            <p:spPr bwMode="auto">
              <a:xfrm>
                <a:off x="3243580" y="4480775"/>
                <a:ext cx="4676775" cy="519113"/>
              </a:xfrm>
              <a:prstGeom prst="rect">
                <a:avLst/>
              </a:prstGeom>
              <a:blipFill>
                <a:blip r:embed="rId11"/>
                <a:stretch>
                  <a:fillRect t="-15294" b="-294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 Box 48">
                <a:extLst>
                  <a:ext uri="{FF2B5EF4-FFF2-40B4-BE49-F238E27FC236}">
                    <a16:creationId xmlns:a16="http://schemas.microsoft.com/office/drawing/2014/main" id="{0DFBB3EB-01EA-4BA7-D0A4-10896DC8E568}"/>
                  </a:ext>
                </a:extLst>
              </p:cNvPr>
              <p:cNvSpPr txBox="1">
                <a:spLocks noChangeArrowheads="1"/>
              </p:cNvSpPr>
              <p:nvPr/>
            </p:nvSpPr>
            <p:spPr bwMode="auto">
              <a:xfrm>
                <a:off x="3243580" y="5613444"/>
                <a:ext cx="3000375" cy="51911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lvl="0" eaLnBrk="0" fontAlgn="base" hangingPunct="0">
                  <a:spcBef>
                    <a:spcPct val="0"/>
                  </a:spcBef>
                  <a:spcAft>
                    <a:spcPct val="0"/>
                  </a:spcAft>
                  <a:defRPr/>
                </a:pPr>
                <a14:m>
                  <m:oMath xmlns:m="http://schemas.openxmlformats.org/officeDocument/2006/math">
                    <m:r>
                      <a:rPr kumimoji="1" lang="zh-CN" altLang="en-US" sz="2800">
                        <a:solidFill>
                          <a:prstClr val="black"/>
                        </a:solidFill>
                        <a:latin typeface="Cambria Math" panose="02040503050406030204" pitchFamily="18" charset="0"/>
                        <a:ea typeface="黑体"/>
                        <a:cs typeface="+mn-ea"/>
                      </a:rPr>
                      <m:t>(</m:t>
                    </m:r>
                  </m:oMath>
                </a14:m>
                <a:r>
                  <a:rPr kumimoji="1" lang="zh-CN" altLang="en-US" sz="2800" dirty="0">
                    <a:solidFill>
                      <a:prstClr val="black"/>
                    </a:solidFill>
                    <a:latin typeface="Times New Roman" panose="020F0502020204030204"/>
                    <a:ea typeface="黑体"/>
                    <a:cs typeface="+mn-ea"/>
                    <a:sym typeface="+mn-lt"/>
                  </a:rPr>
                  <a:t>可用于近似计算</a:t>
                </a:r>
                <a14:m>
                  <m:oMath xmlns:m="http://schemas.openxmlformats.org/officeDocument/2006/math">
                    <m:r>
                      <a:rPr kumimoji="1" lang="zh-CN" altLang="en-US" sz="2800">
                        <a:solidFill>
                          <a:prstClr val="black"/>
                        </a:solidFill>
                        <a:latin typeface="Cambria Math" panose="02040503050406030204" pitchFamily="18" charset="0"/>
                        <a:ea typeface="黑体"/>
                        <a:cs typeface="+mn-ea"/>
                      </a:rPr>
                      <m:t>)</m:t>
                    </m:r>
                  </m:oMath>
                </a14:m>
                <a:endParaRPr kumimoji="1" lang="en-US" altLang="zh-CN" sz="2800" dirty="0">
                  <a:solidFill>
                    <a:prstClr val="black"/>
                  </a:solidFill>
                  <a:latin typeface="Times New Roman" panose="020F0502020204030204"/>
                  <a:ea typeface="黑体"/>
                  <a:cs typeface="+mn-ea"/>
                  <a:sym typeface="+mn-lt"/>
                </a:endParaRPr>
              </a:p>
            </p:txBody>
          </p:sp>
        </mc:Choice>
        <mc:Fallback xmlns="">
          <p:sp>
            <p:nvSpPr>
              <p:cNvPr id="18" name="Text Box 48">
                <a:extLst>
                  <a:ext uri="{FF2B5EF4-FFF2-40B4-BE49-F238E27FC236}">
                    <a16:creationId xmlns:a16="http://schemas.microsoft.com/office/drawing/2014/main" id="{0DFBB3EB-01EA-4BA7-D0A4-10896DC8E568}"/>
                  </a:ext>
                </a:extLst>
              </p:cNvPr>
              <p:cNvSpPr txBox="1">
                <a:spLocks noRot="1" noChangeAspect="1" noMove="1" noResize="1" noEditPoints="1" noAdjustHandles="1" noChangeArrowheads="1" noChangeShapeType="1" noTextEdit="1"/>
              </p:cNvSpPr>
              <p:nvPr/>
            </p:nvSpPr>
            <p:spPr bwMode="auto">
              <a:xfrm>
                <a:off x="3243580" y="5613444"/>
                <a:ext cx="3000375" cy="519113"/>
              </a:xfrm>
              <a:prstGeom prst="rect">
                <a:avLst/>
              </a:prstGeom>
              <a:blipFill>
                <a:blip r:embed="rId12"/>
                <a:stretch>
                  <a:fillRect t="-16471" b="-294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6" name="Rectangle 2">
            <a:extLst>
              <a:ext uri="{FF2B5EF4-FFF2-40B4-BE49-F238E27FC236}">
                <a16:creationId xmlns:a16="http://schemas.microsoft.com/office/drawing/2014/main" id="{BCC3331B-7232-3AF9-A8D1-E4E6A50A9AFC}"/>
              </a:ext>
            </a:extLst>
          </p:cNvPr>
          <p:cNvSpPr txBox="1">
            <a:spLocks noChangeArrowheads="1"/>
          </p:cNvSpPr>
          <p:nvPr/>
        </p:nvSpPr>
        <p:spPr>
          <a:xfrm>
            <a:off x="2014855" y="1287496"/>
            <a:ext cx="2070524"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1. </a:t>
            </a:r>
            <a:r>
              <a:rPr kumimoji="1" lang="zh-CN" altLang="en-US" dirty="0">
                <a:solidFill>
                  <a:srgbClr val="04926A"/>
                </a:solidFill>
                <a:latin typeface="微软雅黑" panose="020B0503020204020204" pitchFamily="34" charset="-122"/>
                <a:ea typeface="微软雅黑" panose="020B0503020204020204" pitchFamily="34" charset="-122"/>
                <a:cs typeface="+mn-cs"/>
              </a:rPr>
              <a:t>近似计算</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974264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down)">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500"/>
                                        <p:tgtEl>
                                          <p:spTgt spid="6"/>
                                        </p:tgtEl>
                                      </p:cBhvr>
                                    </p:animEffect>
                                  </p:childTnLst>
                                </p:cTn>
                              </p:par>
                            </p:childTnLst>
                          </p:cTn>
                        </p:par>
                        <p:par>
                          <p:cTn id="48" fill="hold">
                            <p:stCondLst>
                              <p:cond delay="2000"/>
                            </p:stCondLst>
                            <p:childTnLst>
                              <p:par>
                                <p:cTn id="49" presetID="22" presetClass="entr" presetSubtype="8"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left)">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left)">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wipe(left)">
                                      <p:cBhvr>
                                        <p:cTn id="61" dur="500"/>
                                        <p:tgtEl>
                                          <p:spTgt spid="1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wipe(left)">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wipe(left)">
                                      <p:cBhvr>
                                        <p:cTn id="71" dur="500"/>
                                        <p:tgtEl>
                                          <p:spTgt spid="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wipe(left)">
                                      <p:cBhvr>
                                        <p:cTn id="76" dur="500"/>
                                        <p:tgtEl>
                                          <p:spTgt spid="1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wipe(left)">
                                      <p:cBhvr>
                                        <p:cTn id="81" dur="500"/>
                                        <p:tgtEl>
                                          <p:spTgt spid="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wipe(left)">
                                      <p:cBhvr>
                                        <p:cTn id="8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animBg="1"/>
      <p:bldP spid="13" grpId="0"/>
      <p:bldP spid="14" grpId="0"/>
      <p:bldP spid="15" grpId="0"/>
      <p:bldP spid="16" grpId="0"/>
      <p:bldP spid="17" grpId="0"/>
      <p:bldP spid="18" grpId="0"/>
      <p:bldP spid="3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01F81B65-EE2A-C744-6773-DED124474114}"/>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39" name="矩形 38">
                <a:extLst>
                  <a:ext uri="{FF2B5EF4-FFF2-40B4-BE49-F238E27FC236}">
                    <a16:creationId xmlns:a16="http://schemas.microsoft.com/office/drawing/2014/main" id="{01F81B65-EE2A-C744-6773-DED124474114}"/>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40" name="半闭框 39">
            <a:extLst>
              <a:ext uri="{FF2B5EF4-FFF2-40B4-BE49-F238E27FC236}">
                <a16:creationId xmlns:a16="http://schemas.microsoft.com/office/drawing/2014/main" id="{E486E9D2-8791-9001-6E3E-19A8FBB30B3E}"/>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半闭框 40">
            <a:extLst>
              <a:ext uri="{FF2B5EF4-FFF2-40B4-BE49-F238E27FC236}">
                <a16:creationId xmlns:a16="http://schemas.microsoft.com/office/drawing/2014/main" id="{3BCBB9B2-13CD-9E1A-2EAB-5DF596EB0D4D}"/>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2" name="半闭框 41">
            <a:extLst>
              <a:ext uri="{FF2B5EF4-FFF2-40B4-BE49-F238E27FC236}">
                <a16:creationId xmlns:a16="http://schemas.microsoft.com/office/drawing/2014/main" id="{0FA615BD-B239-0CDF-6ED4-15F4BDFE2C7E}"/>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43" name="半闭框 42">
            <a:extLst>
              <a:ext uri="{FF2B5EF4-FFF2-40B4-BE49-F238E27FC236}">
                <a16:creationId xmlns:a16="http://schemas.microsoft.com/office/drawing/2014/main" id="{06BD5615-9E5A-DFF5-7A04-76AC76BBA524}"/>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 Box 11">
            <a:extLst>
              <a:ext uri="{FF2B5EF4-FFF2-40B4-BE49-F238E27FC236}">
                <a16:creationId xmlns:a16="http://schemas.microsoft.com/office/drawing/2014/main" id="{A11D204F-D323-CD5C-EA96-8C55373EAC75}"/>
              </a:ext>
            </a:extLst>
          </p:cNvPr>
          <p:cNvSpPr txBox="1">
            <a:spLocks noChangeArrowheads="1"/>
          </p:cNvSpPr>
          <p:nvPr/>
        </p:nvSpPr>
        <p:spPr bwMode="auto">
          <a:xfrm>
            <a:off x="7064976" y="736435"/>
            <a:ext cx="3387123"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lvl="0" fontAlgn="base">
              <a:spcBef>
                <a:spcPct val="50000"/>
              </a:spcBef>
              <a:spcAft>
                <a:spcPct val="0"/>
              </a:spcAft>
              <a:defRPr/>
            </a:pPr>
            <a:r>
              <a:rPr kumimoji="1" lang="zh-CN" altLang="en-US" sz="2800" dirty="0">
                <a:solidFill>
                  <a:prstClr val="black"/>
                </a:solidFill>
                <a:latin typeface="Times New Roman" panose="020F0502020204030204"/>
                <a:ea typeface="黑体"/>
                <a:cs typeface="+mn-ea"/>
                <a:sym typeface="+mn-lt"/>
              </a:rPr>
              <a:t>半径由 </a:t>
            </a:r>
            <a:r>
              <a:rPr kumimoji="1" lang="en-US" altLang="zh-CN" sz="2800" dirty="0">
                <a:solidFill>
                  <a:prstClr val="black"/>
                </a:solidFill>
                <a:latin typeface="Times New Roman" panose="020F0502020204030204"/>
                <a:ea typeface="黑体"/>
                <a:cs typeface="+mn-ea"/>
                <a:sym typeface="+mn-lt"/>
              </a:rPr>
              <a:t>20cm </a:t>
            </a:r>
            <a:r>
              <a:rPr kumimoji="1" lang="zh-CN" altLang="en-US" sz="2800" dirty="0">
                <a:solidFill>
                  <a:prstClr val="black"/>
                </a:solidFill>
                <a:latin typeface="Times New Roman" panose="020F0502020204030204"/>
                <a:ea typeface="黑体"/>
                <a:cs typeface="+mn-ea"/>
                <a:sym typeface="+mn-lt"/>
              </a:rPr>
              <a:t>增大到</a:t>
            </a:r>
          </a:p>
        </p:txBody>
      </p:sp>
      <p:sp>
        <p:nvSpPr>
          <p:cNvPr id="3" name="Text Box 14">
            <a:extLst>
              <a:ext uri="{FF2B5EF4-FFF2-40B4-BE49-F238E27FC236}">
                <a16:creationId xmlns:a16="http://schemas.microsoft.com/office/drawing/2014/main" id="{16FAE592-674B-2EB6-66FE-030B0BD1B9B9}"/>
              </a:ext>
            </a:extLst>
          </p:cNvPr>
          <p:cNvSpPr txBox="1">
            <a:spLocks noChangeArrowheads="1"/>
          </p:cNvSpPr>
          <p:nvPr/>
        </p:nvSpPr>
        <p:spPr bwMode="auto">
          <a:xfrm>
            <a:off x="1811154" y="2338389"/>
            <a:ext cx="175003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r>
              <a:rPr kumimoji="1" lang="en-US" altLang="zh-CN" sz="2800" b="1" dirty="0">
                <a:solidFill>
                  <a:srgbClr val="04926A"/>
                </a:solidFill>
                <a:latin typeface="微软雅黑" panose="020B0503020204020204" pitchFamily="34" charset="-122"/>
                <a:ea typeface="微软雅黑" panose="020B0503020204020204" pitchFamily="34" charset="-122"/>
                <a:sym typeface="+mn-lt"/>
              </a:rPr>
              <a:t>    </a:t>
            </a:r>
            <a:r>
              <a:rPr kumimoji="1" lang="zh-CN" altLang="en-US" sz="2200" dirty="0">
                <a:solidFill>
                  <a:prstClr val="black"/>
                </a:solidFill>
                <a:latin typeface="Times New Roman" panose="020F0502020204030204"/>
                <a:ea typeface="黑体"/>
                <a:cs typeface="+mn-ea"/>
                <a:sym typeface="+mn-lt"/>
              </a:rPr>
              <a:t>已知</a:t>
            </a:r>
          </a:p>
        </p:txBody>
      </p:sp>
      <mc:AlternateContent xmlns:mc="http://schemas.openxmlformats.org/markup-compatibility/2006" xmlns:a14="http://schemas.microsoft.com/office/drawing/2010/main">
        <mc:Choice Requires="a14">
          <p:sp>
            <p:nvSpPr>
              <p:cNvPr id="4" name="Object 15">
                <a:extLst>
                  <a:ext uri="{FF2B5EF4-FFF2-40B4-BE49-F238E27FC236}">
                    <a16:creationId xmlns:a16="http://schemas.microsoft.com/office/drawing/2014/main" id="{D722AD2E-A7AD-771B-8234-250130F01806}"/>
                  </a:ext>
                </a:extLst>
              </p:cNvPr>
              <p:cNvSpPr txBox="1"/>
              <p:nvPr/>
            </p:nvSpPr>
            <p:spPr bwMode="auto">
              <a:xfrm>
                <a:off x="3239008" y="2402681"/>
                <a:ext cx="1402151" cy="393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𝑉</m:t>
                      </m:r>
                      <m:r>
                        <a:rPr kumimoji="1" lang="zh-CN" altLang="en-US" sz="2200">
                          <a:solidFill>
                            <a:prstClr val="black"/>
                          </a:solidFill>
                          <a:latin typeface="Cambria Math" panose="02040503050406030204" pitchFamily="18" charset="0"/>
                          <a:ea typeface="黑体"/>
                          <a:cs typeface="+mn-ea"/>
                        </a:rPr>
                        <m:t>=</m:t>
                      </m:r>
                      <m:r>
                        <m:rPr>
                          <m:sty m:val="p"/>
                        </m:rPr>
                        <a:rPr kumimoji="1" lang="zh-CN" altLang="en-US" sz="2200" i="0">
                          <a:solidFill>
                            <a:prstClr val="black"/>
                          </a:solidFill>
                          <a:latin typeface="Cambria Math" panose="02040503050406030204" pitchFamily="18" charset="0"/>
                          <a:ea typeface="黑体"/>
                          <a:cs typeface="+mn-ea"/>
                        </a:rPr>
                        <m:t>π</m:t>
                      </m:r>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𝑟</m:t>
                          </m:r>
                        </m:e>
                        <m:sup>
                          <m:r>
                            <a:rPr kumimoji="1" lang="zh-CN" altLang="en-US" sz="2200">
                              <a:solidFill>
                                <a:prstClr val="black"/>
                              </a:solidFill>
                              <a:latin typeface="Cambria Math" panose="02040503050406030204" pitchFamily="18" charset="0"/>
                              <a:ea typeface="黑体"/>
                              <a:cs typeface="+mn-ea"/>
                            </a:rPr>
                            <m:t>2</m:t>
                          </m:r>
                        </m:sup>
                      </m:sSup>
                      <m:r>
                        <a:rPr kumimoji="1" lang="zh-CN" altLang="en-US" sz="2200">
                          <a:solidFill>
                            <a:prstClr val="black"/>
                          </a:solidFill>
                          <a:latin typeface="Cambria Math" panose="02040503050406030204" pitchFamily="18" charset="0"/>
                          <a:ea typeface="黑体"/>
                          <a:cs typeface="+mn-ea"/>
                        </a:rPr>
                        <m:t>h</m:t>
                      </m:r>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4" name="Object 15">
                <a:extLst>
                  <a:ext uri="{FF2B5EF4-FFF2-40B4-BE49-F238E27FC236}">
                    <a16:creationId xmlns:a16="http://schemas.microsoft.com/office/drawing/2014/main" id="{D722AD2E-A7AD-771B-8234-250130F01806}"/>
                  </a:ext>
                </a:extLst>
              </p:cNvPr>
              <p:cNvSpPr txBox="1">
                <a:spLocks noRot="1" noChangeAspect="1" noMove="1" noResize="1" noEditPoints="1" noAdjustHandles="1" noChangeArrowheads="1" noChangeShapeType="1" noTextEdit="1"/>
              </p:cNvSpPr>
              <p:nvPr/>
            </p:nvSpPr>
            <p:spPr bwMode="auto">
              <a:xfrm>
                <a:off x="3239008" y="2402681"/>
                <a:ext cx="1402151" cy="393700"/>
              </a:xfrm>
              <a:prstGeom prst="rect">
                <a:avLst/>
              </a:prstGeom>
              <a:blipFill>
                <a:blip r:embed="rId3"/>
                <a:stretch>
                  <a:fillRect l="-435" b="-461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16">
                <a:extLst>
                  <a:ext uri="{FF2B5EF4-FFF2-40B4-BE49-F238E27FC236}">
                    <a16:creationId xmlns:a16="http://schemas.microsoft.com/office/drawing/2014/main" id="{88387135-FB9B-35EC-EB3B-3FD4FBC8E63C}"/>
                  </a:ext>
                </a:extLst>
              </p:cNvPr>
              <p:cNvSpPr txBox="1"/>
              <p:nvPr/>
            </p:nvSpPr>
            <p:spPr bwMode="auto">
              <a:xfrm>
                <a:off x="3239008" y="2891159"/>
                <a:ext cx="912811" cy="393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200">
                          <a:solidFill>
                            <a:prstClr val="black"/>
                          </a:solidFill>
                          <a:latin typeface="Cambria Math" panose="02040503050406030204" pitchFamily="18" charset="0"/>
                          <a:ea typeface="黑体"/>
                          <a:cs typeface="+mn-ea"/>
                        </a:rPr>
                        <m:t>Δ</m:t>
                      </m:r>
                      <m:r>
                        <a:rPr kumimoji="1" lang="zh-CN" altLang="en-US" sz="2200">
                          <a:solidFill>
                            <a:prstClr val="black"/>
                          </a:solidFill>
                          <a:latin typeface="Cambria Math" panose="02040503050406030204" pitchFamily="18" charset="0"/>
                          <a:ea typeface="黑体"/>
                          <a:cs typeface="+mn-ea"/>
                        </a:rPr>
                        <m:t>𝑉</m:t>
                      </m:r>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5" name="Object 16">
                <a:extLst>
                  <a:ext uri="{FF2B5EF4-FFF2-40B4-BE49-F238E27FC236}">
                    <a16:creationId xmlns:a16="http://schemas.microsoft.com/office/drawing/2014/main" id="{88387135-FB9B-35EC-EB3B-3FD4FBC8E63C}"/>
                  </a:ext>
                </a:extLst>
              </p:cNvPr>
              <p:cNvSpPr txBox="1">
                <a:spLocks noRot="1" noChangeAspect="1" noMove="1" noResize="1" noEditPoints="1" noAdjustHandles="1" noChangeArrowheads="1" noChangeShapeType="1" noTextEdit="1"/>
              </p:cNvSpPr>
              <p:nvPr/>
            </p:nvSpPr>
            <p:spPr bwMode="auto">
              <a:xfrm>
                <a:off x="3239008" y="2891159"/>
                <a:ext cx="912811" cy="393700"/>
              </a:xfrm>
              <a:prstGeom prst="rect">
                <a:avLst/>
              </a:prstGeom>
              <a:blipFill>
                <a:blip r:embed="rId4"/>
                <a:stretch>
                  <a:fillRect l="-667" b="-461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18">
                <a:extLst>
                  <a:ext uri="{FF2B5EF4-FFF2-40B4-BE49-F238E27FC236}">
                    <a16:creationId xmlns:a16="http://schemas.microsoft.com/office/drawing/2014/main" id="{B2A6CAF5-BBA2-6AF4-8BE3-C93D57E8F69F}"/>
                  </a:ext>
                </a:extLst>
              </p:cNvPr>
              <p:cNvSpPr txBox="1"/>
              <p:nvPr/>
            </p:nvSpPr>
            <p:spPr bwMode="auto">
              <a:xfrm>
                <a:off x="3694622" y="3402721"/>
                <a:ext cx="2463745"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𝑟</m:t>
                      </m:r>
                      <m:r>
                        <a:rPr kumimoji="1" lang="zh-CN" altLang="en-US" sz="2200">
                          <a:solidFill>
                            <a:prstClr val="black"/>
                          </a:solidFill>
                          <a:latin typeface="Cambria Math" panose="02040503050406030204" pitchFamily="18" charset="0"/>
                          <a:ea typeface="黑体"/>
                          <a:cs typeface="+mn-ea"/>
                        </a:rPr>
                        <m:t>=20, </m:t>
                      </m:r>
                      <m:r>
                        <a:rPr kumimoji="1" lang="zh-CN" altLang="en-US" sz="2200">
                          <a:solidFill>
                            <a:prstClr val="black"/>
                          </a:solidFill>
                          <a:latin typeface="Cambria Math" panose="02040503050406030204" pitchFamily="18" charset="0"/>
                          <a:ea typeface="黑体"/>
                          <a:cs typeface="+mn-ea"/>
                        </a:rPr>
                        <m:t>h</m:t>
                      </m:r>
                      <m:r>
                        <a:rPr kumimoji="1" lang="zh-CN" altLang="en-US" sz="2200">
                          <a:solidFill>
                            <a:prstClr val="black"/>
                          </a:solidFill>
                          <a:latin typeface="Cambria Math" panose="02040503050406030204" pitchFamily="18" charset="0"/>
                          <a:ea typeface="黑体"/>
                          <a:cs typeface="+mn-ea"/>
                        </a:rPr>
                        <m:t>=100,</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6" name="Object 18">
                <a:extLst>
                  <a:ext uri="{FF2B5EF4-FFF2-40B4-BE49-F238E27FC236}">
                    <a16:creationId xmlns:a16="http://schemas.microsoft.com/office/drawing/2014/main" id="{B2A6CAF5-BBA2-6AF4-8BE3-C93D57E8F69F}"/>
                  </a:ext>
                </a:extLst>
              </p:cNvPr>
              <p:cNvSpPr txBox="1">
                <a:spLocks noRot="1" noChangeAspect="1" noMove="1" noResize="1" noEditPoints="1" noAdjustHandles="1" noChangeArrowheads="1" noChangeShapeType="1" noTextEdit="1"/>
              </p:cNvSpPr>
              <p:nvPr/>
            </p:nvSpPr>
            <p:spPr bwMode="auto">
              <a:xfrm>
                <a:off x="3694622" y="3402721"/>
                <a:ext cx="2463745" cy="406400"/>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21">
                <a:extLst>
                  <a:ext uri="{FF2B5EF4-FFF2-40B4-BE49-F238E27FC236}">
                    <a16:creationId xmlns:a16="http://schemas.microsoft.com/office/drawing/2014/main" id="{DAC2D3B3-EB8D-0E4A-B492-555FB08DA877}"/>
                  </a:ext>
                </a:extLst>
              </p:cNvPr>
              <p:cNvSpPr txBox="1"/>
              <p:nvPr/>
            </p:nvSpPr>
            <p:spPr bwMode="auto">
              <a:xfrm>
                <a:off x="2610361" y="4631693"/>
                <a:ext cx="5734048" cy="46989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kumimoji="1" lang="zh-CN" altLang="en-US" sz="2200">
                          <a:solidFill>
                            <a:prstClr val="black"/>
                          </a:solidFill>
                          <a:latin typeface="Cambria Math" panose="02040503050406030204" pitchFamily="18" charset="0"/>
                          <a:ea typeface="黑体"/>
                          <a:cs typeface="+mn-ea"/>
                        </a:rPr>
                        <m:t>Δ</m:t>
                      </m:r>
                      <m:r>
                        <a:rPr kumimoji="1" lang="zh-CN" altLang="en-US" sz="2200">
                          <a:solidFill>
                            <a:prstClr val="black"/>
                          </a:solidFill>
                          <a:latin typeface="Cambria Math" panose="02040503050406030204" pitchFamily="18" charset="0"/>
                          <a:ea typeface="黑体"/>
                          <a:cs typeface="+mn-ea"/>
                        </a:rPr>
                        <m:t>𝑉</m:t>
                      </m:r>
                      <m:r>
                        <a:rPr kumimoji="1" lang="zh-CN" altLang="en-US" sz="2200">
                          <a:solidFill>
                            <a:prstClr val="black"/>
                          </a:solidFill>
                          <a:latin typeface="Cambria Math" panose="02040503050406030204" pitchFamily="18" charset="0"/>
                          <a:ea typeface="黑体"/>
                          <a:cs typeface="+mn-ea"/>
                        </a:rPr>
                        <m:t>≈2</m:t>
                      </m:r>
                      <m:r>
                        <m:rPr>
                          <m:sty m:val="p"/>
                        </m:rPr>
                        <a:rPr kumimoji="1" lang="zh-CN" altLang="en-US" sz="2200" i="0">
                          <a:solidFill>
                            <a:prstClr val="black"/>
                          </a:solidFill>
                          <a:latin typeface="Cambria Math" panose="02040503050406030204" pitchFamily="18" charset="0"/>
                          <a:ea typeface="黑体"/>
                          <a:cs typeface="+mn-ea"/>
                        </a:rPr>
                        <m:t>π</m:t>
                      </m:r>
                      <m:r>
                        <a:rPr kumimoji="1" lang="zh-CN" altLang="en-US" sz="2200">
                          <a:solidFill>
                            <a:prstClr val="black"/>
                          </a:solidFill>
                          <a:latin typeface="Cambria Math" panose="02040503050406030204" pitchFamily="18" charset="0"/>
                          <a:ea typeface="黑体"/>
                          <a:cs typeface="+mn-ea"/>
                        </a:rPr>
                        <m:t>×20×100×0.05+</m:t>
                      </m:r>
                      <m:r>
                        <m:rPr>
                          <m:sty m:val="p"/>
                        </m:rPr>
                        <a:rPr kumimoji="1" lang="zh-CN" altLang="en-US" sz="2200" i="0">
                          <a:solidFill>
                            <a:prstClr val="black"/>
                          </a:solidFill>
                          <a:latin typeface="Cambria Math" panose="02040503050406030204" pitchFamily="18" charset="0"/>
                          <a:ea typeface="黑体"/>
                          <a:cs typeface="+mn-ea"/>
                        </a:rPr>
                        <m:t>π</m:t>
                      </m:r>
                      <m:r>
                        <a:rPr kumimoji="1" lang="zh-CN" altLang="en-US" sz="2200">
                          <a:solidFill>
                            <a:prstClr val="black"/>
                          </a:solidFill>
                          <a:latin typeface="Cambria Math" panose="02040503050406030204" pitchFamily="18" charset="0"/>
                          <a:ea typeface="黑体"/>
                          <a:cs typeface="+mn-ea"/>
                        </a:rPr>
                        <m:t>×2</m:t>
                      </m:r>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0</m:t>
                          </m:r>
                        </m:e>
                        <m:sup>
                          <m:r>
                            <a:rPr kumimoji="1" lang="zh-CN" altLang="en-US" sz="2200">
                              <a:solidFill>
                                <a:prstClr val="black"/>
                              </a:solidFill>
                              <a:latin typeface="Cambria Math" panose="02040503050406030204" pitchFamily="18" charset="0"/>
                              <a:ea typeface="黑体"/>
                              <a:cs typeface="+mn-ea"/>
                            </a:rPr>
                            <m:t>2</m:t>
                          </m:r>
                        </m:sup>
                      </m:sSup>
                      <m:r>
                        <a:rPr kumimoji="1" lang="zh-CN" altLang="en-US" sz="2200">
                          <a:solidFill>
                            <a:prstClr val="black"/>
                          </a:solidFill>
                          <a:latin typeface="Cambria Math" panose="02040503050406030204" pitchFamily="18" charset="0"/>
                          <a:ea typeface="黑体"/>
                          <a:cs typeface="+mn-ea"/>
                        </a:rPr>
                        <m:t>×(−1)</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7" name="Object 21">
                <a:extLst>
                  <a:ext uri="{FF2B5EF4-FFF2-40B4-BE49-F238E27FC236}">
                    <a16:creationId xmlns:a16="http://schemas.microsoft.com/office/drawing/2014/main" id="{DAC2D3B3-EB8D-0E4A-B492-555FB08DA877}"/>
                  </a:ext>
                </a:extLst>
              </p:cNvPr>
              <p:cNvSpPr txBox="1">
                <a:spLocks noRot="1" noChangeAspect="1" noMove="1" noResize="1" noEditPoints="1" noAdjustHandles="1" noChangeArrowheads="1" noChangeShapeType="1" noTextEdit="1"/>
              </p:cNvSpPr>
              <p:nvPr/>
            </p:nvSpPr>
            <p:spPr bwMode="auto">
              <a:xfrm>
                <a:off x="2610361" y="4631693"/>
                <a:ext cx="5734048" cy="469899"/>
              </a:xfrm>
              <a:prstGeom prst="rect">
                <a:avLst/>
              </a:prstGeom>
              <a:blipFill>
                <a:blip r:embed="rId6"/>
                <a:stretch>
                  <a:fillRect l="-106" b="-7792"/>
                </a:stretch>
              </a:blipFill>
              <a:ln>
                <a:noFill/>
              </a:ln>
              <a:effectLst/>
            </p:spPr>
            <p:txBody>
              <a:bodyPr/>
              <a:lstStyle/>
              <a:p>
                <a:r>
                  <a:rPr lang="zh-CN" altLang="en-US">
                    <a:noFill/>
                  </a:rPr>
                  <a:t> </a:t>
                </a:r>
              </a:p>
            </p:txBody>
          </p:sp>
        </mc:Fallback>
      </mc:AlternateContent>
      <p:sp>
        <p:nvSpPr>
          <p:cNvPr id="8" name="Text Box 23">
            <a:extLst>
              <a:ext uri="{FF2B5EF4-FFF2-40B4-BE49-F238E27FC236}">
                <a16:creationId xmlns:a16="http://schemas.microsoft.com/office/drawing/2014/main" id="{5B94EBDC-6605-9624-7FE8-A2116F4F0D52}"/>
              </a:ext>
            </a:extLst>
          </p:cNvPr>
          <p:cNvSpPr txBox="1">
            <a:spLocks noChangeArrowheads="1"/>
          </p:cNvSpPr>
          <p:nvPr/>
        </p:nvSpPr>
        <p:spPr bwMode="auto">
          <a:xfrm>
            <a:off x="2610361" y="5655735"/>
            <a:ext cx="45720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tabLst/>
              <a:defRPr/>
            </a:pPr>
            <a:r>
              <a:rPr kumimoji="1" lang="zh-CN" altLang="en-US" sz="2200" dirty="0">
                <a:solidFill>
                  <a:prstClr val="black"/>
                </a:solidFill>
                <a:latin typeface="Times New Roman" panose="020F0502020204030204"/>
                <a:ea typeface="黑体"/>
                <a:cs typeface="+mn-ea"/>
                <a:sym typeface="+mn-lt"/>
              </a:rPr>
              <a:t>即受压后圆柱体体积减少了 </a:t>
            </a:r>
          </a:p>
        </p:txBody>
      </p:sp>
      <mc:AlternateContent xmlns:mc="http://schemas.openxmlformats.org/markup-compatibility/2006" xmlns:a14="http://schemas.microsoft.com/office/drawing/2010/main">
        <mc:Choice Requires="a14">
          <p:sp>
            <p:nvSpPr>
              <p:cNvPr id="9" name="Object 24">
                <a:extLst>
                  <a:ext uri="{FF2B5EF4-FFF2-40B4-BE49-F238E27FC236}">
                    <a16:creationId xmlns:a16="http://schemas.microsoft.com/office/drawing/2014/main" id="{F11E0DA0-7730-0F34-346A-27A34687C464}"/>
                  </a:ext>
                </a:extLst>
              </p:cNvPr>
              <p:cNvSpPr txBox="1"/>
              <p:nvPr/>
            </p:nvSpPr>
            <p:spPr bwMode="auto">
              <a:xfrm>
                <a:off x="6026661" y="5650018"/>
                <a:ext cx="1663700" cy="5207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200</m:t>
                      </m:r>
                      <m:r>
                        <m:rPr>
                          <m:sty m:val="p"/>
                        </m:rPr>
                        <a:rPr kumimoji="1" lang="zh-CN" altLang="en-US" sz="2200" i="0">
                          <a:solidFill>
                            <a:prstClr val="black"/>
                          </a:solidFill>
                          <a:latin typeface="Cambria Math" panose="02040503050406030204" pitchFamily="18" charset="0"/>
                          <a:ea typeface="黑体"/>
                          <a:cs typeface="+mn-ea"/>
                        </a:rPr>
                        <m:t>π</m:t>
                      </m:r>
                      <m:r>
                        <m:rPr>
                          <m:nor/>
                        </m:rPr>
                        <a:rPr kumimoji="1" lang="zh-CN" altLang="en-US" sz="2200">
                          <a:solidFill>
                            <a:prstClr val="black"/>
                          </a:solidFill>
                          <a:latin typeface="Times New Roman" panose="020F0502020204030204"/>
                          <a:ea typeface="黑体"/>
                          <a:cs typeface="+mn-ea"/>
                        </a:rPr>
                        <m:t>c</m:t>
                      </m:r>
                      <m:sSup>
                        <m:sSupPr>
                          <m:ctrlPr>
                            <a:rPr kumimoji="1" lang="zh-CN" altLang="en-US" sz="2200" i="1">
                              <a:solidFill>
                                <a:prstClr val="black"/>
                              </a:solidFill>
                              <a:latin typeface="Cambria Math" panose="02040503050406030204" pitchFamily="18" charset="0"/>
                              <a:ea typeface="黑体"/>
                              <a:cs typeface="+mn-ea"/>
                            </a:rPr>
                          </m:ctrlPr>
                        </m:sSupPr>
                        <m:e>
                          <m:r>
                            <m:rPr>
                              <m:nor/>
                            </m:rPr>
                            <a:rPr kumimoji="1" lang="zh-CN" altLang="en-US" sz="2200">
                              <a:solidFill>
                                <a:prstClr val="black"/>
                              </a:solidFill>
                              <a:latin typeface="Times New Roman" panose="020F0502020204030204"/>
                              <a:ea typeface="黑体"/>
                              <a:cs typeface="+mn-ea"/>
                            </a:rPr>
                            <m:t>m</m:t>
                          </m:r>
                        </m:e>
                        <m:sup>
                          <m:r>
                            <a:rPr kumimoji="1" lang="zh-CN" altLang="en-US" sz="2200">
                              <a:solidFill>
                                <a:prstClr val="black"/>
                              </a:solidFill>
                              <a:latin typeface="Cambria Math" panose="02040503050406030204" pitchFamily="18" charset="0"/>
                              <a:ea typeface="黑体"/>
                              <a:cs typeface="+mn-ea"/>
                            </a:rPr>
                            <m:t>3</m:t>
                          </m:r>
                        </m:sup>
                      </m:sSup>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9" name="Object 24">
                <a:extLst>
                  <a:ext uri="{FF2B5EF4-FFF2-40B4-BE49-F238E27FC236}">
                    <a16:creationId xmlns:a16="http://schemas.microsoft.com/office/drawing/2014/main" id="{F11E0DA0-7730-0F34-346A-27A34687C464}"/>
                  </a:ext>
                </a:extLst>
              </p:cNvPr>
              <p:cNvSpPr txBox="1">
                <a:spLocks noRot="1" noChangeAspect="1" noMove="1" noResize="1" noEditPoints="1" noAdjustHandles="1" noChangeArrowheads="1" noChangeShapeType="1" noTextEdit="1"/>
              </p:cNvSpPr>
              <p:nvPr/>
            </p:nvSpPr>
            <p:spPr bwMode="auto">
              <a:xfrm>
                <a:off x="6026661" y="5650018"/>
                <a:ext cx="1663700" cy="520700"/>
              </a:xfrm>
              <a:prstGeom prst="rect">
                <a:avLst/>
              </a:prstGeom>
              <a:blipFill>
                <a:blip r:embed="rId7"/>
                <a:stretch>
                  <a:fillRect l="-366"/>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Rectangle 26">
                <a:extLst>
                  <a:ext uri="{FF2B5EF4-FFF2-40B4-BE49-F238E27FC236}">
                    <a16:creationId xmlns:a16="http://schemas.microsoft.com/office/drawing/2014/main" id="{31DC6DBA-D989-674F-2655-AF94820BE5DB}"/>
                  </a:ext>
                </a:extLst>
              </p:cNvPr>
              <p:cNvSpPr txBox="1">
                <a:spLocks noChangeArrowheads="1"/>
              </p:cNvSpPr>
              <p:nvPr/>
            </p:nvSpPr>
            <p:spPr>
              <a:xfrm>
                <a:off x="1822503" y="774700"/>
                <a:ext cx="6096000" cy="609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800" b="1" dirty="0">
                    <a:solidFill>
                      <a:srgbClr val="04926A"/>
                    </a:solidFill>
                    <a:latin typeface="微软雅黑" panose="020B0503020204020204" pitchFamily="34" charset="-122"/>
                    <a:ea typeface="微软雅黑" panose="020B0503020204020204" pitchFamily="34" charset="-122"/>
                    <a:cs typeface="+mn-cs"/>
                    <a:sym typeface="+mn-lt"/>
                  </a:rPr>
                  <a:t>例</a:t>
                </a:r>
                <a:r>
                  <a:rPr kumimoji="1" lang="en-US" altLang="zh-CN" sz="2800" b="1" dirty="0">
                    <a:solidFill>
                      <a:srgbClr val="04926A"/>
                    </a:solidFill>
                    <a:latin typeface="微软雅黑" panose="020B0503020204020204" pitchFamily="34" charset="-122"/>
                    <a:ea typeface="微软雅黑" panose="020B0503020204020204" pitchFamily="34" charset="-122"/>
                    <a:cs typeface="+mn-cs"/>
                    <a:sym typeface="+mn-lt"/>
                  </a:rPr>
                  <a:t>4  </a:t>
                </a:r>
                <a:r>
                  <a:rPr kumimoji="1" lang="zh-CN" altLang="en-US" sz="2800" dirty="0">
                    <a:solidFill>
                      <a:prstClr val="black"/>
                    </a:solidFill>
                    <a:latin typeface="Times New Roman" panose="020F0502020204030204"/>
                    <a:ea typeface="黑体"/>
                    <a:cs typeface="+mn-ea"/>
                    <a:sym typeface="+mn-lt"/>
                  </a:rPr>
                  <a:t>有一圆柱体受压后发生形变</a:t>
                </a:r>
                <a14:m>
                  <m:oMath xmlns:m="http://schemas.openxmlformats.org/officeDocument/2006/math">
                    <m:r>
                      <a:rPr kumimoji="1" lang="zh-CN" altLang="en-US" sz="2800" smtClean="0">
                        <a:solidFill>
                          <a:prstClr val="black"/>
                        </a:solidFill>
                        <a:latin typeface="Cambria Math" panose="02040503050406030204" pitchFamily="18" charset="0"/>
                        <a:ea typeface="黑体"/>
                        <a:cs typeface="+mn-ea"/>
                      </a:rPr>
                      <m:t>,</m:t>
                    </m:r>
                  </m:oMath>
                </a14:m>
                <a:endParaRPr kumimoji="1" lang="en-US" altLang="zh-CN" sz="2800" dirty="0">
                  <a:solidFill>
                    <a:prstClr val="black"/>
                  </a:solidFill>
                  <a:latin typeface="Times New Roman" panose="020F0502020204030204"/>
                  <a:ea typeface="黑体"/>
                  <a:cs typeface="+mn-ea"/>
                  <a:sym typeface="+mn-lt"/>
                </a:endParaRPr>
              </a:p>
            </p:txBody>
          </p:sp>
        </mc:Choice>
        <mc:Fallback xmlns="">
          <p:sp>
            <p:nvSpPr>
              <p:cNvPr id="10" name="Rectangle 26">
                <a:extLst>
                  <a:ext uri="{FF2B5EF4-FFF2-40B4-BE49-F238E27FC236}">
                    <a16:creationId xmlns:a16="http://schemas.microsoft.com/office/drawing/2014/main" id="{31DC6DBA-D989-674F-2655-AF94820BE5DB}"/>
                  </a:ext>
                </a:extLst>
              </p:cNvPr>
              <p:cNvSpPr txBox="1">
                <a:spLocks noRot="1" noChangeAspect="1" noMove="1" noResize="1" noEditPoints="1" noAdjustHandles="1" noChangeArrowheads="1" noChangeShapeType="1" noTextEdit="1"/>
              </p:cNvSpPr>
              <p:nvPr/>
            </p:nvSpPr>
            <p:spPr>
              <a:xfrm>
                <a:off x="1822503" y="774700"/>
                <a:ext cx="6096000" cy="609600"/>
              </a:xfrm>
              <a:prstGeom prst="rect">
                <a:avLst/>
              </a:prstGeom>
              <a:blipFill>
                <a:blip r:embed="rId8"/>
                <a:stretch>
                  <a:fillRect l="-2100" t="-20000" b="-7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 Box 27">
                <a:extLst>
                  <a:ext uri="{FF2B5EF4-FFF2-40B4-BE49-F238E27FC236}">
                    <a16:creationId xmlns:a16="http://schemas.microsoft.com/office/drawing/2014/main" id="{EA198FE8-5FD9-00A3-995A-FEBC03C86416}"/>
                  </a:ext>
                </a:extLst>
              </p:cNvPr>
              <p:cNvSpPr txBox="1">
                <a:spLocks noChangeArrowheads="1"/>
              </p:cNvSpPr>
              <p:nvPr/>
            </p:nvSpPr>
            <p:spPr bwMode="auto">
              <a:xfrm>
                <a:off x="2590800" y="1275081"/>
                <a:ext cx="2209800" cy="52322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a:spAutoFit/>
              </a:bodyPr>
              <a:lstStyle/>
              <a:p>
                <a:pPr lvl="0" fontAlgn="base">
                  <a:spcBef>
                    <a:spcPct val="50000"/>
                  </a:spcBef>
                  <a:spcAft>
                    <a:spcPct val="0"/>
                  </a:spcAft>
                  <a:defRPr/>
                </a:pPr>
                <a:r>
                  <a:rPr kumimoji="1" lang="en-US" altLang="zh-CN" sz="2800" dirty="0">
                    <a:solidFill>
                      <a:prstClr val="black"/>
                    </a:solidFill>
                    <a:latin typeface="Times New Roman" panose="020F0502020204030204"/>
                    <a:ea typeface="黑体"/>
                    <a:cs typeface="+mn-ea"/>
                    <a:sym typeface="+mn-lt"/>
                  </a:rPr>
                  <a:t>20.05cm</a:t>
                </a:r>
                <a:r>
                  <a:rPr kumimoji="1" lang="zh-CN" altLang="en-US" sz="2800" dirty="0">
                    <a:solidFill>
                      <a:prstClr val="black"/>
                    </a:solidFill>
                    <a:ea typeface="黑体"/>
                    <a:cs typeface="+mn-ea"/>
                  </a:rPr>
                  <a:t> </a:t>
                </a:r>
                <a14:m>
                  <m:oMath xmlns:m="http://schemas.openxmlformats.org/officeDocument/2006/math">
                    <m:r>
                      <a:rPr kumimoji="1" lang="zh-CN" altLang="en-US" sz="2800">
                        <a:solidFill>
                          <a:prstClr val="black"/>
                        </a:solidFill>
                        <a:latin typeface="Cambria Math" panose="02040503050406030204" pitchFamily="18" charset="0"/>
                        <a:ea typeface="黑体"/>
                        <a:cs typeface="+mn-ea"/>
                      </a:rPr>
                      <m:t>,</m:t>
                    </m:r>
                  </m:oMath>
                </a14:m>
                <a:endParaRPr kumimoji="1" lang="en-US" altLang="zh-CN" sz="2800" dirty="0">
                  <a:solidFill>
                    <a:prstClr val="black"/>
                  </a:solidFill>
                  <a:latin typeface="Times New Roman" panose="020F0502020204030204"/>
                  <a:ea typeface="黑体"/>
                  <a:cs typeface="+mn-ea"/>
                  <a:sym typeface="+mn-lt"/>
                </a:endParaRPr>
              </a:p>
            </p:txBody>
          </p:sp>
        </mc:Choice>
        <mc:Fallback xmlns="">
          <p:sp>
            <p:nvSpPr>
              <p:cNvPr id="11" name="Text Box 27">
                <a:extLst>
                  <a:ext uri="{FF2B5EF4-FFF2-40B4-BE49-F238E27FC236}">
                    <a16:creationId xmlns:a16="http://schemas.microsoft.com/office/drawing/2014/main" id="{EA198FE8-5FD9-00A3-995A-FEBC03C86416}"/>
                  </a:ext>
                </a:extLst>
              </p:cNvPr>
              <p:cNvSpPr txBox="1">
                <a:spLocks noRot="1" noChangeAspect="1" noMove="1" noResize="1" noEditPoints="1" noAdjustHandles="1" noChangeArrowheads="1" noChangeShapeType="1" noTextEdit="1"/>
              </p:cNvSpPr>
              <p:nvPr/>
            </p:nvSpPr>
            <p:spPr bwMode="auto">
              <a:xfrm>
                <a:off x="2590800" y="1275081"/>
                <a:ext cx="2209800" cy="523220"/>
              </a:xfrm>
              <a:prstGeom prst="rect">
                <a:avLst/>
              </a:prstGeom>
              <a:blipFill>
                <a:blip r:embed="rId9"/>
                <a:stretch>
                  <a:fillRect l="-5510" t="-12791" b="-30233"/>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12" name="Text Box 28">
            <a:extLst>
              <a:ext uri="{FF2B5EF4-FFF2-40B4-BE49-F238E27FC236}">
                <a16:creationId xmlns:a16="http://schemas.microsoft.com/office/drawing/2014/main" id="{42D27A0D-6BD5-8188-B95C-3DFFA4BC1E7C}"/>
              </a:ext>
            </a:extLst>
          </p:cNvPr>
          <p:cNvSpPr txBox="1">
            <a:spLocks noChangeArrowheads="1"/>
          </p:cNvSpPr>
          <p:nvPr/>
        </p:nvSpPr>
        <p:spPr bwMode="auto">
          <a:xfrm>
            <a:off x="4539446" y="2400121"/>
            <a:ext cx="575388"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100000"/>
              </a:lnSpc>
              <a:spcBef>
                <a:spcPct val="50000"/>
              </a:spcBef>
              <a:spcAft>
                <a:spcPct val="0"/>
              </a:spcAft>
              <a:buClrTx/>
              <a:buSzTx/>
              <a:buFontTx/>
              <a:buNone/>
              <a:tabLst/>
              <a:defRPr/>
            </a:pPr>
            <a:r>
              <a:rPr kumimoji="1" lang="zh-CN" altLang="en-US" sz="2200" dirty="0">
                <a:solidFill>
                  <a:prstClr val="black"/>
                </a:solidFill>
                <a:latin typeface="Times New Roman" panose="020F0502020204030204"/>
                <a:ea typeface="黑体"/>
                <a:cs typeface="+mn-ea"/>
                <a:sym typeface="+mn-lt"/>
              </a:rPr>
              <a:t>则</a:t>
            </a:r>
          </a:p>
        </p:txBody>
      </p:sp>
      <mc:AlternateContent xmlns:mc="http://schemas.openxmlformats.org/markup-compatibility/2006" xmlns:a14="http://schemas.microsoft.com/office/drawing/2010/main">
        <mc:Choice Requires="a14">
          <p:sp>
            <p:nvSpPr>
              <p:cNvPr id="13" name="Object 29">
                <a:extLst>
                  <a:ext uri="{FF2B5EF4-FFF2-40B4-BE49-F238E27FC236}">
                    <a16:creationId xmlns:a16="http://schemas.microsoft.com/office/drawing/2014/main" id="{ACC99A3E-E4C5-B64A-B4F8-F1FAF086EA55}"/>
                  </a:ext>
                </a:extLst>
              </p:cNvPr>
              <p:cNvSpPr txBox="1"/>
              <p:nvPr/>
            </p:nvSpPr>
            <p:spPr bwMode="auto">
              <a:xfrm>
                <a:off x="3933787" y="2891159"/>
                <a:ext cx="1282700"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2</m:t>
                      </m:r>
                      <m:r>
                        <m:rPr>
                          <m:sty m:val="p"/>
                        </m:rPr>
                        <a:rPr kumimoji="1" lang="zh-CN" altLang="en-US" sz="2200" i="0">
                          <a:solidFill>
                            <a:prstClr val="black"/>
                          </a:solidFill>
                          <a:latin typeface="Cambria Math" panose="02040503050406030204" pitchFamily="18" charset="0"/>
                          <a:ea typeface="黑体"/>
                          <a:cs typeface="+mn-ea"/>
                        </a:rPr>
                        <m:t>π</m:t>
                      </m:r>
                      <m:r>
                        <a:rPr kumimoji="1" lang="zh-CN" altLang="en-US" sz="2200">
                          <a:solidFill>
                            <a:prstClr val="black"/>
                          </a:solidFill>
                          <a:latin typeface="Cambria Math" panose="02040503050406030204" pitchFamily="18" charset="0"/>
                          <a:ea typeface="黑体"/>
                          <a:cs typeface="+mn-ea"/>
                        </a:rPr>
                        <m:t>𝑟h</m:t>
                      </m:r>
                      <m:r>
                        <m:rPr>
                          <m:sty m:val="p"/>
                        </m:rPr>
                        <a:rPr kumimoji="1" lang="zh-CN" altLang="en-US" sz="2200">
                          <a:solidFill>
                            <a:prstClr val="black"/>
                          </a:solidFill>
                          <a:latin typeface="Cambria Math" panose="02040503050406030204" pitchFamily="18" charset="0"/>
                          <a:ea typeface="黑体"/>
                          <a:cs typeface="+mn-ea"/>
                        </a:rPr>
                        <m:t>Δ</m:t>
                      </m:r>
                      <m:r>
                        <a:rPr kumimoji="1" lang="zh-CN" altLang="en-US" sz="2200">
                          <a:solidFill>
                            <a:prstClr val="black"/>
                          </a:solidFill>
                          <a:latin typeface="Cambria Math" panose="02040503050406030204" pitchFamily="18" charset="0"/>
                          <a:ea typeface="黑体"/>
                          <a:cs typeface="+mn-ea"/>
                        </a:rPr>
                        <m:t>𝑟</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13" name="Object 29">
                <a:extLst>
                  <a:ext uri="{FF2B5EF4-FFF2-40B4-BE49-F238E27FC236}">
                    <a16:creationId xmlns:a16="http://schemas.microsoft.com/office/drawing/2014/main" id="{ACC99A3E-E4C5-B64A-B4F8-F1FAF086EA55}"/>
                  </a:ext>
                </a:extLst>
              </p:cNvPr>
              <p:cNvSpPr txBox="1">
                <a:spLocks noRot="1" noChangeAspect="1" noMove="1" noResize="1" noEditPoints="1" noAdjustHandles="1" noChangeArrowheads="1" noChangeShapeType="1" noTextEdit="1"/>
              </p:cNvSpPr>
              <p:nvPr/>
            </p:nvSpPr>
            <p:spPr bwMode="auto">
              <a:xfrm>
                <a:off x="3933787" y="2891159"/>
                <a:ext cx="1282700" cy="406400"/>
              </a:xfrm>
              <a:prstGeom prst="rect">
                <a:avLst/>
              </a:prstGeom>
              <a:blipFill>
                <a:blip r:embed="rId10"/>
                <a:stretch>
                  <a:fillRect l="-474" b="-149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30">
                <a:extLst>
                  <a:ext uri="{FF2B5EF4-FFF2-40B4-BE49-F238E27FC236}">
                    <a16:creationId xmlns:a16="http://schemas.microsoft.com/office/drawing/2014/main" id="{676B2377-E0FE-C37D-C330-37325A688A55}"/>
                  </a:ext>
                </a:extLst>
              </p:cNvPr>
              <p:cNvSpPr txBox="1"/>
              <p:nvPr/>
            </p:nvSpPr>
            <p:spPr bwMode="auto">
              <a:xfrm>
                <a:off x="4897893" y="2889254"/>
                <a:ext cx="1320800" cy="4699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m:t>
                      </m:r>
                      <m:r>
                        <m:rPr>
                          <m:sty m:val="p"/>
                        </m:rPr>
                        <a:rPr kumimoji="1" lang="zh-CN" altLang="en-US" sz="2200" i="0">
                          <a:solidFill>
                            <a:prstClr val="black"/>
                          </a:solidFill>
                          <a:latin typeface="Cambria Math" panose="02040503050406030204" pitchFamily="18" charset="0"/>
                          <a:ea typeface="黑体"/>
                          <a:cs typeface="+mn-ea"/>
                        </a:rPr>
                        <m:t>π</m:t>
                      </m:r>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𝑟</m:t>
                          </m:r>
                        </m:e>
                        <m:sup>
                          <m:r>
                            <a:rPr kumimoji="1" lang="zh-CN" altLang="en-US" sz="2200">
                              <a:solidFill>
                                <a:prstClr val="black"/>
                              </a:solidFill>
                              <a:latin typeface="Cambria Math" panose="02040503050406030204" pitchFamily="18" charset="0"/>
                              <a:ea typeface="黑体"/>
                              <a:cs typeface="+mn-ea"/>
                            </a:rPr>
                            <m:t>2</m:t>
                          </m:r>
                        </m:sup>
                      </m:sSup>
                      <m:r>
                        <m:rPr>
                          <m:sty m:val="p"/>
                        </m:rPr>
                        <a:rPr kumimoji="1" lang="zh-CN" altLang="en-US" sz="2200">
                          <a:solidFill>
                            <a:prstClr val="black"/>
                          </a:solidFill>
                          <a:latin typeface="Cambria Math" panose="02040503050406030204" pitchFamily="18" charset="0"/>
                          <a:ea typeface="黑体"/>
                          <a:cs typeface="+mn-ea"/>
                        </a:rPr>
                        <m:t>Δ</m:t>
                      </m:r>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h</m:t>
                      </m:r>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14" name="Object 30">
                <a:extLst>
                  <a:ext uri="{FF2B5EF4-FFF2-40B4-BE49-F238E27FC236}">
                    <a16:creationId xmlns:a16="http://schemas.microsoft.com/office/drawing/2014/main" id="{676B2377-E0FE-C37D-C330-37325A688A55}"/>
                  </a:ext>
                </a:extLst>
              </p:cNvPr>
              <p:cNvSpPr txBox="1">
                <a:spLocks noRot="1" noChangeAspect="1" noMove="1" noResize="1" noEditPoints="1" noAdjustHandles="1" noChangeArrowheads="1" noChangeShapeType="1" noTextEdit="1"/>
              </p:cNvSpPr>
              <p:nvPr/>
            </p:nvSpPr>
            <p:spPr bwMode="auto">
              <a:xfrm>
                <a:off x="4897893" y="2889254"/>
                <a:ext cx="1320800" cy="469900"/>
              </a:xfrm>
              <a:prstGeom prst="rect">
                <a:avLst/>
              </a:prstGeom>
              <a:blipFill>
                <a:blip r:embed="rId11"/>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31">
                <a:extLst>
                  <a:ext uri="{FF2B5EF4-FFF2-40B4-BE49-F238E27FC236}">
                    <a16:creationId xmlns:a16="http://schemas.microsoft.com/office/drawing/2014/main" id="{A8BB64A7-8D36-2D05-F3BC-FD1973FCD99F}"/>
                  </a:ext>
                </a:extLst>
              </p:cNvPr>
              <p:cNvSpPr txBox="1"/>
              <p:nvPr/>
            </p:nvSpPr>
            <p:spPr bwMode="auto">
              <a:xfrm>
                <a:off x="3694622" y="3966284"/>
                <a:ext cx="2882900" cy="393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200">
                          <a:solidFill>
                            <a:prstClr val="black"/>
                          </a:solidFill>
                          <a:latin typeface="Cambria Math" panose="02040503050406030204" pitchFamily="18" charset="0"/>
                          <a:ea typeface="黑体"/>
                          <a:cs typeface="+mn-ea"/>
                        </a:rPr>
                        <m:t>Δ</m:t>
                      </m:r>
                      <m:r>
                        <a:rPr kumimoji="1" lang="zh-CN" altLang="en-US" sz="2200">
                          <a:solidFill>
                            <a:prstClr val="black"/>
                          </a:solidFill>
                          <a:latin typeface="Cambria Math" panose="02040503050406030204" pitchFamily="18" charset="0"/>
                          <a:ea typeface="黑体"/>
                          <a:cs typeface="+mn-ea"/>
                        </a:rPr>
                        <m:t>𝑟</m:t>
                      </m:r>
                      <m:r>
                        <a:rPr kumimoji="1" lang="zh-CN" altLang="en-US" sz="2200">
                          <a:solidFill>
                            <a:prstClr val="black"/>
                          </a:solidFill>
                          <a:latin typeface="Cambria Math" panose="02040503050406030204" pitchFamily="18" charset="0"/>
                          <a:ea typeface="黑体"/>
                          <a:cs typeface="+mn-ea"/>
                        </a:rPr>
                        <m:t>=0.05, </m:t>
                      </m:r>
                      <m:r>
                        <m:rPr>
                          <m:sty m:val="p"/>
                        </m:rPr>
                        <a:rPr kumimoji="1" lang="zh-CN" altLang="en-US" sz="2200">
                          <a:solidFill>
                            <a:prstClr val="black"/>
                          </a:solidFill>
                          <a:latin typeface="Cambria Math" panose="02040503050406030204" pitchFamily="18" charset="0"/>
                          <a:ea typeface="黑体"/>
                          <a:cs typeface="+mn-ea"/>
                        </a:rPr>
                        <m:t>Δ</m:t>
                      </m:r>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h</m:t>
                      </m:r>
                      <m:r>
                        <a:rPr kumimoji="1" lang="zh-CN" altLang="en-US" sz="2200">
                          <a:solidFill>
                            <a:prstClr val="black"/>
                          </a:solidFill>
                          <a:latin typeface="Cambria Math" panose="02040503050406030204" pitchFamily="18" charset="0"/>
                          <a:ea typeface="黑体"/>
                          <a:cs typeface="+mn-ea"/>
                        </a:rPr>
                        <m:t>=−1.</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15" name="Object 31">
                <a:extLst>
                  <a:ext uri="{FF2B5EF4-FFF2-40B4-BE49-F238E27FC236}">
                    <a16:creationId xmlns:a16="http://schemas.microsoft.com/office/drawing/2014/main" id="{A8BB64A7-8D36-2D05-F3BC-FD1973FCD99F}"/>
                  </a:ext>
                </a:extLst>
              </p:cNvPr>
              <p:cNvSpPr txBox="1">
                <a:spLocks noRot="1" noChangeAspect="1" noMove="1" noResize="1" noEditPoints="1" noAdjustHandles="1" noChangeArrowheads="1" noChangeShapeType="1" noTextEdit="1"/>
              </p:cNvSpPr>
              <p:nvPr/>
            </p:nvSpPr>
            <p:spPr bwMode="auto">
              <a:xfrm>
                <a:off x="3694622" y="3966284"/>
                <a:ext cx="2882900" cy="393700"/>
              </a:xfrm>
              <a:prstGeom prst="rect">
                <a:avLst/>
              </a:prstGeom>
              <a:blipFill>
                <a:blip r:embed="rId12"/>
                <a:stretch>
                  <a:fillRect b="-1563"/>
                </a:stretch>
              </a:blipFill>
              <a:ln>
                <a:noFill/>
              </a:ln>
              <a:effectLst/>
            </p:spPr>
            <p:txBody>
              <a:bodyPr/>
              <a:lstStyle/>
              <a:p>
                <a:r>
                  <a:rPr lang="zh-CN" altLang="en-US">
                    <a:noFill/>
                  </a:rPr>
                  <a:t> </a:t>
                </a:r>
              </a:p>
            </p:txBody>
          </p:sp>
        </mc:Fallback>
      </mc:AlternateContent>
      <p:sp>
        <p:nvSpPr>
          <p:cNvPr id="16" name="Line 32">
            <a:extLst>
              <a:ext uri="{FF2B5EF4-FFF2-40B4-BE49-F238E27FC236}">
                <a16:creationId xmlns:a16="http://schemas.microsoft.com/office/drawing/2014/main" id="{68ABDA57-07DC-62A6-EEC8-DCA77E14202B}"/>
              </a:ext>
            </a:extLst>
          </p:cNvPr>
          <p:cNvSpPr>
            <a:spLocks noChangeShapeType="1"/>
          </p:cNvSpPr>
          <p:nvPr/>
        </p:nvSpPr>
        <p:spPr bwMode="auto">
          <a:xfrm>
            <a:off x="3573971" y="3392809"/>
            <a:ext cx="0" cy="1219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4800" b="0" i="0" u="none" strike="noStrike" kern="1200" cap="none" spc="0" normalizeH="0" baseline="0" noProof="0">
              <a:ln>
                <a:noFill/>
              </a:ln>
              <a:solidFill>
                <a:prstClr val="black"/>
              </a:solidFill>
              <a:effectLst/>
              <a:uLnTx/>
              <a:uFillTx/>
              <a:latin typeface="Times New Roman" panose="020F0502020204030204"/>
              <a:ea typeface="黑体"/>
              <a:cs typeface="+mn-ea"/>
              <a:sym typeface="+mn-lt"/>
            </a:endParaRPr>
          </a:p>
        </p:txBody>
      </p:sp>
      <mc:AlternateContent xmlns:mc="http://schemas.openxmlformats.org/markup-compatibility/2006" xmlns:a14="http://schemas.microsoft.com/office/drawing/2010/main">
        <mc:Choice Requires="a14">
          <p:sp>
            <p:nvSpPr>
              <p:cNvPr id="17" name="Object 35">
                <a:extLst>
                  <a:ext uri="{FF2B5EF4-FFF2-40B4-BE49-F238E27FC236}">
                    <a16:creationId xmlns:a16="http://schemas.microsoft.com/office/drawing/2014/main" id="{44ED9AC7-1336-7B5D-F4D4-58ECB19C6651}"/>
                  </a:ext>
                </a:extLst>
              </p:cNvPr>
              <p:cNvSpPr txBox="1"/>
              <p:nvPr/>
            </p:nvSpPr>
            <p:spPr bwMode="auto">
              <a:xfrm>
                <a:off x="3048315" y="5135592"/>
                <a:ext cx="2110740" cy="4699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=−200</m:t>
                      </m:r>
                      <m:r>
                        <m:rPr>
                          <m:sty m:val="p"/>
                        </m:rPr>
                        <a:rPr kumimoji="1" lang="zh-CN" altLang="en-US" sz="2200" i="0">
                          <a:solidFill>
                            <a:prstClr val="black"/>
                          </a:solidFill>
                          <a:latin typeface="Cambria Math" panose="02040503050406030204" pitchFamily="18" charset="0"/>
                          <a:ea typeface="黑体"/>
                          <a:cs typeface="+mn-ea"/>
                        </a:rPr>
                        <m:t>π</m:t>
                      </m:r>
                      <m:r>
                        <a:rPr kumimoji="1" lang="zh-CN" altLang="en-US" sz="2200">
                          <a:solidFill>
                            <a:prstClr val="black"/>
                          </a:solidFill>
                          <a:latin typeface="Cambria Math" panose="02040503050406030204" pitchFamily="18" charset="0"/>
                          <a:ea typeface="黑体"/>
                          <a:cs typeface="+mn-ea"/>
                        </a:rPr>
                        <m:t>(</m:t>
                      </m:r>
                      <m:r>
                        <m:rPr>
                          <m:nor/>
                        </m:rPr>
                        <a:rPr kumimoji="1" lang="zh-CN" altLang="en-US" sz="2200">
                          <a:solidFill>
                            <a:prstClr val="black"/>
                          </a:solidFill>
                          <a:latin typeface="Times New Roman" panose="020F0502020204030204"/>
                          <a:ea typeface="黑体"/>
                          <a:cs typeface="+mn-ea"/>
                        </a:rPr>
                        <m:t>c</m:t>
                      </m:r>
                      <m:sSup>
                        <m:sSupPr>
                          <m:ctrlPr>
                            <a:rPr kumimoji="1" lang="zh-CN" altLang="en-US" sz="2200" i="1">
                              <a:solidFill>
                                <a:prstClr val="black"/>
                              </a:solidFill>
                              <a:latin typeface="Cambria Math" panose="02040503050406030204" pitchFamily="18" charset="0"/>
                              <a:ea typeface="黑体"/>
                              <a:cs typeface="+mn-ea"/>
                            </a:rPr>
                          </m:ctrlPr>
                        </m:sSupPr>
                        <m:e>
                          <m:r>
                            <m:rPr>
                              <m:nor/>
                            </m:rPr>
                            <a:rPr kumimoji="1" lang="zh-CN" altLang="en-US" sz="2200">
                              <a:solidFill>
                                <a:prstClr val="black"/>
                              </a:solidFill>
                              <a:latin typeface="Times New Roman" panose="020F0502020204030204"/>
                              <a:ea typeface="黑体"/>
                              <a:cs typeface="+mn-ea"/>
                            </a:rPr>
                            <m:t>m</m:t>
                          </m:r>
                        </m:e>
                        <m:sup>
                          <m:r>
                            <a:rPr kumimoji="1" lang="zh-CN" altLang="en-US" sz="2200">
                              <a:solidFill>
                                <a:prstClr val="black"/>
                              </a:solidFill>
                              <a:latin typeface="Cambria Math" panose="02040503050406030204" pitchFamily="18" charset="0"/>
                              <a:ea typeface="黑体"/>
                              <a:cs typeface="+mn-ea"/>
                            </a:rPr>
                            <m:t>3</m:t>
                          </m:r>
                        </m:sup>
                      </m:sSup>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17" name="Object 35">
                <a:extLst>
                  <a:ext uri="{FF2B5EF4-FFF2-40B4-BE49-F238E27FC236}">
                    <a16:creationId xmlns:a16="http://schemas.microsoft.com/office/drawing/2014/main" id="{44ED9AC7-1336-7B5D-F4D4-58ECB19C6651}"/>
                  </a:ext>
                </a:extLst>
              </p:cNvPr>
              <p:cNvSpPr txBox="1">
                <a:spLocks noRot="1" noChangeAspect="1" noMove="1" noResize="1" noEditPoints="1" noAdjustHandles="1" noChangeArrowheads="1" noChangeShapeType="1" noTextEdit="1"/>
              </p:cNvSpPr>
              <p:nvPr/>
            </p:nvSpPr>
            <p:spPr bwMode="auto">
              <a:xfrm>
                <a:off x="3048315" y="5135592"/>
                <a:ext cx="2110740" cy="469900"/>
              </a:xfrm>
              <a:prstGeom prst="rect">
                <a:avLst/>
              </a:prstGeom>
              <a:blipFill>
                <a:blip r:embed="rId13"/>
                <a:stretch>
                  <a:fillRect b="-641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 Box 37">
                <a:extLst>
                  <a:ext uri="{FF2B5EF4-FFF2-40B4-BE49-F238E27FC236}">
                    <a16:creationId xmlns:a16="http://schemas.microsoft.com/office/drawing/2014/main" id="{D03B4083-A2F3-C5F3-CE68-79F7FCBD31C6}"/>
                  </a:ext>
                </a:extLst>
              </p:cNvPr>
              <p:cNvSpPr txBox="1">
                <a:spLocks noChangeArrowheads="1"/>
              </p:cNvSpPr>
              <p:nvPr/>
            </p:nvSpPr>
            <p:spPr bwMode="auto">
              <a:xfrm>
                <a:off x="4068660" y="1275081"/>
                <a:ext cx="4495800" cy="519113"/>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a:spAutoFit/>
              </a:bodyPr>
              <a:lstStyle/>
              <a:p>
                <a:pPr lvl="0" fontAlgn="base">
                  <a:spcBef>
                    <a:spcPct val="50000"/>
                  </a:spcBef>
                  <a:spcAft>
                    <a:spcPct val="0"/>
                  </a:spcAft>
                  <a:defRPr/>
                </a:pPr>
                <a:r>
                  <a:rPr kumimoji="1" lang="zh-CN" altLang="en-US" sz="2800" dirty="0">
                    <a:solidFill>
                      <a:prstClr val="black"/>
                    </a:solidFill>
                    <a:latin typeface="Times New Roman" panose="020F0502020204030204"/>
                    <a:ea typeface="黑体"/>
                    <a:cs typeface="+mn-ea"/>
                    <a:sym typeface="+mn-lt"/>
                  </a:rPr>
                  <a:t>高度由</a:t>
                </a:r>
                <a:r>
                  <a:rPr kumimoji="1" lang="en-US" altLang="zh-CN" sz="2800" dirty="0">
                    <a:solidFill>
                      <a:prstClr val="black"/>
                    </a:solidFill>
                    <a:latin typeface="Times New Roman" panose="020F0502020204030204"/>
                    <a:ea typeface="黑体"/>
                    <a:cs typeface="+mn-ea"/>
                    <a:sym typeface="+mn-lt"/>
                  </a:rPr>
                  <a:t>100cm </a:t>
                </a:r>
                <a:r>
                  <a:rPr kumimoji="1" lang="zh-CN" altLang="en-US" sz="2800" dirty="0">
                    <a:solidFill>
                      <a:prstClr val="black"/>
                    </a:solidFill>
                    <a:latin typeface="Times New Roman" panose="020F0502020204030204"/>
                    <a:ea typeface="黑体"/>
                    <a:cs typeface="+mn-ea"/>
                    <a:sym typeface="+mn-lt"/>
                  </a:rPr>
                  <a:t>减少到 </a:t>
                </a:r>
                <a:r>
                  <a:rPr kumimoji="1" lang="en-US" altLang="zh-CN" sz="2800" dirty="0">
                    <a:solidFill>
                      <a:prstClr val="black"/>
                    </a:solidFill>
                    <a:latin typeface="Times New Roman" panose="020F0502020204030204"/>
                    <a:ea typeface="黑体"/>
                    <a:cs typeface="+mn-ea"/>
                    <a:sym typeface="+mn-lt"/>
                  </a:rPr>
                  <a:t>99cm</a:t>
                </a:r>
                <a:r>
                  <a:rPr kumimoji="1" lang="zh-CN" altLang="en-US" sz="2800" dirty="0">
                    <a:solidFill>
                      <a:prstClr val="black"/>
                    </a:solidFill>
                    <a:ea typeface="黑体"/>
                    <a:cs typeface="+mn-ea"/>
                  </a:rPr>
                  <a:t> </a:t>
                </a:r>
                <a14:m>
                  <m:oMath xmlns:m="http://schemas.openxmlformats.org/officeDocument/2006/math">
                    <m:r>
                      <a:rPr kumimoji="1" lang="zh-CN" altLang="en-US" sz="2800">
                        <a:solidFill>
                          <a:prstClr val="black"/>
                        </a:solidFill>
                        <a:latin typeface="Cambria Math" panose="02040503050406030204" pitchFamily="18" charset="0"/>
                        <a:ea typeface="黑体"/>
                        <a:cs typeface="+mn-ea"/>
                      </a:rPr>
                      <m:t>,</m:t>
                    </m:r>
                  </m:oMath>
                </a14:m>
                <a:endParaRPr kumimoji="1" lang="en-US" altLang="zh-CN" sz="2800" dirty="0">
                  <a:solidFill>
                    <a:prstClr val="black"/>
                  </a:solidFill>
                  <a:latin typeface="Times New Roman" panose="020F0502020204030204"/>
                  <a:ea typeface="黑体"/>
                  <a:cs typeface="+mn-ea"/>
                  <a:sym typeface="+mn-lt"/>
                </a:endParaRPr>
              </a:p>
            </p:txBody>
          </p:sp>
        </mc:Choice>
        <mc:Fallback xmlns="">
          <p:sp>
            <p:nvSpPr>
              <p:cNvPr id="18" name="Text Box 37">
                <a:extLst>
                  <a:ext uri="{FF2B5EF4-FFF2-40B4-BE49-F238E27FC236}">
                    <a16:creationId xmlns:a16="http://schemas.microsoft.com/office/drawing/2014/main" id="{D03B4083-A2F3-C5F3-CE68-79F7FCBD31C6}"/>
                  </a:ext>
                </a:extLst>
              </p:cNvPr>
              <p:cNvSpPr txBox="1">
                <a:spLocks noRot="1" noChangeAspect="1" noMove="1" noResize="1" noEditPoints="1" noAdjustHandles="1" noChangeArrowheads="1" noChangeShapeType="1" noTextEdit="1"/>
              </p:cNvSpPr>
              <p:nvPr/>
            </p:nvSpPr>
            <p:spPr bwMode="auto">
              <a:xfrm>
                <a:off x="4068660" y="1275081"/>
                <a:ext cx="4495800" cy="519113"/>
              </a:xfrm>
              <a:prstGeom prst="rect">
                <a:avLst/>
              </a:prstGeom>
              <a:blipFill>
                <a:blip r:embed="rId14"/>
                <a:stretch>
                  <a:fillRect l="-2710" t="-16471" b="-32941"/>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 Box 38">
                <a:extLst>
                  <a:ext uri="{FF2B5EF4-FFF2-40B4-BE49-F238E27FC236}">
                    <a16:creationId xmlns:a16="http://schemas.microsoft.com/office/drawing/2014/main" id="{C1B13278-F549-A636-44E7-CF90C984BC4B}"/>
                  </a:ext>
                </a:extLst>
              </p:cNvPr>
              <p:cNvSpPr txBox="1">
                <a:spLocks noChangeArrowheads="1"/>
              </p:cNvSpPr>
              <p:nvPr/>
            </p:nvSpPr>
            <p:spPr bwMode="auto">
              <a:xfrm>
                <a:off x="2590800" y="1828801"/>
                <a:ext cx="3243809" cy="519113"/>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lvl="0" fontAlgn="base">
                  <a:spcBef>
                    <a:spcPct val="50000"/>
                  </a:spcBef>
                  <a:spcAft>
                    <a:spcPct val="0"/>
                  </a:spcAft>
                  <a:defRPr/>
                </a:pPr>
                <a:r>
                  <a:rPr kumimoji="1" lang="zh-CN" altLang="en-US" sz="2800" dirty="0">
                    <a:solidFill>
                      <a:prstClr val="black"/>
                    </a:solidFill>
                    <a:latin typeface="Times New Roman" panose="020F0502020204030204"/>
                    <a:ea typeface="黑体"/>
                    <a:cs typeface="+mn-ea"/>
                    <a:sym typeface="+mn-lt"/>
                  </a:rPr>
                  <a:t>体积的近似改变量</a:t>
                </a:r>
                <a14:m>
                  <m:oMath xmlns:m="http://schemas.openxmlformats.org/officeDocument/2006/math">
                    <m:r>
                      <a:rPr kumimoji="1" lang="zh-CN" altLang="en-US" sz="2800">
                        <a:solidFill>
                          <a:prstClr val="black"/>
                        </a:solidFill>
                        <a:latin typeface="Cambria Math" panose="02040503050406030204" pitchFamily="18" charset="0"/>
                        <a:ea typeface="黑体"/>
                        <a:cs typeface="+mn-ea"/>
                      </a:rPr>
                      <m:t>.</m:t>
                    </m:r>
                  </m:oMath>
                </a14:m>
                <a:endParaRPr kumimoji="1" lang="en-US" altLang="zh-CN" sz="2800" dirty="0">
                  <a:solidFill>
                    <a:prstClr val="black"/>
                  </a:solidFill>
                  <a:latin typeface="Times New Roman" panose="020F0502020204030204"/>
                  <a:ea typeface="黑体"/>
                  <a:cs typeface="+mn-ea"/>
                  <a:sym typeface="+mn-lt"/>
                </a:endParaRPr>
              </a:p>
            </p:txBody>
          </p:sp>
        </mc:Choice>
        <mc:Fallback xmlns="">
          <p:sp>
            <p:nvSpPr>
              <p:cNvPr id="19" name="Text Box 38">
                <a:extLst>
                  <a:ext uri="{FF2B5EF4-FFF2-40B4-BE49-F238E27FC236}">
                    <a16:creationId xmlns:a16="http://schemas.microsoft.com/office/drawing/2014/main" id="{C1B13278-F549-A636-44E7-CF90C984BC4B}"/>
                  </a:ext>
                </a:extLst>
              </p:cNvPr>
              <p:cNvSpPr txBox="1">
                <a:spLocks noRot="1" noChangeAspect="1" noMove="1" noResize="1" noEditPoints="1" noAdjustHandles="1" noChangeArrowheads="1" noChangeShapeType="1" noTextEdit="1"/>
              </p:cNvSpPr>
              <p:nvPr/>
            </p:nvSpPr>
            <p:spPr bwMode="auto">
              <a:xfrm>
                <a:off x="2590800" y="1828801"/>
                <a:ext cx="3243809" cy="519113"/>
              </a:xfrm>
              <a:prstGeom prst="rect">
                <a:avLst/>
              </a:prstGeom>
              <a:blipFill>
                <a:blip r:embed="rId15"/>
                <a:stretch>
                  <a:fillRect l="-3759" t="-15294" b="-2941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20" name="Text Box 46">
            <a:extLst>
              <a:ext uri="{FF2B5EF4-FFF2-40B4-BE49-F238E27FC236}">
                <a16:creationId xmlns:a16="http://schemas.microsoft.com/office/drawing/2014/main" id="{A3E24C7C-9AD1-A7C6-0EF0-88DAD2CA3C81}"/>
              </a:ext>
            </a:extLst>
          </p:cNvPr>
          <p:cNvSpPr txBox="1">
            <a:spLocks noChangeArrowheads="1"/>
          </p:cNvSpPr>
          <p:nvPr/>
        </p:nvSpPr>
        <p:spPr bwMode="auto">
          <a:xfrm>
            <a:off x="8412060" y="1275081"/>
            <a:ext cx="1962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prstClr val="black"/>
                </a:solidFill>
                <a:latin typeface="Times New Roman" panose="020F0502020204030204"/>
                <a:ea typeface="黑体"/>
                <a:cs typeface="+mn-ea"/>
                <a:sym typeface="+mn-lt"/>
              </a:rPr>
              <a:t>求此圆柱体</a:t>
            </a:r>
          </a:p>
        </p:txBody>
      </p:sp>
    </p:spTree>
    <p:extLst>
      <p:ext uri="{BB962C8B-B14F-4D97-AF65-F5344CB8AC3E}">
        <p14:creationId xmlns:p14="http://schemas.microsoft.com/office/powerpoint/2010/main" val="155608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500"/>
                                        <p:tgtEl>
                                          <p:spTgt spid="20"/>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wipe(left)">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left)">
                                      <p:cBhvr>
                                        <p:cTn id="55" dur="500"/>
                                        <p:tgtEl>
                                          <p:spTgt spid="1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wipe(left)">
                                      <p:cBhvr>
                                        <p:cTn id="60" dur="500"/>
                                        <p:tgtEl>
                                          <p:spTgt spid="1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wipe(left)">
                                      <p:cBhvr>
                                        <p:cTn id="65" dur="500"/>
                                        <p:tgtEl>
                                          <p:spTgt spid="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left)">
                                      <p:cBhvr>
                                        <p:cTn id="70" dur="500"/>
                                        <p:tgtEl>
                                          <p:spTgt spid="15"/>
                                        </p:tgtEl>
                                      </p:cBhvr>
                                    </p:animEffect>
                                  </p:childTnLst>
                                </p:cTn>
                              </p:par>
                            </p:childTnLst>
                          </p:cTn>
                        </p:par>
                        <p:par>
                          <p:cTn id="71" fill="hold">
                            <p:stCondLst>
                              <p:cond delay="500"/>
                            </p:stCondLst>
                            <p:childTnLst>
                              <p:par>
                                <p:cTn id="72" presetID="22" presetClass="entr" presetSubtype="1" fill="hold" grpId="0" nodeType="after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wipe(up)">
                                      <p:cBhvr>
                                        <p:cTn id="74" dur="500"/>
                                        <p:tgtEl>
                                          <p:spTgt spid="1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wipe(left)">
                                      <p:cBhvr>
                                        <p:cTn id="79" dur="500"/>
                                        <p:tgtEl>
                                          <p:spTgt spid="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wipe(left)">
                                      <p:cBhvr>
                                        <p:cTn id="84" dur="500"/>
                                        <p:tgtEl>
                                          <p:spTgt spid="1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8"/>
                                        </p:tgtEl>
                                        <p:attrNameLst>
                                          <p:attrName>style.visibility</p:attrName>
                                        </p:attrNameLst>
                                      </p:cBhvr>
                                      <p:to>
                                        <p:strVal val="visible"/>
                                      </p:to>
                                    </p:set>
                                    <p:animEffect transition="in" filter="wipe(left)">
                                      <p:cBhvr>
                                        <p:cTn id="89" dur="500"/>
                                        <p:tgtEl>
                                          <p:spTgt spid="8"/>
                                        </p:tgtEl>
                                      </p:cBhvr>
                                    </p:animEffect>
                                  </p:childTnLst>
                                </p:cTn>
                              </p:par>
                            </p:childTnLst>
                          </p:cTn>
                        </p:par>
                        <p:par>
                          <p:cTn id="90" fill="hold">
                            <p:stCondLst>
                              <p:cond delay="500"/>
                            </p:stCondLst>
                            <p:childTnLst>
                              <p:par>
                                <p:cTn id="91" presetID="22" presetClass="entr" presetSubtype="8" fill="hold" grpId="0" nodeType="afterEffect">
                                  <p:stCondLst>
                                    <p:cond delay="0"/>
                                  </p:stCondLst>
                                  <p:childTnLst>
                                    <p:set>
                                      <p:cBhvr>
                                        <p:cTn id="92" dur="1" fill="hold">
                                          <p:stCondLst>
                                            <p:cond delay="0"/>
                                          </p:stCondLst>
                                        </p:cTn>
                                        <p:tgtEl>
                                          <p:spTgt spid="9"/>
                                        </p:tgtEl>
                                        <p:attrNameLst>
                                          <p:attrName>style.visibility</p:attrName>
                                        </p:attrNameLst>
                                      </p:cBhvr>
                                      <p:to>
                                        <p:strVal val="visible"/>
                                      </p:to>
                                    </p:set>
                                    <p:animEffect transition="in" filter="wipe(left)">
                                      <p:cBhvr>
                                        <p:cTn id="9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animBg="1"/>
      <p:bldP spid="17" grpId="0"/>
      <p:bldP spid="18" grpId="0"/>
      <p:bldP spid="19"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C305564F-2B8E-78DE-8A5F-F78DCA40EE67}"/>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41" name="矩形 40">
                <a:extLst>
                  <a:ext uri="{FF2B5EF4-FFF2-40B4-BE49-F238E27FC236}">
                    <a16:creationId xmlns:a16="http://schemas.microsoft.com/office/drawing/2014/main" id="{C305564F-2B8E-78DE-8A5F-F78DCA40EE67}"/>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42" name="半闭框 41">
            <a:extLst>
              <a:ext uri="{FF2B5EF4-FFF2-40B4-BE49-F238E27FC236}">
                <a16:creationId xmlns:a16="http://schemas.microsoft.com/office/drawing/2014/main" id="{10BDA30A-1CB7-1317-6B48-1B89BF863BFA}"/>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半闭框 42">
            <a:extLst>
              <a:ext uri="{FF2B5EF4-FFF2-40B4-BE49-F238E27FC236}">
                <a16:creationId xmlns:a16="http://schemas.microsoft.com/office/drawing/2014/main" id="{9804DC45-2982-96DE-311B-D7E8E07EE116}"/>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4" name="半闭框 43">
            <a:extLst>
              <a:ext uri="{FF2B5EF4-FFF2-40B4-BE49-F238E27FC236}">
                <a16:creationId xmlns:a16="http://schemas.microsoft.com/office/drawing/2014/main" id="{98F71E4D-607D-AF3D-5671-8D3D66D78742}"/>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45" name="半闭框 44">
            <a:extLst>
              <a:ext uri="{FF2B5EF4-FFF2-40B4-BE49-F238E27FC236}">
                <a16:creationId xmlns:a16="http://schemas.microsoft.com/office/drawing/2014/main" id="{8F2E9D91-C87C-C16C-B328-A15B30A4FA6D}"/>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Rectangle 2">
            <a:extLst>
              <a:ext uri="{FF2B5EF4-FFF2-40B4-BE49-F238E27FC236}">
                <a16:creationId xmlns:a16="http://schemas.microsoft.com/office/drawing/2014/main" id="{47FA3B8B-C646-9EF5-F1E0-F9D2902CF0C8}"/>
              </a:ext>
            </a:extLst>
          </p:cNvPr>
          <p:cNvSpPr txBox="1">
            <a:spLocks noChangeArrowheads="1"/>
          </p:cNvSpPr>
          <p:nvPr/>
        </p:nvSpPr>
        <p:spPr>
          <a:xfrm>
            <a:off x="2668815" y="1316174"/>
            <a:ext cx="2057400" cy="5334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800" b="1" dirty="0">
                <a:solidFill>
                  <a:srgbClr val="04926A"/>
                </a:solidFill>
                <a:latin typeface="微软雅黑" panose="020B0503020204020204" pitchFamily="34" charset="-122"/>
                <a:ea typeface="微软雅黑" panose="020B0503020204020204" pitchFamily="34" charset="-122"/>
                <a:cs typeface="+mn-cs"/>
                <a:sym typeface="+mn-lt"/>
              </a:rPr>
              <a:t>例</a:t>
            </a:r>
            <a:r>
              <a:rPr kumimoji="1" lang="en-US" altLang="zh-CN" sz="2800" b="1" dirty="0">
                <a:solidFill>
                  <a:srgbClr val="04926A"/>
                </a:solidFill>
                <a:latin typeface="微软雅黑" panose="020B0503020204020204" pitchFamily="34" charset="-122"/>
                <a:ea typeface="微软雅黑" panose="020B0503020204020204" pitchFamily="34" charset="-122"/>
                <a:cs typeface="+mn-cs"/>
                <a:sym typeface="+mn-lt"/>
              </a:rPr>
              <a:t>5  </a:t>
            </a:r>
            <a:r>
              <a:rPr kumimoji="1" lang="zh-CN" altLang="en-US" sz="2800" dirty="0">
                <a:solidFill>
                  <a:prstClr val="black"/>
                </a:solidFill>
                <a:latin typeface="Times New Roman" panose="020F0502020204030204"/>
                <a:ea typeface="黑体"/>
                <a:cs typeface="+mn-ea"/>
                <a:sym typeface="+mn-lt"/>
              </a:rPr>
              <a:t>计算</a:t>
            </a:r>
          </a:p>
        </p:txBody>
      </p:sp>
      <p:sp>
        <p:nvSpPr>
          <p:cNvPr id="3" name="Text Box 3">
            <a:extLst>
              <a:ext uri="{FF2B5EF4-FFF2-40B4-BE49-F238E27FC236}">
                <a16:creationId xmlns:a16="http://schemas.microsoft.com/office/drawing/2014/main" id="{5940E164-F33F-8A64-BAAE-3DB63E4750AB}"/>
              </a:ext>
            </a:extLst>
          </p:cNvPr>
          <p:cNvSpPr txBox="1">
            <a:spLocks noChangeArrowheads="1"/>
          </p:cNvSpPr>
          <p:nvPr/>
        </p:nvSpPr>
        <p:spPr bwMode="auto">
          <a:xfrm>
            <a:off x="5475400" y="1291857"/>
            <a:ext cx="1820862"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prstClr val="black"/>
                </a:solidFill>
                <a:latin typeface="Times New Roman" panose="020F0502020204030204"/>
                <a:ea typeface="黑体"/>
                <a:cs typeface="+mn-ea"/>
                <a:sym typeface="+mn-lt"/>
              </a:rPr>
              <a:t>的近似值</a:t>
            </a:r>
            <a:r>
              <a:rPr kumimoji="1" lang="en-US" altLang="zh-CN" sz="2800" dirty="0">
                <a:solidFill>
                  <a:prstClr val="black"/>
                </a:solidFill>
                <a:latin typeface="Times New Roman" panose="020F0502020204030204"/>
                <a:ea typeface="黑体"/>
                <a:cs typeface="+mn-ea"/>
                <a:sym typeface="+mn-lt"/>
              </a:rPr>
              <a:t>.  </a:t>
            </a:r>
          </a:p>
        </p:txBody>
      </p:sp>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D50AB4A1-A29C-A657-DFBC-A07B5FE6DC54}"/>
                  </a:ext>
                </a:extLst>
              </p:cNvPr>
              <p:cNvSpPr txBox="1"/>
              <p:nvPr/>
            </p:nvSpPr>
            <p:spPr bwMode="auto">
              <a:xfrm>
                <a:off x="4241784" y="1320116"/>
                <a:ext cx="1130300" cy="4445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a:cs typeface="+mn-ea"/>
                        </a:rPr>
                        <m:t>1.0</m:t>
                      </m:r>
                      <m:sSup>
                        <m:sSupPr>
                          <m:ctrlPr>
                            <a:rPr kumimoji="1" lang="zh-CN" altLang="en-US" sz="2800" i="1">
                              <a:solidFill>
                                <a:prstClr val="black"/>
                              </a:solidFill>
                              <a:latin typeface="Cambria Math" panose="02040503050406030204" pitchFamily="18" charset="0"/>
                              <a:ea typeface="黑体"/>
                              <a:cs typeface="+mn-ea"/>
                            </a:rPr>
                          </m:ctrlPr>
                        </m:sSupPr>
                        <m:e>
                          <m:r>
                            <a:rPr kumimoji="1" lang="zh-CN" altLang="en-US" sz="2800">
                              <a:solidFill>
                                <a:prstClr val="black"/>
                              </a:solidFill>
                              <a:latin typeface="Cambria Math" panose="02040503050406030204" pitchFamily="18" charset="0"/>
                              <a:ea typeface="黑体"/>
                              <a:cs typeface="+mn-ea"/>
                            </a:rPr>
                            <m:t>4</m:t>
                          </m:r>
                        </m:e>
                        <m:sup>
                          <m:r>
                            <a:rPr kumimoji="1" lang="zh-CN" altLang="en-US" sz="2800">
                              <a:solidFill>
                                <a:prstClr val="black"/>
                              </a:solidFill>
                              <a:latin typeface="Cambria Math" panose="02040503050406030204" pitchFamily="18" charset="0"/>
                              <a:ea typeface="黑体"/>
                              <a:cs typeface="+mn-ea"/>
                            </a:rPr>
                            <m:t>2.02</m:t>
                          </m:r>
                        </m:sup>
                      </m:sSup>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4" name="Object 4">
                <a:extLst>
                  <a:ext uri="{FF2B5EF4-FFF2-40B4-BE49-F238E27FC236}">
                    <a16:creationId xmlns:a16="http://schemas.microsoft.com/office/drawing/2014/main" id="{D50AB4A1-A29C-A657-DFBC-A07B5FE6DC54}"/>
                  </a:ext>
                </a:extLst>
              </p:cNvPr>
              <p:cNvSpPr txBox="1">
                <a:spLocks noRot="1" noChangeAspect="1" noMove="1" noResize="1" noEditPoints="1" noAdjustHandles="1" noChangeArrowheads="1" noChangeShapeType="1" noTextEdit="1"/>
              </p:cNvSpPr>
              <p:nvPr/>
            </p:nvSpPr>
            <p:spPr bwMode="auto">
              <a:xfrm>
                <a:off x="4241784" y="1320116"/>
                <a:ext cx="1130300" cy="444500"/>
              </a:xfrm>
              <a:prstGeom prst="rect">
                <a:avLst/>
              </a:prstGeom>
              <a:blipFill>
                <a:blip r:embed="rId3"/>
                <a:stretch>
                  <a:fillRect r="-9730"/>
                </a:stretch>
              </a:blipFill>
              <a:ln>
                <a:noFill/>
              </a:ln>
              <a:effectLst/>
            </p:spPr>
            <p:txBody>
              <a:bodyPr/>
              <a:lstStyle/>
              <a:p>
                <a:r>
                  <a:rPr lang="zh-CN" altLang="en-US">
                    <a:noFill/>
                  </a:rPr>
                  <a:t> </a:t>
                </a:r>
              </a:p>
            </p:txBody>
          </p:sp>
        </mc:Fallback>
      </mc:AlternateContent>
      <p:sp>
        <p:nvSpPr>
          <p:cNvPr id="5" name="Text Box 5">
            <a:extLst>
              <a:ext uri="{FF2B5EF4-FFF2-40B4-BE49-F238E27FC236}">
                <a16:creationId xmlns:a16="http://schemas.microsoft.com/office/drawing/2014/main" id="{7E44C72F-C0F4-A39F-B26B-5A3D96B0EF75}"/>
              </a:ext>
            </a:extLst>
          </p:cNvPr>
          <p:cNvSpPr txBox="1">
            <a:spLocks noChangeArrowheads="1"/>
          </p:cNvSpPr>
          <p:nvPr/>
        </p:nvSpPr>
        <p:spPr bwMode="auto">
          <a:xfrm>
            <a:off x="2668814" y="1983291"/>
            <a:ext cx="1341119"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r>
              <a:rPr kumimoji="1" lang="en-US" altLang="zh-CN" sz="2800" b="1" dirty="0">
                <a:solidFill>
                  <a:srgbClr val="04926A"/>
                </a:solidFill>
                <a:latin typeface="微软雅黑" panose="020B0503020204020204" pitchFamily="34" charset="-122"/>
                <a:ea typeface="微软雅黑" panose="020B0503020204020204" pitchFamily="34" charset="-122"/>
                <a:sym typeface="+mn-lt"/>
              </a:rPr>
              <a:t> </a:t>
            </a:r>
            <a:r>
              <a:rPr kumimoji="1" lang="en-US" altLang="zh-CN" sz="2800" b="1" i="0" u="none" strike="noStrike" kern="1200" cap="none" spc="0" normalizeH="0" baseline="0" noProof="0" dirty="0">
                <a:ln>
                  <a:noFill/>
                </a:ln>
                <a:solidFill>
                  <a:srgbClr val="44546A"/>
                </a:solidFill>
                <a:effectLst/>
                <a:uLnTx/>
                <a:uFillTx/>
                <a:latin typeface="Times New Roman" panose="020F0502020204030204"/>
                <a:ea typeface="黑体"/>
                <a:cs typeface="+mn-ea"/>
                <a:sym typeface="+mn-lt"/>
              </a:rPr>
              <a:t>    </a:t>
            </a:r>
            <a:r>
              <a:rPr kumimoji="1" lang="zh-CN" altLang="en-US" sz="2200" dirty="0">
                <a:solidFill>
                  <a:prstClr val="black"/>
                </a:solidFill>
                <a:latin typeface="Times New Roman" panose="020F0502020204030204"/>
                <a:ea typeface="黑体"/>
                <a:cs typeface="+mn-ea"/>
                <a:sym typeface="+mn-lt"/>
              </a:rPr>
              <a:t>设</a:t>
            </a:r>
          </a:p>
        </p:txBody>
      </p:sp>
      <mc:AlternateContent xmlns:mc="http://schemas.openxmlformats.org/markup-compatibility/2006" xmlns:a14="http://schemas.microsoft.com/office/drawing/2010/main">
        <mc:Choice Requires="a14">
          <p:sp>
            <p:nvSpPr>
              <p:cNvPr id="6" name="Object 6">
                <a:extLst>
                  <a:ext uri="{FF2B5EF4-FFF2-40B4-BE49-F238E27FC236}">
                    <a16:creationId xmlns:a16="http://schemas.microsoft.com/office/drawing/2014/main" id="{5C95E1BB-AE31-D5DB-300A-A993267D9BF5}"/>
                  </a:ext>
                </a:extLst>
              </p:cNvPr>
              <p:cNvSpPr txBox="1"/>
              <p:nvPr/>
            </p:nvSpPr>
            <p:spPr bwMode="auto">
              <a:xfrm>
                <a:off x="3916589" y="2032504"/>
                <a:ext cx="1966912" cy="4699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𝑓</m:t>
                      </m:r>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𝑥</m:t>
                      </m:r>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𝑦</m:t>
                      </m:r>
                      <m:r>
                        <a:rPr kumimoji="1" lang="zh-CN" altLang="en-US" sz="2200">
                          <a:solidFill>
                            <a:prstClr val="black"/>
                          </a:solidFill>
                          <a:latin typeface="Cambria Math" panose="02040503050406030204" pitchFamily="18" charset="0"/>
                          <a:ea typeface="黑体"/>
                          <a:cs typeface="+mn-ea"/>
                        </a:rPr>
                        <m:t>)=</m:t>
                      </m:r>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𝑥</m:t>
                          </m:r>
                        </m:e>
                        <m:sup>
                          <m:r>
                            <a:rPr kumimoji="1" lang="zh-CN" altLang="en-US" sz="2200">
                              <a:solidFill>
                                <a:prstClr val="black"/>
                              </a:solidFill>
                              <a:latin typeface="Cambria Math" panose="02040503050406030204" pitchFamily="18" charset="0"/>
                              <a:ea typeface="黑体"/>
                              <a:cs typeface="+mn-ea"/>
                            </a:rPr>
                            <m:t>𝑦</m:t>
                          </m:r>
                        </m:sup>
                      </m:sSup>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6" name="Object 6">
                <a:extLst>
                  <a:ext uri="{FF2B5EF4-FFF2-40B4-BE49-F238E27FC236}">
                    <a16:creationId xmlns:a16="http://schemas.microsoft.com/office/drawing/2014/main" id="{5C95E1BB-AE31-D5DB-300A-A993267D9BF5}"/>
                  </a:ext>
                </a:extLst>
              </p:cNvPr>
              <p:cNvSpPr txBox="1">
                <a:spLocks noRot="1" noChangeAspect="1" noMove="1" noResize="1" noEditPoints="1" noAdjustHandles="1" noChangeArrowheads="1" noChangeShapeType="1" noTextEdit="1"/>
              </p:cNvSpPr>
              <p:nvPr/>
            </p:nvSpPr>
            <p:spPr bwMode="auto">
              <a:xfrm>
                <a:off x="3916589" y="2032504"/>
                <a:ext cx="1966912" cy="469900"/>
              </a:xfrm>
              <a:prstGeom prst="rect">
                <a:avLst/>
              </a:prstGeom>
              <a:blipFill>
                <a:blip r:embed="rId4"/>
                <a:stretch>
                  <a:fillRect l="-1858" b="-7792"/>
                </a:stretch>
              </a:blipFill>
              <a:ln>
                <a:noFill/>
              </a:ln>
              <a:effectLst/>
            </p:spPr>
            <p:txBody>
              <a:bodyPr/>
              <a:lstStyle/>
              <a:p>
                <a:r>
                  <a:rPr lang="zh-CN" altLang="en-US">
                    <a:noFill/>
                  </a:rPr>
                  <a:t> </a:t>
                </a:r>
              </a:p>
            </p:txBody>
          </p:sp>
        </mc:Fallback>
      </mc:AlternateContent>
      <p:sp>
        <p:nvSpPr>
          <p:cNvPr id="7" name="Text Box 7">
            <a:extLst>
              <a:ext uri="{FF2B5EF4-FFF2-40B4-BE49-F238E27FC236}">
                <a16:creationId xmlns:a16="http://schemas.microsoft.com/office/drawing/2014/main" id="{29F95F83-FD4E-05D2-FA3F-96752231B081}"/>
              </a:ext>
            </a:extLst>
          </p:cNvPr>
          <p:cNvSpPr txBox="1">
            <a:spLocks noChangeArrowheads="1"/>
          </p:cNvSpPr>
          <p:nvPr/>
        </p:nvSpPr>
        <p:spPr bwMode="auto">
          <a:xfrm>
            <a:off x="5534925" y="2052010"/>
            <a:ext cx="529553"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200" dirty="0">
                <a:solidFill>
                  <a:prstClr val="black"/>
                </a:solidFill>
                <a:latin typeface="Times New Roman" panose="020F0502020204030204"/>
                <a:ea typeface="黑体"/>
                <a:cs typeface="+mn-ea"/>
                <a:sym typeface="+mn-lt"/>
              </a:rPr>
              <a:t>则</a:t>
            </a:r>
          </a:p>
        </p:txBody>
      </p:sp>
      <mc:AlternateContent xmlns:mc="http://schemas.openxmlformats.org/markup-compatibility/2006" xmlns:a14="http://schemas.microsoft.com/office/drawing/2010/main">
        <mc:Choice Requires="a14">
          <p:sp>
            <p:nvSpPr>
              <p:cNvPr id="8" name="Object 8">
                <a:extLst>
                  <a:ext uri="{FF2B5EF4-FFF2-40B4-BE49-F238E27FC236}">
                    <a16:creationId xmlns:a16="http://schemas.microsoft.com/office/drawing/2014/main" id="{28EF4B9B-B1DD-1428-4A39-300AD2FB47FA}"/>
                  </a:ext>
                </a:extLst>
              </p:cNvPr>
              <p:cNvSpPr txBox="1"/>
              <p:nvPr/>
            </p:nvSpPr>
            <p:spPr bwMode="auto">
              <a:xfrm>
                <a:off x="3916589" y="2645578"/>
                <a:ext cx="1498600" cy="4445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𝑓</m:t>
                          </m:r>
                        </m:e>
                        <m:sub>
                          <m:r>
                            <a:rPr kumimoji="1" lang="zh-CN" altLang="en-US" sz="2200">
                              <a:solidFill>
                                <a:prstClr val="black"/>
                              </a:solidFill>
                              <a:latin typeface="Cambria Math" panose="02040503050406030204" pitchFamily="18" charset="0"/>
                              <a:ea typeface="黑体"/>
                              <a:cs typeface="+mn-ea"/>
                            </a:rPr>
                            <m:t>𝑥</m:t>
                          </m:r>
                        </m:sub>
                      </m:sSub>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𝑥</m:t>
                      </m:r>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𝑦</m:t>
                      </m:r>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8" name="Object 8">
                <a:extLst>
                  <a:ext uri="{FF2B5EF4-FFF2-40B4-BE49-F238E27FC236}">
                    <a16:creationId xmlns:a16="http://schemas.microsoft.com/office/drawing/2014/main" id="{28EF4B9B-B1DD-1428-4A39-300AD2FB47FA}"/>
                  </a:ext>
                </a:extLst>
              </p:cNvPr>
              <p:cNvSpPr txBox="1">
                <a:spLocks noRot="1" noChangeAspect="1" noMove="1" noResize="1" noEditPoints="1" noAdjustHandles="1" noChangeArrowheads="1" noChangeShapeType="1" noTextEdit="1"/>
              </p:cNvSpPr>
              <p:nvPr/>
            </p:nvSpPr>
            <p:spPr bwMode="auto">
              <a:xfrm>
                <a:off x="3916589" y="2645578"/>
                <a:ext cx="1498600" cy="444500"/>
              </a:xfrm>
              <a:prstGeom prst="rect">
                <a:avLst/>
              </a:prstGeom>
              <a:blipFill>
                <a:blip r:embed="rId5"/>
                <a:stretch>
                  <a:fillRect l="-2439" b="-13699"/>
                </a:stretch>
              </a:blipFill>
              <a:ln>
                <a:noFill/>
              </a:ln>
              <a:effectLst/>
            </p:spPr>
            <p:txBody>
              <a:bodyPr/>
              <a:lstStyle/>
              <a:p>
                <a:r>
                  <a:rPr lang="zh-CN" altLang="en-US">
                    <a:noFill/>
                  </a:rPr>
                  <a:t> </a:t>
                </a:r>
              </a:p>
            </p:txBody>
          </p:sp>
        </mc:Fallback>
      </mc:AlternateContent>
      <p:sp>
        <p:nvSpPr>
          <p:cNvPr id="9" name="Text Box 9">
            <a:extLst>
              <a:ext uri="{FF2B5EF4-FFF2-40B4-BE49-F238E27FC236}">
                <a16:creationId xmlns:a16="http://schemas.microsoft.com/office/drawing/2014/main" id="{CAD70029-4E8B-C116-8FC5-0CD71A53D7F4}"/>
              </a:ext>
            </a:extLst>
          </p:cNvPr>
          <p:cNvSpPr txBox="1">
            <a:spLocks noChangeArrowheads="1"/>
          </p:cNvSpPr>
          <p:nvPr/>
        </p:nvSpPr>
        <p:spPr bwMode="auto">
          <a:xfrm>
            <a:off x="3499394" y="3244016"/>
            <a:ext cx="6858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fontAlgn="base">
              <a:spcBef>
                <a:spcPct val="50000"/>
              </a:spcBef>
              <a:spcAft>
                <a:spcPct val="0"/>
              </a:spcAft>
              <a:defRPr/>
            </a:pPr>
            <a:r>
              <a:rPr kumimoji="1" lang="zh-CN" altLang="en-US" sz="2200" dirty="0">
                <a:solidFill>
                  <a:prstClr val="black"/>
                </a:solidFill>
                <a:latin typeface="Times New Roman" panose="020F0502020204030204"/>
                <a:ea typeface="黑体"/>
                <a:cs typeface="+mn-ea"/>
                <a:sym typeface="+mn-lt"/>
              </a:rPr>
              <a:t>取</a:t>
            </a:r>
          </a:p>
        </p:txBody>
      </p:sp>
      <mc:AlternateContent xmlns:mc="http://schemas.openxmlformats.org/markup-compatibility/2006" xmlns:a14="http://schemas.microsoft.com/office/drawing/2010/main">
        <mc:Choice Requires="a14">
          <p:sp>
            <p:nvSpPr>
              <p:cNvPr id="10" name="Object 10">
                <a:extLst>
                  <a:ext uri="{FF2B5EF4-FFF2-40B4-BE49-F238E27FC236}">
                    <a16:creationId xmlns:a16="http://schemas.microsoft.com/office/drawing/2014/main" id="{0A31C7C8-CEAF-6CA0-A47D-CAE805074EF8}"/>
                  </a:ext>
                </a:extLst>
              </p:cNvPr>
              <p:cNvSpPr txBox="1"/>
              <p:nvPr/>
            </p:nvSpPr>
            <p:spPr bwMode="auto">
              <a:xfrm>
                <a:off x="3870869" y="3235112"/>
                <a:ext cx="2038349" cy="393700"/>
              </a:xfrm>
              <a:prstGeom prst="rect">
                <a:avLst/>
              </a:prstGeom>
              <a:noFill/>
              <a:ln>
                <a:noFill/>
              </a:ln>
              <a:effectLst/>
            </p:spPr>
            <p:txBody>
              <a:bodyPr>
                <a:no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𝑥</m:t>
                      </m:r>
                      <m:r>
                        <a:rPr kumimoji="1" lang="zh-CN" altLang="en-US" sz="2200">
                          <a:solidFill>
                            <a:prstClr val="black"/>
                          </a:solidFill>
                          <a:latin typeface="Cambria Math" panose="02040503050406030204" pitchFamily="18" charset="0"/>
                          <a:ea typeface="黑体"/>
                          <a:cs typeface="+mn-ea"/>
                        </a:rPr>
                        <m:t>=1,</m:t>
                      </m:r>
                      <m:r>
                        <a:rPr kumimoji="1" lang="zh-CN" altLang="en-US" sz="2200">
                          <a:solidFill>
                            <a:prstClr val="black"/>
                          </a:solidFill>
                          <a:latin typeface="Cambria Math" panose="02040503050406030204" pitchFamily="18" charset="0"/>
                          <a:ea typeface="黑体"/>
                          <a:cs typeface="+mn-ea"/>
                        </a:rPr>
                        <m:t>𝑦</m:t>
                      </m:r>
                      <m:r>
                        <a:rPr kumimoji="1" lang="zh-CN" altLang="en-US" sz="2200">
                          <a:solidFill>
                            <a:prstClr val="black"/>
                          </a:solidFill>
                          <a:latin typeface="Cambria Math" panose="02040503050406030204" pitchFamily="18" charset="0"/>
                          <a:ea typeface="黑体"/>
                          <a:cs typeface="+mn-ea"/>
                        </a:rPr>
                        <m:t>=2,</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10" name="Object 10">
                <a:extLst>
                  <a:ext uri="{FF2B5EF4-FFF2-40B4-BE49-F238E27FC236}">
                    <a16:creationId xmlns:a16="http://schemas.microsoft.com/office/drawing/2014/main" id="{0A31C7C8-CEAF-6CA0-A47D-CAE805074EF8}"/>
                  </a:ext>
                </a:extLst>
              </p:cNvPr>
              <p:cNvSpPr txBox="1">
                <a:spLocks noRot="1" noChangeAspect="1" noMove="1" noResize="1" noEditPoints="1" noAdjustHandles="1" noChangeArrowheads="1" noChangeShapeType="1" noTextEdit="1"/>
              </p:cNvSpPr>
              <p:nvPr/>
            </p:nvSpPr>
            <p:spPr bwMode="auto">
              <a:xfrm>
                <a:off x="3870869" y="3235112"/>
                <a:ext cx="2038349" cy="393700"/>
              </a:xfrm>
              <a:prstGeom prst="rect">
                <a:avLst/>
              </a:prstGeom>
              <a:blipFill>
                <a:blip r:embed="rId6"/>
                <a:stretch>
                  <a:fillRect b="-21875"/>
                </a:stretch>
              </a:blipFill>
              <a:ln>
                <a:noFill/>
              </a:ln>
              <a:effectLst/>
            </p:spPr>
            <p:txBody>
              <a:bodyPr/>
              <a:lstStyle/>
              <a:p>
                <a:r>
                  <a:rPr lang="zh-CN" altLang="en-US">
                    <a:noFill/>
                  </a:rPr>
                  <a:t> </a:t>
                </a:r>
              </a:p>
            </p:txBody>
          </p:sp>
        </mc:Fallback>
      </mc:AlternateContent>
      <p:sp>
        <p:nvSpPr>
          <p:cNvPr id="11" name="Text Box 11">
            <a:extLst>
              <a:ext uri="{FF2B5EF4-FFF2-40B4-BE49-F238E27FC236}">
                <a16:creationId xmlns:a16="http://schemas.microsoft.com/office/drawing/2014/main" id="{88BA2444-5BCF-B142-DB12-AA51A6B86ED6}"/>
              </a:ext>
            </a:extLst>
          </p:cNvPr>
          <p:cNvSpPr txBox="1">
            <a:spLocks noChangeArrowheads="1"/>
          </p:cNvSpPr>
          <p:nvPr/>
        </p:nvSpPr>
        <p:spPr bwMode="auto">
          <a:xfrm>
            <a:off x="3499394" y="3896846"/>
            <a:ext cx="7620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fontAlgn="base">
              <a:spcBef>
                <a:spcPct val="50000"/>
              </a:spcBef>
              <a:spcAft>
                <a:spcPct val="0"/>
              </a:spcAft>
              <a:defRPr/>
            </a:pPr>
            <a:r>
              <a:rPr kumimoji="1" lang="zh-CN" altLang="en-US" sz="2200" dirty="0">
                <a:solidFill>
                  <a:prstClr val="black"/>
                </a:solidFill>
                <a:latin typeface="Times New Roman" panose="020F0502020204030204"/>
                <a:ea typeface="黑体"/>
                <a:cs typeface="+mn-ea"/>
                <a:sym typeface="+mn-lt"/>
              </a:rPr>
              <a:t>则</a:t>
            </a:r>
          </a:p>
        </p:txBody>
      </p:sp>
      <mc:AlternateContent xmlns:mc="http://schemas.openxmlformats.org/markup-compatibility/2006" xmlns:a14="http://schemas.microsoft.com/office/drawing/2010/main">
        <mc:Choice Requires="a14">
          <p:sp>
            <p:nvSpPr>
              <p:cNvPr id="12" name="Object 12">
                <a:extLst>
                  <a:ext uri="{FF2B5EF4-FFF2-40B4-BE49-F238E27FC236}">
                    <a16:creationId xmlns:a16="http://schemas.microsoft.com/office/drawing/2014/main" id="{28175DAE-9638-6B50-AA8C-77B83F9FD59E}"/>
                  </a:ext>
                </a:extLst>
              </p:cNvPr>
              <p:cNvSpPr txBox="1"/>
              <p:nvPr/>
            </p:nvSpPr>
            <p:spPr bwMode="auto">
              <a:xfrm>
                <a:off x="3889181" y="3870602"/>
                <a:ext cx="3681413" cy="5207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1.0</m:t>
                      </m:r>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4</m:t>
                          </m:r>
                        </m:e>
                        <m:sup>
                          <m:r>
                            <a:rPr kumimoji="1" lang="zh-CN" altLang="en-US" sz="2200">
                              <a:solidFill>
                                <a:prstClr val="black"/>
                              </a:solidFill>
                              <a:latin typeface="Cambria Math" panose="02040503050406030204" pitchFamily="18" charset="0"/>
                              <a:ea typeface="黑体"/>
                              <a:cs typeface="+mn-ea"/>
                            </a:rPr>
                            <m:t>2.02</m:t>
                          </m:r>
                        </m:sup>
                      </m:sSup>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𝑓</m:t>
                      </m:r>
                      <m:r>
                        <a:rPr kumimoji="1" lang="zh-CN" altLang="en-US" sz="2200">
                          <a:solidFill>
                            <a:prstClr val="black"/>
                          </a:solidFill>
                          <a:latin typeface="Cambria Math" panose="02040503050406030204" pitchFamily="18" charset="0"/>
                          <a:ea typeface="黑体"/>
                          <a:cs typeface="+mn-ea"/>
                        </a:rPr>
                        <m:t>(1.04,  2.02 )</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12" name="Object 12">
                <a:extLst>
                  <a:ext uri="{FF2B5EF4-FFF2-40B4-BE49-F238E27FC236}">
                    <a16:creationId xmlns:a16="http://schemas.microsoft.com/office/drawing/2014/main" id="{28175DAE-9638-6B50-AA8C-77B83F9FD59E}"/>
                  </a:ext>
                </a:extLst>
              </p:cNvPr>
              <p:cNvSpPr txBox="1">
                <a:spLocks noRot="1" noChangeAspect="1" noMove="1" noResize="1" noEditPoints="1" noAdjustHandles="1" noChangeArrowheads="1" noChangeShapeType="1" noTextEdit="1"/>
              </p:cNvSpPr>
              <p:nvPr/>
            </p:nvSpPr>
            <p:spPr bwMode="auto">
              <a:xfrm>
                <a:off x="3889181" y="3870602"/>
                <a:ext cx="3681413" cy="520700"/>
              </a:xfrm>
              <a:prstGeom prst="rect">
                <a:avLst/>
              </a:prstGeom>
              <a:blipFill>
                <a:blip r:embed="rId7"/>
                <a:stretch>
                  <a:fillRect l="-166"/>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13">
                <a:extLst>
                  <a:ext uri="{FF2B5EF4-FFF2-40B4-BE49-F238E27FC236}">
                    <a16:creationId xmlns:a16="http://schemas.microsoft.com/office/drawing/2014/main" id="{A7FF9D2F-09A2-45B1-1015-1F3719600AA3}"/>
                  </a:ext>
                </a:extLst>
              </p:cNvPr>
              <p:cNvSpPr txBox="1"/>
              <p:nvPr/>
            </p:nvSpPr>
            <p:spPr bwMode="auto">
              <a:xfrm>
                <a:off x="4879658" y="4537645"/>
                <a:ext cx="5078412" cy="4953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𝑓</m:t>
                      </m:r>
                      <m:r>
                        <a:rPr kumimoji="1" lang="zh-CN" altLang="en-US" sz="2200">
                          <a:solidFill>
                            <a:prstClr val="black"/>
                          </a:solidFill>
                          <a:latin typeface="Cambria Math" panose="02040503050406030204" pitchFamily="18" charset="0"/>
                          <a:ea typeface="黑体"/>
                          <a:cs typeface="+mn-ea"/>
                        </a:rPr>
                        <m:t>(1, 2)+</m:t>
                      </m:r>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𝑓</m:t>
                          </m:r>
                        </m:e>
                        <m:sub>
                          <m:r>
                            <a:rPr kumimoji="1" lang="zh-CN" altLang="en-US" sz="2200">
                              <a:solidFill>
                                <a:prstClr val="black"/>
                              </a:solidFill>
                              <a:latin typeface="Cambria Math" panose="02040503050406030204" pitchFamily="18" charset="0"/>
                              <a:ea typeface="黑体"/>
                              <a:cs typeface="+mn-ea"/>
                            </a:rPr>
                            <m:t>𝑥</m:t>
                          </m:r>
                        </m:sub>
                      </m:sSub>
                      <m:r>
                        <a:rPr kumimoji="1" lang="zh-CN" altLang="en-US" sz="2200">
                          <a:solidFill>
                            <a:prstClr val="black"/>
                          </a:solidFill>
                          <a:latin typeface="Cambria Math" panose="02040503050406030204" pitchFamily="18" charset="0"/>
                          <a:ea typeface="黑体"/>
                          <a:cs typeface="+mn-ea"/>
                        </a:rPr>
                        <m:t>(1, 2)</m:t>
                      </m:r>
                      <m:r>
                        <m:rPr>
                          <m:sty m:val="p"/>
                        </m:rPr>
                        <a:rPr kumimoji="1" lang="zh-CN" altLang="en-US" sz="2200">
                          <a:solidFill>
                            <a:prstClr val="black"/>
                          </a:solidFill>
                          <a:latin typeface="Cambria Math" panose="02040503050406030204" pitchFamily="18" charset="0"/>
                          <a:ea typeface="黑体"/>
                          <a:cs typeface="+mn-ea"/>
                        </a:rPr>
                        <m:t>Δ</m:t>
                      </m:r>
                      <m:r>
                        <a:rPr kumimoji="1" lang="zh-CN" altLang="en-US" sz="2200">
                          <a:solidFill>
                            <a:prstClr val="black"/>
                          </a:solidFill>
                          <a:latin typeface="Cambria Math" panose="02040503050406030204" pitchFamily="18" charset="0"/>
                          <a:ea typeface="黑体"/>
                          <a:cs typeface="+mn-ea"/>
                        </a:rPr>
                        <m:t>𝑥</m:t>
                      </m:r>
                      <m:r>
                        <a:rPr kumimoji="1" lang="zh-CN" altLang="en-US" sz="2200">
                          <a:solidFill>
                            <a:prstClr val="black"/>
                          </a:solidFill>
                          <a:latin typeface="Cambria Math" panose="02040503050406030204" pitchFamily="18" charset="0"/>
                          <a:ea typeface="黑体"/>
                          <a:cs typeface="+mn-ea"/>
                        </a:rPr>
                        <m:t>+</m:t>
                      </m:r>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𝑓</m:t>
                          </m:r>
                        </m:e>
                        <m:sub>
                          <m:r>
                            <a:rPr kumimoji="1" lang="zh-CN" altLang="en-US" sz="2200">
                              <a:solidFill>
                                <a:prstClr val="black"/>
                              </a:solidFill>
                              <a:latin typeface="Cambria Math" panose="02040503050406030204" pitchFamily="18" charset="0"/>
                              <a:ea typeface="黑体"/>
                              <a:cs typeface="+mn-ea"/>
                            </a:rPr>
                            <m:t>𝑦</m:t>
                          </m:r>
                        </m:sub>
                      </m:sSub>
                      <m:r>
                        <a:rPr kumimoji="1" lang="zh-CN" altLang="en-US" sz="2200">
                          <a:solidFill>
                            <a:prstClr val="black"/>
                          </a:solidFill>
                          <a:latin typeface="Cambria Math" panose="02040503050406030204" pitchFamily="18" charset="0"/>
                          <a:ea typeface="黑体"/>
                          <a:cs typeface="+mn-ea"/>
                        </a:rPr>
                        <m:t>(1, 2)</m:t>
                      </m:r>
                      <m:r>
                        <m:rPr>
                          <m:sty m:val="p"/>
                        </m:rPr>
                        <a:rPr kumimoji="1" lang="zh-CN" altLang="en-US" sz="2200">
                          <a:solidFill>
                            <a:prstClr val="black"/>
                          </a:solidFill>
                          <a:latin typeface="Cambria Math" panose="02040503050406030204" pitchFamily="18" charset="0"/>
                          <a:ea typeface="黑体"/>
                          <a:cs typeface="+mn-ea"/>
                        </a:rPr>
                        <m:t>Δ</m:t>
                      </m:r>
                      <m:r>
                        <a:rPr kumimoji="1" lang="zh-CN" altLang="en-US" sz="2200">
                          <a:solidFill>
                            <a:prstClr val="black"/>
                          </a:solidFill>
                          <a:latin typeface="Cambria Math" panose="02040503050406030204" pitchFamily="18" charset="0"/>
                          <a:ea typeface="黑体"/>
                          <a:cs typeface="+mn-ea"/>
                        </a:rPr>
                        <m:t>𝑦</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13" name="Object 13">
                <a:extLst>
                  <a:ext uri="{FF2B5EF4-FFF2-40B4-BE49-F238E27FC236}">
                    <a16:creationId xmlns:a16="http://schemas.microsoft.com/office/drawing/2014/main" id="{A7FF9D2F-09A2-45B1-1015-1F3719600AA3}"/>
                  </a:ext>
                </a:extLst>
              </p:cNvPr>
              <p:cNvSpPr txBox="1">
                <a:spLocks noRot="1" noChangeAspect="1" noMove="1" noResize="1" noEditPoints="1" noAdjustHandles="1" noChangeArrowheads="1" noChangeShapeType="1" noTextEdit="1"/>
              </p:cNvSpPr>
              <p:nvPr/>
            </p:nvSpPr>
            <p:spPr bwMode="auto">
              <a:xfrm>
                <a:off x="4879658" y="4537645"/>
                <a:ext cx="5078412" cy="495300"/>
              </a:xfrm>
              <a:prstGeom prst="rect">
                <a:avLst/>
              </a:prstGeom>
              <a:blipFill>
                <a:blip r:embed="rId8"/>
                <a:stretch>
                  <a:fillRect b="-122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14">
                <a:extLst>
                  <a:ext uri="{FF2B5EF4-FFF2-40B4-BE49-F238E27FC236}">
                    <a16:creationId xmlns:a16="http://schemas.microsoft.com/office/drawing/2014/main" id="{78850326-25FB-8A9D-08D9-12A16667DE22}"/>
                  </a:ext>
                </a:extLst>
              </p:cNvPr>
              <p:cNvSpPr txBox="1"/>
              <p:nvPr/>
            </p:nvSpPr>
            <p:spPr bwMode="auto">
              <a:xfrm>
                <a:off x="4879658" y="5124402"/>
                <a:ext cx="4341812" cy="495300"/>
              </a:xfrm>
              <a:prstGeom prst="rect">
                <a:avLst/>
              </a:prstGeom>
              <a:noFill/>
              <a:ln>
                <a:noFill/>
              </a:ln>
              <a:effectLst/>
            </p:spPr>
            <p:txBody>
              <a:bodyPr>
                <a:noAutofit/>
              </a:bodyPr>
              <a:lstStyle/>
              <a:p>
                <a:pPr fontAlgn="base">
                  <a:lnSpc>
                    <a:spcPct val="120000"/>
                  </a:lnSpc>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=1+2×0.04+0×0.02=1.08.</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14" name="Object 14">
                <a:extLst>
                  <a:ext uri="{FF2B5EF4-FFF2-40B4-BE49-F238E27FC236}">
                    <a16:creationId xmlns:a16="http://schemas.microsoft.com/office/drawing/2014/main" id="{78850326-25FB-8A9D-08D9-12A16667DE22}"/>
                  </a:ext>
                </a:extLst>
              </p:cNvPr>
              <p:cNvSpPr txBox="1">
                <a:spLocks noRot="1" noChangeAspect="1" noMove="1" noResize="1" noEditPoints="1" noAdjustHandles="1" noChangeArrowheads="1" noChangeShapeType="1" noTextEdit="1"/>
              </p:cNvSpPr>
              <p:nvPr/>
            </p:nvSpPr>
            <p:spPr bwMode="auto">
              <a:xfrm>
                <a:off x="4879658" y="5124402"/>
                <a:ext cx="4341812" cy="495300"/>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15">
                <a:extLst>
                  <a:ext uri="{FF2B5EF4-FFF2-40B4-BE49-F238E27FC236}">
                    <a16:creationId xmlns:a16="http://schemas.microsoft.com/office/drawing/2014/main" id="{6F558C09-172A-29A5-2882-E36D4A3F47C4}"/>
                  </a:ext>
                </a:extLst>
              </p:cNvPr>
              <p:cNvSpPr txBox="1"/>
              <p:nvPr/>
            </p:nvSpPr>
            <p:spPr bwMode="auto">
              <a:xfrm>
                <a:off x="6141946" y="2657270"/>
                <a:ext cx="1511300" cy="4953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𝑓</m:t>
                          </m:r>
                        </m:e>
                        <m:sub>
                          <m:r>
                            <a:rPr kumimoji="1" lang="zh-CN" altLang="en-US" sz="2200">
                              <a:solidFill>
                                <a:prstClr val="black"/>
                              </a:solidFill>
                              <a:latin typeface="Cambria Math" panose="02040503050406030204" pitchFamily="18" charset="0"/>
                              <a:ea typeface="黑体"/>
                              <a:cs typeface="+mn-ea"/>
                            </a:rPr>
                            <m:t>𝑦</m:t>
                          </m:r>
                        </m:sub>
                      </m:sSub>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𝑥</m:t>
                      </m:r>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𝑦</m:t>
                      </m:r>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15" name="Object 15">
                <a:extLst>
                  <a:ext uri="{FF2B5EF4-FFF2-40B4-BE49-F238E27FC236}">
                    <a16:creationId xmlns:a16="http://schemas.microsoft.com/office/drawing/2014/main" id="{6F558C09-172A-29A5-2882-E36D4A3F47C4}"/>
                  </a:ext>
                </a:extLst>
              </p:cNvPr>
              <p:cNvSpPr txBox="1">
                <a:spLocks noRot="1" noChangeAspect="1" noMove="1" noResize="1" noEditPoints="1" noAdjustHandles="1" noChangeArrowheads="1" noChangeShapeType="1" noTextEdit="1"/>
              </p:cNvSpPr>
              <p:nvPr/>
            </p:nvSpPr>
            <p:spPr bwMode="auto">
              <a:xfrm>
                <a:off x="6141946" y="2657270"/>
                <a:ext cx="1511300" cy="495300"/>
              </a:xfrm>
              <a:prstGeom prst="rect">
                <a:avLst/>
              </a:prstGeom>
              <a:blipFill>
                <a:blip r:embed="rId10"/>
                <a:stretch>
                  <a:fillRect l="-2834" b="-246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8ED47194-18BC-2608-EC48-468D5702AC80}"/>
                  </a:ext>
                </a:extLst>
              </p:cNvPr>
              <p:cNvSpPr txBox="1"/>
              <p:nvPr/>
            </p:nvSpPr>
            <p:spPr bwMode="auto">
              <a:xfrm>
                <a:off x="5222112" y="2640228"/>
                <a:ext cx="1079500" cy="5207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𝑦</m:t>
                      </m:r>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𝑥</m:t>
                          </m:r>
                        </m:e>
                        <m:sup>
                          <m:r>
                            <a:rPr kumimoji="1" lang="zh-CN" altLang="en-US" sz="2200">
                              <a:solidFill>
                                <a:prstClr val="black"/>
                              </a:solidFill>
                              <a:latin typeface="Cambria Math" panose="02040503050406030204" pitchFamily="18" charset="0"/>
                              <a:ea typeface="黑体"/>
                              <a:cs typeface="+mn-ea"/>
                            </a:rPr>
                            <m:t>𝑦</m:t>
                          </m:r>
                          <m:r>
                            <a:rPr kumimoji="1" lang="zh-CN" altLang="en-US" sz="2200">
                              <a:solidFill>
                                <a:prstClr val="black"/>
                              </a:solidFill>
                              <a:latin typeface="Cambria Math" panose="02040503050406030204" pitchFamily="18" charset="0"/>
                              <a:ea typeface="黑体"/>
                              <a:cs typeface="+mn-ea"/>
                            </a:rPr>
                            <m:t>−1</m:t>
                          </m:r>
                        </m:sup>
                      </m:sSup>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16" name="Object 16">
                <a:extLst>
                  <a:ext uri="{FF2B5EF4-FFF2-40B4-BE49-F238E27FC236}">
                    <a16:creationId xmlns:a16="http://schemas.microsoft.com/office/drawing/2014/main" id="{8ED47194-18BC-2608-EC48-468D5702AC80}"/>
                  </a:ext>
                </a:extLst>
              </p:cNvPr>
              <p:cNvSpPr txBox="1">
                <a:spLocks noRot="1" noChangeAspect="1" noMove="1" noResize="1" noEditPoints="1" noAdjustHandles="1" noChangeArrowheads="1" noChangeShapeType="1" noTextEdit="1"/>
              </p:cNvSpPr>
              <p:nvPr/>
            </p:nvSpPr>
            <p:spPr bwMode="auto">
              <a:xfrm>
                <a:off x="5222112" y="2640228"/>
                <a:ext cx="1079500" cy="520700"/>
              </a:xfrm>
              <a:prstGeom prst="rect">
                <a:avLst/>
              </a:prstGeom>
              <a:blipFill>
                <a:blip r:embed="rId11"/>
                <a:stretch>
                  <a:fillRect l="-113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Object 17">
                <a:extLst>
                  <a:ext uri="{FF2B5EF4-FFF2-40B4-BE49-F238E27FC236}">
                    <a16:creationId xmlns:a16="http://schemas.microsoft.com/office/drawing/2014/main" id="{42BD5274-659B-196E-B666-48EC32C9E724}"/>
                  </a:ext>
                </a:extLst>
              </p:cNvPr>
              <p:cNvSpPr txBox="1"/>
              <p:nvPr/>
            </p:nvSpPr>
            <p:spPr bwMode="auto">
              <a:xfrm>
                <a:off x="7417753" y="2657904"/>
                <a:ext cx="1104900" cy="393700"/>
              </a:xfrm>
              <a:prstGeom prst="rect">
                <a:avLst/>
              </a:prstGeom>
              <a:noFill/>
              <a:ln>
                <a:noFill/>
              </a:ln>
              <a:effectLst/>
            </p:spPr>
            <p:txBody>
              <a:bodyPr>
                <a:noAutofit/>
              </a:bodyPr>
              <a:lstStyle/>
              <a:p>
                <a:pPr fontAlgn="base">
                  <a:spcBef>
                    <a:spcPct val="50000"/>
                  </a:spcBef>
                  <a:spcAft>
                    <a:spcPct val="0"/>
                  </a:spcAft>
                  <a:defRPr/>
                </a:pPr>
                <a14:m>
                  <m:oMath xmlns:m="http://schemas.openxmlformats.org/officeDocument/2006/math">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𝑥</m:t>
                        </m:r>
                      </m:e>
                      <m:sup>
                        <m:r>
                          <a:rPr kumimoji="1" lang="zh-CN" altLang="en-US" sz="2200">
                            <a:solidFill>
                              <a:prstClr val="black"/>
                            </a:solidFill>
                            <a:latin typeface="Cambria Math" panose="02040503050406030204" pitchFamily="18" charset="0"/>
                            <a:ea typeface="黑体"/>
                            <a:cs typeface="+mn-ea"/>
                          </a:rPr>
                          <m:t>𝑦</m:t>
                        </m:r>
                      </m:sup>
                    </m:sSup>
                    <m:func>
                      <m:funcPr>
                        <m:ctrlPr>
                          <a:rPr kumimoji="1" lang="zh-CN" altLang="en-US" sz="2200" i="1">
                            <a:solidFill>
                              <a:prstClr val="black"/>
                            </a:solidFill>
                            <a:latin typeface="Cambria Math" panose="02040503050406030204" pitchFamily="18" charset="0"/>
                            <a:ea typeface="黑体"/>
                            <a:cs typeface="+mn-ea"/>
                          </a:rPr>
                        </m:ctrlPr>
                      </m:funcPr>
                      <m:fName>
                        <m:r>
                          <m:rPr>
                            <m:sty m:val="p"/>
                          </m:rPr>
                          <a:rPr kumimoji="1" lang="zh-CN" altLang="en-US" sz="2200">
                            <a:solidFill>
                              <a:prstClr val="black"/>
                            </a:solidFill>
                            <a:latin typeface="Cambria Math" panose="02040503050406030204" pitchFamily="18" charset="0"/>
                            <a:ea typeface="黑体"/>
                            <a:cs typeface="+mn-ea"/>
                          </a:rPr>
                          <m:t>ln</m:t>
                        </m:r>
                      </m:fName>
                      <m:e>
                        <m:r>
                          <a:rPr kumimoji="1" lang="zh-CN" altLang="en-US" sz="2200">
                            <a:solidFill>
                              <a:prstClr val="black"/>
                            </a:solidFill>
                            <a:latin typeface="Cambria Math" panose="02040503050406030204" pitchFamily="18" charset="0"/>
                            <a:ea typeface="黑体"/>
                            <a:cs typeface="+mn-ea"/>
                          </a:rPr>
                          <m:t>𝑥</m:t>
                        </m:r>
                      </m:e>
                    </m:func>
                  </m:oMath>
                </a14:m>
                <a:r>
                  <a:rPr kumimoji="1" lang="zh-CN" altLang="en-US" sz="2200" dirty="0">
                    <a:solidFill>
                      <a:prstClr val="black"/>
                    </a:solidFill>
                    <a:ea typeface="黑体"/>
                    <a:cs typeface="+mn-ea"/>
                  </a:rPr>
                  <a:t> </a:t>
                </a:r>
                <a14:m>
                  <m:oMath xmlns:m="http://schemas.openxmlformats.org/officeDocument/2006/math">
                    <m:r>
                      <a:rPr kumimoji="1" lang="zh-CN" altLang="en-US" sz="2200">
                        <a:solidFill>
                          <a:prstClr val="black"/>
                        </a:solidFill>
                        <a:latin typeface="Cambria Math" panose="02040503050406030204" pitchFamily="18" charset="0"/>
                        <a:ea typeface="黑体"/>
                        <a:cs typeface="+mn-ea"/>
                      </a:rPr>
                      <m:t>.</m:t>
                    </m:r>
                  </m:oMath>
                </a14:m>
                <a:endParaRPr kumimoji="1" lang="zh-CN" altLang="en-US" sz="2200" dirty="0">
                  <a:solidFill>
                    <a:prstClr val="black"/>
                  </a:solidFill>
                  <a:latin typeface="Times New Roman" panose="020F0502020204030204"/>
                  <a:ea typeface="黑体"/>
                  <a:cs typeface="+mn-ea"/>
                </a:endParaRPr>
              </a:p>
            </p:txBody>
          </p:sp>
        </mc:Choice>
        <mc:Fallback xmlns="">
          <p:sp>
            <p:nvSpPr>
              <p:cNvPr id="17" name="Object 17">
                <a:extLst>
                  <a:ext uri="{FF2B5EF4-FFF2-40B4-BE49-F238E27FC236}">
                    <a16:creationId xmlns:a16="http://schemas.microsoft.com/office/drawing/2014/main" id="{42BD5274-659B-196E-B666-48EC32C9E724}"/>
                  </a:ext>
                </a:extLst>
              </p:cNvPr>
              <p:cNvSpPr txBox="1">
                <a:spLocks noRot="1" noChangeAspect="1" noMove="1" noResize="1" noEditPoints="1" noAdjustHandles="1" noChangeArrowheads="1" noChangeShapeType="1" noTextEdit="1"/>
              </p:cNvSpPr>
              <p:nvPr/>
            </p:nvSpPr>
            <p:spPr bwMode="auto">
              <a:xfrm>
                <a:off x="7417753" y="2657904"/>
                <a:ext cx="1104900" cy="393700"/>
              </a:xfrm>
              <a:prstGeom prst="rect">
                <a:avLst/>
              </a:prstGeom>
              <a:blipFill>
                <a:blip r:embed="rId12"/>
                <a:stretch>
                  <a:fillRect b="-307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Object 18">
                <a:extLst>
                  <a:ext uri="{FF2B5EF4-FFF2-40B4-BE49-F238E27FC236}">
                    <a16:creationId xmlns:a16="http://schemas.microsoft.com/office/drawing/2014/main" id="{D862F874-39A2-E027-7FA5-683B86236A61}"/>
                  </a:ext>
                </a:extLst>
              </p:cNvPr>
              <p:cNvSpPr txBox="1"/>
              <p:nvPr/>
            </p:nvSpPr>
            <p:spPr bwMode="auto">
              <a:xfrm>
                <a:off x="5592301" y="3223288"/>
                <a:ext cx="3262313" cy="393700"/>
              </a:xfrm>
              <a:prstGeom prst="rect">
                <a:avLst/>
              </a:prstGeom>
              <a:noFill/>
              <a:ln>
                <a:noFill/>
              </a:ln>
              <a:effectLst/>
            </p:spPr>
            <p:txBody>
              <a:bodyPr>
                <a:no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m:rPr>
                          <m:sty m:val="p"/>
                        </m:rPr>
                        <a:rPr kumimoji="1" lang="zh-CN" altLang="en-US" sz="2200">
                          <a:solidFill>
                            <a:prstClr val="black"/>
                          </a:solidFill>
                          <a:latin typeface="Cambria Math" panose="02040503050406030204" pitchFamily="18" charset="0"/>
                          <a:ea typeface="黑体"/>
                          <a:cs typeface="+mn-ea"/>
                        </a:rPr>
                        <m:t>Δ</m:t>
                      </m:r>
                      <m:r>
                        <a:rPr kumimoji="1" lang="zh-CN" altLang="en-US" sz="2200">
                          <a:solidFill>
                            <a:prstClr val="black"/>
                          </a:solidFill>
                          <a:latin typeface="Cambria Math" panose="02040503050406030204" pitchFamily="18" charset="0"/>
                          <a:ea typeface="黑体"/>
                          <a:cs typeface="+mn-ea"/>
                        </a:rPr>
                        <m:t>𝑥</m:t>
                      </m:r>
                      <m:r>
                        <a:rPr kumimoji="1" lang="zh-CN" altLang="en-US" sz="2200">
                          <a:solidFill>
                            <a:prstClr val="black"/>
                          </a:solidFill>
                          <a:latin typeface="Cambria Math" panose="02040503050406030204" pitchFamily="18" charset="0"/>
                          <a:ea typeface="黑体"/>
                          <a:cs typeface="+mn-ea"/>
                        </a:rPr>
                        <m:t>=0.04,  </m:t>
                      </m:r>
                      <m:r>
                        <m:rPr>
                          <m:sty m:val="p"/>
                        </m:rPr>
                        <a:rPr kumimoji="1" lang="zh-CN" altLang="en-US" sz="2200">
                          <a:solidFill>
                            <a:prstClr val="black"/>
                          </a:solidFill>
                          <a:latin typeface="Cambria Math" panose="02040503050406030204" pitchFamily="18" charset="0"/>
                          <a:ea typeface="黑体"/>
                          <a:cs typeface="+mn-ea"/>
                        </a:rPr>
                        <m:t>Δ</m:t>
                      </m:r>
                      <m:r>
                        <a:rPr kumimoji="1" lang="zh-CN" altLang="en-US" sz="2200">
                          <a:solidFill>
                            <a:prstClr val="black"/>
                          </a:solidFill>
                          <a:latin typeface="Cambria Math" panose="02040503050406030204" pitchFamily="18" charset="0"/>
                          <a:ea typeface="黑体"/>
                          <a:cs typeface="+mn-ea"/>
                        </a:rPr>
                        <m:t>𝑦</m:t>
                      </m:r>
                      <m:r>
                        <a:rPr kumimoji="1" lang="zh-CN" altLang="en-US" sz="2200">
                          <a:solidFill>
                            <a:prstClr val="black"/>
                          </a:solidFill>
                          <a:latin typeface="Cambria Math" panose="02040503050406030204" pitchFamily="18" charset="0"/>
                          <a:ea typeface="黑体"/>
                          <a:cs typeface="+mn-ea"/>
                        </a:rPr>
                        <m:t>=0.02,</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18" name="Object 18">
                <a:extLst>
                  <a:ext uri="{FF2B5EF4-FFF2-40B4-BE49-F238E27FC236}">
                    <a16:creationId xmlns:a16="http://schemas.microsoft.com/office/drawing/2014/main" id="{D862F874-39A2-E027-7FA5-683B86236A61}"/>
                  </a:ext>
                </a:extLst>
              </p:cNvPr>
              <p:cNvSpPr txBox="1">
                <a:spLocks noRot="1" noChangeAspect="1" noMove="1" noResize="1" noEditPoints="1" noAdjustHandles="1" noChangeArrowheads="1" noChangeShapeType="1" noTextEdit="1"/>
              </p:cNvSpPr>
              <p:nvPr/>
            </p:nvSpPr>
            <p:spPr bwMode="auto">
              <a:xfrm>
                <a:off x="5592301" y="3223288"/>
                <a:ext cx="3262313" cy="393700"/>
              </a:xfrm>
              <a:prstGeom prst="rect">
                <a:avLst/>
              </a:prstGeom>
              <a:blipFill>
                <a:blip r:embed="rId13"/>
                <a:stretch>
                  <a:fillRect l="-187" b="-28125"/>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3001688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wipe(left)">
                                      <p:cBhvr>
                                        <p:cTn id="68" dur="500"/>
                                        <p:tgtEl>
                                          <p:spTgt spid="11"/>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wipe(left)">
                                      <p:cBhvr>
                                        <p:cTn id="73" dur="500"/>
                                        <p:tgtEl>
                                          <p:spTgt spid="1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wipe(left)">
                                      <p:cBhvr>
                                        <p:cTn id="78" dur="500"/>
                                        <p:tgtEl>
                                          <p:spTgt spid="1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wipe(left)">
                                      <p:cBhvr>
                                        <p:cTn id="8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a:extLst>
              <a:ext uri="{FF2B5EF4-FFF2-40B4-BE49-F238E27FC236}">
                <a16:creationId xmlns:a16="http://schemas.microsoft.com/office/drawing/2014/main" id="{8DF2C194-EC22-4CCA-845B-F8D0A1D472DA}"/>
              </a:ext>
            </a:extLst>
          </p:cNvPr>
          <p:cNvGrpSpPr/>
          <p:nvPr/>
        </p:nvGrpSpPr>
        <p:grpSpPr>
          <a:xfrm>
            <a:off x="1111250" y="670560"/>
            <a:ext cx="9970770" cy="5509895"/>
            <a:chOff x="1649" y="2344"/>
            <a:chExt cx="16057" cy="7346"/>
          </a:xfrm>
        </p:grpSpPr>
        <p:sp>
          <p:nvSpPr>
            <p:cNvPr id="29" name="矩形 28">
              <a:extLst>
                <a:ext uri="{FF2B5EF4-FFF2-40B4-BE49-F238E27FC236}">
                  <a16:creationId xmlns:a16="http://schemas.microsoft.com/office/drawing/2014/main" id="{8963BF75-47B9-7488-1808-46E5C7678A6D}"/>
                </a:ext>
              </a:extLst>
            </p:cNvPr>
            <p:cNvSpPr/>
            <p:nvPr/>
          </p:nvSpPr>
          <p:spPr>
            <a:xfrm>
              <a:off x="1821" y="2483"/>
              <a:ext cx="15885" cy="720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15F91E6B-4DD1-7868-1D9F-25DB2858EA06}"/>
                </a:ext>
              </a:extLst>
            </p:cNvPr>
            <p:cNvSpPr/>
            <p:nvPr/>
          </p:nvSpPr>
          <p:spPr>
            <a:xfrm>
              <a:off x="1649" y="2344"/>
              <a:ext cx="15885" cy="7207"/>
            </a:xfrm>
            <a:prstGeom prst="rect">
              <a:avLst/>
            </a:prstGeom>
            <a:solidFill>
              <a:schemeClr val="bg1"/>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ct val="50000"/>
                </a:spcBef>
              </a:pPr>
              <a:endParaRPr lang="zh-CN" altLang="en-US" sz="2800" dirty="0">
                <a:solidFill>
                  <a:srgbClr val="04926A"/>
                </a:solidFill>
                <a:latin typeface="黑体" panose="02010609060101010101" pitchFamily="49" charset="-122"/>
                <a:ea typeface="黑体" panose="02010609060101010101" pitchFamily="49" charset="-122"/>
                <a:sym typeface="+mn-ea"/>
              </a:endParaRPr>
            </a:p>
          </p:txBody>
        </p:sp>
      </p:grpSp>
      <mc:AlternateContent xmlns:mc="http://schemas.openxmlformats.org/markup-compatibility/2006" xmlns:a14="http://schemas.microsoft.com/office/drawing/2010/main">
        <mc:Choice Requires="a14">
          <p:sp>
            <p:nvSpPr>
              <p:cNvPr id="2" name="Text Box 20">
                <a:extLst>
                  <a:ext uri="{FF2B5EF4-FFF2-40B4-BE49-F238E27FC236}">
                    <a16:creationId xmlns:a16="http://schemas.microsoft.com/office/drawing/2014/main" id="{CE51DA1E-927D-E9C3-E23C-863A41F911CD}"/>
                  </a:ext>
                </a:extLst>
              </p:cNvPr>
              <p:cNvSpPr txBox="1">
                <a:spLocks noChangeArrowheads="1"/>
              </p:cNvSpPr>
              <p:nvPr/>
            </p:nvSpPr>
            <p:spPr bwMode="auto">
              <a:xfrm>
                <a:off x="4437464" y="2237186"/>
                <a:ext cx="4890868" cy="519113"/>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lvl="0" fontAlgn="base">
                  <a:spcBef>
                    <a:spcPct val="50000"/>
                  </a:spcBef>
                  <a:spcAft>
                    <a:spcPct val="0"/>
                  </a:spcAft>
                  <a:defRPr/>
                </a:pPr>
                <a:r>
                  <a:rPr kumimoji="1" lang="zh-CN" altLang="en-US" sz="2800" dirty="0">
                    <a:solidFill>
                      <a:prstClr val="black"/>
                    </a:solidFill>
                    <a:latin typeface="Times New Roman" panose="020F0502020204030204"/>
                    <a:ea typeface="黑体"/>
                    <a:cs typeface="+mn-ea"/>
                    <a:sym typeface="+mn-lt"/>
                  </a:rPr>
                  <a:t>分别表示 </a:t>
                </a:r>
                <a14:m>
                  <m:oMath xmlns:m="http://schemas.openxmlformats.org/officeDocument/2006/math">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𝑧</m:t>
                    </m:r>
                  </m:oMath>
                </a14:m>
                <a:r>
                  <a:rPr kumimoji="1" lang="zh-CN" altLang="en-US" sz="2800" dirty="0">
                    <a:solidFill>
                      <a:prstClr val="black"/>
                    </a:solidFill>
                    <a:latin typeface="Times New Roman" panose="020F0502020204030204"/>
                    <a:ea typeface="黑体"/>
                    <a:cs typeface="+mn-ea"/>
                    <a:sym typeface="+mn-lt"/>
                  </a:rPr>
                  <a:t> 的绝对误差</a:t>
                </a:r>
                <a14:m>
                  <m:oMath xmlns:m="http://schemas.openxmlformats.org/officeDocument/2006/math">
                    <m:r>
                      <a:rPr kumimoji="1" lang="zh-CN" altLang="en-US" sz="2800">
                        <a:solidFill>
                          <a:prstClr val="black"/>
                        </a:solidFill>
                        <a:latin typeface="Cambria Math" panose="02040503050406030204" pitchFamily="18" charset="0"/>
                        <a:ea typeface="黑体"/>
                        <a:cs typeface="+mn-ea"/>
                      </a:rPr>
                      <m:t>,</m:t>
                    </m:r>
                  </m:oMath>
                </a14:m>
                <a:endParaRPr kumimoji="1" lang="en-US" altLang="zh-CN" sz="2800" dirty="0">
                  <a:solidFill>
                    <a:prstClr val="black"/>
                  </a:solidFill>
                  <a:latin typeface="Times New Roman" panose="020F0502020204030204"/>
                  <a:ea typeface="黑体"/>
                  <a:cs typeface="+mn-ea"/>
                  <a:sym typeface="+mn-lt"/>
                </a:endParaRPr>
              </a:p>
            </p:txBody>
          </p:sp>
        </mc:Choice>
        <mc:Fallback xmlns="">
          <p:sp>
            <p:nvSpPr>
              <p:cNvPr id="2" name="Text Box 20">
                <a:extLst>
                  <a:ext uri="{FF2B5EF4-FFF2-40B4-BE49-F238E27FC236}">
                    <a16:creationId xmlns:a16="http://schemas.microsoft.com/office/drawing/2014/main" id="{CE51DA1E-927D-E9C3-E23C-863A41F911CD}"/>
                  </a:ext>
                </a:extLst>
              </p:cNvPr>
              <p:cNvSpPr txBox="1">
                <a:spLocks noRot="1" noChangeAspect="1" noMove="1" noResize="1" noEditPoints="1" noAdjustHandles="1" noChangeArrowheads="1" noChangeShapeType="1" noTextEdit="1"/>
              </p:cNvSpPr>
              <p:nvPr/>
            </p:nvSpPr>
            <p:spPr bwMode="auto">
              <a:xfrm>
                <a:off x="4437464" y="2237186"/>
                <a:ext cx="4890868" cy="519113"/>
              </a:xfrm>
              <a:prstGeom prst="rect">
                <a:avLst/>
              </a:prstGeom>
              <a:blipFill>
                <a:blip r:embed="rId2"/>
                <a:stretch>
                  <a:fillRect l="-2618" t="-16471" b="-2941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3" name="Text Box 3">
            <a:extLst>
              <a:ext uri="{FF2B5EF4-FFF2-40B4-BE49-F238E27FC236}">
                <a16:creationId xmlns:a16="http://schemas.microsoft.com/office/drawing/2014/main" id="{F834580E-C9D5-0E92-97F2-4C7A3A1F0923}"/>
              </a:ext>
            </a:extLst>
          </p:cNvPr>
          <p:cNvSpPr txBox="1">
            <a:spLocks noChangeArrowheads="1"/>
          </p:cNvSpPr>
          <p:nvPr/>
        </p:nvSpPr>
        <p:spPr bwMode="auto">
          <a:xfrm>
            <a:off x="2409372" y="1630940"/>
            <a:ext cx="1447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prstClr val="black"/>
                </a:solidFill>
                <a:latin typeface="Times New Roman" panose="020F0502020204030204"/>
                <a:ea typeface="黑体"/>
                <a:cs typeface="+mn-ea"/>
                <a:sym typeface="+mn-lt"/>
              </a:rPr>
              <a:t>利用</a:t>
            </a:r>
          </a:p>
        </p:txBody>
      </p:sp>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2ECFC67A-0555-D557-B179-4F88E5E24705}"/>
                  </a:ext>
                </a:extLst>
              </p:cNvPr>
              <p:cNvSpPr txBox="1"/>
              <p:nvPr/>
            </p:nvSpPr>
            <p:spPr bwMode="auto">
              <a:xfrm>
                <a:off x="3190422" y="1631568"/>
                <a:ext cx="4818872" cy="4826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𝑧</m:t>
                      </m:r>
                      <m:r>
                        <a:rPr kumimoji="1" lang="zh-CN" altLang="en-US" sz="2800">
                          <a:solidFill>
                            <a:prstClr val="black"/>
                          </a:solidFill>
                          <a:latin typeface="Cambria Math" panose="02040503050406030204" pitchFamily="18" charset="0"/>
                          <a:ea typeface="黑体"/>
                          <a:cs typeface="+mn-ea"/>
                        </a:rPr>
                        <m:t>≈</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𝑥</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𝑦</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r>
                        <m:rPr>
                          <m:sty m:val="p"/>
                        </m:rPr>
                        <a:rPr kumimoji="1" lang="zh-CN" altLang="en-US" sz="2800">
                          <a:solidFill>
                            <a:prstClr val="black"/>
                          </a:solidFill>
                          <a:latin typeface="Cambria Math" panose="02040503050406030204" pitchFamily="18" charset="0"/>
                          <a:ea typeface="黑体"/>
                          <a:cs typeface="+mn-ea"/>
                        </a:rPr>
                        <m:t>Δ</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4" name="Object 4">
                <a:extLst>
                  <a:ext uri="{FF2B5EF4-FFF2-40B4-BE49-F238E27FC236}">
                    <a16:creationId xmlns:a16="http://schemas.microsoft.com/office/drawing/2014/main" id="{2ECFC67A-0555-D557-B179-4F88E5E24705}"/>
                  </a:ext>
                </a:extLst>
              </p:cNvPr>
              <p:cNvSpPr txBox="1">
                <a:spLocks noRot="1" noChangeAspect="1" noMove="1" noResize="1" noEditPoints="1" noAdjustHandles="1" noChangeArrowheads="1" noChangeShapeType="1" noTextEdit="1"/>
              </p:cNvSpPr>
              <p:nvPr/>
            </p:nvSpPr>
            <p:spPr bwMode="auto">
              <a:xfrm>
                <a:off x="3190422" y="1631568"/>
                <a:ext cx="4818872" cy="482600"/>
              </a:xfrm>
              <a:prstGeom prst="rect">
                <a:avLst/>
              </a:prstGeom>
              <a:blipFill>
                <a:blip r:embed="rId3"/>
                <a:stretch>
                  <a:fillRect b="-632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5">
                <a:extLst>
                  <a:ext uri="{FF2B5EF4-FFF2-40B4-BE49-F238E27FC236}">
                    <a16:creationId xmlns:a16="http://schemas.microsoft.com/office/drawing/2014/main" id="{3C28C380-DFE1-BC12-8D08-E483DA7D4CAE}"/>
                  </a:ext>
                </a:extLst>
              </p:cNvPr>
              <p:cNvSpPr txBox="1"/>
              <p:nvPr/>
            </p:nvSpPr>
            <p:spPr bwMode="auto">
              <a:xfrm>
                <a:off x="2837360" y="2218948"/>
                <a:ext cx="1612900" cy="508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𝑥</m:t>
                          </m:r>
                        </m:sub>
                      </m:sSub>
                      <m:r>
                        <a:rPr kumimoji="1" lang="zh-CN" altLang="en-US" sz="2800">
                          <a:solidFill>
                            <a:prstClr val="black"/>
                          </a:solidFill>
                          <a:latin typeface="Cambria Math" panose="02040503050406030204" pitchFamily="18" charset="0"/>
                          <a:ea typeface="黑体"/>
                          <a:cs typeface="+mn-ea"/>
                        </a:rPr>
                        <m:t>, </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𝑦</m:t>
                          </m:r>
                        </m:sub>
                      </m:sSub>
                      <m:r>
                        <a:rPr kumimoji="1" lang="zh-CN" altLang="en-US" sz="2800">
                          <a:solidFill>
                            <a:prstClr val="black"/>
                          </a:solidFill>
                          <a:latin typeface="Cambria Math" panose="02040503050406030204" pitchFamily="18" charset="0"/>
                          <a:ea typeface="黑体"/>
                          <a:cs typeface="+mn-ea"/>
                        </a:rPr>
                        <m:t>, </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𝑧</m:t>
                          </m:r>
                        </m:sub>
                      </m:sSub>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5" name="Object 5">
                <a:extLst>
                  <a:ext uri="{FF2B5EF4-FFF2-40B4-BE49-F238E27FC236}">
                    <a16:creationId xmlns:a16="http://schemas.microsoft.com/office/drawing/2014/main" id="{3C28C380-DFE1-BC12-8D08-E483DA7D4CAE}"/>
                  </a:ext>
                </a:extLst>
              </p:cNvPr>
              <p:cNvSpPr txBox="1">
                <a:spLocks noRot="1" noChangeAspect="1" noMove="1" noResize="1" noEditPoints="1" noAdjustHandles="1" noChangeArrowheads="1" noChangeShapeType="1" noTextEdit="1"/>
              </p:cNvSpPr>
              <p:nvPr/>
            </p:nvSpPr>
            <p:spPr bwMode="auto">
              <a:xfrm>
                <a:off x="2837360" y="2218948"/>
                <a:ext cx="1612900" cy="508000"/>
              </a:xfrm>
              <a:prstGeom prst="rect">
                <a:avLst/>
              </a:prstGeom>
              <a:blipFill>
                <a:blip r:embed="rId4"/>
                <a:stretch>
                  <a:fillRect r="-1132" b="-1205"/>
                </a:stretch>
              </a:blipFill>
              <a:ln>
                <a:noFill/>
              </a:ln>
              <a:effectLst/>
            </p:spPr>
            <p:txBody>
              <a:bodyPr/>
              <a:lstStyle/>
              <a:p>
                <a:r>
                  <a:rPr lang="zh-CN" altLang="en-US">
                    <a:noFill/>
                  </a:rPr>
                  <a:t> </a:t>
                </a:r>
              </a:p>
            </p:txBody>
          </p:sp>
        </mc:Fallback>
      </mc:AlternateContent>
      <p:sp>
        <p:nvSpPr>
          <p:cNvPr id="6" name="Text Box 6">
            <a:extLst>
              <a:ext uri="{FF2B5EF4-FFF2-40B4-BE49-F238E27FC236}">
                <a16:creationId xmlns:a16="http://schemas.microsoft.com/office/drawing/2014/main" id="{D9D1AE44-7238-D97B-66A7-8334575C3A7C}"/>
              </a:ext>
            </a:extLst>
          </p:cNvPr>
          <p:cNvSpPr txBox="1">
            <a:spLocks noChangeArrowheads="1"/>
          </p:cNvSpPr>
          <p:nvPr/>
        </p:nvSpPr>
        <p:spPr bwMode="auto">
          <a:xfrm>
            <a:off x="2409372" y="2231648"/>
            <a:ext cx="5048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prstClr val="black"/>
                </a:solidFill>
                <a:latin typeface="Times New Roman" panose="020F0502020204030204"/>
                <a:ea typeface="黑体"/>
                <a:cs typeface="+mn-ea"/>
                <a:sym typeface="+mn-lt"/>
              </a:rPr>
              <a:t>令</a:t>
            </a:r>
          </a:p>
        </p:txBody>
      </p:sp>
      <mc:AlternateContent xmlns:mc="http://schemas.openxmlformats.org/markup-compatibility/2006" xmlns:a14="http://schemas.microsoft.com/office/drawing/2010/main">
        <mc:Choice Requires="a14">
          <p:sp>
            <p:nvSpPr>
              <p:cNvPr id="7" name="Text Box 9">
                <a:extLst>
                  <a:ext uri="{FF2B5EF4-FFF2-40B4-BE49-F238E27FC236}">
                    <a16:creationId xmlns:a16="http://schemas.microsoft.com/office/drawing/2014/main" id="{90ED9067-CE4B-FE0A-0736-CB175B0B4277}"/>
                  </a:ext>
                </a:extLst>
              </p:cNvPr>
              <p:cNvSpPr txBox="1">
                <a:spLocks noChangeArrowheads="1"/>
              </p:cNvSpPr>
              <p:nvPr/>
            </p:nvSpPr>
            <p:spPr bwMode="auto">
              <a:xfrm>
                <a:off x="2409372" y="2860481"/>
                <a:ext cx="3505200" cy="519113"/>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a:spAutoFit/>
              </a:bodyPr>
              <a:lstStyle/>
              <a:p>
                <a:pPr lvl="0" fontAlgn="base">
                  <a:spcBef>
                    <a:spcPct val="50000"/>
                  </a:spcBef>
                  <a:spcAft>
                    <a:spcPct val="0"/>
                  </a:spcAft>
                  <a:defRPr/>
                </a:pPr>
                <a14:m>
                  <m:oMath xmlns:m="http://schemas.openxmlformats.org/officeDocument/2006/math">
                    <m:r>
                      <a:rPr kumimoji="1" lang="zh-CN" altLang="en-US" sz="2800">
                        <a:solidFill>
                          <a:prstClr val="black"/>
                        </a:solidFill>
                        <a:latin typeface="Cambria Math" panose="02040503050406030204" pitchFamily="18" charset="0"/>
                        <a:ea typeface="黑体"/>
                        <a:cs typeface="+mn-ea"/>
                      </a:rPr>
                      <m:t>𝑧</m:t>
                    </m:r>
                  </m:oMath>
                </a14:m>
                <a:r>
                  <a:rPr kumimoji="1" lang="zh-CN" altLang="en-US" sz="2800" dirty="0">
                    <a:solidFill>
                      <a:prstClr val="black"/>
                    </a:solidFill>
                    <a:latin typeface="Times New Roman" panose="020F0502020204030204"/>
                    <a:ea typeface="黑体"/>
                    <a:cs typeface="+mn-ea"/>
                    <a:sym typeface="+mn-lt"/>
                  </a:rPr>
                  <a:t> 的绝对误差约为</a:t>
                </a:r>
              </a:p>
            </p:txBody>
          </p:sp>
        </mc:Choice>
        <mc:Fallback xmlns="">
          <p:sp>
            <p:nvSpPr>
              <p:cNvPr id="7" name="Text Box 9">
                <a:extLst>
                  <a:ext uri="{FF2B5EF4-FFF2-40B4-BE49-F238E27FC236}">
                    <a16:creationId xmlns:a16="http://schemas.microsoft.com/office/drawing/2014/main" id="{90ED9067-CE4B-FE0A-0736-CB175B0B4277}"/>
                  </a:ext>
                </a:extLst>
              </p:cNvPr>
              <p:cNvSpPr txBox="1">
                <a:spLocks noRot="1" noChangeAspect="1" noMove="1" noResize="1" noEditPoints="1" noAdjustHandles="1" noChangeArrowheads="1" noChangeShapeType="1" noTextEdit="1"/>
              </p:cNvSpPr>
              <p:nvPr/>
            </p:nvSpPr>
            <p:spPr bwMode="auto">
              <a:xfrm>
                <a:off x="2409372" y="2860481"/>
                <a:ext cx="3505200" cy="519113"/>
              </a:xfrm>
              <a:prstGeom prst="rect">
                <a:avLst/>
              </a:prstGeom>
              <a:blipFill>
                <a:blip r:embed="rId5"/>
                <a:stretch>
                  <a:fillRect t="-15294" b="-2941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10">
                <a:extLst>
                  <a:ext uri="{FF2B5EF4-FFF2-40B4-BE49-F238E27FC236}">
                    <a16:creationId xmlns:a16="http://schemas.microsoft.com/office/drawing/2014/main" id="{48A33F84-6416-0602-E561-39DD2BE5782F}"/>
                  </a:ext>
                </a:extLst>
              </p:cNvPr>
              <p:cNvSpPr txBox="1"/>
              <p:nvPr/>
            </p:nvSpPr>
            <p:spPr bwMode="auto">
              <a:xfrm>
                <a:off x="3787320" y="3445676"/>
                <a:ext cx="5541012" cy="520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kumimoji="1" lang="zh-CN" altLang="en-US" sz="2800" i="1" smtClean="0">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𝑧</m:t>
                          </m:r>
                        </m:sub>
                      </m:sSub>
                      <m:r>
                        <a:rPr kumimoji="1" lang="zh-CN" altLang="en-US" sz="2800">
                          <a:solidFill>
                            <a:prstClr val="black"/>
                          </a:solidFill>
                          <a:latin typeface="Cambria Math" panose="02040503050406030204" pitchFamily="18" charset="0"/>
                          <a:ea typeface="黑体"/>
                          <a:cs typeface="+mn-ea"/>
                        </a:rPr>
                        <m:t>=</m:t>
                      </m:r>
                      <m:d>
                        <m:dPr>
                          <m:begChr m:val="|"/>
                          <m:endChr m:val=""/>
                          <m:ctrlPr>
                            <a:rPr kumimoji="1" lang="zh-CN" altLang="en-US" sz="2800" i="1">
                              <a:solidFill>
                                <a:prstClr val="black"/>
                              </a:solidFill>
                              <a:latin typeface="Cambria Math" panose="02040503050406030204" pitchFamily="18" charset="0"/>
                              <a:ea typeface="黑体"/>
                              <a:cs typeface="+mn-ea"/>
                            </a:rPr>
                          </m:ctrlPr>
                        </m:dPr>
                        <m:e>
                          <m:sSub>
                            <m:sSubPr>
                              <m:ctrlPr>
                                <a:rPr kumimoji="1" lang="zh-CN" altLang="en-US" sz="2800" i="1">
                                  <a:solidFill>
                                    <a:prstClr val="black"/>
                                  </a:solidFill>
                                  <a:latin typeface="Cambria Math" panose="02040503050406030204" pitchFamily="18" charset="0"/>
                                  <a:ea typeface="黑体"/>
                                  <a:cs typeface="+mn-ea"/>
                                </a:rPr>
                              </m:ctrlPr>
                            </m:sSubPr>
                            <m:e>
                              <m:r>
                                <a:rPr kumimoji="1" lang="en-US" altLang="zh-CN" sz="2800" b="0" i="0" smtClean="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𝑥</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e>
                      </m:d>
                      <m:d>
                        <m:dPr>
                          <m:begChr m:val=""/>
                          <m:endChr m:val="|"/>
                          <m:ctrlPr>
                            <a:rPr kumimoji="1" lang="zh-CN" altLang="en-US" sz="2800" i="1">
                              <a:solidFill>
                                <a:prstClr val="black"/>
                              </a:solidFill>
                              <a:latin typeface="Cambria Math" panose="02040503050406030204" pitchFamily="18" charset="0"/>
                              <a:ea typeface="黑体"/>
                              <a:cs typeface="+mn-ea"/>
                            </a:rPr>
                          </m:ctrlPr>
                        </m:dPr>
                        <m:e>
                          <m:r>
                            <a:rPr kumimoji="1" lang="en-US" altLang="zh-CN" sz="2800" b="0" i="0" smtClean="0">
                              <a:solidFill>
                                <a:prstClr val="black"/>
                              </a:solidFill>
                              <a:latin typeface="Cambria Math" panose="02040503050406030204" pitchFamily="18" charset="0"/>
                              <a:ea typeface="黑体"/>
                              <a:cs typeface="+mn-ea"/>
                            </a:rPr>
                            <m:t> </m:t>
                          </m:r>
                        </m:e>
                      </m:d>
                      <m:r>
                        <a:rPr kumimoji="1" lang="zh-CN" altLang="en-US" sz="2800">
                          <a:solidFill>
                            <a:prstClr val="black"/>
                          </a:solidFill>
                          <a:latin typeface="Cambria Math" panose="02040503050406030204" pitchFamily="18" charset="0"/>
                          <a:ea typeface="黑体"/>
                          <a:cs typeface="+mn-ea"/>
                        </a:rPr>
                        <m:t>​</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𝑥</m:t>
                          </m:r>
                        </m:sub>
                      </m:sSub>
                      <m:r>
                        <a:rPr kumimoji="1" lang="zh-CN" altLang="en-US" sz="2800">
                          <a:solidFill>
                            <a:prstClr val="black"/>
                          </a:solidFill>
                          <a:latin typeface="Cambria Math" panose="02040503050406030204" pitchFamily="18" charset="0"/>
                          <a:ea typeface="黑体"/>
                          <a:cs typeface="+mn-ea"/>
                        </a:rPr>
                        <m:t>+</m:t>
                      </m:r>
                      <m:d>
                        <m:dPr>
                          <m:begChr m:val="|"/>
                          <m:endChr m:val=""/>
                          <m:ctrlPr>
                            <a:rPr kumimoji="1" lang="zh-CN" altLang="en-US" sz="2800" i="1">
                              <a:solidFill>
                                <a:prstClr val="black"/>
                              </a:solidFill>
                              <a:latin typeface="Cambria Math" panose="02040503050406030204" pitchFamily="18" charset="0"/>
                              <a:ea typeface="黑体"/>
                              <a:cs typeface="+mn-ea"/>
                            </a:rPr>
                          </m:ctrlPr>
                        </m:dPr>
                        <m:e>
                          <m:r>
                            <a:rPr kumimoji="1" lang="en-US" altLang="zh-CN" sz="2800" b="0" i="0" smtClean="0">
                              <a:solidFill>
                                <a:prstClr val="black"/>
                              </a:solidFill>
                              <a:latin typeface="Cambria Math" panose="02040503050406030204" pitchFamily="18" charset="0"/>
                              <a:ea typeface="黑体"/>
                              <a:cs typeface="+mn-ea"/>
                            </a:rPr>
                            <m:t> </m:t>
                          </m:r>
                        </m:e>
                      </m:d>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𝑦</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d>
                        <m:dPr>
                          <m:begChr m:val=""/>
                          <m:endChr m:val="|"/>
                          <m:ctrlPr>
                            <a:rPr kumimoji="1" lang="zh-CN" altLang="en-US" sz="2800" i="1">
                              <a:solidFill>
                                <a:prstClr val="black"/>
                              </a:solidFill>
                              <a:latin typeface="Cambria Math" panose="02040503050406030204" pitchFamily="18" charset="0"/>
                              <a:ea typeface="黑体"/>
                              <a:cs typeface="+mn-ea"/>
                            </a:rPr>
                          </m:ctrlPr>
                        </m:dPr>
                        <m:e>
                          <m:r>
                            <a:rPr kumimoji="1" lang="en-US" altLang="zh-CN" sz="2800" b="0" i="0" smtClean="0">
                              <a:solidFill>
                                <a:prstClr val="black"/>
                              </a:solidFill>
                              <a:latin typeface="Cambria Math" panose="02040503050406030204" pitchFamily="18" charset="0"/>
                              <a:ea typeface="黑体"/>
                              <a:cs typeface="+mn-ea"/>
                            </a:rPr>
                            <m:t> </m:t>
                          </m:r>
                        </m:e>
                      </m:d>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𝑦</m:t>
                          </m:r>
                        </m:sub>
                      </m:sSub>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8" name="Object 10">
                <a:extLst>
                  <a:ext uri="{FF2B5EF4-FFF2-40B4-BE49-F238E27FC236}">
                    <a16:creationId xmlns:a16="http://schemas.microsoft.com/office/drawing/2014/main" id="{48A33F84-6416-0602-E561-39DD2BE5782F}"/>
                  </a:ext>
                </a:extLst>
              </p:cNvPr>
              <p:cNvSpPr txBox="1">
                <a:spLocks noRot="1" noChangeAspect="1" noMove="1" noResize="1" noEditPoints="1" noAdjustHandles="1" noChangeArrowheads="1" noChangeShapeType="1" noTextEdit="1"/>
              </p:cNvSpPr>
              <p:nvPr/>
            </p:nvSpPr>
            <p:spPr bwMode="auto">
              <a:xfrm>
                <a:off x="3787320" y="3445676"/>
                <a:ext cx="5541012" cy="520700"/>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 Box 11">
                <a:extLst>
                  <a:ext uri="{FF2B5EF4-FFF2-40B4-BE49-F238E27FC236}">
                    <a16:creationId xmlns:a16="http://schemas.microsoft.com/office/drawing/2014/main" id="{FC43F584-3164-BD2B-D2E1-5D6D69B89083}"/>
                  </a:ext>
                </a:extLst>
              </p:cNvPr>
              <p:cNvSpPr txBox="1">
                <a:spLocks noChangeArrowheads="1"/>
              </p:cNvSpPr>
              <p:nvPr/>
            </p:nvSpPr>
            <p:spPr bwMode="auto">
              <a:xfrm>
                <a:off x="2409372" y="4114533"/>
                <a:ext cx="3886200" cy="519113"/>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a:spAutoFit/>
              </a:bodyPr>
              <a:lstStyle/>
              <a:p>
                <a:pPr lvl="0" fontAlgn="base">
                  <a:spcBef>
                    <a:spcPct val="50000"/>
                  </a:spcBef>
                  <a:spcAft>
                    <a:spcPct val="0"/>
                  </a:spcAft>
                  <a:defRPr/>
                </a:pPr>
                <a14:m>
                  <m:oMath xmlns:m="http://schemas.openxmlformats.org/officeDocument/2006/math">
                    <m:r>
                      <a:rPr kumimoji="1" lang="zh-CN" altLang="en-US" sz="2800">
                        <a:solidFill>
                          <a:prstClr val="black"/>
                        </a:solidFill>
                        <a:latin typeface="Cambria Math" panose="02040503050406030204" pitchFamily="18" charset="0"/>
                        <a:ea typeface="黑体"/>
                        <a:cs typeface="+mn-ea"/>
                      </a:rPr>
                      <m:t>𝑧</m:t>
                    </m:r>
                  </m:oMath>
                </a14:m>
                <a:r>
                  <a:rPr kumimoji="1" lang="zh-CN" altLang="en-US" sz="2800" dirty="0">
                    <a:solidFill>
                      <a:prstClr val="black"/>
                    </a:solidFill>
                    <a:latin typeface="Times New Roman" panose="020F0502020204030204"/>
                    <a:ea typeface="黑体"/>
                    <a:cs typeface="+mn-ea"/>
                    <a:sym typeface="+mn-lt"/>
                  </a:rPr>
                  <a:t> 的相对误差约为</a:t>
                </a:r>
              </a:p>
            </p:txBody>
          </p:sp>
        </mc:Choice>
        <mc:Fallback xmlns="">
          <p:sp>
            <p:nvSpPr>
              <p:cNvPr id="9" name="Text Box 11">
                <a:extLst>
                  <a:ext uri="{FF2B5EF4-FFF2-40B4-BE49-F238E27FC236}">
                    <a16:creationId xmlns:a16="http://schemas.microsoft.com/office/drawing/2014/main" id="{FC43F584-3164-BD2B-D2E1-5D6D69B89083}"/>
                  </a:ext>
                </a:extLst>
              </p:cNvPr>
              <p:cNvSpPr txBox="1">
                <a:spLocks noRot="1" noChangeAspect="1" noMove="1" noResize="1" noEditPoints="1" noAdjustHandles="1" noChangeArrowheads="1" noChangeShapeType="1" noTextEdit="1"/>
              </p:cNvSpPr>
              <p:nvPr/>
            </p:nvSpPr>
            <p:spPr bwMode="auto">
              <a:xfrm>
                <a:off x="2409372" y="4114533"/>
                <a:ext cx="3886200" cy="519113"/>
              </a:xfrm>
              <a:prstGeom prst="rect">
                <a:avLst/>
              </a:prstGeom>
              <a:blipFill>
                <a:blip r:embed="rId7"/>
                <a:stretch>
                  <a:fillRect t="-16471" b="-2941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12">
                <a:extLst>
                  <a:ext uri="{FF2B5EF4-FFF2-40B4-BE49-F238E27FC236}">
                    <a16:creationId xmlns:a16="http://schemas.microsoft.com/office/drawing/2014/main" id="{ED3E71D8-7C9A-F7FE-B38E-996DA89E9651}"/>
                  </a:ext>
                </a:extLst>
              </p:cNvPr>
              <p:cNvSpPr txBox="1"/>
              <p:nvPr/>
            </p:nvSpPr>
            <p:spPr bwMode="auto">
              <a:xfrm>
                <a:off x="3810454" y="4723747"/>
                <a:ext cx="5391151" cy="1028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pitchFamily="18" charset="0"/>
                              <a:ea typeface="黑体"/>
                              <a:cs typeface="+mn-ea"/>
                            </a:rPr>
                          </m:ctrlPr>
                        </m:fPr>
                        <m:num>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𝑧</m:t>
                              </m:r>
                            </m:sub>
                          </m:sSub>
                        </m:num>
                        <m:den>
                          <m:d>
                            <m:dPr>
                              <m:begChr m:val="|"/>
                              <m:endChr m:val="|"/>
                              <m:ctrlPr>
                                <a:rPr kumimoji="1" lang="zh-CN" altLang="en-US" sz="2800" i="1">
                                  <a:solidFill>
                                    <a:prstClr val="black"/>
                                  </a:solidFill>
                                  <a:latin typeface="Cambria Math" panose="02040503050406030204" pitchFamily="18" charset="0"/>
                                  <a:ea typeface="黑体"/>
                                  <a:cs typeface="+mn-ea"/>
                                </a:rPr>
                              </m:ctrlPr>
                            </m:dPr>
                            <m:e>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𝑧</m:t>
                              </m:r>
                              <m:r>
                                <a:rPr kumimoji="1" lang="zh-CN" altLang="en-US" sz="2800">
                                  <a:solidFill>
                                    <a:prstClr val="black"/>
                                  </a:solidFill>
                                  <a:latin typeface="Cambria Math" panose="02040503050406030204" pitchFamily="18" charset="0"/>
                                  <a:ea typeface="黑体"/>
                                  <a:cs typeface="+mn-ea"/>
                                </a:rPr>
                                <m:t>​</m:t>
                              </m:r>
                            </m:e>
                          </m:d>
                        </m:den>
                      </m:f>
                      <m:r>
                        <a:rPr kumimoji="1" lang="zh-CN" altLang="en-US" sz="2800">
                          <a:solidFill>
                            <a:prstClr val="black"/>
                          </a:solidFill>
                          <a:latin typeface="Cambria Math" panose="02040503050406030204" pitchFamily="18" charset="0"/>
                          <a:ea typeface="黑体"/>
                          <a:cs typeface="+mn-ea"/>
                        </a:rPr>
                        <m:t>=</m:t>
                      </m:r>
                      <m:d>
                        <m:dPr>
                          <m:begChr m:val="|"/>
                          <m:endChr m:val="|"/>
                          <m:ctrlPr>
                            <a:rPr kumimoji="1" lang="zh-CN" altLang="en-US" sz="2800" i="1">
                              <a:solidFill>
                                <a:prstClr val="black"/>
                              </a:solidFill>
                              <a:latin typeface="Cambria Math" panose="02040503050406030204" pitchFamily="18" charset="0"/>
                              <a:ea typeface="黑体"/>
                              <a:cs typeface="+mn-ea"/>
                            </a:rPr>
                          </m:ctrlPr>
                        </m:dPr>
                        <m:e>
                          <m:f>
                            <m:fPr>
                              <m:ctrlPr>
                                <a:rPr kumimoji="1" lang="zh-CN" altLang="en-US" sz="2800" i="1">
                                  <a:solidFill>
                                    <a:prstClr val="black"/>
                                  </a:solidFill>
                                  <a:latin typeface="Cambria Math" panose="02040503050406030204" pitchFamily="18" charset="0"/>
                                  <a:ea typeface="黑体"/>
                                  <a:cs typeface="+mn-ea"/>
                                </a:rPr>
                              </m:ctrlPr>
                            </m:fPr>
                            <m:num>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𝑥</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num>
                            <m:den>
                              <m:r>
                                <a:rPr kumimoji="1" lang="zh-CN" altLang="en-US" sz="2800">
                                  <a:solidFill>
                                    <a:prstClr val="black"/>
                                  </a:solidFill>
                                  <a:latin typeface="Cambria Math" panose="02040503050406030204" pitchFamily="18" charset="0"/>
                                  <a:ea typeface="黑体"/>
                                  <a:cs typeface="+mn-ea"/>
                                </a:rPr>
                                <m:t>𝑓</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den>
                          </m:f>
                        </m:e>
                      </m:d>
                      <m:r>
                        <a:rPr kumimoji="1" lang="zh-CN" altLang="en-US" sz="2800">
                          <a:solidFill>
                            <a:prstClr val="black"/>
                          </a:solidFill>
                          <a:latin typeface="Cambria Math" panose="02040503050406030204" pitchFamily="18" charset="0"/>
                          <a:ea typeface="黑体"/>
                          <a:cs typeface="+mn-ea"/>
                        </a:rPr>
                        <m:t>​</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𝑥</m:t>
                          </m:r>
                        </m:sub>
                      </m:sSub>
                      <m:r>
                        <a:rPr kumimoji="1" lang="zh-CN" altLang="en-US" sz="2800">
                          <a:solidFill>
                            <a:prstClr val="black"/>
                          </a:solidFill>
                          <a:latin typeface="Cambria Math" panose="02040503050406030204" pitchFamily="18" charset="0"/>
                          <a:ea typeface="黑体"/>
                          <a:cs typeface="+mn-ea"/>
                        </a:rPr>
                        <m:t>+</m:t>
                      </m:r>
                      <m:d>
                        <m:dPr>
                          <m:begChr m:val="|"/>
                          <m:endChr m:val="|"/>
                          <m:ctrlPr>
                            <a:rPr kumimoji="1" lang="zh-CN" altLang="en-US" sz="2800" i="1">
                              <a:solidFill>
                                <a:prstClr val="black"/>
                              </a:solidFill>
                              <a:latin typeface="Cambria Math" panose="02040503050406030204" pitchFamily="18" charset="0"/>
                              <a:ea typeface="黑体"/>
                              <a:cs typeface="+mn-ea"/>
                            </a:rPr>
                          </m:ctrlPr>
                        </m:dPr>
                        <m:e>
                          <m:f>
                            <m:fPr>
                              <m:ctrlPr>
                                <a:rPr kumimoji="1" lang="zh-CN" altLang="en-US" sz="2800" i="1">
                                  <a:solidFill>
                                    <a:prstClr val="black"/>
                                  </a:solidFill>
                                  <a:latin typeface="Cambria Math" panose="02040503050406030204" pitchFamily="18" charset="0"/>
                                  <a:ea typeface="黑体"/>
                                  <a:cs typeface="+mn-ea"/>
                                </a:rPr>
                              </m:ctrlPr>
                            </m:fPr>
                            <m:num>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𝑓</m:t>
                                  </m:r>
                                </m:e>
                                <m:sub>
                                  <m:r>
                                    <a:rPr kumimoji="1" lang="zh-CN" altLang="en-US" sz="2800">
                                      <a:solidFill>
                                        <a:prstClr val="black"/>
                                      </a:solidFill>
                                      <a:latin typeface="Cambria Math" panose="02040503050406030204" pitchFamily="18" charset="0"/>
                                      <a:ea typeface="黑体"/>
                                      <a:cs typeface="+mn-ea"/>
                                    </a:rPr>
                                    <m:t>𝑦</m:t>
                                  </m:r>
                                </m:sub>
                              </m:s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num>
                            <m:den>
                              <m:r>
                                <a:rPr kumimoji="1" lang="zh-CN" altLang="en-US" sz="2800">
                                  <a:solidFill>
                                    <a:prstClr val="black"/>
                                  </a:solidFill>
                                  <a:latin typeface="Cambria Math" panose="02040503050406030204" pitchFamily="18" charset="0"/>
                                  <a:ea typeface="黑体"/>
                                  <a:cs typeface="+mn-ea"/>
                                </a:rPr>
                                <m:t>𝑓</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den>
                          </m:f>
                        </m:e>
                      </m:d>
                      <m:r>
                        <a:rPr kumimoji="1" lang="zh-CN" altLang="en-US" sz="2800" i="1">
                          <a:solidFill>
                            <a:prstClr val="black"/>
                          </a:solidFill>
                          <a:latin typeface="Cambria Math" panose="02040503050406030204" pitchFamily="18" charset="0"/>
                          <a:ea typeface="黑体"/>
                          <a:cs typeface="+mn-ea"/>
                        </a:rPr>
                        <m:t>𝛿</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m:t>
                          </m:r>
                        </m:e>
                        <m:sub>
                          <m:r>
                            <a:rPr kumimoji="1" lang="zh-CN" altLang="en-US" sz="2800">
                              <a:solidFill>
                                <a:prstClr val="black"/>
                              </a:solidFill>
                              <a:latin typeface="Cambria Math" panose="02040503050406030204" pitchFamily="18" charset="0"/>
                              <a:ea typeface="黑体"/>
                              <a:cs typeface="+mn-ea"/>
                            </a:rPr>
                            <m:t>𝑦</m:t>
                          </m:r>
                        </m:sub>
                      </m:sSub>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10" name="Object 12">
                <a:extLst>
                  <a:ext uri="{FF2B5EF4-FFF2-40B4-BE49-F238E27FC236}">
                    <a16:creationId xmlns:a16="http://schemas.microsoft.com/office/drawing/2014/main" id="{ED3E71D8-7C9A-F7FE-B38E-996DA89E9651}"/>
                  </a:ext>
                </a:extLst>
              </p:cNvPr>
              <p:cNvSpPr txBox="1">
                <a:spLocks noRot="1" noChangeAspect="1" noMove="1" noResize="1" noEditPoints="1" noAdjustHandles="1" noChangeArrowheads="1" noChangeShapeType="1" noTextEdit="1"/>
              </p:cNvSpPr>
              <p:nvPr/>
            </p:nvSpPr>
            <p:spPr bwMode="auto">
              <a:xfrm>
                <a:off x="3810454" y="4723747"/>
                <a:ext cx="5391151" cy="1028700"/>
              </a:xfrm>
              <a:prstGeom prst="rect">
                <a:avLst/>
              </a:prstGeom>
              <a:blipFill>
                <a:blip r:embed="rId8"/>
                <a:stretch>
                  <a:fillRect/>
                </a:stretch>
              </a:blipFill>
              <a:ln>
                <a:noFill/>
              </a:ln>
              <a:effectLst/>
            </p:spPr>
            <p:txBody>
              <a:bodyPr/>
              <a:lstStyle/>
              <a:p>
                <a:r>
                  <a:rPr lang="zh-CN" altLang="en-US">
                    <a:noFill/>
                  </a:rPr>
                  <a:t> </a:t>
                </a:r>
              </a:p>
            </p:txBody>
          </p:sp>
        </mc:Fallback>
      </mc:AlternateContent>
      <p:sp>
        <p:nvSpPr>
          <p:cNvPr id="11" name="Text Box 40">
            <a:extLst>
              <a:ext uri="{FF2B5EF4-FFF2-40B4-BE49-F238E27FC236}">
                <a16:creationId xmlns:a16="http://schemas.microsoft.com/office/drawing/2014/main" id="{8F5D5F08-DC4E-AC1E-2718-AD8DDA887E78}"/>
              </a:ext>
            </a:extLst>
          </p:cNvPr>
          <p:cNvSpPr txBox="1">
            <a:spLocks noChangeArrowheads="1"/>
          </p:cNvSpPr>
          <p:nvPr/>
        </p:nvSpPr>
        <p:spPr bwMode="auto">
          <a:xfrm>
            <a:off x="8820605" y="2239411"/>
            <a:ext cx="762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dirty="0">
                <a:solidFill>
                  <a:prstClr val="black"/>
                </a:solidFill>
                <a:latin typeface="Times New Roman" panose="020F0502020204030204"/>
                <a:ea typeface="黑体"/>
                <a:cs typeface="+mn-ea"/>
                <a:sym typeface="+mn-lt"/>
              </a:rPr>
              <a:t>则</a:t>
            </a:r>
          </a:p>
        </p:txBody>
      </p:sp>
      <p:sp>
        <p:nvSpPr>
          <p:cNvPr id="21" name="Rectangle 2">
            <a:extLst>
              <a:ext uri="{FF2B5EF4-FFF2-40B4-BE49-F238E27FC236}">
                <a16:creationId xmlns:a16="http://schemas.microsoft.com/office/drawing/2014/main" id="{4E7185CB-86D9-7C85-DE72-921B3721973C}"/>
              </a:ext>
            </a:extLst>
          </p:cNvPr>
          <p:cNvSpPr txBox="1">
            <a:spLocks noChangeArrowheads="1"/>
          </p:cNvSpPr>
          <p:nvPr/>
        </p:nvSpPr>
        <p:spPr>
          <a:xfrm>
            <a:off x="2409372" y="989441"/>
            <a:ext cx="2070524"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2. </a:t>
            </a:r>
            <a:r>
              <a:rPr kumimoji="1" lang="zh-CN" altLang="en-US" dirty="0">
                <a:solidFill>
                  <a:srgbClr val="04926A"/>
                </a:solidFill>
                <a:latin typeface="微软雅黑" panose="020B0503020204020204" pitchFamily="34" charset="-122"/>
                <a:ea typeface="微软雅黑" panose="020B0503020204020204" pitchFamily="34" charset="-122"/>
                <a:cs typeface="+mn-cs"/>
              </a:rPr>
              <a:t>误差估计</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1512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par>
                                <p:cTn id="8" presetID="22" presetClass="entr" presetSubtype="8"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left)">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left)">
                                      <p:cBhvr>
                                        <p:cTn id="34" dur="500"/>
                                        <p:tgtEl>
                                          <p:spTgt spid="2"/>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a:extLst>
              <a:ext uri="{FF2B5EF4-FFF2-40B4-BE49-F238E27FC236}">
                <a16:creationId xmlns:a16="http://schemas.microsoft.com/office/drawing/2014/main" id="{65FAA541-6B5B-5AE5-9843-33AE72F3B467}"/>
              </a:ext>
            </a:extLst>
          </p:cNvPr>
          <p:cNvGrpSpPr/>
          <p:nvPr/>
        </p:nvGrpSpPr>
        <p:grpSpPr>
          <a:xfrm>
            <a:off x="1111250" y="670560"/>
            <a:ext cx="9970770" cy="5509895"/>
            <a:chOff x="1649" y="2344"/>
            <a:chExt cx="16057" cy="7346"/>
          </a:xfrm>
        </p:grpSpPr>
        <p:sp>
          <p:nvSpPr>
            <p:cNvPr id="38" name="矩形 37">
              <a:extLst>
                <a:ext uri="{FF2B5EF4-FFF2-40B4-BE49-F238E27FC236}">
                  <a16:creationId xmlns:a16="http://schemas.microsoft.com/office/drawing/2014/main" id="{978DBD40-4CC2-64CF-E74F-583541C036AC}"/>
                </a:ext>
              </a:extLst>
            </p:cNvPr>
            <p:cNvSpPr/>
            <p:nvPr/>
          </p:nvSpPr>
          <p:spPr>
            <a:xfrm>
              <a:off x="1821" y="2483"/>
              <a:ext cx="15885" cy="720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1EC756B8-9EF0-57D3-933A-414389F5E3D9}"/>
                </a:ext>
              </a:extLst>
            </p:cNvPr>
            <p:cNvSpPr/>
            <p:nvPr/>
          </p:nvSpPr>
          <p:spPr>
            <a:xfrm>
              <a:off x="1649" y="2344"/>
              <a:ext cx="15885" cy="7207"/>
            </a:xfrm>
            <a:prstGeom prst="rect">
              <a:avLst/>
            </a:prstGeom>
            <a:solidFill>
              <a:schemeClr val="bg1"/>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ct val="50000"/>
                </a:spcBef>
              </a:pPr>
              <a:endParaRPr lang="zh-CN" altLang="en-US" sz="2800" dirty="0">
                <a:solidFill>
                  <a:srgbClr val="04926A"/>
                </a:solidFill>
                <a:latin typeface="黑体" panose="02010609060101010101" pitchFamily="49" charset="-122"/>
                <a:ea typeface="黑体" panose="02010609060101010101" pitchFamily="49" charset="-122"/>
                <a:sym typeface="+mn-ea"/>
              </a:endParaRPr>
            </a:p>
          </p:txBody>
        </p:sp>
      </p:grpSp>
      <p:sp>
        <p:nvSpPr>
          <p:cNvPr id="2" name="Rectangle 2">
            <a:extLst>
              <a:ext uri="{FF2B5EF4-FFF2-40B4-BE49-F238E27FC236}">
                <a16:creationId xmlns:a16="http://schemas.microsoft.com/office/drawing/2014/main" id="{33ABB737-ED63-893F-F700-6D1FCE133AF2}"/>
              </a:ext>
            </a:extLst>
          </p:cNvPr>
          <p:cNvSpPr txBox="1">
            <a:spLocks noChangeArrowheads="1"/>
          </p:cNvSpPr>
          <p:nvPr/>
        </p:nvSpPr>
        <p:spPr>
          <a:xfrm>
            <a:off x="2260741" y="687614"/>
            <a:ext cx="1828800" cy="6858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800" b="1" dirty="0">
                <a:solidFill>
                  <a:srgbClr val="04926A"/>
                </a:solidFill>
                <a:latin typeface="Times New Roman" panose="020F0502020204030204"/>
                <a:ea typeface="黑体"/>
                <a:cs typeface="+mn-ea"/>
                <a:sym typeface="+mn-lt"/>
              </a:rPr>
              <a:t>特别注意</a:t>
            </a:r>
          </a:p>
        </p:txBody>
      </p:sp>
      <mc:AlternateContent xmlns:mc="http://schemas.openxmlformats.org/markup-compatibility/2006" xmlns:a14="http://schemas.microsoft.com/office/drawing/2010/main">
        <mc:Choice Requires="a14">
          <p:sp>
            <p:nvSpPr>
              <p:cNvPr id="3" name="Object 14">
                <a:extLst>
                  <a:ext uri="{FF2B5EF4-FFF2-40B4-BE49-F238E27FC236}">
                    <a16:creationId xmlns:a16="http://schemas.microsoft.com/office/drawing/2014/main" id="{42D2A3B5-5AF3-5A64-7A7D-CF8992943CBC}"/>
                  </a:ext>
                </a:extLst>
              </p:cNvPr>
              <p:cNvSpPr txBox="1"/>
              <p:nvPr/>
            </p:nvSpPr>
            <p:spPr bwMode="auto">
              <a:xfrm>
                <a:off x="2260741" y="1373414"/>
                <a:ext cx="2638975" cy="4445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a:cs typeface="+mn-ea"/>
                        </a:rPr>
                        <m:t>(1)  </m:t>
                      </m:r>
                      <m:r>
                        <a:rPr kumimoji="1" lang="zh-CN" altLang="en-US" sz="2800">
                          <a:solidFill>
                            <a:prstClr val="black"/>
                          </a:solidFill>
                          <a:latin typeface="Cambria Math" panose="02040503050406030204" pitchFamily="18" charset="0"/>
                          <a:ea typeface="黑体"/>
                          <a:cs typeface="+mn-ea"/>
                        </a:rPr>
                        <m:t>𝑧</m:t>
                      </m:r>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𝑥𝑦</m:t>
                      </m:r>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时</m:t>
                      </m:r>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3" name="Object 14">
                <a:extLst>
                  <a:ext uri="{FF2B5EF4-FFF2-40B4-BE49-F238E27FC236}">
                    <a16:creationId xmlns:a16="http://schemas.microsoft.com/office/drawing/2014/main" id="{42D2A3B5-5AF3-5A64-7A7D-CF8992943CBC}"/>
                  </a:ext>
                </a:extLst>
              </p:cNvPr>
              <p:cNvSpPr txBox="1">
                <a:spLocks noRot="1" noChangeAspect="1" noMove="1" noResize="1" noEditPoints="1" noAdjustHandles="1" noChangeArrowheads="1" noChangeShapeType="1" noTextEdit="1"/>
              </p:cNvSpPr>
              <p:nvPr/>
            </p:nvSpPr>
            <p:spPr bwMode="auto">
              <a:xfrm>
                <a:off x="2260741" y="1373414"/>
                <a:ext cx="2638975" cy="444500"/>
              </a:xfrm>
              <a:prstGeom prst="rect">
                <a:avLst/>
              </a:prstGeom>
              <a:blipFill>
                <a:blip r:embed="rId3"/>
                <a:stretch>
                  <a:fillRect b="-547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15">
                <a:extLst>
                  <a:ext uri="{FF2B5EF4-FFF2-40B4-BE49-F238E27FC236}">
                    <a16:creationId xmlns:a16="http://schemas.microsoft.com/office/drawing/2014/main" id="{DC55320D-EB87-5311-48D6-A9E143875775}"/>
                  </a:ext>
                </a:extLst>
              </p:cNvPr>
              <p:cNvSpPr txBox="1"/>
              <p:nvPr/>
            </p:nvSpPr>
            <p:spPr bwMode="auto">
              <a:xfrm>
                <a:off x="4684803" y="1131796"/>
                <a:ext cx="2688514" cy="10033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pitchFamily="18" charset="0"/>
                              <a:ea typeface="黑体"/>
                              <a:cs typeface="+mn-ea"/>
                            </a:rPr>
                          </m:ctrlPr>
                        </m:fPr>
                        <m:num>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𝑧</m:t>
                              </m:r>
                            </m:sub>
                          </m:sSub>
                        </m:num>
                        <m:den>
                          <m:d>
                            <m:dPr>
                              <m:begChr m:val="|"/>
                              <m:endChr m:val="|"/>
                              <m:ctrlPr>
                                <a:rPr kumimoji="1" lang="zh-CN" altLang="en-US" sz="2800" i="1">
                                  <a:solidFill>
                                    <a:prstClr val="black"/>
                                  </a:solidFill>
                                  <a:latin typeface="Cambria Math" panose="02040503050406030204" pitchFamily="18" charset="0"/>
                                  <a:ea typeface="黑体"/>
                                  <a:cs typeface="+mn-ea"/>
                                </a:rPr>
                              </m:ctrlPr>
                            </m:dPr>
                            <m:e>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𝑧</m:t>
                              </m:r>
                              <m:r>
                                <a:rPr kumimoji="1" lang="zh-CN" altLang="en-US" sz="2800">
                                  <a:solidFill>
                                    <a:prstClr val="black"/>
                                  </a:solidFill>
                                  <a:latin typeface="Cambria Math" panose="02040503050406030204" pitchFamily="18" charset="0"/>
                                  <a:ea typeface="黑体"/>
                                  <a:cs typeface="+mn-ea"/>
                                </a:rPr>
                                <m:t>​</m:t>
                              </m:r>
                            </m:e>
                          </m:d>
                        </m:den>
                      </m:f>
                      <m:r>
                        <a:rPr kumimoji="1" lang="zh-CN" altLang="en-US" sz="2800">
                          <a:solidFill>
                            <a:prstClr val="black"/>
                          </a:solidFill>
                          <a:latin typeface="Cambria Math" panose="02040503050406030204" pitchFamily="18" charset="0"/>
                          <a:ea typeface="黑体"/>
                          <a:cs typeface="+mn-ea"/>
                        </a:rPr>
                        <m:t>=</m:t>
                      </m:r>
                      <m:f>
                        <m:fPr>
                          <m:ctrlPr>
                            <a:rPr kumimoji="1" lang="zh-CN" altLang="en-US" sz="2800" i="1">
                              <a:solidFill>
                                <a:prstClr val="black"/>
                              </a:solidFill>
                              <a:latin typeface="Cambria Math" panose="02040503050406030204" pitchFamily="18" charset="0"/>
                              <a:ea typeface="黑体"/>
                              <a:cs typeface="+mn-ea"/>
                            </a:rPr>
                          </m:ctrlPr>
                        </m:fPr>
                        <m:num>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sub>
                          </m:sSub>
                        </m:num>
                        <m:den>
                          <m:d>
                            <m:dPr>
                              <m:begChr m:val="|"/>
                              <m:endChr m:val="|"/>
                              <m:ctrlPr>
                                <a:rPr kumimoji="1" lang="zh-CN" altLang="en-US" sz="2800" i="1">
                                  <a:solidFill>
                                    <a:prstClr val="black"/>
                                  </a:solidFill>
                                  <a:latin typeface="Cambria Math" panose="02040503050406030204" pitchFamily="18" charset="0"/>
                                  <a:ea typeface="黑体"/>
                                  <a:cs typeface="+mn-ea"/>
                                </a:rPr>
                              </m:ctrlPr>
                            </m:dPr>
                            <m:e>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e>
                          </m:d>
                        </m:den>
                      </m:f>
                      <m:r>
                        <a:rPr kumimoji="1" lang="zh-CN" altLang="en-US" sz="2800">
                          <a:solidFill>
                            <a:prstClr val="black"/>
                          </a:solidFill>
                          <a:latin typeface="Cambria Math" panose="02040503050406030204" pitchFamily="18" charset="0"/>
                          <a:ea typeface="黑体"/>
                          <a:cs typeface="+mn-ea"/>
                        </a:rPr>
                        <m:t>+</m:t>
                      </m:r>
                      <m:f>
                        <m:fPr>
                          <m:ctrlPr>
                            <a:rPr kumimoji="1" lang="zh-CN" altLang="en-US" sz="2800" i="1">
                              <a:solidFill>
                                <a:prstClr val="black"/>
                              </a:solidFill>
                              <a:latin typeface="Cambria Math" panose="02040503050406030204" pitchFamily="18" charset="0"/>
                              <a:ea typeface="黑体"/>
                              <a:cs typeface="+mn-ea"/>
                            </a:rPr>
                          </m:ctrlPr>
                        </m:fPr>
                        <m:num>
                          <m:r>
                            <a:rPr kumimoji="1" lang="zh-CN" altLang="en-US" sz="2800" i="1">
                              <a:solidFill>
                                <a:prstClr val="black"/>
                              </a:solidFill>
                              <a:latin typeface="Cambria Math" panose="02040503050406030204" pitchFamily="18" charset="0"/>
                              <a:ea typeface="黑体"/>
                              <a:cs typeface="+mn-ea"/>
                            </a:rPr>
                            <m:t>𝛿</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m:t>
                              </m:r>
                            </m:e>
                            <m:sub>
                              <m:r>
                                <a:rPr kumimoji="1" lang="zh-CN" altLang="en-US" sz="2800">
                                  <a:solidFill>
                                    <a:prstClr val="black"/>
                                  </a:solidFill>
                                  <a:latin typeface="Cambria Math" panose="02040503050406030204" pitchFamily="18" charset="0"/>
                                  <a:ea typeface="黑体"/>
                                  <a:cs typeface="+mn-ea"/>
                                </a:rPr>
                                <m:t>𝑦</m:t>
                              </m:r>
                            </m:sub>
                          </m:sSub>
                        </m:num>
                        <m:den>
                          <m:d>
                            <m:dPr>
                              <m:begChr m:val="|"/>
                              <m:endChr m:val="|"/>
                              <m:ctrlPr>
                                <a:rPr kumimoji="1" lang="zh-CN" altLang="en-US" sz="2800" i="1">
                                  <a:solidFill>
                                    <a:prstClr val="black"/>
                                  </a:solidFill>
                                  <a:latin typeface="Cambria Math" panose="02040503050406030204" pitchFamily="18" charset="0"/>
                                  <a:ea typeface="黑体"/>
                                  <a:cs typeface="+mn-ea"/>
                                </a:rPr>
                              </m:ctrlPr>
                            </m:dPr>
                            <m:e>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e>
                          </m:d>
                        </m:den>
                      </m:f>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4" name="Object 15">
                <a:extLst>
                  <a:ext uri="{FF2B5EF4-FFF2-40B4-BE49-F238E27FC236}">
                    <a16:creationId xmlns:a16="http://schemas.microsoft.com/office/drawing/2014/main" id="{DC55320D-EB87-5311-48D6-A9E143875775}"/>
                  </a:ext>
                </a:extLst>
              </p:cNvPr>
              <p:cNvSpPr txBox="1">
                <a:spLocks noRot="1" noChangeAspect="1" noMove="1" noResize="1" noEditPoints="1" noAdjustHandles="1" noChangeArrowheads="1" noChangeShapeType="1" noTextEdit="1"/>
              </p:cNvSpPr>
              <p:nvPr/>
            </p:nvSpPr>
            <p:spPr bwMode="auto">
              <a:xfrm>
                <a:off x="4684803" y="1131796"/>
                <a:ext cx="2688514" cy="1003300"/>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17">
                <a:extLst>
                  <a:ext uri="{FF2B5EF4-FFF2-40B4-BE49-F238E27FC236}">
                    <a16:creationId xmlns:a16="http://schemas.microsoft.com/office/drawing/2014/main" id="{3DC6B040-DF5B-06C8-C25E-6A2C46D71774}"/>
                  </a:ext>
                </a:extLst>
              </p:cNvPr>
              <p:cNvSpPr txBox="1"/>
              <p:nvPr/>
            </p:nvSpPr>
            <p:spPr bwMode="auto">
              <a:xfrm>
                <a:off x="2258735" y="2095092"/>
                <a:ext cx="2444750" cy="8509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a:cs typeface="+mn-ea"/>
                        </a:rPr>
                        <m:t>(2)  </m:t>
                      </m:r>
                      <m:r>
                        <a:rPr kumimoji="1" lang="zh-CN" altLang="en-US" sz="2800">
                          <a:solidFill>
                            <a:prstClr val="black"/>
                          </a:solidFill>
                          <a:latin typeface="Cambria Math" panose="02040503050406030204" pitchFamily="18" charset="0"/>
                          <a:ea typeface="黑体"/>
                          <a:cs typeface="+mn-ea"/>
                        </a:rPr>
                        <m:t>𝑧</m:t>
                      </m:r>
                      <m:r>
                        <a:rPr kumimoji="1" lang="zh-CN" altLang="en-US" sz="2800">
                          <a:solidFill>
                            <a:prstClr val="black"/>
                          </a:solidFill>
                          <a:latin typeface="Cambria Math" panose="02040503050406030204" pitchFamily="18" charset="0"/>
                          <a:ea typeface="黑体"/>
                          <a:cs typeface="+mn-ea"/>
                        </a:rPr>
                        <m:t>=</m:t>
                      </m:r>
                      <m:f>
                        <m:fPr>
                          <m:ctrlPr>
                            <a:rPr kumimoji="1" lang="zh-CN" altLang="en-US" sz="2800" i="1">
                              <a:solidFill>
                                <a:prstClr val="black"/>
                              </a:solidFill>
                              <a:latin typeface="Cambria Math" panose="02040503050406030204" pitchFamily="18" charset="0"/>
                              <a:ea typeface="黑体"/>
                              <a:cs typeface="+mn-ea"/>
                            </a:rPr>
                          </m:ctrlPr>
                        </m:fPr>
                        <m:num>
                          <m:r>
                            <a:rPr kumimoji="1" lang="zh-CN" altLang="en-US" sz="2800">
                              <a:solidFill>
                                <a:prstClr val="black"/>
                              </a:solidFill>
                              <a:latin typeface="Cambria Math" panose="02040503050406030204" pitchFamily="18" charset="0"/>
                              <a:ea typeface="黑体"/>
                              <a:cs typeface="+mn-ea"/>
                            </a:rPr>
                            <m:t>𝑦</m:t>
                          </m:r>
                        </m:num>
                        <m:den>
                          <m:r>
                            <a:rPr kumimoji="1" lang="zh-CN" altLang="en-US" sz="2800">
                              <a:solidFill>
                                <a:prstClr val="black"/>
                              </a:solidFill>
                              <a:latin typeface="Cambria Math" panose="02040503050406030204" pitchFamily="18" charset="0"/>
                              <a:ea typeface="黑体"/>
                              <a:cs typeface="+mn-ea"/>
                            </a:rPr>
                            <m:t>𝑥</m:t>
                          </m:r>
                        </m:den>
                      </m:f>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时</m:t>
                      </m:r>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5" name="Object 17">
                <a:extLst>
                  <a:ext uri="{FF2B5EF4-FFF2-40B4-BE49-F238E27FC236}">
                    <a16:creationId xmlns:a16="http://schemas.microsoft.com/office/drawing/2014/main" id="{3DC6B040-DF5B-06C8-C25E-6A2C46D71774}"/>
                  </a:ext>
                </a:extLst>
              </p:cNvPr>
              <p:cNvSpPr txBox="1">
                <a:spLocks noRot="1" noChangeAspect="1" noMove="1" noResize="1" noEditPoints="1" noAdjustHandles="1" noChangeArrowheads="1" noChangeShapeType="1" noTextEdit="1"/>
              </p:cNvSpPr>
              <p:nvPr/>
            </p:nvSpPr>
            <p:spPr bwMode="auto">
              <a:xfrm>
                <a:off x="2258735" y="2095092"/>
                <a:ext cx="2444750" cy="850900"/>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7" name="Text Box 23">
            <a:extLst>
              <a:ext uri="{FF2B5EF4-FFF2-40B4-BE49-F238E27FC236}">
                <a16:creationId xmlns:a16="http://schemas.microsoft.com/office/drawing/2014/main" id="{D353A699-5596-BB03-1EDE-D9E6A1C3B411}"/>
              </a:ext>
            </a:extLst>
          </p:cNvPr>
          <p:cNvSpPr txBox="1">
            <a:spLocks noChangeArrowheads="1"/>
          </p:cNvSpPr>
          <p:nvPr/>
        </p:nvSpPr>
        <p:spPr bwMode="auto">
          <a:xfrm>
            <a:off x="2258735" y="5418158"/>
            <a:ext cx="6553200" cy="51911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accent2"/>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Times New Roman" panose="020F0502020204030204"/>
                <a:ea typeface="黑体"/>
                <a:cs typeface="+mn-ea"/>
                <a:sym typeface="+mn-lt"/>
              </a:rPr>
              <a:t>类似可以推广到三元及三元以上的情形</a:t>
            </a:r>
            <a:r>
              <a:rPr kumimoji="1" lang="en-US" altLang="zh-CN" sz="2800" b="0" i="0" u="none" strike="noStrike" kern="1200" cap="none" spc="0" normalizeH="0" baseline="0" noProof="0" dirty="0">
                <a:ln>
                  <a:noFill/>
                </a:ln>
                <a:solidFill>
                  <a:prstClr val="black"/>
                </a:solidFill>
                <a:effectLst/>
                <a:uLnTx/>
                <a:uFillTx/>
                <a:latin typeface="Times New Roman" panose="020F0502020204030204"/>
                <a:ea typeface="黑体"/>
                <a:cs typeface="+mn-ea"/>
                <a:sym typeface="+mn-lt"/>
              </a:rPr>
              <a:t>.</a:t>
            </a:r>
          </a:p>
        </p:txBody>
      </p:sp>
      <p:grpSp>
        <p:nvGrpSpPr>
          <p:cNvPr id="11" name="组合 10">
            <a:extLst>
              <a:ext uri="{FF2B5EF4-FFF2-40B4-BE49-F238E27FC236}">
                <a16:creationId xmlns:a16="http://schemas.microsoft.com/office/drawing/2014/main" id="{0BF8E131-2554-4EBF-BB04-E86937624AED}"/>
              </a:ext>
            </a:extLst>
          </p:cNvPr>
          <p:cNvGrpSpPr/>
          <p:nvPr/>
        </p:nvGrpSpPr>
        <p:grpSpPr>
          <a:xfrm>
            <a:off x="2987194" y="2929731"/>
            <a:ext cx="7115579" cy="1078615"/>
            <a:chOff x="2987194" y="2929731"/>
            <a:chExt cx="7115579" cy="1078615"/>
          </a:xfrm>
        </p:grpSpPr>
        <mc:AlternateContent xmlns:mc="http://schemas.openxmlformats.org/markup-compatibility/2006" xmlns:a14="http://schemas.microsoft.com/office/drawing/2010/main">
          <mc:Choice Requires="a14">
            <p:sp>
              <p:nvSpPr>
                <p:cNvPr id="36" name="Object 24">
                  <a:extLst>
                    <a:ext uri="{FF2B5EF4-FFF2-40B4-BE49-F238E27FC236}">
                      <a16:creationId xmlns:a16="http://schemas.microsoft.com/office/drawing/2014/main" id="{C4F8C52F-4462-8BC4-61EB-ED513CBDCDC8}"/>
                    </a:ext>
                  </a:extLst>
                </p:cNvPr>
                <p:cNvSpPr txBox="1"/>
                <p:nvPr/>
              </p:nvSpPr>
              <p:spPr bwMode="auto">
                <a:xfrm>
                  <a:off x="6146693" y="2929731"/>
                  <a:ext cx="2051582" cy="9652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en-US" altLang="zh-CN" sz="2800" b="0" i="0" smtClean="0">
                            <a:solidFill>
                              <a:prstClr val="black"/>
                            </a:solidFill>
                            <a:latin typeface="Cambria Math" panose="02040503050406030204" pitchFamily="18" charset="0"/>
                            <a:ea typeface="黑体"/>
                            <a:cs typeface="+mn-ea"/>
                          </a:rPr>
                          <m:t>+</m:t>
                        </m:r>
                        <m:d>
                          <m:dPr>
                            <m:begChr m:val="|"/>
                            <m:endChr m:val="|"/>
                            <m:ctrlPr>
                              <a:rPr kumimoji="1" lang="zh-CN" altLang="en-US" sz="2800" i="1">
                                <a:solidFill>
                                  <a:prstClr val="black"/>
                                </a:solidFill>
                                <a:latin typeface="Cambria Math" panose="02040503050406030204" pitchFamily="18" charset="0"/>
                                <a:ea typeface="黑体"/>
                                <a:cs typeface="+mn-ea"/>
                              </a:rPr>
                            </m:ctrlPr>
                          </m:dPr>
                          <m:e>
                            <m:f>
                              <m:fPr>
                                <m:ctrlPr>
                                  <a:rPr kumimoji="1" lang="zh-CN" altLang="en-US" sz="2800" i="1" smtClean="0">
                                    <a:solidFill>
                                      <a:schemeClr val="bg1"/>
                                    </a:solidFill>
                                    <a:latin typeface="Cambria Math" panose="02040503050406030204" pitchFamily="18" charset="0"/>
                                    <a:ea typeface="黑体"/>
                                    <a:cs typeface="+mn-ea"/>
                                  </a:rPr>
                                </m:ctrlPr>
                              </m:fPr>
                              <m:num>
                                <m:r>
                                  <a:rPr kumimoji="1" lang="zh-CN" altLang="en-US" sz="2800">
                                    <a:solidFill>
                                      <a:schemeClr val="bg1"/>
                                    </a:solidFill>
                                    <a:latin typeface="Cambria Math" panose="02040503050406030204" pitchFamily="18" charset="0"/>
                                    <a:ea typeface="黑体"/>
                                    <a:cs typeface="+mn-ea"/>
                                  </a:rPr>
                                  <m:t>𝑥</m:t>
                                </m:r>
                              </m:num>
                              <m:den>
                                <m:r>
                                  <a:rPr kumimoji="1" lang="zh-CN" altLang="en-US" sz="2800">
                                    <a:solidFill>
                                      <a:schemeClr val="bg1"/>
                                    </a:solidFill>
                                    <a:latin typeface="Cambria Math" panose="02040503050406030204" pitchFamily="18" charset="0"/>
                                    <a:ea typeface="黑体"/>
                                    <a:cs typeface="+mn-ea"/>
                                  </a:rPr>
                                  <m:t>𝑦</m:t>
                                </m:r>
                              </m:den>
                            </m:f>
                            <m:r>
                              <a:rPr kumimoji="1" lang="en-US" altLang="zh-CN" sz="2800" b="0" i="0" smtClean="0">
                                <a:solidFill>
                                  <a:schemeClr val="bg1"/>
                                </a:solidFill>
                                <a:latin typeface="Cambria Math" panose="02040503050406030204" pitchFamily="18" charset="0"/>
                                <a:ea typeface="黑体"/>
                                <a:cs typeface="+mn-ea"/>
                              </a:rPr>
                              <m:t>       </m:t>
                            </m:r>
                            <m:r>
                              <a:rPr kumimoji="1" lang="en-US" altLang="zh-CN" sz="2800" b="1" i="0" smtClean="0">
                                <a:solidFill>
                                  <a:schemeClr val="bg1"/>
                                </a:solidFill>
                                <a:latin typeface="Cambria Math" panose="02040503050406030204" pitchFamily="18" charset="0"/>
                                <a:ea typeface="黑体"/>
                                <a:cs typeface="+mn-ea"/>
                              </a:rPr>
                              <m:t> </m:t>
                            </m:r>
                            <m:r>
                              <a:rPr kumimoji="1" lang="en-US" altLang="zh-CN" sz="2800" b="0" i="0" smtClean="0">
                                <a:solidFill>
                                  <a:schemeClr val="bg1"/>
                                </a:solidFill>
                                <a:latin typeface="Cambria Math" panose="02040503050406030204" pitchFamily="18" charset="0"/>
                                <a:ea typeface="黑体"/>
                                <a:cs typeface="+mn-ea"/>
                              </a:rPr>
                              <m:t> </m:t>
                            </m:r>
                          </m:e>
                        </m:d>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𝑦</m:t>
                            </m:r>
                          </m:sub>
                        </m:sSub>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36" name="Object 24">
                  <a:extLst>
                    <a:ext uri="{FF2B5EF4-FFF2-40B4-BE49-F238E27FC236}">
                      <a16:creationId xmlns:a16="http://schemas.microsoft.com/office/drawing/2014/main" id="{C4F8C52F-4462-8BC4-61EB-ED513CBDCDC8}"/>
                    </a:ext>
                  </a:extLst>
                </p:cNvPr>
                <p:cNvSpPr txBox="1">
                  <a:spLocks noRot="1" noChangeAspect="1" noMove="1" noResize="1" noEditPoints="1" noAdjustHandles="1" noChangeArrowheads="1" noChangeShapeType="1" noTextEdit="1"/>
                </p:cNvSpPr>
                <p:nvPr/>
              </p:nvSpPr>
              <p:spPr bwMode="auto">
                <a:xfrm>
                  <a:off x="6146693" y="2929731"/>
                  <a:ext cx="2051582" cy="965200"/>
                </a:xfrm>
                <a:prstGeom prst="rect">
                  <a:avLst/>
                </a:prstGeom>
                <a:blipFill>
                  <a:blip r:embed="rId6"/>
                  <a:stretch>
                    <a:fillRect b="-316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18">
                  <a:extLst>
                    <a:ext uri="{FF2B5EF4-FFF2-40B4-BE49-F238E27FC236}">
                      <a16:creationId xmlns:a16="http://schemas.microsoft.com/office/drawing/2014/main" id="{DE70B968-5441-BA0C-AC26-AC5FDBC7273F}"/>
                    </a:ext>
                  </a:extLst>
                </p:cNvPr>
                <p:cNvSpPr txBox="1"/>
                <p:nvPr/>
              </p:nvSpPr>
              <p:spPr bwMode="auto">
                <a:xfrm>
                  <a:off x="8051191" y="2949802"/>
                  <a:ext cx="2051582" cy="10033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a:cs typeface="+mn-ea"/>
                          </a:rPr>
                          <m:t>=</m:t>
                        </m:r>
                        <m:f>
                          <m:fPr>
                            <m:ctrlPr>
                              <a:rPr kumimoji="1" lang="zh-CN" altLang="en-US" sz="2800" i="1">
                                <a:solidFill>
                                  <a:prstClr val="black"/>
                                </a:solidFill>
                                <a:latin typeface="Cambria Math" panose="02040503050406030204" pitchFamily="18" charset="0"/>
                                <a:ea typeface="黑体"/>
                                <a:cs typeface="+mn-ea"/>
                              </a:rPr>
                            </m:ctrlPr>
                          </m:fPr>
                          <m:num>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sub>
                            </m:sSub>
                          </m:num>
                          <m:den>
                            <m:d>
                              <m:dPr>
                                <m:begChr m:val="|"/>
                                <m:endChr m:val="|"/>
                                <m:ctrlPr>
                                  <a:rPr kumimoji="1" lang="zh-CN" altLang="en-US" sz="2800" i="1">
                                    <a:solidFill>
                                      <a:prstClr val="black"/>
                                    </a:solidFill>
                                    <a:latin typeface="Cambria Math" panose="02040503050406030204" pitchFamily="18" charset="0"/>
                                    <a:ea typeface="黑体"/>
                                    <a:cs typeface="+mn-ea"/>
                                  </a:rPr>
                                </m:ctrlPr>
                              </m:dPr>
                              <m:e>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𝑥</m:t>
                                </m:r>
                                <m:r>
                                  <a:rPr kumimoji="1" lang="zh-CN" altLang="en-US" sz="2800">
                                    <a:solidFill>
                                      <a:prstClr val="black"/>
                                    </a:solidFill>
                                    <a:latin typeface="Cambria Math" panose="02040503050406030204" pitchFamily="18" charset="0"/>
                                    <a:ea typeface="黑体"/>
                                    <a:cs typeface="+mn-ea"/>
                                  </a:rPr>
                                  <m:t>​</m:t>
                                </m:r>
                              </m:e>
                            </m:d>
                          </m:den>
                        </m:f>
                        <m:r>
                          <a:rPr kumimoji="1" lang="zh-CN" altLang="en-US" sz="2800">
                            <a:solidFill>
                              <a:prstClr val="black"/>
                            </a:solidFill>
                            <a:latin typeface="Cambria Math" panose="02040503050406030204" pitchFamily="18" charset="0"/>
                            <a:ea typeface="黑体"/>
                            <a:cs typeface="+mn-ea"/>
                          </a:rPr>
                          <m:t>+</m:t>
                        </m:r>
                        <m:f>
                          <m:fPr>
                            <m:ctrlPr>
                              <a:rPr kumimoji="1" lang="zh-CN" altLang="en-US" sz="2800" i="1">
                                <a:solidFill>
                                  <a:prstClr val="black"/>
                                </a:solidFill>
                                <a:latin typeface="Cambria Math" panose="02040503050406030204" pitchFamily="18" charset="0"/>
                                <a:ea typeface="黑体"/>
                                <a:cs typeface="+mn-ea"/>
                              </a:rPr>
                            </m:ctrlPr>
                          </m:fPr>
                          <m:num>
                            <m:r>
                              <a:rPr kumimoji="1" lang="zh-CN" altLang="en-US" sz="2800" i="1">
                                <a:solidFill>
                                  <a:prstClr val="black"/>
                                </a:solidFill>
                                <a:latin typeface="Cambria Math" panose="02040503050406030204" pitchFamily="18" charset="0"/>
                                <a:ea typeface="黑体"/>
                                <a:cs typeface="+mn-ea"/>
                              </a:rPr>
                              <m:t>𝛿</m:t>
                            </m:r>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a:solidFill>
                                      <a:prstClr val="black"/>
                                    </a:solidFill>
                                    <a:latin typeface="Cambria Math" panose="02040503050406030204" pitchFamily="18" charset="0"/>
                                    <a:ea typeface="黑体"/>
                                    <a:cs typeface="+mn-ea"/>
                                  </a:rPr>
                                  <m:t>​</m:t>
                                </m:r>
                              </m:e>
                              <m:sub>
                                <m:r>
                                  <a:rPr kumimoji="1" lang="zh-CN" altLang="en-US" sz="2800">
                                    <a:solidFill>
                                      <a:prstClr val="black"/>
                                    </a:solidFill>
                                    <a:latin typeface="Cambria Math" panose="02040503050406030204" pitchFamily="18" charset="0"/>
                                    <a:ea typeface="黑体"/>
                                    <a:cs typeface="+mn-ea"/>
                                  </a:rPr>
                                  <m:t>𝑦</m:t>
                                </m:r>
                              </m:sub>
                            </m:sSub>
                          </m:num>
                          <m:den>
                            <m:d>
                              <m:dPr>
                                <m:begChr m:val="|"/>
                                <m:endChr m:val="|"/>
                                <m:ctrlPr>
                                  <a:rPr kumimoji="1" lang="zh-CN" altLang="en-US" sz="2800" i="1">
                                    <a:solidFill>
                                      <a:prstClr val="black"/>
                                    </a:solidFill>
                                    <a:latin typeface="Cambria Math" panose="02040503050406030204" pitchFamily="18" charset="0"/>
                                    <a:ea typeface="黑体"/>
                                    <a:cs typeface="+mn-ea"/>
                                  </a:rPr>
                                </m:ctrlPr>
                              </m:dPr>
                              <m:e>
                                <m:r>
                                  <a:rPr kumimoji="1" lang="zh-CN" altLang="en-US" sz="2800">
                                    <a:solidFill>
                                      <a:prstClr val="black"/>
                                    </a:solidFill>
                                    <a:latin typeface="Cambria Math" panose="02040503050406030204" pitchFamily="18" charset="0"/>
                                    <a:ea typeface="黑体"/>
                                    <a:cs typeface="+mn-ea"/>
                                  </a:rPr>
                                  <m:t>​</m:t>
                                </m:r>
                                <m:r>
                                  <a:rPr kumimoji="1" lang="zh-CN" altLang="en-US" sz="2800">
                                    <a:solidFill>
                                      <a:prstClr val="black"/>
                                    </a:solidFill>
                                    <a:latin typeface="Cambria Math" panose="02040503050406030204" pitchFamily="18" charset="0"/>
                                    <a:ea typeface="黑体"/>
                                    <a:cs typeface="+mn-ea"/>
                                  </a:rPr>
                                  <m:t>𝑦</m:t>
                                </m:r>
                                <m:r>
                                  <a:rPr kumimoji="1" lang="zh-CN" altLang="en-US" sz="2800">
                                    <a:solidFill>
                                      <a:prstClr val="black"/>
                                    </a:solidFill>
                                    <a:latin typeface="Cambria Math" panose="02040503050406030204" pitchFamily="18" charset="0"/>
                                    <a:ea typeface="黑体"/>
                                    <a:cs typeface="+mn-ea"/>
                                  </a:rPr>
                                  <m:t>​</m:t>
                                </m:r>
                              </m:e>
                            </m:d>
                          </m:den>
                        </m:f>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6" name="Object 18">
                  <a:extLst>
                    <a:ext uri="{FF2B5EF4-FFF2-40B4-BE49-F238E27FC236}">
                      <a16:creationId xmlns:a16="http://schemas.microsoft.com/office/drawing/2014/main" id="{DE70B968-5441-BA0C-AC26-AC5FDBC7273F}"/>
                    </a:ext>
                  </a:extLst>
                </p:cNvPr>
                <p:cNvSpPr txBox="1">
                  <a:spLocks noRot="1" noChangeAspect="1" noMove="1" noResize="1" noEditPoints="1" noAdjustHandles="1" noChangeArrowheads="1" noChangeShapeType="1" noTextEdit="1"/>
                </p:cNvSpPr>
                <p:nvPr/>
              </p:nvSpPr>
              <p:spPr bwMode="auto">
                <a:xfrm>
                  <a:off x="8051191" y="2949802"/>
                  <a:ext cx="2051582" cy="1003300"/>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24">
                  <a:extLst>
                    <a:ext uri="{FF2B5EF4-FFF2-40B4-BE49-F238E27FC236}">
                      <a16:creationId xmlns:a16="http://schemas.microsoft.com/office/drawing/2014/main" id="{6EF76F88-00A4-C677-8969-13DA93E381C9}"/>
                    </a:ext>
                  </a:extLst>
                </p:cNvPr>
                <p:cNvSpPr txBox="1"/>
                <p:nvPr/>
              </p:nvSpPr>
              <p:spPr bwMode="auto">
                <a:xfrm>
                  <a:off x="2987194" y="2929731"/>
                  <a:ext cx="3395217" cy="106916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800" i="1" smtClean="0">
                                <a:solidFill>
                                  <a:prstClr val="black"/>
                                </a:solidFill>
                                <a:latin typeface="Cambria Math" panose="02040503050406030204" pitchFamily="18" charset="0"/>
                                <a:ea typeface="黑体"/>
                                <a:cs typeface="+mn-ea"/>
                              </a:rPr>
                            </m:ctrlPr>
                          </m:fPr>
                          <m:num>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𝑧</m:t>
                                </m:r>
                              </m:sub>
                            </m:sSub>
                          </m:num>
                          <m:den>
                            <m:d>
                              <m:dPr>
                                <m:begChr m:val="|"/>
                                <m:endChr m:val="|"/>
                                <m:ctrlPr>
                                  <a:rPr kumimoji="1" lang="zh-CN" altLang="en-US" sz="2800" i="1">
                                    <a:solidFill>
                                      <a:prstClr val="black"/>
                                    </a:solidFill>
                                    <a:latin typeface="Cambria Math" panose="02040503050406030204" pitchFamily="18" charset="0"/>
                                    <a:ea typeface="黑体"/>
                                    <a:cs typeface="+mn-ea"/>
                                  </a:rPr>
                                </m:ctrlPr>
                              </m:dPr>
                              <m:e>
                                <m:r>
                                  <a:rPr kumimoji="1" lang="zh-CN" altLang="en-US" sz="2800">
                                    <a:solidFill>
                                      <a:prstClr val="black"/>
                                    </a:solidFill>
                                    <a:latin typeface="Cambria Math" panose="02040503050406030204" pitchFamily="18" charset="0"/>
                                    <a:ea typeface="黑体"/>
                                    <a:cs typeface="+mn-ea"/>
                                  </a:rPr>
                                  <m:t>𝑧</m:t>
                                </m:r>
                              </m:e>
                            </m:d>
                          </m:den>
                        </m:f>
                        <m:r>
                          <a:rPr kumimoji="1" lang="zh-CN" altLang="en-US" sz="2800">
                            <a:solidFill>
                              <a:prstClr val="black"/>
                            </a:solidFill>
                            <a:latin typeface="Cambria Math" panose="02040503050406030204" pitchFamily="18" charset="0"/>
                            <a:ea typeface="黑体"/>
                            <a:cs typeface="+mn-ea"/>
                          </a:rPr>
                          <m:t>=</m:t>
                        </m:r>
                        <m:d>
                          <m:dPr>
                            <m:begChr m:val="|"/>
                            <m:endChr m:val="|"/>
                            <m:ctrlPr>
                              <a:rPr kumimoji="1" lang="zh-CN" altLang="en-US" sz="2800" i="1">
                                <a:solidFill>
                                  <a:prstClr val="black"/>
                                </a:solidFill>
                                <a:latin typeface="Cambria Math" panose="02040503050406030204" pitchFamily="18" charset="0"/>
                                <a:ea typeface="黑体"/>
                                <a:cs typeface="+mn-ea"/>
                              </a:rPr>
                            </m:ctrlPr>
                          </m:dPr>
                          <m:e>
                            <m:f>
                              <m:fPr>
                                <m:ctrlPr>
                                  <a:rPr kumimoji="1" lang="zh-CN" altLang="en-US" sz="2800" i="1" smtClean="0">
                                    <a:solidFill>
                                      <a:schemeClr val="bg1"/>
                                    </a:solidFill>
                                    <a:latin typeface="Cambria Math" panose="02040503050406030204" pitchFamily="18" charset="0"/>
                                    <a:ea typeface="黑体"/>
                                    <a:cs typeface="+mn-ea"/>
                                  </a:rPr>
                                </m:ctrlPr>
                              </m:fPr>
                              <m:num>
                                <m:r>
                                  <a:rPr kumimoji="1" lang="zh-CN" altLang="en-US" sz="2800">
                                    <a:solidFill>
                                      <a:schemeClr val="bg1"/>
                                    </a:solidFill>
                                    <a:latin typeface="Cambria Math" panose="02040503050406030204" pitchFamily="18" charset="0"/>
                                    <a:ea typeface="黑体"/>
                                    <a:cs typeface="+mn-ea"/>
                                  </a:rPr>
                                  <m:t>𝑥</m:t>
                                </m:r>
                              </m:num>
                              <m:den>
                                <m:r>
                                  <a:rPr kumimoji="1" lang="zh-CN" altLang="en-US" sz="2800">
                                    <a:solidFill>
                                      <a:schemeClr val="bg1"/>
                                    </a:solidFill>
                                    <a:latin typeface="Cambria Math" panose="02040503050406030204" pitchFamily="18" charset="0"/>
                                    <a:ea typeface="黑体"/>
                                    <a:cs typeface="+mn-ea"/>
                                  </a:rPr>
                                  <m:t>𝑦</m:t>
                                </m:r>
                              </m:den>
                            </m:f>
                            <m:r>
                              <a:rPr kumimoji="1" lang="en-US" altLang="zh-CN" sz="2800" b="0" i="0" smtClean="0">
                                <a:solidFill>
                                  <a:schemeClr val="bg1"/>
                                </a:solidFill>
                                <a:latin typeface="Cambria Math" panose="02040503050406030204" pitchFamily="18" charset="0"/>
                                <a:ea typeface="黑体"/>
                                <a:cs typeface="+mn-ea"/>
                              </a:rPr>
                              <m:t>                  </m:t>
                            </m:r>
                          </m:e>
                        </m:d>
                        <m:sSub>
                          <m:sSubPr>
                            <m:ctrlPr>
                              <a:rPr kumimoji="1" lang="zh-CN" altLang="en-US" sz="2800" i="1">
                                <a:solidFill>
                                  <a:prstClr val="black"/>
                                </a:solidFill>
                                <a:latin typeface="Cambria Math" panose="02040503050406030204" pitchFamily="18" charset="0"/>
                                <a:ea typeface="黑体"/>
                                <a:cs typeface="+mn-ea"/>
                              </a:rPr>
                            </m:ctrlPr>
                          </m:sSubPr>
                          <m:e>
                            <m:r>
                              <a:rPr kumimoji="1" lang="zh-CN" altLang="en-US" sz="2800" i="1">
                                <a:solidFill>
                                  <a:prstClr val="black"/>
                                </a:solidFill>
                                <a:latin typeface="Cambria Math" panose="02040503050406030204" pitchFamily="18" charset="0"/>
                                <a:ea typeface="黑体"/>
                                <a:cs typeface="+mn-ea"/>
                              </a:rPr>
                              <m:t>𝛿</m:t>
                            </m:r>
                          </m:e>
                          <m:sub>
                            <m:r>
                              <a:rPr kumimoji="1" lang="zh-CN" altLang="en-US" sz="2800">
                                <a:solidFill>
                                  <a:prstClr val="black"/>
                                </a:solidFill>
                                <a:latin typeface="Cambria Math" panose="02040503050406030204" pitchFamily="18" charset="0"/>
                                <a:ea typeface="黑体"/>
                                <a:cs typeface="+mn-ea"/>
                              </a:rPr>
                              <m:t>𝑥</m:t>
                            </m:r>
                          </m:sub>
                        </m:sSub>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8" name="Object 24">
                  <a:extLst>
                    <a:ext uri="{FF2B5EF4-FFF2-40B4-BE49-F238E27FC236}">
                      <a16:creationId xmlns:a16="http://schemas.microsoft.com/office/drawing/2014/main" id="{6EF76F88-00A4-C677-8969-13DA93E381C9}"/>
                    </a:ext>
                  </a:extLst>
                </p:cNvPr>
                <p:cNvSpPr txBox="1">
                  <a:spLocks noRot="1" noChangeAspect="1" noMove="1" noResize="1" noEditPoints="1" noAdjustHandles="1" noChangeArrowheads="1" noChangeShapeType="1" noTextEdit="1"/>
                </p:cNvSpPr>
                <p:nvPr/>
              </p:nvSpPr>
              <p:spPr bwMode="auto">
                <a:xfrm>
                  <a:off x="2987194" y="2929731"/>
                  <a:ext cx="3395217" cy="1069166"/>
                </a:xfrm>
                <a:prstGeom prst="rect">
                  <a:avLst/>
                </a:prstGeom>
                <a:blipFill>
                  <a:blip r:embed="rId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25">
                  <a:extLst>
                    <a:ext uri="{FF2B5EF4-FFF2-40B4-BE49-F238E27FC236}">
                      <a16:creationId xmlns:a16="http://schemas.microsoft.com/office/drawing/2014/main" id="{C702221B-0FBD-37C3-5D89-4A8B4D8A2607}"/>
                    </a:ext>
                  </a:extLst>
                </p:cNvPr>
                <p:cNvSpPr txBox="1"/>
                <p:nvPr/>
              </p:nvSpPr>
              <p:spPr bwMode="auto">
                <a:xfrm>
                  <a:off x="4501019" y="3052747"/>
                  <a:ext cx="1106114" cy="901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800">
                                <a:solidFill>
                                  <a:prstClr val="black"/>
                                </a:solidFill>
                                <a:latin typeface="Cambria Math" panose="02040503050406030204" pitchFamily="18" charset="0"/>
                                <a:ea typeface="黑体"/>
                                <a:cs typeface="+mn-ea"/>
                              </a:rPr>
                              <m:t>−</m:t>
                            </m:r>
                            <m:f>
                              <m:fPr>
                                <m:ctrlPr>
                                  <a:rPr kumimoji="1" lang="zh-CN" altLang="en-US" sz="2800" i="1">
                                    <a:solidFill>
                                      <a:prstClr val="black"/>
                                    </a:solidFill>
                                    <a:latin typeface="Cambria Math" panose="02040503050406030204" pitchFamily="18" charset="0"/>
                                    <a:ea typeface="黑体"/>
                                    <a:cs typeface="+mn-ea"/>
                                  </a:rPr>
                                </m:ctrlPr>
                              </m:fPr>
                              <m:num>
                                <m:r>
                                  <a:rPr kumimoji="1" lang="zh-CN" altLang="en-US" sz="2800">
                                    <a:solidFill>
                                      <a:prstClr val="black"/>
                                    </a:solidFill>
                                    <a:latin typeface="Cambria Math" panose="02040503050406030204" pitchFamily="18" charset="0"/>
                                    <a:ea typeface="黑体"/>
                                    <a:cs typeface="+mn-ea"/>
                                  </a:rPr>
                                  <m:t>𝑦</m:t>
                                </m:r>
                              </m:num>
                              <m:den>
                                <m:sSup>
                                  <m:sSupPr>
                                    <m:ctrlPr>
                                      <a:rPr kumimoji="1" lang="zh-CN" altLang="en-US" sz="2800" i="1">
                                        <a:solidFill>
                                          <a:prstClr val="black"/>
                                        </a:solidFill>
                                        <a:latin typeface="Cambria Math" panose="02040503050406030204" pitchFamily="18" charset="0"/>
                                        <a:ea typeface="黑体"/>
                                        <a:cs typeface="+mn-ea"/>
                                      </a:rPr>
                                    </m:ctrlPr>
                                  </m:sSupPr>
                                  <m:e>
                                    <m:r>
                                      <a:rPr kumimoji="1" lang="zh-CN" altLang="en-US" sz="2800">
                                        <a:solidFill>
                                          <a:prstClr val="black"/>
                                        </a:solidFill>
                                        <a:latin typeface="Cambria Math" panose="02040503050406030204" pitchFamily="18" charset="0"/>
                                        <a:ea typeface="黑体"/>
                                        <a:cs typeface="+mn-ea"/>
                                      </a:rPr>
                                      <m:t>𝑥</m:t>
                                    </m:r>
                                  </m:e>
                                  <m:sup>
                                    <m:r>
                                      <a:rPr kumimoji="1" lang="zh-CN" altLang="en-US" sz="2800">
                                        <a:solidFill>
                                          <a:prstClr val="black"/>
                                        </a:solidFill>
                                        <a:latin typeface="Cambria Math" panose="02040503050406030204" pitchFamily="18" charset="0"/>
                                        <a:ea typeface="黑体"/>
                                        <a:cs typeface="+mn-ea"/>
                                      </a:rPr>
                                      <m:t>2</m:t>
                                    </m:r>
                                  </m:sup>
                                </m:sSup>
                              </m:den>
                            </m:f>
                          </m:e>
                        </m: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9" name="Object 25">
                  <a:extLst>
                    <a:ext uri="{FF2B5EF4-FFF2-40B4-BE49-F238E27FC236}">
                      <a16:creationId xmlns:a16="http://schemas.microsoft.com/office/drawing/2014/main" id="{C702221B-0FBD-37C3-5D89-4A8B4D8A2607}"/>
                    </a:ext>
                  </a:extLst>
                </p:cNvPr>
                <p:cNvSpPr txBox="1">
                  <a:spLocks noRot="1" noChangeAspect="1" noMove="1" noResize="1" noEditPoints="1" noAdjustHandles="1" noChangeArrowheads="1" noChangeShapeType="1" noTextEdit="1"/>
                </p:cNvSpPr>
                <p:nvPr/>
              </p:nvSpPr>
              <p:spPr bwMode="auto">
                <a:xfrm>
                  <a:off x="4501019" y="3052747"/>
                  <a:ext cx="1106114" cy="901700"/>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26">
                  <a:extLst>
                    <a:ext uri="{FF2B5EF4-FFF2-40B4-BE49-F238E27FC236}">
                      <a16:creationId xmlns:a16="http://schemas.microsoft.com/office/drawing/2014/main" id="{7F1DB055-03F7-3805-5DF8-2ABB01148697}"/>
                    </a:ext>
                  </a:extLst>
                </p:cNvPr>
                <p:cNvSpPr txBox="1"/>
                <p:nvPr/>
              </p:nvSpPr>
              <p:spPr bwMode="auto">
                <a:xfrm>
                  <a:off x="4069834" y="3049960"/>
                  <a:ext cx="581738" cy="9271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pitchFamily="18" charset="0"/>
                                <a:ea typeface="黑体"/>
                                <a:cs typeface="+mn-ea"/>
                              </a:rPr>
                            </m:ctrlPr>
                          </m:fPr>
                          <m:num>
                            <m:r>
                              <a:rPr kumimoji="1" lang="zh-CN" altLang="en-US" sz="2800">
                                <a:solidFill>
                                  <a:prstClr val="black"/>
                                </a:solidFill>
                                <a:latin typeface="Cambria Math" panose="02040503050406030204" pitchFamily="18" charset="0"/>
                                <a:ea typeface="黑体"/>
                                <a:cs typeface="+mn-ea"/>
                              </a:rPr>
                              <m:t>𝑥</m:t>
                            </m:r>
                          </m:num>
                          <m:den>
                            <m:r>
                              <a:rPr kumimoji="1" lang="zh-CN" altLang="en-US" sz="2800">
                                <a:solidFill>
                                  <a:prstClr val="black"/>
                                </a:solidFill>
                                <a:latin typeface="Cambria Math" panose="02040503050406030204" pitchFamily="18" charset="0"/>
                                <a:ea typeface="黑体"/>
                                <a:cs typeface="+mn-ea"/>
                              </a:rPr>
                              <m:t>𝑦</m:t>
                            </m:r>
                          </m:den>
                        </m:f>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10" name="Object 26">
                  <a:extLst>
                    <a:ext uri="{FF2B5EF4-FFF2-40B4-BE49-F238E27FC236}">
                      <a16:creationId xmlns:a16="http://schemas.microsoft.com/office/drawing/2014/main" id="{7F1DB055-03F7-3805-5DF8-2ABB01148697}"/>
                    </a:ext>
                  </a:extLst>
                </p:cNvPr>
                <p:cNvSpPr txBox="1">
                  <a:spLocks noRot="1" noChangeAspect="1" noMove="1" noResize="1" noEditPoints="1" noAdjustHandles="1" noChangeArrowheads="1" noChangeShapeType="1" noTextEdit="1"/>
                </p:cNvSpPr>
                <p:nvPr/>
              </p:nvSpPr>
              <p:spPr bwMode="auto">
                <a:xfrm>
                  <a:off x="4069834" y="3049960"/>
                  <a:ext cx="581738" cy="927100"/>
                </a:xfrm>
                <a:prstGeom prst="rect">
                  <a:avLst/>
                </a:prstGeom>
                <a:blipFill>
                  <a:blip r:embed="rId1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28">
                  <a:extLst>
                    <a:ext uri="{FF2B5EF4-FFF2-40B4-BE49-F238E27FC236}">
                      <a16:creationId xmlns:a16="http://schemas.microsoft.com/office/drawing/2014/main" id="{3F1DADA0-9965-F39F-38C3-5D26F6DC7CAA}"/>
                    </a:ext>
                  </a:extLst>
                </p:cNvPr>
                <p:cNvSpPr txBox="1"/>
                <p:nvPr/>
              </p:nvSpPr>
              <p:spPr bwMode="auto">
                <a:xfrm>
                  <a:off x="7172484" y="2973157"/>
                  <a:ext cx="254000" cy="87961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pitchFamily="18" charset="0"/>
                                <a:ea typeface="黑体"/>
                                <a:cs typeface="+mn-ea"/>
                              </a:rPr>
                            </m:ctrlPr>
                          </m:fPr>
                          <m:num>
                            <m:r>
                              <a:rPr kumimoji="1" lang="zh-CN" altLang="en-US" sz="2800">
                                <a:solidFill>
                                  <a:prstClr val="black"/>
                                </a:solidFill>
                                <a:latin typeface="Cambria Math" panose="02040503050406030204" pitchFamily="18" charset="0"/>
                                <a:ea typeface="黑体"/>
                                <a:cs typeface="+mn-ea"/>
                              </a:rPr>
                              <m:t>1</m:t>
                            </m:r>
                          </m:num>
                          <m:den>
                            <m:r>
                              <a:rPr kumimoji="1" lang="zh-CN" altLang="en-US" sz="2800">
                                <a:solidFill>
                                  <a:prstClr val="black"/>
                                </a:solidFill>
                                <a:latin typeface="Cambria Math" panose="02040503050406030204" pitchFamily="18" charset="0"/>
                                <a:ea typeface="黑体"/>
                                <a:cs typeface="+mn-ea"/>
                              </a:rPr>
                              <m:t>𝑥</m:t>
                            </m:r>
                          </m:den>
                        </m:f>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12" name="Object 28">
                  <a:extLst>
                    <a:ext uri="{FF2B5EF4-FFF2-40B4-BE49-F238E27FC236}">
                      <a16:creationId xmlns:a16="http://schemas.microsoft.com/office/drawing/2014/main" id="{3F1DADA0-9965-F39F-38C3-5D26F6DC7CAA}"/>
                    </a:ext>
                  </a:extLst>
                </p:cNvPr>
                <p:cNvSpPr txBox="1">
                  <a:spLocks noRot="1" noChangeAspect="1" noMove="1" noResize="1" noEditPoints="1" noAdjustHandles="1" noChangeArrowheads="1" noChangeShapeType="1" noTextEdit="1"/>
                </p:cNvSpPr>
                <p:nvPr/>
              </p:nvSpPr>
              <p:spPr bwMode="auto">
                <a:xfrm>
                  <a:off x="7172484" y="2973157"/>
                  <a:ext cx="254000" cy="879615"/>
                </a:xfrm>
                <a:prstGeom prst="rect">
                  <a:avLst/>
                </a:prstGeom>
                <a:blipFill>
                  <a:blip r:embed="rId11"/>
                  <a:stretch>
                    <a:fillRect r="-1707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29">
                  <a:extLst>
                    <a:ext uri="{FF2B5EF4-FFF2-40B4-BE49-F238E27FC236}">
                      <a16:creationId xmlns:a16="http://schemas.microsoft.com/office/drawing/2014/main" id="{5D4B856B-D7BC-C90E-D65F-346F0F19D128}"/>
                    </a:ext>
                  </a:extLst>
                </p:cNvPr>
                <p:cNvSpPr txBox="1"/>
                <p:nvPr/>
              </p:nvSpPr>
              <p:spPr bwMode="auto">
                <a:xfrm>
                  <a:off x="6706406" y="3049960"/>
                  <a:ext cx="644391" cy="95838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pitchFamily="18" charset="0"/>
                                <a:ea typeface="黑体"/>
                                <a:cs typeface="+mn-ea"/>
                              </a:rPr>
                            </m:ctrlPr>
                          </m:fPr>
                          <m:num>
                            <m:r>
                              <a:rPr kumimoji="1" lang="zh-CN" altLang="en-US" sz="2800">
                                <a:solidFill>
                                  <a:prstClr val="black"/>
                                </a:solidFill>
                                <a:latin typeface="Cambria Math" panose="02040503050406030204" pitchFamily="18" charset="0"/>
                                <a:ea typeface="黑体"/>
                                <a:cs typeface="+mn-ea"/>
                              </a:rPr>
                              <m:t>𝑥</m:t>
                            </m:r>
                          </m:num>
                          <m:den>
                            <m:r>
                              <a:rPr kumimoji="1" lang="zh-CN" altLang="en-US" sz="2800">
                                <a:solidFill>
                                  <a:prstClr val="black"/>
                                </a:solidFill>
                                <a:latin typeface="Cambria Math" panose="02040503050406030204" pitchFamily="18" charset="0"/>
                                <a:ea typeface="黑体"/>
                                <a:cs typeface="+mn-ea"/>
                              </a:rPr>
                              <m:t>𝑦</m:t>
                            </m:r>
                          </m:den>
                        </m:f>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13" name="Object 29">
                  <a:extLst>
                    <a:ext uri="{FF2B5EF4-FFF2-40B4-BE49-F238E27FC236}">
                      <a16:creationId xmlns:a16="http://schemas.microsoft.com/office/drawing/2014/main" id="{5D4B856B-D7BC-C90E-D65F-346F0F19D128}"/>
                    </a:ext>
                  </a:extLst>
                </p:cNvPr>
                <p:cNvSpPr txBox="1">
                  <a:spLocks noRot="1" noChangeAspect="1" noMove="1" noResize="1" noEditPoints="1" noAdjustHandles="1" noChangeArrowheads="1" noChangeShapeType="1" noTextEdit="1"/>
                </p:cNvSpPr>
                <p:nvPr/>
              </p:nvSpPr>
              <p:spPr bwMode="auto">
                <a:xfrm>
                  <a:off x="6706406" y="3049960"/>
                  <a:ext cx="644391" cy="958386"/>
                </a:xfrm>
                <a:prstGeom prst="rect">
                  <a:avLst/>
                </a:prstGeom>
                <a:blipFill>
                  <a:blip r:embed="rId12"/>
                  <a:stretch>
                    <a:fillRect/>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4" name="Text Box 30">
                <a:extLst>
                  <a:ext uri="{FF2B5EF4-FFF2-40B4-BE49-F238E27FC236}">
                    <a16:creationId xmlns:a16="http://schemas.microsoft.com/office/drawing/2014/main" id="{0F938EAD-13C2-6FCC-7538-C28BF87154D7}"/>
                  </a:ext>
                </a:extLst>
              </p:cNvPr>
              <p:cNvSpPr txBox="1">
                <a:spLocks noChangeArrowheads="1"/>
              </p:cNvSpPr>
              <p:nvPr/>
            </p:nvSpPr>
            <p:spPr bwMode="auto">
              <a:xfrm>
                <a:off x="3071084" y="4223406"/>
                <a:ext cx="4857750" cy="1012328"/>
              </a:xfrm>
              <a:prstGeom prst="rect">
                <a:avLst/>
              </a:prstGeom>
              <a:noFill/>
              <a:ln w="19050">
                <a:solidFill>
                  <a:srgbClr val="04926A"/>
                </a:solidFill>
                <a:miter lim="800000"/>
                <a:headEnd/>
                <a:tailEnd/>
              </a:ln>
              <a:extLst>
                <a:ext uri="{909E8E84-426E-40DD-AFC4-6F175D3DCCD1}">
                  <a14:hiddenFill>
                    <a:solidFill>
                      <a:srgbClr val="0033CC"/>
                    </a:solidFill>
                  </a14:hiddenFill>
                </a:ext>
              </a:extLst>
            </p:spPr>
            <p:txBody>
              <a:bodyPr wrap="square">
                <a:spAutoFit/>
              </a:bodyPr>
              <a:lstStyle/>
              <a:p>
                <a:pPr lvl="0" fontAlgn="base">
                  <a:spcBef>
                    <a:spcPct val="50000"/>
                  </a:spcBef>
                  <a:spcAft>
                    <a:spcPct val="0"/>
                  </a:spcAft>
                  <a:buFontTx/>
                  <a:buChar char="•"/>
                  <a:defRPr/>
                </a:pPr>
                <a:r>
                  <a:rPr kumimoji="1" lang="zh-CN" altLang="en-US" sz="2800" b="0" i="0" u="none" strike="noStrike" kern="1200" cap="none" spc="0" normalizeH="0" baseline="0" noProof="0" dirty="0">
                    <a:ln>
                      <a:noFill/>
                    </a:ln>
                    <a:solidFill>
                      <a:prstClr val="black"/>
                    </a:solidFill>
                    <a:effectLst/>
                    <a:uLnTx/>
                    <a:uFillTx/>
                    <a:latin typeface="Times New Roman" panose="020F0502020204030204"/>
                    <a:ea typeface="黑体"/>
                    <a:cs typeface="+mn-ea"/>
                    <a:sym typeface="+mn-lt"/>
                  </a:rPr>
                  <a:t> 乘除后的结果相对误差变大</a:t>
                </a:r>
                <a14:m>
                  <m:oMath xmlns:m="http://schemas.openxmlformats.org/officeDocument/2006/math">
                    <m:r>
                      <a:rPr kumimoji="1" lang="zh-CN" altLang="en-US" sz="2800">
                        <a:solidFill>
                          <a:prstClr val="black"/>
                        </a:solidFill>
                        <a:latin typeface="Cambria Math" panose="02040503050406030204" pitchFamily="18" charset="0"/>
                        <a:ea typeface="黑体"/>
                        <a:cs typeface="+mn-ea"/>
                      </a:rPr>
                      <m:t>;</m:t>
                    </m:r>
                  </m:oMath>
                </a14:m>
                <a:endParaRPr kumimoji="1" lang="zh-CN" altLang="en-US" sz="2800" b="0" i="0" u="none" strike="noStrike" kern="1200" cap="none" spc="0" normalizeH="0" baseline="0" noProof="0" dirty="0">
                  <a:ln>
                    <a:noFill/>
                  </a:ln>
                  <a:solidFill>
                    <a:prstClr val="black"/>
                  </a:solidFill>
                  <a:effectLst/>
                  <a:uLnTx/>
                  <a:uFillTx/>
                  <a:latin typeface="Times New Roman" panose="020F0502020204030204"/>
                  <a:ea typeface="黑体"/>
                  <a:cs typeface="+mn-ea"/>
                  <a:sym typeface="+mn-lt"/>
                </a:endParaRPr>
              </a:p>
              <a:p>
                <a:pPr marL="0" marR="0" lvl="0" indent="0" algn="l" defTabSz="914400" rtl="0" eaLnBrk="1" fontAlgn="base" latinLnBrk="0" hangingPunct="1">
                  <a:lnSpc>
                    <a:spcPct val="60000"/>
                  </a:lnSpc>
                  <a:spcBef>
                    <a:spcPct val="50000"/>
                  </a:spcBef>
                  <a:spcAft>
                    <a:spcPct val="0"/>
                  </a:spcAft>
                  <a:buClrTx/>
                  <a:buSzTx/>
                  <a:buFontTx/>
                  <a:buChar char="•"/>
                  <a:tabLst/>
                  <a:defRPr/>
                </a:pPr>
                <a:r>
                  <a:rPr kumimoji="1" lang="zh-CN" altLang="en-US" sz="2800" b="0" i="0" u="none" strike="noStrike" kern="1200" cap="none" spc="0" normalizeH="0" baseline="0" noProof="0" dirty="0">
                    <a:ln>
                      <a:noFill/>
                    </a:ln>
                    <a:solidFill>
                      <a:prstClr val="black"/>
                    </a:solidFill>
                    <a:effectLst/>
                    <a:uLnTx/>
                    <a:uFillTx/>
                    <a:latin typeface="Times New Roman" panose="020F0502020204030204"/>
                    <a:ea typeface="黑体"/>
                    <a:cs typeface="+mn-ea"/>
                    <a:sym typeface="+mn-lt"/>
                  </a:rPr>
                  <a:t> 很小的数不能做除数</a:t>
                </a:r>
                <a:r>
                  <a:rPr kumimoji="1" lang="en-US" altLang="zh-CN" sz="2800" b="0" i="0" u="none" strike="noStrike" kern="1200" cap="none" spc="0" normalizeH="0" baseline="0" noProof="0" dirty="0">
                    <a:ln>
                      <a:noFill/>
                    </a:ln>
                    <a:solidFill>
                      <a:prstClr val="black"/>
                    </a:solidFill>
                    <a:effectLst/>
                    <a:uLnTx/>
                    <a:uFillTx/>
                    <a:latin typeface="Times New Roman" panose="020F0502020204030204"/>
                    <a:ea typeface="黑体"/>
                    <a:cs typeface="+mn-ea"/>
                    <a:sym typeface="+mn-lt"/>
                  </a:rPr>
                  <a:t>.</a:t>
                </a:r>
                <a:endParaRPr kumimoji="1" lang="zh-CN" altLang="en-US" sz="2800" b="0" i="0" u="none" strike="noStrike" kern="1200" cap="none" spc="0" normalizeH="0" baseline="0" noProof="0" dirty="0">
                  <a:ln>
                    <a:noFill/>
                  </a:ln>
                  <a:solidFill>
                    <a:prstClr val="black"/>
                  </a:solidFill>
                  <a:effectLst/>
                  <a:uLnTx/>
                  <a:uFillTx/>
                  <a:latin typeface="Times New Roman" panose="020F0502020204030204"/>
                  <a:ea typeface="黑体"/>
                  <a:cs typeface="+mn-ea"/>
                  <a:sym typeface="+mn-lt"/>
                </a:endParaRPr>
              </a:p>
            </p:txBody>
          </p:sp>
        </mc:Choice>
        <mc:Fallback xmlns="">
          <p:sp>
            <p:nvSpPr>
              <p:cNvPr id="14" name="Text Box 30">
                <a:extLst>
                  <a:ext uri="{FF2B5EF4-FFF2-40B4-BE49-F238E27FC236}">
                    <a16:creationId xmlns:a16="http://schemas.microsoft.com/office/drawing/2014/main" id="{0F938EAD-13C2-6FCC-7538-C28BF87154D7}"/>
                  </a:ext>
                </a:extLst>
              </p:cNvPr>
              <p:cNvSpPr txBox="1">
                <a:spLocks noRot="1" noChangeAspect="1" noMove="1" noResize="1" noEditPoints="1" noAdjustHandles="1" noChangeArrowheads="1" noChangeShapeType="1" noTextEdit="1"/>
              </p:cNvSpPr>
              <p:nvPr/>
            </p:nvSpPr>
            <p:spPr bwMode="auto">
              <a:xfrm>
                <a:off x="3071084" y="4223406"/>
                <a:ext cx="4857750" cy="1012328"/>
              </a:xfrm>
              <a:prstGeom prst="rect">
                <a:avLst/>
              </a:prstGeom>
              <a:blipFill>
                <a:blip r:embed="rId13"/>
                <a:stretch>
                  <a:fillRect l="-2125" t="-7692" b="-15385"/>
                </a:stretch>
              </a:blipFill>
              <a:ln w="19050">
                <a:solidFill>
                  <a:srgbClr val="04926A"/>
                </a:solidFill>
                <a:miter lim="800000"/>
                <a:headEnd/>
                <a:tailEnd/>
              </a:ln>
              <a:extLst>
                <a:ext uri="{909E8E84-426E-40DD-AFC4-6F175D3DCCD1}">
                  <a14:hiddenFill xmlns:a14="http://schemas.microsoft.com/office/drawing/2010/main">
                    <a:solidFill>
                      <a:srgbClr val="0033CC"/>
                    </a:solidFill>
                  </a14:hiddenFill>
                </a:ext>
              </a:extLst>
            </p:spPr>
            <p:txBody>
              <a:bodyPr/>
              <a:lstStyle/>
              <a:p>
                <a:r>
                  <a:rPr lang="zh-CN" altLang="en-US">
                    <a:noFill/>
                  </a:rPr>
                  <a:t> </a:t>
                </a:r>
              </a:p>
            </p:txBody>
          </p:sp>
        </mc:Fallback>
      </mc:AlternateContent>
    </p:spTree>
    <p:extLst>
      <p:ext uri="{BB962C8B-B14F-4D97-AF65-F5344CB8AC3E}">
        <p14:creationId xmlns:p14="http://schemas.microsoft.com/office/powerpoint/2010/main" val="2117824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left)">
                                      <p:cBhvr>
                                        <p:cTn id="10" dur="500"/>
                                        <p:tgtEl>
                                          <p:spTgt spid="37"/>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bg/>
                                          </p:spTgt>
                                        </p:tgtEl>
                                        <p:attrNameLst>
                                          <p:attrName>style.visibility</p:attrName>
                                        </p:attrNameLst>
                                      </p:cBhvr>
                                      <p:to>
                                        <p:strVal val="visible"/>
                                      </p:to>
                                    </p:set>
                                    <p:animEffect transition="in" filter="wipe(left)">
                                      <p:cBhvr>
                                        <p:cTn id="33" dur="500"/>
                                        <p:tgtEl>
                                          <p:spTgt spid="14">
                                            <p:bg/>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
                                            <p:txEl>
                                              <p:pRg st="0" end="0"/>
                                            </p:txEl>
                                          </p:spTgt>
                                        </p:tgtEl>
                                        <p:attrNameLst>
                                          <p:attrName>style.visibility</p:attrName>
                                        </p:attrNameLst>
                                      </p:cBhvr>
                                      <p:to>
                                        <p:strVal val="visible"/>
                                      </p:to>
                                    </p:set>
                                    <p:animEffect transition="in" filter="wipe(left)">
                                      <p:cBhvr>
                                        <p:cTn id="38" dur="500"/>
                                        <p:tgtEl>
                                          <p:spTgt spid="14">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
                                            <p:txEl>
                                              <p:pRg st="1" end="1"/>
                                            </p:txEl>
                                          </p:spTgt>
                                        </p:tgtEl>
                                        <p:attrNameLst>
                                          <p:attrName>style.visibility</p:attrName>
                                        </p:attrNameLst>
                                      </p:cBhvr>
                                      <p:to>
                                        <p:strVal val="visible"/>
                                      </p:to>
                                    </p:set>
                                    <p:animEffect transition="in" filter="wipe(left)">
                                      <p:cBhvr>
                                        <p:cTn id="43" dur="500"/>
                                        <p:tgtEl>
                                          <p:spTgt spid="14">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7" grpId="0" autoUpdateAnimBg="0"/>
      <p:bldP spid="14" grpId="0" uiExpand="1" build="p"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DC2FB74-47D7-3720-3369-12D26233CF85}"/>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9" name="矩形 8">
                <a:extLst>
                  <a:ext uri="{FF2B5EF4-FFF2-40B4-BE49-F238E27FC236}">
                    <a16:creationId xmlns:a16="http://schemas.microsoft.com/office/drawing/2014/main" id="{4DC2FB74-47D7-3720-3369-12D26233CF85}"/>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10" name="半闭框 9">
            <a:extLst>
              <a:ext uri="{FF2B5EF4-FFF2-40B4-BE49-F238E27FC236}">
                <a16:creationId xmlns:a16="http://schemas.microsoft.com/office/drawing/2014/main" id="{F1BCF327-BFAB-7FE4-A775-3D6CD6B65C79}"/>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半闭框 10">
            <a:extLst>
              <a:ext uri="{FF2B5EF4-FFF2-40B4-BE49-F238E27FC236}">
                <a16:creationId xmlns:a16="http://schemas.microsoft.com/office/drawing/2014/main" id="{605699E1-8913-BA0C-BC6F-8BAD5922B6A6}"/>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半闭框 11">
            <a:extLst>
              <a:ext uri="{FF2B5EF4-FFF2-40B4-BE49-F238E27FC236}">
                <a16:creationId xmlns:a16="http://schemas.microsoft.com/office/drawing/2014/main" id="{35F8A3C9-17A3-6DA3-B3DD-FAB8C603BCDC}"/>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3" name="半闭框 12">
            <a:extLst>
              <a:ext uri="{FF2B5EF4-FFF2-40B4-BE49-F238E27FC236}">
                <a16:creationId xmlns:a16="http://schemas.microsoft.com/office/drawing/2014/main" id="{2BC411F3-5F73-200C-9FEE-369C3A00BF52}"/>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Rectangle 2">
            <a:extLst>
              <a:ext uri="{FF2B5EF4-FFF2-40B4-BE49-F238E27FC236}">
                <a16:creationId xmlns:a16="http://schemas.microsoft.com/office/drawing/2014/main" id="{21572D69-6402-A421-4A71-F9560DD40C65}"/>
              </a:ext>
            </a:extLst>
          </p:cNvPr>
          <p:cNvSpPr txBox="1">
            <a:spLocks noChangeArrowheads="1"/>
          </p:cNvSpPr>
          <p:nvPr/>
        </p:nvSpPr>
        <p:spPr>
          <a:xfrm>
            <a:off x="943708" y="1653950"/>
            <a:ext cx="8244254" cy="5334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800" b="1" dirty="0">
                <a:solidFill>
                  <a:srgbClr val="04926A"/>
                </a:solidFill>
                <a:latin typeface="微软雅黑" panose="020B0503020204020204" pitchFamily="34" charset="-122"/>
                <a:ea typeface="微软雅黑" panose="020B0503020204020204" pitchFamily="34" charset="-122"/>
                <a:cs typeface="+mn-cs"/>
                <a:sym typeface="+mn-lt"/>
              </a:rPr>
              <a:t>例</a:t>
            </a:r>
            <a:r>
              <a:rPr kumimoji="1" lang="en-US" altLang="zh-CN" sz="2800" b="1" dirty="0">
                <a:solidFill>
                  <a:srgbClr val="04926A"/>
                </a:solidFill>
                <a:latin typeface="微软雅黑" panose="020B0503020204020204" pitchFamily="34" charset="-122"/>
                <a:ea typeface="微软雅黑" panose="020B0503020204020204" pitchFamily="34" charset="-122"/>
                <a:cs typeface="+mn-cs"/>
                <a:sym typeface="+mn-lt"/>
              </a:rPr>
              <a:t>6  </a:t>
            </a:r>
            <a:r>
              <a:rPr kumimoji="1" lang="zh-CN" altLang="en-US" sz="2800" dirty="0">
                <a:solidFill>
                  <a:prstClr val="black"/>
                </a:solidFill>
                <a:latin typeface="Times New Roman" panose="020F0502020204030204"/>
                <a:ea typeface="黑体"/>
                <a:cs typeface="+mn-ea"/>
                <a:sym typeface="+mn-lt"/>
              </a:rPr>
              <a:t>利用单摆摆动测定重力加速度 </a:t>
            </a:r>
            <a:r>
              <a:rPr lang="en-US" altLang="zh-CN" sz="2800" i="1" dirty="0">
                <a:latin typeface="Cambria Math" panose="02040503050406030204" charset="0"/>
                <a:ea typeface="宋体" panose="02010600030101010101" pitchFamily="2" charset="-122"/>
                <a:cs typeface="Cambria Math" panose="02040503050406030204" charset="0"/>
              </a:rPr>
              <a:t>g</a:t>
            </a:r>
            <a:r>
              <a:rPr kumimoji="1" lang="en-US" altLang="zh-CN" sz="2800" dirty="0">
                <a:solidFill>
                  <a:prstClr val="black"/>
                </a:solidFill>
                <a:latin typeface="Times New Roman" panose="020F0502020204030204"/>
                <a:ea typeface="黑体"/>
                <a:cs typeface="+mn-ea"/>
                <a:sym typeface="+mn-lt"/>
              </a:rPr>
              <a:t> </a:t>
            </a:r>
            <a:r>
              <a:rPr kumimoji="1" lang="zh-CN" altLang="en-US" sz="2800" dirty="0">
                <a:solidFill>
                  <a:prstClr val="black"/>
                </a:solidFill>
                <a:latin typeface="Times New Roman" panose="020F0502020204030204"/>
                <a:ea typeface="黑体"/>
                <a:cs typeface="+mn-ea"/>
                <a:sym typeface="+mn-lt"/>
              </a:rPr>
              <a:t>的公式是</a:t>
            </a:r>
          </a:p>
        </p:txBody>
      </p:sp>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976FC51A-7DFE-130C-F7D3-82AA7A7F7F9B}"/>
                  </a:ext>
                </a:extLst>
              </p:cNvPr>
              <p:cNvSpPr txBox="1"/>
              <p:nvPr/>
            </p:nvSpPr>
            <p:spPr>
              <a:xfrm>
                <a:off x="3263168" y="2282857"/>
                <a:ext cx="2038838" cy="8890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m:rPr>
                          <m:nor/>
                        </m:rPr>
                        <a:rPr lang="en-US" altLang="zh-CN" sz="2800" i="1" dirty="0">
                          <a:latin typeface="Cambria Math" panose="02040503050406030204" charset="0"/>
                          <a:cs typeface="Cambria Math" panose="02040503050406030204" charset="0"/>
                        </a:rPr>
                        <m:t>g</m:t>
                      </m:r>
                      <m:r>
                        <a:rPr kumimoji="1" lang="zh-CN" altLang="en-US" sz="2800">
                          <a:solidFill>
                            <a:prstClr val="black"/>
                          </a:solidFill>
                          <a:latin typeface="Cambria Math" panose="02040503050406030204" pitchFamily="18" charset="0"/>
                          <a:ea typeface="黑体"/>
                          <a:cs typeface="+mn-ea"/>
                        </a:rPr>
                        <m:t>=</m:t>
                      </m:r>
                      <m:f>
                        <m:fPr>
                          <m:ctrlPr>
                            <a:rPr kumimoji="1" lang="zh-CN" altLang="en-US" sz="2800" i="1">
                              <a:solidFill>
                                <a:prstClr val="black"/>
                              </a:solidFill>
                              <a:latin typeface="Cambria Math" panose="02040503050406030204" pitchFamily="18" charset="0"/>
                              <a:ea typeface="黑体"/>
                              <a:cs typeface="+mn-ea"/>
                            </a:rPr>
                          </m:ctrlPr>
                        </m:fPr>
                        <m:num>
                          <m:r>
                            <a:rPr kumimoji="1" lang="zh-CN" altLang="en-US" sz="2800">
                              <a:solidFill>
                                <a:prstClr val="black"/>
                              </a:solidFill>
                              <a:latin typeface="Cambria Math" panose="02040503050406030204" pitchFamily="18" charset="0"/>
                              <a:ea typeface="黑体"/>
                              <a:cs typeface="+mn-ea"/>
                            </a:rPr>
                            <m:t>4</m:t>
                          </m:r>
                          <m:sSup>
                            <m:sSupPr>
                              <m:ctrlPr>
                                <a:rPr kumimoji="1" lang="zh-CN" altLang="en-US" sz="2800" i="1">
                                  <a:solidFill>
                                    <a:prstClr val="black"/>
                                  </a:solidFill>
                                  <a:latin typeface="Cambria Math" panose="02040503050406030204" pitchFamily="18" charset="0"/>
                                  <a:ea typeface="黑体"/>
                                  <a:cs typeface="+mn-ea"/>
                                </a:rPr>
                              </m:ctrlPr>
                            </m:sSupPr>
                            <m:e>
                              <m:r>
                                <m:rPr>
                                  <m:sty m:val="p"/>
                                </m:rPr>
                                <a:rPr kumimoji="1" lang="zh-CN" altLang="en-US" sz="2800" i="0">
                                  <a:solidFill>
                                    <a:prstClr val="black"/>
                                  </a:solidFill>
                                  <a:latin typeface="Cambria Math" panose="02040503050406030204" pitchFamily="18" charset="0"/>
                                  <a:ea typeface="黑体"/>
                                  <a:cs typeface="+mn-ea"/>
                                </a:rPr>
                                <m:t>π</m:t>
                              </m:r>
                            </m:e>
                            <m:sup>
                              <m:r>
                                <a:rPr kumimoji="1" lang="zh-CN" altLang="en-US" sz="2800">
                                  <a:solidFill>
                                    <a:prstClr val="black"/>
                                  </a:solidFill>
                                  <a:latin typeface="Cambria Math" panose="02040503050406030204" pitchFamily="18" charset="0"/>
                                  <a:ea typeface="黑体"/>
                                  <a:cs typeface="+mn-ea"/>
                                </a:rPr>
                                <m:t>2</m:t>
                              </m:r>
                            </m:sup>
                          </m:sSup>
                          <m:r>
                            <a:rPr kumimoji="1" lang="zh-CN" altLang="en-US" sz="2800">
                              <a:solidFill>
                                <a:prstClr val="black"/>
                              </a:solidFill>
                              <a:latin typeface="Cambria Math" panose="02040503050406030204" pitchFamily="18" charset="0"/>
                              <a:ea typeface="黑体"/>
                              <a:cs typeface="+mn-ea"/>
                            </a:rPr>
                            <m:t>𝑙</m:t>
                          </m:r>
                        </m:num>
                        <m:den>
                          <m:sSup>
                            <m:sSupPr>
                              <m:ctrlPr>
                                <a:rPr kumimoji="1" lang="zh-CN" altLang="en-US" sz="2800" i="1">
                                  <a:solidFill>
                                    <a:prstClr val="black"/>
                                  </a:solidFill>
                                  <a:latin typeface="Cambria Math" panose="02040503050406030204" pitchFamily="18" charset="0"/>
                                  <a:ea typeface="黑体"/>
                                  <a:cs typeface="+mn-ea"/>
                                </a:rPr>
                              </m:ctrlPr>
                            </m:sSupPr>
                            <m:e>
                              <m:r>
                                <a:rPr kumimoji="1" lang="zh-CN" altLang="en-US" sz="2800">
                                  <a:solidFill>
                                    <a:prstClr val="black"/>
                                  </a:solidFill>
                                  <a:latin typeface="Cambria Math" panose="02040503050406030204" pitchFamily="18" charset="0"/>
                                  <a:ea typeface="黑体"/>
                                  <a:cs typeface="+mn-ea"/>
                                </a:rPr>
                                <m:t>𝑇</m:t>
                              </m:r>
                            </m:e>
                            <m:sup>
                              <m:r>
                                <a:rPr kumimoji="1" lang="zh-CN" altLang="en-US" sz="2800">
                                  <a:solidFill>
                                    <a:prstClr val="black"/>
                                  </a:solidFill>
                                  <a:latin typeface="Cambria Math" panose="02040503050406030204" pitchFamily="18" charset="0"/>
                                  <a:ea typeface="黑体"/>
                                  <a:cs typeface="+mn-ea"/>
                                </a:rPr>
                                <m:t>2</m:t>
                              </m:r>
                            </m:sup>
                          </m:sSup>
                        </m:den>
                      </m:f>
                      <m:r>
                        <a:rPr kumimoji="1" lang="zh-CN" altLang="en-US" sz="2800">
                          <a:solidFill>
                            <a:prstClr val="black"/>
                          </a:solidFill>
                          <a:latin typeface="Cambria Math" panose="02040503050406030204" pitchFamily="18" charset="0"/>
                          <a:ea typeface="黑体"/>
                          <a:cs typeface="+mn-ea"/>
                        </a:rPr>
                        <m:t>.</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3" name="对象 2">
                <a:extLst>
                  <a:ext uri="{FF2B5EF4-FFF2-40B4-BE49-F238E27FC236}">
                    <a16:creationId xmlns:a16="http://schemas.microsoft.com/office/drawing/2014/main" id="{976FC51A-7DFE-130C-F7D3-82AA7A7F7F9B}"/>
                  </a:ext>
                </a:extLst>
              </p:cNvPr>
              <p:cNvSpPr txBox="1">
                <a:spLocks noRot="1" noChangeAspect="1" noMove="1" noResize="1" noEditPoints="1" noAdjustHandles="1" noChangeArrowheads="1" noChangeShapeType="1" noTextEdit="1"/>
              </p:cNvSpPr>
              <p:nvPr/>
            </p:nvSpPr>
            <p:spPr>
              <a:xfrm>
                <a:off x="3263168" y="2282857"/>
                <a:ext cx="2038838" cy="889000"/>
              </a:xfrm>
              <a:prstGeom prst="rect">
                <a:avLst/>
              </a:prstGeom>
              <a:blipFill>
                <a:blip r:embed="rId3"/>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B6ADEB61-2863-372A-E6F0-C24F614AD63A}"/>
                  </a:ext>
                </a:extLst>
              </p:cNvPr>
              <p:cNvSpPr txBox="1"/>
              <p:nvPr/>
            </p:nvSpPr>
            <p:spPr>
              <a:xfrm>
                <a:off x="1727480" y="3267364"/>
                <a:ext cx="9622692" cy="2069582"/>
              </a:xfrm>
              <a:prstGeom prst="rect">
                <a:avLst/>
              </a:prstGeom>
            </p:spPr>
            <p:txBody>
              <a:bodyPr>
                <a:noAutofit/>
              </a:bodyPr>
              <a:lstStyle/>
              <a:p>
                <a:pPr>
                  <a:lnSpc>
                    <a:spcPct val="150000"/>
                  </a:lnSpc>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a:cs typeface="+mn-ea"/>
                        </a:rPr>
                        <m:t>现测得单摆摆长</m:t>
                      </m:r>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𝑙</m:t>
                      </m:r>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与振动周期</m:t>
                      </m:r>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𝑇</m:t>
                      </m:r>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分别为</m:t>
                      </m:r>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𝑙</m:t>
                      </m:r>
                      <m:r>
                        <a:rPr kumimoji="1" lang="zh-CN" altLang="en-US" sz="2800">
                          <a:solidFill>
                            <a:prstClr val="black"/>
                          </a:solidFill>
                          <a:latin typeface="Cambria Math" panose="02040503050406030204" pitchFamily="18" charset="0"/>
                          <a:ea typeface="黑体"/>
                          <a:cs typeface="+mn-ea"/>
                        </a:rPr>
                        <m:t>=(100±0.1)</m:t>
                      </m:r>
                      <m:r>
                        <m:rPr>
                          <m:sty m:val="p"/>
                        </m:rPr>
                        <a:rPr kumimoji="1" lang="zh-CN" altLang="en-US" sz="2800">
                          <a:solidFill>
                            <a:prstClr val="black"/>
                          </a:solidFill>
                          <a:latin typeface="Cambria Math" panose="02040503050406030204" pitchFamily="18" charset="0"/>
                          <a:ea typeface="黑体"/>
                          <a:cs typeface="+mn-ea"/>
                        </a:rPr>
                        <m:t>cm</m:t>
                      </m:r>
                      <m:r>
                        <a:rPr kumimoji="1" lang="zh-CN" altLang="en-US" sz="2800">
                          <a:solidFill>
                            <a:prstClr val="black"/>
                          </a:solidFill>
                          <a:latin typeface="Cambria Math" panose="02040503050406030204" pitchFamily="18" charset="0"/>
                          <a:ea typeface="黑体"/>
                          <a:cs typeface="+mn-ea"/>
                        </a:rPr>
                        <m:t>,</m:t>
                      </m:r>
                    </m:oMath>
                    <m:oMath xmlns:m="http://schemas.openxmlformats.org/officeDocument/2006/math">
                      <m:r>
                        <a:rPr kumimoji="1" lang="zh-CN" altLang="en-US" sz="2800">
                          <a:solidFill>
                            <a:prstClr val="black"/>
                          </a:solidFill>
                          <a:latin typeface="Cambria Math" panose="02040503050406030204" pitchFamily="18" charset="0"/>
                          <a:ea typeface="黑体"/>
                          <a:cs typeface="+mn-ea"/>
                        </a:rPr>
                        <m:t>𝑇</m:t>
                      </m:r>
                      <m:r>
                        <a:rPr kumimoji="1" lang="zh-CN" altLang="en-US" sz="2800">
                          <a:solidFill>
                            <a:prstClr val="black"/>
                          </a:solidFill>
                          <a:latin typeface="Cambria Math" panose="02040503050406030204" pitchFamily="18" charset="0"/>
                          <a:ea typeface="黑体"/>
                          <a:cs typeface="+mn-ea"/>
                        </a:rPr>
                        <m:t>=(2±0.004)</m:t>
                      </m:r>
                      <m:r>
                        <m:rPr>
                          <m:sty m:val="p"/>
                        </m:rPr>
                        <a:rPr kumimoji="1" lang="zh-CN" altLang="en-US" sz="2800">
                          <a:solidFill>
                            <a:prstClr val="black"/>
                          </a:solidFill>
                          <a:latin typeface="Cambria Math" panose="02040503050406030204" pitchFamily="18" charset="0"/>
                          <a:ea typeface="黑体"/>
                          <a:cs typeface="+mn-ea"/>
                        </a:rPr>
                        <m:t>s</m:t>
                      </m:r>
                      <m:r>
                        <a:rPr kumimoji="1" lang="zh-CN" altLang="en-US" sz="2800">
                          <a:solidFill>
                            <a:prstClr val="black"/>
                          </a:solidFill>
                          <a:latin typeface="Cambria Math" panose="02040503050406030204" pitchFamily="18" charset="0"/>
                          <a:ea typeface="黑体"/>
                          <a:cs typeface="+mn-ea"/>
                        </a:rPr>
                        <m:t>.</m:t>
                      </m:r>
                      <m:r>
                        <a:rPr kumimoji="1" lang="zh-CN" altLang="en-US" sz="2800" i="1" smtClean="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问由于测定</m:t>
                      </m:r>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𝑙</m:t>
                      </m:r>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与</m:t>
                      </m:r>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𝑇</m:t>
                      </m:r>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的误差而引起</m:t>
                      </m:r>
                      <m:r>
                        <a:rPr kumimoji="1" lang="zh-CN" altLang="en-US" sz="2800">
                          <a:solidFill>
                            <a:prstClr val="black"/>
                          </a:solidFill>
                          <a:latin typeface="Cambria Math" panose="02040503050406030204" pitchFamily="18" charset="0"/>
                          <a:ea typeface="黑体"/>
                          <a:cs typeface="+mn-ea"/>
                        </a:rPr>
                        <m:t> </m:t>
                      </m:r>
                      <m:r>
                        <m:rPr>
                          <m:nor/>
                        </m:rPr>
                        <a:rPr lang="en-US" altLang="zh-CN" sz="2800" i="1" dirty="0">
                          <a:latin typeface="Cambria Math" panose="02040503050406030204" charset="0"/>
                          <a:cs typeface="Cambria Math" panose="02040503050406030204" charset="0"/>
                        </a:rPr>
                        <m:t>g</m:t>
                      </m:r>
                      <m:r>
                        <a:rPr kumimoji="1" lang="zh-CN" altLang="en-US" sz="2800">
                          <a:solidFill>
                            <a:prstClr val="black"/>
                          </a:solidFill>
                          <a:latin typeface="Cambria Math" panose="02040503050406030204" pitchFamily="18" charset="0"/>
                          <a:ea typeface="黑体"/>
                          <a:cs typeface="+mn-ea"/>
                        </a:rPr>
                        <m:t> </m:t>
                      </m:r>
                      <m:r>
                        <a:rPr kumimoji="1" lang="zh-CN" altLang="en-US" sz="2800">
                          <a:solidFill>
                            <a:prstClr val="black"/>
                          </a:solidFill>
                          <a:latin typeface="Cambria Math" panose="02040503050406030204" pitchFamily="18" charset="0"/>
                          <a:ea typeface="黑体"/>
                          <a:cs typeface="+mn-ea"/>
                        </a:rPr>
                        <m:t>的绝对</m:t>
                      </m:r>
                    </m:oMath>
                    <m:oMath xmlns:m="http://schemas.openxmlformats.org/officeDocument/2006/math">
                      <m:r>
                        <a:rPr kumimoji="1" lang="zh-CN" altLang="en-US" sz="2800">
                          <a:solidFill>
                            <a:prstClr val="black"/>
                          </a:solidFill>
                          <a:latin typeface="Cambria Math" panose="02040503050406030204" pitchFamily="18" charset="0"/>
                          <a:ea typeface="黑体"/>
                          <a:cs typeface="+mn-ea"/>
                        </a:rPr>
                        <m:t>误差和相对误差各为多少？</m:t>
                      </m:r>
                    </m:oMath>
                  </m:oMathPara>
                </a14:m>
                <a:endParaRPr kumimoji="1" lang="zh-CN" altLang="en-US" sz="2800" dirty="0">
                  <a:solidFill>
                    <a:prstClr val="black"/>
                  </a:solidFill>
                  <a:latin typeface="Times New Roman" panose="020F0502020204030204"/>
                  <a:ea typeface="黑体"/>
                  <a:cs typeface="+mn-ea"/>
                </a:endParaRPr>
              </a:p>
            </p:txBody>
          </p:sp>
        </mc:Choice>
        <mc:Fallback xmlns="">
          <p:sp>
            <p:nvSpPr>
              <p:cNvPr id="4" name="对象 3">
                <a:extLst>
                  <a:ext uri="{FF2B5EF4-FFF2-40B4-BE49-F238E27FC236}">
                    <a16:creationId xmlns:a16="http://schemas.microsoft.com/office/drawing/2014/main" id="{B6ADEB61-2863-372A-E6F0-C24F614AD63A}"/>
                  </a:ext>
                </a:extLst>
              </p:cNvPr>
              <p:cNvSpPr txBox="1">
                <a:spLocks noRot="1" noChangeAspect="1" noMove="1" noResize="1" noEditPoints="1" noAdjustHandles="1" noChangeArrowheads="1" noChangeShapeType="1" noTextEdit="1"/>
              </p:cNvSpPr>
              <p:nvPr/>
            </p:nvSpPr>
            <p:spPr>
              <a:xfrm>
                <a:off x="1727480" y="3267364"/>
                <a:ext cx="9622692" cy="2069582"/>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7227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EFB61890-7107-E00A-18F4-8EB5C1ADB9D3}"/>
                  </a:ext>
                </a:extLst>
              </p:cNvPr>
              <p:cNvSpPr/>
              <p:nvPr/>
            </p:nvSpPr>
            <p:spPr>
              <a:xfrm>
                <a:off x="68668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45" name="矩形 44">
                <a:extLst>
                  <a:ext uri="{FF2B5EF4-FFF2-40B4-BE49-F238E27FC236}">
                    <a16:creationId xmlns:a16="http://schemas.microsoft.com/office/drawing/2014/main" id="{EFB61890-7107-E00A-18F4-8EB5C1ADB9D3}"/>
                  </a:ext>
                </a:extLst>
              </p:cNvPr>
              <p:cNvSpPr>
                <a:spLocks noRot="1" noChangeAspect="1" noMove="1" noResize="1" noEditPoints="1" noAdjustHandles="1" noChangeArrowheads="1" noChangeShapeType="1" noTextEdit="1"/>
              </p:cNvSpPr>
              <p:nvPr/>
            </p:nvSpPr>
            <p:spPr>
              <a:xfrm>
                <a:off x="68668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46" name="半闭框 45">
            <a:extLst>
              <a:ext uri="{FF2B5EF4-FFF2-40B4-BE49-F238E27FC236}">
                <a16:creationId xmlns:a16="http://schemas.microsoft.com/office/drawing/2014/main" id="{7D55CDA9-2D69-96AA-A49E-8038CB9D99B0}"/>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半闭框 46">
            <a:extLst>
              <a:ext uri="{FF2B5EF4-FFF2-40B4-BE49-F238E27FC236}">
                <a16:creationId xmlns:a16="http://schemas.microsoft.com/office/drawing/2014/main" id="{A3D320DA-5C08-8EB6-21D3-DB7A7A598B6A}"/>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8" name="半闭框 47">
            <a:extLst>
              <a:ext uri="{FF2B5EF4-FFF2-40B4-BE49-F238E27FC236}">
                <a16:creationId xmlns:a16="http://schemas.microsoft.com/office/drawing/2014/main" id="{96422492-5CF8-0B75-3E9F-198E5CCAFDE3}"/>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49" name="半闭框 48">
            <a:extLst>
              <a:ext uri="{FF2B5EF4-FFF2-40B4-BE49-F238E27FC236}">
                <a16:creationId xmlns:a16="http://schemas.microsoft.com/office/drawing/2014/main" id="{47B0F2B0-14F1-EE21-513A-F6F0242B2333}"/>
              </a:ext>
            </a:extLst>
          </p:cNvPr>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Text Box 5">
            <a:extLst>
              <a:ext uri="{FF2B5EF4-FFF2-40B4-BE49-F238E27FC236}">
                <a16:creationId xmlns:a16="http://schemas.microsoft.com/office/drawing/2014/main" id="{40DFA026-AD8A-24C5-A9D2-088382439585}"/>
              </a:ext>
            </a:extLst>
          </p:cNvPr>
          <p:cNvSpPr txBox="1">
            <a:spLocks noChangeArrowheads="1"/>
          </p:cNvSpPr>
          <p:nvPr/>
        </p:nvSpPr>
        <p:spPr bwMode="auto">
          <a:xfrm>
            <a:off x="2272504" y="1084831"/>
            <a:ext cx="1219200" cy="519113"/>
          </a:xfrm>
          <a:prstGeom prst="rect">
            <a:avLst/>
          </a:prstGeom>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r>
              <a:rPr kumimoji="1" lang="en-US" altLang="zh-CN" sz="2800" b="1" dirty="0">
                <a:solidFill>
                  <a:srgbClr val="04926A"/>
                </a:solidFill>
                <a:latin typeface="微软雅黑" panose="020B0503020204020204" pitchFamily="34" charset="-122"/>
                <a:ea typeface="微软雅黑" panose="020B0503020204020204" pitchFamily="34" charset="-122"/>
                <a:sym typeface="+mn-lt"/>
              </a:rPr>
              <a:t>  </a:t>
            </a:r>
            <a:endParaRPr kumimoji="1" lang="zh-CN" altLang="en-US" sz="2800" b="1" dirty="0">
              <a:solidFill>
                <a:srgbClr val="04926A"/>
              </a:solidFill>
              <a:latin typeface="微软雅黑" panose="020B0503020204020204" pitchFamily="34" charset="-122"/>
              <a:ea typeface="微软雅黑" panose="020B0503020204020204" pitchFamily="34" charset="-122"/>
              <a:sym typeface="+mn-lt"/>
            </a:endParaRPr>
          </a:p>
        </p:txBody>
      </p:sp>
      <mc:AlternateContent xmlns:mc="http://schemas.openxmlformats.org/markup-compatibility/2006" xmlns:a14="http://schemas.microsoft.com/office/drawing/2010/main">
        <mc:Choice Requires="a14">
          <p:sp>
            <p:nvSpPr>
              <p:cNvPr id="21" name="Object 10">
                <a:extLst>
                  <a:ext uri="{FF2B5EF4-FFF2-40B4-BE49-F238E27FC236}">
                    <a16:creationId xmlns:a16="http://schemas.microsoft.com/office/drawing/2014/main" id="{C48AB8F0-24CA-1AE0-CFAB-946B4FA28F44}"/>
                  </a:ext>
                </a:extLst>
              </p:cNvPr>
              <p:cNvSpPr txBox="1"/>
              <p:nvPr/>
            </p:nvSpPr>
            <p:spPr bwMode="auto">
              <a:xfrm>
                <a:off x="2810610" y="1763488"/>
                <a:ext cx="3531467" cy="9525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smtClean="0">
                          <a:solidFill>
                            <a:prstClr val="black"/>
                          </a:solidFill>
                          <a:latin typeface="Cambria Math" panose="02040503050406030204" pitchFamily="18" charset="0"/>
                          <a:ea typeface="黑体"/>
                          <a:cs typeface="+mn-ea"/>
                        </a:rPr>
                        <m:t>∴</m:t>
                      </m:r>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𝛿</m:t>
                          </m:r>
                        </m:e>
                        <m:sub>
                          <m:r>
                            <m:rPr>
                              <m:nor/>
                            </m:rPr>
                            <a:rPr lang="en-US" altLang="zh-CN" sz="2200" i="1" dirty="0">
                              <a:latin typeface="Cambria Math" panose="02040503050406030204" charset="0"/>
                              <a:cs typeface="Cambria Math" panose="02040503050406030204" charset="0"/>
                            </a:rPr>
                            <m:t>g</m:t>
                          </m:r>
                        </m:sub>
                      </m:sSub>
                      <m:r>
                        <a:rPr kumimoji="1" lang="zh-CN" altLang="en-US" sz="2200">
                          <a:solidFill>
                            <a:prstClr val="black"/>
                          </a:solidFill>
                          <a:latin typeface="Cambria Math" panose="02040503050406030204" pitchFamily="18" charset="0"/>
                          <a:ea typeface="黑体"/>
                          <a:cs typeface="+mn-ea"/>
                        </a:rPr>
                        <m:t>=</m:t>
                      </m:r>
                      <m:d>
                        <m:dPr>
                          <m:begChr m:val="|"/>
                          <m:endChr m:val="|"/>
                          <m:ctrlPr>
                            <a:rPr kumimoji="1" lang="zh-CN" altLang="en-US" sz="2200" i="1">
                              <a:solidFill>
                                <a:prstClr val="black"/>
                              </a:solidFill>
                              <a:latin typeface="Cambria Math" panose="02040503050406030204" pitchFamily="18" charset="0"/>
                              <a:ea typeface="黑体"/>
                              <a:cs typeface="+mn-ea"/>
                            </a:rPr>
                          </m:ctrlPr>
                        </m:dPr>
                        <m:e>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m:t>
                              </m:r>
                              <m:r>
                                <m:rPr>
                                  <m:nor/>
                                </m:rPr>
                                <a:rPr lang="en-US" altLang="zh-CN" sz="2200" i="1" dirty="0">
                                  <a:latin typeface="Cambria Math" panose="02040503050406030204" charset="0"/>
                                  <a:cs typeface="Cambria Math" panose="02040503050406030204" charset="0"/>
                                </a:rPr>
                                <m:t>g</m:t>
                              </m:r>
                            </m:num>
                            <m:den>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𝑙</m:t>
                              </m:r>
                            </m:den>
                          </m:f>
                          <m:r>
                            <a:rPr kumimoji="1" lang="en-US" altLang="zh-CN" sz="2200" b="0" i="0" smtClean="0">
                              <a:solidFill>
                                <a:prstClr val="black"/>
                              </a:solidFill>
                              <a:latin typeface="Cambria Math" panose="02040503050406030204" pitchFamily="18" charset="0"/>
                              <a:ea typeface="黑体"/>
                              <a:cs typeface="+mn-ea"/>
                            </a:rPr>
                            <m:t> </m:t>
                          </m:r>
                        </m:e>
                      </m:d>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𝛿</m:t>
                          </m:r>
                        </m:e>
                        <m:sub>
                          <m:r>
                            <a:rPr kumimoji="1" lang="zh-CN" altLang="en-US" sz="2200">
                              <a:solidFill>
                                <a:prstClr val="black"/>
                              </a:solidFill>
                              <a:latin typeface="Cambria Math" panose="02040503050406030204" pitchFamily="18" charset="0"/>
                              <a:ea typeface="黑体"/>
                              <a:cs typeface="+mn-ea"/>
                            </a:rPr>
                            <m:t>𝑙</m:t>
                          </m:r>
                        </m:sub>
                      </m:sSub>
                      <m:r>
                        <a:rPr kumimoji="1" lang="zh-CN" altLang="en-US" sz="2200">
                          <a:solidFill>
                            <a:prstClr val="black"/>
                          </a:solidFill>
                          <a:latin typeface="Cambria Math" panose="02040503050406030204" pitchFamily="18" charset="0"/>
                          <a:ea typeface="黑体"/>
                          <a:cs typeface="+mn-ea"/>
                        </a:rPr>
                        <m:t>+​</m:t>
                      </m:r>
                      <m:d>
                        <m:dPr>
                          <m:begChr m:val="|"/>
                          <m:endChr m:val="|"/>
                          <m:ctrlPr>
                            <a:rPr kumimoji="1" lang="zh-CN" altLang="en-US" sz="2200" i="1">
                              <a:solidFill>
                                <a:prstClr val="black"/>
                              </a:solidFill>
                              <a:latin typeface="Cambria Math" panose="02040503050406030204" pitchFamily="18" charset="0"/>
                              <a:ea typeface="黑体"/>
                              <a:cs typeface="+mn-ea"/>
                            </a:rPr>
                          </m:ctrlPr>
                        </m:dPr>
                        <m:e>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m:t>
                              </m:r>
                              <m:r>
                                <m:rPr>
                                  <m:nor/>
                                </m:rPr>
                                <a:rPr lang="en-US" altLang="zh-CN" sz="2200" i="1" dirty="0">
                                  <a:latin typeface="Cambria Math" panose="02040503050406030204" charset="0"/>
                                  <a:cs typeface="Cambria Math" panose="02040503050406030204" charset="0"/>
                                </a:rPr>
                                <m:t>g</m:t>
                              </m:r>
                            </m:num>
                            <m:den>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𝑇</m:t>
                              </m:r>
                            </m:den>
                          </m:f>
                          <m:r>
                            <a:rPr kumimoji="1" lang="en-US" altLang="zh-CN" sz="2200" b="0" i="0" smtClean="0">
                              <a:solidFill>
                                <a:prstClr val="black"/>
                              </a:solidFill>
                              <a:latin typeface="Cambria Math" panose="02040503050406030204" pitchFamily="18" charset="0"/>
                              <a:ea typeface="黑体"/>
                              <a:cs typeface="+mn-ea"/>
                            </a:rPr>
                            <m:t> </m:t>
                          </m:r>
                        </m:e>
                      </m:d>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𝛿</m:t>
                          </m:r>
                        </m:e>
                        <m:sub>
                          <m:r>
                            <a:rPr kumimoji="1" lang="zh-CN" altLang="en-US" sz="2200">
                              <a:solidFill>
                                <a:prstClr val="black"/>
                              </a:solidFill>
                              <a:latin typeface="Cambria Math" panose="02040503050406030204" pitchFamily="18" charset="0"/>
                              <a:ea typeface="黑体"/>
                              <a:cs typeface="+mn-ea"/>
                            </a:rPr>
                            <m:t>𝑇</m:t>
                          </m:r>
                        </m:sub>
                      </m:sSub>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21" name="Object 10">
                <a:extLst>
                  <a:ext uri="{FF2B5EF4-FFF2-40B4-BE49-F238E27FC236}">
                    <a16:creationId xmlns:a16="http://schemas.microsoft.com/office/drawing/2014/main" id="{C48AB8F0-24CA-1AE0-CFAB-946B4FA28F44}"/>
                  </a:ext>
                </a:extLst>
              </p:cNvPr>
              <p:cNvSpPr txBox="1">
                <a:spLocks noRot="1" noChangeAspect="1" noMove="1" noResize="1" noEditPoints="1" noAdjustHandles="1" noChangeArrowheads="1" noChangeShapeType="1" noTextEdit="1"/>
              </p:cNvSpPr>
              <p:nvPr/>
            </p:nvSpPr>
            <p:spPr bwMode="auto">
              <a:xfrm>
                <a:off x="2810610" y="1763488"/>
                <a:ext cx="3531467" cy="95250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10">
                <a:extLst>
                  <a:ext uri="{FF2B5EF4-FFF2-40B4-BE49-F238E27FC236}">
                    <a16:creationId xmlns:a16="http://schemas.microsoft.com/office/drawing/2014/main" id="{95FF650E-FE2B-0424-F274-7ADFE6617883}"/>
                  </a:ext>
                </a:extLst>
              </p:cNvPr>
              <p:cNvSpPr txBox="1"/>
              <p:nvPr/>
            </p:nvSpPr>
            <p:spPr bwMode="auto">
              <a:xfrm>
                <a:off x="5910681" y="1724330"/>
                <a:ext cx="3351212" cy="9525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=4</m:t>
                      </m:r>
                      <m:sSup>
                        <m:sSupPr>
                          <m:ctrlPr>
                            <a:rPr kumimoji="1" lang="zh-CN" altLang="en-US" sz="2200" i="1">
                              <a:solidFill>
                                <a:prstClr val="black"/>
                              </a:solidFill>
                              <a:latin typeface="Cambria Math" panose="02040503050406030204" pitchFamily="18" charset="0"/>
                              <a:ea typeface="黑体"/>
                              <a:cs typeface="+mn-ea"/>
                            </a:rPr>
                          </m:ctrlPr>
                        </m:sSupPr>
                        <m:e>
                          <m:r>
                            <m:rPr>
                              <m:sty m:val="p"/>
                            </m:rPr>
                            <a:rPr kumimoji="1" lang="zh-CN" altLang="en-US" sz="2200" i="0">
                              <a:solidFill>
                                <a:prstClr val="black"/>
                              </a:solidFill>
                              <a:latin typeface="Cambria Math" panose="02040503050406030204" pitchFamily="18" charset="0"/>
                              <a:ea typeface="黑体"/>
                              <a:cs typeface="+mn-ea"/>
                            </a:rPr>
                            <m:t>π</m:t>
                          </m:r>
                        </m:e>
                        <m:sup>
                          <m:r>
                            <a:rPr kumimoji="1" lang="zh-CN" altLang="en-US" sz="2200">
                              <a:solidFill>
                                <a:prstClr val="black"/>
                              </a:solidFill>
                              <a:latin typeface="Cambria Math" panose="02040503050406030204" pitchFamily="18" charset="0"/>
                              <a:ea typeface="黑体"/>
                              <a:cs typeface="+mn-ea"/>
                            </a:rPr>
                            <m:t>2</m:t>
                          </m:r>
                        </m:sup>
                      </m:sSup>
                      <m:d>
                        <m:dPr>
                          <m:ctrlPr>
                            <a:rPr kumimoji="1" lang="zh-CN" altLang="en-US" sz="2200" i="1">
                              <a:solidFill>
                                <a:prstClr val="black"/>
                              </a:solidFill>
                              <a:latin typeface="Cambria Math" panose="02040503050406030204" pitchFamily="18" charset="0"/>
                              <a:ea typeface="黑体"/>
                              <a:cs typeface="+mn-ea"/>
                            </a:rPr>
                          </m:ctrlPr>
                        </m:dPr>
                        <m:e>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1</m:t>
                              </m:r>
                            </m:num>
                            <m:den>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𝑇</m:t>
                                  </m:r>
                                </m:e>
                                <m:sup>
                                  <m:r>
                                    <a:rPr kumimoji="1" lang="zh-CN" altLang="en-US" sz="2200">
                                      <a:solidFill>
                                        <a:prstClr val="black"/>
                                      </a:solidFill>
                                      <a:latin typeface="Cambria Math" panose="02040503050406030204" pitchFamily="18" charset="0"/>
                                      <a:ea typeface="黑体"/>
                                      <a:cs typeface="+mn-ea"/>
                                    </a:rPr>
                                    <m:t>2</m:t>
                                  </m:r>
                                </m:sup>
                              </m:sSup>
                            </m:den>
                          </m:f>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𝛿</m:t>
                              </m:r>
                            </m:e>
                            <m:sub>
                              <m:r>
                                <a:rPr kumimoji="1" lang="zh-CN" altLang="en-US" sz="2200">
                                  <a:solidFill>
                                    <a:prstClr val="black"/>
                                  </a:solidFill>
                                  <a:latin typeface="Cambria Math" panose="02040503050406030204" pitchFamily="18" charset="0"/>
                                  <a:ea typeface="黑体"/>
                                  <a:cs typeface="+mn-ea"/>
                                </a:rPr>
                                <m:t>𝑙</m:t>
                              </m:r>
                            </m:sub>
                          </m:sSub>
                          <m:r>
                            <a:rPr kumimoji="1" lang="zh-CN" altLang="en-US" sz="2200">
                              <a:solidFill>
                                <a:prstClr val="black"/>
                              </a:solidFill>
                              <a:latin typeface="Cambria Math" panose="02040503050406030204" pitchFamily="18" charset="0"/>
                              <a:ea typeface="黑体"/>
                              <a:cs typeface="+mn-ea"/>
                            </a:rPr>
                            <m:t>+</m:t>
                          </m:r>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2</m:t>
                              </m:r>
                              <m:r>
                                <a:rPr kumimoji="1" lang="zh-CN" altLang="en-US" sz="2200">
                                  <a:solidFill>
                                    <a:prstClr val="black"/>
                                  </a:solidFill>
                                  <a:latin typeface="Cambria Math" panose="02040503050406030204" pitchFamily="18" charset="0"/>
                                  <a:ea typeface="黑体"/>
                                  <a:cs typeface="+mn-ea"/>
                                </a:rPr>
                                <m:t>𝑙</m:t>
                              </m:r>
                            </m:num>
                            <m:den>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𝑇</m:t>
                                  </m:r>
                                </m:e>
                                <m:sup>
                                  <m:r>
                                    <a:rPr kumimoji="1" lang="zh-CN" altLang="en-US" sz="2200">
                                      <a:solidFill>
                                        <a:prstClr val="black"/>
                                      </a:solidFill>
                                      <a:latin typeface="Cambria Math" panose="02040503050406030204" pitchFamily="18" charset="0"/>
                                      <a:ea typeface="黑体"/>
                                      <a:cs typeface="+mn-ea"/>
                                    </a:rPr>
                                    <m:t>3</m:t>
                                  </m:r>
                                </m:sup>
                              </m:sSup>
                            </m:den>
                          </m:f>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𝛿</m:t>
                              </m:r>
                            </m:e>
                            <m:sub>
                              <m:r>
                                <a:rPr kumimoji="1" lang="zh-CN" altLang="en-US" sz="2200">
                                  <a:solidFill>
                                    <a:prstClr val="black"/>
                                  </a:solidFill>
                                  <a:latin typeface="Cambria Math" panose="02040503050406030204" pitchFamily="18" charset="0"/>
                                  <a:ea typeface="黑体"/>
                                  <a:cs typeface="+mn-ea"/>
                                </a:rPr>
                                <m:t>𝑇</m:t>
                              </m:r>
                            </m:sub>
                          </m:sSub>
                        </m:e>
                      </m:d>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22" name="Object 10">
                <a:extLst>
                  <a:ext uri="{FF2B5EF4-FFF2-40B4-BE49-F238E27FC236}">
                    <a16:creationId xmlns:a16="http://schemas.microsoft.com/office/drawing/2014/main" id="{95FF650E-FE2B-0424-F274-7ADFE6617883}"/>
                  </a:ext>
                </a:extLst>
              </p:cNvPr>
              <p:cNvSpPr txBox="1">
                <a:spLocks noRot="1" noChangeAspect="1" noMove="1" noResize="1" noEditPoints="1" noAdjustHandles="1" noChangeArrowheads="1" noChangeShapeType="1" noTextEdit="1"/>
              </p:cNvSpPr>
              <p:nvPr/>
            </p:nvSpPr>
            <p:spPr bwMode="auto">
              <a:xfrm>
                <a:off x="5910681" y="1724330"/>
                <a:ext cx="3351212" cy="95250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对象 22">
                <a:extLst>
                  <a:ext uri="{FF2B5EF4-FFF2-40B4-BE49-F238E27FC236}">
                    <a16:creationId xmlns:a16="http://schemas.microsoft.com/office/drawing/2014/main" id="{96DD30AE-0D98-96F3-12BF-04D74ED7C420}"/>
                  </a:ext>
                </a:extLst>
              </p:cNvPr>
              <p:cNvSpPr txBox="1"/>
              <p:nvPr/>
            </p:nvSpPr>
            <p:spPr>
              <a:xfrm>
                <a:off x="2810610" y="2712854"/>
                <a:ext cx="7658100" cy="4445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a:cs typeface="+mn-ea"/>
                        </a:rPr>
                        <m:t>将已知</m:t>
                      </m:r>
                      <m:r>
                        <a:rPr kumimoji="1" lang="zh-CN" altLang="en-US" sz="2200">
                          <a:solidFill>
                            <a:prstClr val="black"/>
                          </a:solidFill>
                          <a:latin typeface="Cambria Math" panose="02040503050406030204" pitchFamily="18" charset="0"/>
                          <a:ea typeface="黑体"/>
                          <a:cs typeface="+mn-ea"/>
                        </a:rPr>
                        <m:t>𝑙</m:t>
                      </m:r>
                      <m:r>
                        <a:rPr kumimoji="1" lang="zh-CN" altLang="en-US" sz="2200">
                          <a:solidFill>
                            <a:prstClr val="black"/>
                          </a:solidFill>
                          <a:latin typeface="Cambria Math" panose="02040503050406030204" pitchFamily="18" charset="0"/>
                          <a:ea typeface="黑体"/>
                          <a:cs typeface="+mn-ea"/>
                        </a:rPr>
                        <m:t>=100, </m:t>
                      </m:r>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𝛿</m:t>
                          </m:r>
                        </m:e>
                        <m:sub>
                          <m:r>
                            <a:rPr kumimoji="1" lang="zh-CN" altLang="en-US" sz="2200">
                              <a:solidFill>
                                <a:prstClr val="black"/>
                              </a:solidFill>
                              <a:latin typeface="Cambria Math" panose="02040503050406030204" pitchFamily="18" charset="0"/>
                              <a:ea typeface="黑体"/>
                              <a:cs typeface="+mn-ea"/>
                            </a:rPr>
                            <m:t>𝑙</m:t>
                          </m:r>
                        </m:sub>
                      </m:sSub>
                      <m:r>
                        <a:rPr kumimoji="1" lang="zh-CN" altLang="en-US" sz="2200">
                          <a:solidFill>
                            <a:prstClr val="black"/>
                          </a:solidFill>
                          <a:latin typeface="Cambria Math" panose="02040503050406030204" pitchFamily="18" charset="0"/>
                          <a:ea typeface="黑体"/>
                          <a:cs typeface="+mn-ea"/>
                        </a:rPr>
                        <m:t>=0.1, </m:t>
                      </m:r>
                      <m:r>
                        <a:rPr kumimoji="1" lang="zh-CN" altLang="en-US" sz="2200">
                          <a:solidFill>
                            <a:prstClr val="black"/>
                          </a:solidFill>
                          <a:latin typeface="Cambria Math" panose="02040503050406030204" pitchFamily="18" charset="0"/>
                          <a:ea typeface="黑体"/>
                          <a:cs typeface="+mn-ea"/>
                        </a:rPr>
                        <m:t>𝑇</m:t>
                      </m:r>
                      <m:r>
                        <a:rPr kumimoji="1" lang="zh-CN" altLang="en-US" sz="2200">
                          <a:solidFill>
                            <a:prstClr val="black"/>
                          </a:solidFill>
                          <a:latin typeface="Cambria Math" panose="02040503050406030204" pitchFamily="18" charset="0"/>
                          <a:ea typeface="黑体"/>
                          <a:cs typeface="+mn-ea"/>
                        </a:rPr>
                        <m:t>=2, </m:t>
                      </m:r>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i="1">
                              <a:solidFill>
                                <a:prstClr val="black"/>
                              </a:solidFill>
                              <a:latin typeface="Cambria Math" panose="02040503050406030204" pitchFamily="18" charset="0"/>
                              <a:ea typeface="黑体"/>
                              <a:cs typeface="+mn-ea"/>
                            </a:rPr>
                            <m:t>𝛿</m:t>
                          </m:r>
                        </m:e>
                        <m:sub>
                          <m:r>
                            <a:rPr kumimoji="1" lang="zh-CN" altLang="en-US" sz="2200">
                              <a:solidFill>
                                <a:prstClr val="black"/>
                              </a:solidFill>
                              <a:latin typeface="Cambria Math" panose="02040503050406030204" pitchFamily="18" charset="0"/>
                              <a:ea typeface="黑体"/>
                              <a:cs typeface="+mn-ea"/>
                            </a:rPr>
                            <m:t>𝑇</m:t>
                          </m:r>
                        </m:sub>
                      </m:sSub>
                      <m:r>
                        <a:rPr kumimoji="1" lang="zh-CN" altLang="en-US" sz="2200">
                          <a:solidFill>
                            <a:prstClr val="black"/>
                          </a:solidFill>
                          <a:latin typeface="Cambria Math" panose="02040503050406030204" pitchFamily="18" charset="0"/>
                          <a:ea typeface="黑体"/>
                          <a:cs typeface="+mn-ea"/>
                        </a:rPr>
                        <m:t>=0.004</m:t>
                      </m:r>
                      <m:r>
                        <a:rPr kumimoji="1" lang="zh-CN" altLang="en-US" sz="2200">
                          <a:solidFill>
                            <a:prstClr val="black"/>
                          </a:solidFill>
                          <a:latin typeface="Cambria Math" panose="02040503050406030204" pitchFamily="18" charset="0"/>
                          <a:ea typeface="黑体"/>
                          <a:cs typeface="+mn-ea"/>
                        </a:rPr>
                        <m:t>代入上式</m:t>
                      </m:r>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23" name="对象 22">
                <a:extLst>
                  <a:ext uri="{FF2B5EF4-FFF2-40B4-BE49-F238E27FC236}">
                    <a16:creationId xmlns:a16="http://schemas.microsoft.com/office/drawing/2014/main" id="{96DD30AE-0D98-96F3-12BF-04D74ED7C420}"/>
                  </a:ext>
                </a:extLst>
              </p:cNvPr>
              <p:cNvSpPr txBox="1">
                <a:spLocks noRot="1" noChangeAspect="1" noMove="1" noResize="1" noEditPoints="1" noAdjustHandles="1" noChangeArrowheads="1" noChangeShapeType="1" noTextEdit="1"/>
              </p:cNvSpPr>
              <p:nvPr/>
            </p:nvSpPr>
            <p:spPr>
              <a:xfrm>
                <a:off x="2810610" y="2712854"/>
                <a:ext cx="7658100" cy="444500"/>
              </a:xfrm>
              <a:prstGeom prst="rect">
                <a:avLst/>
              </a:prstGeom>
              <a:blipFill>
                <a:blip r:embed="rId5"/>
                <a:stretch>
                  <a:fillRect l="-557" b="-82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对象 23">
                <a:extLst>
                  <a:ext uri="{FF2B5EF4-FFF2-40B4-BE49-F238E27FC236}">
                    <a16:creationId xmlns:a16="http://schemas.microsoft.com/office/drawing/2014/main" id="{C212C5BB-600F-E6EE-3AD9-B408CE22C2E5}"/>
                  </a:ext>
                </a:extLst>
              </p:cNvPr>
              <p:cNvSpPr txBox="1"/>
              <p:nvPr/>
            </p:nvSpPr>
            <p:spPr>
              <a:xfrm>
                <a:off x="2810610" y="899888"/>
                <a:ext cx="6895452" cy="8890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solidFill>
                            <a:prstClr val="black"/>
                          </a:solidFill>
                          <a:latin typeface="Cambria Math" panose="02040503050406030204" pitchFamily="18" charset="0"/>
                          <a:ea typeface="黑体"/>
                          <a:cs typeface="+mn-ea"/>
                        </a:rPr>
                        <m:t>∵</m:t>
                      </m:r>
                      <m:r>
                        <m:rPr>
                          <m:nor/>
                        </m:rPr>
                        <a:rPr lang="en-US" altLang="zh-CN" sz="2200" i="1" dirty="0">
                          <a:latin typeface="Cambria Math" panose="02040503050406030204" charset="0"/>
                          <a:cs typeface="Cambria Math" panose="02040503050406030204" charset="0"/>
                        </a:rPr>
                        <m:t>g</m:t>
                      </m:r>
                      <m:r>
                        <a:rPr kumimoji="1" lang="zh-CN" altLang="en-US" sz="2200">
                          <a:solidFill>
                            <a:prstClr val="black"/>
                          </a:solidFill>
                          <a:latin typeface="Cambria Math" panose="02040503050406030204" pitchFamily="18" charset="0"/>
                          <a:ea typeface="黑体"/>
                          <a:cs typeface="+mn-ea"/>
                        </a:rPr>
                        <m:t>=</m:t>
                      </m:r>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4</m:t>
                          </m:r>
                          <m:sSup>
                            <m:sSupPr>
                              <m:ctrlPr>
                                <a:rPr kumimoji="1" lang="zh-CN" altLang="en-US" sz="2200" i="1">
                                  <a:solidFill>
                                    <a:prstClr val="black"/>
                                  </a:solidFill>
                                  <a:latin typeface="Cambria Math" panose="02040503050406030204" pitchFamily="18" charset="0"/>
                                  <a:ea typeface="黑体"/>
                                  <a:cs typeface="+mn-ea"/>
                                </a:rPr>
                              </m:ctrlPr>
                            </m:sSupPr>
                            <m:e>
                              <m:r>
                                <m:rPr>
                                  <m:sty m:val="p"/>
                                </m:rPr>
                                <a:rPr kumimoji="1" lang="zh-CN" altLang="en-US" sz="2200" i="0">
                                  <a:solidFill>
                                    <a:prstClr val="black"/>
                                  </a:solidFill>
                                  <a:latin typeface="Cambria Math" panose="02040503050406030204" pitchFamily="18" charset="0"/>
                                  <a:ea typeface="黑体"/>
                                  <a:cs typeface="+mn-ea"/>
                                </a:rPr>
                                <m:t>π</m:t>
                              </m:r>
                            </m:e>
                            <m:sup>
                              <m:r>
                                <a:rPr kumimoji="1" lang="zh-CN" altLang="en-US" sz="2200">
                                  <a:solidFill>
                                    <a:prstClr val="black"/>
                                  </a:solidFill>
                                  <a:latin typeface="Cambria Math" panose="02040503050406030204" pitchFamily="18" charset="0"/>
                                  <a:ea typeface="黑体"/>
                                  <a:cs typeface="+mn-ea"/>
                                </a:rPr>
                                <m:t>2</m:t>
                              </m:r>
                            </m:sup>
                          </m:sSup>
                          <m:r>
                            <a:rPr kumimoji="1" lang="zh-CN" altLang="en-US" sz="2200">
                              <a:solidFill>
                                <a:prstClr val="black"/>
                              </a:solidFill>
                              <a:latin typeface="Cambria Math" panose="02040503050406030204" pitchFamily="18" charset="0"/>
                              <a:ea typeface="黑体"/>
                              <a:cs typeface="+mn-ea"/>
                            </a:rPr>
                            <m:t>𝑙</m:t>
                          </m:r>
                        </m:num>
                        <m:den>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𝑇</m:t>
                              </m:r>
                            </m:e>
                            <m:sup>
                              <m:r>
                                <a:rPr kumimoji="1" lang="zh-CN" altLang="en-US" sz="2200">
                                  <a:solidFill>
                                    <a:prstClr val="black"/>
                                  </a:solidFill>
                                  <a:latin typeface="Cambria Math" panose="02040503050406030204" pitchFamily="18" charset="0"/>
                                  <a:ea typeface="黑体"/>
                                  <a:cs typeface="+mn-ea"/>
                                </a:rPr>
                                <m:t>2</m:t>
                              </m:r>
                            </m:sup>
                          </m:sSup>
                        </m:den>
                      </m:f>
                      <m:r>
                        <a:rPr kumimoji="1" lang="zh-CN" altLang="en-US" sz="2200">
                          <a:solidFill>
                            <a:prstClr val="black"/>
                          </a:solidFill>
                          <a:latin typeface="Cambria Math" panose="02040503050406030204" pitchFamily="18" charset="0"/>
                          <a:ea typeface="黑体"/>
                          <a:cs typeface="+mn-ea"/>
                        </a:rPr>
                        <m:t>⇒</m:t>
                      </m:r>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m:t>
                          </m:r>
                          <m:r>
                            <m:rPr>
                              <m:nor/>
                            </m:rPr>
                            <a:rPr lang="en-US" altLang="zh-CN" sz="2200" i="1" dirty="0">
                              <a:latin typeface="Cambria Math" panose="02040503050406030204" charset="0"/>
                              <a:cs typeface="Cambria Math" panose="02040503050406030204" charset="0"/>
                            </a:rPr>
                            <m:t>g</m:t>
                          </m:r>
                        </m:num>
                        <m:den>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𝑙</m:t>
                          </m:r>
                        </m:den>
                      </m:f>
                      <m:r>
                        <a:rPr kumimoji="1" lang="zh-CN" altLang="en-US" sz="2200">
                          <a:solidFill>
                            <a:prstClr val="black"/>
                          </a:solidFill>
                          <a:latin typeface="Cambria Math" panose="02040503050406030204" pitchFamily="18" charset="0"/>
                          <a:ea typeface="黑体"/>
                          <a:cs typeface="+mn-ea"/>
                        </a:rPr>
                        <m:t>=</m:t>
                      </m:r>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4</m:t>
                          </m:r>
                          <m:sSup>
                            <m:sSupPr>
                              <m:ctrlPr>
                                <a:rPr kumimoji="1" lang="zh-CN" altLang="en-US" sz="2200" i="1">
                                  <a:solidFill>
                                    <a:prstClr val="black"/>
                                  </a:solidFill>
                                  <a:latin typeface="Cambria Math" panose="02040503050406030204" pitchFamily="18" charset="0"/>
                                  <a:ea typeface="黑体"/>
                                  <a:cs typeface="+mn-ea"/>
                                </a:rPr>
                              </m:ctrlPr>
                            </m:sSupPr>
                            <m:e>
                              <m:r>
                                <m:rPr>
                                  <m:sty m:val="p"/>
                                </m:rPr>
                                <a:rPr kumimoji="1" lang="zh-CN" altLang="en-US" sz="2200" i="0">
                                  <a:solidFill>
                                    <a:prstClr val="black"/>
                                  </a:solidFill>
                                  <a:latin typeface="Cambria Math" panose="02040503050406030204" pitchFamily="18" charset="0"/>
                                  <a:ea typeface="黑体"/>
                                  <a:cs typeface="+mn-ea"/>
                                </a:rPr>
                                <m:t>π</m:t>
                              </m:r>
                            </m:e>
                            <m:sup>
                              <m:r>
                                <a:rPr kumimoji="1" lang="zh-CN" altLang="en-US" sz="2200">
                                  <a:solidFill>
                                    <a:prstClr val="black"/>
                                  </a:solidFill>
                                  <a:latin typeface="Cambria Math" panose="02040503050406030204" pitchFamily="18" charset="0"/>
                                  <a:ea typeface="黑体"/>
                                  <a:cs typeface="+mn-ea"/>
                                </a:rPr>
                                <m:t>2</m:t>
                              </m:r>
                            </m:sup>
                          </m:sSup>
                        </m:num>
                        <m:den>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𝑇</m:t>
                              </m:r>
                            </m:e>
                            <m:sup>
                              <m:r>
                                <a:rPr kumimoji="1" lang="zh-CN" altLang="en-US" sz="2200">
                                  <a:solidFill>
                                    <a:prstClr val="black"/>
                                  </a:solidFill>
                                  <a:latin typeface="Cambria Math" panose="02040503050406030204" pitchFamily="18" charset="0"/>
                                  <a:ea typeface="黑体"/>
                                  <a:cs typeface="+mn-ea"/>
                                </a:rPr>
                                <m:t>2</m:t>
                              </m:r>
                            </m:sup>
                          </m:sSup>
                        </m:den>
                      </m:f>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24" name="对象 23">
                <a:extLst>
                  <a:ext uri="{FF2B5EF4-FFF2-40B4-BE49-F238E27FC236}">
                    <a16:creationId xmlns:a16="http://schemas.microsoft.com/office/drawing/2014/main" id="{C212C5BB-600F-E6EE-3AD9-B408CE22C2E5}"/>
                  </a:ext>
                </a:extLst>
              </p:cNvPr>
              <p:cNvSpPr txBox="1">
                <a:spLocks noRot="1" noChangeAspect="1" noMove="1" noResize="1" noEditPoints="1" noAdjustHandles="1" noChangeArrowheads="1" noChangeShapeType="1" noTextEdit="1"/>
              </p:cNvSpPr>
              <p:nvPr/>
            </p:nvSpPr>
            <p:spPr>
              <a:xfrm>
                <a:off x="2810610" y="899888"/>
                <a:ext cx="6895452" cy="8890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对象 24">
                <a:extLst>
                  <a:ext uri="{FF2B5EF4-FFF2-40B4-BE49-F238E27FC236}">
                    <a16:creationId xmlns:a16="http://schemas.microsoft.com/office/drawing/2014/main" id="{44AB0B06-F032-B1F3-CF31-7348021CB8C6}"/>
                  </a:ext>
                </a:extLst>
              </p:cNvPr>
              <p:cNvSpPr txBox="1"/>
              <p:nvPr/>
            </p:nvSpPr>
            <p:spPr>
              <a:xfrm>
                <a:off x="2809340" y="3279022"/>
                <a:ext cx="3454400" cy="4445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smtClean="0">
                          <a:solidFill>
                            <a:prstClr val="black"/>
                          </a:solidFill>
                          <a:latin typeface="Cambria Math" panose="02040503050406030204" pitchFamily="18" charset="0"/>
                          <a:ea typeface="黑体"/>
                          <a:cs typeface="+mn-ea"/>
                        </a:rPr>
                        <m:t>得到</m:t>
                      </m:r>
                      <m:r>
                        <m:rPr>
                          <m:nor/>
                        </m:rPr>
                        <a:rPr kumimoji="1" lang="en-US" altLang="zh-CN" sz="2200" b="0" i="1" smtClean="0">
                          <a:solidFill>
                            <a:prstClr val="black"/>
                          </a:solidFill>
                          <a:latin typeface="Times New Roman" panose="020F0502020204030204"/>
                          <a:ea typeface="黑体"/>
                          <a:cs typeface="+mn-ea"/>
                        </a:rPr>
                        <m:t> </m:t>
                      </m:r>
                      <m:r>
                        <m:rPr>
                          <m:nor/>
                        </m:rPr>
                        <a:rPr lang="en-US" altLang="zh-CN" sz="2200" i="1" dirty="0">
                          <a:latin typeface="Cambria Math" panose="02040503050406030204" charset="0"/>
                          <a:cs typeface="Cambria Math" panose="02040503050406030204" charset="0"/>
                        </a:rPr>
                        <m:t>g</m:t>
                      </m:r>
                      <m:r>
                        <a:rPr lang="en-US" altLang="zh-CN" sz="2200" b="0" i="0" dirty="0" smtClean="0">
                          <a:latin typeface="Cambria Math" panose="02040503050406030204" pitchFamily="18" charset="0"/>
                          <a:cs typeface="Cambria Math" panose="02040503050406030204" charset="0"/>
                        </a:rPr>
                        <m:t> </m:t>
                      </m:r>
                      <m:r>
                        <a:rPr kumimoji="1" lang="zh-CN" altLang="en-US" sz="2200">
                          <a:solidFill>
                            <a:prstClr val="black"/>
                          </a:solidFill>
                          <a:latin typeface="Cambria Math" panose="02040503050406030204" pitchFamily="18" charset="0"/>
                          <a:ea typeface="黑体"/>
                          <a:cs typeface="+mn-ea"/>
                        </a:rPr>
                        <m:t>的绝对误差约为</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25" name="对象 24">
                <a:extLst>
                  <a:ext uri="{FF2B5EF4-FFF2-40B4-BE49-F238E27FC236}">
                    <a16:creationId xmlns:a16="http://schemas.microsoft.com/office/drawing/2014/main" id="{44AB0B06-F032-B1F3-CF31-7348021CB8C6}"/>
                  </a:ext>
                </a:extLst>
              </p:cNvPr>
              <p:cNvSpPr txBox="1">
                <a:spLocks noRot="1" noChangeAspect="1" noMove="1" noResize="1" noEditPoints="1" noAdjustHandles="1" noChangeArrowheads="1" noChangeShapeType="1" noTextEdit="1"/>
              </p:cNvSpPr>
              <p:nvPr/>
            </p:nvSpPr>
            <p:spPr>
              <a:xfrm>
                <a:off x="2809340" y="3279022"/>
                <a:ext cx="3454400" cy="444500"/>
              </a:xfrm>
              <a:prstGeom prst="rect">
                <a:avLst/>
              </a:prstGeom>
              <a:blipFill>
                <a:blip r:embed="rId7"/>
                <a:stretch>
                  <a:fillRect l="-1235" b="-68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Object 10">
                <a:extLst>
                  <a:ext uri="{FF2B5EF4-FFF2-40B4-BE49-F238E27FC236}">
                    <a16:creationId xmlns:a16="http://schemas.microsoft.com/office/drawing/2014/main" id="{EB46B3D4-DD3F-BD68-0D4D-28C8BB689BE7}"/>
                  </a:ext>
                </a:extLst>
              </p:cNvPr>
              <p:cNvSpPr txBox="1"/>
              <p:nvPr/>
            </p:nvSpPr>
            <p:spPr bwMode="auto">
              <a:xfrm>
                <a:off x="2810610" y="3823046"/>
                <a:ext cx="7921625" cy="9525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𝛿</m:t>
                          </m:r>
                        </m:e>
                        <m:sub>
                          <m:r>
                            <m:rPr>
                              <m:nor/>
                            </m:rPr>
                            <a:rPr lang="en-US" altLang="zh-CN" sz="2200" i="1" dirty="0">
                              <a:latin typeface="Cambria Math" panose="02040503050406030204" charset="0"/>
                              <a:cs typeface="Cambria Math" panose="02040503050406030204" charset="0"/>
                            </a:rPr>
                            <m:t>g</m:t>
                          </m:r>
                        </m:sub>
                      </m:sSub>
                      <m:r>
                        <a:rPr kumimoji="1" lang="zh-CN" altLang="en-US" sz="2200">
                          <a:solidFill>
                            <a:prstClr val="black"/>
                          </a:solidFill>
                          <a:latin typeface="Cambria Math" panose="02040503050406030204" pitchFamily="18" charset="0"/>
                          <a:ea typeface="黑体"/>
                          <a:cs typeface="+mn-ea"/>
                        </a:rPr>
                        <m:t>=4</m:t>
                      </m:r>
                      <m:sSup>
                        <m:sSupPr>
                          <m:ctrlPr>
                            <a:rPr kumimoji="1" lang="zh-CN" altLang="en-US" sz="2200" i="1">
                              <a:solidFill>
                                <a:prstClr val="black"/>
                              </a:solidFill>
                              <a:latin typeface="Cambria Math" panose="02040503050406030204" pitchFamily="18" charset="0"/>
                              <a:ea typeface="黑体"/>
                              <a:cs typeface="+mn-ea"/>
                            </a:rPr>
                          </m:ctrlPr>
                        </m:sSupPr>
                        <m:e>
                          <m:r>
                            <m:rPr>
                              <m:sty m:val="p"/>
                            </m:rPr>
                            <a:rPr kumimoji="1" lang="zh-CN" altLang="en-US" sz="2200" i="0">
                              <a:solidFill>
                                <a:prstClr val="black"/>
                              </a:solidFill>
                              <a:latin typeface="Cambria Math" panose="02040503050406030204" pitchFamily="18" charset="0"/>
                              <a:ea typeface="黑体"/>
                              <a:cs typeface="+mn-ea"/>
                            </a:rPr>
                            <m:t>π</m:t>
                          </m:r>
                        </m:e>
                        <m:sup>
                          <m:r>
                            <a:rPr kumimoji="1" lang="zh-CN" altLang="en-US" sz="2200">
                              <a:solidFill>
                                <a:prstClr val="black"/>
                              </a:solidFill>
                              <a:latin typeface="Cambria Math" panose="02040503050406030204" pitchFamily="18" charset="0"/>
                              <a:ea typeface="黑体"/>
                              <a:cs typeface="+mn-ea"/>
                            </a:rPr>
                            <m:t>2</m:t>
                          </m:r>
                        </m:sup>
                      </m:sSup>
                      <m:d>
                        <m:dPr>
                          <m:ctrlPr>
                            <a:rPr kumimoji="1" lang="zh-CN" altLang="en-US" sz="2200" i="1">
                              <a:solidFill>
                                <a:prstClr val="black"/>
                              </a:solidFill>
                              <a:latin typeface="Cambria Math" panose="02040503050406030204" pitchFamily="18" charset="0"/>
                              <a:ea typeface="黑体"/>
                              <a:cs typeface="+mn-ea"/>
                            </a:rPr>
                          </m:ctrlPr>
                        </m:dPr>
                        <m:e>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0.1</m:t>
                              </m:r>
                            </m:num>
                            <m:den>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2</m:t>
                                  </m:r>
                                </m:e>
                                <m:sup>
                                  <m:r>
                                    <a:rPr kumimoji="1" lang="zh-CN" altLang="en-US" sz="2200">
                                      <a:solidFill>
                                        <a:prstClr val="black"/>
                                      </a:solidFill>
                                      <a:latin typeface="Cambria Math" panose="02040503050406030204" pitchFamily="18" charset="0"/>
                                      <a:ea typeface="黑体"/>
                                      <a:cs typeface="+mn-ea"/>
                                    </a:rPr>
                                    <m:t>2</m:t>
                                  </m:r>
                                </m:sup>
                              </m:sSup>
                            </m:den>
                          </m:f>
                          <m:r>
                            <a:rPr kumimoji="1" lang="zh-CN" altLang="en-US" sz="2200">
                              <a:solidFill>
                                <a:prstClr val="black"/>
                              </a:solidFill>
                              <a:latin typeface="Cambria Math" panose="02040503050406030204" pitchFamily="18" charset="0"/>
                              <a:ea typeface="黑体"/>
                              <a:cs typeface="+mn-ea"/>
                            </a:rPr>
                            <m:t>+</m:t>
                          </m:r>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2×100</m:t>
                              </m:r>
                            </m:num>
                            <m:den>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2</m:t>
                                  </m:r>
                                </m:e>
                                <m:sup>
                                  <m:r>
                                    <a:rPr kumimoji="1" lang="zh-CN" altLang="en-US" sz="2200">
                                      <a:solidFill>
                                        <a:prstClr val="black"/>
                                      </a:solidFill>
                                      <a:latin typeface="Cambria Math" panose="02040503050406030204" pitchFamily="18" charset="0"/>
                                      <a:ea typeface="黑体"/>
                                      <a:cs typeface="+mn-ea"/>
                                    </a:rPr>
                                    <m:t>3</m:t>
                                  </m:r>
                                </m:sup>
                              </m:sSup>
                            </m:den>
                          </m:f>
                          <m:r>
                            <a:rPr kumimoji="1" lang="zh-CN" altLang="en-US" sz="2200">
                              <a:solidFill>
                                <a:prstClr val="black"/>
                              </a:solidFill>
                              <a:latin typeface="Cambria Math" panose="02040503050406030204" pitchFamily="18" charset="0"/>
                              <a:ea typeface="黑体"/>
                              <a:cs typeface="+mn-ea"/>
                            </a:rPr>
                            <m:t>×0.004</m:t>
                          </m:r>
                        </m:e>
                      </m:d>
                      <m:r>
                        <a:rPr kumimoji="1" lang="zh-CN" altLang="en-US" sz="2200">
                          <a:solidFill>
                            <a:prstClr val="black"/>
                          </a:solidFill>
                          <a:latin typeface="Cambria Math" panose="02040503050406030204" pitchFamily="18" charset="0"/>
                          <a:ea typeface="黑体"/>
                          <a:cs typeface="+mn-ea"/>
                        </a:rPr>
                        <m:t>=0.5</m:t>
                      </m:r>
                      <m:sSup>
                        <m:sSupPr>
                          <m:ctrlPr>
                            <a:rPr kumimoji="1" lang="zh-CN" altLang="en-US" sz="2200" i="1">
                              <a:solidFill>
                                <a:prstClr val="black"/>
                              </a:solidFill>
                              <a:latin typeface="Cambria Math" panose="02040503050406030204" pitchFamily="18" charset="0"/>
                              <a:ea typeface="黑体"/>
                              <a:cs typeface="+mn-ea"/>
                            </a:rPr>
                          </m:ctrlPr>
                        </m:sSupPr>
                        <m:e>
                          <m:r>
                            <m:rPr>
                              <m:sty m:val="p"/>
                            </m:rPr>
                            <a:rPr kumimoji="1" lang="zh-CN" altLang="en-US" sz="2200" i="0">
                              <a:solidFill>
                                <a:prstClr val="black"/>
                              </a:solidFill>
                              <a:latin typeface="Cambria Math" panose="02040503050406030204" pitchFamily="18" charset="0"/>
                              <a:ea typeface="黑体"/>
                              <a:cs typeface="+mn-ea"/>
                            </a:rPr>
                            <m:t>π</m:t>
                          </m:r>
                        </m:e>
                        <m:sup>
                          <m:r>
                            <a:rPr kumimoji="1" lang="zh-CN" altLang="en-US" sz="2200">
                              <a:solidFill>
                                <a:prstClr val="black"/>
                              </a:solidFill>
                              <a:latin typeface="Cambria Math" panose="02040503050406030204" pitchFamily="18" charset="0"/>
                              <a:ea typeface="黑体"/>
                              <a:cs typeface="+mn-ea"/>
                            </a:rPr>
                            <m:t>2</m:t>
                          </m:r>
                        </m:sup>
                      </m:sSup>
                      <m:r>
                        <a:rPr kumimoji="1" lang="zh-CN" altLang="en-US" sz="2200">
                          <a:solidFill>
                            <a:prstClr val="black"/>
                          </a:solidFill>
                          <a:latin typeface="Cambria Math" panose="02040503050406030204" pitchFamily="18" charset="0"/>
                          <a:ea typeface="黑体"/>
                          <a:cs typeface="+mn-ea"/>
                        </a:rPr>
                        <m:t>≈4.93(</m:t>
                      </m:r>
                      <m:r>
                        <m:rPr>
                          <m:sty m:val="p"/>
                        </m:rPr>
                        <a:rPr kumimoji="1" lang="zh-CN" altLang="en-US" sz="2200">
                          <a:solidFill>
                            <a:prstClr val="black"/>
                          </a:solidFill>
                          <a:latin typeface="Cambria Math" panose="02040503050406030204" pitchFamily="18" charset="0"/>
                          <a:ea typeface="黑体"/>
                          <a:cs typeface="+mn-ea"/>
                        </a:rPr>
                        <m:t>cm</m:t>
                      </m:r>
                      <m:r>
                        <a:rPr kumimoji="1" lang="zh-CN" altLang="en-US" sz="2200">
                          <a:solidFill>
                            <a:prstClr val="black"/>
                          </a:solidFill>
                          <a:latin typeface="Cambria Math" panose="02040503050406030204" pitchFamily="18" charset="0"/>
                          <a:ea typeface="黑体"/>
                          <a:cs typeface="+mn-ea"/>
                        </a:rPr>
                        <m:t>/</m:t>
                      </m:r>
                      <m:sSup>
                        <m:sSupPr>
                          <m:ctrlPr>
                            <a:rPr kumimoji="1" lang="zh-CN" altLang="en-US" sz="2200" i="1">
                              <a:solidFill>
                                <a:prstClr val="black"/>
                              </a:solidFill>
                              <a:latin typeface="Cambria Math" panose="02040503050406030204" pitchFamily="18" charset="0"/>
                              <a:ea typeface="黑体"/>
                              <a:cs typeface="+mn-ea"/>
                            </a:rPr>
                          </m:ctrlPr>
                        </m:sSupPr>
                        <m:e>
                          <m:r>
                            <m:rPr>
                              <m:sty m:val="p"/>
                            </m:rPr>
                            <a:rPr kumimoji="1" lang="zh-CN" altLang="en-US" sz="2200">
                              <a:solidFill>
                                <a:prstClr val="black"/>
                              </a:solidFill>
                              <a:latin typeface="Cambria Math" panose="02040503050406030204" pitchFamily="18" charset="0"/>
                              <a:ea typeface="黑体"/>
                              <a:cs typeface="+mn-ea"/>
                            </a:rPr>
                            <m:t>s</m:t>
                          </m:r>
                        </m:e>
                        <m:sup>
                          <m:r>
                            <a:rPr kumimoji="1" lang="zh-CN" altLang="en-US" sz="2200">
                              <a:solidFill>
                                <a:prstClr val="black"/>
                              </a:solidFill>
                              <a:latin typeface="Cambria Math" panose="02040503050406030204" pitchFamily="18" charset="0"/>
                              <a:ea typeface="黑体"/>
                              <a:cs typeface="+mn-ea"/>
                            </a:rPr>
                            <m:t>2</m:t>
                          </m:r>
                        </m:sup>
                      </m:sSup>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26" name="Object 10">
                <a:extLst>
                  <a:ext uri="{FF2B5EF4-FFF2-40B4-BE49-F238E27FC236}">
                    <a16:creationId xmlns:a16="http://schemas.microsoft.com/office/drawing/2014/main" id="{EB46B3D4-DD3F-BD68-0D4D-28C8BB689BE7}"/>
                  </a:ext>
                </a:extLst>
              </p:cNvPr>
              <p:cNvSpPr txBox="1">
                <a:spLocks noRot="1" noChangeAspect="1" noMove="1" noResize="1" noEditPoints="1" noAdjustHandles="1" noChangeArrowheads="1" noChangeShapeType="1" noTextEdit="1"/>
              </p:cNvSpPr>
              <p:nvPr/>
            </p:nvSpPr>
            <p:spPr bwMode="auto">
              <a:xfrm>
                <a:off x="2810610" y="3823046"/>
                <a:ext cx="7921625" cy="95250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对象 26">
                <a:extLst>
                  <a:ext uri="{FF2B5EF4-FFF2-40B4-BE49-F238E27FC236}">
                    <a16:creationId xmlns:a16="http://schemas.microsoft.com/office/drawing/2014/main" id="{EA117E0B-4BF9-26BB-FB69-836256D84565}"/>
                  </a:ext>
                </a:extLst>
              </p:cNvPr>
              <p:cNvSpPr txBox="1"/>
              <p:nvPr/>
            </p:nvSpPr>
            <p:spPr>
              <a:xfrm>
                <a:off x="2810610" y="5004056"/>
                <a:ext cx="3467100" cy="4445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smtClean="0">
                          <a:solidFill>
                            <a:prstClr val="black"/>
                          </a:solidFill>
                          <a:latin typeface="Cambria Math" panose="02040503050406030204" pitchFamily="18" charset="0"/>
                          <a:ea typeface="黑体"/>
                          <a:cs typeface="+mn-ea"/>
                        </a:rPr>
                        <m:t>于是</m:t>
                      </m:r>
                      <m:r>
                        <a:rPr kumimoji="1" lang="en-US" altLang="zh-CN" sz="2200" b="0" i="0" smtClean="0">
                          <a:solidFill>
                            <a:prstClr val="black"/>
                          </a:solidFill>
                          <a:latin typeface="Cambria Math" panose="02040503050406030204" pitchFamily="18" charset="0"/>
                          <a:ea typeface="黑体"/>
                          <a:cs typeface="+mn-ea"/>
                        </a:rPr>
                        <m:t> </m:t>
                      </m:r>
                      <m:r>
                        <m:rPr>
                          <m:nor/>
                        </m:rPr>
                        <a:rPr lang="en-US" altLang="zh-CN" sz="2200" i="1" dirty="0">
                          <a:latin typeface="Cambria Math" panose="02040503050406030204" charset="0"/>
                          <a:cs typeface="Cambria Math" panose="02040503050406030204" charset="0"/>
                        </a:rPr>
                        <m:t>g</m:t>
                      </m:r>
                      <m:r>
                        <a:rPr lang="en-US" altLang="zh-CN" sz="2200" b="0" i="0" dirty="0" smtClean="0">
                          <a:latin typeface="Cambria Math" panose="02040503050406030204" pitchFamily="18" charset="0"/>
                          <a:cs typeface="Cambria Math" panose="02040503050406030204" charset="0"/>
                        </a:rPr>
                        <m:t> </m:t>
                      </m:r>
                      <m:r>
                        <a:rPr kumimoji="1" lang="zh-CN" altLang="en-US" sz="2200">
                          <a:solidFill>
                            <a:prstClr val="black"/>
                          </a:solidFill>
                          <a:latin typeface="Cambria Math" panose="02040503050406030204" pitchFamily="18" charset="0"/>
                          <a:ea typeface="黑体"/>
                          <a:cs typeface="+mn-ea"/>
                        </a:rPr>
                        <m:t>的相对误差约为</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27" name="对象 26">
                <a:extLst>
                  <a:ext uri="{FF2B5EF4-FFF2-40B4-BE49-F238E27FC236}">
                    <a16:creationId xmlns:a16="http://schemas.microsoft.com/office/drawing/2014/main" id="{EA117E0B-4BF9-26BB-FB69-836256D84565}"/>
                  </a:ext>
                </a:extLst>
              </p:cNvPr>
              <p:cNvSpPr txBox="1">
                <a:spLocks noRot="1" noChangeAspect="1" noMove="1" noResize="1" noEditPoints="1" noAdjustHandles="1" noChangeArrowheads="1" noChangeShapeType="1" noTextEdit="1"/>
              </p:cNvSpPr>
              <p:nvPr/>
            </p:nvSpPr>
            <p:spPr>
              <a:xfrm>
                <a:off x="2810610" y="5004056"/>
                <a:ext cx="3467100" cy="444500"/>
              </a:xfrm>
              <a:prstGeom prst="rect">
                <a:avLst/>
              </a:prstGeom>
              <a:blipFill>
                <a:blip r:embed="rId9"/>
                <a:stretch>
                  <a:fillRect l="-1054" b="-68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Object 10">
                <a:extLst>
                  <a:ext uri="{FF2B5EF4-FFF2-40B4-BE49-F238E27FC236}">
                    <a16:creationId xmlns:a16="http://schemas.microsoft.com/office/drawing/2014/main" id="{EAE3CEB4-493F-FE02-2677-C9A41F628932}"/>
                  </a:ext>
                </a:extLst>
              </p:cNvPr>
              <p:cNvSpPr txBox="1"/>
              <p:nvPr/>
            </p:nvSpPr>
            <p:spPr bwMode="auto">
              <a:xfrm>
                <a:off x="5752765" y="4775546"/>
                <a:ext cx="3728585" cy="10287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200" i="1" smtClean="0">
                              <a:solidFill>
                                <a:prstClr val="black"/>
                              </a:solidFill>
                              <a:latin typeface="Cambria Math" panose="02040503050406030204" pitchFamily="18" charset="0"/>
                              <a:ea typeface="黑体"/>
                              <a:cs typeface="+mn-ea"/>
                            </a:rPr>
                          </m:ctrlPr>
                        </m:fPr>
                        <m:num>
                          <m:sSub>
                            <m:sSubPr>
                              <m:ctrlPr>
                                <a:rPr kumimoji="1" lang="zh-CN" altLang="en-US" sz="2200" i="1">
                                  <a:solidFill>
                                    <a:prstClr val="black"/>
                                  </a:solidFill>
                                  <a:latin typeface="Cambria Math" panose="02040503050406030204" pitchFamily="18" charset="0"/>
                                  <a:ea typeface="黑体"/>
                                  <a:cs typeface="+mn-ea"/>
                                </a:rPr>
                              </m:ctrlPr>
                            </m:sSubPr>
                            <m:e>
                              <m:r>
                                <a:rPr kumimoji="1" lang="zh-CN" altLang="en-US" sz="2200">
                                  <a:solidFill>
                                    <a:prstClr val="black"/>
                                  </a:solidFill>
                                  <a:latin typeface="Cambria Math" panose="02040503050406030204" pitchFamily="18" charset="0"/>
                                  <a:ea typeface="黑体"/>
                                  <a:cs typeface="+mn-ea"/>
                                </a:rPr>
                                <m:t>𝛿</m:t>
                              </m:r>
                            </m:e>
                            <m:sub>
                              <m:r>
                                <m:rPr>
                                  <m:nor/>
                                </m:rPr>
                                <a:rPr lang="en-US" altLang="zh-CN" sz="2200" i="1" dirty="0">
                                  <a:latin typeface="Cambria Math" panose="02040503050406030204" charset="0"/>
                                  <a:cs typeface="Cambria Math" panose="02040503050406030204" charset="0"/>
                                </a:rPr>
                                <m:t>g</m:t>
                              </m:r>
                            </m:sub>
                          </m:sSub>
                        </m:num>
                        <m:den>
                          <m:r>
                            <m:rPr>
                              <m:nor/>
                            </m:rPr>
                            <a:rPr lang="en-US" altLang="zh-CN" sz="2200" i="1" dirty="0">
                              <a:latin typeface="Cambria Math" panose="02040503050406030204" charset="0"/>
                              <a:cs typeface="Cambria Math" panose="02040503050406030204" charset="0"/>
                            </a:rPr>
                            <m:t>g</m:t>
                          </m:r>
                        </m:den>
                      </m:f>
                      <m:r>
                        <a:rPr kumimoji="1" lang="zh-CN" altLang="en-US" sz="2200">
                          <a:solidFill>
                            <a:prstClr val="black"/>
                          </a:solidFill>
                          <a:latin typeface="Cambria Math" panose="02040503050406030204" pitchFamily="18" charset="0"/>
                          <a:ea typeface="黑体"/>
                          <a:cs typeface="+mn-ea"/>
                        </a:rPr>
                        <m:t>=</m:t>
                      </m:r>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0.5</m:t>
                          </m:r>
                          <m:sSup>
                            <m:sSupPr>
                              <m:ctrlPr>
                                <a:rPr kumimoji="1" lang="zh-CN" altLang="en-US" sz="2200" i="1">
                                  <a:solidFill>
                                    <a:prstClr val="black"/>
                                  </a:solidFill>
                                  <a:latin typeface="Cambria Math" panose="02040503050406030204" pitchFamily="18" charset="0"/>
                                  <a:ea typeface="黑体"/>
                                  <a:cs typeface="+mn-ea"/>
                                </a:rPr>
                              </m:ctrlPr>
                            </m:sSupPr>
                            <m:e>
                              <m:r>
                                <m:rPr>
                                  <m:sty m:val="p"/>
                                </m:rPr>
                                <a:rPr kumimoji="1" lang="zh-CN" altLang="en-US" sz="2200" i="0">
                                  <a:solidFill>
                                    <a:prstClr val="black"/>
                                  </a:solidFill>
                                  <a:latin typeface="Cambria Math" panose="02040503050406030204" pitchFamily="18" charset="0"/>
                                  <a:ea typeface="黑体"/>
                                  <a:cs typeface="+mn-ea"/>
                                </a:rPr>
                                <m:t>π</m:t>
                              </m:r>
                            </m:e>
                            <m:sup>
                              <m:r>
                                <a:rPr kumimoji="1" lang="zh-CN" altLang="en-US" sz="2200">
                                  <a:solidFill>
                                    <a:prstClr val="black"/>
                                  </a:solidFill>
                                  <a:latin typeface="Cambria Math" panose="02040503050406030204" pitchFamily="18" charset="0"/>
                                  <a:ea typeface="黑体"/>
                                  <a:cs typeface="+mn-ea"/>
                                </a:rPr>
                                <m:t>2</m:t>
                              </m:r>
                            </m:sup>
                          </m:sSup>
                        </m:num>
                        <m:den>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4</m:t>
                              </m:r>
                              <m:sSup>
                                <m:sSupPr>
                                  <m:ctrlPr>
                                    <a:rPr kumimoji="1" lang="zh-CN" altLang="en-US" sz="2200" i="1">
                                      <a:solidFill>
                                        <a:prstClr val="black"/>
                                      </a:solidFill>
                                      <a:latin typeface="Cambria Math" panose="02040503050406030204" pitchFamily="18" charset="0"/>
                                      <a:ea typeface="黑体"/>
                                      <a:cs typeface="+mn-ea"/>
                                    </a:rPr>
                                  </m:ctrlPr>
                                </m:sSupPr>
                                <m:e>
                                  <m:r>
                                    <m:rPr>
                                      <m:sty m:val="p"/>
                                    </m:rPr>
                                    <a:rPr kumimoji="1" lang="zh-CN" altLang="en-US" sz="2200" i="0">
                                      <a:solidFill>
                                        <a:prstClr val="black"/>
                                      </a:solidFill>
                                      <a:latin typeface="Cambria Math" panose="02040503050406030204" pitchFamily="18" charset="0"/>
                                      <a:ea typeface="黑体"/>
                                      <a:cs typeface="+mn-ea"/>
                                    </a:rPr>
                                    <m:t>π</m:t>
                                  </m:r>
                                </m:e>
                                <m:sup>
                                  <m:r>
                                    <a:rPr kumimoji="1" lang="zh-CN" altLang="en-US" sz="2200">
                                      <a:solidFill>
                                        <a:prstClr val="black"/>
                                      </a:solidFill>
                                      <a:latin typeface="Cambria Math" panose="02040503050406030204" pitchFamily="18" charset="0"/>
                                      <a:ea typeface="黑体"/>
                                      <a:cs typeface="+mn-ea"/>
                                    </a:rPr>
                                    <m:t>2</m:t>
                                  </m:r>
                                </m:sup>
                              </m:sSup>
                              <m:r>
                                <a:rPr kumimoji="1" lang="zh-CN" altLang="en-US" sz="2200">
                                  <a:solidFill>
                                    <a:prstClr val="black"/>
                                  </a:solidFill>
                                  <a:latin typeface="Cambria Math" panose="02040503050406030204" pitchFamily="18" charset="0"/>
                                  <a:ea typeface="黑体"/>
                                  <a:cs typeface="+mn-ea"/>
                                </a:rPr>
                                <m:t>×100</m:t>
                              </m:r>
                            </m:num>
                            <m:den>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2</m:t>
                                  </m:r>
                                </m:e>
                                <m:sup>
                                  <m:r>
                                    <a:rPr kumimoji="1" lang="zh-CN" altLang="en-US" sz="2200">
                                      <a:solidFill>
                                        <a:prstClr val="black"/>
                                      </a:solidFill>
                                      <a:latin typeface="Cambria Math" panose="02040503050406030204" pitchFamily="18" charset="0"/>
                                      <a:ea typeface="黑体"/>
                                      <a:cs typeface="+mn-ea"/>
                                    </a:rPr>
                                    <m:t>2</m:t>
                                  </m:r>
                                </m:sup>
                              </m:sSup>
                            </m:den>
                          </m:f>
                        </m:den>
                      </m:f>
                      <m:r>
                        <a:rPr kumimoji="1" lang="zh-CN" altLang="en-US" sz="2200">
                          <a:solidFill>
                            <a:prstClr val="black"/>
                          </a:solidFill>
                          <a:latin typeface="Cambria Math" panose="02040503050406030204" pitchFamily="18" charset="0"/>
                          <a:ea typeface="黑体"/>
                          <a:cs typeface="+mn-ea"/>
                        </a:rPr>
                        <m:t>≈0.5</m:t>
                      </m:r>
                      <m:r>
                        <a:rPr kumimoji="1" lang="en-US" altLang="zh-CN" sz="2200" b="0" i="1" smtClean="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28" name="Object 10">
                <a:extLst>
                  <a:ext uri="{FF2B5EF4-FFF2-40B4-BE49-F238E27FC236}">
                    <a16:creationId xmlns:a16="http://schemas.microsoft.com/office/drawing/2014/main" id="{EAE3CEB4-493F-FE02-2677-C9A41F628932}"/>
                  </a:ext>
                </a:extLst>
              </p:cNvPr>
              <p:cNvSpPr txBox="1">
                <a:spLocks noRot="1" noChangeAspect="1" noMove="1" noResize="1" noEditPoints="1" noAdjustHandles="1" noChangeArrowheads="1" noChangeShapeType="1" noTextEdit="1"/>
              </p:cNvSpPr>
              <p:nvPr/>
            </p:nvSpPr>
            <p:spPr bwMode="auto">
              <a:xfrm>
                <a:off x="5752765" y="4775546"/>
                <a:ext cx="3728585" cy="102870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对象 23">
                <a:extLst>
                  <a:ext uri="{FF2B5EF4-FFF2-40B4-BE49-F238E27FC236}">
                    <a16:creationId xmlns:a16="http://schemas.microsoft.com/office/drawing/2014/main" id="{940D3FB9-BCB8-315B-DFE2-2417A6A2051E}"/>
                  </a:ext>
                </a:extLst>
              </p:cNvPr>
              <p:cNvSpPr txBox="1"/>
              <p:nvPr/>
            </p:nvSpPr>
            <p:spPr>
              <a:xfrm>
                <a:off x="5829510" y="906012"/>
                <a:ext cx="2044983" cy="8890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200" i="1" smtClean="0">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m:t>
                          </m:r>
                          <m:r>
                            <m:rPr>
                              <m:nor/>
                            </m:rPr>
                            <a:rPr lang="en-US" altLang="zh-CN" sz="2200" i="1" dirty="0">
                              <a:latin typeface="Cambria Math" panose="02040503050406030204" charset="0"/>
                              <a:cs typeface="Cambria Math" panose="02040503050406030204" charset="0"/>
                            </a:rPr>
                            <m:t>g</m:t>
                          </m:r>
                        </m:num>
                        <m:den>
                          <m:r>
                            <a:rPr kumimoji="1" lang="zh-CN" altLang="en-US" sz="2200">
                              <a:solidFill>
                                <a:prstClr val="black"/>
                              </a:solidFill>
                              <a:latin typeface="Cambria Math" panose="02040503050406030204" pitchFamily="18" charset="0"/>
                              <a:ea typeface="黑体"/>
                              <a:cs typeface="+mn-ea"/>
                            </a:rPr>
                            <m:t>𝜕</m:t>
                          </m:r>
                          <m:r>
                            <a:rPr kumimoji="1" lang="zh-CN" altLang="en-US" sz="2200">
                              <a:solidFill>
                                <a:prstClr val="black"/>
                              </a:solidFill>
                              <a:latin typeface="Cambria Math" panose="02040503050406030204" pitchFamily="18" charset="0"/>
                              <a:ea typeface="黑体"/>
                              <a:cs typeface="+mn-ea"/>
                            </a:rPr>
                            <m:t>𝑇</m:t>
                          </m:r>
                        </m:den>
                      </m:f>
                      <m:r>
                        <a:rPr kumimoji="1" lang="zh-CN" altLang="en-US" sz="2200">
                          <a:solidFill>
                            <a:prstClr val="black"/>
                          </a:solidFill>
                          <a:latin typeface="Cambria Math" panose="02040503050406030204" pitchFamily="18" charset="0"/>
                          <a:ea typeface="黑体"/>
                          <a:cs typeface="+mn-ea"/>
                        </a:rPr>
                        <m:t>=−</m:t>
                      </m:r>
                      <m:r>
                        <a:rPr kumimoji="1" lang="en-US" altLang="zh-CN" sz="2200" b="0" i="0" smtClean="0">
                          <a:solidFill>
                            <a:prstClr val="black"/>
                          </a:solidFill>
                          <a:latin typeface="Cambria Math" panose="02040503050406030204" pitchFamily="18" charset="0"/>
                          <a:ea typeface="黑体"/>
                          <a:cs typeface="+mn-ea"/>
                        </a:rPr>
                        <m:t> </m:t>
                      </m:r>
                      <m:f>
                        <m:fPr>
                          <m:ctrlPr>
                            <a:rPr kumimoji="1" lang="zh-CN" altLang="en-US" sz="2200" i="1">
                              <a:solidFill>
                                <a:prstClr val="black"/>
                              </a:solidFill>
                              <a:latin typeface="Cambria Math" panose="02040503050406030204" pitchFamily="18" charset="0"/>
                              <a:ea typeface="黑体"/>
                              <a:cs typeface="+mn-ea"/>
                            </a:rPr>
                          </m:ctrlPr>
                        </m:fPr>
                        <m:num>
                          <m:r>
                            <a:rPr kumimoji="1" lang="zh-CN" altLang="en-US" sz="2200">
                              <a:solidFill>
                                <a:prstClr val="black"/>
                              </a:solidFill>
                              <a:latin typeface="Cambria Math" panose="02040503050406030204" pitchFamily="18" charset="0"/>
                              <a:ea typeface="黑体"/>
                              <a:cs typeface="+mn-ea"/>
                            </a:rPr>
                            <m:t>8</m:t>
                          </m:r>
                          <m:sSup>
                            <m:sSupPr>
                              <m:ctrlPr>
                                <a:rPr kumimoji="1" lang="zh-CN" altLang="en-US" sz="2200" i="1">
                                  <a:solidFill>
                                    <a:prstClr val="black"/>
                                  </a:solidFill>
                                  <a:latin typeface="Cambria Math" panose="02040503050406030204" pitchFamily="18" charset="0"/>
                                  <a:ea typeface="黑体"/>
                                  <a:cs typeface="+mn-ea"/>
                                </a:rPr>
                              </m:ctrlPr>
                            </m:sSupPr>
                            <m:e>
                              <m:r>
                                <m:rPr>
                                  <m:sty m:val="p"/>
                                </m:rPr>
                                <a:rPr kumimoji="1" lang="zh-CN" altLang="en-US" sz="2200" i="0">
                                  <a:solidFill>
                                    <a:prstClr val="black"/>
                                  </a:solidFill>
                                  <a:latin typeface="Cambria Math" panose="02040503050406030204" pitchFamily="18" charset="0"/>
                                  <a:ea typeface="黑体"/>
                                  <a:cs typeface="+mn-ea"/>
                                </a:rPr>
                                <m:t>π</m:t>
                              </m:r>
                            </m:e>
                            <m:sup>
                              <m:r>
                                <a:rPr kumimoji="1" lang="zh-CN" altLang="en-US" sz="2200">
                                  <a:solidFill>
                                    <a:prstClr val="black"/>
                                  </a:solidFill>
                                  <a:latin typeface="Cambria Math" panose="02040503050406030204" pitchFamily="18" charset="0"/>
                                  <a:ea typeface="黑体"/>
                                  <a:cs typeface="+mn-ea"/>
                                </a:rPr>
                                <m:t>2</m:t>
                              </m:r>
                            </m:sup>
                          </m:sSup>
                        </m:num>
                        <m:den>
                          <m:sSup>
                            <m:sSupPr>
                              <m:ctrlPr>
                                <a:rPr kumimoji="1" lang="zh-CN" altLang="en-US" sz="2200" i="1">
                                  <a:solidFill>
                                    <a:prstClr val="black"/>
                                  </a:solidFill>
                                  <a:latin typeface="Cambria Math" panose="02040503050406030204" pitchFamily="18" charset="0"/>
                                  <a:ea typeface="黑体"/>
                                  <a:cs typeface="+mn-ea"/>
                                </a:rPr>
                              </m:ctrlPr>
                            </m:sSupPr>
                            <m:e>
                              <m:r>
                                <a:rPr kumimoji="1" lang="zh-CN" altLang="en-US" sz="2200">
                                  <a:solidFill>
                                    <a:prstClr val="black"/>
                                  </a:solidFill>
                                  <a:latin typeface="Cambria Math" panose="02040503050406030204" pitchFamily="18" charset="0"/>
                                  <a:ea typeface="黑体"/>
                                  <a:cs typeface="+mn-ea"/>
                                </a:rPr>
                                <m:t>𝑇</m:t>
                              </m:r>
                            </m:e>
                            <m:sup>
                              <m:r>
                                <a:rPr kumimoji="1" lang="zh-CN" altLang="en-US" sz="2200">
                                  <a:solidFill>
                                    <a:prstClr val="black"/>
                                  </a:solidFill>
                                  <a:latin typeface="Cambria Math" panose="02040503050406030204" pitchFamily="18" charset="0"/>
                                  <a:ea typeface="黑体"/>
                                  <a:cs typeface="+mn-ea"/>
                                </a:rPr>
                                <m:t>3</m:t>
                              </m:r>
                            </m:sup>
                          </m:sSup>
                        </m:den>
                      </m:f>
                      <m:r>
                        <a:rPr kumimoji="1" lang="en-US" altLang="zh-CN" sz="2200" b="0" i="1" smtClean="0">
                          <a:solidFill>
                            <a:prstClr val="black"/>
                          </a:solidFill>
                          <a:latin typeface="Cambria Math" panose="02040503050406030204" pitchFamily="18" charset="0"/>
                          <a:ea typeface="黑体"/>
                          <a:cs typeface="+mn-ea"/>
                        </a:rPr>
                        <m:t>𝑙</m:t>
                      </m:r>
                      <m:r>
                        <a:rPr kumimoji="1" lang="en-US" altLang="zh-CN" sz="2200" b="0" i="0" smtClean="0">
                          <a:solidFill>
                            <a:prstClr val="black"/>
                          </a:solidFill>
                          <a:latin typeface="Cambria Math" panose="02040503050406030204" pitchFamily="18" charset="0"/>
                          <a:ea typeface="黑体"/>
                          <a:cs typeface="+mn-ea"/>
                        </a:rPr>
                        <m:t> </m:t>
                      </m:r>
                      <m:r>
                        <a:rPr kumimoji="1" lang="zh-CN" altLang="en-US" sz="2200">
                          <a:solidFill>
                            <a:prstClr val="black"/>
                          </a:solidFill>
                          <a:latin typeface="Cambria Math" panose="02040503050406030204" pitchFamily="18" charset="0"/>
                          <a:ea typeface="黑体"/>
                          <a:cs typeface="+mn-ea"/>
                        </a:rPr>
                        <m:t>,</m:t>
                      </m:r>
                    </m:oMath>
                  </m:oMathPara>
                </a14:m>
                <a:endParaRPr kumimoji="1" lang="zh-CN" altLang="en-US" sz="2200" dirty="0">
                  <a:solidFill>
                    <a:prstClr val="black"/>
                  </a:solidFill>
                  <a:latin typeface="Times New Roman" panose="020F0502020204030204"/>
                  <a:ea typeface="黑体"/>
                  <a:cs typeface="+mn-ea"/>
                </a:endParaRPr>
              </a:p>
            </p:txBody>
          </p:sp>
        </mc:Choice>
        <mc:Fallback xmlns="">
          <p:sp>
            <p:nvSpPr>
              <p:cNvPr id="2" name="对象 23">
                <a:extLst>
                  <a:ext uri="{FF2B5EF4-FFF2-40B4-BE49-F238E27FC236}">
                    <a16:creationId xmlns:a16="http://schemas.microsoft.com/office/drawing/2014/main" id="{940D3FB9-BCB8-315B-DFE2-2417A6A2051E}"/>
                  </a:ext>
                </a:extLst>
              </p:cNvPr>
              <p:cNvSpPr txBox="1">
                <a:spLocks noRot="1" noChangeAspect="1" noMove="1" noResize="1" noEditPoints="1" noAdjustHandles="1" noChangeArrowheads="1" noChangeShapeType="1" noTextEdit="1"/>
              </p:cNvSpPr>
              <p:nvPr/>
            </p:nvSpPr>
            <p:spPr>
              <a:xfrm>
                <a:off x="5829510" y="906012"/>
                <a:ext cx="2044983" cy="889000"/>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516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left)">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wipe(left)">
                                      <p:cBhvr>
                                        <p:cTn id="40" dur="500"/>
                                        <p:tgtEl>
                                          <p:spTgt spid="2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wipe(left)">
                                      <p:cBhvr>
                                        <p:cTn id="45" dur="500"/>
                                        <p:tgtEl>
                                          <p:spTgt spid="2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wipe(left)">
                                      <p:cBhvr>
                                        <p:cTn id="5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27" grpId="0"/>
      <p:bldP spid="28" grpId="0"/>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3454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ZkODBiMGY1YmQ1MDgyN2Q2NGE3YzQ0YzI2NDc4MmYifQ=="/>
  <p:tag name="KSO_WPP_MARK_KEY" val="fdc9232b-9af6-4935-ba35-6661cd720253"/>
</p:tagLst>
</file>

<file path=ppt/tags/tag2.xml><?xml version="1.0" encoding="utf-8"?>
<p:tagLst xmlns:a="http://schemas.openxmlformats.org/drawingml/2006/main" xmlns:r="http://schemas.openxmlformats.org/officeDocument/2006/relationships" xmlns:p="http://schemas.openxmlformats.org/presentationml/2006/main">
  <p:tag name="PA" val="v5.2.9"/>
</p:tagLst>
</file>

<file path=ppt/tags/tag3.xml><?xml version="1.0" encoding="utf-8"?>
<p:tagLst xmlns:a="http://schemas.openxmlformats.org/drawingml/2006/main" xmlns:r="http://schemas.openxmlformats.org/officeDocument/2006/relationships" xmlns:p="http://schemas.openxmlformats.org/presentationml/2006/main">
  <p:tag name="PA" val="v5.2.9"/>
</p:tagLst>
</file>

<file path=ppt/tags/tag4.xml><?xml version="1.0" encoding="utf-8"?>
<p:tagLst xmlns:a="http://schemas.openxmlformats.org/drawingml/2006/main" xmlns:r="http://schemas.openxmlformats.org/officeDocument/2006/relationships" xmlns:p="http://schemas.openxmlformats.org/presentationml/2006/main">
  <p:tag name="PA" val="v5.2.9"/>
</p:tagLst>
</file>

<file path=ppt/tags/tag5.xml><?xml version="1.0" encoding="utf-8"?>
<p:tagLst xmlns:a="http://schemas.openxmlformats.org/drawingml/2006/main" xmlns:r="http://schemas.openxmlformats.org/officeDocument/2006/relationships" xmlns:p="http://schemas.openxmlformats.org/presentationml/2006/main">
  <p:tag name="PA" val="v5.2.9"/>
</p:tagLst>
</file>

<file path=ppt/tags/tag6.xml><?xml version="1.0" encoding="utf-8"?>
<p:tagLst xmlns:a="http://schemas.openxmlformats.org/drawingml/2006/main" xmlns:r="http://schemas.openxmlformats.org/officeDocument/2006/relationships" xmlns:p="http://schemas.openxmlformats.org/presentationml/2006/main">
  <p:tag name="PA" val="v5.2.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00000">
              <a:srgbClr val="007434">
                <a:alpha val="31000"/>
              </a:srgbClr>
            </a:gs>
            <a:gs pos="4000">
              <a:schemeClr val="bg1">
                <a:alpha val="0"/>
              </a:schemeClr>
            </a:gs>
          </a:gsLst>
          <a:lin ang="15600000" scaled="0"/>
          <a:tileRect/>
        </a:gradFill>
        <a:ln>
          <a:noFill/>
        </a:ln>
      </a:spPr>
      <a:bodyPr rtlCol="0" anchor="ctr"/>
      <a:lstStyle>
        <a:defPPr algn="ctr">
          <a:defRPr>
            <a:latin typeface="字魂36号-正文宋楷" panose="00000500000000000000" pitchFamily="2" charset="-122"/>
            <a:ea typeface="字魂36号-正文宋楷" panose="00000500000000000000" pitchFamily="2"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2812</TotalTime>
  <Words>2343</Words>
  <Application>Microsoft Office PowerPoint</Application>
  <PresentationFormat>宽屏</PresentationFormat>
  <Paragraphs>331</Paragraphs>
  <Slides>30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30</vt:i4>
      </vt:variant>
    </vt:vector>
  </HeadingPairs>
  <TitlesOfParts>
    <vt:vector size="43" baseType="lpstr">
      <vt:lpstr>等线</vt:lpstr>
      <vt:lpstr>黑体</vt:lpstr>
      <vt:lpstr>华文中宋</vt:lpstr>
      <vt:lpstr>宋体</vt:lpstr>
      <vt:lpstr>微软雅黑</vt:lpstr>
      <vt:lpstr>字魂36号-正文宋楷</vt:lpstr>
      <vt:lpstr>Arial</vt:lpstr>
      <vt:lpstr>Calibri</vt:lpstr>
      <vt:lpstr>Calibri Light</vt:lpstr>
      <vt:lpstr>Calisto MT</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HEP</dc:creator>
  <cp:lastModifiedBy>yang fan</cp:lastModifiedBy>
  <cp:revision>472</cp:revision>
  <cp:lastPrinted>2023-06-06T06:09:11Z</cp:lastPrinted>
  <dcterms:created xsi:type="dcterms:W3CDTF">2022-03-21T05:54:00Z</dcterms:created>
  <dcterms:modified xsi:type="dcterms:W3CDTF">2023-07-06T03:18:25Z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C93CED513F0B46FCBF998E52C285068F</vt:lpwstr>
  </property>
  <property fmtid="{D5CDD505-2E9C-101B-9397-08002B2CF9AE}" pid="3" name="KSOProductBuildVer">
    <vt:lpwstr>2052-11.1.0.11744</vt:lpwstr>
  </property>
</Properties>
</file>