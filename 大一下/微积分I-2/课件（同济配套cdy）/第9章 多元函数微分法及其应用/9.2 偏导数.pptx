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922" r:id="rId3"/>
    <p:sldId id="664" r:id="rId4"/>
    <p:sldId id="817" r:id="rId5"/>
    <p:sldId id="778" r:id="rId6"/>
    <p:sldId id="892" r:id="rId7"/>
    <p:sldId id="893" r:id="rId8"/>
    <p:sldId id="894" r:id="rId9"/>
    <p:sldId id="895" r:id="rId10"/>
    <p:sldId id="897" r:id="rId11"/>
    <p:sldId id="898" r:id="rId12"/>
    <p:sldId id="899" r:id="rId13"/>
    <p:sldId id="900" r:id="rId14"/>
    <p:sldId id="901" r:id="rId15"/>
    <p:sldId id="902" r:id="rId16"/>
    <p:sldId id="903" r:id="rId17"/>
    <p:sldId id="904" r:id="rId18"/>
    <p:sldId id="905" r:id="rId19"/>
    <p:sldId id="896" r:id="rId20"/>
    <p:sldId id="906" r:id="rId21"/>
    <p:sldId id="908" r:id="rId22"/>
    <p:sldId id="907" r:id="rId23"/>
    <p:sldId id="909" r:id="rId24"/>
    <p:sldId id="910" r:id="rId25"/>
    <p:sldId id="912" r:id="rId26"/>
    <p:sldId id="913" r:id="rId27"/>
    <p:sldId id="911" r:id="rId28"/>
    <p:sldId id="914" r:id="rId29"/>
    <p:sldId id="916" r:id="rId30"/>
    <p:sldId id="917" r:id="rId31"/>
    <p:sldId id="364" r:id="rId32"/>
  </p:sldIdLst>
  <p:sldSz cx="12192000" cy="6858000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7BA8"/>
    <a:srgbClr val="04926A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1A41-C3E3-49DC-B8E2-5FB79F6BD7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7AB0-E0D1-4C23-847C-8B6B1533D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5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409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598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943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734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560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7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42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591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302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596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597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47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069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702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374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152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251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3463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614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1661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503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6089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8702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624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8B7B72-FE5F-FE65-4D2C-E3DB1DB54AC9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86EB1-B307-14DE-BA1D-E20FC7BCEDB0}"/>
              </a:ext>
            </a:extLst>
          </p:cNvPr>
          <p:cNvCxnSpPr/>
          <p:nvPr userDrawn="1"/>
        </p:nvCxnSpPr>
        <p:spPr>
          <a:xfrm>
            <a:off x="2041112" y="6589556"/>
            <a:ext cx="1015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87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690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3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77.png"/><Relationship Id="rId18" Type="http://schemas.openxmlformats.org/officeDocument/2006/relationships/image" Target="../media/image87.png"/><Relationship Id="rId3" Type="http://schemas.openxmlformats.org/officeDocument/2006/relationships/image" Target="../media/image72.png"/><Relationship Id="rId21" Type="http://schemas.openxmlformats.org/officeDocument/2006/relationships/image" Target="../media/image90.png"/><Relationship Id="rId7" Type="http://schemas.openxmlformats.org/officeDocument/2006/relationships/image" Target="../media/image75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8.png"/><Relationship Id="rId18" Type="http://schemas.openxmlformats.org/officeDocument/2006/relationships/image" Target="../media/image101.png"/><Relationship Id="rId3" Type="http://schemas.openxmlformats.org/officeDocument/2006/relationships/image" Target="../media/image720.png"/><Relationship Id="rId7" Type="http://schemas.openxmlformats.org/officeDocument/2006/relationships/image" Target="../media/image94.png"/><Relationship Id="rId12" Type="http://schemas.openxmlformats.org/officeDocument/2006/relationships/image" Target="../media/image97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3.png"/><Relationship Id="rId11" Type="http://schemas.openxmlformats.org/officeDocument/2006/relationships/image" Target="../media/image920.png"/><Relationship Id="rId5" Type="http://schemas.openxmlformats.org/officeDocument/2006/relationships/image" Target="../media/image860.png"/><Relationship Id="rId15" Type="http://schemas.openxmlformats.org/officeDocument/2006/relationships/image" Target="../media/image99.png"/><Relationship Id="rId10" Type="http://schemas.openxmlformats.org/officeDocument/2006/relationships/image" Target="../media/image910.png"/><Relationship Id="rId19" Type="http://schemas.openxmlformats.org/officeDocument/2006/relationships/image" Target="../media/image102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Relationship Id="rId14" Type="http://schemas.openxmlformats.org/officeDocument/2006/relationships/image" Target="../media/image9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710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" Type="http://schemas.openxmlformats.org/officeDocument/2006/relationships/image" Target="../media/image72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650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720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4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15.xml"/><Relationship Id="rId20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0" Type="http://schemas.openxmlformats.org/officeDocument/2006/relationships/image" Target="../media/image157.png"/><Relationship Id="rId19" Type="http://schemas.openxmlformats.org/officeDocument/2006/relationships/image" Target="../media/image160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5.png"/><Relationship Id="rId4" Type="http://schemas.openxmlformats.org/officeDocument/2006/relationships/image" Target="../media/image1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94.png"/><Relationship Id="rId20" Type="http://schemas.openxmlformats.org/officeDocument/2006/relationships/image" Target="../media/image19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10" Type="http://schemas.openxmlformats.org/officeDocument/2006/relationships/image" Target="../media/image188.png"/><Relationship Id="rId19" Type="http://schemas.openxmlformats.org/officeDocument/2006/relationships/image" Target="../media/image197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710.png"/><Relationship Id="rId7" Type="http://schemas.openxmlformats.org/officeDocument/2006/relationships/image" Target="../media/image20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png"/><Relationship Id="rId3" Type="http://schemas.openxmlformats.org/officeDocument/2006/relationships/image" Target="../media/image1860.pn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Relationship Id="rId14" Type="http://schemas.openxmlformats.org/officeDocument/2006/relationships/image" Target="../media/image2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8.png"/><Relationship Id="rId5" Type="http://schemas.openxmlformats.org/officeDocument/2006/relationships/image" Target="../media/image217.png"/><Relationship Id="rId4" Type="http://schemas.openxmlformats.org/officeDocument/2006/relationships/image" Target="../media/image21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8.png"/><Relationship Id="rId3" Type="http://schemas.openxmlformats.org/officeDocument/2006/relationships/image" Target="../media/image2130.png"/><Relationship Id="rId7" Type="http://schemas.openxmlformats.org/officeDocument/2006/relationships/image" Target="../media/image222.png"/><Relationship Id="rId12" Type="http://schemas.openxmlformats.org/officeDocument/2006/relationships/image" Target="../media/image2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1.png"/><Relationship Id="rId11" Type="http://schemas.openxmlformats.org/officeDocument/2006/relationships/image" Target="../media/image226.png"/><Relationship Id="rId5" Type="http://schemas.openxmlformats.org/officeDocument/2006/relationships/image" Target="../media/image220.png"/><Relationship Id="rId10" Type="http://schemas.openxmlformats.org/officeDocument/2006/relationships/image" Target="../media/image225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18" Type="http://schemas.openxmlformats.org/officeDocument/2006/relationships/image" Target="../media/image243.png"/><Relationship Id="rId3" Type="http://schemas.openxmlformats.org/officeDocument/2006/relationships/image" Target="../media/image2130.png"/><Relationship Id="rId7" Type="http://schemas.openxmlformats.org/officeDocument/2006/relationships/image" Target="../media/image232.png"/><Relationship Id="rId12" Type="http://schemas.openxmlformats.org/officeDocument/2006/relationships/image" Target="../media/image237.png"/><Relationship Id="rId17" Type="http://schemas.openxmlformats.org/officeDocument/2006/relationships/image" Target="../media/image242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41.png"/><Relationship Id="rId20" Type="http://schemas.openxmlformats.org/officeDocument/2006/relationships/image" Target="../media/image2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1.png"/><Relationship Id="rId11" Type="http://schemas.openxmlformats.org/officeDocument/2006/relationships/image" Target="../media/image236.png"/><Relationship Id="rId5" Type="http://schemas.openxmlformats.org/officeDocument/2006/relationships/image" Target="../media/image230.png"/><Relationship Id="rId15" Type="http://schemas.openxmlformats.org/officeDocument/2006/relationships/image" Target="../media/image240.png"/><Relationship Id="rId10" Type="http://schemas.openxmlformats.org/officeDocument/2006/relationships/image" Target="../media/image235.png"/><Relationship Id="rId19" Type="http://schemas.openxmlformats.org/officeDocument/2006/relationships/image" Target="../media/image244.png"/><Relationship Id="rId4" Type="http://schemas.openxmlformats.org/officeDocument/2006/relationships/image" Target="../media/image229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1B6C4-35F1-7875-98C1-A82818FC227F}"/>
              </a:ext>
            </a:extLst>
          </p:cNvPr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多元函数微分法及其应用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066930-DF94-DF6F-9EC0-A1295840C882}"/>
              </a:ext>
            </a:extLst>
          </p:cNvPr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>
              <a:extLst>
                <a:ext uri="{FF2B5EF4-FFF2-40B4-BE49-F238E27FC236}">
                  <a16:creationId xmlns:a16="http://schemas.microsoft.com/office/drawing/2014/main" id="{2EB9713E-EEE0-DC80-43B7-769012092E62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F3844B-AAC9-5582-BC84-02299D166C65}"/>
                </a:ext>
              </a:extLst>
            </p:cNvPr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33C61B-C6F5-3F38-0087-496DEA7A139A}"/>
                </a:ext>
              </a:extLst>
            </p:cNvPr>
            <p:cNvSpPr/>
            <p:nvPr/>
          </p:nvSpPr>
          <p:spPr>
            <a:xfrm>
              <a:off x="4131" y="8233"/>
              <a:ext cx="2263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A8E5B8-DE15-F373-0143-9F49B2503382}"/>
              </a:ext>
            </a:extLst>
          </p:cNvPr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57FF1588-584F-6CCF-8E4D-ACAA5D847F7B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7CE5D6D-1331-95F7-B14D-69F1DEC4A353}"/>
                </a:ext>
              </a:extLst>
            </p:cNvPr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BA4533-8480-3426-1642-FAFD9FB15DB4}"/>
                </a:ext>
              </a:extLst>
            </p:cNvPr>
            <p:cNvSpPr/>
            <p:nvPr/>
          </p:nvSpPr>
          <p:spPr>
            <a:xfrm>
              <a:off x="3889" y="7955"/>
              <a:ext cx="2756" cy="13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善于类比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区别异同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B4882-32F6-3E47-B43D-2E381BD7331B}"/>
              </a:ext>
            </a:extLst>
          </p:cNvPr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0EF9C-1D20-A540-B9A1-9EA25E112FAE}"/>
              </a:ext>
            </a:extLst>
          </p:cNvPr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A557CA-A43B-FE4D-AEC3-A535128611AD}"/>
              </a:ext>
            </a:extLst>
          </p:cNvPr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1CAB0E-F901-C74E-9497-8002684B70E8}"/>
              </a:ext>
            </a:extLst>
          </p:cNvPr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221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35895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650733" y="686345"/>
            <a:ext cx="289053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第二节  偏导数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86D9470-445D-1A4E-8C79-4FABC6F415EB}"/>
              </a:ext>
            </a:extLst>
          </p:cNvPr>
          <p:cNvGrpSpPr/>
          <p:nvPr/>
        </p:nvGrpSpPr>
        <p:grpSpPr>
          <a:xfrm>
            <a:off x="3376753" y="2320981"/>
            <a:ext cx="5438494" cy="901065"/>
            <a:chOff x="3977909" y="1027774"/>
            <a:chExt cx="5438494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977909" y="1027774"/>
              <a:ext cx="543849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4304152" y="1217006"/>
              <a:ext cx="485261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ea"/>
                  <a:sym typeface="+mn-lt"/>
                </a:rPr>
                <a:t>偏导数的定义及其计算法</a:t>
              </a:r>
              <a:endParaRPr lang="zh-CN" altLang="en-US" sz="2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5AC671-4239-4442-839D-0B10800C5DE4}"/>
              </a:ext>
            </a:extLst>
          </p:cNvPr>
          <p:cNvGrpSpPr/>
          <p:nvPr/>
        </p:nvGrpSpPr>
        <p:grpSpPr>
          <a:xfrm>
            <a:off x="3376753" y="3756603"/>
            <a:ext cx="5438494" cy="901065"/>
            <a:chOff x="3977910" y="2138091"/>
            <a:chExt cx="5438494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977910" y="2138091"/>
              <a:ext cx="543849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4218088" y="2327323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latin typeface="+mj-ea"/>
                  <a:ea typeface="+mj-ea"/>
                </a:rPr>
                <a:t>高阶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ea"/>
                  <a:sym typeface="+mn-lt"/>
                </a:rPr>
                <a:t>导数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37331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204FB457-EFC4-F341-4B4F-1E05B24BC467}"/>
              </a:ext>
            </a:extLst>
          </p:cNvPr>
          <p:cNvSpPr txBox="1">
            <a:spLocks noChangeArrowheads="1"/>
          </p:cNvSpPr>
          <p:nvPr/>
        </p:nvSpPr>
        <p:spPr>
          <a:xfrm>
            <a:off x="1087748" y="804548"/>
            <a:ext cx="6669947" cy="54930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一、偏导数的定义及其计算法</a:t>
            </a:r>
          </a:p>
        </p:txBody>
      </p:sp>
      <p:sp>
        <p:nvSpPr>
          <p:cNvPr id="3" name="右箭头 11">
            <a:extLst>
              <a:ext uri="{FF2B5EF4-FFF2-40B4-BE49-F238E27FC236}">
                <a16:creationId xmlns:a16="http://schemas.microsoft.com/office/drawing/2014/main" id="{0AF8822E-1FEE-D45F-9F34-7D88A85FF9E7}"/>
              </a:ext>
            </a:extLst>
          </p:cNvPr>
          <p:cNvSpPr/>
          <p:nvPr/>
        </p:nvSpPr>
        <p:spPr>
          <a:xfrm>
            <a:off x="7835321" y="5056448"/>
            <a:ext cx="3413716" cy="849496"/>
          </a:xfrm>
          <a:prstGeom prst="rightArrow">
            <a:avLst>
              <a:gd name="adj1" fmla="val 56057"/>
              <a:gd name="adj2" fmla="val 48552"/>
            </a:avLst>
          </a:prstGeom>
          <a:solidFill>
            <a:srgbClr val="04926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引出偏导数的定义</a:t>
            </a:r>
          </a:p>
        </p:txBody>
      </p:sp>
      <p:sp>
        <p:nvSpPr>
          <p:cNvPr id="4" name="Line 43">
            <a:extLst>
              <a:ext uri="{FF2B5EF4-FFF2-40B4-BE49-F238E27FC236}">
                <a16:creationId xmlns:a16="http://schemas.microsoft.com/office/drawing/2014/main" id="{A0C3DE48-B953-54C4-9CBA-C9F079A90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6440" y="5119342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5">
                <a:extLst>
                  <a:ext uri="{FF2B5EF4-FFF2-40B4-BE49-F238E27FC236}">
                    <a16:creationId xmlns:a16="http://schemas.microsoft.com/office/drawing/2014/main" id="{849E4B56-ED8A-FC7E-DB1F-B8039E87C3D3}"/>
                  </a:ext>
                </a:extLst>
              </p:cNvPr>
              <p:cNvSpPr txBox="1"/>
              <p:nvPr/>
            </p:nvSpPr>
            <p:spPr>
              <a:xfrm>
                <a:off x="2932834" y="4102618"/>
                <a:ext cx="4272462" cy="58072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二元函数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5">
                <a:extLst>
                  <a:ext uri="{FF2B5EF4-FFF2-40B4-BE49-F238E27FC236}">
                    <a16:creationId xmlns:a16="http://schemas.microsoft.com/office/drawing/2014/main" id="{849E4B56-ED8A-FC7E-DB1F-B8039E87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834" y="4102618"/>
                <a:ext cx="4272462" cy="5807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10">
                <a:extLst>
                  <a:ext uri="{FF2B5EF4-FFF2-40B4-BE49-F238E27FC236}">
                    <a16:creationId xmlns:a16="http://schemas.microsoft.com/office/drawing/2014/main" id="{D14D7EEF-659D-CC2A-A421-63F3A9EAE441}"/>
                  </a:ext>
                </a:extLst>
              </p:cNvPr>
              <p:cNvSpPr txBox="1"/>
              <p:nvPr/>
            </p:nvSpPr>
            <p:spPr>
              <a:xfrm>
                <a:off x="2932274" y="2936338"/>
                <a:ext cx="6834331" cy="97147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对象 10">
                <a:extLst>
                  <a:ext uri="{FF2B5EF4-FFF2-40B4-BE49-F238E27FC236}">
                    <a16:creationId xmlns:a16="http://schemas.microsoft.com/office/drawing/2014/main" id="{D14D7EEF-659D-CC2A-A421-63F3A9EAE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274" y="2936338"/>
                <a:ext cx="6834331" cy="971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30">
                <a:extLst>
                  <a:ext uri="{FF2B5EF4-FFF2-40B4-BE49-F238E27FC236}">
                    <a16:creationId xmlns:a16="http://schemas.microsoft.com/office/drawing/2014/main" id="{A20E7A08-3CA7-EDAC-2856-89CB7E76CDAF}"/>
                  </a:ext>
                </a:extLst>
              </p:cNvPr>
              <p:cNvSpPr txBox="1"/>
              <p:nvPr/>
            </p:nvSpPr>
            <p:spPr>
              <a:xfrm>
                <a:off x="2929572" y="2218310"/>
                <a:ext cx="6980788" cy="5232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一元函数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的导数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变化率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对象 30">
                <a:extLst>
                  <a:ext uri="{FF2B5EF4-FFF2-40B4-BE49-F238E27FC236}">
                    <a16:creationId xmlns:a16="http://schemas.microsoft.com/office/drawing/2014/main" id="{A20E7A08-3CA7-EDAC-2856-89CB7E76C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572" y="2218310"/>
                <a:ext cx="698078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31">
                <a:extLst>
                  <a:ext uri="{FF2B5EF4-FFF2-40B4-BE49-F238E27FC236}">
                    <a16:creationId xmlns:a16="http://schemas.microsoft.com/office/drawing/2014/main" id="{F4C15AFA-EC1F-8B75-EFB7-68EA227863AF}"/>
                  </a:ext>
                </a:extLst>
              </p:cNvPr>
              <p:cNvSpPr txBox="1"/>
              <p:nvPr/>
            </p:nvSpPr>
            <p:spPr>
              <a:xfrm>
                <a:off x="2923869" y="4830597"/>
                <a:ext cx="1033370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固定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31">
                <a:extLst>
                  <a:ext uri="{FF2B5EF4-FFF2-40B4-BE49-F238E27FC236}">
                    <a16:creationId xmlns:a16="http://schemas.microsoft.com/office/drawing/2014/main" id="{F4C15AFA-EC1F-8B75-EFB7-68EA22786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869" y="4830597"/>
                <a:ext cx="1033370" cy="523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32">
                <a:extLst>
                  <a:ext uri="{FF2B5EF4-FFF2-40B4-BE49-F238E27FC236}">
                    <a16:creationId xmlns:a16="http://schemas.microsoft.com/office/drawing/2014/main" id="{F437E525-FC38-FA9E-A9A5-D2EF3372E840}"/>
                  </a:ext>
                </a:extLst>
              </p:cNvPr>
              <p:cNvSpPr txBox="1"/>
              <p:nvPr/>
            </p:nvSpPr>
            <p:spPr>
              <a:xfrm>
                <a:off x="4995626" y="4855062"/>
                <a:ext cx="2966900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的变化率？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32">
                <a:extLst>
                  <a:ext uri="{FF2B5EF4-FFF2-40B4-BE49-F238E27FC236}">
                    <a16:creationId xmlns:a16="http://schemas.microsoft.com/office/drawing/2014/main" id="{F437E525-FC38-FA9E-A9A5-D2EF3372E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626" y="4855062"/>
                <a:ext cx="2966900" cy="431800"/>
              </a:xfrm>
              <a:prstGeom prst="rect">
                <a:avLst/>
              </a:prstGeom>
              <a:blipFill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43">
            <a:extLst>
              <a:ext uri="{FF2B5EF4-FFF2-40B4-BE49-F238E27FC236}">
                <a16:creationId xmlns:a16="http://schemas.microsoft.com/office/drawing/2014/main" id="{0B97EC84-B095-46FE-2460-6469686AF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6440" y="5871416"/>
            <a:ext cx="7921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39">
                <a:extLst>
                  <a:ext uri="{FF2B5EF4-FFF2-40B4-BE49-F238E27FC236}">
                    <a16:creationId xmlns:a16="http://schemas.microsoft.com/office/drawing/2014/main" id="{0EFD1DCE-D4B4-D8CB-7F41-0438D1FAD02A}"/>
                  </a:ext>
                </a:extLst>
              </p:cNvPr>
              <p:cNvSpPr txBox="1"/>
              <p:nvPr/>
            </p:nvSpPr>
            <p:spPr>
              <a:xfrm>
                <a:off x="2923869" y="5597419"/>
                <a:ext cx="1033370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固定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对象 39">
                <a:extLst>
                  <a:ext uri="{FF2B5EF4-FFF2-40B4-BE49-F238E27FC236}">
                    <a16:creationId xmlns:a16="http://schemas.microsoft.com/office/drawing/2014/main" id="{0EFD1DCE-D4B4-D8CB-7F41-0438D1FAD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869" y="5597419"/>
                <a:ext cx="1033370" cy="5232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40">
                <a:extLst>
                  <a:ext uri="{FF2B5EF4-FFF2-40B4-BE49-F238E27FC236}">
                    <a16:creationId xmlns:a16="http://schemas.microsoft.com/office/drawing/2014/main" id="{B1D8DDC4-F713-96E6-9697-72C1876BD0D1}"/>
                  </a:ext>
                </a:extLst>
              </p:cNvPr>
              <p:cNvSpPr txBox="1"/>
              <p:nvPr/>
            </p:nvSpPr>
            <p:spPr>
              <a:xfrm>
                <a:off x="4995625" y="5568238"/>
                <a:ext cx="3195599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的变化率？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对象 40">
                <a:extLst>
                  <a:ext uri="{FF2B5EF4-FFF2-40B4-BE49-F238E27FC236}">
                    <a16:creationId xmlns:a16="http://schemas.microsoft.com/office/drawing/2014/main" id="{B1D8DDC4-F713-96E6-9697-72C1876BD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625" y="5568238"/>
                <a:ext cx="3195599" cy="431800"/>
              </a:xfrm>
              <a:prstGeom prst="rect">
                <a:avLst/>
              </a:prstGeom>
              <a:blipFill>
                <a:blip r:embed="rId9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">
            <a:extLst>
              <a:ext uri="{FF2B5EF4-FFF2-40B4-BE49-F238E27FC236}">
                <a16:creationId xmlns:a16="http://schemas.microsoft.com/office/drawing/2014/main" id="{318BE488-E557-E83D-2520-513097AC4CE1}"/>
              </a:ext>
            </a:extLst>
          </p:cNvPr>
          <p:cNvSpPr txBox="1">
            <a:spLocks noChangeArrowheads="1"/>
          </p:cNvSpPr>
          <p:nvPr/>
        </p:nvSpPr>
        <p:spPr>
          <a:xfrm>
            <a:off x="1483178" y="1481280"/>
            <a:ext cx="2961244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偏导数的定义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98FFB4A-ABA7-A59B-132F-7F4001D5310B}"/>
              </a:ext>
            </a:extLst>
          </p:cNvPr>
          <p:cNvGrpSpPr/>
          <p:nvPr/>
        </p:nvGrpSpPr>
        <p:grpSpPr>
          <a:xfrm>
            <a:off x="1995297" y="2247200"/>
            <a:ext cx="962025" cy="448945"/>
            <a:chOff x="1553" y="3803"/>
            <a:chExt cx="1515" cy="707"/>
          </a:xfrm>
        </p:grpSpPr>
        <p:sp>
          <p:nvSpPr>
            <p:cNvPr id="12" name="圆角矩形 57">
              <a:extLst>
                <a:ext uri="{FF2B5EF4-FFF2-40B4-BE49-F238E27FC236}">
                  <a16:creationId xmlns:a16="http://schemas.microsoft.com/office/drawing/2014/main" id="{ED363F30-B009-36E9-6A36-752C7FC03452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28">
              <a:extLst>
                <a:ext uri="{FF2B5EF4-FFF2-40B4-BE49-F238E27FC236}">
                  <a16:creationId xmlns:a16="http://schemas.microsoft.com/office/drawing/2014/main" id="{4C2C4A67-8F97-BEA0-B621-8FCFE4C53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回顾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782B79B-DEEF-BE58-9E86-ED98C4AA70CC}"/>
              </a:ext>
            </a:extLst>
          </p:cNvPr>
          <p:cNvGrpSpPr/>
          <p:nvPr/>
        </p:nvGrpSpPr>
        <p:grpSpPr>
          <a:xfrm>
            <a:off x="1995297" y="4158980"/>
            <a:ext cx="962025" cy="448945"/>
            <a:chOff x="1553" y="3803"/>
            <a:chExt cx="1515" cy="707"/>
          </a:xfrm>
        </p:grpSpPr>
        <p:sp>
          <p:nvSpPr>
            <p:cNvPr id="16" name="圆角矩形 57">
              <a:extLst>
                <a:ext uri="{FF2B5EF4-FFF2-40B4-BE49-F238E27FC236}">
                  <a16:creationId xmlns:a16="http://schemas.microsoft.com/office/drawing/2014/main" id="{31B0DA28-D252-4963-0135-D76727885B9F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28">
              <a:extLst>
                <a:ext uri="{FF2B5EF4-FFF2-40B4-BE49-F238E27FC236}">
                  <a16:creationId xmlns:a16="http://schemas.microsoft.com/office/drawing/2014/main" id="{A8323B48-3C78-BB81-FD21-1A5D95CB6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问题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/>
      <p:bldP spid="6" grpId="0"/>
      <p:bldP spid="7" grpId="0"/>
      <p:bldP spid="8" grpId="0"/>
      <p:bldP spid="9" grpId="0"/>
      <p:bldP spid="10" grpId="0" animBg="1"/>
      <p:bldP spid="15" grpId="0"/>
      <p:bldP spid="17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35">
            <a:extLst>
              <a:ext uri="{FF2B5EF4-FFF2-40B4-BE49-F238E27FC236}">
                <a16:creationId xmlns:a16="http://schemas.microsoft.com/office/drawing/2014/main" id="{3FDB632B-8100-1CA4-C100-D2A68249C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834" y="4724399"/>
            <a:ext cx="7591880" cy="1450493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7">
                <a:extLst>
                  <a:ext uri="{FF2B5EF4-FFF2-40B4-BE49-F238E27FC236}">
                    <a16:creationId xmlns:a16="http://schemas.microsoft.com/office/drawing/2014/main" id="{2328600F-B1FD-A760-8052-CB5E7DBF59BE}"/>
                  </a:ext>
                </a:extLst>
              </p:cNvPr>
              <p:cNvSpPr txBox="1"/>
              <p:nvPr/>
            </p:nvSpPr>
            <p:spPr bwMode="auto">
              <a:xfrm>
                <a:off x="2794665" y="5159862"/>
                <a:ext cx="1774774" cy="7375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37">
                <a:extLst>
                  <a:ext uri="{FF2B5EF4-FFF2-40B4-BE49-F238E27FC236}">
                    <a16:creationId xmlns:a16="http://schemas.microsoft.com/office/drawing/2014/main" id="{2328600F-B1FD-A760-8052-CB5E7DBF5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4665" y="5159862"/>
                <a:ext cx="1774774" cy="737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8">
                <a:extLst>
                  <a:ext uri="{FF2B5EF4-FFF2-40B4-BE49-F238E27FC236}">
                    <a16:creationId xmlns:a16="http://schemas.microsoft.com/office/drawing/2014/main" id="{A1A3F623-A567-2AEA-1AE7-4E550DB282A3}"/>
                  </a:ext>
                </a:extLst>
              </p:cNvPr>
              <p:cNvSpPr txBox="1"/>
              <p:nvPr/>
            </p:nvSpPr>
            <p:spPr bwMode="auto">
              <a:xfrm>
                <a:off x="5002139" y="5038310"/>
                <a:ext cx="3068452" cy="10777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Δ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)−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38">
                <a:extLst>
                  <a:ext uri="{FF2B5EF4-FFF2-40B4-BE49-F238E27FC236}">
                    <a16:creationId xmlns:a16="http://schemas.microsoft.com/office/drawing/2014/main" id="{A1A3F623-A567-2AEA-1AE7-4E550DB28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2139" y="5038310"/>
                <a:ext cx="3068452" cy="10777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9">
                <a:extLst>
                  <a:ext uri="{FF2B5EF4-FFF2-40B4-BE49-F238E27FC236}">
                    <a16:creationId xmlns:a16="http://schemas.microsoft.com/office/drawing/2014/main" id="{484A7203-778E-4D23-7E4D-EAEDCE7D9246}"/>
                  </a:ext>
                </a:extLst>
              </p:cNvPr>
              <p:cNvSpPr txBox="1"/>
              <p:nvPr/>
            </p:nvSpPr>
            <p:spPr bwMode="auto">
              <a:xfrm>
                <a:off x="6173107" y="5553115"/>
                <a:ext cx="751916" cy="66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39">
                <a:extLst>
                  <a:ext uri="{FF2B5EF4-FFF2-40B4-BE49-F238E27FC236}">
                    <a16:creationId xmlns:a16="http://schemas.microsoft.com/office/drawing/2014/main" id="{484A7203-778E-4D23-7E4D-EAEDCE7D9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3107" y="5553115"/>
                <a:ext cx="751916" cy="668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40">
                <a:extLst>
                  <a:ext uri="{FF2B5EF4-FFF2-40B4-BE49-F238E27FC236}">
                    <a16:creationId xmlns:a16="http://schemas.microsoft.com/office/drawing/2014/main" id="{268E41CB-F432-82CA-8E0D-696E9EA26E4C}"/>
                  </a:ext>
                </a:extLst>
              </p:cNvPr>
              <p:cNvSpPr txBox="1"/>
              <p:nvPr/>
            </p:nvSpPr>
            <p:spPr bwMode="auto">
              <a:xfrm>
                <a:off x="4136437" y="5161114"/>
                <a:ext cx="1095426" cy="8810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40">
                <a:extLst>
                  <a:ext uri="{FF2B5EF4-FFF2-40B4-BE49-F238E27FC236}">
                    <a16:creationId xmlns:a16="http://schemas.microsoft.com/office/drawing/2014/main" id="{268E41CB-F432-82CA-8E0D-696E9EA26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6437" y="5161114"/>
                <a:ext cx="1095426" cy="8810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44">
                <a:extLst>
                  <a:ext uri="{FF2B5EF4-FFF2-40B4-BE49-F238E27FC236}">
                    <a16:creationId xmlns:a16="http://schemas.microsoft.com/office/drawing/2014/main" id="{E60600D5-A91B-4D91-FC1C-474A3627BA85}"/>
                  </a:ext>
                </a:extLst>
              </p:cNvPr>
              <p:cNvSpPr txBox="1"/>
              <p:nvPr/>
            </p:nvSpPr>
            <p:spPr bwMode="auto">
              <a:xfrm>
                <a:off x="8041764" y="4878244"/>
                <a:ext cx="2217364" cy="13055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zh-CN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b="0" i="0" dirty="0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Object 44">
                <a:extLst>
                  <a:ext uri="{FF2B5EF4-FFF2-40B4-BE49-F238E27FC236}">
                    <a16:creationId xmlns:a16="http://schemas.microsoft.com/office/drawing/2014/main" id="{E60600D5-A91B-4D91-FC1C-474A3627B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1764" y="4878244"/>
                <a:ext cx="2217364" cy="13055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56">
            <a:extLst>
              <a:ext uri="{FF2B5EF4-FFF2-40B4-BE49-F238E27FC236}">
                <a16:creationId xmlns:a16="http://schemas.microsoft.com/office/drawing/2014/main" id="{8D543B7C-97C8-F725-BC5E-2A94403BD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645" y="4416864"/>
            <a:ext cx="8614685" cy="193567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800" b="0" i="0" u="none" strike="noStrike" kern="1200" cap="none" spc="0" normalizeH="0" baseline="0" noProof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57">
                <a:extLst>
                  <a:ext uri="{FF2B5EF4-FFF2-40B4-BE49-F238E27FC236}">
                    <a16:creationId xmlns:a16="http://schemas.microsoft.com/office/drawing/2014/main" id="{217CE21B-9121-F2F6-D472-FBB4F1FDB3EB}"/>
                  </a:ext>
                </a:extLst>
              </p:cNvPr>
              <p:cNvSpPr txBox="1"/>
              <p:nvPr/>
            </p:nvSpPr>
            <p:spPr bwMode="auto">
              <a:xfrm>
                <a:off x="5005008" y="4413692"/>
                <a:ext cx="6213731" cy="995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, 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, 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1" name="Object 57">
                <a:extLst>
                  <a:ext uri="{FF2B5EF4-FFF2-40B4-BE49-F238E27FC236}">
                    <a16:creationId xmlns:a16="http://schemas.microsoft.com/office/drawing/2014/main" id="{217CE21B-9121-F2F6-D472-FBB4F1FDB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5008" y="4413692"/>
                <a:ext cx="6213731" cy="9953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58">
                <a:extLst>
                  <a:ext uri="{FF2B5EF4-FFF2-40B4-BE49-F238E27FC236}">
                    <a16:creationId xmlns:a16="http://schemas.microsoft.com/office/drawing/2014/main" id="{F301205A-224E-1C4E-DE6B-69D1F127B2D7}"/>
                  </a:ext>
                </a:extLst>
              </p:cNvPr>
              <p:cNvSpPr txBox="1"/>
              <p:nvPr/>
            </p:nvSpPr>
            <p:spPr bwMode="auto">
              <a:xfrm>
                <a:off x="5008285" y="5338298"/>
                <a:ext cx="3323082" cy="12398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 </m:t>
                              </m:r>
                              <m:f>
                                <m:f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𝑓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2" name="Object 58">
                <a:extLst>
                  <a:ext uri="{FF2B5EF4-FFF2-40B4-BE49-F238E27FC236}">
                    <a16:creationId xmlns:a16="http://schemas.microsoft.com/office/drawing/2014/main" id="{F301205A-224E-1C4E-DE6B-69D1F127B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8285" y="5338298"/>
                <a:ext cx="3323082" cy="12398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59">
                <a:extLst>
                  <a:ext uri="{FF2B5EF4-FFF2-40B4-BE49-F238E27FC236}">
                    <a16:creationId xmlns:a16="http://schemas.microsoft.com/office/drawing/2014/main" id="{40D10318-5952-6D3A-3578-E85B66BE0A32}"/>
                  </a:ext>
                </a:extLst>
              </p:cNvPr>
              <p:cNvSpPr txBox="1"/>
              <p:nvPr/>
            </p:nvSpPr>
            <p:spPr bwMode="auto">
              <a:xfrm>
                <a:off x="3492625" y="4632359"/>
                <a:ext cx="1995108" cy="622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3" name="Object 59">
                <a:extLst>
                  <a:ext uri="{FF2B5EF4-FFF2-40B4-BE49-F238E27FC236}">
                    <a16:creationId xmlns:a16="http://schemas.microsoft.com/office/drawing/2014/main" id="{40D10318-5952-6D3A-3578-E85B66BE0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2625" y="4632359"/>
                <a:ext cx="1995108" cy="62295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60">
                <a:extLst>
                  <a:ext uri="{FF2B5EF4-FFF2-40B4-BE49-F238E27FC236}">
                    <a16:creationId xmlns:a16="http://schemas.microsoft.com/office/drawing/2014/main" id="{6637EF4E-AF28-56AE-33B1-CC454B2CE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6210" y="4651274"/>
                <a:ext cx="1219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Times New Roman"/>
                    <a:ea typeface="黑体"/>
                    <a:cs typeface="+mn-ea"/>
                    <a:sym typeface="+mn-lt"/>
                  </a:rPr>
                  <a:t>注意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b="1" dirty="0" smtClean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en-US" altLang="zh-CN" sz="2800" b="1" dirty="0">
                  <a:solidFill>
                    <a:srgbClr val="04926A"/>
                  </a:solidFill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4" name="Text Box 60">
                <a:extLst>
                  <a:ext uri="{FF2B5EF4-FFF2-40B4-BE49-F238E27FC236}">
                    <a16:creationId xmlns:a16="http://schemas.microsoft.com/office/drawing/2014/main" id="{6637EF4E-AF28-56AE-33B1-CC454B2CE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6210" y="4651274"/>
                <a:ext cx="1219200" cy="519113"/>
              </a:xfrm>
              <a:prstGeom prst="rect">
                <a:avLst/>
              </a:prstGeom>
              <a:blipFill>
                <a:blip r:embed="rId12"/>
                <a:stretch>
                  <a:fillRect l="-10000" t="-15294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840BEFC9-6327-52E6-4B3B-1F48EC1B25DA}"/>
              </a:ext>
            </a:extLst>
          </p:cNvPr>
          <p:cNvGrpSpPr/>
          <p:nvPr/>
        </p:nvGrpSpPr>
        <p:grpSpPr>
          <a:xfrm>
            <a:off x="1078210" y="524153"/>
            <a:ext cx="10095851" cy="3810708"/>
            <a:chOff x="1078210" y="524153"/>
            <a:chExt cx="10095851" cy="3810708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7E01D8D6-639A-2650-C71D-EE94E5BE8F08}"/>
                </a:ext>
              </a:extLst>
            </p:cNvPr>
            <p:cNvSpPr/>
            <p:nvPr/>
          </p:nvSpPr>
          <p:spPr>
            <a:xfrm>
              <a:off x="1458279" y="524153"/>
              <a:ext cx="9715782" cy="3810708"/>
            </a:xfrm>
            <a:prstGeom prst="rect">
              <a:avLst/>
            </a:prstGeom>
            <a:solidFill>
              <a:srgbClr val="04926A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PA-102231">
              <a:extLst>
                <a:ext uri="{FF2B5EF4-FFF2-40B4-BE49-F238E27FC236}">
                  <a16:creationId xmlns:a16="http://schemas.microsoft.com/office/drawing/2014/main" id="{B2EE37E7-3509-2DC5-6C87-FBC69DC0C40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078210" y="1911628"/>
              <a:ext cx="1245600" cy="900000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30FC90D9-7463-BB7A-2CC6-C5A9DAE3E94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92683" y="2111274"/>
              <a:ext cx="1341632" cy="526262"/>
            </a:xfrm>
            <a:noFill/>
            <a:ln>
              <a:noFill/>
            </a:ln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定义1</a:t>
              </a:r>
              <a:endPara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852ABCE-DABF-63C6-E080-786EA315C84C}"/>
                  </a:ext>
                </a:extLst>
              </p:cNvPr>
              <p:cNvSpPr txBox="1"/>
              <p:nvPr/>
            </p:nvSpPr>
            <p:spPr bwMode="auto">
              <a:xfrm>
                <a:off x="3604545" y="576400"/>
                <a:ext cx="2288255" cy="5867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8852ABCE-DABF-63C6-E080-786EA315C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4545" y="576400"/>
                <a:ext cx="2288255" cy="5867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6">
            <a:extLst>
              <a:ext uri="{FF2B5EF4-FFF2-40B4-BE49-F238E27FC236}">
                <a16:creationId xmlns:a16="http://schemas.microsoft.com/office/drawing/2014/main" id="{DB708920-53F6-355E-5A3F-1C1A8E531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73366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在点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8A53C322-60DF-2AC0-A69C-DFA42C68E7D6}"/>
                  </a:ext>
                </a:extLst>
              </p:cNvPr>
              <p:cNvSpPr txBox="1"/>
              <p:nvPr/>
            </p:nvSpPr>
            <p:spPr bwMode="auto">
              <a:xfrm>
                <a:off x="3654476" y="1144072"/>
                <a:ext cx="6043612" cy="13573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)−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8A53C322-60DF-2AC0-A69C-DFA42C68E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4476" y="1144072"/>
                <a:ext cx="6043612" cy="135731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9">
                <a:extLst>
                  <a:ext uri="{FF2B5EF4-FFF2-40B4-BE49-F238E27FC236}">
                    <a16:creationId xmlns:a16="http://schemas.microsoft.com/office/drawing/2014/main" id="{6365D0EB-64EB-A41A-A6B0-EAA9FD369B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6210" y="2078827"/>
                <a:ext cx="12954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  <a:sym typeface="+mn-lt"/>
                  </a:rPr>
                  <a:t>存在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Text Box 9">
                <a:extLst>
                  <a:ext uri="{FF2B5EF4-FFF2-40B4-BE49-F238E27FC236}">
                    <a16:creationId xmlns:a16="http://schemas.microsoft.com/office/drawing/2014/main" id="{6365D0EB-64EB-A41A-A6B0-EAA9FD369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6210" y="2078827"/>
                <a:ext cx="1295400" cy="519113"/>
              </a:xfrm>
              <a:prstGeom prst="rect">
                <a:avLst/>
              </a:prstGeom>
              <a:blipFill>
                <a:blip r:embed="rId15"/>
                <a:stretch>
                  <a:fillRect l="-9390" t="-15294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2A86E2F2-CE2D-F734-1BD2-3C2D7EA25149}"/>
                  </a:ext>
                </a:extLst>
              </p:cNvPr>
              <p:cNvSpPr txBox="1"/>
              <p:nvPr/>
            </p:nvSpPr>
            <p:spPr bwMode="auto">
              <a:xfrm>
                <a:off x="6350494" y="2079767"/>
                <a:ext cx="451689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对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2A86E2F2-CE2D-F734-1BD2-3C2D7EA25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0494" y="2079767"/>
                <a:ext cx="4516895" cy="469900"/>
              </a:xfrm>
              <a:prstGeom prst="rect">
                <a:avLst/>
              </a:prstGeom>
              <a:blipFill>
                <a:blip r:embed="rId16"/>
                <a:stretch>
                  <a:fillRect b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1">
                <a:extLst>
                  <a:ext uri="{FF2B5EF4-FFF2-40B4-BE49-F238E27FC236}">
                    <a16:creationId xmlns:a16="http://schemas.microsoft.com/office/drawing/2014/main" id="{C2DE7591-C94D-DE5C-CE46-6431C14BCD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6210" y="2883895"/>
                <a:ext cx="2572095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的偏导数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 记为</a:t>
                </a:r>
              </a:p>
            </p:txBody>
          </p:sp>
        </mc:Choice>
        <mc:Fallback xmlns="">
          <p:sp>
            <p:nvSpPr>
              <p:cNvPr id="8" name="Text Box 11">
                <a:extLst>
                  <a:ext uri="{FF2B5EF4-FFF2-40B4-BE49-F238E27FC236}">
                    <a16:creationId xmlns:a16="http://schemas.microsoft.com/office/drawing/2014/main" id="{C2DE7591-C94D-DE5C-CE46-6431C14BC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6210" y="2883895"/>
                <a:ext cx="2572095" cy="519112"/>
              </a:xfrm>
              <a:prstGeom prst="rect">
                <a:avLst/>
              </a:prstGeom>
              <a:blipFill>
                <a:blip r:embed="rId17"/>
                <a:stretch>
                  <a:fillRect l="-4739" t="-15294" r="-1185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3">
                <a:extLst>
                  <a:ext uri="{FF2B5EF4-FFF2-40B4-BE49-F238E27FC236}">
                    <a16:creationId xmlns:a16="http://schemas.microsoft.com/office/drawing/2014/main" id="{91F935B7-12BD-BBA0-220C-8DCC2BEA917E}"/>
                  </a:ext>
                </a:extLst>
              </p:cNvPr>
              <p:cNvSpPr txBox="1"/>
              <p:nvPr/>
            </p:nvSpPr>
            <p:spPr bwMode="auto">
              <a:xfrm>
                <a:off x="4799716" y="2572326"/>
                <a:ext cx="2218113" cy="12623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 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sub>
                      </m:sSub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Object 13">
                <a:extLst>
                  <a:ext uri="{FF2B5EF4-FFF2-40B4-BE49-F238E27FC236}">
                    <a16:creationId xmlns:a16="http://schemas.microsoft.com/office/drawing/2014/main" id="{91F935B7-12BD-BBA0-220C-8DCC2BEA9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9716" y="2572326"/>
                <a:ext cx="2218113" cy="126233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3">
                <a:extLst>
                  <a:ext uri="{FF2B5EF4-FFF2-40B4-BE49-F238E27FC236}">
                    <a16:creationId xmlns:a16="http://schemas.microsoft.com/office/drawing/2014/main" id="{BE988840-98B4-D822-0794-B7E8B90085B2}"/>
                  </a:ext>
                </a:extLst>
              </p:cNvPr>
              <p:cNvSpPr txBox="1"/>
              <p:nvPr/>
            </p:nvSpPr>
            <p:spPr bwMode="auto">
              <a:xfrm>
                <a:off x="6158859" y="543204"/>
                <a:ext cx="1804331" cy="703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3">
                <a:extLst>
                  <a:ext uri="{FF2B5EF4-FFF2-40B4-BE49-F238E27FC236}">
                    <a16:creationId xmlns:a16="http://schemas.microsoft.com/office/drawing/2014/main" id="{BE988840-98B4-D822-0794-B7E8B9008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8859" y="543204"/>
                <a:ext cx="1804331" cy="70326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4">
                <a:extLst>
                  <a:ext uri="{FF2B5EF4-FFF2-40B4-BE49-F238E27FC236}">
                    <a16:creationId xmlns:a16="http://schemas.microsoft.com/office/drawing/2014/main" id="{D19DCD57-8F67-092B-60BB-F1E98007BD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4643" y="573366"/>
                <a:ext cx="318281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的某邻域内有定义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5" name="Text Box 24">
                <a:extLst>
                  <a:ext uri="{FF2B5EF4-FFF2-40B4-BE49-F238E27FC236}">
                    <a16:creationId xmlns:a16="http://schemas.microsoft.com/office/drawing/2014/main" id="{D19DCD57-8F67-092B-60BB-F1E98007B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4643" y="573366"/>
                <a:ext cx="3182815" cy="523220"/>
              </a:xfrm>
              <a:prstGeom prst="rect">
                <a:avLst/>
              </a:prstGeom>
              <a:blipFill>
                <a:blip r:embed="rId20"/>
                <a:stretch>
                  <a:fillRect l="-3831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AD5C7879-0AEC-9229-414E-CAB9B037AC70}"/>
                  </a:ext>
                </a:extLst>
              </p:cNvPr>
              <p:cNvSpPr txBox="1"/>
              <p:nvPr/>
            </p:nvSpPr>
            <p:spPr bwMode="auto">
              <a:xfrm>
                <a:off x="6458305" y="2619294"/>
                <a:ext cx="2019301" cy="10469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 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sub>
                      </m:sSub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AD5C7879-0AEC-9229-414E-CAB9B037A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8305" y="2619294"/>
                <a:ext cx="2019301" cy="1046974"/>
              </a:xfrm>
              <a:prstGeom prst="rect">
                <a:avLst/>
              </a:prstGeom>
              <a:blipFill>
                <a:blip r:embed="rId21"/>
                <a:stretch>
                  <a:fillRect b="-157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1">
                <a:extLst>
                  <a:ext uri="{FF2B5EF4-FFF2-40B4-BE49-F238E27FC236}">
                    <a16:creationId xmlns:a16="http://schemas.microsoft.com/office/drawing/2014/main" id="{0429EE34-3113-86F5-928F-0D9E312AC46E}"/>
                  </a:ext>
                </a:extLst>
              </p:cNvPr>
              <p:cNvSpPr txBox="1"/>
              <p:nvPr/>
            </p:nvSpPr>
            <p:spPr bwMode="auto">
              <a:xfrm>
                <a:off x="4834085" y="1123436"/>
                <a:ext cx="1573362" cy="476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31">
                <a:extLst>
                  <a:ext uri="{FF2B5EF4-FFF2-40B4-BE49-F238E27FC236}">
                    <a16:creationId xmlns:a16="http://schemas.microsoft.com/office/drawing/2014/main" id="{0429EE34-3113-86F5-928F-0D9E312AC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4085" y="1123436"/>
                <a:ext cx="1573362" cy="47625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2">
                <a:extLst>
                  <a:ext uri="{FF2B5EF4-FFF2-40B4-BE49-F238E27FC236}">
                    <a16:creationId xmlns:a16="http://schemas.microsoft.com/office/drawing/2014/main" id="{7D099DF8-E75C-969D-95F4-8C0DF0408927}"/>
                  </a:ext>
                </a:extLst>
              </p:cNvPr>
              <p:cNvSpPr txBox="1"/>
              <p:nvPr/>
            </p:nvSpPr>
            <p:spPr bwMode="auto">
              <a:xfrm>
                <a:off x="7599737" y="1102003"/>
                <a:ext cx="553278" cy="7207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32">
                <a:extLst>
                  <a:ext uri="{FF2B5EF4-FFF2-40B4-BE49-F238E27FC236}">
                    <a16:creationId xmlns:a16="http://schemas.microsoft.com/office/drawing/2014/main" id="{7D099DF8-E75C-969D-95F4-8C0DF0408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9737" y="1102003"/>
                <a:ext cx="553278" cy="72072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33">
            <a:extLst>
              <a:ext uri="{FF2B5EF4-FFF2-40B4-BE49-F238E27FC236}">
                <a16:creationId xmlns:a16="http://schemas.microsoft.com/office/drawing/2014/main" id="{C94CE2A4-57EF-CE54-4F7F-EA1B0D705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6135" y="2072873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则称此极限为函数</a:t>
            </a:r>
          </a:p>
        </p:txBody>
      </p:sp>
      <p:sp>
        <p:nvSpPr>
          <p:cNvPr id="21" name="Text Box 34">
            <a:extLst>
              <a:ext uri="{FF2B5EF4-FFF2-40B4-BE49-F238E27FC236}">
                <a16:creationId xmlns:a16="http://schemas.microsoft.com/office/drawing/2014/main" id="{B5104386-BB30-B9D3-BE0E-B2BBE189E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210" y="1363453"/>
            <a:ext cx="16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若极限</a:t>
            </a:r>
          </a:p>
        </p:txBody>
      </p:sp>
      <p:sp>
        <p:nvSpPr>
          <p:cNvPr id="25" name="Text Box 36">
            <a:extLst>
              <a:ext uri="{FF2B5EF4-FFF2-40B4-BE49-F238E27FC236}">
                <a16:creationId xmlns:a16="http://schemas.microsoft.com/office/drawing/2014/main" id="{241AF14C-E277-9C6B-FEA1-8DB3A42DA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210" y="59928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设函数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46">
                <a:extLst>
                  <a:ext uri="{FF2B5EF4-FFF2-40B4-BE49-F238E27FC236}">
                    <a16:creationId xmlns:a16="http://schemas.microsoft.com/office/drawing/2014/main" id="{83A812FD-A920-AAAE-2294-DC0AE02DACDE}"/>
                  </a:ext>
                </a:extLst>
              </p:cNvPr>
              <p:cNvSpPr txBox="1"/>
              <p:nvPr/>
            </p:nvSpPr>
            <p:spPr bwMode="auto">
              <a:xfrm>
                <a:off x="6419234" y="1660012"/>
                <a:ext cx="827849" cy="736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Object 46">
                <a:extLst>
                  <a:ext uri="{FF2B5EF4-FFF2-40B4-BE49-F238E27FC236}">
                    <a16:creationId xmlns:a16="http://schemas.microsoft.com/office/drawing/2014/main" id="{83A812FD-A920-AAAE-2294-DC0AE02DA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9234" y="1660012"/>
                <a:ext cx="827849" cy="73660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12">
                <a:extLst>
                  <a:ext uri="{FF2B5EF4-FFF2-40B4-BE49-F238E27FC236}">
                    <a16:creationId xmlns:a16="http://schemas.microsoft.com/office/drawing/2014/main" id="{6B96F875-CC87-F2E0-C20F-60EFC8681A1D}"/>
                  </a:ext>
                </a:extLst>
              </p:cNvPr>
              <p:cNvSpPr txBox="1"/>
              <p:nvPr/>
            </p:nvSpPr>
            <p:spPr bwMode="auto">
              <a:xfrm>
                <a:off x="2520287" y="3650319"/>
                <a:ext cx="2603500" cy="793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12">
                <a:extLst>
                  <a:ext uri="{FF2B5EF4-FFF2-40B4-BE49-F238E27FC236}">
                    <a16:creationId xmlns:a16="http://schemas.microsoft.com/office/drawing/2014/main" id="{6B96F875-CC87-F2E0-C20F-60EFC8681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0287" y="3650319"/>
                <a:ext cx="2603500" cy="79375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7">
                <a:extLst>
                  <a:ext uri="{FF2B5EF4-FFF2-40B4-BE49-F238E27FC236}">
                    <a16:creationId xmlns:a16="http://schemas.microsoft.com/office/drawing/2014/main" id="{B39945D5-A564-70D4-6C4D-9FF3292D586D}"/>
                  </a:ext>
                </a:extLst>
              </p:cNvPr>
              <p:cNvSpPr txBox="1"/>
              <p:nvPr/>
            </p:nvSpPr>
            <p:spPr bwMode="auto">
              <a:xfrm>
                <a:off x="8164992" y="2715358"/>
                <a:ext cx="1914872" cy="8324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 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sub>
                      </m:sSub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27">
                <a:extLst>
                  <a:ext uri="{FF2B5EF4-FFF2-40B4-BE49-F238E27FC236}">
                    <a16:creationId xmlns:a16="http://schemas.microsoft.com/office/drawing/2014/main" id="{B39945D5-A564-70D4-6C4D-9FF3292D5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64992" y="2715358"/>
                <a:ext cx="1914872" cy="832458"/>
              </a:xfrm>
              <a:prstGeom prst="rect">
                <a:avLst/>
              </a:prstGeom>
              <a:blipFill>
                <a:blip r:embed="rId26"/>
                <a:stretch>
                  <a:fillRect b="-7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bject 28">
            <a:extLst>
              <a:ext uri="{FF2B5EF4-FFF2-40B4-BE49-F238E27FC236}">
                <a16:creationId xmlns:a16="http://schemas.microsoft.com/office/drawing/2014/main" id="{7AFAF7CC-D3EF-7EA5-8C23-080BCCBB6BEE}"/>
              </a:ext>
            </a:extLst>
          </p:cNvPr>
          <p:cNvSpPr txBox="1"/>
          <p:nvPr/>
        </p:nvSpPr>
        <p:spPr bwMode="auto">
          <a:xfrm>
            <a:off x="4127315" y="3688927"/>
            <a:ext cx="2895600" cy="61694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kumimoji="1" lang="zh-CN" altLang="en-US" sz="2800" i="1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4922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utoUpdateAnimBg="0"/>
      <p:bldP spid="26" grpId="0"/>
      <p:bldP spid="27" grpId="0"/>
      <p:bldP spid="30" grpId="0"/>
      <p:bldP spid="31" grpId="0"/>
      <p:bldP spid="38" grpId="0"/>
      <p:bldP spid="40" grpId="0" animBg="1" autoUpdateAnimBg="0"/>
      <p:bldP spid="41" grpId="0"/>
      <p:bldP spid="42" grpId="0"/>
      <p:bldP spid="43" grpId="0"/>
      <p:bldP spid="44" grpId="0" autoUpdateAnimBg="0"/>
      <p:bldP spid="11" grpId="1" animBg="1"/>
      <p:bldP spid="12" grpId="1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5" grpId="0"/>
      <p:bldP spid="17" grpId="0"/>
      <p:bldP spid="18" grpId="0"/>
      <p:bldP spid="19" grpId="0"/>
      <p:bldP spid="20" grpId="0"/>
      <p:bldP spid="21" grpId="0"/>
      <p:bldP spid="25" grpId="0"/>
      <p:bldP spid="32" grpId="0"/>
      <p:bldP spid="36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5">
                <a:extLst>
                  <a:ext uri="{FF2B5EF4-FFF2-40B4-BE49-F238E27FC236}">
                    <a16:creationId xmlns:a16="http://schemas.microsoft.com/office/drawing/2014/main" id="{AFF85B04-F054-681D-103E-071FB60664AA}"/>
                  </a:ext>
                </a:extLst>
              </p:cNvPr>
              <p:cNvSpPr txBox="1"/>
              <p:nvPr/>
            </p:nvSpPr>
            <p:spPr bwMode="auto">
              <a:xfrm>
                <a:off x="3624545" y="1914577"/>
                <a:ext cx="3560525" cy="1175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 </m:t>
                              </m:r>
                              <m:f>
                                <m:f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en-US" altLang="zh-CN" sz="2800" dirty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𝑓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" name="Object 15">
                <a:extLst>
                  <a:ext uri="{FF2B5EF4-FFF2-40B4-BE49-F238E27FC236}">
                    <a16:creationId xmlns:a16="http://schemas.microsoft.com/office/drawing/2014/main" id="{AFF85B04-F054-681D-103E-071FB6066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4545" y="1914577"/>
                <a:ext cx="3560525" cy="1175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1">
                <a:extLst>
                  <a:ext uri="{FF2B5EF4-FFF2-40B4-BE49-F238E27FC236}">
                    <a16:creationId xmlns:a16="http://schemas.microsoft.com/office/drawing/2014/main" id="{C497F792-828B-D576-0494-16AD5FC4022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140653" y="491671"/>
                <a:ext cx="5105400" cy="685800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cs"/>
                    <a:sym typeface="+mn-lt"/>
                  </a:rPr>
                  <a:t>同样可定义对</a:t>
                </a:r>
                <a14:m>
                  <m:oMath xmlns:m="http://schemas.openxmlformats.org/officeDocument/2006/math">
                    <m:r>
                      <a:rPr kumimoji="1" lang="en-US" altLang="zh-CN" sz="28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cs typeface="+mn-cs"/>
                    <a:sym typeface="+mn-lt"/>
                  </a:rPr>
                  <a:t>的偏导数</a:t>
                </a:r>
              </a:p>
            </p:txBody>
          </p:sp>
        </mc:Choice>
        <mc:Fallback xmlns="">
          <p:sp>
            <p:nvSpPr>
              <p:cNvPr id="3" name="Rectangle 21">
                <a:extLst>
                  <a:ext uri="{FF2B5EF4-FFF2-40B4-BE49-F238E27FC236}">
                    <a16:creationId xmlns:a16="http://schemas.microsoft.com/office/drawing/2014/main" id="{C497F792-828B-D576-0494-16AD5FC40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653" y="491671"/>
                <a:ext cx="5105400" cy="685800"/>
              </a:xfrm>
              <a:prstGeom prst="rect">
                <a:avLst/>
              </a:prstGeom>
              <a:blipFill>
                <a:blip r:embed="rId4"/>
                <a:stretch>
                  <a:fillRect l="-2387" t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2">
                <a:extLst>
                  <a:ext uri="{FF2B5EF4-FFF2-40B4-BE49-F238E27FC236}">
                    <a16:creationId xmlns:a16="http://schemas.microsoft.com/office/drawing/2014/main" id="{6312CDA7-7558-5AB4-03B8-06FC7ABF6F15}"/>
                  </a:ext>
                </a:extLst>
              </p:cNvPr>
              <p:cNvSpPr txBox="1"/>
              <p:nvPr/>
            </p:nvSpPr>
            <p:spPr bwMode="auto">
              <a:xfrm>
                <a:off x="3624545" y="1216077"/>
                <a:ext cx="5283684" cy="7661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       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                               </m:t>
                              </m:r>
                            </m:num>
                            <m:den>
                              <m: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   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Object 22">
                <a:extLst>
                  <a:ext uri="{FF2B5EF4-FFF2-40B4-BE49-F238E27FC236}">
                    <a16:creationId xmlns:a16="http://schemas.microsoft.com/office/drawing/2014/main" id="{6312CDA7-7558-5AB4-03B8-06FC7ABF6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4545" y="1216077"/>
                <a:ext cx="5283684" cy="7661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5">
                <a:extLst>
                  <a:ext uri="{FF2B5EF4-FFF2-40B4-BE49-F238E27FC236}">
                    <a16:creationId xmlns:a16="http://schemas.microsoft.com/office/drawing/2014/main" id="{7C13B492-8BFD-2272-4CC0-3F0A74E10934}"/>
                  </a:ext>
                </a:extLst>
              </p:cNvPr>
              <p:cNvSpPr txBox="1"/>
              <p:nvPr/>
            </p:nvSpPr>
            <p:spPr bwMode="auto">
              <a:xfrm>
                <a:off x="2134858" y="1209144"/>
                <a:ext cx="1878013" cy="766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5" name="Object 25">
                <a:extLst>
                  <a:ext uri="{FF2B5EF4-FFF2-40B4-BE49-F238E27FC236}">
                    <a16:creationId xmlns:a16="http://schemas.microsoft.com/office/drawing/2014/main" id="{7C13B492-8BFD-2272-4CC0-3F0A74E10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4858" y="1209144"/>
                <a:ext cx="1878013" cy="7667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6">
                <a:extLst>
                  <a:ext uri="{FF2B5EF4-FFF2-40B4-BE49-F238E27FC236}">
                    <a16:creationId xmlns:a16="http://schemas.microsoft.com/office/drawing/2014/main" id="{61F394F6-64F5-76A3-86FB-FE33D5D949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0653" y="3283732"/>
                <a:ext cx="8179004" cy="437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若函数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宋体" panose="02010600030101010101" pitchFamily="2" charset="-122"/>
                    <a:sym typeface="+mn-lt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宋体" panose="02010600030101010101" pitchFamily="2" charset="-122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宋体" panose="02010600030101010101" pitchFamily="2" charset="-122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宋体" panose="02010600030101010101" pitchFamily="2" charset="-122"/>
                    <a:sym typeface="+mn-lt"/>
                  </a:rPr>
                  <a:t>)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在区域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𝐷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 内每一点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FF33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宋体" panose="02010600030101010101" pitchFamily="2" charset="-122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宋体" panose="02010600030101010101" pitchFamily="2" charset="-122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宋体" panose="02010600030101010101" pitchFamily="2" charset="-122"/>
                    <a:sym typeface="+mn-lt"/>
                  </a:rPr>
                  <a:t>)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处对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Text Box 26">
                <a:extLst>
                  <a:ext uri="{FF2B5EF4-FFF2-40B4-BE49-F238E27FC236}">
                    <a16:creationId xmlns:a16="http://schemas.microsoft.com/office/drawing/2014/main" id="{61F394F6-64F5-76A3-86FB-FE33D5D94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0653" y="3283732"/>
                <a:ext cx="8179004" cy="437043"/>
              </a:xfrm>
              <a:prstGeom prst="rect">
                <a:avLst/>
              </a:prstGeom>
              <a:blipFill>
                <a:blip r:embed="rId7"/>
                <a:stretch>
                  <a:fillRect l="-1490" t="-39437" b="-394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7">
                <a:extLst>
                  <a:ext uri="{FF2B5EF4-FFF2-40B4-BE49-F238E27FC236}">
                    <a16:creationId xmlns:a16="http://schemas.microsoft.com/office/drawing/2014/main" id="{4D7EE818-403B-DB86-8363-8C2835BCBA2A}"/>
                  </a:ext>
                </a:extLst>
              </p:cNvPr>
              <p:cNvSpPr txBox="1"/>
              <p:nvPr/>
            </p:nvSpPr>
            <p:spPr bwMode="auto">
              <a:xfrm>
                <a:off x="4296829" y="4385566"/>
                <a:ext cx="2045910" cy="10641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27">
                <a:extLst>
                  <a:ext uri="{FF2B5EF4-FFF2-40B4-BE49-F238E27FC236}">
                    <a16:creationId xmlns:a16="http://schemas.microsoft.com/office/drawing/2014/main" id="{4D7EE818-403B-DB86-8363-8C2835BCB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6829" y="4385566"/>
                <a:ext cx="2045910" cy="10641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9">
                <a:extLst>
                  <a:ext uri="{FF2B5EF4-FFF2-40B4-BE49-F238E27FC236}">
                    <a16:creationId xmlns:a16="http://schemas.microsoft.com/office/drawing/2014/main" id="{303C6D89-D6C4-1139-F679-E34708E79F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4318" y="3920505"/>
                <a:ext cx="4267200" cy="433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则该偏导数称为偏导函数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Text Box 29">
                <a:extLst>
                  <a:ext uri="{FF2B5EF4-FFF2-40B4-BE49-F238E27FC236}">
                    <a16:creationId xmlns:a16="http://schemas.microsoft.com/office/drawing/2014/main" id="{303C6D89-D6C4-1139-F679-E34708E79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4318" y="3920505"/>
                <a:ext cx="4267200" cy="433388"/>
              </a:xfrm>
              <a:prstGeom prst="rect">
                <a:avLst/>
              </a:prstGeom>
              <a:blipFill>
                <a:blip r:embed="rId9"/>
                <a:stretch>
                  <a:fillRect l="-2857" t="-38028" b="-352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30">
            <a:extLst>
              <a:ext uri="{FF2B5EF4-FFF2-40B4-BE49-F238E27FC236}">
                <a16:creationId xmlns:a16="http://schemas.microsoft.com/office/drawing/2014/main" id="{EBB57639-9888-03EB-23CC-F64E20E5F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7639" y="3922332"/>
            <a:ext cx="1697183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也简称为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1">
                <a:extLst>
                  <a:ext uri="{FF2B5EF4-FFF2-40B4-BE49-F238E27FC236}">
                    <a16:creationId xmlns:a16="http://schemas.microsoft.com/office/drawing/2014/main" id="{B9D3D7F8-5492-39EE-E4A3-7F5B0FF4C8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0653" y="4632422"/>
                <a:ext cx="1436025" cy="433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偏导数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Text Box 31">
                <a:extLst>
                  <a:ext uri="{FF2B5EF4-FFF2-40B4-BE49-F238E27FC236}">
                    <a16:creationId xmlns:a16="http://schemas.microsoft.com/office/drawing/2014/main" id="{B9D3D7F8-5492-39EE-E4A3-7F5B0FF4C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0653" y="4632422"/>
                <a:ext cx="1436025" cy="433388"/>
              </a:xfrm>
              <a:prstGeom prst="rect">
                <a:avLst/>
              </a:prstGeom>
              <a:blipFill>
                <a:blip r:embed="rId10"/>
                <a:stretch>
                  <a:fillRect l="-8475" t="-39437" b="-352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2">
                <a:extLst>
                  <a:ext uri="{FF2B5EF4-FFF2-40B4-BE49-F238E27FC236}">
                    <a16:creationId xmlns:a16="http://schemas.microsoft.com/office/drawing/2014/main" id="{7C27B4AC-9451-7924-0F63-EC2E903D8B4B}"/>
                  </a:ext>
                </a:extLst>
              </p:cNvPr>
              <p:cNvSpPr txBox="1"/>
              <p:nvPr/>
            </p:nvSpPr>
            <p:spPr bwMode="auto">
              <a:xfrm>
                <a:off x="6191448" y="4606983"/>
                <a:ext cx="3022431" cy="5446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32">
                <a:extLst>
                  <a:ext uri="{FF2B5EF4-FFF2-40B4-BE49-F238E27FC236}">
                    <a16:creationId xmlns:a16="http://schemas.microsoft.com/office/drawing/2014/main" id="{7C27B4AC-9451-7924-0F63-EC2E903D8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1448" y="4606983"/>
                <a:ext cx="3022431" cy="54466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3">
                <a:extLst>
                  <a:ext uri="{FF2B5EF4-FFF2-40B4-BE49-F238E27FC236}">
                    <a16:creationId xmlns:a16="http://schemas.microsoft.com/office/drawing/2014/main" id="{36F268F6-F3F8-2CA1-811F-DA8858C5E4BE}"/>
                  </a:ext>
                </a:extLst>
              </p:cNvPr>
              <p:cNvSpPr txBox="1"/>
              <p:nvPr/>
            </p:nvSpPr>
            <p:spPr bwMode="auto">
              <a:xfrm>
                <a:off x="6159860" y="5656836"/>
                <a:ext cx="3787426" cy="5446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33">
                <a:extLst>
                  <a:ext uri="{FF2B5EF4-FFF2-40B4-BE49-F238E27FC236}">
                    <a16:creationId xmlns:a16="http://schemas.microsoft.com/office/drawing/2014/main" id="{36F268F6-F3F8-2CA1-811F-DA8858C5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9860" y="5656836"/>
                <a:ext cx="3787426" cy="5446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4">
                <a:extLst>
                  <a:ext uri="{FF2B5EF4-FFF2-40B4-BE49-F238E27FC236}">
                    <a16:creationId xmlns:a16="http://schemas.microsoft.com/office/drawing/2014/main" id="{16C3767F-3F4E-3D9F-73F0-B706D279CA56}"/>
                  </a:ext>
                </a:extLst>
              </p:cNvPr>
              <p:cNvSpPr txBox="1"/>
              <p:nvPr/>
            </p:nvSpPr>
            <p:spPr bwMode="auto">
              <a:xfrm>
                <a:off x="4763758" y="892848"/>
                <a:ext cx="4049016" cy="7033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, 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     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8" name="Object 34">
                <a:extLst>
                  <a:ext uri="{FF2B5EF4-FFF2-40B4-BE49-F238E27FC236}">
                    <a16:creationId xmlns:a16="http://schemas.microsoft.com/office/drawing/2014/main" id="{16C3767F-3F4E-3D9F-73F0-B706D279C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3758" y="892848"/>
                <a:ext cx="4049016" cy="7033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5">
                <a:extLst>
                  <a:ext uri="{FF2B5EF4-FFF2-40B4-BE49-F238E27FC236}">
                    <a16:creationId xmlns:a16="http://schemas.microsoft.com/office/drawing/2014/main" id="{6D0C69BC-1B35-0E64-436E-E016B53127F5}"/>
                  </a:ext>
                </a:extLst>
              </p:cNvPr>
              <p:cNvSpPr txBox="1"/>
              <p:nvPr/>
            </p:nvSpPr>
            <p:spPr bwMode="auto">
              <a:xfrm>
                <a:off x="7058783" y="892249"/>
                <a:ext cx="1849446" cy="6231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+mj-cs"/>
                      </a:rPr>
                      <m:t>−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+mj-cs"/>
                      </a:rPr>
                      <m:t>𝑓</m:t>
                    </m:r>
                    <m:d>
                      <m:dPr>
                        <m:ctrlPr>
                          <a:rPr kumimoji="1"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j-cs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j-cs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  <m:t>,</m:t>
                        </m:r>
                        <m:r>
                          <a:rPr kumimoji="1" lang="zh-CN" altLang="en-US" sz="28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j-cs"/>
                          </a:rPr>
                          <m:t> 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+mj-cs"/>
                  </a:rPr>
                  <a:t> </a:t>
                </a:r>
              </a:p>
            </p:txBody>
          </p:sp>
        </mc:Choice>
        <mc:Fallback xmlns="">
          <p:sp>
            <p:nvSpPr>
              <p:cNvPr id="19" name="Object 35">
                <a:extLst>
                  <a:ext uri="{FF2B5EF4-FFF2-40B4-BE49-F238E27FC236}">
                    <a16:creationId xmlns:a16="http://schemas.microsoft.com/office/drawing/2014/main" id="{6D0C69BC-1B35-0E64-436E-E016B5312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58783" y="892249"/>
                <a:ext cx="1849446" cy="6231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6">
                <a:extLst>
                  <a:ext uri="{FF2B5EF4-FFF2-40B4-BE49-F238E27FC236}">
                    <a16:creationId xmlns:a16="http://schemas.microsoft.com/office/drawing/2014/main" id="{91249795-41BE-0DC1-D21F-4581218E8B4D}"/>
                  </a:ext>
                </a:extLst>
              </p:cNvPr>
              <p:cNvSpPr txBox="1"/>
              <p:nvPr/>
            </p:nvSpPr>
            <p:spPr bwMode="auto">
              <a:xfrm>
                <a:off x="6509827" y="1438462"/>
                <a:ext cx="773112" cy="5667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0" name="Object 36">
                <a:extLst>
                  <a:ext uri="{FF2B5EF4-FFF2-40B4-BE49-F238E27FC236}">
                    <a16:creationId xmlns:a16="http://schemas.microsoft.com/office/drawing/2014/main" id="{91249795-41BE-0DC1-D21F-4581218E8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09827" y="1438462"/>
                <a:ext cx="773112" cy="56673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37">
            <a:extLst>
              <a:ext uri="{FF2B5EF4-FFF2-40B4-BE49-F238E27FC236}">
                <a16:creationId xmlns:a16="http://schemas.microsoft.com/office/drawing/2014/main" id="{455B7B18-F982-2DFF-5D3D-08D0CD9D8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7309" y="4615568"/>
            <a:ext cx="9906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8">
                <a:extLst>
                  <a:ext uri="{FF2B5EF4-FFF2-40B4-BE49-F238E27FC236}">
                    <a16:creationId xmlns:a16="http://schemas.microsoft.com/office/drawing/2014/main" id="{2A6C1984-2C2C-D040-0D60-4F5D14EED39F}"/>
                  </a:ext>
                </a:extLst>
              </p:cNvPr>
              <p:cNvSpPr txBox="1"/>
              <p:nvPr/>
            </p:nvSpPr>
            <p:spPr bwMode="auto">
              <a:xfrm>
                <a:off x="5606075" y="946302"/>
                <a:ext cx="1578091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Δ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4" name="Object 38">
                <a:extLst>
                  <a:ext uri="{FF2B5EF4-FFF2-40B4-BE49-F238E27FC236}">
                    <a16:creationId xmlns:a16="http://schemas.microsoft.com/office/drawing/2014/main" id="{2A6C1984-2C2C-D040-0D60-4F5D14EED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6075" y="946302"/>
                <a:ext cx="1578091" cy="444500"/>
              </a:xfrm>
              <a:prstGeom prst="rect">
                <a:avLst/>
              </a:prstGeom>
              <a:blipFill>
                <a:blip r:embed="rId16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39">
                <a:extLst>
                  <a:ext uri="{FF2B5EF4-FFF2-40B4-BE49-F238E27FC236}">
                    <a16:creationId xmlns:a16="http://schemas.microsoft.com/office/drawing/2014/main" id="{7B900912-9AE3-C02C-24D3-039DCB92F776}"/>
                  </a:ext>
                </a:extLst>
              </p:cNvPr>
              <p:cNvSpPr txBox="1"/>
              <p:nvPr/>
            </p:nvSpPr>
            <p:spPr bwMode="auto">
              <a:xfrm>
                <a:off x="8157443" y="945288"/>
                <a:ext cx="557541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5" name="Object 39">
                <a:extLst>
                  <a:ext uri="{FF2B5EF4-FFF2-40B4-BE49-F238E27FC236}">
                    <a16:creationId xmlns:a16="http://schemas.microsoft.com/office/drawing/2014/main" id="{7B900912-9AE3-C02C-24D3-039DCB92F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57443" y="945288"/>
                <a:ext cx="557541" cy="6858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47">
                <a:extLst>
                  <a:ext uri="{FF2B5EF4-FFF2-40B4-BE49-F238E27FC236}">
                    <a16:creationId xmlns:a16="http://schemas.microsoft.com/office/drawing/2014/main" id="{CE362A44-A9B9-BDFD-4AB6-05189CC4F4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0653" y="3914155"/>
                <a:ext cx="2802757" cy="437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或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 偏导数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  <a:sym typeface="+mn-lt"/>
                  </a:rPr>
                  <a:t>存在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6" name="Text Box 47">
                <a:extLst>
                  <a:ext uri="{FF2B5EF4-FFF2-40B4-BE49-F238E27FC236}">
                    <a16:creationId xmlns:a16="http://schemas.microsoft.com/office/drawing/2014/main" id="{CE362A44-A9B9-BDFD-4AB6-05189CC4F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0653" y="3914155"/>
                <a:ext cx="2802757" cy="437043"/>
              </a:xfrm>
              <a:prstGeom prst="rect">
                <a:avLst/>
              </a:prstGeom>
              <a:blipFill>
                <a:blip r:embed="rId18"/>
                <a:stretch>
                  <a:fillRect l="-4348" t="-37500" r="-435" b="-3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48">
                <a:extLst>
                  <a:ext uri="{FF2B5EF4-FFF2-40B4-BE49-F238E27FC236}">
                    <a16:creationId xmlns:a16="http://schemas.microsoft.com/office/drawing/2014/main" id="{701B1D2E-F9FE-7866-547D-F637A5291C10}"/>
                  </a:ext>
                </a:extLst>
              </p:cNvPr>
              <p:cNvSpPr txBox="1"/>
              <p:nvPr/>
            </p:nvSpPr>
            <p:spPr bwMode="auto">
              <a:xfrm>
                <a:off x="4294288" y="5431812"/>
                <a:ext cx="214471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48">
                <a:extLst>
                  <a:ext uri="{FF2B5EF4-FFF2-40B4-BE49-F238E27FC236}">
                    <a16:creationId xmlns:a16="http://schemas.microsoft.com/office/drawing/2014/main" id="{701B1D2E-F9FE-7866-547D-F637A5291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4288" y="5431812"/>
                <a:ext cx="2144713" cy="927100"/>
              </a:xfrm>
              <a:prstGeom prst="rect">
                <a:avLst/>
              </a:prstGeom>
              <a:blipFill>
                <a:blip r:embed="rId19"/>
                <a:stretch>
                  <a:fillRect b="-6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10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utoUpdateAnimBg="0"/>
      <p:bldP spid="7" grpId="0"/>
      <p:bldP spid="8" grpId="0" autoUpdateAnimBg="0"/>
      <p:bldP spid="9" grpId="0" autoUpdateAnimBg="0"/>
      <p:bldP spid="10" grpId="0" autoUpdateAnimBg="0"/>
      <p:bldP spid="15" grpId="0"/>
      <p:bldP spid="18" grpId="0"/>
      <p:bldP spid="19" grpId="0"/>
      <p:bldP spid="20" grpId="0"/>
      <p:bldP spid="21" grpId="0" autoUpdateAnimBg="0"/>
      <p:bldP spid="24" grpId="0"/>
      <p:bldP spid="25" grpId="0"/>
      <p:bldP spid="26" grpId="0" autoUpdateAnimBg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7">
                <a:extLst>
                  <a:ext uri="{FF2B5EF4-FFF2-40B4-BE49-F238E27FC236}">
                    <a16:creationId xmlns:a16="http://schemas.microsoft.com/office/drawing/2014/main" id="{AAF37E21-C858-E9CC-9944-FA7AC20891EE}"/>
                  </a:ext>
                </a:extLst>
              </p:cNvPr>
              <p:cNvSpPr txBox="1"/>
              <p:nvPr/>
            </p:nvSpPr>
            <p:spPr bwMode="auto">
              <a:xfrm>
                <a:off x="1443608" y="3470275"/>
                <a:ext cx="2006599" cy="706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7">
                <a:extLst>
                  <a:ext uri="{FF2B5EF4-FFF2-40B4-BE49-F238E27FC236}">
                    <a16:creationId xmlns:a16="http://schemas.microsoft.com/office/drawing/2014/main" id="{AAF37E21-C858-E9CC-9944-FA7AC2089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608" y="3470275"/>
                <a:ext cx="2006599" cy="706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9">
            <a:extLst>
              <a:ext uri="{FF2B5EF4-FFF2-40B4-BE49-F238E27FC236}">
                <a16:creationId xmlns:a16="http://schemas.microsoft.com/office/drawing/2014/main" id="{8CA966A0-FDEB-3D4C-88F4-0E1FA8F9724F}"/>
              </a:ext>
            </a:extLst>
          </p:cNvPr>
          <p:cNvSpPr txBox="1">
            <a:spLocks noChangeArrowheads="1"/>
          </p:cNvSpPr>
          <p:nvPr/>
        </p:nvSpPr>
        <p:spPr>
          <a:xfrm>
            <a:off x="1443608" y="1262059"/>
            <a:ext cx="7086600" cy="5572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偏导数的概念可以推广到二元以上的函数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0">
                <a:extLst>
                  <a:ext uri="{FF2B5EF4-FFF2-40B4-BE49-F238E27FC236}">
                    <a16:creationId xmlns:a16="http://schemas.microsoft.com/office/drawing/2014/main" id="{8BB431BC-E319-11A5-4AD1-61D8648B09DE}"/>
                  </a:ext>
                </a:extLst>
              </p:cNvPr>
              <p:cNvSpPr txBox="1"/>
              <p:nvPr/>
            </p:nvSpPr>
            <p:spPr bwMode="auto">
              <a:xfrm>
                <a:off x="3008267" y="3511371"/>
                <a:ext cx="5726157" cy="684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Δ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           </m:t>
                              </m:r>
                              <m:r>
                                <m:rPr>
                                  <m:nor/>
                                </m:r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               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num>
                            <m:den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0">
                <a:extLst>
                  <a:ext uri="{FF2B5EF4-FFF2-40B4-BE49-F238E27FC236}">
                    <a16:creationId xmlns:a16="http://schemas.microsoft.com/office/drawing/2014/main" id="{8BB431BC-E319-11A5-4AD1-61D8648B0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8267" y="3511371"/>
                <a:ext cx="5726157" cy="684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1">
                <a:extLst>
                  <a:ext uri="{FF2B5EF4-FFF2-40B4-BE49-F238E27FC236}">
                    <a16:creationId xmlns:a16="http://schemas.microsoft.com/office/drawing/2014/main" id="{763F6C63-E60A-869E-E6E0-E7062F4BAF04}"/>
                  </a:ext>
                </a:extLst>
              </p:cNvPr>
              <p:cNvSpPr txBox="1"/>
              <p:nvPr/>
            </p:nvSpPr>
            <p:spPr bwMode="auto">
              <a:xfrm>
                <a:off x="4145661" y="3249613"/>
                <a:ext cx="3144837" cy="7064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 </m:t>
                          </m:r>
                          <m:r>
                            <m:rPr>
                              <m:nor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</m:t>
                          </m:r>
                          <m:r>
                            <m:rPr>
                              <m:nor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  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, 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1">
                <a:extLst>
                  <a:ext uri="{FF2B5EF4-FFF2-40B4-BE49-F238E27FC236}">
                    <a16:creationId xmlns:a16="http://schemas.microsoft.com/office/drawing/2014/main" id="{763F6C63-E60A-869E-E6E0-E7062F4BA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5661" y="3249613"/>
                <a:ext cx="3144837" cy="706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2">
                <a:extLst>
                  <a:ext uri="{FF2B5EF4-FFF2-40B4-BE49-F238E27FC236}">
                    <a16:creationId xmlns:a16="http://schemas.microsoft.com/office/drawing/2014/main" id="{A7F17277-0C1E-65B0-4FE8-349F1C3F466E}"/>
                  </a:ext>
                </a:extLst>
              </p:cNvPr>
              <p:cNvSpPr txBox="1"/>
              <p:nvPr/>
            </p:nvSpPr>
            <p:spPr bwMode="auto">
              <a:xfrm>
                <a:off x="6732188" y="3275013"/>
                <a:ext cx="1751496" cy="500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  ,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2">
                <a:extLst>
                  <a:ext uri="{FF2B5EF4-FFF2-40B4-BE49-F238E27FC236}">
                    <a16:creationId xmlns:a16="http://schemas.microsoft.com/office/drawing/2014/main" id="{A7F17277-0C1E-65B0-4FE8-349F1C3F4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2188" y="3275013"/>
                <a:ext cx="1751496" cy="500061"/>
              </a:xfrm>
              <a:prstGeom prst="rect">
                <a:avLst/>
              </a:prstGeom>
              <a:blipFill>
                <a:blip r:embed="rId6"/>
                <a:stretch>
                  <a:fillRect r="-20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F61B82C9-8AF0-0100-D152-E534D6F65F76}"/>
                  </a:ext>
                </a:extLst>
              </p:cNvPr>
              <p:cNvSpPr txBox="1"/>
              <p:nvPr/>
            </p:nvSpPr>
            <p:spPr bwMode="auto">
              <a:xfrm>
                <a:off x="5867351" y="3720175"/>
                <a:ext cx="639763" cy="5218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13">
                <a:extLst>
                  <a:ext uri="{FF2B5EF4-FFF2-40B4-BE49-F238E27FC236}">
                    <a16:creationId xmlns:a16="http://schemas.microsoft.com/office/drawing/2014/main" id="{F61B82C9-8AF0-0100-D152-E534D6F65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351" y="3720175"/>
                <a:ext cx="639763" cy="5218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4">
                <a:extLst>
                  <a:ext uri="{FF2B5EF4-FFF2-40B4-BE49-F238E27FC236}">
                    <a16:creationId xmlns:a16="http://schemas.microsoft.com/office/drawing/2014/main" id="{23E810F8-87C1-0CFB-ADF3-0C50DE17F106}"/>
                  </a:ext>
                </a:extLst>
              </p:cNvPr>
              <p:cNvSpPr txBox="1"/>
              <p:nvPr/>
            </p:nvSpPr>
            <p:spPr bwMode="auto">
              <a:xfrm>
                <a:off x="4572698" y="3275013"/>
                <a:ext cx="2346325" cy="588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4">
                <a:extLst>
                  <a:ext uri="{FF2B5EF4-FFF2-40B4-BE49-F238E27FC236}">
                    <a16:creationId xmlns:a16="http://schemas.microsoft.com/office/drawing/2014/main" id="{23E810F8-87C1-0CFB-ADF3-0C50DE17F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698" y="3275013"/>
                <a:ext cx="2346325" cy="5889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5">
                <a:extLst>
                  <a:ext uri="{FF2B5EF4-FFF2-40B4-BE49-F238E27FC236}">
                    <a16:creationId xmlns:a16="http://schemas.microsoft.com/office/drawing/2014/main" id="{AE17AF26-B552-9DB5-4342-1855204096AD}"/>
                  </a:ext>
                </a:extLst>
              </p:cNvPr>
              <p:cNvSpPr txBox="1"/>
              <p:nvPr/>
            </p:nvSpPr>
            <p:spPr bwMode="auto">
              <a:xfrm>
                <a:off x="1443608" y="4297929"/>
                <a:ext cx="2613025" cy="7457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?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5">
                <a:extLst>
                  <a:ext uri="{FF2B5EF4-FFF2-40B4-BE49-F238E27FC236}">
                    <a16:creationId xmlns:a16="http://schemas.microsoft.com/office/drawing/2014/main" id="{AE17AF26-B552-9DB5-4342-185520409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608" y="4297929"/>
                <a:ext cx="2613025" cy="745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6">
                <a:extLst>
                  <a:ext uri="{FF2B5EF4-FFF2-40B4-BE49-F238E27FC236}">
                    <a16:creationId xmlns:a16="http://schemas.microsoft.com/office/drawing/2014/main" id="{536318C4-DB77-3147-AA31-A07805BA5D65}"/>
                  </a:ext>
                </a:extLst>
              </p:cNvPr>
              <p:cNvSpPr txBox="1"/>
              <p:nvPr/>
            </p:nvSpPr>
            <p:spPr bwMode="auto">
              <a:xfrm>
                <a:off x="1462658" y="5116516"/>
                <a:ext cx="2470150" cy="530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?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6">
                <a:extLst>
                  <a:ext uri="{FF2B5EF4-FFF2-40B4-BE49-F238E27FC236}">
                    <a16:creationId xmlns:a16="http://schemas.microsoft.com/office/drawing/2014/main" id="{536318C4-DB77-3147-AA31-A07805BA5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2658" y="5116516"/>
                <a:ext cx="2470150" cy="5302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3">
                <a:extLst>
                  <a:ext uri="{FF2B5EF4-FFF2-40B4-BE49-F238E27FC236}">
                    <a16:creationId xmlns:a16="http://schemas.microsoft.com/office/drawing/2014/main" id="{66B6E6A4-7681-34AA-06C4-8AB4A56DB6D6}"/>
                  </a:ext>
                </a:extLst>
              </p:cNvPr>
              <p:cNvSpPr txBox="1"/>
              <p:nvPr/>
            </p:nvSpPr>
            <p:spPr bwMode="auto">
              <a:xfrm>
                <a:off x="7350860" y="3278888"/>
                <a:ext cx="474322" cy="4649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3">
                <a:extLst>
                  <a:ext uri="{FF2B5EF4-FFF2-40B4-BE49-F238E27FC236}">
                    <a16:creationId xmlns:a16="http://schemas.microsoft.com/office/drawing/2014/main" id="{66B6E6A4-7681-34AA-06C4-8AB4A56DB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0860" y="3278888"/>
                <a:ext cx="474322" cy="4649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32">
                <a:extLst>
                  <a:ext uri="{FF2B5EF4-FFF2-40B4-BE49-F238E27FC236}">
                    <a16:creationId xmlns:a16="http://schemas.microsoft.com/office/drawing/2014/main" id="{9306F627-0CAD-3025-9225-5239F24198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6544" y="4686970"/>
                <a:ext cx="228684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b="1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zh-CN" altLang="en-US" sz="2800" b="1" dirty="0">
                              <a:solidFill>
                                <a:srgbClr val="04926A"/>
                              </a:solidFill>
                              <a:latin typeface="Times New Roman"/>
                              <a:ea typeface="黑体"/>
                              <a:cs typeface="+mn-ea"/>
                              <a:sym typeface="+mn-lt"/>
                            </a:rPr>
                            <m:t>请自己写出</m:t>
                          </m:r>
                        </m:e>
                      </m:d>
                    </m:oMath>
                  </m:oMathPara>
                </a14:m>
                <a:endParaRPr kumimoji="1" lang="en-US" altLang="zh-CN" sz="2800" b="1" dirty="0">
                  <a:solidFill>
                    <a:srgbClr val="04926A"/>
                  </a:solidFill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3" name="Text Box 32">
                <a:extLst>
                  <a:ext uri="{FF2B5EF4-FFF2-40B4-BE49-F238E27FC236}">
                    <a16:creationId xmlns:a16="http://schemas.microsoft.com/office/drawing/2014/main" id="{9306F627-0CAD-3025-9225-5239F2419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6544" y="4686970"/>
                <a:ext cx="228684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">
                <a:extLst>
                  <a:ext uri="{FF2B5EF4-FFF2-40B4-BE49-F238E27FC236}">
                    <a16:creationId xmlns:a16="http://schemas.microsoft.com/office/drawing/2014/main" id="{FC9EF3EC-C97D-3B68-8135-F620D1D63515}"/>
                  </a:ext>
                </a:extLst>
              </p:cNvPr>
              <p:cNvSpPr txBox="1"/>
              <p:nvPr/>
            </p:nvSpPr>
            <p:spPr>
              <a:xfrm>
                <a:off x="1443608" y="2620872"/>
                <a:ext cx="9497816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三元函数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在点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处对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的偏导数定义为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1">
                <a:extLst>
                  <a:ext uri="{FF2B5EF4-FFF2-40B4-BE49-F238E27FC236}">
                    <a16:creationId xmlns:a16="http://schemas.microsoft.com/office/drawing/2014/main" id="{FC9EF3EC-C97D-3B68-8135-F620D1D63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608" y="2620872"/>
                <a:ext cx="9497816" cy="444500"/>
              </a:xfrm>
              <a:prstGeom prst="rect">
                <a:avLst/>
              </a:prstGeom>
              <a:blipFill>
                <a:blip r:embed="rId13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97957230-2EE0-7813-5EDE-828A1ADC9FC6}"/>
              </a:ext>
            </a:extLst>
          </p:cNvPr>
          <p:cNvGrpSpPr/>
          <p:nvPr/>
        </p:nvGrpSpPr>
        <p:grpSpPr>
          <a:xfrm>
            <a:off x="1547637" y="1958062"/>
            <a:ext cx="962025" cy="448945"/>
            <a:chOff x="1553" y="3803"/>
            <a:chExt cx="1515" cy="707"/>
          </a:xfrm>
        </p:grpSpPr>
        <p:sp>
          <p:nvSpPr>
            <p:cNvPr id="16" name="圆角矩形 57">
              <a:extLst>
                <a:ext uri="{FF2B5EF4-FFF2-40B4-BE49-F238E27FC236}">
                  <a16:creationId xmlns:a16="http://schemas.microsoft.com/office/drawing/2014/main" id="{3BCCA78F-1D7F-0470-6EAB-5652F29796EA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FF2096C6-F80B-60F5-DAA1-6EA1695D2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355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86BD293-90D4-6611-F556-CB760E9CC127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>
              <a:extLst>
                <a:ext uri="{FF2B5EF4-FFF2-40B4-BE49-F238E27FC236}">
                  <a16:creationId xmlns:a16="http://schemas.microsoft.com/office/drawing/2014/main" id="{55368966-4091-99AD-5716-38ED41B3F91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10A6653-0B37-D3B0-C610-C78ADC4751ED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3959EE7F-309E-D212-C8FD-86712EF9EA5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BF5DF9CB-A13E-64F2-0E67-77D59C77E411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D2222A50-0C89-2BB9-2D37-ED733E8F07B6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80F05B2D-C9A7-A7AA-15E9-6F4011B50977}"/>
              </a:ext>
            </a:extLst>
          </p:cNvPr>
          <p:cNvSpPr txBox="1">
            <a:spLocks noChangeArrowheads="1"/>
          </p:cNvSpPr>
          <p:nvPr/>
        </p:nvSpPr>
        <p:spPr>
          <a:xfrm>
            <a:off x="1631039" y="768985"/>
            <a:ext cx="3533978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偏导数的计算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47">
                <a:extLst>
                  <a:ext uri="{FF2B5EF4-FFF2-40B4-BE49-F238E27FC236}">
                    <a16:creationId xmlns:a16="http://schemas.microsoft.com/office/drawing/2014/main" id="{ADC23FB0-B12B-E447-5ED0-F938AB856B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039" y="4911799"/>
                <a:ext cx="674127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利用一元函数的求导法则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求其导数即可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 Box 47">
                <a:extLst>
                  <a:ext uri="{FF2B5EF4-FFF2-40B4-BE49-F238E27FC236}">
                    <a16:creationId xmlns:a16="http://schemas.microsoft.com/office/drawing/2014/main" id="{ADC23FB0-B12B-E447-5ED0-F938AB856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1039" y="4911799"/>
                <a:ext cx="6741277" cy="523220"/>
              </a:xfrm>
              <a:prstGeom prst="rect">
                <a:avLst/>
              </a:prstGeom>
              <a:blipFill>
                <a:blip r:embed="rId4"/>
                <a:stretch>
                  <a:fillRect l="-1900"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1">
                <a:extLst>
                  <a:ext uri="{FF2B5EF4-FFF2-40B4-BE49-F238E27FC236}">
                    <a16:creationId xmlns:a16="http://schemas.microsoft.com/office/drawing/2014/main" id="{79EE3F73-2F07-B09F-F5DD-9D26BCB8A176}"/>
                  </a:ext>
                </a:extLst>
              </p:cNvPr>
              <p:cNvSpPr txBox="1"/>
              <p:nvPr/>
            </p:nvSpPr>
            <p:spPr>
              <a:xfrm>
                <a:off x="1631039" y="3495971"/>
                <a:ext cx="7048505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计算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把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中的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看做常数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1">
                <a:extLst>
                  <a:ext uri="{FF2B5EF4-FFF2-40B4-BE49-F238E27FC236}">
                    <a16:creationId xmlns:a16="http://schemas.microsoft.com/office/drawing/2014/main" id="{79EE3F73-2F07-B09F-F5DD-9D26BCB8A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39" y="3495971"/>
                <a:ext cx="7048505" cy="457200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3">
                <a:extLst>
                  <a:ext uri="{FF2B5EF4-FFF2-40B4-BE49-F238E27FC236}">
                    <a16:creationId xmlns:a16="http://schemas.microsoft.com/office/drawing/2014/main" id="{563E867B-7A6C-1071-73EC-3E1C13A816A8}"/>
                  </a:ext>
                </a:extLst>
              </p:cNvPr>
              <p:cNvSpPr txBox="1"/>
              <p:nvPr/>
            </p:nvSpPr>
            <p:spPr>
              <a:xfrm>
                <a:off x="1631040" y="4215454"/>
                <a:ext cx="7048504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计算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把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中的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看做常数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3">
                <a:extLst>
                  <a:ext uri="{FF2B5EF4-FFF2-40B4-BE49-F238E27FC236}">
                    <a16:creationId xmlns:a16="http://schemas.microsoft.com/office/drawing/2014/main" id="{563E867B-7A6C-1071-73EC-3E1C13A81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40" y="4215454"/>
                <a:ext cx="7048504" cy="508000"/>
              </a:xfrm>
              <a:prstGeom prst="rect">
                <a:avLst/>
              </a:prstGeom>
              <a:blipFill>
                <a:blip r:embed="rId6"/>
                <a:stretch>
                  <a:fillRect b="-2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4">
                <a:extLst>
                  <a:ext uri="{FF2B5EF4-FFF2-40B4-BE49-F238E27FC236}">
                    <a16:creationId xmlns:a16="http://schemas.microsoft.com/office/drawing/2014/main" id="{FCFDC9EF-DC0C-ED73-588F-844FACEC4176}"/>
                  </a:ext>
                </a:extLst>
              </p:cNvPr>
              <p:cNvSpPr txBox="1"/>
              <p:nvPr/>
            </p:nvSpPr>
            <p:spPr>
              <a:xfrm>
                <a:off x="1631040" y="1359535"/>
                <a:ext cx="8929922" cy="123915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多元函数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对其中一个变量求偏导时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只需把其余变量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视为常数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按照一元函数的求导法则求导即可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4">
                <a:extLst>
                  <a:ext uri="{FF2B5EF4-FFF2-40B4-BE49-F238E27FC236}">
                    <a16:creationId xmlns:a16="http://schemas.microsoft.com/office/drawing/2014/main" id="{FCFDC9EF-DC0C-ED73-588F-844FACEC4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40" y="1359535"/>
                <a:ext cx="8929922" cy="12391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090F5EA8-3FA1-0B2D-45BB-7C7C9E008646}"/>
              </a:ext>
            </a:extLst>
          </p:cNvPr>
          <p:cNvGrpSpPr/>
          <p:nvPr/>
        </p:nvGrpSpPr>
        <p:grpSpPr>
          <a:xfrm>
            <a:off x="1748499" y="2858681"/>
            <a:ext cx="962025" cy="448945"/>
            <a:chOff x="1553" y="3803"/>
            <a:chExt cx="1515" cy="707"/>
          </a:xfrm>
        </p:grpSpPr>
        <p:sp>
          <p:nvSpPr>
            <p:cNvPr id="15" name="圆角矩形 57">
              <a:extLst>
                <a:ext uri="{FF2B5EF4-FFF2-40B4-BE49-F238E27FC236}">
                  <a16:creationId xmlns:a16="http://schemas.microsoft.com/office/drawing/2014/main" id="{A903E3ED-F559-6B74-C9A5-4D83F10EB47C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63A73CDF-9CDA-5490-DBD9-1060459E4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0402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86BD293-90D4-6611-F556-CB760E9CC127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>
              <a:extLst>
                <a:ext uri="{FF2B5EF4-FFF2-40B4-BE49-F238E27FC236}">
                  <a16:creationId xmlns:a16="http://schemas.microsoft.com/office/drawing/2014/main" id="{55368966-4091-99AD-5716-38ED41B3F91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10A6653-0B37-D3B0-C610-C78ADC4751ED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3959EE7F-309E-D212-C8FD-86712EF9EA5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BF5DF9CB-A13E-64F2-0E67-77D59C77E411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D2222A50-0C89-2BB9-2D37-ED733E8F07B6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8">
                <a:extLst>
                  <a:ext uri="{FF2B5EF4-FFF2-40B4-BE49-F238E27FC236}">
                    <a16:creationId xmlns:a16="http://schemas.microsoft.com/office/drawing/2014/main" id="{F91341D8-3E52-EEC0-2DDE-DD85C75F9C66}"/>
                  </a:ext>
                </a:extLst>
              </p:cNvPr>
              <p:cNvSpPr txBox="1"/>
              <p:nvPr/>
            </p:nvSpPr>
            <p:spPr>
              <a:xfrm>
                <a:off x="2306418" y="2509393"/>
                <a:ext cx="7541396" cy="81129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设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, 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𝑥𝑦</m:t>
                              </m:r>
                            </m:e>
                          </m:d>
                        </m:e>
                      </m:ra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求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0,0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0,</m:t>
                          </m:r>
                          <m:r>
                            <a:rPr kumimoji="1" lang="zh-CN" altLang="en-US" sz="2800" i="1" smtClean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e>
                      </m:d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对象 8">
                <a:extLst>
                  <a:ext uri="{FF2B5EF4-FFF2-40B4-BE49-F238E27FC236}">
                    <a16:creationId xmlns:a16="http://schemas.microsoft.com/office/drawing/2014/main" id="{F91341D8-3E52-EEC0-2DDE-DD85C75F9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18" y="2509393"/>
                <a:ext cx="7541396" cy="8112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0">
                <a:extLst>
                  <a:ext uri="{FF2B5EF4-FFF2-40B4-BE49-F238E27FC236}">
                    <a16:creationId xmlns:a16="http://schemas.microsoft.com/office/drawing/2014/main" id="{583C1077-DA0B-0901-9170-9909BBA1B848}"/>
                  </a:ext>
                </a:extLst>
              </p:cNvPr>
              <p:cNvSpPr txBox="1"/>
              <p:nvPr/>
            </p:nvSpPr>
            <p:spPr>
              <a:xfrm>
                <a:off x="2351515" y="3308505"/>
                <a:ext cx="4395815" cy="116692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|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⋅0|</m:t>
                                  </m:r>
                                </m:e>
                              </m:rad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−0</m:t>
                              </m:r>
                            </m:num>
                            <m:den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对象 10">
                <a:extLst>
                  <a:ext uri="{FF2B5EF4-FFF2-40B4-BE49-F238E27FC236}">
                    <a16:creationId xmlns:a16="http://schemas.microsoft.com/office/drawing/2014/main" id="{583C1077-DA0B-0901-9170-9909BBA1B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15" y="3308505"/>
                <a:ext cx="4395815" cy="1166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1">
                <a:extLst>
                  <a:ext uri="{FF2B5EF4-FFF2-40B4-BE49-F238E27FC236}">
                    <a16:creationId xmlns:a16="http://schemas.microsoft.com/office/drawing/2014/main" id="{C8BF96FE-3403-46D6-B156-88EA026631FE}"/>
                  </a:ext>
                </a:extLst>
              </p:cNvPr>
              <p:cNvSpPr txBox="1"/>
              <p:nvPr/>
            </p:nvSpPr>
            <p:spPr>
              <a:xfrm>
                <a:off x="6325737" y="3597581"/>
                <a:ext cx="915294" cy="54734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对象 11">
                <a:extLst>
                  <a:ext uri="{FF2B5EF4-FFF2-40B4-BE49-F238E27FC236}">
                    <a16:creationId xmlns:a16="http://schemas.microsoft.com/office/drawing/2014/main" id="{C8BF96FE-3403-46D6-B156-88EA02663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737" y="3597581"/>
                <a:ext cx="915294" cy="547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13">
                <a:extLst>
                  <a:ext uri="{FF2B5EF4-FFF2-40B4-BE49-F238E27FC236}">
                    <a16:creationId xmlns:a16="http://schemas.microsoft.com/office/drawing/2014/main" id="{632D6A5B-EC54-1623-1885-575CD74CB281}"/>
                  </a:ext>
                </a:extLst>
              </p:cNvPr>
              <p:cNvSpPr txBox="1"/>
              <p:nvPr/>
            </p:nvSpPr>
            <p:spPr>
              <a:xfrm>
                <a:off x="2351515" y="4447580"/>
                <a:ext cx="4285940" cy="1477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|0⋅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|</m:t>
                                  </m:r>
                                </m:e>
                              </m:rad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−0</m:t>
                              </m:r>
                            </m:num>
                            <m:den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对象 13">
                <a:extLst>
                  <a:ext uri="{FF2B5EF4-FFF2-40B4-BE49-F238E27FC236}">
                    <a16:creationId xmlns:a16="http://schemas.microsoft.com/office/drawing/2014/main" id="{632D6A5B-EC54-1623-1885-575CD74CB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15" y="4447580"/>
                <a:ext cx="4285940" cy="14773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4">
                <a:extLst>
                  <a:ext uri="{FF2B5EF4-FFF2-40B4-BE49-F238E27FC236}">
                    <a16:creationId xmlns:a16="http://schemas.microsoft.com/office/drawing/2014/main" id="{EB05BC24-D689-8080-9398-979335A4DCEB}"/>
                  </a:ext>
                </a:extLst>
              </p:cNvPr>
              <p:cNvSpPr txBox="1"/>
              <p:nvPr/>
            </p:nvSpPr>
            <p:spPr>
              <a:xfrm>
                <a:off x="6325738" y="4780119"/>
                <a:ext cx="915293" cy="5473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对象 14">
                <a:extLst>
                  <a:ext uri="{FF2B5EF4-FFF2-40B4-BE49-F238E27FC236}">
                    <a16:creationId xmlns:a16="http://schemas.microsoft.com/office/drawing/2014/main" id="{EB05BC24-D689-8080-9398-979335A4D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738" y="4780119"/>
                <a:ext cx="915293" cy="5473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6">
                <a:extLst>
                  <a:ext uri="{FF2B5EF4-FFF2-40B4-BE49-F238E27FC236}">
                    <a16:creationId xmlns:a16="http://schemas.microsoft.com/office/drawing/2014/main" id="{718C4CCE-EC1A-B17D-CBE7-22C50EB99F6B}"/>
                  </a:ext>
                </a:extLst>
              </p:cNvPr>
              <p:cNvSpPr txBox="1"/>
              <p:nvPr/>
            </p:nvSpPr>
            <p:spPr>
              <a:xfrm>
                <a:off x="2292034" y="1074421"/>
                <a:ext cx="7950971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求分界点、不连续点处的偏导数要用定义求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对象 16">
                <a:extLst>
                  <a:ext uri="{FF2B5EF4-FFF2-40B4-BE49-F238E27FC236}">
                    <a16:creationId xmlns:a16="http://schemas.microsoft.com/office/drawing/2014/main" id="{718C4CCE-EC1A-B17D-CBE7-22C50EB99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034" y="1074421"/>
                <a:ext cx="7950971" cy="5232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F98F3136-A533-FC05-0293-D119F583E35E}"/>
              </a:ext>
            </a:extLst>
          </p:cNvPr>
          <p:cNvGrpSpPr/>
          <p:nvPr/>
        </p:nvGrpSpPr>
        <p:grpSpPr>
          <a:xfrm>
            <a:off x="2420718" y="1851822"/>
            <a:ext cx="962025" cy="448945"/>
            <a:chOff x="1553" y="3803"/>
            <a:chExt cx="1515" cy="707"/>
          </a:xfrm>
        </p:grpSpPr>
        <p:sp>
          <p:nvSpPr>
            <p:cNvPr id="3" name="圆角矩形 57">
              <a:extLst>
                <a:ext uri="{FF2B5EF4-FFF2-40B4-BE49-F238E27FC236}">
                  <a16:creationId xmlns:a16="http://schemas.microsoft.com/office/drawing/2014/main" id="{445E1320-DF08-4049-5582-DC231439865A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3DEF3235-2E71-65D9-B059-DFD18A592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461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324" y="529052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529052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29052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29052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86CA2BA-49BA-EA6D-7448-CE4AB07BE050}"/>
              </a:ext>
            </a:extLst>
          </p:cNvPr>
          <p:cNvSpPr txBox="1">
            <a:spLocks noChangeArrowheads="1"/>
          </p:cNvSpPr>
          <p:nvPr/>
        </p:nvSpPr>
        <p:spPr>
          <a:xfrm>
            <a:off x="2108321" y="426896"/>
            <a:ext cx="1890049" cy="911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29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例</a:t>
            </a:r>
            <a:r>
              <a:rPr lang="en-US" altLang="zh-CN" sz="29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1     </a:t>
            </a:r>
            <a:r>
              <a:rPr kumimoji="1" lang="zh-CN" altLang="en-US" sz="2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D1D93C42-984D-D67B-A26B-3F8618959D3C}"/>
                  </a:ext>
                </a:extLst>
              </p:cNvPr>
              <p:cNvSpPr txBox="1"/>
              <p:nvPr/>
            </p:nvSpPr>
            <p:spPr bwMode="auto">
              <a:xfrm>
                <a:off x="3622126" y="609661"/>
                <a:ext cx="3602737" cy="585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+3​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​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D1D93C42-984D-D67B-A26B-3F8618959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2126" y="609661"/>
                <a:ext cx="3602737" cy="5855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>
            <a:extLst>
              <a:ext uri="{FF2B5EF4-FFF2-40B4-BE49-F238E27FC236}">
                <a16:creationId xmlns:a16="http://schemas.microsoft.com/office/drawing/2014/main" id="{9480ED66-6029-8851-98AC-AA7F57D94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321" y="1429379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解法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6EA14741-6CE8-AFAA-CEB9-90FB17459185}"/>
                  </a:ext>
                </a:extLst>
              </p:cNvPr>
              <p:cNvSpPr txBox="1"/>
              <p:nvPr/>
            </p:nvSpPr>
            <p:spPr bwMode="auto">
              <a:xfrm>
                <a:off x="3240494" y="1267728"/>
                <a:ext cx="1208086" cy="9117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6EA14741-6CE8-AFAA-CEB9-90FB17459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0494" y="1267728"/>
                <a:ext cx="1208086" cy="9117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07C37ABA-AF4C-81D6-B9B6-2B744517F668}"/>
                  </a:ext>
                </a:extLst>
              </p:cNvPr>
              <p:cNvSpPr txBox="1"/>
              <p:nvPr/>
            </p:nvSpPr>
            <p:spPr bwMode="auto">
              <a:xfrm>
                <a:off x="3220146" y="2054817"/>
                <a:ext cx="1890050" cy="933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∴ </m:t>
                      </m:r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=1</m:t>
                              </m:r>
                            </m:e>
                            <m:e>
                              <m:r>
                                <a:rPr kumimoji="1" lang="en-US" altLang="zh-CN" sz="24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4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07C37ABA-AF4C-81D6-B9B6-2B744517F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0146" y="2054817"/>
                <a:ext cx="1890050" cy="933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9">
            <a:extLst>
              <a:ext uri="{FF2B5EF4-FFF2-40B4-BE49-F238E27FC236}">
                <a16:creationId xmlns:a16="http://schemas.microsoft.com/office/drawing/2014/main" id="{00FE93C4-4AD5-48AF-E6D0-3F9F4819C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321" y="3067696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解法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1">
                <a:extLst>
                  <a:ext uri="{FF2B5EF4-FFF2-40B4-BE49-F238E27FC236}">
                    <a16:creationId xmlns:a16="http://schemas.microsoft.com/office/drawing/2014/main" id="{D9083622-4E3E-AF31-CE27-EAE7B4FD319F}"/>
                  </a:ext>
                </a:extLst>
              </p:cNvPr>
              <p:cNvSpPr txBox="1"/>
              <p:nvPr/>
            </p:nvSpPr>
            <p:spPr bwMode="auto">
              <a:xfrm>
                <a:off x="3231349" y="3671156"/>
                <a:ext cx="1852063" cy="933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=1</m:t>
                              </m:r>
                            </m:e>
                            <m:e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11">
                <a:extLst>
                  <a:ext uri="{FF2B5EF4-FFF2-40B4-BE49-F238E27FC236}">
                    <a16:creationId xmlns:a16="http://schemas.microsoft.com/office/drawing/2014/main" id="{D9083622-4E3E-AF31-CE27-EAE7B4FD3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1349" y="3671156"/>
                <a:ext cx="1852063" cy="9337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4">
            <a:extLst>
              <a:ext uri="{FF2B5EF4-FFF2-40B4-BE49-F238E27FC236}">
                <a16:creationId xmlns:a16="http://schemas.microsoft.com/office/drawing/2014/main" id="{DC1A34CE-2F23-BD8B-7F8D-31B6A23D1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60234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在点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(1 , 2)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处的偏导数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5">
                <a:extLst>
                  <a:ext uri="{FF2B5EF4-FFF2-40B4-BE49-F238E27FC236}">
                    <a16:creationId xmlns:a16="http://schemas.microsoft.com/office/drawing/2014/main" id="{71D9EDE0-6E02-9CE5-2201-9A71FD96DB57}"/>
                  </a:ext>
                </a:extLst>
              </p:cNvPr>
              <p:cNvSpPr txBox="1"/>
              <p:nvPr/>
            </p:nvSpPr>
            <p:spPr bwMode="auto">
              <a:xfrm>
                <a:off x="3239599" y="5288251"/>
                <a:ext cx="2027806" cy="933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=1</m:t>
                              </m:r>
                            </m:e>
                            <m:e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15">
                <a:extLst>
                  <a:ext uri="{FF2B5EF4-FFF2-40B4-BE49-F238E27FC236}">
                    <a16:creationId xmlns:a16="http://schemas.microsoft.com/office/drawing/2014/main" id="{71D9EDE0-6E02-9CE5-2201-9A71FD96D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9599" y="5288251"/>
                <a:ext cx="2027806" cy="9337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7">
                <a:extLst>
                  <a:ext uri="{FF2B5EF4-FFF2-40B4-BE49-F238E27FC236}">
                    <a16:creationId xmlns:a16="http://schemas.microsoft.com/office/drawing/2014/main" id="{270A874F-19C3-B9EA-FEE6-01F9F9ADF15F}"/>
                  </a:ext>
                </a:extLst>
              </p:cNvPr>
              <p:cNvSpPr txBox="1"/>
              <p:nvPr/>
            </p:nvSpPr>
            <p:spPr bwMode="auto">
              <a:xfrm>
                <a:off x="3916613" y="1422015"/>
                <a:ext cx="1447801" cy="6005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+3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17">
                <a:extLst>
                  <a:ext uri="{FF2B5EF4-FFF2-40B4-BE49-F238E27FC236}">
                    <a16:creationId xmlns:a16="http://schemas.microsoft.com/office/drawing/2014/main" id="{270A874F-19C3-B9EA-FEE6-01F9F9ADF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6613" y="1422015"/>
                <a:ext cx="1447801" cy="600523"/>
              </a:xfrm>
              <a:prstGeom prst="rect">
                <a:avLst/>
              </a:prstGeom>
              <a:blipFill>
                <a:blip r:embed="rId9"/>
                <a:stretch>
                  <a:fillRect l="-4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8">
                <a:extLst>
                  <a:ext uri="{FF2B5EF4-FFF2-40B4-BE49-F238E27FC236}">
                    <a16:creationId xmlns:a16="http://schemas.microsoft.com/office/drawing/2014/main" id="{FD6C38A3-BD61-1828-F40F-C3CD9C14EC79}"/>
                  </a:ext>
                </a:extLst>
              </p:cNvPr>
              <p:cNvSpPr txBox="1"/>
              <p:nvPr/>
            </p:nvSpPr>
            <p:spPr bwMode="auto">
              <a:xfrm>
                <a:off x="5051076" y="1254899"/>
                <a:ext cx="1004173" cy="7918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18">
                <a:extLst>
                  <a:ext uri="{FF2B5EF4-FFF2-40B4-BE49-F238E27FC236}">
                    <a16:creationId xmlns:a16="http://schemas.microsoft.com/office/drawing/2014/main" id="{FD6C38A3-BD61-1828-F40F-C3CD9C14E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1076" y="1254899"/>
                <a:ext cx="1004173" cy="7918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9">
                <a:extLst>
                  <a:ext uri="{FF2B5EF4-FFF2-40B4-BE49-F238E27FC236}">
                    <a16:creationId xmlns:a16="http://schemas.microsoft.com/office/drawing/2014/main" id="{8277511E-35B0-43DB-36FA-99D5E566BF95}"/>
                  </a:ext>
                </a:extLst>
              </p:cNvPr>
              <p:cNvSpPr txBox="1"/>
              <p:nvPr/>
            </p:nvSpPr>
            <p:spPr bwMode="auto">
              <a:xfrm>
                <a:off x="5694357" y="1430086"/>
                <a:ext cx="1784470" cy="4091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3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19">
                <a:extLst>
                  <a:ext uri="{FF2B5EF4-FFF2-40B4-BE49-F238E27FC236}">
                    <a16:creationId xmlns:a16="http://schemas.microsoft.com/office/drawing/2014/main" id="{8277511E-35B0-43DB-36FA-99D5E566B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4357" y="1430086"/>
                <a:ext cx="1784470" cy="409139"/>
              </a:xfrm>
              <a:prstGeom prst="rect">
                <a:avLst/>
              </a:prstGeom>
              <a:blipFill>
                <a:blip r:embed="rId11"/>
                <a:stretch>
                  <a:fillRect l="-341"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59950E18-BA23-E0F1-4AE5-DCCCA48C2942}"/>
                  </a:ext>
                </a:extLst>
              </p:cNvPr>
              <p:cNvSpPr txBox="1"/>
              <p:nvPr/>
            </p:nvSpPr>
            <p:spPr bwMode="auto">
              <a:xfrm>
                <a:off x="4437389" y="2248171"/>
                <a:ext cx="2470662" cy="4091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=2⋅1+3⋅2=8,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59950E18-BA23-E0F1-4AE5-DCCCA48C2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7389" y="2248171"/>
                <a:ext cx="2470662" cy="409139"/>
              </a:xfrm>
              <a:prstGeom prst="rect">
                <a:avLst/>
              </a:prstGeom>
              <a:blipFill>
                <a:blip r:embed="rId12"/>
                <a:stretch>
                  <a:fillRect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AEDB4460-B04E-E6A3-9A94-92A15C4B706A}"/>
                  </a:ext>
                </a:extLst>
              </p:cNvPr>
              <p:cNvSpPr txBox="1"/>
              <p:nvPr/>
            </p:nvSpPr>
            <p:spPr bwMode="auto">
              <a:xfrm>
                <a:off x="6812068" y="2024026"/>
                <a:ext cx="2058492" cy="10185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=1</m:t>
                              </m:r>
                            </m:e>
                            <m:e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0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=</m:t>
                              </m:r>
                              <m:r>
                                <a:rPr kumimoji="1" lang="en-US" altLang="zh-CN" sz="2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AEDB4460-B04E-E6A3-9A94-92A15C4B7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2068" y="2024026"/>
                <a:ext cx="2058492" cy="10185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2">
                <a:extLst>
                  <a:ext uri="{FF2B5EF4-FFF2-40B4-BE49-F238E27FC236}">
                    <a16:creationId xmlns:a16="http://schemas.microsoft.com/office/drawing/2014/main" id="{BF0ED14D-CF05-9966-8095-69D99F5F4905}"/>
                  </a:ext>
                </a:extLst>
              </p:cNvPr>
              <p:cNvSpPr txBox="1"/>
              <p:nvPr/>
            </p:nvSpPr>
            <p:spPr bwMode="auto">
              <a:xfrm>
                <a:off x="7746944" y="2248171"/>
                <a:ext cx="2600382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=​3⋅1+2⋅2=7.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22">
                <a:extLst>
                  <a:ext uri="{FF2B5EF4-FFF2-40B4-BE49-F238E27FC236}">
                    <a16:creationId xmlns:a16="http://schemas.microsoft.com/office/drawing/2014/main" id="{BF0ED14D-CF05-9966-8095-69D99F5F4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6944" y="2248171"/>
                <a:ext cx="2600382" cy="51911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3">
                <a:extLst>
                  <a:ext uri="{FF2B5EF4-FFF2-40B4-BE49-F238E27FC236}">
                    <a16:creationId xmlns:a16="http://schemas.microsoft.com/office/drawing/2014/main" id="{9714C1CC-0067-359C-68FB-B878E3820107}"/>
                  </a:ext>
                </a:extLst>
              </p:cNvPr>
              <p:cNvSpPr txBox="1"/>
              <p:nvPr/>
            </p:nvSpPr>
            <p:spPr bwMode="auto">
              <a:xfrm>
                <a:off x="4097626" y="3050728"/>
                <a:ext cx="2865966" cy="488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+6​​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+4,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23">
                <a:extLst>
                  <a:ext uri="{FF2B5EF4-FFF2-40B4-BE49-F238E27FC236}">
                    <a16:creationId xmlns:a16="http://schemas.microsoft.com/office/drawing/2014/main" id="{9714C1CC-0067-359C-68FB-B878E3820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626" y="3050728"/>
                <a:ext cx="2865966" cy="48832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65D54DB9-9ABA-EA6D-1D6B-E98A3D467FD0}"/>
                  </a:ext>
                </a:extLst>
              </p:cNvPr>
              <p:cNvSpPr txBox="1"/>
              <p:nvPr/>
            </p:nvSpPr>
            <p:spPr bwMode="auto">
              <a:xfrm>
                <a:off x="4097626" y="3790179"/>
                <a:ext cx="2282854" cy="6529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=(2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+6)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65D54DB9-9ABA-EA6D-1D6B-E98A3D467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626" y="3790179"/>
                <a:ext cx="2282854" cy="652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6">
                <a:extLst>
                  <a:ext uri="{FF2B5EF4-FFF2-40B4-BE49-F238E27FC236}">
                    <a16:creationId xmlns:a16="http://schemas.microsoft.com/office/drawing/2014/main" id="{7C50E1C4-C8DE-AD40-7E88-0A85E14FB80C}"/>
                  </a:ext>
                </a:extLst>
              </p:cNvPr>
              <p:cNvSpPr txBox="1"/>
              <p:nvPr/>
            </p:nvSpPr>
            <p:spPr bwMode="auto">
              <a:xfrm>
                <a:off x="5982920" y="3866452"/>
                <a:ext cx="829148" cy="3827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=8,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26">
                <a:extLst>
                  <a:ext uri="{FF2B5EF4-FFF2-40B4-BE49-F238E27FC236}">
                    <a16:creationId xmlns:a16="http://schemas.microsoft.com/office/drawing/2014/main" id="{7C50E1C4-C8DE-AD40-7E88-0A85E14F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2920" y="3866452"/>
                <a:ext cx="829148" cy="382743"/>
              </a:xfrm>
              <a:prstGeom prst="rect">
                <a:avLst/>
              </a:prstGeom>
              <a:blipFill>
                <a:blip r:embed="rId17"/>
                <a:stretch>
                  <a:fillRect b="-95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7">
                <a:extLst>
                  <a:ext uri="{FF2B5EF4-FFF2-40B4-BE49-F238E27FC236}">
                    <a16:creationId xmlns:a16="http://schemas.microsoft.com/office/drawing/2014/main" id="{8B83465F-02ED-8CCF-3BE8-DE890D6D667D}"/>
                  </a:ext>
                </a:extLst>
              </p:cNvPr>
              <p:cNvSpPr txBox="1"/>
              <p:nvPr/>
            </p:nvSpPr>
            <p:spPr bwMode="auto">
              <a:xfrm>
                <a:off x="3239599" y="4626003"/>
                <a:ext cx="1153802" cy="58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en-US" altLang="zh-CN" sz="22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27">
                <a:extLst>
                  <a:ext uri="{FF2B5EF4-FFF2-40B4-BE49-F238E27FC236}">
                    <a16:creationId xmlns:a16="http://schemas.microsoft.com/office/drawing/2014/main" id="{8B83465F-02ED-8CCF-3BE8-DE890D6D6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9599" y="4626003"/>
                <a:ext cx="1153802" cy="580387"/>
              </a:xfrm>
              <a:prstGeom prst="rect">
                <a:avLst/>
              </a:prstGeom>
              <a:blipFill>
                <a:blip r:embed="rId18"/>
                <a:stretch>
                  <a:fillRect b="-10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28">
                <a:extLst>
                  <a:ext uri="{FF2B5EF4-FFF2-40B4-BE49-F238E27FC236}">
                    <a16:creationId xmlns:a16="http://schemas.microsoft.com/office/drawing/2014/main" id="{2D9A0807-53B7-8F10-6E62-181A8C932476}"/>
                  </a:ext>
                </a:extLst>
              </p:cNvPr>
              <p:cNvSpPr txBox="1"/>
              <p:nvPr/>
            </p:nvSpPr>
            <p:spPr bwMode="auto">
              <a:xfrm>
                <a:off x="4101206" y="4662740"/>
                <a:ext cx="2827664" cy="488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=1+3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28">
                <a:extLst>
                  <a:ext uri="{FF2B5EF4-FFF2-40B4-BE49-F238E27FC236}">
                    <a16:creationId xmlns:a16="http://schemas.microsoft.com/office/drawing/2014/main" id="{2D9A0807-53B7-8F10-6E62-181A8C932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1206" y="4662740"/>
                <a:ext cx="2827664" cy="488327"/>
              </a:xfrm>
              <a:prstGeom prst="rect">
                <a:avLst/>
              </a:prstGeom>
              <a:blipFill>
                <a:blip r:embed="rId19"/>
                <a:stretch>
                  <a:fillRect b="-37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9">
                <a:extLst>
                  <a:ext uri="{FF2B5EF4-FFF2-40B4-BE49-F238E27FC236}">
                    <a16:creationId xmlns:a16="http://schemas.microsoft.com/office/drawing/2014/main" id="{A690F59D-F23B-A506-D137-EBA48DBFC954}"/>
                  </a:ext>
                </a:extLst>
              </p:cNvPr>
              <p:cNvSpPr txBox="1"/>
              <p:nvPr/>
            </p:nvSpPr>
            <p:spPr bwMode="auto">
              <a:xfrm>
                <a:off x="4097626" y="5475603"/>
                <a:ext cx="2023465" cy="6777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=(3+2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29">
                <a:extLst>
                  <a:ext uri="{FF2B5EF4-FFF2-40B4-BE49-F238E27FC236}">
                    <a16:creationId xmlns:a16="http://schemas.microsoft.com/office/drawing/2014/main" id="{A690F59D-F23B-A506-D137-EBA48DBFC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626" y="5475603"/>
                <a:ext cx="2023465" cy="67772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1">
                <a:extLst>
                  <a:ext uri="{FF2B5EF4-FFF2-40B4-BE49-F238E27FC236}">
                    <a16:creationId xmlns:a16="http://schemas.microsoft.com/office/drawing/2014/main" id="{6E82670F-C0FD-9B90-5D1B-8CD1228AFF07}"/>
                  </a:ext>
                </a:extLst>
              </p:cNvPr>
              <p:cNvSpPr txBox="1"/>
              <p:nvPr/>
            </p:nvSpPr>
            <p:spPr bwMode="auto">
              <a:xfrm>
                <a:off x="5980616" y="5557587"/>
                <a:ext cx="1113418" cy="5449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=7.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Object 31">
                <a:extLst>
                  <a:ext uri="{FF2B5EF4-FFF2-40B4-BE49-F238E27FC236}">
                    <a16:creationId xmlns:a16="http://schemas.microsoft.com/office/drawing/2014/main" id="{6E82670F-C0FD-9B90-5D1B-8CD1228AF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0616" y="5557587"/>
                <a:ext cx="1113418" cy="5449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7">
                <a:extLst>
                  <a:ext uri="{FF2B5EF4-FFF2-40B4-BE49-F238E27FC236}">
                    <a16:creationId xmlns:a16="http://schemas.microsoft.com/office/drawing/2014/main" id="{90897AC5-9F07-F770-088D-16E3022FC15D}"/>
                  </a:ext>
                </a:extLst>
              </p:cNvPr>
              <p:cNvSpPr txBox="1"/>
              <p:nvPr/>
            </p:nvSpPr>
            <p:spPr bwMode="auto">
              <a:xfrm>
                <a:off x="3229110" y="2958885"/>
                <a:ext cx="1153802" cy="58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en-US" altLang="zh-CN" sz="2200" dirty="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en-US" altLang="zh-CN" sz="22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27">
                <a:extLst>
                  <a:ext uri="{FF2B5EF4-FFF2-40B4-BE49-F238E27FC236}">
                    <a16:creationId xmlns:a16="http://schemas.microsoft.com/office/drawing/2014/main" id="{90897AC5-9F07-F770-088D-16E3022FC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9110" y="2958885"/>
                <a:ext cx="1153802" cy="580387"/>
              </a:xfrm>
              <a:prstGeom prst="rect">
                <a:avLst/>
              </a:prstGeom>
              <a:blipFill>
                <a:blip r:embed="rId22"/>
                <a:stretch>
                  <a:fillRect b="-72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12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utoUpdateAnimBg="0"/>
      <p:bldP spid="6" grpId="0"/>
      <p:bldP spid="7" grpId="0"/>
      <p:bldP spid="8" grpId="0"/>
      <p:bldP spid="9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9" grpId="0"/>
      <p:bldP spid="30" grpId="0"/>
      <p:bldP spid="31" grpId="0"/>
      <p:bldP spid="3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335362-6C63-C286-8EB5-7FDE63CF70B6}"/>
              </a:ext>
            </a:extLst>
          </p:cNvPr>
          <p:cNvSpPr txBox="1">
            <a:spLocks noChangeArrowheads="1"/>
          </p:cNvSpPr>
          <p:nvPr/>
        </p:nvSpPr>
        <p:spPr>
          <a:xfrm>
            <a:off x="2143247" y="759192"/>
            <a:ext cx="1600200" cy="581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9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例</a:t>
            </a:r>
            <a:r>
              <a:rPr lang="en-US" altLang="zh-CN" sz="29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2   </a:t>
            </a:r>
            <a:r>
              <a:rPr kumimoji="1" lang="zh-CN" altLang="en-US" sz="29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5F592035-93F1-DCAB-26D6-C02043CA22BD}"/>
                  </a:ext>
                </a:extLst>
              </p:cNvPr>
              <p:cNvSpPr txBox="1"/>
              <p:nvPr/>
            </p:nvSpPr>
            <p:spPr bwMode="auto">
              <a:xfrm>
                <a:off x="3368673" y="742956"/>
                <a:ext cx="2610644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func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5F592035-93F1-DCAB-26D6-C02043CA2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8673" y="742956"/>
                <a:ext cx="2610644" cy="469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5">
            <a:extLst>
              <a:ext uri="{FF2B5EF4-FFF2-40B4-BE49-F238E27FC236}">
                <a16:creationId xmlns:a16="http://schemas.microsoft.com/office/drawing/2014/main" id="{6E752A36-7DC2-3C35-71B3-322086EBE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287" y="158969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解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1F8CC35F-7C29-71E8-1CF5-E869A1E8E43E}"/>
                  </a:ext>
                </a:extLst>
              </p:cNvPr>
              <p:cNvSpPr txBox="1"/>
              <p:nvPr/>
            </p:nvSpPr>
            <p:spPr bwMode="auto">
              <a:xfrm>
                <a:off x="3084532" y="1463482"/>
                <a:ext cx="888145" cy="9672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1F8CC35F-7C29-71E8-1CF5-E869A1E8E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4532" y="1463482"/>
                <a:ext cx="888145" cy="9672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4">
            <a:extLst>
              <a:ext uri="{FF2B5EF4-FFF2-40B4-BE49-F238E27FC236}">
                <a16:creationId xmlns:a16="http://schemas.microsoft.com/office/drawing/2014/main" id="{B26138B0-F396-EB75-1CAF-C0AA028B2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9543" y="748692"/>
            <a:ext cx="226047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的偏导数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7">
                <a:extLst>
                  <a:ext uri="{FF2B5EF4-FFF2-40B4-BE49-F238E27FC236}">
                    <a16:creationId xmlns:a16="http://schemas.microsoft.com/office/drawing/2014/main" id="{6418E1F0-356F-8FB5-5233-95C3888A60EF}"/>
                  </a:ext>
                </a:extLst>
              </p:cNvPr>
              <p:cNvSpPr txBox="1"/>
              <p:nvPr/>
            </p:nvSpPr>
            <p:spPr bwMode="auto">
              <a:xfrm>
                <a:off x="3778649" y="1625862"/>
                <a:ext cx="14605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17">
                <a:extLst>
                  <a:ext uri="{FF2B5EF4-FFF2-40B4-BE49-F238E27FC236}">
                    <a16:creationId xmlns:a16="http://schemas.microsoft.com/office/drawing/2014/main" id="{6418E1F0-356F-8FB5-5233-95C3888A6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8649" y="1625862"/>
                <a:ext cx="1460500" cy="393700"/>
              </a:xfrm>
              <a:prstGeom prst="rect">
                <a:avLst/>
              </a:prstGeom>
              <a:blipFill>
                <a:blip r:embed="rId6"/>
                <a:stretch>
                  <a:fillRect l="-418" b="-234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8">
                <a:extLst>
                  <a:ext uri="{FF2B5EF4-FFF2-40B4-BE49-F238E27FC236}">
                    <a16:creationId xmlns:a16="http://schemas.microsoft.com/office/drawing/2014/main" id="{1AE6A152-A58E-34AE-98EE-2A19AE878193}"/>
                  </a:ext>
                </a:extLst>
              </p:cNvPr>
              <p:cNvSpPr txBox="1"/>
              <p:nvPr/>
            </p:nvSpPr>
            <p:spPr bwMode="auto">
              <a:xfrm>
                <a:off x="5075856" y="1460086"/>
                <a:ext cx="888145" cy="867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18">
                <a:extLst>
                  <a:ext uri="{FF2B5EF4-FFF2-40B4-BE49-F238E27FC236}">
                    <a16:creationId xmlns:a16="http://schemas.microsoft.com/office/drawing/2014/main" id="{1AE6A152-A58E-34AE-98EE-2A19AE87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5856" y="1460086"/>
                <a:ext cx="888145" cy="8670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9">
                <a:extLst>
                  <a:ext uri="{FF2B5EF4-FFF2-40B4-BE49-F238E27FC236}">
                    <a16:creationId xmlns:a16="http://schemas.microsoft.com/office/drawing/2014/main" id="{AE7A201D-2F3D-6491-E7B2-9EC7CDA2B891}"/>
                  </a:ext>
                </a:extLst>
              </p:cNvPr>
              <p:cNvSpPr txBox="1"/>
              <p:nvPr/>
            </p:nvSpPr>
            <p:spPr bwMode="auto">
              <a:xfrm>
                <a:off x="5724961" y="1620862"/>
                <a:ext cx="1612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19">
                <a:extLst>
                  <a:ext uri="{FF2B5EF4-FFF2-40B4-BE49-F238E27FC236}">
                    <a16:creationId xmlns:a16="http://schemas.microsoft.com/office/drawing/2014/main" id="{AE7A201D-2F3D-6491-E7B2-9EC7CDA2B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961" y="1620862"/>
                <a:ext cx="1612900" cy="469900"/>
              </a:xfrm>
              <a:prstGeom prst="rect">
                <a:avLst/>
              </a:prstGeom>
              <a:blipFill>
                <a:blip r:embed="rId8"/>
                <a:stretch>
                  <a:fillRect l="-377" b="-77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2">
            <a:extLst>
              <a:ext uri="{FF2B5EF4-FFF2-40B4-BE49-F238E27FC236}">
                <a16:creationId xmlns:a16="http://schemas.microsoft.com/office/drawing/2014/main" id="{95500C40-C1C5-B7E3-9CD8-6632156BC205}"/>
              </a:ext>
            </a:extLst>
          </p:cNvPr>
          <p:cNvSpPr txBox="1">
            <a:spLocks noChangeArrowheads="1"/>
          </p:cNvSpPr>
          <p:nvPr/>
        </p:nvSpPr>
        <p:spPr>
          <a:xfrm>
            <a:off x="2187697" y="2493202"/>
            <a:ext cx="15240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3 </a:t>
            </a:r>
            <a:r>
              <a:rPr lang="en-US" altLang="zh-CN" sz="2800" dirty="0">
                <a:solidFill>
                  <a:srgbClr val="04926A"/>
                </a:solidFill>
                <a:latin typeface="+mn-ea"/>
                <a:ea typeface="+mn-ea"/>
                <a:cs typeface="+mn-ea"/>
                <a:sym typeface="+mn-lt"/>
              </a:rPr>
              <a:t>  </a:t>
            </a:r>
            <a:r>
              <a:rPr kumimoji="1" lang="zh-CN" altLang="en-US"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cs typeface="+mn-cs"/>
                <a:sym typeface="+mn-lt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927EB5EB-54D7-28BC-C6B1-EAB50E52156D}"/>
                  </a:ext>
                </a:extLst>
              </p:cNvPr>
              <p:cNvSpPr txBox="1"/>
              <p:nvPr/>
            </p:nvSpPr>
            <p:spPr bwMode="auto">
              <a:xfrm>
                <a:off x="3517777" y="2501942"/>
                <a:ext cx="4222244" cy="465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 (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&gt;0,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且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≠1​), 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927EB5EB-54D7-28BC-C6B1-EAB50E52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7777" y="2501942"/>
                <a:ext cx="4222244" cy="465137"/>
              </a:xfrm>
              <a:prstGeom prst="rect">
                <a:avLst/>
              </a:prstGeom>
              <a:blipFill>
                <a:blip r:embed="rId9"/>
                <a:stretch>
                  <a:fillRect b="-12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4">
                <a:extLst>
                  <a:ext uri="{FF2B5EF4-FFF2-40B4-BE49-F238E27FC236}">
                    <a16:creationId xmlns:a16="http://schemas.microsoft.com/office/drawing/2014/main" id="{734D8FBB-C66B-BA9E-B9E2-A02E4EB5D4EF}"/>
                  </a:ext>
                </a:extLst>
              </p:cNvPr>
              <p:cNvSpPr txBox="1"/>
              <p:nvPr/>
            </p:nvSpPr>
            <p:spPr bwMode="auto">
              <a:xfrm>
                <a:off x="3061447" y="3161872"/>
                <a:ext cx="3949700" cy="11314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=2​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4">
                <a:extLst>
                  <a:ext uri="{FF2B5EF4-FFF2-40B4-BE49-F238E27FC236}">
                    <a16:creationId xmlns:a16="http://schemas.microsoft.com/office/drawing/2014/main" id="{734D8FBB-C66B-BA9E-B9E2-A02E4EB5D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1447" y="3161872"/>
                <a:ext cx="3949700" cy="11314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6">
            <a:extLst>
              <a:ext uri="{FF2B5EF4-FFF2-40B4-BE49-F238E27FC236}">
                <a16:creationId xmlns:a16="http://schemas.microsoft.com/office/drawing/2014/main" id="{EB34A1B5-D47D-26E3-A5F2-C1152E329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500" y="4411983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证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7">
                <a:extLst>
                  <a:ext uri="{FF2B5EF4-FFF2-40B4-BE49-F238E27FC236}">
                    <a16:creationId xmlns:a16="http://schemas.microsoft.com/office/drawing/2014/main" id="{D1F11436-D1DB-EABC-E85E-86244F15F568}"/>
                  </a:ext>
                </a:extLst>
              </p:cNvPr>
              <p:cNvSpPr txBox="1"/>
              <p:nvPr/>
            </p:nvSpPr>
            <p:spPr bwMode="auto">
              <a:xfrm>
                <a:off x="3084532" y="4277443"/>
                <a:ext cx="1706988" cy="10085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∵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7" name="Object 7">
                <a:extLst>
                  <a:ext uri="{FF2B5EF4-FFF2-40B4-BE49-F238E27FC236}">
                    <a16:creationId xmlns:a16="http://schemas.microsoft.com/office/drawing/2014/main" id="{D1F11436-D1DB-EABC-E85E-86244F15F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4532" y="4277443"/>
                <a:ext cx="1706988" cy="1008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8">
                <a:extLst>
                  <a:ext uri="{FF2B5EF4-FFF2-40B4-BE49-F238E27FC236}">
                    <a16:creationId xmlns:a16="http://schemas.microsoft.com/office/drawing/2014/main" id="{CDF8D278-C9C7-EA62-69EA-DEB2573934CC}"/>
                  </a:ext>
                </a:extLst>
              </p:cNvPr>
              <p:cNvSpPr txBox="1"/>
              <p:nvPr/>
            </p:nvSpPr>
            <p:spPr bwMode="auto">
              <a:xfrm>
                <a:off x="3030163" y="5169145"/>
                <a:ext cx="3201987" cy="906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∴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8" name="Object 8">
                <a:extLst>
                  <a:ext uri="{FF2B5EF4-FFF2-40B4-BE49-F238E27FC236}">
                    <a16:creationId xmlns:a16="http://schemas.microsoft.com/office/drawing/2014/main" id="{CDF8D278-C9C7-EA62-69EA-DEB257393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0163" y="5169145"/>
                <a:ext cx="3201987" cy="9064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16">
                <a:extLst>
                  <a:ext uri="{FF2B5EF4-FFF2-40B4-BE49-F238E27FC236}">
                    <a16:creationId xmlns:a16="http://schemas.microsoft.com/office/drawing/2014/main" id="{913EDF52-4DF0-B5A3-5771-9A8F98967F11}"/>
                  </a:ext>
                </a:extLst>
              </p:cNvPr>
              <p:cNvSpPr txBox="1"/>
              <p:nvPr/>
            </p:nvSpPr>
            <p:spPr bwMode="auto">
              <a:xfrm>
                <a:off x="7938459" y="5348788"/>
                <a:ext cx="1560634" cy="5627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9" name="Object 16">
                <a:extLst>
                  <a:ext uri="{FF2B5EF4-FFF2-40B4-BE49-F238E27FC236}">
                    <a16:creationId xmlns:a16="http://schemas.microsoft.com/office/drawing/2014/main" id="{913EDF52-4DF0-B5A3-5771-9A8F98967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8459" y="5348788"/>
                <a:ext cx="1560634" cy="5627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17">
                <a:extLst>
                  <a:ext uri="{FF2B5EF4-FFF2-40B4-BE49-F238E27FC236}">
                    <a16:creationId xmlns:a16="http://schemas.microsoft.com/office/drawing/2014/main" id="{077D3680-15D2-F57B-399B-B88F72B42B23}"/>
                  </a:ext>
                </a:extLst>
              </p:cNvPr>
              <p:cNvSpPr txBox="1"/>
              <p:nvPr/>
            </p:nvSpPr>
            <p:spPr bwMode="auto">
              <a:xfrm>
                <a:off x="4940976" y="4327106"/>
                <a:ext cx="781050" cy="906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2" name="Object 17">
                <a:extLst>
                  <a:ext uri="{FF2B5EF4-FFF2-40B4-BE49-F238E27FC236}">
                    <a16:creationId xmlns:a16="http://schemas.microsoft.com/office/drawing/2014/main" id="{077D3680-15D2-F57B-399B-B88F72B42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0976" y="4327106"/>
                <a:ext cx="781050" cy="90646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18">
                <a:extLst>
                  <a:ext uri="{FF2B5EF4-FFF2-40B4-BE49-F238E27FC236}">
                    <a16:creationId xmlns:a16="http://schemas.microsoft.com/office/drawing/2014/main" id="{C516A98B-9425-FCD7-1B67-D9B07D7226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56911" y="2508784"/>
                <a:ext cx="107187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求证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sym typeface="+mn-lt"/>
                </a:endParaRPr>
              </a:p>
            </p:txBody>
          </p:sp>
        </mc:Choice>
        <mc:Fallback xmlns="">
          <p:sp>
            <p:nvSpPr>
              <p:cNvPr id="43" name="Text Box 18">
                <a:extLst>
                  <a:ext uri="{FF2B5EF4-FFF2-40B4-BE49-F238E27FC236}">
                    <a16:creationId xmlns:a16="http://schemas.microsoft.com/office/drawing/2014/main" id="{C516A98B-9425-FCD7-1B67-D9B07D722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6911" y="2508784"/>
                <a:ext cx="1071873" cy="523220"/>
              </a:xfrm>
              <a:prstGeom prst="rect">
                <a:avLst/>
              </a:prstGeom>
              <a:blipFill>
                <a:blip r:embed="rId15"/>
                <a:stretch>
                  <a:fillRect l="-11932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20">
                <a:extLst>
                  <a:ext uri="{FF2B5EF4-FFF2-40B4-BE49-F238E27FC236}">
                    <a16:creationId xmlns:a16="http://schemas.microsoft.com/office/drawing/2014/main" id="{EEC1255E-0DE9-088B-FDCF-57FDDE2814C8}"/>
                  </a:ext>
                </a:extLst>
              </p:cNvPr>
              <p:cNvSpPr txBox="1"/>
              <p:nvPr/>
            </p:nvSpPr>
            <p:spPr bwMode="auto">
              <a:xfrm>
                <a:off x="4029014" y="4425836"/>
                <a:ext cx="109939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4" name="Object 20">
                <a:extLst>
                  <a:ext uri="{FF2B5EF4-FFF2-40B4-BE49-F238E27FC236}">
                    <a16:creationId xmlns:a16="http://schemas.microsoft.com/office/drawing/2014/main" id="{EEC1255E-0DE9-088B-FDCF-57FDDE281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29014" y="4425836"/>
                <a:ext cx="1099391" cy="519113"/>
              </a:xfrm>
              <a:prstGeom prst="rect">
                <a:avLst/>
              </a:prstGeom>
              <a:blipFill>
                <a:blip r:embed="rId16"/>
                <a:stretch>
                  <a:fillRect l="-11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21">
                <a:extLst>
                  <a:ext uri="{FF2B5EF4-FFF2-40B4-BE49-F238E27FC236}">
                    <a16:creationId xmlns:a16="http://schemas.microsoft.com/office/drawing/2014/main" id="{29671FC0-ECC3-3DB0-AB36-4F176B0E98E7}"/>
                  </a:ext>
                </a:extLst>
              </p:cNvPr>
              <p:cNvSpPr txBox="1"/>
              <p:nvPr/>
            </p:nvSpPr>
            <p:spPr bwMode="auto">
              <a:xfrm>
                <a:off x="5581182" y="4455204"/>
                <a:ext cx="1096963" cy="4413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5" name="Object 21">
                <a:extLst>
                  <a:ext uri="{FF2B5EF4-FFF2-40B4-BE49-F238E27FC236}">
                    <a16:creationId xmlns:a16="http://schemas.microsoft.com/office/drawing/2014/main" id="{29671FC0-ECC3-3DB0-AB36-4F176B0E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1182" y="4455204"/>
                <a:ext cx="1096963" cy="44132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22">
                <a:extLst>
                  <a:ext uri="{FF2B5EF4-FFF2-40B4-BE49-F238E27FC236}">
                    <a16:creationId xmlns:a16="http://schemas.microsoft.com/office/drawing/2014/main" id="{79B4D1C3-979C-565D-EF8A-53E009315DD6}"/>
                  </a:ext>
                </a:extLst>
              </p:cNvPr>
              <p:cNvSpPr txBox="1"/>
              <p:nvPr/>
            </p:nvSpPr>
            <p:spPr bwMode="auto">
              <a:xfrm>
                <a:off x="9232487" y="5348788"/>
                <a:ext cx="7493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=2​​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6" name="Object 22">
                <a:extLst>
                  <a:ext uri="{FF2B5EF4-FFF2-40B4-BE49-F238E27FC236}">
                    <a16:creationId xmlns:a16="http://schemas.microsoft.com/office/drawing/2014/main" id="{79B4D1C3-979C-565D-EF8A-53E009315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32487" y="5348788"/>
                <a:ext cx="749300" cy="393700"/>
              </a:xfrm>
              <a:prstGeom prst="rect">
                <a:avLst/>
              </a:prstGeom>
              <a:blipFill>
                <a:blip r:embed="rId18"/>
                <a:stretch>
                  <a:fillRect r="-2459" b="-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对象 1">
                <a:extLst>
                  <a:ext uri="{FF2B5EF4-FFF2-40B4-BE49-F238E27FC236}">
                    <a16:creationId xmlns:a16="http://schemas.microsoft.com/office/drawing/2014/main" id="{C5ADF2BA-61E6-5CFE-4AA3-6BBCD96A907E}"/>
                  </a:ext>
                </a:extLst>
              </p:cNvPr>
              <p:cNvSpPr txBox="1"/>
              <p:nvPr/>
            </p:nvSpPr>
            <p:spPr>
              <a:xfrm>
                <a:off x="5037254" y="5175495"/>
                <a:ext cx="33909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−1</m:t>
                          </m:r>
                        </m:sup>
                      </m:sSup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p>
                      </m:sSup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0" name="对象 1">
                <a:extLst>
                  <a:ext uri="{FF2B5EF4-FFF2-40B4-BE49-F238E27FC236}">
                    <a16:creationId xmlns:a16="http://schemas.microsoft.com/office/drawing/2014/main" id="{C5ADF2BA-61E6-5CFE-4AA3-6BBCD96A9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54" y="5175495"/>
                <a:ext cx="3390900" cy="9144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23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36" grpId="0"/>
      <p:bldP spid="37" grpId="0"/>
      <p:bldP spid="38" grpId="0"/>
      <p:bldP spid="39" grpId="0"/>
      <p:bldP spid="42" grpId="0"/>
      <p:bldP spid="43" grpId="0"/>
      <p:bldP spid="44" grpId="0"/>
      <p:bldP spid="45" grpId="0"/>
      <p:bldP spid="46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024F61EA-BAB8-1F06-84C3-CCB3F4F48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377" y="1632195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4 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0">
                <a:extLst>
                  <a:ext uri="{FF2B5EF4-FFF2-40B4-BE49-F238E27FC236}">
                    <a16:creationId xmlns:a16="http://schemas.microsoft.com/office/drawing/2014/main" id="{ACD12A91-22DF-45B5-1652-BA6E9C353229}"/>
                  </a:ext>
                </a:extLst>
              </p:cNvPr>
              <p:cNvSpPr txBox="1"/>
              <p:nvPr/>
            </p:nvSpPr>
            <p:spPr bwMode="auto">
              <a:xfrm>
                <a:off x="4411663" y="1531453"/>
                <a:ext cx="3189287" cy="6198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𝑟</m:t>
                      </m:r>
                      <m:r>
                        <a:rPr kumimoji="1" lang="zh-CN" altLang="en-US" sz="2800" i="1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 i="1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zh-CN" altLang="en-US" sz="2800" i="1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10">
                <a:extLst>
                  <a:ext uri="{FF2B5EF4-FFF2-40B4-BE49-F238E27FC236}">
                    <a16:creationId xmlns:a16="http://schemas.microsoft.com/office/drawing/2014/main" id="{ACD12A91-22DF-45B5-1652-BA6E9C353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1663" y="1531453"/>
                <a:ext cx="3189287" cy="6198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1">
            <a:extLst>
              <a:ext uri="{FF2B5EF4-FFF2-40B4-BE49-F238E27FC236}">
                <a16:creationId xmlns:a16="http://schemas.microsoft.com/office/drawing/2014/main" id="{97EFFFFA-2108-84C6-1FF2-2D62D151A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851" y="1605824"/>
            <a:ext cx="182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的偏导数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/>
              <a:ea typeface="黑体"/>
              <a:cs typeface="+mn-ea"/>
              <a:sym typeface="+mn-lt"/>
            </a:endParaRP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E20962BF-3376-C650-A10C-8FDFBA04F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1839" y="2561493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解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3">
                <a:extLst>
                  <a:ext uri="{FF2B5EF4-FFF2-40B4-BE49-F238E27FC236}">
                    <a16:creationId xmlns:a16="http://schemas.microsoft.com/office/drawing/2014/main" id="{D73074D5-BC61-064E-D21B-0BA513CA5A5D}"/>
                  </a:ext>
                </a:extLst>
              </p:cNvPr>
              <p:cNvSpPr txBox="1"/>
              <p:nvPr/>
            </p:nvSpPr>
            <p:spPr bwMode="auto">
              <a:xfrm>
                <a:off x="3988511" y="2409825"/>
                <a:ext cx="914399" cy="989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13">
                <a:extLst>
                  <a:ext uri="{FF2B5EF4-FFF2-40B4-BE49-F238E27FC236}">
                    <a16:creationId xmlns:a16="http://schemas.microsoft.com/office/drawing/2014/main" id="{D73074D5-BC61-064E-D21B-0BA513CA5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8511" y="2409825"/>
                <a:ext cx="914399" cy="9890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5">
                <a:extLst>
                  <a:ext uri="{FF2B5EF4-FFF2-40B4-BE49-F238E27FC236}">
                    <a16:creationId xmlns:a16="http://schemas.microsoft.com/office/drawing/2014/main" id="{A71766BF-3CB0-79B2-ADFD-2586A5F4229B}"/>
                  </a:ext>
                </a:extLst>
              </p:cNvPr>
              <p:cNvSpPr txBox="1"/>
              <p:nvPr/>
            </p:nvSpPr>
            <p:spPr bwMode="auto">
              <a:xfrm>
                <a:off x="3977306" y="3468319"/>
                <a:ext cx="898525" cy="10710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15">
                <a:extLst>
                  <a:ext uri="{FF2B5EF4-FFF2-40B4-BE49-F238E27FC236}">
                    <a16:creationId xmlns:a16="http://schemas.microsoft.com/office/drawing/2014/main" id="{A71766BF-3CB0-79B2-ADFD-2586A5F42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7306" y="3468319"/>
                <a:ext cx="898525" cy="10710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4">
                <a:extLst>
                  <a:ext uri="{FF2B5EF4-FFF2-40B4-BE49-F238E27FC236}">
                    <a16:creationId xmlns:a16="http://schemas.microsoft.com/office/drawing/2014/main" id="{7F259820-D93F-1C7D-BDD1-AFDE26017DB6}"/>
                  </a:ext>
                </a:extLst>
              </p:cNvPr>
              <p:cNvSpPr txBox="1"/>
              <p:nvPr/>
            </p:nvSpPr>
            <p:spPr bwMode="auto">
              <a:xfrm>
                <a:off x="4684714" y="2587361"/>
                <a:ext cx="2058721" cy="7096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 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24">
                <a:extLst>
                  <a:ext uri="{FF2B5EF4-FFF2-40B4-BE49-F238E27FC236}">
                    <a16:creationId xmlns:a16="http://schemas.microsoft.com/office/drawing/2014/main" id="{7F259820-D93F-1C7D-BDD1-AFDE26017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4714" y="2587361"/>
                <a:ext cx="2058721" cy="709615"/>
              </a:xfrm>
              <a:prstGeom prst="rect">
                <a:avLst/>
              </a:prstGeom>
              <a:blipFill>
                <a:blip r:embed="rId7"/>
                <a:stretch>
                  <a:fillRect l="-296" b="-17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5">
                <a:extLst>
                  <a:ext uri="{FF2B5EF4-FFF2-40B4-BE49-F238E27FC236}">
                    <a16:creationId xmlns:a16="http://schemas.microsoft.com/office/drawing/2014/main" id="{16BAFE8A-5C26-80E1-B003-E4DDB57B57BA}"/>
                  </a:ext>
                </a:extLst>
              </p:cNvPr>
              <p:cNvSpPr txBox="1"/>
              <p:nvPr/>
            </p:nvSpPr>
            <p:spPr bwMode="auto">
              <a:xfrm>
                <a:off x="5552810" y="2390821"/>
                <a:ext cx="647090" cy="378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25">
                <a:extLst>
                  <a:ext uri="{FF2B5EF4-FFF2-40B4-BE49-F238E27FC236}">
                    <a16:creationId xmlns:a16="http://schemas.microsoft.com/office/drawing/2014/main" id="{16BAFE8A-5C26-80E1-B003-E4DDB57B5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2810" y="2390821"/>
                <a:ext cx="647090" cy="378987"/>
              </a:xfrm>
              <a:prstGeom prst="rect">
                <a:avLst/>
              </a:prstGeom>
              <a:blipFill>
                <a:blip r:embed="rId8"/>
                <a:stretch>
                  <a:fillRect l="-943" b="-112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6">
                <a:extLst>
                  <a:ext uri="{FF2B5EF4-FFF2-40B4-BE49-F238E27FC236}">
                    <a16:creationId xmlns:a16="http://schemas.microsoft.com/office/drawing/2014/main" id="{C3B1F9A1-E470-677A-ED02-07D00C3EB389}"/>
                  </a:ext>
                </a:extLst>
              </p:cNvPr>
              <p:cNvSpPr txBox="1"/>
              <p:nvPr/>
            </p:nvSpPr>
            <p:spPr bwMode="auto">
              <a:xfrm>
                <a:off x="6646101" y="2469074"/>
                <a:ext cx="723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Object 26">
                <a:extLst>
                  <a:ext uri="{FF2B5EF4-FFF2-40B4-BE49-F238E27FC236}">
                    <a16:creationId xmlns:a16="http://schemas.microsoft.com/office/drawing/2014/main" id="{C3B1F9A1-E470-677A-ED02-07D00C3EB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6101" y="2469074"/>
                <a:ext cx="723900" cy="838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7">
                <a:extLst>
                  <a:ext uri="{FF2B5EF4-FFF2-40B4-BE49-F238E27FC236}">
                    <a16:creationId xmlns:a16="http://schemas.microsoft.com/office/drawing/2014/main" id="{B7F7E840-F183-A941-DAB2-E358CC9E201A}"/>
                  </a:ext>
                </a:extLst>
              </p:cNvPr>
              <p:cNvSpPr txBox="1"/>
              <p:nvPr/>
            </p:nvSpPr>
            <p:spPr bwMode="auto">
              <a:xfrm>
                <a:off x="3991076" y="4539395"/>
                <a:ext cx="1149350" cy="9064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2" name="Object 27">
                <a:extLst>
                  <a:ext uri="{FF2B5EF4-FFF2-40B4-BE49-F238E27FC236}">
                    <a16:creationId xmlns:a16="http://schemas.microsoft.com/office/drawing/2014/main" id="{B7F7E840-F183-A941-DAB2-E358CC9E2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1076" y="4539395"/>
                <a:ext cx="1149350" cy="906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0">
                <a:extLst>
                  <a:ext uri="{FF2B5EF4-FFF2-40B4-BE49-F238E27FC236}">
                    <a16:creationId xmlns:a16="http://schemas.microsoft.com/office/drawing/2014/main" id="{CE4CD49A-7412-1646-5B3C-0A4F5F554502}"/>
                  </a:ext>
                </a:extLst>
              </p:cNvPr>
              <p:cNvSpPr txBox="1"/>
              <p:nvPr/>
            </p:nvSpPr>
            <p:spPr bwMode="auto">
              <a:xfrm>
                <a:off x="4642468" y="3526490"/>
                <a:ext cx="466725" cy="8458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Object 30">
                <a:extLst>
                  <a:ext uri="{FF2B5EF4-FFF2-40B4-BE49-F238E27FC236}">
                    <a16:creationId xmlns:a16="http://schemas.microsoft.com/office/drawing/2014/main" id="{CE4CD49A-7412-1646-5B3C-0A4F5F554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468" y="3526490"/>
                <a:ext cx="466725" cy="8458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7">
            <a:extLst>
              <a:ext uri="{FF2B5EF4-FFF2-40B4-BE49-F238E27FC236}">
                <a16:creationId xmlns:a16="http://schemas.microsoft.com/office/drawing/2014/main" id="{036EB02E-1B0B-5819-E828-2476ACD09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3155" y="4171138"/>
            <a:ext cx="2330060" cy="994909"/>
          </a:xfrm>
          <a:prstGeom prst="wedgeRectCallout">
            <a:avLst>
              <a:gd name="adj1" fmla="val -72079"/>
              <a:gd name="adj2" fmla="val -35605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kumimoji="1" lang="zh-CN" altLang="en-US" sz="2200" dirty="0">
                <a:latin typeface="Cambria Math" panose="02040503050406030204" charset="0"/>
                <a:ea typeface="黑体" panose="02010609060101010101" pitchFamily="49" charset="-122"/>
              </a:rPr>
              <a:t>根据函数关于</a:t>
            </a:r>
            <a:endParaRPr kumimoji="1" lang="en-US" altLang="zh-CN" sz="2200" dirty="0">
              <a:latin typeface="Cambria Math" panose="02040503050406030204" charset="0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2200" dirty="0">
                <a:latin typeface="Cambria Math" panose="02040503050406030204" charset="0"/>
                <a:ea typeface="黑体" panose="02010609060101010101" pitchFamily="49" charset="-122"/>
              </a:rPr>
              <a:t>自变量的对称性</a:t>
            </a:r>
          </a:p>
        </p:txBody>
      </p:sp>
    </p:spTree>
    <p:extLst>
      <p:ext uri="{BB962C8B-B14F-4D97-AF65-F5344CB8AC3E}">
        <p14:creationId xmlns:p14="http://schemas.microsoft.com/office/powerpoint/2010/main" val="249110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6" grpId="0"/>
      <p:bldP spid="7" grpId="0"/>
      <p:bldP spid="8" grpId="0"/>
      <p:bldP spid="11" grpId="0"/>
      <p:bldP spid="21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11DD797-B796-F2CD-9CC4-3A9E1B6C0A83}"/>
              </a:ext>
            </a:extLst>
          </p:cNvPr>
          <p:cNvSpPr txBox="1">
            <a:spLocks noChangeArrowheads="1"/>
          </p:cNvSpPr>
          <p:nvPr/>
        </p:nvSpPr>
        <p:spPr>
          <a:xfrm>
            <a:off x="1866900" y="805840"/>
            <a:ext cx="171186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lt"/>
              </a:rPr>
              <a:t>5  </a:t>
            </a:r>
            <a:endParaRPr lang="zh-CN" altLang="en-US" sz="2800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lt"/>
            </a:endParaRP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BFF3FE69-822D-3FFF-28A9-C5A798DAC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1672214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求证</a:t>
            </a:r>
            <a:r>
              <a:rPr kumimoji="1" lang="en-US" altLang="zh-CN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C31C98AC-DD27-CFE2-E42A-A6DB8122A791}"/>
                  </a:ext>
                </a:extLst>
              </p:cNvPr>
              <p:cNvSpPr txBox="1"/>
              <p:nvPr/>
            </p:nvSpPr>
            <p:spPr bwMode="auto">
              <a:xfrm>
                <a:off x="2916799" y="1418445"/>
                <a:ext cx="3153509" cy="10514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=−1.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C31C98AC-DD27-CFE2-E42A-A6DB8122A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799" y="1418445"/>
                <a:ext cx="3153509" cy="10514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EB104466-7EF8-1647-DFFB-2800EBF7FA7D}"/>
                  </a:ext>
                </a:extLst>
              </p:cNvPr>
              <p:cNvSpPr txBox="1"/>
              <p:nvPr/>
            </p:nvSpPr>
            <p:spPr bwMode="auto">
              <a:xfrm>
                <a:off x="2847607" y="775678"/>
                <a:ext cx="5686793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已知理想气体的状态方程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𝑝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​​​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𝑉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𝑅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​​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𝑇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EB104466-7EF8-1647-DFFB-2800EBF7F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7607" y="775678"/>
                <a:ext cx="5686793" cy="444500"/>
              </a:xfrm>
              <a:prstGeom prst="rect">
                <a:avLst/>
              </a:prstGeom>
              <a:blipFill>
                <a:blip r:embed="rId5"/>
                <a:stretch>
                  <a:fillRect b="-4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6">
            <a:extLst>
              <a:ext uri="{FF2B5EF4-FFF2-40B4-BE49-F238E27FC236}">
                <a16:creationId xmlns:a16="http://schemas.microsoft.com/office/drawing/2014/main" id="{13C112CC-CCC9-7252-12D0-BB6AFD2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2651124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证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7">
                <a:extLst>
                  <a:ext uri="{FF2B5EF4-FFF2-40B4-BE49-F238E27FC236}">
                    <a16:creationId xmlns:a16="http://schemas.microsoft.com/office/drawing/2014/main" id="{E0C2EE16-E489-1D0D-498E-034FFBA80A84}"/>
                  </a:ext>
                </a:extLst>
              </p:cNvPr>
              <p:cNvSpPr txBox="1"/>
              <p:nvPr/>
            </p:nvSpPr>
            <p:spPr bwMode="auto">
              <a:xfrm>
                <a:off x="2901292" y="2521068"/>
                <a:ext cx="1358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𝑝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7">
                <a:extLst>
                  <a:ext uri="{FF2B5EF4-FFF2-40B4-BE49-F238E27FC236}">
                    <a16:creationId xmlns:a16="http://schemas.microsoft.com/office/drawing/2014/main" id="{E0C2EE16-E489-1D0D-498E-034FFBA80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1292" y="2521068"/>
                <a:ext cx="1358900" cy="838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8">
                <a:extLst>
                  <a:ext uri="{FF2B5EF4-FFF2-40B4-BE49-F238E27FC236}">
                    <a16:creationId xmlns:a16="http://schemas.microsoft.com/office/drawing/2014/main" id="{8DF9E1D2-22AB-B51B-7AD6-DD40C54A0A5A}"/>
                  </a:ext>
                </a:extLst>
              </p:cNvPr>
              <p:cNvSpPr txBox="1"/>
              <p:nvPr/>
            </p:nvSpPr>
            <p:spPr bwMode="auto">
              <a:xfrm>
                <a:off x="2870055" y="3416217"/>
                <a:ext cx="1333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𝑉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8">
                <a:extLst>
                  <a:ext uri="{FF2B5EF4-FFF2-40B4-BE49-F238E27FC236}">
                    <a16:creationId xmlns:a16="http://schemas.microsoft.com/office/drawing/2014/main" id="{8DF9E1D2-22AB-B51B-7AD6-DD40C54A0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0055" y="3416217"/>
                <a:ext cx="13335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9">
                <a:extLst>
                  <a:ext uri="{FF2B5EF4-FFF2-40B4-BE49-F238E27FC236}">
                    <a16:creationId xmlns:a16="http://schemas.microsoft.com/office/drawing/2014/main" id="{43F937F8-BC08-BDE1-EA69-C6E7A26322F7}"/>
                  </a:ext>
                </a:extLst>
              </p:cNvPr>
              <p:cNvSpPr txBox="1"/>
              <p:nvPr/>
            </p:nvSpPr>
            <p:spPr bwMode="auto">
              <a:xfrm>
                <a:off x="2888224" y="4415686"/>
                <a:ext cx="13208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𝑇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Object 9">
                <a:extLst>
                  <a:ext uri="{FF2B5EF4-FFF2-40B4-BE49-F238E27FC236}">
                    <a16:creationId xmlns:a16="http://schemas.microsoft.com/office/drawing/2014/main" id="{43F937F8-BC08-BDE1-EA69-C6E7A2632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8224" y="4415686"/>
                <a:ext cx="13208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0">
                <a:extLst>
                  <a:ext uri="{FF2B5EF4-FFF2-40B4-BE49-F238E27FC236}">
                    <a16:creationId xmlns:a16="http://schemas.microsoft.com/office/drawing/2014/main" id="{21CEC536-D856-9EA7-BB5D-01CFA9F466D0}"/>
                  </a:ext>
                </a:extLst>
              </p:cNvPr>
              <p:cNvSpPr txBox="1"/>
              <p:nvPr/>
            </p:nvSpPr>
            <p:spPr bwMode="auto">
              <a:xfrm>
                <a:off x="2888224" y="5340350"/>
                <a:ext cx="2640012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0" name="Object 10">
                <a:extLst>
                  <a:ext uri="{FF2B5EF4-FFF2-40B4-BE49-F238E27FC236}">
                    <a16:creationId xmlns:a16="http://schemas.microsoft.com/office/drawing/2014/main" id="{21CEC536-D856-9EA7-BB5D-01CFA9F46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8224" y="5340350"/>
                <a:ext cx="2640012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5">
                <a:extLst>
                  <a:ext uri="{FF2B5EF4-FFF2-40B4-BE49-F238E27FC236}">
                    <a16:creationId xmlns:a16="http://schemas.microsoft.com/office/drawing/2014/main" id="{8C0C7B28-A6F4-2649-65BF-AAF44C3561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53322" y="765654"/>
                <a:ext cx="207177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+mn-lt"/>
                        </a:rPr>
                        <m:t>R</m:t>
                      </m:r>
                      <m:r>
                        <m:rPr>
                          <m:nor/>
                        </m:rPr>
                        <a:rPr kumimoji="1" lang="en-US" altLang="zh-CN" sz="2800" dirty="0">
                          <a:solidFill>
                            <a:prstClr val="black"/>
                          </a:solidFill>
                          <a:latin typeface="Times New Roman"/>
                          <a:ea typeface="黑体"/>
                          <a:cs typeface="+mn-ea"/>
                          <a:sym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zh-CN" altLang="en-US" sz="2800" dirty="0">
                          <a:solidFill>
                            <a:prstClr val="black"/>
                          </a:solidFill>
                          <a:latin typeface="Times New Roman"/>
                          <a:ea typeface="黑体"/>
                          <a:cs typeface="+mn-ea"/>
                          <a:sym typeface="+mn-lt"/>
                        </a:rPr>
                        <m:t>为常数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​), </m:t>
                      </m:r>
                    </m:oMath>
                  </m:oMathPara>
                </a14:m>
                <a:endParaRPr kumimoji="1" lang="en-US" altLang="zh-CN" sz="280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5" name="Text Box 15">
                <a:extLst>
                  <a:ext uri="{FF2B5EF4-FFF2-40B4-BE49-F238E27FC236}">
                    <a16:creationId xmlns:a16="http://schemas.microsoft.com/office/drawing/2014/main" id="{8C0C7B28-A6F4-2649-65BF-AAF44C356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3322" y="765654"/>
                <a:ext cx="207177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6">
                <a:extLst>
                  <a:ext uri="{FF2B5EF4-FFF2-40B4-BE49-F238E27FC236}">
                    <a16:creationId xmlns:a16="http://schemas.microsoft.com/office/drawing/2014/main" id="{AACD6FEB-352E-CB18-5379-626331569D42}"/>
                  </a:ext>
                </a:extLst>
              </p:cNvPr>
              <p:cNvSpPr txBox="1"/>
              <p:nvPr/>
            </p:nvSpPr>
            <p:spPr bwMode="auto">
              <a:xfrm>
                <a:off x="3994005" y="2514222"/>
                <a:ext cx="8382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Object 16">
                <a:extLst>
                  <a:ext uri="{FF2B5EF4-FFF2-40B4-BE49-F238E27FC236}">
                    <a16:creationId xmlns:a16="http://schemas.microsoft.com/office/drawing/2014/main" id="{AACD6FEB-352E-CB18-5379-626331569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4005" y="2514222"/>
                <a:ext cx="838200" cy="914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7">
                <a:extLst>
                  <a:ext uri="{FF2B5EF4-FFF2-40B4-BE49-F238E27FC236}">
                    <a16:creationId xmlns:a16="http://schemas.microsoft.com/office/drawing/2014/main" id="{99BC2956-0D91-B711-1E7D-546E74AFDB67}"/>
                  </a:ext>
                </a:extLst>
              </p:cNvPr>
              <p:cNvSpPr txBox="1"/>
              <p:nvPr/>
            </p:nvSpPr>
            <p:spPr bwMode="auto">
              <a:xfrm>
                <a:off x="4671386" y="2519258"/>
                <a:ext cx="9525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7" name="Object 17">
                <a:extLst>
                  <a:ext uri="{FF2B5EF4-FFF2-40B4-BE49-F238E27FC236}">
                    <a16:creationId xmlns:a16="http://schemas.microsoft.com/office/drawing/2014/main" id="{99BC2956-0D91-B711-1E7D-546E74AFD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1386" y="2519258"/>
                <a:ext cx="952500" cy="838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8">
                <a:extLst>
                  <a:ext uri="{FF2B5EF4-FFF2-40B4-BE49-F238E27FC236}">
                    <a16:creationId xmlns:a16="http://schemas.microsoft.com/office/drawing/2014/main" id="{69404D9B-56FC-3AE1-499E-704ADE0D5F6E}"/>
                  </a:ext>
                </a:extLst>
              </p:cNvPr>
              <p:cNvSpPr txBox="1"/>
              <p:nvPr/>
            </p:nvSpPr>
            <p:spPr bwMode="auto">
              <a:xfrm>
                <a:off x="3994005" y="3408597"/>
                <a:ext cx="8509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8" name="Object 18">
                <a:extLst>
                  <a:ext uri="{FF2B5EF4-FFF2-40B4-BE49-F238E27FC236}">
                    <a16:creationId xmlns:a16="http://schemas.microsoft.com/office/drawing/2014/main" id="{69404D9B-56FC-3AE1-499E-704ADE0D5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4005" y="3408597"/>
                <a:ext cx="850900" cy="9144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19">
                <a:extLst>
                  <a:ext uri="{FF2B5EF4-FFF2-40B4-BE49-F238E27FC236}">
                    <a16:creationId xmlns:a16="http://schemas.microsoft.com/office/drawing/2014/main" id="{EDE08A57-CB3C-6C6A-FD27-73896CB02049}"/>
                  </a:ext>
                </a:extLst>
              </p:cNvPr>
              <p:cNvSpPr txBox="1"/>
              <p:nvPr/>
            </p:nvSpPr>
            <p:spPr bwMode="auto">
              <a:xfrm>
                <a:off x="4736810" y="3411537"/>
                <a:ext cx="4953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Object 19">
                <a:extLst>
                  <a:ext uri="{FF2B5EF4-FFF2-40B4-BE49-F238E27FC236}">
                    <a16:creationId xmlns:a16="http://schemas.microsoft.com/office/drawing/2014/main" id="{EDE08A57-CB3C-6C6A-FD27-73896CB02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6810" y="3411537"/>
                <a:ext cx="495300" cy="9144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0">
                <a:extLst>
                  <a:ext uri="{FF2B5EF4-FFF2-40B4-BE49-F238E27FC236}">
                    <a16:creationId xmlns:a16="http://schemas.microsoft.com/office/drawing/2014/main" id="{B33462F3-B3D7-377C-33F4-1D8593D4542E}"/>
                  </a:ext>
                </a:extLst>
              </p:cNvPr>
              <p:cNvSpPr txBox="1"/>
              <p:nvPr/>
            </p:nvSpPr>
            <p:spPr bwMode="auto">
              <a:xfrm>
                <a:off x="3997921" y="4406796"/>
                <a:ext cx="8255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𝑇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Object 20">
                <a:extLst>
                  <a:ext uri="{FF2B5EF4-FFF2-40B4-BE49-F238E27FC236}">
                    <a16:creationId xmlns:a16="http://schemas.microsoft.com/office/drawing/2014/main" id="{B33462F3-B3D7-377C-33F4-1D8593D45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7921" y="4406796"/>
                <a:ext cx="825500" cy="9144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1">
                <a:extLst>
                  <a:ext uri="{FF2B5EF4-FFF2-40B4-BE49-F238E27FC236}">
                    <a16:creationId xmlns:a16="http://schemas.microsoft.com/office/drawing/2014/main" id="{C0123BDB-C726-9CAE-3FE7-BB1354EE7964}"/>
                  </a:ext>
                </a:extLst>
              </p:cNvPr>
              <p:cNvSpPr txBox="1"/>
              <p:nvPr/>
            </p:nvSpPr>
            <p:spPr bwMode="auto">
              <a:xfrm>
                <a:off x="4703337" y="4410882"/>
                <a:ext cx="469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𝑉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</m:t>
                          </m:r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1" name="Object 21">
                <a:extLst>
                  <a:ext uri="{FF2B5EF4-FFF2-40B4-BE49-F238E27FC236}">
                    <a16:creationId xmlns:a16="http://schemas.microsoft.com/office/drawing/2014/main" id="{C0123BDB-C726-9CAE-3FE7-BB1354EE7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3337" y="4410882"/>
                <a:ext cx="469900" cy="838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22">
                <a:extLst>
                  <a:ext uri="{FF2B5EF4-FFF2-40B4-BE49-F238E27FC236}">
                    <a16:creationId xmlns:a16="http://schemas.microsoft.com/office/drawing/2014/main" id="{6DB65C63-08D4-4C67-7CD8-DE8D19CCED4B}"/>
                  </a:ext>
                </a:extLst>
              </p:cNvPr>
              <p:cNvSpPr txBox="1"/>
              <p:nvPr/>
            </p:nvSpPr>
            <p:spPr bwMode="auto">
              <a:xfrm>
                <a:off x="4890989" y="5351930"/>
                <a:ext cx="838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𝑅𝑇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𝑝𝑉</m:t>
                          </m:r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2" name="Object 22">
                <a:extLst>
                  <a:ext uri="{FF2B5EF4-FFF2-40B4-BE49-F238E27FC236}">
                    <a16:creationId xmlns:a16="http://schemas.microsoft.com/office/drawing/2014/main" id="{6DB65C63-08D4-4C67-7CD8-DE8D19CCE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0989" y="5351930"/>
                <a:ext cx="838200" cy="9271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7CC1CBAD-C972-21F7-BD35-3923335BFDB3}"/>
                  </a:ext>
                </a:extLst>
              </p:cNvPr>
              <p:cNvSpPr txBox="1"/>
              <p:nvPr/>
            </p:nvSpPr>
            <p:spPr bwMode="auto">
              <a:xfrm>
                <a:off x="5637429" y="5518150"/>
                <a:ext cx="7874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=−1.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7CC1CBAD-C972-21F7-BD35-3923335BF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7429" y="5518150"/>
                <a:ext cx="787400" cy="317500"/>
              </a:xfrm>
              <a:prstGeom prst="rect">
                <a:avLst/>
              </a:prstGeom>
              <a:blipFill>
                <a:blip r:embed="rId18"/>
                <a:stretch>
                  <a:fillRect r="-6202" b="-32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F947C2FC-BB94-4244-B5DF-C329930C292E}"/>
              </a:ext>
            </a:extLst>
          </p:cNvPr>
          <p:cNvGrpSpPr/>
          <p:nvPr/>
        </p:nvGrpSpPr>
        <p:grpSpPr>
          <a:xfrm>
            <a:off x="6521369" y="2601034"/>
            <a:ext cx="3624368" cy="2411417"/>
            <a:chOff x="6521369" y="2601034"/>
            <a:chExt cx="3624368" cy="241141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22FDB57-5D55-F59D-624B-CD6B7475EDF3}"/>
                </a:ext>
              </a:extLst>
            </p:cNvPr>
            <p:cNvSpPr/>
            <p:nvPr/>
          </p:nvSpPr>
          <p:spPr>
            <a:xfrm>
              <a:off x="6521369" y="2601034"/>
              <a:ext cx="3624368" cy="2411417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31">
              <a:extLst>
                <a:ext uri="{FF2B5EF4-FFF2-40B4-BE49-F238E27FC236}">
                  <a16:creationId xmlns:a16="http://schemas.microsoft.com/office/drawing/2014/main" id="{6CE6206B-F7EB-E322-83D9-D25D050C5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6336" y="3271943"/>
              <a:ext cx="3124200" cy="5191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rPr>
                <a:t>偏导数记号是一个</a:t>
              </a:r>
            </a:p>
          </p:txBody>
        </p:sp>
        <p:sp>
          <p:nvSpPr>
            <p:cNvPr id="34" name="Rectangle 25">
              <a:extLst>
                <a:ext uri="{FF2B5EF4-FFF2-40B4-BE49-F238E27FC236}">
                  <a16:creationId xmlns:a16="http://schemas.microsoft.com/office/drawing/2014/main" id="{67B54CAC-E687-7016-63BB-E53C5A0B7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9790" y="3909838"/>
              <a:ext cx="1676400" cy="4333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rPr>
                <a:t>不能看作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26">
                  <a:extLst>
                    <a:ext uri="{FF2B5EF4-FFF2-40B4-BE49-F238E27FC236}">
                      <a16:creationId xmlns:a16="http://schemas.microsoft.com/office/drawing/2014/main" id="{DD3E44EB-6FD7-5836-FA45-D749D71448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28418" y="4446321"/>
                  <a:ext cx="3048000" cy="433388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lvl="0" fontAlgn="base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sz="2800" dirty="0">
                      <a:solidFill>
                        <a:schemeClr val="tx1"/>
                      </a:solidFill>
                      <a:latin typeface="Times New Roman"/>
                      <a:ea typeface="黑体"/>
                      <a:cs typeface="+mn-ea"/>
                      <a:sym typeface="+mn-lt"/>
                    </a:rPr>
                    <a:t>分子与分母的商</a:t>
                  </a:r>
                  <a14:m>
                    <m:oMath xmlns:m="http://schemas.openxmlformats.org/officeDocument/2006/math">
                      <m:r>
                        <a:rPr kumimoji="1" lang="zh-CN" altLang="en-US" sz="28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！</m:t>
                      </m:r>
                    </m:oMath>
                  </a14:m>
                  <a:endParaRPr kumimoji="1" lang="en-US" altLang="zh-CN" sz="2800" dirty="0">
                    <a:solidFill>
                      <a:schemeClr val="tx1"/>
                    </a:solidFill>
                    <a:latin typeface="Times New Roman"/>
                    <a:ea typeface="黑体"/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5" name="Rectangle 26">
                  <a:extLst>
                    <a:ext uri="{FF2B5EF4-FFF2-40B4-BE49-F238E27FC236}">
                      <a16:creationId xmlns:a16="http://schemas.microsoft.com/office/drawing/2014/main" id="{DD3E44EB-6FD7-5836-FA45-D749D7144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8418" y="4446321"/>
                  <a:ext cx="3048000" cy="433388"/>
                </a:xfrm>
                <a:prstGeom prst="rect">
                  <a:avLst/>
                </a:prstGeom>
                <a:blipFill>
                  <a:blip r:embed="rId19"/>
                  <a:stretch>
                    <a:fillRect l="-4200" t="-38028" b="-35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32">
                  <a:extLst>
                    <a:ext uri="{FF2B5EF4-FFF2-40B4-BE49-F238E27FC236}">
                      <a16:creationId xmlns:a16="http://schemas.microsoft.com/office/drawing/2014/main" id="{18551859-FF98-8374-17F5-17A7595668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28418" y="2740075"/>
                  <a:ext cx="170110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sz="2800" dirty="0">
                      <a:solidFill>
                        <a:schemeClr val="tx1"/>
                      </a:solidFill>
                      <a:latin typeface="Times New Roman"/>
                      <a:ea typeface="黑体"/>
                      <a:cs typeface="+mn-ea"/>
                      <a:sym typeface="+mn-lt"/>
                    </a:rPr>
                    <a:t>此例表明</a:t>
                  </a:r>
                  <a14:m>
                    <m:oMath xmlns:m="http://schemas.openxmlformats.org/officeDocument/2006/math">
                      <m:r>
                        <a:rPr kumimoji="1"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a14:m>
                  <a:endParaRPr kumimoji="1" lang="en-US" altLang="zh-CN" sz="2800" dirty="0">
                    <a:solidFill>
                      <a:schemeClr val="tx1"/>
                    </a:solidFill>
                    <a:latin typeface="Times New Roman"/>
                    <a:ea typeface="黑体"/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6" name="Text Box 32">
                  <a:extLst>
                    <a:ext uri="{FF2B5EF4-FFF2-40B4-BE49-F238E27FC236}">
                      <a16:creationId xmlns:a16="http://schemas.microsoft.com/office/drawing/2014/main" id="{18551859-FF98-8374-17F5-17A759566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8418" y="2740075"/>
                  <a:ext cx="1701107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7527" t="-15116" r="-1434" b="-279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41">
                  <a:extLst>
                    <a:ext uri="{FF2B5EF4-FFF2-40B4-BE49-F238E27FC236}">
                      <a16:creationId xmlns:a16="http://schemas.microsoft.com/office/drawing/2014/main" id="{C30F3586-4440-306B-1D7C-626C1B9FF9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28418" y="3806743"/>
                  <a:ext cx="198002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 fontAlgn="base">
                    <a:spcBef>
                      <a:spcPct val="50000"/>
                    </a:spcBef>
                    <a:spcAft>
                      <a:spcPct val="0"/>
                    </a:spcAft>
                    <a:defRPr/>
                  </a:pPr>
                  <a:r>
                    <a:rPr kumimoji="1" lang="zh-CN" altLang="en-US" sz="2800" dirty="0">
                      <a:solidFill>
                        <a:schemeClr val="tx1"/>
                      </a:solidFill>
                      <a:latin typeface="Times New Roman"/>
                      <a:ea typeface="黑体"/>
                      <a:cs typeface="+mn-ea"/>
                      <a:sym typeface="+mn-lt"/>
                    </a:rPr>
                    <a:t>整体记号</a:t>
                  </a:r>
                  <a14:m>
                    <m:oMath xmlns:m="http://schemas.openxmlformats.org/officeDocument/2006/math">
                      <m:r>
                        <a:rPr kumimoji="1"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a14:m>
                  <a:endParaRPr kumimoji="1" lang="en-US" altLang="zh-CN" sz="2800" dirty="0">
                    <a:solidFill>
                      <a:schemeClr val="tx1"/>
                    </a:solidFill>
                    <a:latin typeface="Times New Roman"/>
                    <a:ea typeface="黑体"/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7" name="Text Box 41">
                  <a:extLst>
                    <a:ext uri="{FF2B5EF4-FFF2-40B4-BE49-F238E27FC236}">
                      <a16:creationId xmlns:a16="http://schemas.microsoft.com/office/drawing/2014/main" id="{C30F3586-4440-306B-1D7C-626C1B9FF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28418" y="3806743"/>
                  <a:ext cx="1980029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6462" t="-15116" b="-279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1877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6" grpId="0"/>
      <p:bldP spid="28" grpId="0"/>
      <p:bldP spid="29" grpId="0"/>
      <p:bldP spid="32" grpId="0"/>
      <p:bldP spid="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E2E15982-D434-9359-C96F-D49F57FBFB89}"/>
                  </a:ext>
                </a:extLst>
              </p:cNvPr>
              <p:cNvSpPr txBox="1"/>
              <p:nvPr/>
            </p:nvSpPr>
            <p:spPr bwMode="auto">
              <a:xfrm>
                <a:off x="7811694" y="1689791"/>
                <a:ext cx="3158098" cy="5477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的偏导数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E2E15982-D434-9359-C96F-D49F57FBF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11694" y="1689791"/>
                <a:ext cx="3158098" cy="5477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3">
            <a:extLst>
              <a:ext uri="{FF2B5EF4-FFF2-40B4-BE49-F238E27FC236}">
                <a16:creationId xmlns:a16="http://schemas.microsoft.com/office/drawing/2014/main" id="{A2CC2D4B-D75F-195D-32F0-5C1F8FC63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5" y="1698331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16015F5-E414-A4F0-6F0D-E1F17CB13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5" y="3019593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005D0499-48FC-F747-78A3-5EAD7D608B8C}"/>
                  </a:ext>
                </a:extLst>
              </p:cNvPr>
              <p:cNvSpPr txBox="1"/>
              <p:nvPr/>
            </p:nvSpPr>
            <p:spPr bwMode="auto">
              <a:xfrm>
                <a:off x="2222329" y="3826895"/>
                <a:ext cx="44704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)−2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005D0499-48FC-F747-78A3-5EAD7D608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2329" y="3826895"/>
                <a:ext cx="4470400" cy="965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0E836CA8-2439-B322-4EC2-A9C983E3AB2B}"/>
                  </a:ext>
                </a:extLst>
              </p:cNvPr>
              <p:cNvSpPr txBox="1"/>
              <p:nvPr/>
            </p:nvSpPr>
            <p:spPr bwMode="auto">
              <a:xfrm>
                <a:off x="6095830" y="3835751"/>
                <a:ext cx="20066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0E836CA8-2439-B322-4EC2-A9C983E3A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830" y="3835751"/>
                <a:ext cx="2006600" cy="965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E625FC98-ADC3-3E23-47F2-CCC741FD2D56}"/>
                  </a:ext>
                </a:extLst>
              </p:cNvPr>
              <p:cNvSpPr txBox="1"/>
              <p:nvPr/>
            </p:nvSpPr>
            <p:spPr bwMode="auto">
              <a:xfrm>
                <a:off x="2222329" y="4928781"/>
                <a:ext cx="44577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)−2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E625FC98-ADC3-3E23-47F2-CCC741FD2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2329" y="4928781"/>
                <a:ext cx="4457700" cy="965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FAD2FB40-4DC1-AD48-70EB-2C005A3DB4AC}"/>
                  </a:ext>
                </a:extLst>
              </p:cNvPr>
              <p:cNvSpPr txBox="1"/>
              <p:nvPr/>
            </p:nvSpPr>
            <p:spPr bwMode="auto">
              <a:xfrm>
                <a:off x="6095830" y="4928781"/>
                <a:ext cx="20320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FAD2FB40-4DC1-AD48-70EB-2C005A3DB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830" y="4928781"/>
                <a:ext cx="2032000" cy="965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">
                <a:extLst>
                  <a:ext uri="{FF2B5EF4-FFF2-40B4-BE49-F238E27FC236}">
                    <a16:creationId xmlns:a16="http://schemas.microsoft.com/office/drawing/2014/main" id="{11FB3F39-7027-2D97-0595-C733AD3434DB}"/>
                  </a:ext>
                </a:extLst>
              </p:cNvPr>
              <p:cNvSpPr txBox="1"/>
              <p:nvPr/>
            </p:nvSpPr>
            <p:spPr>
              <a:xfrm>
                <a:off x="2196929" y="1111557"/>
                <a:ext cx="6161087" cy="179615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设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𝑥𝑦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)≠(0,0),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&amp;0,  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   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)=(0,0).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对象 1">
                <a:extLst>
                  <a:ext uri="{FF2B5EF4-FFF2-40B4-BE49-F238E27FC236}">
                    <a16:creationId xmlns:a16="http://schemas.microsoft.com/office/drawing/2014/main" id="{11FB3F39-7027-2D97-0595-C733AD343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929" y="1111557"/>
                <a:ext cx="6161087" cy="17961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2">
                <a:extLst>
                  <a:ext uri="{FF2B5EF4-FFF2-40B4-BE49-F238E27FC236}">
                    <a16:creationId xmlns:a16="http://schemas.microsoft.com/office/drawing/2014/main" id="{F0D919BE-13D8-A942-40F0-9D51D1486E07}"/>
                  </a:ext>
                </a:extLst>
              </p:cNvPr>
              <p:cNvSpPr txBox="1"/>
              <p:nvPr/>
            </p:nvSpPr>
            <p:spPr>
              <a:xfrm>
                <a:off x="2222329" y="3054903"/>
                <a:ext cx="2717800" cy="431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)≠(0,0)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对象 2">
                <a:extLst>
                  <a:ext uri="{FF2B5EF4-FFF2-40B4-BE49-F238E27FC236}">
                    <a16:creationId xmlns:a16="http://schemas.microsoft.com/office/drawing/2014/main" id="{F0D919BE-13D8-A942-40F0-9D51D1486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329" y="3054903"/>
                <a:ext cx="2717800" cy="431800"/>
              </a:xfrm>
              <a:prstGeom prst="rect">
                <a:avLst/>
              </a:prstGeom>
              <a:blipFill>
                <a:blip r:embed="rId10"/>
                <a:stretch>
                  <a:fillRect l="-1573" b="-18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0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4B04246F-8350-5DD3-F86A-B3DFC6A29B7F}"/>
                  </a:ext>
                </a:extLst>
              </p:cNvPr>
              <p:cNvSpPr txBox="1"/>
              <p:nvPr/>
            </p:nvSpPr>
            <p:spPr bwMode="auto">
              <a:xfrm>
                <a:off x="2735002" y="1222793"/>
                <a:ext cx="27178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)=(0,0)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4B04246F-8350-5DD3-F86A-B3DFC6A29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5002" y="1222793"/>
                <a:ext cx="2717800" cy="431800"/>
              </a:xfrm>
              <a:prstGeom prst="rect">
                <a:avLst/>
              </a:prstGeom>
              <a:blipFill>
                <a:blip r:embed="rId4"/>
                <a:stretch>
                  <a:fillRect l="-1573" b="-2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21EDFE8E-1BF2-9B01-D65F-8106C71B825E}"/>
                  </a:ext>
                </a:extLst>
              </p:cNvPr>
              <p:cNvSpPr txBox="1"/>
              <p:nvPr/>
            </p:nvSpPr>
            <p:spPr bwMode="auto">
              <a:xfrm>
                <a:off x="4181481" y="1921749"/>
                <a:ext cx="44196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,0)−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(0,0)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21EDFE8E-1BF2-9B01-D65F-8106C71B8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1481" y="1921749"/>
                <a:ext cx="4419600" cy="838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196524E8-BF10-52B3-E416-DC5987B4B514}"/>
                  </a:ext>
                </a:extLst>
              </p:cNvPr>
              <p:cNvSpPr txBox="1"/>
              <p:nvPr/>
            </p:nvSpPr>
            <p:spPr bwMode="auto">
              <a:xfrm>
                <a:off x="7843135" y="1927178"/>
                <a:ext cx="17399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196524E8-BF10-52B3-E416-DC5987B4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3135" y="1927178"/>
                <a:ext cx="1739900" cy="838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94A03B8D-B397-4517-CD97-8F5C64CD39DE}"/>
                  </a:ext>
                </a:extLst>
              </p:cNvPr>
              <p:cNvSpPr txBox="1"/>
              <p:nvPr/>
            </p:nvSpPr>
            <p:spPr bwMode="auto">
              <a:xfrm>
                <a:off x="4131319" y="2859818"/>
                <a:ext cx="44196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(0,0)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94A03B8D-B397-4517-CD97-8F5C64CD3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1319" y="2859818"/>
                <a:ext cx="4419600" cy="838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7">
                <a:extLst>
                  <a:ext uri="{FF2B5EF4-FFF2-40B4-BE49-F238E27FC236}">
                    <a16:creationId xmlns:a16="http://schemas.microsoft.com/office/drawing/2014/main" id="{91DF1456-74B1-79C4-3628-5749B81FE7D0}"/>
                  </a:ext>
                </a:extLst>
              </p:cNvPr>
              <p:cNvSpPr txBox="1"/>
              <p:nvPr/>
            </p:nvSpPr>
            <p:spPr bwMode="auto">
              <a:xfrm>
                <a:off x="7843135" y="2868348"/>
                <a:ext cx="17272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Object 7">
                <a:extLst>
                  <a:ext uri="{FF2B5EF4-FFF2-40B4-BE49-F238E27FC236}">
                    <a16:creationId xmlns:a16="http://schemas.microsoft.com/office/drawing/2014/main" id="{91DF1456-74B1-79C4-3628-5749B81FE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3135" y="2868348"/>
                <a:ext cx="1727200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6E2EA619-514A-F60E-0C37-0EBCAA395C5E}"/>
                  </a:ext>
                </a:extLst>
              </p:cNvPr>
              <p:cNvSpPr txBox="1"/>
              <p:nvPr/>
            </p:nvSpPr>
            <p:spPr bwMode="auto">
              <a:xfrm>
                <a:off x="4131319" y="3887553"/>
                <a:ext cx="4148138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(0,0​)=</m:t>
                      </m:r>
                      <m:f>
                        <m:f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</m:num>
                        <m:den>
                          <m:r>
                            <a:rPr kumimoji="1" lang="zh-CN" altLang="en-US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  <m: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200" b="0" i="0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6E2EA619-514A-F60E-0C37-0EBCAA395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1319" y="3887553"/>
                <a:ext cx="4148138" cy="10033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7">
                <a:extLst>
                  <a:ext uri="{FF2B5EF4-FFF2-40B4-BE49-F238E27FC236}">
                    <a16:creationId xmlns:a16="http://schemas.microsoft.com/office/drawing/2014/main" id="{07479025-9B22-E235-7B36-6CB9DA29CD0C}"/>
                  </a:ext>
                </a:extLst>
              </p:cNvPr>
              <p:cNvSpPr txBox="1"/>
              <p:nvPr/>
            </p:nvSpPr>
            <p:spPr bwMode="auto">
              <a:xfrm>
                <a:off x="4109142" y="4835985"/>
                <a:ext cx="4135438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>
                        <m:f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</m:num>
                        <m:den>
                          <m:r>
                            <a:rPr kumimoji="1" lang="zh-CN" altLang="en-US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2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2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7">
                <a:extLst>
                  <a:ext uri="{FF2B5EF4-FFF2-40B4-BE49-F238E27FC236}">
                    <a16:creationId xmlns:a16="http://schemas.microsoft.com/office/drawing/2014/main" id="{07479025-9B22-E235-7B36-6CB9DA29C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9142" y="4835985"/>
                <a:ext cx="4135438" cy="10033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1">
                <a:extLst>
                  <a:ext uri="{FF2B5EF4-FFF2-40B4-BE49-F238E27FC236}">
                    <a16:creationId xmlns:a16="http://schemas.microsoft.com/office/drawing/2014/main" id="{0986BABC-F662-BEB6-A526-02D563B49CA9}"/>
                  </a:ext>
                </a:extLst>
              </p:cNvPr>
              <p:cNvSpPr txBox="1"/>
              <p:nvPr/>
            </p:nvSpPr>
            <p:spPr bwMode="auto">
              <a:xfrm>
                <a:off x="7086937" y="5014750"/>
                <a:ext cx="940131" cy="654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11">
                <a:extLst>
                  <a:ext uri="{FF2B5EF4-FFF2-40B4-BE49-F238E27FC236}">
                    <a16:creationId xmlns:a16="http://schemas.microsoft.com/office/drawing/2014/main" id="{0986BABC-F662-BEB6-A526-02D563B49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937" y="5014750"/>
                <a:ext cx="940131" cy="6540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50">
                <a:extLst>
                  <a:ext uri="{FF2B5EF4-FFF2-40B4-BE49-F238E27FC236}">
                    <a16:creationId xmlns:a16="http://schemas.microsoft.com/office/drawing/2014/main" id="{F07DB455-54B8-4ED6-4FD4-3E257514BC80}"/>
                  </a:ext>
                </a:extLst>
              </p:cNvPr>
              <p:cNvSpPr txBox="1"/>
              <p:nvPr/>
            </p:nvSpPr>
            <p:spPr bwMode="auto">
              <a:xfrm>
                <a:off x="7086937" y="4054863"/>
                <a:ext cx="584200" cy="368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50">
                <a:extLst>
                  <a:ext uri="{FF2B5EF4-FFF2-40B4-BE49-F238E27FC236}">
                    <a16:creationId xmlns:a16="http://schemas.microsoft.com/office/drawing/2014/main" id="{F07DB455-54B8-4ED6-4FD4-3E257514B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937" y="4054863"/>
                <a:ext cx="584200" cy="368300"/>
              </a:xfrm>
              <a:prstGeom prst="rect">
                <a:avLst/>
              </a:prstGeom>
              <a:blipFill>
                <a:blip r:embed="rId12"/>
                <a:stretch>
                  <a:fillRect r="-8421" b="-131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C2344D83-F222-5105-84D0-FF32CC73DB46}"/>
              </a:ext>
            </a:extLst>
          </p:cNvPr>
          <p:cNvGrpSpPr/>
          <p:nvPr/>
        </p:nvGrpSpPr>
        <p:grpSpPr>
          <a:xfrm>
            <a:off x="2857606" y="2117741"/>
            <a:ext cx="1131570" cy="449580"/>
            <a:chOff x="1553" y="3802"/>
            <a:chExt cx="1782" cy="708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35E15EF0-FEE1-EB66-0B69-7D4CBC4FA0A3}"/>
                </a:ext>
              </a:extLst>
            </p:cNvPr>
            <p:cNvSpPr/>
            <p:nvPr/>
          </p:nvSpPr>
          <p:spPr>
            <a:xfrm>
              <a:off x="1553" y="3803"/>
              <a:ext cx="175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1AEDEDE0-834D-123E-C081-9198718214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62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方法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126E201-6777-9D93-7E7E-A69E467A30D3}"/>
              </a:ext>
            </a:extLst>
          </p:cNvPr>
          <p:cNvGrpSpPr/>
          <p:nvPr/>
        </p:nvGrpSpPr>
        <p:grpSpPr>
          <a:xfrm>
            <a:off x="2854431" y="4079678"/>
            <a:ext cx="1131570" cy="449580"/>
            <a:chOff x="1553" y="3802"/>
            <a:chExt cx="1782" cy="708"/>
          </a:xfrm>
        </p:grpSpPr>
        <p:sp>
          <p:nvSpPr>
            <p:cNvPr id="7" name="圆角矩形 3">
              <a:extLst>
                <a:ext uri="{FF2B5EF4-FFF2-40B4-BE49-F238E27FC236}">
                  <a16:creationId xmlns:a16="http://schemas.microsoft.com/office/drawing/2014/main" id="{E4E49990-18A3-FC56-8EBD-DE0A23553346}"/>
                </a:ext>
              </a:extLst>
            </p:cNvPr>
            <p:cNvSpPr/>
            <p:nvPr/>
          </p:nvSpPr>
          <p:spPr>
            <a:xfrm>
              <a:off x="1553" y="3803"/>
              <a:ext cx="175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ext Box 28">
              <a:extLst>
                <a:ext uri="{FF2B5EF4-FFF2-40B4-BE49-F238E27FC236}">
                  <a16:creationId xmlns:a16="http://schemas.microsoft.com/office/drawing/2014/main" id="{4A50B277-F591-3959-0E8B-2D0B86DB3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62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方法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865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1224055"/>
                <a:ext cx="10817352" cy="43986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1224055"/>
                <a:ext cx="10817352" cy="4398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1224228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1223614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4949166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4929300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1">
                <a:extLst>
                  <a:ext uri="{FF2B5EF4-FFF2-40B4-BE49-F238E27FC236}">
                    <a16:creationId xmlns:a16="http://schemas.microsoft.com/office/drawing/2014/main" id="{9E860F22-D272-FD84-4149-AD874288BF07}"/>
                  </a:ext>
                </a:extLst>
              </p:cNvPr>
              <p:cNvSpPr txBox="1"/>
              <p:nvPr/>
            </p:nvSpPr>
            <p:spPr>
              <a:xfrm>
                <a:off x="3217545" y="2051050"/>
                <a:ext cx="6248400" cy="1549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∴  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)≠(0,0),</m:t>
                              </m:r>
                            </m: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&amp;0, 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  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          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)=(0,0).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对象 1">
                <a:extLst>
                  <a:ext uri="{FF2B5EF4-FFF2-40B4-BE49-F238E27FC236}">
                    <a16:creationId xmlns:a16="http://schemas.microsoft.com/office/drawing/2014/main" id="{9E860F22-D272-FD84-4149-AD874288B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545" y="2051050"/>
                <a:ext cx="6248400" cy="1549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E4C69204-D566-233F-EF25-AAC51C5DE148}"/>
                  </a:ext>
                </a:extLst>
              </p:cNvPr>
              <p:cNvSpPr txBox="1"/>
              <p:nvPr/>
            </p:nvSpPr>
            <p:spPr>
              <a:xfrm>
                <a:off x="3639820" y="3542641"/>
                <a:ext cx="5854700" cy="1549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kumimoji="1" lang="zh-CN" altLang="en-US" sz="2200" i="1"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  <a:cs typeface="Cambria Math" panose="0204050305040603020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)≠(0,0),</m:t>
                              </m:r>
                            </m:e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&amp;0, </m:t>
                              </m:r>
                              <m:r>
                                <a:rPr kumimoji="1" lang="en-US" altLang="zh-CN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  </m:t>
                              </m:r>
                              <m:r>
                                <a:rPr kumimoji="1" lang="en-US" altLang="zh-CN" sz="22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          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)=(0,0).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E4C69204-D566-233F-EF25-AAC51C5DE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820" y="3542641"/>
                <a:ext cx="5854700" cy="1549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40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86BD293-90D4-6611-F556-CB760E9CC127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>
              <a:extLst>
                <a:ext uri="{FF2B5EF4-FFF2-40B4-BE49-F238E27FC236}">
                  <a16:creationId xmlns:a16="http://schemas.microsoft.com/office/drawing/2014/main" id="{55368966-4091-99AD-5716-38ED41B3F91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10A6653-0B37-D3B0-C610-C78ADC4751ED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3959EE7F-309E-D212-C8FD-86712EF9EA5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BF5DF9CB-A13E-64F2-0E67-77D59C77E411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D2222A50-0C89-2BB9-2D37-ED733E8F07B6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400D9A6E-FE9C-F32B-DA7B-62B55953BDB1}"/>
              </a:ext>
            </a:extLst>
          </p:cNvPr>
          <p:cNvSpPr txBox="1">
            <a:spLocks noChangeArrowheads="1"/>
          </p:cNvSpPr>
          <p:nvPr/>
        </p:nvSpPr>
        <p:spPr>
          <a:xfrm>
            <a:off x="1895792" y="846744"/>
            <a:ext cx="519327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二元函数偏导数的几何意义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052">
                <a:extLst>
                  <a:ext uri="{FF2B5EF4-FFF2-40B4-BE49-F238E27FC236}">
                    <a16:creationId xmlns:a16="http://schemas.microsoft.com/office/drawing/2014/main" id="{9FF8697C-A78F-05BF-F229-34BBE5CB5605}"/>
                  </a:ext>
                </a:extLst>
              </p:cNvPr>
              <p:cNvSpPr txBox="1"/>
              <p:nvPr/>
            </p:nvSpPr>
            <p:spPr bwMode="auto">
              <a:xfrm>
                <a:off x="2324417" y="1596086"/>
                <a:ext cx="849172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设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为曲面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上一点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6" name="Object 2052">
                <a:extLst>
                  <a:ext uri="{FF2B5EF4-FFF2-40B4-BE49-F238E27FC236}">
                    <a16:creationId xmlns:a16="http://schemas.microsoft.com/office/drawing/2014/main" id="{9FF8697C-A78F-05BF-F229-34BBE5CB5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4417" y="1596086"/>
                <a:ext cx="8491721" cy="5191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053">
            <a:extLst>
              <a:ext uri="{FF2B5EF4-FFF2-40B4-BE49-F238E27FC236}">
                <a16:creationId xmlns:a16="http://schemas.microsoft.com/office/drawing/2014/main" id="{5D3A2E9B-D2A8-0D86-2E9D-14D60486C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417" y="2287536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</a:rPr>
              <a:t>如图</a:t>
            </a:r>
          </a:p>
        </p:txBody>
      </p:sp>
      <p:pic>
        <p:nvPicPr>
          <p:cNvPr id="3" name="图片 2" descr="图表, 图示&#10;&#10;描述已自动生成">
            <a:extLst>
              <a:ext uri="{FF2B5EF4-FFF2-40B4-BE49-F238E27FC236}">
                <a16:creationId xmlns:a16="http://schemas.microsoft.com/office/drawing/2014/main" id="{6C4219C3-46C8-96C9-2C33-307822FAE46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311" y="2556774"/>
            <a:ext cx="3671594" cy="297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2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556EC16D-B8AF-B2D5-CD3D-FE9E5FE1F79D}"/>
                  </a:ext>
                </a:extLst>
              </p:cNvPr>
              <p:cNvSpPr txBox="1"/>
              <p:nvPr/>
            </p:nvSpPr>
            <p:spPr bwMode="auto">
              <a:xfrm>
                <a:off x="1661424" y="1030850"/>
                <a:ext cx="4725531" cy="1340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Pre>
                            <m:sPrePr>
                              <m:ctrlP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PrePr>
                            <m:sub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sPre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</m:num>
                        <m:den>
                          <m:r>
                            <a:rPr kumimoji="1" lang="zh-CN" altLang="en-US" sz="28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  <m:r>
                            <a:rPr kumimoji="1"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556EC16D-B8AF-B2D5-CD3D-FE9E5FE1F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1424" y="1030850"/>
                <a:ext cx="4725531" cy="13400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5F3FFEC2-C8F8-6657-D05B-BB094158C44B}"/>
                  </a:ext>
                </a:extLst>
              </p:cNvPr>
              <p:cNvSpPr txBox="1"/>
              <p:nvPr/>
            </p:nvSpPr>
            <p:spPr bwMode="auto">
              <a:xfrm>
                <a:off x="2789565" y="2326143"/>
                <a:ext cx="2415673" cy="11499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5F3FFEC2-C8F8-6657-D05B-BB094158C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565" y="2326143"/>
                <a:ext cx="2415673" cy="11499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9BCC56FA-6CA9-26A0-2EBB-82F3B84A4D63}"/>
                  </a:ext>
                </a:extLst>
              </p:cNvPr>
              <p:cNvSpPr txBox="1"/>
              <p:nvPr/>
            </p:nvSpPr>
            <p:spPr bwMode="auto">
              <a:xfrm>
                <a:off x="1624379" y="3465970"/>
                <a:ext cx="1563687" cy="692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𝑇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9BCC56FA-6CA9-26A0-2EBB-82F3B84A4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4379" y="3465970"/>
                <a:ext cx="1563687" cy="692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51EC2BEC-A70C-1763-57B0-AB8340223E75}"/>
                  </a:ext>
                </a:extLst>
              </p:cNvPr>
              <p:cNvSpPr txBox="1"/>
              <p:nvPr/>
            </p:nvSpPr>
            <p:spPr bwMode="auto">
              <a:xfrm>
                <a:off x="1661424" y="4085587"/>
                <a:ext cx="4519613" cy="1181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80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Pre>
                            <m:sPre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PrePr>
                            <m: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sPre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</m:num>
                        <m:den>
                          <m:r>
                            <a:rPr kumimoji="1" lang="zh-CN" altLang="en-US" sz="28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ⅆ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sSub>
                        <m:sSubPr>
                          <m:ctrlPr>
                            <a:rPr kumimoji="1"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zh-CN" sz="28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51EC2BEC-A70C-1763-57B0-AB8340223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1424" y="4085587"/>
                <a:ext cx="4519613" cy="1181100"/>
              </a:xfrm>
              <a:prstGeom prst="rect">
                <a:avLst/>
              </a:prstGeom>
              <a:blipFill>
                <a:blip r:embed="rId6"/>
                <a:stretch>
                  <a:fillRect b="-5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2">
            <a:extLst>
              <a:ext uri="{FF2B5EF4-FFF2-40B4-BE49-F238E27FC236}">
                <a16:creationId xmlns:a16="http://schemas.microsoft.com/office/drawing/2014/main" id="{355B2041-1A5C-4106-6405-1F271C2C4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182" y="5576769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是曲线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3">
                <a:extLst>
                  <a:ext uri="{FF2B5EF4-FFF2-40B4-BE49-F238E27FC236}">
                    <a16:creationId xmlns:a16="http://schemas.microsoft.com/office/drawing/2014/main" id="{F1C62483-3646-2D77-8B35-E4DEDC4F711C}"/>
                  </a:ext>
                </a:extLst>
              </p:cNvPr>
              <p:cNvSpPr txBox="1"/>
              <p:nvPr/>
            </p:nvSpPr>
            <p:spPr bwMode="auto">
              <a:xfrm>
                <a:off x="2733586" y="5325234"/>
                <a:ext cx="2471111" cy="10742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en-US" altLang="zh-CN" sz="2800" dirty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Object 13">
                <a:extLst>
                  <a:ext uri="{FF2B5EF4-FFF2-40B4-BE49-F238E27FC236}">
                    <a16:creationId xmlns:a16="http://schemas.microsoft.com/office/drawing/2014/main" id="{F1C62483-3646-2D77-8B35-E4DEDC4F7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33586" y="5325234"/>
                <a:ext cx="2471111" cy="10742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99D358C8-C36C-F54C-3EF2-15729EFD5293}"/>
                  </a:ext>
                </a:extLst>
              </p:cNvPr>
              <p:cNvSpPr txBox="1"/>
              <p:nvPr/>
            </p:nvSpPr>
            <p:spPr bwMode="auto">
              <a:xfrm>
                <a:off x="7357536" y="5580553"/>
                <a:ext cx="1023184" cy="6455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99D358C8-C36C-F54C-3EF2-15729EFD5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536" y="5580553"/>
                <a:ext cx="1023184" cy="6455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78">
                <a:extLst>
                  <a:ext uri="{FF2B5EF4-FFF2-40B4-BE49-F238E27FC236}">
                    <a16:creationId xmlns:a16="http://schemas.microsoft.com/office/drawing/2014/main" id="{0F9E6986-748E-2990-FF0F-226BAB0C1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9039" y="2588870"/>
                <a:ext cx="3643751" cy="5275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  <a:sym typeface="+mn-lt"/>
                  </a:rPr>
                  <a:t>在点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  <a:sym typeface="+mn-lt"/>
                  </a:rPr>
                  <a:t> 处的切线</a:t>
                </a:r>
              </a:p>
            </p:txBody>
          </p:sp>
        </mc:Choice>
        <mc:Fallback xmlns="">
          <p:sp>
            <p:nvSpPr>
              <p:cNvPr id="9" name="Text Box 78">
                <a:extLst>
                  <a:ext uri="{FF2B5EF4-FFF2-40B4-BE49-F238E27FC236}">
                    <a16:creationId xmlns:a16="http://schemas.microsoft.com/office/drawing/2014/main" id="{0F9E6986-748E-2990-FF0F-226BAB0C1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9039" y="2588870"/>
                <a:ext cx="3643751" cy="527580"/>
              </a:xfrm>
              <a:prstGeom prst="rect">
                <a:avLst/>
              </a:prstGeom>
              <a:blipFill>
                <a:blip r:embed="rId9"/>
                <a:stretch>
                  <a:fillRect l="-3344"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80">
                <a:extLst>
                  <a:ext uri="{FF2B5EF4-FFF2-40B4-BE49-F238E27FC236}">
                    <a16:creationId xmlns:a16="http://schemas.microsoft.com/office/drawing/2014/main" id="{042B7F36-3C06-4BF0-7A61-98A75E1924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7311" y="3469331"/>
                <a:ext cx="2971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对 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x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轴的斜率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Text Box 80">
                <a:extLst>
                  <a:ext uri="{FF2B5EF4-FFF2-40B4-BE49-F238E27FC236}">
                    <a16:creationId xmlns:a16="http://schemas.microsoft.com/office/drawing/2014/main" id="{042B7F36-3C06-4BF0-7A61-98A75E192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7311" y="3469331"/>
                <a:ext cx="2971800" cy="519113"/>
              </a:xfrm>
              <a:prstGeom prst="rect">
                <a:avLst/>
              </a:prstGeom>
              <a:blipFill>
                <a:blip r:embed="rId10"/>
                <a:stretch>
                  <a:fillRect l="-4098" t="-15294" b="-341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82">
                <a:extLst>
                  <a:ext uri="{FF2B5EF4-FFF2-40B4-BE49-F238E27FC236}">
                    <a16:creationId xmlns:a16="http://schemas.microsoft.com/office/drawing/2014/main" id="{739C80FF-793C-B095-5A74-B7D5B9718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5137" y="5581350"/>
                <a:ext cx="2971800" cy="5275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lnSpc>
                    <a:spcPct val="11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处的切线</a:t>
                </a:r>
              </a:p>
            </p:txBody>
          </p:sp>
        </mc:Choice>
        <mc:Fallback xmlns="">
          <p:sp>
            <p:nvSpPr>
              <p:cNvPr id="11" name="Text Box 82">
                <a:extLst>
                  <a:ext uri="{FF2B5EF4-FFF2-40B4-BE49-F238E27FC236}">
                    <a16:creationId xmlns:a16="http://schemas.microsoft.com/office/drawing/2014/main" id="{739C80FF-793C-B095-5A74-B7D5B9718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5137" y="5581350"/>
                <a:ext cx="2971800" cy="527580"/>
              </a:xfrm>
              <a:prstGeom prst="rect">
                <a:avLst/>
              </a:prstGeom>
              <a:blipFill>
                <a:blip r:embed="rId11"/>
                <a:stretch>
                  <a:fillRect l="-4098" t="-151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85">
            <a:extLst>
              <a:ext uri="{FF2B5EF4-FFF2-40B4-BE49-F238E27FC236}">
                <a16:creationId xmlns:a16="http://schemas.microsoft.com/office/drawing/2014/main" id="{DB6EAAE8-C05A-F9EF-D520-CD7CA0E8C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182" y="2591456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黑体"/>
                <a:cs typeface="+mn-ea"/>
                <a:sym typeface="+mn-lt"/>
              </a:rPr>
              <a:t>是曲线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93">
                <a:extLst>
                  <a:ext uri="{FF2B5EF4-FFF2-40B4-BE49-F238E27FC236}">
                    <a16:creationId xmlns:a16="http://schemas.microsoft.com/office/drawing/2014/main" id="{E32440CB-C46B-C963-521D-1BAACC7CC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6509" y="5550415"/>
                <a:ext cx="320557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对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轴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cs typeface="+mn-ea"/>
                    <a:sym typeface="+mn-lt"/>
                  </a:rPr>
                  <a:t>的斜率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.</m:t>
                    </m:r>
                  </m:oMath>
                </a14:m>
                <a:endParaRPr kumimoji="1" lang="zh-CN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1" name="Rectangle 93">
                <a:extLst>
                  <a:ext uri="{FF2B5EF4-FFF2-40B4-BE49-F238E27FC236}">
                    <a16:creationId xmlns:a16="http://schemas.microsoft.com/office/drawing/2014/main" id="{E32440CB-C46B-C963-521D-1BAACC7CC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26509" y="5550415"/>
                <a:ext cx="3205579" cy="523220"/>
              </a:xfrm>
              <a:prstGeom prst="rect">
                <a:avLst/>
              </a:prstGeom>
              <a:blipFill>
                <a:blip r:embed="rId19"/>
                <a:stretch>
                  <a:fillRect l="-3802" t="-16471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 Box 43">
            <a:extLst>
              <a:ext uri="{FF2B5EF4-FFF2-40B4-BE49-F238E27FC236}">
                <a16:creationId xmlns:a16="http://schemas.microsoft.com/office/drawing/2014/main" id="{7FFB6063-8007-F960-15AF-FAB8F0585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088" y="415159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几何意义:</a:t>
            </a:r>
            <a:endParaRPr kumimoji="1" lang="zh-CN" altLang="en-US" sz="2800" b="1" dirty="0">
              <a:solidFill>
                <a:srgbClr val="04926A"/>
              </a:solidFill>
            </a:endParaRPr>
          </a:p>
        </p:txBody>
      </p:sp>
      <p:pic>
        <p:nvPicPr>
          <p:cNvPr id="42" name="图片 41" descr="图表, 图示&#10;&#10;描述已自动生成">
            <a:extLst>
              <a:ext uri="{FF2B5EF4-FFF2-40B4-BE49-F238E27FC236}">
                <a16:creationId xmlns:a16="http://schemas.microsoft.com/office/drawing/2014/main" id="{9C2FCD3E-044B-8A6C-BF9A-2B2BC8270442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893" y="1399118"/>
            <a:ext cx="3769171" cy="305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utoUpdateAnimBg="0"/>
      <p:bldP spid="7" grpId="0"/>
      <p:bldP spid="8" grpId="0"/>
      <p:bldP spid="9" grpId="0"/>
      <p:bldP spid="10" grpId="0"/>
      <p:bldP spid="11" grpId="0"/>
      <p:bldP spid="12" grpId="0"/>
      <p:bldP spid="51" grpId="0"/>
      <p:bldP spid="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B3779DC-AC5D-D3E2-D421-6C26C2B0A230}"/>
              </a:ext>
            </a:extLst>
          </p:cNvPr>
          <p:cNvSpPr txBox="1">
            <a:spLocks noChangeArrowheads="1"/>
          </p:cNvSpPr>
          <p:nvPr/>
        </p:nvSpPr>
        <p:spPr>
          <a:xfrm>
            <a:off x="2097462" y="707096"/>
            <a:ext cx="5193271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kumimoji="1"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偏导数与连续的关系</a:t>
            </a:r>
            <a:endParaRPr kumimoji="1"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853338D8-10F8-6698-0F76-EE7746FE6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341" y="1740236"/>
            <a:ext cx="609600" cy="0"/>
          </a:xfrm>
          <a:prstGeom prst="line">
            <a:avLst/>
          </a:prstGeom>
          <a:noFill/>
          <a:ln w="57150">
            <a:solidFill>
              <a:srgbClr val="04926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F77B65B5-AAD5-2F1C-541D-A57E2B2BF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328" y="4706366"/>
            <a:ext cx="345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/>
                <a:ea typeface="黑体"/>
                <a:cs typeface="+mn-ea"/>
              </a:rPr>
              <a:t>但在该点处并不连续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zh-CN" altLang="en-US" sz="2800" dirty="0">
              <a:solidFill>
                <a:prstClr val="black"/>
              </a:solidFill>
              <a:latin typeface="Times New Roman"/>
              <a:ea typeface="黑体"/>
              <a:cs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6">
                <a:extLst>
                  <a:ext uri="{FF2B5EF4-FFF2-40B4-BE49-F238E27FC236}">
                    <a16:creationId xmlns:a16="http://schemas.microsoft.com/office/drawing/2014/main" id="{81080F69-5474-E6BA-434A-10C93B6A0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046" y="1508410"/>
                <a:ext cx="528542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一元函数中在某点可导        连续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7" name="Rectangle 16">
                <a:extLst>
                  <a:ext uri="{FF2B5EF4-FFF2-40B4-BE49-F238E27FC236}">
                    <a16:creationId xmlns:a16="http://schemas.microsoft.com/office/drawing/2014/main" id="{81080F69-5474-E6BA-434A-10C93B6A0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046" y="1508410"/>
                <a:ext cx="5285421" cy="523220"/>
              </a:xfrm>
              <a:prstGeom prst="rect">
                <a:avLst/>
              </a:prstGeom>
              <a:blipFill>
                <a:blip r:embed="rId3"/>
                <a:stretch>
                  <a:fillRect l="-2307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7">
            <a:extLst>
              <a:ext uri="{FF2B5EF4-FFF2-40B4-BE49-F238E27FC236}">
                <a16:creationId xmlns:a16="http://schemas.microsoft.com/office/drawing/2014/main" id="{6A36F9C4-D3FC-7E5A-3FEE-D72682CC5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8996" y="2378008"/>
            <a:ext cx="65582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prstClr val="black"/>
                </a:solidFill>
                <a:latin typeface="Times New Roman"/>
                <a:ea typeface="黑体"/>
                <a:cs typeface="+mn-ea"/>
              </a:rPr>
              <a:t>多元函数中在某点偏导数存在         连续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.</a:t>
            </a:r>
            <a:endParaRPr kumimoji="1" lang="zh-CN" altLang="en-US" sz="2800" dirty="0">
              <a:solidFill>
                <a:prstClr val="black"/>
              </a:solidFill>
              <a:latin typeface="Times New Roman"/>
              <a:ea typeface="黑体"/>
              <a:cs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3">
                <a:extLst>
                  <a:ext uri="{FF2B5EF4-FFF2-40B4-BE49-F238E27FC236}">
                    <a16:creationId xmlns:a16="http://schemas.microsoft.com/office/drawing/2014/main" id="{EB36151D-1CF3-A4B2-7684-5A585FB6156A}"/>
                  </a:ext>
                </a:extLst>
              </p:cNvPr>
              <p:cNvSpPr txBox="1"/>
              <p:nvPr/>
            </p:nvSpPr>
            <p:spPr>
              <a:xfrm>
                <a:off x="3560454" y="2931211"/>
                <a:ext cx="6060881" cy="181706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𝑥𝑦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)≠(0,0),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&amp;0,  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 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)=(0,0)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对象 3">
                <a:extLst>
                  <a:ext uri="{FF2B5EF4-FFF2-40B4-BE49-F238E27FC236}">
                    <a16:creationId xmlns:a16="http://schemas.microsoft.com/office/drawing/2014/main" id="{EB36151D-1CF3-A4B2-7684-5A585FB61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454" y="2931211"/>
                <a:ext cx="6060881" cy="1817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27">
                <a:extLst>
                  <a:ext uri="{FF2B5EF4-FFF2-40B4-BE49-F238E27FC236}">
                    <a16:creationId xmlns:a16="http://schemas.microsoft.com/office/drawing/2014/main" id="{DE4CC7E6-2499-3308-FAB6-FC4B052B7B1A}"/>
                  </a:ext>
                </a:extLst>
              </p:cNvPr>
              <p:cNvSpPr txBox="1"/>
              <p:nvPr/>
            </p:nvSpPr>
            <p:spPr>
              <a:xfrm>
                <a:off x="2508046" y="4715331"/>
                <a:ext cx="4402061" cy="47686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在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0,0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两个偏导数存在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1" name="对象 27">
                <a:extLst>
                  <a:ext uri="{FF2B5EF4-FFF2-40B4-BE49-F238E27FC236}">
                    <a16:creationId xmlns:a16="http://schemas.microsoft.com/office/drawing/2014/main" id="{DE4CC7E6-2499-3308-FAB6-FC4B052B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046" y="4715331"/>
                <a:ext cx="4402061" cy="4768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2E214DC-F352-6018-0DEA-D6864EF72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7034" y="5504441"/>
                <a:ext cx="4864848" cy="523220"/>
              </a:xfrm>
              <a:prstGeom prst="rect">
                <a:avLst/>
              </a:prstGeom>
              <a:solidFill>
                <a:srgbClr val="04926A">
                  <a:alpha val="20000"/>
                </a:srgb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结论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  </a:t>
                </a:r>
                <a:r>
                  <a:rPr kumimoji="1" lang="zh-CN" altLang="en-US" sz="2800" dirty="0">
                    <a:solidFill>
                      <a:srgbClr val="4A7BA8"/>
                    </a:solidFill>
                    <a:latin typeface="Times New Roman"/>
                    <a:ea typeface="黑体"/>
                    <a:cs typeface="+mn-ea"/>
                  </a:rPr>
                  <a:t>偏导数存在         连续</a:t>
                </a:r>
                <a:r>
                  <a:rPr kumimoji="1" lang="en-US" altLang="zh-CN" sz="2800" dirty="0">
                    <a:solidFill>
                      <a:srgbClr val="4A7BA8"/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.</a:t>
                </a:r>
                <a:endParaRPr kumimoji="1" lang="zh-CN" altLang="en-US" sz="2800" dirty="0">
                  <a:solidFill>
                    <a:srgbClr val="4A7BA8"/>
                  </a:solidFill>
                  <a:latin typeface="Times New Roman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2E214DC-F352-6018-0DEA-D6864EF722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7034" y="5504441"/>
                <a:ext cx="4864848" cy="523220"/>
              </a:xfrm>
              <a:prstGeom prst="rect">
                <a:avLst/>
              </a:prstGeom>
              <a:blipFill>
                <a:blip r:embed="rId6"/>
                <a:stretch>
                  <a:fillRect l="-2506" t="-16279" b="-313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5">
            <a:extLst>
              <a:ext uri="{FF2B5EF4-FFF2-40B4-BE49-F238E27FC236}">
                <a16:creationId xmlns:a16="http://schemas.microsoft.com/office/drawing/2014/main" id="{36849F89-6932-7261-7F38-A6B108B0EF43}"/>
              </a:ext>
            </a:extLst>
          </p:cNvPr>
          <p:cNvGrpSpPr>
            <a:grpSpLocks/>
          </p:cNvGrpSpPr>
          <p:nvPr/>
        </p:nvGrpSpPr>
        <p:grpSpPr bwMode="auto">
          <a:xfrm>
            <a:off x="5649191" y="5606648"/>
            <a:ext cx="609600" cy="287338"/>
            <a:chOff x="4455" y="3330"/>
            <a:chExt cx="384" cy="181"/>
          </a:xfrm>
        </p:grpSpPr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448F839A-D414-3424-708C-B128429CF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5" y="3426"/>
              <a:ext cx="384" cy="0"/>
            </a:xfrm>
            <a:prstGeom prst="line">
              <a:avLst/>
            </a:prstGeom>
            <a:noFill/>
            <a:ln w="571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5AF4F503-CCF3-71E8-C89A-0226BCFF4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9" y="3330"/>
              <a:ext cx="204" cy="181"/>
            </a:xfrm>
            <a:prstGeom prst="line">
              <a:avLst/>
            </a:prstGeom>
            <a:noFill/>
            <a:ln w="57150">
              <a:solidFill>
                <a:srgbClr val="4A7BA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DDC2C88C-A314-2951-4045-A7E7ABDB2EEB}"/>
              </a:ext>
            </a:extLst>
          </p:cNvPr>
          <p:cNvSpPr txBox="1"/>
          <p:nvPr/>
        </p:nvSpPr>
        <p:spPr>
          <a:xfrm>
            <a:off x="7319835" y="216276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4A7BA8"/>
                </a:solidFill>
                <a:latin typeface="Times New Roman"/>
                <a:ea typeface="黑体"/>
                <a:cs typeface="+mn-ea"/>
              </a:rPr>
              <a:t>？</a:t>
            </a:r>
          </a:p>
        </p:txBody>
      </p:sp>
      <p:sp>
        <p:nvSpPr>
          <p:cNvPr id="18" name="Line 4">
            <a:extLst>
              <a:ext uri="{FF2B5EF4-FFF2-40B4-BE49-F238E27FC236}">
                <a16:creationId xmlns:a16="http://schemas.microsoft.com/office/drawing/2014/main" id="{2B0B4ED2-C207-6D82-F330-D41BB7106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158" y="2639618"/>
            <a:ext cx="609600" cy="0"/>
          </a:xfrm>
          <a:prstGeom prst="line">
            <a:avLst/>
          </a:prstGeom>
          <a:noFill/>
          <a:ln w="57150">
            <a:solidFill>
              <a:srgbClr val="04926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3E6D007-E91F-8C22-EE0A-8C2C5A5D49D3}"/>
              </a:ext>
            </a:extLst>
          </p:cNvPr>
          <p:cNvGrpSpPr/>
          <p:nvPr/>
        </p:nvGrpSpPr>
        <p:grpSpPr>
          <a:xfrm>
            <a:off x="2615609" y="3582312"/>
            <a:ext cx="962025" cy="448945"/>
            <a:chOff x="1553" y="3803"/>
            <a:chExt cx="1515" cy="707"/>
          </a:xfrm>
        </p:grpSpPr>
        <p:sp>
          <p:nvSpPr>
            <p:cNvPr id="5" name="圆角矩形 57">
              <a:extLst>
                <a:ext uri="{FF2B5EF4-FFF2-40B4-BE49-F238E27FC236}">
                  <a16:creationId xmlns:a16="http://schemas.microsoft.com/office/drawing/2014/main" id="{3B04B670-7810-7C6E-D766-9F2CD0A1E385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632DF471-C79C-526B-B432-7F825B9B79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96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7" grpId="0" autoUpdateAnimBg="0"/>
      <p:bldP spid="8" grpId="0"/>
      <p:bldP spid="9" grpId="0"/>
      <p:bldP spid="12" grpId="0" animBg="1" autoUpdateAnimBg="0"/>
      <p:bldP spid="17" grpId="0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177165" y="1306830"/>
            <a:ext cx="11837670" cy="428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9">
                <a:extLst>
                  <a:ext uri="{FF2B5EF4-FFF2-40B4-BE49-F238E27FC236}">
                    <a16:creationId xmlns:a16="http://schemas.microsoft.com/office/drawing/2014/main" id="{F70AB94B-2359-5FEE-F10D-7E133194B2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028" y="2743231"/>
                <a:ext cx="8305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因为各偏导数存在只能保证点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沿着平行于坐标轴</a:t>
                </a:r>
              </a:p>
            </p:txBody>
          </p:sp>
        </mc:Choice>
        <mc:Fallback xmlns="">
          <p:sp>
            <p:nvSpPr>
              <p:cNvPr id="3" name="Text Box 9">
                <a:extLst>
                  <a:ext uri="{FF2B5EF4-FFF2-40B4-BE49-F238E27FC236}">
                    <a16:creationId xmlns:a16="http://schemas.microsoft.com/office/drawing/2014/main" id="{F70AB94B-2359-5FEE-F10D-7E133194B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4028" y="2743231"/>
                <a:ext cx="8305800" cy="523220"/>
              </a:xfrm>
              <a:prstGeom prst="rect">
                <a:avLst/>
              </a:prstGeom>
              <a:blipFill>
                <a:blip r:embed="rId2"/>
                <a:stretch>
                  <a:fillRect l="-1467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0">
                <a:extLst>
                  <a:ext uri="{FF2B5EF4-FFF2-40B4-BE49-F238E27FC236}">
                    <a16:creationId xmlns:a16="http://schemas.microsoft.com/office/drawing/2014/main" id="{AB759596-45F2-7F54-698B-F1DDD49946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4028" y="3491459"/>
                <a:ext cx="651916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的方向趋于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  <m:r>
                      <m:rPr>
                        <m:nor/>
                      </m:rPr>
                      <a:rPr lang="en-US" altLang="zh-CN" sz="2800" baseline="-25000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0</m:t>
                    </m:r>
                    <m:r>
                      <m:rPr>
                        <m:nor/>
                      </m:rPr>
                      <a:rPr lang="en-US" altLang="zh-CN" sz="2800" b="0" i="0" baseline="-25000" dirty="0" smtClean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 函数值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趋于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m:rPr>
                            <m:nor/>
                          </m:rPr>
                          <a:rPr lang="en-US" altLang="zh-CN" sz="2800" baseline="-25000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e>
                    </m:d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5" name="Text Box 10">
                <a:extLst>
                  <a:ext uri="{FF2B5EF4-FFF2-40B4-BE49-F238E27FC236}">
                    <a16:creationId xmlns:a16="http://schemas.microsoft.com/office/drawing/2014/main" id="{AB759596-45F2-7F54-698B-F1DDD4994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4028" y="3491459"/>
                <a:ext cx="6519165" cy="523220"/>
              </a:xfrm>
              <a:prstGeom prst="rect">
                <a:avLst/>
              </a:prstGeom>
              <a:blipFill>
                <a:blip r:embed="rId3"/>
                <a:stretch>
                  <a:fillRect l="-1869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1">
            <a:extLst>
              <a:ext uri="{FF2B5EF4-FFF2-40B4-BE49-F238E27FC236}">
                <a16:creationId xmlns:a16="http://schemas.microsoft.com/office/drawing/2014/main" id="{9B3F4AAD-CEBB-8075-38A7-FF80DF0B8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1146" y="3491459"/>
            <a:ext cx="213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/>
                <a:ea typeface="黑体"/>
                <a:cs typeface="+mn-ea"/>
              </a:rPr>
              <a:t>但不能保证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2">
                <a:extLst>
                  <a:ext uri="{FF2B5EF4-FFF2-40B4-BE49-F238E27FC236}">
                    <a16:creationId xmlns:a16="http://schemas.microsoft.com/office/drawing/2014/main" id="{8AB57F38-C831-1E6D-E944-6866CF04C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4028" y="4209018"/>
                <a:ext cx="4572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点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 按任何方式趋于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  <m:r>
                      <m:rPr>
                        <m:nor/>
                      </m:rPr>
                      <a:rPr lang="en-US" altLang="zh-CN" sz="2800" baseline="-25000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0</m:t>
                    </m:r>
                    <m:r>
                      <m:rPr>
                        <m:nor/>
                      </m:rPr>
                      <a:rPr lang="en-US" altLang="zh-CN" sz="2800" b="0" i="0" baseline="-25000" dirty="0" smtClean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7" name="Rectangle 12">
                <a:extLst>
                  <a:ext uri="{FF2B5EF4-FFF2-40B4-BE49-F238E27FC236}">
                    <a16:creationId xmlns:a16="http://schemas.microsoft.com/office/drawing/2014/main" id="{8AB57F38-C831-1E6D-E944-6866CF04CD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4028" y="4209018"/>
                <a:ext cx="4572000" cy="523220"/>
              </a:xfrm>
              <a:prstGeom prst="rect">
                <a:avLst/>
              </a:prstGeom>
              <a:blipFill>
                <a:blip r:embed="rId4"/>
                <a:stretch>
                  <a:fillRect l="-2667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13">
                <a:extLst>
                  <a:ext uri="{FF2B5EF4-FFF2-40B4-BE49-F238E27FC236}">
                    <a16:creationId xmlns:a16="http://schemas.microsoft.com/office/drawing/2014/main" id="{CE7F6DAB-F7BE-2B22-65DA-C2D79C27F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9691" y="4209018"/>
                <a:ext cx="393828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/>
                    <a:ea typeface="黑体"/>
                    <a:cs typeface="+mn-ea"/>
                  </a:rPr>
                  <a:t> 都趋于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𝑃</m:t>
                        </m:r>
                        <m:r>
                          <m:rPr>
                            <m:nor/>
                          </m:rPr>
                          <a:rPr lang="en-US" altLang="zh-CN" sz="2800" baseline="-25000" dirty="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e>
                    </m:d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+mn-lt"/>
                  </a:rPr>
                  <a:t>.</a:t>
                </a:r>
                <a:endParaRPr kumimoji="1" lang="zh-CN" altLang="en-US" sz="2800" dirty="0">
                  <a:solidFill>
                    <a:prstClr val="black"/>
                  </a:solidFill>
                  <a:latin typeface="Times New Roman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8" name="Rectangle 13">
                <a:extLst>
                  <a:ext uri="{FF2B5EF4-FFF2-40B4-BE49-F238E27FC236}">
                    <a16:creationId xmlns:a16="http://schemas.microsoft.com/office/drawing/2014/main" id="{CE7F6DAB-F7BE-2B22-65DA-C2D79C27FF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9691" y="4209018"/>
                <a:ext cx="3938281" cy="523220"/>
              </a:xfrm>
              <a:prstGeom prst="rect">
                <a:avLst/>
              </a:prstGeom>
              <a:blipFill>
                <a:blip r:embed="rId5"/>
                <a:stretch>
                  <a:fillRect l="-3091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43">
            <a:extLst>
              <a:ext uri="{FF2B5EF4-FFF2-40B4-BE49-F238E27FC236}">
                <a16:creationId xmlns:a16="http://schemas.microsoft.com/office/drawing/2014/main" id="{0854135F-7A46-B6ED-F643-FC56D7899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028" y="2054787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几何解释</a:t>
            </a:r>
          </a:p>
        </p:txBody>
      </p:sp>
    </p:spTree>
    <p:extLst>
      <p:ext uri="{BB962C8B-B14F-4D97-AF65-F5344CB8AC3E}">
        <p14:creationId xmlns:p14="http://schemas.microsoft.com/office/powerpoint/2010/main" val="217028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25493456-FC63-80C9-8E37-B5935E43DB98}"/>
              </a:ext>
            </a:extLst>
          </p:cNvPr>
          <p:cNvSpPr txBox="1">
            <a:spLocks noChangeArrowheads="1"/>
          </p:cNvSpPr>
          <p:nvPr/>
        </p:nvSpPr>
        <p:spPr>
          <a:xfrm>
            <a:off x="1885314" y="1035269"/>
            <a:ext cx="2689861" cy="609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二、高阶导数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35B765-A1D9-947A-1C40-0B7F0E6A0168}"/>
              </a:ext>
            </a:extLst>
          </p:cNvPr>
          <p:cNvSpPr txBox="1">
            <a:spLocks noChangeArrowheads="1"/>
          </p:cNvSpPr>
          <p:nvPr/>
        </p:nvSpPr>
        <p:spPr>
          <a:xfrm>
            <a:off x="2368117" y="1795682"/>
            <a:ext cx="1543483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pc="3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1" lang="zh-CN" altLang="en-US" spc="3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</a:t>
            </a:r>
            <a:endParaRPr kumimoji="1" lang="en-US" altLang="zh-CN" spc="3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E291C0D3-6DF5-3E19-C26F-A689D9D190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0817" y="2538210"/>
                <a:ext cx="6108199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设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)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在区域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𝐷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 内具有偏导数</a:t>
                </a:r>
              </a:p>
            </p:txBody>
          </p:sp>
        </mc:Choice>
        <mc:Fallback xmlns="">
          <p:sp>
            <p:nvSpPr>
              <p:cNvPr id="4" name="Text Box 3">
                <a:extLst>
                  <a:ext uri="{FF2B5EF4-FFF2-40B4-BE49-F238E27FC236}">
                    <a16:creationId xmlns:a16="http://schemas.microsoft.com/office/drawing/2014/main" id="{E291C0D3-6DF5-3E19-C26F-A689D9D19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0817" y="2538210"/>
                <a:ext cx="6108199" cy="519113"/>
              </a:xfrm>
              <a:prstGeom prst="rect">
                <a:avLst/>
              </a:prstGeom>
              <a:blipFill>
                <a:blip r:embed="rId3"/>
                <a:stretch>
                  <a:fillRect l="-2096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26FC2B06-F41C-F618-36D7-CA90AC021381}"/>
                  </a:ext>
                </a:extLst>
              </p:cNvPr>
              <p:cNvSpPr txBox="1"/>
              <p:nvPr/>
            </p:nvSpPr>
            <p:spPr bwMode="auto">
              <a:xfrm>
                <a:off x="2389782" y="3316218"/>
                <a:ext cx="4531718" cy="1077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26FC2B06-F41C-F618-36D7-CA90AC021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9782" y="3316218"/>
                <a:ext cx="4531718" cy="10779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5">
            <a:extLst>
              <a:ext uri="{FF2B5EF4-FFF2-40B4-BE49-F238E27FC236}">
                <a16:creationId xmlns:a16="http://schemas.microsoft.com/office/drawing/2014/main" id="{EB57A581-02BF-3274-216B-5AF0B3ACA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117" y="4539219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若这两个偏导数仍存在偏导数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,</a:t>
            </a:r>
            <a:endParaRPr kumimoji="1" lang="zh-CN" altLang="en-US" sz="2800" dirty="0">
              <a:solidFill>
                <a:prstClr val="black"/>
              </a:solidFill>
              <a:latin typeface="Cambria Math" panose="02040503050406030204" pitchFamily="18" charset="0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0">
                <a:extLst>
                  <a:ext uri="{FF2B5EF4-FFF2-40B4-BE49-F238E27FC236}">
                    <a16:creationId xmlns:a16="http://schemas.microsoft.com/office/drawing/2014/main" id="{026F9638-6A04-3E4F-84FA-B11F5B1521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9355" y="4539219"/>
                <a:ext cx="392294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则称它们是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)</a:t>
                </a:r>
                <a:endParaRPr kumimoji="1" lang="en-US" altLang="zh-CN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Text Box 10">
                <a:extLst>
                  <a:ext uri="{FF2B5EF4-FFF2-40B4-BE49-F238E27FC236}">
                    <a16:creationId xmlns:a16="http://schemas.microsoft.com/office/drawing/2014/main" id="{026F9638-6A04-3E4F-84FA-B11F5B152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9355" y="4539219"/>
                <a:ext cx="3922949" cy="523220"/>
              </a:xfrm>
              <a:prstGeom prst="rect">
                <a:avLst/>
              </a:prstGeom>
              <a:blipFill>
                <a:blip r:embed="rId5"/>
                <a:stretch>
                  <a:fillRect l="-3106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1">
            <a:extLst>
              <a:ext uri="{FF2B5EF4-FFF2-40B4-BE49-F238E27FC236}">
                <a16:creationId xmlns:a16="http://schemas.microsoft.com/office/drawing/2014/main" id="{442843CD-10CF-B6BE-B076-357C3B8C1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852" y="5343441"/>
            <a:ext cx="251764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二阶偏导数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836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  <p:bldP spid="6" grpId="0" autoUpdateAnimBg="0"/>
      <p:bldP spid="7" grpId="0" autoUpdateAnimBg="0"/>
      <p:bldP spid="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12">
                <a:extLst>
                  <a:ext uri="{FF2B5EF4-FFF2-40B4-BE49-F238E27FC236}">
                    <a16:creationId xmlns:a16="http://schemas.microsoft.com/office/drawing/2014/main" id="{1DC5890B-9FD2-5D36-4CA5-C66AE26F2B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5927" y="1101416"/>
                <a:ext cx="625062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按求导顺序不同</a:t>
                </a:r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, 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/>
                    <a:cs typeface="+mn-ea"/>
                    <a:sym typeface="+mn-lt"/>
                  </a:rPr>
                  <a:t>有下列四个二阶偏导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" name="Text Box 12">
                <a:extLst>
                  <a:ext uri="{FF2B5EF4-FFF2-40B4-BE49-F238E27FC236}">
                    <a16:creationId xmlns:a16="http://schemas.microsoft.com/office/drawing/2014/main" id="{1DC5890B-9FD2-5D36-4CA5-C66AE26F2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5927" y="1101416"/>
                <a:ext cx="6250622" cy="523220"/>
              </a:xfrm>
              <a:prstGeom prst="rect">
                <a:avLst/>
              </a:prstGeom>
              <a:blipFill>
                <a:blip r:embed="rId3"/>
                <a:stretch>
                  <a:fillRect l="-1949" t="-16279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52328006-156D-2DE7-8063-814A178A2235}"/>
                  </a:ext>
                </a:extLst>
              </p:cNvPr>
              <p:cNvSpPr txBox="1"/>
              <p:nvPr/>
            </p:nvSpPr>
            <p:spPr bwMode="auto">
              <a:xfrm>
                <a:off x="1514976" y="1859415"/>
                <a:ext cx="4412297" cy="11361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52328006-156D-2DE7-8063-814A178A2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4976" y="1859415"/>
                <a:ext cx="4412297" cy="1136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32DA0EE4-4410-3E52-5FF7-63A5B72D7EF7}"/>
                  </a:ext>
                </a:extLst>
              </p:cNvPr>
              <p:cNvSpPr txBox="1"/>
              <p:nvPr/>
            </p:nvSpPr>
            <p:spPr bwMode="auto">
              <a:xfrm>
                <a:off x="6155873" y="1862196"/>
                <a:ext cx="4412297" cy="11500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32DA0EE4-4410-3E52-5FF7-63A5B72D7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5873" y="1862196"/>
                <a:ext cx="4412297" cy="11500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F819C9C9-3AD0-C541-0259-541BD099536C}"/>
                  </a:ext>
                </a:extLst>
              </p:cNvPr>
              <p:cNvSpPr txBox="1"/>
              <p:nvPr/>
            </p:nvSpPr>
            <p:spPr bwMode="auto">
              <a:xfrm>
                <a:off x="1514976" y="3592822"/>
                <a:ext cx="4550176" cy="11361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F819C9C9-3AD0-C541-0259-541BD0995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4976" y="3592822"/>
                <a:ext cx="4550176" cy="11361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9DAE4F7C-E1E9-1993-4A1F-516B94EAB982}"/>
                  </a:ext>
                </a:extLst>
              </p:cNvPr>
              <p:cNvSpPr txBox="1"/>
              <p:nvPr/>
            </p:nvSpPr>
            <p:spPr bwMode="auto">
              <a:xfrm>
                <a:off x="6155873" y="3590127"/>
                <a:ext cx="4838700" cy="11361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9DAE4F7C-E1E9-1993-4A1F-516B94EAB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5873" y="3590127"/>
                <a:ext cx="4838700" cy="11361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6">
            <a:extLst>
              <a:ext uri="{FF2B5EF4-FFF2-40B4-BE49-F238E27FC236}">
                <a16:creationId xmlns:a16="http://schemas.microsoft.com/office/drawing/2014/main" id="{78829989-5B9F-E965-68BD-093B1B22B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5875" y="2846211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+mn-ea"/>
              </a:rPr>
              <a:t>纯偏导</a:t>
            </a:r>
          </a:p>
        </p:txBody>
      </p:sp>
      <p:sp>
        <p:nvSpPr>
          <p:cNvPr id="8" name="Text Box 17">
            <a:extLst>
              <a:ext uri="{FF2B5EF4-FFF2-40B4-BE49-F238E27FC236}">
                <a16:creationId xmlns:a16="http://schemas.microsoft.com/office/drawing/2014/main" id="{5765D902-B227-2CAD-403A-A15FBCAA2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1459" y="4592485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+mn-ea"/>
              </a:rPr>
              <a:t>混合偏导</a:t>
            </a:r>
          </a:p>
        </p:txBody>
      </p:sp>
      <p:sp>
        <p:nvSpPr>
          <p:cNvPr id="9" name="Rectangle 96">
            <a:extLst>
              <a:ext uri="{FF2B5EF4-FFF2-40B4-BE49-F238E27FC236}">
                <a16:creationId xmlns:a16="http://schemas.microsoft.com/office/drawing/2014/main" id="{5B932D60-B151-E0B8-BE8C-AE8E531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401" y="5197784"/>
            <a:ext cx="5867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</a:rPr>
              <a:t>类似可以定义更高阶的偏导数</a:t>
            </a:r>
            <a:r>
              <a:rPr kumimoji="1" lang="en-US" altLang="zh-CN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87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58291373-2A8A-5A84-53A1-CD1154A2ADDA}"/>
                  </a:ext>
                </a:extLst>
              </p:cNvPr>
              <p:cNvSpPr txBox="1"/>
              <p:nvPr/>
            </p:nvSpPr>
            <p:spPr bwMode="auto">
              <a:xfrm>
                <a:off x="2129293" y="2231845"/>
                <a:ext cx="3024789" cy="12704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58291373-2A8A-5A84-53A1-CD1154A2A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9293" y="2231845"/>
                <a:ext cx="3024789" cy="12704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19944B30-11AA-92CC-C05E-0BB68E2BEAE0}"/>
                  </a:ext>
                </a:extLst>
              </p:cNvPr>
              <p:cNvSpPr txBox="1"/>
              <p:nvPr/>
            </p:nvSpPr>
            <p:spPr bwMode="auto">
              <a:xfrm>
                <a:off x="2129293" y="4224107"/>
                <a:ext cx="4045241" cy="12155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𝑛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𝑧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​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𝑛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/>
                                      <a:cs typeface="+mn-ea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𝑛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/>
                                  <a:cs typeface="+mn-ea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𝜕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​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19944B30-11AA-92CC-C05E-0BB68E2BE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9293" y="4224107"/>
                <a:ext cx="4045241" cy="12155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1">
                <a:extLst>
                  <a:ext uri="{FF2B5EF4-FFF2-40B4-BE49-F238E27FC236}">
                    <a16:creationId xmlns:a16="http://schemas.microsoft.com/office/drawing/2014/main" id="{17057420-C9AB-E572-FB12-160F5DDFB740}"/>
                  </a:ext>
                </a:extLst>
              </p:cNvPr>
              <p:cNvSpPr txBox="1"/>
              <p:nvPr/>
            </p:nvSpPr>
            <p:spPr>
              <a:xfrm>
                <a:off x="1331819" y="1455744"/>
                <a:ext cx="5556250" cy="57879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关于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的三阶偏导数为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5" name="对象 1">
                <a:extLst>
                  <a:ext uri="{FF2B5EF4-FFF2-40B4-BE49-F238E27FC236}">
                    <a16:creationId xmlns:a16="http://schemas.microsoft.com/office/drawing/2014/main" id="{17057420-C9AB-E572-FB12-160F5DDFB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19" y="1455744"/>
                <a:ext cx="5556250" cy="578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2">
                <a:extLst>
                  <a:ext uri="{FF2B5EF4-FFF2-40B4-BE49-F238E27FC236}">
                    <a16:creationId xmlns:a16="http://schemas.microsoft.com/office/drawing/2014/main" id="{13509418-714B-0BD3-05B3-8EC0F9E6ABBC}"/>
                  </a:ext>
                </a:extLst>
              </p:cNvPr>
              <p:cNvSpPr txBox="1"/>
              <p:nvPr/>
            </p:nvSpPr>
            <p:spPr>
              <a:xfrm>
                <a:off x="1331819" y="3494513"/>
                <a:ext cx="9821956" cy="57879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𝑦</m:t>
                          </m:r>
                        </m:e>
                      </m:d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关于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的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−1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阶偏导数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再关于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𝑦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的一阶偏导数为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6" name="对象 2">
                <a:extLst>
                  <a:ext uri="{FF2B5EF4-FFF2-40B4-BE49-F238E27FC236}">
                    <a16:creationId xmlns:a16="http://schemas.microsoft.com/office/drawing/2014/main" id="{13509418-714B-0BD3-05B3-8EC0F9E6A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19" y="3494513"/>
                <a:ext cx="9821956" cy="5787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3">
            <a:extLst>
              <a:ext uri="{FF2B5EF4-FFF2-40B4-BE49-F238E27FC236}">
                <a16:creationId xmlns:a16="http://schemas.microsoft.com/office/drawing/2014/main" id="{16D42C26-7D70-5ECF-645C-2BF066102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819" y="5463446"/>
            <a:ext cx="822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/>
                <a:cs typeface="+mn-ea"/>
              </a:rPr>
              <a:t>二阶及二阶以上的偏导数统称为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pitchFamily="18" charset="0"/>
                <a:ea typeface="黑体"/>
                <a:cs typeface="+mn-ea"/>
              </a:rPr>
              <a:t>高阶偏导数.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C054552-CF46-3265-9BD4-ABCA3A821059}"/>
              </a:ext>
            </a:extLst>
          </p:cNvPr>
          <p:cNvGrpSpPr/>
          <p:nvPr/>
        </p:nvGrpSpPr>
        <p:grpSpPr>
          <a:xfrm>
            <a:off x="1417325" y="875633"/>
            <a:ext cx="962025" cy="448945"/>
            <a:chOff x="1553" y="3803"/>
            <a:chExt cx="1515" cy="707"/>
          </a:xfrm>
        </p:grpSpPr>
        <p:sp>
          <p:nvSpPr>
            <p:cNvPr id="9" name="圆角矩形 57">
              <a:extLst>
                <a:ext uri="{FF2B5EF4-FFF2-40B4-BE49-F238E27FC236}">
                  <a16:creationId xmlns:a16="http://schemas.microsoft.com/office/drawing/2014/main" id="{13A1FD95-5F12-DD40-53ED-49AD7195D939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28">
              <a:extLst>
                <a:ext uri="{FF2B5EF4-FFF2-40B4-BE49-F238E27FC236}">
                  <a16:creationId xmlns:a16="http://schemas.microsoft.com/office/drawing/2014/main" id="{CC809538-DEAC-1BC9-8FE7-E06A9D00B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171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508001" y="536260"/>
                <a:ext cx="11188700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1" y="536260"/>
                <a:ext cx="11188700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508000" y="53626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1026500" y="53626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508001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102650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12">
            <a:extLst>
              <a:ext uri="{FF2B5EF4-FFF2-40B4-BE49-F238E27FC236}">
                <a16:creationId xmlns:a16="http://schemas.microsoft.com/office/drawing/2014/main" id="{F31AFCEB-8A05-BE16-2856-21F457422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62" y="248652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3">
                <a:extLst>
                  <a:ext uri="{FF2B5EF4-FFF2-40B4-BE49-F238E27FC236}">
                    <a16:creationId xmlns:a16="http://schemas.microsoft.com/office/drawing/2014/main" id="{28C0681F-EC0D-299C-4D62-9BCA5416CF77}"/>
                  </a:ext>
                </a:extLst>
              </p:cNvPr>
              <p:cNvSpPr txBox="1"/>
              <p:nvPr/>
            </p:nvSpPr>
            <p:spPr bwMode="auto">
              <a:xfrm>
                <a:off x="1690759" y="2392485"/>
                <a:ext cx="4572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13">
                <a:extLst>
                  <a:ext uri="{FF2B5EF4-FFF2-40B4-BE49-F238E27FC236}">
                    <a16:creationId xmlns:a16="http://schemas.microsoft.com/office/drawing/2014/main" id="{28C0681F-EC0D-299C-4D62-9BCA5416C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759" y="2392485"/>
                <a:ext cx="457200" cy="889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4">
                <a:extLst>
                  <a:ext uri="{FF2B5EF4-FFF2-40B4-BE49-F238E27FC236}">
                    <a16:creationId xmlns:a16="http://schemas.microsoft.com/office/drawing/2014/main" id="{B19A4EE0-070D-A688-C3F6-A51ABDE5D15C}"/>
                  </a:ext>
                </a:extLst>
              </p:cNvPr>
              <p:cNvSpPr txBox="1"/>
              <p:nvPr/>
            </p:nvSpPr>
            <p:spPr bwMode="auto">
              <a:xfrm>
                <a:off x="2110312" y="2562665"/>
                <a:ext cx="2619773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=3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−3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14">
                <a:extLst>
                  <a:ext uri="{FF2B5EF4-FFF2-40B4-BE49-F238E27FC236}">
                    <a16:creationId xmlns:a16="http://schemas.microsoft.com/office/drawing/2014/main" id="{B19A4EE0-070D-A688-C3F6-A51ABDE5D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0312" y="2562665"/>
                <a:ext cx="2619773" cy="469900"/>
              </a:xfrm>
              <a:prstGeom prst="rect">
                <a:avLst/>
              </a:prstGeom>
              <a:blipFill>
                <a:blip r:embed="rId5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5">
                <a:extLst>
                  <a:ext uri="{FF2B5EF4-FFF2-40B4-BE49-F238E27FC236}">
                    <a16:creationId xmlns:a16="http://schemas.microsoft.com/office/drawing/2014/main" id="{829A2BAC-7993-4E9C-7B83-A369E2BCD85D}"/>
                  </a:ext>
                </a:extLst>
              </p:cNvPr>
              <p:cNvSpPr txBox="1"/>
              <p:nvPr/>
            </p:nvSpPr>
            <p:spPr bwMode="auto">
              <a:xfrm>
                <a:off x="4613005" y="2386540"/>
                <a:ext cx="430213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15">
                <a:extLst>
                  <a:ext uri="{FF2B5EF4-FFF2-40B4-BE49-F238E27FC236}">
                    <a16:creationId xmlns:a16="http://schemas.microsoft.com/office/drawing/2014/main" id="{829A2BAC-7993-4E9C-7B83-A369E2BCD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3005" y="2386540"/>
                <a:ext cx="430213" cy="965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646C8769-0D05-97C5-A13D-0205813812C3}"/>
                  </a:ext>
                </a:extLst>
              </p:cNvPr>
              <p:cNvSpPr txBox="1"/>
              <p:nvPr/>
            </p:nvSpPr>
            <p:spPr bwMode="auto">
              <a:xfrm>
                <a:off x="5006975" y="2566880"/>
                <a:ext cx="2768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−9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646C8769-0D05-97C5-A13D-020581381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6975" y="2566880"/>
                <a:ext cx="2768600" cy="469900"/>
              </a:xfrm>
              <a:prstGeom prst="rect">
                <a:avLst/>
              </a:prstGeom>
              <a:blipFill>
                <a:blip r:embed="rId7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0">
                <a:extLst>
                  <a:ext uri="{FF2B5EF4-FFF2-40B4-BE49-F238E27FC236}">
                    <a16:creationId xmlns:a16="http://schemas.microsoft.com/office/drawing/2014/main" id="{6E2269A1-F08F-5A14-4D96-A4823313C170}"/>
                  </a:ext>
                </a:extLst>
              </p:cNvPr>
              <p:cNvSpPr txBox="1"/>
              <p:nvPr/>
            </p:nvSpPr>
            <p:spPr bwMode="auto">
              <a:xfrm>
                <a:off x="1690759" y="3370869"/>
                <a:ext cx="609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30">
                <a:extLst>
                  <a:ext uri="{FF2B5EF4-FFF2-40B4-BE49-F238E27FC236}">
                    <a16:creationId xmlns:a16="http://schemas.microsoft.com/office/drawing/2014/main" id="{6E2269A1-F08F-5A14-4D96-A4823313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759" y="3370869"/>
                <a:ext cx="609600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1">
                <a:extLst>
                  <a:ext uri="{FF2B5EF4-FFF2-40B4-BE49-F238E27FC236}">
                    <a16:creationId xmlns:a16="http://schemas.microsoft.com/office/drawing/2014/main" id="{29275EA1-03F9-0A2C-B820-97BB1CC09A40}"/>
                  </a:ext>
                </a:extLst>
              </p:cNvPr>
              <p:cNvSpPr txBox="1"/>
              <p:nvPr/>
            </p:nvSpPr>
            <p:spPr bwMode="auto">
              <a:xfrm>
                <a:off x="2256573" y="3585182"/>
                <a:ext cx="1117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=6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31">
                <a:extLst>
                  <a:ext uri="{FF2B5EF4-FFF2-40B4-BE49-F238E27FC236}">
                    <a16:creationId xmlns:a16="http://schemas.microsoft.com/office/drawing/2014/main" id="{29275EA1-03F9-0A2C-B820-97BB1CC09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6573" y="3585182"/>
                <a:ext cx="1117600" cy="469900"/>
              </a:xfrm>
              <a:prstGeom prst="rect">
                <a:avLst/>
              </a:prstGeom>
              <a:blipFill>
                <a:blip r:embed="rId9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2">
                <a:extLst>
                  <a:ext uri="{FF2B5EF4-FFF2-40B4-BE49-F238E27FC236}">
                    <a16:creationId xmlns:a16="http://schemas.microsoft.com/office/drawing/2014/main" id="{8F6AB12A-6189-AD17-2F67-7150110E2232}"/>
                  </a:ext>
                </a:extLst>
              </p:cNvPr>
              <p:cNvSpPr txBox="1"/>
              <p:nvPr/>
            </p:nvSpPr>
            <p:spPr bwMode="auto">
              <a:xfrm>
                <a:off x="1690759" y="4609705"/>
                <a:ext cx="596900" cy="1001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32">
                <a:extLst>
                  <a:ext uri="{FF2B5EF4-FFF2-40B4-BE49-F238E27FC236}">
                    <a16:creationId xmlns:a16="http://schemas.microsoft.com/office/drawing/2014/main" id="{8F6AB12A-6189-AD17-2F67-7150110E2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759" y="4609705"/>
                <a:ext cx="596900" cy="10017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33">
                <a:extLst>
                  <a:ext uri="{FF2B5EF4-FFF2-40B4-BE49-F238E27FC236}">
                    <a16:creationId xmlns:a16="http://schemas.microsoft.com/office/drawing/2014/main" id="{DFB14C2B-B15A-78ED-D918-F61F12265887}"/>
                  </a:ext>
                </a:extLst>
              </p:cNvPr>
              <p:cNvSpPr txBox="1"/>
              <p:nvPr/>
            </p:nvSpPr>
            <p:spPr bwMode="auto">
              <a:xfrm>
                <a:off x="2264363" y="4825754"/>
                <a:ext cx="2006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=2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−18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Object 33">
                <a:extLst>
                  <a:ext uri="{FF2B5EF4-FFF2-40B4-BE49-F238E27FC236}">
                    <a16:creationId xmlns:a16="http://schemas.microsoft.com/office/drawing/2014/main" id="{DFB14C2B-B15A-78ED-D918-F61F12265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4363" y="4825754"/>
                <a:ext cx="2006600" cy="469900"/>
              </a:xfrm>
              <a:prstGeom prst="rect">
                <a:avLst/>
              </a:prstGeom>
              <a:blipFill>
                <a:blip r:embed="rId11"/>
                <a:stretch>
                  <a:fillRect b="-77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34">
                <a:extLst>
                  <a:ext uri="{FF2B5EF4-FFF2-40B4-BE49-F238E27FC236}">
                    <a16:creationId xmlns:a16="http://schemas.microsoft.com/office/drawing/2014/main" id="{77367521-A710-75BB-2311-F8552869BDF2}"/>
                  </a:ext>
                </a:extLst>
              </p:cNvPr>
              <p:cNvSpPr txBox="1"/>
              <p:nvPr/>
            </p:nvSpPr>
            <p:spPr bwMode="auto">
              <a:xfrm>
                <a:off x="4148435" y="4609705"/>
                <a:ext cx="6096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2" name="Object 34">
                <a:extLst>
                  <a:ext uri="{FF2B5EF4-FFF2-40B4-BE49-F238E27FC236}">
                    <a16:creationId xmlns:a16="http://schemas.microsoft.com/office/drawing/2014/main" id="{77367521-A710-75BB-2311-F8552869B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8435" y="4609705"/>
                <a:ext cx="609600" cy="9271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5">
                <a:extLst>
                  <a:ext uri="{FF2B5EF4-FFF2-40B4-BE49-F238E27FC236}">
                    <a16:creationId xmlns:a16="http://schemas.microsoft.com/office/drawing/2014/main" id="{1A61566C-A2F1-E7F8-5A28-FB7CD3ACF2EC}"/>
                  </a:ext>
                </a:extLst>
              </p:cNvPr>
              <p:cNvSpPr txBox="1"/>
              <p:nvPr/>
            </p:nvSpPr>
            <p:spPr bwMode="auto">
              <a:xfrm>
                <a:off x="4666585" y="4822990"/>
                <a:ext cx="9525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=6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Object 35">
                <a:extLst>
                  <a:ext uri="{FF2B5EF4-FFF2-40B4-BE49-F238E27FC236}">
                    <a16:creationId xmlns:a16="http://schemas.microsoft.com/office/drawing/2014/main" id="{1A61566C-A2F1-E7F8-5A28-FB7CD3ACF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6585" y="4822990"/>
                <a:ext cx="952500" cy="469900"/>
              </a:xfrm>
              <a:prstGeom prst="rect">
                <a:avLst/>
              </a:prstGeom>
              <a:blipFill>
                <a:blip r:embed="rId13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7">
                <a:extLst>
                  <a:ext uri="{FF2B5EF4-FFF2-40B4-BE49-F238E27FC236}">
                    <a16:creationId xmlns:a16="http://schemas.microsoft.com/office/drawing/2014/main" id="{BC66D862-B1F6-EDF6-5973-6E2320556FD2}"/>
                  </a:ext>
                </a:extLst>
              </p:cNvPr>
              <p:cNvSpPr txBox="1"/>
              <p:nvPr/>
            </p:nvSpPr>
            <p:spPr bwMode="auto">
              <a:xfrm>
                <a:off x="3367067" y="3371719"/>
                <a:ext cx="811213" cy="1001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Object 37">
                <a:extLst>
                  <a:ext uri="{FF2B5EF4-FFF2-40B4-BE49-F238E27FC236}">
                    <a16:creationId xmlns:a16="http://schemas.microsoft.com/office/drawing/2014/main" id="{BC66D862-B1F6-EDF6-5973-6E2320556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7067" y="3371719"/>
                <a:ext cx="811213" cy="10017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38">
                <a:extLst>
                  <a:ext uri="{FF2B5EF4-FFF2-40B4-BE49-F238E27FC236}">
                    <a16:creationId xmlns:a16="http://schemas.microsoft.com/office/drawing/2014/main" id="{06E5A8F6-96AC-A959-73AE-82BB94748E2A}"/>
                  </a:ext>
                </a:extLst>
              </p:cNvPr>
              <p:cNvSpPr txBox="1"/>
              <p:nvPr/>
            </p:nvSpPr>
            <p:spPr bwMode="auto">
              <a:xfrm>
                <a:off x="4069465" y="3584763"/>
                <a:ext cx="2501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=6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−9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Object 38">
                <a:extLst>
                  <a:ext uri="{FF2B5EF4-FFF2-40B4-BE49-F238E27FC236}">
                    <a16:creationId xmlns:a16="http://schemas.microsoft.com/office/drawing/2014/main" id="{06E5A8F6-96AC-A959-73AE-82BB94748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9465" y="3584763"/>
                <a:ext cx="2501900" cy="469900"/>
              </a:xfrm>
              <a:prstGeom prst="rect">
                <a:avLst/>
              </a:prstGeom>
              <a:blipFill>
                <a:blip r:embed="rId15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9">
                <a:extLst>
                  <a:ext uri="{FF2B5EF4-FFF2-40B4-BE49-F238E27FC236}">
                    <a16:creationId xmlns:a16="http://schemas.microsoft.com/office/drawing/2014/main" id="{7A7428C1-23C5-280B-7E52-E64BC6E6E98C}"/>
                  </a:ext>
                </a:extLst>
              </p:cNvPr>
              <p:cNvSpPr txBox="1"/>
              <p:nvPr/>
            </p:nvSpPr>
            <p:spPr bwMode="auto">
              <a:xfrm>
                <a:off x="6426146" y="3369594"/>
                <a:ext cx="811213" cy="1001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Object 39">
                <a:extLst>
                  <a:ext uri="{FF2B5EF4-FFF2-40B4-BE49-F238E27FC236}">
                    <a16:creationId xmlns:a16="http://schemas.microsoft.com/office/drawing/2014/main" id="{7A7428C1-23C5-280B-7E52-E64BC6E6E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6146" y="3369594"/>
                <a:ext cx="811213" cy="100171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40">
                <a:extLst>
                  <a:ext uri="{FF2B5EF4-FFF2-40B4-BE49-F238E27FC236}">
                    <a16:creationId xmlns:a16="http://schemas.microsoft.com/office/drawing/2014/main" id="{DE395EC1-7A0D-29C5-B697-B10B537454F3}"/>
                  </a:ext>
                </a:extLst>
              </p:cNvPr>
              <p:cNvSpPr txBox="1"/>
              <p:nvPr/>
            </p:nvSpPr>
            <p:spPr bwMode="auto">
              <a:xfrm>
                <a:off x="7095134" y="3587938"/>
                <a:ext cx="2514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=6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−9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−1,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7" name="Object 40">
                <a:extLst>
                  <a:ext uri="{FF2B5EF4-FFF2-40B4-BE49-F238E27FC236}">
                    <a16:creationId xmlns:a16="http://schemas.microsoft.com/office/drawing/2014/main" id="{DE395EC1-7A0D-29C5-B697-B10B53745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5134" y="3587938"/>
                <a:ext cx="2514600" cy="469900"/>
              </a:xfrm>
              <a:prstGeom prst="rect">
                <a:avLst/>
              </a:prstGeom>
              <a:blipFill>
                <a:blip r:embed="rId17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18">
                <a:extLst>
                  <a:ext uri="{FF2B5EF4-FFF2-40B4-BE49-F238E27FC236}">
                    <a16:creationId xmlns:a16="http://schemas.microsoft.com/office/drawing/2014/main" id="{43283147-5CBA-0AF7-2326-C2EAC6DEE3E7}"/>
                  </a:ext>
                </a:extLst>
              </p:cNvPr>
              <p:cNvSpPr txBox="1"/>
              <p:nvPr/>
            </p:nvSpPr>
            <p:spPr>
              <a:xfrm>
                <a:off x="1661251" y="1555082"/>
                <a:ext cx="4829773" cy="56312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设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−3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+1,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对象 18">
                <a:extLst>
                  <a:ext uri="{FF2B5EF4-FFF2-40B4-BE49-F238E27FC236}">
                    <a16:creationId xmlns:a16="http://schemas.microsoft.com/office/drawing/2014/main" id="{43283147-5CBA-0AF7-2326-C2EAC6DEE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251" y="1555082"/>
                <a:ext cx="4829773" cy="56312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19">
                <a:extLst>
                  <a:ext uri="{FF2B5EF4-FFF2-40B4-BE49-F238E27FC236}">
                    <a16:creationId xmlns:a16="http://schemas.microsoft.com/office/drawing/2014/main" id="{AED077F0-A514-470B-4514-4A391C08A478}"/>
                  </a:ext>
                </a:extLst>
              </p:cNvPr>
              <p:cNvSpPr txBox="1"/>
              <p:nvPr/>
            </p:nvSpPr>
            <p:spPr>
              <a:xfrm>
                <a:off x="6298520" y="1293271"/>
                <a:ext cx="5236256" cy="12536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求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及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对象 19">
                <a:extLst>
                  <a:ext uri="{FF2B5EF4-FFF2-40B4-BE49-F238E27FC236}">
                    <a16:creationId xmlns:a16="http://schemas.microsoft.com/office/drawing/2014/main" id="{AED077F0-A514-470B-4514-4A391C08A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520" y="1293271"/>
                <a:ext cx="5236256" cy="125365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7">
                <a:extLst>
                  <a:ext uri="{FF2B5EF4-FFF2-40B4-BE49-F238E27FC236}">
                    <a16:creationId xmlns:a16="http://schemas.microsoft.com/office/drawing/2014/main" id="{37C805AE-3D2A-2FA8-21C6-4B5C274AFD40}"/>
                  </a:ext>
                </a:extLst>
              </p:cNvPr>
              <p:cNvSpPr txBox="1"/>
              <p:nvPr/>
            </p:nvSpPr>
            <p:spPr bwMode="auto">
              <a:xfrm>
                <a:off x="6739274" y="4620592"/>
                <a:ext cx="2585701" cy="86414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发现</m:t>
                      </m:r>
                      <m:r>
                        <m:rPr>
                          <m:nor/>
                        </m:rPr>
                        <a:rPr kumimoji="1" lang="zh-CN" altLang="en-US" sz="2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</m:t>
                      </m:r>
                      <m:r>
                        <m:rPr>
                          <m:nor/>
                        </m:rPr>
                        <a:rPr kumimoji="1" lang="en-US" altLang="zh-CN" sz="2200" b="0" i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1" name="Object 17">
                <a:extLst>
                  <a:ext uri="{FF2B5EF4-FFF2-40B4-BE49-F238E27FC236}">
                    <a16:creationId xmlns:a16="http://schemas.microsoft.com/office/drawing/2014/main" id="{37C805AE-3D2A-2FA8-21C6-4B5C274AF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9274" y="4620592"/>
                <a:ext cx="2585701" cy="86414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4E3B3D1-33B6-02FC-C6DA-49D768EE3C83}"/>
              </a:ext>
            </a:extLst>
          </p:cNvPr>
          <p:cNvCxnSpPr>
            <a:cxnSpLocks/>
          </p:cNvCxnSpPr>
          <p:nvPr/>
        </p:nvCxnSpPr>
        <p:spPr>
          <a:xfrm>
            <a:off x="3452780" y="4274056"/>
            <a:ext cx="2881345" cy="0"/>
          </a:xfrm>
          <a:prstGeom prst="line">
            <a:avLst/>
          </a:prstGeom>
          <a:ln w="19050"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9A464CB-F9DD-AEE4-F83F-A5F6E9376562}"/>
              </a:ext>
            </a:extLst>
          </p:cNvPr>
          <p:cNvCxnSpPr>
            <a:cxnSpLocks/>
          </p:cNvCxnSpPr>
          <p:nvPr/>
        </p:nvCxnSpPr>
        <p:spPr>
          <a:xfrm flipV="1">
            <a:off x="6521450" y="4259719"/>
            <a:ext cx="2803525" cy="16021"/>
          </a:xfrm>
          <a:prstGeom prst="line">
            <a:avLst/>
          </a:prstGeom>
          <a:ln w="19050"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12">
            <a:extLst>
              <a:ext uri="{FF2B5EF4-FFF2-40B4-BE49-F238E27FC236}">
                <a16:creationId xmlns:a16="http://schemas.microsoft.com/office/drawing/2014/main" id="{EB6A4B46-33AC-029C-18E7-0CAF2AE5B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94" y="1544371"/>
            <a:ext cx="100427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958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 animBg="1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81A1B7B-4158-C4D1-6D21-D0ABFE0E2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161" y="839787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F1914524-C399-A946-AB06-960A665AE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8961" y="839786"/>
            <a:ext cx="451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混合偏导数都相等吗？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E4F83EAC-AA2E-4CC8-F52D-965C740558B5}"/>
                  </a:ext>
                </a:extLst>
              </p:cNvPr>
              <p:cNvSpPr txBox="1"/>
              <p:nvPr/>
            </p:nvSpPr>
            <p:spPr bwMode="auto">
              <a:xfrm>
                <a:off x="2854588" y="406400"/>
                <a:ext cx="6657711" cy="3351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设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 i="1" smtClean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800" i="1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 i="1">
                                          <a:latin typeface="Cambria Math" panose="02040503050406030204" charset="0"/>
                                          <a:ea typeface="黑体" panose="02010609060101010101" pitchFamily="49" charset="-122"/>
                                          <a:cs typeface="Cambria Math" panose="0204050305040603020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)≠(0,0),</m:t>
                              </m:r>
                            </m:e>
                            <m:e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&amp;0,  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  </m:t>
                              </m:r>
                              <m:r>
                                <a:rPr kumimoji="1" lang="zh-CN" altLang="en-US" sz="2800" i="1" smtClean="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800" i="1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)=(0,0).</m:t>
                              </m:r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求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的二阶混合偏导数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E4F83EAC-AA2E-4CC8-F52D-965C74055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4588" y="406400"/>
                <a:ext cx="6657711" cy="33519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5">
            <a:extLst>
              <a:ext uri="{FF2B5EF4-FFF2-40B4-BE49-F238E27FC236}">
                <a16:creationId xmlns:a16="http://schemas.microsoft.com/office/drawing/2014/main" id="{F562AED1-4629-C6EB-CFF4-C83C9778E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161" y="1943670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例8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EE0FDA69-6663-513E-B9F4-05759A3E3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161" y="3745626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8866B19E-65C9-74D9-566F-F4ACBED1C01A}"/>
                  </a:ext>
                </a:extLst>
              </p:cNvPr>
              <p:cNvSpPr txBox="1"/>
              <p:nvPr/>
            </p:nvSpPr>
            <p:spPr bwMode="auto">
              <a:xfrm>
                <a:off x="2858961" y="3789282"/>
                <a:ext cx="26289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当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≠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0,0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时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8866B19E-65C9-74D9-566F-F4ACBED1C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8961" y="3789282"/>
                <a:ext cx="2628900" cy="431800"/>
              </a:xfrm>
              <a:prstGeom prst="rect">
                <a:avLst/>
              </a:prstGeom>
              <a:blipFill>
                <a:blip r:embed="rId5"/>
                <a:stretch>
                  <a:fillRect l="-1624" b="-128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314BB009-E297-B11D-7DB0-705CC2A1C559}"/>
                  </a:ext>
                </a:extLst>
              </p:cNvPr>
              <p:cNvSpPr txBox="1"/>
              <p:nvPr/>
            </p:nvSpPr>
            <p:spPr bwMode="auto">
              <a:xfrm>
                <a:off x="2858961" y="4382294"/>
                <a:ext cx="4724400" cy="877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)−2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314BB009-E297-B11D-7DB0-705CC2A1C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8961" y="4382294"/>
                <a:ext cx="4724400" cy="877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A1467E8E-CD6F-E5B0-08C1-963BB984B8D2}"/>
                  </a:ext>
                </a:extLst>
              </p:cNvPr>
              <p:cNvSpPr txBox="1"/>
              <p:nvPr/>
            </p:nvSpPr>
            <p:spPr bwMode="auto">
              <a:xfrm>
                <a:off x="7310325" y="4382294"/>
                <a:ext cx="3566545" cy="9889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A1467E8E-CD6F-E5B0-08C1-963BB984B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10325" y="4382294"/>
                <a:ext cx="3566545" cy="9889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427AEFB0-4632-44B1-C420-18478568C552}"/>
                  </a:ext>
                </a:extLst>
              </p:cNvPr>
              <p:cNvSpPr txBox="1"/>
              <p:nvPr/>
            </p:nvSpPr>
            <p:spPr bwMode="auto">
              <a:xfrm>
                <a:off x="2858961" y="5291101"/>
                <a:ext cx="4217988" cy="877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427AEFB0-4632-44B1-C420-18478568C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8961" y="5291101"/>
                <a:ext cx="4217988" cy="877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4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utoUpdateAnimBg="0"/>
      <p:bldP spid="12" grpId="0"/>
      <p:bldP spid="13" grpId="0"/>
      <p:bldP spid="14" grpId="0" autoUpdateAnimBg="0"/>
      <p:bldP spid="15" grpId="0"/>
      <p:bldP spid="16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1A50BB2-D8D4-BF08-D6FF-973B69637DC9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1A50BB2-D8D4-BF08-D6FF-973B69637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半闭框 13">
            <a:extLst>
              <a:ext uri="{FF2B5EF4-FFF2-40B4-BE49-F238E27FC236}">
                <a16:creationId xmlns:a16="http://schemas.microsoft.com/office/drawing/2014/main" id="{DD5E45EE-3ED7-1D42-CE23-92B41CA755AB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>
            <a:extLst>
              <a:ext uri="{FF2B5EF4-FFF2-40B4-BE49-F238E27FC236}">
                <a16:creationId xmlns:a16="http://schemas.microsoft.com/office/drawing/2014/main" id="{DA61E520-BC6C-32FA-E24D-1352EE02ACA6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9E6033F6-F10A-6674-06D7-9075E4167BD3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7" name="半闭框 16">
            <a:extLst>
              <a:ext uri="{FF2B5EF4-FFF2-40B4-BE49-F238E27FC236}">
                <a16:creationId xmlns:a16="http://schemas.microsoft.com/office/drawing/2014/main" id="{9B81E8C2-84F6-0F06-F6D4-7F8929AF200E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1F224CBD-6686-1061-4543-7AE7D7C4AD87}"/>
                  </a:ext>
                </a:extLst>
              </p:cNvPr>
              <p:cNvSpPr txBox="1"/>
              <p:nvPr/>
            </p:nvSpPr>
            <p:spPr bwMode="auto">
              <a:xfrm>
                <a:off x="2508600" y="835025"/>
                <a:ext cx="26289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当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0,0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时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1F224CBD-6686-1061-4543-7AE7D7C4A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835025"/>
                <a:ext cx="2628900" cy="431800"/>
              </a:xfrm>
              <a:prstGeom prst="rect">
                <a:avLst/>
              </a:prstGeom>
              <a:blipFill>
                <a:blip r:embed="rId4"/>
                <a:stretch>
                  <a:fillRect l="-1624" b="-112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81A85412-9DA3-87A0-7077-D30367BBBA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7788" y="807363"/>
                <a:ext cx="31242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Cambria Math" panose="02040503050406030204" charset="0"/>
                  </a:rPr>
                  <a:t>按定义可知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81A85412-9DA3-87A0-7077-D30367BBB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7788" y="807363"/>
                <a:ext cx="3124200" cy="461665"/>
              </a:xfrm>
              <a:prstGeom prst="rect">
                <a:avLst/>
              </a:prstGeom>
              <a:blipFill>
                <a:blip r:embed="rId5"/>
                <a:stretch>
                  <a:fillRect l="-2534" t="-6579" b="-210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B9377A4D-C66C-8410-C172-44E7B20FE4E9}"/>
                  </a:ext>
                </a:extLst>
              </p:cNvPr>
              <p:cNvSpPr txBox="1"/>
              <p:nvPr/>
            </p:nvSpPr>
            <p:spPr bwMode="auto">
              <a:xfrm>
                <a:off x="2508600" y="1524169"/>
                <a:ext cx="4209256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,0)−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(0,0)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B9377A4D-C66C-8410-C172-44E7B20FE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1524169"/>
                <a:ext cx="4209256" cy="838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87152087-59A5-5BAD-C9E6-183E9713BF68}"/>
                  </a:ext>
                </a:extLst>
              </p:cNvPr>
              <p:cNvSpPr txBox="1"/>
              <p:nvPr/>
            </p:nvSpPr>
            <p:spPr bwMode="auto">
              <a:xfrm>
                <a:off x="6543675" y="1530519"/>
                <a:ext cx="20193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87152087-59A5-5BAD-C9E6-183E9713B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3675" y="1530519"/>
                <a:ext cx="2019300" cy="838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587BF9C1-9741-F591-DBA5-BCEE928500D7}"/>
                  </a:ext>
                </a:extLst>
              </p:cNvPr>
              <p:cNvSpPr txBox="1"/>
              <p:nvPr/>
            </p:nvSpPr>
            <p:spPr bwMode="auto">
              <a:xfrm>
                <a:off x="2508600" y="2561795"/>
                <a:ext cx="46101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(0,0)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587BF9C1-9741-F591-DBA5-BCEE92850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2561795"/>
                <a:ext cx="461010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2AC361EA-8408-0104-8541-44A1DD71CB1E}"/>
                  </a:ext>
                </a:extLst>
              </p:cNvPr>
              <p:cNvSpPr txBox="1"/>
              <p:nvPr/>
            </p:nvSpPr>
            <p:spPr bwMode="auto">
              <a:xfrm>
                <a:off x="6543675" y="2569161"/>
                <a:ext cx="19812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2AC361EA-8408-0104-8541-44A1DD71C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3675" y="2569161"/>
                <a:ext cx="1981200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AF30B5BD-0E37-33E4-AE2A-F4D840FA97DC}"/>
                  </a:ext>
                </a:extLst>
              </p:cNvPr>
              <p:cNvSpPr txBox="1"/>
              <p:nvPr/>
            </p:nvSpPr>
            <p:spPr bwMode="auto">
              <a:xfrm>
                <a:off x="2508600" y="3627825"/>
                <a:ext cx="4340435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(0,0)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AF30B5BD-0E37-33E4-AE2A-F4D840FA9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3627825"/>
                <a:ext cx="4340435" cy="914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ED72C8F0-522C-6DE5-AD46-757908A4FAF7}"/>
                  </a:ext>
                </a:extLst>
              </p:cNvPr>
              <p:cNvSpPr txBox="1"/>
              <p:nvPr/>
            </p:nvSpPr>
            <p:spPr bwMode="auto">
              <a:xfrm>
                <a:off x="6758781" y="3795726"/>
                <a:ext cx="827088" cy="5409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=0,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ED72C8F0-522C-6DE5-AD46-757908A4F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781" y="3795726"/>
                <a:ext cx="827088" cy="5409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81FA37F6-82A3-2C5C-DB7B-8A4B171ABD37}"/>
                  </a:ext>
                </a:extLst>
              </p:cNvPr>
              <p:cNvSpPr txBox="1"/>
              <p:nvPr/>
            </p:nvSpPr>
            <p:spPr bwMode="auto">
              <a:xfrm>
                <a:off x="2508600" y="4721335"/>
                <a:ext cx="4340435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,0)−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(0,0)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Δ</m:t>
                              </m:r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81FA37F6-82A3-2C5C-DB7B-8A4B171AB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4721335"/>
                <a:ext cx="4340435" cy="8763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4F71E81E-1C9E-DBE8-7B46-EB5D39366A6B}"/>
                  </a:ext>
                </a:extLst>
              </p:cNvPr>
              <p:cNvSpPr txBox="1"/>
              <p:nvPr/>
            </p:nvSpPr>
            <p:spPr bwMode="auto">
              <a:xfrm>
                <a:off x="6758781" y="4909325"/>
                <a:ext cx="827088" cy="5409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=1.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4F71E81E-1C9E-DBE8-7B46-EB5D39366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781" y="4909325"/>
                <a:ext cx="827088" cy="5409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FC925719-D489-ACEC-1B9C-271279EA3465}"/>
                  </a:ext>
                </a:extLst>
              </p:cNvPr>
              <p:cNvSpPr txBox="1"/>
              <p:nvPr/>
            </p:nvSpPr>
            <p:spPr bwMode="auto">
              <a:xfrm>
                <a:off x="2508600" y="5662640"/>
                <a:ext cx="3587400" cy="466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显然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(0,0)≠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(0,0).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FC925719-D489-ACEC-1B9C-271279EA3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600" y="5662640"/>
                <a:ext cx="3587400" cy="466725"/>
              </a:xfrm>
              <a:prstGeom prst="rect">
                <a:avLst/>
              </a:prstGeom>
              <a:blipFill>
                <a:blip r:embed="rId14"/>
                <a:stretch>
                  <a:fillRect l="-1190" b="-92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19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10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">
                <a:extLst>
                  <a:ext uri="{FF2B5EF4-FFF2-40B4-BE49-F238E27FC236}">
                    <a16:creationId xmlns:a16="http://schemas.microsoft.com/office/drawing/2014/main" id="{DD28457E-A113-BAF1-6D6B-93DDC688FE02}"/>
                  </a:ext>
                </a:extLst>
              </p:cNvPr>
              <p:cNvSpPr txBox="1"/>
              <p:nvPr/>
            </p:nvSpPr>
            <p:spPr>
              <a:xfrm>
                <a:off x="2619331" y="2303517"/>
                <a:ext cx="7715157" cy="4953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若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和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都在点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连续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则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对象 1">
                <a:extLst>
                  <a:ext uri="{FF2B5EF4-FFF2-40B4-BE49-F238E27FC236}">
                    <a16:creationId xmlns:a16="http://schemas.microsoft.com/office/drawing/2014/main" id="{DD28457E-A113-BAF1-6D6B-93DDC688F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31" y="2303517"/>
                <a:ext cx="7715157" cy="495300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2">
                <a:extLst>
                  <a:ext uri="{FF2B5EF4-FFF2-40B4-BE49-F238E27FC236}">
                    <a16:creationId xmlns:a16="http://schemas.microsoft.com/office/drawing/2014/main" id="{CB890673-2877-E507-F4C8-E5B9381F9D17}"/>
                  </a:ext>
                </a:extLst>
              </p:cNvPr>
              <p:cNvSpPr txBox="1"/>
              <p:nvPr/>
            </p:nvSpPr>
            <p:spPr>
              <a:xfrm>
                <a:off x="2628148" y="2966417"/>
                <a:ext cx="4214858" cy="66138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7" name="对象 2">
                <a:extLst>
                  <a:ext uri="{FF2B5EF4-FFF2-40B4-BE49-F238E27FC236}">
                    <a16:creationId xmlns:a16="http://schemas.microsoft.com/office/drawing/2014/main" id="{CB890673-2877-E507-F4C8-E5B9381F9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148" y="2966417"/>
                <a:ext cx="4214858" cy="661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38">
            <a:hlinkClick r:id="" action="ppaction://noaction"/>
            <a:extLst>
              <a:ext uri="{FF2B5EF4-FFF2-40B4-BE49-F238E27FC236}">
                <a16:creationId xmlns:a16="http://schemas.microsoft.com/office/drawing/2014/main" id="{64784D9A-C184-8A8F-24F3-8F1B6F586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3758" y="2966417"/>
            <a:ext cx="16385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(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证明略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56">
                <a:extLst>
                  <a:ext uri="{FF2B5EF4-FFF2-40B4-BE49-F238E27FC236}">
                    <a16:creationId xmlns:a16="http://schemas.microsoft.com/office/drawing/2014/main" id="{5627E6E8-32A5-1A6D-A9CE-3C6B6661ED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4263" y="3833560"/>
                <a:ext cx="2627837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上述定理表明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9" name="Text Box 156">
                <a:extLst>
                  <a:ext uri="{FF2B5EF4-FFF2-40B4-BE49-F238E27FC236}">
                    <a16:creationId xmlns:a16="http://schemas.microsoft.com/office/drawing/2014/main" id="{5627E6E8-32A5-1A6D-A9CE-3C6B6661E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4263" y="3833560"/>
                <a:ext cx="2627837" cy="519113"/>
              </a:xfrm>
              <a:prstGeom prst="rect">
                <a:avLst/>
              </a:prstGeom>
              <a:blipFill>
                <a:blip r:embed="rId5"/>
                <a:stretch>
                  <a:fillRect l="-4872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57">
            <a:extLst>
              <a:ext uri="{FF2B5EF4-FFF2-40B4-BE49-F238E27FC236}">
                <a16:creationId xmlns:a16="http://schemas.microsoft.com/office/drawing/2014/main" id="{785EB83D-698E-FD07-1F4C-0828CE778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263" y="4378105"/>
            <a:ext cx="78602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二阶混合偏导数在连续的条件下与求导次序无关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.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58">
                <a:extLst>
                  <a:ext uri="{FF2B5EF4-FFF2-40B4-BE49-F238E27FC236}">
                    <a16:creationId xmlns:a16="http://schemas.microsoft.com/office/drawing/2014/main" id="{71567A3B-074D-18D4-CE72-C20E5DDECD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4263" y="4926130"/>
                <a:ext cx="950942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类似地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 高阶混合偏导数在连续的条件下也与求导次序无关</a:t>
                </a:r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+mn-lt"/>
                  </a:rPr>
                  <a:t>.</a:t>
                </a:r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1" name="Text Box 158">
                <a:extLst>
                  <a:ext uri="{FF2B5EF4-FFF2-40B4-BE49-F238E27FC236}">
                    <a16:creationId xmlns:a16="http://schemas.microsoft.com/office/drawing/2014/main" id="{71567A3B-074D-18D4-CE72-C20E5DDEC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4263" y="4926130"/>
                <a:ext cx="9509422" cy="523220"/>
              </a:xfrm>
              <a:prstGeom prst="rect">
                <a:avLst/>
              </a:prstGeom>
              <a:blipFill>
                <a:blip r:embed="rId6"/>
                <a:stretch>
                  <a:fillRect l="-1346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1">
            <a:extLst>
              <a:ext uri="{FF2B5EF4-FFF2-40B4-BE49-F238E27FC236}">
                <a16:creationId xmlns:a16="http://schemas.microsoft.com/office/drawing/2014/main" id="{525ED7EE-903B-7966-AAC0-F602B5AEF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263" y="5471347"/>
            <a:ext cx="82291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故求初等函数的高阶导数可以选择方便的求导顺序</a:t>
            </a:r>
            <a:r>
              <a:rPr kumimoji="1" lang="en-US" altLang="zh-CN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  <a:sym typeface="+mn-lt"/>
              </a:rPr>
              <a:t>.</a:t>
            </a:r>
            <a:endParaRPr kumimoji="1" lang="zh-CN" altLang="en-US" sz="2800" dirty="0">
              <a:latin typeface="Cambria Math" panose="02040503050406030204" charset="0"/>
              <a:ea typeface="黑体" panose="02010609060101010101" pitchFamily="49" charset="-122"/>
              <a:cs typeface="Cambria Math" panose="02040503050406030204" charset="0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3E73E98-11EF-FCA5-C1EE-0179B3C2D8E4}"/>
              </a:ext>
            </a:extLst>
          </p:cNvPr>
          <p:cNvGrpSpPr/>
          <p:nvPr/>
        </p:nvGrpSpPr>
        <p:grpSpPr>
          <a:xfrm>
            <a:off x="1280885" y="770127"/>
            <a:ext cx="9338047" cy="1209040"/>
            <a:chOff x="2046107" y="-1090192"/>
            <a:chExt cx="9338047" cy="120904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5E1D029-ABA4-4A1D-038D-041DCC6F4070}"/>
                </a:ext>
              </a:extLst>
            </p:cNvPr>
            <p:cNvSpPr/>
            <p:nvPr/>
          </p:nvSpPr>
          <p:spPr>
            <a:xfrm>
              <a:off x="2046107" y="-1001927"/>
              <a:ext cx="9338047" cy="913130"/>
            </a:xfrm>
            <a:prstGeom prst="rect">
              <a:avLst/>
            </a:prstGeom>
            <a:pattFill prst="lt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19050">
              <a:gradFill>
                <a:gsLst>
                  <a:gs pos="0">
                    <a:schemeClr val="bg1"/>
                  </a:gs>
                  <a:gs pos="20000">
                    <a:srgbClr val="A9D18E"/>
                  </a:gs>
                  <a:gs pos="100000">
                    <a:srgbClr val="04926A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6E4045E-CB1C-9F01-3876-BA2D9B3C33EC}"/>
                </a:ext>
              </a:extLst>
            </p:cNvPr>
            <p:cNvGrpSpPr/>
            <p:nvPr/>
          </p:nvGrpSpPr>
          <p:grpSpPr>
            <a:xfrm>
              <a:off x="2215443" y="-1090192"/>
              <a:ext cx="1054477" cy="1209040"/>
              <a:chOff x="3025443" y="848760"/>
              <a:chExt cx="1054477" cy="1209040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FFFB410-1DC8-199C-BC71-28909102519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 rot="900000">
                <a:off x="3522390" y="1097045"/>
                <a:ext cx="557530" cy="805180"/>
              </a:xfrm>
              <a:custGeom>
                <a:avLst/>
                <a:gdLst/>
                <a:ahLst/>
                <a:cxnLst/>
                <a:rect l="l" t="t" r="r" b="b"/>
                <a:pathLst>
                  <a:path w="562502" h="812155">
                    <a:moveTo>
                      <a:pt x="257655" y="620500"/>
                    </a:moveTo>
                    <a:cubicBezTo>
                      <a:pt x="319902" y="626389"/>
                      <a:pt x="353866" y="659088"/>
                      <a:pt x="359548" y="718598"/>
                    </a:cubicBezTo>
                    <a:cubicBezTo>
                      <a:pt x="353576" y="775122"/>
                      <a:pt x="319674" y="806308"/>
                      <a:pt x="257842" y="812155"/>
                    </a:cubicBezTo>
                    <a:cubicBezTo>
                      <a:pt x="195968" y="806349"/>
                      <a:pt x="162066" y="775101"/>
                      <a:pt x="156136" y="718411"/>
                    </a:cubicBezTo>
                    <a:cubicBezTo>
                      <a:pt x="161776" y="659026"/>
                      <a:pt x="195615" y="626389"/>
                      <a:pt x="257655" y="620500"/>
                    </a:cubicBezTo>
                    <a:close/>
                    <a:moveTo>
                      <a:pt x="284590" y="0"/>
                    </a:moveTo>
                    <a:cubicBezTo>
                      <a:pt x="464364" y="5433"/>
                      <a:pt x="556967" y="70417"/>
                      <a:pt x="562400" y="194952"/>
                    </a:cubicBezTo>
                    <a:cubicBezTo>
                      <a:pt x="565095" y="272916"/>
                      <a:pt x="514895" y="336822"/>
                      <a:pt x="411800" y="386669"/>
                    </a:cubicBezTo>
                    <a:cubicBezTo>
                      <a:pt x="319736" y="427932"/>
                      <a:pt x="278908" y="492999"/>
                      <a:pt x="289318" y="581870"/>
                    </a:cubicBezTo>
                    <a:lnTo>
                      <a:pt x="223566" y="581870"/>
                    </a:lnTo>
                    <a:cubicBezTo>
                      <a:pt x="215065" y="491921"/>
                      <a:pt x="239968" y="417689"/>
                      <a:pt x="298275" y="359175"/>
                    </a:cubicBezTo>
                    <a:cubicBezTo>
                      <a:pt x="362264" y="292822"/>
                      <a:pt x="391646" y="234660"/>
                      <a:pt x="386420" y="184688"/>
                    </a:cubicBezTo>
                    <a:cubicBezTo>
                      <a:pt x="386420" y="98140"/>
                      <a:pt x="351005" y="54865"/>
                      <a:pt x="280173" y="54865"/>
                    </a:cubicBezTo>
                    <a:cubicBezTo>
                      <a:pt x="225225" y="49681"/>
                      <a:pt x="190390" y="97663"/>
                      <a:pt x="175668" y="198809"/>
                    </a:cubicBezTo>
                    <a:cubicBezTo>
                      <a:pt x="169821" y="248573"/>
                      <a:pt x="139962" y="273455"/>
                      <a:pt x="86092" y="273455"/>
                    </a:cubicBezTo>
                    <a:cubicBezTo>
                      <a:pt x="28697" y="273455"/>
                      <a:pt x="0" y="248407"/>
                      <a:pt x="0" y="198311"/>
                    </a:cubicBezTo>
                    <a:cubicBezTo>
                      <a:pt x="13478" y="74232"/>
                      <a:pt x="108341" y="8128"/>
                      <a:pt x="2845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20000">
                    <a:srgbClr val="C5E0B4"/>
                  </a:gs>
                  <a:gs pos="100000">
                    <a:srgbClr val="04926A"/>
                  </a:gs>
                </a:gsLst>
                <a:lin ang="0" scaled="0"/>
              </a:gradFill>
              <a:ln>
                <a:noFill/>
              </a:ln>
              <a:effectLst>
                <a:outerShdw dist="63500" dir="2700000" algn="tl" rotWithShape="0">
                  <a:srgbClr val="E3F0DB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endParaRPr lang="zh-CN" altLang="en-US" sz="8000" b="1" dirty="0">
                  <a:latin typeface="方正粗雅宋_GBK" panose="02000000000000000000" pitchFamily="2" charset="-122"/>
                  <a:ea typeface="方正粗雅宋_GBK" panose="02000000000000000000" pitchFamily="2" charset="-122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7EE6C2D-3A7A-6B5E-13B0-2FD76E8A4E07}"/>
                  </a:ext>
                </a:extLst>
              </p:cNvPr>
              <p:cNvSpPr txBox="1"/>
              <p:nvPr/>
            </p:nvSpPr>
            <p:spPr>
              <a:xfrm>
                <a:off x="3025443" y="848760"/>
                <a:ext cx="837565" cy="1209040"/>
              </a:xfrm>
              <a:custGeom>
                <a:avLst/>
                <a:gdLst/>
                <a:ahLst/>
                <a:cxnLst/>
                <a:rect l="l" t="t" r="r" b="b"/>
                <a:pathLst>
                  <a:path w="562502" h="812155">
                    <a:moveTo>
                      <a:pt x="257655" y="620500"/>
                    </a:moveTo>
                    <a:cubicBezTo>
                      <a:pt x="319902" y="626389"/>
                      <a:pt x="353866" y="659088"/>
                      <a:pt x="359548" y="718598"/>
                    </a:cubicBezTo>
                    <a:cubicBezTo>
                      <a:pt x="353576" y="775122"/>
                      <a:pt x="319674" y="806308"/>
                      <a:pt x="257842" y="812155"/>
                    </a:cubicBezTo>
                    <a:cubicBezTo>
                      <a:pt x="195968" y="806349"/>
                      <a:pt x="162066" y="775101"/>
                      <a:pt x="156136" y="718411"/>
                    </a:cubicBezTo>
                    <a:cubicBezTo>
                      <a:pt x="161776" y="659026"/>
                      <a:pt x="195615" y="626389"/>
                      <a:pt x="257655" y="620500"/>
                    </a:cubicBezTo>
                    <a:close/>
                    <a:moveTo>
                      <a:pt x="284590" y="0"/>
                    </a:moveTo>
                    <a:cubicBezTo>
                      <a:pt x="464364" y="5433"/>
                      <a:pt x="556967" y="70417"/>
                      <a:pt x="562400" y="194952"/>
                    </a:cubicBezTo>
                    <a:cubicBezTo>
                      <a:pt x="565095" y="272916"/>
                      <a:pt x="514895" y="336822"/>
                      <a:pt x="411800" y="386669"/>
                    </a:cubicBezTo>
                    <a:cubicBezTo>
                      <a:pt x="319736" y="427932"/>
                      <a:pt x="278908" y="492999"/>
                      <a:pt x="289318" y="581870"/>
                    </a:cubicBezTo>
                    <a:lnTo>
                      <a:pt x="223566" y="581870"/>
                    </a:lnTo>
                    <a:cubicBezTo>
                      <a:pt x="215065" y="491921"/>
                      <a:pt x="239968" y="417689"/>
                      <a:pt x="298275" y="359175"/>
                    </a:cubicBezTo>
                    <a:cubicBezTo>
                      <a:pt x="362264" y="292822"/>
                      <a:pt x="391646" y="234660"/>
                      <a:pt x="386420" y="184688"/>
                    </a:cubicBezTo>
                    <a:cubicBezTo>
                      <a:pt x="386420" y="98140"/>
                      <a:pt x="351005" y="54865"/>
                      <a:pt x="280173" y="54865"/>
                    </a:cubicBezTo>
                    <a:cubicBezTo>
                      <a:pt x="225225" y="49681"/>
                      <a:pt x="190390" y="97663"/>
                      <a:pt x="175668" y="198809"/>
                    </a:cubicBezTo>
                    <a:cubicBezTo>
                      <a:pt x="169821" y="248573"/>
                      <a:pt x="139962" y="273455"/>
                      <a:pt x="86092" y="273455"/>
                    </a:cubicBezTo>
                    <a:cubicBezTo>
                      <a:pt x="28697" y="273455"/>
                      <a:pt x="0" y="248407"/>
                      <a:pt x="0" y="198311"/>
                    </a:cubicBezTo>
                    <a:cubicBezTo>
                      <a:pt x="13478" y="74232"/>
                      <a:pt x="108341" y="8128"/>
                      <a:pt x="2845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20000">
                    <a:srgbClr val="C5E0B4"/>
                  </a:gs>
                  <a:gs pos="100000">
                    <a:srgbClr val="04926A"/>
                  </a:gs>
                </a:gsLst>
                <a:lin ang="0" scaled="0"/>
              </a:gradFill>
              <a:ln>
                <a:noFill/>
              </a:ln>
              <a:effectLst>
                <a:outerShdw dist="63500" dir="2700000" algn="tl" rotWithShape="0">
                  <a:srgbClr val="E3F0DB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endParaRPr lang="zh-CN" altLang="en-US" sz="8000" b="1" dirty="0">
                  <a:latin typeface="方正粗雅宋_GBK" panose="02000000000000000000" pitchFamily="2" charset="-122"/>
                  <a:ea typeface="方正粗雅宋_GBK" panose="02000000000000000000" pitchFamily="2" charset="-122"/>
                </a:endParaRPr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ADB7237-A0CD-E134-F2D5-6CB3C21641D5}"/>
                </a:ext>
              </a:extLst>
            </p:cNvPr>
            <p:cNvSpPr/>
            <p:nvPr/>
          </p:nvSpPr>
          <p:spPr>
            <a:xfrm>
              <a:off x="3518008" y="-950894"/>
              <a:ext cx="1085850" cy="662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eaLnBrk="0" fontAlgn="base" hangingPunct="0">
                <a:lnSpc>
                  <a:spcPct val="150000"/>
                </a:lnSpc>
                <a:spcAft>
                  <a:spcPct val="0"/>
                </a:spcAft>
                <a:defRPr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问题</a:t>
              </a:r>
              <a:r>
                <a: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5" name="对象 5">
            <a:extLst>
              <a:ext uri="{FF2B5EF4-FFF2-40B4-BE49-F238E27FC236}">
                <a16:creationId xmlns:a16="http://schemas.microsoft.com/office/drawing/2014/main" id="{4BA32F58-2011-F20B-EE0D-9BBD8F1C2C17}"/>
              </a:ext>
            </a:extLst>
          </p:cNvPr>
          <p:cNvSpPr txBox="1"/>
          <p:nvPr/>
        </p:nvSpPr>
        <p:spPr>
          <a:xfrm>
            <a:off x="3710395" y="1053933"/>
            <a:ext cx="6591300" cy="51752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具备怎样的条件才能使混合偏导数相等？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7822990-3849-6A17-6FF9-EAC13A057AC5}"/>
              </a:ext>
            </a:extLst>
          </p:cNvPr>
          <p:cNvGrpSpPr/>
          <p:nvPr/>
        </p:nvGrpSpPr>
        <p:grpSpPr>
          <a:xfrm>
            <a:off x="1573478" y="2356557"/>
            <a:ext cx="871855" cy="449580"/>
            <a:chOff x="1553" y="3802"/>
            <a:chExt cx="1373" cy="708"/>
          </a:xfrm>
        </p:grpSpPr>
        <p:sp>
          <p:nvSpPr>
            <p:cNvPr id="27" name="圆角矩形 21">
              <a:extLst>
                <a:ext uri="{FF2B5EF4-FFF2-40B4-BE49-F238E27FC236}">
                  <a16:creationId xmlns:a16="http://schemas.microsoft.com/office/drawing/2014/main" id="{CFC924C4-F0F1-FBE9-B647-93FC2823B54C}"/>
                </a:ext>
              </a:extLst>
            </p:cNvPr>
            <p:cNvSpPr/>
            <p:nvPr/>
          </p:nvSpPr>
          <p:spPr>
            <a:xfrm>
              <a:off x="1553" y="3803"/>
              <a:ext cx="13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6B428292-B397-69F2-F756-B51C6908B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82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build="p" autoUpdateAnimBg="0" advAuto="0"/>
      <p:bldP spid="19" grpId="0"/>
      <p:bldP spid="20" grpId="0"/>
      <p:bldP spid="21" grpId="0"/>
      <p:bldP spid="22" grpId="0" autoUpdateAnimBg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1A50BB2-D8D4-BF08-D6FF-973B69637DC9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1A50BB2-D8D4-BF08-D6FF-973B69637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半闭框 13">
            <a:extLst>
              <a:ext uri="{FF2B5EF4-FFF2-40B4-BE49-F238E27FC236}">
                <a16:creationId xmlns:a16="http://schemas.microsoft.com/office/drawing/2014/main" id="{DD5E45EE-3ED7-1D42-CE23-92B41CA755AB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>
            <a:extLst>
              <a:ext uri="{FF2B5EF4-FFF2-40B4-BE49-F238E27FC236}">
                <a16:creationId xmlns:a16="http://schemas.microsoft.com/office/drawing/2014/main" id="{DA61E520-BC6C-32FA-E24D-1352EE02ACA6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9E6033F6-F10A-6674-06D7-9075E4167BD3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7" name="半闭框 16">
            <a:extLst>
              <a:ext uri="{FF2B5EF4-FFF2-40B4-BE49-F238E27FC236}">
                <a16:creationId xmlns:a16="http://schemas.microsoft.com/office/drawing/2014/main" id="{9B81E8C2-84F6-0F06-F6D4-7F8929AF200E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Text Box 260">
            <a:extLst>
              <a:ext uri="{FF2B5EF4-FFF2-40B4-BE49-F238E27FC236}">
                <a16:creationId xmlns:a16="http://schemas.microsoft.com/office/drawing/2014/main" id="{B35309C8-275F-6DE5-6485-0911C7568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164" y="2836607"/>
            <a:ext cx="1082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</a:p>
        </p:txBody>
      </p:sp>
      <p:sp>
        <p:nvSpPr>
          <p:cNvPr id="19" name="Rectangle 288">
            <a:extLst>
              <a:ext uri="{FF2B5EF4-FFF2-40B4-BE49-F238E27FC236}">
                <a16:creationId xmlns:a16="http://schemas.microsoft.com/office/drawing/2014/main" id="{0B2FA244-82F4-D72F-A612-9A528D359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4" y="824631"/>
            <a:ext cx="256754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  </a:t>
            </a:r>
            <a:r>
              <a:rPr kumimoji="1" lang="zh-CN" altLang="en-US" sz="2800" dirty="0">
                <a:solidFill>
                  <a:schemeClr val="tx1"/>
                </a:solidFill>
                <a:latin typeface="Cambria Math" panose="02040503050406030204" charset="0"/>
                <a:ea typeface="黑体" panose="02010609060101010101" pitchFamily="49" charset="-122"/>
                <a:cs typeface="Cambria Math" panose="02040503050406030204" charset="0"/>
              </a:rPr>
              <a:t>验证函数</a:t>
            </a:r>
          </a:p>
        </p:txBody>
      </p:sp>
      <p:sp>
        <p:nvSpPr>
          <p:cNvPr id="20" name="Text Box 290">
            <a:extLst>
              <a:ext uri="{FF2B5EF4-FFF2-40B4-BE49-F238E27FC236}">
                <a16:creationId xmlns:a16="http://schemas.microsoft.com/office/drawing/2014/main" id="{492F88B7-829E-D452-9000-77CD4965B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1950" y="845584"/>
            <a:ext cx="309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0" dirty="0">
                <a:latin typeface="Cambria Math" panose="02040503050406030204" charset="0"/>
                <a:cs typeface="Cambria Math" panose="02040503050406030204" charset="0"/>
              </a:rPr>
              <a:t>满足拉普拉斯方程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296">
                <a:extLst>
                  <a:ext uri="{FF2B5EF4-FFF2-40B4-BE49-F238E27FC236}">
                    <a16:creationId xmlns:a16="http://schemas.microsoft.com/office/drawing/2014/main" id="{EB9C66F1-6936-9F52-E96C-54094EFF3F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7608" y="3744363"/>
                <a:ext cx="453276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b="0" dirty="0">
                    <a:latin typeface="Cambria Math" panose="02040503050406030204" charset="0"/>
                    <a:cs typeface="Cambria Math" panose="02040503050406030204" charset="0"/>
                  </a:rPr>
                  <a:t>由于函数关于自变量的对称性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b="0" dirty="0">
                    <a:latin typeface="Cambria Math" panose="02040503050406030204" charset="0"/>
                    <a:cs typeface="Cambria Math" panose="02040503050406030204" charset="0"/>
                  </a:rPr>
                  <a:t> 所以</a:t>
                </a:r>
              </a:p>
            </p:txBody>
          </p:sp>
        </mc:Choice>
        <mc:Fallback xmlns="">
          <p:sp>
            <p:nvSpPr>
              <p:cNvPr id="21" name="Text Box 296">
                <a:extLst>
                  <a:ext uri="{FF2B5EF4-FFF2-40B4-BE49-F238E27FC236}">
                    <a16:creationId xmlns:a16="http://schemas.microsoft.com/office/drawing/2014/main" id="{EB9C66F1-6936-9F52-E96C-54094EFF3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7608" y="3744363"/>
                <a:ext cx="4532763" cy="430887"/>
              </a:xfrm>
              <a:prstGeom prst="rect">
                <a:avLst/>
              </a:prstGeom>
              <a:blipFill>
                <a:blip r:embed="rId4"/>
                <a:stretch>
                  <a:fillRect l="-1747" t="-14085" r="-80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00">
            <a:extLst>
              <a:ext uri="{FF2B5EF4-FFF2-40B4-BE49-F238E27FC236}">
                <a16:creationId xmlns:a16="http://schemas.microsoft.com/office/drawing/2014/main" id="{150D6B6B-BB87-4C56-C393-17301067C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7608" y="5522655"/>
            <a:ext cx="16557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b="0" dirty="0">
                <a:latin typeface="Cambria Math" panose="02040503050406030204" charset="0"/>
                <a:cs typeface="Cambria Math" panose="02040503050406030204" charset="0"/>
              </a:rPr>
              <a:t>从而有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1">
                <a:extLst>
                  <a:ext uri="{FF2B5EF4-FFF2-40B4-BE49-F238E27FC236}">
                    <a16:creationId xmlns:a16="http://schemas.microsoft.com/office/drawing/2014/main" id="{50C12DE4-8ED5-6C3B-ED76-9772F7F44ED8}"/>
                  </a:ext>
                </a:extLst>
              </p:cNvPr>
              <p:cNvSpPr txBox="1"/>
              <p:nvPr/>
            </p:nvSpPr>
            <p:spPr>
              <a:xfrm>
                <a:off x="4496694" y="776310"/>
                <a:ext cx="2775196" cy="84541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ln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charset="0"/>
                                      <a:ea typeface="黑体" panose="02010609060101010101" pitchFamily="49" charset="-122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3" name="对象 1">
                <a:extLst>
                  <a:ext uri="{FF2B5EF4-FFF2-40B4-BE49-F238E27FC236}">
                    <a16:creationId xmlns:a16="http://schemas.microsoft.com/office/drawing/2014/main" id="{50C12DE4-8ED5-6C3B-ED76-9772F7F44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694" y="776310"/>
                <a:ext cx="2775196" cy="8454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2">
                <a:extLst>
                  <a:ext uri="{FF2B5EF4-FFF2-40B4-BE49-F238E27FC236}">
                    <a16:creationId xmlns:a16="http://schemas.microsoft.com/office/drawing/2014/main" id="{5A428BBB-478B-A2EC-D6EA-10F266F682E4}"/>
                  </a:ext>
                </a:extLst>
              </p:cNvPr>
              <p:cNvSpPr txBox="1"/>
              <p:nvPr/>
            </p:nvSpPr>
            <p:spPr>
              <a:xfrm>
                <a:off x="4881748" y="1513339"/>
                <a:ext cx="2674751" cy="117462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4" name="对象 2">
                <a:extLst>
                  <a:ext uri="{FF2B5EF4-FFF2-40B4-BE49-F238E27FC236}">
                    <a16:creationId xmlns:a16="http://schemas.microsoft.com/office/drawing/2014/main" id="{5A428BBB-478B-A2EC-D6EA-10F266F68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748" y="1513339"/>
                <a:ext cx="2674751" cy="11746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对象 3">
                <a:extLst>
                  <a:ext uri="{FF2B5EF4-FFF2-40B4-BE49-F238E27FC236}">
                    <a16:creationId xmlns:a16="http://schemas.microsoft.com/office/drawing/2014/main" id="{292E9386-3DC1-29BB-9622-3B4940C22528}"/>
                  </a:ext>
                </a:extLst>
              </p:cNvPr>
              <p:cNvSpPr txBox="1"/>
              <p:nvPr/>
            </p:nvSpPr>
            <p:spPr>
              <a:xfrm>
                <a:off x="2977608" y="2687235"/>
                <a:ext cx="21082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5" name="对象 3">
                <a:extLst>
                  <a:ext uri="{FF2B5EF4-FFF2-40B4-BE49-F238E27FC236}">
                    <a16:creationId xmlns:a16="http://schemas.microsoft.com/office/drawing/2014/main" id="{292E9386-3DC1-29BB-9622-3B4940C22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608" y="2687235"/>
                <a:ext cx="21082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4">
                <a:extLst>
                  <a:ext uri="{FF2B5EF4-FFF2-40B4-BE49-F238E27FC236}">
                    <a16:creationId xmlns:a16="http://schemas.microsoft.com/office/drawing/2014/main" id="{4A6C7282-159E-4123-6F8B-5FEF683DB39D}"/>
                  </a:ext>
                </a:extLst>
              </p:cNvPr>
              <p:cNvSpPr txBox="1"/>
              <p:nvPr/>
            </p:nvSpPr>
            <p:spPr>
              <a:xfrm>
                <a:off x="4825366" y="2656194"/>
                <a:ext cx="34925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⋅2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6" name="对象 4">
                <a:extLst>
                  <a:ext uri="{FF2B5EF4-FFF2-40B4-BE49-F238E27FC236}">
                    <a16:creationId xmlns:a16="http://schemas.microsoft.com/office/drawing/2014/main" id="{4A6C7282-159E-4123-6F8B-5FEF683DB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366" y="2656194"/>
                <a:ext cx="3492500" cy="965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5">
                <a:extLst>
                  <a:ext uri="{FF2B5EF4-FFF2-40B4-BE49-F238E27FC236}">
                    <a16:creationId xmlns:a16="http://schemas.microsoft.com/office/drawing/2014/main" id="{A2E379E3-1119-3CAB-0E9C-6D3E8B866978}"/>
                  </a:ext>
                </a:extLst>
              </p:cNvPr>
              <p:cNvSpPr txBox="1"/>
              <p:nvPr/>
            </p:nvSpPr>
            <p:spPr>
              <a:xfrm>
                <a:off x="7926547" y="2654215"/>
                <a:ext cx="19939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7" name="对象 5">
                <a:extLst>
                  <a:ext uri="{FF2B5EF4-FFF2-40B4-BE49-F238E27FC236}">
                    <a16:creationId xmlns:a16="http://schemas.microsoft.com/office/drawing/2014/main" id="{A2E379E3-1119-3CAB-0E9C-6D3E8B866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547" y="2654215"/>
                <a:ext cx="1993900" cy="965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对象 21">
                <a:extLst>
                  <a:ext uri="{FF2B5EF4-FFF2-40B4-BE49-F238E27FC236}">
                    <a16:creationId xmlns:a16="http://schemas.microsoft.com/office/drawing/2014/main" id="{40D68D7B-F51C-1196-AB46-F79ECE8DF266}"/>
                  </a:ext>
                </a:extLst>
              </p:cNvPr>
              <p:cNvSpPr txBox="1"/>
              <p:nvPr/>
            </p:nvSpPr>
            <p:spPr>
              <a:xfrm>
                <a:off x="2977608" y="4368914"/>
                <a:ext cx="2082800" cy="9144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8" name="对象 21">
                <a:extLst>
                  <a:ext uri="{FF2B5EF4-FFF2-40B4-BE49-F238E27FC236}">
                    <a16:creationId xmlns:a16="http://schemas.microsoft.com/office/drawing/2014/main" id="{40D68D7B-F51C-1196-AB46-F79ECE8DF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608" y="4368914"/>
                <a:ext cx="2082800" cy="914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22">
                <a:extLst>
                  <a:ext uri="{FF2B5EF4-FFF2-40B4-BE49-F238E27FC236}">
                    <a16:creationId xmlns:a16="http://schemas.microsoft.com/office/drawing/2014/main" id="{9F390BEF-463F-2964-6863-C81EFD4F002A}"/>
                  </a:ext>
                </a:extLst>
              </p:cNvPr>
              <p:cNvSpPr txBox="1"/>
              <p:nvPr/>
            </p:nvSpPr>
            <p:spPr>
              <a:xfrm>
                <a:off x="4825366" y="4338434"/>
                <a:ext cx="34544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)−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⋅2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9" name="对象 22">
                <a:extLst>
                  <a:ext uri="{FF2B5EF4-FFF2-40B4-BE49-F238E27FC236}">
                    <a16:creationId xmlns:a16="http://schemas.microsoft.com/office/drawing/2014/main" id="{9F390BEF-463F-2964-6863-C81EFD4F0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366" y="4338434"/>
                <a:ext cx="3454400" cy="965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23">
                <a:extLst>
                  <a:ext uri="{FF2B5EF4-FFF2-40B4-BE49-F238E27FC236}">
                    <a16:creationId xmlns:a16="http://schemas.microsoft.com/office/drawing/2014/main" id="{EF73E31D-1BFE-989F-1871-510E2413DF42}"/>
                  </a:ext>
                </a:extLst>
              </p:cNvPr>
              <p:cNvSpPr txBox="1"/>
              <p:nvPr/>
            </p:nvSpPr>
            <p:spPr>
              <a:xfrm>
                <a:off x="7920604" y="4337266"/>
                <a:ext cx="19939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对象 23">
                <a:extLst>
                  <a:ext uri="{FF2B5EF4-FFF2-40B4-BE49-F238E27FC236}">
                    <a16:creationId xmlns:a16="http://schemas.microsoft.com/office/drawing/2014/main" id="{EF73E31D-1BFE-989F-1871-510E2413D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604" y="4337266"/>
                <a:ext cx="1993900" cy="965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对象 6">
                <a:extLst>
                  <a:ext uri="{FF2B5EF4-FFF2-40B4-BE49-F238E27FC236}">
                    <a16:creationId xmlns:a16="http://schemas.microsoft.com/office/drawing/2014/main" id="{217668E2-B18A-38EA-D380-49270FEA99D6}"/>
                  </a:ext>
                </a:extLst>
              </p:cNvPr>
              <p:cNvSpPr txBox="1"/>
              <p:nvPr/>
            </p:nvSpPr>
            <p:spPr>
              <a:xfrm>
                <a:off x="3993608" y="5283314"/>
                <a:ext cx="2184400" cy="965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1" name="对象 6">
                <a:extLst>
                  <a:ext uri="{FF2B5EF4-FFF2-40B4-BE49-F238E27FC236}">
                    <a16:creationId xmlns:a16="http://schemas.microsoft.com/office/drawing/2014/main" id="{217668E2-B18A-38EA-D380-49270FEA9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608" y="5283314"/>
                <a:ext cx="2184400" cy="965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454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1A50BB2-D8D4-BF08-D6FF-973B69637DC9}"/>
                  </a:ext>
                </a:extLst>
              </p:cNvPr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1A50BB2-D8D4-BF08-D6FF-973B69637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半闭框 13">
            <a:extLst>
              <a:ext uri="{FF2B5EF4-FFF2-40B4-BE49-F238E27FC236}">
                <a16:creationId xmlns:a16="http://schemas.microsoft.com/office/drawing/2014/main" id="{DD5E45EE-3ED7-1D42-CE23-92B41CA755AB}"/>
              </a:ext>
            </a:extLst>
          </p:cNvPr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半闭框 14">
            <a:extLst>
              <a:ext uri="{FF2B5EF4-FFF2-40B4-BE49-F238E27FC236}">
                <a16:creationId xmlns:a16="http://schemas.microsoft.com/office/drawing/2014/main" id="{DA61E520-BC6C-32FA-E24D-1352EE02ACA6}"/>
              </a:ext>
            </a:extLst>
          </p:cNvPr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半闭框 15">
            <a:extLst>
              <a:ext uri="{FF2B5EF4-FFF2-40B4-BE49-F238E27FC236}">
                <a16:creationId xmlns:a16="http://schemas.microsoft.com/office/drawing/2014/main" id="{9E6033F6-F10A-6674-06D7-9075E4167BD3}"/>
              </a:ext>
            </a:extLst>
          </p:cNvPr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7" name="半闭框 16">
            <a:extLst>
              <a:ext uri="{FF2B5EF4-FFF2-40B4-BE49-F238E27FC236}">
                <a16:creationId xmlns:a16="http://schemas.microsoft.com/office/drawing/2014/main" id="{9B81E8C2-84F6-0F06-F6D4-7F8929AF200E}"/>
              </a:ext>
            </a:extLst>
          </p:cNvPr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61C053F-6AC7-10AA-A2D3-D626F3AABB8B}"/>
              </a:ext>
            </a:extLst>
          </p:cNvPr>
          <p:cNvSpPr txBox="1">
            <a:spLocks noChangeArrowheads="1"/>
          </p:cNvSpPr>
          <p:nvPr/>
        </p:nvSpPr>
        <p:spPr>
          <a:xfrm>
            <a:off x="1717604" y="972074"/>
            <a:ext cx="30480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kumimoji="1" lang="en-US" altLang="zh-CN" sz="2800" b="1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9  </a:t>
            </a: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sym typeface="+mn-lt"/>
              </a:rPr>
              <a:t>证明函数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4CB21435-5168-01F5-0FE8-BCF16C803824}"/>
                  </a:ext>
                </a:extLst>
              </p:cNvPr>
              <p:cNvSpPr txBox="1"/>
              <p:nvPr/>
            </p:nvSpPr>
            <p:spPr bwMode="auto">
              <a:xfrm>
                <a:off x="4019081" y="686322"/>
                <a:ext cx="4368017" cy="10160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, 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𝑟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4CB21435-5168-01F5-0FE8-BCF16C803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081" y="686322"/>
                <a:ext cx="4368017" cy="10160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>
            <a:extLst>
              <a:ext uri="{FF2B5EF4-FFF2-40B4-BE49-F238E27FC236}">
                <a16:creationId xmlns:a16="http://schemas.microsoft.com/office/drawing/2014/main" id="{19583FE3-86A6-EFFF-952F-950404042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4535" y="924140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+mj-cs"/>
                <a:sym typeface="+mn-lt"/>
              </a:rPr>
              <a:t>满足拉普拉斯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AF869306-C540-E076-9A84-D74BF30E6A4F}"/>
                  </a:ext>
                </a:extLst>
              </p:cNvPr>
              <p:cNvSpPr txBox="1"/>
              <p:nvPr/>
            </p:nvSpPr>
            <p:spPr bwMode="auto">
              <a:xfrm>
                <a:off x="4257607" y="1613838"/>
                <a:ext cx="3816352" cy="1154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AF869306-C540-E076-9A84-D74BF30E6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7607" y="1613838"/>
                <a:ext cx="3816352" cy="11541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>
            <a:extLst>
              <a:ext uri="{FF2B5EF4-FFF2-40B4-BE49-F238E27FC236}">
                <a16:creationId xmlns:a16="http://schemas.microsoft.com/office/drawing/2014/main" id="{0C55B998-45AE-71E5-43D5-0D3470DB7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604" y="2883828"/>
            <a:ext cx="7177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3B851C9C-997C-C634-C812-7A2C3B9C64CF}"/>
                  </a:ext>
                </a:extLst>
              </p:cNvPr>
              <p:cNvSpPr txBox="1"/>
              <p:nvPr/>
            </p:nvSpPr>
            <p:spPr bwMode="auto">
              <a:xfrm>
                <a:off x="2514421" y="2784675"/>
                <a:ext cx="819897" cy="8321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3B851C9C-997C-C634-C812-7A2C3B9C6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421" y="2784675"/>
                <a:ext cx="819897" cy="8321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89BF02B3-BBE2-B3B2-EACD-A7AF735743E8}"/>
                  </a:ext>
                </a:extLst>
              </p:cNvPr>
              <p:cNvSpPr txBox="1"/>
              <p:nvPr/>
            </p:nvSpPr>
            <p:spPr bwMode="auto">
              <a:xfrm>
                <a:off x="2514421" y="3656541"/>
                <a:ext cx="1014484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89BF02B3-BBE2-B3B2-EACD-A7AF73574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421" y="3656541"/>
                <a:ext cx="1014484" cy="927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0">
                <a:extLst>
                  <a:ext uri="{FF2B5EF4-FFF2-40B4-BE49-F238E27FC236}">
                    <a16:creationId xmlns:a16="http://schemas.microsoft.com/office/drawing/2014/main" id="{8C9D93DD-A8BD-90C6-0B5F-9C5BD3527B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2970" y="4770212"/>
                <a:ext cx="198851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利用对称性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黑体"/>
                    <a:cs typeface="+mn-ea"/>
                    <a:sym typeface="+mn-lt"/>
                  </a:rPr>
                  <a:t> 有</a:t>
                </a:r>
              </a:p>
            </p:txBody>
          </p:sp>
        </mc:Choice>
        <mc:Fallback xmlns="">
          <p:sp>
            <p:nvSpPr>
              <p:cNvPr id="9" name="Text Box 10">
                <a:extLst>
                  <a:ext uri="{FF2B5EF4-FFF2-40B4-BE49-F238E27FC236}">
                    <a16:creationId xmlns:a16="http://schemas.microsoft.com/office/drawing/2014/main" id="{8C9D93DD-A8BD-90C6-0B5F-9C5BD3527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2970" y="4770212"/>
                <a:ext cx="1988516" cy="430887"/>
              </a:xfrm>
              <a:prstGeom prst="rect">
                <a:avLst/>
              </a:prstGeom>
              <a:blipFill>
                <a:blip r:embed="rId8"/>
                <a:stretch>
                  <a:fillRect l="-3988" t="-14286" r="-3988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FC4C0823-CFE5-49DD-7B49-3C3A3EC46580}"/>
                  </a:ext>
                </a:extLst>
              </p:cNvPr>
              <p:cNvSpPr txBox="1"/>
              <p:nvPr/>
            </p:nvSpPr>
            <p:spPr bwMode="auto">
              <a:xfrm>
                <a:off x="4376105" y="4540133"/>
                <a:ext cx="2467817" cy="9771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FC4C0823-CFE5-49DD-7B49-3C3A3EC46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6105" y="4540133"/>
                <a:ext cx="2467817" cy="9771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AC7CDB2F-2B51-B6E1-587D-85C2E27B29B5}"/>
                  </a:ext>
                </a:extLst>
              </p:cNvPr>
              <p:cNvSpPr txBox="1"/>
              <p:nvPr/>
            </p:nvSpPr>
            <p:spPr bwMode="auto">
              <a:xfrm>
                <a:off x="2489021" y="5437538"/>
                <a:ext cx="2734525" cy="8928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∴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1" name="Object 13">
                <a:extLst>
                  <a:ext uri="{FF2B5EF4-FFF2-40B4-BE49-F238E27FC236}">
                    <a16:creationId xmlns:a16="http://schemas.microsoft.com/office/drawing/2014/main" id="{AC7CDB2F-2B51-B6E1-587D-85C2E27B2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9021" y="5437538"/>
                <a:ext cx="2734525" cy="8928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0">
                <a:extLst>
                  <a:ext uri="{FF2B5EF4-FFF2-40B4-BE49-F238E27FC236}">
                    <a16:creationId xmlns:a16="http://schemas.microsoft.com/office/drawing/2014/main" id="{5E86103E-24BA-4FEA-5CB8-315395E64DAA}"/>
                  </a:ext>
                </a:extLst>
              </p:cNvPr>
              <p:cNvSpPr txBox="1"/>
              <p:nvPr/>
            </p:nvSpPr>
            <p:spPr bwMode="auto">
              <a:xfrm>
                <a:off x="3334318" y="1884316"/>
                <a:ext cx="1042988" cy="5853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𝑢</m:t>
                      </m:r>
                      <m:r>
                        <a:rPr kumimoji="1" lang="zh-CN" altLang="en-US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2" name="Object 20">
                <a:extLst>
                  <a:ext uri="{FF2B5EF4-FFF2-40B4-BE49-F238E27FC236}">
                    <a16:creationId xmlns:a16="http://schemas.microsoft.com/office/drawing/2014/main" id="{5E86103E-24BA-4FEA-5CB8-315395E64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4318" y="1884316"/>
                <a:ext cx="1042988" cy="58534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21">
            <a:extLst>
              <a:ext uri="{FF2B5EF4-FFF2-40B4-BE49-F238E27FC236}">
                <a16:creationId xmlns:a16="http://schemas.microsoft.com/office/drawing/2014/main" id="{E33FC706-8D29-9E40-FB02-24196E0CD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861" y="188720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  <a:cs typeface="+mj-cs"/>
                <a:sym typeface="+mn-lt"/>
              </a:rPr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2">
                <a:extLst>
                  <a:ext uri="{FF2B5EF4-FFF2-40B4-BE49-F238E27FC236}">
                    <a16:creationId xmlns:a16="http://schemas.microsoft.com/office/drawing/2014/main" id="{1D085B34-5807-E593-0D09-944BEB315DAB}"/>
                  </a:ext>
                </a:extLst>
              </p:cNvPr>
              <p:cNvSpPr txBox="1"/>
              <p:nvPr/>
            </p:nvSpPr>
            <p:spPr bwMode="auto">
              <a:xfrm>
                <a:off x="3182988" y="2786084"/>
                <a:ext cx="1174633" cy="8741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3" name="Object 22">
                <a:extLst>
                  <a:ext uri="{FF2B5EF4-FFF2-40B4-BE49-F238E27FC236}">
                    <a16:creationId xmlns:a16="http://schemas.microsoft.com/office/drawing/2014/main" id="{1D085B34-5807-E593-0D09-944BEB315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2988" y="2786084"/>
                <a:ext cx="1174633" cy="8741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3">
                <a:extLst>
                  <a:ext uri="{FF2B5EF4-FFF2-40B4-BE49-F238E27FC236}">
                    <a16:creationId xmlns:a16="http://schemas.microsoft.com/office/drawing/2014/main" id="{8D925E62-610F-C73F-0B89-F54F10FA3D31}"/>
                  </a:ext>
                </a:extLst>
              </p:cNvPr>
              <p:cNvSpPr txBox="1"/>
              <p:nvPr/>
            </p:nvSpPr>
            <p:spPr bwMode="auto">
              <a:xfrm>
                <a:off x="4161149" y="2789587"/>
                <a:ext cx="14986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4" name="Object 23">
                <a:extLst>
                  <a:ext uri="{FF2B5EF4-FFF2-40B4-BE49-F238E27FC236}">
                    <a16:creationId xmlns:a16="http://schemas.microsoft.com/office/drawing/2014/main" id="{8D925E62-610F-C73F-0B89-F54F10FA3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1149" y="2789587"/>
                <a:ext cx="1498600" cy="838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C83C0F54-1441-934F-7298-C200FE9D5A78}"/>
                  </a:ext>
                </a:extLst>
              </p:cNvPr>
              <p:cNvSpPr txBox="1"/>
              <p:nvPr/>
            </p:nvSpPr>
            <p:spPr bwMode="auto">
              <a:xfrm>
                <a:off x="3334318" y="3699955"/>
                <a:ext cx="6731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C83C0F54-1441-934F-7298-C200FE9D5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4318" y="3699955"/>
                <a:ext cx="673100" cy="889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5">
                <a:extLst>
                  <a:ext uri="{FF2B5EF4-FFF2-40B4-BE49-F238E27FC236}">
                    <a16:creationId xmlns:a16="http://schemas.microsoft.com/office/drawing/2014/main" id="{8B17454C-B532-3573-EF9B-E80E6CF528E7}"/>
                  </a:ext>
                </a:extLst>
              </p:cNvPr>
              <p:cNvSpPr txBox="1"/>
              <p:nvPr/>
            </p:nvSpPr>
            <p:spPr bwMode="auto">
              <a:xfrm>
                <a:off x="3915446" y="3689370"/>
                <a:ext cx="1308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⋅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6" name="Object 25">
                <a:extLst>
                  <a:ext uri="{FF2B5EF4-FFF2-40B4-BE49-F238E27FC236}">
                    <a16:creationId xmlns:a16="http://schemas.microsoft.com/office/drawing/2014/main" id="{8B17454C-B532-3573-EF9B-E80E6CF52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5446" y="3689370"/>
                <a:ext cx="1308100" cy="9271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6">
                <a:extLst>
                  <a:ext uri="{FF2B5EF4-FFF2-40B4-BE49-F238E27FC236}">
                    <a16:creationId xmlns:a16="http://schemas.microsoft.com/office/drawing/2014/main" id="{3ED2CAA3-F60E-F888-4272-632E76D96534}"/>
                  </a:ext>
                </a:extLst>
              </p:cNvPr>
              <p:cNvSpPr txBox="1"/>
              <p:nvPr/>
            </p:nvSpPr>
            <p:spPr bwMode="auto">
              <a:xfrm>
                <a:off x="5105290" y="3655662"/>
                <a:ext cx="19558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7" name="Object 26">
                <a:extLst>
                  <a:ext uri="{FF2B5EF4-FFF2-40B4-BE49-F238E27FC236}">
                    <a16:creationId xmlns:a16="http://schemas.microsoft.com/office/drawing/2014/main" id="{3ED2CAA3-F60E-F888-4272-632E76D96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290" y="3655662"/>
                <a:ext cx="1955800" cy="8763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27">
                <a:extLst>
                  <a:ext uri="{FF2B5EF4-FFF2-40B4-BE49-F238E27FC236}">
                    <a16:creationId xmlns:a16="http://schemas.microsoft.com/office/drawing/2014/main" id="{B0A3CEAB-323E-2CC9-2504-10DDD9D7107D}"/>
                  </a:ext>
                </a:extLst>
              </p:cNvPr>
              <p:cNvSpPr txBox="1"/>
              <p:nvPr/>
            </p:nvSpPr>
            <p:spPr bwMode="auto">
              <a:xfrm>
                <a:off x="6731197" y="4537616"/>
                <a:ext cx="2467818" cy="8081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𝑢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𝜕</m:t>
                          </m:r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​​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8" name="Object 27">
                <a:extLst>
                  <a:ext uri="{FF2B5EF4-FFF2-40B4-BE49-F238E27FC236}">
                    <a16:creationId xmlns:a16="http://schemas.microsoft.com/office/drawing/2014/main" id="{B0A3CEAB-323E-2CC9-2504-10DDD9D71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1197" y="4537616"/>
                <a:ext cx="2467818" cy="80814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29">
                <a:extLst>
                  <a:ext uri="{FF2B5EF4-FFF2-40B4-BE49-F238E27FC236}">
                    <a16:creationId xmlns:a16="http://schemas.microsoft.com/office/drawing/2014/main" id="{CB095A9C-3089-A7CA-22AC-FD5A4103DB50}"/>
                  </a:ext>
                </a:extLst>
              </p:cNvPr>
              <p:cNvSpPr txBox="1"/>
              <p:nvPr/>
            </p:nvSpPr>
            <p:spPr bwMode="auto">
              <a:xfrm>
                <a:off x="8010767" y="3049497"/>
                <a:ext cx="752661" cy="429189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0" name="Object 29">
                <a:extLst>
                  <a:ext uri="{FF2B5EF4-FFF2-40B4-BE49-F238E27FC236}">
                    <a16:creationId xmlns:a16="http://schemas.microsoft.com/office/drawing/2014/main" id="{CB095A9C-3089-A7CA-22AC-FD5A4103D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10767" y="3049497"/>
                <a:ext cx="752661" cy="42918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54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31">
                <a:extLst>
                  <a:ext uri="{FF2B5EF4-FFF2-40B4-BE49-F238E27FC236}">
                    <a16:creationId xmlns:a16="http://schemas.microsoft.com/office/drawing/2014/main" id="{8EF064F4-85DE-1AE1-99F1-47854FEA25F1}"/>
                  </a:ext>
                </a:extLst>
              </p:cNvPr>
              <p:cNvSpPr txBox="1"/>
              <p:nvPr/>
            </p:nvSpPr>
            <p:spPr bwMode="auto">
              <a:xfrm>
                <a:off x="8212600" y="5652749"/>
                <a:ext cx="919512" cy="511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1" name="Object 31">
                <a:extLst>
                  <a:ext uri="{FF2B5EF4-FFF2-40B4-BE49-F238E27FC236}">
                    <a16:creationId xmlns:a16="http://schemas.microsoft.com/office/drawing/2014/main" id="{8EF064F4-85DE-1AE1-99F1-47854FEA2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2600" y="5652749"/>
                <a:ext cx="919512" cy="5111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30">
            <a:extLst>
              <a:ext uri="{FF2B5EF4-FFF2-40B4-BE49-F238E27FC236}">
                <a16:creationId xmlns:a16="http://schemas.microsoft.com/office/drawing/2014/main" id="{B190F641-3514-7845-A580-AED308555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5278" y="5445509"/>
            <a:ext cx="1686319" cy="411858"/>
          </a:xfrm>
          <a:prstGeom prst="rect">
            <a:avLst/>
          </a:prstGeom>
          <a:solidFill>
            <a:srgbClr val="04926A">
              <a:alpha val="42000"/>
            </a:srgbClr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黑体"/>
              <a:cs typeface="+mn-ea"/>
              <a:sym typeface="+mn-lt"/>
            </a:endParaRPr>
          </a:p>
        </p:txBody>
      </p:sp>
      <p:sp>
        <p:nvSpPr>
          <p:cNvPr id="43" name="Freeform 32">
            <a:extLst>
              <a:ext uri="{FF2B5EF4-FFF2-40B4-BE49-F238E27FC236}">
                <a16:creationId xmlns:a16="http://schemas.microsoft.com/office/drawing/2014/main" id="{0FBBDE18-A989-7A6B-1CE5-3B1A3D128FE3}"/>
              </a:ext>
            </a:extLst>
          </p:cNvPr>
          <p:cNvSpPr>
            <a:spLocks/>
          </p:cNvSpPr>
          <p:nvPr/>
        </p:nvSpPr>
        <p:spPr bwMode="auto">
          <a:xfrm>
            <a:off x="7675880" y="3566029"/>
            <a:ext cx="575054" cy="1859287"/>
          </a:xfrm>
          <a:custGeom>
            <a:avLst/>
            <a:gdLst>
              <a:gd name="T0" fmla="*/ 0 w 480"/>
              <a:gd name="T1" fmla="*/ 1488 h 1488"/>
              <a:gd name="T2" fmla="*/ 480 w 480"/>
              <a:gd name="T3" fmla="*/ 0 h 14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80" h="1488">
                <a:moveTo>
                  <a:pt x="0" y="1488"/>
                </a:moveTo>
                <a:cubicBezTo>
                  <a:pt x="200" y="868"/>
                  <a:pt x="400" y="248"/>
                  <a:pt x="480" y="0"/>
                </a:cubicBezTo>
              </a:path>
            </a:pathLst>
          </a:custGeom>
          <a:noFill/>
          <a:ln w="28575" cmpd="sng">
            <a:solidFill>
              <a:srgbClr val="04926A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28">
                <a:extLst>
                  <a:ext uri="{FF2B5EF4-FFF2-40B4-BE49-F238E27FC236}">
                    <a16:creationId xmlns:a16="http://schemas.microsoft.com/office/drawing/2014/main" id="{97BFF4BC-18C9-2FB4-24DA-5B3768019632}"/>
                  </a:ext>
                </a:extLst>
              </p:cNvPr>
              <p:cNvSpPr txBox="1"/>
              <p:nvPr/>
            </p:nvSpPr>
            <p:spPr bwMode="auto">
              <a:xfrm>
                <a:off x="4858741" y="5438251"/>
                <a:ext cx="3472459" cy="8792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2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3( 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 )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charset="0"/>
                                  <a:ea typeface="黑体" panose="02010609060101010101" pitchFamily="49" charset="-122"/>
                                  <a:cs typeface="Cambria Math" panose="02040503050406030204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charset="0"/>
                  <a:ea typeface="黑体" panose="02010609060101010101" pitchFamily="49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9" name="Object 28">
                <a:extLst>
                  <a:ext uri="{FF2B5EF4-FFF2-40B4-BE49-F238E27FC236}">
                    <a16:creationId xmlns:a16="http://schemas.microsoft.com/office/drawing/2014/main" id="{97BFF4BC-18C9-2FB4-24DA-5B3768019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8741" y="5438251"/>
                <a:ext cx="3472459" cy="87921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21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32" grpId="0"/>
      <p:bldP spid="35" grpId="0"/>
      <p:bldP spid="40" grpId="0" animBg="1"/>
      <p:bldP spid="41" grpId="0"/>
      <p:bldP spid="42" grpId="0" animBg="1"/>
      <p:bldP spid="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0472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</TotalTime>
  <Words>2014</Words>
  <Application>Microsoft Office PowerPoint</Application>
  <PresentationFormat>宽屏</PresentationFormat>
  <Paragraphs>362</Paragraphs>
  <Slides>31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等线</vt:lpstr>
      <vt:lpstr>方正粗雅宋_GBK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yang fan</cp:lastModifiedBy>
  <cp:revision>169</cp:revision>
  <cp:lastPrinted>2023-06-06T06:06:22Z</cp:lastPrinted>
  <dcterms:created xsi:type="dcterms:W3CDTF">2022-09-13T06:18:22Z</dcterms:created>
  <dcterms:modified xsi:type="dcterms:W3CDTF">2023-07-06T03:17:44Z</dcterms:modified>
</cp:coreProperties>
</file>