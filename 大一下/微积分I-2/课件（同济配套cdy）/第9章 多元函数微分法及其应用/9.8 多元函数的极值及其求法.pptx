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5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6.xml" ContentType="application/vnd.openxmlformats-officedocument.presentationml.tags+xml"/>
  <Override PartName="/ppt/notesSlides/notesSlide18.xml" ContentType="application/vnd.openxmlformats-officedocument.presentationml.notesSlide+xml"/>
  <Override PartName="/ppt/tags/tag7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922" r:id="rId3"/>
    <p:sldId id="664" r:id="rId4"/>
    <p:sldId id="817" r:id="rId5"/>
    <p:sldId id="891" r:id="rId6"/>
    <p:sldId id="894" r:id="rId7"/>
    <p:sldId id="895" r:id="rId8"/>
    <p:sldId id="896" r:id="rId9"/>
    <p:sldId id="897" r:id="rId10"/>
    <p:sldId id="898" r:id="rId11"/>
    <p:sldId id="900" r:id="rId12"/>
    <p:sldId id="899" r:id="rId13"/>
    <p:sldId id="902" r:id="rId14"/>
    <p:sldId id="903" r:id="rId15"/>
    <p:sldId id="901" r:id="rId16"/>
    <p:sldId id="905" r:id="rId17"/>
    <p:sldId id="906" r:id="rId18"/>
    <p:sldId id="904" r:id="rId19"/>
    <p:sldId id="907" r:id="rId20"/>
    <p:sldId id="908" r:id="rId21"/>
    <p:sldId id="892" r:id="rId22"/>
    <p:sldId id="909" r:id="rId23"/>
    <p:sldId id="910" r:id="rId24"/>
    <p:sldId id="911" r:id="rId25"/>
    <p:sldId id="913" r:id="rId26"/>
    <p:sldId id="914" r:id="rId27"/>
    <p:sldId id="915" r:id="rId28"/>
    <p:sldId id="916" r:id="rId29"/>
    <p:sldId id="917" r:id="rId30"/>
    <p:sldId id="918" r:id="rId31"/>
    <p:sldId id="919" r:id="rId32"/>
    <p:sldId id="920" r:id="rId33"/>
    <p:sldId id="364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41A41-C3E3-49DC-B8E2-5FB79F6BD7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47AB0-E0D1-4C23-847C-8B6B1533D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35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026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913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269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249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329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544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920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1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667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841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499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037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0928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212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7758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774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8677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107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8915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9260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738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8909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0608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5622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6142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3940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6622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521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8885680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第八节   多元函数的极值及其求法</a:t>
            </a:r>
          </a:p>
        </p:txBody>
      </p:sp>
      <p:sp>
        <p:nvSpPr>
          <p:cNvPr id="14" name="矩形 13"/>
          <p:cNvSpPr/>
          <p:nvPr/>
        </p:nvSpPr>
        <p:spPr>
          <a:xfrm>
            <a:off x="9140852" y="112357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28B7B72-FE5F-FE65-4D2C-E3DB1DB54AC9}"/>
              </a:ext>
            </a:extLst>
          </p:cNvPr>
          <p:cNvCxnSpPr/>
          <p:nvPr userDrawn="1"/>
        </p:nvCxnSpPr>
        <p:spPr>
          <a:xfrm>
            <a:off x="0" y="251555"/>
            <a:ext cx="866582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D686EB1-B307-14DE-BA1D-E20FC7BCEDB0}"/>
              </a:ext>
            </a:extLst>
          </p:cNvPr>
          <p:cNvCxnSpPr/>
          <p:nvPr userDrawn="1"/>
        </p:nvCxnSpPr>
        <p:spPr>
          <a:xfrm>
            <a:off x="3441287" y="6589556"/>
            <a:ext cx="874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887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664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7.png"/><Relationship Id="rId10" Type="http://schemas.openxmlformats.org/officeDocument/2006/relationships/image" Target="../media/image9.png"/><Relationship Id="rId4" Type="http://schemas.openxmlformats.org/officeDocument/2006/relationships/image" Target="../media/image310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3" Type="http://schemas.openxmlformats.org/officeDocument/2006/relationships/image" Target="../media/image10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1910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1810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image" Target="../media/image1010.png"/><Relationship Id="rId21" Type="http://schemas.openxmlformats.org/officeDocument/2006/relationships/image" Target="../media/image87.png"/><Relationship Id="rId7" Type="http://schemas.openxmlformats.org/officeDocument/2006/relationships/image" Target="../media/image580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0.png"/><Relationship Id="rId11" Type="http://schemas.openxmlformats.org/officeDocument/2006/relationships/image" Target="../media/image77.png"/><Relationship Id="rId5" Type="http://schemas.openxmlformats.org/officeDocument/2006/relationships/image" Target="../media/image74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3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3" Type="http://schemas.openxmlformats.org/officeDocument/2006/relationships/image" Target="../media/image750.png"/><Relationship Id="rId21" Type="http://schemas.openxmlformats.org/officeDocument/2006/relationships/image" Target="../media/image106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24" Type="http://schemas.openxmlformats.org/officeDocument/2006/relationships/image" Target="../media/image109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23" Type="http://schemas.openxmlformats.org/officeDocument/2006/relationships/image" Target="../media/image108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9.png"/><Relationship Id="rId3" Type="http://schemas.openxmlformats.org/officeDocument/2006/relationships/image" Target="../media/image750.png"/><Relationship Id="rId7" Type="http://schemas.openxmlformats.org/officeDocument/2006/relationships/image" Target="../media/image111.png"/><Relationship Id="rId12" Type="http://schemas.openxmlformats.org/officeDocument/2006/relationships/image" Target="../media/image118.png"/><Relationship Id="rId17" Type="http://schemas.openxmlformats.org/officeDocument/2006/relationships/image" Target="../media/image12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10.png"/><Relationship Id="rId11" Type="http://schemas.openxmlformats.org/officeDocument/2006/relationships/image" Target="../media/image117.png"/><Relationship Id="rId5" Type="http://schemas.openxmlformats.org/officeDocument/2006/relationships/image" Target="../media/image2010.png"/><Relationship Id="rId15" Type="http://schemas.openxmlformats.org/officeDocument/2006/relationships/image" Target="../media/image115.png"/><Relationship Id="rId10" Type="http://schemas.openxmlformats.org/officeDocument/2006/relationships/image" Target="../media/image114.png"/><Relationship Id="rId4" Type="http://schemas.openxmlformats.org/officeDocument/2006/relationships/image" Target="../media/image24.png"/><Relationship Id="rId9" Type="http://schemas.openxmlformats.org/officeDocument/2006/relationships/image" Target="../media/image113.png"/><Relationship Id="rId14" Type="http://schemas.openxmlformats.org/officeDocument/2006/relationships/image" Target="../media/image1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3" Type="http://schemas.openxmlformats.org/officeDocument/2006/relationships/image" Target="../media/image750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4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144.png"/><Relationship Id="rId5" Type="http://schemas.openxmlformats.org/officeDocument/2006/relationships/image" Target="../media/image36.png"/><Relationship Id="rId15" Type="http://schemas.openxmlformats.org/officeDocument/2006/relationships/image" Target="../media/image148.png"/><Relationship Id="rId10" Type="http://schemas.openxmlformats.org/officeDocument/2006/relationships/image" Target="../media/image143.png"/><Relationship Id="rId19" Type="http://schemas.openxmlformats.org/officeDocument/2006/relationships/image" Target="../media/image152.png"/><Relationship Id="rId4" Type="http://schemas.openxmlformats.org/officeDocument/2006/relationships/image" Target="../media/image34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62.png"/><Relationship Id="rId3" Type="http://schemas.openxmlformats.org/officeDocument/2006/relationships/image" Target="../media/image750.png"/><Relationship Id="rId7" Type="http://schemas.openxmlformats.org/officeDocument/2006/relationships/image" Target="../media/image156.png"/><Relationship Id="rId12" Type="http://schemas.openxmlformats.org/officeDocument/2006/relationships/image" Target="../media/image161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3.png"/><Relationship Id="rId11" Type="http://schemas.openxmlformats.org/officeDocument/2006/relationships/image" Target="../media/image160.png"/><Relationship Id="rId5" Type="http://schemas.openxmlformats.org/officeDocument/2006/relationships/image" Target="../media/image71.png"/><Relationship Id="rId15" Type="http://schemas.openxmlformats.org/officeDocument/2006/relationships/image" Target="../media/image164.png"/><Relationship Id="rId10" Type="http://schemas.openxmlformats.org/officeDocument/2006/relationships/image" Target="../media/image159.png"/><Relationship Id="rId9" Type="http://schemas.openxmlformats.org/officeDocument/2006/relationships/image" Target="../media/image158.png"/><Relationship Id="rId14" Type="http://schemas.openxmlformats.org/officeDocument/2006/relationships/image" Target="../media/image16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4.png"/><Relationship Id="rId18" Type="http://schemas.openxmlformats.org/officeDocument/2006/relationships/image" Target="../media/image179.png"/><Relationship Id="rId3" Type="http://schemas.openxmlformats.org/officeDocument/2006/relationships/image" Target="../media/image750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17" Type="http://schemas.openxmlformats.org/officeDocument/2006/relationships/image" Target="../media/image178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77.png"/><Relationship Id="rId20" Type="http://schemas.openxmlformats.org/officeDocument/2006/relationships/image" Target="../media/image18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6.png"/><Relationship Id="rId15" Type="http://schemas.openxmlformats.org/officeDocument/2006/relationships/image" Target="../media/image176.png"/><Relationship Id="rId10" Type="http://schemas.openxmlformats.org/officeDocument/2006/relationships/image" Target="../media/image171.png"/><Relationship Id="rId19" Type="http://schemas.openxmlformats.org/officeDocument/2006/relationships/image" Target="../media/image180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Relationship Id="rId14" Type="http://schemas.openxmlformats.org/officeDocument/2006/relationships/image" Target="../media/image17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89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86.png"/><Relationship Id="rId9" Type="http://schemas.openxmlformats.org/officeDocument/2006/relationships/image" Target="../media/image19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5.png"/><Relationship Id="rId11" Type="http://schemas.openxmlformats.org/officeDocument/2006/relationships/image" Target="../media/image110.png"/><Relationship Id="rId5" Type="http://schemas.openxmlformats.org/officeDocument/2006/relationships/image" Target="../media/image194.png"/><Relationship Id="rId10" Type="http://schemas.openxmlformats.org/officeDocument/2006/relationships/image" Target="../media/image1241.png"/><Relationship Id="rId4" Type="http://schemas.openxmlformats.org/officeDocument/2006/relationships/image" Target="../media/image193.png"/><Relationship Id="rId9" Type="http://schemas.openxmlformats.org/officeDocument/2006/relationships/image" Target="../media/image19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0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6" Type="http://schemas.openxmlformats.org/officeDocument/2006/relationships/image" Target="../media/image203.png"/><Relationship Id="rId5" Type="http://schemas.openxmlformats.org/officeDocument/2006/relationships/image" Target="../media/image202.png"/><Relationship Id="rId10" Type="http://schemas.openxmlformats.org/officeDocument/2006/relationships/image" Target="../media/image207.png"/><Relationship Id="rId4" Type="http://schemas.openxmlformats.org/officeDocument/2006/relationships/image" Target="../media/image201.png"/><Relationship Id="rId9" Type="http://schemas.openxmlformats.org/officeDocument/2006/relationships/image" Target="../media/image20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21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6" Type="http://schemas.openxmlformats.org/officeDocument/2006/relationships/image" Target="../media/image210.png"/><Relationship Id="rId5" Type="http://schemas.openxmlformats.org/officeDocument/2006/relationships/image" Target="../media/image209.png"/><Relationship Id="rId4" Type="http://schemas.openxmlformats.org/officeDocument/2006/relationships/image" Target="../media/image208.png"/><Relationship Id="rId9" Type="http://schemas.openxmlformats.org/officeDocument/2006/relationships/image" Target="../media/image15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png"/><Relationship Id="rId3" Type="http://schemas.openxmlformats.org/officeDocument/2006/relationships/image" Target="../media/image214.png"/><Relationship Id="rId7" Type="http://schemas.openxmlformats.org/officeDocument/2006/relationships/image" Target="../media/image2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7.png"/><Relationship Id="rId11" Type="http://schemas.openxmlformats.org/officeDocument/2006/relationships/image" Target="../media/image222.png"/><Relationship Id="rId5" Type="http://schemas.openxmlformats.org/officeDocument/2006/relationships/image" Target="../media/image216.png"/><Relationship Id="rId10" Type="http://schemas.openxmlformats.org/officeDocument/2006/relationships/image" Target="../media/image221.png"/><Relationship Id="rId4" Type="http://schemas.openxmlformats.org/officeDocument/2006/relationships/image" Target="../media/image215.png"/><Relationship Id="rId9" Type="http://schemas.openxmlformats.org/officeDocument/2006/relationships/image" Target="../media/image22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750.png"/><Relationship Id="rId7" Type="http://schemas.openxmlformats.org/officeDocument/2006/relationships/image" Target="../media/image2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5.png"/><Relationship Id="rId5" Type="http://schemas.openxmlformats.org/officeDocument/2006/relationships/image" Target="../media/image224.png"/><Relationship Id="rId4" Type="http://schemas.openxmlformats.org/officeDocument/2006/relationships/image" Target="../media/image22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13" Type="http://schemas.openxmlformats.org/officeDocument/2006/relationships/image" Target="../media/image237.png"/><Relationship Id="rId3" Type="http://schemas.openxmlformats.org/officeDocument/2006/relationships/image" Target="../media/image750.png"/><Relationship Id="rId7" Type="http://schemas.openxmlformats.org/officeDocument/2006/relationships/image" Target="../media/image231.png"/><Relationship Id="rId12" Type="http://schemas.openxmlformats.org/officeDocument/2006/relationships/image" Target="../media/image122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0.png"/><Relationship Id="rId11" Type="http://schemas.openxmlformats.org/officeDocument/2006/relationships/image" Target="../media/image235.png"/><Relationship Id="rId5" Type="http://schemas.openxmlformats.org/officeDocument/2006/relationships/image" Target="../media/image229.png"/><Relationship Id="rId15" Type="http://schemas.openxmlformats.org/officeDocument/2006/relationships/image" Target="../media/image239.png"/><Relationship Id="rId10" Type="http://schemas.openxmlformats.org/officeDocument/2006/relationships/image" Target="../media/image234.png"/><Relationship Id="rId4" Type="http://schemas.openxmlformats.org/officeDocument/2006/relationships/image" Target="../media/image228.png"/><Relationship Id="rId9" Type="http://schemas.openxmlformats.org/officeDocument/2006/relationships/image" Target="../media/image233.png"/><Relationship Id="rId14" Type="http://schemas.openxmlformats.org/officeDocument/2006/relationships/image" Target="../media/image23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3" Type="http://schemas.openxmlformats.org/officeDocument/2006/relationships/image" Target="../media/image750.png"/><Relationship Id="rId7" Type="http://schemas.openxmlformats.org/officeDocument/2006/relationships/image" Target="../media/image2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3.png"/><Relationship Id="rId5" Type="http://schemas.openxmlformats.org/officeDocument/2006/relationships/image" Target="../media/image242.png"/><Relationship Id="rId4" Type="http://schemas.openxmlformats.org/officeDocument/2006/relationships/image" Target="../media/image199.png"/><Relationship Id="rId9" Type="http://schemas.openxmlformats.org/officeDocument/2006/relationships/image" Target="../media/image2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0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9.png"/><Relationship Id="rId5" Type="http://schemas.openxmlformats.org/officeDocument/2006/relationships/image" Target="../media/image20.png"/><Relationship Id="rId4" Type="http://schemas.openxmlformats.org/officeDocument/2006/relationships/image" Target="../media/image2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0.png"/><Relationship Id="rId7" Type="http://schemas.openxmlformats.org/officeDocument/2006/relationships/image" Target="../media/image1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3.png"/><Relationship Id="rId5" Type="http://schemas.openxmlformats.org/officeDocument/2006/relationships/image" Target="../media/image252.png"/><Relationship Id="rId4" Type="http://schemas.openxmlformats.org/officeDocument/2006/relationships/image" Target="../media/image25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750.png"/><Relationship Id="rId7" Type="http://schemas.openxmlformats.org/officeDocument/2006/relationships/image" Target="../media/image2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7.png"/><Relationship Id="rId11" Type="http://schemas.openxmlformats.org/officeDocument/2006/relationships/image" Target="../media/image262.png"/><Relationship Id="rId5" Type="http://schemas.openxmlformats.org/officeDocument/2006/relationships/image" Target="../media/image155.png"/><Relationship Id="rId10" Type="http://schemas.openxmlformats.org/officeDocument/2006/relationships/image" Target="../media/image261.png"/><Relationship Id="rId4" Type="http://schemas.openxmlformats.org/officeDocument/2006/relationships/image" Target="../media/image154.png"/><Relationship Id="rId9" Type="http://schemas.openxmlformats.org/officeDocument/2006/relationships/image" Target="../media/image26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3" Type="http://schemas.openxmlformats.org/officeDocument/2006/relationships/image" Target="../media/image2270.png"/><Relationship Id="rId7" Type="http://schemas.openxmlformats.org/officeDocument/2006/relationships/image" Target="../media/image26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5.png"/><Relationship Id="rId5" Type="http://schemas.openxmlformats.org/officeDocument/2006/relationships/image" Target="../media/image264.png"/><Relationship Id="rId4" Type="http://schemas.openxmlformats.org/officeDocument/2006/relationships/image" Target="../media/image26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750.png"/><Relationship Id="rId7" Type="http://schemas.openxmlformats.org/officeDocument/2006/relationships/image" Target="../media/image240.png"/><Relationship Id="rId12" Type="http://schemas.openxmlformats.org/officeDocument/2006/relationships/image" Target="../media/image15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3.png"/><Relationship Id="rId11" Type="http://schemas.openxmlformats.org/officeDocument/2006/relationships/image" Target="../media/image272.png"/><Relationship Id="rId5" Type="http://schemas.openxmlformats.org/officeDocument/2006/relationships/image" Target="../media/image269.png"/><Relationship Id="rId10" Type="http://schemas.openxmlformats.org/officeDocument/2006/relationships/image" Target="../media/image271.png"/><Relationship Id="rId4" Type="http://schemas.openxmlformats.org/officeDocument/2006/relationships/image" Target="../media/image268.png"/><Relationship Id="rId9" Type="http://schemas.openxmlformats.org/officeDocument/2006/relationships/image" Target="../media/image27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765935" y="4450080"/>
            <a:ext cx="2087880" cy="1556385"/>
            <a:chOff x="3633" y="6990"/>
            <a:chExt cx="3288" cy="2451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一元函数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4131" y="8233"/>
              <a:ext cx="226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</a:p>
          </p:txBody>
        </p:sp>
      </p:grpSp>
      <p:sp>
        <p:nvSpPr>
          <p:cNvPr id="5" name="右箭头 4"/>
          <p:cNvSpPr/>
          <p:nvPr/>
        </p:nvSpPr>
        <p:spPr>
          <a:xfrm>
            <a:off x="382587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96214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61B6C4-35F1-7875-98C1-A82818FC227F}"/>
              </a:ext>
            </a:extLst>
          </p:cNvPr>
          <p:cNvSpPr/>
          <p:nvPr/>
        </p:nvSpPr>
        <p:spPr>
          <a:xfrm>
            <a:off x="1801178" y="884555"/>
            <a:ext cx="85896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第九章   </a:t>
            </a:r>
            <a:r>
              <a:rPr lang="zh-CN" altLang="en-US" sz="4400" b="1" baseline="0" dirty="0">
                <a:solidFill>
                  <a:schemeClr val="bg1"/>
                </a:solidFill>
                <a:latin typeface="+mj-ea"/>
                <a:ea typeface="+mj-ea"/>
              </a:rPr>
              <a:t>多元函数微分法及其应用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B066930-DF94-DF6F-9EC0-A1295840C882}"/>
              </a:ext>
            </a:extLst>
          </p:cNvPr>
          <p:cNvGrpSpPr/>
          <p:nvPr/>
        </p:nvGrpSpPr>
        <p:grpSpPr>
          <a:xfrm>
            <a:off x="4730442" y="4450080"/>
            <a:ext cx="2087880" cy="1556385"/>
            <a:chOff x="3633" y="6990"/>
            <a:chExt cx="3288" cy="2451"/>
          </a:xfrm>
        </p:grpSpPr>
        <p:sp>
          <p:nvSpPr>
            <p:cNvPr id="9" name="矩形: 圆角 40">
              <a:extLst>
                <a:ext uri="{FF2B5EF4-FFF2-40B4-BE49-F238E27FC236}">
                  <a16:creationId xmlns:a16="http://schemas.microsoft.com/office/drawing/2014/main" id="{2EB9713E-EEE0-DC80-43B7-769012092E62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EF3844B-AAC9-5582-BC84-02299D166C65}"/>
                </a:ext>
              </a:extLst>
            </p:cNvPr>
            <p:cNvSpPr/>
            <p:nvPr/>
          </p:nvSpPr>
          <p:spPr>
            <a:xfrm>
              <a:off x="4056" y="6990"/>
              <a:ext cx="2441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多元函数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533C61B-C6F5-3F38-0087-496DEA7A139A}"/>
                </a:ext>
              </a:extLst>
            </p:cNvPr>
            <p:cNvSpPr/>
            <p:nvPr/>
          </p:nvSpPr>
          <p:spPr>
            <a:xfrm>
              <a:off x="4131" y="8233"/>
              <a:ext cx="2263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DA8E5B8-DE15-F373-0143-9F49B2503382}"/>
              </a:ext>
            </a:extLst>
          </p:cNvPr>
          <p:cNvGrpSpPr/>
          <p:nvPr/>
        </p:nvGrpSpPr>
        <p:grpSpPr>
          <a:xfrm>
            <a:off x="7938154" y="4469765"/>
            <a:ext cx="2087880" cy="1556385"/>
            <a:chOff x="3633" y="6990"/>
            <a:chExt cx="3288" cy="2451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57FF1588-584F-6CCF-8E4D-ACAA5D847F7B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7CE5D6D-1331-95F7-B14D-69F1DEC4A353}"/>
                </a:ext>
              </a:extLst>
            </p:cNvPr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注意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4BA4533-8480-3426-1642-FAFD9FB15DB4}"/>
                </a:ext>
              </a:extLst>
            </p:cNvPr>
            <p:cNvSpPr/>
            <p:nvPr/>
          </p:nvSpPr>
          <p:spPr>
            <a:xfrm>
              <a:off x="4157" y="7955"/>
              <a:ext cx="2240" cy="13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善于类比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区别异同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F3975876-371D-E943-BDE0-7053794AE009}"/>
              </a:ext>
            </a:extLst>
          </p:cNvPr>
          <p:cNvSpPr/>
          <p:nvPr/>
        </p:nvSpPr>
        <p:spPr>
          <a:xfrm>
            <a:off x="945202" y="2378656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多元函数的基本概念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657142-156F-BC40-A369-9AC5D1511533}"/>
              </a:ext>
            </a:extLst>
          </p:cNvPr>
          <p:cNvSpPr/>
          <p:nvPr/>
        </p:nvSpPr>
        <p:spPr>
          <a:xfrm>
            <a:off x="945202" y="3144845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全微分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321BC7-FF39-1E4C-A373-3F26FDA536D1}"/>
              </a:ext>
            </a:extLst>
          </p:cNvPr>
          <p:cNvSpPr/>
          <p:nvPr/>
        </p:nvSpPr>
        <p:spPr>
          <a:xfrm>
            <a:off x="6146076" y="2378656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偏导数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C3F917-6EB5-AF43-9C27-AC487099C634}"/>
              </a:ext>
            </a:extLst>
          </p:cNvPr>
          <p:cNvSpPr/>
          <p:nvPr/>
        </p:nvSpPr>
        <p:spPr>
          <a:xfrm>
            <a:off x="6146076" y="3144845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BE5E46-5684-754B-A1A9-127A41F07D2F}"/>
              </a:ext>
            </a:extLst>
          </p:cNvPr>
          <p:cNvSpPr/>
          <p:nvPr/>
        </p:nvSpPr>
        <p:spPr>
          <a:xfrm>
            <a:off x="945202" y="391103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隐函数的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求导公式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DB2DEE-225F-E442-8E1E-33456E4415A2}"/>
              </a:ext>
            </a:extLst>
          </p:cNvPr>
          <p:cNvSpPr/>
          <p:nvPr/>
        </p:nvSpPr>
        <p:spPr>
          <a:xfrm>
            <a:off x="945202" y="4675933"/>
            <a:ext cx="3691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方向导数与梯度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624D60B-0ECD-E147-8CE1-4C5B182862BE}"/>
              </a:ext>
            </a:extLst>
          </p:cNvPr>
          <p:cNvSpPr/>
          <p:nvPr/>
        </p:nvSpPr>
        <p:spPr>
          <a:xfrm>
            <a:off x="6146076" y="3909744"/>
            <a:ext cx="5075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多元函数微分学的几何应用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8B4882-32F6-3E47-B43D-2E381BD7331B}"/>
              </a:ext>
            </a:extLst>
          </p:cNvPr>
          <p:cNvSpPr/>
          <p:nvPr/>
        </p:nvSpPr>
        <p:spPr>
          <a:xfrm>
            <a:off x="6146076" y="4675933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第八节   多元函数的极值及其求法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00EF9C-1D20-A540-B9A1-9EA25E112FAE}"/>
              </a:ext>
            </a:extLst>
          </p:cNvPr>
          <p:cNvSpPr/>
          <p:nvPr/>
        </p:nvSpPr>
        <p:spPr>
          <a:xfrm>
            <a:off x="945202" y="5440831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二元函数的泰勒公式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A557CA-A43B-FE4D-AEC3-A535128611AD}"/>
              </a:ext>
            </a:extLst>
          </p:cNvPr>
          <p:cNvSpPr/>
          <p:nvPr/>
        </p:nvSpPr>
        <p:spPr>
          <a:xfrm>
            <a:off x="6146076" y="5440831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最小二乘法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BFBD984-590C-0E48-AD88-BFBCFF028F5B}"/>
              </a:ext>
            </a:extLst>
          </p:cNvPr>
          <p:cNvSpPr/>
          <p:nvPr/>
        </p:nvSpPr>
        <p:spPr>
          <a:xfrm>
            <a:off x="5157282" y="691154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第</a:t>
            </a:r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九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章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5910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731523"/>
            <a:ext cx="11536045" cy="42898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009258" y="686345"/>
            <a:ext cx="617348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第八节  </a:t>
            </a:r>
            <a:r>
              <a:rPr lang="zh-CN" altLang="en-US" sz="3200" b="1" dirty="0">
                <a:solidFill>
                  <a:schemeClr val="bg1"/>
                </a:solidFill>
                <a:latin typeface="Cabin Medium" panose="00000600000000000000" pitchFamily="2" charset="0"/>
                <a:ea typeface="微软雅黑" panose="020B0503020204020204" pitchFamily="34" charset="-122"/>
              </a:rPr>
              <a:t>多元函数的极值及其求法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40">
            <a:extLst>
              <a:ext uri="{FF2B5EF4-FFF2-40B4-BE49-F238E27FC236}">
                <a16:creationId xmlns:a16="http://schemas.microsoft.com/office/drawing/2014/main" id="{0AFCECA3-3830-4C31-F876-EF09B7116080}"/>
              </a:ext>
            </a:extLst>
          </p:cNvPr>
          <p:cNvSpPr/>
          <p:nvPr/>
        </p:nvSpPr>
        <p:spPr>
          <a:xfrm flipV="1">
            <a:off x="3376753" y="2223700"/>
            <a:ext cx="5310047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342900">
              <a:defRPr/>
            </a:pPr>
            <a:endParaRPr lang="zh-CN" altLang="en-US" kern="0" dirty="0">
              <a:solidFill>
                <a:srgbClr val="FFFFFF"/>
              </a:solidFill>
              <a:latin typeface="Calibri" panose="020F0502020204030204"/>
              <a:ea typeface="微软雅黑 Light" panose="020B0502040204020203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F17138-8605-1774-D008-6AE81E15D8D9}"/>
              </a:ext>
            </a:extLst>
          </p:cNvPr>
          <p:cNvSpPr/>
          <p:nvPr/>
        </p:nvSpPr>
        <p:spPr>
          <a:xfrm>
            <a:off x="3616931" y="2412933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zh-CN" altLang="en-US" sz="2800" b="1" noProof="0" dirty="0">
                <a:latin typeface="+mj-ea"/>
                <a:ea typeface="+mj-ea"/>
              </a:rPr>
              <a:t>多元函数的极值</a:t>
            </a:r>
            <a:endParaRPr lang="zh-CN" altLang="en-US" sz="2800" dirty="0"/>
          </a:p>
        </p:txBody>
      </p:sp>
      <p:sp>
        <p:nvSpPr>
          <p:cNvPr id="22" name="矩形: 圆角 40">
            <a:extLst>
              <a:ext uri="{FF2B5EF4-FFF2-40B4-BE49-F238E27FC236}">
                <a16:creationId xmlns:a16="http://schemas.microsoft.com/office/drawing/2014/main" id="{2AFCDF72-0B32-3B23-3BEA-A6D0061312B5}"/>
              </a:ext>
            </a:extLst>
          </p:cNvPr>
          <p:cNvSpPr/>
          <p:nvPr/>
        </p:nvSpPr>
        <p:spPr>
          <a:xfrm flipV="1">
            <a:off x="3376753" y="3448293"/>
            <a:ext cx="5310047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342900">
              <a:defRPr/>
            </a:pPr>
            <a:endParaRPr lang="zh-CN" altLang="en-US" kern="0" dirty="0">
              <a:solidFill>
                <a:srgbClr val="FFFFFF"/>
              </a:solidFill>
              <a:latin typeface="Calibri" panose="020F0502020204030204"/>
              <a:ea typeface="微软雅黑 Light" panose="020B0502040204020203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FFA758-C763-F6DD-43E6-7491515A6524}"/>
              </a:ext>
            </a:extLst>
          </p:cNvPr>
          <p:cNvSpPr/>
          <p:nvPr/>
        </p:nvSpPr>
        <p:spPr>
          <a:xfrm>
            <a:off x="3616931" y="3637526"/>
            <a:ext cx="4852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en-US" sz="2800" b="1" noProof="0" dirty="0">
                <a:latin typeface="+mj-ea"/>
                <a:ea typeface="+mj-ea"/>
              </a:rPr>
              <a:t>多元函数的</a:t>
            </a:r>
            <a:r>
              <a:rPr kumimoji="1" lang="zh-CN" altLang="en-US" sz="2800" b="1" i="0" u="none" strike="noStrike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最值及其应用</a:t>
            </a:r>
            <a:endParaRPr lang="zh-CN" altLang="en-US" sz="2800" dirty="0"/>
          </a:p>
        </p:txBody>
      </p:sp>
      <p:sp>
        <p:nvSpPr>
          <p:cNvPr id="17" name="矩形: 圆角 40">
            <a:extLst>
              <a:ext uri="{FF2B5EF4-FFF2-40B4-BE49-F238E27FC236}">
                <a16:creationId xmlns:a16="http://schemas.microsoft.com/office/drawing/2014/main" id="{F0C1625A-8AFB-064E-8114-6A8BDB4CCB0A}"/>
              </a:ext>
            </a:extLst>
          </p:cNvPr>
          <p:cNvSpPr/>
          <p:nvPr/>
        </p:nvSpPr>
        <p:spPr>
          <a:xfrm flipV="1">
            <a:off x="3376753" y="4664251"/>
            <a:ext cx="5310047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342900">
              <a:defRPr/>
            </a:pPr>
            <a:endParaRPr lang="zh-CN" altLang="en-US" kern="0" dirty="0">
              <a:solidFill>
                <a:srgbClr val="FFFFFF"/>
              </a:solidFill>
              <a:latin typeface="Calibri" panose="020F0502020204030204"/>
              <a:ea typeface="微软雅黑 Light" panose="020B0502040204020203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1D9E1D-1020-F744-A3FA-7B32C6575660}"/>
              </a:ext>
            </a:extLst>
          </p:cNvPr>
          <p:cNvSpPr/>
          <p:nvPr/>
        </p:nvSpPr>
        <p:spPr>
          <a:xfrm>
            <a:off x="3616931" y="4853484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条件极值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86638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5E0E33F1-BAEA-2009-E73B-A03335F29CBA}"/>
              </a:ext>
            </a:extLst>
          </p:cNvPr>
          <p:cNvGrpSpPr/>
          <p:nvPr/>
        </p:nvGrpSpPr>
        <p:grpSpPr>
          <a:xfrm>
            <a:off x="676926" y="2032846"/>
            <a:ext cx="10843244" cy="4017380"/>
            <a:chOff x="549926" y="1829167"/>
            <a:chExt cx="10843244" cy="4017380"/>
          </a:xfrm>
        </p:grpSpPr>
        <p:sp>
          <p:nvSpPr>
            <p:cNvPr id="20" name="Rectangle 1">
              <a:extLst>
                <a:ext uri="{FF2B5EF4-FFF2-40B4-BE49-F238E27FC236}">
                  <a16:creationId xmlns:a16="http://schemas.microsoft.com/office/drawing/2014/main" id="{321591D1-A157-7E2F-9F7C-6FD6CB34D49B}"/>
                </a:ext>
              </a:extLst>
            </p:cNvPr>
            <p:cNvSpPr/>
            <p:nvPr/>
          </p:nvSpPr>
          <p:spPr>
            <a:xfrm>
              <a:off x="1054100" y="1829167"/>
              <a:ext cx="10339070" cy="4017380"/>
            </a:xfrm>
            <a:prstGeom prst="rect">
              <a:avLst/>
            </a:prstGeom>
            <a:solidFill>
              <a:srgbClr val="04926A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PA-102231">
              <a:extLst>
                <a:ext uri="{FF2B5EF4-FFF2-40B4-BE49-F238E27FC236}">
                  <a16:creationId xmlns:a16="http://schemas.microsoft.com/office/drawing/2014/main" id="{0FF8F85E-9015-CEF0-A3EC-9FB83078C96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60853" y="3627733"/>
              <a:ext cx="986494" cy="751655"/>
            </a:xfrm>
            <a:prstGeom prst="rect">
              <a:avLst/>
            </a:prstGeom>
            <a:solidFill>
              <a:schemeClr val="bg1"/>
            </a:solidFill>
            <a:ln w="19050">
              <a:gradFill>
                <a:gsLst>
                  <a:gs pos="5000">
                    <a:srgbClr val="17A45E"/>
                  </a:gs>
                  <a:gs pos="56000">
                    <a:srgbClr val="039267"/>
                  </a:gs>
                  <a:gs pos="100000">
                    <a:srgbClr val="068983"/>
                  </a:gs>
                </a:gsLst>
                <a:lin ang="10800000" scaled="0"/>
              </a:gradFill>
            </a:ln>
            <a:effectLst>
              <a:outerShdw blurRad="203200" dist="63500" dir="3000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n>
                  <a:solidFill>
                    <a:schemeClr val="bg1">
                      <a:lumMod val="95000"/>
                    </a:schemeClr>
                  </a:solidFill>
                </a:ln>
                <a:cs typeface="+mn-ea"/>
                <a:sym typeface="+mn-lt"/>
              </a:endParaRPr>
            </a:p>
          </p:txBody>
        </p:sp>
        <p:sp>
          <p:nvSpPr>
            <p:cNvPr id="24" name="Rectangle 2">
              <a:extLst>
                <a:ext uri="{FF2B5EF4-FFF2-40B4-BE49-F238E27FC236}">
                  <a16:creationId xmlns:a16="http://schemas.microsoft.com/office/drawing/2014/main" id="{063E04AD-CD27-AD37-B249-75F3FD0F387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49926" y="3740429"/>
              <a:ext cx="1341632" cy="526262"/>
            </a:xfrm>
            <a:noFill/>
            <a:ln>
              <a:noFill/>
            </a:ln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kumimoji="1"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定义</a:t>
              </a:r>
              <a:r>
                <a:rPr kumimoji="1"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</a:p>
          </p:txBody>
        </p:sp>
      </p:grpSp>
      <p:sp>
        <p:nvSpPr>
          <p:cNvPr id="2" name="Rectangle 27">
            <a:extLst>
              <a:ext uri="{FF2B5EF4-FFF2-40B4-BE49-F238E27FC236}">
                <a16:creationId xmlns:a16="http://schemas.microsoft.com/office/drawing/2014/main" id="{0EF0F764-1045-E3FA-EA2D-7B6A9AA1C457}"/>
              </a:ext>
            </a:extLst>
          </p:cNvPr>
          <p:cNvSpPr txBox="1">
            <a:spLocks noChangeArrowheads="1"/>
          </p:cNvSpPr>
          <p:nvPr/>
        </p:nvSpPr>
        <p:spPr>
          <a:xfrm>
            <a:off x="1041815" y="726398"/>
            <a:ext cx="3928456" cy="52632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一、多元函数的极值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BB668A-4BC3-E8DD-6F37-C3533D863D80}"/>
              </a:ext>
            </a:extLst>
          </p:cNvPr>
          <p:cNvSpPr txBox="1">
            <a:spLocks noChangeArrowheads="1"/>
          </p:cNvSpPr>
          <p:nvPr/>
        </p:nvSpPr>
        <p:spPr>
          <a:xfrm>
            <a:off x="1438806" y="1271746"/>
            <a:ext cx="3928456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二元函数极值的定义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45">
                <a:extLst>
                  <a:ext uri="{FF2B5EF4-FFF2-40B4-BE49-F238E27FC236}">
                    <a16:creationId xmlns:a16="http://schemas.microsoft.com/office/drawing/2014/main" id="{5B9896B3-8349-D2E2-E6BC-669988C18F4A}"/>
                  </a:ext>
                </a:extLst>
              </p:cNvPr>
              <p:cNvSpPr txBox="1"/>
              <p:nvPr/>
            </p:nvSpPr>
            <p:spPr>
              <a:xfrm>
                <a:off x="2209860" y="2234052"/>
                <a:ext cx="7221537" cy="56638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设函数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的某邻域内有定义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45">
                <a:extLst>
                  <a:ext uri="{FF2B5EF4-FFF2-40B4-BE49-F238E27FC236}">
                    <a16:creationId xmlns:a16="http://schemas.microsoft.com/office/drawing/2014/main" id="{5B9896B3-8349-D2E2-E6BC-669988C18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60" y="2234052"/>
                <a:ext cx="7221537" cy="5663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46">
                <a:extLst>
                  <a:ext uri="{FF2B5EF4-FFF2-40B4-BE49-F238E27FC236}">
                    <a16:creationId xmlns:a16="http://schemas.microsoft.com/office/drawing/2014/main" id="{5A9AEB6C-14ED-8BDA-BAA2-8302C3F6AAC8}"/>
                  </a:ext>
                </a:extLst>
              </p:cNvPr>
              <p:cNvSpPr txBox="1"/>
              <p:nvPr/>
            </p:nvSpPr>
            <p:spPr>
              <a:xfrm>
                <a:off x="2209860" y="2813920"/>
                <a:ext cx="7221105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如果对于去心邻域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内的任一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有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对象 46">
                <a:extLst>
                  <a:ext uri="{FF2B5EF4-FFF2-40B4-BE49-F238E27FC236}">
                    <a16:creationId xmlns:a16="http://schemas.microsoft.com/office/drawing/2014/main" id="{5A9AEB6C-14ED-8BDA-BAA2-8302C3F6A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60" y="2813920"/>
                <a:ext cx="7221105" cy="457200"/>
              </a:xfrm>
              <a:prstGeom prst="rect">
                <a:avLst/>
              </a:prstGeom>
              <a:blipFill>
                <a:blip r:embed="rId5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9">
            <a:extLst>
              <a:ext uri="{FF2B5EF4-FFF2-40B4-BE49-F238E27FC236}">
                <a16:creationId xmlns:a16="http://schemas.microsoft.com/office/drawing/2014/main" id="{0F90C7D0-6280-9DBC-D2EF-8CF6EDC95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60" y="4740683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lang="zh-CN" altLang="en-US" sz="2800" dirty="0">
                <a:latin typeface="黑体" panose="02010609060101010101" pitchFamily="49" charset="-122"/>
              </a:rPr>
              <a:t>函数的极大值与极小值统称为</a:t>
            </a:r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5DE20015-AB75-6492-41AB-B5FAF2D41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0020" y="4762230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lang="zh-CN" altLang="en-US" sz="2800" dirty="0">
                <a:solidFill>
                  <a:srgbClr val="04926A"/>
                </a:solidFill>
                <a:latin typeface="Cabin Medium" panose="00000600000000000000" pitchFamily="2" charset="0"/>
              </a:rPr>
              <a:t>极值</a:t>
            </a:r>
            <a:r>
              <a:rPr lang="en-US" altLang="zh-CN" sz="2800" b="1" dirty="0">
                <a:solidFill>
                  <a:srgbClr val="04926A"/>
                </a:solidFill>
                <a:latin typeface="Cabin Medium" panose="00000600000000000000" pitchFamily="2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C42FC812-D17A-449E-4599-6BCC3805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565" y="5340044"/>
            <a:ext cx="1435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</a:rPr>
              <a:t>极值点</a:t>
            </a:r>
            <a:r>
              <a:rPr lang="en-US" altLang="zh-CN" sz="2800" b="1" dirty="0">
                <a:solidFill>
                  <a:srgbClr val="04926A"/>
                </a:solidFill>
                <a:latin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52">
                <a:extLst>
                  <a:ext uri="{FF2B5EF4-FFF2-40B4-BE49-F238E27FC236}">
                    <a16:creationId xmlns:a16="http://schemas.microsoft.com/office/drawing/2014/main" id="{BB5F39A3-B913-1196-CB25-6348E6C9391C}"/>
                  </a:ext>
                </a:extLst>
              </p:cNvPr>
              <p:cNvSpPr txBox="1"/>
              <p:nvPr/>
            </p:nvSpPr>
            <p:spPr>
              <a:xfrm>
                <a:off x="2209860" y="5371000"/>
                <a:ext cx="6625008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使函数取得极值的点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自变量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称为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对象 52">
                <a:extLst>
                  <a:ext uri="{FF2B5EF4-FFF2-40B4-BE49-F238E27FC236}">
                    <a16:creationId xmlns:a16="http://schemas.microsoft.com/office/drawing/2014/main" id="{BB5F39A3-B913-1196-CB25-6348E6C93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60" y="5371000"/>
                <a:ext cx="6625008" cy="457200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对象 52">
                <a:extLst>
                  <a:ext uri="{FF2B5EF4-FFF2-40B4-BE49-F238E27FC236}">
                    <a16:creationId xmlns:a16="http://schemas.microsoft.com/office/drawing/2014/main" id="{50D8B7BB-F595-61CB-EB5D-63770007592B}"/>
                  </a:ext>
                </a:extLst>
              </p:cNvPr>
              <p:cNvSpPr txBox="1"/>
              <p:nvPr/>
            </p:nvSpPr>
            <p:spPr>
              <a:xfrm>
                <a:off x="8527130" y="4032220"/>
                <a:ext cx="1963069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或</m:t>
                      </m:r>
                      <m:r>
                        <a:rPr lang="zh-CN" altLang="en-US" sz="2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极小值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6" name="对象 52">
                <a:extLst>
                  <a:ext uri="{FF2B5EF4-FFF2-40B4-BE49-F238E27FC236}">
                    <a16:creationId xmlns:a16="http://schemas.microsoft.com/office/drawing/2014/main" id="{50D8B7BB-F595-61CB-EB5D-637700075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130" y="4032220"/>
                <a:ext cx="1963069" cy="457200"/>
              </a:xfrm>
              <a:prstGeom prst="rect">
                <a:avLst/>
              </a:prstGeom>
              <a:blipFill>
                <a:blip r:embed="rId7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对象 52">
                <a:extLst>
                  <a:ext uri="{FF2B5EF4-FFF2-40B4-BE49-F238E27FC236}">
                    <a16:creationId xmlns:a16="http://schemas.microsoft.com/office/drawing/2014/main" id="{FE57E063-05CF-5DA7-F488-253F63F4850B}"/>
                  </a:ext>
                </a:extLst>
              </p:cNvPr>
              <p:cNvSpPr txBox="1"/>
              <p:nvPr/>
            </p:nvSpPr>
            <p:spPr>
              <a:xfrm>
                <a:off x="2209861" y="4072963"/>
                <a:ext cx="6508690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称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是函数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的一个极大值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7" name="对象 52">
                <a:extLst>
                  <a:ext uri="{FF2B5EF4-FFF2-40B4-BE49-F238E27FC236}">
                    <a16:creationId xmlns:a16="http://schemas.microsoft.com/office/drawing/2014/main" id="{FE57E063-05CF-5DA7-F488-253F63F48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61" y="4072963"/>
                <a:ext cx="6508690" cy="457200"/>
              </a:xfrm>
              <a:prstGeom prst="rect">
                <a:avLst/>
              </a:prstGeom>
              <a:blipFill>
                <a:blip r:embed="rId8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对象 45">
                <a:extLst>
                  <a:ext uri="{FF2B5EF4-FFF2-40B4-BE49-F238E27FC236}">
                    <a16:creationId xmlns:a16="http://schemas.microsoft.com/office/drawing/2014/main" id="{FD3ABF23-2594-7599-EA5A-3A73502DC8C4}"/>
                  </a:ext>
                </a:extLst>
              </p:cNvPr>
              <p:cNvSpPr txBox="1"/>
              <p:nvPr/>
            </p:nvSpPr>
            <p:spPr>
              <a:xfrm>
                <a:off x="2845497" y="3434844"/>
                <a:ext cx="2974915" cy="56638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800" dirty="0">
                          <a:solidFill>
                            <a:srgbClr val="04926A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＜</m:t>
                      </m:r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" name="对象 45">
                <a:extLst>
                  <a:ext uri="{FF2B5EF4-FFF2-40B4-BE49-F238E27FC236}">
                    <a16:creationId xmlns:a16="http://schemas.microsoft.com/office/drawing/2014/main" id="{FD3ABF23-2594-7599-EA5A-3A73502DC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497" y="3434844"/>
                <a:ext cx="2974915" cy="5663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对象 52">
                <a:extLst>
                  <a:ext uri="{FF2B5EF4-FFF2-40B4-BE49-F238E27FC236}">
                    <a16:creationId xmlns:a16="http://schemas.microsoft.com/office/drawing/2014/main" id="{9791FC95-F74D-2014-7DB2-27A02D483666}"/>
                  </a:ext>
                </a:extLst>
              </p:cNvPr>
              <p:cNvSpPr txBox="1"/>
              <p:nvPr/>
            </p:nvSpPr>
            <p:spPr>
              <a:xfrm>
                <a:off x="5619871" y="3422988"/>
                <a:ext cx="3581400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或</m:t>
                      </m:r>
                      <m:r>
                        <a:rPr lang="zh-CN" altLang="en-US" sz="2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800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＞</m:t>
                      </m:r>
                      <m:r>
                        <a:rPr lang="zh-CN" altLang="en-US" sz="28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对象 52">
                <a:extLst>
                  <a:ext uri="{FF2B5EF4-FFF2-40B4-BE49-F238E27FC236}">
                    <a16:creationId xmlns:a16="http://schemas.microsoft.com/office/drawing/2014/main" id="{9791FC95-F74D-2014-7DB2-27A02D483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871" y="3422988"/>
                <a:ext cx="3581400" cy="45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3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 animBg="1"/>
      <p:bldP spid="21" grpId="1" animBg="1"/>
      <p:bldP spid="2" grpId="0"/>
      <p:bldP spid="3" grpId="0"/>
      <p:bldP spid="7" grpId="0"/>
      <p:bldP spid="8" grpId="0"/>
      <p:bldP spid="15" grpId="0"/>
      <p:bldP spid="17" grpId="0"/>
      <p:bldP spid="18" grpId="0"/>
      <p:bldP spid="19" grpId="0"/>
      <p:bldP spid="26" grpId="0"/>
      <p:bldP spid="27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E469CFFD-A31B-F862-4DD6-69E45B5B53F9}"/>
              </a:ext>
            </a:extLst>
          </p:cNvPr>
          <p:cNvGrpSpPr/>
          <p:nvPr/>
        </p:nvGrpSpPr>
        <p:grpSpPr>
          <a:xfrm>
            <a:off x="687007" y="528832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F9274FF9-160A-77C0-8BCD-3B5B7BAD0C2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F9274FF9-160A-77C0-8BCD-3B5B7BAD0C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70682988-153F-55EC-4FCE-F7207507409B}"/>
                </a:ext>
              </a:extLst>
            </p:cNvPr>
            <p:cNvSpPr/>
            <p:nvPr/>
          </p:nvSpPr>
          <p:spPr>
            <a:xfrm>
              <a:off x="687324" y="53626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半闭框 18">
              <a:extLst>
                <a:ext uri="{FF2B5EF4-FFF2-40B4-BE49-F238E27FC236}">
                  <a16:creationId xmlns:a16="http://schemas.microsoft.com/office/drawing/2014/main" id="{D95B622E-7852-93B7-4380-8611F45620F4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半闭框 19">
              <a:extLst>
                <a:ext uri="{FF2B5EF4-FFF2-40B4-BE49-F238E27FC236}">
                  <a16:creationId xmlns:a16="http://schemas.microsoft.com/office/drawing/2014/main" id="{7046508A-A5AC-A552-5EBA-B94E8D44AD0B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25" name="半闭框 24">
              <a:extLst>
                <a:ext uri="{FF2B5EF4-FFF2-40B4-BE49-F238E27FC236}">
                  <a16:creationId xmlns:a16="http://schemas.microsoft.com/office/drawing/2014/main" id="{80C2A60B-C85F-D6E3-1677-D6DF210CC315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Text Box 2054">
            <a:extLst>
              <a:ext uri="{FF2B5EF4-FFF2-40B4-BE49-F238E27FC236}">
                <a16:creationId xmlns:a16="http://schemas.microsoft.com/office/drawing/2014/main" id="{CCBD63FF-154F-2932-E4AF-8CD06C051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376" y="1033952"/>
            <a:ext cx="77970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2055">
                <a:extLst>
                  <a:ext uri="{FF2B5EF4-FFF2-40B4-BE49-F238E27FC236}">
                    <a16:creationId xmlns:a16="http://schemas.microsoft.com/office/drawing/2014/main" id="{C84A56F6-7C9D-D50B-3978-4CE0E0B0C7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52004" y="1033952"/>
                <a:ext cx="345877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在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点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(0,0)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有极小值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r>
                  <a:rPr kumimoji="1" lang="en-US" altLang="zh-CN" sz="2800" dirty="0">
                    <a:ea typeface="黑体" panose="02010609060101010101" pitchFamily="49" charset="-122"/>
                    <a:cs typeface="Cambria Math" panose="02040503050406030204" charset="0"/>
                  </a:rPr>
                  <a:t> </a:t>
                </a:r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Text Box 2055">
                <a:extLst>
                  <a:ext uri="{FF2B5EF4-FFF2-40B4-BE49-F238E27FC236}">
                    <a16:creationId xmlns:a16="http://schemas.microsoft.com/office/drawing/2014/main" id="{C84A56F6-7C9D-D50B-3978-4CE0E0B0C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2004" y="1033952"/>
                <a:ext cx="3458777" cy="523220"/>
              </a:xfrm>
              <a:prstGeom prst="rect">
                <a:avLst/>
              </a:prstGeom>
              <a:blipFill>
                <a:blip r:embed="rId4"/>
                <a:stretch>
                  <a:fillRect l="-3521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2056">
                <a:extLst>
                  <a:ext uri="{FF2B5EF4-FFF2-40B4-BE49-F238E27FC236}">
                    <a16:creationId xmlns:a16="http://schemas.microsoft.com/office/drawing/2014/main" id="{4729ACD2-6100-76BB-D723-8DDD251187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52004" y="1680035"/>
                <a:ext cx="33528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在点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(0,0)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有极大值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Text Box 2056">
                <a:extLst>
                  <a:ext uri="{FF2B5EF4-FFF2-40B4-BE49-F238E27FC236}">
                    <a16:creationId xmlns:a16="http://schemas.microsoft.com/office/drawing/2014/main" id="{4729ACD2-6100-76BB-D723-8DDD2511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2004" y="1680035"/>
                <a:ext cx="3352800" cy="519113"/>
              </a:xfrm>
              <a:prstGeom prst="rect">
                <a:avLst/>
              </a:prstGeom>
              <a:blipFill>
                <a:blip r:embed="rId5"/>
                <a:stretch>
                  <a:fillRect l="-3636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2057">
                <a:extLst>
                  <a:ext uri="{FF2B5EF4-FFF2-40B4-BE49-F238E27FC236}">
                    <a16:creationId xmlns:a16="http://schemas.microsoft.com/office/drawing/2014/main" id="{D8453B39-A623-7738-8064-872F02DA2F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4723" y="2438281"/>
                <a:ext cx="32004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在点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(0,0)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无极值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 Box 2057">
                <a:extLst>
                  <a:ext uri="{FF2B5EF4-FFF2-40B4-BE49-F238E27FC236}">
                    <a16:creationId xmlns:a16="http://schemas.microsoft.com/office/drawing/2014/main" id="{D8453B39-A623-7738-8064-872F02DA2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4723" y="2438281"/>
                <a:ext cx="3200400" cy="519112"/>
              </a:xfrm>
              <a:prstGeom prst="rect">
                <a:avLst/>
              </a:prstGeom>
              <a:blipFill>
                <a:blip r:embed="rId6"/>
                <a:stretch>
                  <a:fillRect l="-3810" t="-17647" b="-352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079">
                <a:extLst>
                  <a:ext uri="{FF2B5EF4-FFF2-40B4-BE49-F238E27FC236}">
                    <a16:creationId xmlns:a16="http://schemas.microsoft.com/office/drawing/2014/main" id="{D0D1E37D-E6C3-04E6-37F9-8565B94C1C60}"/>
                  </a:ext>
                </a:extLst>
              </p:cNvPr>
              <p:cNvSpPr txBox="1"/>
              <p:nvPr/>
            </p:nvSpPr>
            <p:spPr bwMode="auto">
              <a:xfrm>
                <a:off x="2459422" y="1037616"/>
                <a:ext cx="31369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函数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=3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+4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2079">
                <a:extLst>
                  <a:ext uri="{FF2B5EF4-FFF2-40B4-BE49-F238E27FC236}">
                    <a16:creationId xmlns:a16="http://schemas.microsoft.com/office/drawing/2014/main" id="{D0D1E37D-E6C3-04E6-37F9-8565B94C1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9422" y="1037616"/>
                <a:ext cx="3136900" cy="4699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2080">
                <a:extLst>
                  <a:ext uri="{FF2B5EF4-FFF2-40B4-BE49-F238E27FC236}">
                    <a16:creationId xmlns:a16="http://schemas.microsoft.com/office/drawing/2014/main" id="{B660120C-8BA9-268A-DFBE-06A91FF4BE21}"/>
                  </a:ext>
                </a:extLst>
              </p:cNvPr>
              <p:cNvSpPr txBox="1"/>
              <p:nvPr/>
            </p:nvSpPr>
            <p:spPr bwMode="auto">
              <a:xfrm>
                <a:off x="2485412" y="1653842"/>
                <a:ext cx="3084919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函数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Object 2080">
                <a:extLst>
                  <a:ext uri="{FF2B5EF4-FFF2-40B4-BE49-F238E27FC236}">
                    <a16:creationId xmlns:a16="http://schemas.microsoft.com/office/drawing/2014/main" id="{B660120C-8BA9-268A-DFBE-06A91FF4B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5412" y="1653842"/>
                <a:ext cx="3084919" cy="5715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081">
                <a:extLst>
                  <a:ext uri="{FF2B5EF4-FFF2-40B4-BE49-F238E27FC236}">
                    <a16:creationId xmlns:a16="http://schemas.microsoft.com/office/drawing/2014/main" id="{527B6E47-9F3F-8A47-2F8D-F4FF6F1B294A}"/>
                  </a:ext>
                </a:extLst>
              </p:cNvPr>
              <p:cNvSpPr txBox="1"/>
              <p:nvPr/>
            </p:nvSpPr>
            <p:spPr bwMode="auto">
              <a:xfrm>
                <a:off x="2495081" y="2438281"/>
                <a:ext cx="2397533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函数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Object 2081">
                <a:extLst>
                  <a:ext uri="{FF2B5EF4-FFF2-40B4-BE49-F238E27FC236}">
                    <a16:creationId xmlns:a16="http://schemas.microsoft.com/office/drawing/2014/main" id="{527B6E47-9F3F-8A47-2F8D-F4FF6F1B2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5081" y="2438281"/>
                <a:ext cx="2397533" cy="431800"/>
              </a:xfrm>
              <a:prstGeom prst="rect">
                <a:avLst/>
              </a:prstGeom>
              <a:blipFill>
                <a:blip r:embed="rId11"/>
                <a:stretch>
                  <a:fillRect b="-56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2054">
            <a:extLst>
              <a:ext uri="{FF2B5EF4-FFF2-40B4-BE49-F238E27FC236}">
                <a16:creationId xmlns:a16="http://schemas.microsoft.com/office/drawing/2014/main" id="{C1762134-3091-3502-216E-AC2B960C8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376" y="1731842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3" name="Text Box 2054">
            <a:extLst>
              <a:ext uri="{FF2B5EF4-FFF2-40B4-BE49-F238E27FC236}">
                <a16:creationId xmlns:a16="http://schemas.microsoft.com/office/drawing/2014/main" id="{C0369EDF-A75C-6151-11B7-CD4A52571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376" y="2394625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8F9E404-BA0D-CD79-FAD9-8B1363A4B884}"/>
              </a:ext>
            </a:extLst>
          </p:cNvPr>
          <p:cNvGrpSpPr/>
          <p:nvPr/>
        </p:nvGrpSpPr>
        <p:grpSpPr>
          <a:xfrm>
            <a:off x="1798840" y="3039507"/>
            <a:ext cx="612775" cy="612775"/>
            <a:chOff x="1601" y="872"/>
            <a:chExt cx="965" cy="965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9D91BAB-3BFF-1BE2-63B2-47EC20355E34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AE54549-D8EC-BDE5-6AF3-86010296713E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71EC92DB-57CD-3601-D48A-36DB0712A5C8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1">
                <a:extLst>
                  <a:ext uri="{FF2B5EF4-FFF2-40B4-BE49-F238E27FC236}">
                    <a16:creationId xmlns:a16="http://schemas.microsoft.com/office/drawing/2014/main" id="{6B99DC86-670A-1148-5BBE-379B777C362D}"/>
                  </a:ext>
                </a:extLst>
              </p:cNvPr>
              <p:cNvSpPr txBox="1"/>
              <p:nvPr/>
            </p:nvSpPr>
            <p:spPr>
              <a:xfrm>
                <a:off x="1715376" y="3904189"/>
                <a:ext cx="10456992" cy="52183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如上二元函数的极值定义可推广到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元函数</m:t>
                      </m:r>
                      <m:d>
                        <m:dPr>
                          <m:ctrlPr>
                            <a:rPr kumimoji="1"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请自行写出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对象 11">
                <a:extLst>
                  <a:ext uri="{FF2B5EF4-FFF2-40B4-BE49-F238E27FC236}">
                    <a16:creationId xmlns:a16="http://schemas.microsoft.com/office/drawing/2014/main" id="{6B99DC86-670A-1148-5BBE-379B777C3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5376" y="3904189"/>
                <a:ext cx="10456992" cy="5218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16">
                <a:extLst>
                  <a:ext uri="{FF2B5EF4-FFF2-40B4-BE49-F238E27FC236}">
                    <a16:creationId xmlns:a16="http://schemas.microsoft.com/office/drawing/2014/main" id="{3D23D965-351E-A475-95B8-0A223A33E2E0}"/>
                  </a:ext>
                </a:extLst>
              </p:cNvPr>
              <p:cNvSpPr txBox="1"/>
              <p:nvPr/>
            </p:nvSpPr>
            <p:spPr>
              <a:xfrm>
                <a:off x="1715376" y="4559708"/>
                <a:ext cx="10190292" cy="52183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与一元函数一样</m:t>
                      </m:r>
                      <m:r>
                        <a:rPr kumimoji="1" lang="en-US" altLang="zh-CN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多元函数的极值在它的定义区域内也是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对象 16">
                <a:extLst>
                  <a:ext uri="{FF2B5EF4-FFF2-40B4-BE49-F238E27FC236}">
                    <a16:creationId xmlns:a16="http://schemas.microsoft.com/office/drawing/2014/main" id="{3D23D965-351E-A475-95B8-0A223A33E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5376" y="4559708"/>
                <a:ext cx="10190292" cy="5218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对象 16">
                <a:extLst>
                  <a:ext uri="{FF2B5EF4-FFF2-40B4-BE49-F238E27FC236}">
                    <a16:creationId xmlns:a16="http://schemas.microsoft.com/office/drawing/2014/main" id="{4D3F23EE-778A-C36A-C641-C57C6B4D0E53}"/>
                  </a:ext>
                </a:extLst>
              </p:cNvPr>
              <p:cNvSpPr txBox="1"/>
              <p:nvPr/>
            </p:nvSpPr>
            <p:spPr>
              <a:xfrm>
                <a:off x="1710191" y="5155557"/>
                <a:ext cx="8090474" cy="52183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 b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局部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性的</a:t>
                </a:r>
                <a14:m>
                  <m:oMath xmlns:m="http://schemas.openxmlformats.org/officeDocument/2006/math">
                    <m:r>
                      <a:rPr kumimoji="1" lang="en-US" altLang="zh-CN" sz="2800" b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可能不唯一</a:t>
                </a:r>
                <a14:m>
                  <m:oMath xmlns:m="http://schemas.openxmlformats.org/officeDocument/2006/math">
                    <m:r>
                      <a:rPr kumimoji="1" lang="en-US" altLang="zh-CN" sz="2800" b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极大值可能小于极小值等</a:t>
                </a:r>
                <a:r>
                  <a:rPr kumimoji="1" lang="en-US" altLang="zh-CN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.</a:t>
                </a:r>
                <a:endParaRPr kumimoji="1" lang="zh-CN" altLang="en-US" sz="2800" dirty="0">
                  <a:solidFill>
                    <a:srgbClr val="04926A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对象 16">
                <a:extLst>
                  <a:ext uri="{FF2B5EF4-FFF2-40B4-BE49-F238E27FC236}">
                    <a16:creationId xmlns:a16="http://schemas.microsoft.com/office/drawing/2014/main" id="{4D3F23EE-778A-C36A-C641-C57C6B4D0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191" y="5155557"/>
                <a:ext cx="8090474" cy="521832"/>
              </a:xfrm>
              <a:prstGeom prst="rect">
                <a:avLst/>
              </a:prstGeom>
              <a:blipFill>
                <a:blip r:embed="rId14"/>
                <a:stretch>
                  <a:fillRect t="-17647" b="-35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20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1" grpId="0"/>
      <p:bldP spid="22" grpId="0"/>
      <p:bldP spid="23" grpId="0"/>
      <p:bldP spid="14" grpId="0"/>
      <p:bldP spid="1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99E76A4-FBDE-4A22-136E-546F8A4CE29B}"/>
              </a:ext>
            </a:extLst>
          </p:cNvPr>
          <p:cNvSpPr txBox="1">
            <a:spLocks noChangeArrowheads="1"/>
          </p:cNvSpPr>
          <p:nvPr/>
        </p:nvSpPr>
        <p:spPr>
          <a:xfrm>
            <a:off x="996877" y="629901"/>
            <a:ext cx="4569361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二元函数极值存在的条件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Text Box 1028">
            <a:extLst>
              <a:ext uri="{FF2B5EF4-FFF2-40B4-BE49-F238E27FC236}">
                <a16:creationId xmlns:a16="http://schemas.microsoft.com/office/drawing/2014/main" id="{C53B38D0-35C1-58BA-83DC-663F7E37E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3238" y="131606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函数</a:t>
            </a:r>
          </a:p>
        </p:txBody>
      </p:sp>
      <p:sp>
        <p:nvSpPr>
          <p:cNvPr id="5" name="Text Box 1035">
            <a:extLst>
              <a:ext uri="{FF2B5EF4-FFF2-40B4-BE49-F238E27FC236}">
                <a16:creationId xmlns:a16="http://schemas.microsoft.com/office/drawing/2014/main" id="{803FEC62-B901-FDB9-953E-F2092FB5A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997" y="3294093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063">
                <a:extLst>
                  <a:ext uri="{FF2B5EF4-FFF2-40B4-BE49-F238E27FC236}">
                    <a16:creationId xmlns:a16="http://schemas.microsoft.com/office/drawing/2014/main" id="{8DA0B276-B9BF-35AF-8F28-E052BEAFDBC1}"/>
                  </a:ext>
                </a:extLst>
              </p:cNvPr>
              <p:cNvSpPr txBox="1"/>
              <p:nvPr/>
            </p:nvSpPr>
            <p:spPr bwMode="auto">
              <a:xfrm>
                <a:off x="4531690" y="2543221"/>
                <a:ext cx="4896000" cy="576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063">
                <a:extLst>
                  <a:ext uri="{FF2B5EF4-FFF2-40B4-BE49-F238E27FC236}">
                    <a16:creationId xmlns:a16="http://schemas.microsoft.com/office/drawing/2014/main" id="{8DA0B276-B9BF-35AF-8F28-E052BEAFD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1690" y="2543221"/>
                <a:ext cx="4896000" cy="5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065">
                <a:extLst>
                  <a:ext uri="{FF2B5EF4-FFF2-40B4-BE49-F238E27FC236}">
                    <a16:creationId xmlns:a16="http://schemas.microsoft.com/office/drawing/2014/main" id="{7B6C35F0-B644-589E-F88E-FC291B3FC9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2187" y="3367446"/>
                <a:ext cx="296930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取得极大值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Text Box 1065">
                <a:extLst>
                  <a:ext uri="{FF2B5EF4-FFF2-40B4-BE49-F238E27FC236}">
                    <a16:creationId xmlns:a16="http://schemas.microsoft.com/office/drawing/2014/main" id="{7B6C35F0-B644-589E-F88E-FC291B3FC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82187" y="3367446"/>
                <a:ext cx="2969303" cy="430887"/>
              </a:xfrm>
              <a:prstGeom prst="rect">
                <a:avLst/>
              </a:prstGeom>
              <a:blipFill>
                <a:blip r:embed="rId4"/>
                <a:stretch>
                  <a:fillRect l="-2669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073">
                <a:extLst>
                  <a:ext uri="{FF2B5EF4-FFF2-40B4-BE49-F238E27FC236}">
                    <a16:creationId xmlns:a16="http://schemas.microsoft.com/office/drawing/2014/main" id="{1EA18051-EF40-0CBB-EC11-8EDDCCDCCB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8076" y="1890579"/>
                <a:ext cx="33528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且在该点取得极值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Text Box 1073">
                <a:extLst>
                  <a:ext uri="{FF2B5EF4-FFF2-40B4-BE49-F238E27FC236}">
                    <a16:creationId xmlns:a16="http://schemas.microsoft.com/office/drawing/2014/main" id="{1EA18051-EF40-0CBB-EC11-8EDDCCDCC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8076" y="1890579"/>
                <a:ext cx="3352800" cy="519112"/>
              </a:xfrm>
              <a:prstGeom prst="rect">
                <a:avLst/>
              </a:prstGeom>
              <a:blipFill>
                <a:blip r:embed="rId5"/>
                <a:stretch>
                  <a:fillRect l="-3636" t="-16471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074">
            <a:extLst>
              <a:ext uri="{FF2B5EF4-FFF2-40B4-BE49-F238E27FC236}">
                <a16:creationId xmlns:a16="http://schemas.microsoft.com/office/drawing/2014/main" id="{E38262F5-83E6-DDB3-18FC-DADEB301A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6331" y="1883509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则有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081">
                <a:extLst>
                  <a:ext uri="{FF2B5EF4-FFF2-40B4-BE49-F238E27FC236}">
                    <a16:creationId xmlns:a16="http://schemas.microsoft.com/office/drawing/2014/main" id="{AB6A86ED-A6D3-57C4-B079-AE9F18E37C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35423" y="1350314"/>
                <a:ext cx="220696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存在偏导数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Text Box 1081">
                <a:extLst>
                  <a:ext uri="{FF2B5EF4-FFF2-40B4-BE49-F238E27FC236}">
                    <a16:creationId xmlns:a16="http://schemas.microsoft.com/office/drawing/2014/main" id="{AB6A86ED-A6D3-57C4-B079-AE9F18E37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35423" y="1350314"/>
                <a:ext cx="2206962" cy="523220"/>
              </a:xfrm>
              <a:prstGeom prst="rect">
                <a:avLst/>
              </a:prstGeom>
              <a:blipFill>
                <a:blip r:embed="rId6"/>
                <a:stretch>
                  <a:fillRect l="-5801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82">
                <a:extLst>
                  <a:ext uri="{FF2B5EF4-FFF2-40B4-BE49-F238E27FC236}">
                    <a16:creationId xmlns:a16="http://schemas.microsoft.com/office/drawing/2014/main" id="{3A5D736E-B2B7-31C8-0843-1724E031B86C}"/>
                  </a:ext>
                </a:extLst>
              </p:cNvPr>
              <p:cNvSpPr txBox="1"/>
              <p:nvPr/>
            </p:nvSpPr>
            <p:spPr bwMode="auto">
              <a:xfrm>
                <a:off x="2488076" y="3333766"/>
                <a:ext cx="4271498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不妨设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082">
                <a:extLst>
                  <a:ext uri="{FF2B5EF4-FFF2-40B4-BE49-F238E27FC236}">
                    <a16:creationId xmlns:a16="http://schemas.microsoft.com/office/drawing/2014/main" id="{3A5D736E-B2B7-31C8-0843-1724E031B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8076" y="3333766"/>
                <a:ext cx="4271498" cy="444500"/>
              </a:xfrm>
              <a:prstGeom prst="rect">
                <a:avLst/>
              </a:prstGeom>
              <a:blipFill>
                <a:blip r:embed="rId7"/>
                <a:stretch>
                  <a:fillRect l="-999" b="-136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42">
                <a:extLst>
                  <a:ext uri="{FF2B5EF4-FFF2-40B4-BE49-F238E27FC236}">
                    <a16:creationId xmlns:a16="http://schemas.microsoft.com/office/drawing/2014/main" id="{E1E1D5B6-2184-365D-FF18-44DCE98348ED}"/>
                  </a:ext>
                </a:extLst>
              </p:cNvPr>
              <p:cNvSpPr txBox="1"/>
              <p:nvPr/>
            </p:nvSpPr>
            <p:spPr>
              <a:xfrm>
                <a:off x="7276014" y="5705900"/>
                <a:ext cx="736600" cy="381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证毕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对象 42">
                <a:extLst>
                  <a:ext uri="{FF2B5EF4-FFF2-40B4-BE49-F238E27FC236}">
                    <a16:creationId xmlns:a16="http://schemas.microsoft.com/office/drawing/2014/main" id="{E1E1D5B6-2184-365D-FF18-44DCE9834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014" y="5705900"/>
                <a:ext cx="736600" cy="381000"/>
              </a:xfrm>
              <a:prstGeom prst="rect">
                <a:avLst/>
              </a:prstGeom>
              <a:blipFill>
                <a:blip r:embed="rId8"/>
                <a:stretch>
                  <a:fillRect l="-5833" r="-7500" b="-253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">
                <a:extLst>
                  <a:ext uri="{FF2B5EF4-FFF2-40B4-BE49-F238E27FC236}">
                    <a16:creationId xmlns:a16="http://schemas.microsoft.com/office/drawing/2014/main" id="{04C32F55-9E9C-36B0-086D-FC47A1F7E404}"/>
                  </a:ext>
                </a:extLst>
              </p:cNvPr>
              <p:cNvSpPr txBox="1"/>
              <p:nvPr/>
            </p:nvSpPr>
            <p:spPr>
              <a:xfrm>
                <a:off x="2488076" y="3935184"/>
                <a:ext cx="4673600" cy="457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则对于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的某邻域内任意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对象 1">
                <a:extLst>
                  <a:ext uri="{FF2B5EF4-FFF2-40B4-BE49-F238E27FC236}">
                    <a16:creationId xmlns:a16="http://schemas.microsoft.com/office/drawing/2014/main" id="{04C32F55-9E9C-36B0-086D-FC47A1F7E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76" y="3935184"/>
                <a:ext cx="4673600" cy="457200"/>
              </a:xfrm>
              <a:prstGeom prst="rect">
                <a:avLst/>
              </a:prstGeom>
              <a:blipFill>
                <a:blip r:embed="rId9"/>
                <a:stretch>
                  <a:fillRect l="-913" b="-1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2">
                <a:extLst>
                  <a:ext uri="{FF2B5EF4-FFF2-40B4-BE49-F238E27FC236}">
                    <a16:creationId xmlns:a16="http://schemas.microsoft.com/office/drawing/2014/main" id="{31B19BB5-FD78-2CF7-3109-58FEBD336BFD}"/>
                  </a:ext>
                </a:extLst>
              </p:cNvPr>
              <p:cNvSpPr txBox="1"/>
              <p:nvPr/>
            </p:nvSpPr>
            <p:spPr>
              <a:xfrm>
                <a:off x="3637089" y="4532002"/>
                <a:ext cx="3644900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)&lt;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对象 2">
                <a:extLst>
                  <a:ext uri="{FF2B5EF4-FFF2-40B4-BE49-F238E27FC236}">
                    <a16:creationId xmlns:a16="http://schemas.microsoft.com/office/drawing/2014/main" id="{31B19BB5-FD78-2CF7-3109-58FEBD336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089" y="4532002"/>
                <a:ext cx="3644900" cy="444500"/>
              </a:xfrm>
              <a:prstGeom prst="rect">
                <a:avLst/>
              </a:prstGeom>
              <a:blipFill>
                <a:blip r:embed="rId10"/>
                <a:stretch>
                  <a:fillRect l="-1171" b="-12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3">
                <a:extLst>
                  <a:ext uri="{FF2B5EF4-FFF2-40B4-BE49-F238E27FC236}">
                    <a16:creationId xmlns:a16="http://schemas.microsoft.com/office/drawing/2014/main" id="{F8A8FD35-D519-7679-2FC0-FD217198EC2A}"/>
                  </a:ext>
                </a:extLst>
              </p:cNvPr>
              <p:cNvSpPr txBox="1"/>
              <p:nvPr/>
            </p:nvSpPr>
            <p:spPr>
              <a:xfrm>
                <a:off x="2488076" y="5097070"/>
                <a:ext cx="3467100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因而当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≠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对象 3">
                <a:extLst>
                  <a:ext uri="{FF2B5EF4-FFF2-40B4-BE49-F238E27FC236}">
                    <a16:creationId xmlns:a16="http://schemas.microsoft.com/office/drawing/2014/main" id="{F8A8FD35-D519-7679-2FC0-FD217198E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76" y="5097070"/>
                <a:ext cx="3467100" cy="444500"/>
              </a:xfrm>
              <a:prstGeom prst="rect">
                <a:avLst/>
              </a:prstGeom>
              <a:blipFill>
                <a:blip r:embed="rId11"/>
                <a:stretch>
                  <a:fillRect l="-1054" b="-8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4">
                <a:extLst>
                  <a:ext uri="{FF2B5EF4-FFF2-40B4-BE49-F238E27FC236}">
                    <a16:creationId xmlns:a16="http://schemas.microsoft.com/office/drawing/2014/main" id="{AFF740D8-D06E-36E5-CC40-5AAF19FC8256}"/>
                  </a:ext>
                </a:extLst>
              </p:cNvPr>
              <p:cNvSpPr txBox="1"/>
              <p:nvPr/>
            </p:nvSpPr>
            <p:spPr>
              <a:xfrm>
                <a:off x="6187797" y="3901771"/>
                <a:ext cx="3066290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)≠(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都有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对象 4">
                <a:extLst>
                  <a:ext uri="{FF2B5EF4-FFF2-40B4-BE49-F238E27FC236}">
                    <a16:creationId xmlns:a16="http://schemas.microsoft.com/office/drawing/2014/main" id="{AFF740D8-D06E-36E5-CC40-5AAF19FC8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797" y="3901771"/>
                <a:ext cx="3066290" cy="431800"/>
              </a:xfrm>
              <a:prstGeom prst="rect">
                <a:avLst/>
              </a:prstGeom>
              <a:blipFill>
                <a:blip r:embed="rId12"/>
                <a:stretch>
                  <a:fillRect l="-1193" b="-15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43">
                <a:extLst>
                  <a:ext uri="{FF2B5EF4-FFF2-40B4-BE49-F238E27FC236}">
                    <a16:creationId xmlns:a16="http://schemas.microsoft.com/office/drawing/2014/main" id="{5C77EA55-2496-F337-ECFE-FB31C96D1635}"/>
                  </a:ext>
                </a:extLst>
              </p:cNvPr>
              <p:cNvSpPr txBox="1"/>
              <p:nvPr/>
            </p:nvSpPr>
            <p:spPr>
              <a:xfrm>
                <a:off x="5482187" y="5097070"/>
                <a:ext cx="3771900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都有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)&lt;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对象 43">
                <a:extLst>
                  <a:ext uri="{FF2B5EF4-FFF2-40B4-BE49-F238E27FC236}">
                    <a16:creationId xmlns:a16="http://schemas.microsoft.com/office/drawing/2014/main" id="{5C77EA55-2496-F337-ECFE-FB31C96D1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187" y="5097070"/>
                <a:ext cx="3771900" cy="444500"/>
              </a:xfrm>
              <a:prstGeom prst="rect">
                <a:avLst/>
              </a:prstGeom>
              <a:blipFill>
                <a:blip r:embed="rId13"/>
                <a:stretch>
                  <a:fillRect l="-1131" b="-13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对象 5">
                <a:extLst>
                  <a:ext uri="{FF2B5EF4-FFF2-40B4-BE49-F238E27FC236}">
                    <a16:creationId xmlns:a16="http://schemas.microsoft.com/office/drawing/2014/main" id="{75238B80-36AD-BCDE-FCC8-A4393577555B}"/>
                  </a:ext>
                </a:extLst>
              </p:cNvPr>
              <p:cNvSpPr txBox="1"/>
              <p:nvPr/>
            </p:nvSpPr>
            <p:spPr>
              <a:xfrm>
                <a:off x="2488076" y="5683675"/>
                <a:ext cx="2527300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故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</m:t>
                      </m:r>
                      <m:r>
                        <a:rPr kumimoji="1" lang="en-US" altLang="zh-CN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对象 5">
                <a:extLst>
                  <a:ext uri="{FF2B5EF4-FFF2-40B4-BE49-F238E27FC236}">
                    <a16:creationId xmlns:a16="http://schemas.microsoft.com/office/drawing/2014/main" id="{75238B80-36AD-BCDE-FCC8-A43935775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76" y="5683675"/>
                <a:ext cx="2527300" cy="444500"/>
              </a:xfrm>
              <a:prstGeom prst="rect">
                <a:avLst/>
              </a:prstGeom>
              <a:blipFill>
                <a:blip r:embed="rId14"/>
                <a:stretch>
                  <a:fillRect l="-1687" b="-13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6">
                <a:extLst>
                  <a:ext uri="{FF2B5EF4-FFF2-40B4-BE49-F238E27FC236}">
                    <a16:creationId xmlns:a16="http://schemas.microsoft.com/office/drawing/2014/main" id="{C87FD2B2-106B-9374-F601-7378B78404D6}"/>
                  </a:ext>
                </a:extLst>
              </p:cNvPr>
              <p:cNvSpPr txBox="1"/>
              <p:nvPr/>
            </p:nvSpPr>
            <p:spPr>
              <a:xfrm>
                <a:off x="5159741" y="1320744"/>
                <a:ext cx="3999697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对象 6">
                <a:extLst>
                  <a:ext uri="{FF2B5EF4-FFF2-40B4-BE49-F238E27FC236}">
                    <a16:creationId xmlns:a16="http://schemas.microsoft.com/office/drawing/2014/main" id="{C87FD2B2-106B-9374-F601-7378B7840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741" y="1320744"/>
                <a:ext cx="3999697" cy="444500"/>
              </a:xfrm>
              <a:prstGeom prst="rect">
                <a:avLst/>
              </a:prstGeom>
              <a:blipFill>
                <a:blip r:embed="rId15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对象 44">
                <a:extLst>
                  <a:ext uri="{FF2B5EF4-FFF2-40B4-BE49-F238E27FC236}">
                    <a16:creationId xmlns:a16="http://schemas.microsoft.com/office/drawing/2014/main" id="{FF9B7A12-478A-7254-68C0-39C1BC04EF5C}"/>
                  </a:ext>
                </a:extLst>
              </p:cNvPr>
              <p:cNvSpPr txBox="1"/>
              <p:nvPr/>
            </p:nvSpPr>
            <p:spPr>
              <a:xfrm>
                <a:off x="4755871" y="5687817"/>
                <a:ext cx="2670453" cy="4826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同理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)=0. 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对象 44">
                <a:extLst>
                  <a:ext uri="{FF2B5EF4-FFF2-40B4-BE49-F238E27FC236}">
                    <a16:creationId xmlns:a16="http://schemas.microsoft.com/office/drawing/2014/main" id="{FF9B7A12-478A-7254-68C0-39C1BC04E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871" y="5687817"/>
                <a:ext cx="2670453" cy="482600"/>
              </a:xfrm>
              <a:prstGeom prst="rect">
                <a:avLst/>
              </a:prstGeom>
              <a:blipFill>
                <a:blip r:embed="rId16"/>
                <a:stretch>
                  <a:fillRect l="-1370" b="-50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75CFFC3E-4B21-9563-7E02-4B7A0CF1AB97}"/>
              </a:ext>
            </a:extLst>
          </p:cNvPr>
          <p:cNvGrpSpPr/>
          <p:nvPr/>
        </p:nvGrpSpPr>
        <p:grpSpPr>
          <a:xfrm>
            <a:off x="1497476" y="1355242"/>
            <a:ext cx="2971165" cy="449580"/>
            <a:chOff x="1553" y="3802"/>
            <a:chExt cx="4679" cy="708"/>
          </a:xfrm>
        </p:grpSpPr>
        <p:sp>
          <p:nvSpPr>
            <p:cNvPr id="22" name="圆角矩形 3">
              <a:extLst>
                <a:ext uri="{FF2B5EF4-FFF2-40B4-BE49-F238E27FC236}">
                  <a16:creationId xmlns:a16="http://schemas.microsoft.com/office/drawing/2014/main" id="{53A48903-0F38-CE1B-18A3-5066D762D008}"/>
                </a:ext>
              </a:extLst>
            </p:cNvPr>
            <p:cNvSpPr/>
            <p:nvPr/>
          </p:nvSpPr>
          <p:spPr>
            <a:xfrm>
              <a:off x="1553" y="3803"/>
              <a:ext cx="169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28">
                  <a:extLst>
                    <a:ext uri="{FF2B5EF4-FFF2-40B4-BE49-F238E27FC236}">
                      <a16:creationId xmlns:a16="http://schemas.microsoft.com/office/drawing/2014/main" id="{C9933F1F-21C3-1A50-A7B2-6E16EB9C40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0" y="3802"/>
                  <a:ext cx="4522" cy="6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bIns="0">
                  <a:spAutoFit/>
                </a:bodyPr>
                <a:lstStyle>
                  <a:lvl1pPr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defRPr/>
                  </a:pPr>
                  <a:r>
                    <a:rPr kumimoji="1" lang="zh-CN" altLang="en-US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定理</a:t>
                  </a:r>
                  <a:r>
                    <a:rPr kumimoji="1" lang="en-US" altLang="zh-CN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1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zh-CN" altLang="en-US" i="1" smtClean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zh-CN" altLang="en-US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必要条件</m:t>
                          </m:r>
                        </m:e>
                      </m:d>
                    </m:oMath>
                  </a14:m>
                  <a:endParaRPr lang="en-US" altLang="zh-CN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3" name="Text Box 28">
                  <a:extLst>
                    <a:ext uri="{FF2B5EF4-FFF2-40B4-BE49-F238E27FC236}">
                      <a16:creationId xmlns:a16="http://schemas.microsoft.com/office/drawing/2014/main" id="{C9933F1F-21C3-1A50-A7B2-6E16EB9C40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10" y="3802"/>
                  <a:ext cx="4522" cy="678"/>
                </a:xfrm>
                <a:prstGeom prst="rect">
                  <a:avLst/>
                </a:prstGeom>
                <a:blipFill>
                  <a:blip r:embed="rId17"/>
                  <a:stretch>
                    <a:fillRect l="-7431" t="-25352" b="-49296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2568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 animBg="1"/>
      <p:bldP spid="7" grpId="0"/>
      <p:bldP spid="8" grpId="0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026">
                <a:extLst>
                  <a:ext uri="{FF2B5EF4-FFF2-40B4-BE49-F238E27FC236}">
                    <a16:creationId xmlns:a16="http://schemas.microsoft.com/office/drawing/2014/main" id="{E22953A7-90A1-5384-B5CD-5C524F7E8B30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369659" y="1391366"/>
                <a:ext cx="2032277" cy="6477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600" b="1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b="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0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kumimoji="1" lang="zh-CN" altLang="en-US" sz="2800" b="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  </a:t>
                </a:r>
                <a:r>
                  <a:rPr kumimoji="1"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推广：</a:t>
                </a:r>
                <a:endParaRPr kumimoji="1" lang="en-US" altLang="zh-CN" sz="2800" dirty="0">
                  <a:solidFill>
                    <a:srgbClr val="04926A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Rectangle 1026">
                <a:extLst>
                  <a:ext uri="{FF2B5EF4-FFF2-40B4-BE49-F238E27FC236}">
                    <a16:creationId xmlns:a16="http://schemas.microsoft.com/office/drawing/2014/main" id="{E22953A7-90A1-5384-B5CD-5C524F7E8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659" y="1391366"/>
                <a:ext cx="2032277" cy="647700"/>
              </a:xfrm>
              <a:prstGeom prst="rect">
                <a:avLst/>
              </a:prstGeom>
              <a:blipFill>
                <a:blip r:embed="rId3"/>
                <a:stretch>
                  <a:fillRect t="-6604" r="-601" b="-94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1028">
            <a:extLst>
              <a:ext uri="{FF2B5EF4-FFF2-40B4-BE49-F238E27FC236}">
                <a16:creationId xmlns:a16="http://schemas.microsoft.com/office/drawing/2014/main" id="{18E32B2C-52D5-579C-E59E-B3B48AFAB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464" y="1459817"/>
            <a:ext cx="23267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如果三元函数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063">
                <a:extLst>
                  <a:ext uri="{FF2B5EF4-FFF2-40B4-BE49-F238E27FC236}">
                    <a16:creationId xmlns:a16="http://schemas.microsoft.com/office/drawing/2014/main" id="{DF45348D-79B4-71FC-861F-185AF19D0819}"/>
                  </a:ext>
                </a:extLst>
              </p:cNvPr>
              <p:cNvSpPr txBox="1"/>
              <p:nvPr/>
            </p:nvSpPr>
            <p:spPr bwMode="auto">
              <a:xfrm>
                <a:off x="2168048" y="2791056"/>
                <a:ext cx="8684102" cy="576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)=0 , 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)=0, 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Object 1063">
                <a:extLst>
                  <a:ext uri="{FF2B5EF4-FFF2-40B4-BE49-F238E27FC236}">
                    <a16:creationId xmlns:a16="http://schemas.microsoft.com/office/drawing/2014/main" id="{DF45348D-79B4-71FC-861F-185AF19D0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048" y="2791056"/>
                <a:ext cx="8684102" cy="57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1081">
                <a:extLst>
                  <a:ext uri="{FF2B5EF4-FFF2-40B4-BE49-F238E27FC236}">
                    <a16:creationId xmlns:a16="http://schemas.microsoft.com/office/drawing/2014/main" id="{78D3DCA1-57B4-61C5-F788-281CB80334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5173" y="2099314"/>
                <a:ext cx="227676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具有偏导数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Text Box 1081">
                <a:extLst>
                  <a:ext uri="{FF2B5EF4-FFF2-40B4-BE49-F238E27FC236}">
                    <a16:creationId xmlns:a16="http://schemas.microsoft.com/office/drawing/2014/main" id="{78D3DCA1-57B4-61C5-F788-281CB8033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5173" y="2099314"/>
                <a:ext cx="2276768" cy="523220"/>
              </a:xfrm>
              <a:prstGeom prst="rect">
                <a:avLst/>
              </a:prstGeom>
              <a:blipFill>
                <a:blip r:embed="rId5"/>
                <a:stretch>
                  <a:fillRect l="-5348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21">
                <a:extLst>
                  <a:ext uri="{FF2B5EF4-FFF2-40B4-BE49-F238E27FC236}">
                    <a16:creationId xmlns:a16="http://schemas.microsoft.com/office/drawing/2014/main" id="{6AC748E7-7877-DB77-12BD-9DA0FDAE33E2}"/>
                  </a:ext>
                </a:extLst>
              </p:cNvPr>
              <p:cNvSpPr txBox="1"/>
              <p:nvPr/>
            </p:nvSpPr>
            <p:spPr>
              <a:xfrm>
                <a:off x="5244922" y="1476365"/>
                <a:ext cx="5378628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21">
                <a:extLst>
                  <a:ext uri="{FF2B5EF4-FFF2-40B4-BE49-F238E27FC236}">
                    <a16:creationId xmlns:a16="http://schemas.microsoft.com/office/drawing/2014/main" id="{6AC748E7-7877-DB77-12BD-9DA0FDAE3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922" y="1476365"/>
                <a:ext cx="5378628" cy="444500"/>
              </a:xfrm>
              <a:prstGeom prst="rect">
                <a:avLst/>
              </a:prstGeom>
              <a:blipFill>
                <a:blip r:embed="rId6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22">
                <a:extLst>
                  <a:ext uri="{FF2B5EF4-FFF2-40B4-BE49-F238E27FC236}">
                    <a16:creationId xmlns:a16="http://schemas.microsoft.com/office/drawing/2014/main" id="{180EF215-CFAF-0C7B-3025-33D55546B797}"/>
                  </a:ext>
                </a:extLst>
              </p:cNvPr>
              <p:cNvSpPr txBox="1"/>
              <p:nvPr/>
            </p:nvSpPr>
            <p:spPr>
              <a:xfrm>
                <a:off x="3987103" y="2108137"/>
                <a:ext cx="6523406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则它在</m:t>
                      </m:r>
                      <m:r>
                        <a:rPr kumimoji="1" lang="zh-CN" altLang="en-US" sz="28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𝑃</m:t>
                      </m:r>
                      <m:r>
                        <a:rPr kumimoji="1" lang="zh-CN" altLang="en-US" sz="28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有极值的必要条件为</m:t>
                      </m:r>
                    </m:oMath>
                  </m:oMathPara>
                </a14:m>
                <a:endParaRPr kumimoji="1" lang="zh-CN" altLang="en-US" sz="2800" b="1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对象 22">
                <a:extLst>
                  <a:ext uri="{FF2B5EF4-FFF2-40B4-BE49-F238E27FC236}">
                    <a16:creationId xmlns:a16="http://schemas.microsoft.com/office/drawing/2014/main" id="{180EF215-CFAF-0C7B-3025-33D55546B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103" y="2108137"/>
                <a:ext cx="6523406" cy="457200"/>
              </a:xfrm>
              <a:prstGeom prst="rect">
                <a:avLst/>
              </a:prstGeom>
              <a:blipFill>
                <a:blip r:embed="rId7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20">
                <a:extLst>
                  <a:ext uri="{FF2B5EF4-FFF2-40B4-BE49-F238E27FC236}">
                    <a16:creationId xmlns:a16="http://schemas.microsoft.com/office/drawing/2014/main" id="{6C5848B5-39EF-9313-3802-893D7FAD6F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9659" y="3537665"/>
                <a:ext cx="999554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e>
                    </m:d>
                  </m:oMath>
                </a14:m>
                <a:r>
                  <a:rPr kumimoji="1" lang="zh-CN" altLang="en-US" sz="2800" b="1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 驻点：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使一阶偏导数同时为零的点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称为函数的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驻点.</a:t>
                </a:r>
              </a:p>
            </p:txBody>
          </p:sp>
        </mc:Choice>
        <mc:Fallback xmlns="">
          <p:sp>
            <p:nvSpPr>
              <p:cNvPr id="9" name="Text Box 20">
                <a:extLst>
                  <a:ext uri="{FF2B5EF4-FFF2-40B4-BE49-F238E27FC236}">
                    <a16:creationId xmlns:a16="http://schemas.microsoft.com/office/drawing/2014/main" id="{6C5848B5-39EF-9313-3802-893D7FAD6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9659" y="3537665"/>
                <a:ext cx="9995546" cy="523220"/>
              </a:xfrm>
              <a:prstGeom prst="rect">
                <a:avLst/>
              </a:prstGeom>
              <a:blipFill>
                <a:blip r:embed="rId8"/>
                <a:stretch>
                  <a:fillRect t="-16279" b="-337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21">
            <a:extLst>
              <a:ext uri="{FF2B5EF4-FFF2-40B4-BE49-F238E27FC236}">
                <a16:creationId xmlns:a16="http://schemas.microsoft.com/office/drawing/2014/main" id="{9426D1AD-D73E-C886-29F1-19D9D13FF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564" y="4206452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驻点</a:t>
            </a:r>
          </a:p>
        </p:txBody>
      </p:sp>
      <p:sp>
        <p:nvSpPr>
          <p:cNvPr id="11" name="Rectangle 22">
            <a:extLst>
              <a:ext uri="{FF2B5EF4-FFF2-40B4-BE49-F238E27FC236}">
                <a16:creationId xmlns:a16="http://schemas.microsoft.com/office/drawing/2014/main" id="{6A8AC7CE-093A-0B42-C2C5-976E9FA3D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164" y="4206452"/>
            <a:ext cx="1260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极值点</a:t>
            </a:r>
          </a:p>
        </p:txBody>
      </p:sp>
      <p:sp>
        <p:nvSpPr>
          <p:cNvPr id="12" name="Line 23">
            <a:extLst>
              <a:ext uri="{FF2B5EF4-FFF2-40B4-BE49-F238E27FC236}">
                <a16:creationId xmlns:a16="http://schemas.microsoft.com/office/drawing/2014/main" id="{772A5BEF-C549-D06C-80D9-4F7930CFB5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3964" y="4390602"/>
            <a:ext cx="1524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+mn-ea"/>
            </a:endParaRPr>
          </a:p>
        </p:txBody>
      </p:sp>
      <p:grpSp>
        <p:nvGrpSpPr>
          <p:cNvPr id="13" name="Group 24">
            <a:extLst>
              <a:ext uri="{FF2B5EF4-FFF2-40B4-BE49-F238E27FC236}">
                <a16:creationId xmlns:a16="http://schemas.microsoft.com/office/drawing/2014/main" id="{1E55B8EF-BE3C-CF66-BAC5-F674A2D12194}"/>
              </a:ext>
            </a:extLst>
          </p:cNvPr>
          <p:cNvGrpSpPr>
            <a:grpSpLocks/>
          </p:cNvGrpSpPr>
          <p:nvPr/>
        </p:nvGrpSpPr>
        <p:grpSpPr bwMode="auto">
          <a:xfrm>
            <a:off x="4023964" y="4466802"/>
            <a:ext cx="1524000" cy="152400"/>
            <a:chOff x="1968" y="1392"/>
            <a:chExt cx="960" cy="96"/>
          </a:xfrm>
        </p:grpSpPr>
        <p:sp>
          <p:nvSpPr>
            <p:cNvPr id="14" name="Line 25">
              <a:extLst>
                <a:ext uri="{FF2B5EF4-FFF2-40B4-BE49-F238E27FC236}">
                  <a16:creationId xmlns:a16="http://schemas.microsoft.com/office/drawing/2014/main" id="{B29D5468-A5A1-E716-D32A-101A8C17A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440"/>
              <a:ext cx="960" cy="0"/>
            </a:xfrm>
            <a:prstGeom prst="line">
              <a:avLst/>
            </a:prstGeom>
            <a:noFill/>
            <a:ln w="38100">
              <a:solidFill>
                <a:srgbClr val="04926A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id="{F3A809F3-2CC3-CA57-1580-E5673539CC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392"/>
              <a:ext cx="192" cy="96"/>
            </a:xfrm>
            <a:prstGeom prst="line">
              <a:avLst/>
            </a:prstGeom>
            <a:noFill/>
            <a:ln w="38100">
              <a:solidFill>
                <a:srgbClr val="0492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</p:grpSp>
      <p:sp>
        <p:nvSpPr>
          <p:cNvPr id="16" name="Text Box 27">
            <a:extLst>
              <a:ext uri="{FF2B5EF4-FFF2-40B4-BE49-F238E27FC236}">
                <a16:creationId xmlns:a16="http://schemas.microsoft.com/office/drawing/2014/main" id="{2CB49908-889A-BC4A-F892-503C781E9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7954" y="5512052"/>
            <a:ext cx="701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问题：</a:t>
            </a:r>
            <a:r>
              <a:rPr kumimoji="1" lang="zh-CN" altLang="en-US" sz="28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如何判定一个驻点是否为极值点？</a:t>
            </a:r>
          </a:p>
        </p:txBody>
      </p:sp>
      <p:sp>
        <p:nvSpPr>
          <p:cNvPr id="17" name="Text Box 29">
            <a:extLst>
              <a:ext uri="{FF2B5EF4-FFF2-40B4-BE49-F238E27FC236}">
                <a16:creationId xmlns:a16="http://schemas.microsoft.com/office/drawing/2014/main" id="{29BB9AE6-0107-11F4-E80D-B35B4DF9D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578" y="4206452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显然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CBAC9A1-F242-9BBE-BD43-05EFF92DDCB2}"/>
              </a:ext>
            </a:extLst>
          </p:cNvPr>
          <p:cNvGrpSpPr/>
          <p:nvPr/>
        </p:nvGrpSpPr>
        <p:grpSpPr>
          <a:xfrm>
            <a:off x="1455182" y="755261"/>
            <a:ext cx="612775" cy="612775"/>
            <a:chOff x="1601" y="872"/>
            <a:chExt cx="965" cy="965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DD765F55-F2AF-9CB8-73C8-1127829C0599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F09A6C8-3079-DC62-3D1C-E4A52A1DDEF0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E12180A-5FFB-9EB2-090D-285F69DA0294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27">
                <a:extLst>
                  <a:ext uri="{FF2B5EF4-FFF2-40B4-BE49-F238E27FC236}">
                    <a16:creationId xmlns:a16="http://schemas.microsoft.com/office/drawing/2014/main" id="{21E32E21-0032-7E13-5752-2A825BA814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5173" y="4860252"/>
                <a:ext cx="8435579" cy="5257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例如，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函数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𝑧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𝑥𝑦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的驻点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但不是极值点</m:t>
                    </m:r>
                    <m:r>
                      <a:rPr kumimoji="1"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.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 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Text Box 27">
                <a:extLst>
                  <a:ext uri="{FF2B5EF4-FFF2-40B4-BE49-F238E27FC236}">
                    <a16:creationId xmlns:a16="http://schemas.microsoft.com/office/drawing/2014/main" id="{21E32E21-0032-7E13-5752-2A825BA81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5173" y="4860252"/>
                <a:ext cx="8435579" cy="525721"/>
              </a:xfrm>
              <a:prstGeom prst="rect">
                <a:avLst/>
              </a:prstGeom>
              <a:blipFill>
                <a:blip r:embed="rId9"/>
                <a:stretch>
                  <a:fillRect l="-1445" t="-16092" b="-252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58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6" grpId="0"/>
      <p:bldP spid="17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F636847A-5051-872F-899C-DEF4FD6E945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6" name="Rectangle 1">
              <a:extLst>
                <a:ext uri="{FF2B5EF4-FFF2-40B4-BE49-F238E27FC236}">
                  <a16:creationId xmlns:a16="http://schemas.microsoft.com/office/drawing/2014/main" id="{915DDA29-2248-1DB7-8985-AB10BDA7062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圆角矩形 2">
              <a:extLst>
                <a:ext uri="{FF2B5EF4-FFF2-40B4-BE49-F238E27FC236}">
                  <a16:creationId xmlns:a16="http://schemas.microsoft.com/office/drawing/2014/main" id="{F73041FF-D17A-A8B2-4D53-AF4FD03BA7C2}"/>
                </a:ext>
              </a:extLst>
            </p:cNvPr>
            <p:cNvSpPr/>
            <p:nvPr/>
          </p:nvSpPr>
          <p:spPr>
            <a:xfrm>
              <a:off x="224790" y="196850"/>
              <a:ext cx="11743055" cy="6456045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053">
                <a:extLst>
                  <a:ext uri="{FF2B5EF4-FFF2-40B4-BE49-F238E27FC236}">
                    <a16:creationId xmlns:a16="http://schemas.microsoft.com/office/drawing/2014/main" id="{A57E92CE-CCB2-D09E-FFB6-0E2FEE9B14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5220" y="3605969"/>
                <a:ext cx="2438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具有极值</a:t>
                </a:r>
              </a:p>
            </p:txBody>
          </p:sp>
        </mc:Choice>
        <mc:Fallback xmlns="">
          <p:sp>
            <p:nvSpPr>
              <p:cNvPr id="22" name="Text Box 1053">
                <a:extLst>
                  <a:ext uri="{FF2B5EF4-FFF2-40B4-BE49-F238E27FC236}">
                    <a16:creationId xmlns:a16="http://schemas.microsoft.com/office/drawing/2014/main" id="{A57E92CE-CCB2-D09E-FFB6-0E2FEE9B1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5220" y="3605969"/>
                <a:ext cx="2438400" cy="523220"/>
              </a:xfrm>
              <a:prstGeom prst="rect">
                <a:avLst/>
              </a:prstGeom>
              <a:blipFill>
                <a:blip r:embed="rId3"/>
                <a:stretch>
                  <a:fillRect l="-5250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031">
                <a:extLst>
                  <a:ext uri="{FF2B5EF4-FFF2-40B4-BE49-F238E27FC236}">
                    <a16:creationId xmlns:a16="http://schemas.microsoft.com/office/drawing/2014/main" id="{52207387-B9E2-9932-FFB5-991A877EEE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3755" y="1267370"/>
                <a:ext cx="900802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的某邻域内连续且具有一阶和二阶连续偏导数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且</a:t>
                </a:r>
              </a:p>
            </p:txBody>
          </p:sp>
        </mc:Choice>
        <mc:Fallback xmlns="">
          <p:sp>
            <p:nvSpPr>
              <p:cNvPr id="24" name="Text Box 1031">
                <a:extLst>
                  <a:ext uri="{FF2B5EF4-FFF2-40B4-BE49-F238E27FC236}">
                    <a16:creationId xmlns:a16="http://schemas.microsoft.com/office/drawing/2014/main" id="{52207387-B9E2-9932-FFB5-991A877EE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3755" y="1267370"/>
                <a:ext cx="9008020" cy="523220"/>
              </a:xfrm>
              <a:prstGeom prst="rect">
                <a:avLst/>
              </a:prstGeom>
              <a:blipFill>
                <a:blip r:embed="rId4"/>
                <a:stretch>
                  <a:fillRect l="-1353" t="-17442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1034">
            <a:extLst>
              <a:ext uri="{FF2B5EF4-FFF2-40B4-BE49-F238E27FC236}">
                <a16:creationId xmlns:a16="http://schemas.microsoft.com/office/drawing/2014/main" id="{D55007D7-02D7-F266-F00B-26B7D89D9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8531" y="2540066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1037">
                <a:extLst>
                  <a:ext uri="{FF2B5EF4-FFF2-40B4-BE49-F238E27FC236}">
                    <a16:creationId xmlns:a16="http://schemas.microsoft.com/office/drawing/2014/main" id="{5D413FC9-5C71-4664-750D-757F155900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8531" y="3601997"/>
                <a:ext cx="279628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则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</a:p>
            </p:txBody>
          </p:sp>
        </mc:Choice>
        <mc:Fallback xmlns="">
          <p:sp>
            <p:nvSpPr>
              <p:cNvPr id="26" name="Text Box 1037">
                <a:extLst>
                  <a:ext uri="{FF2B5EF4-FFF2-40B4-BE49-F238E27FC236}">
                    <a16:creationId xmlns:a16="http://schemas.microsoft.com/office/drawing/2014/main" id="{5D413FC9-5C71-4664-750D-757F15590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8531" y="3601997"/>
                <a:ext cx="2796282" cy="523220"/>
              </a:xfrm>
              <a:prstGeom prst="rect">
                <a:avLst/>
              </a:prstGeom>
              <a:blipFill>
                <a:blip r:embed="rId5"/>
                <a:stretch>
                  <a:fillRect l="-4575" t="-17442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1040">
                <a:extLst>
                  <a:ext uri="{FF2B5EF4-FFF2-40B4-BE49-F238E27FC236}">
                    <a16:creationId xmlns:a16="http://schemas.microsoft.com/office/drawing/2014/main" id="{AA293339-A5B7-BBA1-9123-44B8CDF545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49786" y="3242136"/>
                <a:ext cx="307525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时取极大值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;</a:t>
                </a:r>
              </a:p>
            </p:txBody>
          </p:sp>
        </mc:Choice>
        <mc:Fallback xmlns="">
          <p:sp>
            <p:nvSpPr>
              <p:cNvPr id="27" name="Text Box 1040">
                <a:extLst>
                  <a:ext uri="{FF2B5EF4-FFF2-40B4-BE49-F238E27FC236}">
                    <a16:creationId xmlns:a16="http://schemas.microsoft.com/office/drawing/2014/main" id="{AA293339-A5B7-BBA1-9123-44B8CDF54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49786" y="3242136"/>
                <a:ext cx="3075250" cy="523220"/>
              </a:xfrm>
              <a:prstGeom prst="rect">
                <a:avLst/>
              </a:prstGeom>
              <a:blipFill>
                <a:blip r:embed="rId6"/>
                <a:stretch>
                  <a:fillRect t="-17442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1041">
                <a:extLst>
                  <a:ext uri="{FF2B5EF4-FFF2-40B4-BE49-F238E27FC236}">
                    <a16:creationId xmlns:a16="http://schemas.microsoft.com/office/drawing/2014/main" id="{9A4CE78F-74FB-80D0-59B9-65C1E9201C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49785" y="3894598"/>
                <a:ext cx="312118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时取极小值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8" name="Text Box 1041">
                <a:extLst>
                  <a:ext uri="{FF2B5EF4-FFF2-40B4-BE49-F238E27FC236}">
                    <a16:creationId xmlns:a16="http://schemas.microsoft.com/office/drawing/2014/main" id="{9A4CE78F-74FB-80D0-59B9-65C1E9201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49785" y="3894598"/>
                <a:ext cx="3121189" cy="523220"/>
              </a:xfrm>
              <a:prstGeom prst="rect">
                <a:avLst/>
              </a:prstGeom>
              <a:blipFill>
                <a:blip r:embed="rId7"/>
                <a:stretch>
                  <a:fillRect t="-17442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1043">
                <a:extLst>
                  <a:ext uri="{FF2B5EF4-FFF2-40B4-BE49-F238E27FC236}">
                    <a16:creationId xmlns:a16="http://schemas.microsoft.com/office/drawing/2014/main" id="{1F3696F3-6D12-289A-0A82-CEBC2CEC21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0925" y="4413472"/>
                <a:ext cx="17145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endParaRPr kumimoji="1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rgbClr val="629DD1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 Box 1043">
                <a:extLst>
                  <a:ext uri="{FF2B5EF4-FFF2-40B4-BE49-F238E27FC236}">
                    <a16:creationId xmlns:a16="http://schemas.microsoft.com/office/drawing/2014/main" id="{1F3696F3-6D12-289A-0A82-CEBC2CEC2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0925" y="4413472"/>
                <a:ext cx="1714500" cy="523220"/>
              </a:xfrm>
              <a:prstGeom prst="rect">
                <a:avLst/>
              </a:prstGeom>
              <a:blipFill>
                <a:blip r:embed="rId8"/>
                <a:stretch>
                  <a:fillRect t="-17442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1045">
                <a:extLst>
                  <a:ext uri="{FF2B5EF4-FFF2-40B4-BE49-F238E27FC236}">
                    <a16:creationId xmlns:a16="http://schemas.microsoft.com/office/drawing/2014/main" id="{385A1EC2-A46E-024D-4BFA-219D6FC6D1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0529" y="5163700"/>
                <a:ext cx="214155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</a:p>
            </p:txBody>
          </p:sp>
        </mc:Choice>
        <mc:Fallback xmlns="">
          <p:sp>
            <p:nvSpPr>
              <p:cNvPr id="30" name="Text Box 1045">
                <a:extLst>
                  <a:ext uri="{FF2B5EF4-FFF2-40B4-BE49-F238E27FC236}">
                    <a16:creationId xmlns:a16="http://schemas.microsoft.com/office/drawing/2014/main" id="{385A1EC2-A46E-024D-4BFA-219D6FC6D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0529" y="5163700"/>
                <a:ext cx="2141554" cy="523220"/>
              </a:xfrm>
              <a:prstGeom prst="rect">
                <a:avLst/>
              </a:prstGeom>
              <a:blipFill>
                <a:blip r:embed="rId9"/>
                <a:stretch>
                  <a:fillRect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1052">
                <a:extLst>
                  <a:ext uri="{FF2B5EF4-FFF2-40B4-BE49-F238E27FC236}">
                    <a16:creationId xmlns:a16="http://schemas.microsoft.com/office/drawing/2014/main" id="{EC9DF6C6-4C2C-C14D-8934-134AE51BF3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0529" y="5781851"/>
                <a:ext cx="3262607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 b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kumimoji="1" lang="zh-CN" altLang="en-US" sz="2800" b="1" dirty="0">
                    <a:solidFill>
                      <a:srgbClr val="00B0F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证明见第九节</a:t>
                </a:r>
                <a14:m>
                  <m:oMath xmlns:m="http://schemas.openxmlformats.org/officeDocument/2006/math">
                    <m:r>
                      <a:rPr kumimoji="1" lang="zh-CN" altLang="en-US" sz="2800" b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en-US" altLang="zh-CN" sz="2800" b="1" dirty="0">
                    <a:solidFill>
                      <a:srgbClr val="00B0F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   </a:t>
                </a:r>
              </a:p>
            </p:txBody>
          </p:sp>
        </mc:Choice>
        <mc:Fallback xmlns="">
          <p:sp>
            <p:nvSpPr>
              <p:cNvPr id="31" name="Text Box 1052">
                <a:extLst>
                  <a:ext uri="{FF2B5EF4-FFF2-40B4-BE49-F238E27FC236}">
                    <a16:creationId xmlns:a16="http://schemas.microsoft.com/office/drawing/2014/main" id="{EC9DF6C6-4C2C-C14D-8934-134AE51BF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0529" y="5781851"/>
                <a:ext cx="3262607" cy="519113"/>
              </a:xfrm>
              <a:prstGeom prst="rect">
                <a:avLst/>
              </a:prstGeom>
              <a:blipFill>
                <a:blip r:embed="rId10"/>
                <a:stretch>
                  <a:fillRect t="-16279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1054">
                <a:extLst>
                  <a:ext uri="{FF2B5EF4-FFF2-40B4-BE49-F238E27FC236}">
                    <a16:creationId xmlns:a16="http://schemas.microsoft.com/office/drawing/2014/main" id="{14C1642D-6970-43A5-F402-114083B376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5220" y="4433924"/>
                <a:ext cx="24384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没有极值</a:t>
                </a:r>
                <a:r>
                  <a:rPr kumimoji="1" lang="en-US" altLang="zh-CN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2" name="Text Box 1054">
                <a:extLst>
                  <a:ext uri="{FF2B5EF4-FFF2-40B4-BE49-F238E27FC236}">
                    <a16:creationId xmlns:a16="http://schemas.microsoft.com/office/drawing/2014/main" id="{14C1642D-6970-43A5-F402-114083B37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5220" y="4433924"/>
                <a:ext cx="2438400" cy="519112"/>
              </a:xfrm>
              <a:prstGeom prst="rect">
                <a:avLst/>
              </a:prstGeom>
              <a:blipFill>
                <a:blip r:embed="rId11"/>
                <a:stretch>
                  <a:fillRect l="-5250" t="-16279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1055">
                <a:extLst>
                  <a:ext uri="{FF2B5EF4-FFF2-40B4-BE49-F238E27FC236}">
                    <a16:creationId xmlns:a16="http://schemas.microsoft.com/office/drawing/2014/main" id="{A7941C87-C543-6DBC-9415-49B8CF380B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5220" y="5144404"/>
                <a:ext cx="4718005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不能确定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需另行讨论</a:t>
                </a:r>
                <a:r>
                  <a:rPr kumimoji="1" lang="en-US" altLang="zh-CN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3" name="Text Box 1055">
                <a:extLst>
                  <a:ext uri="{FF2B5EF4-FFF2-40B4-BE49-F238E27FC236}">
                    <a16:creationId xmlns:a16="http://schemas.microsoft.com/office/drawing/2014/main" id="{A7941C87-C543-6DBC-9415-49B8CF380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5220" y="5144404"/>
                <a:ext cx="4718005" cy="519112"/>
              </a:xfrm>
              <a:prstGeom prst="rect">
                <a:avLst/>
              </a:prstGeom>
              <a:blipFill>
                <a:blip r:embed="rId12"/>
                <a:stretch>
                  <a:fillRect l="-2713" t="-17647" b="-34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1028">
            <a:extLst>
              <a:ext uri="{FF2B5EF4-FFF2-40B4-BE49-F238E27FC236}">
                <a16:creationId xmlns:a16="http://schemas.microsoft.com/office/drawing/2014/main" id="{F86C2E00-E6A8-0708-D2E1-C18C1350E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250" y="627284"/>
            <a:ext cx="1530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Times New Roman" panose="02020603050405020304" pitchFamily="18" charset="0"/>
              </a:rPr>
              <a:t>若函数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1062">
                <a:extLst>
                  <a:ext uri="{FF2B5EF4-FFF2-40B4-BE49-F238E27FC236}">
                    <a16:creationId xmlns:a16="http://schemas.microsoft.com/office/drawing/2014/main" id="{0974F672-A8C6-D6E3-67D8-03BA4F44CE3A}"/>
                  </a:ext>
                </a:extLst>
              </p:cNvPr>
              <p:cNvSpPr txBox="1"/>
              <p:nvPr/>
            </p:nvSpPr>
            <p:spPr bwMode="auto">
              <a:xfrm>
                <a:off x="5246687" y="617765"/>
                <a:ext cx="4442887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在点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 (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的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Object 1062">
                <a:extLst>
                  <a:ext uri="{FF2B5EF4-FFF2-40B4-BE49-F238E27FC236}">
                    <a16:creationId xmlns:a16="http://schemas.microsoft.com/office/drawing/2014/main" id="{0974F672-A8C6-D6E3-67D8-03BA4F44C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6687" y="617765"/>
                <a:ext cx="4442887" cy="444500"/>
              </a:xfrm>
              <a:prstGeom prst="rect">
                <a:avLst/>
              </a:prstGeom>
              <a:blipFill>
                <a:blip r:embed="rId13"/>
                <a:stretch>
                  <a:fillRect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1063">
                <a:extLst>
                  <a:ext uri="{FF2B5EF4-FFF2-40B4-BE49-F238E27FC236}">
                    <a16:creationId xmlns:a16="http://schemas.microsoft.com/office/drawing/2014/main" id="{453FA150-E915-AB0E-803A-E0E9EF6B0874}"/>
                  </a:ext>
                </a:extLst>
              </p:cNvPr>
              <p:cNvSpPr txBox="1"/>
              <p:nvPr/>
            </p:nvSpPr>
            <p:spPr bwMode="auto">
              <a:xfrm>
                <a:off x="3443500" y="1883266"/>
                <a:ext cx="4986337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)=0 , 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)=0.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Object 1063">
                <a:extLst>
                  <a:ext uri="{FF2B5EF4-FFF2-40B4-BE49-F238E27FC236}">
                    <a16:creationId xmlns:a16="http://schemas.microsoft.com/office/drawing/2014/main" id="{453FA150-E915-AB0E-803A-E0E9EF6B0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3500" y="1883266"/>
                <a:ext cx="4986337" cy="482600"/>
              </a:xfrm>
              <a:prstGeom prst="rect">
                <a:avLst/>
              </a:prstGeom>
              <a:blipFill>
                <a:blip r:embed="rId14"/>
                <a:stretch>
                  <a:fillRect b="-50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1064">
                <a:extLst>
                  <a:ext uri="{FF2B5EF4-FFF2-40B4-BE49-F238E27FC236}">
                    <a16:creationId xmlns:a16="http://schemas.microsoft.com/office/drawing/2014/main" id="{E5860548-46E7-8E08-FD9A-2057E8D6B828}"/>
                  </a:ext>
                </a:extLst>
              </p:cNvPr>
              <p:cNvSpPr txBox="1"/>
              <p:nvPr/>
            </p:nvSpPr>
            <p:spPr bwMode="auto">
              <a:xfrm>
                <a:off x="2735263" y="2563084"/>
                <a:ext cx="8059737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𝑥𝑥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) , 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) , 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Object 1064">
                <a:extLst>
                  <a:ext uri="{FF2B5EF4-FFF2-40B4-BE49-F238E27FC236}">
                    <a16:creationId xmlns:a16="http://schemas.microsoft.com/office/drawing/2014/main" id="{E5860548-46E7-8E08-FD9A-2057E8D6B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5263" y="2563084"/>
                <a:ext cx="8059737" cy="482600"/>
              </a:xfrm>
              <a:prstGeom prst="rect">
                <a:avLst/>
              </a:prstGeom>
              <a:blipFill>
                <a:blip r:embed="rId15"/>
                <a:stretch>
                  <a:fillRect b="-5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1065">
                <a:extLst>
                  <a:ext uri="{FF2B5EF4-FFF2-40B4-BE49-F238E27FC236}">
                    <a16:creationId xmlns:a16="http://schemas.microsoft.com/office/drawing/2014/main" id="{603D405F-B9D6-F74E-C63B-34BBCF1C7DAD}"/>
                  </a:ext>
                </a:extLst>
              </p:cNvPr>
              <p:cNvSpPr txBox="1"/>
              <p:nvPr/>
            </p:nvSpPr>
            <p:spPr bwMode="auto">
              <a:xfrm>
                <a:off x="3650670" y="3619022"/>
                <a:ext cx="22860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8" name="Object 1065">
                <a:extLst>
                  <a:ext uri="{FF2B5EF4-FFF2-40B4-BE49-F238E27FC236}">
                    <a16:creationId xmlns:a16="http://schemas.microsoft.com/office/drawing/2014/main" id="{603D405F-B9D6-F74E-C63B-34BBCF1C7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0670" y="3619022"/>
                <a:ext cx="2286000" cy="3937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1066">
                <a:extLst>
                  <a:ext uri="{FF2B5EF4-FFF2-40B4-BE49-F238E27FC236}">
                    <a16:creationId xmlns:a16="http://schemas.microsoft.com/office/drawing/2014/main" id="{5DD09F45-C532-1859-C7D1-977AE1FA2ED0}"/>
                  </a:ext>
                </a:extLst>
              </p:cNvPr>
              <p:cNvSpPr txBox="1"/>
              <p:nvPr/>
            </p:nvSpPr>
            <p:spPr bwMode="auto">
              <a:xfrm>
                <a:off x="3650670" y="4430486"/>
                <a:ext cx="2285999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9" name="Object 1066">
                <a:extLst>
                  <a:ext uri="{FF2B5EF4-FFF2-40B4-BE49-F238E27FC236}">
                    <a16:creationId xmlns:a16="http://schemas.microsoft.com/office/drawing/2014/main" id="{5DD09F45-C532-1859-C7D1-977AE1FA2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0670" y="4430486"/>
                <a:ext cx="2285999" cy="3937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1067">
                <a:extLst>
                  <a:ext uri="{FF2B5EF4-FFF2-40B4-BE49-F238E27FC236}">
                    <a16:creationId xmlns:a16="http://schemas.microsoft.com/office/drawing/2014/main" id="{14E7053A-81A1-B5B8-2506-9A27AD646356}"/>
                  </a:ext>
                </a:extLst>
              </p:cNvPr>
              <p:cNvSpPr txBox="1"/>
              <p:nvPr/>
            </p:nvSpPr>
            <p:spPr bwMode="auto">
              <a:xfrm>
                <a:off x="3650670" y="5173662"/>
                <a:ext cx="215265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0" name="Object 1067">
                <a:extLst>
                  <a:ext uri="{FF2B5EF4-FFF2-40B4-BE49-F238E27FC236}">
                    <a16:creationId xmlns:a16="http://schemas.microsoft.com/office/drawing/2014/main" id="{14E7053A-81A1-B5B8-2506-9A27AD646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0670" y="5173662"/>
                <a:ext cx="2152650" cy="3937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AutoShape 1068">
            <a:extLst>
              <a:ext uri="{FF2B5EF4-FFF2-40B4-BE49-F238E27FC236}">
                <a16:creationId xmlns:a16="http://schemas.microsoft.com/office/drawing/2014/main" id="{0F6EE700-3CF1-4C91-404F-66F4CBC814D2}"/>
              </a:ext>
            </a:extLst>
          </p:cNvPr>
          <p:cNvSpPr>
            <a:spLocks/>
          </p:cNvSpPr>
          <p:nvPr/>
        </p:nvSpPr>
        <p:spPr bwMode="auto">
          <a:xfrm>
            <a:off x="7897386" y="341358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29BA93F-0C6C-7FAC-4AD0-E9505C308B9D}"/>
              </a:ext>
            </a:extLst>
          </p:cNvPr>
          <p:cNvGrpSpPr/>
          <p:nvPr/>
        </p:nvGrpSpPr>
        <p:grpSpPr>
          <a:xfrm>
            <a:off x="1142504" y="669907"/>
            <a:ext cx="2971165" cy="449580"/>
            <a:chOff x="1553" y="3802"/>
            <a:chExt cx="4679" cy="708"/>
          </a:xfrm>
        </p:grpSpPr>
        <p:sp>
          <p:nvSpPr>
            <p:cNvPr id="43" name="圆角矩形 3">
              <a:extLst>
                <a:ext uri="{FF2B5EF4-FFF2-40B4-BE49-F238E27FC236}">
                  <a16:creationId xmlns:a16="http://schemas.microsoft.com/office/drawing/2014/main" id="{2D4D3AF4-E92A-CE82-62B4-F49020DCF011}"/>
                </a:ext>
              </a:extLst>
            </p:cNvPr>
            <p:cNvSpPr/>
            <p:nvPr/>
          </p:nvSpPr>
          <p:spPr>
            <a:xfrm>
              <a:off x="1553" y="3803"/>
              <a:ext cx="169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28">
                  <a:extLst>
                    <a:ext uri="{FF2B5EF4-FFF2-40B4-BE49-F238E27FC236}">
                      <a16:creationId xmlns:a16="http://schemas.microsoft.com/office/drawing/2014/main" id="{C7194F4C-09D1-FFDA-E3B0-0C1BAFCA8E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0" y="3802"/>
                  <a:ext cx="4522" cy="6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bIns="0">
                  <a:spAutoFit/>
                </a:bodyPr>
                <a:lstStyle>
                  <a:lvl1pPr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defRPr/>
                  </a:pPr>
                  <a:r>
                    <a:rPr kumimoji="1" lang="zh-CN" altLang="en-US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定理</a:t>
                  </a:r>
                  <a:r>
                    <a:rPr kumimoji="1" lang="en-US" altLang="zh-CN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2 </a:t>
                  </a:r>
                  <a14:m>
                    <m:oMath xmlns:m="http://schemas.openxmlformats.org/officeDocument/2006/math">
                      <m:r>
                        <a:rPr lang="zh-CN" altLang="en-US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充分</m:t>
                      </m:r>
                      <m:r>
                        <a:rPr lang="zh-CN" altLang="en-US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条件</m:t>
                      </m:r>
                      <m:r>
                        <a:rPr lang="zh-CN" altLang="en-US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a14:m>
                  <a:endParaRPr lang="en-US" altLang="zh-CN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4" name="Text Box 28">
                  <a:extLst>
                    <a:ext uri="{FF2B5EF4-FFF2-40B4-BE49-F238E27FC236}">
                      <a16:creationId xmlns:a16="http://schemas.microsoft.com/office/drawing/2014/main" id="{C7194F4C-09D1-FFDA-E3B0-0C1BAFCA8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10" y="3802"/>
                  <a:ext cx="4522" cy="679"/>
                </a:xfrm>
                <a:prstGeom prst="rect">
                  <a:avLst/>
                </a:prstGeom>
                <a:blipFill>
                  <a:blip r:embed="rId19"/>
                  <a:stretch>
                    <a:fillRect l="-7643" t="-25352" b="-4788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E973C915-8306-E620-60E3-AA584103AEF1}"/>
              </a:ext>
            </a:extLst>
          </p:cNvPr>
          <p:cNvGrpSpPr/>
          <p:nvPr/>
        </p:nvGrpSpPr>
        <p:grpSpPr>
          <a:xfrm>
            <a:off x="228600" y="236182"/>
            <a:ext cx="11732497" cy="6421275"/>
            <a:chOff x="228600" y="236182"/>
            <a:chExt cx="11732497" cy="6421275"/>
          </a:xfrm>
        </p:grpSpPr>
        <p:sp>
          <p:nvSpPr>
            <p:cNvPr id="49" name="Rectangle 1">
              <a:extLst>
                <a:ext uri="{FF2B5EF4-FFF2-40B4-BE49-F238E27FC236}">
                  <a16:creationId xmlns:a16="http://schemas.microsoft.com/office/drawing/2014/main" id="{6EFD8095-8689-1C8A-1E91-3D1437F2FBA8}"/>
                </a:ext>
              </a:extLst>
            </p:cNvPr>
            <p:cNvSpPr/>
            <p:nvPr/>
          </p:nvSpPr>
          <p:spPr>
            <a:xfrm>
              <a:off x="364173" y="6460603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Rectangle 1">
              <a:extLst>
                <a:ext uri="{FF2B5EF4-FFF2-40B4-BE49-F238E27FC236}">
                  <a16:creationId xmlns:a16="http://schemas.microsoft.com/office/drawing/2014/main" id="{139755EF-EE42-C0AD-9AF7-2814A3EBE337}"/>
                </a:ext>
              </a:extLst>
            </p:cNvPr>
            <p:cNvSpPr/>
            <p:nvPr/>
          </p:nvSpPr>
          <p:spPr>
            <a:xfrm rot="2659048">
              <a:off x="8838055" y="295963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E1E49EBE-EB1B-4ABC-2366-C50CD4E626DF}"/>
                </a:ext>
              </a:extLst>
            </p:cNvPr>
            <p:cNvSpPr/>
            <p:nvPr/>
          </p:nvSpPr>
          <p:spPr>
            <a:xfrm>
              <a:off x="543503" y="6349680"/>
              <a:ext cx="28568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第八节   多元函数的极值及其求法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033B3F1-40F2-017F-495C-D512B64C0153}"/>
                </a:ext>
              </a:extLst>
            </p:cNvPr>
            <p:cNvSpPr/>
            <p:nvPr/>
          </p:nvSpPr>
          <p:spPr>
            <a:xfrm>
              <a:off x="9055533" y="236182"/>
              <a:ext cx="28568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第九章 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多元函数微分法及其应用</a:t>
              </a: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9C587B74-3C05-3FE4-E61B-4C87459329D8}"/>
                </a:ext>
              </a:extLst>
            </p:cNvPr>
            <p:cNvCxnSpPr/>
            <p:nvPr/>
          </p:nvCxnSpPr>
          <p:spPr>
            <a:xfrm>
              <a:off x="228600" y="375380"/>
              <a:ext cx="8388000" cy="0"/>
            </a:xfrm>
            <a:prstGeom prst="line">
              <a:avLst/>
            </a:prstGeom>
            <a:ln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3BBC6A6-E9A5-53F7-C37B-04A65534E496}"/>
                </a:ext>
              </a:extLst>
            </p:cNvPr>
            <p:cNvCxnSpPr/>
            <p:nvPr/>
          </p:nvCxnSpPr>
          <p:spPr>
            <a:xfrm>
              <a:off x="3573097" y="6503831"/>
              <a:ext cx="8388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366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40">
                <a:extLst>
                  <a:ext uri="{FF2B5EF4-FFF2-40B4-BE49-F238E27FC236}">
                    <a16:creationId xmlns:a16="http://schemas.microsoft.com/office/drawing/2014/main" id="{3940BC6D-0C10-EC25-187C-BB52631930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8550" y="1638301"/>
                <a:ext cx="8229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  <a:cs typeface="Times New Roman" panose="02020603050405020304" pitchFamily="18" charset="0"/>
                  </a:rPr>
                  <a:t>设二元函数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  <a:cs typeface="Times New Roman" panose="02020603050405020304" pitchFamily="18" charset="0"/>
                  </a:rPr>
                  <a:t>具有二阶连续偏导数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  <a:cs typeface="Times New Roman" panose="02020603050405020304" pitchFamily="18" charset="0"/>
                  </a:rPr>
                  <a:t> 则求</a:t>
                </a:r>
              </a:p>
            </p:txBody>
          </p:sp>
        </mc:Choice>
        <mc:Fallback xmlns="">
          <p:sp>
            <p:nvSpPr>
              <p:cNvPr id="2" name="Text Box 40">
                <a:extLst>
                  <a:ext uri="{FF2B5EF4-FFF2-40B4-BE49-F238E27FC236}">
                    <a16:creationId xmlns:a16="http://schemas.microsoft.com/office/drawing/2014/main" id="{3940BC6D-0C10-EC25-187C-BB5263193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8550" y="1638301"/>
                <a:ext cx="8229600" cy="523220"/>
              </a:xfrm>
              <a:prstGeom prst="rect">
                <a:avLst/>
              </a:prstGeom>
              <a:blipFill>
                <a:blip r:embed="rId3"/>
                <a:stretch>
                  <a:fillRect l="-1556" t="-17442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41">
                <a:extLst>
                  <a:ext uri="{FF2B5EF4-FFF2-40B4-BE49-F238E27FC236}">
                    <a16:creationId xmlns:a16="http://schemas.microsoft.com/office/drawing/2014/main" id="{55A54DE6-732A-521F-F2E1-CB55B5A118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675" y="2297670"/>
                <a:ext cx="35052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  <a:cs typeface="Times New Roman" panose="02020603050405020304" pitchFamily="18" charset="0"/>
                  </a:rPr>
                  <a:t>极值的步骤如下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</a:rPr>
                      <m:t>:</m:t>
                    </m:r>
                  </m:oMath>
                </a14:m>
                <a:endParaRPr lang="zh-CN" altLang="en-US" b="0" dirty="0">
                  <a:solidFill>
                    <a:srgbClr val="000000"/>
                  </a:solidFill>
                  <a:latin typeface="Cabin Medium" panose="00000600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 Box 41">
                <a:extLst>
                  <a:ext uri="{FF2B5EF4-FFF2-40B4-BE49-F238E27FC236}">
                    <a16:creationId xmlns:a16="http://schemas.microsoft.com/office/drawing/2014/main" id="{55A54DE6-732A-521F-F2E1-CB55B5A11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2675" y="2297670"/>
                <a:ext cx="3505200" cy="519113"/>
              </a:xfrm>
              <a:prstGeom prst="rect">
                <a:avLst/>
              </a:prstGeom>
              <a:blipFill>
                <a:blip r:embed="rId4"/>
                <a:stretch>
                  <a:fillRect l="-3652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2">
            <a:extLst>
              <a:ext uri="{FF2B5EF4-FFF2-40B4-BE49-F238E27FC236}">
                <a16:creationId xmlns:a16="http://schemas.microsoft.com/office/drawing/2014/main" id="{D36694D1-91A2-2E85-6CD9-09C36A746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675" y="3009900"/>
            <a:ext cx="441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步骤</a:t>
            </a:r>
            <a:r>
              <a:rPr lang="en-US" altLang="zh-CN" sz="2800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Cabin Medium" panose="00000600000000000000" pitchFamily="2" charset="0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rgbClr val="000000"/>
                </a:solidFill>
                <a:latin typeface="Cabin Medium" panose="00000600000000000000" pitchFamily="2" charset="0"/>
                <a:ea typeface="黑体" panose="02010609060101010101" pitchFamily="49" charset="-122"/>
                <a:cs typeface="Times New Roman" panose="02020603050405020304" pitchFamily="18" charset="0"/>
              </a:rPr>
              <a:t>求驻点 解方程组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4">
                <a:extLst>
                  <a:ext uri="{FF2B5EF4-FFF2-40B4-BE49-F238E27FC236}">
                    <a16:creationId xmlns:a16="http://schemas.microsoft.com/office/drawing/2014/main" id="{6E735910-8D37-D2C8-B103-BD3749A9A8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58175" y="2995284"/>
                <a:ext cx="27432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  <a:cs typeface="Times New Roman" panose="02020603050405020304" pitchFamily="18" charset="0"/>
                  </a:rPr>
                  <a:t>求出所有驻点</a:t>
                </a:r>
                <a14:m>
                  <m:oMath xmlns:m="http://schemas.openxmlformats.org/officeDocument/2006/math">
                    <m:r>
                      <a:rPr kumimoji="1" lang="en-US" altLang="zh-CN" dirty="0">
                        <a:latin typeface="Cambria Math" panose="02040503050406030204" charset="0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zh-CN" altLang="en-US" b="0" dirty="0">
                  <a:solidFill>
                    <a:srgbClr val="000000"/>
                  </a:solidFill>
                  <a:latin typeface="Cabin Medium" panose="00000600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 Box 44">
                <a:extLst>
                  <a:ext uri="{FF2B5EF4-FFF2-40B4-BE49-F238E27FC236}">
                    <a16:creationId xmlns:a16="http://schemas.microsoft.com/office/drawing/2014/main" id="{6E735910-8D37-D2C8-B103-BD3749A9A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8175" y="2995284"/>
                <a:ext cx="2743200" cy="519113"/>
              </a:xfrm>
              <a:prstGeom prst="rect">
                <a:avLst/>
              </a:prstGeom>
              <a:blipFill>
                <a:blip r:embed="rId5"/>
                <a:stretch>
                  <a:fillRect l="-4667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07EC3BAE-C4B6-9622-6801-5681AC1FF264}"/>
              </a:ext>
            </a:extLst>
          </p:cNvPr>
          <p:cNvSpPr txBox="1">
            <a:spLocks noChangeArrowheads="1"/>
          </p:cNvSpPr>
          <p:nvPr/>
        </p:nvSpPr>
        <p:spPr>
          <a:xfrm>
            <a:off x="1971184" y="807312"/>
            <a:ext cx="4069253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二元函数极值的步骤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1">
                <a:extLst>
                  <a:ext uri="{FF2B5EF4-FFF2-40B4-BE49-F238E27FC236}">
                    <a16:creationId xmlns:a16="http://schemas.microsoft.com/office/drawing/2014/main" id="{22661CA3-6B5D-161A-D90A-9E1C8E2D8A1A}"/>
                  </a:ext>
                </a:extLst>
              </p:cNvPr>
              <p:cNvSpPr txBox="1"/>
              <p:nvPr/>
            </p:nvSpPr>
            <p:spPr>
              <a:xfrm>
                <a:off x="6010275" y="2731760"/>
                <a:ext cx="2120900" cy="1079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)=0,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)=0,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i="1" dirty="0">
                  <a:solidFill>
                    <a:srgbClr val="000000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1">
                <a:extLst>
                  <a:ext uri="{FF2B5EF4-FFF2-40B4-BE49-F238E27FC236}">
                    <a16:creationId xmlns:a16="http://schemas.microsoft.com/office/drawing/2014/main" id="{22661CA3-6B5D-161A-D90A-9E1C8E2D8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275" y="2731760"/>
                <a:ext cx="2120900" cy="1079500"/>
              </a:xfrm>
              <a:prstGeom prst="rect">
                <a:avLst/>
              </a:prstGeom>
              <a:blipFill>
                <a:blip r:embed="rId6"/>
                <a:stretch>
                  <a:fillRect r="-5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42">
                <a:extLst>
                  <a:ext uri="{FF2B5EF4-FFF2-40B4-BE49-F238E27FC236}">
                    <a16:creationId xmlns:a16="http://schemas.microsoft.com/office/drawing/2014/main" id="{C822F640-BD0B-43D4-6B56-7BEFD7E2A3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675" y="3919354"/>
                <a:ext cx="532447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步骤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2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Cabin Medium" panose="00000600000000000000" pitchFamily="2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对于每一个驻点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),</m:t>
                    </m:r>
                  </m:oMath>
                </a14:m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 Box 42">
                <a:extLst>
                  <a:ext uri="{FF2B5EF4-FFF2-40B4-BE49-F238E27FC236}">
                    <a16:creationId xmlns:a16="http://schemas.microsoft.com/office/drawing/2014/main" id="{C822F640-BD0B-43D4-6B56-7BEFD7E2A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2675" y="3919354"/>
                <a:ext cx="5324475" cy="523220"/>
              </a:xfrm>
              <a:prstGeom prst="rect">
                <a:avLst/>
              </a:prstGeom>
              <a:blipFill>
                <a:blip r:embed="rId7"/>
                <a:stretch>
                  <a:fillRect l="-2405" t="-17442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42">
                <a:extLst>
                  <a:ext uri="{FF2B5EF4-FFF2-40B4-BE49-F238E27FC236}">
                    <a16:creationId xmlns:a16="http://schemas.microsoft.com/office/drawing/2014/main" id="{AF173DE1-DD46-6BEB-ED0B-94DD50D590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0900" y="4653473"/>
                <a:ext cx="532447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求出二阶偏导数的值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zh-CN" altLang="en-US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zh-CN" altLang="en-US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zh-CN" altLang="en-US" sz="28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；</m:t>
                    </m:r>
                  </m:oMath>
                </a14:m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 Box 42">
                <a:extLst>
                  <a:ext uri="{FF2B5EF4-FFF2-40B4-BE49-F238E27FC236}">
                    <a16:creationId xmlns:a16="http://schemas.microsoft.com/office/drawing/2014/main" id="{AF173DE1-DD46-6BEB-ED0B-94DD50D59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0900" y="4653473"/>
                <a:ext cx="5324475" cy="523220"/>
              </a:xfrm>
              <a:prstGeom prst="rect">
                <a:avLst/>
              </a:prstGeom>
              <a:blipFill>
                <a:blip r:embed="rId8"/>
                <a:stretch>
                  <a:fillRect l="-2288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42">
                <a:extLst>
                  <a:ext uri="{FF2B5EF4-FFF2-40B4-BE49-F238E27FC236}">
                    <a16:creationId xmlns:a16="http://schemas.microsoft.com/office/drawing/2014/main" id="{2290144B-8AC3-8BDA-DA2B-D14F5CF389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675" y="5387592"/>
                <a:ext cx="7705725" cy="5329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步骤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3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Cabin Medium" panose="00000600000000000000" pitchFamily="2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定出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𝐴𝐶</m:t>
                    </m:r>
                    <m:r>
                      <a:rPr lang="en-US" altLang="zh-CN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8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的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符号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再判定是否是极值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 Box 42">
                <a:extLst>
                  <a:ext uri="{FF2B5EF4-FFF2-40B4-BE49-F238E27FC236}">
                    <a16:creationId xmlns:a16="http://schemas.microsoft.com/office/drawing/2014/main" id="{2290144B-8AC3-8BDA-DA2B-D14F5CF38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2675" y="5387592"/>
                <a:ext cx="7705725" cy="532966"/>
              </a:xfrm>
              <a:prstGeom prst="rect">
                <a:avLst/>
              </a:prstGeom>
              <a:blipFill>
                <a:blip r:embed="rId9"/>
                <a:stretch>
                  <a:fillRect l="-1661" t="-17241" b="-3103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09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1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59AD52-EB21-0E61-473B-73F1F1FD2471}"/>
              </a:ext>
            </a:extLst>
          </p:cNvPr>
          <p:cNvSpPr txBox="1">
            <a:spLocks noChangeArrowheads="1"/>
          </p:cNvSpPr>
          <p:nvPr/>
        </p:nvSpPr>
        <p:spPr>
          <a:xfrm>
            <a:off x="1743076" y="675361"/>
            <a:ext cx="9906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 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0C2F43A5-B088-7F61-4167-15BE3C156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0175" y="653136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Cabin Medium" panose="00000600000000000000" pitchFamily="2" charset="0"/>
                <a:ea typeface="黑体" panose="02010609060101010101" pitchFamily="49" charset="-122"/>
                <a:cs typeface="Times New Roman" panose="02020603050405020304" pitchFamily="18" charset="0"/>
              </a:rPr>
              <a:t>求函数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3A19C168-F37F-193D-0450-DDDFF8EE8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1651" y="1368071"/>
            <a:ext cx="350520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22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第一步 求驻点</a:t>
            </a:r>
            <a:r>
              <a:rPr kumimoji="1" lang="en-US" altLang="zh-CN" sz="22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8">
                <a:extLst>
                  <a:ext uri="{FF2B5EF4-FFF2-40B4-BE49-F238E27FC236}">
                    <a16:creationId xmlns:a16="http://schemas.microsoft.com/office/drawing/2014/main" id="{57ED70A4-2FAB-8E73-2F4B-A99FCB5780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0475" y="3017163"/>
                <a:ext cx="502285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得驻点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2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−3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−3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 Box 8">
                <a:extLst>
                  <a:ext uri="{FF2B5EF4-FFF2-40B4-BE49-F238E27FC236}">
                    <a16:creationId xmlns:a16="http://schemas.microsoft.com/office/drawing/2014/main" id="{57ED70A4-2FAB-8E73-2F4B-A99FCB578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0475" y="3017163"/>
                <a:ext cx="5022850" cy="430887"/>
              </a:xfrm>
              <a:prstGeom prst="rect">
                <a:avLst/>
              </a:prstGeom>
              <a:blipFill>
                <a:blip r:embed="rId4"/>
                <a:stretch>
                  <a:fillRect l="-1578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10">
            <a:extLst>
              <a:ext uri="{FF2B5EF4-FFF2-40B4-BE49-F238E27FC236}">
                <a16:creationId xmlns:a16="http://schemas.microsoft.com/office/drawing/2014/main" id="{1DC9D8DE-57B2-CA3F-B727-97C994D28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475" y="3585487"/>
            <a:ext cx="2590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第二步  判别</a:t>
            </a:r>
            <a:r>
              <a:rPr kumimoji="1" lang="en-US" altLang="zh-CN" sz="22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3">
                <a:extLst>
                  <a:ext uri="{FF2B5EF4-FFF2-40B4-BE49-F238E27FC236}">
                    <a16:creationId xmlns:a16="http://schemas.microsoft.com/office/drawing/2014/main" id="{071BCB54-45AB-C009-0B62-9631B56CF0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0475" y="4812169"/>
                <a:ext cx="169545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在点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处</a:t>
                </a:r>
              </a:p>
            </p:txBody>
          </p:sp>
        </mc:Choice>
        <mc:Fallback xmlns="">
          <p:sp>
            <p:nvSpPr>
              <p:cNvPr id="8" name="Text Box 13">
                <a:extLst>
                  <a:ext uri="{FF2B5EF4-FFF2-40B4-BE49-F238E27FC236}">
                    <a16:creationId xmlns:a16="http://schemas.microsoft.com/office/drawing/2014/main" id="{071BCB54-45AB-C009-0B62-9631B56CF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0475" y="4812169"/>
                <a:ext cx="1695450" cy="430887"/>
              </a:xfrm>
              <a:prstGeom prst="rect">
                <a:avLst/>
              </a:prstGeom>
              <a:blipFill>
                <a:blip r:embed="rId5"/>
                <a:stretch>
                  <a:fillRect l="-4676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5">
            <a:extLst>
              <a:ext uri="{FF2B5EF4-FFF2-40B4-BE49-F238E27FC236}">
                <a16:creationId xmlns:a16="http://schemas.microsoft.com/office/drawing/2014/main" id="{701D67D9-ED24-DD13-8B3A-E3AA3B7EC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6350" y="5785306"/>
            <a:ext cx="1905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为极小值</a:t>
            </a:r>
            <a:r>
              <a:rPr kumimoji="1" lang="en-US" altLang="zh-CN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BF929AFD-630D-0EC2-D05D-0B2691A2E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475" y="2180002"/>
            <a:ext cx="145097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解方程组</a:t>
            </a:r>
          </a:p>
        </p:txBody>
      </p:sp>
      <p:grpSp>
        <p:nvGrpSpPr>
          <p:cNvPr id="21" name="Group 82">
            <a:extLst>
              <a:ext uri="{FF2B5EF4-FFF2-40B4-BE49-F238E27FC236}">
                <a16:creationId xmlns:a16="http://schemas.microsoft.com/office/drawing/2014/main" id="{08DDFE10-2BD4-0036-7717-8194A64D4028}"/>
              </a:ext>
            </a:extLst>
          </p:cNvPr>
          <p:cNvGrpSpPr>
            <a:grpSpLocks/>
          </p:cNvGrpSpPr>
          <p:nvPr/>
        </p:nvGrpSpPr>
        <p:grpSpPr bwMode="auto">
          <a:xfrm>
            <a:off x="1658939" y="4705350"/>
            <a:ext cx="731837" cy="920750"/>
            <a:chOff x="259" y="2688"/>
            <a:chExt cx="461" cy="5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bject 31">
                  <a:extLst>
                    <a:ext uri="{FF2B5EF4-FFF2-40B4-BE49-F238E27FC236}">
                      <a16:creationId xmlns:a16="http://schemas.microsoft.com/office/drawing/2014/main" id="{AAB6BCDF-A897-EEC2-FF96-38587F2AA71A}"/>
                    </a:ext>
                  </a:extLst>
                </p:cNvPr>
                <p:cNvSpPr txBox="1"/>
                <p:nvPr/>
              </p:nvSpPr>
              <p:spPr bwMode="auto">
                <a:xfrm>
                  <a:off x="259" y="2976"/>
                  <a:ext cx="269" cy="292"/>
                </a:xfrm>
                <a:prstGeom prst="rect">
                  <a:avLst/>
                </a:prstGeom>
                <a:solidFill>
                  <a:srgbClr val="04926A">
                    <a:alpha val="42000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2" name="Object 31">
                  <a:extLst>
                    <a:ext uri="{FF2B5EF4-FFF2-40B4-BE49-F238E27FC236}">
                      <a16:creationId xmlns:a16="http://schemas.microsoft.com/office/drawing/2014/main" id="{AAB6BCDF-A897-EEC2-FF96-38587F2AA7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9" y="2976"/>
                  <a:ext cx="269" cy="292"/>
                </a:xfrm>
                <a:prstGeom prst="rect">
                  <a:avLst/>
                </a:prstGeom>
                <a:blipFill>
                  <a:blip r:embed="rId6"/>
                  <a:stretch>
                    <a:fillRect l="-140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Line 36">
              <a:extLst>
                <a:ext uri="{FF2B5EF4-FFF2-40B4-BE49-F238E27FC236}">
                  <a16:creationId xmlns:a16="http://schemas.microsoft.com/office/drawing/2014/main" id="{2C148DE0-5BB9-750B-E82E-8172EEA22B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" y="2688"/>
              <a:ext cx="192" cy="28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24" name="Group 83">
            <a:extLst>
              <a:ext uri="{FF2B5EF4-FFF2-40B4-BE49-F238E27FC236}">
                <a16:creationId xmlns:a16="http://schemas.microsoft.com/office/drawing/2014/main" id="{503699AC-552F-63FD-B07C-3BC3A56BF45A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3543300"/>
            <a:ext cx="1360488" cy="701675"/>
            <a:chOff x="3300" y="1968"/>
            <a:chExt cx="857" cy="4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32">
                  <a:extLst>
                    <a:ext uri="{FF2B5EF4-FFF2-40B4-BE49-F238E27FC236}">
                      <a16:creationId xmlns:a16="http://schemas.microsoft.com/office/drawing/2014/main" id="{F3457EF0-A81F-AF9E-B91F-CB2B63B86486}"/>
                    </a:ext>
                  </a:extLst>
                </p:cNvPr>
                <p:cNvSpPr txBox="1"/>
                <p:nvPr/>
              </p:nvSpPr>
              <p:spPr bwMode="auto">
                <a:xfrm>
                  <a:off x="3888" y="1968"/>
                  <a:ext cx="269" cy="292"/>
                </a:xfrm>
                <a:prstGeom prst="rect">
                  <a:avLst/>
                </a:prstGeom>
                <a:solidFill>
                  <a:srgbClr val="04926A">
                    <a:alpha val="42000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5" name="Object 32">
                  <a:extLst>
                    <a:ext uri="{FF2B5EF4-FFF2-40B4-BE49-F238E27FC236}">
                      <a16:creationId xmlns:a16="http://schemas.microsoft.com/office/drawing/2014/main" id="{F3457EF0-A81F-AF9E-B91F-CB2B63B864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88" y="1968"/>
                  <a:ext cx="269" cy="292"/>
                </a:xfrm>
                <a:prstGeom prst="rect">
                  <a:avLst/>
                </a:prstGeom>
                <a:blipFill>
                  <a:blip r:embed="rId7"/>
                  <a:stretch>
                    <a:fillRect l="-1429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Line 43">
              <a:extLst>
                <a:ext uri="{FF2B5EF4-FFF2-40B4-BE49-F238E27FC236}">
                  <a16:creationId xmlns:a16="http://schemas.microsoft.com/office/drawing/2014/main" id="{7538D97C-133D-5DDA-1A8A-032DFF7FD1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00" y="2118"/>
              <a:ext cx="581" cy="2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27" name="Group 74">
            <a:extLst>
              <a:ext uri="{FF2B5EF4-FFF2-40B4-BE49-F238E27FC236}">
                <a16:creationId xmlns:a16="http://schemas.microsoft.com/office/drawing/2014/main" id="{1D5F1810-798F-3D7C-A4F0-F1D60D4BF225}"/>
              </a:ext>
            </a:extLst>
          </p:cNvPr>
          <p:cNvGrpSpPr>
            <a:grpSpLocks/>
          </p:cNvGrpSpPr>
          <p:nvPr/>
        </p:nvGrpSpPr>
        <p:grpSpPr bwMode="auto">
          <a:xfrm>
            <a:off x="8172452" y="3354389"/>
            <a:ext cx="1571626" cy="879475"/>
            <a:chOff x="4368" y="1654"/>
            <a:chExt cx="990" cy="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33">
                  <a:extLst>
                    <a:ext uri="{FF2B5EF4-FFF2-40B4-BE49-F238E27FC236}">
                      <a16:creationId xmlns:a16="http://schemas.microsoft.com/office/drawing/2014/main" id="{849AC872-6E07-8EEF-6099-7D539830E39B}"/>
                    </a:ext>
                  </a:extLst>
                </p:cNvPr>
                <p:cNvSpPr txBox="1"/>
                <p:nvPr/>
              </p:nvSpPr>
              <p:spPr bwMode="auto">
                <a:xfrm>
                  <a:off x="5088" y="1654"/>
                  <a:ext cx="270" cy="293"/>
                </a:xfrm>
                <a:prstGeom prst="rect">
                  <a:avLst/>
                </a:prstGeom>
                <a:solidFill>
                  <a:srgbClr val="04926A">
                    <a:alpha val="42000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8" name="Object 33">
                  <a:extLst>
                    <a:ext uri="{FF2B5EF4-FFF2-40B4-BE49-F238E27FC236}">
                      <a16:creationId xmlns:a16="http://schemas.microsoft.com/office/drawing/2014/main" id="{849AC872-6E07-8EEF-6099-7D539830E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88" y="1654"/>
                  <a:ext cx="270" cy="293"/>
                </a:xfrm>
                <a:prstGeom prst="rect">
                  <a:avLst/>
                </a:prstGeom>
                <a:blipFill>
                  <a:blip r:embed="rId8"/>
                  <a:stretch>
                    <a:fillRect l="-140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Line 44">
              <a:extLst>
                <a:ext uri="{FF2B5EF4-FFF2-40B4-BE49-F238E27FC236}">
                  <a16:creationId xmlns:a16="http://schemas.microsoft.com/office/drawing/2014/main" id="{C0754973-A2DA-8F50-6ADA-C70B06E8C5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1872"/>
              <a:ext cx="720" cy="33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52">
                <a:extLst>
                  <a:ext uri="{FF2B5EF4-FFF2-40B4-BE49-F238E27FC236}">
                    <a16:creationId xmlns:a16="http://schemas.microsoft.com/office/drawing/2014/main" id="{4F80FCDF-B842-D5FD-A8D3-927074D1EE1D}"/>
                  </a:ext>
                </a:extLst>
              </p:cNvPr>
              <p:cNvSpPr txBox="1"/>
              <p:nvPr/>
            </p:nvSpPr>
            <p:spPr bwMode="auto">
              <a:xfrm>
                <a:off x="4000500" y="1803753"/>
                <a:ext cx="14986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Object 52">
                <a:extLst>
                  <a:ext uri="{FF2B5EF4-FFF2-40B4-BE49-F238E27FC236}">
                    <a16:creationId xmlns:a16="http://schemas.microsoft.com/office/drawing/2014/main" id="{4F80FCDF-B842-D5FD-A8D3-927074D1E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0500" y="1803753"/>
                <a:ext cx="1498600" cy="444500"/>
              </a:xfrm>
              <a:prstGeom prst="rect">
                <a:avLst/>
              </a:prstGeom>
              <a:blipFill>
                <a:blip r:embed="rId9"/>
                <a:stretch>
                  <a:fillRect l="-2439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53">
                <a:extLst>
                  <a:ext uri="{FF2B5EF4-FFF2-40B4-BE49-F238E27FC236}">
                    <a16:creationId xmlns:a16="http://schemas.microsoft.com/office/drawing/2014/main" id="{761C3FC6-1294-2AF6-8F23-59D28E693583}"/>
                  </a:ext>
                </a:extLst>
              </p:cNvPr>
              <p:cNvSpPr txBox="1"/>
              <p:nvPr/>
            </p:nvSpPr>
            <p:spPr bwMode="auto">
              <a:xfrm>
                <a:off x="5226050" y="1819628"/>
                <a:ext cx="23495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3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+6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−9=0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53">
                <a:extLst>
                  <a:ext uri="{FF2B5EF4-FFF2-40B4-BE49-F238E27FC236}">
                    <a16:creationId xmlns:a16="http://schemas.microsoft.com/office/drawing/2014/main" id="{761C3FC6-1294-2AF6-8F23-59D28E693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6050" y="1819628"/>
                <a:ext cx="2349500" cy="444500"/>
              </a:xfrm>
              <a:prstGeom prst="rect">
                <a:avLst/>
              </a:prstGeom>
              <a:blipFill>
                <a:blip r:embed="rId10"/>
                <a:stretch>
                  <a:fillRect l="-2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54">
                <a:extLst>
                  <a:ext uri="{FF2B5EF4-FFF2-40B4-BE49-F238E27FC236}">
                    <a16:creationId xmlns:a16="http://schemas.microsoft.com/office/drawing/2014/main" id="{4211BC29-552F-54A6-8950-C8A73F9E6D24}"/>
                  </a:ext>
                </a:extLst>
              </p:cNvPr>
              <p:cNvSpPr txBox="1"/>
              <p:nvPr/>
            </p:nvSpPr>
            <p:spPr bwMode="auto">
              <a:xfrm>
                <a:off x="4000500" y="2487965"/>
                <a:ext cx="1511300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Object 54">
                <a:extLst>
                  <a:ext uri="{FF2B5EF4-FFF2-40B4-BE49-F238E27FC236}">
                    <a16:creationId xmlns:a16="http://schemas.microsoft.com/office/drawing/2014/main" id="{4211BC29-552F-54A6-8950-C8A73F9E6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0500" y="2487965"/>
                <a:ext cx="1511300" cy="495300"/>
              </a:xfrm>
              <a:prstGeom prst="rect">
                <a:avLst/>
              </a:prstGeom>
              <a:blipFill>
                <a:blip r:embed="rId11"/>
                <a:stretch>
                  <a:fillRect l="-2419" b="-24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55">
                <a:extLst>
                  <a:ext uri="{FF2B5EF4-FFF2-40B4-BE49-F238E27FC236}">
                    <a16:creationId xmlns:a16="http://schemas.microsoft.com/office/drawing/2014/main" id="{F341C70C-57C5-8104-518B-F65B4E5D9BC8}"/>
                  </a:ext>
                </a:extLst>
              </p:cNvPr>
              <p:cNvSpPr txBox="1"/>
              <p:nvPr/>
            </p:nvSpPr>
            <p:spPr bwMode="auto">
              <a:xfrm>
                <a:off x="5226050" y="2500664"/>
                <a:ext cx="21590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−3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+6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Object 55">
                <a:extLst>
                  <a:ext uri="{FF2B5EF4-FFF2-40B4-BE49-F238E27FC236}">
                    <a16:creationId xmlns:a16="http://schemas.microsoft.com/office/drawing/2014/main" id="{F341C70C-57C5-8104-518B-F65B4E5D9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6050" y="2500664"/>
                <a:ext cx="2159000" cy="5207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57">
            <a:extLst>
              <a:ext uri="{FF2B5EF4-FFF2-40B4-BE49-F238E27FC236}">
                <a16:creationId xmlns:a16="http://schemas.microsoft.com/office/drawing/2014/main" id="{A24C3167-730C-BB87-DC40-9403CF91A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3716" y="632054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Cabin Medium" panose="00000600000000000000" pitchFamily="2" charset="0"/>
                <a:ea typeface="黑体" panose="02010609060101010101" pitchFamily="49" charset="-122"/>
                <a:cs typeface="Times New Roman" panose="02020603050405020304" pitchFamily="18" charset="0"/>
              </a:rPr>
              <a:t>的极值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35" name="Text Box 58">
            <a:extLst>
              <a:ext uri="{FF2B5EF4-FFF2-40B4-BE49-F238E27FC236}">
                <a16:creationId xmlns:a16="http://schemas.microsoft.com/office/drawing/2014/main" id="{5A023BAD-5D34-0A60-74C1-709A00140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8488" y="3574374"/>
            <a:ext cx="2743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求二阶偏导数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59">
                <a:extLst>
                  <a:ext uri="{FF2B5EF4-FFF2-40B4-BE49-F238E27FC236}">
                    <a16:creationId xmlns:a16="http://schemas.microsoft.com/office/drawing/2014/main" id="{E50B00C1-A078-1F1A-93DF-1AE8469136EC}"/>
                  </a:ext>
                </a:extLst>
              </p:cNvPr>
              <p:cNvSpPr txBox="1"/>
              <p:nvPr/>
            </p:nvSpPr>
            <p:spPr bwMode="auto">
              <a:xfrm>
                <a:off x="2111375" y="4197350"/>
                <a:ext cx="27178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)=6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+6,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Object 59">
                <a:extLst>
                  <a:ext uri="{FF2B5EF4-FFF2-40B4-BE49-F238E27FC236}">
                    <a16:creationId xmlns:a16="http://schemas.microsoft.com/office/drawing/2014/main" id="{E50B00C1-A078-1F1A-93DF-1AE846913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11375" y="4197350"/>
                <a:ext cx="2717800" cy="508000"/>
              </a:xfrm>
              <a:prstGeom prst="rect">
                <a:avLst/>
              </a:prstGeom>
              <a:blipFill>
                <a:blip r:embed="rId13"/>
                <a:stretch>
                  <a:fillRect l="-1345" b="-12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60">
                <a:extLst>
                  <a:ext uri="{FF2B5EF4-FFF2-40B4-BE49-F238E27FC236}">
                    <a16:creationId xmlns:a16="http://schemas.microsoft.com/office/drawing/2014/main" id="{BC525CAE-7602-E46D-6E78-7AD456FF4FE6}"/>
                  </a:ext>
                </a:extLst>
              </p:cNvPr>
              <p:cNvSpPr txBox="1"/>
              <p:nvPr/>
            </p:nvSpPr>
            <p:spPr bwMode="auto">
              <a:xfrm>
                <a:off x="5083175" y="4197350"/>
                <a:ext cx="20320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Object 60">
                <a:extLst>
                  <a:ext uri="{FF2B5EF4-FFF2-40B4-BE49-F238E27FC236}">
                    <a16:creationId xmlns:a16="http://schemas.microsoft.com/office/drawing/2014/main" id="{BC525CAE-7602-E46D-6E78-7AD456FF4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83175" y="4197350"/>
                <a:ext cx="2032000" cy="508000"/>
              </a:xfrm>
              <a:prstGeom prst="rect">
                <a:avLst/>
              </a:prstGeom>
              <a:blipFill>
                <a:blip r:embed="rId14"/>
                <a:stretch>
                  <a:fillRect l="-2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61">
                <a:extLst>
                  <a:ext uri="{FF2B5EF4-FFF2-40B4-BE49-F238E27FC236}">
                    <a16:creationId xmlns:a16="http://schemas.microsoft.com/office/drawing/2014/main" id="{1B18355D-3F20-C23D-E19C-55DDDA9C98C5}"/>
                  </a:ext>
                </a:extLst>
              </p:cNvPr>
              <p:cNvSpPr txBox="1"/>
              <p:nvPr/>
            </p:nvSpPr>
            <p:spPr bwMode="auto">
              <a:xfrm>
                <a:off x="7229475" y="4197350"/>
                <a:ext cx="28575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)=−6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+6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8" name="Object 61">
                <a:extLst>
                  <a:ext uri="{FF2B5EF4-FFF2-40B4-BE49-F238E27FC236}">
                    <a16:creationId xmlns:a16="http://schemas.microsoft.com/office/drawing/2014/main" id="{1B18355D-3F20-C23D-E19C-55DDDA9C9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29475" y="4197350"/>
                <a:ext cx="2857500" cy="508000"/>
              </a:xfrm>
              <a:prstGeom prst="rect">
                <a:avLst/>
              </a:prstGeom>
              <a:blipFill>
                <a:blip r:embed="rId15"/>
                <a:stretch>
                  <a:fillRect l="-14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62">
                <a:extLst>
                  <a:ext uri="{FF2B5EF4-FFF2-40B4-BE49-F238E27FC236}">
                    <a16:creationId xmlns:a16="http://schemas.microsoft.com/office/drawing/2014/main" id="{7912A332-2D26-8220-A0E0-CDA5FAEB094A}"/>
                  </a:ext>
                </a:extLst>
              </p:cNvPr>
              <p:cNvSpPr txBox="1"/>
              <p:nvPr/>
            </p:nvSpPr>
            <p:spPr bwMode="auto">
              <a:xfrm>
                <a:off x="4191000" y="4813300"/>
                <a:ext cx="11049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=12,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9" name="Object 62">
                <a:extLst>
                  <a:ext uri="{FF2B5EF4-FFF2-40B4-BE49-F238E27FC236}">
                    <a16:creationId xmlns:a16="http://schemas.microsoft.com/office/drawing/2014/main" id="{7912A332-2D26-8220-A0E0-CDA5FAEB0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4813300"/>
                <a:ext cx="1104900" cy="393700"/>
              </a:xfrm>
              <a:prstGeom prst="rect">
                <a:avLst/>
              </a:prstGeom>
              <a:blipFill>
                <a:blip r:embed="rId16"/>
                <a:stretch>
                  <a:fillRect l="-552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63">
                <a:extLst>
                  <a:ext uri="{FF2B5EF4-FFF2-40B4-BE49-F238E27FC236}">
                    <a16:creationId xmlns:a16="http://schemas.microsoft.com/office/drawing/2014/main" id="{87F36525-E259-0006-D0AC-512613CF95A4}"/>
                  </a:ext>
                </a:extLst>
              </p:cNvPr>
              <p:cNvSpPr txBox="1"/>
              <p:nvPr/>
            </p:nvSpPr>
            <p:spPr bwMode="auto">
              <a:xfrm>
                <a:off x="5200650" y="4813300"/>
                <a:ext cx="9525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2" name="Object 63">
                <a:extLst>
                  <a:ext uri="{FF2B5EF4-FFF2-40B4-BE49-F238E27FC236}">
                    <a16:creationId xmlns:a16="http://schemas.microsoft.com/office/drawing/2014/main" id="{87F36525-E259-0006-D0AC-512613CF9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0650" y="4813300"/>
                <a:ext cx="952500" cy="393700"/>
              </a:xfrm>
              <a:prstGeom prst="rect">
                <a:avLst/>
              </a:prstGeom>
              <a:blipFill>
                <a:blip r:embed="rId17"/>
                <a:stretch>
                  <a:fillRect l="-641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64">
                <a:extLst>
                  <a:ext uri="{FF2B5EF4-FFF2-40B4-BE49-F238E27FC236}">
                    <a16:creationId xmlns:a16="http://schemas.microsoft.com/office/drawing/2014/main" id="{85B1464D-C93E-3534-77A6-41A42ACD1511}"/>
                  </a:ext>
                </a:extLst>
              </p:cNvPr>
              <p:cNvSpPr txBox="1"/>
              <p:nvPr/>
            </p:nvSpPr>
            <p:spPr bwMode="auto">
              <a:xfrm>
                <a:off x="6061075" y="4813300"/>
                <a:ext cx="9652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=6,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Object 64">
                <a:extLst>
                  <a:ext uri="{FF2B5EF4-FFF2-40B4-BE49-F238E27FC236}">
                    <a16:creationId xmlns:a16="http://schemas.microsoft.com/office/drawing/2014/main" id="{85B1464D-C93E-3534-77A6-41A42ACD1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61075" y="4813300"/>
                <a:ext cx="965200" cy="393700"/>
              </a:xfrm>
              <a:prstGeom prst="rect">
                <a:avLst/>
              </a:prstGeom>
              <a:blipFill>
                <a:blip r:embed="rId18"/>
                <a:stretch>
                  <a:fillRect l="-629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65">
                <a:extLst>
                  <a:ext uri="{FF2B5EF4-FFF2-40B4-BE49-F238E27FC236}">
                    <a16:creationId xmlns:a16="http://schemas.microsoft.com/office/drawing/2014/main" id="{8578CEE4-2390-B265-7BE4-CB204B130DAC}"/>
                  </a:ext>
                </a:extLst>
              </p:cNvPr>
              <p:cNvSpPr txBox="1"/>
              <p:nvPr/>
            </p:nvSpPr>
            <p:spPr bwMode="auto">
              <a:xfrm>
                <a:off x="3257550" y="5314950"/>
                <a:ext cx="31750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=12×6&gt;0,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4" name="Object 65">
                <a:extLst>
                  <a:ext uri="{FF2B5EF4-FFF2-40B4-BE49-F238E27FC236}">
                    <a16:creationId xmlns:a16="http://schemas.microsoft.com/office/drawing/2014/main" id="{8578CEE4-2390-B265-7BE4-CB204B130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7550" y="5314950"/>
                <a:ext cx="3175000" cy="520700"/>
              </a:xfrm>
              <a:prstGeom prst="rect">
                <a:avLst/>
              </a:prstGeom>
              <a:blipFill>
                <a:blip r:embed="rId19"/>
                <a:stretch>
                  <a:fillRect l="-1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66">
                <a:extLst>
                  <a:ext uri="{FF2B5EF4-FFF2-40B4-BE49-F238E27FC236}">
                    <a16:creationId xmlns:a16="http://schemas.microsoft.com/office/drawing/2014/main" id="{9774E4FB-3295-3AB2-7628-3963CBB34337}"/>
                  </a:ext>
                </a:extLst>
              </p:cNvPr>
              <p:cNvSpPr txBox="1"/>
              <p:nvPr/>
            </p:nvSpPr>
            <p:spPr bwMode="auto">
              <a:xfrm>
                <a:off x="3219450" y="5789613"/>
                <a:ext cx="20574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∴ 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(1,0)=−5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5" name="Object 66">
                <a:extLst>
                  <a:ext uri="{FF2B5EF4-FFF2-40B4-BE49-F238E27FC236}">
                    <a16:creationId xmlns:a16="http://schemas.microsoft.com/office/drawing/2014/main" id="{9774E4FB-3295-3AB2-7628-3963CBB34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9450" y="5789613"/>
                <a:ext cx="2057400" cy="406400"/>
              </a:xfrm>
              <a:prstGeom prst="rect">
                <a:avLst/>
              </a:prstGeom>
              <a:blipFill>
                <a:blip r:embed="rId20"/>
                <a:stretch>
                  <a:fillRect b="-272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73">
                <a:extLst>
                  <a:ext uri="{FF2B5EF4-FFF2-40B4-BE49-F238E27FC236}">
                    <a16:creationId xmlns:a16="http://schemas.microsoft.com/office/drawing/2014/main" id="{677E956A-7448-54A6-6FD1-FCC53179991C}"/>
                  </a:ext>
                </a:extLst>
              </p:cNvPr>
              <p:cNvSpPr txBox="1"/>
              <p:nvPr/>
            </p:nvSpPr>
            <p:spPr bwMode="auto">
              <a:xfrm>
                <a:off x="6061075" y="5319541"/>
                <a:ext cx="9525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&gt;0,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6" name="Object 73">
                <a:extLst>
                  <a:ext uri="{FF2B5EF4-FFF2-40B4-BE49-F238E27FC236}">
                    <a16:creationId xmlns:a16="http://schemas.microsoft.com/office/drawing/2014/main" id="{677E956A-7448-54A6-6FD1-FCC531799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61075" y="5319541"/>
                <a:ext cx="952500" cy="393700"/>
              </a:xfrm>
              <a:prstGeom prst="rect">
                <a:avLst/>
              </a:prstGeom>
              <a:blipFill>
                <a:blip r:embed="rId21"/>
                <a:stretch>
                  <a:fillRect l="-637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AutoShape 77">
            <a:extLst>
              <a:ext uri="{FF2B5EF4-FFF2-40B4-BE49-F238E27FC236}">
                <a16:creationId xmlns:a16="http://schemas.microsoft.com/office/drawing/2014/main" id="{DA6F4AAC-01BD-D148-447C-C5D64B74CDA5}"/>
              </a:ext>
            </a:extLst>
          </p:cNvPr>
          <p:cNvSpPr>
            <a:spLocks/>
          </p:cNvSpPr>
          <p:nvPr/>
        </p:nvSpPr>
        <p:spPr bwMode="auto">
          <a:xfrm>
            <a:off x="3829051" y="1956153"/>
            <a:ext cx="150813" cy="914400"/>
          </a:xfrm>
          <a:prstGeom prst="leftBrace">
            <a:avLst>
              <a:gd name="adj1" fmla="val 5052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bject 78">
                <a:extLst>
                  <a:ext uri="{FF2B5EF4-FFF2-40B4-BE49-F238E27FC236}">
                    <a16:creationId xmlns:a16="http://schemas.microsoft.com/office/drawing/2014/main" id="{5B9138F5-4D5E-0168-F57C-931D701F03F2}"/>
                  </a:ext>
                </a:extLst>
              </p:cNvPr>
              <p:cNvSpPr txBox="1"/>
              <p:nvPr/>
            </p:nvSpPr>
            <p:spPr bwMode="auto">
              <a:xfrm>
                <a:off x="3771900" y="638848"/>
                <a:ext cx="5837238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+3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+3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−9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Object 78">
                <a:extLst>
                  <a:ext uri="{FF2B5EF4-FFF2-40B4-BE49-F238E27FC236}">
                    <a16:creationId xmlns:a16="http://schemas.microsoft.com/office/drawing/2014/main" id="{5B9138F5-4D5E-0168-F57C-931D701F0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1900" y="638848"/>
                <a:ext cx="5837238" cy="5080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Line 79">
            <a:extLst>
              <a:ext uri="{FF2B5EF4-FFF2-40B4-BE49-F238E27FC236}">
                <a16:creationId xmlns:a16="http://schemas.microsoft.com/office/drawing/2014/main" id="{53E3E476-DEB3-84A3-7AD5-CDCB86E254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5975" y="4629150"/>
            <a:ext cx="2428875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3" name="Line 80">
            <a:extLst>
              <a:ext uri="{FF2B5EF4-FFF2-40B4-BE49-F238E27FC236}">
                <a16:creationId xmlns:a16="http://schemas.microsoft.com/office/drawing/2014/main" id="{D5A35095-5C56-C30D-B604-C71BF27162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4629150"/>
            <a:ext cx="1666875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4" name="Line 81">
            <a:extLst>
              <a:ext uri="{FF2B5EF4-FFF2-40B4-BE49-F238E27FC236}">
                <a16:creationId xmlns:a16="http://schemas.microsoft.com/office/drawing/2014/main" id="{3C7E1DAC-6917-09D9-369E-EB916729D1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7575" y="4629150"/>
            <a:ext cx="2476503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96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/>
      <p:bldP spid="11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2" grpId="0"/>
      <p:bldP spid="43" grpId="0"/>
      <p:bldP spid="44" grpId="0"/>
      <p:bldP spid="45" grpId="0"/>
      <p:bldP spid="46" grpId="0"/>
      <p:bldP spid="50" grpId="0" animBg="1"/>
      <p:bldP spid="51" grpId="0"/>
      <p:bldP spid="52" grpId="0" animBg="1"/>
      <p:bldP spid="53" grpId="0" animBg="1"/>
      <p:bldP spid="5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A64AA349-CDF3-7772-B44C-C8EBBF898A1B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E5813D-DA7C-EC2A-A238-67A111EEECC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BDF4F0AC-BBCC-4F6F-04D2-CB7F75390B4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A8A948D3-C693-E736-0CB9-ADDBD44EB18B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8CB89A8B-9BB6-D251-1B77-BD5D3E8457D1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1032">
                <a:extLst>
                  <a:ext uri="{FF2B5EF4-FFF2-40B4-BE49-F238E27FC236}">
                    <a16:creationId xmlns:a16="http://schemas.microsoft.com/office/drawing/2014/main" id="{35071319-3A9B-61AA-0195-22F1C7C84A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2628" y="1956320"/>
                <a:ext cx="187642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在点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(−3,0)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处</a:t>
                </a:r>
              </a:p>
            </p:txBody>
          </p:sp>
        </mc:Choice>
        <mc:Fallback xmlns="">
          <p:sp>
            <p:nvSpPr>
              <p:cNvPr id="33" name="Text Box 1032">
                <a:extLst>
                  <a:ext uri="{FF2B5EF4-FFF2-40B4-BE49-F238E27FC236}">
                    <a16:creationId xmlns:a16="http://schemas.microsoft.com/office/drawing/2014/main" id="{35071319-3A9B-61AA-0195-22F1C7C84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2628" y="1956320"/>
                <a:ext cx="1876425" cy="430887"/>
              </a:xfrm>
              <a:prstGeom prst="rect">
                <a:avLst/>
              </a:prstGeom>
              <a:blipFill>
                <a:blip r:embed="rId4"/>
                <a:stretch>
                  <a:fillRect l="-4221" t="-14085" r="-1299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1033">
            <a:extLst>
              <a:ext uri="{FF2B5EF4-FFF2-40B4-BE49-F238E27FC236}">
                <a16:creationId xmlns:a16="http://schemas.microsoft.com/office/drawing/2014/main" id="{1EFF2CDF-69DC-113F-EBDE-546B34C8F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8689" y="2543642"/>
            <a:ext cx="1905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不是极值</a:t>
            </a:r>
            <a:r>
              <a:rPr kumimoji="1" lang="en-US" altLang="zh-CN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034">
                <a:extLst>
                  <a:ext uri="{FF2B5EF4-FFF2-40B4-BE49-F238E27FC236}">
                    <a16:creationId xmlns:a16="http://schemas.microsoft.com/office/drawing/2014/main" id="{4287F3CB-65D6-7FCD-4204-7E2FE648DA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2628" y="3081436"/>
                <a:ext cx="187642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在点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(−3,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处</a:t>
                </a:r>
              </a:p>
            </p:txBody>
          </p:sp>
        </mc:Choice>
        <mc:Fallback xmlns="">
          <p:sp>
            <p:nvSpPr>
              <p:cNvPr id="35" name="Text Box 1034">
                <a:extLst>
                  <a:ext uri="{FF2B5EF4-FFF2-40B4-BE49-F238E27FC236}">
                    <a16:creationId xmlns:a16="http://schemas.microsoft.com/office/drawing/2014/main" id="{4287F3CB-65D6-7FCD-4204-7E2FE648D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2628" y="3081436"/>
                <a:ext cx="1876425" cy="430887"/>
              </a:xfrm>
              <a:prstGeom prst="rect">
                <a:avLst/>
              </a:prstGeom>
              <a:blipFill>
                <a:blip r:embed="rId5"/>
                <a:stretch>
                  <a:fillRect l="-4221" t="-12676" r="-1299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Box 1035">
            <a:extLst>
              <a:ext uri="{FF2B5EF4-FFF2-40B4-BE49-F238E27FC236}">
                <a16:creationId xmlns:a16="http://schemas.microsoft.com/office/drawing/2014/main" id="{B37DE8AF-6434-6582-5524-A9B314528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7003" y="4163954"/>
            <a:ext cx="20574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为极大值</a:t>
            </a:r>
            <a:r>
              <a:rPr kumimoji="1" lang="en-US" altLang="zh-CN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1060">
                <a:extLst>
                  <a:ext uri="{FF2B5EF4-FFF2-40B4-BE49-F238E27FC236}">
                    <a16:creationId xmlns:a16="http://schemas.microsoft.com/office/drawing/2014/main" id="{2B19B9DF-C2EF-298C-8551-D458C0967970}"/>
                  </a:ext>
                </a:extLst>
              </p:cNvPr>
              <p:cNvSpPr txBox="1"/>
              <p:nvPr/>
            </p:nvSpPr>
            <p:spPr bwMode="auto">
              <a:xfrm>
                <a:off x="2378528" y="5032375"/>
                <a:ext cx="27178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)=6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+6,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Object 1060">
                <a:extLst>
                  <a:ext uri="{FF2B5EF4-FFF2-40B4-BE49-F238E27FC236}">
                    <a16:creationId xmlns:a16="http://schemas.microsoft.com/office/drawing/2014/main" id="{2B19B9DF-C2EF-298C-8551-D458C0967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8528" y="5032375"/>
                <a:ext cx="2717800" cy="508000"/>
              </a:xfrm>
              <a:prstGeom prst="rect">
                <a:avLst/>
              </a:prstGeom>
              <a:blipFill>
                <a:blip r:embed="rId6"/>
                <a:stretch>
                  <a:fillRect l="-1345" b="-12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1061">
                <a:extLst>
                  <a:ext uri="{FF2B5EF4-FFF2-40B4-BE49-F238E27FC236}">
                    <a16:creationId xmlns:a16="http://schemas.microsoft.com/office/drawing/2014/main" id="{C9E646ED-D6E0-A1AB-A246-7C5558A3C046}"/>
                  </a:ext>
                </a:extLst>
              </p:cNvPr>
              <p:cNvSpPr txBox="1"/>
              <p:nvPr/>
            </p:nvSpPr>
            <p:spPr bwMode="auto">
              <a:xfrm>
                <a:off x="5236028" y="5032375"/>
                <a:ext cx="20320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8" name="Object 1061">
                <a:extLst>
                  <a:ext uri="{FF2B5EF4-FFF2-40B4-BE49-F238E27FC236}">
                    <a16:creationId xmlns:a16="http://schemas.microsoft.com/office/drawing/2014/main" id="{C9E646ED-D6E0-A1AB-A246-7C5558A3C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36028" y="5032375"/>
                <a:ext cx="2032000" cy="508000"/>
              </a:xfrm>
              <a:prstGeom prst="rect">
                <a:avLst/>
              </a:prstGeom>
              <a:blipFill>
                <a:blip r:embed="rId7"/>
                <a:stretch>
                  <a:fillRect l="-2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1062">
                <a:extLst>
                  <a:ext uri="{FF2B5EF4-FFF2-40B4-BE49-F238E27FC236}">
                    <a16:creationId xmlns:a16="http://schemas.microsoft.com/office/drawing/2014/main" id="{3481DAA2-6CF6-FA3D-9A6A-5EF46C043C9B}"/>
                  </a:ext>
                </a:extLst>
              </p:cNvPr>
              <p:cNvSpPr txBox="1"/>
              <p:nvPr/>
            </p:nvSpPr>
            <p:spPr bwMode="auto">
              <a:xfrm>
                <a:off x="7382328" y="5032375"/>
                <a:ext cx="28575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)=−6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+6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9" name="Object 1062">
                <a:extLst>
                  <a:ext uri="{FF2B5EF4-FFF2-40B4-BE49-F238E27FC236}">
                    <a16:creationId xmlns:a16="http://schemas.microsoft.com/office/drawing/2014/main" id="{3481DAA2-6CF6-FA3D-9A6A-5EF46C043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82328" y="5032375"/>
                <a:ext cx="2857500" cy="508000"/>
              </a:xfrm>
              <a:prstGeom prst="rect">
                <a:avLst/>
              </a:prstGeom>
              <a:blipFill>
                <a:blip r:embed="rId8"/>
                <a:stretch>
                  <a:fillRect l="-12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1063">
                <a:extLst>
                  <a:ext uri="{FF2B5EF4-FFF2-40B4-BE49-F238E27FC236}">
                    <a16:creationId xmlns:a16="http://schemas.microsoft.com/office/drawing/2014/main" id="{59EF20D9-1B2E-2022-CE13-8CBACF7DF9B2}"/>
                  </a:ext>
                </a:extLst>
              </p:cNvPr>
              <p:cNvSpPr txBox="1"/>
              <p:nvPr/>
            </p:nvSpPr>
            <p:spPr bwMode="auto">
              <a:xfrm>
                <a:off x="3826328" y="1955863"/>
                <a:ext cx="13462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=−12,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0" name="Object 1063">
                <a:extLst>
                  <a:ext uri="{FF2B5EF4-FFF2-40B4-BE49-F238E27FC236}">
                    <a16:creationId xmlns:a16="http://schemas.microsoft.com/office/drawing/2014/main" id="{59EF20D9-1B2E-2022-CE13-8CBACF7DF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6328" y="1955863"/>
                <a:ext cx="1346200" cy="393700"/>
              </a:xfrm>
              <a:prstGeom prst="rect">
                <a:avLst/>
              </a:prstGeom>
              <a:blipFill>
                <a:blip r:embed="rId9"/>
                <a:stretch>
                  <a:fillRect l="-452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1064">
                <a:extLst>
                  <a:ext uri="{FF2B5EF4-FFF2-40B4-BE49-F238E27FC236}">
                    <a16:creationId xmlns:a16="http://schemas.microsoft.com/office/drawing/2014/main" id="{33B75332-26A9-7E8C-6836-90E671D89D51}"/>
                  </a:ext>
                </a:extLst>
              </p:cNvPr>
              <p:cNvSpPr txBox="1"/>
              <p:nvPr/>
            </p:nvSpPr>
            <p:spPr bwMode="auto">
              <a:xfrm>
                <a:off x="5003014" y="1955863"/>
                <a:ext cx="9525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1" name="Object 1064">
                <a:extLst>
                  <a:ext uri="{FF2B5EF4-FFF2-40B4-BE49-F238E27FC236}">
                    <a16:creationId xmlns:a16="http://schemas.microsoft.com/office/drawing/2014/main" id="{33B75332-26A9-7E8C-6836-90E671D89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3014" y="1955863"/>
                <a:ext cx="952500" cy="393700"/>
              </a:xfrm>
              <a:prstGeom prst="rect">
                <a:avLst/>
              </a:prstGeom>
              <a:blipFill>
                <a:blip r:embed="rId10"/>
                <a:stretch>
                  <a:fillRect l="-641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1065">
                <a:extLst>
                  <a:ext uri="{FF2B5EF4-FFF2-40B4-BE49-F238E27FC236}">
                    <a16:creationId xmlns:a16="http://schemas.microsoft.com/office/drawing/2014/main" id="{8A884637-1BB1-B83C-1447-B51192003958}"/>
                  </a:ext>
                </a:extLst>
              </p:cNvPr>
              <p:cNvSpPr txBox="1"/>
              <p:nvPr/>
            </p:nvSpPr>
            <p:spPr bwMode="auto">
              <a:xfrm>
                <a:off x="5822164" y="1955863"/>
                <a:ext cx="9652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=6,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2" name="Object 1065">
                <a:extLst>
                  <a:ext uri="{FF2B5EF4-FFF2-40B4-BE49-F238E27FC236}">
                    <a16:creationId xmlns:a16="http://schemas.microsoft.com/office/drawing/2014/main" id="{8A884637-1BB1-B83C-1447-B51192003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2164" y="1955863"/>
                <a:ext cx="965200" cy="393700"/>
              </a:xfrm>
              <a:prstGeom prst="rect">
                <a:avLst/>
              </a:prstGeom>
              <a:blipFill>
                <a:blip r:embed="rId11"/>
                <a:stretch>
                  <a:fillRect l="-633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1066">
                <a:extLst>
                  <a:ext uri="{FF2B5EF4-FFF2-40B4-BE49-F238E27FC236}">
                    <a16:creationId xmlns:a16="http://schemas.microsoft.com/office/drawing/2014/main" id="{CA99F415-B535-BB02-D890-72AF8CCB71E3}"/>
                  </a:ext>
                </a:extLst>
              </p:cNvPr>
              <p:cNvSpPr txBox="1"/>
              <p:nvPr/>
            </p:nvSpPr>
            <p:spPr bwMode="auto">
              <a:xfrm>
                <a:off x="2848428" y="2543839"/>
                <a:ext cx="34163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=−12×6&lt;0,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Object 1066">
                <a:extLst>
                  <a:ext uri="{FF2B5EF4-FFF2-40B4-BE49-F238E27FC236}">
                    <a16:creationId xmlns:a16="http://schemas.microsoft.com/office/drawing/2014/main" id="{CA99F415-B535-BB02-D890-72AF8CCB7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8428" y="2543839"/>
                <a:ext cx="3416300" cy="520700"/>
              </a:xfrm>
              <a:prstGeom prst="rect">
                <a:avLst/>
              </a:prstGeom>
              <a:blipFill>
                <a:blip r:embed="rId12"/>
                <a:stretch>
                  <a:fillRect l="-17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1067">
                <a:extLst>
                  <a:ext uri="{FF2B5EF4-FFF2-40B4-BE49-F238E27FC236}">
                    <a16:creationId xmlns:a16="http://schemas.microsoft.com/office/drawing/2014/main" id="{4D19F3DA-8FD6-7D3E-F6C2-91D1D99E0409}"/>
                  </a:ext>
                </a:extLst>
              </p:cNvPr>
              <p:cNvSpPr txBox="1"/>
              <p:nvPr/>
            </p:nvSpPr>
            <p:spPr bwMode="auto">
              <a:xfrm>
                <a:off x="5895189" y="2545328"/>
                <a:ext cx="15621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∴ 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(−3,0)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4" name="Object 1067">
                <a:extLst>
                  <a:ext uri="{FF2B5EF4-FFF2-40B4-BE49-F238E27FC236}">
                    <a16:creationId xmlns:a16="http://schemas.microsoft.com/office/drawing/2014/main" id="{4D19F3DA-8FD6-7D3E-F6C2-91D1D99E0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95189" y="2545328"/>
                <a:ext cx="1562100" cy="406400"/>
              </a:xfrm>
              <a:prstGeom prst="rect">
                <a:avLst/>
              </a:prstGeom>
              <a:blipFill>
                <a:blip r:embed="rId13"/>
                <a:stretch>
                  <a:fillRect b="-272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1068">
                <a:extLst>
                  <a:ext uri="{FF2B5EF4-FFF2-40B4-BE49-F238E27FC236}">
                    <a16:creationId xmlns:a16="http://schemas.microsoft.com/office/drawing/2014/main" id="{214908B6-8BB0-C02F-63BC-565B9FEF74D0}"/>
                  </a:ext>
                </a:extLst>
              </p:cNvPr>
              <p:cNvSpPr txBox="1"/>
              <p:nvPr/>
            </p:nvSpPr>
            <p:spPr bwMode="auto">
              <a:xfrm>
                <a:off x="3835853" y="3080207"/>
                <a:ext cx="36576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=−12,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=−6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5" name="Object 1068">
                <a:extLst>
                  <a:ext uri="{FF2B5EF4-FFF2-40B4-BE49-F238E27FC236}">
                    <a16:creationId xmlns:a16="http://schemas.microsoft.com/office/drawing/2014/main" id="{214908B6-8BB0-C02F-63BC-565B9FEF7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35853" y="3080207"/>
                <a:ext cx="3657600" cy="393700"/>
              </a:xfrm>
              <a:prstGeom prst="rect">
                <a:avLst/>
              </a:prstGeom>
              <a:blipFill>
                <a:blip r:embed="rId14"/>
                <a:stretch>
                  <a:fillRect l="-167" b="-61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1069">
                <a:extLst>
                  <a:ext uri="{FF2B5EF4-FFF2-40B4-BE49-F238E27FC236}">
                    <a16:creationId xmlns:a16="http://schemas.microsoft.com/office/drawing/2014/main" id="{5F6A6B94-7C05-4BB9-6F71-7F47D708156D}"/>
                  </a:ext>
                </a:extLst>
              </p:cNvPr>
              <p:cNvSpPr txBox="1"/>
              <p:nvPr/>
            </p:nvSpPr>
            <p:spPr bwMode="auto">
              <a:xfrm>
                <a:off x="3419928" y="4187151"/>
                <a:ext cx="22733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∴ 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(−3,2)=31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6" name="Object 1069">
                <a:extLst>
                  <a:ext uri="{FF2B5EF4-FFF2-40B4-BE49-F238E27FC236}">
                    <a16:creationId xmlns:a16="http://schemas.microsoft.com/office/drawing/2014/main" id="{5F6A6B94-7C05-4BB9-6F71-7F47D7081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9928" y="4187151"/>
                <a:ext cx="2273300" cy="406400"/>
              </a:xfrm>
              <a:prstGeom prst="rect">
                <a:avLst/>
              </a:prstGeom>
              <a:blipFill>
                <a:blip r:embed="rId15"/>
                <a:stretch>
                  <a:fillRect b="-253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1074">
                <a:extLst>
                  <a:ext uri="{FF2B5EF4-FFF2-40B4-BE49-F238E27FC236}">
                    <a16:creationId xmlns:a16="http://schemas.microsoft.com/office/drawing/2014/main" id="{95493819-6C9C-0336-A7D8-C140DDBE78F4}"/>
                  </a:ext>
                </a:extLst>
              </p:cNvPr>
              <p:cNvSpPr txBox="1"/>
              <p:nvPr/>
            </p:nvSpPr>
            <p:spPr bwMode="auto">
              <a:xfrm>
                <a:off x="2848428" y="3618826"/>
                <a:ext cx="36576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=−12×(−6)&gt;0,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7" name="Object 1074">
                <a:extLst>
                  <a:ext uri="{FF2B5EF4-FFF2-40B4-BE49-F238E27FC236}">
                    <a16:creationId xmlns:a16="http://schemas.microsoft.com/office/drawing/2014/main" id="{95493819-6C9C-0336-A7D8-C140DDBE7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8428" y="3618826"/>
                <a:ext cx="3657600" cy="520700"/>
              </a:xfrm>
              <a:prstGeom prst="rect">
                <a:avLst/>
              </a:prstGeom>
              <a:blipFill>
                <a:blip r:embed="rId16"/>
                <a:stretch>
                  <a:fillRect l="-1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1075">
                <a:extLst>
                  <a:ext uri="{FF2B5EF4-FFF2-40B4-BE49-F238E27FC236}">
                    <a16:creationId xmlns:a16="http://schemas.microsoft.com/office/drawing/2014/main" id="{AA73C97C-7E80-7BF6-BA49-349B9A3B6C0E}"/>
                  </a:ext>
                </a:extLst>
              </p:cNvPr>
              <p:cNvSpPr txBox="1"/>
              <p:nvPr/>
            </p:nvSpPr>
            <p:spPr bwMode="auto">
              <a:xfrm>
                <a:off x="6324608" y="3618825"/>
                <a:ext cx="17526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&lt;0,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8" name="Object 1075">
                <a:extLst>
                  <a:ext uri="{FF2B5EF4-FFF2-40B4-BE49-F238E27FC236}">
                    <a16:creationId xmlns:a16="http://schemas.microsoft.com/office/drawing/2014/main" id="{AA73C97C-7E80-7BF6-BA49-349B9A3B6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8" y="3618825"/>
                <a:ext cx="1752600" cy="393700"/>
              </a:xfrm>
              <a:prstGeom prst="rect">
                <a:avLst/>
              </a:prstGeom>
              <a:blipFill>
                <a:blip r:embed="rId17"/>
                <a:stretch>
                  <a:fillRect l="-348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1077">
                <a:extLst>
                  <a:ext uri="{FF2B5EF4-FFF2-40B4-BE49-F238E27FC236}">
                    <a16:creationId xmlns:a16="http://schemas.microsoft.com/office/drawing/2014/main" id="{6A72D907-B7EB-41A9-DA7C-56D21DDD27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2628" y="791032"/>
                <a:ext cx="16637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在点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处</a:t>
                </a:r>
              </a:p>
            </p:txBody>
          </p:sp>
        </mc:Choice>
        <mc:Fallback xmlns="">
          <p:sp>
            <p:nvSpPr>
              <p:cNvPr id="49" name="Text Box 1077">
                <a:extLst>
                  <a:ext uri="{FF2B5EF4-FFF2-40B4-BE49-F238E27FC236}">
                    <a16:creationId xmlns:a16="http://schemas.microsoft.com/office/drawing/2014/main" id="{6A72D907-B7EB-41A9-DA7C-56D21DDD2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2628" y="791032"/>
                <a:ext cx="1663700" cy="430887"/>
              </a:xfrm>
              <a:prstGeom prst="rect">
                <a:avLst/>
              </a:prstGeom>
              <a:blipFill>
                <a:blip r:embed="rId18"/>
                <a:stretch>
                  <a:fillRect l="-4762" t="-14286" r="-1832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Box 1078">
            <a:extLst>
              <a:ext uri="{FF2B5EF4-FFF2-40B4-BE49-F238E27FC236}">
                <a16:creationId xmlns:a16="http://schemas.microsoft.com/office/drawing/2014/main" id="{842221A6-5595-E63C-2270-C2D014A27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9483" y="1340523"/>
            <a:ext cx="20574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不是极值</a:t>
            </a:r>
            <a:r>
              <a:rPr kumimoji="1" lang="en-US" altLang="zh-CN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bject 1079">
                <a:extLst>
                  <a:ext uri="{FF2B5EF4-FFF2-40B4-BE49-F238E27FC236}">
                    <a16:creationId xmlns:a16="http://schemas.microsoft.com/office/drawing/2014/main" id="{BE595672-08C3-078E-CD94-2EE40413BB01}"/>
                  </a:ext>
                </a:extLst>
              </p:cNvPr>
              <p:cNvSpPr txBox="1"/>
              <p:nvPr/>
            </p:nvSpPr>
            <p:spPr bwMode="auto">
              <a:xfrm>
                <a:off x="3648528" y="790575"/>
                <a:ext cx="32004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=12, 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=−6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1" name="Object 1079">
                <a:extLst>
                  <a:ext uri="{FF2B5EF4-FFF2-40B4-BE49-F238E27FC236}">
                    <a16:creationId xmlns:a16="http://schemas.microsoft.com/office/drawing/2014/main" id="{BE595672-08C3-078E-CD94-2EE40413B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8528" y="790575"/>
                <a:ext cx="3200400" cy="393700"/>
              </a:xfrm>
              <a:prstGeom prst="rect">
                <a:avLst/>
              </a:prstGeom>
              <a:blipFill>
                <a:blip r:embed="rId19"/>
                <a:stretch>
                  <a:fillRect l="-190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1080">
                <a:extLst>
                  <a:ext uri="{FF2B5EF4-FFF2-40B4-BE49-F238E27FC236}">
                    <a16:creationId xmlns:a16="http://schemas.microsoft.com/office/drawing/2014/main" id="{8422EB1E-7110-F9CB-B7A2-60C3DDD822E1}"/>
                  </a:ext>
                </a:extLst>
              </p:cNvPr>
              <p:cNvSpPr txBox="1"/>
              <p:nvPr/>
            </p:nvSpPr>
            <p:spPr bwMode="auto">
              <a:xfrm>
                <a:off x="6120614" y="1330999"/>
                <a:ext cx="13208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∴ 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(1,2)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2" name="Object 1080">
                <a:extLst>
                  <a:ext uri="{FF2B5EF4-FFF2-40B4-BE49-F238E27FC236}">
                    <a16:creationId xmlns:a16="http://schemas.microsoft.com/office/drawing/2014/main" id="{8422EB1E-7110-F9CB-B7A2-60C3DDD82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0614" y="1330999"/>
                <a:ext cx="1320800" cy="406400"/>
              </a:xfrm>
              <a:prstGeom prst="rect">
                <a:avLst/>
              </a:prstGeom>
              <a:blipFill>
                <a:blip r:embed="rId20"/>
                <a:stretch>
                  <a:fillRect b="-253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1081">
                <a:extLst>
                  <a:ext uri="{FF2B5EF4-FFF2-40B4-BE49-F238E27FC236}">
                    <a16:creationId xmlns:a16="http://schemas.microsoft.com/office/drawing/2014/main" id="{0F9341E5-10E3-5445-FCF6-E3BAEB4E2268}"/>
                  </a:ext>
                </a:extLst>
              </p:cNvPr>
              <p:cNvSpPr txBox="1"/>
              <p:nvPr/>
            </p:nvSpPr>
            <p:spPr bwMode="auto">
              <a:xfrm>
                <a:off x="2848428" y="1326805"/>
                <a:ext cx="34163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=12×(−6)&lt;0,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3" name="Object 1081">
                <a:extLst>
                  <a:ext uri="{FF2B5EF4-FFF2-40B4-BE49-F238E27FC236}">
                    <a16:creationId xmlns:a16="http://schemas.microsoft.com/office/drawing/2014/main" id="{0F9341E5-10E3-5445-FCF6-E3BAEB4E2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8428" y="1326805"/>
                <a:ext cx="3416300" cy="520700"/>
              </a:xfrm>
              <a:prstGeom prst="rect">
                <a:avLst/>
              </a:prstGeom>
              <a:blipFill>
                <a:blip r:embed="rId21"/>
                <a:stretch>
                  <a:fillRect l="-17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1084">
                <a:extLst>
                  <a:ext uri="{FF2B5EF4-FFF2-40B4-BE49-F238E27FC236}">
                    <a16:creationId xmlns:a16="http://schemas.microsoft.com/office/drawing/2014/main" id="{52FE42E6-D35A-3F3C-015C-276C48455130}"/>
                  </a:ext>
                </a:extLst>
              </p:cNvPr>
              <p:cNvSpPr txBox="1"/>
              <p:nvPr/>
            </p:nvSpPr>
            <p:spPr bwMode="auto">
              <a:xfrm>
                <a:off x="3458028" y="5553075"/>
                <a:ext cx="427038" cy="46355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4" name="Object 1084">
                <a:extLst>
                  <a:ext uri="{FF2B5EF4-FFF2-40B4-BE49-F238E27FC236}">
                    <a16:creationId xmlns:a16="http://schemas.microsoft.com/office/drawing/2014/main" id="{52FE42E6-D35A-3F3C-015C-276C48455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8028" y="5553075"/>
                <a:ext cx="427038" cy="463550"/>
              </a:xfrm>
              <a:prstGeom prst="rect">
                <a:avLst/>
              </a:prstGeom>
              <a:blipFill>
                <a:blip r:embed="rId22"/>
                <a:stretch>
                  <a:fillRect l="-14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bject 1087">
                <a:extLst>
                  <a:ext uri="{FF2B5EF4-FFF2-40B4-BE49-F238E27FC236}">
                    <a16:creationId xmlns:a16="http://schemas.microsoft.com/office/drawing/2014/main" id="{9DE8B937-E8FB-E76A-0721-4999A201D4A8}"/>
                  </a:ext>
                </a:extLst>
              </p:cNvPr>
              <p:cNvSpPr txBox="1"/>
              <p:nvPr/>
            </p:nvSpPr>
            <p:spPr bwMode="auto">
              <a:xfrm>
                <a:off x="5972628" y="5553075"/>
                <a:ext cx="427038" cy="46355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" name="Object 1087">
                <a:extLst>
                  <a:ext uri="{FF2B5EF4-FFF2-40B4-BE49-F238E27FC236}">
                    <a16:creationId xmlns:a16="http://schemas.microsoft.com/office/drawing/2014/main" id="{9DE8B937-E8FB-E76A-0721-4999A201D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2628" y="5553075"/>
                <a:ext cx="427038" cy="463550"/>
              </a:xfrm>
              <a:prstGeom prst="rect">
                <a:avLst/>
              </a:prstGeom>
              <a:blipFill>
                <a:blip r:embed="rId23"/>
                <a:stretch>
                  <a:fillRect l="-14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1090">
                <a:extLst>
                  <a:ext uri="{FF2B5EF4-FFF2-40B4-BE49-F238E27FC236}">
                    <a16:creationId xmlns:a16="http://schemas.microsoft.com/office/drawing/2014/main" id="{369583D6-7431-FAB4-FADA-44D0C6958114}"/>
                  </a:ext>
                </a:extLst>
              </p:cNvPr>
              <p:cNvSpPr txBox="1"/>
              <p:nvPr/>
            </p:nvSpPr>
            <p:spPr bwMode="auto">
              <a:xfrm>
                <a:off x="8334828" y="5553076"/>
                <a:ext cx="427038" cy="498475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6" name="Object 1090">
                <a:extLst>
                  <a:ext uri="{FF2B5EF4-FFF2-40B4-BE49-F238E27FC236}">
                    <a16:creationId xmlns:a16="http://schemas.microsoft.com/office/drawing/2014/main" id="{369583D6-7431-FAB4-FADA-44D0C6958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34828" y="5553076"/>
                <a:ext cx="427038" cy="498475"/>
              </a:xfrm>
              <a:prstGeom prst="rect">
                <a:avLst/>
              </a:prstGeom>
              <a:blipFill>
                <a:blip r:embed="rId24"/>
                <a:stretch>
                  <a:fillRect l="-14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Line 1092">
            <a:extLst>
              <a:ext uri="{FF2B5EF4-FFF2-40B4-BE49-F238E27FC236}">
                <a16:creationId xmlns:a16="http://schemas.microsoft.com/office/drawing/2014/main" id="{0D8A7D55-C928-D663-3E1D-D539CB3E60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0743" y="4829175"/>
            <a:ext cx="8665028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86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5" grpId="0" animBg="1"/>
      <p:bldP spid="56" grpId="0" animBg="1"/>
      <p:bldP spid="5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A64AA349-CDF3-7772-B44C-C8EBBF898A1B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E5813D-DA7C-EC2A-A238-67A111EEECC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BDF4F0AC-BBCC-4F6F-04D2-CB7F75390B4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A8A948D3-C693-E736-0CB9-ADDBD44EB18B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8CB89A8B-9BB6-D251-1B77-BD5D3E8457D1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969738A5-FA52-84F9-EE3E-8D6514228D48}"/>
              </a:ext>
            </a:extLst>
          </p:cNvPr>
          <p:cNvSpPr txBox="1">
            <a:spLocks noChangeArrowheads="1"/>
          </p:cNvSpPr>
          <p:nvPr/>
        </p:nvSpPr>
        <p:spPr>
          <a:xfrm>
            <a:off x="1496111" y="823766"/>
            <a:ext cx="2688858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 </a:t>
            </a:r>
            <a:r>
              <a:rPr lang="en-US" altLang="zh-CN" sz="2800" b="1" dirty="0">
                <a:ea typeface="黑体" panose="02010609060101010101" pitchFamily="49" charset="-122"/>
              </a:rPr>
              <a:t>   </a:t>
            </a:r>
            <a:r>
              <a:rPr lang="zh-CN" altLang="en-US" sz="2800" dirty="0">
                <a:ea typeface="黑体" panose="02010609060101010101" pitchFamily="49" charset="-122"/>
              </a:rPr>
              <a:t>讨论函数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CFC77C4-8B40-CBF9-AA06-657436129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33" y="761972"/>
            <a:ext cx="50674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+mj-lt"/>
                <a:ea typeface="黑体" panose="02010609060101010101" pitchFamily="49" charset="-122"/>
                <a:cs typeface="+mj-cs"/>
              </a:rPr>
              <a:t>及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401E1372-2982-BEDF-C551-E0F1AD5DF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068" y="1338504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是否取得极值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6E7A32D6-D5BF-4E2E-FB53-7DA5FCAE59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52291" y="1910340"/>
                <a:ext cx="5105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     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显然 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都是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它们的驻点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6E7A32D6-D5BF-4E2E-FB53-7DA5FCAE5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2291" y="1910340"/>
                <a:ext cx="5105400" cy="523220"/>
              </a:xfrm>
              <a:prstGeom prst="rect">
                <a:avLst/>
              </a:prstGeom>
              <a:blipFill>
                <a:blip r:embed="rId4"/>
                <a:stretch>
                  <a:fillRect l="-2509" t="-12791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8">
                <a:extLst>
                  <a:ext uri="{FF2B5EF4-FFF2-40B4-BE49-F238E27FC236}">
                    <a16:creationId xmlns:a16="http://schemas.microsoft.com/office/drawing/2014/main" id="{47CE7091-9592-0554-9D7C-2A9C66815D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1534" y="2826528"/>
                <a:ext cx="324485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在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kumimoji="1"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点邻域内的取值</a:t>
                </a:r>
              </a:p>
            </p:txBody>
          </p:sp>
        </mc:Choice>
        <mc:Fallback xmlns="">
          <p:sp>
            <p:nvSpPr>
              <p:cNvPr id="6" name="Text Box 8">
                <a:extLst>
                  <a:ext uri="{FF2B5EF4-FFF2-40B4-BE49-F238E27FC236}">
                    <a16:creationId xmlns:a16="http://schemas.microsoft.com/office/drawing/2014/main" id="{47CE7091-9592-0554-9D7C-2A9C66815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1534" y="2826528"/>
                <a:ext cx="3244850" cy="430887"/>
              </a:xfrm>
              <a:prstGeom prst="rect">
                <a:avLst/>
              </a:prstGeom>
              <a:blipFill>
                <a:blip r:embed="rId5"/>
                <a:stretch>
                  <a:fillRect l="-2444" t="-15714" b="-228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1">
                <a:extLst>
                  <a:ext uri="{FF2B5EF4-FFF2-40B4-BE49-F238E27FC236}">
                    <a16:creationId xmlns:a16="http://schemas.microsoft.com/office/drawing/2014/main" id="{ACD3117C-60FF-A34F-6784-5A21FAB597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4016" y="3830658"/>
                <a:ext cx="310515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因此 </a:t>
                </a:r>
                <a14:m>
                  <m:oMath xmlns:m="http://schemas.openxmlformats.org/officeDocument/2006/math">
                    <m:r>
                      <a:rPr kumimoji="1" lang="en-US" altLang="zh-CN" sz="2200" b="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𝑧</m:t>
                    </m:r>
                    <m:d>
                      <m:dPr>
                        <m:ctrlPr>
                          <a:rPr kumimoji="1" lang="zh-CN" altLang="en-US" sz="2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kumimoji="1"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不是极值</a:t>
                </a:r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 Box 11">
                <a:extLst>
                  <a:ext uri="{FF2B5EF4-FFF2-40B4-BE49-F238E27FC236}">
                    <a16:creationId xmlns:a16="http://schemas.microsoft.com/office/drawing/2014/main" id="{ACD3117C-60FF-A34F-6784-5A21FAB59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4016" y="3830658"/>
                <a:ext cx="3105150" cy="430887"/>
              </a:xfrm>
              <a:prstGeom prst="rect">
                <a:avLst/>
              </a:prstGeom>
              <a:blipFill>
                <a:blip r:embed="rId6"/>
                <a:stretch>
                  <a:fillRect t="-14085" b="-295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13">
            <a:extLst>
              <a:ext uri="{FF2B5EF4-FFF2-40B4-BE49-F238E27FC236}">
                <a16:creationId xmlns:a16="http://schemas.microsoft.com/office/drawing/2014/main" id="{752BCEB8-B663-A609-03B0-D0B2E62D3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068" y="5572606"/>
            <a:ext cx="8096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因此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9">
                <a:extLst>
                  <a:ext uri="{FF2B5EF4-FFF2-40B4-BE49-F238E27FC236}">
                    <a16:creationId xmlns:a16="http://schemas.microsoft.com/office/drawing/2014/main" id="{5CB98EFF-77B3-FDBA-DF99-3573826747F4}"/>
                  </a:ext>
                </a:extLst>
              </p:cNvPr>
              <p:cNvSpPr txBox="1"/>
              <p:nvPr/>
            </p:nvSpPr>
            <p:spPr bwMode="auto">
              <a:xfrm>
                <a:off x="2422068" y="4757031"/>
                <a:ext cx="2516188" cy="4683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≠0 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9">
                <a:extLst>
                  <a:ext uri="{FF2B5EF4-FFF2-40B4-BE49-F238E27FC236}">
                    <a16:creationId xmlns:a16="http://schemas.microsoft.com/office/drawing/2014/main" id="{5CB98EFF-77B3-FDBA-DF99-357382674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2068" y="4757031"/>
                <a:ext cx="2516188" cy="468312"/>
              </a:xfrm>
              <a:prstGeom prst="rect">
                <a:avLst/>
              </a:prstGeom>
              <a:blipFill>
                <a:blip r:embed="rId7"/>
                <a:stretch>
                  <a:fillRect l="-1453" b="-12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1">
                <a:extLst>
                  <a:ext uri="{FF2B5EF4-FFF2-40B4-BE49-F238E27FC236}">
                    <a16:creationId xmlns:a16="http://schemas.microsoft.com/office/drawing/2014/main" id="{28B29135-570D-3FEB-C774-93DC1EBE1867}"/>
                  </a:ext>
                </a:extLst>
              </p:cNvPr>
              <p:cNvSpPr txBox="1"/>
              <p:nvPr/>
            </p:nvSpPr>
            <p:spPr bwMode="auto">
              <a:xfrm>
                <a:off x="4781665" y="4756237"/>
                <a:ext cx="19939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=(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21">
                <a:extLst>
                  <a:ext uri="{FF2B5EF4-FFF2-40B4-BE49-F238E27FC236}">
                    <a16:creationId xmlns:a16="http://schemas.microsoft.com/office/drawing/2014/main" id="{28B29135-570D-3FEB-C774-93DC1EBE1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1665" y="4756237"/>
                <a:ext cx="1993900" cy="469900"/>
              </a:xfrm>
              <a:prstGeom prst="rect">
                <a:avLst/>
              </a:prstGeom>
              <a:blipFill>
                <a:blip r:embed="rId8"/>
                <a:stretch>
                  <a:fillRect b="-64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2">
                <a:extLst>
                  <a:ext uri="{FF2B5EF4-FFF2-40B4-BE49-F238E27FC236}">
                    <a16:creationId xmlns:a16="http://schemas.microsoft.com/office/drawing/2014/main" id="{8FA1BDB9-D8EA-D563-A073-BF8B5D9A024B}"/>
                  </a:ext>
                </a:extLst>
              </p:cNvPr>
              <p:cNvSpPr txBox="1"/>
              <p:nvPr/>
            </p:nvSpPr>
            <p:spPr bwMode="auto">
              <a:xfrm>
                <a:off x="6597765" y="4668960"/>
                <a:ext cx="1788011" cy="79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&gt;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</m:e>
                        <m:sub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</a:rPr>
                            <m:t>(0,0)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22">
                <a:extLst>
                  <a:ext uri="{FF2B5EF4-FFF2-40B4-BE49-F238E27FC236}">
                    <a16:creationId xmlns:a16="http://schemas.microsoft.com/office/drawing/2014/main" id="{8FA1BDB9-D8EA-D563-A073-BF8B5D9A0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97765" y="4668960"/>
                <a:ext cx="1788011" cy="7941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23">
            <a:extLst>
              <a:ext uri="{FF2B5EF4-FFF2-40B4-BE49-F238E27FC236}">
                <a16:creationId xmlns:a16="http://schemas.microsoft.com/office/drawing/2014/main" id="{E86BC291-3986-E80A-4368-C91030D60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270" y="5548794"/>
            <a:ext cx="1905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为极小值</a:t>
            </a:r>
            <a:r>
              <a:rPr kumimoji="1" lang="en-US" altLang="zh-CN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3" name="AutoShape 24">
            <a:extLst>
              <a:ext uri="{FF2B5EF4-FFF2-40B4-BE49-F238E27FC236}">
                <a16:creationId xmlns:a16="http://schemas.microsoft.com/office/drawing/2014/main" id="{AE694A29-7322-0654-5809-869AA8DEC295}"/>
              </a:ext>
            </a:extLst>
          </p:cNvPr>
          <p:cNvSpPr>
            <a:spLocks/>
          </p:cNvSpPr>
          <p:nvPr/>
        </p:nvSpPr>
        <p:spPr bwMode="auto">
          <a:xfrm>
            <a:off x="3439497" y="3371675"/>
            <a:ext cx="152400" cy="1295400"/>
          </a:xfrm>
          <a:prstGeom prst="leftBrace">
            <a:avLst>
              <a:gd name="adj1" fmla="val 708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Text Box 25">
            <a:extLst>
              <a:ext uri="{FF2B5EF4-FFF2-40B4-BE49-F238E27FC236}">
                <a16:creationId xmlns:a16="http://schemas.microsoft.com/office/drawing/2014/main" id="{547DCC78-37CB-C0C5-5DDF-E7219CF0A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4748" y="3271663"/>
            <a:ext cx="419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正</a:t>
            </a:r>
          </a:p>
        </p:txBody>
      </p:sp>
      <p:sp>
        <p:nvSpPr>
          <p:cNvPr id="15" name="Text Box 26">
            <a:extLst>
              <a:ext uri="{FF2B5EF4-FFF2-40B4-BE49-F238E27FC236}">
                <a16:creationId xmlns:a16="http://schemas.microsoft.com/office/drawing/2014/main" id="{1619C2BF-17C4-75BE-04D4-3C748B77E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4747" y="3819351"/>
            <a:ext cx="419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b="1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27">
                <a:extLst>
                  <a:ext uri="{FF2B5EF4-FFF2-40B4-BE49-F238E27FC236}">
                    <a16:creationId xmlns:a16="http://schemas.microsoft.com/office/drawing/2014/main" id="{B4F70684-CDF8-02A7-D8C8-553EF10BC5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0947" y="4338463"/>
                <a:ext cx="3429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20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kumimoji="1" lang="en-US" altLang="zh-CN" sz="2200" b="1" dirty="0">
                  <a:solidFill>
                    <a:srgbClr val="04926A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Text Box 27">
                <a:extLst>
                  <a:ext uri="{FF2B5EF4-FFF2-40B4-BE49-F238E27FC236}">
                    <a16:creationId xmlns:a16="http://schemas.microsoft.com/office/drawing/2014/main" id="{B4F70684-CDF8-02A7-D8C8-553EF10BC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0947" y="4338463"/>
                <a:ext cx="342900" cy="430887"/>
              </a:xfrm>
              <a:prstGeom prst="rect">
                <a:avLst/>
              </a:prstGeom>
              <a:blipFill>
                <a:blip r:embed="rId10"/>
                <a:stretch>
                  <a:fillRect l="-175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8">
                <a:extLst>
                  <a:ext uri="{FF2B5EF4-FFF2-40B4-BE49-F238E27FC236}">
                    <a16:creationId xmlns:a16="http://schemas.microsoft.com/office/drawing/2014/main" id="{37912C38-4B68-1B7D-0F4D-16CA824F0E91}"/>
                  </a:ext>
                </a:extLst>
              </p:cNvPr>
              <p:cNvSpPr txBox="1"/>
              <p:nvPr/>
            </p:nvSpPr>
            <p:spPr bwMode="auto">
              <a:xfrm>
                <a:off x="3893902" y="758462"/>
                <a:ext cx="2022031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3</m:t>
                          </m:r>
                        </m:sup>
                      </m:sSup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7" name="Object 28">
                <a:extLst>
                  <a:ext uri="{FF2B5EF4-FFF2-40B4-BE49-F238E27FC236}">
                    <a16:creationId xmlns:a16="http://schemas.microsoft.com/office/drawing/2014/main" id="{37912C38-4B68-1B7D-0F4D-16CA824F0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3902" y="758462"/>
                <a:ext cx="2022031" cy="4699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9">
                <a:extLst>
                  <a:ext uri="{FF2B5EF4-FFF2-40B4-BE49-F238E27FC236}">
                    <a16:creationId xmlns:a16="http://schemas.microsoft.com/office/drawing/2014/main" id="{DC05A4DC-D2A8-5B9A-3989-9D9B43DC1FF8}"/>
                  </a:ext>
                </a:extLst>
              </p:cNvPr>
              <p:cNvSpPr txBox="1"/>
              <p:nvPr/>
            </p:nvSpPr>
            <p:spPr bwMode="auto">
              <a:xfrm>
                <a:off x="6172283" y="748698"/>
                <a:ext cx="256432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=(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sup>
                      </m:sSup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8" name="Object 29">
                <a:extLst>
                  <a:ext uri="{FF2B5EF4-FFF2-40B4-BE49-F238E27FC236}">
                    <a16:creationId xmlns:a16="http://schemas.microsoft.com/office/drawing/2014/main" id="{DC05A4DC-D2A8-5B9A-3989-9D9B43DC1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2283" y="748698"/>
                <a:ext cx="2564320" cy="4699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30">
                <a:extLst>
                  <a:ext uri="{FF2B5EF4-FFF2-40B4-BE49-F238E27FC236}">
                    <a16:creationId xmlns:a16="http://schemas.microsoft.com/office/drawing/2014/main" id="{D61F8F63-C4CD-216B-C120-08532FAD14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92668" y="748698"/>
                <a:ext cx="18288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800" dirty="0">
                    <a:latin typeface="+mj-lt"/>
                    <a:ea typeface="黑体" panose="02010609060101010101" pitchFamily="49" charset="-122"/>
                    <a:cs typeface="+mj-cs"/>
                  </a:rPr>
                  <a:t>在点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sz="28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9" name="Text Box 30">
                <a:extLst>
                  <a:ext uri="{FF2B5EF4-FFF2-40B4-BE49-F238E27FC236}">
                    <a16:creationId xmlns:a16="http://schemas.microsoft.com/office/drawing/2014/main" id="{D61F8F63-C4CD-216B-C120-08532FAD1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92668" y="748698"/>
                <a:ext cx="1828800" cy="519112"/>
              </a:xfrm>
              <a:prstGeom prst="rect">
                <a:avLst/>
              </a:prstGeom>
              <a:blipFill>
                <a:blip r:embed="rId13"/>
                <a:stretch>
                  <a:fillRect l="-6667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52">
                <a:extLst>
                  <a:ext uri="{FF2B5EF4-FFF2-40B4-BE49-F238E27FC236}">
                    <a16:creationId xmlns:a16="http://schemas.microsoft.com/office/drawing/2014/main" id="{03E7C3B6-28AE-1E06-AB72-E8A597F1A7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85365" y="1982411"/>
                <a:ext cx="2409634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并且在 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都有 </a:t>
                </a:r>
              </a:p>
            </p:txBody>
          </p:sp>
        </mc:Choice>
        <mc:Fallback xmlns="">
          <p:sp>
            <p:nvSpPr>
              <p:cNvPr id="20" name="Text Box 52">
                <a:extLst>
                  <a:ext uri="{FF2B5EF4-FFF2-40B4-BE49-F238E27FC236}">
                    <a16:creationId xmlns:a16="http://schemas.microsoft.com/office/drawing/2014/main" id="{03E7C3B6-28AE-1E06-AB72-E8A597F1A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5365" y="1982411"/>
                <a:ext cx="2409634" cy="430887"/>
              </a:xfrm>
              <a:prstGeom prst="rect">
                <a:avLst/>
              </a:prstGeom>
              <a:blipFill>
                <a:blip r:embed="rId14"/>
                <a:stretch>
                  <a:fillRect l="-3291" t="-15493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58">
                <a:extLst>
                  <a:ext uri="{FF2B5EF4-FFF2-40B4-BE49-F238E27FC236}">
                    <a16:creationId xmlns:a16="http://schemas.microsoft.com/office/drawing/2014/main" id="{0BF28F5D-18EA-E603-10B8-34BB6CAC3526}"/>
                  </a:ext>
                </a:extLst>
              </p:cNvPr>
              <p:cNvSpPr txBox="1"/>
              <p:nvPr/>
            </p:nvSpPr>
            <p:spPr bwMode="auto">
              <a:xfrm>
                <a:off x="3856006" y="2387163"/>
                <a:ext cx="18542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58">
                <a:extLst>
                  <a:ext uri="{FF2B5EF4-FFF2-40B4-BE49-F238E27FC236}">
                    <a16:creationId xmlns:a16="http://schemas.microsoft.com/office/drawing/2014/main" id="{0BF28F5D-18EA-E603-10B8-34BB6CAC3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6006" y="2387163"/>
                <a:ext cx="1854200" cy="393700"/>
              </a:xfrm>
              <a:prstGeom prst="rect">
                <a:avLst/>
              </a:prstGeom>
              <a:blipFill>
                <a:blip r:embed="rId15"/>
                <a:stretch>
                  <a:fillRect l="-329" b="-31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59">
                <a:extLst>
                  <a:ext uri="{FF2B5EF4-FFF2-40B4-BE49-F238E27FC236}">
                    <a16:creationId xmlns:a16="http://schemas.microsoft.com/office/drawing/2014/main" id="{02A8FAFF-C001-7281-FD78-F3F9027E7781}"/>
                  </a:ext>
                </a:extLst>
              </p:cNvPr>
              <p:cNvSpPr txBox="1"/>
              <p:nvPr/>
            </p:nvSpPr>
            <p:spPr bwMode="auto">
              <a:xfrm>
                <a:off x="2422068" y="2817390"/>
                <a:ext cx="163195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59">
                <a:extLst>
                  <a:ext uri="{FF2B5EF4-FFF2-40B4-BE49-F238E27FC236}">
                    <a16:creationId xmlns:a16="http://schemas.microsoft.com/office/drawing/2014/main" id="{02A8FAFF-C001-7281-FD78-F3F9027E7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2068" y="2817390"/>
                <a:ext cx="1631950" cy="4699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60">
            <a:extLst>
              <a:ext uri="{FF2B5EF4-FFF2-40B4-BE49-F238E27FC236}">
                <a16:creationId xmlns:a16="http://schemas.microsoft.com/office/drawing/2014/main" id="{59E6BD67-0D2C-CA75-30E4-5BDEA9C18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068" y="3790388"/>
            <a:ext cx="10763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可能为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62">
                <a:extLst>
                  <a:ext uri="{FF2B5EF4-FFF2-40B4-BE49-F238E27FC236}">
                    <a16:creationId xmlns:a16="http://schemas.microsoft.com/office/drawing/2014/main" id="{445E811F-E5D8-09A1-B370-871BF40BF363}"/>
                  </a:ext>
                </a:extLst>
              </p:cNvPr>
              <p:cNvSpPr txBox="1"/>
              <p:nvPr/>
            </p:nvSpPr>
            <p:spPr bwMode="auto">
              <a:xfrm>
                <a:off x="3024580" y="5474775"/>
                <a:ext cx="3827351" cy="7084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(0,0)=(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(0,0)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62">
                <a:extLst>
                  <a:ext uri="{FF2B5EF4-FFF2-40B4-BE49-F238E27FC236}">
                    <a16:creationId xmlns:a16="http://schemas.microsoft.com/office/drawing/2014/main" id="{445E811F-E5D8-09A1-B370-871BF40BF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4580" y="5474775"/>
                <a:ext cx="3827351" cy="70848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66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utoUpdateAnimBg="0"/>
      <p:bldP spid="4" grpId="0" autoUpdateAnimBg="0"/>
      <p:bldP spid="5" grpId="0" autoUpdateAnimBg="0"/>
      <p:bldP spid="6" grpId="0" build="p" autoUpdateAnimBg="0"/>
      <p:bldP spid="7" grpId="0" build="p" autoUpdateAnimBg="0"/>
      <p:bldP spid="8" grpId="0" autoUpdateAnimBg="0"/>
      <p:bldP spid="9" grpId="0"/>
      <p:bldP spid="10" grpId="0"/>
      <p:bldP spid="11" grpId="0"/>
      <p:bldP spid="12" grpId="0" autoUpdateAnimBg="0"/>
      <p:bldP spid="14" grpId="0" autoUpdateAnimBg="0"/>
      <p:bldP spid="15" grpId="0" autoUpdateAnimBg="0"/>
      <p:bldP spid="16" grpId="0" autoUpdateAnimBg="0"/>
      <p:bldP spid="17" grpId="0"/>
      <p:bldP spid="18" grpId="0"/>
      <p:bldP spid="19" grpId="0" autoUpdateAnimBg="0"/>
      <p:bldP spid="20" grpId="0" build="p" autoUpdateAnimBg="0"/>
      <p:bldP spid="21" grpId="0"/>
      <p:bldP spid="22" grpId="0"/>
      <p:bldP spid="23" grpId="0" build="p" autoUpdateAnimBg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457028B0-260F-CC27-3127-680B29CC8065}"/>
              </a:ext>
            </a:extLst>
          </p:cNvPr>
          <p:cNvGrpSpPr/>
          <p:nvPr/>
        </p:nvGrpSpPr>
        <p:grpSpPr>
          <a:xfrm>
            <a:off x="1054100" y="2168525"/>
            <a:ext cx="10186875" cy="3334223"/>
            <a:chOff x="1649" y="2344"/>
            <a:chExt cx="16405" cy="5471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29C8ADA-6445-C122-F8D5-1B94CB39634E}"/>
                </a:ext>
              </a:extLst>
            </p:cNvPr>
            <p:cNvSpPr/>
            <p:nvPr/>
          </p:nvSpPr>
          <p:spPr>
            <a:xfrm>
              <a:off x="1821" y="2499"/>
              <a:ext cx="16233" cy="53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0D8F5FC-C65B-CFAE-4188-C57DF5138E8A}"/>
                </a:ext>
              </a:extLst>
            </p:cNvPr>
            <p:cNvSpPr/>
            <p:nvPr/>
          </p:nvSpPr>
          <p:spPr>
            <a:xfrm>
              <a:off x="1649" y="2344"/>
              <a:ext cx="16233" cy="53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spcBef>
                  <a:spcPct val="50000"/>
                </a:spcBef>
              </a:pPr>
              <a:endPara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</p:txBody>
        </p:sp>
      </p:grpSp>
      <p:sp>
        <p:nvSpPr>
          <p:cNvPr id="10" name="标题 1">
            <a:extLst>
              <a:ext uri="{FF2B5EF4-FFF2-40B4-BE49-F238E27FC236}">
                <a16:creationId xmlns:a16="http://schemas.microsoft.com/office/drawing/2014/main" id="{04799A4E-869B-2FE8-B23E-4C2ABAA24FEC}"/>
              </a:ext>
            </a:extLst>
          </p:cNvPr>
          <p:cNvSpPr txBox="1">
            <a:spLocks/>
          </p:cNvSpPr>
          <p:nvPr/>
        </p:nvSpPr>
        <p:spPr>
          <a:xfrm>
            <a:off x="961749" y="1373515"/>
            <a:ext cx="5857875" cy="6731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二、多元函数的最值及其应用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97">
                <a:extLst>
                  <a:ext uri="{FF2B5EF4-FFF2-40B4-BE49-F238E27FC236}">
                    <a16:creationId xmlns:a16="http://schemas.microsoft.com/office/drawing/2014/main" id="{C0BEDB72-3E39-39E5-7A0A-2DF70A5E28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1200" y="2868986"/>
                <a:ext cx="845185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我们知道</a:t>
                </a:r>
                <a14:m>
                  <m:oMath xmlns:m="http://schemas.openxmlformats.org/officeDocument/2006/math">
                    <m:r>
                      <a:rPr kumimoji="1" lang="zh-CN" alt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 在有界闭区域上连续的函数一定取得最小</a:t>
                </a:r>
              </a:p>
            </p:txBody>
          </p:sp>
        </mc:Choice>
        <mc:Fallback xmlns="">
          <p:sp>
            <p:nvSpPr>
              <p:cNvPr id="11" name="Text Box 197">
                <a:extLst>
                  <a:ext uri="{FF2B5EF4-FFF2-40B4-BE49-F238E27FC236}">
                    <a16:creationId xmlns:a16="http://schemas.microsoft.com/office/drawing/2014/main" id="{C0BEDB72-3E39-39E5-7A0A-2DF70A5E2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2868986"/>
                <a:ext cx="8451850" cy="519112"/>
              </a:xfrm>
              <a:prstGeom prst="rect">
                <a:avLst/>
              </a:prstGeom>
              <a:blipFill>
                <a:blip r:embed="rId3"/>
                <a:stretch>
                  <a:fillRect l="-1443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98">
                <a:extLst>
                  <a:ext uri="{FF2B5EF4-FFF2-40B4-BE49-F238E27FC236}">
                    <a16:creationId xmlns:a16="http://schemas.microsoft.com/office/drawing/2014/main" id="{4FE46F67-A51C-193D-F0E4-DD5DC76EFF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1200" y="3554786"/>
                <a:ext cx="30480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值和最大值</a:t>
                </a:r>
                <a14:m>
                  <m:oMath xmlns:m="http://schemas.openxmlformats.org/officeDocument/2006/math">
                    <m:r>
                      <a:rPr kumimoji="1" lang="zh-CN" alt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b="0" dirty="0">
                  <a:solidFill>
                    <a:srgbClr val="000000"/>
                  </a:solidFill>
                  <a:latin typeface="Cabin Medium" panose="00000600000000000000" pitchFamily="2" charset="0"/>
                </a:endParaRPr>
              </a:p>
            </p:txBody>
          </p:sp>
        </mc:Choice>
        <mc:Fallback xmlns="">
          <p:sp>
            <p:nvSpPr>
              <p:cNvPr id="19" name="Text Box 198">
                <a:extLst>
                  <a:ext uri="{FF2B5EF4-FFF2-40B4-BE49-F238E27FC236}">
                    <a16:creationId xmlns:a16="http://schemas.microsoft.com/office/drawing/2014/main" id="{4FE46F67-A51C-193D-F0E4-DD5DC76EF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3554786"/>
                <a:ext cx="3048000" cy="519112"/>
              </a:xfrm>
              <a:prstGeom prst="rect">
                <a:avLst/>
              </a:prstGeom>
              <a:blipFill>
                <a:blip r:embed="rId4"/>
                <a:stretch>
                  <a:fillRect l="-4000" t="-16471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199">
            <a:extLst>
              <a:ext uri="{FF2B5EF4-FFF2-40B4-BE49-F238E27FC236}">
                <a16:creationId xmlns:a16="http://schemas.microsoft.com/office/drawing/2014/main" id="{32FED2B9-0A5A-258D-D59A-6D79E128B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8787" y="3556374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solidFill>
                  <a:srgbClr val="000000"/>
                </a:solidFill>
                <a:latin typeface="Cabin Medium" panose="00000600000000000000" pitchFamily="2" charset="0"/>
              </a:rPr>
              <a:t>那么如何求其最值呢？</a:t>
            </a:r>
          </a:p>
        </p:txBody>
      </p:sp>
      <p:sp>
        <p:nvSpPr>
          <p:cNvPr id="21" name="Text Box 200">
            <a:extLst>
              <a:ext uri="{FF2B5EF4-FFF2-40B4-BE49-F238E27FC236}">
                <a16:creationId xmlns:a16="http://schemas.microsoft.com/office/drawing/2014/main" id="{DDD07B17-886F-8D4A-D8C1-3D6FAE7A0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3773" y="3557379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solidFill>
                  <a:srgbClr val="000000"/>
                </a:solidFill>
                <a:latin typeface="Cabin Medium" panose="00000600000000000000" pitchFamily="2" charset="0"/>
              </a:rPr>
              <a:t>其方法与一元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201">
                <a:extLst>
                  <a:ext uri="{FF2B5EF4-FFF2-40B4-BE49-F238E27FC236}">
                    <a16:creationId xmlns:a16="http://schemas.microsoft.com/office/drawing/2014/main" id="{62FC29D2-EE2A-A82D-68A2-79A2829478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1200" y="4240586"/>
                <a:ext cx="30480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求最值相类似</a:t>
                </a:r>
                <a14:m>
                  <m:oMath xmlns:m="http://schemas.openxmlformats.org/officeDocument/2006/math">
                    <m:r>
                      <a:rPr kumimoji="1" lang="zh-CN" alt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b="0" dirty="0">
                  <a:solidFill>
                    <a:srgbClr val="000000"/>
                  </a:solidFill>
                  <a:latin typeface="Cabin Medium" panose="00000600000000000000" pitchFamily="2" charset="0"/>
                </a:endParaRPr>
              </a:p>
            </p:txBody>
          </p:sp>
        </mc:Choice>
        <mc:Fallback xmlns="">
          <p:sp>
            <p:nvSpPr>
              <p:cNvPr id="22" name="Text Box 201">
                <a:extLst>
                  <a:ext uri="{FF2B5EF4-FFF2-40B4-BE49-F238E27FC236}">
                    <a16:creationId xmlns:a16="http://schemas.microsoft.com/office/drawing/2014/main" id="{62FC29D2-EE2A-A82D-68A2-79A282947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4240586"/>
                <a:ext cx="3048000" cy="519112"/>
              </a:xfrm>
              <a:prstGeom prst="rect">
                <a:avLst/>
              </a:prstGeom>
              <a:blipFill>
                <a:blip r:embed="rId5"/>
                <a:stretch>
                  <a:fillRect l="-4000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202">
            <a:extLst>
              <a:ext uri="{FF2B5EF4-FFF2-40B4-BE49-F238E27FC236}">
                <a16:creationId xmlns:a16="http://schemas.microsoft.com/office/drawing/2014/main" id="{AD7CFFAD-6431-B395-95F0-EE0DE6305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462" y="4240586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solidFill>
                  <a:srgbClr val="000000"/>
                </a:solidFill>
                <a:latin typeface="Cabin Medium" panose="00000600000000000000" pitchFamily="2" charset="0"/>
              </a:rPr>
              <a:t>具体步骤如下：</a:t>
            </a:r>
          </a:p>
        </p:txBody>
      </p:sp>
    </p:spTree>
    <p:extLst>
      <p:ext uri="{BB962C8B-B14F-4D97-AF65-F5344CB8AC3E}">
        <p14:creationId xmlns:p14="http://schemas.microsoft.com/office/powerpoint/2010/main" val="197269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9" grpId="0"/>
      <p:bldP spid="20" grpId="0"/>
      <p:bldP spid="21" grpId="0"/>
      <p:bldP spid="22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233">
                <a:extLst>
                  <a:ext uri="{FF2B5EF4-FFF2-40B4-BE49-F238E27FC236}">
                    <a16:creationId xmlns:a16="http://schemas.microsoft.com/office/drawing/2014/main" id="{66F0BCCD-7E66-3BD1-53CF-D4B025E6A2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3638" y="823790"/>
                <a:ext cx="1005156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步骤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求函数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en-US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在开区域内可能的极值点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驻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点和使一阶</a:t>
                </a:r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Text Box 233">
                <a:extLst>
                  <a:ext uri="{FF2B5EF4-FFF2-40B4-BE49-F238E27FC236}">
                    <a16:creationId xmlns:a16="http://schemas.microsoft.com/office/drawing/2014/main" id="{66F0BCCD-7E66-3BD1-53CF-D4B025E6A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3638" y="823790"/>
                <a:ext cx="10051562" cy="523220"/>
              </a:xfrm>
              <a:prstGeom prst="rect">
                <a:avLst/>
              </a:prstGeom>
              <a:blipFill>
                <a:blip r:embed="rId3"/>
                <a:stretch>
                  <a:fillRect l="-1213"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34">
                <a:extLst>
                  <a:ext uri="{FF2B5EF4-FFF2-40B4-BE49-F238E27FC236}">
                    <a16:creationId xmlns:a16="http://schemas.microsoft.com/office/drawing/2014/main" id="{DC4582E3-B979-5236-9C60-907A1E462A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6789" y="1509591"/>
                <a:ext cx="54864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偏导数不存在的点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kumimoji="1" lang="en-US" altLang="zh-CN" dirty="0" smtClean="0">
                        <a:latin typeface="Cambria Math" panose="02040503050406030204" charset="0"/>
                        <a:cs typeface="Cambria Math" panose="02040503050406030204" charset="0"/>
                      </a:rPr>
                      <m:t>;</m:t>
                    </m:r>
                  </m:oMath>
                </a14:m>
                <a:endParaRPr lang="zh-CN" altLang="en-US" b="0" dirty="0">
                  <a:solidFill>
                    <a:srgbClr val="000000"/>
                  </a:solidFill>
                  <a:latin typeface="Cabin Medium" panose="00000600000000000000" pitchFamily="2" charset="0"/>
                </a:endParaRPr>
              </a:p>
            </p:txBody>
          </p:sp>
        </mc:Choice>
        <mc:Fallback xmlns="">
          <p:sp>
            <p:nvSpPr>
              <p:cNvPr id="3" name="Text Box 234">
                <a:extLst>
                  <a:ext uri="{FF2B5EF4-FFF2-40B4-BE49-F238E27FC236}">
                    <a16:creationId xmlns:a16="http://schemas.microsoft.com/office/drawing/2014/main" id="{DC4582E3-B979-5236-9C60-907A1E462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6789" y="1509591"/>
                <a:ext cx="5486400" cy="519113"/>
              </a:xfrm>
              <a:prstGeom prst="rect">
                <a:avLst/>
              </a:prstGeom>
              <a:blipFill>
                <a:blip r:embed="rId4"/>
                <a:stretch>
                  <a:fillRect l="-2222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235">
                <a:extLst>
                  <a:ext uri="{FF2B5EF4-FFF2-40B4-BE49-F238E27FC236}">
                    <a16:creationId xmlns:a16="http://schemas.microsoft.com/office/drawing/2014/main" id="{DFFEC316-A4D1-0828-C6DB-F1E4F2ED27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3639" y="2195390"/>
                <a:ext cx="8153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步骤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求函数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zh-CN" altLang="en-US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在边界曲线上的极值点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Text Box 235">
                <a:extLst>
                  <a:ext uri="{FF2B5EF4-FFF2-40B4-BE49-F238E27FC236}">
                    <a16:creationId xmlns:a16="http://schemas.microsoft.com/office/drawing/2014/main" id="{DFFEC316-A4D1-0828-C6DB-F1E4F2ED2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3639" y="2195390"/>
                <a:ext cx="8153400" cy="523220"/>
              </a:xfrm>
              <a:prstGeom prst="rect">
                <a:avLst/>
              </a:prstGeom>
              <a:blipFill>
                <a:blip r:embed="rId5"/>
                <a:stretch>
                  <a:fillRect l="-1495" t="-16279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236">
                <a:extLst>
                  <a:ext uri="{FF2B5EF4-FFF2-40B4-BE49-F238E27FC236}">
                    <a16:creationId xmlns:a16="http://schemas.microsoft.com/office/drawing/2014/main" id="{2B8358A8-B217-2942-A702-DBDD5F3E60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3639" y="2881190"/>
                <a:ext cx="8153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步骤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3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比较函数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zh-CN" altLang="en-US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在这些点处的函数值</a:t>
                </a:r>
                <a14:m>
                  <m:oMath xmlns:m="http://schemas.openxmlformats.org/officeDocument/2006/math">
                    <m:r>
                      <a:rPr lang="zh-CN" altLang="en-US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最小</a:t>
                </a:r>
              </a:p>
            </p:txBody>
          </p:sp>
        </mc:Choice>
        <mc:Fallback xmlns="">
          <p:sp>
            <p:nvSpPr>
              <p:cNvPr id="5" name="Text Box 236">
                <a:extLst>
                  <a:ext uri="{FF2B5EF4-FFF2-40B4-BE49-F238E27FC236}">
                    <a16:creationId xmlns:a16="http://schemas.microsoft.com/office/drawing/2014/main" id="{2B8358A8-B217-2942-A702-DBDD5F3E6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3639" y="2881190"/>
                <a:ext cx="8153400" cy="523220"/>
              </a:xfrm>
              <a:prstGeom prst="rect">
                <a:avLst/>
              </a:prstGeom>
              <a:blipFill>
                <a:blip r:embed="rId6"/>
                <a:stretch>
                  <a:fillRect l="-1495" t="-17647" b="-317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237">
                <a:extLst>
                  <a:ext uri="{FF2B5EF4-FFF2-40B4-BE49-F238E27FC236}">
                    <a16:creationId xmlns:a16="http://schemas.microsoft.com/office/drawing/2014/main" id="{49048D98-41CA-3D9F-D6C0-4A37529DE7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6789" y="3552703"/>
                <a:ext cx="60198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的即为最小值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 最大的即为最大值．</a:t>
                </a:r>
              </a:p>
            </p:txBody>
          </p:sp>
        </mc:Choice>
        <mc:Fallback xmlns="">
          <p:sp>
            <p:nvSpPr>
              <p:cNvPr id="6" name="Text Box 237">
                <a:extLst>
                  <a:ext uri="{FF2B5EF4-FFF2-40B4-BE49-F238E27FC236}">
                    <a16:creationId xmlns:a16="http://schemas.microsoft.com/office/drawing/2014/main" id="{49048D98-41CA-3D9F-D6C0-4A37529DE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6789" y="3552703"/>
                <a:ext cx="6019800" cy="519112"/>
              </a:xfrm>
              <a:prstGeom prst="rect">
                <a:avLst/>
              </a:prstGeom>
              <a:blipFill>
                <a:blip r:embed="rId7"/>
                <a:stretch>
                  <a:fillRect l="-2024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23">
                <a:extLst>
                  <a:ext uri="{FF2B5EF4-FFF2-40B4-BE49-F238E27FC236}">
                    <a16:creationId xmlns:a16="http://schemas.microsoft.com/office/drawing/2014/main" id="{E7BAD180-5D83-A837-CF80-87440E95F5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43519" y="4220108"/>
                <a:ext cx="845185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latin typeface="Cabin Medium" panose="00000600000000000000" pitchFamily="2" charset="0"/>
                  </a:rPr>
                  <a:t>对于实际应用问题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b="0" dirty="0">
                    <a:latin typeface="Cabin Medium" panose="00000600000000000000" pitchFamily="2" charset="0"/>
                  </a:rPr>
                  <a:t> 若能确定该问题一定有最优解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zh-CN" altLang="en-US" b="0" dirty="0">
                  <a:solidFill>
                    <a:srgbClr val="000000"/>
                  </a:solidFill>
                  <a:latin typeface="Cabin Medium" panose="00000600000000000000" pitchFamily="2" charset="0"/>
                </a:endParaRPr>
              </a:p>
            </p:txBody>
          </p:sp>
        </mc:Choice>
        <mc:Fallback xmlns="">
          <p:sp>
            <p:nvSpPr>
              <p:cNvPr id="7" name="Text Box 123">
                <a:extLst>
                  <a:ext uri="{FF2B5EF4-FFF2-40B4-BE49-F238E27FC236}">
                    <a16:creationId xmlns:a16="http://schemas.microsoft.com/office/drawing/2014/main" id="{E7BAD180-5D83-A837-CF80-87440E95F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3519" y="4220108"/>
                <a:ext cx="8451850" cy="519113"/>
              </a:xfrm>
              <a:prstGeom prst="rect">
                <a:avLst/>
              </a:prstGeom>
              <a:blipFill>
                <a:blip r:embed="rId8"/>
                <a:stretch>
                  <a:fillRect l="-1442" t="-16471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24">
                <a:extLst>
                  <a:ext uri="{FF2B5EF4-FFF2-40B4-BE49-F238E27FC236}">
                    <a16:creationId xmlns:a16="http://schemas.microsoft.com/office/drawing/2014/main" id="{962695F2-D4A2-0905-8A64-70468D7BFB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6789" y="4872965"/>
                <a:ext cx="907708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latin typeface="Cabin Medium" panose="00000600000000000000" pitchFamily="2" charset="0"/>
                  </a:rPr>
                  <a:t>而且目标函数在自变量的实际控制范围内有唯一极值点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altLang="zh-CN" b="0" dirty="0">
                  <a:latin typeface="Cabin Medium" panose="00000600000000000000" pitchFamily="2" charset="0"/>
                </a:endParaRPr>
              </a:p>
            </p:txBody>
          </p:sp>
        </mc:Choice>
        <mc:Fallback xmlns="">
          <p:sp>
            <p:nvSpPr>
              <p:cNvPr id="8" name="Text Box 124">
                <a:extLst>
                  <a:ext uri="{FF2B5EF4-FFF2-40B4-BE49-F238E27FC236}">
                    <a16:creationId xmlns:a16="http://schemas.microsoft.com/office/drawing/2014/main" id="{962695F2-D4A2-0905-8A64-70468D7BF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6789" y="4872965"/>
                <a:ext cx="9077080" cy="519112"/>
              </a:xfrm>
              <a:prstGeom prst="rect">
                <a:avLst/>
              </a:prstGeom>
              <a:blipFill>
                <a:blip r:embed="rId9"/>
                <a:stretch>
                  <a:fillRect l="-1343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25">
                <a:extLst>
                  <a:ext uri="{FF2B5EF4-FFF2-40B4-BE49-F238E27FC236}">
                    <a16:creationId xmlns:a16="http://schemas.microsoft.com/office/drawing/2014/main" id="{CB87957E-C423-7716-4D91-00B261B042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6789" y="5530296"/>
                <a:ext cx="52578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latin typeface="Cabin Medium" panose="00000600000000000000" pitchFamily="2" charset="0"/>
                  </a:rPr>
                  <a:t>则该极值点就是问题的最值点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b="0" dirty="0">
                    <a:latin typeface="Cabin Medium" panose="00000600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Text Box 125">
                <a:extLst>
                  <a:ext uri="{FF2B5EF4-FFF2-40B4-BE49-F238E27FC236}">
                    <a16:creationId xmlns:a16="http://schemas.microsoft.com/office/drawing/2014/main" id="{CB87957E-C423-7716-4D91-00B261B04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6789" y="5530296"/>
                <a:ext cx="5257800" cy="519112"/>
              </a:xfrm>
              <a:prstGeom prst="rect">
                <a:avLst/>
              </a:prstGeom>
              <a:blipFill>
                <a:blip r:embed="rId10"/>
                <a:stretch>
                  <a:fillRect l="-2317" t="-16471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26">
            <a:extLst>
              <a:ext uri="{FF2B5EF4-FFF2-40B4-BE49-F238E27FC236}">
                <a16:creationId xmlns:a16="http://schemas.microsoft.com/office/drawing/2014/main" id="{B7C2F25F-4F76-48E3-4ECB-DF0AD0461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6114" y="5529396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latin typeface="Cabin Medium" panose="00000600000000000000" pitchFamily="2" charset="0"/>
              </a:rPr>
              <a:t>不需比较和判断</a:t>
            </a:r>
            <a:r>
              <a:rPr lang="zh-CN" altLang="en-US" b="0" dirty="0">
                <a:solidFill>
                  <a:srgbClr val="000000"/>
                </a:solidFill>
                <a:latin typeface="Cabin Medium" panose="00000600000000000000" pitchFamily="2" charset="0"/>
              </a:rPr>
              <a:t>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4F33825-804C-2727-8BB2-29B01A92E0D7}"/>
                  </a:ext>
                </a:extLst>
              </p:cNvPr>
              <p:cNvSpPr txBox="1"/>
              <p:nvPr/>
            </p:nvSpPr>
            <p:spPr bwMode="auto">
              <a:xfrm>
                <a:off x="2146789" y="4220108"/>
                <a:ext cx="21717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特别地</a:t>
                </a:r>
                <a14:m>
                  <m:oMath xmlns:m="http://schemas.openxmlformats.org/officeDocument/2006/math">
                    <m:r>
                      <a:rPr lang="zh-CN" altLang="en-US" sz="28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4F33825-804C-2727-8BB2-29B01A92E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6789" y="4220108"/>
                <a:ext cx="2171700" cy="523220"/>
              </a:xfrm>
              <a:prstGeom prst="rect">
                <a:avLst/>
              </a:prstGeom>
              <a:blipFill>
                <a:blip r:embed="rId11"/>
                <a:stretch>
                  <a:fillRect l="-5618" t="-16279" b="-267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20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A64AA349-CDF3-7772-B44C-C8EBBF898A1B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E5813D-DA7C-EC2A-A238-67A111EEECC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BDF4F0AC-BBCC-4F6F-04D2-CB7F75390B4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A8A948D3-C693-E736-0CB9-ADDBD44EB18B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8CB89A8B-9BB6-D251-1B77-BD5D3E8457D1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26" name="Text Box 345">
            <a:extLst>
              <a:ext uri="{FF2B5EF4-FFF2-40B4-BE49-F238E27FC236}">
                <a16:creationId xmlns:a16="http://schemas.microsoft.com/office/drawing/2014/main" id="{2A90C4DB-7264-2121-89D9-8348B2335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0424" y="2187054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80">
                <a:extLst>
                  <a:ext uri="{FF2B5EF4-FFF2-40B4-BE49-F238E27FC236}">
                    <a16:creationId xmlns:a16="http://schemas.microsoft.com/office/drawing/2014/main" id="{0A3C7034-E006-6559-8778-D6BD0915EF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6341" y="2219827"/>
                <a:ext cx="4468746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设水箱长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宽分别为 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则高为</a:t>
                </a:r>
              </a:p>
            </p:txBody>
          </p:sp>
        </mc:Choice>
        <mc:Fallback xmlns="">
          <p:sp>
            <p:nvSpPr>
              <p:cNvPr id="33" name="Text Box 380">
                <a:extLst>
                  <a:ext uri="{FF2B5EF4-FFF2-40B4-BE49-F238E27FC236}">
                    <a16:creationId xmlns:a16="http://schemas.microsoft.com/office/drawing/2014/main" id="{0A3C7034-E006-6559-8778-D6BD0915E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6341" y="2219827"/>
                <a:ext cx="4468746" cy="430887"/>
              </a:xfrm>
              <a:prstGeom prst="rect">
                <a:avLst/>
              </a:prstGeom>
              <a:blipFill>
                <a:blip r:embed="rId4"/>
                <a:stretch>
                  <a:fillRect l="-1774" t="-15493" r="-95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381">
            <a:extLst>
              <a:ext uri="{FF2B5EF4-FFF2-40B4-BE49-F238E27FC236}">
                <a16:creationId xmlns:a16="http://schemas.microsoft.com/office/drawing/2014/main" id="{551EBEB4-DE62-F666-08A0-3C66C623B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013" y="2234705"/>
            <a:ext cx="332352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则水箱所用材料的面积为</a:t>
            </a:r>
          </a:p>
        </p:txBody>
      </p:sp>
      <p:sp>
        <p:nvSpPr>
          <p:cNvPr id="35" name="Text Box 382">
            <a:extLst>
              <a:ext uri="{FF2B5EF4-FFF2-40B4-BE49-F238E27FC236}">
                <a16:creationId xmlns:a16="http://schemas.microsoft.com/office/drawing/2014/main" id="{1647BB4D-E5EA-EFFE-6DFC-B99D9FEE9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6341" y="4299922"/>
            <a:ext cx="4953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令</a:t>
            </a:r>
          </a:p>
        </p:txBody>
      </p:sp>
      <p:sp>
        <p:nvSpPr>
          <p:cNvPr id="36" name="Text Box 383">
            <a:extLst>
              <a:ext uri="{FF2B5EF4-FFF2-40B4-BE49-F238E27FC236}">
                <a16:creationId xmlns:a16="http://schemas.microsoft.com/office/drawing/2014/main" id="{C9DD37CD-008E-919B-0A8B-F7B0D14BC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1363" y="4314012"/>
            <a:ext cx="19145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解得唯一驻点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384">
                <a:extLst>
                  <a:ext uri="{FF2B5EF4-FFF2-40B4-BE49-F238E27FC236}">
                    <a16:creationId xmlns:a16="http://schemas.microsoft.com/office/drawing/2014/main" id="{25063328-575C-5F2E-79A3-5593579B8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0424" y="941011"/>
                <a:ext cx="9761316" cy="4801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 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某厂要用铁板做一个体积为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的有盖长方体水箱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Text Box 384">
                <a:extLst>
                  <a:ext uri="{FF2B5EF4-FFF2-40B4-BE49-F238E27FC236}">
                    <a16:creationId xmlns:a16="http://schemas.microsoft.com/office/drawing/2014/main" id="{25063328-575C-5F2E-79A3-5593579B8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0424" y="941011"/>
                <a:ext cx="9761316" cy="480131"/>
              </a:xfrm>
              <a:prstGeom prst="rect">
                <a:avLst/>
              </a:prstGeom>
              <a:blipFill>
                <a:blip r:embed="rId5"/>
                <a:stretch>
                  <a:fillRect l="-1249" t="-26582" b="-341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385">
                <a:extLst>
                  <a:ext uri="{FF2B5EF4-FFF2-40B4-BE49-F238E27FC236}">
                    <a16:creationId xmlns:a16="http://schemas.microsoft.com/office/drawing/2014/main" id="{AB8F8277-78E7-F29F-A2AC-7FFE244670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914" y="1550385"/>
                <a:ext cx="9001125" cy="4801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问当长、宽、高各取怎样的尺寸时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才能使用料最省？</a:t>
                </a:r>
                <a:endParaRPr lang="en-US" altLang="zh-CN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8" name="Text Box 385">
                <a:extLst>
                  <a:ext uri="{FF2B5EF4-FFF2-40B4-BE49-F238E27FC236}">
                    <a16:creationId xmlns:a16="http://schemas.microsoft.com/office/drawing/2014/main" id="{AB8F8277-78E7-F29F-A2AC-7FFE24467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4914" y="1550385"/>
                <a:ext cx="9001125" cy="480131"/>
              </a:xfrm>
              <a:prstGeom prst="rect">
                <a:avLst/>
              </a:prstGeom>
              <a:blipFill>
                <a:blip r:embed="rId6"/>
                <a:stretch>
                  <a:fillRect l="-1354" t="-26582" b="-291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386">
                <a:extLst>
                  <a:ext uri="{FF2B5EF4-FFF2-40B4-BE49-F238E27FC236}">
                    <a16:creationId xmlns:a16="http://schemas.microsoft.com/office/drawing/2014/main" id="{67361400-0A83-3DBE-E4F0-F7D8E7C6A5A3}"/>
                  </a:ext>
                </a:extLst>
              </p:cNvPr>
              <p:cNvSpPr txBox="1"/>
              <p:nvPr/>
            </p:nvSpPr>
            <p:spPr bwMode="auto">
              <a:xfrm>
                <a:off x="6438625" y="2037502"/>
                <a:ext cx="842962" cy="7842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m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9" name="Object 386">
                <a:extLst>
                  <a:ext uri="{FF2B5EF4-FFF2-40B4-BE49-F238E27FC236}">
                    <a16:creationId xmlns:a16="http://schemas.microsoft.com/office/drawing/2014/main" id="{67361400-0A83-3DBE-E4F0-F7D8E7C6A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38625" y="2037502"/>
                <a:ext cx="842962" cy="7842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387">
                <a:extLst>
                  <a:ext uri="{FF2B5EF4-FFF2-40B4-BE49-F238E27FC236}">
                    <a16:creationId xmlns:a16="http://schemas.microsoft.com/office/drawing/2014/main" id="{716DF2B4-8BF9-308A-5B65-90DFD50B0B08}"/>
                  </a:ext>
                </a:extLst>
              </p:cNvPr>
              <p:cNvSpPr txBox="1"/>
              <p:nvPr/>
            </p:nvSpPr>
            <p:spPr bwMode="auto">
              <a:xfrm>
                <a:off x="2151887" y="2741326"/>
                <a:ext cx="1928425" cy="1044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</m:t>
                      </m:r>
                      <m:d>
                        <m:dPr>
                          <m:endChr m:val=""/>
                          <m:ctrlPr>
                            <a:rPr kumimoji="1" lang="en-US" altLang="zh-CN" sz="22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0" name="Object 387">
                <a:extLst>
                  <a:ext uri="{FF2B5EF4-FFF2-40B4-BE49-F238E27FC236}">
                    <a16:creationId xmlns:a16="http://schemas.microsoft.com/office/drawing/2014/main" id="{716DF2B4-8BF9-308A-5B65-90DFD50B0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1887" y="2741326"/>
                <a:ext cx="1928425" cy="1044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388">
                <a:extLst>
                  <a:ext uri="{FF2B5EF4-FFF2-40B4-BE49-F238E27FC236}">
                    <a16:creationId xmlns:a16="http://schemas.microsoft.com/office/drawing/2014/main" id="{BC2F2C52-BF56-E2FA-75CA-7E625CEA8CF5}"/>
                  </a:ext>
                </a:extLst>
              </p:cNvPr>
              <p:cNvSpPr txBox="1"/>
              <p:nvPr/>
            </p:nvSpPr>
            <p:spPr bwMode="auto">
              <a:xfrm>
                <a:off x="3093662" y="2992496"/>
                <a:ext cx="469900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𝑥𝑦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1" name="Object 388">
                <a:extLst>
                  <a:ext uri="{FF2B5EF4-FFF2-40B4-BE49-F238E27FC236}">
                    <a16:creationId xmlns:a16="http://schemas.microsoft.com/office/drawing/2014/main" id="{BC2F2C52-BF56-E2FA-75CA-7E625CEA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3662" y="2992496"/>
                <a:ext cx="469900" cy="454025"/>
              </a:xfrm>
              <a:prstGeom prst="rect">
                <a:avLst/>
              </a:prstGeom>
              <a:blipFill>
                <a:blip r:embed="rId9"/>
                <a:stretch>
                  <a:fillRect l="-1282" r="-5128" b="-54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389">
                <a:extLst>
                  <a:ext uri="{FF2B5EF4-FFF2-40B4-BE49-F238E27FC236}">
                    <a16:creationId xmlns:a16="http://schemas.microsoft.com/office/drawing/2014/main" id="{4278B169-FD9F-139B-88C0-6FF563A2A9D9}"/>
                  </a:ext>
                </a:extLst>
              </p:cNvPr>
              <p:cNvSpPr txBox="1"/>
              <p:nvPr/>
            </p:nvSpPr>
            <p:spPr bwMode="auto">
              <a:xfrm>
                <a:off x="3423419" y="2821285"/>
                <a:ext cx="1384298" cy="8023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2" name="Object 389">
                <a:extLst>
                  <a:ext uri="{FF2B5EF4-FFF2-40B4-BE49-F238E27FC236}">
                    <a16:creationId xmlns:a16="http://schemas.microsoft.com/office/drawing/2014/main" id="{4278B169-FD9F-139B-88C0-6FF563A2A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3419" y="2821285"/>
                <a:ext cx="1384298" cy="8023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390">
                <a:extLst>
                  <a:ext uri="{FF2B5EF4-FFF2-40B4-BE49-F238E27FC236}">
                    <a16:creationId xmlns:a16="http://schemas.microsoft.com/office/drawing/2014/main" id="{23EDF7CA-7BA8-BCF1-C07A-D64FF7A6AF11}"/>
                  </a:ext>
                </a:extLst>
              </p:cNvPr>
              <p:cNvSpPr txBox="1"/>
              <p:nvPr/>
            </p:nvSpPr>
            <p:spPr bwMode="auto">
              <a:xfrm>
                <a:off x="4449773" y="2809259"/>
                <a:ext cx="1495868" cy="8023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kumimoji="1" lang="en-US" altLang="zh-CN" sz="22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⋅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Object 390">
                <a:extLst>
                  <a:ext uri="{FF2B5EF4-FFF2-40B4-BE49-F238E27FC236}">
                    <a16:creationId xmlns:a16="http://schemas.microsoft.com/office/drawing/2014/main" id="{23EDF7CA-7BA8-BCF1-C07A-D64FF7A6A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9773" y="2809259"/>
                <a:ext cx="1495868" cy="80236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391">
                <a:extLst>
                  <a:ext uri="{FF2B5EF4-FFF2-40B4-BE49-F238E27FC236}">
                    <a16:creationId xmlns:a16="http://schemas.microsoft.com/office/drawing/2014/main" id="{BCE92930-0263-952B-956A-E5CF6DD2DDA3}"/>
                  </a:ext>
                </a:extLst>
              </p:cNvPr>
              <p:cNvSpPr txBox="1"/>
              <p:nvPr/>
            </p:nvSpPr>
            <p:spPr bwMode="auto">
              <a:xfrm>
                <a:off x="5598203" y="2806422"/>
                <a:ext cx="2464333" cy="7842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4" name="Object 391">
                <a:extLst>
                  <a:ext uri="{FF2B5EF4-FFF2-40B4-BE49-F238E27FC236}">
                    <a16:creationId xmlns:a16="http://schemas.microsoft.com/office/drawing/2014/main" id="{BCE92930-0263-952B-956A-E5CF6DD2D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98203" y="2806422"/>
                <a:ext cx="2464333" cy="784224"/>
              </a:xfrm>
              <a:prstGeom prst="rect">
                <a:avLst/>
              </a:prstGeom>
              <a:blipFill>
                <a:blip r:embed="rId12"/>
                <a:stretch>
                  <a:fillRect b="-23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392">
                <a:extLst>
                  <a:ext uri="{FF2B5EF4-FFF2-40B4-BE49-F238E27FC236}">
                    <a16:creationId xmlns:a16="http://schemas.microsoft.com/office/drawing/2014/main" id="{4E15A77F-A307-9375-FA3E-B580A4D3C016}"/>
                  </a:ext>
                </a:extLst>
              </p:cNvPr>
              <p:cNvSpPr txBox="1"/>
              <p:nvPr/>
            </p:nvSpPr>
            <p:spPr bwMode="auto">
              <a:xfrm>
                <a:off x="7957314" y="2849284"/>
                <a:ext cx="1174750" cy="7413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&gt;0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&gt;0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5" name="Object 392">
                <a:extLst>
                  <a:ext uri="{FF2B5EF4-FFF2-40B4-BE49-F238E27FC236}">
                    <a16:creationId xmlns:a16="http://schemas.microsoft.com/office/drawing/2014/main" id="{4E15A77F-A307-9375-FA3E-B580A4D3C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57314" y="2849284"/>
                <a:ext cx="1174750" cy="74136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AutoShape 393">
            <a:extLst>
              <a:ext uri="{FF2B5EF4-FFF2-40B4-BE49-F238E27FC236}">
                <a16:creationId xmlns:a16="http://schemas.microsoft.com/office/drawing/2014/main" id="{AAFDAAAA-F02D-4528-8883-82A6F2AD6F06}"/>
              </a:ext>
            </a:extLst>
          </p:cNvPr>
          <p:cNvSpPr>
            <a:spLocks/>
          </p:cNvSpPr>
          <p:nvPr/>
        </p:nvSpPr>
        <p:spPr bwMode="auto">
          <a:xfrm>
            <a:off x="2576872" y="3971911"/>
            <a:ext cx="152400" cy="10440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dirty="0">
              <a:latin typeface="Cabin Medium" panose="00000600000000000000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394">
                <a:extLst>
                  <a:ext uri="{FF2B5EF4-FFF2-40B4-BE49-F238E27FC236}">
                    <a16:creationId xmlns:a16="http://schemas.microsoft.com/office/drawing/2014/main" id="{ED515B93-B5DA-C4AC-3E41-67A592A1DABE}"/>
                  </a:ext>
                </a:extLst>
              </p:cNvPr>
              <p:cNvSpPr txBox="1"/>
              <p:nvPr/>
            </p:nvSpPr>
            <p:spPr bwMode="auto">
              <a:xfrm>
                <a:off x="2761022" y="3626822"/>
                <a:ext cx="3435350" cy="9274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kumimoji="1" lang="en-US" altLang="zh-CN" sz="22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7" name="Object 394">
                <a:extLst>
                  <a:ext uri="{FF2B5EF4-FFF2-40B4-BE49-F238E27FC236}">
                    <a16:creationId xmlns:a16="http://schemas.microsoft.com/office/drawing/2014/main" id="{ED515B93-B5DA-C4AC-3E41-67A592A1D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1022" y="3626822"/>
                <a:ext cx="3435350" cy="92742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395">
                <a:extLst>
                  <a:ext uri="{FF2B5EF4-FFF2-40B4-BE49-F238E27FC236}">
                    <a16:creationId xmlns:a16="http://schemas.microsoft.com/office/drawing/2014/main" id="{7FFB784F-2C09-4B78-B4E0-A31AAAE0566E}"/>
                  </a:ext>
                </a:extLst>
              </p:cNvPr>
              <p:cNvSpPr txBox="1"/>
              <p:nvPr/>
            </p:nvSpPr>
            <p:spPr bwMode="auto">
              <a:xfrm>
                <a:off x="2761021" y="4501062"/>
                <a:ext cx="3735327" cy="8023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kumimoji="1" lang="en-US" altLang="zh-CN" sz="22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8" name="Object 395">
                <a:extLst>
                  <a:ext uri="{FF2B5EF4-FFF2-40B4-BE49-F238E27FC236}">
                    <a16:creationId xmlns:a16="http://schemas.microsoft.com/office/drawing/2014/main" id="{7FFB784F-2C09-4B78-B4E0-A31AAAE05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1021" y="4501062"/>
                <a:ext cx="3735327" cy="80236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 Box 396">
            <a:extLst>
              <a:ext uri="{FF2B5EF4-FFF2-40B4-BE49-F238E27FC236}">
                <a16:creationId xmlns:a16="http://schemas.microsoft.com/office/drawing/2014/main" id="{96473347-C2B2-C4E5-5FA9-D60640AA2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6341" y="5448539"/>
            <a:ext cx="2209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即当长、宽均为</a:t>
            </a:r>
          </a:p>
        </p:txBody>
      </p:sp>
      <p:sp>
        <p:nvSpPr>
          <p:cNvPr id="50" name="Text Box 397">
            <a:extLst>
              <a:ext uri="{FF2B5EF4-FFF2-40B4-BE49-F238E27FC236}">
                <a16:creationId xmlns:a16="http://schemas.microsoft.com/office/drawing/2014/main" id="{C1E396D5-2D70-2E95-1D31-92741D151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53" y="5448539"/>
            <a:ext cx="990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高为</a:t>
            </a:r>
          </a:p>
        </p:txBody>
      </p:sp>
      <p:sp>
        <p:nvSpPr>
          <p:cNvPr id="51" name="Text Box 398">
            <a:extLst>
              <a:ext uri="{FF2B5EF4-FFF2-40B4-BE49-F238E27FC236}">
                <a16:creationId xmlns:a16="http://schemas.microsoft.com/office/drawing/2014/main" id="{0BCA12D1-9547-7221-5C60-86156B9F1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7924" y="5439014"/>
            <a:ext cx="125488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料最省</a:t>
            </a:r>
            <a:r>
              <a:rPr kumimoji="1" lang="en-US" altLang="zh-CN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399">
                <a:extLst>
                  <a:ext uri="{FF2B5EF4-FFF2-40B4-BE49-F238E27FC236}">
                    <a16:creationId xmlns:a16="http://schemas.microsoft.com/office/drawing/2014/main" id="{78999F63-898A-B236-5CFE-88A0487FADE2}"/>
                  </a:ext>
                </a:extLst>
              </p:cNvPr>
              <p:cNvSpPr txBox="1"/>
              <p:nvPr/>
            </p:nvSpPr>
            <p:spPr bwMode="auto">
              <a:xfrm>
                <a:off x="7194592" y="4274325"/>
                <a:ext cx="1746250" cy="4991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ad>
                        <m:ra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deg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ra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 , </m:t>
                      </m:r>
                      <m:rad>
                        <m:ra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deg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ra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2" name="Object 399">
                <a:extLst>
                  <a:ext uri="{FF2B5EF4-FFF2-40B4-BE49-F238E27FC236}">
                    <a16:creationId xmlns:a16="http://schemas.microsoft.com/office/drawing/2014/main" id="{78999F63-898A-B236-5CFE-88A0487FA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94592" y="4274325"/>
                <a:ext cx="1746250" cy="499149"/>
              </a:xfrm>
              <a:prstGeom prst="rect">
                <a:avLst/>
              </a:prstGeom>
              <a:blipFill>
                <a:blip r:embed="rId16"/>
                <a:stretch>
                  <a:fillRect l="-2091" b="-85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400">
                <a:extLst>
                  <a:ext uri="{FF2B5EF4-FFF2-40B4-BE49-F238E27FC236}">
                    <a16:creationId xmlns:a16="http://schemas.microsoft.com/office/drawing/2014/main" id="{E0AA19BB-AB93-F95D-4773-0273142063B7}"/>
                  </a:ext>
                </a:extLst>
              </p:cNvPr>
              <p:cNvSpPr txBox="1"/>
              <p:nvPr/>
            </p:nvSpPr>
            <p:spPr bwMode="auto">
              <a:xfrm>
                <a:off x="4118913" y="5447806"/>
                <a:ext cx="749300" cy="5611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3" name="Object 400">
                <a:extLst>
                  <a:ext uri="{FF2B5EF4-FFF2-40B4-BE49-F238E27FC236}">
                    <a16:creationId xmlns:a16="http://schemas.microsoft.com/office/drawing/2014/main" id="{E0AA19BB-AB93-F95D-4773-027314206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8913" y="5447806"/>
                <a:ext cx="749300" cy="56118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401">
                <a:extLst>
                  <a:ext uri="{FF2B5EF4-FFF2-40B4-BE49-F238E27FC236}">
                    <a16:creationId xmlns:a16="http://schemas.microsoft.com/office/drawing/2014/main" id="{DC879F35-840B-0C07-44BB-26637B4B55F9}"/>
                  </a:ext>
                </a:extLst>
              </p:cNvPr>
              <p:cNvSpPr txBox="1"/>
              <p:nvPr/>
            </p:nvSpPr>
            <p:spPr bwMode="auto">
              <a:xfrm>
                <a:off x="5301010" y="5255994"/>
                <a:ext cx="2002154" cy="8159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deg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</m:rad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⋅</m:t>
                          </m:r>
                          <m:rad>
                            <m:rad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deg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deg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4" name="Object 401">
                <a:extLst>
                  <a:ext uri="{FF2B5EF4-FFF2-40B4-BE49-F238E27FC236}">
                    <a16:creationId xmlns:a16="http://schemas.microsoft.com/office/drawing/2014/main" id="{DC879F35-840B-0C07-44BB-26637B4B5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1010" y="5255994"/>
                <a:ext cx="2002154" cy="8159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402">
                <a:extLst>
                  <a:ext uri="{FF2B5EF4-FFF2-40B4-BE49-F238E27FC236}">
                    <a16:creationId xmlns:a16="http://schemas.microsoft.com/office/drawing/2014/main" id="{DAF9D29B-4CFE-1243-D96F-94F82F6E6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6171" y="5448539"/>
                <a:ext cx="217103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水箱所用</a:t>
                </a:r>
                <a:r>
                  <a:rPr kumimoji="1" lang="zh-CN" altLang="en-US" sz="2200" dirty="0">
                    <a:latin typeface="Cabin Medium" panose="00000600000000000000" pitchFamily="2" charset="0"/>
                    <a:cs typeface="Times New Roman" panose="02020603050405020304" pitchFamily="18" charset="0"/>
                  </a:rPr>
                  <a:t>材</a:t>
                </a:r>
              </a:p>
            </p:txBody>
          </p:sp>
        </mc:Choice>
        <mc:Fallback xmlns="">
          <p:sp>
            <p:nvSpPr>
              <p:cNvPr id="55" name="Rectangle 402">
                <a:extLst>
                  <a:ext uri="{FF2B5EF4-FFF2-40B4-BE49-F238E27FC236}">
                    <a16:creationId xmlns:a16="http://schemas.microsoft.com/office/drawing/2014/main" id="{DAF9D29B-4CFE-1243-D96F-94F82F6E65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36171" y="5448539"/>
                <a:ext cx="2171035" cy="430887"/>
              </a:xfrm>
              <a:prstGeom prst="rect">
                <a:avLst/>
              </a:prstGeom>
              <a:blipFill>
                <a:blip r:embed="rId19"/>
                <a:stretch>
                  <a:fillRect l="-3652" t="-15714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94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3" grpId="0" autoUpdateAnimBg="0"/>
      <p:bldP spid="34" grpId="0" autoUpdateAnimBg="0"/>
      <p:bldP spid="35" grpId="0" autoUpdateAnimBg="0"/>
      <p:bldP spid="36" grpId="0" build="p" autoUpdateAnimBg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7" grpId="0"/>
      <p:bldP spid="48" grpId="0"/>
      <p:bldP spid="49" grpId="0" autoUpdateAnimBg="0"/>
      <p:bldP spid="50" grpId="0" autoUpdateAnimBg="0"/>
      <p:bldP spid="51" grpId="0" autoUpdateAnimBg="0"/>
      <p:bldP spid="52" grpId="0"/>
      <p:bldP spid="53" grpId="0"/>
      <p:bldP spid="54" grpId="0"/>
      <p:bldP spid="5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A64AA349-CDF3-7772-B44C-C8EBBF898A1B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E5813D-DA7C-EC2A-A238-67A111EEECC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BDF4F0AC-BBCC-4F6F-04D2-CB7F75390B4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A8A948D3-C693-E736-0CB9-ADDBD44EB18B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8CB89A8B-9BB6-D251-1B77-BD5D3E8457D1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3" name="Text Box 345">
            <a:extLst>
              <a:ext uri="{FF2B5EF4-FFF2-40B4-BE49-F238E27FC236}">
                <a16:creationId xmlns:a16="http://schemas.microsoft.com/office/drawing/2014/main" id="{C128607B-87E3-BEFE-B759-C6887292D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6237" y="2365022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408">
                <a:extLst>
                  <a:ext uri="{FF2B5EF4-FFF2-40B4-BE49-F238E27FC236}">
                    <a16:creationId xmlns:a16="http://schemas.microsoft.com/office/drawing/2014/main" id="{F7BF93AF-8B3D-DE5D-7CEF-40699E937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404" y="914316"/>
                <a:ext cx="9537088" cy="533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 </a:t>
                </a:r>
                <a:r>
                  <a:rPr lang="en-US" altLang="zh-CN" sz="2800" dirty="0">
                    <a:latin typeface="+mn-ea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有一宽为 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4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cm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的长方形铁板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把它折起来做成一个</a:t>
                </a:r>
              </a:p>
            </p:txBody>
          </p:sp>
        </mc:Choice>
        <mc:Fallback xmlns="">
          <p:sp>
            <p:nvSpPr>
              <p:cNvPr id="4" name="Rectangle 408">
                <a:extLst>
                  <a:ext uri="{FF2B5EF4-FFF2-40B4-BE49-F238E27FC236}">
                    <a16:creationId xmlns:a16="http://schemas.microsoft.com/office/drawing/2014/main" id="{F7BF93AF-8B3D-DE5D-7CEF-40699E937F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5404" y="914316"/>
                <a:ext cx="9537088" cy="533400"/>
              </a:xfrm>
              <a:prstGeom prst="rect">
                <a:avLst/>
              </a:prstGeom>
              <a:blipFill>
                <a:blip r:embed="rId5"/>
                <a:stretch>
                  <a:fillRect l="-1278" t="-14943" b="-3103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09">
                <a:extLst>
                  <a:ext uri="{FF2B5EF4-FFF2-40B4-BE49-F238E27FC236}">
                    <a16:creationId xmlns:a16="http://schemas.microsoft.com/office/drawing/2014/main" id="{FA21C6D9-2964-4824-3188-F677866E0D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7900" y="2418997"/>
                <a:ext cx="337870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设折起来的边长为 </a:t>
                </a:r>
                <a14:m>
                  <m:oMath xmlns:m="http://schemas.openxmlformats.org/officeDocument/2006/math">
                    <m:r>
                      <a:rPr kumimoji="1" lang="en-US" altLang="zh-CN" sz="22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2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cm</m:t>
                    </m:r>
                    <m:r>
                      <a:rPr lang="en-US" altLang="zh-CN" sz="22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latin typeface="Cabin Medium" panose="00000600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 Box 409">
                <a:extLst>
                  <a:ext uri="{FF2B5EF4-FFF2-40B4-BE49-F238E27FC236}">
                    <a16:creationId xmlns:a16="http://schemas.microsoft.com/office/drawing/2014/main" id="{FA21C6D9-2964-4824-3188-F677866E0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7900" y="2418997"/>
                <a:ext cx="3378705" cy="430887"/>
              </a:xfrm>
              <a:prstGeom prst="rect">
                <a:avLst/>
              </a:prstGeom>
              <a:blipFill>
                <a:blip r:embed="rId6"/>
                <a:stretch>
                  <a:fillRect l="-2342" t="-15493" b="-211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410">
            <a:extLst>
              <a:ext uri="{FF2B5EF4-FFF2-40B4-BE49-F238E27FC236}">
                <a16:creationId xmlns:a16="http://schemas.microsoft.com/office/drawing/2014/main" id="{AE20D0BE-27A3-805F-D065-41DCBF243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1096" y="2442810"/>
            <a:ext cx="200261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则断面面积为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411">
                <a:extLst>
                  <a:ext uri="{FF2B5EF4-FFF2-40B4-BE49-F238E27FC236}">
                    <a16:creationId xmlns:a16="http://schemas.microsoft.com/office/drawing/2014/main" id="{7C6DD865-9FBC-8155-70EE-25E5F43687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0882" y="1548057"/>
                <a:ext cx="978400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断面为等腰梯形的水槽</a:t>
                </a:r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问怎样折法才能使断面面积最大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.  </a:t>
                </a:r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Text Box 411">
                <a:extLst>
                  <a:ext uri="{FF2B5EF4-FFF2-40B4-BE49-F238E27FC236}">
                    <a16:creationId xmlns:a16="http://schemas.microsoft.com/office/drawing/2014/main" id="{7C6DD865-9FBC-8155-70EE-25E5F4368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0882" y="1548057"/>
                <a:ext cx="9784006" cy="523220"/>
              </a:xfrm>
              <a:prstGeom prst="rect">
                <a:avLst/>
              </a:prstGeom>
              <a:blipFill>
                <a:blip r:embed="rId7"/>
                <a:stretch>
                  <a:fillRect l="-1308" t="-17442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412">
                <a:extLst>
                  <a:ext uri="{FF2B5EF4-FFF2-40B4-BE49-F238E27FC236}">
                    <a16:creationId xmlns:a16="http://schemas.microsoft.com/office/drawing/2014/main" id="{DBF15472-56DE-141C-2963-AEC9FD27EC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94128" y="2438047"/>
                <a:ext cx="1397001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倾角为</a:t>
                </a:r>
                <a14:m>
                  <m:oMath xmlns:m="http://schemas.openxmlformats.org/officeDocument/2006/math">
                    <m:r>
                      <a:rPr kumimoji="1" lang="en-US" altLang="zh-CN" sz="22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𝛼</m:t>
                    </m:r>
                    <m:r>
                      <a:rPr kumimoji="1" lang="en-US" altLang="zh-CN" sz="2200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latin typeface="Cabin Medium" panose="00000600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 Box 412">
                <a:extLst>
                  <a:ext uri="{FF2B5EF4-FFF2-40B4-BE49-F238E27FC236}">
                    <a16:creationId xmlns:a16="http://schemas.microsoft.com/office/drawing/2014/main" id="{DBF15472-56DE-141C-2963-AEC9FD27E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94128" y="2438047"/>
                <a:ext cx="1397001" cy="430887"/>
              </a:xfrm>
              <a:prstGeom prst="rect">
                <a:avLst/>
              </a:prstGeom>
              <a:blipFill>
                <a:blip r:embed="rId8"/>
                <a:stretch>
                  <a:fillRect l="-5677" t="-15493" b="-211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13">
                <a:extLst>
                  <a:ext uri="{FF2B5EF4-FFF2-40B4-BE49-F238E27FC236}">
                    <a16:creationId xmlns:a16="http://schemas.microsoft.com/office/drawing/2014/main" id="{39DA16C8-4348-1693-886B-52E2276D6937}"/>
                  </a:ext>
                </a:extLst>
              </p:cNvPr>
              <p:cNvSpPr txBox="1"/>
              <p:nvPr/>
            </p:nvSpPr>
            <p:spPr bwMode="auto">
              <a:xfrm>
                <a:off x="1982438" y="3078156"/>
                <a:ext cx="681038" cy="3794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413">
                <a:extLst>
                  <a:ext uri="{FF2B5EF4-FFF2-40B4-BE49-F238E27FC236}">
                    <a16:creationId xmlns:a16="http://schemas.microsoft.com/office/drawing/2014/main" id="{39DA16C8-4348-1693-886B-52E2276D6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2438" y="3078156"/>
                <a:ext cx="681038" cy="379413"/>
              </a:xfrm>
              <a:prstGeom prst="rect">
                <a:avLst/>
              </a:prstGeom>
              <a:blipFill>
                <a:blip r:embed="rId9"/>
                <a:stretch>
                  <a:fillRect l="-893" b="-80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414">
                <a:extLst>
                  <a:ext uri="{FF2B5EF4-FFF2-40B4-BE49-F238E27FC236}">
                    <a16:creationId xmlns:a16="http://schemas.microsoft.com/office/drawing/2014/main" id="{193469EC-33A2-1433-1D03-43ECD06E6278}"/>
                  </a:ext>
                </a:extLst>
              </p:cNvPr>
              <p:cNvSpPr txBox="1"/>
              <p:nvPr/>
            </p:nvSpPr>
            <p:spPr bwMode="auto">
              <a:xfrm>
                <a:off x="2850066" y="3097185"/>
                <a:ext cx="2487489" cy="4063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24−2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414">
                <a:extLst>
                  <a:ext uri="{FF2B5EF4-FFF2-40B4-BE49-F238E27FC236}">
                    <a16:creationId xmlns:a16="http://schemas.microsoft.com/office/drawing/2014/main" id="{193469EC-33A2-1433-1D03-43ECD06E6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0066" y="3097185"/>
                <a:ext cx="2487489" cy="406399"/>
              </a:xfrm>
              <a:prstGeom prst="rect">
                <a:avLst/>
              </a:prstGeom>
              <a:blipFill>
                <a:blip r:embed="rId10"/>
                <a:stretch>
                  <a:fillRect l="-245" b="-14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15">
                <a:extLst>
                  <a:ext uri="{FF2B5EF4-FFF2-40B4-BE49-F238E27FC236}">
                    <a16:creationId xmlns:a16="http://schemas.microsoft.com/office/drawing/2014/main" id="{3C6ED619-7DEA-B806-FA30-D1F0E15FB456}"/>
                  </a:ext>
                </a:extLst>
              </p:cNvPr>
              <p:cNvSpPr txBox="1"/>
              <p:nvPr/>
            </p:nvSpPr>
            <p:spPr bwMode="auto">
              <a:xfrm>
                <a:off x="5120190" y="3111134"/>
                <a:ext cx="13970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+24−2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415">
                <a:extLst>
                  <a:ext uri="{FF2B5EF4-FFF2-40B4-BE49-F238E27FC236}">
                    <a16:creationId xmlns:a16="http://schemas.microsoft.com/office/drawing/2014/main" id="{3C6ED619-7DEA-B806-FA30-D1F0E15FB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20190" y="3111134"/>
                <a:ext cx="1397000" cy="317500"/>
              </a:xfrm>
              <a:prstGeom prst="rect">
                <a:avLst/>
              </a:prstGeom>
              <a:blipFill>
                <a:blip r:embed="rId11"/>
                <a:stretch>
                  <a:fillRect b="-307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416">
                <a:extLst>
                  <a:ext uri="{FF2B5EF4-FFF2-40B4-BE49-F238E27FC236}">
                    <a16:creationId xmlns:a16="http://schemas.microsoft.com/office/drawing/2014/main" id="{6A8A9DE0-8E42-B4CB-92AB-AC7753AEF2A3}"/>
                  </a:ext>
                </a:extLst>
              </p:cNvPr>
              <p:cNvSpPr txBox="1"/>
              <p:nvPr/>
            </p:nvSpPr>
            <p:spPr bwMode="auto">
              <a:xfrm>
                <a:off x="2544189" y="2917002"/>
                <a:ext cx="406400" cy="7667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416">
                <a:extLst>
                  <a:ext uri="{FF2B5EF4-FFF2-40B4-BE49-F238E27FC236}">
                    <a16:creationId xmlns:a16="http://schemas.microsoft.com/office/drawing/2014/main" id="{6A8A9DE0-8E42-B4CB-92AB-AC7753AE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4189" y="2917002"/>
                <a:ext cx="406400" cy="76676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417">
                <a:extLst>
                  <a:ext uri="{FF2B5EF4-FFF2-40B4-BE49-F238E27FC236}">
                    <a16:creationId xmlns:a16="http://schemas.microsoft.com/office/drawing/2014/main" id="{335791D9-56E5-E0AE-8D7E-D7263139A538}"/>
                  </a:ext>
                </a:extLst>
              </p:cNvPr>
              <p:cNvSpPr txBox="1"/>
              <p:nvPr/>
            </p:nvSpPr>
            <p:spPr bwMode="auto">
              <a:xfrm>
                <a:off x="6267448" y="3102285"/>
                <a:ext cx="1904999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)⋅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417">
                <a:extLst>
                  <a:ext uri="{FF2B5EF4-FFF2-40B4-BE49-F238E27FC236}">
                    <a16:creationId xmlns:a16="http://schemas.microsoft.com/office/drawing/2014/main" id="{335791D9-56E5-E0AE-8D7E-D7263139A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67448" y="3102285"/>
                <a:ext cx="1904999" cy="406400"/>
              </a:xfrm>
              <a:prstGeom prst="rect">
                <a:avLst/>
              </a:prstGeom>
              <a:blipFill>
                <a:blip r:embed="rId13"/>
                <a:stretch>
                  <a:fillRect l="-1917" b="-238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418">
                <a:extLst>
                  <a:ext uri="{FF2B5EF4-FFF2-40B4-BE49-F238E27FC236}">
                    <a16:creationId xmlns:a16="http://schemas.microsoft.com/office/drawing/2014/main" id="{002269A3-623F-60A8-6C5D-0B3D3CCA3C63}"/>
                  </a:ext>
                </a:extLst>
              </p:cNvPr>
              <p:cNvSpPr txBox="1"/>
              <p:nvPr/>
            </p:nvSpPr>
            <p:spPr bwMode="auto">
              <a:xfrm>
                <a:off x="2243135" y="3744151"/>
                <a:ext cx="5164015" cy="4662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=24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−2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418">
                <a:extLst>
                  <a:ext uri="{FF2B5EF4-FFF2-40B4-BE49-F238E27FC236}">
                    <a16:creationId xmlns:a16="http://schemas.microsoft.com/office/drawing/2014/main" id="{002269A3-623F-60A8-6C5D-0B3D3CCA3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3135" y="3744151"/>
                <a:ext cx="5164015" cy="46627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421">
                <a:extLst>
                  <a:ext uri="{FF2B5EF4-FFF2-40B4-BE49-F238E27FC236}">
                    <a16:creationId xmlns:a16="http://schemas.microsoft.com/office/drawing/2014/main" id="{6146D7F5-D0A2-2783-E99C-9525A15B3999}"/>
                  </a:ext>
                </a:extLst>
              </p:cNvPr>
              <p:cNvSpPr txBox="1"/>
              <p:nvPr/>
            </p:nvSpPr>
            <p:spPr bwMode="auto">
              <a:xfrm>
                <a:off x="2499394" y="4247204"/>
                <a:ext cx="3501902" cy="7623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0&lt;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&lt;12, 0&lt;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&lt;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π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421">
                <a:extLst>
                  <a:ext uri="{FF2B5EF4-FFF2-40B4-BE49-F238E27FC236}">
                    <a16:creationId xmlns:a16="http://schemas.microsoft.com/office/drawing/2014/main" id="{6146D7F5-D0A2-2783-E99C-9525A15B3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9394" y="4247204"/>
                <a:ext cx="3501902" cy="76236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 descr="图示, 工程绘图&#10;&#10;描述已自动生成">
            <a:extLst>
              <a:ext uri="{FF2B5EF4-FFF2-40B4-BE49-F238E27FC236}">
                <a16:creationId xmlns:a16="http://schemas.microsoft.com/office/drawing/2014/main" id="{1598505A-4CB7-DADB-35E5-515B0971DC0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103" y="4247176"/>
            <a:ext cx="4332401" cy="154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6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5">
                <a:extLst>
                  <a:ext uri="{FF2B5EF4-FFF2-40B4-BE49-F238E27FC236}">
                    <a16:creationId xmlns:a16="http://schemas.microsoft.com/office/drawing/2014/main" id="{D7F15224-E6D2-3EAD-E28D-2F366D551493}"/>
                  </a:ext>
                </a:extLst>
              </p:cNvPr>
              <p:cNvSpPr txBox="1"/>
              <p:nvPr/>
            </p:nvSpPr>
            <p:spPr bwMode="auto">
              <a:xfrm>
                <a:off x="3489325" y="2055813"/>
                <a:ext cx="1687512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24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5">
                <a:extLst>
                  <a:ext uri="{FF2B5EF4-FFF2-40B4-BE49-F238E27FC236}">
                    <a16:creationId xmlns:a16="http://schemas.microsoft.com/office/drawing/2014/main" id="{D7F15224-E6D2-3EAD-E28D-2F366D551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9325" y="2055813"/>
                <a:ext cx="1687512" cy="317500"/>
              </a:xfrm>
              <a:prstGeom prst="rect">
                <a:avLst/>
              </a:prstGeom>
              <a:blipFill>
                <a:blip r:embed="rId4"/>
                <a:stretch>
                  <a:fillRect l="-361" b="-307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6">
                <a:extLst>
                  <a:ext uri="{FF2B5EF4-FFF2-40B4-BE49-F238E27FC236}">
                    <a16:creationId xmlns:a16="http://schemas.microsoft.com/office/drawing/2014/main" id="{CE4DDD08-6AEB-4D6E-1AB8-06D6E8F31AB1}"/>
                  </a:ext>
                </a:extLst>
              </p:cNvPr>
              <p:cNvSpPr txBox="1"/>
              <p:nvPr/>
            </p:nvSpPr>
            <p:spPr bwMode="auto">
              <a:xfrm>
                <a:off x="4656312" y="2062957"/>
                <a:ext cx="1687513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−2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6">
                <a:extLst>
                  <a:ext uri="{FF2B5EF4-FFF2-40B4-BE49-F238E27FC236}">
                    <a16:creationId xmlns:a16="http://schemas.microsoft.com/office/drawing/2014/main" id="{CE4DDD08-6AEB-4D6E-1AB8-06D6E8F31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6312" y="2062957"/>
                <a:ext cx="1687513" cy="4445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020C4112-428F-48BA-B666-0884052B0867}"/>
                  </a:ext>
                </a:extLst>
              </p:cNvPr>
              <p:cNvSpPr txBox="1"/>
              <p:nvPr/>
            </p:nvSpPr>
            <p:spPr bwMode="auto">
              <a:xfrm>
                <a:off x="5971618" y="2068513"/>
                <a:ext cx="3457624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sin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020C4112-428F-48BA-B666-0884052B0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1618" y="2068513"/>
                <a:ext cx="3457624" cy="495300"/>
              </a:xfrm>
              <a:prstGeom prst="rect">
                <a:avLst/>
              </a:prstGeom>
              <a:blipFill>
                <a:blip r:embed="rId6"/>
                <a:stretch>
                  <a:fillRect b="-12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8">
            <a:extLst>
              <a:ext uri="{FF2B5EF4-FFF2-40B4-BE49-F238E27FC236}">
                <a16:creationId xmlns:a16="http://schemas.microsoft.com/office/drawing/2014/main" id="{BC8D1F23-E59E-D8DA-0585-5757AA762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88" y="1752720"/>
            <a:ext cx="685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9">
                <a:extLst>
                  <a:ext uri="{FF2B5EF4-FFF2-40B4-BE49-F238E27FC236}">
                    <a16:creationId xmlns:a16="http://schemas.microsoft.com/office/drawing/2014/main" id="{3CB4EAAE-F8F1-1C03-DB2B-0E4205849BC0}"/>
                  </a:ext>
                </a:extLst>
              </p:cNvPr>
              <p:cNvSpPr txBox="1"/>
              <p:nvPr/>
            </p:nvSpPr>
            <p:spPr bwMode="auto">
              <a:xfrm>
                <a:off x="2857500" y="1446213"/>
                <a:ext cx="89535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9">
                <a:extLst>
                  <a:ext uri="{FF2B5EF4-FFF2-40B4-BE49-F238E27FC236}">
                    <a16:creationId xmlns:a16="http://schemas.microsoft.com/office/drawing/2014/main" id="{3CB4EAAE-F8F1-1C03-DB2B-0E4205849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7500" y="1446213"/>
                <a:ext cx="895350" cy="444500"/>
              </a:xfrm>
              <a:prstGeom prst="rect">
                <a:avLst/>
              </a:prstGeom>
              <a:blipFill>
                <a:blip r:embed="rId7"/>
                <a:stretch>
                  <a:fillRect l="-68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10E8BFD9-0737-5D02-AEAA-44AB910E8CC3}"/>
                  </a:ext>
                </a:extLst>
              </p:cNvPr>
              <p:cNvSpPr txBox="1"/>
              <p:nvPr/>
            </p:nvSpPr>
            <p:spPr bwMode="auto">
              <a:xfrm>
                <a:off x="3489324" y="1463675"/>
                <a:ext cx="1422399" cy="330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24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10E8BFD9-0737-5D02-AEAA-44AB910E8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9324" y="1463675"/>
                <a:ext cx="1422399" cy="330200"/>
              </a:xfrm>
              <a:prstGeom prst="rect">
                <a:avLst/>
              </a:prstGeom>
              <a:blipFill>
                <a:blip r:embed="rId8"/>
                <a:stretch>
                  <a:fillRect l="-427" b="-259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1">
                <a:extLst>
                  <a:ext uri="{FF2B5EF4-FFF2-40B4-BE49-F238E27FC236}">
                    <a16:creationId xmlns:a16="http://schemas.microsoft.com/office/drawing/2014/main" id="{D0D7BA94-9E41-15A7-68FD-5AB963E8101E}"/>
                  </a:ext>
                </a:extLst>
              </p:cNvPr>
              <p:cNvSpPr txBox="1"/>
              <p:nvPr/>
            </p:nvSpPr>
            <p:spPr bwMode="auto">
              <a:xfrm>
                <a:off x="4430716" y="1473000"/>
                <a:ext cx="1447800" cy="3988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−4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1">
                <a:extLst>
                  <a:ext uri="{FF2B5EF4-FFF2-40B4-BE49-F238E27FC236}">
                    <a16:creationId xmlns:a16="http://schemas.microsoft.com/office/drawing/2014/main" id="{D0D7BA94-9E41-15A7-68FD-5AB963E81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0716" y="1473000"/>
                <a:ext cx="1447800" cy="398860"/>
              </a:xfrm>
              <a:prstGeom prst="rect">
                <a:avLst/>
              </a:prstGeom>
              <a:blipFill>
                <a:blip r:embed="rId9"/>
                <a:stretch>
                  <a:fillRect b="-30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2">
                <a:extLst>
                  <a:ext uri="{FF2B5EF4-FFF2-40B4-BE49-F238E27FC236}">
                    <a16:creationId xmlns:a16="http://schemas.microsoft.com/office/drawing/2014/main" id="{8F7271FF-A088-6022-1FB5-D843CA29CB5B}"/>
                  </a:ext>
                </a:extLst>
              </p:cNvPr>
              <p:cNvSpPr txBox="1"/>
              <p:nvPr/>
            </p:nvSpPr>
            <p:spPr bwMode="auto">
              <a:xfrm>
                <a:off x="5610575" y="1477762"/>
                <a:ext cx="3095625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2">
                <a:extLst>
                  <a:ext uri="{FF2B5EF4-FFF2-40B4-BE49-F238E27FC236}">
                    <a16:creationId xmlns:a16="http://schemas.microsoft.com/office/drawing/2014/main" id="{8F7271FF-A088-6022-1FB5-D843CA29C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0575" y="1477762"/>
                <a:ext cx="3095625" cy="4953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3">
                <a:extLst>
                  <a:ext uri="{FF2B5EF4-FFF2-40B4-BE49-F238E27FC236}">
                    <a16:creationId xmlns:a16="http://schemas.microsoft.com/office/drawing/2014/main" id="{5EB180B2-2ADD-D708-4492-131204D32B9F}"/>
                  </a:ext>
                </a:extLst>
              </p:cNvPr>
              <p:cNvSpPr txBox="1"/>
              <p:nvPr/>
            </p:nvSpPr>
            <p:spPr bwMode="auto">
              <a:xfrm>
                <a:off x="2857500" y="2019300"/>
                <a:ext cx="89535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3">
                <a:extLst>
                  <a:ext uri="{FF2B5EF4-FFF2-40B4-BE49-F238E27FC236}">
                    <a16:creationId xmlns:a16="http://schemas.microsoft.com/office/drawing/2014/main" id="{5EB180B2-2ADD-D708-4492-131204D32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7500" y="2019300"/>
                <a:ext cx="895350" cy="444500"/>
              </a:xfrm>
              <a:prstGeom prst="rect">
                <a:avLst/>
              </a:prstGeom>
              <a:blipFill>
                <a:blip r:embed="rId11"/>
                <a:stretch>
                  <a:fillRect l="-68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5">
            <a:extLst>
              <a:ext uri="{FF2B5EF4-FFF2-40B4-BE49-F238E27FC236}">
                <a16:creationId xmlns:a16="http://schemas.microsoft.com/office/drawing/2014/main" id="{68F87607-F97E-4B84-57B7-BC7141867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775" y="4575176"/>
            <a:ext cx="8223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解得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6">
                <a:extLst>
                  <a:ext uri="{FF2B5EF4-FFF2-40B4-BE49-F238E27FC236}">
                    <a16:creationId xmlns:a16="http://schemas.microsoft.com/office/drawing/2014/main" id="{82B57788-B7D9-2F8C-0880-7728370D3E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5264" y="5157788"/>
                <a:ext cx="4820886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由题意知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最大值在定义域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内达到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Text Box 16">
                <a:extLst>
                  <a:ext uri="{FF2B5EF4-FFF2-40B4-BE49-F238E27FC236}">
                    <a16:creationId xmlns:a16="http://schemas.microsoft.com/office/drawing/2014/main" id="{82B57788-B7D9-2F8C-0880-7728370D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5264" y="5157788"/>
                <a:ext cx="4820886" cy="430887"/>
              </a:xfrm>
              <a:prstGeom prst="rect">
                <a:avLst/>
              </a:prstGeom>
              <a:blipFill>
                <a:blip r:embed="rId12"/>
                <a:stretch>
                  <a:fillRect l="-1643" t="-15493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7">
                <a:extLst>
                  <a:ext uri="{FF2B5EF4-FFF2-40B4-BE49-F238E27FC236}">
                    <a16:creationId xmlns:a16="http://schemas.microsoft.com/office/drawing/2014/main" id="{1E212BB6-EF13-0AF5-2763-8A52948891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43114" y="5157788"/>
                <a:ext cx="1976072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而在域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𝐷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内</a:t>
                </a:r>
                <a:r>
                  <a:rPr kumimoji="1" lang="zh-CN" altLang="en-US" sz="2200" dirty="0">
                    <a:latin typeface="Cabin Medium" panose="00000600000000000000" pitchFamily="2" charset="0"/>
                    <a:cs typeface="Times New Roman" panose="02020603050405020304" pitchFamily="18" charset="0"/>
                  </a:rPr>
                  <a:t>只</a:t>
                </a:r>
              </a:p>
            </p:txBody>
          </p:sp>
        </mc:Choice>
        <mc:Fallback xmlns="">
          <p:sp>
            <p:nvSpPr>
              <p:cNvPr id="13" name="Text Box 17">
                <a:extLst>
                  <a:ext uri="{FF2B5EF4-FFF2-40B4-BE49-F238E27FC236}">
                    <a16:creationId xmlns:a16="http://schemas.microsoft.com/office/drawing/2014/main" id="{1E212BB6-EF13-0AF5-2763-8A5294889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43114" y="5157788"/>
                <a:ext cx="1976072" cy="430887"/>
              </a:xfrm>
              <a:prstGeom prst="rect">
                <a:avLst/>
              </a:prstGeom>
              <a:blipFill>
                <a:blip r:embed="rId13"/>
                <a:stretch>
                  <a:fillRect l="-4012" t="-15493" r="-617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8">
                <a:extLst>
                  <a:ext uri="{FF2B5EF4-FFF2-40B4-BE49-F238E27FC236}">
                    <a16:creationId xmlns:a16="http://schemas.microsoft.com/office/drawing/2014/main" id="{4D49FF5D-716B-AB80-5101-F1F46192B8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75643" y="5157788"/>
                <a:ext cx="1878057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有一个驻点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latin typeface="Cabin Medium" panose="00000600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 Box 18">
                <a:extLst>
                  <a:ext uri="{FF2B5EF4-FFF2-40B4-BE49-F238E27FC236}">
                    <a16:creationId xmlns:a16="http://schemas.microsoft.com/office/drawing/2014/main" id="{4D49FF5D-716B-AB80-5101-F1F46192B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75643" y="5157788"/>
                <a:ext cx="1878057" cy="430887"/>
              </a:xfrm>
              <a:prstGeom prst="rect">
                <a:avLst/>
              </a:prstGeom>
              <a:blipFill>
                <a:blip r:embed="rId14"/>
                <a:stretch>
                  <a:fillRect l="-4221" t="-15493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9">
            <a:extLst>
              <a:ext uri="{FF2B5EF4-FFF2-40B4-BE49-F238E27FC236}">
                <a16:creationId xmlns:a16="http://schemas.microsoft.com/office/drawing/2014/main" id="{FCBF6E6E-2C95-6571-CC0B-9226B0CBD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7250" y="5694363"/>
            <a:ext cx="2971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故此点即为所求</a:t>
            </a:r>
            <a:r>
              <a:rPr kumimoji="1" lang="en-US" altLang="zh-CN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0">
                <a:extLst>
                  <a:ext uri="{FF2B5EF4-FFF2-40B4-BE49-F238E27FC236}">
                    <a16:creationId xmlns:a16="http://schemas.microsoft.com/office/drawing/2014/main" id="{5A900B78-003C-5447-A0E8-A66B24B7EACD}"/>
                  </a:ext>
                </a:extLst>
              </p:cNvPr>
              <p:cNvSpPr txBox="1"/>
              <p:nvPr/>
            </p:nvSpPr>
            <p:spPr bwMode="auto">
              <a:xfrm>
                <a:off x="4325938" y="2630488"/>
                <a:ext cx="14732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≠0,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20">
                <a:extLst>
                  <a:ext uri="{FF2B5EF4-FFF2-40B4-BE49-F238E27FC236}">
                    <a16:creationId xmlns:a16="http://schemas.microsoft.com/office/drawing/2014/main" id="{5A900B78-003C-5447-A0E8-A66B24B7E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5938" y="2630488"/>
                <a:ext cx="1473200" cy="406400"/>
              </a:xfrm>
              <a:prstGeom prst="rect">
                <a:avLst/>
              </a:prstGeom>
              <a:blipFill>
                <a:blip r:embed="rId15"/>
                <a:stretch>
                  <a:fillRect l="-415" b="-15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1">
                <a:extLst>
                  <a:ext uri="{FF2B5EF4-FFF2-40B4-BE49-F238E27FC236}">
                    <a16:creationId xmlns:a16="http://schemas.microsoft.com/office/drawing/2014/main" id="{F5E72850-7B2D-2DEF-E59F-C31084349236}"/>
                  </a:ext>
                </a:extLst>
              </p:cNvPr>
              <p:cNvSpPr txBox="1"/>
              <p:nvPr/>
            </p:nvSpPr>
            <p:spPr bwMode="auto">
              <a:xfrm>
                <a:off x="5610575" y="2622551"/>
                <a:ext cx="1228725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≠0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21">
                <a:extLst>
                  <a:ext uri="{FF2B5EF4-FFF2-40B4-BE49-F238E27FC236}">
                    <a16:creationId xmlns:a16="http://schemas.microsoft.com/office/drawing/2014/main" id="{F5E72850-7B2D-2DEF-E59F-C31084349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0575" y="2622551"/>
                <a:ext cx="1228725" cy="393700"/>
              </a:xfrm>
              <a:prstGeom prst="rect">
                <a:avLst/>
              </a:prstGeom>
              <a:blipFill>
                <a:blip r:embed="rId16"/>
                <a:stretch>
                  <a:fillRect b="-46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3">
                <a:extLst>
                  <a:ext uri="{FF2B5EF4-FFF2-40B4-BE49-F238E27FC236}">
                    <a16:creationId xmlns:a16="http://schemas.microsoft.com/office/drawing/2014/main" id="{01403CAF-F0A4-57F4-2C98-6D6789379B80}"/>
                  </a:ext>
                </a:extLst>
              </p:cNvPr>
              <p:cNvSpPr txBox="1"/>
              <p:nvPr/>
            </p:nvSpPr>
            <p:spPr bwMode="auto">
              <a:xfrm>
                <a:off x="3227388" y="682625"/>
                <a:ext cx="5954712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=24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−2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23">
                <a:extLst>
                  <a:ext uri="{FF2B5EF4-FFF2-40B4-BE49-F238E27FC236}">
                    <a16:creationId xmlns:a16="http://schemas.microsoft.com/office/drawing/2014/main" id="{01403CAF-F0A4-57F4-2C98-6D6789379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7388" y="682625"/>
                <a:ext cx="5954712" cy="457200"/>
              </a:xfrm>
              <a:prstGeom prst="rect">
                <a:avLst/>
              </a:prstGeom>
              <a:blipFill>
                <a:blip r:embed="rId17"/>
                <a:stretch>
                  <a:fillRect l="-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utoShape 25">
            <a:extLst>
              <a:ext uri="{FF2B5EF4-FFF2-40B4-BE49-F238E27FC236}">
                <a16:creationId xmlns:a16="http://schemas.microsoft.com/office/drawing/2014/main" id="{D0B7AABE-09A9-00FC-21F1-42A72B616C6C}"/>
              </a:ext>
            </a:extLst>
          </p:cNvPr>
          <p:cNvSpPr>
            <a:spLocks/>
          </p:cNvSpPr>
          <p:nvPr/>
        </p:nvSpPr>
        <p:spPr bwMode="auto">
          <a:xfrm>
            <a:off x="2705100" y="1509713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200" dirty="0">
              <a:latin typeface="Cabin Medium" panose="000006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0" name="AutoShape 26">
            <a:extLst>
              <a:ext uri="{FF2B5EF4-FFF2-40B4-BE49-F238E27FC236}">
                <a16:creationId xmlns:a16="http://schemas.microsoft.com/office/drawing/2014/main" id="{90FA539A-9A64-13A9-88A5-22B0C776CA8F}"/>
              </a:ext>
            </a:extLst>
          </p:cNvPr>
          <p:cNvSpPr>
            <a:spLocks/>
          </p:cNvSpPr>
          <p:nvPr/>
        </p:nvSpPr>
        <p:spPr bwMode="auto">
          <a:xfrm>
            <a:off x="3390900" y="3338513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200" dirty="0">
              <a:latin typeface="Cabin Medium" panose="00000600000000000000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7">
                <a:extLst>
                  <a:ext uri="{FF2B5EF4-FFF2-40B4-BE49-F238E27FC236}">
                    <a16:creationId xmlns:a16="http://schemas.microsoft.com/office/drawing/2014/main" id="{4237A330-F724-8027-D107-3CF94AC6F3F9}"/>
                  </a:ext>
                </a:extLst>
              </p:cNvPr>
              <p:cNvSpPr txBox="1"/>
              <p:nvPr/>
            </p:nvSpPr>
            <p:spPr bwMode="auto">
              <a:xfrm>
                <a:off x="3549650" y="3236913"/>
                <a:ext cx="3182938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12−2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27">
                <a:extLst>
                  <a:ext uri="{FF2B5EF4-FFF2-40B4-BE49-F238E27FC236}">
                    <a16:creationId xmlns:a16="http://schemas.microsoft.com/office/drawing/2014/main" id="{4237A330-F724-8027-D107-3CF94AC6F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9650" y="3236913"/>
                <a:ext cx="3182938" cy="488950"/>
              </a:xfrm>
              <a:prstGeom prst="rect">
                <a:avLst/>
              </a:prstGeom>
              <a:blipFill>
                <a:blip r:embed="rId18"/>
                <a:stretch>
                  <a:fillRect l="-1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28">
                <a:extLst>
                  <a:ext uri="{FF2B5EF4-FFF2-40B4-BE49-F238E27FC236}">
                    <a16:creationId xmlns:a16="http://schemas.microsoft.com/office/drawing/2014/main" id="{1A52A0E9-B0E9-1B44-3DAE-DB25449A262D}"/>
                  </a:ext>
                </a:extLst>
              </p:cNvPr>
              <p:cNvSpPr txBox="1"/>
              <p:nvPr/>
            </p:nvSpPr>
            <p:spPr bwMode="auto">
              <a:xfrm>
                <a:off x="3549651" y="3905251"/>
                <a:ext cx="6450013" cy="549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24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sin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28">
                <a:extLst>
                  <a:ext uri="{FF2B5EF4-FFF2-40B4-BE49-F238E27FC236}">
                    <a16:creationId xmlns:a16="http://schemas.microsoft.com/office/drawing/2014/main" id="{1A52A0E9-B0E9-1B44-3DAE-DB25449A2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9651" y="3905251"/>
                <a:ext cx="6450013" cy="549275"/>
              </a:xfrm>
              <a:prstGeom prst="rect">
                <a:avLst/>
              </a:prstGeom>
              <a:blipFill>
                <a:blip r:embed="rId19"/>
                <a:stretch>
                  <a:fillRect l="-9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29">
                <a:extLst>
                  <a:ext uri="{FF2B5EF4-FFF2-40B4-BE49-F238E27FC236}">
                    <a16:creationId xmlns:a16="http://schemas.microsoft.com/office/drawing/2014/main" id="{D21B7FBA-0B95-89DA-574E-132CCC0D4B1A}"/>
                  </a:ext>
                </a:extLst>
              </p:cNvPr>
              <p:cNvSpPr txBox="1"/>
              <p:nvPr/>
            </p:nvSpPr>
            <p:spPr bwMode="auto">
              <a:xfrm>
                <a:off x="3406775" y="4422776"/>
                <a:ext cx="3727450" cy="7293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𝛼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π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=6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∘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=8 (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cm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29">
                <a:extLst>
                  <a:ext uri="{FF2B5EF4-FFF2-40B4-BE49-F238E27FC236}">
                    <a16:creationId xmlns:a16="http://schemas.microsoft.com/office/drawing/2014/main" id="{D21B7FBA-0B95-89DA-574E-132CCC0D4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6775" y="4422776"/>
                <a:ext cx="3727450" cy="72933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ine 30">
            <a:extLst>
              <a:ext uri="{FF2B5EF4-FFF2-40B4-BE49-F238E27FC236}">
                <a16:creationId xmlns:a16="http://schemas.microsoft.com/office/drawing/2014/main" id="{D94D82FA-5B2C-8E25-F4D8-597E325A7C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1174" y="1212850"/>
            <a:ext cx="8658225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200" dirty="0">
              <a:latin typeface="Cabin Medium" panose="000006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5" name="AutoShape 31">
            <a:extLst>
              <a:ext uri="{FF2B5EF4-FFF2-40B4-BE49-F238E27FC236}">
                <a16:creationId xmlns:a16="http://schemas.microsoft.com/office/drawing/2014/main" id="{4AD25388-BE82-5CB3-3DA7-57BA260F0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9" y="2540000"/>
            <a:ext cx="358775" cy="649288"/>
          </a:xfrm>
          <a:prstGeom prst="downArrow">
            <a:avLst>
              <a:gd name="adj1" fmla="val 50000"/>
              <a:gd name="adj2" fmla="val 45243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200" dirty="0">
              <a:latin typeface="Cabin Medium" panose="000006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99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457028B0-260F-CC27-3127-680B29CC8065}"/>
              </a:ext>
            </a:extLst>
          </p:cNvPr>
          <p:cNvGrpSpPr/>
          <p:nvPr/>
        </p:nvGrpSpPr>
        <p:grpSpPr>
          <a:xfrm>
            <a:off x="1068616" y="2208439"/>
            <a:ext cx="10186875" cy="3334223"/>
            <a:chOff x="1649" y="2344"/>
            <a:chExt cx="16405" cy="5471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29C8ADA-6445-C122-F8D5-1B94CB39634E}"/>
                </a:ext>
              </a:extLst>
            </p:cNvPr>
            <p:cNvSpPr/>
            <p:nvPr/>
          </p:nvSpPr>
          <p:spPr>
            <a:xfrm>
              <a:off x="1821" y="2499"/>
              <a:ext cx="16233" cy="53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0D8F5FC-C65B-CFAE-4188-C57DF5138E8A}"/>
                </a:ext>
              </a:extLst>
            </p:cNvPr>
            <p:cNvSpPr/>
            <p:nvPr/>
          </p:nvSpPr>
          <p:spPr>
            <a:xfrm>
              <a:off x="1649" y="2344"/>
              <a:ext cx="16233" cy="53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spcBef>
                  <a:spcPct val="50000"/>
                </a:spcBef>
              </a:pPr>
              <a:endPara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</p:txBody>
        </p:sp>
      </p:grpSp>
      <p:sp>
        <p:nvSpPr>
          <p:cNvPr id="10" name="标题 1">
            <a:extLst>
              <a:ext uri="{FF2B5EF4-FFF2-40B4-BE49-F238E27FC236}">
                <a16:creationId xmlns:a16="http://schemas.microsoft.com/office/drawing/2014/main" id="{04799A4E-869B-2FE8-B23E-4C2ABAA24FEC}"/>
              </a:ext>
            </a:extLst>
          </p:cNvPr>
          <p:cNvSpPr txBox="1">
            <a:spLocks/>
          </p:cNvSpPr>
          <p:nvPr/>
        </p:nvSpPr>
        <p:spPr>
          <a:xfrm>
            <a:off x="1002290" y="1324576"/>
            <a:ext cx="5857875" cy="6731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三、条件极值</a:t>
            </a:r>
          </a:p>
        </p:txBody>
      </p:sp>
      <p:sp>
        <p:nvSpPr>
          <p:cNvPr id="2" name="Text Box 67">
            <a:extLst>
              <a:ext uri="{FF2B5EF4-FFF2-40B4-BE49-F238E27FC236}">
                <a16:creationId xmlns:a16="http://schemas.microsoft.com/office/drawing/2014/main" id="{6CEF6439-088B-C99F-732F-8CCDEF4E5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9544" y="3031801"/>
            <a:ext cx="615553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000000"/>
                </a:solidFill>
                <a:latin typeface="Cabin Medium" panose="00000600000000000000" pitchFamily="2" charset="0"/>
              </a:rPr>
              <a:t>极值问题</a:t>
            </a:r>
          </a:p>
        </p:txBody>
      </p:sp>
      <p:sp>
        <p:nvSpPr>
          <p:cNvPr id="3" name="AutoShape 68">
            <a:extLst>
              <a:ext uri="{FF2B5EF4-FFF2-40B4-BE49-F238E27FC236}">
                <a16:creationId xmlns:a16="http://schemas.microsoft.com/office/drawing/2014/main" id="{96885F11-6A5F-6F56-AD72-689A445D37F8}"/>
              </a:ext>
            </a:extLst>
          </p:cNvPr>
          <p:cNvSpPr>
            <a:spLocks/>
          </p:cNvSpPr>
          <p:nvPr/>
        </p:nvSpPr>
        <p:spPr bwMode="auto">
          <a:xfrm>
            <a:off x="2297690" y="2772960"/>
            <a:ext cx="209136" cy="2136531"/>
          </a:xfrm>
          <a:prstGeom prst="leftBrace">
            <a:avLst>
              <a:gd name="adj1" fmla="val 72026"/>
              <a:gd name="adj2" fmla="val 5131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solidFill>
                <a:srgbClr val="000000"/>
              </a:solidFill>
              <a:latin typeface="Cabin Medium" panose="000006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69">
                <a:extLst>
                  <a:ext uri="{FF2B5EF4-FFF2-40B4-BE49-F238E27FC236}">
                    <a16:creationId xmlns:a16="http://schemas.microsoft.com/office/drawing/2014/main" id="{9EE5CF05-A55E-D2E5-3C29-A7D2C36AD4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6826" y="2683206"/>
                <a:ext cx="6705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无条件极值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800" b="1" dirty="0">
                        <a:solidFill>
                          <a:srgbClr val="04926A"/>
                        </a:solidFill>
                        <a:latin typeface="Cabin Medium" panose="00000600000000000000" pitchFamily="2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lang="zh-CN" altLang="en-US" sz="2800" b="1" dirty="0">
                  <a:solidFill>
                    <a:srgbClr val="04926A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Text Box 69">
                <a:extLst>
                  <a:ext uri="{FF2B5EF4-FFF2-40B4-BE49-F238E27FC236}">
                    <a16:creationId xmlns:a16="http://schemas.microsoft.com/office/drawing/2014/main" id="{9EE5CF05-A55E-D2E5-3C29-A7D2C36AD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6826" y="2683206"/>
                <a:ext cx="6705600" cy="523220"/>
              </a:xfrm>
              <a:prstGeom prst="rect">
                <a:avLst/>
              </a:prstGeom>
              <a:blipFill>
                <a:blip r:embed="rId3"/>
                <a:stretch>
                  <a:fillRect l="-1818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70">
                <a:extLst>
                  <a:ext uri="{FF2B5EF4-FFF2-40B4-BE49-F238E27FC236}">
                    <a16:creationId xmlns:a16="http://schemas.microsoft.com/office/drawing/2014/main" id="{6B6FAA34-1681-3BB6-AF83-FE2B633797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6826" y="3870001"/>
                <a:ext cx="195528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条件极值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800" b="1" dirty="0">
                        <a:solidFill>
                          <a:srgbClr val="04926A"/>
                        </a:solidFill>
                        <a:latin typeface="Cabin Medium" panose="00000600000000000000" pitchFamily="2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lang="zh-CN" altLang="en-US" sz="2800" b="1" dirty="0">
                  <a:solidFill>
                    <a:srgbClr val="04926A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Text Box 70">
                <a:extLst>
                  <a:ext uri="{FF2B5EF4-FFF2-40B4-BE49-F238E27FC236}">
                    <a16:creationId xmlns:a16="http://schemas.microsoft.com/office/drawing/2014/main" id="{6B6FAA34-1681-3BB6-AF83-FE2B63379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6826" y="3870001"/>
                <a:ext cx="1955281" cy="523220"/>
              </a:xfrm>
              <a:prstGeom prst="rect">
                <a:avLst/>
              </a:prstGeom>
              <a:blipFill>
                <a:blip r:embed="rId4"/>
                <a:stretch>
                  <a:fillRect l="-6231" t="-17442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4A1FB50-922E-88BA-5D0D-D3A917861AC8}"/>
                  </a:ext>
                </a:extLst>
              </p:cNvPr>
              <p:cNvSpPr txBox="1"/>
              <p:nvPr/>
            </p:nvSpPr>
            <p:spPr bwMode="auto">
              <a:xfrm>
                <a:off x="2506826" y="4446591"/>
                <a:ext cx="723467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latin typeface="Cabin Medium" panose="00000600000000000000" pitchFamily="2" charset="0"/>
                    <a:ea typeface="黑体" panose="02010609060101010101" pitchFamily="49" charset="-122"/>
                  </a:rPr>
                  <a:t>对自变量除定义域限制外</a:t>
                </a:r>
                <a14:m>
                  <m:oMath xmlns:m="http://schemas.openxmlformats.org/officeDocument/2006/math">
                    <m:r>
                      <a:rPr kumimoji="1" lang="en-US" altLang="zh-CN" sz="280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lang="zh-CN" altLang="en-US" sz="2800" dirty="0">
                    <a:latin typeface="Cabin Medium" panose="00000600000000000000" pitchFamily="2" charset="0"/>
                    <a:ea typeface="黑体" panose="02010609060101010101" pitchFamily="49" charset="-122"/>
                  </a:rPr>
                  <a:t> 还有其他限制条件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.</m:t>
                    </m:r>
                  </m:oMath>
                </a14:m>
                <a:endParaRPr lang="zh-CN" altLang="en-US" sz="28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4A1FB50-922E-88BA-5D0D-D3A917861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6826" y="4446591"/>
                <a:ext cx="7234673" cy="523220"/>
              </a:xfrm>
              <a:prstGeom prst="rect">
                <a:avLst/>
              </a:prstGeom>
              <a:blipFill>
                <a:blip r:embed="rId5"/>
                <a:stretch>
                  <a:fillRect l="-1685" t="-16279" b="-267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02714E9-C153-5D3C-C457-BB9AF35AA375}"/>
                  </a:ext>
                </a:extLst>
              </p:cNvPr>
              <p:cNvSpPr txBox="1"/>
              <p:nvPr/>
            </p:nvSpPr>
            <p:spPr bwMode="auto">
              <a:xfrm>
                <a:off x="2506826" y="3243515"/>
                <a:ext cx="420820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latin typeface="Cabin Medium" panose="00000600000000000000" pitchFamily="2" charset="0"/>
                    <a:ea typeface="黑体" panose="02010609060101010101" pitchFamily="49" charset="-122"/>
                  </a:rPr>
                  <a:t>对自变量只有定义域限制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.</m:t>
                    </m:r>
                  </m:oMath>
                </a14:m>
                <a:endParaRPr lang="zh-CN" altLang="en-US" sz="28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02714E9-C153-5D3C-C457-BB9AF35AA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6826" y="3243515"/>
                <a:ext cx="4208203" cy="523220"/>
              </a:xfrm>
              <a:prstGeom prst="rect">
                <a:avLst/>
              </a:prstGeom>
              <a:blipFill>
                <a:blip r:embed="rId6"/>
                <a:stretch>
                  <a:fillRect l="-2894" t="-16279" r="-289" b="-267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24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4" grpId="0"/>
      <p:bldP spid="5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614681AC-0B55-6A19-EC3C-4064BDBE99EE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23" name="PA-102232">
              <a:extLst>
                <a:ext uri="{FF2B5EF4-FFF2-40B4-BE49-F238E27FC236}">
                  <a16:creationId xmlns:a16="http://schemas.microsoft.com/office/drawing/2014/main" id="{88FBD473-F17C-FD23-36B5-97EC8BDB1E8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C9C46D28-007C-C9C6-A3E2-671882BD03B3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6" name="Rectangle 1">
                <a:extLst>
                  <a:ext uri="{FF2B5EF4-FFF2-40B4-BE49-F238E27FC236}">
                    <a16:creationId xmlns:a16="http://schemas.microsoft.com/office/drawing/2014/main" id="{0F68FB16-B853-DB91-1DF9-3A3901371716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Rectangle 1">
                <a:extLst>
                  <a:ext uri="{FF2B5EF4-FFF2-40B4-BE49-F238E27FC236}">
                    <a16:creationId xmlns:a16="http://schemas.microsoft.com/office/drawing/2014/main" id="{DA953E7C-6DD9-DC6E-3110-88FF46301115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Rectangle 1">
                <a:extLst>
                  <a:ext uri="{FF2B5EF4-FFF2-40B4-BE49-F238E27FC236}">
                    <a16:creationId xmlns:a16="http://schemas.microsoft.com/office/drawing/2014/main" id="{35DC51D9-DF18-4F90-28F3-C5C519281E14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 Box 21">
            <a:extLst>
              <a:ext uri="{FF2B5EF4-FFF2-40B4-BE49-F238E27FC236}">
                <a16:creationId xmlns:a16="http://schemas.microsoft.com/office/drawing/2014/main" id="{42284D25-863C-C928-2E85-86E4C9DA3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000" y="1179309"/>
            <a:ext cx="4114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条件极值的求解方法</a:t>
            </a:r>
          </a:p>
        </p:txBody>
      </p:sp>
      <p:sp>
        <p:nvSpPr>
          <p:cNvPr id="3" name="Text Box 23">
            <a:extLst>
              <a:ext uri="{FF2B5EF4-FFF2-40B4-BE49-F238E27FC236}">
                <a16:creationId xmlns:a16="http://schemas.microsoft.com/office/drawing/2014/main" id="{788ED25C-145D-623B-B821-1F1301BB6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000" y="1865109"/>
            <a:ext cx="4343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方法</a:t>
            </a:r>
            <a:r>
              <a:rPr lang="en-US" altLang="zh-CN" sz="2800" b="1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1  </a:t>
            </a:r>
            <a:r>
              <a:rPr lang="zh-CN" altLang="en-US" sz="2800" dirty="0">
                <a:latin typeface="Cabin Medium" panose="00000600000000000000" pitchFamily="2" charset="0"/>
                <a:ea typeface="黑体" panose="02010609060101010101" pitchFamily="49" charset="-122"/>
              </a:rPr>
              <a:t>转化为无条件极值</a:t>
            </a:r>
          </a:p>
        </p:txBody>
      </p:sp>
      <p:sp>
        <p:nvSpPr>
          <p:cNvPr id="4" name="Text Box 19">
            <a:extLst>
              <a:ext uri="{FF2B5EF4-FFF2-40B4-BE49-F238E27FC236}">
                <a16:creationId xmlns:a16="http://schemas.microsoft.com/office/drawing/2014/main" id="{C313D325-FAC8-1F2C-A666-278874957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852" y="4213022"/>
            <a:ext cx="24384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求一元函数</a:t>
            </a:r>
          </a:p>
        </p:txBody>
      </p:sp>
      <p:sp>
        <p:nvSpPr>
          <p:cNvPr id="5" name="Text Box 31">
            <a:extLst>
              <a:ext uri="{FF2B5EF4-FFF2-40B4-BE49-F238E27FC236}">
                <a16:creationId xmlns:a16="http://schemas.microsoft.com/office/drawing/2014/main" id="{213DDECD-03FE-5347-551A-E64260137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160" y="4226059"/>
            <a:ext cx="3124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的无条件极值问题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.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7" name="Group 136">
            <a:extLst>
              <a:ext uri="{FF2B5EF4-FFF2-40B4-BE49-F238E27FC236}">
                <a16:creationId xmlns:a16="http://schemas.microsoft.com/office/drawing/2014/main" id="{17681140-2B46-FB87-81A8-09A2173E833E}"/>
              </a:ext>
            </a:extLst>
          </p:cNvPr>
          <p:cNvGrpSpPr>
            <a:grpSpLocks/>
          </p:cNvGrpSpPr>
          <p:nvPr/>
        </p:nvGrpSpPr>
        <p:grpSpPr bwMode="auto">
          <a:xfrm>
            <a:off x="4625803" y="3146221"/>
            <a:ext cx="673100" cy="990600"/>
            <a:chOff x="1256" y="2976"/>
            <a:chExt cx="424" cy="624"/>
          </a:xfrm>
        </p:grpSpPr>
        <p:sp>
          <p:nvSpPr>
            <p:cNvPr id="8" name="AutoShape 137">
              <a:extLst>
                <a:ext uri="{FF2B5EF4-FFF2-40B4-BE49-F238E27FC236}">
                  <a16:creationId xmlns:a16="http://schemas.microsoft.com/office/drawing/2014/main" id="{366A4760-F1CA-B7CB-5BF1-735085701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976"/>
              <a:ext cx="48" cy="624"/>
            </a:xfrm>
            <a:prstGeom prst="downArrow">
              <a:avLst>
                <a:gd name="adj1" fmla="val 50000"/>
                <a:gd name="adj2" fmla="val 325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" name="Text Box 138">
              <a:extLst>
                <a:ext uri="{FF2B5EF4-FFF2-40B4-BE49-F238E27FC236}">
                  <a16:creationId xmlns:a16="http://schemas.microsoft.com/office/drawing/2014/main" id="{D435D110-9C65-F7EC-6223-8E564B39B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6" y="3031"/>
              <a:ext cx="330" cy="4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rPr>
                <a:t>转化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40">
                <a:extLst>
                  <a:ext uri="{FF2B5EF4-FFF2-40B4-BE49-F238E27FC236}">
                    <a16:creationId xmlns:a16="http://schemas.microsoft.com/office/drawing/2014/main" id="{F3724181-8645-FA98-A169-1D44F02B4888}"/>
                  </a:ext>
                </a:extLst>
              </p:cNvPr>
              <p:cNvSpPr txBox="1"/>
              <p:nvPr/>
            </p:nvSpPr>
            <p:spPr bwMode="auto">
              <a:xfrm>
                <a:off x="3484852" y="2544698"/>
                <a:ext cx="3453912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在条件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下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Object 140">
                <a:extLst>
                  <a:ext uri="{FF2B5EF4-FFF2-40B4-BE49-F238E27FC236}">
                    <a16:creationId xmlns:a16="http://schemas.microsoft.com/office/drawing/2014/main" id="{F3724181-8645-FA98-A169-1D44F02B4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4852" y="2544698"/>
                <a:ext cx="3453912" cy="444500"/>
              </a:xfrm>
              <a:prstGeom prst="rect">
                <a:avLst/>
              </a:prstGeom>
              <a:blipFill>
                <a:blip r:embed="rId4"/>
                <a:stretch>
                  <a:fillRect l="-1413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41">
                <a:extLst>
                  <a:ext uri="{FF2B5EF4-FFF2-40B4-BE49-F238E27FC236}">
                    <a16:creationId xmlns:a16="http://schemas.microsoft.com/office/drawing/2014/main" id="{E349C628-6C23-5756-8867-E4734E47EB76}"/>
                  </a:ext>
                </a:extLst>
              </p:cNvPr>
              <p:cNvSpPr txBox="1"/>
              <p:nvPr/>
            </p:nvSpPr>
            <p:spPr bwMode="auto">
              <a:xfrm>
                <a:off x="6140374" y="2537556"/>
                <a:ext cx="4603464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求函数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的极值</m:t>
                      </m:r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Object 141">
                <a:extLst>
                  <a:ext uri="{FF2B5EF4-FFF2-40B4-BE49-F238E27FC236}">
                    <a16:creationId xmlns:a16="http://schemas.microsoft.com/office/drawing/2014/main" id="{E349C628-6C23-5756-8867-E4734E47E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0374" y="2537556"/>
                <a:ext cx="4603464" cy="431800"/>
              </a:xfrm>
              <a:prstGeom prst="rect">
                <a:avLst/>
              </a:prstGeom>
              <a:blipFill>
                <a:blip r:embed="rId5"/>
                <a:stretch>
                  <a:fillRect l="-1060" b="-183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43">
                <a:extLst>
                  <a:ext uri="{FF2B5EF4-FFF2-40B4-BE49-F238E27FC236}">
                    <a16:creationId xmlns:a16="http://schemas.microsoft.com/office/drawing/2014/main" id="{EFF05810-6BD4-9452-5ECD-602D65756EE6}"/>
                  </a:ext>
                </a:extLst>
              </p:cNvPr>
              <p:cNvSpPr txBox="1"/>
              <p:nvPr/>
            </p:nvSpPr>
            <p:spPr bwMode="auto">
              <a:xfrm>
                <a:off x="4953323" y="4216379"/>
                <a:ext cx="2438400" cy="5159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Object 143">
                <a:extLst>
                  <a:ext uri="{FF2B5EF4-FFF2-40B4-BE49-F238E27FC236}">
                    <a16:creationId xmlns:a16="http://schemas.microsoft.com/office/drawing/2014/main" id="{EFF05810-6BD4-9452-5ECD-602D65756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323" y="4216379"/>
                <a:ext cx="2438400" cy="515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28">
                <a:extLst>
                  <a:ext uri="{FF2B5EF4-FFF2-40B4-BE49-F238E27FC236}">
                    <a16:creationId xmlns:a16="http://schemas.microsoft.com/office/drawing/2014/main" id="{CE2B6EEA-609D-4556-5D50-FD62993400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9137" y="4835940"/>
                <a:ext cx="10287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200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难点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</a:rPr>
                      <m:t>:</m:t>
                    </m:r>
                  </m:oMath>
                </a14:m>
                <a:endParaRPr lang="zh-CN" altLang="en-US" sz="2200" b="0" dirty="0">
                  <a:solidFill>
                    <a:srgbClr val="000000"/>
                  </a:solidFill>
                  <a:latin typeface="Cabin Medium" panose="00000600000000000000" pitchFamily="2" charset="0"/>
                </a:endParaRPr>
              </a:p>
            </p:txBody>
          </p:sp>
        </mc:Choice>
        <mc:Fallback xmlns="">
          <p:sp>
            <p:nvSpPr>
              <p:cNvPr id="14" name="Text Box 28">
                <a:extLst>
                  <a:ext uri="{FF2B5EF4-FFF2-40B4-BE49-F238E27FC236}">
                    <a16:creationId xmlns:a16="http://schemas.microsoft.com/office/drawing/2014/main" id="{CE2B6EEA-609D-4556-5D50-FD6299340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9137" y="4835940"/>
                <a:ext cx="1028700" cy="461665"/>
              </a:xfrm>
              <a:prstGeom prst="rect">
                <a:avLst/>
              </a:prstGeom>
              <a:blipFill>
                <a:blip r:embed="rId7"/>
                <a:stretch>
                  <a:fillRect l="-7738" t="-7895" b="-1973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>
            <a:extLst>
              <a:ext uri="{FF2B5EF4-FFF2-40B4-BE49-F238E27FC236}">
                <a16:creationId xmlns:a16="http://schemas.microsoft.com/office/drawing/2014/main" id="{32A89ED4-51B8-CB81-F2A0-F7E37E9C05E6}"/>
              </a:ext>
            </a:extLst>
          </p:cNvPr>
          <p:cNvGrpSpPr/>
          <p:nvPr/>
        </p:nvGrpSpPr>
        <p:grpSpPr>
          <a:xfrm>
            <a:off x="2517112" y="2543288"/>
            <a:ext cx="962025" cy="448945"/>
            <a:chOff x="1553" y="3803"/>
            <a:chExt cx="1515" cy="707"/>
          </a:xfrm>
        </p:grpSpPr>
        <p:sp>
          <p:nvSpPr>
            <p:cNvPr id="17" name="圆角矩形 57">
              <a:extLst>
                <a:ext uri="{FF2B5EF4-FFF2-40B4-BE49-F238E27FC236}">
                  <a16:creationId xmlns:a16="http://schemas.microsoft.com/office/drawing/2014/main" id="{B748688B-2EE4-628C-353A-DA446A53F51F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28">
              <a:extLst>
                <a:ext uri="{FF2B5EF4-FFF2-40B4-BE49-F238E27FC236}">
                  <a16:creationId xmlns:a16="http://schemas.microsoft.com/office/drawing/2014/main" id="{E22B4782-21D5-EE46-B5CF-0B0D224F1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40">
                <a:extLst>
                  <a:ext uri="{FF2B5EF4-FFF2-40B4-BE49-F238E27FC236}">
                    <a16:creationId xmlns:a16="http://schemas.microsoft.com/office/drawing/2014/main" id="{8FDD6627-5D62-E3ED-3CA3-9C247BF22AAA}"/>
                  </a:ext>
                </a:extLst>
              </p:cNvPr>
              <p:cNvSpPr txBox="1"/>
              <p:nvPr/>
            </p:nvSpPr>
            <p:spPr bwMode="auto">
              <a:xfrm>
                <a:off x="5371926" y="3324816"/>
                <a:ext cx="574787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从条件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中解出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Object 140">
                <a:extLst>
                  <a:ext uri="{FF2B5EF4-FFF2-40B4-BE49-F238E27FC236}">
                    <a16:creationId xmlns:a16="http://schemas.microsoft.com/office/drawing/2014/main" id="{8FDD6627-5D62-E3ED-3CA3-9C247BF22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1926" y="3324816"/>
                <a:ext cx="5747870" cy="444500"/>
              </a:xfrm>
              <a:prstGeom prst="rect">
                <a:avLst/>
              </a:prstGeom>
              <a:blipFill>
                <a:blip r:embed="rId8"/>
                <a:stretch>
                  <a:fillRect l="-742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40">
                <a:extLst>
                  <a:ext uri="{FF2B5EF4-FFF2-40B4-BE49-F238E27FC236}">
                    <a16:creationId xmlns:a16="http://schemas.microsoft.com/office/drawing/2014/main" id="{3650488D-5376-DCA0-F17D-5318FD0817B3}"/>
                  </a:ext>
                </a:extLst>
              </p:cNvPr>
              <p:cNvSpPr txBox="1"/>
              <p:nvPr/>
            </p:nvSpPr>
            <p:spPr bwMode="auto">
              <a:xfrm>
                <a:off x="4261043" y="4864744"/>
                <a:ext cx="6966682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从条件</m:t>
                      </m:r>
                      <m: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d>
                      <m: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  <m: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可能不能解出</m:t>
                      </m:r>
                      <m: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𝜓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140">
                <a:extLst>
                  <a:ext uri="{FF2B5EF4-FFF2-40B4-BE49-F238E27FC236}">
                    <a16:creationId xmlns:a16="http://schemas.microsoft.com/office/drawing/2014/main" id="{3650488D-5376-DCA0-F17D-5318FD081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1043" y="4864744"/>
                <a:ext cx="6966682" cy="444500"/>
              </a:xfrm>
              <a:prstGeom prst="rect">
                <a:avLst/>
              </a:prstGeom>
              <a:blipFill>
                <a:blip r:embed="rId9"/>
                <a:stretch>
                  <a:fillRect l="-612" b="-136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79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0" grpId="0"/>
      <p:bldP spid="11" grpId="0"/>
      <p:bldP spid="13" grpId="0"/>
      <p:bldP spid="14" grpId="0"/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026">
                <a:extLst>
                  <a:ext uri="{FF2B5EF4-FFF2-40B4-BE49-F238E27FC236}">
                    <a16:creationId xmlns:a16="http://schemas.microsoft.com/office/drawing/2014/main" id="{E6FB4160-BDDE-1FC7-012B-C7850072307F}"/>
                  </a:ext>
                </a:extLst>
              </p:cNvPr>
              <p:cNvSpPr txBox="1"/>
              <p:nvPr/>
            </p:nvSpPr>
            <p:spPr bwMode="auto">
              <a:xfrm>
                <a:off x="2626892" y="1257208"/>
                <a:ext cx="3514725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在条件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下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1026">
                <a:extLst>
                  <a:ext uri="{FF2B5EF4-FFF2-40B4-BE49-F238E27FC236}">
                    <a16:creationId xmlns:a16="http://schemas.microsoft.com/office/drawing/2014/main" id="{E6FB4160-BDDE-1FC7-012B-C78500723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6892" y="1257208"/>
                <a:ext cx="3514725" cy="444500"/>
              </a:xfrm>
              <a:prstGeom prst="rect">
                <a:avLst/>
              </a:prstGeom>
              <a:blipFill>
                <a:blip r:embed="rId3"/>
                <a:stretch>
                  <a:fillRect l="-1215" b="-136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1027">
            <a:extLst>
              <a:ext uri="{FF2B5EF4-FFF2-40B4-BE49-F238E27FC236}">
                <a16:creationId xmlns:a16="http://schemas.microsoft.com/office/drawing/2014/main" id="{AF4C1F62-2B93-06AD-D727-76DBFB953877}"/>
              </a:ext>
            </a:extLst>
          </p:cNvPr>
          <p:cNvSpPr txBox="1">
            <a:spLocks noChangeArrowheads="1"/>
          </p:cNvSpPr>
          <p:nvPr/>
        </p:nvSpPr>
        <p:spPr>
          <a:xfrm>
            <a:off x="1558089" y="555624"/>
            <a:ext cx="42672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方法</a:t>
            </a:r>
            <a:r>
              <a:rPr lang="en-US" altLang="zh-CN" sz="2800" b="1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2   </a:t>
            </a:r>
            <a:r>
              <a:rPr lang="zh-CN" altLang="en-US" sz="2800" dirty="0"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拉格朗日乘数法</a:t>
            </a:r>
            <a:r>
              <a:rPr lang="en-US" altLang="zh-CN" sz="2800" dirty="0"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028">
                <a:extLst>
                  <a:ext uri="{FF2B5EF4-FFF2-40B4-BE49-F238E27FC236}">
                    <a16:creationId xmlns:a16="http://schemas.microsoft.com/office/drawing/2014/main" id="{B024B9A2-5A71-93F3-A772-5E1B0739E0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6639" y="1947309"/>
                <a:ext cx="2039687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200" dirty="0">
                    <a:latin typeface="Cabin Medium" panose="00000600000000000000" pitchFamily="2" charset="0"/>
                    <a:ea typeface="黑体" panose="02010609060101010101" pitchFamily="49" charset="-122"/>
                  </a:rPr>
                  <a:t>如方法 </a:t>
                </a:r>
                <a:r>
                  <a:rPr lang="en-US" altLang="zh-CN" sz="2200" dirty="0">
                    <a:latin typeface="Cabin Medium" panose="00000600000000000000" pitchFamily="2" charset="0"/>
                    <a:ea typeface="黑体" panose="02010609060101010101" pitchFamily="49" charset="-122"/>
                  </a:rPr>
                  <a:t>1 </a:t>
                </a:r>
                <a:r>
                  <a:rPr lang="zh-CN" altLang="en-US" sz="2200" dirty="0">
                    <a:latin typeface="Cabin Medium" panose="00000600000000000000" pitchFamily="2" charset="0"/>
                    <a:ea typeface="黑体" panose="02010609060101010101" pitchFamily="49" charset="-122"/>
                  </a:rPr>
                  <a:t>所述</a:t>
                </a:r>
                <a14:m>
                  <m:oMath xmlns:m="http://schemas.openxmlformats.org/officeDocument/2006/math"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lang="en-US" altLang="zh-CN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Text Box 1028">
                <a:extLst>
                  <a:ext uri="{FF2B5EF4-FFF2-40B4-BE49-F238E27FC236}">
                    <a16:creationId xmlns:a16="http://schemas.microsoft.com/office/drawing/2014/main" id="{B024B9A2-5A71-93F3-A772-5E1B0739E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6639" y="1947309"/>
                <a:ext cx="2039687" cy="430887"/>
              </a:xfrm>
              <a:prstGeom prst="rect">
                <a:avLst/>
              </a:prstGeom>
              <a:blipFill>
                <a:blip r:embed="rId4"/>
                <a:stretch>
                  <a:fillRect l="-3892" t="-14085" b="-295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1029">
            <a:extLst>
              <a:ext uri="{FF2B5EF4-FFF2-40B4-BE49-F238E27FC236}">
                <a16:creationId xmlns:a16="http://schemas.microsoft.com/office/drawing/2014/main" id="{3212D1A9-20EB-B5FA-F10F-B494BC3EE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7589" y="2587742"/>
            <a:ext cx="4191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Cabin Medium" panose="00000600000000000000" pitchFamily="2" charset="0"/>
                <a:ea typeface="黑体" panose="02010609060101010101" pitchFamily="49" charset="-122"/>
              </a:rPr>
              <a:t>则问题等价于一元函数</a:t>
            </a:r>
          </a:p>
        </p:txBody>
      </p:sp>
      <p:sp>
        <p:nvSpPr>
          <p:cNvPr id="6" name="Text Box 1037">
            <a:extLst>
              <a:ext uri="{FF2B5EF4-FFF2-40B4-BE49-F238E27FC236}">
                <a16:creationId xmlns:a16="http://schemas.microsoft.com/office/drawing/2014/main" id="{A03BE349-7B4B-8BBD-99DF-8A68E63D6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9625" y="1934421"/>
            <a:ext cx="194310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Cabin Medium" panose="00000600000000000000" pitchFamily="2" charset="0"/>
                <a:ea typeface="黑体" panose="02010609060101010101" pitchFamily="49" charset="-122"/>
              </a:rPr>
              <a:t>可确定隐函数</a:t>
            </a:r>
          </a:p>
        </p:txBody>
      </p:sp>
      <p:sp>
        <p:nvSpPr>
          <p:cNvPr id="7" name="Text Box 1038">
            <a:extLst>
              <a:ext uri="{FF2B5EF4-FFF2-40B4-BE49-F238E27FC236}">
                <a16:creationId xmlns:a16="http://schemas.microsoft.com/office/drawing/2014/main" id="{2A4D019B-1F60-0239-77D5-A131256B7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166" y="2585851"/>
            <a:ext cx="2209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200" dirty="0">
                <a:latin typeface="Cabin Medium" panose="00000600000000000000" pitchFamily="2" charset="0"/>
                <a:ea typeface="黑体" panose="02010609060101010101" pitchFamily="49" charset="-122"/>
              </a:rPr>
              <a:t>的极值问题</a:t>
            </a:r>
            <a:r>
              <a:rPr lang="en-US" altLang="zh-CN" sz="2200" dirty="0">
                <a:latin typeface="Cabin Medium" panose="00000600000000000000" pitchFamily="2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8" name="Text Box 1044">
            <a:extLst>
              <a:ext uri="{FF2B5EF4-FFF2-40B4-BE49-F238E27FC236}">
                <a16:creationId xmlns:a16="http://schemas.microsoft.com/office/drawing/2014/main" id="{3E4C6BF3-4C18-CADA-6838-7C1775129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4310" y="1950907"/>
            <a:ext cx="53732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Cabin Medium" panose="00000600000000000000" pitchFamily="2" charset="0"/>
                <a:ea typeface="黑体" panose="02010609060101010101" pitchFamily="49" charset="-122"/>
              </a:rPr>
              <a:t>设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47">
                <a:extLst>
                  <a:ext uri="{FF2B5EF4-FFF2-40B4-BE49-F238E27FC236}">
                    <a16:creationId xmlns:a16="http://schemas.microsoft.com/office/drawing/2014/main" id="{299FE105-31B3-E694-CCCF-1EFA92C84F6B}"/>
                  </a:ext>
                </a:extLst>
              </p:cNvPr>
              <p:cNvSpPr txBox="1"/>
              <p:nvPr/>
            </p:nvSpPr>
            <p:spPr bwMode="auto">
              <a:xfrm>
                <a:off x="5304924" y="1255621"/>
                <a:ext cx="45974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求函数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的极值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047">
                <a:extLst>
                  <a:ext uri="{FF2B5EF4-FFF2-40B4-BE49-F238E27FC236}">
                    <a16:creationId xmlns:a16="http://schemas.microsoft.com/office/drawing/2014/main" id="{299FE105-31B3-E694-CCCF-1EFA92C84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4924" y="1255621"/>
                <a:ext cx="4597400" cy="431800"/>
              </a:xfrm>
              <a:prstGeom prst="rect">
                <a:avLst/>
              </a:prstGeom>
              <a:blipFill>
                <a:blip r:embed="rId5"/>
                <a:stretch>
                  <a:fillRect l="-796" b="-1690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48">
                <a:extLst>
                  <a:ext uri="{FF2B5EF4-FFF2-40B4-BE49-F238E27FC236}">
                    <a16:creationId xmlns:a16="http://schemas.microsoft.com/office/drawing/2014/main" id="{BA125ED3-7A5C-4BA1-5B56-33D9CDEA26B6}"/>
                  </a:ext>
                </a:extLst>
              </p:cNvPr>
              <p:cNvSpPr txBox="1"/>
              <p:nvPr/>
            </p:nvSpPr>
            <p:spPr bwMode="auto">
              <a:xfrm>
                <a:off x="4804609" y="1927123"/>
                <a:ext cx="1943102" cy="5567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048">
                <a:extLst>
                  <a:ext uri="{FF2B5EF4-FFF2-40B4-BE49-F238E27FC236}">
                    <a16:creationId xmlns:a16="http://schemas.microsoft.com/office/drawing/2014/main" id="{BA125ED3-7A5C-4BA1-5B56-33D9CDEA2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4609" y="1927123"/>
                <a:ext cx="1943102" cy="556782"/>
              </a:xfrm>
              <a:prstGeom prst="rect">
                <a:avLst/>
              </a:prstGeom>
              <a:blipFill>
                <a:blip r:embed="rId6"/>
                <a:stretch>
                  <a:fillRect l="-3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049">
                <a:extLst>
                  <a:ext uri="{FF2B5EF4-FFF2-40B4-BE49-F238E27FC236}">
                    <a16:creationId xmlns:a16="http://schemas.microsoft.com/office/drawing/2014/main" id="{7B6DF023-50B4-26F3-713B-7A28A57DE25C}"/>
                  </a:ext>
                </a:extLst>
              </p:cNvPr>
              <p:cNvSpPr txBox="1"/>
              <p:nvPr/>
            </p:nvSpPr>
            <p:spPr bwMode="auto">
              <a:xfrm>
                <a:off x="7965699" y="1887904"/>
                <a:ext cx="1562267" cy="4680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049">
                <a:extLst>
                  <a:ext uri="{FF2B5EF4-FFF2-40B4-BE49-F238E27FC236}">
                    <a16:creationId xmlns:a16="http://schemas.microsoft.com/office/drawing/2014/main" id="{7B6DF023-50B4-26F3-713B-7A28A57DE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65699" y="1887904"/>
                <a:ext cx="1562267" cy="468073"/>
              </a:xfrm>
              <a:prstGeom prst="rect">
                <a:avLst/>
              </a:prstGeom>
              <a:blipFill>
                <a:blip r:embed="rId7"/>
                <a:stretch>
                  <a:fillRect l="-781" b="-92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050">
                <a:extLst>
                  <a:ext uri="{FF2B5EF4-FFF2-40B4-BE49-F238E27FC236}">
                    <a16:creationId xmlns:a16="http://schemas.microsoft.com/office/drawing/2014/main" id="{11A610F3-4024-2CE6-48A3-11B8A2C7022F}"/>
                  </a:ext>
                </a:extLst>
              </p:cNvPr>
              <p:cNvSpPr txBox="1"/>
              <p:nvPr/>
            </p:nvSpPr>
            <p:spPr bwMode="auto">
              <a:xfrm>
                <a:off x="5501523" y="2586461"/>
                <a:ext cx="2034255" cy="5185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))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1050">
                <a:extLst>
                  <a:ext uri="{FF2B5EF4-FFF2-40B4-BE49-F238E27FC236}">
                    <a16:creationId xmlns:a16="http://schemas.microsoft.com/office/drawing/2014/main" id="{11A610F3-4024-2CE6-48A3-11B8A2C70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1523" y="2586461"/>
                <a:ext cx="2034255" cy="5185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053">
                <a:extLst>
                  <a:ext uri="{FF2B5EF4-FFF2-40B4-BE49-F238E27FC236}">
                    <a16:creationId xmlns:a16="http://schemas.microsoft.com/office/drawing/2014/main" id="{C0C45B2B-E3C1-2811-A590-05C5EF268CC4}"/>
                  </a:ext>
                </a:extLst>
              </p:cNvPr>
              <p:cNvSpPr txBox="1"/>
              <p:nvPr/>
            </p:nvSpPr>
            <p:spPr bwMode="auto">
              <a:xfrm>
                <a:off x="4910285" y="4129935"/>
                <a:ext cx="5861840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𝑧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1053">
                <a:extLst>
                  <a:ext uri="{FF2B5EF4-FFF2-40B4-BE49-F238E27FC236}">
                    <a16:creationId xmlns:a16="http://schemas.microsoft.com/office/drawing/2014/main" id="{C0C45B2B-E3C1-2811-A590-05C5EF268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0285" y="4129935"/>
                <a:ext cx="5861840" cy="10287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054">
                <a:extLst>
                  <a:ext uri="{FF2B5EF4-FFF2-40B4-BE49-F238E27FC236}">
                    <a16:creationId xmlns:a16="http://schemas.microsoft.com/office/drawing/2014/main" id="{EE0F4BCC-7489-0128-6853-EAEC4F96BD14}"/>
                  </a:ext>
                </a:extLst>
              </p:cNvPr>
              <p:cNvSpPr txBox="1"/>
              <p:nvPr/>
            </p:nvSpPr>
            <p:spPr bwMode="auto">
              <a:xfrm>
                <a:off x="4910285" y="5393271"/>
                <a:ext cx="3404182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1054">
                <a:extLst>
                  <a:ext uri="{FF2B5EF4-FFF2-40B4-BE49-F238E27FC236}">
                    <a16:creationId xmlns:a16="http://schemas.microsoft.com/office/drawing/2014/main" id="{EE0F4BCC-7489-0128-6853-EAEC4F96B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0285" y="5393271"/>
                <a:ext cx="3404182" cy="10287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对话气泡: 矩形 25">
                <a:extLst>
                  <a:ext uri="{FF2B5EF4-FFF2-40B4-BE49-F238E27FC236}">
                    <a16:creationId xmlns:a16="http://schemas.microsoft.com/office/drawing/2014/main" id="{FC287F6F-8786-6F69-49AB-2FAFB7D5A31E}"/>
                  </a:ext>
                </a:extLst>
              </p:cNvPr>
              <p:cNvSpPr/>
              <p:nvPr/>
            </p:nvSpPr>
            <p:spPr>
              <a:xfrm>
                <a:off x="1662377" y="3313759"/>
                <a:ext cx="2685033" cy="1543280"/>
              </a:xfrm>
              <a:prstGeom prst="wedgeRectCallout">
                <a:avLst>
                  <a:gd name="adj1" fmla="val 70981"/>
                  <a:gd name="adj2" fmla="val 30683"/>
                </a:avLst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200" dirty="0">
                    <a:solidFill>
                      <a:schemeClr val="tx1"/>
                    </a:solidFill>
                  </a:rPr>
                  <a:t>由一元函数取得极值的必要条件可知</a:t>
                </a:r>
                <a14:m>
                  <m:oMath xmlns:m="http://schemas.openxmlformats.org/officeDocument/2006/math">
                    <m:r>
                      <a:rPr lang="zh-CN" altLang="en-US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200" dirty="0">
                    <a:solidFill>
                      <a:schemeClr val="tx1"/>
                    </a:solidFill>
                  </a:rPr>
                  <a:t> 极值点必满足</a:t>
                </a:r>
              </a:p>
            </p:txBody>
          </p:sp>
        </mc:Choice>
        <mc:Fallback xmlns="">
          <p:sp>
            <p:nvSpPr>
              <p:cNvPr id="26" name="对话气泡: 矩形 25">
                <a:extLst>
                  <a:ext uri="{FF2B5EF4-FFF2-40B4-BE49-F238E27FC236}">
                    <a16:creationId xmlns:a16="http://schemas.microsoft.com/office/drawing/2014/main" id="{FC287F6F-8786-6F69-49AB-2FAFB7D5A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377" y="3313759"/>
                <a:ext cx="2685033" cy="1543280"/>
              </a:xfrm>
              <a:prstGeom prst="wedgeRectCallout">
                <a:avLst>
                  <a:gd name="adj1" fmla="val 70981"/>
                  <a:gd name="adj2" fmla="val 30683"/>
                </a:avLst>
              </a:prstGeom>
              <a:blipFill>
                <a:blip r:embed="rId11"/>
                <a:stretch>
                  <a:fillRect l="-2439" b="-79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对话气泡: 矩形 26">
            <a:extLst>
              <a:ext uri="{FF2B5EF4-FFF2-40B4-BE49-F238E27FC236}">
                <a16:creationId xmlns:a16="http://schemas.microsoft.com/office/drawing/2014/main" id="{2F94E6C5-7767-F787-FA8D-CD34A5E03DE4}"/>
              </a:ext>
            </a:extLst>
          </p:cNvPr>
          <p:cNvSpPr/>
          <p:nvPr/>
        </p:nvSpPr>
        <p:spPr>
          <a:xfrm>
            <a:off x="1662377" y="5424888"/>
            <a:ext cx="2685033" cy="493511"/>
          </a:xfrm>
          <a:prstGeom prst="wedgeRectCallout">
            <a:avLst>
              <a:gd name="adj1" fmla="val 69300"/>
              <a:gd name="adj2" fmla="val 31021"/>
            </a:avLst>
          </a:prstGeom>
          <a:solidFill>
            <a:srgbClr val="04926A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200" dirty="0">
                <a:solidFill>
                  <a:schemeClr val="tx1"/>
                </a:solidFill>
              </a:rPr>
              <a:t>由隐函数求导公式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179C9888-FF5F-90E7-FE50-BF20770933B1}"/>
              </a:ext>
            </a:extLst>
          </p:cNvPr>
          <p:cNvGrpSpPr/>
          <p:nvPr/>
        </p:nvGrpSpPr>
        <p:grpSpPr>
          <a:xfrm>
            <a:off x="1662864" y="1263173"/>
            <a:ext cx="962025" cy="448945"/>
            <a:chOff x="1553" y="3803"/>
            <a:chExt cx="1515" cy="707"/>
          </a:xfrm>
        </p:grpSpPr>
        <p:sp>
          <p:nvSpPr>
            <p:cNvPr id="31" name="圆角矩形 57">
              <a:extLst>
                <a:ext uri="{FF2B5EF4-FFF2-40B4-BE49-F238E27FC236}">
                  <a16:creationId xmlns:a16="http://schemas.microsoft.com/office/drawing/2014/main" id="{B22A1E5A-B317-8294-6A68-0DAE0A330F55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Box 28">
              <a:extLst>
                <a:ext uri="{FF2B5EF4-FFF2-40B4-BE49-F238E27FC236}">
                  <a16:creationId xmlns:a16="http://schemas.microsoft.com/office/drawing/2014/main" id="{C0A0750C-F661-CEAF-EE70-BFCFF7AA2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715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5" grpId="0"/>
      <p:bldP spid="17" grpId="0"/>
      <p:bldP spid="19" grpId="0"/>
      <p:bldP spid="20" grpId="0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D84E6D32-12F1-B4B5-1EBC-9652D87AE60D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4" name="PA-102232">
              <a:extLst>
                <a:ext uri="{FF2B5EF4-FFF2-40B4-BE49-F238E27FC236}">
                  <a16:creationId xmlns:a16="http://schemas.microsoft.com/office/drawing/2014/main" id="{67C4F2C7-CDBB-DEF9-B45B-F7040AA7EAD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1E811355-B54A-0171-50D8-EF6209CC803A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6" name="Rectangle 1">
                <a:extLst>
                  <a:ext uri="{FF2B5EF4-FFF2-40B4-BE49-F238E27FC236}">
                    <a16:creationId xmlns:a16="http://schemas.microsoft.com/office/drawing/2014/main" id="{4D0E6B5C-2073-9D9D-1851-73D05BE45349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ED0F2803-9B9B-6154-CBF7-24372E0E6D60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Rectangle 1">
                <a:extLst>
                  <a:ext uri="{FF2B5EF4-FFF2-40B4-BE49-F238E27FC236}">
                    <a16:creationId xmlns:a16="http://schemas.microsoft.com/office/drawing/2014/main" id="{2AE09DC5-D263-6FF9-3452-8EE13493AE07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Line 6">
            <a:extLst>
              <a:ext uri="{FF2B5EF4-FFF2-40B4-BE49-F238E27FC236}">
                <a16:creationId xmlns:a16="http://schemas.microsoft.com/office/drawing/2014/main" id="{BC94D67D-0398-E7AD-2528-ECDE7D196C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1775575"/>
            <a:ext cx="91440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32879B9D-7BE9-4395-6265-E2AC7F6C7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3632" y="2160148"/>
            <a:ext cx="172178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Cabin Medium" panose="00000600000000000000" pitchFamily="2" charset="0"/>
                <a:ea typeface="黑体" panose="02010609060101010101" pitchFamily="49" charset="-122"/>
              </a:rPr>
              <a:t>于是就有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2">
                <a:extLst>
                  <a:ext uri="{FF2B5EF4-FFF2-40B4-BE49-F238E27FC236}">
                    <a16:creationId xmlns:a16="http://schemas.microsoft.com/office/drawing/2014/main" id="{1AF6DFD4-4458-2708-EDD0-80061370F349}"/>
                  </a:ext>
                </a:extLst>
              </p:cNvPr>
              <p:cNvSpPr txBox="1"/>
              <p:nvPr/>
            </p:nvSpPr>
            <p:spPr>
              <a:xfrm>
                <a:off x="1634822" y="677696"/>
                <a:ext cx="5886700" cy="109243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𝑧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对象 2">
                <a:extLst>
                  <a:ext uri="{FF2B5EF4-FFF2-40B4-BE49-F238E27FC236}">
                    <a16:creationId xmlns:a16="http://schemas.microsoft.com/office/drawing/2014/main" id="{1AF6DFD4-4458-2708-EDD0-80061370F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822" y="677696"/>
                <a:ext cx="5886700" cy="10924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3">
                <a:extLst>
                  <a:ext uri="{FF2B5EF4-FFF2-40B4-BE49-F238E27FC236}">
                    <a16:creationId xmlns:a16="http://schemas.microsoft.com/office/drawing/2014/main" id="{7364E861-5D26-DFAF-DB37-84F5CA477716}"/>
                  </a:ext>
                </a:extLst>
              </p:cNvPr>
              <p:cNvSpPr txBox="1"/>
              <p:nvPr/>
            </p:nvSpPr>
            <p:spPr>
              <a:xfrm>
                <a:off x="7274230" y="682830"/>
                <a:ext cx="3393719" cy="104920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对象 3">
                <a:extLst>
                  <a:ext uri="{FF2B5EF4-FFF2-40B4-BE49-F238E27FC236}">
                    <a16:creationId xmlns:a16="http://schemas.microsoft.com/office/drawing/2014/main" id="{7364E861-5D26-DFAF-DB37-84F5CA477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230" y="682830"/>
                <a:ext cx="3393719" cy="10492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4">
                <a:extLst>
                  <a:ext uri="{FF2B5EF4-FFF2-40B4-BE49-F238E27FC236}">
                    <a16:creationId xmlns:a16="http://schemas.microsoft.com/office/drawing/2014/main" id="{9DC4443F-45CA-224D-E086-F33DEBFD2220}"/>
                  </a:ext>
                </a:extLst>
              </p:cNvPr>
              <p:cNvSpPr txBox="1"/>
              <p:nvPr/>
            </p:nvSpPr>
            <p:spPr>
              <a:xfrm>
                <a:off x="2825212" y="1958859"/>
                <a:ext cx="4805484" cy="9906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)−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=0 .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4">
                <a:extLst>
                  <a:ext uri="{FF2B5EF4-FFF2-40B4-BE49-F238E27FC236}">
                    <a16:creationId xmlns:a16="http://schemas.microsoft.com/office/drawing/2014/main" id="{9DC4443F-45CA-224D-E086-F33DEBFD2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212" y="1958859"/>
                <a:ext cx="4805484" cy="990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5">
                <a:extLst>
                  <a:ext uri="{FF2B5EF4-FFF2-40B4-BE49-F238E27FC236}">
                    <a16:creationId xmlns:a16="http://schemas.microsoft.com/office/drawing/2014/main" id="{98B3ABA8-B9C9-B9DC-AD6F-9BBCC6D2C132}"/>
                  </a:ext>
                </a:extLst>
              </p:cNvPr>
              <p:cNvSpPr txBox="1"/>
              <p:nvPr/>
            </p:nvSpPr>
            <p:spPr>
              <a:xfrm>
                <a:off x="1624528" y="2905179"/>
                <a:ext cx="2757640" cy="90808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设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5">
                <a:extLst>
                  <a:ext uri="{FF2B5EF4-FFF2-40B4-BE49-F238E27FC236}">
                    <a16:creationId xmlns:a16="http://schemas.microsoft.com/office/drawing/2014/main" id="{98B3ABA8-B9C9-B9DC-AD6F-9BBCC6D2C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528" y="2905179"/>
                <a:ext cx="2757640" cy="9080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22">
            <a:extLst>
              <a:ext uri="{FF2B5EF4-FFF2-40B4-BE49-F238E27FC236}">
                <a16:creationId xmlns:a16="http://schemas.microsoft.com/office/drawing/2014/main" id="{5EE5B05E-F7F6-B3C9-A078-3F1F0C2B8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527" y="3176571"/>
            <a:ext cx="3092627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Cabin Medium" panose="00000600000000000000" pitchFamily="2" charset="0"/>
                <a:ea typeface="黑体" panose="02010609060101010101" pitchFamily="49" charset="-122"/>
              </a:rPr>
              <a:t>则上述必要条件就变为</a:t>
            </a:r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54AF9D15-33E3-8BC0-A1E6-082AC9498847}"/>
              </a:ext>
            </a:extLst>
          </p:cNvPr>
          <p:cNvSpPr>
            <a:spLocks/>
          </p:cNvSpPr>
          <p:nvPr/>
        </p:nvSpPr>
        <p:spPr bwMode="auto">
          <a:xfrm>
            <a:off x="2697333" y="3966222"/>
            <a:ext cx="234950" cy="1691362"/>
          </a:xfrm>
          <a:prstGeom prst="leftBrace">
            <a:avLst>
              <a:gd name="adj1" fmla="val 5555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9251BE17-0D3C-5D00-5547-75419D510097}"/>
                  </a:ext>
                </a:extLst>
              </p:cNvPr>
              <p:cNvSpPr txBox="1"/>
              <p:nvPr/>
            </p:nvSpPr>
            <p:spPr bwMode="auto">
              <a:xfrm>
                <a:off x="2932283" y="3868556"/>
                <a:ext cx="3682215" cy="5445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9251BE17-0D3C-5D00-5547-75419D51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2283" y="3868556"/>
                <a:ext cx="3682215" cy="544513"/>
              </a:xfrm>
              <a:prstGeom prst="rect">
                <a:avLst/>
              </a:prstGeom>
              <a:blipFill>
                <a:blip r:embed="rId8"/>
                <a:stretch>
                  <a:fillRect l="-9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5">
                <a:extLst>
                  <a:ext uri="{FF2B5EF4-FFF2-40B4-BE49-F238E27FC236}">
                    <a16:creationId xmlns:a16="http://schemas.microsoft.com/office/drawing/2014/main" id="{F679722E-81F3-BBF1-36F7-886BFCD8AAE0}"/>
                  </a:ext>
                </a:extLst>
              </p:cNvPr>
              <p:cNvSpPr txBox="1"/>
              <p:nvPr/>
            </p:nvSpPr>
            <p:spPr bwMode="auto">
              <a:xfrm>
                <a:off x="2932283" y="4565568"/>
                <a:ext cx="3682215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25">
                <a:extLst>
                  <a:ext uri="{FF2B5EF4-FFF2-40B4-BE49-F238E27FC236}">
                    <a16:creationId xmlns:a16="http://schemas.microsoft.com/office/drawing/2014/main" id="{F679722E-81F3-BBF1-36F7-886BFCD8A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2283" y="4565568"/>
                <a:ext cx="3682215" cy="482600"/>
              </a:xfrm>
              <a:prstGeom prst="rect">
                <a:avLst/>
              </a:prstGeom>
              <a:blipFill>
                <a:blip r:embed="rId9"/>
                <a:stretch>
                  <a:fillRect l="-993" b="-50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6">
                <a:extLst>
                  <a:ext uri="{FF2B5EF4-FFF2-40B4-BE49-F238E27FC236}">
                    <a16:creationId xmlns:a16="http://schemas.microsoft.com/office/drawing/2014/main" id="{E6FC5B5B-0F18-59A0-66B9-35E0BFAB623F}"/>
                  </a:ext>
                </a:extLst>
              </p:cNvPr>
              <p:cNvSpPr txBox="1"/>
              <p:nvPr/>
            </p:nvSpPr>
            <p:spPr bwMode="auto">
              <a:xfrm>
                <a:off x="2932284" y="5264835"/>
                <a:ext cx="1998682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)=0.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26">
                <a:extLst>
                  <a:ext uri="{FF2B5EF4-FFF2-40B4-BE49-F238E27FC236}">
                    <a16:creationId xmlns:a16="http://schemas.microsoft.com/office/drawing/2014/main" id="{E6FC5B5B-0F18-59A0-66B9-35E0BFAB6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2284" y="5264835"/>
                <a:ext cx="1998682" cy="431800"/>
              </a:xfrm>
              <a:prstGeom prst="rect">
                <a:avLst/>
              </a:prstGeom>
              <a:blipFill>
                <a:blip r:embed="rId10"/>
                <a:stretch>
                  <a:fillRect l="-305" b="-185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369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/>
      <p:bldP spid="9" grpId="0" animBg="1"/>
      <p:bldP spid="10" grpId="0"/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A4123261-9401-33C4-4FB3-988B63F5441E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2" name="PA-102232">
              <a:extLst>
                <a:ext uri="{FF2B5EF4-FFF2-40B4-BE49-F238E27FC236}">
                  <a16:creationId xmlns:a16="http://schemas.microsoft.com/office/drawing/2014/main" id="{B1D8D92B-6961-8208-6ABD-7D09B90F044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49877B6-8D35-1229-99EE-4B5AB09E6B61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4" name="Rectangle 1">
                <a:extLst>
                  <a:ext uri="{FF2B5EF4-FFF2-40B4-BE49-F238E27FC236}">
                    <a16:creationId xmlns:a16="http://schemas.microsoft.com/office/drawing/2014/main" id="{8F4061E0-D255-80EF-0D61-FC0DF2EB4FC6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Rectangle 1">
                <a:extLst>
                  <a:ext uri="{FF2B5EF4-FFF2-40B4-BE49-F238E27FC236}">
                    <a16:creationId xmlns:a16="http://schemas.microsoft.com/office/drawing/2014/main" id="{FB45BAF8-D19D-9249-166D-72F681591015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Rectangle 1">
                <a:extLst>
                  <a:ext uri="{FF2B5EF4-FFF2-40B4-BE49-F238E27FC236}">
                    <a16:creationId xmlns:a16="http://schemas.microsoft.com/office/drawing/2014/main" id="{C6F8C375-667D-CB08-35BC-DB488F1734D2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 Box 8">
            <a:extLst>
              <a:ext uri="{FF2B5EF4-FFF2-40B4-BE49-F238E27FC236}">
                <a16:creationId xmlns:a16="http://schemas.microsoft.com/office/drawing/2014/main" id="{F05C017E-5EFB-57E0-6EFD-0C5CB9AF7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8364" y="1003271"/>
            <a:ext cx="332935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若引入辅助函数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2">
                <a:extLst>
                  <a:ext uri="{FF2B5EF4-FFF2-40B4-BE49-F238E27FC236}">
                    <a16:creationId xmlns:a16="http://schemas.microsoft.com/office/drawing/2014/main" id="{9B3BF6C5-70AA-AC7B-3A78-9AD1F95AC3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8364" y="4554637"/>
                <a:ext cx="527277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辅助函数</a:t>
                </a:r>
                <a14:m>
                  <m:oMath xmlns:m="http://schemas.openxmlformats.org/officeDocument/2006/math">
                    <m:r>
                      <a:rPr kumimoji="1" lang="en-US" altLang="zh-CN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𝐿</m:t>
                    </m:r>
                    <m:r>
                      <a:rPr kumimoji="1" lang="en-US" altLang="zh-CN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称为拉格朗日</a:t>
                </a:r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( Lagrange )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函数</a:t>
                </a:r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 Box 12">
                <a:extLst>
                  <a:ext uri="{FF2B5EF4-FFF2-40B4-BE49-F238E27FC236}">
                    <a16:creationId xmlns:a16="http://schemas.microsoft.com/office/drawing/2014/main" id="{9B3BF6C5-70AA-AC7B-3A78-9AD1F95AC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8364" y="4554637"/>
                <a:ext cx="5272773" cy="430887"/>
              </a:xfrm>
              <a:prstGeom prst="rect">
                <a:avLst/>
              </a:prstGeom>
              <a:blipFill>
                <a:blip r:embed="rId4"/>
                <a:stretch>
                  <a:fillRect l="-1503" t="-15493" r="-1387" b="-295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6">
                <a:extLst>
                  <a:ext uri="{FF2B5EF4-FFF2-40B4-BE49-F238E27FC236}">
                    <a16:creationId xmlns:a16="http://schemas.microsoft.com/office/drawing/2014/main" id="{B3982F33-607F-0EF8-A234-7A183F69BADF}"/>
                  </a:ext>
                </a:extLst>
              </p:cNvPr>
              <p:cNvSpPr txBox="1"/>
              <p:nvPr/>
            </p:nvSpPr>
            <p:spPr bwMode="auto">
              <a:xfrm>
                <a:off x="3942080" y="2576925"/>
                <a:ext cx="5181600" cy="430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16">
                <a:extLst>
                  <a:ext uri="{FF2B5EF4-FFF2-40B4-BE49-F238E27FC236}">
                    <a16:creationId xmlns:a16="http://schemas.microsoft.com/office/drawing/2014/main" id="{B3982F33-607F-0EF8-A234-7A183F69B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2080" y="2576925"/>
                <a:ext cx="5181600" cy="430212"/>
              </a:xfrm>
              <a:prstGeom prst="rect">
                <a:avLst/>
              </a:prstGeom>
              <a:blipFill>
                <a:blip r:embed="rId5"/>
                <a:stretch>
                  <a:fillRect l="-118" b="-185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7">
                <a:extLst>
                  <a:ext uri="{FF2B5EF4-FFF2-40B4-BE49-F238E27FC236}">
                    <a16:creationId xmlns:a16="http://schemas.microsoft.com/office/drawing/2014/main" id="{CF30F2A6-41F8-6C87-85A4-2E80B4F98EA3}"/>
                  </a:ext>
                </a:extLst>
              </p:cNvPr>
              <p:cNvSpPr txBox="1"/>
              <p:nvPr/>
            </p:nvSpPr>
            <p:spPr bwMode="auto">
              <a:xfrm>
                <a:off x="3942080" y="3238175"/>
                <a:ext cx="5181600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17">
                <a:extLst>
                  <a:ext uri="{FF2B5EF4-FFF2-40B4-BE49-F238E27FC236}">
                    <a16:creationId xmlns:a16="http://schemas.microsoft.com/office/drawing/2014/main" id="{CF30F2A6-41F8-6C87-85A4-2E80B4F98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2080" y="3238175"/>
                <a:ext cx="5181600" cy="482600"/>
              </a:xfrm>
              <a:prstGeom prst="rect">
                <a:avLst/>
              </a:prstGeom>
              <a:blipFill>
                <a:blip r:embed="rId6"/>
                <a:stretch>
                  <a:fillRect l="-118" b="-50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8">
                <a:extLst>
                  <a:ext uri="{FF2B5EF4-FFF2-40B4-BE49-F238E27FC236}">
                    <a16:creationId xmlns:a16="http://schemas.microsoft.com/office/drawing/2014/main" id="{9317EF4D-3D2A-E831-F5A9-638DBACE54A5}"/>
                  </a:ext>
                </a:extLst>
              </p:cNvPr>
              <p:cNvSpPr txBox="1"/>
              <p:nvPr/>
            </p:nvSpPr>
            <p:spPr bwMode="auto">
              <a:xfrm>
                <a:off x="3942080" y="3871724"/>
                <a:ext cx="32639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8">
                <a:extLst>
                  <a:ext uri="{FF2B5EF4-FFF2-40B4-BE49-F238E27FC236}">
                    <a16:creationId xmlns:a16="http://schemas.microsoft.com/office/drawing/2014/main" id="{9317EF4D-3D2A-E831-F5A9-638DBACE5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2080" y="3871724"/>
                <a:ext cx="3263900" cy="431800"/>
              </a:xfrm>
              <a:prstGeom prst="rect">
                <a:avLst/>
              </a:prstGeom>
              <a:blipFill>
                <a:blip r:embed="rId7"/>
                <a:stretch>
                  <a:fillRect l="-187" b="-1690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27">
            <a:extLst>
              <a:ext uri="{FF2B5EF4-FFF2-40B4-BE49-F238E27FC236}">
                <a16:creationId xmlns:a16="http://schemas.microsoft.com/office/drawing/2014/main" id="{32A577C0-FC75-C7CA-4145-A2D65FBDC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8364" y="2012321"/>
            <a:ext cx="187743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则极值点满足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AutoShape 28">
            <a:extLst>
              <a:ext uri="{FF2B5EF4-FFF2-40B4-BE49-F238E27FC236}">
                <a16:creationId xmlns:a16="http://schemas.microsoft.com/office/drawing/2014/main" id="{D0CB8FD3-3586-9014-CCE4-0739B2572130}"/>
              </a:ext>
            </a:extLst>
          </p:cNvPr>
          <p:cNvSpPr>
            <a:spLocks/>
          </p:cNvSpPr>
          <p:nvPr/>
        </p:nvSpPr>
        <p:spPr bwMode="auto">
          <a:xfrm>
            <a:off x="3623241" y="2684482"/>
            <a:ext cx="228600" cy="1524000"/>
          </a:xfrm>
          <a:prstGeom prst="leftBrace">
            <a:avLst>
              <a:gd name="adj1" fmla="val 5555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Text Box 29">
            <a:extLst>
              <a:ext uri="{FF2B5EF4-FFF2-40B4-BE49-F238E27FC236}">
                <a16:creationId xmlns:a16="http://schemas.microsoft.com/office/drawing/2014/main" id="{C6AA2285-8B64-1FF1-C64C-B59D2CEFB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8364" y="5088563"/>
            <a:ext cx="6934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利用拉格朗日函数求极值的方法称为</a:t>
            </a:r>
            <a:r>
              <a:rPr kumimoji="1" lang="zh-CN" altLang="en-US" sz="2200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拉格朗日乘数法</a:t>
            </a:r>
            <a:r>
              <a:rPr kumimoji="1" lang="en-US" altLang="zh-CN" sz="2200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0">
                <a:extLst>
                  <a:ext uri="{FF2B5EF4-FFF2-40B4-BE49-F238E27FC236}">
                    <a16:creationId xmlns:a16="http://schemas.microsoft.com/office/drawing/2014/main" id="{AB84A8AB-CD3B-F89D-02B6-5B01D4619E82}"/>
                  </a:ext>
                </a:extLst>
              </p:cNvPr>
              <p:cNvSpPr txBox="1"/>
              <p:nvPr/>
            </p:nvSpPr>
            <p:spPr bwMode="auto">
              <a:xfrm>
                <a:off x="3942080" y="1498013"/>
                <a:ext cx="42672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30">
                <a:extLst>
                  <a:ext uri="{FF2B5EF4-FFF2-40B4-BE49-F238E27FC236}">
                    <a16:creationId xmlns:a16="http://schemas.microsoft.com/office/drawing/2014/main" id="{AB84A8AB-CD3B-F89D-02B6-5B01D4619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2080" y="1498013"/>
                <a:ext cx="4267200" cy="393700"/>
              </a:xfrm>
              <a:prstGeom prst="rect">
                <a:avLst/>
              </a:prstGeom>
              <a:blipFill>
                <a:blip r:embed="rId8"/>
                <a:stretch>
                  <a:fillRect l="-143" b="-296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">
                <a:extLst>
                  <a:ext uri="{FF2B5EF4-FFF2-40B4-BE49-F238E27FC236}">
                    <a16:creationId xmlns:a16="http://schemas.microsoft.com/office/drawing/2014/main" id="{F6230FA7-2504-ED67-6E61-7E3E69AA32C8}"/>
                  </a:ext>
                </a:extLst>
              </p:cNvPr>
              <p:cNvSpPr txBox="1"/>
              <p:nvPr/>
            </p:nvSpPr>
            <p:spPr>
              <a:xfrm>
                <a:off x="7181916" y="4585860"/>
                <a:ext cx="3263900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称为拉格朗日乘子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对象 1">
                <a:extLst>
                  <a:ext uri="{FF2B5EF4-FFF2-40B4-BE49-F238E27FC236}">
                    <a16:creationId xmlns:a16="http://schemas.microsoft.com/office/drawing/2014/main" id="{F6230FA7-2504-ED67-6E61-7E3E69AA3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916" y="4585860"/>
                <a:ext cx="3263900" cy="444500"/>
              </a:xfrm>
              <a:prstGeom prst="rect">
                <a:avLst/>
              </a:prstGeom>
              <a:blipFill>
                <a:blip r:embed="rId9"/>
                <a:stretch>
                  <a:fillRect l="-187"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1586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/>
      <p:bldP spid="5" grpId="0"/>
      <p:bldP spid="6" grpId="0"/>
      <p:bldP spid="7" grpId="0" build="p" autoUpdateAnimBg="0"/>
      <p:bldP spid="9" grpId="0" autoUpdateAnimBg="0"/>
      <p:bldP spid="10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>
            <a:extLst>
              <a:ext uri="{FF2B5EF4-FFF2-40B4-BE49-F238E27FC236}">
                <a16:creationId xmlns:a16="http://schemas.microsoft.com/office/drawing/2014/main" id="{7CEB21CF-1368-41BB-258F-9FD7CC28F77C}"/>
              </a:ext>
            </a:extLst>
          </p:cNvPr>
          <p:cNvSpPr txBox="1">
            <a:spLocks noChangeArrowheads="1"/>
          </p:cNvSpPr>
          <p:nvPr/>
        </p:nvSpPr>
        <p:spPr>
          <a:xfrm>
            <a:off x="908187" y="884640"/>
            <a:ext cx="941334" cy="519112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4926A"/>
                </a:solidFill>
                <a:ea typeface="黑体" panose="02010609060101010101" pitchFamily="49" charset="-122"/>
              </a:rPr>
              <a:t>推广</a:t>
            </a: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91BF2C24-EE98-F4B5-261F-4E16CA1D2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521" y="850333"/>
            <a:ext cx="96470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+mj-lt"/>
                <a:ea typeface="黑体" panose="02010609060101010101" pitchFamily="49" charset="-122"/>
                <a:cs typeface="+mj-cs"/>
              </a:rPr>
              <a:t>拉格朗日乘数法可推广到多个自变量和多个约束条件的情形</a:t>
            </a:r>
            <a:r>
              <a:rPr lang="en-US" altLang="zh-CN" sz="2800" dirty="0">
                <a:latin typeface="+mj-lt"/>
                <a:ea typeface="黑体" panose="02010609060101010101" pitchFamily="49" charset="-122"/>
                <a:cs typeface="+mj-cs"/>
              </a:rPr>
              <a:t>. </a:t>
            </a:r>
          </a:p>
        </p:txBody>
      </p:sp>
      <p:sp>
        <p:nvSpPr>
          <p:cNvPr id="22" name="Text Box 8">
            <a:extLst>
              <a:ext uri="{FF2B5EF4-FFF2-40B4-BE49-F238E27FC236}">
                <a16:creationId xmlns:a16="http://schemas.microsoft.com/office/drawing/2014/main" id="{12DA3FBB-F47B-D166-6D06-EF922A88C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521" y="2747011"/>
            <a:ext cx="84613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设</a:t>
            </a: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80BECBA6-DA7A-3BA2-A1CB-A7105020C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521" y="4607686"/>
            <a:ext cx="1905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解方程组</a:t>
            </a:r>
          </a:p>
        </p:txBody>
      </p:sp>
      <p:sp>
        <p:nvSpPr>
          <p:cNvPr id="24" name="Text Box 14">
            <a:extLst>
              <a:ext uri="{FF2B5EF4-FFF2-40B4-BE49-F238E27FC236}">
                <a16:creationId xmlns:a16="http://schemas.microsoft.com/office/drawing/2014/main" id="{8C6143ED-89F1-9F94-C160-529330459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7221" y="4607686"/>
            <a:ext cx="4419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可得到条件极值的</a:t>
            </a:r>
            <a:r>
              <a:rPr kumimoji="1" lang="zh-CN" altLang="en-US" sz="2200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可疑点 </a:t>
            </a:r>
            <a:r>
              <a:rPr kumimoji="1" lang="en-US" altLang="zh-CN" sz="2200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68623755-12C3-C2E6-F272-087C464C6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8008" y="2141103"/>
            <a:ext cx="1981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下的极值</a:t>
            </a:r>
            <a:r>
              <a:rPr kumimoji="1" lang="en-US" altLang="zh-CN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7" name="Text Box 23">
            <a:extLst>
              <a:ext uri="{FF2B5EF4-FFF2-40B4-BE49-F238E27FC236}">
                <a16:creationId xmlns:a16="http://schemas.microsoft.com/office/drawing/2014/main" id="{CDBAE7C5-3CCB-70D3-7E61-4A8E97F81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7108" y="2150290"/>
            <a:ext cx="10692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在条件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5">
                <a:extLst>
                  <a:ext uri="{FF2B5EF4-FFF2-40B4-BE49-F238E27FC236}">
                    <a16:creationId xmlns:a16="http://schemas.microsoft.com/office/drawing/2014/main" id="{C2F44874-2A16-EF04-93E2-07FA133099ED}"/>
                  </a:ext>
                </a:extLst>
              </p:cNvPr>
              <p:cNvSpPr txBox="1"/>
              <p:nvPr/>
            </p:nvSpPr>
            <p:spPr bwMode="auto">
              <a:xfrm>
                <a:off x="1849521" y="2122007"/>
                <a:ext cx="2654442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求函数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25">
                <a:extLst>
                  <a:ext uri="{FF2B5EF4-FFF2-40B4-BE49-F238E27FC236}">
                    <a16:creationId xmlns:a16="http://schemas.microsoft.com/office/drawing/2014/main" id="{C2F44874-2A16-EF04-93E2-07FA13309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9521" y="2122007"/>
                <a:ext cx="2654442" cy="431800"/>
              </a:xfrm>
              <a:prstGeom prst="rect">
                <a:avLst/>
              </a:prstGeom>
              <a:blipFill>
                <a:blip r:embed="rId3"/>
                <a:stretch>
                  <a:fillRect l="-1376" b="-1690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26">
                <a:extLst>
                  <a:ext uri="{FF2B5EF4-FFF2-40B4-BE49-F238E27FC236}">
                    <a16:creationId xmlns:a16="http://schemas.microsoft.com/office/drawing/2014/main" id="{C5FE0CCA-AC44-8E87-46A5-84ADBAEAE8E6}"/>
                  </a:ext>
                </a:extLst>
              </p:cNvPr>
              <p:cNvSpPr txBox="1"/>
              <p:nvPr/>
            </p:nvSpPr>
            <p:spPr bwMode="auto">
              <a:xfrm>
                <a:off x="5252722" y="2124195"/>
                <a:ext cx="19304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26">
                <a:extLst>
                  <a:ext uri="{FF2B5EF4-FFF2-40B4-BE49-F238E27FC236}">
                    <a16:creationId xmlns:a16="http://schemas.microsoft.com/office/drawing/2014/main" id="{C5FE0CCA-AC44-8E87-46A5-84ADBAEAE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2722" y="2124195"/>
                <a:ext cx="1930400" cy="393700"/>
              </a:xfrm>
              <a:prstGeom prst="rect">
                <a:avLst/>
              </a:prstGeom>
              <a:blipFill>
                <a:blip r:embed="rId4"/>
                <a:stretch>
                  <a:fillRect l="-633" b="-276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27">
                <a:extLst>
                  <a:ext uri="{FF2B5EF4-FFF2-40B4-BE49-F238E27FC236}">
                    <a16:creationId xmlns:a16="http://schemas.microsoft.com/office/drawing/2014/main" id="{81762EC0-BAA7-5207-1CEE-AB5AECB7E5A4}"/>
                  </a:ext>
                </a:extLst>
              </p:cNvPr>
              <p:cNvSpPr txBox="1"/>
              <p:nvPr/>
            </p:nvSpPr>
            <p:spPr bwMode="auto">
              <a:xfrm>
                <a:off x="7035441" y="2114888"/>
                <a:ext cx="19304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Object 27">
                <a:extLst>
                  <a:ext uri="{FF2B5EF4-FFF2-40B4-BE49-F238E27FC236}">
                    <a16:creationId xmlns:a16="http://schemas.microsoft.com/office/drawing/2014/main" id="{81762EC0-BAA7-5207-1CEE-AB5AECB7E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35441" y="2114888"/>
                <a:ext cx="1930400" cy="393700"/>
              </a:xfrm>
              <a:prstGeom prst="rect">
                <a:avLst/>
              </a:prstGeom>
              <a:blipFill>
                <a:blip r:embed="rId5"/>
                <a:stretch>
                  <a:fillRect l="-1893" b="-276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29">
                <a:extLst>
                  <a:ext uri="{FF2B5EF4-FFF2-40B4-BE49-F238E27FC236}">
                    <a16:creationId xmlns:a16="http://schemas.microsoft.com/office/drawing/2014/main" id="{C7CCB67A-D1EC-5BB8-753D-4BF9C197B3D8}"/>
                  </a:ext>
                </a:extLst>
              </p:cNvPr>
              <p:cNvSpPr txBox="1"/>
              <p:nvPr/>
            </p:nvSpPr>
            <p:spPr bwMode="auto">
              <a:xfrm>
                <a:off x="2209982" y="2743069"/>
                <a:ext cx="71755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29">
                <a:extLst>
                  <a:ext uri="{FF2B5EF4-FFF2-40B4-BE49-F238E27FC236}">
                    <a16:creationId xmlns:a16="http://schemas.microsoft.com/office/drawing/2014/main" id="{C7CCB67A-D1EC-5BB8-753D-4BF9C197B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9982" y="2743069"/>
                <a:ext cx="7175500" cy="431800"/>
              </a:xfrm>
              <a:prstGeom prst="rect">
                <a:avLst/>
              </a:prstGeom>
              <a:blipFill>
                <a:blip r:embed="rId6"/>
                <a:stretch>
                  <a:fillRect l="-85" b="-1690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280BFD24-2E8F-ED6D-555F-7FAC7D4A51E5}"/>
                  </a:ext>
                </a:extLst>
              </p:cNvPr>
              <p:cNvSpPr txBox="1"/>
              <p:nvPr/>
            </p:nvSpPr>
            <p:spPr bwMode="auto">
              <a:xfrm>
                <a:off x="3406416" y="3481568"/>
                <a:ext cx="3927475" cy="430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280BFD24-2E8F-ED6D-555F-7FAC7D4A5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6416" y="3481568"/>
                <a:ext cx="3927475" cy="430212"/>
              </a:xfrm>
              <a:prstGeom prst="rect">
                <a:avLst/>
              </a:prstGeom>
              <a:blipFill>
                <a:blip r:embed="rId7"/>
                <a:stretch>
                  <a:fillRect l="-155" b="-1690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utoShape 33">
            <a:extLst>
              <a:ext uri="{FF2B5EF4-FFF2-40B4-BE49-F238E27FC236}">
                <a16:creationId xmlns:a16="http://schemas.microsoft.com/office/drawing/2014/main" id="{60DFA4B7-8F0B-C713-B2CB-69E501034C33}"/>
              </a:ext>
            </a:extLst>
          </p:cNvPr>
          <p:cNvSpPr>
            <a:spLocks/>
          </p:cNvSpPr>
          <p:nvPr/>
        </p:nvSpPr>
        <p:spPr bwMode="auto">
          <a:xfrm>
            <a:off x="3164014" y="3609361"/>
            <a:ext cx="215900" cy="2376488"/>
          </a:xfrm>
          <a:prstGeom prst="leftBrace">
            <a:avLst>
              <a:gd name="adj1" fmla="val 9172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34">
                <a:extLst>
                  <a:ext uri="{FF2B5EF4-FFF2-40B4-BE49-F238E27FC236}">
                    <a16:creationId xmlns:a16="http://schemas.microsoft.com/office/drawing/2014/main" id="{B3C6EA78-A2E1-26BA-588B-F3B1E84C6619}"/>
                  </a:ext>
                </a:extLst>
              </p:cNvPr>
              <p:cNvSpPr txBox="1"/>
              <p:nvPr/>
            </p:nvSpPr>
            <p:spPr bwMode="auto">
              <a:xfrm>
                <a:off x="3406416" y="4024493"/>
                <a:ext cx="3914775" cy="4810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Object 34">
                <a:extLst>
                  <a:ext uri="{FF2B5EF4-FFF2-40B4-BE49-F238E27FC236}">
                    <a16:creationId xmlns:a16="http://schemas.microsoft.com/office/drawing/2014/main" id="{B3C6EA78-A2E1-26BA-588B-F3B1E84C6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6416" y="4024493"/>
                <a:ext cx="3914775" cy="481012"/>
              </a:xfrm>
              <a:prstGeom prst="rect">
                <a:avLst/>
              </a:prstGeom>
              <a:blipFill>
                <a:blip r:embed="rId8"/>
                <a:stretch>
                  <a:fillRect l="-156" b="-50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5">
                <a:extLst>
                  <a:ext uri="{FF2B5EF4-FFF2-40B4-BE49-F238E27FC236}">
                    <a16:creationId xmlns:a16="http://schemas.microsoft.com/office/drawing/2014/main" id="{A67F293F-CAE2-4489-90FE-A312D6E66379}"/>
                  </a:ext>
                </a:extLst>
              </p:cNvPr>
              <p:cNvSpPr txBox="1"/>
              <p:nvPr/>
            </p:nvSpPr>
            <p:spPr bwMode="auto">
              <a:xfrm>
                <a:off x="3406416" y="4576149"/>
                <a:ext cx="3800475" cy="4429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" name="Object 35">
                <a:extLst>
                  <a:ext uri="{FF2B5EF4-FFF2-40B4-BE49-F238E27FC236}">
                    <a16:creationId xmlns:a16="http://schemas.microsoft.com/office/drawing/2014/main" id="{A67F293F-CAE2-4489-90FE-A312D6E66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6416" y="4576149"/>
                <a:ext cx="3800475" cy="442912"/>
              </a:xfrm>
              <a:prstGeom prst="rect">
                <a:avLst/>
              </a:prstGeom>
              <a:blipFill>
                <a:blip r:embed="rId9"/>
                <a:stretch>
                  <a:fillRect l="-161" b="-1527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36">
                <a:extLst>
                  <a:ext uri="{FF2B5EF4-FFF2-40B4-BE49-F238E27FC236}">
                    <a16:creationId xmlns:a16="http://schemas.microsoft.com/office/drawing/2014/main" id="{E6F6B840-097A-6A8C-26B2-4277C03B8D9B}"/>
                  </a:ext>
                </a:extLst>
              </p:cNvPr>
              <p:cNvSpPr txBox="1"/>
              <p:nvPr/>
            </p:nvSpPr>
            <p:spPr bwMode="auto">
              <a:xfrm>
                <a:off x="3406416" y="5042080"/>
                <a:ext cx="19939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Object 36">
                <a:extLst>
                  <a:ext uri="{FF2B5EF4-FFF2-40B4-BE49-F238E27FC236}">
                    <a16:creationId xmlns:a16="http://schemas.microsoft.com/office/drawing/2014/main" id="{E6F6B840-097A-6A8C-26B2-4277C03B8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6416" y="5042080"/>
                <a:ext cx="1993900" cy="393700"/>
              </a:xfrm>
              <a:prstGeom prst="rect">
                <a:avLst/>
              </a:prstGeom>
              <a:blipFill>
                <a:blip r:embed="rId10"/>
                <a:stretch>
                  <a:fillRect b="-46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37">
                <a:extLst>
                  <a:ext uri="{FF2B5EF4-FFF2-40B4-BE49-F238E27FC236}">
                    <a16:creationId xmlns:a16="http://schemas.microsoft.com/office/drawing/2014/main" id="{5266F11D-39A0-9277-0316-91DD148D8309}"/>
                  </a:ext>
                </a:extLst>
              </p:cNvPr>
              <p:cNvSpPr txBox="1"/>
              <p:nvPr/>
            </p:nvSpPr>
            <p:spPr bwMode="auto">
              <a:xfrm>
                <a:off x="3406416" y="5619930"/>
                <a:ext cx="20193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Object 37">
                <a:extLst>
                  <a:ext uri="{FF2B5EF4-FFF2-40B4-BE49-F238E27FC236}">
                    <a16:creationId xmlns:a16="http://schemas.microsoft.com/office/drawing/2014/main" id="{5266F11D-39A0-9277-0316-91DD148D8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6416" y="5619930"/>
                <a:ext cx="2019300" cy="393700"/>
              </a:xfrm>
              <a:prstGeom prst="rect">
                <a:avLst/>
              </a:prstGeom>
              <a:blipFill>
                <a:blip r:embed="rId11"/>
                <a:stretch>
                  <a:fillRect l="-1813"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组合 37">
            <a:extLst>
              <a:ext uri="{FF2B5EF4-FFF2-40B4-BE49-F238E27FC236}">
                <a16:creationId xmlns:a16="http://schemas.microsoft.com/office/drawing/2014/main" id="{3B9C69C3-11D9-93EA-5760-F500A9B307B1}"/>
              </a:ext>
            </a:extLst>
          </p:cNvPr>
          <p:cNvGrpSpPr/>
          <p:nvPr/>
        </p:nvGrpSpPr>
        <p:grpSpPr>
          <a:xfrm>
            <a:off x="982569" y="1539612"/>
            <a:ext cx="962025" cy="448945"/>
            <a:chOff x="1553" y="3803"/>
            <a:chExt cx="1515" cy="707"/>
          </a:xfrm>
        </p:grpSpPr>
        <p:sp>
          <p:nvSpPr>
            <p:cNvPr id="39" name="圆角矩形 57">
              <a:extLst>
                <a:ext uri="{FF2B5EF4-FFF2-40B4-BE49-F238E27FC236}">
                  <a16:creationId xmlns:a16="http://schemas.microsoft.com/office/drawing/2014/main" id="{73A2DB4A-C745-B45B-34BD-BA60AD1C4D2C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28">
              <a:extLst>
                <a:ext uri="{FF2B5EF4-FFF2-40B4-BE49-F238E27FC236}">
                  <a16:creationId xmlns:a16="http://schemas.microsoft.com/office/drawing/2014/main" id="{3DA401BC-2499-47DB-F857-D68079929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217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utoUpdateAnimBg="0"/>
      <p:bldP spid="22" grpId="0" build="p" autoUpdateAnimBg="0"/>
      <p:bldP spid="23" grpId="0" autoUpdateAnimBg="0"/>
      <p:bldP spid="24" grpId="0" autoUpdateAnimBg="0"/>
      <p:bldP spid="26" grpId="0" autoUpdateAnimBg="0"/>
      <p:bldP spid="27" grpId="0" autoUpdateAnimBg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32" name="Text Box 345">
            <a:extLst>
              <a:ext uri="{FF2B5EF4-FFF2-40B4-BE49-F238E27FC236}">
                <a16:creationId xmlns:a16="http://schemas.microsoft.com/office/drawing/2014/main" id="{FB1CB40C-946D-3840-87BA-F0774168A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519" y="1822387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403">
                <a:extLst>
                  <a:ext uri="{FF2B5EF4-FFF2-40B4-BE49-F238E27FC236}">
                    <a16:creationId xmlns:a16="http://schemas.microsoft.com/office/drawing/2014/main" id="{F71870D9-A893-836A-E5E9-D569AE3E9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0457" y="1117707"/>
                <a:ext cx="8785973" cy="4801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    </a:t>
                </a:r>
                <a:r>
                  <a:rPr lang="zh-CN" altLang="en-US" sz="2800" dirty="0">
                    <a:latin typeface="+mj-lt"/>
                    <a:ea typeface="黑体" panose="02010609060101010101" pitchFamily="49" charset="-122"/>
                    <a:cs typeface="+mj-cs"/>
                  </a:rPr>
                  <a:t>求表面积为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</m:t>
                    </m:r>
                  </m:oMath>
                </a14:m>
                <a:r>
                  <a:rPr lang="zh-CN" altLang="en-US" sz="2800" dirty="0">
                    <a:latin typeface="+mj-lt"/>
                    <a:ea typeface="黑体" panose="02010609060101010101" pitchFamily="49" charset="-122"/>
                    <a:cs typeface="+mj-cs"/>
                  </a:rPr>
                  <a:t>而体积为最大的长方体的体积</a:t>
                </a:r>
                <a:r>
                  <a:rPr lang="en-US" altLang="zh-CN" sz="2800" dirty="0">
                    <a:latin typeface="+mj-lt"/>
                    <a:ea typeface="黑体" panose="02010609060101010101" pitchFamily="49" charset="-122"/>
                    <a:cs typeface="+mj-cs"/>
                  </a:rPr>
                  <a:t>.</a:t>
                </a:r>
              </a:p>
            </p:txBody>
          </p:sp>
        </mc:Choice>
        <mc:Fallback xmlns="">
          <p:sp>
            <p:nvSpPr>
              <p:cNvPr id="33" name="Text Box 403">
                <a:extLst>
                  <a:ext uri="{FF2B5EF4-FFF2-40B4-BE49-F238E27FC236}">
                    <a16:creationId xmlns:a16="http://schemas.microsoft.com/office/drawing/2014/main" id="{F71870D9-A893-836A-E5E9-D569AE3E9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0457" y="1117707"/>
                <a:ext cx="8785973" cy="480131"/>
              </a:xfrm>
              <a:prstGeom prst="rect">
                <a:avLst/>
              </a:prstGeom>
              <a:blipFill>
                <a:blip r:embed="rId4"/>
                <a:stretch>
                  <a:fillRect l="-1388" t="-26582" b="-3670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406">
            <a:extLst>
              <a:ext uri="{FF2B5EF4-FFF2-40B4-BE49-F238E27FC236}">
                <a16:creationId xmlns:a16="http://schemas.microsoft.com/office/drawing/2014/main" id="{558CB630-66E9-7317-11CF-02F99B898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298" y="1881347"/>
            <a:ext cx="3097213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则体积和表面积分别为</a:t>
            </a:r>
          </a:p>
          <a:p>
            <a:endParaRPr lang="zh-CN" altLang="en-US" sz="2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Text Box 407">
            <a:extLst>
              <a:ext uri="{FF2B5EF4-FFF2-40B4-BE49-F238E27FC236}">
                <a16:creationId xmlns:a16="http://schemas.microsoft.com/office/drawing/2014/main" id="{63FE947A-D692-1211-5761-8A0F18646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041" y="2495800"/>
            <a:ext cx="18716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2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Text Box 409">
            <a:extLst>
              <a:ext uri="{FF2B5EF4-FFF2-40B4-BE49-F238E27FC236}">
                <a16:creationId xmlns:a16="http://schemas.microsoft.com/office/drawing/2014/main" id="{B947187E-BBFC-F612-952F-3C52D536B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041" y="3096635"/>
            <a:ext cx="57880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所以问题变成一个条件极值问题．</a:t>
            </a:r>
          </a:p>
        </p:txBody>
      </p:sp>
      <p:sp>
        <p:nvSpPr>
          <p:cNvPr id="37" name="Text Box 410">
            <a:extLst>
              <a:ext uri="{FF2B5EF4-FFF2-40B4-BE49-F238E27FC236}">
                <a16:creationId xmlns:a16="http://schemas.microsoft.com/office/drawing/2014/main" id="{843D254E-FD9F-1812-81F5-5C0501438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041" y="3712602"/>
            <a:ext cx="239528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作拉格朗日函数</a:t>
            </a:r>
          </a:p>
        </p:txBody>
      </p:sp>
      <p:sp>
        <p:nvSpPr>
          <p:cNvPr id="38" name="Text Box 412">
            <a:extLst>
              <a:ext uri="{FF2B5EF4-FFF2-40B4-BE49-F238E27FC236}">
                <a16:creationId xmlns:a16="http://schemas.microsoft.com/office/drawing/2014/main" id="{3DBB2846-9F7C-B7DD-BEF5-F33A0A411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041" y="4916260"/>
            <a:ext cx="18716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对象 1">
                <a:extLst>
                  <a:ext uri="{FF2B5EF4-FFF2-40B4-BE49-F238E27FC236}">
                    <a16:creationId xmlns:a16="http://schemas.microsoft.com/office/drawing/2014/main" id="{B76AA8F7-6CAF-6217-B0DF-F193459449C7}"/>
                  </a:ext>
                </a:extLst>
              </p:cNvPr>
              <p:cNvSpPr txBox="1"/>
              <p:nvPr/>
            </p:nvSpPr>
            <p:spPr>
              <a:xfrm>
                <a:off x="3633237" y="2514869"/>
                <a:ext cx="5499100" cy="469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𝑥𝑦𝑧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 ,  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=2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 .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对象 1">
                <a:extLst>
                  <a:ext uri="{FF2B5EF4-FFF2-40B4-BE49-F238E27FC236}">
                    <a16:creationId xmlns:a16="http://schemas.microsoft.com/office/drawing/2014/main" id="{B76AA8F7-6CAF-6217-B0DF-F19345944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237" y="2514869"/>
                <a:ext cx="5499100" cy="469900"/>
              </a:xfrm>
              <a:prstGeom prst="rect">
                <a:avLst/>
              </a:prstGeom>
              <a:blipFill>
                <a:blip r:embed="rId5"/>
                <a:stretch>
                  <a:fillRect l="-111" b="-77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对象 2">
                <a:extLst>
                  <a:ext uri="{FF2B5EF4-FFF2-40B4-BE49-F238E27FC236}">
                    <a16:creationId xmlns:a16="http://schemas.microsoft.com/office/drawing/2014/main" id="{0C272CB4-7699-AE8C-05F9-13AF0BC80061}"/>
                  </a:ext>
                </a:extLst>
              </p:cNvPr>
              <p:cNvSpPr txBox="1"/>
              <p:nvPr/>
            </p:nvSpPr>
            <p:spPr>
              <a:xfrm>
                <a:off x="4811483" y="3712274"/>
                <a:ext cx="6565900" cy="469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𝑥𝑦𝑧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(2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对象 2">
                <a:extLst>
                  <a:ext uri="{FF2B5EF4-FFF2-40B4-BE49-F238E27FC236}">
                    <a16:creationId xmlns:a16="http://schemas.microsoft.com/office/drawing/2014/main" id="{0C272CB4-7699-AE8C-05F9-13AF0BC80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483" y="3712274"/>
                <a:ext cx="6565900" cy="469900"/>
              </a:xfrm>
              <a:prstGeom prst="rect">
                <a:avLst/>
              </a:prstGeom>
              <a:blipFill>
                <a:blip r:embed="rId6"/>
                <a:stretch>
                  <a:fillRect l="-93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对象 3">
                <a:extLst>
                  <a:ext uri="{FF2B5EF4-FFF2-40B4-BE49-F238E27FC236}">
                    <a16:creationId xmlns:a16="http://schemas.microsoft.com/office/drawing/2014/main" id="{C5A295A9-D2FA-6132-6234-C20080E4E2E9}"/>
                  </a:ext>
                </a:extLst>
              </p:cNvPr>
              <p:cNvSpPr txBox="1"/>
              <p:nvPr/>
            </p:nvSpPr>
            <p:spPr>
              <a:xfrm>
                <a:off x="3973031" y="4281763"/>
                <a:ext cx="3338043" cy="166420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𝑦𝑧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)=0,  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)=0,  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)=0,  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𝑦𝑧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对象 3">
                <a:extLst>
                  <a:ext uri="{FF2B5EF4-FFF2-40B4-BE49-F238E27FC236}">
                    <a16:creationId xmlns:a16="http://schemas.microsoft.com/office/drawing/2014/main" id="{C5A295A9-D2FA-6132-6234-C20080E4E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031" y="4281763"/>
                <a:ext cx="3338043" cy="16642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对象 4">
                <a:extLst>
                  <a:ext uri="{FF2B5EF4-FFF2-40B4-BE49-F238E27FC236}">
                    <a16:creationId xmlns:a16="http://schemas.microsoft.com/office/drawing/2014/main" id="{71F3BFB6-8AB8-4AD8-8AD1-6D87BBF7D42F}"/>
                  </a:ext>
                </a:extLst>
              </p:cNvPr>
              <p:cNvSpPr txBox="1"/>
              <p:nvPr/>
            </p:nvSpPr>
            <p:spPr>
              <a:xfrm>
                <a:off x="2748041" y="1885211"/>
                <a:ext cx="3487177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设长方体的三棱长为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对象 4">
                <a:extLst>
                  <a:ext uri="{FF2B5EF4-FFF2-40B4-BE49-F238E27FC236}">
                    <a16:creationId xmlns:a16="http://schemas.microsoft.com/office/drawing/2014/main" id="{71F3BFB6-8AB8-4AD8-8AD1-6D87BBF7D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041" y="1885211"/>
                <a:ext cx="3487177" cy="444500"/>
              </a:xfrm>
              <a:prstGeom prst="rect">
                <a:avLst/>
              </a:prstGeom>
              <a:blipFill>
                <a:blip r:embed="rId8"/>
                <a:stretch>
                  <a:fillRect l="-1224" b="-9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02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B63014A9-9059-6072-875F-30C9C5A9B6A9}"/>
                  </a:ext>
                </a:extLst>
              </p:cNvPr>
              <p:cNvSpPr txBox="1"/>
              <p:nvPr/>
            </p:nvSpPr>
            <p:spPr bwMode="auto">
              <a:xfrm>
                <a:off x="4068936" y="840633"/>
                <a:ext cx="4310730" cy="16564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𝑦𝑧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=0,      </m:t>
                                </m:r>
                                <m:r>
                                  <a:rPr lang="en-US" altLang="zh-CN" sz="2200" b="0" i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 (1)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=0,      </m:t>
                                </m:r>
                                <m:r>
                                  <a:rPr lang="en-US" altLang="zh-CN" sz="2200" b="0" i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 (2)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=0,      </m:t>
                                </m:r>
                                <m:r>
                                  <a:rPr lang="en-US" altLang="zh-CN" sz="2200" b="0" i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 (3)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𝑦𝑧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,    (4)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B63014A9-9059-6072-875F-30C9C5A9B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8936" y="840633"/>
                <a:ext cx="4310730" cy="16564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84B932FD-CE41-770D-8A83-508CEFEC1766}"/>
                  </a:ext>
                </a:extLst>
              </p:cNvPr>
              <p:cNvSpPr txBox="1"/>
              <p:nvPr/>
            </p:nvSpPr>
            <p:spPr bwMode="auto">
              <a:xfrm>
                <a:off x="2838999" y="2567006"/>
                <a:ext cx="2305050" cy="511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(1)×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−(2)×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84B932FD-CE41-770D-8A83-508CEFEC1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8999" y="2567006"/>
                <a:ext cx="2305050" cy="511175"/>
              </a:xfrm>
              <a:prstGeom prst="rect">
                <a:avLst/>
              </a:prstGeom>
              <a:blipFill>
                <a:blip r:embed="rId5"/>
                <a:stretch>
                  <a:fillRect l="-18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6">
            <a:extLst>
              <a:ext uri="{FF2B5EF4-FFF2-40B4-BE49-F238E27FC236}">
                <a16:creationId xmlns:a16="http://schemas.microsoft.com/office/drawing/2014/main" id="{8C2881EC-DAFA-18D1-6D6C-6899617C5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8311" y="2591443"/>
            <a:ext cx="44399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1681CDCA-9996-F8F4-F921-43EEF0AB20F6}"/>
                  </a:ext>
                </a:extLst>
              </p:cNvPr>
              <p:cNvSpPr txBox="1"/>
              <p:nvPr/>
            </p:nvSpPr>
            <p:spPr bwMode="auto">
              <a:xfrm>
                <a:off x="5312665" y="2588241"/>
                <a:ext cx="2246282" cy="511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)=0,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1681CDCA-9996-F8F4-F921-43EEF0AB2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2665" y="2588241"/>
                <a:ext cx="2246282" cy="511175"/>
              </a:xfrm>
              <a:prstGeom prst="rect">
                <a:avLst/>
              </a:prstGeom>
              <a:blipFill>
                <a:blip r:embed="rId6"/>
                <a:stretch>
                  <a:fillRect l="-543" b="-12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8">
                <a:extLst>
                  <a:ext uri="{FF2B5EF4-FFF2-40B4-BE49-F238E27FC236}">
                    <a16:creationId xmlns:a16="http://schemas.microsoft.com/office/drawing/2014/main" id="{31CCEBDC-C1CA-BEFD-D35D-6B66B2E44F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82361" y="2600774"/>
                <a:ext cx="203287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因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0, 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&gt;0,</m:t>
                    </m:r>
                  </m:oMath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6" name="Text Box 8">
                <a:extLst>
                  <a:ext uri="{FF2B5EF4-FFF2-40B4-BE49-F238E27FC236}">
                    <a16:creationId xmlns:a16="http://schemas.microsoft.com/office/drawing/2014/main" id="{31CCEBDC-C1CA-BEFD-D35D-6B66B2E44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82361" y="2600774"/>
                <a:ext cx="2032875" cy="430887"/>
              </a:xfrm>
              <a:prstGeom prst="rect">
                <a:avLst/>
              </a:prstGeom>
              <a:blipFill>
                <a:blip r:embed="rId7"/>
                <a:stretch>
                  <a:fillRect l="-3904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9">
                <a:extLst>
                  <a:ext uri="{FF2B5EF4-FFF2-40B4-BE49-F238E27FC236}">
                    <a16:creationId xmlns:a16="http://schemas.microsoft.com/office/drawing/2014/main" id="{0D0F84FA-EDAF-EA60-E2BE-C0C7648817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7886" y="3150976"/>
                <a:ext cx="2459038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14:m>
                  <m:oMath xmlns:m="http://schemas.openxmlformats.org/officeDocument/2006/math"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2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 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zh-CN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 Box 9">
                <a:extLst>
                  <a:ext uri="{FF2B5EF4-FFF2-40B4-BE49-F238E27FC236}">
                    <a16:creationId xmlns:a16="http://schemas.microsoft.com/office/drawing/2014/main" id="{0D0F84FA-EDAF-EA60-E2BE-C0C764881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7886" y="3150976"/>
                <a:ext cx="2459038" cy="430887"/>
              </a:xfrm>
              <a:prstGeom prst="rect">
                <a:avLst/>
              </a:prstGeom>
              <a:blipFill>
                <a:blip r:embed="rId8"/>
                <a:stretch>
                  <a:fillRect l="-3226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0">
                <a:extLst>
                  <a:ext uri="{FF2B5EF4-FFF2-40B4-BE49-F238E27FC236}">
                    <a16:creationId xmlns:a16="http://schemas.microsoft.com/office/drawing/2014/main" id="{578A21F9-7ACC-11FB-C2B2-EBF23F75CA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9817" y="3150976"/>
                <a:ext cx="3879849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2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类似地可得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altLang="zh-CN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 Box 10">
                <a:extLst>
                  <a:ext uri="{FF2B5EF4-FFF2-40B4-BE49-F238E27FC236}">
                    <a16:creationId xmlns:a16="http://schemas.microsoft.com/office/drawing/2014/main" id="{578A21F9-7ACC-11FB-C2B2-EBF23F75C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9817" y="3150976"/>
                <a:ext cx="3879849" cy="430887"/>
              </a:xfrm>
              <a:prstGeom prst="rect">
                <a:avLst/>
              </a:prstGeom>
              <a:blipFill>
                <a:blip r:embed="rId9"/>
                <a:stretch>
                  <a:fillRect l="-2041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1">
            <a:extLst>
              <a:ext uri="{FF2B5EF4-FFF2-40B4-BE49-F238E27FC236}">
                <a16:creationId xmlns:a16="http://schemas.microsoft.com/office/drawing/2014/main" id="{D34D9FBE-D6A9-9DEB-C283-4633C1167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0592" y="3150976"/>
            <a:ext cx="78806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即有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2">
                <a:extLst>
                  <a:ext uri="{FF2B5EF4-FFF2-40B4-BE49-F238E27FC236}">
                    <a16:creationId xmlns:a16="http://schemas.microsoft.com/office/drawing/2014/main" id="{4B8E6E7D-CC66-F9E4-9E0A-FAB53E0B5A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7886" y="3894508"/>
                <a:ext cx="21590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 Box 12">
                <a:extLst>
                  <a:ext uri="{FF2B5EF4-FFF2-40B4-BE49-F238E27FC236}">
                    <a16:creationId xmlns:a16="http://schemas.microsoft.com/office/drawing/2014/main" id="{4B8E6E7D-CC66-F9E4-9E0A-FAB53E0B5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7886" y="3894508"/>
                <a:ext cx="2159000" cy="430887"/>
              </a:xfrm>
              <a:prstGeom prst="rect">
                <a:avLst/>
              </a:prstGeom>
              <a:blipFill>
                <a:blip r:embed="rId10"/>
                <a:stretch>
                  <a:fillRect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3">
                <a:extLst>
                  <a:ext uri="{FF2B5EF4-FFF2-40B4-BE49-F238E27FC236}">
                    <a16:creationId xmlns:a16="http://schemas.microsoft.com/office/drawing/2014/main" id="{23A7E454-61CB-9E90-0DF8-E4CC60F008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3143" y="3929433"/>
                <a:ext cx="2045494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代入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2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</m:d>
                    <m:r>
                      <a:rPr lang="zh-CN" altLang="en-US" sz="22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解得</a:t>
                </a:r>
              </a:p>
            </p:txBody>
          </p:sp>
        </mc:Choice>
        <mc:Fallback xmlns="">
          <p:sp>
            <p:nvSpPr>
              <p:cNvPr id="11" name="Text Box 13">
                <a:extLst>
                  <a:ext uri="{FF2B5EF4-FFF2-40B4-BE49-F238E27FC236}">
                    <a16:creationId xmlns:a16="http://schemas.microsoft.com/office/drawing/2014/main" id="{23A7E454-61CB-9E90-0DF8-E4CC60F00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3143" y="3929433"/>
                <a:ext cx="2045494" cy="430887"/>
              </a:xfrm>
              <a:prstGeom prst="rect">
                <a:avLst/>
              </a:prstGeom>
              <a:blipFill>
                <a:blip r:embed="rId11"/>
                <a:stretch>
                  <a:fillRect l="-3869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4">
                <a:extLst>
                  <a:ext uri="{FF2B5EF4-FFF2-40B4-BE49-F238E27FC236}">
                    <a16:creationId xmlns:a16="http://schemas.microsoft.com/office/drawing/2014/main" id="{C3B2C57C-7D53-073F-75F0-E11F6A6B8D78}"/>
                  </a:ext>
                </a:extLst>
              </p:cNvPr>
              <p:cNvSpPr txBox="1"/>
              <p:nvPr/>
            </p:nvSpPr>
            <p:spPr bwMode="auto">
              <a:xfrm>
                <a:off x="6118774" y="3673389"/>
                <a:ext cx="2528887" cy="8413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220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 .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Object 14">
                <a:extLst>
                  <a:ext uri="{FF2B5EF4-FFF2-40B4-BE49-F238E27FC236}">
                    <a16:creationId xmlns:a16="http://schemas.microsoft.com/office/drawing/2014/main" id="{C3B2C57C-7D53-073F-75F0-E11F6A6B8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8774" y="3673389"/>
                <a:ext cx="2528887" cy="84137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5">
                <a:extLst>
                  <a:ext uri="{FF2B5EF4-FFF2-40B4-BE49-F238E27FC236}">
                    <a16:creationId xmlns:a16="http://schemas.microsoft.com/office/drawing/2014/main" id="{3D1B15A1-B2BF-6DEA-2560-FB6C938ECD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7887" y="4567988"/>
                <a:ext cx="432117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由于可能的极值点唯一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 Box 15">
                <a:extLst>
                  <a:ext uri="{FF2B5EF4-FFF2-40B4-BE49-F238E27FC236}">
                    <a16:creationId xmlns:a16="http://schemas.microsoft.com/office/drawing/2014/main" id="{3D1B15A1-B2BF-6DEA-2560-FB6C938EC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7887" y="4567988"/>
                <a:ext cx="4321175" cy="430887"/>
              </a:xfrm>
              <a:prstGeom prst="rect">
                <a:avLst/>
              </a:prstGeom>
              <a:blipFill>
                <a:blip r:embed="rId13"/>
                <a:stretch>
                  <a:fillRect l="-1834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6">
                <a:extLst>
                  <a:ext uri="{FF2B5EF4-FFF2-40B4-BE49-F238E27FC236}">
                    <a16:creationId xmlns:a16="http://schemas.microsoft.com/office/drawing/2014/main" id="{14826AE7-BE86-44BB-0176-957992F538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13455" y="4567988"/>
                <a:ext cx="2528887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且问题一定有最值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 Box 16">
                <a:extLst>
                  <a:ext uri="{FF2B5EF4-FFF2-40B4-BE49-F238E27FC236}">
                    <a16:creationId xmlns:a16="http://schemas.microsoft.com/office/drawing/2014/main" id="{14826AE7-BE86-44BB-0176-957992F53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13455" y="4567988"/>
                <a:ext cx="2528887" cy="430887"/>
              </a:xfrm>
              <a:prstGeom prst="rect">
                <a:avLst/>
              </a:prstGeom>
              <a:blipFill>
                <a:blip r:embed="rId14"/>
                <a:stretch>
                  <a:fillRect l="-3140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7">
            <a:extLst>
              <a:ext uri="{FF2B5EF4-FFF2-40B4-BE49-F238E27FC236}">
                <a16:creationId xmlns:a16="http://schemas.microsoft.com/office/drawing/2014/main" id="{E366E2D0-AE32-6785-F436-E6D422249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6089" y="4567988"/>
            <a:ext cx="16557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故所求的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6F64EF03-94FF-38E7-56A3-21A2F6BB37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8999" y="5339133"/>
                <a:ext cx="4068762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唯一极值点就是问题的最值点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6F64EF03-94FF-38E7-56A3-21A2F6BB3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8999" y="5339133"/>
                <a:ext cx="4068762" cy="430887"/>
              </a:xfrm>
              <a:prstGeom prst="rect">
                <a:avLst/>
              </a:prstGeom>
              <a:blipFill>
                <a:blip r:embed="rId15"/>
                <a:stretch>
                  <a:fillRect l="-1949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9">
            <a:extLst>
              <a:ext uri="{FF2B5EF4-FFF2-40B4-BE49-F238E27FC236}">
                <a16:creationId xmlns:a16="http://schemas.microsoft.com/office/drawing/2014/main" id="{7685835B-C5DD-0551-AD34-4F25DFEF4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4623" y="5329802"/>
            <a:ext cx="143986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此时有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0">
                <a:extLst>
                  <a:ext uri="{FF2B5EF4-FFF2-40B4-BE49-F238E27FC236}">
                    <a16:creationId xmlns:a16="http://schemas.microsoft.com/office/drawing/2014/main" id="{F06C64F7-E791-99DB-A444-DC475D631C41}"/>
                  </a:ext>
                </a:extLst>
              </p:cNvPr>
              <p:cNvSpPr txBox="1"/>
              <p:nvPr/>
            </p:nvSpPr>
            <p:spPr bwMode="auto">
              <a:xfrm>
                <a:off x="7514573" y="5035452"/>
                <a:ext cx="2347278" cy="9747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20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36</m:t>
                          </m:r>
                        </m:den>
                      </m:f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Object 20">
                <a:extLst>
                  <a:ext uri="{FF2B5EF4-FFF2-40B4-BE49-F238E27FC236}">
                    <a16:creationId xmlns:a16="http://schemas.microsoft.com/office/drawing/2014/main" id="{F06C64F7-E791-99DB-A444-DC475D631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14573" y="5035452"/>
                <a:ext cx="2347278" cy="97472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52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19" name="Rectangle 2">
            <a:extLst>
              <a:ext uri="{FF2B5EF4-FFF2-40B4-BE49-F238E27FC236}">
                <a16:creationId xmlns:a16="http://schemas.microsoft.com/office/drawing/2014/main" id="{A82493B5-A510-0AB3-0B2F-01D42D895A8E}"/>
              </a:ext>
            </a:extLst>
          </p:cNvPr>
          <p:cNvSpPr txBox="1">
            <a:spLocks noChangeArrowheads="1"/>
          </p:cNvSpPr>
          <p:nvPr/>
        </p:nvSpPr>
        <p:spPr>
          <a:xfrm>
            <a:off x="1576007" y="794606"/>
            <a:ext cx="990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 </a:t>
            </a:r>
          </a:p>
        </p:txBody>
      </p:sp>
      <p:sp>
        <p:nvSpPr>
          <p:cNvPr id="20" name="Text Box 29">
            <a:extLst>
              <a:ext uri="{FF2B5EF4-FFF2-40B4-BE49-F238E27FC236}">
                <a16:creationId xmlns:a16="http://schemas.microsoft.com/office/drawing/2014/main" id="{F0F9FDDC-72C1-1D7B-A621-E7E6204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945" y="4424219"/>
            <a:ext cx="2133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解方程组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60">
                <a:extLst>
                  <a:ext uri="{FF2B5EF4-FFF2-40B4-BE49-F238E27FC236}">
                    <a16:creationId xmlns:a16="http://schemas.microsoft.com/office/drawing/2014/main" id="{C851B983-E379-A6BE-B1CA-90FF39E44BFA}"/>
                  </a:ext>
                </a:extLst>
              </p:cNvPr>
              <p:cNvSpPr txBox="1"/>
              <p:nvPr/>
            </p:nvSpPr>
            <p:spPr bwMode="auto">
              <a:xfrm>
                <a:off x="4615230" y="2442358"/>
                <a:ext cx="5334000" cy="8762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𝑥𝑦𝑧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𝜆</m:t>
                      </m:r>
                      <m:d>
                        <m:d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den>
                          </m:f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den>
                          </m:f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Object 60">
                <a:extLst>
                  <a:ext uri="{FF2B5EF4-FFF2-40B4-BE49-F238E27FC236}">
                    <a16:creationId xmlns:a16="http://schemas.microsoft.com/office/drawing/2014/main" id="{C851B983-E379-A6BE-B1CA-90FF39E44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15230" y="2442358"/>
                <a:ext cx="5334000" cy="8762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对象 1">
                <a:extLst>
                  <a:ext uri="{FF2B5EF4-FFF2-40B4-BE49-F238E27FC236}">
                    <a16:creationId xmlns:a16="http://schemas.microsoft.com/office/drawing/2014/main" id="{0FD667E1-0DB7-349F-48F2-456A91AB362B}"/>
                  </a:ext>
                </a:extLst>
              </p:cNvPr>
              <p:cNvSpPr txBox="1"/>
              <p:nvPr/>
            </p:nvSpPr>
            <p:spPr>
              <a:xfrm>
                <a:off x="2626945" y="817607"/>
                <a:ext cx="4373929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求函数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𝑢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𝑥𝑦𝑧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在附加条件</m:t>
                      </m:r>
                    </m:oMath>
                  </m:oMathPara>
                </a14:m>
                <a:endParaRPr lang="zh-CN" altLang="en-US" sz="28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2" name="对象 1">
                <a:extLst>
                  <a:ext uri="{FF2B5EF4-FFF2-40B4-BE49-F238E27FC236}">
                    <a16:creationId xmlns:a16="http://schemas.microsoft.com/office/drawing/2014/main" id="{0FD667E1-0DB7-349F-48F2-456A91AB3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945" y="817607"/>
                <a:ext cx="4373929" cy="444500"/>
              </a:xfrm>
              <a:prstGeom prst="rect">
                <a:avLst/>
              </a:prstGeom>
              <a:blipFill>
                <a:blip r:embed="rId5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对象 2">
                <a:extLst>
                  <a:ext uri="{FF2B5EF4-FFF2-40B4-BE49-F238E27FC236}">
                    <a16:creationId xmlns:a16="http://schemas.microsoft.com/office/drawing/2014/main" id="{11C23BAA-D9D9-5949-8F02-BC46F7D13074}"/>
                  </a:ext>
                </a:extLst>
              </p:cNvPr>
              <p:cNvSpPr txBox="1"/>
              <p:nvPr/>
            </p:nvSpPr>
            <p:spPr>
              <a:xfrm>
                <a:off x="2655520" y="1413731"/>
                <a:ext cx="6509599" cy="914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𝑧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𝑎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&gt;0,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&gt;0,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&gt;0,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𝑎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&gt;0)</m:t>
                      </m:r>
                    </m:oMath>
                  </m:oMathPara>
                </a14:m>
                <a:endParaRPr lang="zh-CN" altLang="en-US" sz="28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3" name="对象 2">
                <a:extLst>
                  <a:ext uri="{FF2B5EF4-FFF2-40B4-BE49-F238E27FC236}">
                    <a16:creationId xmlns:a16="http://schemas.microsoft.com/office/drawing/2014/main" id="{11C23BAA-D9D9-5949-8F02-BC46F7D13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520" y="1413731"/>
                <a:ext cx="6509599" cy="914400"/>
              </a:xfrm>
              <a:prstGeom prst="rect">
                <a:avLst/>
              </a:prstGeom>
              <a:blipFill>
                <a:blip r:embed="rId6"/>
                <a:stretch>
                  <a:fillRect b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对象 3">
                <a:extLst>
                  <a:ext uri="{FF2B5EF4-FFF2-40B4-BE49-F238E27FC236}">
                    <a16:creationId xmlns:a16="http://schemas.microsoft.com/office/drawing/2014/main" id="{E0DD72B3-6D7A-559C-B44F-775409B66D85}"/>
                  </a:ext>
                </a:extLst>
              </p:cNvPr>
              <p:cNvSpPr txBox="1"/>
              <p:nvPr/>
            </p:nvSpPr>
            <p:spPr>
              <a:xfrm>
                <a:off x="9022771" y="1644007"/>
                <a:ext cx="1776534" cy="48006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下的极值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4" name="对象 3">
                <a:extLst>
                  <a:ext uri="{FF2B5EF4-FFF2-40B4-BE49-F238E27FC236}">
                    <a16:creationId xmlns:a16="http://schemas.microsoft.com/office/drawing/2014/main" id="{E0DD72B3-6D7A-559C-B44F-775409B66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771" y="1644007"/>
                <a:ext cx="1776534" cy="4800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345">
            <a:extLst>
              <a:ext uri="{FF2B5EF4-FFF2-40B4-BE49-F238E27FC236}">
                <a16:creationId xmlns:a16="http://schemas.microsoft.com/office/drawing/2014/main" id="{130B2F22-680E-2E9F-E921-C3BE66951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007" y="2586622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对象 4">
                <a:extLst>
                  <a:ext uri="{FF2B5EF4-FFF2-40B4-BE49-F238E27FC236}">
                    <a16:creationId xmlns:a16="http://schemas.microsoft.com/office/drawing/2014/main" id="{BD3EE94B-AD32-958D-74D7-3A5CAD962EE1}"/>
                  </a:ext>
                </a:extLst>
              </p:cNvPr>
              <p:cNvSpPr txBox="1"/>
              <p:nvPr/>
            </p:nvSpPr>
            <p:spPr>
              <a:xfrm>
                <a:off x="3743814" y="3179832"/>
                <a:ext cx="2885585" cy="300333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𝑦𝑧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=0,</m:t>
                              </m:r>
                            </m:e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𝑥𝑧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=0,</m:t>
                              </m:r>
                            </m:e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𝑥𝑦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=0,</m:t>
                              </m:r>
                            </m:e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对象 4">
                <a:extLst>
                  <a:ext uri="{FF2B5EF4-FFF2-40B4-BE49-F238E27FC236}">
                    <a16:creationId xmlns:a16="http://schemas.microsoft.com/office/drawing/2014/main" id="{BD3EE94B-AD32-958D-74D7-3A5CAD962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814" y="3179832"/>
                <a:ext cx="2885585" cy="30033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对象 5">
                <a:extLst>
                  <a:ext uri="{FF2B5EF4-FFF2-40B4-BE49-F238E27FC236}">
                    <a16:creationId xmlns:a16="http://schemas.microsoft.com/office/drawing/2014/main" id="{55A8DE41-5873-5FD0-EA23-5C6F05C1998B}"/>
                  </a:ext>
                </a:extLst>
              </p:cNvPr>
              <p:cNvSpPr txBox="1"/>
              <p:nvPr/>
            </p:nvSpPr>
            <p:spPr>
              <a:xfrm>
                <a:off x="6536219" y="4433093"/>
                <a:ext cx="2628900" cy="4318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得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=3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对象 5">
                <a:extLst>
                  <a:ext uri="{FF2B5EF4-FFF2-40B4-BE49-F238E27FC236}">
                    <a16:creationId xmlns:a16="http://schemas.microsoft.com/office/drawing/2014/main" id="{55A8DE41-5873-5FD0-EA23-5C6F05C19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219" y="4433093"/>
                <a:ext cx="2628900" cy="431800"/>
              </a:xfrm>
              <a:prstGeom prst="rect">
                <a:avLst/>
              </a:prstGeom>
              <a:blipFill>
                <a:blip r:embed="rId9"/>
                <a:stretch>
                  <a:fillRect l="-1624" b="-12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410">
            <a:extLst>
              <a:ext uri="{FF2B5EF4-FFF2-40B4-BE49-F238E27FC236}">
                <a16:creationId xmlns:a16="http://schemas.microsoft.com/office/drawing/2014/main" id="{5C381E82-BCFC-CDC1-CB93-94092AF28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945" y="2650380"/>
            <a:ext cx="225937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作拉格朗日函数</a:t>
            </a:r>
          </a:p>
        </p:txBody>
      </p:sp>
    </p:spTree>
    <p:extLst>
      <p:ext uri="{BB962C8B-B14F-4D97-AF65-F5344CB8AC3E}">
        <p14:creationId xmlns:p14="http://schemas.microsoft.com/office/powerpoint/2010/main" val="242063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5" grpId="0"/>
      <p:bldP spid="32" grpId="0"/>
      <p:bldP spid="33" grpId="0"/>
      <p:bldP spid="3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60">
                <a:extLst>
                  <a:ext uri="{FF2B5EF4-FFF2-40B4-BE49-F238E27FC236}">
                    <a16:creationId xmlns:a16="http://schemas.microsoft.com/office/drawing/2014/main" id="{FD1143DE-C9B4-6288-5FD8-3F95EE3A25B6}"/>
                  </a:ext>
                </a:extLst>
              </p:cNvPr>
              <p:cNvSpPr txBox="1"/>
              <p:nvPr/>
            </p:nvSpPr>
            <p:spPr bwMode="auto">
              <a:xfrm>
                <a:off x="2288461" y="3129022"/>
                <a:ext cx="2756613" cy="26502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60">
                <a:extLst>
                  <a:ext uri="{FF2B5EF4-FFF2-40B4-BE49-F238E27FC236}">
                    <a16:creationId xmlns:a16="http://schemas.microsoft.com/office/drawing/2014/main" id="{FD1143DE-C9B4-6288-5FD8-3F95EE3A2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8461" y="3129022"/>
                <a:ext cx="2756613" cy="26502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11">
                <a:extLst>
                  <a:ext uri="{FF2B5EF4-FFF2-40B4-BE49-F238E27FC236}">
                    <a16:creationId xmlns:a16="http://schemas.microsoft.com/office/drawing/2014/main" id="{518FE313-E0BC-4FE0-A803-1B05B3CE06BE}"/>
                  </a:ext>
                </a:extLst>
              </p:cNvPr>
              <p:cNvSpPr txBox="1"/>
              <p:nvPr/>
            </p:nvSpPr>
            <p:spPr>
              <a:xfrm>
                <a:off x="2288461" y="1073686"/>
                <a:ext cx="7538163" cy="168284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等式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𝑥𝑦𝑧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200" b="0" i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          </m:t>
                              </m:r>
                            </m:e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eqArr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两边对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和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分别求偏导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得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对象 11">
                <a:extLst>
                  <a:ext uri="{FF2B5EF4-FFF2-40B4-BE49-F238E27FC236}">
                    <a16:creationId xmlns:a16="http://schemas.microsoft.com/office/drawing/2014/main" id="{518FE313-E0BC-4FE0-A803-1B05B3CE0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461" y="1073686"/>
                <a:ext cx="7538163" cy="16828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6">
                <a:extLst>
                  <a:ext uri="{FF2B5EF4-FFF2-40B4-BE49-F238E27FC236}">
                    <a16:creationId xmlns:a16="http://schemas.microsoft.com/office/drawing/2014/main" id="{5D43F509-3EB4-06DD-8B57-A00A639F6070}"/>
                  </a:ext>
                </a:extLst>
              </p:cNvPr>
              <p:cNvSpPr txBox="1"/>
              <p:nvPr/>
            </p:nvSpPr>
            <p:spPr>
              <a:xfrm>
                <a:off x="2288461" y="632510"/>
                <a:ext cx="8356600" cy="495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此时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为了判断唯一的驻点</m:t>
                      </m:r>
                      <m:d>
                        <m:d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,3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,3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是否为极值点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对象 6">
                <a:extLst>
                  <a:ext uri="{FF2B5EF4-FFF2-40B4-BE49-F238E27FC236}">
                    <a16:creationId xmlns:a16="http://schemas.microsoft.com/office/drawing/2014/main" id="{5D43F509-3EB4-06DD-8B57-A00A639F6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461" y="632510"/>
                <a:ext cx="8356600" cy="495300"/>
              </a:xfrm>
              <a:prstGeom prst="rect">
                <a:avLst/>
              </a:prstGeom>
              <a:blipFill>
                <a:blip r:embed="rId6"/>
                <a:stretch>
                  <a:fillRect l="-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右箭头 7">
            <a:extLst>
              <a:ext uri="{FF2B5EF4-FFF2-40B4-BE49-F238E27FC236}">
                <a16:creationId xmlns:a16="http://schemas.microsoft.com/office/drawing/2014/main" id="{CFE5D4CC-4D5C-7A9D-08F3-EFA2D9A85644}"/>
              </a:ext>
            </a:extLst>
          </p:cNvPr>
          <p:cNvSpPr/>
          <p:nvPr/>
        </p:nvSpPr>
        <p:spPr>
          <a:xfrm>
            <a:off x="4793300" y="4262662"/>
            <a:ext cx="978408" cy="281354"/>
          </a:xfrm>
          <a:prstGeom prst="rightArrow">
            <a:avLst>
              <a:gd name="adj1" fmla="val 50000"/>
              <a:gd name="adj2" fmla="val 128125"/>
            </a:avLst>
          </a:prstGeom>
          <a:solidFill>
            <a:srgbClr val="049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0">
                <a:extLst>
                  <a:ext uri="{FF2B5EF4-FFF2-40B4-BE49-F238E27FC236}">
                    <a16:creationId xmlns:a16="http://schemas.microsoft.com/office/drawing/2014/main" id="{B42B7656-0137-8050-A064-6A359E8D6E7F}"/>
                  </a:ext>
                </a:extLst>
              </p:cNvPr>
              <p:cNvSpPr txBox="1"/>
              <p:nvPr/>
            </p:nvSpPr>
            <p:spPr bwMode="auto">
              <a:xfrm>
                <a:off x="5972890" y="2501272"/>
                <a:ext cx="4076700" cy="38803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0">
                <a:extLst>
                  <a:ext uri="{FF2B5EF4-FFF2-40B4-BE49-F238E27FC236}">
                    <a16:creationId xmlns:a16="http://schemas.microsoft.com/office/drawing/2014/main" id="{B42B7656-0137-8050-A064-6A359E8D6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2890" y="2501272"/>
                <a:ext cx="4076700" cy="38803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09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0">
                <a:extLst>
                  <a:ext uri="{FF2B5EF4-FFF2-40B4-BE49-F238E27FC236}">
                    <a16:creationId xmlns:a16="http://schemas.microsoft.com/office/drawing/2014/main" id="{2C4DFCCA-B4C3-E876-39A1-B6A6980AF097}"/>
                  </a:ext>
                </a:extLst>
              </p:cNvPr>
              <p:cNvSpPr txBox="1"/>
              <p:nvPr/>
            </p:nvSpPr>
            <p:spPr bwMode="auto">
              <a:xfrm>
                <a:off x="2514723" y="1503554"/>
                <a:ext cx="21590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于是可判断出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Object 60">
                <a:extLst>
                  <a:ext uri="{FF2B5EF4-FFF2-40B4-BE49-F238E27FC236}">
                    <a16:creationId xmlns:a16="http://schemas.microsoft.com/office/drawing/2014/main" id="{2C4DFCCA-B4C3-E876-39A1-B6A6980A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723" y="1503554"/>
                <a:ext cx="2159000" cy="393700"/>
              </a:xfrm>
              <a:prstGeom prst="rect">
                <a:avLst/>
              </a:prstGeom>
              <a:blipFill>
                <a:blip r:embed="rId4"/>
                <a:stretch>
                  <a:fillRect l="-1977" b="-234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8">
                <a:extLst>
                  <a:ext uri="{FF2B5EF4-FFF2-40B4-BE49-F238E27FC236}">
                    <a16:creationId xmlns:a16="http://schemas.microsoft.com/office/drawing/2014/main" id="{8C2EC906-6B3F-56E2-35F3-2594EB1223E8}"/>
                  </a:ext>
                </a:extLst>
              </p:cNvPr>
              <p:cNvSpPr txBox="1"/>
              <p:nvPr/>
            </p:nvSpPr>
            <p:spPr>
              <a:xfrm>
                <a:off x="2514723" y="4103332"/>
                <a:ext cx="7629402" cy="495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因而</m:t>
                      </m:r>
                      <m:d>
                        <m:d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,3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,3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是函数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𝑥𝑦𝑧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在所给条件下的极小值点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对象 8">
                <a:extLst>
                  <a:ext uri="{FF2B5EF4-FFF2-40B4-BE49-F238E27FC236}">
                    <a16:creationId xmlns:a16="http://schemas.microsoft.com/office/drawing/2014/main" id="{8C2EC906-6B3F-56E2-35F3-2594EB122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723" y="4103332"/>
                <a:ext cx="7629402" cy="495300"/>
              </a:xfrm>
              <a:prstGeom prst="rect">
                <a:avLst/>
              </a:prstGeom>
              <a:blipFill>
                <a:blip r:embed="rId5"/>
                <a:stretch>
                  <a:fillRect l="-4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19">
                <a:extLst>
                  <a:ext uri="{FF2B5EF4-FFF2-40B4-BE49-F238E27FC236}">
                    <a16:creationId xmlns:a16="http://schemas.microsoft.com/office/drawing/2014/main" id="{19971CEB-9150-7F02-43FD-D7B12236231B}"/>
                  </a:ext>
                </a:extLst>
              </p:cNvPr>
              <p:cNvSpPr txBox="1"/>
              <p:nvPr/>
            </p:nvSpPr>
            <p:spPr>
              <a:xfrm>
                <a:off x="2514723" y="4821326"/>
                <a:ext cx="6191128" cy="596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故所求函数的极小值为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𝑥𝑦𝑧</m:t>
                              </m:r>
                            </m:e>
                          </m:d>
                        </m:e>
                        <m:sub>
                          <m:d>
                            <m:d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,3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,3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=27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对象 19">
                <a:extLst>
                  <a:ext uri="{FF2B5EF4-FFF2-40B4-BE49-F238E27FC236}">
                    <a16:creationId xmlns:a16="http://schemas.microsoft.com/office/drawing/2014/main" id="{19971CEB-9150-7F02-43FD-D7B122362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723" y="4821326"/>
                <a:ext cx="6191128" cy="596900"/>
              </a:xfrm>
              <a:prstGeom prst="rect">
                <a:avLst/>
              </a:prstGeom>
              <a:blipFill>
                <a:blip r:embed="rId6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1">
                <a:extLst>
                  <a:ext uri="{FF2B5EF4-FFF2-40B4-BE49-F238E27FC236}">
                    <a16:creationId xmlns:a16="http://schemas.microsoft.com/office/drawing/2014/main" id="{83F4DB49-77E0-0353-975E-CABDC3C78FC7}"/>
                  </a:ext>
                </a:extLst>
              </p:cNvPr>
              <p:cNvSpPr txBox="1"/>
              <p:nvPr/>
            </p:nvSpPr>
            <p:spPr>
              <a:xfrm>
                <a:off x="3785104" y="2081848"/>
                <a:ext cx="5101721" cy="168284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𝐴𝐶</m:t>
                              </m:r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200" i="1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  <m:t>𝑥𝑥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altLang="zh-CN" sz="2200" i="1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  <m:t>𝑦𝑦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zh-CN" sz="2200" i="1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2200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  <m:t>𝑥𝑦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2200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d>
                                    <m:d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,3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,3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altLang="zh-CN" sz="2200" smtClean="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&gt;0</m:t>
                              </m:r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Times New Roman" panose="020206030504050203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Times New Roman" panose="02020603050405020304" pitchFamily="18" charset="0"/>
                                            </a:rPr>
                                            <m:t>𝑥𝑥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d>
                                    <m:d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,3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,3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altLang="zh-CN" sz="2200" smtClean="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&gt;0</m:t>
                              </m:r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200" b="0" i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对象 11">
                <a:extLst>
                  <a:ext uri="{FF2B5EF4-FFF2-40B4-BE49-F238E27FC236}">
                    <a16:creationId xmlns:a16="http://schemas.microsoft.com/office/drawing/2014/main" id="{83F4DB49-77E0-0353-975E-CABDC3C78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104" y="2081848"/>
                <a:ext cx="5101721" cy="1682840"/>
              </a:xfrm>
              <a:prstGeom prst="rect">
                <a:avLst/>
              </a:prstGeom>
              <a:blipFill>
                <a:blip r:embed="rId7"/>
                <a:stretch>
                  <a:fillRect r="-1673" b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304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13" name="Rectangle 2">
            <a:extLst>
              <a:ext uri="{FF2B5EF4-FFF2-40B4-BE49-F238E27FC236}">
                <a16:creationId xmlns:a16="http://schemas.microsoft.com/office/drawing/2014/main" id="{251C05F2-749E-9E4E-3D9A-E05D1952CA17}"/>
              </a:ext>
            </a:extLst>
          </p:cNvPr>
          <p:cNvSpPr txBox="1">
            <a:spLocks noChangeArrowheads="1"/>
          </p:cNvSpPr>
          <p:nvPr/>
        </p:nvSpPr>
        <p:spPr>
          <a:xfrm>
            <a:off x="977412" y="883026"/>
            <a:ext cx="990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">
                <a:extLst>
                  <a:ext uri="{FF2B5EF4-FFF2-40B4-BE49-F238E27FC236}">
                    <a16:creationId xmlns:a16="http://schemas.microsoft.com/office/drawing/2014/main" id="{CDF1514A-0294-8D5A-289F-3D8757D36CAE}"/>
                  </a:ext>
                </a:extLst>
              </p:cNvPr>
              <p:cNvSpPr txBox="1"/>
              <p:nvPr/>
            </p:nvSpPr>
            <p:spPr>
              <a:xfrm>
                <a:off x="1873615" y="916285"/>
                <a:ext cx="8949279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某电视机厂生产一台电视机的成本为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𝐶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每台电视机的销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4" name="对象 1">
                <a:extLst>
                  <a:ext uri="{FF2B5EF4-FFF2-40B4-BE49-F238E27FC236}">
                    <a16:creationId xmlns:a16="http://schemas.microsoft.com/office/drawing/2014/main" id="{CDF1514A-0294-8D5A-289F-3D8757D36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615" y="916285"/>
                <a:ext cx="8949279" cy="444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2">
                <a:extLst>
                  <a:ext uri="{FF2B5EF4-FFF2-40B4-BE49-F238E27FC236}">
                    <a16:creationId xmlns:a16="http://schemas.microsoft.com/office/drawing/2014/main" id="{3E6C778C-7669-0F24-8628-DBD4B19D9A08}"/>
                  </a:ext>
                </a:extLst>
              </p:cNvPr>
              <p:cNvSpPr txBox="1"/>
              <p:nvPr/>
            </p:nvSpPr>
            <p:spPr>
              <a:xfrm>
                <a:off x="1873616" y="1527428"/>
                <a:ext cx="9727833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售价格为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 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𝑝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销售量为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 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.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假设该厂的生产处于平衡状态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5" name="对象 2">
                <a:extLst>
                  <a:ext uri="{FF2B5EF4-FFF2-40B4-BE49-F238E27FC236}">
                    <a16:creationId xmlns:a16="http://schemas.microsoft.com/office/drawing/2014/main" id="{3E6C778C-7669-0F24-8628-DBD4B19D9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616" y="1527428"/>
                <a:ext cx="9727833" cy="444500"/>
              </a:xfrm>
              <a:prstGeom prst="rect">
                <a:avLst/>
              </a:prstGeom>
              <a:blipFill>
                <a:blip r:embed="rId5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3">
                <a:extLst>
                  <a:ext uri="{FF2B5EF4-FFF2-40B4-BE49-F238E27FC236}">
                    <a16:creationId xmlns:a16="http://schemas.microsoft.com/office/drawing/2014/main" id="{AE1DEA90-4715-88D4-9F74-A290390C9837}"/>
                  </a:ext>
                </a:extLst>
              </p:cNvPr>
              <p:cNvSpPr txBox="1"/>
              <p:nvPr/>
            </p:nvSpPr>
            <p:spPr>
              <a:xfrm>
                <a:off x="1873616" y="2157621"/>
                <a:ext cx="5460633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即电视机的生产量等于销售量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.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若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6" name="对象 3">
                <a:extLst>
                  <a:ext uri="{FF2B5EF4-FFF2-40B4-BE49-F238E27FC236}">
                    <a16:creationId xmlns:a16="http://schemas.microsoft.com/office/drawing/2014/main" id="{AE1DEA90-4715-88D4-9F74-A290390C9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616" y="2157621"/>
                <a:ext cx="5460633" cy="406400"/>
              </a:xfrm>
              <a:prstGeom prst="rect">
                <a:avLst/>
              </a:prstGeom>
              <a:blipFill>
                <a:blip r:embed="rId6"/>
                <a:stretch>
                  <a:fillRect b="-59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6">
                <a:extLst>
                  <a:ext uri="{FF2B5EF4-FFF2-40B4-BE49-F238E27FC236}">
                    <a16:creationId xmlns:a16="http://schemas.microsoft.com/office/drawing/2014/main" id="{B882DD58-18D6-D84E-5E38-8B8930C9741F}"/>
                  </a:ext>
                </a:extLst>
              </p:cNvPr>
              <p:cNvSpPr txBox="1"/>
              <p:nvPr/>
            </p:nvSpPr>
            <p:spPr>
              <a:xfrm>
                <a:off x="2807066" y="2778289"/>
                <a:ext cx="5460632" cy="469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𝑀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e</m:t>
                          </m:r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−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𝑎𝑝</m:t>
                          </m:r>
                        </m:sup>
                      </m:sSup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𝑀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&gt;0,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𝑎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&gt;0),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7" name="对象 6">
                <a:extLst>
                  <a:ext uri="{FF2B5EF4-FFF2-40B4-BE49-F238E27FC236}">
                    <a16:creationId xmlns:a16="http://schemas.microsoft.com/office/drawing/2014/main" id="{B882DD58-18D6-D84E-5E38-8B8930C97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066" y="2778289"/>
                <a:ext cx="5460632" cy="469900"/>
              </a:xfrm>
              <a:prstGeom prst="rect">
                <a:avLst/>
              </a:prstGeom>
              <a:blipFill>
                <a:blip r:embed="rId7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对象 7">
                <a:extLst>
                  <a:ext uri="{FF2B5EF4-FFF2-40B4-BE49-F238E27FC236}">
                    <a16:creationId xmlns:a16="http://schemas.microsoft.com/office/drawing/2014/main" id="{27C063A5-4AC6-1168-D646-B07C09BD225F}"/>
                  </a:ext>
                </a:extLst>
              </p:cNvPr>
              <p:cNvSpPr txBox="1"/>
              <p:nvPr/>
            </p:nvSpPr>
            <p:spPr>
              <a:xfrm>
                <a:off x="1873616" y="3452932"/>
                <a:ext cx="6879858" cy="55722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其中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𝑀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为市场最大需求量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𝑎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是价格系数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8" name="对象 7">
                <a:extLst>
                  <a:ext uri="{FF2B5EF4-FFF2-40B4-BE49-F238E27FC236}">
                    <a16:creationId xmlns:a16="http://schemas.microsoft.com/office/drawing/2014/main" id="{27C063A5-4AC6-1168-D646-B07C09BD2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616" y="3452932"/>
                <a:ext cx="6879858" cy="557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16">
                <a:extLst>
                  <a:ext uri="{FF2B5EF4-FFF2-40B4-BE49-F238E27FC236}">
                    <a16:creationId xmlns:a16="http://schemas.microsoft.com/office/drawing/2014/main" id="{CD162C7C-7E4B-F6AA-41AA-35294A8A4368}"/>
                  </a:ext>
                </a:extLst>
              </p:cNvPr>
              <p:cNvSpPr txBox="1"/>
              <p:nvPr/>
            </p:nvSpPr>
            <p:spPr>
              <a:xfrm>
                <a:off x="2807066" y="4091070"/>
                <a:ext cx="6241683" cy="54610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𝐶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𝑘</m:t>
                      </m:r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</m:func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𝑘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&gt;0,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&gt;1),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9" name="对象 16">
                <a:extLst>
                  <a:ext uri="{FF2B5EF4-FFF2-40B4-BE49-F238E27FC236}">
                    <a16:creationId xmlns:a16="http://schemas.microsoft.com/office/drawing/2014/main" id="{CD162C7C-7E4B-F6AA-41AA-35294A8A4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066" y="4091070"/>
                <a:ext cx="6241683" cy="54610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对象 10">
                <a:extLst>
                  <a:ext uri="{FF2B5EF4-FFF2-40B4-BE49-F238E27FC236}">
                    <a16:creationId xmlns:a16="http://schemas.microsoft.com/office/drawing/2014/main" id="{53189B89-62D0-0FCD-C352-BB37758BA831}"/>
                  </a:ext>
                </a:extLst>
              </p:cNvPr>
              <p:cNvSpPr txBox="1"/>
              <p:nvPr/>
            </p:nvSpPr>
            <p:spPr>
              <a:xfrm>
                <a:off x="1873616" y="4784764"/>
                <a:ext cx="8337183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其中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是只生产一台电视机的成本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𝑘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是规模系数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0" name="对象 10">
                <a:extLst>
                  <a:ext uri="{FF2B5EF4-FFF2-40B4-BE49-F238E27FC236}">
                    <a16:creationId xmlns:a16="http://schemas.microsoft.com/office/drawing/2014/main" id="{53189B89-62D0-0FCD-C352-BB37758BA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616" y="4784764"/>
                <a:ext cx="8337183" cy="457200"/>
              </a:xfrm>
              <a:prstGeom prst="rect">
                <a:avLst/>
              </a:prstGeom>
              <a:blipFill>
                <a:blip r:embed="rId10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对象 19">
                <a:extLst>
                  <a:ext uri="{FF2B5EF4-FFF2-40B4-BE49-F238E27FC236}">
                    <a16:creationId xmlns:a16="http://schemas.microsoft.com/office/drawing/2014/main" id="{79AC9A3F-1E99-ADFE-D5EA-790173B28E3E}"/>
                  </a:ext>
                </a:extLst>
              </p:cNvPr>
              <p:cNvSpPr txBox="1"/>
              <p:nvPr/>
            </p:nvSpPr>
            <p:spPr>
              <a:xfrm>
                <a:off x="1873616" y="5408606"/>
                <a:ext cx="9270634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问应如何确定电视机的售价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 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𝑝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才能使该厂获得最大利润？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1" name="对象 19">
                <a:extLst>
                  <a:ext uri="{FF2B5EF4-FFF2-40B4-BE49-F238E27FC236}">
                    <a16:creationId xmlns:a16="http://schemas.microsoft.com/office/drawing/2014/main" id="{79AC9A3F-1E99-ADFE-D5EA-790173B28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616" y="5408606"/>
                <a:ext cx="9270634" cy="444500"/>
              </a:xfrm>
              <a:prstGeom prst="rect">
                <a:avLst/>
              </a:prstGeom>
              <a:blipFill>
                <a:blip r:embed="rId11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1390649"/>
            <a:ext cx="10817987" cy="3924301"/>
            <a:chOff x="687324" y="1028699"/>
            <a:chExt cx="10817987" cy="39243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1028699"/>
                  <a:ext cx="10817352" cy="39243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1028699"/>
                  <a:ext cx="10817352" cy="392430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1028699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1028699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4279483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4259617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9" name="Text Box 345">
            <a:extLst>
              <a:ext uri="{FF2B5EF4-FFF2-40B4-BE49-F238E27FC236}">
                <a16:creationId xmlns:a16="http://schemas.microsoft.com/office/drawing/2014/main" id="{7D72C79F-6440-50B1-D576-0E6DE8983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584" y="1943492"/>
            <a:ext cx="5109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2">
                <a:extLst>
                  <a:ext uri="{FF2B5EF4-FFF2-40B4-BE49-F238E27FC236}">
                    <a16:creationId xmlns:a16="http://schemas.microsoft.com/office/drawing/2014/main" id="{7FCCE020-1CD4-1F38-AA1A-BBCA18D30499}"/>
                  </a:ext>
                </a:extLst>
              </p:cNvPr>
              <p:cNvSpPr txBox="1"/>
              <p:nvPr/>
            </p:nvSpPr>
            <p:spPr>
              <a:xfrm>
                <a:off x="2506662" y="1993637"/>
                <a:ext cx="3987800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设厂家获得的利润为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对象 2">
                <a:extLst>
                  <a:ext uri="{FF2B5EF4-FFF2-40B4-BE49-F238E27FC236}">
                    <a16:creationId xmlns:a16="http://schemas.microsoft.com/office/drawing/2014/main" id="{7FCCE020-1CD4-1F38-AA1A-BBCA18D30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662" y="1993637"/>
                <a:ext cx="3987800" cy="444500"/>
              </a:xfrm>
              <a:prstGeom prst="rect">
                <a:avLst/>
              </a:prstGeom>
              <a:blipFill>
                <a:blip r:embed="rId4"/>
                <a:stretch>
                  <a:fillRect l="-1223" b="-10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3">
                <a:extLst>
                  <a:ext uri="{FF2B5EF4-FFF2-40B4-BE49-F238E27FC236}">
                    <a16:creationId xmlns:a16="http://schemas.microsoft.com/office/drawing/2014/main" id="{7EB51A5E-2B8A-CA12-C164-90EA3E66410F}"/>
                  </a:ext>
                </a:extLst>
              </p:cNvPr>
              <p:cNvSpPr txBox="1"/>
              <p:nvPr/>
            </p:nvSpPr>
            <p:spPr>
              <a:xfrm>
                <a:off x="3957221" y="2528643"/>
                <a:ext cx="2070100" cy="495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" name="对象 3">
                <a:extLst>
                  <a:ext uri="{FF2B5EF4-FFF2-40B4-BE49-F238E27FC236}">
                    <a16:creationId xmlns:a16="http://schemas.microsoft.com/office/drawing/2014/main" id="{7EB51A5E-2B8A-CA12-C164-90EA3E664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221" y="2528643"/>
                <a:ext cx="2070100" cy="495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4">
                <a:extLst>
                  <a:ext uri="{FF2B5EF4-FFF2-40B4-BE49-F238E27FC236}">
                    <a16:creationId xmlns:a16="http://schemas.microsoft.com/office/drawing/2014/main" id="{769AE7A2-517D-91C8-A35A-059FB9ED78E0}"/>
                  </a:ext>
                </a:extLst>
              </p:cNvPr>
              <p:cNvSpPr txBox="1"/>
              <p:nvPr/>
            </p:nvSpPr>
            <p:spPr>
              <a:xfrm>
                <a:off x="2506662" y="3085874"/>
                <a:ext cx="4203773" cy="469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并且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𝑎𝑝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" name="对象 4">
                <a:extLst>
                  <a:ext uri="{FF2B5EF4-FFF2-40B4-BE49-F238E27FC236}">
                    <a16:creationId xmlns:a16="http://schemas.microsoft.com/office/drawing/2014/main" id="{769AE7A2-517D-91C8-A35A-059FB9ED7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662" y="3085874"/>
                <a:ext cx="4203773" cy="469900"/>
              </a:xfrm>
              <a:prstGeom prst="rect">
                <a:avLst/>
              </a:prstGeom>
              <a:blipFill>
                <a:blip r:embed="rId6"/>
                <a:stretch>
                  <a:fillRect l="-1014" b="-77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对象 5">
                <a:extLst>
                  <a:ext uri="{FF2B5EF4-FFF2-40B4-BE49-F238E27FC236}">
                    <a16:creationId xmlns:a16="http://schemas.microsoft.com/office/drawing/2014/main" id="{848260DC-BD26-27ED-97A1-6BD554C1F15A}"/>
                  </a:ext>
                </a:extLst>
              </p:cNvPr>
              <p:cNvSpPr txBox="1"/>
              <p:nvPr/>
            </p:nvSpPr>
            <p:spPr>
              <a:xfrm>
                <a:off x="6494462" y="3104924"/>
                <a:ext cx="4165600" cy="4318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&gt;1),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" name="对象 5">
                <a:extLst>
                  <a:ext uri="{FF2B5EF4-FFF2-40B4-BE49-F238E27FC236}">
                    <a16:creationId xmlns:a16="http://schemas.microsoft.com/office/drawing/2014/main" id="{848260DC-BD26-27ED-97A1-6BD554C1F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462" y="3104924"/>
                <a:ext cx="4165600" cy="431800"/>
              </a:xfrm>
              <a:prstGeom prst="rect">
                <a:avLst/>
              </a:prstGeom>
              <a:blipFill>
                <a:blip r:embed="rId7"/>
                <a:stretch>
                  <a:fillRect l="-146" b="-15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60">
                <a:extLst>
                  <a:ext uri="{FF2B5EF4-FFF2-40B4-BE49-F238E27FC236}">
                    <a16:creationId xmlns:a16="http://schemas.microsoft.com/office/drawing/2014/main" id="{AB037109-4B5F-FB6B-8372-C2F3FA86F7C0}"/>
                  </a:ext>
                </a:extLst>
              </p:cNvPr>
              <p:cNvSpPr txBox="1"/>
              <p:nvPr/>
            </p:nvSpPr>
            <p:spPr bwMode="auto">
              <a:xfrm>
                <a:off x="2506662" y="4274668"/>
                <a:ext cx="7408863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𝑎𝑝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3" name="Object 60">
                <a:extLst>
                  <a:ext uri="{FF2B5EF4-FFF2-40B4-BE49-F238E27FC236}">
                    <a16:creationId xmlns:a16="http://schemas.microsoft.com/office/drawing/2014/main" id="{AB037109-4B5F-FB6B-8372-C2F3FA86F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6662" y="4274668"/>
                <a:ext cx="7408863" cy="482600"/>
              </a:xfrm>
              <a:prstGeom prst="rect">
                <a:avLst/>
              </a:prstGeom>
              <a:blipFill>
                <a:blip r:embed="rId8"/>
                <a:stretch>
                  <a:fillRect l="-82" b="-37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410">
            <a:extLst>
              <a:ext uri="{FF2B5EF4-FFF2-40B4-BE49-F238E27FC236}">
                <a16:creationId xmlns:a16="http://schemas.microsoft.com/office/drawing/2014/main" id="{9506042A-DFC1-A558-6E2D-9CCF0DA37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6662" y="3700255"/>
            <a:ext cx="324167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Cabin Medium" panose="00000600000000000000" pitchFamily="2" charset="0"/>
                <a:cs typeface="Times New Roman" panose="02020603050405020304" pitchFamily="18" charset="0"/>
              </a:rPr>
              <a:t>作拉格朗日函数</a:t>
            </a:r>
          </a:p>
        </p:txBody>
      </p:sp>
    </p:spTree>
    <p:extLst>
      <p:ext uri="{BB962C8B-B14F-4D97-AF65-F5344CB8AC3E}">
        <p14:creationId xmlns:p14="http://schemas.microsoft.com/office/powerpoint/2010/main" val="20157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22" grpId="0"/>
      <p:bldP spid="23" grpId="0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 Box 29">
            <a:extLst>
              <a:ext uri="{FF2B5EF4-FFF2-40B4-BE49-F238E27FC236}">
                <a16:creationId xmlns:a16="http://schemas.microsoft.com/office/drawing/2014/main" id="{7FA30EA1-FB9A-E71A-9120-7053CBFF7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6237" y="2047288"/>
            <a:ext cx="132333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解方程组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10">
                <a:extLst>
                  <a:ext uri="{FF2B5EF4-FFF2-40B4-BE49-F238E27FC236}">
                    <a16:creationId xmlns:a16="http://schemas.microsoft.com/office/drawing/2014/main" id="{187851C8-CCEB-A0FC-D24E-F326D7E7EADC}"/>
                  </a:ext>
                </a:extLst>
              </p:cNvPr>
              <p:cNvSpPr txBox="1"/>
              <p:nvPr/>
            </p:nvSpPr>
            <p:spPr>
              <a:xfrm>
                <a:off x="7096682" y="1294203"/>
                <a:ext cx="4254500" cy="214200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得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&amp;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</m: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&amp;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𝜇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</m: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&amp;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𝑝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−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  <m:func>
                                    <m:func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𝑀</m:t>
                                      </m:r>
                                    </m:e>
                                  </m:func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𝑎</m:t>
                                      </m:r>
                                    </m:den>
                                  </m:f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−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1−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𝑎𝑘</m:t>
                                  </m:r>
                                </m:den>
                              </m:f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对象 10">
                <a:extLst>
                  <a:ext uri="{FF2B5EF4-FFF2-40B4-BE49-F238E27FC236}">
                    <a16:creationId xmlns:a16="http://schemas.microsoft.com/office/drawing/2014/main" id="{187851C8-CCEB-A0FC-D24E-F326D7E7E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682" y="1294203"/>
                <a:ext cx="4254500" cy="21420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5">
                <a:extLst>
                  <a:ext uri="{FF2B5EF4-FFF2-40B4-BE49-F238E27FC236}">
                    <a16:creationId xmlns:a16="http://schemas.microsoft.com/office/drawing/2014/main" id="{A72B6059-89B9-0B35-FBAE-DC6600699E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26237" y="4044615"/>
                <a:ext cx="5393069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由实际问题本身可知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最优价格必定存在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 Box 15">
                <a:extLst>
                  <a:ext uri="{FF2B5EF4-FFF2-40B4-BE49-F238E27FC236}">
                    <a16:creationId xmlns:a16="http://schemas.microsoft.com/office/drawing/2014/main" id="{A72B6059-89B9-0B35-FBAE-DC6600699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26237" y="4044615"/>
                <a:ext cx="5393069" cy="430887"/>
              </a:xfrm>
              <a:prstGeom prst="rect">
                <a:avLst/>
              </a:prstGeom>
              <a:blipFill>
                <a:blip r:embed="rId5"/>
                <a:stretch>
                  <a:fillRect l="-1471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17">
            <a:extLst>
              <a:ext uri="{FF2B5EF4-FFF2-40B4-BE49-F238E27FC236}">
                <a16:creationId xmlns:a16="http://schemas.microsoft.com/office/drawing/2014/main" id="{172E3134-D4DB-A33A-0F01-2092908F6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9934" y="4035090"/>
            <a:ext cx="50747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809E167-B58F-C95D-3544-6054ACDD8A50}"/>
              </a:ext>
            </a:extLst>
          </p:cNvPr>
          <p:cNvGrpSpPr/>
          <p:nvPr/>
        </p:nvGrpSpPr>
        <p:grpSpPr>
          <a:xfrm>
            <a:off x="2910235" y="625951"/>
            <a:ext cx="4421999" cy="3196681"/>
            <a:chOff x="2910235" y="625951"/>
            <a:chExt cx="4421999" cy="31966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8">
                  <a:extLst>
                    <a:ext uri="{FF2B5EF4-FFF2-40B4-BE49-F238E27FC236}">
                      <a16:creationId xmlns:a16="http://schemas.microsoft.com/office/drawing/2014/main" id="{68F358B8-EA21-3CE0-F426-1AB30DEB5054}"/>
                    </a:ext>
                  </a:extLst>
                </p:cNvPr>
                <p:cNvSpPr txBox="1"/>
                <p:nvPr/>
              </p:nvSpPr>
              <p:spPr>
                <a:xfrm>
                  <a:off x="2910235" y="670024"/>
                  <a:ext cx="393700" cy="3152608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zh-CN" altLang="en-US" sz="4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zh-CN" alt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zh-CN" alt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</m:e>
                              <m:e>
                                <m:r>
                                  <a:rPr lang="zh-CN" alt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</m:e>
                              <m:e>
                                <m:r>
                                  <a:rPr lang="zh-CN" alt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</m:e>
                              <m:e>
                                <m:r>
                                  <a:rPr lang="zh-CN" alt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</m:e>
                              <m:e>
                                <m:r>
                                  <a:rPr lang="zh-CN" alt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44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对象 8">
                  <a:extLst>
                    <a:ext uri="{FF2B5EF4-FFF2-40B4-BE49-F238E27FC236}">
                      <a16:creationId xmlns:a16="http://schemas.microsoft.com/office/drawing/2014/main" id="{68F358B8-EA21-3CE0-F426-1AB30DEB50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0235" y="670024"/>
                  <a:ext cx="393700" cy="3152608"/>
                </a:xfrm>
                <a:prstGeom prst="rect">
                  <a:avLst/>
                </a:prstGeom>
                <a:blipFill>
                  <a:blip r:embed="rId6"/>
                  <a:stretch>
                    <a:fillRect r="-184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19">
                  <a:extLst>
                    <a:ext uri="{FF2B5EF4-FFF2-40B4-BE49-F238E27FC236}">
                      <a16:creationId xmlns:a16="http://schemas.microsoft.com/office/drawing/2014/main" id="{DD0578DB-8D68-F7F3-D4DA-62FD9948F98D}"/>
                    </a:ext>
                  </a:extLst>
                </p:cNvPr>
                <p:cNvSpPr txBox="1"/>
                <p:nvPr/>
              </p:nvSpPr>
              <p:spPr>
                <a:xfrm>
                  <a:off x="3420634" y="625951"/>
                  <a:ext cx="3911600" cy="71667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sub>
                        </m:s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=(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𝑝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𝜆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𝜇</m:t>
                            </m:r>
                          </m:num>
                          <m:den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=0,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对象 19">
                  <a:extLst>
                    <a:ext uri="{FF2B5EF4-FFF2-40B4-BE49-F238E27FC236}">
                      <a16:creationId xmlns:a16="http://schemas.microsoft.com/office/drawing/2014/main" id="{DD0578DB-8D68-F7F3-D4DA-62FD9948F9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0634" y="625951"/>
                  <a:ext cx="3911600" cy="71667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对象 20">
                  <a:extLst>
                    <a:ext uri="{FF2B5EF4-FFF2-40B4-BE49-F238E27FC236}">
                      <a16:creationId xmlns:a16="http://schemas.microsoft.com/office/drawing/2014/main" id="{0B1DFB01-986A-A2AB-2A47-591FAF24BA01}"/>
                    </a:ext>
                  </a:extLst>
                </p:cNvPr>
                <p:cNvSpPr txBox="1"/>
                <p:nvPr/>
              </p:nvSpPr>
              <p:spPr>
                <a:xfrm>
                  <a:off x="3420634" y="1479166"/>
                  <a:ext cx="3238500" cy="5334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𝑝</m:t>
                            </m:r>
                          </m:sub>
                        </m:s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𝜆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𝑎𝑀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𝑎𝑝</m:t>
                            </m:r>
                          </m:sup>
                        </m:sSup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=0,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" name="对象 20">
                  <a:extLst>
                    <a:ext uri="{FF2B5EF4-FFF2-40B4-BE49-F238E27FC236}">
                      <a16:creationId xmlns:a16="http://schemas.microsoft.com/office/drawing/2014/main" id="{0B1DFB01-986A-A2AB-2A47-591FAF24BA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0634" y="1479166"/>
                  <a:ext cx="3238500" cy="533400"/>
                </a:xfrm>
                <a:prstGeom prst="rect">
                  <a:avLst/>
                </a:prstGeom>
                <a:blipFill>
                  <a:blip r:embed="rId8"/>
                  <a:stretch>
                    <a:fillRect l="-1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21">
                  <a:extLst>
                    <a:ext uri="{FF2B5EF4-FFF2-40B4-BE49-F238E27FC236}">
                      <a16:creationId xmlns:a16="http://schemas.microsoft.com/office/drawing/2014/main" id="{8CD1AE2F-9BF7-95FA-4A8A-F9F0CD14DB08}"/>
                    </a:ext>
                  </a:extLst>
                </p:cNvPr>
                <p:cNvSpPr txBox="1"/>
                <p:nvPr/>
              </p:nvSpPr>
              <p:spPr>
                <a:xfrm>
                  <a:off x="3420634" y="2142134"/>
                  <a:ext cx="2438400" cy="4318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sub>
                        </m:s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=0,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" name="对象 21">
                  <a:extLst>
                    <a:ext uri="{FF2B5EF4-FFF2-40B4-BE49-F238E27FC236}">
                      <a16:creationId xmlns:a16="http://schemas.microsoft.com/office/drawing/2014/main" id="{8CD1AE2F-9BF7-95FA-4A8A-F9F0CD14D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0634" y="2142134"/>
                  <a:ext cx="2438400" cy="431800"/>
                </a:xfrm>
                <a:prstGeom prst="rect">
                  <a:avLst/>
                </a:prstGeom>
                <a:blipFill>
                  <a:blip r:embed="rId9"/>
                  <a:stretch>
                    <a:fillRect l="-250" b="-98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22">
                  <a:extLst>
                    <a:ext uri="{FF2B5EF4-FFF2-40B4-BE49-F238E27FC236}">
                      <a16:creationId xmlns:a16="http://schemas.microsoft.com/office/drawing/2014/main" id="{50F07FD0-CD6A-7DA4-3BA7-E3665CA2C124}"/>
                    </a:ext>
                  </a:extLst>
                </p:cNvPr>
                <p:cNvSpPr txBox="1"/>
                <p:nvPr/>
              </p:nvSpPr>
              <p:spPr>
                <a:xfrm>
                  <a:off x="3420634" y="2756858"/>
                  <a:ext cx="1600200" cy="4445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𝑀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𝑎𝑝</m:t>
                            </m:r>
                          </m:sup>
                        </m:sSup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对象 22">
                  <a:extLst>
                    <a:ext uri="{FF2B5EF4-FFF2-40B4-BE49-F238E27FC236}">
                      <a16:creationId xmlns:a16="http://schemas.microsoft.com/office/drawing/2014/main" id="{50F07FD0-CD6A-7DA4-3BA7-E3665CA2C1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0634" y="2756858"/>
                  <a:ext cx="1600200" cy="4445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23">
                  <a:extLst>
                    <a:ext uri="{FF2B5EF4-FFF2-40B4-BE49-F238E27FC236}">
                      <a16:creationId xmlns:a16="http://schemas.microsoft.com/office/drawing/2014/main" id="{B9EE61D5-07F6-7F82-EA51-E4874184AF94}"/>
                    </a:ext>
                  </a:extLst>
                </p:cNvPr>
                <p:cNvSpPr txBox="1"/>
                <p:nvPr/>
              </p:nvSpPr>
              <p:spPr>
                <a:xfrm>
                  <a:off x="3420634" y="3338115"/>
                  <a:ext cx="2324100" cy="4318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" name="对象 23">
                  <a:extLst>
                    <a:ext uri="{FF2B5EF4-FFF2-40B4-BE49-F238E27FC236}">
                      <a16:creationId xmlns:a16="http://schemas.microsoft.com/office/drawing/2014/main" id="{B9EE61D5-07F6-7F82-EA51-E4874184A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0634" y="3338115"/>
                  <a:ext cx="2324100" cy="431800"/>
                </a:xfrm>
                <a:prstGeom prst="rect">
                  <a:avLst/>
                </a:prstGeom>
                <a:blipFill>
                  <a:blip r:embed="rId11"/>
                  <a:stretch>
                    <a:fillRect l="-262" b="-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24">
                <a:extLst>
                  <a:ext uri="{FF2B5EF4-FFF2-40B4-BE49-F238E27FC236}">
                    <a16:creationId xmlns:a16="http://schemas.microsoft.com/office/drawing/2014/main" id="{C851A696-3977-EAE8-7DBE-C6C5995F1930}"/>
                  </a:ext>
                </a:extLst>
              </p:cNvPr>
              <p:cNvSpPr txBox="1"/>
              <p:nvPr/>
            </p:nvSpPr>
            <p:spPr>
              <a:xfrm>
                <a:off x="3872086" y="4577882"/>
                <a:ext cx="3392314" cy="10698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𝑝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∗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𝑀</m:t>
                              </m:r>
                            </m:e>
                          </m:func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1−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𝑎𝑘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对象 24">
                <a:extLst>
                  <a:ext uri="{FF2B5EF4-FFF2-40B4-BE49-F238E27FC236}">
                    <a16:creationId xmlns:a16="http://schemas.microsoft.com/office/drawing/2014/main" id="{C851A696-3977-EAE8-7DBE-C6C5995F1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086" y="4577882"/>
                <a:ext cx="3392314" cy="106982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2BEB4BA7-9F38-3DE5-5D4F-97E47B9D929F}"/>
              </a:ext>
            </a:extLst>
          </p:cNvPr>
          <p:cNvSpPr/>
          <p:nvPr/>
        </p:nvSpPr>
        <p:spPr>
          <a:xfrm>
            <a:off x="1626237" y="5726347"/>
            <a:ext cx="371127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即为所求电视机的最优价格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03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2" grpId="0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4923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2885</TotalTime>
  <Words>3048</Words>
  <Application>Microsoft Office PowerPoint</Application>
  <PresentationFormat>宽屏</PresentationFormat>
  <Paragraphs>419</Paragraphs>
  <Slides>33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Cabin Medium</vt:lpstr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Calisto MT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EDZ</dc:creator>
  <cp:lastModifiedBy>yang fan</cp:lastModifiedBy>
  <cp:revision>63</cp:revision>
  <dcterms:created xsi:type="dcterms:W3CDTF">2022-09-13T06:18:22Z</dcterms:created>
  <dcterms:modified xsi:type="dcterms:W3CDTF">2023-07-06T03:21:38Z</dcterms:modified>
</cp:coreProperties>
</file>