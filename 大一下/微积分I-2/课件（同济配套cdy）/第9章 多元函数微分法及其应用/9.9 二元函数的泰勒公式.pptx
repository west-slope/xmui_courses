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4"/>
  </p:notesMasterIdLst>
  <p:sldIdLst>
    <p:sldId id="257" r:id="rId3"/>
    <p:sldId id="922" r:id="rId4"/>
    <p:sldId id="664" r:id="rId5"/>
    <p:sldId id="836" r:id="rId6"/>
    <p:sldId id="892" r:id="rId7"/>
    <p:sldId id="894" r:id="rId8"/>
    <p:sldId id="895" r:id="rId9"/>
    <p:sldId id="896" r:id="rId10"/>
    <p:sldId id="897" r:id="rId11"/>
    <p:sldId id="898" r:id="rId12"/>
    <p:sldId id="900" r:id="rId13"/>
    <p:sldId id="901" r:id="rId14"/>
    <p:sldId id="902" r:id="rId15"/>
    <p:sldId id="899" r:id="rId16"/>
    <p:sldId id="903" r:id="rId17"/>
    <p:sldId id="904" r:id="rId18"/>
    <p:sldId id="905" r:id="rId19"/>
    <p:sldId id="906" r:id="rId20"/>
    <p:sldId id="908" r:id="rId21"/>
    <p:sldId id="907" r:id="rId22"/>
    <p:sldId id="364" r:id="rId23"/>
  </p:sldIdLst>
  <p:sldSz cx="12192000" cy="6858000"/>
  <p:notesSz cx="9945688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9798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3588" y="1"/>
            <a:ext cx="4309798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1A41-C3E3-49DC-B8E2-5FB79F6BD7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57250"/>
            <a:ext cx="4116388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569" y="3300412"/>
            <a:ext cx="795655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0979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3588" y="6513910"/>
            <a:ext cx="4309798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7AB0-E0D1-4C23-847C-8B6B1533D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5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9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1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80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775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83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43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702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263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952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854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463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483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256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122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954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85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24449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第九节  二元函数的泰勒公式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3098387" y="6589556"/>
            <a:ext cx="90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7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835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579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412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6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931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861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469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310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33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7115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2712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8885680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30107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</a:p>
        </p:txBody>
      </p:sp>
      <p:sp>
        <p:nvSpPr>
          <p:cNvPr id="14" name="矩形 13"/>
          <p:cNvSpPr/>
          <p:nvPr/>
        </p:nvSpPr>
        <p:spPr>
          <a:xfrm>
            <a:off x="9140852" y="112357"/>
            <a:ext cx="28568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多元函数微分法及其应用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8B7B72-FE5F-FE65-4D2C-E3DB1DB54AC9}"/>
              </a:ext>
            </a:extLst>
          </p:cNvPr>
          <p:cNvCxnSpPr/>
          <p:nvPr userDrawn="1"/>
        </p:nvCxnSpPr>
        <p:spPr>
          <a:xfrm>
            <a:off x="0" y="251555"/>
            <a:ext cx="8665828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686EB1-B307-14DE-BA1D-E20FC7BCEDB0}"/>
              </a:ext>
            </a:extLst>
          </p:cNvPr>
          <p:cNvCxnSpPr/>
          <p:nvPr userDrawn="1"/>
        </p:nvCxnSpPr>
        <p:spPr>
          <a:xfrm>
            <a:off x="3441287" y="6589556"/>
            <a:ext cx="874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4153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814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23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7.png"/><Relationship Id="rId7" Type="http://schemas.openxmlformats.org/officeDocument/2006/relationships/image" Target="../media/image640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0.png"/><Relationship Id="rId11" Type="http://schemas.openxmlformats.org/officeDocument/2006/relationships/image" Target="../media/image71.png"/><Relationship Id="rId5" Type="http://schemas.openxmlformats.org/officeDocument/2006/relationships/image" Target="../media/image620.png"/><Relationship Id="rId10" Type="http://schemas.openxmlformats.org/officeDocument/2006/relationships/image" Target="../media/image70.png"/><Relationship Id="rId4" Type="http://schemas.openxmlformats.org/officeDocument/2006/relationships/image" Target="../media/image610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67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3" Type="http://schemas.openxmlformats.org/officeDocument/2006/relationships/image" Target="../media/image134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167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tags" Target="../tags/tag6.xml"/><Relationship Id="rId11" Type="http://schemas.openxmlformats.org/officeDocument/2006/relationships/image" Target="../media/image157.png"/><Relationship Id="rId15" Type="http://schemas.openxmlformats.org/officeDocument/2006/relationships/image" Target="../media/image161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Relationship Id="rId22" Type="http://schemas.openxmlformats.org/officeDocument/2006/relationships/image" Target="../media/image16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5" Type="http://schemas.openxmlformats.org/officeDocument/2006/relationships/image" Target="../media/image170.png"/><Relationship Id="rId10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79.png"/><Relationship Id="rId7" Type="http://schemas.openxmlformats.org/officeDocument/2006/relationships/image" Target="../media/image18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765935" y="4450080"/>
            <a:ext cx="2087880" cy="1556385"/>
            <a:chOff x="3633" y="6990"/>
            <a:chExt cx="3288" cy="2451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4131" y="8233"/>
              <a:ext cx="226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sp>
        <p:nvSpPr>
          <p:cNvPr id="5" name="右箭头 4"/>
          <p:cNvSpPr/>
          <p:nvPr/>
        </p:nvSpPr>
        <p:spPr>
          <a:xfrm>
            <a:off x="382587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96214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61B6C4-35F1-7875-98C1-A82818FC227F}"/>
              </a:ext>
            </a:extLst>
          </p:cNvPr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第九章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多元函数微分法及其应用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B066930-DF94-DF6F-9EC0-A1295840C882}"/>
              </a:ext>
            </a:extLst>
          </p:cNvPr>
          <p:cNvGrpSpPr/>
          <p:nvPr/>
        </p:nvGrpSpPr>
        <p:grpSpPr>
          <a:xfrm>
            <a:off x="4730442" y="4450080"/>
            <a:ext cx="2087880" cy="1556385"/>
            <a:chOff x="3633" y="6990"/>
            <a:chExt cx="3288" cy="2451"/>
          </a:xfrm>
        </p:grpSpPr>
        <p:sp>
          <p:nvSpPr>
            <p:cNvPr id="9" name="矩形: 圆角 40">
              <a:extLst>
                <a:ext uri="{FF2B5EF4-FFF2-40B4-BE49-F238E27FC236}">
                  <a16:creationId xmlns:a16="http://schemas.microsoft.com/office/drawing/2014/main" id="{2EB9713E-EEE0-DC80-43B7-769012092E62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EF3844B-AAC9-5582-BC84-02299D166C65}"/>
                </a:ext>
              </a:extLst>
            </p:cNvPr>
            <p:cNvSpPr/>
            <p:nvPr/>
          </p:nvSpPr>
          <p:spPr>
            <a:xfrm>
              <a:off x="4056" y="6990"/>
              <a:ext cx="2441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533C61B-C6F5-3F38-0087-496DEA7A139A}"/>
                </a:ext>
              </a:extLst>
            </p:cNvPr>
            <p:cNvSpPr/>
            <p:nvPr/>
          </p:nvSpPr>
          <p:spPr>
            <a:xfrm>
              <a:off x="4131" y="8233"/>
              <a:ext cx="2237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微分学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DA8E5B8-DE15-F373-0143-9F49B2503382}"/>
              </a:ext>
            </a:extLst>
          </p:cNvPr>
          <p:cNvGrpSpPr/>
          <p:nvPr/>
        </p:nvGrpSpPr>
        <p:grpSpPr>
          <a:xfrm>
            <a:off x="7938154" y="4469765"/>
            <a:ext cx="2087880" cy="1556385"/>
            <a:chOff x="3633" y="6990"/>
            <a:chExt cx="3288" cy="2451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57FF1588-584F-6CCF-8E4D-ACAA5D847F7B}"/>
                </a:ext>
              </a:extLst>
            </p:cNvPr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7CE5D6D-1331-95F7-B14D-69F1DEC4A353}"/>
                </a:ext>
              </a:extLst>
            </p:cNvPr>
            <p:cNvSpPr/>
            <p:nvPr/>
          </p:nvSpPr>
          <p:spPr>
            <a:xfrm>
              <a:off x="405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注意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4BA4533-8480-3426-1642-FAFD9FB15DB4}"/>
                </a:ext>
              </a:extLst>
            </p:cNvPr>
            <p:cNvSpPr/>
            <p:nvPr/>
          </p:nvSpPr>
          <p:spPr>
            <a:xfrm>
              <a:off x="4157" y="7955"/>
              <a:ext cx="2240" cy="1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善于类比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区别异同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378656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多元函数的基本概念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144845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全微分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146076" y="2378656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偏导数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146076" y="3144845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多元复合函数的求导法则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391103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隐函数的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求导公式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4675933"/>
            <a:ext cx="3691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方向导数与梯度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146076" y="3909744"/>
            <a:ext cx="5075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多元函数微分学的几何应用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8B4882-32F6-3E47-B43D-2E381BD7331B}"/>
              </a:ext>
            </a:extLst>
          </p:cNvPr>
          <p:cNvSpPr/>
          <p:nvPr/>
        </p:nvSpPr>
        <p:spPr>
          <a:xfrm>
            <a:off x="6146076" y="4675933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多元函数的极值及其求法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0EF9C-1D20-A540-B9A1-9EA25E112FAE}"/>
              </a:ext>
            </a:extLst>
          </p:cNvPr>
          <p:cNvSpPr/>
          <p:nvPr/>
        </p:nvSpPr>
        <p:spPr>
          <a:xfrm>
            <a:off x="945202" y="5440831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第九节   二元函数的泰勒公式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A557CA-A43B-FE4D-AEC3-A535128611AD}"/>
              </a:ext>
            </a:extLst>
          </p:cNvPr>
          <p:cNvSpPr/>
          <p:nvPr/>
        </p:nvSpPr>
        <p:spPr>
          <a:xfrm>
            <a:off x="6146076" y="5440831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最小二乘法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523F46-A694-B143-A21D-8E616F155FFB}"/>
              </a:ext>
            </a:extLst>
          </p:cNvPr>
          <p:cNvSpPr/>
          <p:nvPr/>
        </p:nvSpPr>
        <p:spPr>
          <a:xfrm>
            <a:off x="5157282" y="691154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</a:t>
            </a:r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九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833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35895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419627" y="686345"/>
            <a:ext cx="535274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第九节  二元函数的泰勒公式</a:t>
            </a:r>
          </a:p>
        </p:txBody>
      </p:sp>
      <p:sp>
        <p:nvSpPr>
          <p:cNvPr id="4" name="矩形: 圆角 40">
            <a:extLst>
              <a:ext uri="{FF2B5EF4-FFF2-40B4-BE49-F238E27FC236}">
                <a16:creationId xmlns:a16="http://schemas.microsoft.com/office/drawing/2014/main" id="{0AFCECA3-3830-4C31-F876-EF09B7116080}"/>
              </a:ext>
            </a:extLst>
          </p:cNvPr>
          <p:cNvSpPr/>
          <p:nvPr/>
        </p:nvSpPr>
        <p:spPr>
          <a:xfrm flipV="1">
            <a:off x="3786806" y="2320979"/>
            <a:ext cx="4618388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F17138-8605-1774-D008-6AE81E15D8D9}"/>
              </a:ext>
            </a:extLst>
          </p:cNvPr>
          <p:cNvSpPr/>
          <p:nvPr/>
        </p:nvSpPr>
        <p:spPr>
          <a:xfrm>
            <a:off x="4026984" y="2510213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kumimoji="1" lang="zh-CN" altLang="en-US" sz="2800" b="1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二元函数的泰勒公式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40">
            <a:extLst>
              <a:ext uri="{FF2B5EF4-FFF2-40B4-BE49-F238E27FC236}">
                <a16:creationId xmlns:a16="http://schemas.microsoft.com/office/drawing/2014/main" id="{2AFCDF72-0B32-3B23-3BEA-A6D0061312B5}"/>
              </a:ext>
            </a:extLst>
          </p:cNvPr>
          <p:cNvSpPr/>
          <p:nvPr/>
        </p:nvSpPr>
        <p:spPr>
          <a:xfrm flipV="1">
            <a:off x="3786806" y="3756599"/>
            <a:ext cx="4618388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FFA758-C763-F6DD-43E6-7491515A6524}"/>
              </a:ext>
            </a:extLst>
          </p:cNvPr>
          <p:cNvSpPr/>
          <p:nvPr/>
        </p:nvSpPr>
        <p:spPr>
          <a:xfrm>
            <a:off x="4026984" y="3945835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kumimoji="1" lang="zh-CN" altLang="en-US" sz="2800" b="1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极值充分条件的证明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76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21AA18E-31E6-8098-E911-9E641A0E49A2}"/>
              </a:ext>
            </a:extLst>
          </p:cNvPr>
          <p:cNvSpPr txBox="1">
            <a:spLocks noChangeArrowheads="1"/>
          </p:cNvSpPr>
          <p:nvPr/>
        </p:nvSpPr>
        <p:spPr>
          <a:xfrm>
            <a:off x="2021568" y="836840"/>
            <a:ext cx="4953000" cy="5841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一、二元函数的泰勒公式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CD0B092-0BD7-4633-34F0-E2F87F7D4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593" y="1535338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一元函数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AB6B4C03-6E06-5235-7D79-64E07E9A45AB}"/>
                  </a:ext>
                </a:extLst>
              </p:cNvPr>
              <p:cNvSpPr txBox="1"/>
              <p:nvPr/>
            </p:nvSpPr>
            <p:spPr bwMode="auto">
              <a:xfrm>
                <a:off x="4343287" y="1528193"/>
                <a:ext cx="1090612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AB6B4C03-6E06-5235-7D79-64E07E9A4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287" y="1528193"/>
                <a:ext cx="1090612" cy="519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9F2B0D1B-0EA2-0C78-CEBC-1E6320FF1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287" y="1549625"/>
            <a:ext cx="206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的泰勒公式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C09E73D3-477B-CD18-1446-3C65A2681414}"/>
                  </a:ext>
                </a:extLst>
              </p:cNvPr>
              <p:cNvSpPr txBox="1"/>
              <p:nvPr/>
            </p:nvSpPr>
            <p:spPr bwMode="auto">
              <a:xfrm>
                <a:off x="2856592" y="2121123"/>
                <a:ext cx="8642349" cy="10263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″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+⋯+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C09E73D3-477B-CD18-1446-3C65A2681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6592" y="2121123"/>
                <a:ext cx="8642349" cy="10263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11C21F35-A8C4-23BA-E019-F5301F723EC3}"/>
                  </a:ext>
                </a:extLst>
              </p:cNvPr>
              <p:cNvSpPr txBox="1"/>
              <p:nvPr/>
            </p:nvSpPr>
            <p:spPr bwMode="auto">
              <a:xfrm>
                <a:off x="4734824" y="3139793"/>
                <a:ext cx="23241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11C21F35-A8C4-23BA-E019-F5301F723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4824" y="3139793"/>
                <a:ext cx="2324100" cy="1028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5A686292-F4AF-962E-41C2-C2B927A8AD43}"/>
                  </a:ext>
                </a:extLst>
              </p:cNvPr>
              <p:cNvSpPr txBox="1"/>
              <p:nvPr/>
            </p:nvSpPr>
            <p:spPr bwMode="auto">
              <a:xfrm>
                <a:off x="6483443" y="3139793"/>
                <a:ext cx="3870323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+1)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+1) !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5A686292-F4AF-962E-41C2-C2B927A8A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3443" y="3139793"/>
                <a:ext cx="3870323" cy="1028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D4EF8974-7C26-D323-BA63-98D87699C8FF}"/>
                  </a:ext>
                </a:extLst>
              </p:cNvPr>
              <p:cNvSpPr txBox="1"/>
              <p:nvPr/>
            </p:nvSpPr>
            <p:spPr bwMode="auto">
              <a:xfrm>
                <a:off x="8220166" y="4333920"/>
                <a:ext cx="2133600" cy="600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(0&lt;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&lt;1)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D4EF8974-7C26-D323-BA63-98D87699C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20166" y="4333920"/>
                <a:ext cx="2133600" cy="600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0">
            <a:extLst>
              <a:ext uri="{FF2B5EF4-FFF2-40B4-BE49-F238E27FC236}">
                <a16:creationId xmlns:a16="http://schemas.microsoft.com/office/drawing/2014/main" id="{5A0EEB20-8472-4400-D9A8-B16B76F07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574" y="4595246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推广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C4FE7AD5-7420-48F7-D22B-1E760B186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374" y="5571560"/>
            <a:ext cx="311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多元函数泰勒公式 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AC5004B-DFCF-591A-08CB-ED766D52F3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59487" y="4795271"/>
            <a:ext cx="1219200" cy="180975"/>
          </a:xfrm>
          <a:prstGeom prst="rightArrow">
            <a:avLst>
              <a:gd name="adj1" fmla="val 50000"/>
              <a:gd name="adj2" fmla="val 168421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82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utoUpdateAnimBg="0"/>
      <p:bldP spid="4" grpId="0"/>
      <p:bldP spid="5" grpId="0" build="p" autoUpdateAnimBg="0" advAuto="0"/>
      <p:bldP spid="6" grpId="0"/>
      <p:bldP spid="7" grpId="0"/>
      <p:bldP spid="8" grpId="0"/>
      <p:bldP spid="9" grpId="0"/>
      <p:bldP spid="10" grpId="0" build="p" autoUpdateAnimBg="0"/>
      <p:bldP spid="11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726DF0B8-6038-8947-0291-B0D8DC874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099" y="467521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记号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B519C309-9604-1887-7974-677D1A80C9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299" y="470696"/>
                <a:ext cx="487024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设下面涉及的偏导数连续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: </a:t>
                </a:r>
              </a:p>
            </p:txBody>
          </p:sp>
        </mc:Choice>
        <mc:Fallback xmlns="">
          <p:sp>
            <p:nvSpPr>
              <p:cNvPr id="3" name="Text Box 4">
                <a:extLst>
                  <a:ext uri="{FF2B5EF4-FFF2-40B4-BE49-F238E27FC236}">
                    <a16:creationId xmlns:a16="http://schemas.microsoft.com/office/drawing/2014/main" id="{B519C309-9604-1887-7974-677D1A80C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0299" y="470696"/>
                <a:ext cx="4870244" cy="523220"/>
              </a:xfrm>
              <a:prstGeom prst="rect">
                <a:avLst/>
              </a:prstGeom>
              <a:blipFill>
                <a:blip r:embed="rId3"/>
                <a:stretch>
                  <a:fillRect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D51C1ABE-D21B-B244-347E-E08695ECBDD1}"/>
                  </a:ext>
                </a:extLst>
              </p:cNvPr>
              <p:cNvSpPr txBox="1"/>
              <p:nvPr/>
            </p:nvSpPr>
            <p:spPr bwMode="auto">
              <a:xfrm>
                <a:off x="1895474" y="1028700"/>
                <a:ext cx="4162425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D51C1ABE-D21B-B244-347E-E08695ECB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5474" y="1028700"/>
                <a:ext cx="4162425" cy="927100"/>
              </a:xfrm>
              <a:prstGeom prst="rect">
                <a:avLst/>
              </a:prstGeom>
              <a:blipFill>
                <a:blip r:embed="rId4"/>
                <a:stretch>
                  <a:fillRect b="-85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5786F395-0023-973A-55C3-C23D3F67958C}"/>
                  </a:ext>
                </a:extLst>
              </p:cNvPr>
              <p:cNvSpPr txBox="1"/>
              <p:nvPr/>
            </p:nvSpPr>
            <p:spPr bwMode="auto">
              <a:xfrm>
                <a:off x="1895475" y="2098774"/>
                <a:ext cx="4162424" cy="11222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5786F395-0023-973A-55C3-C23D3F679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5475" y="2098774"/>
                <a:ext cx="4162424" cy="11222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8CE0490-73C7-2A47-9504-8155993BB554}"/>
                  </a:ext>
                </a:extLst>
              </p:cNvPr>
              <p:cNvSpPr txBox="1"/>
              <p:nvPr/>
            </p:nvSpPr>
            <p:spPr bwMode="auto">
              <a:xfrm>
                <a:off x="3194053" y="4036115"/>
                <a:ext cx="4292772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8CE0490-73C7-2A47-9504-8155993BB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4053" y="4036115"/>
                <a:ext cx="4292772" cy="927100"/>
              </a:xfrm>
              <a:prstGeom prst="rect">
                <a:avLst/>
              </a:prstGeom>
              <a:blipFill>
                <a:blip r:embed="rId6"/>
                <a:stretch>
                  <a:fillRect b="-138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CEE83B9F-CC64-D74D-716A-65CF57D374DF}"/>
                  </a:ext>
                </a:extLst>
              </p:cNvPr>
              <p:cNvSpPr txBox="1"/>
              <p:nvPr/>
            </p:nvSpPr>
            <p:spPr bwMode="auto">
              <a:xfrm>
                <a:off x="5724525" y="1319213"/>
                <a:ext cx="5435601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表示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CEE83B9F-CC64-D74D-716A-65CF57D37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525" y="1319213"/>
                <a:ext cx="5435601" cy="533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3AA787E6-2F81-2AAE-2368-D707357EF67B}"/>
                  </a:ext>
                </a:extLst>
              </p:cNvPr>
              <p:cNvSpPr txBox="1"/>
              <p:nvPr/>
            </p:nvSpPr>
            <p:spPr bwMode="auto">
              <a:xfrm>
                <a:off x="1981199" y="3390900"/>
                <a:ext cx="7569317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)+2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h𝑘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3AA787E6-2F81-2AAE-2368-D707357E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199" y="3390900"/>
                <a:ext cx="7569317" cy="596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9721936E-84D0-A8D2-0B37-37C3CE0E6DCB}"/>
                  </a:ext>
                </a:extLst>
              </p:cNvPr>
              <p:cNvSpPr txBox="1"/>
              <p:nvPr/>
            </p:nvSpPr>
            <p:spPr bwMode="auto">
              <a:xfrm>
                <a:off x="1829019" y="5044256"/>
                <a:ext cx="6400800" cy="1444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p>
                          </m:sSubSup>
                        </m:e>
                      </m:nary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𝑚</m:t>
                                      </m:r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−</m:t>
                                      </m:r>
                                      <m:r>
                                        <a:rPr kumimoji="1" lang="zh-CN" altLang="en-US" sz="28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, </m:t>
                                </m:r>
                                <m:sSub>
                                  <m:sSubPr>
                                    <m:ctrlPr>
                                      <a:rPr kumimoji="1" lang="zh-CN" altLang="en-US" sz="28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8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zh-CN" altLang="en-US" sz="28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9721936E-84D0-A8D2-0B37-37C3CE0E6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9019" y="5044256"/>
                <a:ext cx="6400800" cy="14446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0B1FCF54-DB28-247D-8DDA-C35CF6449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9726" y="4328294"/>
                <a:ext cx="1847849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一般地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8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0B1FCF54-DB28-247D-8DDA-C35CF6449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9726" y="4328294"/>
                <a:ext cx="1847849" cy="525401"/>
              </a:xfrm>
              <a:prstGeom prst="rect">
                <a:avLst/>
              </a:prstGeom>
              <a:blipFill>
                <a:blip r:embed="rId10"/>
                <a:stretch>
                  <a:fillRect l="-7921" t="-17442" b="-3837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9">
            <a:extLst>
              <a:ext uri="{FF2B5EF4-FFF2-40B4-BE49-F238E27FC236}">
                <a16:creationId xmlns:a16="http://schemas.microsoft.com/office/drawing/2014/main" id="{5DF313EF-7914-4B83-5126-2821D11EE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6" y="1255713"/>
            <a:ext cx="3714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5D45A0AF-177A-7F0A-E4C1-03685FBA3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6" y="2438401"/>
            <a:ext cx="3714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zh-CN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18C9265E-9BAB-9C24-8630-A14810355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270" y="2450483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E0039175-4C8D-FF25-4D6D-2E88E7C16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666" y="4356953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169946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E33B3BD-448E-24DE-7E75-6C23B7DDB04D}"/>
                  </a:ext>
                </a:extLst>
              </p:cNvPr>
              <p:cNvSpPr txBox="1"/>
              <p:nvPr/>
            </p:nvSpPr>
            <p:spPr bwMode="auto">
              <a:xfrm>
                <a:off x="2916178" y="434377"/>
                <a:ext cx="432117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设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E33B3BD-448E-24DE-7E75-6C23B7DDB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178" y="434377"/>
                <a:ext cx="4321175" cy="469900"/>
              </a:xfrm>
              <a:prstGeom prst="rect">
                <a:avLst/>
              </a:prstGeom>
              <a:blipFill>
                <a:blip r:embed="rId3"/>
                <a:stretch>
                  <a:fillRect l="-1269" b="-181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7789B02A-90C6-AF80-9043-77F4BB0147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4078" y="450851"/>
                <a:ext cx="462279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的某一邻域内有直到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kumimoji="1" lang="zh-CN" altLang="en-US" sz="2400" dirty="0">
                        <a:solidFill>
                          <a:prstClr val="black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m:t>阶</m:t>
                    </m:r>
                  </m:oMath>
                </a14:m>
                <a:endParaRPr kumimoji="1" lang="zh-CN" altLang="en-US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7789B02A-90C6-AF80-9043-77F4BB014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4078" y="450851"/>
                <a:ext cx="4622799" cy="461665"/>
              </a:xfrm>
              <a:prstGeom prst="rect">
                <a:avLst/>
              </a:prstGeom>
              <a:blipFill>
                <a:blip r:embed="rId4"/>
                <a:stretch>
                  <a:fillRect l="-2111" t="-14474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50846D94-E890-F8EE-B2FF-A20ED711B3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612" y="903289"/>
                <a:ext cx="1783158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连续偏导数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4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50846D94-E890-F8EE-B2FF-A20ED711B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0612" y="903289"/>
                <a:ext cx="1783158" cy="463846"/>
              </a:xfrm>
              <a:prstGeom prst="rect">
                <a:avLst/>
              </a:prstGeom>
              <a:blipFill>
                <a:blip r:embed="rId5"/>
                <a:stretch>
                  <a:fillRect l="-5119" t="-14474" r="-1024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85DD0D26-CD6D-8E1E-2A43-196CD52187F0}"/>
                  </a:ext>
                </a:extLst>
              </p:cNvPr>
              <p:cNvSpPr txBox="1"/>
              <p:nvPr/>
            </p:nvSpPr>
            <p:spPr bwMode="auto">
              <a:xfrm>
                <a:off x="4566486" y="880115"/>
                <a:ext cx="27495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85DD0D26-CD6D-8E1E-2A43-196CD5218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6486" y="880115"/>
                <a:ext cx="2749550" cy="444500"/>
              </a:xfrm>
              <a:prstGeom prst="rect">
                <a:avLst/>
              </a:prstGeom>
              <a:blipFill>
                <a:blip r:embed="rId6"/>
                <a:stretch>
                  <a:fillRect l="-1774" b="-219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7">
            <a:extLst>
              <a:ext uri="{FF2B5EF4-FFF2-40B4-BE49-F238E27FC236}">
                <a16:creationId xmlns:a16="http://schemas.microsoft.com/office/drawing/2014/main" id="{0BD0F0D3-8F01-1AEA-71F0-B3F11339E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951" y="881709"/>
            <a:ext cx="210536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为此邻域内任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8">
                <a:extLst>
                  <a:ext uri="{FF2B5EF4-FFF2-40B4-BE49-F238E27FC236}">
                    <a16:creationId xmlns:a16="http://schemas.microsoft.com/office/drawing/2014/main" id="{3415EB3A-CD03-B99E-8378-838762639F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31696" y="884182"/>
                <a:ext cx="859829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</a:rPr>
                  <a:t>一点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Text Box 8">
                <a:extLst>
                  <a:ext uri="{FF2B5EF4-FFF2-40B4-BE49-F238E27FC236}">
                    <a16:creationId xmlns:a16="http://schemas.microsoft.com/office/drawing/2014/main" id="{3415EB3A-CD03-B99E-8378-838762639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1696" y="884182"/>
                <a:ext cx="859829" cy="463846"/>
              </a:xfrm>
              <a:prstGeom prst="rect">
                <a:avLst/>
              </a:prstGeom>
              <a:blipFill>
                <a:blip r:embed="rId7"/>
                <a:stretch>
                  <a:fillRect l="-10638" t="-15789" r="-3546" b="-236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9">
            <a:extLst>
              <a:ext uri="{FF2B5EF4-FFF2-40B4-BE49-F238E27FC236}">
                <a16:creationId xmlns:a16="http://schemas.microsoft.com/office/drawing/2014/main" id="{C6382865-C569-DA04-5EF1-B886D5ED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182" y="891998"/>
            <a:ext cx="79731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AFA1700D-C901-E333-36AD-7BAFE7FCAAEC}"/>
                  </a:ext>
                </a:extLst>
              </p:cNvPr>
              <p:cNvSpPr txBox="1"/>
              <p:nvPr/>
            </p:nvSpPr>
            <p:spPr bwMode="auto">
              <a:xfrm>
                <a:off x="2232024" y="1561606"/>
                <a:ext cx="494347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AFA1700D-C901-E333-36AD-7BAFE7FCA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2024" y="1561606"/>
                <a:ext cx="4943475" cy="444500"/>
              </a:xfrm>
              <a:prstGeom prst="rect">
                <a:avLst/>
              </a:prstGeom>
              <a:blipFill>
                <a:blip r:embed="rId8"/>
                <a:stretch>
                  <a:fillRect l="-986" b="-232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0B672B2F-5DDF-AE79-C0E9-DA42D5C2419F}"/>
                  </a:ext>
                </a:extLst>
              </p:cNvPr>
              <p:cNvSpPr txBox="1"/>
              <p:nvPr/>
            </p:nvSpPr>
            <p:spPr bwMode="auto">
              <a:xfrm>
                <a:off x="6290873" y="1334720"/>
                <a:ext cx="4622799" cy="1015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f>
                            <m:fPr>
                              <m:ctrlPr>
                                <a:rPr kumimoji="1" lang="zh-CN" alt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</m:oMath>
                  </m:oMathPara>
                </a14:m>
                <a:endParaRPr kumimoji="1" lang="zh-CN" altLang="en-US" sz="24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0B672B2F-5DDF-AE79-C0E9-DA42D5C2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0873" y="1334720"/>
                <a:ext cx="4622799" cy="10150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DDBFEAA7-E0C9-2388-ECBF-30A252B55A42}"/>
                  </a:ext>
                </a:extLst>
              </p:cNvPr>
              <p:cNvSpPr txBox="1"/>
              <p:nvPr/>
            </p:nvSpPr>
            <p:spPr bwMode="auto">
              <a:xfrm>
                <a:off x="4934056" y="2343228"/>
                <a:ext cx="6313064" cy="9063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⋯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DDBFEAA7-E0C9-2388-ECBF-30A252B5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4056" y="2343228"/>
                <a:ext cx="6313064" cy="906326"/>
              </a:xfrm>
              <a:prstGeom prst="rect">
                <a:avLst/>
              </a:prstGeom>
              <a:blipFill>
                <a:blip r:embed="rId10"/>
                <a:stretch>
                  <a:fillRect b="-40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E1ACDAEC-281C-8FE7-2D54-850BA90B007B}"/>
                  </a:ext>
                </a:extLst>
              </p:cNvPr>
              <p:cNvSpPr txBox="1"/>
              <p:nvPr/>
            </p:nvSpPr>
            <p:spPr bwMode="auto">
              <a:xfrm>
                <a:off x="4934056" y="3503367"/>
                <a:ext cx="4543425" cy="9226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E1ACDAEC-281C-8FE7-2D54-850BA90B0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4056" y="3503367"/>
                <a:ext cx="4543425" cy="922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15AFB948-BEB3-74E7-20ED-8EFED74F767B}"/>
                  </a:ext>
                </a:extLst>
              </p:cNvPr>
              <p:cNvSpPr txBox="1"/>
              <p:nvPr/>
            </p:nvSpPr>
            <p:spPr bwMode="auto">
              <a:xfrm>
                <a:off x="2272123" y="4596957"/>
                <a:ext cx="8686801" cy="10896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+1)!</m:t>
                          </m:r>
                        </m:den>
                      </m:f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4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4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4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4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15AFB948-BEB3-74E7-20ED-8EFED74F7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2123" y="4596957"/>
                <a:ext cx="8686801" cy="10896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BEF877D2-B51A-81A4-03C2-BC35BD5CF5D4}"/>
                  </a:ext>
                </a:extLst>
              </p:cNvPr>
              <p:cNvSpPr txBox="1"/>
              <p:nvPr/>
            </p:nvSpPr>
            <p:spPr bwMode="auto">
              <a:xfrm>
                <a:off x="8192087" y="5484782"/>
                <a:ext cx="1909587" cy="495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(0&lt;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BEF877D2-B51A-81A4-03C2-BC35BD5CF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92087" y="5484782"/>
                <a:ext cx="1909587" cy="495329"/>
              </a:xfrm>
              <a:prstGeom prst="rect">
                <a:avLst/>
              </a:prstGeom>
              <a:blipFill>
                <a:blip r:embed="rId13"/>
                <a:stretch>
                  <a:fillRect l="-2875" b="-98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61E9544-DE26-0D0E-2108-17DCEFBF9033}"/>
                  </a:ext>
                </a:extLst>
              </p:cNvPr>
              <p:cNvSpPr txBox="1"/>
              <p:nvPr/>
            </p:nvSpPr>
            <p:spPr bwMode="auto">
              <a:xfrm>
                <a:off x="8602271" y="3818017"/>
                <a:ext cx="1082055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61E9544-DE26-0D0E-2108-17DCEFBF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2271" y="3818017"/>
                <a:ext cx="1082055" cy="444500"/>
              </a:xfrm>
              <a:prstGeom prst="rect">
                <a:avLst/>
              </a:prstGeom>
              <a:blipFill>
                <a:blip r:embed="rId14"/>
                <a:stretch>
                  <a:fillRect l="-562" t="-12329" r="-7303" b="-328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7">
            <a:extLst>
              <a:ext uri="{FF2B5EF4-FFF2-40B4-BE49-F238E27FC236}">
                <a16:creationId xmlns:a16="http://schemas.microsoft.com/office/drawing/2014/main" id="{646A9D92-B70E-BB48-929F-C75A10BFF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2" y="4913404"/>
            <a:ext cx="79731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其中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64ED0D8F-AADD-5856-4A43-D6B72988F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7293" y="3832962"/>
            <a:ext cx="4895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①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3018E946-9D95-B5D4-1C79-F850A3420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7392" y="4909875"/>
            <a:ext cx="4895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20">
                <a:extLst>
                  <a:ext uri="{FF2B5EF4-FFF2-40B4-BE49-F238E27FC236}">
                    <a16:creationId xmlns:a16="http://schemas.microsoft.com/office/drawing/2014/main" id="{06A85EEE-A48B-221E-EA18-52531A515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3139" y="5917241"/>
                <a:ext cx="5148117" cy="495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</a:rPr>
                  <a:t>① </a:t>
                </a:r>
                <a:r>
                  <a:rPr kumimoji="1" lang="zh-CN" altLang="en-US" sz="24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kumimoji="1"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在点</a:t>
                </a:r>
                <a14:m>
                  <m:oMath xmlns:m="http://schemas.openxmlformats.org/officeDocument/2006/math">
                    <m:r>
                      <a:rPr kumimoji="1"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4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 </m:t>
                    </m:r>
                    <m:sSub>
                      <m:sSubPr>
                        <m:ctrlPr>
                          <a:rPr kumimoji="1"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kumimoji="1" lang="zh-CN" altLang="en-US" sz="24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</a:rPr>
                  <a:t>阶泰勒公式</a:t>
                </a:r>
                <a14:m>
                  <m:oMath xmlns:m="http://schemas.openxmlformats.org/officeDocument/2006/math">
                    <m:r>
                      <a:rPr kumimoji="1"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Text Box 20">
                <a:extLst>
                  <a:ext uri="{FF2B5EF4-FFF2-40B4-BE49-F238E27FC236}">
                    <a16:creationId xmlns:a16="http://schemas.microsoft.com/office/drawing/2014/main" id="{06A85EEE-A48B-221E-EA18-52531A51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3139" y="5917241"/>
                <a:ext cx="5148117" cy="495329"/>
              </a:xfrm>
              <a:prstGeom prst="rect">
                <a:avLst/>
              </a:prstGeom>
              <a:blipFill>
                <a:blip r:embed="rId15"/>
                <a:stretch>
                  <a:fillRect l="-1775" t="-7407" b="-234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21">
            <a:extLst>
              <a:ext uri="{FF2B5EF4-FFF2-40B4-BE49-F238E27FC236}">
                <a16:creationId xmlns:a16="http://schemas.microsoft.com/office/drawing/2014/main" id="{EDAFCED0-5BD9-EC4F-DE4B-07ADE18A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5524" y="5961745"/>
            <a:ext cx="384014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②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称为其</a:t>
            </a:r>
            <a:r>
              <a:rPr kumimoji="1" lang="zh-CN" altLang="en-US" sz="24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拉格朗日型余项</a:t>
            </a:r>
            <a:r>
              <a:rPr kumimoji="1" lang="en-US" altLang="zh-CN" sz="2400" dirty="0">
                <a:solidFill>
                  <a:srgbClr val="04926A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EBF91B7-78F4-EE12-82A3-95465B392444}"/>
              </a:ext>
            </a:extLst>
          </p:cNvPr>
          <p:cNvGrpSpPr/>
          <p:nvPr/>
        </p:nvGrpSpPr>
        <p:grpSpPr>
          <a:xfrm>
            <a:off x="1721800" y="520542"/>
            <a:ext cx="1115695" cy="400050"/>
            <a:chOff x="1553" y="3802"/>
            <a:chExt cx="1757" cy="630"/>
          </a:xfrm>
        </p:grpSpPr>
        <p:sp>
          <p:nvSpPr>
            <p:cNvPr id="24" name="圆角矩形 3">
              <a:extLst>
                <a:ext uri="{FF2B5EF4-FFF2-40B4-BE49-F238E27FC236}">
                  <a16:creationId xmlns:a16="http://schemas.microsoft.com/office/drawing/2014/main" id="{D396BE31-0E27-DD71-17B2-0187AA521751}"/>
                </a:ext>
              </a:extLst>
            </p:cNvPr>
            <p:cNvSpPr/>
            <p:nvPr/>
          </p:nvSpPr>
          <p:spPr>
            <a:xfrm>
              <a:off x="1553" y="3803"/>
              <a:ext cx="1757" cy="624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10B9E367-C5E2-4268-18CC-A907E4304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519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6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sz="26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132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2051BBF-943F-8684-851B-22408C063D0C}"/>
              </a:ext>
            </a:extLst>
          </p:cNvPr>
          <p:cNvSpPr txBox="1">
            <a:spLocks noChangeArrowheads="1"/>
          </p:cNvSpPr>
          <p:nvPr/>
        </p:nvSpPr>
        <p:spPr>
          <a:xfrm>
            <a:off x="2072648" y="468314"/>
            <a:ext cx="133299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证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2200" b="1" dirty="0">
                <a:ea typeface="黑体" panose="02010609060101010101" pitchFamily="49" charset="-122"/>
              </a:rPr>
              <a:t>     </a:t>
            </a:r>
            <a:r>
              <a:rPr lang="zh-CN" altLang="en-US" sz="2200" dirty="0"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6A894CD-A8D6-8242-969F-1D412586F252}"/>
                  </a:ext>
                </a:extLst>
              </p:cNvPr>
              <p:cNvSpPr txBox="1"/>
              <p:nvPr/>
            </p:nvSpPr>
            <p:spPr bwMode="auto">
              <a:xfrm>
                <a:off x="3486150" y="546099"/>
                <a:ext cx="5435600" cy="4445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)  (0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1),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6A894CD-A8D6-8242-969F-1D412586F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6150" y="546099"/>
                <a:ext cx="5435600" cy="444501"/>
              </a:xfrm>
              <a:prstGeom prst="rect">
                <a:avLst/>
              </a:prstGeom>
              <a:blipFill>
                <a:blip r:embed="rId3"/>
                <a:stretch>
                  <a:fillRect l="-224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1DBF0430-6BA8-4287-32E2-EA265E897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613" y="1179514"/>
            <a:ext cx="604951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8327A7FB-4D38-BB3E-06D9-4C47045DBF7F}"/>
                  </a:ext>
                </a:extLst>
              </p:cNvPr>
              <p:cNvSpPr txBox="1"/>
              <p:nvPr/>
            </p:nvSpPr>
            <p:spPr bwMode="auto">
              <a:xfrm>
                <a:off x="3486150" y="1155700"/>
                <a:ext cx="61468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), </m:t>
                      </m:r>
                      <m:r>
                        <a:rPr kumimoji="1" lang="zh-CN" alt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8327A7FB-4D38-BB3E-06D9-4C47045DB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6150" y="1155700"/>
                <a:ext cx="6146800" cy="444500"/>
              </a:xfrm>
              <a:prstGeom prst="rect">
                <a:avLst/>
              </a:prstGeom>
              <a:blipFill>
                <a:blip r:embed="rId4"/>
                <a:stretch>
                  <a:fillRect l="-198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>
            <a:extLst>
              <a:ext uri="{FF2B5EF4-FFF2-40B4-BE49-F238E27FC236}">
                <a16:creationId xmlns:a16="http://schemas.microsoft.com/office/drawing/2014/main" id="{256EC593-16B5-6885-D322-1DF23057B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613" y="1712914"/>
            <a:ext cx="4554750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利用多元复合函数求导法则可得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C95BD356-027D-C5BD-34E0-A9FEBB642759}"/>
                  </a:ext>
                </a:extLst>
              </p:cNvPr>
              <p:cNvSpPr txBox="1"/>
              <p:nvPr/>
            </p:nvSpPr>
            <p:spPr bwMode="auto">
              <a:xfrm>
                <a:off x="3486150" y="2242819"/>
                <a:ext cx="76581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C95BD356-027D-C5BD-34E0-A9FEBB642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6150" y="2242819"/>
                <a:ext cx="7658100" cy="508000"/>
              </a:xfrm>
              <a:prstGeom prst="rect">
                <a:avLst/>
              </a:prstGeom>
              <a:blipFill>
                <a:blip r:embed="rId5"/>
                <a:stretch>
                  <a:fillRect l="-1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164B1C08-8A50-142B-D525-94C7D3D4079A}"/>
                  </a:ext>
                </a:extLst>
              </p:cNvPr>
              <p:cNvSpPr txBox="1"/>
              <p:nvPr/>
            </p:nvSpPr>
            <p:spPr bwMode="auto">
              <a:xfrm>
                <a:off x="4194175" y="2744945"/>
                <a:ext cx="4787900" cy="8512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(0)=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164B1C08-8A50-142B-D525-94C7D3D4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4175" y="2744945"/>
                <a:ext cx="4787900" cy="8512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555846A8-E6EA-49AB-5D03-3DD78E712235}"/>
                  </a:ext>
                </a:extLst>
              </p:cNvPr>
              <p:cNvSpPr txBox="1"/>
              <p:nvPr/>
            </p:nvSpPr>
            <p:spPr bwMode="auto">
              <a:xfrm>
                <a:off x="3486150" y="3679825"/>
                <a:ext cx="4533900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zh-CN" altLang="en-US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</m:e>
                      <m: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″</m:t>
                        </m:r>
                      </m:sup>
                    </m:sSup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)= </m:t>
                    </m:r>
                    <m:sSup>
                      <m:sSup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h</m:t>
                        </m:r>
                      </m:e>
                      <m:sup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𝑥𝑥</m:t>
                        </m:r>
                      </m:sub>
                    </m:sSub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h𝑡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, </m:t>
                    </m:r>
                    <m:sSub>
                      <m:sSub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𝑘𝑡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</m:oMath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555846A8-E6EA-49AB-5D03-3DD78E712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6150" y="3679825"/>
                <a:ext cx="4533900" cy="596900"/>
              </a:xfrm>
              <a:prstGeom prst="rect">
                <a:avLst/>
              </a:prstGeom>
              <a:blipFill>
                <a:blip r:embed="rId7"/>
                <a:stretch>
                  <a:fillRect l="-2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2707FCBA-A914-2302-14BF-6A1AA63269FE}"/>
                  </a:ext>
                </a:extLst>
              </p:cNvPr>
              <p:cNvSpPr txBox="1"/>
              <p:nvPr/>
            </p:nvSpPr>
            <p:spPr bwMode="auto">
              <a:xfrm>
                <a:off x="4510058" y="4276725"/>
                <a:ext cx="39370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h𝑘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2707FCBA-A914-2302-14BF-6A1AA6326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0058" y="4276725"/>
                <a:ext cx="3937000" cy="508000"/>
              </a:xfrm>
              <a:prstGeom prst="rect">
                <a:avLst/>
              </a:prstGeom>
              <a:blipFill>
                <a:blip r:embed="rId8"/>
                <a:stretch>
                  <a:fillRect l="-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AA2A6AD9-05C0-26D7-41FA-43F2897125AB}"/>
                  </a:ext>
                </a:extLst>
              </p:cNvPr>
              <p:cNvSpPr txBox="1"/>
              <p:nvPr/>
            </p:nvSpPr>
            <p:spPr bwMode="auto">
              <a:xfrm>
                <a:off x="4410306" y="4794481"/>
                <a:ext cx="3759200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AA2A6AD9-05C0-26D7-41FA-43F289712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0306" y="4794481"/>
                <a:ext cx="3759200" cy="596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F98F2121-618D-5204-5374-CB9C0AA9499E}"/>
                  </a:ext>
                </a:extLst>
              </p:cNvPr>
              <p:cNvSpPr txBox="1"/>
              <p:nvPr/>
            </p:nvSpPr>
            <p:spPr bwMode="auto">
              <a:xfrm>
                <a:off x="4194175" y="5330825"/>
                <a:ext cx="5029200" cy="9652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″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(0)=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F98F2121-618D-5204-5374-CB9C0AA94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4175" y="5330825"/>
                <a:ext cx="5029200" cy="9652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59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E0F662C0-246D-9D08-3F42-B4CA0FE316F1}"/>
              </a:ext>
            </a:extLst>
          </p:cNvPr>
          <p:cNvGrpSpPr/>
          <p:nvPr/>
        </p:nvGrpSpPr>
        <p:grpSpPr>
          <a:xfrm>
            <a:off x="362526" y="590157"/>
            <a:ext cx="11149330" cy="5612765"/>
            <a:chOff x="838" y="906"/>
            <a:chExt cx="17558" cy="8839"/>
          </a:xfrm>
        </p:grpSpPr>
        <p:sp>
          <p:nvSpPr>
            <p:cNvPr id="14" name="PA-102232">
              <a:extLst>
                <a:ext uri="{FF2B5EF4-FFF2-40B4-BE49-F238E27FC236}">
                  <a16:creationId xmlns:a16="http://schemas.microsoft.com/office/drawing/2014/main" id="{FDDD1D4B-C9B8-DDB9-3D32-34F3AE2A5BC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D44DD699-8B18-D384-9286-FD734C896969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A5D02F25-E1C7-FA34-3019-4BB5CB492294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5776D352-CC61-E914-159B-955248A83838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23BA61CE-B4FA-7211-B414-E04F0122B38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41D76923-10A7-2D9A-7BB9-29AF4BB36EB8}"/>
                  </a:ext>
                </a:extLst>
              </p:cNvPr>
              <p:cNvSpPr txBox="1"/>
              <p:nvPr/>
            </p:nvSpPr>
            <p:spPr bwMode="auto">
              <a:xfrm>
                <a:off x="2222500" y="1326404"/>
                <a:ext cx="7258050" cy="1130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)=  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sub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sup>
                          </m:sSubSup>
                        </m:e>
                      </m:nary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2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2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𝑚</m:t>
                                      </m:r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−</m:t>
                                      </m:r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1" lang="zh-CN" altLang="en-US" sz="2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h𝑡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, </m:t>
                                </m:r>
                                <m:sSub>
                                  <m:sSubPr>
                                    <m:ctrlPr>
                                      <a:rPr kumimoji="1" lang="zh-CN" altLang="en-US" sz="2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1" lang="zh-CN" altLang="en-US" sz="22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𝑘𝑡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41D76923-10A7-2D9A-7BB9-29AF4BB36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2500" y="1326404"/>
                <a:ext cx="7258050" cy="1130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F51A8A2D-F60E-0A27-33BF-FF36DBB13D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2500" y="962026"/>
                <a:ext cx="1085851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一般地</a:t>
                </a:r>
                <a14:m>
                  <m:oMath xmlns:m="http://schemas.openxmlformats.org/officeDocument/2006/math">
                    <m:r>
                      <a:rPr kumimoji="1" lang="zh-CN" altLang="en-US" sz="2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Text Box 3">
                <a:extLst>
                  <a:ext uri="{FF2B5EF4-FFF2-40B4-BE49-F238E27FC236}">
                    <a16:creationId xmlns:a16="http://schemas.microsoft.com/office/drawing/2014/main" id="{F51A8A2D-F60E-0A27-33BF-FF36DBB13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2500" y="962026"/>
                <a:ext cx="1085851" cy="433068"/>
              </a:xfrm>
              <a:prstGeom prst="rect">
                <a:avLst/>
              </a:prstGeom>
              <a:blipFill>
                <a:blip r:embed="rId5"/>
                <a:stretch>
                  <a:fillRect l="-7865" t="-15493" r="-562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C212A45E-728E-1204-479C-260BC01FD9D5}"/>
                  </a:ext>
                </a:extLst>
              </p:cNvPr>
              <p:cNvSpPr txBox="1"/>
              <p:nvPr/>
            </p:nvSpPr>
            <p:spPr bwMode="auto">
              <a:xfrm>
                <a:off x="3222566" y="2391055"/>
                <a:ext cx="5435600" cy="800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(0)=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C212A45E-728E-1204-479C-260BC01FD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2566" y="2391055"/>
                <a:ext cx="5435600" cy="800102"/>
              </a:xfrm>
              <a:prstGeom prst="rect">
                <a:avLst/>
              </a:prstGeom>
              <a:blipFill>
                <a:blip r:embed="rId6"/>
                <a:stretch>
                  <a:fillRect b="-61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0B6C4E78-D85E-AA61-AD08-CE06BEC2C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3364083"/>
            <a:ext cx="534418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由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A46DCA7A-5CA3-B70A-C49D-ABA912490907}"/>
                  </a:ext>
                </a:extLst>
              </p:cNvPr>
              <p:cNvSpPr txBox="1"/>
              <p:nvPr/>
            </p:nvSpPr>
            <p:spPr bwMode="auto">
              <a:xfrm>
                <a:off x="2498031" y="3371701"/>
                <a:ext cx="723900" cy="4019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A46DCA7A-5CA3-B70A-C49D-ABA912490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8031" y="3371701"/>
                <a:ext cx="723900" cy="401956"/>
              </a:xfrm>
              <a:prstGeom prst="rect">
                <a:avLst/>
              </a:prstGeom>
              <a:blipFill>
                <a:blip r:embed="rId7"/>
                <a:stretch>
                  <a:fillRect l="-1681" r="-5042" b="-257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AE5BF728-4B5B-0D8A-88F7-1110DB9D37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7912" y="3371701"/>
                <a:ext cx="2624734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的麦克劳林公式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得 </a:t>
                </a:r>
              </a:p>
            </p:txBody>
          </p:sp>
        </mc:Choice>
        <mc:Fallback xmlns="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AE5BF728-4B5B-0D8A-88F7-1110DB9D3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7912" y="3371701"/>
                <a:ext cx="2624734" cy="433068"/>
              </a:xfrm>
              <a:prstGeom prst="rect">
                <a:avLst/>
              </a:prstGeom>
              <a:blipFill>
                <a:blip r:embed="rId8"/>
                <a:stretch>
                  <a:fillRect l="-3256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BF4673A9-362A-D3D8-1BC8-0556AC9392B7}"/>
                  </a:ext>
                </a:extLst>
              </p:cNvPr>
              <p:cNvSpPr txBox="1"/>
              <p:nvPr/>
            </p:nvSpPr>
            <p:spPr bwMode="auto">
              <a:xfrm>
                <a:off x="3098429" y="3930970"/>
                <a:ext cx="1095375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(1)=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BF4673A9-362A-D3D8-1BC8-0556AC939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8429" y="3930970"/>
                <a:ext cx="1095375" cy="406400"/>
              </a:xfrm>
              <a:prstGeom prst="rect">
                <a:avLst/>
              </a:prstGeom>
              <a:blipFill>
                <a:blip r:embed="rId9"/>
                <a:stretch>
                  <a:fillRect l="-556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1F3ECE97-9CFD-BF0E-A402-1AC425D35B09}"/>
                  </a:ext>
                </a:extLst>
              </p:cNvPr>
              <p:cNvSpPr txBox="1"/>
              <p:nvPr/>
            </p:nvSpPr>
            <p:spPr bwMode="auto">
              <a:xfrm>
                <a:off x="4665286" y="4470092"/>
                <a:ext cx="2705100" cy="8524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+1) !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1F3ECE97-9CFD-BF0E-A402-1AC425D3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5286" y="4470092"/>
                <a:ext cx="2705100" cy="85248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5582B43C-D9D2-AF97-42E2-8A85B8F796B4}"/>
                  </a:ext>
                </a:extLst>
              </p:cNvPr>
              <p:cNvSpPr txBox="1"/>
              <p:nvPr/>
            </p:nvSpPr>
            <p:spPr bwMode="auto">
              <a:xfrm>
                <a:off x="7749850" y="4637570"/>
                <a:ext cx="1650985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(0&lt;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&lt;1)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5582B43C-D9D2-AF97-42E2-8A85B8F7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9850" y="4637570"/>
                <a:ext cx="1650985" cy="406400"/>
              </a:xfrm>
              <a:prstGeom prst="rect">
                <a:avLst/>
              </a:prstGeom>
              <a:blipFill>
                <a:blip r:embed="rId11"/>
                <a:stretch>
                  <a:fillRect l="-2214" r="-369" b="-257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1">
            <a:extLst>
              <a:ext uri="{FF2B5EF4-FFF2-40B4-BE49-F238E27FC236}">
                <a16:creationId xmlns:a16="http://schemas.microsoft.com/office/drawing/2014/main" id="{8ECD9203-3117-22BF-1DD2-3A69B237E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5366071"/>
            <a:ext cx="5683264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将前述导数公式代入即得二元函数泰勒公式</a:t>
            </a:r>
            <a:r>
              <a:rPr kumimoji="1" lang="en-US" altLang="zh-CN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D7059628-3429-7D92-7004-9225CFEF03F4}"/>
                  </a:ext>
                </a:extLst>
              </p:cNvPr>
              <p:cNvSpPr txBox="1"/>
              <p:nvPr/>
            </p:nvSpPr>
            <p:spPr bwMode="auto">
              <a:xfrm>
                <a:off x="4019565" y="3740470"/>
                <a:ext cx="6845170" cy="1222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2 !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″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(0)+⋯+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 !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(0)</m:t>
                      </m:r>
                      <m:r>
                        <a:rPr kumimoji="1" lang="en-US" altLang="zh-CN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D7059628-3429-7D92-7004-9225CFEF0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565" y="3740470"/>
                <a:ext cx="6845170" cy="122222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89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C75EAD2-6837-0931-7182-3C1BD6154701}"/>
                  </a:ext>
                </a:extLst>
              </p:cNvPr>
              <p:cNvSpPr txBox="1"/>
              <p:nvPr/>
            </p:nvSpPr>
            <p:spPr bwMode="auto">
              <a:xfrm>
                <a:off x="917058" y="2203832"/>
                <a:ext cx="9372600" cy="10439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+1)!</m:t>
                          </m:r>
                        </m:den>
                      </m:f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8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可得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C75EAD2-6837-0931-7182-3C1BD6154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058" y="2203832"/>
                <a:ext cx="9372600" cy="1043943"/>
              </a:xfrm>
              <a:prstGeom prst="rect">
                <a:avLst/>
              </a:prstGeom>
              <a:blipFill>
                <a:blip r:embed="rId3"/>
                <a:stretch>
                  <a:fillRect b="-40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A31F7B55-0C53-EBC3-532A-7A40E049C0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7058" y="1022652"/>
                <a:ext cx="2743356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(1)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余项估计式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 Box 5">
                <a:extLst>
                  <a:ext uri="{FF2B5EF4-FFF2-40B4-BE49-F238E27FC236}">
                    <a16:creationId xmlns:a16="http://schemas.microsoft.com/office/drawing/2014/main" id="{A31F7B55-0C53-EBC3-532A-7A40E049C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058" y="1022652"/>
                <a:ext cx="2743356" cy="525401"/>
              </a:xfrm>
              <a:prstGeom prst="rect">
                <a:avLst/>
              </a:prstGeom>
              <a:blipFill>
                <a:blip r:embed="rId4"/>
                <a:stretch>
                  <a:fillRect t="-17442" r="-2667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6">
                <a:extLst>
                  <a:ext uri="{FF2B5EF4-FFF2-40B4-BE49-F238E27FC236}">
                    <a16:creationId xmlns:a16="http://schemas.microsoft.com/office/drawing/2014/main" id="{CAB4B15B-1391-5451-75F7-CAC7DCC06E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3558" y="1009952"/>
                <a:ext cx="4771027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因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的各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阶偏导数连续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 Box 6">
                <a:extLst>
                  <a:ext uri="{FF2B5EF4-FFF2-40B4-BE49-F238E27FC236}">
                    <a16:creationId xmlns:a16="http://schemas.microsoft.com/office/drawing/2014/main" id="{CAB4B15B-1391-5451-75F7-CAC7DCC06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3558" y="1009952"/>
                <a:ext cx="4771027" cy="525401"/>
              </a:xfrm>
              <a:prstGeom prst="rect">
                <a:avLst/>
              </a:prstGeom>
              <a:blipFill>
                <a:blip r:embed="rId5"/>
                <a:stretch>
                  <a:fillRect l="-2685" t="-1744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7">
            <a:extLst>
              <a:ext uri="{FF2B5EF4-FFF2-40B4-BE49-F238E27FC236}">
                <a16:creationId xmlns:a16="http://schemas.microsoft.com/office/drawing/2014/main" id="{F8EC121A-DB51-527C-4A73-A523A09FD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77" y="998360"/>
            <a:ext cx="1258976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在某闭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8">
                <a:extLst>
                  <a:ext uri="{FF2B5EF4-FFF2-40B4-BE49-F238E27FC236}">
                    <a16:creationId xmlns:a16="http://schemas.microsoft.com/office/drawing/2014/main" id="{5ED48BAC-9E23-0BA9-5CC6-83A61863B4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6610" y="1610555"/>
                <a:ext cx="4343400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邻域其绝对值必有上界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𝑀</m:t>
                    </m:r>
                    <m:r>
                      <a:rPr kumimoji="1" lang="en-US" altLang="zh-CN" sz="2800" b="0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,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 Box 8">
                <a:extLst>
                  <a:ext uri="{FF2B5EF4-FFF2-40B4-BE49-F238E27FC236}">
                    <a16:creationId xmlns:a16="http://schemas.microsoft.com/office/drawing/2014/main" id="{5ED48BAC-9E23-0BA9-5CC6-83A61863B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6610" y="1610555"/>
                <a:ext cx="4343400" cy="525401"/>
              </a:xfrm>
              <a:prstGeom prst="rect">
                <a:avLst/>
              </a:prstGeom>
              <a:blipFill>
                <a:blip r:embed="rId6"/>
                <a:stretch>
                  <a:fillRect l="-2949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9">
                <a:extLst>
                  <a:ext uri="{FF2B5EF4-FFF2-40B4-BE49-F238E27FC236}">
                    <a16:creationId xmlns:a16="http://schemas.microsoft.com/office/drawing/2014/main" id="{B05BECFD-7D69-23AC-011A-7B41568C33AD}"/>
                  </a:ext>
                </a:extLst>
              </p:cNvPr>
              <p:cNvSpPr txBox="1"/>
              <p:nvPr/>
            </p:nvSpPr>
            <p:spPr bwMode="auto">
              <a:xfrm>
                <a:off x="5606533" y="1512903"/>
                <a:ext cx="2882974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令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9">
                <a:extLst>
                  <a:ext uri="{FF2B5EF4-FFF2-40B4-BE49-F238E27FC236}">
                    <a16:creationId xmlns:a16="http://schemas.microsoft.com/office/drawing/2014/main" id="{B05BECFD-7D69-23AC-011A-7B41568C3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6533" y="1512903"/>
                <a:ext cx="2882974" cy="558800"/>
              </a:xfrm>
              <a:prstGeom prst="rect">
                <a:avLst/>
              </a:prstGeom>
              <a:blipFill>
                <a:blip r:embed="rId7"/>
                <a:stretch>
                  <a:fillRect b="-10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10">
            <a:extLst>
              <a:ext uri="{FF2B5EF4-FFF2-40B4-BE49-F238E27FC236}">
                <a16:creationId xmlns:a16="http://schemas.microsoft.com/office/drawing/2014/main" id="{471221EE-034E-6A2C-9C57-9C1D1021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0154" y="1597855"/>
            <a:ext cx="97915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1">
                <a:extLst>
                  <a:ext uri="{FF2B5EF4-FFF2-40B4-BE49-F238E27FC236}">
                    <a16:creationId xmlns:a16="http://schemas.microsoft.com/office/drawing/2014/main" id="{7EC1AC01-ECF3-3467-8CCB-1B0C0DCE4716}"/>
                  </a:ext>
                </a:extLst>
              </p:cNvPr>
              <p:cNvSpPr txBox="1"/>
              <p:nvPr/>
            </p:nvSpPr>
            <p:spPr bwMode="auto">
              <a:xfrm>
                <a:off x="917058" y="3360451"/>
                <a:ext cx="4775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+1)!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d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1">
                <a:extLst>
                  <a:ext uri="{FF2B5EF4-FFF2-40B4-BE49-F238E27FC236}">
                    <a16:creationId xmlns:a16="http://schemas.microsoft.com/office/drawing/2014/main" id="{7EC1AC01-ECF3-3467-8CCB-1B0C0DCE4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058" y="3360451"/>
                <a:ext cx="4775200" cy="927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2">
                <a:extLst>
                  <a:ext uri="{FF2B5EF4-FFF2-40B4-BE49-F238E27FC236}">
                    <a16:creationId xmlns:a16="http://schemas.microsoft.com/office/drawing/2014/main" id="{4E5D2713-A2CA-8056-06DE-E59E15F94351}"/>
                  </a:ext>
                </a:extLst>
              </p:cNvPr>
              <p:cNvSpPr txBox="1"/>
              <p:nvPr/>
            </p:nvSpPr>
            <p:spPr bwMode="auto">
              <a:xfrm>
                <a:off x="5727183" y="3362222"/>
                <a:ext cx="2304502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1" name="Object 12">
                <a:extLst>
                  <a:ext uri="{FF2B5EF4-FFF2-40B4-BE49-F238E27FC236}">
                    <a16:creationId xmlns:a16="http://schemas.microsoft.com/office/drawing/2014/main" id="{4E5D2713-A2CA-8056-06DE-E59E15F94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7183" y="3362222"/>
                <a:ext cx="2304502" cy="901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3">
                <a:extLst>
                  <a:ext uri="{FF2B5EF4-FFF2-40B4-BE49-F238E27FC236}">
                    <a16:creationId xmlns:a16="http://schemas.microsoft.com/office/drawing/2014/main" id="{A50559E6-D238-EF7F-403F-BA2C67627913}"/>
                  </a:ext>
                </a:extLst>
              </p:cNvPr>
              <p:cNvSpPr txBox="1"/>
              <p:nvPr/>
            </p:nvSpPr>
            <p:spPr bwMode="auto">
              <a:xfrm>
                <a:off x="917058" y="4352230"/>
                <a:ext cx="5874725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3">
                <a:extLst>
                  <a:ext uri="{FF2B5EF4-FFF2-40B4-BE49-F238E27FC236}">
                    <a16:creationId xmlns:a16="http://schemas.microsoft.com/office/drawing/2014/main" id="{A50559E6-D238-EF7F-403F-BA2C67627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058" y="4352230"/>
                <a:ext cx="5874725" cy="927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4">
                <a:extLst>
                  <a:ext uri="{FF2B5EF4-FFF2-40B4-BE49-F238E27FC236}">
                    <a16:creationId xmlns:a16="http://schemas.microsoft.com/office/drawing/2014/main" id="{83FEC197-979D-4588-1262-FDC8CBDD7784}"/>
                  </a:ext>
                </a:extLst>
              </p:cNvPr>
              <p:cNvSpPr txBox="1"/>
              <p:nvPr/>
            </p:nvSpPr>
            <p:spPr bwMode="auto">
              <a:xfrm>
                <a:off x="6672449" y="4441130"/>
                <a:ext cx="4875610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利用</m:t>
                      </m:r>
                      <m:r>
                        <a:rPr kumimoji="1" lang="zh-CN" altLang="en-US" sz="28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limLow>
                        <m:limLowPr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max</m:t>
                          </m:r>
                        </m:e>
                        <m:lim>
                          <m:r>
                            <a:rPr kumimoji="1"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[0,1]</m:t>
                          </m:r>
                        </m:lim>
                      </m:limLow>
                      <m:r>
                        <a:rPr kumimoji="1"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1−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zh-CN" altLang="en-US" sz="2800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4">
                <a:extLst>
                  <a:ext uri="{FF2B5EF4-FFF2-40B4-BE49-F238E27FC236}">
                    <a16:creationId xmlns:a16="http://schemas.microsoft.com/office/drawing/2014/main" id="{83FEC197-979D-4588-1262-FDC8CBDD7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2449" y="4441130"/>
                <a:ext cx="4875610" cy="9017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5">
                <a:extLst>
                  <a:ext uri="{FF2B5EF4-FFF2-40B4-BE49-F238E27FC236}">
                    <a16:creationId xmlns:a16="http://schemas.microsoft.com/office/drawing/2014/main" id="{F7DE1971-0401-8F12-1606-FA1BFD1B8A5E}"/>
                  </a:ext>
                </a:extLst>
              </p:cNvPr>
              <p:cNvSpPr txBox="1"/>
              <p:nvPr/>
            </p:nvSpPr>
            <p:spPr bwMode="auto">
              <a:xfrm>
                <a:off x="917058" y="5425607"/>
                <a:ext cx="3882771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𝑀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+1)!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15">
                <a:extLst>
                  <a:ext uri="{FF2B5EF4-FFF2-40B4-BE49-F238E27FC236}">
                    <a16:creationId xmlns:a16="http://schemas.microsoft.com/office/drawing/2014/main" id="{F7DE1971-0401-8F12-1606-FA1BFD1B8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7058" y="5425607"/>
                <a:ext cx="3882771" cy="9271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6">
                <a:extLst>
                  <a:ext uri="{FF2B5EF4-FFF2-40B4-BE49-F238E27FC236}">
                    <a16:creationId xmlns:a16="http://schemas.microsoft.com/office/drawing/2014/main" id="{EC2F788E-1191-1FB0-1E12-253178FFCF28}"/>
                  </a:ext>
                </a:extLst>
              </p:cNvPr>
              <p:cNvSpPr txBox="1"/>
              <p:nvPr/>
            </p:nvSpPr>
            <p:spPr bwMode="auto">
              <a:xfrm>
                <a:off x="4561863" y="5580365"/>
                <a:ext cx="1540903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𝑜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16">
                <a:extLst>
                  <a:ext uri="{FF2B5EF4-FFF2-40B4-BE49-F238E27FC236}">
                    <a16:creationId xmlns:a16="http://schemas.microsoft.com/office/drawing/2014/main" id="{EC2F788E-1191-1FB0-1E12-253178FFC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1863" y="5580365"/>
                <a:ext cx="1540903" cy="5207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62259FD0-90C4-6F7D-0AF5-488CF59C4452}"/>
              </a:ext>
            </a:extLst>
          </p:cNvPr>
          <p:cNvGrpSpPr/>
          <p:nvPr/>
        </p:nvGrpSpPr>
        <p:grpSpPr>
          <a:xfrm>
            <a:off x="976722" y="401367"/>
            <a:ext cx="612775" cy="612775"/>
            <a:chOff x="1601" y="872"/>
            <a:chExt cx="965" cy="965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80C140CB-0D47-D611-B36A-7AFB82FDEEF1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311B58D-CE28-7192-3B86-A401FEECDDE7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1AC5096D-93CC-38DC-ACB5-BE94F376B9C0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9488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E0F662C0-246D-9D08-3F42-B4CA0FE316F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4" name="PA-102232">
              <a:extLst>
                <a:ext uri="{FF2B5EF4-FFF2-40B4-BE49-F238E27FC236}">
                  <a16:creationId xmlns:a16="http://schemas.microsoft.com/office/drawing/2014/main" id="{FDDD1D4B-C9B8-DDB9-3D32-34F3AE2A5BC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D44DD699-8B18-D384-9286-FD734C896969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A5D02F25-E1C7-FA34-3019-4BB5CB492294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5776D352-CC61-E914-159B-955248A83838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23BA61CE-B4FA-7211-B414-E04F0122B38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2">
                <a:extLst>
                  <a:ext uri="{FF2B5EF4-FFF2-40B4-BE49-F238E27FC236}">
                    <a16:creationId xmlns:a16="http://schemas.microsoft.com/office/drawing/2014/main" id="{57EEEDC9-BDD7-BBBA-E18B-6D249479573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670055" y="1259909"/>
                <a:ext cx="8643938" cy="609600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w="76200" cmpd="tri">
                    <a:solidFill>
                      <a:srgbClr val="66FF33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得二元函数的拉格朗日中值公式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:</a:t>
                </a:r>
              </a:p>
            </p:txBody>
          </p:sp>
        </mc:Choice>
        <mc:Fallback xmlns="">
          <p:sp>
            <p:nvSpPr>
              <p:cNvPr id="19" name="Rectangle 2">
                <a:extLst>
                  <a:ext uri="{FF2B5EF4-FFF2-40B4-BE49-F238E27FC236}">
                    <a16:creationId xmlns:a16="http://schemas.microsoft.com/office/drawing/2014/main" id="{57EEEDC9-BDD7-BBBA-E18B-6D2494795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55" y="1259909"/>
                <a:ext cx="8643938" cy="609600"/>
              </a:xfrm>
              <a:prstGeom prst="rect">
                <a:avLst/>
              </a:prstGeom>
              <a:blipFill>
                <a:blip r:embed="rId4"/>
                <a:stretch>
                  <a:fillRect t="-11000" b="-19000"/>
                </a:stretch>
              </a:blipFill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 cmpd="tri">
                    <a:solidFill>
                      <a:srgbClr val="66FF33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">
                <a:extLst>
                  <a:ext uri="{FF2B5EF4-FFF2-40B4-BE49-F238E27FC236}">
                    <a16:creationId xmlns:a16="http://schemas.microsoft.com/office/drawing/2014/main" id="{E9BE83DC-289B-C1BA-7B6C-F81ABC8DA406}"/>
                  </a:ext>
                </a:extLst>
              </p:cNvPr>
              <p:cNvSpPr txBox="1"/>
              <p:nvPr/>
            </p:nvSpPr>
            <p:spPr bwMode="auto">
              <a:xfrm>
                <a:off x="2329032" y="1968199"/>
                <a:ext cx="5009706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)−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3">
                <a:extLst>
                  <a:ext uri="{FF2B5EF4-FFF2-40B4-BE49-F238E27FC236}">
                    <a16:creationId xmlns:a16="http://schemas.microsoft.com/office/drawing/2014/main" id="{E9BE83DC-289B-C1BA-7B6C-F81ABC8D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9032" y="1968199"/>
                <a:ext cx="5009706" cy="444500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4">
                <a:extLst>
                  <a:ext uri="{FF2B5EF4-FFF2-40B4-BE49-F238E27FC236}">
                    <a16:creationId xmlns:a16="http://schemas.microsoft.com/office/drawing/2014/main" id="{3BB34D0F-A843-C8A4-7D89-7A688800F4D4}"/>
                  </a:ext>
                </a:extLst>
              </p:cNvPr>
              <p:cNvSpPr txBox="1"/>
              <p:nvPr/>
            </p:nvSpPr>
            <p:spPr bwMode="auto">
              <a:xfrm>
                <a:off x="2312417" y="2694349"/>
                <a:ext cx="3992319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4">
                <a:extLst>
                  <a:ext uri="{FF2B5EF4-FFF2-40B4-BE49-F238E27FC236}">
                    <a16:creationId xmlns:a16="http://schemas.microsoft.com/office/drawing/2014/main" id="{3BB34D0F-A843-C8A4-7D89-7A688800F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2417" y="2694349"/>
                <a:ext cx="3992319" cy="444500"/>
              </a:xfrm>
              <a:prstGeom prst="rect">
                <a:avLst/>
              </a:prstGeom>
              <a:blipFill>
                <a:blip r:embed="rId6"/>
                <a:stretch>
                  <a:fillRect b="-54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5">
                <a:extLst>
                  <a:ext uri="{FF2B5EF4-FFF2-40B4-BE49-F238E27FC236}">
                    <a16:creationId xmlns:a16="http://schemas.microsoft.com/office/drawing/2014/main" id="{EDD20AF2-385B-30FC-49B6-F6C5D9ACE4E5}"/>
                  </a:ext>
                </a:extLst>
              </p:cNvPr>
              <p:cNvSpPr txBox="1"/>
              <p:nvPr/>
            </p:nvSpPr>
            <p:spPr bwMode="auto">
              <a:xfrm>
                <a:off x="6032337" y="2673083"/>
                <a:ext cx="3893968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5">
                <a:extLst>
                  <a:ext uri="{FF2B5EF4-FFF2-40B4-BE49-F238E27FC236}">
                    <a16:creationId xmlns:a16="http://schemas.microsoft.com/office/drawing/2014/main" id="{EDD20AF2-385B-30FC-49B6-F6C5D9ACE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2337" y="2673083"/>
                <a:ext cx="3893968" cy="508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6">
                <a:extLst>
                  <a:ext uri="{FF2B5EF4-FFF2-40B4-BE49-F238E27FC236}">
                    <a16:creationId xmlns:a16="http://schemas.microsoft.com/office/drawing/2014/main" id="{31AA361E-59CA-F5DE-71AA-17E24EE9B620}"/>
                  </a:ext>
                </a:extLst>
              </p:cNvPr>
              <p:cNvSpPr txBox="1"/>
              <p:nvPr/>
            </p:nvSpPr>
            <p:spPr bwMode="auto">
              <a:xfrm>
                <a:off x="7920207" y="3264254"/>
                <a:ext cx="2129849" cy="525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(0&lt;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&lt;1)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6">
                <a:extLst>
                  <a:ext uri="{FF2B5EF4-FFF2-40B4-BE49-F238E27FC236}">
                    <a16:creationId xmlns:a16="http://schemas.microsoft.com/office/drawing/2014/main" id="{31AA361E-59CA-F5DE-71AA-17E24EE9B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0207" y="3264254"/>
                <a:ext cx="2129849" cy="525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7">
                <a:extLst>
                  <a:ext uri="{FF2B5EF4-FFF2-40B4-BE49-F238E27FC236}">
                    <a16:creationId xmlns:a16="http://schemas.microsoft.com/office/drawing/2014/main" id="{5513417F-82A5-AD5D-A55C-E7C09B19AC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0055" y="4072876"/>
                <a:ext cx="1834326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8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3</m:t>
                        </m:r>
                      </m:e>
                    </m:d>
                    <m:r>
                      <a:rPr kumimoji="1"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若函数</a:t>
                </a:r>
              </a:p>
            </p:txBody>
          </p:sp>
        </mc:Choice>
        <mc:Fallback xmlns="">
          <p:sp>
            <p:nvSpPr>
              <p:cNvPr id="24" name="Text Box 7">
                <a:extLst>
                  <a:ext uri="{FF2B5EF4-FFF2-40B4-BE49-F238E27FC236}">
                    <a16:creationId xmlns:a16="http://schemas.microsoft.com/office/drawing/2014/main" id="{5513417F-82A5-AD5D-A55C-E7C09B19A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0055" y="4072876"/>
                <a:ext cx="1834326" cy="525401"/>
              </a:xfrm>
              <a:prstGeom prst="rect">
                <a:avLst/>
              </a:prstGeom>
              <a:blipFill>
                <a:blip r:embed="rId9"/>
                <a:stretch>
                  <a:fillRect t="-16279" r="-5648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8">
                <a:extLst>
                  <a:ext uri="{FF2B5EF4-FFF2-40B4-BE49-F238E27FC236}">
                    <a16:creationId xmlns:a16="http://schemas.microsoft.com/office/drawing/2014/main" id="{3B5A3F21-C08A-445B-71C7-B263BF48A1B2}"/>
                  </a:ext>
                </a:extLst>
              </p:cNvPr>
              <p:cNvSpPr txBox="1"/>
              <p:nvPr/>
            </p:nvSpPr>
            <p:spPr bwMode="auto">
              <a:xfrm>
                <a:off x="3290585" y="4067286"/>
                <a:ext cx="2044006" cy="5365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8">
                <a:extLst>
                  <a:ext uri="{FF2B5EF4-FFF2-40B4-BE49-F238E27FC236}">
                    <a16:creationId xmlns:a16="http://schemas.microsoft.com/office/drawing/2014/main" id="{3B5A3F21-C08A-445B-71C7-B263BF48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0585" y="4067286"/>
                <a:ext cx="2044006" cy="5365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9">
                <a:extLst>
                  <a:ext uri="{FF2B5EF4-FFF2-40B4-BE49-F238E27FC236}">
                    <a16:creationId xmlns:a16="http://schemas.microsoft.com/office/drawing/2014/main" id="{0853570D-3A2E-330C-EB1F-9CA259CFCC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12481" y="4072876"/>
                <a:ext cx="4884968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marR="0" indent="0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在区域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𝐷</m:t>
                    </m:r>
                    <m:r>
                      <a:rPr kumimoji="1" lang="en-US" altLang="zh-CN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上的两个一阶偏导数</a:t>
                </a:r>
              </a:p>
            </p:txBody>
          </p:sp>
        </mc:Choice>
        <mc:Fallback xmlns="">
          <p:sp>
            <p:nvSpPr>
              <p:cNvPr id="26" name="Text Box 9">
                <a:extLst>
                  <a:ext uri="{FF2B5EF4-FFF2-40B4-BE49-F238E27FC236}">
                    <a16:creationId xmlns:a16="http://schemas.microsoft.com/office/drawing/2014/main" id="{0853570D-3A2E-330C-EB1F-9CA259CFC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2481" y="4072876"/>
                <a:ext cx="4884968" cy="525401"/>
              </a:xfrm>
              <a:prstGeom prst="rect">
                <a:avLst/>
              </a:prstGeom>
              <a:blipFill>
                <a:blip r:embed="rId11"/>
                <a:stretch>
                  <a:fillRect l="-2622" t="-16279" r="-2122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0">
                <a:extLst>
                  <a:ext uri="{FF2B5EF4-FFF2-40B4-BE49-F238E27FC236}">
                    <a16:creationId xmlns:a16="http://schemas.microsoft.com/office/drawing/2014/main" id="{3C40881E-31C1-1CAE-A140-0E3D406F9E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4228" y="4737410"/>
                <a:ext cx="1412864" cy="525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恒为零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7" name="Text Box 10">
                <a:extLst>
                  <a:ext uri="{FF2B5EF4-FFF2-40B4-BE49-F238E27FC236}">
                    <a16:creationId xmlns:a16="http://schemas.microsoft.com/office/drawing/2014/main" id="{3C40881E-31C1-1CAE-A140-0E3D406F9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4228" y="4737410"/>
                <a:ext cx="1412864" cy="525401"/>
              </a:xfrm>
              <a:prstGeom prst="rect">
                <a:avLst/>
              </a:prstGeom>
              <a:blipFill>
                <a:blip r:embed="rId12"/>
                <a:stretch>
                  <a:fillRect l="-8621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40E1213A-4C0E-F683-00A9-8BBC4084E0B4}"/>
                  </a:ext>
                </a:extLst>
              </p:cNvPr>
              <p:cNvSpPr txBox="1"/>
              <p:nvPr/>
            </p:nvSpPr>
            <p:spPr bwMode="auto">
              <a:xfrm>
                <a:off x="7868004" y="4724142"/>
                <a:ext cx="266147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)≡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常数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11">
                <a:extLst>
                  <a:ext uri="{FF2B5EF4-FFF2-40B4-BE49-F238E27FC236}">
                    <a16:creationId xmlns:a16="http://schemas.microsoft.com/office/drawing/2014/main" id="{40E1213A-4C0E-F683-00A9-8BBC4084E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68004" y="4724142"/>
                <a:ext cx="2661477" cy="457200"/>
              </a:xfrm>
              <a:prstGeom prst="rect">
                <a:avLst/>
              </a:prstGeom>
              <a:blipFill>
                <a:blip r:embed="rId13"/>
                <a:stretch>
                  <a:fillRect b="-2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12">
            <a:extLst>
              <a:ext uri="{FF2B5EF4-FFF2-40B4-BE49-F238E27FC236}">
                <a16:creationId xmlns:a16="http://schemas.microsoft.com/office/drawing/2014/main" id="{AB8B26A6-EC3A-C876-B533-4A59E7574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098" y="4726777"/>
            <a:ext cx="458039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由中值公式可知在该区域上 </a:t>
            </a:r>
          </a:p>
        </p:txBody>
      </p:sp>
    </p:spTree>
    <p:extLst>
      <p:ext uri="{BB962C8B-B14F-4D97-AF65-F5344CB8AC3E}">
        <p14:creationId xmlns:p14="http://schemas.microsoft.com/office/powerpoint/2010/main" val="335548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324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C11331-8538-1F07-2245-B034A5DBB97E}"/>
              </a:ext>
            </a:extLst>
          </p:cNvPr>
          <p:cNvSpPr txBox="1">
            <a:spLocks noChangeArrowheads="1"/>
          </p:cNvSpPr>
          <p:nvPr/>
        </p:nvSpPr>
        <p:spPr>
          <a:xfrm>
            <a:off x="1327171" y="821952"/>
            <a:ext cx="2465957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ea typeface="黑体" panose="02010609060101010101" pitchFamily="49" charset="-122"/>
              </a:rPr>
              <a:t>求函数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53558F7-00C7-EE4F-6951-F166C90E2DC0}"/>
                  </a:ext>
                </a:extLst>
              </p:cNvPr>
              <p:cNvSpPr txBox="1"/>
              <p:nvPr/>
            </p:nvSpPr>
            <p:spPr bwMode="auto">
              <a:xfrm>
                <a:off x="3234220" y="833537"/>
                <a:ext cx="535023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</m:t>
                          </m:r>
                        </m:e>
                      </m:func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1+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在点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(0,0)</m:t>
                      </m:r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253558F7-00C7-EE4F-6951-F166C90E2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4220" y="833537"/>
                <a:ext cx="5350237" cy="457200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B3F68F13-0AD3-EBF9-F135-45F55E4F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437" y="1618658"/>
            <a:ext cx="63220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541073A2-3CD5-5C53-7512-92133B1789BE}"/>
                  </a:ext>
                </a:extLst>
              </p:cNvPr>
              <p:cNvSpPr txBox="1"/>
              <p:nvPr/>
            </p:nvSpPr>
            <p:spPr bwMode="auto">
              <a:xfrm>
                <a:off x="2174268" y="1498635"/>
                <a:ext cx="4105940" cy="8603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+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541073A2-3CD5-5C53-7512-92133B178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4268" y="1498635"/>
                <a:ext cx="4105940" cy="8603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6">
            <a:extLst>
              <a:ext uri="{FF2B5EF4-FFF2-40B4-BE49-F238E27FC236}">
                <a16:creationId xmlns:a16="http://schemas.microsoft.com/office/drawing/2014/main" id="{D8F429AC-5543-FDBA-B3D1-0A4EEBFC1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1077" y="828698"/>
            <a:ext cx="161804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的三阶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泰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FD249E88-D982-B820-4D32-455B6679F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7124" y="828245"/>
            <a:ext cx="152828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+mj-lt"/>
                <a:ea typeface="黑体" panose="02010609060101010101" pitchFamily="49" charset="-122"/>
                <a:cs typeface="+mj-cs"/>
              </a:rPr>
              <a:t>勒公式</a:t>
            </a:r>
            <a:r>
              <a:rPr lang="en-US" altLang="zh-CN" sz="2800" dirty="0">
                <a:latin typeface="+mj-lt"/>
                <a:ea typeface="黑体" panose="02010609060101010101" pitchFamily="49" charset="-122"/>
                <a:cs typeface="+mj-cs"/>
              </a:rPr>
              <a:t>.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C68159FD-F0A4-F366-016B-BC7A75A3DC0E}"/>
                  </a:ext>
                </a:extLst>
              </p:cNvPr>
              <p:cNvSpPr txBox="1"/>
              <p:nvPr/>
            </p:nvSpPr>
            <p:spPr bwMode="auto">
              <a:xfrm>
                <a:off x="2199668" y="2358990"/>
                <a:ext cx="69850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, 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(1+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C68159FD-F0A4-F366-016B-BC7A75A3D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9668" y="2358990"/>
                <a:ext cx="6985000" cy="977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EA6AF3F6-FD58-6E6C-E204-AE2CA41D3083}"/>
                  </a:ext>
                </a:extLst>
              </p:cNvPr>
              <p:cNvSpPr txBox="1"/>
              <p:nvPr/>
            </p:nvSpPr>
            <p:spPr bwMode="auto">
              <a:xfrm>
                <a:off x="2250468" y="3268183"/>
                <a:ext cx="3644900" cy="1079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𝑝</m:t>
                              </m:r>
                            </m:sup>
                          </m:s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3−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2!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(1+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EA6AF3F6-FD58-6E6C-E204-AE2CA41D3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468" y="3268183"/>
                <a:ext cx="3644900" cy="1079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0">
                <a:extLst>
                  <a:ext uri="{FF2B5EF4-FFF2-40B4-BE49-F238E27FC236}">
                    <a16:creationId xmlns:a16="http://schemas.microsoft.com/office/drawing/2014/main" id="{4D9A6AF5-0B7F-7240-6086-011F094926C6}"/>
                  </a:ext>
                </a:extLst>
              </p:cNvPr>
              <p:cNvSpPr txBox="1"/>
              <p:nvPr/>
            </p:nvSpPr>
            <p:spPr bwMode="auto">
              <a:xfrm>
                <a:off x="5573780" y="3464586"/>
                <a:ext cx="1855381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𝑝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=0,1,2,3)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1" name="Object 10">
                <a:extLst>
                  <a:ext uri="{FF2B5EF4-FFF2-40B4-BE49-F238E27FC236}">
                    <a16:creationId xmlns:a16="http://schemas.microsoft.com/office/drawing/2014/main" id="{4D9A6AF5-0B7F-7240-6086-011F09492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3780" y="3464586"/>
                <a:ext cx="1855381" cy="406400"/>
              </a:xfrm>
              <a:prstGeom prst="rect">
                <a:avLst/>
              </a:prstGeom>
              <a:blipFill>
                <a:blip r:embed="rId8"/>
                <a:stretch>
                  <a:fillRect l="-1967" b="-223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37327B7C-1D73-9B20-8B18-0F2E218C59EC}"/>
                  </a:ext>
                </a:extLst>
              </p:cNvPr>
              <p:cNvSpPr txBox="1"/>
              <p:nvPr/>
            </p:nvSpPr>
            <p:spPr bwMode="auto">
              <a:xfrm>
                <a:off x="2250468" y="4200555"/>
                <a:ext cx="3683000" cy="943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4</m:t>
                              </m:r>
                            </m:sup>
                          </m:s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𝑝</m:t>
                              </m:r>
                            </m:sup>
                          </m:s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4−</m:t>
                              </m:r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−3!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(1+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2" name="Object 11">
                <a:extLst>
                  <a:ext uri="{FF2B5EF4-FFF2-40B4-BE49-F238E27FC236}">
                    <a16:creationId xmlns:a16="http://schemas.microsoft.com/office/drawing/2014/main" id="{37327B7C-1D73-9B20-8B18-0F2E218C5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0468" y="4200555"/>
                <a:ext cx="3683000" cy="9430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B1BE505C-F228-8B42-9577-417C47D98ABC}"/>
                  </a:ext>
                </a:extLst>
              </p:cNvPr>
              <p:cNvSpPr txBox="1"/>
              <p:nvPr/>
            </p:nvSpPr>
            <p:spPr bwMode="auto">
              <a:xfrm>
                <a:off x="5573780" y="4408038"/>
                <a:ext cx="24003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𝑝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=0,1,2,3,4)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B1BE505C-F228-8B42-9577-417C47D98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3780" y="4408038"/>
                <a:ext cx="2400300" cy="406400"/>
              </a:xfrm>
              <a:prstGeom prst="rect">
                <a:avLst/>
              </a:prstGeom>
              <a:blipFill>
                <a:blip r:embed="rId10"/>
                <a:stretch>
                  <a:fillRect l="-1523" b="-223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13">
                <a:extLst>
                  <a:ext uri="{FF2B5EF4-FFF2-40B4-BE49-F238E27FC236}">
                    <a16:creationId xmlns:a16="http://schemas.microsoft.com/office/drawing/2014/main" id="{7A1B6CD7-1085-F6C7-096F-8BBBE7CD63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4268" y="5476820"/>
                <a:ext cx="803723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lang="zh-CN" altLang="en-US" sz="2200" dirty="0">
                    <a:latin typeface="+mj-lt"/>
                    <a:ea typeface="黑体" panose="02010609060101010101" pitchFamily="49" charset="-122"/>
                    <a:cs typeface="+mj-cs"/>
                  </a:rPr>
                  <a:t>因此</a:t>
                </a: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en-US" altLang="zh-CN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4" name="Text Box 13">
                <a:extLst>
                  <a:ext uri="{FF2B5EF4-FFF2-40B4-BE49-F238E27FC236}">
                    <a16:creationId xmlns:a16="http://schemas.microsoft.com/office/drawing/2014/main" id="{7A1B6CD7-1085-F6C7-096F-8BBBE7CD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4268" y="5476820"/>
                <a:ext cx="803723" cy="433068"/>
              </a:xfrm>
              <a:prstGeom prst="rect">
                <a:avLst/>
              </a:prstGeom>
              <a:blipFill>
                <a:blip r:embed="rId11"/>
                <a:stretch>
                  <a:fillRect l="-10606" t="-14085" r="-151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4">
                <a:extLst>
                  <a:ext uri="{FF2B5EF4-FFF2-40B4-BE49-F238E27FC236}">
                    <a16:creationId xmlns:a16="http://schemas.microsoft.com/office/drawing/2014/main" id="{104059D5-DB89-71CD-CB07-928DE49AF907}"/>
                  </a:ext>
                </a:extLst>
              </p:cNvPr>
              <p:cNvSpPr txBox="1"/>
              <p:nvPr/>
            </p:nvSpPr>
            <p:spPr bwMode="auto">
              <a:xfrm>
                <a:off x="2919124" y="5241990"/>
                <a:ext cx="3091622" cy="8184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𝜕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5" name="Object 14">
                <a:extLst>
                  <a:ext uri="{FF2B5EF4-FFF2-40B4-BE49-F238E27FC236}">
                    <a16:creationId xmlns:a16="http://schemas.microsoft.com/office/drawing/2014/main" id="{104059D5-DB89-71CD-CB07-928DE49AF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9124" y="5241990"/>
                <a:ext cx="3091622" cy="8184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5">
                <a:extLst>
                  <a:ext uri="{FF2B5EF4-FFF2-40B4-BE49-F238E27FC236}">
                    <a16:creationId xmlns:a16="http://schemas.microsoft.com/office/drawing/2014/main" id="{4974E6E3-E6E2-5F18-7009-7DCF386FA663}"/>
                  </a:ext>
                </a:extLst>
              </p:cNvPr>
              <p:cNvSpPr txBox="1"/>
              <p:nvPr/>
            </p:nvSpPr>
            <p:spPr bwMode="auto">
              <a:xfrm>
                <a:off x="5610293" y="5454423"/>
                <a:ext cx="3091623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6" name="Object 15">
                <a:extLst>
                  <a:ext uri="{FF2B5EF4-FFF2-40B4-BE49-F238E27FC236}">
                    <a16:creationId xmlns:a16="http://schemas.microsoft.com/office/drawing/2014/main" id="{4974E6E3-E6E2-5F18-7009-7DCF386F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293" y="5454423"/>
                <a:ext cx="3091623" cy="508000"/>
              </a:xfrm>
              <a:prstGeom prst="rect">
                <a:avLst/>
              </a:prstGeom>
              <a:blipFill>
                <a:blip r:embed="rId13"/>
                <a:stretch>
                  <a:fillRect r="-9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7BC17685-F8A4-9429-6ED0-4C6501B905D4}"/>
                  </a:ext>
                </a:extLst>
              </p:cNvPr>
              <p:cNvSpPr txBox="1"/>
              <p:nvPr/>
            </p:nvSpPr>
            <p:spPr bwMode="auto">
              <a:xfrm>
                <a:off x="8559594" y="5449985"/>
                <a:ext cx="1181986" cy="4015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7BC17685-F8A4-9429-6ED0-4C6501B90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59594" y="5449985"/>
                <a:ext cx="1181986" cy="401577"/>
              </a:xfrm>
              <a:prstGeom prst="rect">
                <a:avLst/>
              </a:prstGeom>
              <a:blipFill>
                <a:blip r:embed="rId14"/>
                <a:stretch>
                  <a:fillRect b="-15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10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6" grpId="0"/>
      <p:bldP spid="7" grpId="0"/>
      <p:bldP spid="8" grpId="0"/>
      <p:bldP spid="9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9" y="536260"/>
                <a:ext cx="10817352" cy="5799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640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774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FEB92FDB-8DED-F3B0-B556-358FE945C4F2}"/>
                  </a:ext>
                </a:extLst>
              </p:cNvPr>
              <p:cNvSpPr txBox="1"/>
              <p:nvPr/>
            </p:nvSpPr>
            <p:spPr bwMode="auto">
              <a:xfrm>
                <a:off x="2235200" y="545835"/>
                <a:ext cx="3454400" cy="8685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FEB92FDB-8DED-F3B0-B556-358FE945C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5200" y="545835"/>
                <a:ext cx="3454400" cy="86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F7079E0E-14D8-9EF6-9397-070E0B21BDCF}"/>
                  </a:ext>
                </a:extLst>
              </p:cNvPr>
              <p:cNvSpPr txBox="1"/>
              <p:nvPr/>
            </p:nvSpPr>
            <p:spPr bwMode="auto">
              <a:xfrm>
                <a:off x="2235200" y="2078666"/>
                <a:ext cx="3009900" cy="830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𝜕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F7079E0E-14D8-9EF6-9397-070E0B21B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5200" y="2078666"/>
                <a:ext cx="3009900" cy="8307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5C2E276A-114B-0473-8415-D83E416E02B1}"/>
                  </a:ext>
                </a:extLst>
              </p:cNvPr>
              <p:cNvSpPr txBox="1"/>
              <p:nvPr/>
            </p:nvSpPr>
            <p:spPr bwMode="auto">
              <a:xfrm>
                <a:off x="2235200" y="1532232"/>
                <a:ext cx="5638800" cy="596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h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𝑥𝑥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(0, 0)+2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h𝑘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(0, 0)+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𝑦𝑦</m:t>
                          </m:r>
                        </m:sub>
                      </m:sSub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5C2E276A-114B-0473-8415-D83E416E0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5200" y="1532232"/>
                <a:ext cx="5638800" cy="596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5EE86440-4900-000B-31AA-3569193CB834}"/>
                  </a:ext>
                </a:extLst>
              </p:cNvPr>
              <p:cNvSpPr txBox="1"/>
              <p:nvPr/>
            </p:nvSpPr>
            <p:spPr bwMode="auto">
              <a:xfrm>
                <a:off x="4798312" y="1939328"/>
                <a:ext cx="4398779" cy="1130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en-US" altLang="zh-CN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zh-CN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  <m:e>
                          <m:func>
                            <m:func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bSup>
                                <m:sSubSup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kumimoji="1"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𝑝</m:t>
                                  </m:r>
                                </m:sup>
                              </m:sSubSup>
                            </m:fName>
                            <m:e>
                              <m:r>
                                <a:rPr kumimoji="1" lang="en-US" altLang="zh-CN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en-US" altLang="zh-CN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sz="22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US" altLang="zh-CN" sz="22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kumimoji="1"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en-US" altLang="zh-CN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3</m:t>
                                      </m:r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−</m:t>
                                      </m:r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, </m:t>
                                </m:r>
                                <m:r>
                                  <a:rPr kumimoji="1" lang="en-US" altLang="zh-CN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  <m:r>
                                  <a:rPr kumimoji="1" lang="zh-CN" altLang="en-US" sz="2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sub>
                      </m:sSub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5">
                <a:extLst>
                  <a:ext uri="{FF2B5EF4-FFF2-40B4-BE49-F238E27FC236}">
                    <a16:creationId xmlns:a16="http://schemas.microsoft.com/office/drawing/2014/main" id="{5EE86440-4900-000B-31AA-3569193CB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8312" y="1939328"/>
                <a:ext cx="4398779" cy="11303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CF82247B-C6CD-CB84-EA1F-F447B3B19A2A}"/>
                  </a:ext>
                </a:extLst>
              </p:cNvPr>
              <p:cNvSpPr txBox="1"/>
              <p:nvPr/>
            </p:nvSpPr>
            <p:spPr bwMode="auto">
              <a:xfrm>
                <a:off x="7574146" y="1545228"/>
                <a:ext cx="178627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=−(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CF82247B-C6CD-CB84-EA1F-F447B3B1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4146" y="1545228"/>
                <a:ext cx="1786270" cy="520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FDEAC226-B92F-9845-11DA-9C7742B866C8}"/>
                  </a:ext>
                </a:extLst>
              </p:cNvPr>
              <p:cNvSpPr txBox="1"/>
              <p:nvPr/>
            </p:nvSpPr>
            <p:spPr bwMode="auto">
              <a:xfrm>
                <a:off x="4887349" y="3015808"/>
                <a:ext cx="1700176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=2(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5" name="Object 7">
                <a:extLst>
                  <a:ext uri="{FF2B5EF4-FFF2-40B4-BE49-F238E27FC236}">
                    <a16:creationId xmlns:a16="http://schemas.microsoft.com/office/drawing/2014/main" id="{FDEAC226-B92F-9845-11DA-9C7742B86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7349" y="3015808"/>
                <a:ext cx="1700176" cy="469900"/>
              </a:xfrm>
              <a:prstGeom prst="rect">
                <a:avLst/>
              </a:prstGeom>
              <a:blipFill>
                <a:blip r:embed="rId9"/>
                <a:stretch>
                  <a:fillRect b="-64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9D92B4CF-A076-6CAC-3623-117BDC8023CE}"/>
                  </a:ext>
                </a:extLst>
              </p:cNvPr>
              <p:cNvSpPr txBox="1"/>
              <p:nvPr/>
            </p:nvSpPr>
            <p:spPr bwMode="auto">
              <a:xfrm>
                <a:off x="2235200" y="3437268"/>
                <a:ext cx="20574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又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 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𝑓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(0, 0)=0,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9D92B4CF-A076-6CAC-3623-117BDC802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5200" y="3437268"/>
                <a:ext cx="2057400" cy="406400"/>
              </a:xfrm>
              <a:prstGeom prst="rect">
                <a:avLst/>
              </a:prstGeom>
              <a:blipFill>
                <a:blip r:embed="rId10"/>
                <a:stretch>
                  <a:fillRect l="-1484" b="-223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C20D52B7-2C69-63DB-27BC-9C7D61DFDF8D}"/>
                  </a:ext>
                </a:extLst>
              </p:cNvPr>
              <p:cNvSpPr txBox="1"/>
              <p:nvPr/>
            </p:nvSpPr>
            <p:spPr bwMode="auto">
              <a:xfrm>
                <a:off x="4158216" y="3449748"/>
                <a:ext cx="4566684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将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,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代入三阶泰勒公式得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7" name="Object 9">
                <a:extLst>
                  <a:ext uri="{FF2B5EF4-FFF2-40B4-BE49-F238E27FC236}">
                    <a16:creationId xmlns:a16="http://schemas.microsoft.com/office/drawing/2014/main" id="{C20D52B7-2C69-63DB-27BC-9C7D61DFD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8216" y="3449748"/>
                <a:ext cx="4566684" cy="457200"/>
              </a:xfrm>
              <a:prstGeom prst="rect">
                <a:avLst/>
              </a:prstGeom>
              <a:blipFill>
                <a:blip r:embed="rId11"/>
                <a:stretch>
                  <a:fillRect l="-935" b="-2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1ACCBD82-F783-723F-81D2-98F3CD4271B9}"/>
                  </a:ext>
                </a:extLst>
              </p:cNvPr>
              <p:cNvSpPr txBox="1"/>
              <p:nvPr/>
            </p:nvSpPr>
            <p:spPr bwMode="auto">
              <a:xfrm>
                <a:off x="2587516" y="4047166"/>
                <a:ext cx="2225784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</m:t>
                          </m:r>
                        </m:e>
                      </m:func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1+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)=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18" name="Object 10">
                <a:extLst>
                  <a:ext uri="{FF2B5EF4-FFF2-40B4-BE49-F238E27FC236}">
                    <a16:creationId xmlns:a16="http://schemas.microsoft.com/office/drawing/2014/main" id="{1ACCBD82-F783-723F-81D2-98F3CD427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7516" y="4047166"/>
                <a:ext cx="2225784" cy="406400"/>
              </a:xfrm>
              <a:prstGeom prst="rect">
                <a:avLst/>
              </a:prstGeom>
              <a:blipFill>
                <a:blip r:embed="rId12"/>
                <a:stretch>
                  <a:fillRect l="-273" b="-223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1">
                <a:extLst>
                  <a:ext uri="{FF2B5EF4-FFF2-40B4-BE49-F238E27FC236}">
                    <a16:creationId xmlns:a16="http://schemas.microsoft.com/office/drawing/2014/main" id="{E5F6F279-2968-6BE6-BBEB-B4C0E38A3A21}"/>
                  </a:ext>
                </a:extLst>
              </p:cNvPr>
              <p:cNvSpPr txBox="1"/>
              <p:nvPr/>
            </p:nvSpPr>
            <p:spPr bwMode="auto">
              <a:xfrm>
                <a:off x="4578308" y="4023387"/>
                <a:ext cx="851678" cy="330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Object 11">
                <a:extLst>
                  <a:ext uri="{FF2B5EF4-FFF2-40B4-BE49-F238E27FC236}">
                    <a16:creationId xmlns:a16="http://schemas.microsoft.com/office/drawing/2014/main" id="{E5F6F279-2968-6BE6-BBEB-B4C0E38A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8308" y="4023387"/>
                <a:ext cx="851678" cy="330200"/>
              </a:xfrm>
              <a:prstGeom prst="rect">
                <a:avLst/>
              </a:prstGeom>
              <a:blipFill>
                <a:blip r:embed="rId13"/>
                <a:stretch>
                  <a:fillRect b="-425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0CC679CE-5B95-B306-0CBB-E75DCD2EA151}"/>
                  </a:ext>
                </a:extLst>
              </p:cNvPr>
              <p:cNvSpPr txBox="1"/>
              <p:nvPr/>
            </p:nvSpPr>
            <p:spPr bwMode="auto">
              <a:xfrm>
                <a:off x="5242682" y="3864159"/>
                <a:ext cx="1714500" cy="7568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0" name="Object 12">
                <a:extLst>
                  <a:ext uri="{FF2B5EF4-FFF2-40B4-BE49-F238E27FC236}">
                    <a16:creationId xmlns:a16="http://schemas.microsoft.com/office/drawing/2014/main" id="{0CC679CE-5B95-B306-0CBB-E75DCD2EA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2682" y="3864159"/>
                <a:ext cx="1714500" cy="75688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3">
                <a:extLst>
                  <a:ext uri="{FF2B5EF4-FFF2-40B4-BE49-F238E27FC236}">
                    <a16:creationId xmlns:a16="http://schemas.microsoft.com/office/drawing/2014/main" id="{0E9D9626-4A68-468C-FB7B-179CD44F68F4}"/>
                  </a:ext>
                </a:extLst>
              </p:cNvPr>
              <p:cNvSpPr txBox="1"/>
              <p:nvPr/>
            </p:nvSpPr>
            <p:spPr bwMode="auto">
              <a:xfrm>
                <a:off x="6722062" y="3865232"/>
                <a:ext cx="24130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p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p>
                      </m:sSup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28" name="Object 13">
                <a:extLst>
                  <a:ext uri="{FF2B5EF4-FFF2-40B4-BE49-F238E27FC236}">
                    <a16:creationId xmlns:a16="http://schemas.microsoft.com/office/drawing/2014/main" id="{0E9D9626-4A68-468C-FB7B-179CD44F6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2062" y="3865232"/>
                <a:ext cx="2413000" cy="8509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14">
            <a:extLst>
              <a:ext uri="{FF2B5EF4-FFF2-40B4-BE49-F238E27FC236}">
                <a16:creationId xmlns:a16="http://schemas.microsoft.com/office/drawing/2014/main" id="{6BEA75DD-FD06-6284-AE3D-5AB35F7B3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5200" y="4509701"/>
            <a:ext cx="746015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+mj-lt"/>
                <a:ea typeface="黑体" panose="02010609060101010101" pitchFamily="49" charset="-122"/>
                <a:cs typeface="+mj-cs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5">
                <a:extLst>
                  <a:ext uri="{FF2B5EF4-FFF2-40B4-BE49-F238E27FC236}">
                    <a16:creationId xmlns:a16="http://schemas.microsoft.com/office/drawing/2014/main" id="{6AE8A313-3956-1575-90D0-84D2B5B22323}"/>
                  </a:ext>
                </a:extLst>
              </p:cNvPr>
              <p:cNvSpPr txBox="1"/>
              <p:nvPr/>
            </p:nvSpPr>
            <p:spPr bwMode="auto">
              <a:xfrm>
                <a:off x="2223236" y="4893932"/>
                <a:ext cx="4463061" cy="8852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sSub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3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4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!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h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kumimoji="1"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𝑘</m:t>
                                  </m:r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𝜕</m:t>
                                      </m:r>
                                      <m:r>
                                        <a:rPr kumimoji="1" lang="zh-CN" altLang="en-US" sz="22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1" lang="en-US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𝜃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, 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𝜃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0" name="Object 15">
                <a:extLst>
                  <a:ext uri="{FF2B5EF4-FFF2-40B4-BE49-F238E27FC236}">
                    <a16:creationId xmlns:a16="http://schemas.microsoft.com/office/drawing/2014/main" id="{6AE8A313-3956-1575-90D0-84D2B5B22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3236" y="4893932"/>
                <a:ext cx="4463061" cy="885272"/>
              </a:xfrm>
              <a:prstGeom prst="rect">
                <a:avLst/>
              </a:prstGeom>
              <a:blipFill>
                <a:blip r:embed="rId16"/>
                <a:stretch>
                  <a:fillRect b="-41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6">
                <a:extLst>
                  <a:ext uri="{FF2B5EF4-FFF2-40B4-BE49-F238E27FC236}">
                    <a16:creationId xmlns:a16="http://schemas.microsoft.com/office/drawing/2014/main" id="{DCCC44F1-B0CC-4A6F-907F-35BEB4225618}"/>
                  </a:ext>
                </a:extLst>
              </p:cNvPr>
              <p:cNvSpPr txBox="1"/>
              <p:nvPr/>
            </p:nvSpPr>
            <p:spPr bwMode="auto">
              <a:xfrm>
                <a:off x="7281246" y="4954415"/>
                <a:ext cx="2951162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4</m:t>
                          </m:r>
                        </m:den>
                      </m:f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(1+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𝜃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𝜃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j-cs"/>
                            </a:rPr>
                            <m:t>𝑦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</m:ctrlPr>
                            </m:sSupPr>
                            <m:e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j-cs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1" name="Object 16">
                <a:extLst>
                  <a:ext uri="{FF2B5EF4-FFF2-40B4-BE49-F238E27FC236}">
                    <a16:creationId xmlns:a16="http://schemas.microsoft.com/office/drawing/2014/main" id="{DCCC44F1-B0CC-4A6F-907F-35BEB4225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1246" y="4954415"/>
                <a:ext cx="2951162" cy="914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ine 17">
            <a:extLst>
              <a:ext uri="{FF2B5EF4-FFF2-40B4-BE49-F238E27FC236}">
                <a16:creationId xmlns:a16="http://schemas.microsoft.com/office/drawing/2014/main" id="{DDE82280-0E59-F77E-969E-15B10480A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809" y="4815073"/>
            <a:ext cx="0" cy="111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8">
                <a:extLst>
                  <a:ext uri="{FF2B5EF4-FFF2-40B4-BE49-F238E27FC236}">
                    <a16:creationId xmlns:a16="http://schemas.microsoft.com/office/drawing/2014/main" id="{3B3935F3-21C4-FF22-3A27-77F34D94DB4E}"/>
                  </a:ext>
                </a:extLst>
              </p:cNvPr>
              <p:cNvSpPr txBox="1"/>
              <p:nvPr/>
            </p:nvSpPr>
            <p:spPr bwMode="auto">
              <a:xfrm>
                <a:off x="6669222" y="5395304"/>
                <a:ext cx="865627" cy="668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h</m:t>
                      </m:r>
                      <m:r>
                        <a:rPr lang="zh-CN" altLang="en-US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𝑘</m:t>
                      </m:r>
                      <m:r>
                        <a:rPr lang="zh-CN" altLang="en-US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=</m:t>
                      </m:r>
                      <m:r>
                        <a:rPr lang="zh-CN" altLang="en-US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𝑦</m:t>
                      </m:r>
                    </m:oMath>
                  </m:oMathPara>
                </a14:m>
                <a:endParaRPr lang="zh-CN" altLang="en-US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3" name="Object 18">
                <a:extLst>
                  <a:ext uri="{FF2B5EF4-FFF2-40B4-BE49-F238E27FC236}">
                    <a16:creationId xmlns:a16="http://schemas.microsoft.com/office/drawing/2014/main" id="{3B3935F3-21C4-FF22-3A27-77F34D94D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9222" y="5395304"/>
                <a:ext cx="865627" cy="6683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19">
                <a:extLst>
                  <a:ext uri="{FF2B5EF4-FFF2-40B4-BE49-F238E27FC236}">
                    <a16:creationId xmlns:a16="http://schemas.microsoft.com/office/drawing/2014/main" id="{B3795477-C772-CE48-631F-D799F0DD66DA}"/>
                  </a:ext>
                </a:extLst>
              </p:cNvPr>
              <p:cNvSpPr txBox="1"/>
              <p:nvPr/>
            </p:nvSpPr>
            <p:spPr bwMode="auto">
              <a:xfrm>
                <a:off x="4597399" y="5924706"/>
                <a:ext cx="1733107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(0&lt;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𝜃</m:t>
                      </m:r>
                      <m:r>
                        <a:rPr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j-cs"/>
                        </a:rPr>
                        <m:t>&lt;1)</m:t>
                      </m:r>
                    </m:oMath>
                  </m:oMathPara>
                </a14:m>
                <a:endParaRPr lang="zh-CN" altLang="en-US" sz="2200" dirty="0">
                  <a:latin typeface="+mj-lt"/>
                  <a:ea typeface="黑体" panose="02010609060101010101" pitchFamily="49" charset="-122"/>
                  <a:cs typeface="+mj-cs"/>
                </a:endParaRPr>
              </a:p>
            </p:txBody>
          </p:sp>
        </mc:Choice>
        <mc:Fallback xmlns="">
          <p:sp>
            <p:nvSpPr>
              <p:cNvPr id="34" name="Object 19">
                <a:extLst>
                  <a:ext uri="{FF2B5EF4-FFF2-40B4-BE49-F238E27FC236}">
                    <a16:creationId xmlns:a16="http://schemas.microsoft.com/office/drawing/2014/main" id="{B3795477-C772-CE48-631F-D799F0DD6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7399" y="5924706"/>
                <a:ext cx="1733107" cy="406400"/>
              </a:xfrm>
              <a:prstGeom prst="rect">
                <a:avLst/>
              </a:prstGeom>
              <a:blipFill>
                <a:blip r:embed="rId19"/>
                <a:stretch>
                  <a:fillRect l="-2113" b="-223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50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8" grpId="0"/>
      <p:bldP spid="29" grpId="0"/>
      <p:bldP spid="30" grpId="0"/>
      <p:bldP spid="31" grpId="0"/>
      <p:bldP spid="32" grpId="0" animBg="1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2">
                <a:extLst>
                  <a:ext uri="{FF2B5EF4-FFF2-40B4-BE49-F238E27FC236}">
                    <a16:creationId xmlns:a16="http://schemas.microsoft.com/office/drawing/2014/main" id="{3136E4FB-24FF-C6FB-C750-D7D01C2A14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3739" y="4224904"/>
                <a:ext cx="2362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具有极值</a:t>
                </a:r>
              </a:p>
            </p:txBody>
          </p:sp>
        </mc:Choice>
        <mc:Fallback xmlns="">
          <p:sp>
            <p:nvSpPr>
              <p:cNvPr id="2" name="Text Box 2">
                <a:extLst>
                  <a:ext uri="{FF2B5EF4-FFF2-40B4-BE49-F238E27FC236}">
                    <a16:creationId xmlns:a16="http://schemas.microsoft.com/office/drawing/2014/main" id="{3136E4FB-24FF-C6FB-C750-D7D01C2A1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3739" y="4224904"/>
                <a:ext cx="2362200" cy="523220"/>
              </a:xfrm>
              <a:prstGeom prst="rect">
                <a:avLst/>
              </a:prstGeom>
              <a:blipFill>
                <a:blip r:embed="rId3"/>
                <a:stretch>
                  <a:fillRect l="-5155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0F84C057-EC27-7BE9-30D7-437B2DAABEF9}"/>
              </a:ext>
            </a:extLst>
          </p:cNvPr>
          <p:cNvSpPr txBox="1">
            <a:spLocks noChangeArrowheads="1"/>
          </p:cNvSpPr>
          <p:nvPr/>
        </p:nvSpPr>
        <p:spPr>
          <a:xfrm>
            <a:off x="1257300" y="587657"/>
            <a:ext cx="4842244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二、极值充分条件的证明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13C03AA6-6BAE-DA43-8913-7B67B86A4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637" y="1941001"/>
                <a:ext cx="8272151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的某邻域内连续且具有一阶和二阶连续偏导数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且</a:t>
                </a:r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13C03AA6-6BAE-DA43-8913-7B67B86A4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2637" y="1941001"/>
                <a:ext cx="8272151" cy="519112"/>
              </a:xfrm>
              <a:prstGeom prst="rect">
                <a:avLst/>
              </a:prstGeom>
              <a:blipFill>
                <a:blip r:embed="rId4"/>
                <a:stretch>
                  <a:fillRect l="-1474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69B06A0D-7818-371F-3FD3-A99A444C3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882" y="3300229"/>
            <a:ext cx="49973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6">
                <a:extLst>
                  <a:ext uri="{FF2B5EF4-FFF2-40B4-BE49-F238E27FC236}">
                    <a16:creationId xmlns:a16="http://schemas.microsoft.com/office/drawing/2014/main" id="{AC9EFED3-A335-58CC-F365-8DE166C2A5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5882" y="4228079"/>
                <a:ext cx="171930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则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当</a:t>
                </a:r>
              </a:p>
            </p:txBody>
          </p:sp>
        </mc:Choice>
        <mc:Fallback xmlns="">
          <p:sp>
            <p:nvSpPr>
              <p:cNvPr id="6" name="Text Box 6">
                <a:extLst>
                  <a:ext uri="{FF2B5EF4-FFF2-40B4-BE49-F238E27FC236}">
                    <a16:creationId xmlns:a16="http://schemas.microsoft.com/office/drawing/2014/main" id="{AC9EFED3-A335-58CC-F365-8DE166C2A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5882" y="4228079"/>
                <a:ext cx="1719309" cy="523220"/>
              </a:xfrm>
              <a:prstGeom prst="rect">
                <a:avLst/>
              </a:prstGeom>
              <a:blipFill>
                <a:blip r:embed="rId5"/>
                <a:stretch>
                  <a:fillRect l="-7447" t="-17647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1AE19C05-F5A5-0C53-35BD-A68DC7EFCA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3920" y="3908992"/>
                <a:ext cx="3048000" cy="5248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时取极大值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;</a:t>
                </a:r>
              </a:p>
            </p:txBody>
          </p:sp>
        </mc:Choice>
        <mc:Fallback xmlns="">
          <p:sp>
            <p:nvSpPr>
              <p:cNvPr id="7" name="Text Box 7">
                <a:extLst>
                  <a:ext uri="{FF2B5EF4-FFF2-40B4-BE49-F238E27FC236}">
                    <a16:creationId xmlns:a16="http://schemas.microsoft.com/office/drawing/2014/main" id="{1AE19C05-F5A5-0C53-35BD-A68DC7EFC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3920" y="3908992"/>
                <a:ext cx="3048000" cy="524824"/>
              </a:xfrm>
              <a:prstGeom prst="rect">
                <a:avLst/>
              </a:prstGeom>
              <a:blipFill>
                <a:blip r:embed="rId6"/>
                <a:stretch>
                  <a:fillRect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8">
                <a:extLst>
                  <a:ext uri="{FF2B5EF4-FFF2-40B4-BE49-F238E27FC236}">
                    <a16:creationId xmlns:a16="http://schemas.microsoft.com/office/drawing/2014/main" id="{8CB48E9E-AB4E-3A65-3BEA-E34A0E69B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53920" y="4532879"/>
                <a:ext cx="3048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时取极小值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 Box 8">
                <a:extLst>
                  <a:ext uri="{FF2B5EF4-FFF2-40B4-BE49-F238E27FC236}">
                    <a16:creationId xmlns:a16="http://schemas.microsoft.com/office/drawing/2014/main" id="{8CB48E9E-AB4E-3A65-3BEA-E34A0E69B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3920" y="4532879"/>
                <a:ext cx="3048000" cy="519112"/>
              </a:xfrm>
              <a:prstGeom prst="rect">
                <a:avLst/>
              </a:prstGeom>
              <a:blipFill>
                <a:blip r:embed="rId7"/>
                <a:stretch>
                  <a:fillRect t="-17647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9">
                <a:extLst>
                  <a:ext uri="{FF2B5EF4-FFF2-40B4-BE49-F238E27FC236}">
                    <a16:creationId xmlns:a16="http://schemas.microsoft.com/office/drawing/2014/main" id="{148318AA-2A32-0906-CD33-82F656BD1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67" y="5063439"/>
                <a:ext cx="1143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629DD1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Text Box 9">
                <a:extLst>
                  <a:ext uri="{FF2B5EF4-FFF2-40B4-BE49-F238E27FC236}">
                    <a16:creationId xmlns:a16="http://schemas.microsoft.com/office/drawing/2014/main" id="{148318AA-2A32-0906-CD33-82F656BD1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3867" y="5063439"/>
                <a:ext cx="1143000" cy="519112"/>
              </a:xfrm>
              <a:prstGeom prst="rect">
                <a:avLst/>
              </a:prstGeom>
              <a:blipFill>
                <a:blip r:embed="rId8"/>
                <a:stretch>
                  <a:fillRect t="-17647" r="-1070" b="-282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82C3BF84-3090-C114-7487-02DF001F5A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67" y="5665320"/>
                <a:ext cx="12954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3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当</a:t>
                </a:r>
              </a:p>
            </p:txBody>
          </p:sp>
        </mc:Choice>
        <mc:Fallback xmlns=""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82C3BF84-3090-C114-7487-02DF001F5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3867" y="5665320"/>
                <a:ext cx="1295400" cy="519112"/>
              </a:xfrm>
              <a:prstGeom prst="rect">
                <a:avLst/>
              </a:prstGeom>
              <a:blipFill>
                <a:blip r:embed="rId9"/>
                <a:stretch>
                  <a:fillRect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7BC1D6C1-2971-5931-01B9-9BF351562E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3739" y="5067888"/>
                <a:ext cx="24384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没有极值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7BC1D6C1-2971-5931-01B9-9BF351562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3739" y="5067888"/>
                <a:ext cx="2438400" cy="519112"/>
              </a:xfrm>
              <a:prstGeom prst="rect">
                <a:avLst/>
              </a:prstGeom>
              <a:blipFill>
                <a:blip r:embed="rId10"/>
                <a:stretch>
                  <a:fillRect l="-5000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2">
                <a:extLst>
                  <a:ext uri="{FF2B5EF4-FFF2-40B4-BE49-F238E27FC236}">
                    <a16:creationId xmlns:a16="http://schemas.microsoft.com/office/drawing/2014/main" id="{74DD78FD-DDEB-D638-3043-4E4F5814F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53739" y="5661613"/>
                <a:ext cx="463399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不能确定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需另行讨论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 Box 12">
                <a:extLst>
                  <a:ext uri="{FF2B5EF4-FFF2-40B4-BE49-F238E27FC236}">
                    <a16:creationId xmlns:a16="http://schemas.microsoft.com/office/drawing/2014/main" id="{74DD78FD-DDEB-D638-3043-4E4F5814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3739" y="5661613"/>
                <a:ext cx="4633994" cy="523220"/>
              </a:xfrm>
              <a:prstGeom prst="rect">
                <a:avLst/>
              </a:prstGeom>
              <a:blipFill>
                <a:blip r:embed="rId11"/>
                <a:stretch>
                  <a:fillRect l="-2632" t="-17442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13">
            <a:extLst>
              <a:ext uri="{FF2B5EF4-FFF2-40B4-BE49-F238E27FC236}">
                <a16:creationId xmlns:a16="http://schemas.microsoft.com/office/drawing/2014/main" id="{4FC712E9-EF33-F8B4-2AC2-D2CABA55E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103" y="1291714"/>
            <a:ext cx="153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若函数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E85624A0-4844-10BD-F9B1-32227D8BE295}"/>
                  </a:ext>
                </a:extLst>
              </p:cNvPr>
              <p:cNvSpPr txBox="1"/>
              <p:nvPr/>
            </p:nvSpPr>
            <p:spPr bwMode="auto">
              <a:xfrm>
                <a:off x="6148439" y="1275046"/>
                <a:ext cx="458440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E85624A0-4844-10BD-F9B1-32227D8B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8439" y="1275046"/>
                <a:ext cx="4584405" cy="469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BF5066DF-775A-138A-5DB0-032771830E5D}"/>
                  </a:ext>
                </a:extLst>
              </p:cNvPr>
              <p:cNvSpPr txBox="1"/>
              <p:nvPr/>
            </p:nvSpPr>
            <p:spPr bwMode="auto">
              <a:xfrm>
                <a:off x="3797299" y="2616644"/>
                <a:ext cx="4896589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BF5066DF-775A-138A-5DB0-032771830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7299" y="2616644"/>
                <a:ext cx="4896589" cy="508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EFBEC9DB-5962-0A87-268E-3945AAD5ECE3}"/>
                  </a:ext>
                </a:extLst>
              </p:cNvPr>
              <p:cNvSpPr txBox="1"/>
              <p:nvPr/>
            </p:nvSpPr>
            <p:spPr bwMode="auto">
              <a:xfrm>
                <a:off x="2514628" y="3302445"/>
                <a:ext cx="7924801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EFBEC9DB-5962-0A87-268E-3945AAD5E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28" y="3302445"/>
                <a:ext cx="7924801" cy="508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4DF6789C-674C-8D4F-BD29-8DAEC1A31065}"/>
                  </a:ext>
                </a:extLst>
              </p:cNvPr>
              <p:cNvSpPr txBox="1"/>
              <p:nvPr/>
            </p:nvSpPr>
            <p:spPr bwMode="auto">
              <a:xfrm>
                <a:off x="3501448" y="4226491"/>
                <a:ext cx="2170814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&gt;0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4DF6789C-674C-8D4F-BD29-8DAEC1A31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1448" y="4226491"/>
                <a:ext cx="2170814" cy="4445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158CAB11-722F-C647-3C64-354B646AC349}"/>
                  </a:ext>
                </a:extLst>
              </p:cNvPr>
              <p:cNvSpPr txBox="1"/>
              <p:nvPr/>
            </p:nvSpPr>
            <p:spPr bwMode="auto">
              <a:xfrm>
                <a:off x="3531806" y="5079479"/>
                <a:ext cx="2170814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&lt;0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8">
                <a:extLst>
                  <a:ext uri="{FF2B5EF4-FFF2-40B4-BE49-F238E27FC236}">
                    <a16:creationId xmlns:a16="http://schemas.microsoft.com/office/drawing/2014/main" id="{158CAB11-722F-C647-3C64-354B646AC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1806" y="5079479"/>
                <a:ext cx="2170814" cy="4445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365E7AA1-2319-462D-1044-779B54006B38}"/>
                  </a:ext>
                </a:extLst>
              </p:cNvPr>
              <p:cNvSpPr txBox="1"/>
              <p:nvPr/>
            </p:nvSpPr>
            <p:spPr bwMode="auto">
              <a:xfrm>
                <a:off x="3531806" y="5681360"/>
                <a:ext cx="2170814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365E7AA1-2319-462D-1044-779B5400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31806" y="5681360"/>
                <a:ext cx="2170814" cy="4445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utoShape 20">
            <a:extLst>
              <a:ext uri="{FF2B5EF4-FFF2-40B4-BE49-F238E27FC236}">
                <a16:creationId xmlns:a16="http://schemas.microsoft.com/office/drawing/2014/main" id="{CFFFC940-6483-B34F-A327-B84850A50753}"/>
              </a:ext>
            </a:extLst>
          </p:cNvPr>
          <p:cNvSpPr>
            <a:spLocks/>
          </p:cNvSpPr>
          <p:nvPr/>
        </p:nvSpPr>
        <p:spPr bwMode="auto">
          <a:xfrm>
            <a:off x="7701520" y="4061391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54A82C5-B0D4-3EC5-A687-77A95348DA81}"/>
              </a:ext>
            </a:extLst>
          </p:cNvPr>
          <p:cNvGrpSpPr/>
          <p:nvPr/>
        </p:nvGrpSpPr>
        <p:grpSpPr>
          <a:xfrm>
            <a:off x="2166782" y="1356785"/>
            <a:ext cx="3141345" cy="449580"/>
            <a:chOff x="1553" y="3802"/>
            <a:chExt cx="4947" cy="708"/>
          </a:xfrm>
        </p:grpSpPr>
        <p:sp>
          <p:nvSpPr>
            <p:cNvPr id="23" name="圆角矩形 3">
              <a:extLst>
                <a:ext uri="{FF2B5EF4-FFF2-40B4-BE49-F238E27FC236}">
                  <a16:creationId xmlns:a16="http://schemas.microsoft.com/office/drawing/2014/main" id="{5CD8A9F7-F9B9-B74F-AC58-3B15883EA86B}"/>
                </a:ext>
              </a:extLst>
            </p:cNvPr>
            <p:cNvSpPr/>
            <p:nvPr/>
          </p:nvSpPr>
          <p:spPr>
            <a:xfrm>
              <a:off x="1553" y="3803"/>
              <a:ext cx="1773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89DEFA9C-5FFD-42FB-F972-7E8E89700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479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</a:t>
              </a:r>
              <a:r>
                <a:rPr lang="en-US" altLang="zh-CN" b="0" kern="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charset="-122"/>
                </a:rPr>
                <a:t>(</a:t>
              </a:r>
              <a:r>
                <a:rPr lang="zh-CN" altLang="en-US" b="0" kern="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charset="-122"/>
                </a:rPr>
                <a:t>充分条件</a:t>
              </a:r>
              <a:r>
                <a:rPr lang="en-US" altLang="zh-CN" b="0" kern="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微软雅黑" panose="020B0503020204020204" charset="-122"/>
                </a:rPr>
                <a:t>)</a:t>
              </a:r>
              <a:endPara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314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">
                <a:extLst>
                  <a:ext uri="{FF2B5EF4-FFF2-40B4-BE49-F238E27FC236}">
                    <a16:creationId xmlns:a16="http://schemas.microsoft.com/office/drawing/2014/main" id="{5DF9EC76-B4EE-5D8B-9781-C46A27875AD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565152" y="485685"/>
                <a:ext cx="4931343" cy="6858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证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lang="en-US" altLang="zh-CN" sz="2800" b="1" dirty="0">
                    <a:ea typeface="黑体" panose="02010609060101010101" pitchFamily="49" charset="-122"/>
                  </a:rPr>
                  <a:t>   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由二元函数的泰勒公式</a:t>
                </a:r>
                <a14:m>
                  <m:oMath xmlns:m="http://schemas.openxmlformats.org/officeDocument/2006/math">
                    <m:r>
                      <a:rPr kumimoji="1" lang="zh-CN" altLang="en-US" sz="2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并注意</a:t>
                </a:r>
              </a:p>
            </p:txBody>
          </p:sp>
        </mc:Choice>
        <mc:Fallback xmlns="">
          <p:sp>
            <p:nvSpPr>
              <p:cNvPr id="22" name="Rectangle 2">
                <a:extLst>
                  <a:ext uri="{FF2B5EF4-FFF2-40B4-BE49-F238E27FC236}">
                    <a16:creationId xmlns:a16="http://schemas.microsoft.com/office/drawing/2014/main" id="{5DF9EC76-B4EE-5D8B-9781-C46A27875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152" y="485685"/>
                <a:ext cx="4931343" cy="685800"/>
              </a:xfrm>
              <a:prstGeom prst="rect">
                <a:avLst/>
              </a:prstGeom>
              <a:blipFill>
                <a:blip r:embed="rId3"/>
                <a:stretch>
                  <a:fillRect l="-2596" t="-1786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3">
                <a:extLst>
                  <a:ext uri="{FF2B5EF4-FFF2-40B4-BE49-F238E27FC236}">
                    <a16:creationId xmlns:a16="http://schemas.microsoft.com/office/drawing/2014/main" id="{36A0EEB6-A21D-A365-8593-27DDC7396E4C}"/>
                  </a:ext>
                </a:extLst>
              </p:cNvPr>
              <p:cNvSpPr txBox="1"/>
              <p:nvPr/>
            </p:nvSpPr>
            <p:spPr bwMode="auto">
              <a:xfrm>
                <a:off x="4305106" y="1095757"/>
                <a:ext cx="3941282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)=0,</m:t>
                      </m:r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3">
                <a:extLst>
                  <a:ext uri="{FF2B5EF4-FFF2-40B4-BE49-F238E27FC236}">
                    <a16:creationId xmlns:a16="http://schemas.microsoft.com/office/drawing/2014/main" id="{36A0EEB6-A21D-A365-8593-27DDC7396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5106" y="1095757"/>
                <a:ext cx="3941282" cy="508000"/>
              </a:xfrm>
              <a:prstGeom prst="rect">
                <a:avLst/>
              </a:prstGeom>
              <a:blipFill>
                <a:blip r:embed="rId4"/>
                <a:stretch>
                  <a:fillRect l="-9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4">
            <a:extLst>
              <a:ext uri="{FF2B5EF4-FFF2-40B4-BE49-F238E27FC236}">
                <a16:creationId xmlns:a16="http://schemas.microsoft.com/office/drawing/2014/main" id="{5031576B-9A24-F8EB-0FB0-03FD4C63E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1620344"/>
            <a:ext cx="746015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5">
                <a:extLst>
                  <a:ext uri="{FF2B5EF4-FFF2-40B4-BE49-F238E27FC236}">
                    <a16:creationId xmlns:a16="http://schemas.microsoft.com/office/drawing/2014/main" id="{15E802B1-2F54-6699-9E91-F599B60C37B1}"/>
                  </a:ext>
                </a:extLst>
              </p:cNvPr>
              <p:cNvSpPr txBox="1"/>
              <p:nvPr/>
            </p:nvSpPr>
            <p:spPr bwMode="auto">
              <a:xfrm>
                <a:off x="3923951" y="1620344"/>
                <a:ext cx="5080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)−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5">
                <a:extLst>
                  <a:ext uri="{FF2B5EF4-FFF2-40B4-BE49-F238E27FC236}">
                    <a16:creationId xmlns:a16="http://schemas.microsoft.com/office/drawing/2014/main" id="{15E802B1-2F54-6699-9E91-F599B60C3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3951" y="1620344"/>
                <a:ext cx="5080000" cy="444500"/>
              </a:xfrm>
              <a:prstGeom prst="rect">
                <a:avLst/>
              </a:prstGeom>
              <a:blipFill>
                <a:blip r:embed="rId5"/>
                <a:stretch>
                  <a:fillRect l="-120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6">
                <a:extLst>
                  <a:ext uri="{FF2B5EF4-FFF2-40B4-BE49-F238E27FC236}">
                    <a16:creationId xmlns:a16="http://schemas.microsoft.com/office/drawing/2014/main" id="{52953D80-E375-A5F5-621C-AEF614D28554}"/>
                  </a:ext>
                </a:extLst>
              </p:cNvPr>
              <p:cNvSpPr txBox="1"/>
              <p:nvPr/>
            </p:nvSpPr>
            <p:spPr bwMode="auto">
              <a:xfrm>
                <a:off x="4305106" y="2151495"/>
                <a:ext cx="4267200" cy="786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6">
                <a:extLst>
                  <a:ext uri="{FF2B5EF4-FFF2-40B4-BE49-F238E27FC236}">
                    <a16:creationId xmlns:a16="http://schemas.microsoft.com/office/drawing/2014/main" id="{52953D80-E375-A5F5-621C-AEF614D28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5106" y="2151495"/>
                <a:ext cx="4267200" cy="786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7">
                <a:extLst>
                  <a:ext uri="{FF2B5EF4-FFF2-40B4-BE49-F238E27FC236}">
                    <a16:creationId xmlns:a16="http://schemas.microsoft.com/office/drawing/2014/main" id="{2789AE65-F029-27AA-937E-4D50ABB70FC5}"/>
                  </a:ext>
                </a:extLst>
              </p:cNvPr>
              <p:cNvSpPr txBox="1"/>
              <p:nvPr/>
            </p:nvSpPr>
            <p:spPr bwMode="auto">
              <a:xfrm>
                <a:off x="4583729" y="2954091"/>
                <a:ext cx="35687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h𝑘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7">
                <a:extLst>
                  <a:ext uri="{FF2B5EF4-FFF2-40B4-BE49-F238E27FC236}">
                    <a16:creationId xmlns:a16="http://schemas.microsoft.com/office/drawing/2014/main" id="{2789AE65-F029-27AA-937E-4D50ABB70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3729" y="2954091"/>
                <a:ext cx="3568700" cy="508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2BE7CA86-FDF0-6622-6BA7-38DF490D5B66}"/>
                  </a:ext>
                </a:extLst>
              </p:cNvPr>
              <p:cNvSpPr txBox="1"/>
              <p:nvPr/>
            </p:nvSpPr>
            <p:spPr bwMode="auto">
              <a:xfrm>
                <a:off x="4583729" y="3466404"/>
                <a:ext cx="3459876" cy="498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8">
                <a:extLst>
                  <a:ext uri="{FF2B5EF4-FFF2-40B4-BE49-F238E27FC236}">
                    <a16:creationId xmlns:a16="http://schemas.microsoft.com/office/drawing/2014/main" id="{2BE7CA86-FDF0-6622-6BA7-38DF490D5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3729" y="3466404"/>
                <a:ext cx="3459876" cy="498792"/>
              </a:xfrm>
              <a:prstGeom prst="rect">
                <a:avLst/>
              </a:prstGeom>
              <a:blipFill>
                <a:blip r:embed="rId8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9">
                <a:extLst>
                  <a:ext uri="{FF2B5EF4-FFF2-40B4-BE49-F238E27FC236}">
                    <a16:creationId xmlns:a16="http://schemas.microsoft.com/office/drawing/2014/main" id="{6A25A4E9-2ED0-85F1-AACF-D27777EE0A03}"/>
                  </a:ext>
                </a:extLst>
              </p:cNvPr>
              <p:cNvSpPr txBox="1"/>
              <p:nvPr/>
            </p:nvSpPr>
            <p:spPr bwMode="auto">
              <a:xfrm>
                <a:off x="3352801" y="4038600"/>
                <a:ext cx="5865844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由于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的二阶偏导数在点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连续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9">
                <a:extLst>
                  <a:ext uri="{FF2B5EF4-FFF2-40B4-BE49-F238E27FC236}">
                    <a16:creationId xmlns:a16="http://schemas.microsoft.com/office/drawing/2014/main" id="{6A25A4E9-2ED0-85F1-AACF-D27777EE0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1" y="4038600"/>
                <a:ext cx="5865844" cy="469900"/>
              </a:xfrm>
              <a:prstGeom prst="rect">
                <a:avLst/>
              </a:prstGeom>
              <a:blipFill>
                <a:blip r:embed="rId9"/>
                <a:stretch>
                  <a:fillRect l="-624" b="-64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10">
            <a:extLst>
              <a:ext uri="{FF2B5EF4-FFF2-40B4-BE49-F238E27FC236}">
                <a16:creationId xmlns:a16="http://schemas.microsoft.com/office/drawing/2014/main" id="{F70837E4-EEBF-1C4E-3CA7-6D7FF6C56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169" y="4040947"/>
            <a:ext cx="746015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1">
                <a:extLst>
                  <a:ext uri="{FF2B5EF4-FFF2-40B4-BE49-F238E27FC236}">
                    <a16:creationId xmlns:a16="http://schemas.microsoft.com/office/drawing/2014/main" id="{D9EAE072-F6F7-68EF-350B-FECF7E1D0EB4}"/>
                  </a:ext>
                </a:extLst>
              </p:cNvPr>
              <p:cNvSpPr txBox="1"/>
              <p:nvPr/>
            </p:nvSpPr>
            <p:spPr bwMode="auto">
              <a:xfrm>
                <a:off x="4621693" y="4610100"/>
                <a:ext cx="43815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𝑥𝑥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11">
                <a:extLst>
                  <a:ext uri="{FF2B5EF4-FFF2-40B4-BE49-F238E27FC236}">
                    <a16:creationId xmlns:a16="http://schemas.microsoft.com/office/drawing/2014/main" id="{D9EAE072-F6F7-68EF-350B-FECF7E1D0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693" y="4610100"/>
                <a:ext cx="4381500" cy="495300"/>
              </a:xfrm>
              <a:prstGeom prst="rect">
                <a:avLst/>
              </a:prstGeom>
              <a:blipFill>
                <a:blip r:embed="rId10"/>
                <a:stretch>
                  <a:fillRect l="-834" b="-12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2">
                <a:extLst>
                  <a:ext uri="{FF2B5EF4-FFF2-40B4-BE49-F238E27FC236}">
                    <a16:creationId xmlns:a16="http://schemas.microsoft.com/office/drawing/2014/main" id="{7DDC9A80-87D1-DB82-4098-6245AD4C2D48}"/>
                  </a:ext>
                </a:extLst>
              </p:cNvPr>
              <p:cNvSpPr txBox="1"/>
              <p:nvPr/>
            </p:nvSpPr>
            <p:spPr bwMode="auto">
              <a:xfrm>
                <a:off x="4621693" y="5219700"/>
                <a:ext cx="44323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Object 12">
                <a:extLst>
                  <a:ext uri="{FF2B5EF4-FFF2-40B4-BE49-F238E27FC236}">
                    <a16:creationId xmlns:a16="http://schemas.microsoft.com/office/drawing/2014/main" id="{7DDC9A80-87D1-DB82-4098-6245AD4C2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693" y="5219700"/>
                <a:ext cx="4432300" cy="495300"/>
              </a:xfrm>
              <a:prstGeom prst="rect">
                <a:avLst/>
              </a:prstGeom>
              <a:blipFill>
                <a:blip r:embed="rId11"/>
                <a:stretch>
                  <a:fillRect l="-825" b="-12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3">
                <a:extLst>
                  <a:ext uri="{FF2B5EF4-FFF2-40B4-BE49-F238E27FC236}">
                    <a16:creationId xmlns:a16="http://schemas.microsoft.com/office/drawing/2014/main" id="{E33494C2-FF8E-98B7-718A-27FE7E5810CC}"/>
                  </a:ext>
                </a:extLst>
              </p:cNvPr>
              <p:cNvSpPr txBox="1"/>
              <p:nvPr/>
            </p:nvSpPr>
            <p:spPr bwMode="auto">
              <a:xfrm>
                <a:off x="4621693" y="5829300"/>
                <a:ext cx="439420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𝑓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𝑦𝑦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𝛾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13">
                <a:extLst>
                  <a:ext uri="{FF2B5EF4-FFF2-40B4-BE49-F238E27FC236}">
                    <a16:creationId xmlns:a16="http://schemas.microsoft.com/office/drawing/2014/main" id="{E33494C2-FF8E-98B7-718A-27FE7E581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1693" y="5829300"/>
                <a:ext cx="4394200" cy="495300"/>
              </a:xfrm>
              <a:prstGeom prst="rect">
                <a:avLst/>
              </a:prstGeom>
              <a:blipFill>
                <a:blip r:embed="rId12"/>
                <a:stretch>
                  <a:fillRect l="-832" b="-12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79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0">
                <a:extLst>
                  <a:ext uri="{FF2B5EF4-FFF2-40B4-BE49-F238E27FC236}">
                    <a16:creationId xmlns:a16="http://schemas.microsoft.com/office/drawing/2014/main" id="{D2AF987C-5555-EA53-D92F-DF6C0F80EA10}"/>
                  </a:ext>
                </a:extLst>
              </p:cNvPr>
              <p:cNvSpPr txBox="1"/>
              <p:nvPr/>
            </p:nvSpPr>
            <p:spPr bwMode="auto">
              <a:xfrm>
                <a:off x="4219685" y="1143793"/>
                <a:ext cx="3263900" cy="749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𝐵h𝑘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0">
                <a:extLst>
                  <a:ext uri="{FF2B5EF4-FFF2-40B4-BE49-F238E27FC236}">
                    <a16:creationId xmlns:a16="http://schemas.microsoft.com/office/drawing/2014/main" id="{D2AF987C-5555-EA53-D92F-DF6C0F80E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9685" y="1143793"/>
                <a:ext cx="3263900" cy="749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C9A8E2-ACE4-ACC3-4657-F4F68B395F0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14564" y="605631"/>
                <a:ext cx="5545136" cy="4699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𝛼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,  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𝛽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,  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𝛾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是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h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→0,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𝑘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  <a:sym typeface="Symbol" panose="05050102010706020507" pitchFamily="18" charset="2"/>
                      </a:rPr>
                      <m:t>→0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时的无穷小量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3C9A8E2-ACE4-ACC3-4657-F4F68B395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564" y="605631"/>
                <a:ext cx="5545136" cy="469900"/>
              </a:xfrm>
              <a:prstGeom prst="rect">
                <a:avLst/>
              </a:prstGeom>
              <a:blipFill>
                <a:blip r:embed="rId4"/>
                <a:stretch>
                  <a:fillRect l="-1429" t="-11688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3">
            <a:extLst>
              <a:ext uri="{FF2B5EF4-FFF2-40B4-BE49-F238E27FC236}">
                <a16:creationId xmlns:a16="http://schemas.microsoft.com/office/drawing/2014/main" id="{27BF4FF5-ADA7-3B1B-520F-CFC88D420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653256"/>
            <a:ext cx="746015" cy="39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93F672D3-1A8D-86B4-21D4-399828443381}"/>
                  </a:ext>
                </a:extLst>
              </p:cNvPr>
              <p:cNvSpPr txBox="1"/>
              <p:nvPr/>
            </p:nvSpPr>
            <p:spPr bwMode="auto">
              <a:xfrm>
                <a:off x="3557699" y="1345406"/>
                <a:ext cx="788986" cy="3711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93F672D3-1A8D-86B4-21D4-399828443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7699" y="1345406"/>
                <a:ext cx="788986" cy="371156"/>
              </a:xfrm>
              <a:prstGeom prst="rect">
                <a:avLst/>
              </a:prstGeom>
              <a:blipFill>
                <a:blip r:embed="rId5"/>
                <a:stretch>
                  <a:fillRect l="-7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545462F6-7474-8966-83D3-EA9B17DD4A06}"/>
                  </a:ext>
                </a:extLst>
              </p:cNvPr>
              <p:cNvSpPr txBox="1"/>
              <p:nvPr/>
            </p:nvSpPr>
            <p:spPr bwMode="auto">
              <a:xfrm>
                <a:off x="3942667" y="1928018"/>
                <a:ext cx="15748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545462F6-7474-8966-83D3-EA9B17DD4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667" y="1928018"/>
                <a:ext cx="1574800" cy="723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CB303A4D-D1B5-8162-3067-779A2080550E}"/>
                  </a:ext>
                </a:extLst>
              </p:cNvPr>
              <p:cNvSpPr txBox="1"/>
              <p:nvPr/>
            </p:nvSpPr>
            <p:spPr bwMode="auto">
              <a:xfrm>
                <a:off x="6369304" y="2040731"/>
                <a:ext cx="2311400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h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CB303A4D-D1B5-8162-3067-779A20805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9304" y="2040731"/>
                <a:ext cx="2311400" cy="571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41329AEE-B3BF-E1FD-B9FA-5B15ABDAEF8D}"/>
                  </a:ext>
                </a:extLst>
              </p:cNvPr>
              <p:cNvSpPr txBox="1"/>
              <p:nvPr/>
            </p:nvSpPr>
            <p:spPr bwMode="auto">
              <a:xfrm>
                <a:off x="2214564" y="2800350"/>
                <a:ext cx="3530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因此当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很小时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41329AEE-B3BF-E1FD-B9FA-5B15ABDA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564" y="2800350"/>
                <a:ext cx="3530600" cy="469900"/>
              </a:xfrm>
              <a:prstGeom prst="rect">
                <a:avLst/>
              </a:prstGeom>
              <a:blipFill>
                <a:blip r:embed="rId8"/>
                <a:stretch>
                  <a:fillRect l="-1036"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39D7AF5-D25C-88AD-3EC1-9ADEB27782ED}"/>
                  </a:ext>
                </a:extLst>
              </p:cNvPr>
              <p:cNvSpPr txBox="1"/>
              <p:nvPr/>
            </p:nvSpPr>
            <p:spPr bwMode="auto">
              <a:xfrm>
                <a:off x="4977607" y="2800350"/>
                <a:ext cx="4099718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的正负号可由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确定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39D7AF5-D25C-88AD-3EC1-9ADEB2778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7607" y="2800350"/>
                <a:ext cx="4099718" cy="457200"/>
              </a:xfrm>
              <a:prstGeom prst="rect">
                <a:avLst/>
              </a:prstGeom>
              <a:blipFill>
                <a:blip r:embed="rId9"/>
                <a:stretch>
                  <a:fillRect l="-149" b="-10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B65716E3-D692-5E44-0950-A2B50429F5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3689" y="3362329"/>
                <a:ext cx="2991438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sz="22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𝐴𝐶</m:t>
                    </m:r>
                    <m:r>
                      <a:rPr kumimoji="1" lang="en-US" altLang="zh-CN" sz="22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220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</m:oMath>
                </a14:m>
                <a:r>
                  <a:rPr kumimoji="1" lang="en-US" altLang="zh-CN" sz="22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B65716E3-D692-5E44-0950-A2B50429F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3689" y="3362329"/>
                <a:ext cx="2991438" cy="433068"/>
              </a:xfrm>
              <a:prstGeom prst="rect">
                <a:avLst/>
              </a:prstGeom>
              <a:blipFill>
                <a:blip r:embed="rId10"/>
                <a:stretch>
                  <a:fillRect l="-1426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6395FF49-FC73-D8AF-B464-12B5DEC1F0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7438" y="3362329"/>
                <a:ext cx="3371605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必有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≠0,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且 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𝐶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同号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6395FF49-FC73-D8AF-B464-12B5DEC1F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7438" y="3362329"/>
                <a:ext cx="3371605" cy="433068"/>
              </a:xfrm>
              <a:prstGeom prst="rect">
                <a:avLst/>
              </a:prstGeom>
              <a:blipFill>
                <a:blip r:embed="rId11"/>
                <a:stretch>
                  <a:fillRect l="-2351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70D645A7-D539-50B2-6F5F-9ED71D49D287}"/>
                  </a:ext>
                </a:extLst>
              </p:cNvPr>
              <p:cNvSpPr txBox="1"/>
              <p:nvPr/>
            </p:nvSpPr>
            <p:spPr bwMode="auto">
              <a:xfrm>
                <a:off x="2659062" y="3814764"/>
                <a:ext cx="6962775" cy="787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∵ 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𝐴𝐵h𝑘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70D645A7-D539-50B2-6F5F-9ED71D49D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9062" y="3814764"/>
                <a:ext cx="6962775" cy="787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BA2ED55A-B4FD-0A67-FFE6-C8F4E70305FE}"/>
                  </a:ext>
                </a:extLst>
              </p:cNvPr>
              <p:cNvSpPr txBox="1"/>
              <p:nvPr/>
            </p:nvSpPr>
            <p:spPr bwMode="auto">
              <a:xfrm>
                <a:off x="3919427" y="4560729"/>
                <a:ext cx="4333875" cy="7543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𝐵𝑘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BA2ED55A-B4FD-0A67-FFE6-C8F4E7030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9427" y="4560729"/>
                <a:ext cx="4333875" cy="7543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CC15686F-6AB0-D3CE-7DE0-67B9FD0C47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4565" y="5365751"/>
                <a:ext cx="990600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可见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sym typeface="Symbol" panose="05050102010706020507" pitchFamily="18" charset="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CC15686F-6AB0-D3CE-7DE0-67B9FD0C4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565" y="5365751"/>
                <a:ext cx="990600" cy="433068"/>
              </a:xfrm>
              <a:prstGeom prst="rect">
                <a:avLst/>
              </a:prstGeom>
              <a:blipFill>
                <a:blip r:embed="rId14"/>
                <a:stretch>
                  <a:fillRect l="-7975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93D00AA8-9DF1-8C3B-4297-E91A67497AC7}"/>
                  </a:ext>
                </a:extLst>
              </p:cNvPr>
              <p:cNvSpPr txBox="1"/>
              <p:nvPr/>
            </p:nvSpPr>
            <p:spPr bwMode="auto">
              <a:xfrm>
                <a:off x="2962222" y="5372100"/>
                <a:ext cx="317822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&gt;0 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4">
                <a:extLst>
                  <a:ext uri="{FF2B5EF4-FFF2-40B4-BE49-F238E27FC236}">
                    <a16:creationId xmlns:a16="http://schemas.microsoft.com/office/drawing/2014/main" id="{93D00AA8-9DF1-8C3B-4297-E91A67497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2222" y="5372100"/>
                <a:ext cx="3178228" cy="444500"/>
              </a:xfrm>
              <a:prstGeom prst="rect">
                <a:avLst/>
              </a:prstGeom>
              <a:blipFill>
                <a:blip r:embed="rId15"/>
                <a:stretch>
                  <a:fillRect l="-1344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EE6428AE-EB64-A299-3D28-22513054F4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62506" y="5364482"/>
                <a:ext cx="1705119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从而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EE6428AE-EB64-A299-3D28-22513054F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2506" y="5364482"/>
                <a:ext cx="1705119" cy="433068"/>
              </a:xfrm>
              <a:prstGeom prst="rect">
                <a:avLst/>
              </a:prstGeom>
              <a:blipFill>
                <a:blip r:embed="rId16"/>
                <a:stretch>
                  <a:fillRect l="-4643" t="-15493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6">
            <a:extLst>
              <a:ext uri="{FF2B5EF4-FFF2-40B4-BE49-F238E27FC236}">
                <a16:creationId xmlns:a16="http://schemas.microsoft.com/office/drawing/2014/main" id="{F57D10FC-3D1D-7378-8C7E-80C8BE782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3563" y="5254626"/>
            <a:ext cx="266717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E46BB918-8868-E338-2863-7E5BFC0930AD}"/>
              </a:ext>
            </a:extLst>
          </p:cNvPr>
          <p:cNvSpPr txBox="1"/>
          <p:nvPr/>
        </p:nvSpPr>
        <p:spPr bwMode="auto">
          <a:xfrm>
            <a:off x="6927850" y="3317875"/>
            <a:ext cx="203200" cy="431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zh-CN" altLang="en-US" sz="2200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D6BF3388-2568-7388-5C66-06C25AC98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685" y="5368925"/>
            <a:ext cx="746015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9B8BA0FA-8A31-F5F7-6414-4CDDA13076D8}"/>
                  </a:ext>
                </a:extLst>
              </p:cNvPr>
              <p:cNvSpPr txBox="1"/>
              <p:nvPr/>
            </p:nvSpPr>
            <p:spPr bwMode="auto">
              <a:xfrm>
                <a:off x="8134604" y="5341620"/>
                <a:ext cx="10922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9B8BA0FA-8A31-F5F7-6414-4CDDA1307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34604" y="5341620"/>
                <a:ext cx="1092200" cy="406400"/>
              </a:xfrm>
              <a:prstGeom prst="rect">
                <a:avLst/>
              </a:prstGeom>
              <a:blipFill>
                <a:blip r:embed="rId17"/>
                <a:stretch>
                  <a:fillRect l="-3333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0BFB0F87-88DF-0561-4C71-E90207F7049F}"/>
                  </a:ext>
                </a:extLst>
              </p:cNvPr>
              <p:cNvSpPr txBox="1"/>
              <p:nvPr/>
            </p:nvSpPr>
            <p:spPr bwMode="auto">
              <a:xfrm>
                <a:off x="2214564" y="5883275"/>
                <a:ext cx="3784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有极小值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0BFB0F87-88DF-0561-4C71-E90207F70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564" y="5883275"/>
                <a:ext cx="3784600" cy="469900"/>
              </a:xfrm>
              <a:prstGeom prst="rect">
                <a:avLst/>
              </a:prstGeom>
              <a:blipFill>
                <a:blip r:embed="rId18"/>
                <a:stretch>
                  <a:fillRect l="-1127" b="-77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28">
            <a:extLst>
              <a:ext uri="{FF2B5EF4-FFF2-40B4-BE49-F238E27FC236}">
                <a16:creationId xmlns:a16="http://schemas.microsoft.com/office/drawing/2014/main" id="{87732165-5AAC-2400-58BD-62CB595AC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8785" y="1766093"/>
            <a:ext cx="2160000" cy="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9">
                <a:extLst>
                  <a:ext uri="{FF2B5EF4-FFF2-40B4-BE49-F238E27FC236}">
                    <a16:creationId xmlns:a16="http://schemas.microsoft.com/office/drawing/2014/main" id="{8B32F0A1-F90B-3CBA-424A-BC9459566CDF}"/>
                  </a:ext>
                </a:extLst>
              </p:cNvPr>
              <p:cNvSpPr txBox="1"/>
              <p:nvPr/>
            </p:nvSpPr>
            <p:spPr bwMode="auto">
              <a:xfrm>
                <a:off x="5286485" y="2115342"/>
                <a:ext cx="12065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𝑜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29">
                <a:extLst>
                  <a:ext uri="{FF2B5EF4-FFF2-40B4-BE49-F238E27FC236}">
                    <a16:creationId xmlns:a16="http://schemas.microsoft.com/office/drawing/2014/main" id="{8B32F0A1-F90B-3CBA-424A-BC9459566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6485" y="2115342"/>
                <a:ext cx="1206500" cy="469900"/>
              </a:xfrm>
              <a:prstGeom prst="rect">
                <a:avLst/>
              </a:prstGeom>
              <a:blipFill>
                <a:blip r:embed="rId19"/>
                <a:stretch>
                  <a:fillRect b="-77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1">
                <a:extLst>
                  <a:ext uri="{FF2B5EF4-FFF2-40B4-BE49-F238E27FC236}">
                    <a16:creationId xmlns:a16="http://schemas.microsoft.com/office/drawing/2014/main" id="{9D3A333D-008C-1F52-EC03-14D032DA03AC}"/>
                  </a:ext>
                </a:extLst>
              </p:cNvPr>
              <p:cNvSpPr txBox="1"/>
              <p:nvPr/>
            </p:nvSpPr>
            <p:spPr bwMode="auto">
              <a:xfrm>
                <a:off x="6880335" y="1143793"/>
                <a:ext cx="3479800" cy="742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𝛼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𝛾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31">
                <a:extLst>
                  <a:ext uri="{FF2B5EF4-FFF2-40B4-BE49-F238E27FC236}">
                    <a16:creationId xmlns:a16="http://schemas.microsoft.com/office/drawing/2014/main" id="{9D3A333D-008C-1F52-EC03-14D032DA0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0335" y="1143793"/>
                <a:ext cx="3479800" cy="7429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02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 animBg="1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A37D97FC-97E2-EA2F-7D34-9ABD7F10A4B5}"/>
                  </a:ext>
                </a:extLst>
              </p:cNvPr>
              <p:cNvSpPr txBox="1"/>
              <p:nvPr/>
            </p:nvSpPr>
            <p:spPr bwMode="auto">
              <a:xfrm>
                <a:off x="2301875" y="481013"/>
                <a:ext cx="310254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&lt;0 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A37D97FC-97E2-EA2F-7D34-9ABD7F10A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481013"/>
                <a:ext cx="3102547" cy="457200"/>
              </a:xfrm>
              <a:prstGeom prst="rect">
                <a:avLst/>
              </a:prstGeom>
              <a:blipFill>
                <a:blip r:embed="rId3"/>
                <a:stretch>
                  <a:fillRect l="-1375" b="-10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A9D18B3A-97F0-3CB9-E014-FEC5A7D674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3675" y="466407"/>
                <a:ext cx="1701020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从而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&lt;0,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A9D18B3A-97F0-3CB9-E014-FEC5A7D67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3675" y="466407"/>
                <a:ext cx="1701020" cy="433068"/>
              </a:xfrm>
              <a:prstGeom prst="rect">
                <a:avLst/>
              </a:prstGeom>
              <a:blipFill>
                <a:blip r:embed="rId4"/>
                <a:stretch>
                  <a:fillRect l="-4659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D3B6F633-C101-2F63-F206-865D02A830BC}"/>
                  </a:ext>
                </a:extLst>
              </p:cNvPr>
              <p:cNvSpPr txBox="1"/>
              <p:nvPr/>
            </p:nvSpPr>
            <p:spPr bwMode="auto">
              <a:xfrm>
                <a:off x="6881204" y="471488"/>
                <a:ext cx="2392971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因此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D3B6F633-C101-2F63-F206-865D02A83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1204" y="471488"/>
                <a:ext cx="2392971" cy="457200"/>
              </a:xfrm>
              <a:prstGeom prst="rect">
                <a:avLst/>
              </a:prstGeom>
              <a:blipFill>
                <a:blip r:embed="rId5"/>
                <a:stretch>
                  <a:fillRect l="-1786" b="-10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29CEC7FB-C4E0-57F5-99F7-923F8FF72733}"/>
                  </a:ext>
                </a:extLst>
              </p:cNvPr>
              <p:cNvSpPr txBox="1"/>
              <p:nvPr/>
            </p:nvSpPr>
            <p:spPr bwMode="auto">
              <a:xfrm>
                <a:off x="2301875" y="1089543"/>
                <a:ext cx="26035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有极大值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; 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29CEC7FB-C4E0-57F5-99F7-923F8FF72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1089543"/>
                <a:ext cx="2603500" cy="469900"/>
              </a:xfrm>
              <a:prstGeom prst="rect">
                <a:avLst/>
              </a:prstGeom>
              <a:blipFill>
                <a:blip r:embed="rId6"/>
                <a:stretch>
                  <a:fillRect l="-1639" b="-77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DF3FA0B2-A153-311B-110D-C39BD5B36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875" y="1710773"/>
                <a:ext cx="2927318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20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𝐴𝐶</m:t>
                    </m:r>
                    <m:r>
                      <a:rPr kumimoji="1" lang="en-US" altLang="zh-CN" sz="22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1" lang="en-US" altLang="zh-CN" sz="22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DF3FA0B2-A153-311B-110D-C39BD5B3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1710773"/>
                <a:ext cx="2927318" cy="433068"/>
              </a:xfrm>
              <a:prstGeom prst="rect">
                <a:avLst/>
              </a:prstGeom>
              <a:blipFill>
                <a:blip r:embed="rId7"/>
                <a:stretch>
                  <a:fillRect l="-1458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0A649273-5986-0375-8D0B-ED66DF9E0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6162" y="1710773"/>
                <a:ext cx="3877065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𝐶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不全为零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无妨设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≠0,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id="{0A649273-5986-0375-8D0B-ED66DF9E0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6162" y="1710773"/>
                <a:ext cx="3877065" cy="433068"/>
              </a:xfrm>
              <a:prstGeom prst="rect">
                <a:avLst/>
              </a:prstGeom>
              <a:blipFill>
                <a:blip r:embed="rId8"/>
                <a:stretch>
                  <a:fillRect l="-2044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8">
            <a:extLst>
              <a:ext uri="{FF2B5EF4-FFF2-40B4-BE49-F238E27FC236}">
                <a16:creationId xmlns:a16="http://schemas.microsoft.com/office/drawing/2014/main" id="{F7C2D7FE-5B24-821F-96BC-39441B423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95171"/>
            <a:ext cx="534418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R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10620D79-D1CA-ADD0-992E-31001B140A50}"/>
                  </a:ext>
                </a:extLst>
              </p:cNvPr>
              <p:cNvSpPr txBox="1"/>
              <p:nvPr/>
            </p:nvSpPr>
            <p:spPr bwMode="auto">
              <a:xfrm>
                <a:off x="2619376" y="2097369"/>
                <a:ext cx="5349874" cy="7552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[(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𝐵𝑘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)+      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9">
                <a:extLst>
                  <a:ext uri="{FF2B5EF4-FFF2-40B4-BE49-F238E27FC236}">
                    <a16:creationId xmlns:a16="http://schemas.microsoft.com/office/drawing/2014/main" id="{10620D79-D1CA-ADD0-992E-31001B140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9376" y="2097369"/>
                <a:ext cx="5349874" cy="7552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34CA2654-1483-DE9B-C5F7-CE34D12C4F45}"/>
                  </a:ext>
                </a:extLst>
              </p:cNvPr>
              <p:cNvSpPr txBox="1"/>
              <p:nvPr/>
            </p:nvSpPr>
            <p:spPr bwMode="auto">
              <a:xfrm>
                <a:off x="5965826" y="2254693"/>
                <a:ext cx="1562099" cy="4786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34CA2654-1483-DE9B-C5F7-CE34D12C4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5826" y="2254693"/>
                <a:ext cx="1562099" cy="478664"/>
              </a:xfrm>
              <a:prstGeom prst="rect">
                <a:avLst/>
              </a:prstGeom>
              <a:blipFill>
                <a:blip r:embed="rId10"/>
                <a:stretch>
                  <a:fillRect l="-2734" b="-64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1">
                <a:extLst>
                  <a:ext uri="{FF2B5EF4-FFF2-40B4-BE49-F238E27FC236}">
                    <a16:creationId xmlns:a16="http://schemas.microsoft.com/office/drawing/2014/main" id="{F49A8BB2-54B1-3389-1827-334296C31168}"/>
                  </a:ext>
                </a:extLst>
              </p:cNvPr>
              <p:cNvSpPr txBox="1"/>
              <p:nvPr/>
            </p:nvSpPr>
            <p:spPr bwMode="auto">
              <a:xfrm>
                <a:off x="2301875" y="2879569"/>
                <a:ext cx="6972299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沿直线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接近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1">
                <a:extLst>
                  <a:ext uri="{FF2B5EF4-FFF2-40B4-BE49-F238E27FC236}">
                    <a16:creationId xmlns:a16="http://schemas.microsoft.com/office/drawing/2014/main" id="{F49A8BB2-54B1-3389-1827-334296C31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2879569"/>
                <a:ext cx="6972299" cy="457200"/>
              </a:xfrm>
              <a:prstGeom prst="rect">
                <a:avLst/>
              </a:prstGeom>
              <a:blipFill>
                <a:blip r:embed="rId11"/>
                <a:stretch>
                  <a:fillRect l="-612" r="-525" b="-10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id="{D2F5DE78-23C3-64DB-2F25-D4EFFC91AB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875" y="3488099"/>
                <a:ext cx="867843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有</a:t>
                </a:r>
              </a:p>
            </p:txBody>
          </p:sp>
        </mc:Choice>
        <mc:Fallback xmlns=""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id="{D2F5DE78-23C3-64DB-2F25-D4EFFC91A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3488099"/>
                <a:ext cx="867843" cy="433068"/>
              </a:xfrm>
              <a:prstGeom prst="rect">
                <a:avLst/>
              </a:prstGeom>
              <a:blipFill>
                <a:blip r:embed="rId12"/>
                <a:stretch>
                  <a:fillRect l="-9859" t="-14085" r="-7746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42B59854-9BE8-32BB-6814-51A51E1F5B13}"/>
                  </a:ext>
                </a:extLst>
              </p:cNvPr>
              <p:cNvSpPr txBox="1"/>
              <p:nvPr/>
            </p:nvSpPr>
            <p:spPr bwMode="auto">
              <a:xfrm>
                <a:off x="3055738" y="3518413"/>
                <a:ext cx="19431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42B59854-9BE8-32BB-6814-51A51E1F5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5738" y="3518413"/>
                <a:ext cx="1943100" cy="406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563D8A8A-018A-7D83-FC47-E0D2352532A8}"/>
                  </a:ext>
                </a:extLst>
              </p:cNvPr>
              <p:cNvSpPr txBox="1"/>
              <p:nvPr/>
            </p:nvSpPr>
            <p:spPr bwMode="auto">
              <a:xfrm>
                <a:off x="4614074" y="3489363"/>
                <a:ext cx="2119558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与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563D8A8A-018A-7D83-FC47-E0D23525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4074" y="3489363"/>
                <a:ext cx="2119558" cy="444500"/>
              </a:xfrm>
              <a:prstGeom prst="rect">
                <a:avLst/>
              </a:prstGeom>
              <a:blipFill>
                <a:blip r:embed="rId14"/>
                <a:stretch>
                  <a:fillRect l="-2011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5">
                <a:extLst>
                  <a:ext uri="{FF2B5EF4-FFF2-40B4-BE49-F238E27FC236}">
                    <a16:creationId xmlns:a16="http://schemas.microsoft.com/office/drawing/2014/main" id="{D9395723-9444-82BB-D44E-AA9CB6038E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98212" y="3482220"/>
                <a:ext cx="819753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异号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;</m:t>
                    </m:r>
                  </m:oMath>
                </a14:m>
                <a:endParaRPr kumimoji="1" lang="en-US" altLang="zh-CN" sz="2200" dirty="0">
                  <a:solidFill>
                    <a:srgbClr val="04926A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Text Box 15">
                <a:extLst>
                  <a:ext uri="{FF2B5EF4-FFF2-40B4-BE49-F238E27FC236}">
                    <a16:creationId xmlns:a16="http://schemas.microsoft.com/office/drawing/2014/main" id="{D9395723-9444-82BB-D44E-AA9CB6038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8212" y="3482220"/>
                <a:ext cx="819753" cy="433068"/>
              </a:xfrm>
              <a:prstGeom prst="rect">
                <a:avLst/>
              </a:prstGeom>
              <a:blipFill>
                <a:blip r:embed="rId15"/>
                <a:stretch>
                  <a:fillRect l="-9701" t="-14085" r="-746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42B9B2AB-7241-C11B-9B17-85F66E8534BF}"/>
                  </a:ext>
                </a:extLst>
              </p:cNvPr>
              <p:cNvSpPr txBox="1"/>
              <p:nvPr/>
            </p:nvSpPr>
            <p:spPr bwMode="auto">
              <a:xfrm>
                <a:off x="2301875" y="4072497"/>
                <a:ext cx="13335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6">
                <a:extLst>
                  <a:ext uri="{FF2B5EF4-FFF2-40B4-BE49-F238E27FC236}">
                    <a16:creationId xmlns:a16="http://schemas.microsoft.com/office/drawing/2014/main" id="{42B9B2AB-7241-C11B-9B17-85F66E853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4072497"/>
                <a:ext cx="1333500" cy="431800"/>
              </a:xfrm>
              <a:prstGeom prst="rect">
                <a:avLst/>
              </a:prstGeom>
              <a:blipFill>
                <a:blip r:embed="rId16"/>
                <a:stretch>
                  <a:fillRect l="-3211" b="-1690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4CF7FE7F-E476-CBD9-CFFE-6D996CC2761A}"/>
                  </a:ext>
                </a:extLst>
              </p:cNvPr>
              <p:cNvSpPr txBox="1"/>
              <p:nvPr/>
            </p:nvSpPr>
            <p:spPr bwMode="auto">
              <a:xfrm>
                <a:off x="3349237" y="4097262"/>
                <a:ext cx="4351169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沿直线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接近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7">
                <a:extLst>
                  <a:ext uri="{FF2B5EF4-FFF2-40B4-BE49-F238E27FC236}">
                    <a16:creationId xmlns:a16="http://schemas.microsoft.com/office/drawing/2014/main" id="{4CF7FE7F-E476-CBD9-CFFE-6D996CC27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237" y="4097262"/>
                <a:ext cx="4351169" cy="457200"/>
              </a:xfrm>
              <a:prstGeom prst="rect">
                <a:avLst/>
              </a:prstGeom>
              <a:blipFill>
                <a:blip r:embed="rId17"/>
                <a:stretch>
                  <a:fillRect l="-980" b="-10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25F858B5-8424-6849-9C0D-E65D1008362C}"/>
                  </a:ext>
                </a:extLst>
              </p:cNvPr>
              <p:cNvSpPr txBox="1"/>
              <p:nvPr/>
            </p:nvSpPr>
            <p:spPr bwMode="auto">
              <a:xfrm>
                <a:off x="7401026" y="4087417"/>
                <a:ext cx="13335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有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8">
                <a:extLst>
                  <a:ext uri="{FF2B5EF4-FFF2-40B4-BE49-F238E27FC236}">
                    <a16:creationId xmlns:a16="http://schemas.microsoft.com/office/drawing/2014/main" id="{25F858B5-8424-6849-9C0D-E65D10083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1026" y="4087417"/>
                <a:ext cx="1333500" cy="457200"/>
              </a:xfrm>
              <a:prstGeom prst="rect">
                <a:avLst/>
              </a:prstGeom>
              <a:blipFill>
                <a:blip r:embed="rId18"/>
                <a:stretch>
                  <a:fillRect l="-3196"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B6B42819-6670-B31A-D482-607D8EFD3910}"/>
                  </a:ext>
                </a:extLst>
              </p:cNvPr>
              <p:cNvSpPr txBox="1"/>
              <p:nvPr/>
            </p:nvSpPr>
            <p:spPr bwMode="auto">
              <a:xfrm>
                <a:off x="2301875" y="4655627"/>
                <a:ext cx="2124074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故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与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B6B42819-6670-B31A-D482-607D8EFD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4655627"/>
                <a:ext cx="2124074" cy="444500"/>
              </a:xfrm>
              <a:prstGeom prst="rect">
                <a:avLst/>
              </a:prstGeom>
              <a:blipFill>
                <a:blip r:embed="rId19"/>
                <a:stretch>
                  <a:fillRect l="-2011" b="-136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20">
            <a:extLst>
              <a:ext uri="{FF2B5EF4-FFF2-40B4-BE49-F238E27FC236}">
                <a16:creationId xmlns:a16="http://schemas.microsoft.com/office/drawing/2014/main" id="{6534E777-03F8-8826-BFF2-77078F073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2812" y="4658851"/>
            <a:ext cx="816547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同号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1">
                <a:extLst>
                  <a:ext uri="{FF2B5EF4-FFF2-40B4-BE49-F238E27FC236}">
                    <a16:creationId xmlns:a16="http://schemas.microsoft.com/office/drawing/2014/main" id="{0BECA9D4-BCC2-1D7C-2641-7F7C13964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875" y="5251457"/>
                <a:ext cx="4237355" cy="4646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可见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邻近有正有负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Text Box 21">
                <a:extLst>
                  <a:ext uri="{FF2B5EF4-FFF2-40B4-BE49-F238E27FC236}">
                    <a16:creationId xmlns:a16="http://schemas.microsoft.com/office/drawing/2014/main" id="{0BECA9D4-BCC2-1D7C-2641-7F7C13964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5251457"/>
                <a:ext cx="4237355" cy="464615"/>
              </a:xfrm>
              <a:prstGeom prst="rect">
                <a:avLst/>
              </a:prstGeom>
              <a:blipFill>
                <a:blip r:embed="rId20"/>
                <a:stretch>
                  <a:fillRect l="-2014" t="-5195" b="-207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2">
                <a:extLst>
                  <a:ext uri="{FF2B5EF4-FFF2-40B4-BE49-F238E27FC236}">
                    <a16:creationId xmlns:a16="http://schemas.microsoft.com/office/drawing/2014/main" id="{078969B5-06CE-3028-21A3-F9BB6806B908}"/>
                  </a:ext>
                </a:extLst>
              </p:cNvPr>
              <p:cNvSpPr txBox="1"/>
              <p:nvPr/>
            </p:nvSpPr>
            <p:spPr bwMode="auto">
              <a:xfrm>
                <a:off x="2301875" y="5867400"/>
                <a:ext cx="2305049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因此</m:t>
                      </m:r>
                      <m:r>
                        <a:rPr kumimoji="1" lang="en-US" altLang="zh-CN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2">
                <a:extLst>
                  <a:ext uri="{FF2B5EF4-FFF2-40B4-BE49-F238E27FC236}">
                    <a16:creationId xmlns:a16="http://schemas.microsoft.com/office/drawing/2014/main" id="{078969B5-06CE-3028-21A3-F9BB6806B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75" y="5867400"/>
                <a:ext cx="2305049" cy="4572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3">
                <a:extLst>
                  <a:ext uri="{FF2B5EF4-FFF2-40B4-BE49-F238E27FC236}">
                    <a16:creationId xmlns:a16="http://schemas.microsoft.com/office/drawing/2014/main" id="{7D40CB1B-171E-79BF-6A0E-FB0902F58000}"/>
                  </a:ext>
                </a:extLst>
              </p:cNvPr>
              <p:cNvSpPr txBox="1"/>
              <p:nvPr/>
            </p:nvSpPr>
            <p:spPr bwMode="auto">
              <a:xfrm>
                <a:off x="4389186" y="5886985"/>
                <a:ext cx="213262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无极值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3">
                <a:extLst>
                  <a:ext uri="{FF2B5EF4-FFF2-40B4-BE49-F238E27FC236}">
                    <a16:creationId xmlns:a16="http://schemas.microsoft.com/office/drawing/2014/main" id="{7D40CB1B-171E-79BF-6A0E-FB0902F58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9186" y="5886985"/>
                <a:ext cx="2132620" cy="457200"/>
              </a:xfrm>
              <a:prstGeom prst="rect">
                <a:avLst/>
              </a:prstGeom>
              <a:blipFill>
                <a:blip r:embed="rId22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1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1401BD2A-B4AF-5543-C2C0-84203D158F86}"/>
              </a:ext>
            </a:extLst>
          </p:cNvPr>
          <p:cNvGrpSpPr/>
          <p:nvPr/>
        </p:nvGrpSpPr>
        <p:grpSpPr>
          <a:xfrm>
            <a:off x="510540" y="574992"/>
            <a:ext cx="11149330" cy="5612765"/>
            <a:chOff x="838" y="906"/>
            <a:chExt cx="17558" cy="8839"/>
          </a:xfrm>
        </p:grpSpPr>
        <p:sp>
          <p:nvSpPr>
            <p:cNvPr id="33" name="PA-102232">
              <a:extLst>
                <a:ext uri="{FF2B5EF4-FFF2-40B4-BE49-F238E27FC236}">
                  <a16:creationId xmlns:a16="http://schemas.microsoft.com/office/drawing/2014/main" id="{EB20E4F3-F1C6-F8EC-63C0-196DFB084D0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7230130-CA63-360D-8439-12F791D15CB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35" name="Rectangle 1">
                <a:extLst>
                  <a:ext uri="{FF2B5EF4-FFF2-40B4-BE49-F238E27FC236}">
                    <a16:creationId xmlns:a16="http://schemas.microsoft.com/office/drawing/2014/main" id="{36F0A5EB-CAC1-D1B4-B3DE-E12FC98BF77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1">
                <a:extLst>
                  <a:ext uri="{FF2B5EF4-FFF2-40B4-BE49-F238E27FC236}">
                    <a16:creationId xmlns:a16="http://schemas.microsoft.com/office/drawing/2014/main" id="{62F9C259-C942-ADC0-399B-0B53003D139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1">
                <a:extLst>
                  <a:ext uri="{FF2B5EF4-FFF2-40B4-BE49-F238E27FC236}">
                    <a16:creationId xmlns:a16="http://schemas.microsoft.com/office/drawing/2014/main" id="{697A1B12-75F5-310E-8C6A-C6FF83D65DA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ACDA1329-AB4F-3523-24F0-0AB11251784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095500" y="1234251"/>
                <a:ext cx="1887220" cy="4572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若 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𝐴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𝐶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=0,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ACDA1329-AB4F-3523-24F0-0AB112517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1234251"/>
                <a:ext cx="1887220" cy="457200"/>
              </a:xfrm>
              <a:prstGeom prst="rect">
                <a:avLst/>
              </a:prstGeom>
              <a:blipFill>
                <a:blip r:embed="rId8"/>
                <a:stretch>
                  <a:fillRect l="-4207" t="-13333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BE6FA651-F3F3-1296-91E1-F0189BCA40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8576" y="1246317"/>
                <a:ext cx="1872092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则必有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𝐵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≠0,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6" name="Text Box 18">
                <a:extLst>
                  <a:ext uri="{FF2B5EF4-FFF2-40B4-BE49-F238E27FC236}">
                    <a16:creationId xmlns:a16="http://schemas.microsoft.com/office/drawing/2014/main" id="{BE6FA651-F3F3-1296-91E1-F0189BCA4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8576" y="1246317"/>
                <a:ext cx="1872092" cy="433068"/>
              </a:xfrm>
              <a:prstGeom prst="rect">
                <a:avLst/>
              </a:prstGeom>
              <a:blipFill>
                <a:blip r:embed="rId9"/>
                <a:stretch>
                  <a:fillRect l="-4560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id="{6DBD96D6-7A22-131D-3D53-D309942D8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8640" y="1256796"/>
                <a:ext cx="1803164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不妨设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𝐵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&gt;0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id="{6DBD96D6-7A22-131D-3D53-D309942D8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8640" y="1256796"/>
                <a:ext cx="1803164" cy="433068"/>
              </a:xfrm>
              <a:prstGeom prst="rect">
                <a:avLst/>
              </a:prstGeom>
              <a:blipFill>
                <a:blip r:embed="rId10"/>
                <a:stretch>
                  <a:fillRect l="-4392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Box 20">
            <a:extLst>
              <a:ext uri="{FF2B5EF4-FFF2-40B4-BE49-F238E27FC236}">
                <a16:creationId xmlns:a16="http://schemas.microsoft.com/office/drawing/2014/main" id="{771D6195-2D76-C19F-C503-533FDC5C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275" y="1266826"/>
            <a:ext cx="816547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此时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4D978571-F7A4-A558-4F9B-9E832F29901B}"/>
                  </a:ext>
                </a:extLst>
              </p:cNvPr>
              <p:cNvSpPr txBox="1"/>
              <p:nvPr/>
            </p:nvSpPr>
            <p:spPr bwMode="auto">
              <a:xfrm>
                <a:off x="3238500" y="1809750"/>
                <a:ext cx="3762375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𝐵h𝑘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21">
                <a:extLst>
                  <a:ext uri="{FF2B5EF4-FFF2-40B4-BE49-F238E27FC236}">
                    <a16:creationId xmlns:a16="http://schemas.microsoft.com/office/drawing/2014/main" id="{4D978571-F7A4-A558-4F9B-9E832F299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0" y="1809750"/>
                <a:ext cx="3762375" cy="457200"/>
              </a:xfrm>
              <a:prstGeom prst="rect">
                <a:avLst/>
              </a:prstGeom>
              <a:blipFill>
                <a:blip r:embed="rId11"/>
                <a:stretch>
                  <a:fillRect l="-810" b="-10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B94204E5-231F-66A3-6938-9FFF26773585}"/>
                  </a:ext>
                </a:extLst>
              </p:cNvPr>
              <p:cNvSpPr txBox="1"/>
              <p:nvPr/>
            </p:nvSpPr>
            <p:spPr bwMode="auto">
              <a:xfrm>
                <a:off x="2095500" y="2385249"/>
                <a:ext cx="28448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对点</m:t>
                      </m:r>
                      <m:r>
                        <a:rPr kumimoji="1" lang="zh-CN" altLang="en-US" sz="2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22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3">
                <a:extLst>
                  <a:ext uri="{FF2B5EF4-FFF2-40B4-BE49-F238E27FC236}">
                    <a16:creationId xmlns:a16="http://schemas.microsoft.com/office/drawing/2014/main" id="{B94204E5-231F-66A3-6938-9FFF26773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5500" y="2385249"/>
                <a:ext cx="2844800" cy="457200"/>
              </a:xfrm>
              <a:prstGeom prst="rect">
                <a:avLst/>
              </a:prstGeom>
              <a:blipFill>
                <a:blip r:embed="rId12"/>
                <a:stretch>
                  <a:fillRect l="-1502"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F88DDF3A-EA73-A2C4-A878-E0A003150E98}"/>
                  </a:ext>
                </a:extLst>
              </p:cNvPr>
              <p:cNvSpPr txBox="1"/>
              <p:nvPr/>
            </p:nvSpPr>
            <p:spPr bwMode="auto">
              <a:xfrm>
                <a:off x="3238500" y="2943225"/>
                <a:ext cx="2206171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同号时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24">
                <a:extLst>
                  <a:ext uri="{FF2B5EF4-FFF2-40B4-BE49-F238E27FC236}">
                    <a16:creationId xmlns:a16="http://schemas.microsoft.com/office/drawing/2014/main" id="{F88DDF3A-EA73-A2C4-A878-E0A003150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0" y="2943225"/>
                <a:ext cx="2206171" cy="444500"/>
              </a:xfrm>
              <a:prstGeom prst="rect">
                <a:avLst/>
              </a:prstGeom>
              <a:blipFill>
                <a:blip r:embed="rId13"/>
                <a:stretch>
                  <a:fillRect l="-1657"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51397DFD-D8A6-CA48-8104-67DC2CAA792C}"/>
                  </a:ext>
                </a:extLst>
              </p:cNvPr>
              <p:cNvSpPr txBox="1"/>
              <p:nvPr/>
            </p:nvSpPr>
            <p:spPr bwMode="auto">
              <a:xfrm>
                <a:off x="5235576" y="2914650"/>
                <a:ext cx="1698624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51397DFD-D8A6-CA48-8104-67DC2CAA7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5576" y="2914650"/>
                <a:ext cx="1698624" cy="406400"/>
              </a:xfrm>
              <a:prstGeom prst="rect">
                <a:avLst/>
              </a:prstGeom>
              <a:blipFill>
                <a:blip r:embed="rId14"/>
                <a:stretch>
                  <a:fillRect l="-2151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AD4AC5DF-B5E0-32F9-19CB-D977CA513C46}"/>
                  </a:ext>
                </a:extLst>
              </p:cNvPr>
              <p:cNvSpPr txBox="1"/>
              <p:nvPr/>
            </p:nvSpPr>
            <p:spPr bwMode="auto">
              <a:xfrm>
                <a:off x="3238500" y="3556952"/>
                <a:ext cx="2206171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异号时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AD4AC5DF-B5E0-32F9-19CB-D977CA513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0" y="3556952"/>
                <a:ext cx="2206171" cy="444500"/>
              </a:xfrm>
              <a:prstGeom prst="rect">
                <a:avLst/>
              </a:prstGeom>
              <a:blipFill>
                <a:blip r:embed="rId15"/>
                <a:stretch>
                  <a:fillRect l="-1657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9074E947-3C52-F7E4-F7A6-08F25D262415}"/>
                  </a:ext>
                </a:extLst>
              </p:cNvPr>
              <p:cNvSpPr txBox="1"/>
              <p:nvPr/>
            </p:nvSpPr>
            <p:spPr bwMode="auto">
              <a:xfrm>
                <a:off x="5248276" y="3541077"/>
                <a:ext cx="1686315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9074E947-3C52-F7E4-F7A6-08F25D262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8276" y="3541077"/>
                <a:ext cx="1686315" cy="406400"/>
              </a:xfrm>
              <a:prstGeom prst="rect">
                <a:avLst/>
              </a:prstGeom>
              <a:blipFill>
                <a:blip r:embed="rId16"/>
                <a:stretch>
                  <a:fillRect l="-2166" b="-238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28">
                <a:extLst>
                  <a:ext uri="{FF2B5EF4-FFF2-40B4-BE49-F238E27FC236}">
                    <a16:creationId xmlns:a16="http://schemas.microsoft.com/office/drawing/2014/main" id="{79C7183A-F470-459D-D9B0-2C8538987D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5500" y="4084955"/>
                <a:ext cx="4237355" cy="4646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可见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Δ</m:t>
                    </m:r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邻近有正有负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Text Box 28">
                <a:extLst>
                  <a:ext uri="{FF2B5EF4-FFF2-40B4-BE49-F238E27FC236}">
                    <a16:creationId xmlns:a16="http://schemas.microsoft.com/office/drawing/2014/main" id="{79C7183A-F470-459D-D9B0-2C8538987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5500" y="4084955"/>
                <a:ext cx="4237355" cy="464615"/>
              </a:xfrm>
              <a:prstGeom prst="rect">
                <a:avLst/>
              </a:prstGeom>
              <a:blipFill>
                <a:blip r:embed="rId17"/>
                <a:stretch>
                  <a:fillRect l="-1871" t="-5263" b="-223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9">
                <a:extLst>
                  <a:ext uri="{FF2B5EF4-FFF2-40B4-BE49-F238E27FC236}">
                    <a16:creationId xmlns:a16="http://schemas.microsoft.com/office/drawing/2014/main" id="{D5A067FF-960A-1CE8-B8D5-F4A3BE58CAB4}"/>
                  </a:ext>
                </a:extLst>
              </p:cNvPr>
              <p:cNvSpPr txBox="1"/>
              <p:nvPr/>
            </p:nvSpPr>
            <p:spPr bwMode="auto">
              <a:xfrm>
                <a:off x="2095500" y="4660454"/>
                <a:ext cx="22606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因此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在点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29">
                <a:extLst>
                  <a:ext uri="{FF2B5EF4-FFF2-40B4-BE49-F238E27FC236}">
                    <a16:creationId xmlns:a16="http://schemas.microsoft.com/office/drawing/2014/main" id="{D5A067FF-960A-1CE8-B8D5-F4A3BE58C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5500" y="4660454"/>
                <a:ext cx="2260600" cy="4572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0">
                <a:extLst>
                  <a:ext uri="{FF2B5EF4-FFF2-40B4-BE49-F238E27FC236}">
                    <a16:creationId xmlns:a16="http://schemas.microsoft.com/office/drawing/2014/main" id="{44343B32-8E95-492E-A666-62D94182F08F}"/>
                  </a:ext>
                </a:extLst>
              </p:cNvPr>
              <p:cNvSpPr txBox="1"/>
              <p:nvPr/>
            </p:nvSpPr>
            <p:spPr bwMode="auto">
              <a:xfrm>
                <a:off x="4154657" y="4650929"/>
                <a:ext cx="2341393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无极值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30">
                <a:extLst>
                  <a:ext uri="{FF2B5EF4-FFF2-40B4-BE49-F238E27FC236}">
                    <a16:creationId xmlns:a16="http://schemas.microsoft.com/office/drawing/2014/main" id="{44343B32-8E95-492E-A666-62D94182F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4657" y="4650929"/>
                <a:ext cx="2341393" cy="4572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9">
                <a:extLst>
                  <a:ext uri="{FF2B5EF4-FFF2-40B4-BE49-F238E27FC236}">
                    <a16:creationId xmlns:a16="http://schemas.microsoft.com/office/drawing/2014/main" id="{5CE4457C-38BD-3A7D-F11D-D3B379473757}"/>
                  </a:ext>
                </a:extLst>
              </p:cNvPr>
              <p:cNvSpPr txBox="1"/>
              <p:nvPr/>
            </p:nvSpPr>
            <p:spPr bwMode="auto">
              <a:xfrm>
                <a:off x="6800850" y="1822450"/>
                <a:ext cx="11557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𝐵h𝑘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39">
                <a:extLst>
                  <a:ext uri="{FF2B5EF4-FFF2-40B4-BE49-F238E27FC236}">
                    <a16:creationId xmlns:a16="http://schemas.microsoft.com/office/drawing/2014/main" id="{5CE4457C-38BD-3A7D-F11D-D3B379473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0850" y="1822450"/>
                <a:ext cx="1155700" cy="406400"/>
              </a:xfrm>
              <a:prstGeom prst="rect">
                <a:avLst/>
              </a:prstGeom>
              <a:blipFill>
                <a:blip r:embed="rId20"/>
                <a:stretch>
                  <a:fillRect b="-14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43">
                <a:extLst>
                  <a:ext uri="{FF2B5EF4-FFF2-40B4-BE49-F238E27FC236}">
                    <a16:creationId xmlns:a16="http://schemas.microsoft.com/office/drawing/2014/main" id="{894335C5-9C03-4832-07D3-FC9A291C8F50}"/>
                  </a:ext>
                </a:extLst>
              </p:cNvPr>
              <p:cNvSpPr txBox="1"/>
              <p:nvPr/>
            </p:nvSpPr>
            <p:spPr bwMode="auto">
              <a:xfrm>
                <a:off x="6772275" y="2917825"/>
                <a:ext cx="1841500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从而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&gt;0,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43">
                <a:extLst>
                  <a:ext uri="{FF2B5EF4-FFF2-40B4-BE49-F238E27FC236}">
                    <a16:creationId xmlns:a16="http://schemas.microsoft.com/office/drawing/2014/main" id="{894335C5-9C03-4832-07D3-FC9A291C8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2275" y="2917825"/>
                <a:ext cx="1841500" cy="419100"/>
              </a:xfrm>
              <a:prstGeom prst="rect">
                <a:avLst/>
              </a:prstGeom>
              <a:blipFill>
                <a:blip r:embed="rId21"/>
                <a:stretch>
                  <a:fillRect l="-2318" b="-14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44">
                <a:extLst>
                  <a:ext uri="{FF2B5EF4-FFF2-40B4-BE49-F238E27FC236}">
                    <a16:creationId xmlns:a16="http://schemas.microsoft.com/office/drawing/2014/main" id="{1059CF87-C85C-7AE5-A88F-3EF26912B079}"/>
                  </a:ext>
                </a:extLst>
              </p:cNvPr>
              <p:cNvSpPr txBox="1"/>
              <p:nvPr/>
            </p:nvSpPr>
            <p:spPr bwMode="auto">
              <a:xfrm>
                <a:off x="6772275" y="3541077"/>
                <a:ext cx="1828800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从而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&lt;0,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44">
                <a:extLst>
                  <a:ext uri="{FF2B5EF4-FFF2-40B4-BE49-F238E27FC236}">
                    <a16:creationId xmlns:a16="http://schemas.microsoft.com/office/drawing/2014/main" id="{1059CF87-C85C-7AE5-A88F-3EF26912B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2275" y="3541077"/>
                <a:ext cx="1828800" cy="419100"/>
              </a:xfrm>
              <a:prstGeom prst="rect">
                <a:avLst/>
              </a:prstGeom>
              <a:blipFill>
                <a:blip r:embed="rId22"/>
                <a:stretch>
                  <a:fillRect l="-2333" b="-130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965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build="p" autoUpdateAnimBg="0"/>
      <p:bldP spid="17" grpId="0" build="p" autoUpdateAnimBg="0"/>
      <p:bldP spid="18" grpId="0" build="p" autoUpdateAnimBg="0"/>
      <p:bldP spid="19" grpId="0"/>
      <p:bldP spid="21" grpId="0"/>
      <p:bldP spid="22" grpId="0"/>
      <p:bldP spid="23" grpId="0"/>
      <p:bldP spid="24" grpId="0"/>
      <p:bldP spid="25" grpId="0"/>
      <p:bldP spid="26" grpId="0" build="p" autoUpdateAnimBg="0"/>
      <p:bldP spid="27" grpId="0"/>
      <p:bldP spid="28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1401BD2A-B4AF-5543-C2C0-84203D158F86}"/>
              </a:ext>
            </a:extLst>
          </p:cNvPr>
          <p:cNvGrpSpPr/>
          <p:nvPr/>
        </p:nvGrpSpPr>
        <p:grpSpPr>
          <a:xfrm>
            <a:off x="510540" y="588237"/>
            <a:ext cx="11149330" cy="5612765"/>
            <a:chOff x="838" y="906"/>
            <a:chExt cx="17558" cy="8839"/>
          </a:xfrm>
        </p:grpSpPr>
        <p:sp>
          <p:nvSpPr>
            <p:cNvPr id="33" name="PA-102232">
              <a:extLst>
                <a:ext uri="{FF2B5EF4-FFF2-40B4-BE49-F238E27FC236}">
                  <a16:creationId xmlns:a16="http://schemas.microsoft.com/office/drawing/2014/main" id="{EB20E4F3-F1C6-F8EC-63C0-196DFB084D0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7230130-CA63-360D-8439-12F791D15CB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35" name="Rectangle 1">
                <a:extLst>
                  <a:ext uri="{FF2B5EF4-FFF2-40B4-BE49-F238E27FC236}">
                    <a16:creationId xmlns:a16="http://schemas.microsoft.com/office/drawing/2014/main" id="{36F0A5EB-CAC1-D1B4-B3DE-E12FC98BF77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1">
                <a:extLst>
                  <a:ext uri="{FF2B5EF4-FFF2-40B4-BE49-F238E27FC236}">
                    <a16:creationId xmlns:a16="http://schemas.microsoft.com/office/drawing/2014/main" id="{62F9C259-C942-ADC0-399B-0B53003D139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 1">
                <a:extLst>
                  <a:ext uri="{FF2B5EF4-FFF2-40B4-BE49-F238E27FC236}">
                    <a16:creationId xmlns:a16="http://schemas.microsoft.com/office/drawing/2014/main" id="{697A1B12-75F5-310E-8C6A-C6FF83D65DA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8" name="Text Box 3">
            <a:extLst>
              <a:ext uri="{FF2B5EF4-FFF2-40B4-BE49-F238E27FC236}">
                <a16:creationId xmlns:a16="http://schemas.microsoft.com/office/drawing/2014/main" id="{4C2D5EB4-0F9E-9116-4894-7298703E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265" y="2935299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此时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4">
                <a:extLst>
                  <a:ext uri="{FF2B5EF4-FFF2-40B4-BE49-F238E27FC236}">
                    <a16:creationId xmlns:a16="http://schemas.microsoft.com/office/drawing/2014/main" id="{A151735F-3432-B19A-97FE-44F44F15128B}"/>
                  </a:ext>
                </a:extLst>
              </p:cNvPr>
              <p:cNvSpPr txBox="1"/>
              <p:nvPr/>
            </p:nvSpPr>
            <p:spPr bwMode="auto">
              <a:xfrm>
                <a:off x="4549064" y="3306817"/>
                <a:ext cx="3095249" cy="7861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𝑜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𝜌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Object 4">
                <a:extLst>
                  <a:ext uri="{FF2B5EF4-FFF2-40B4-BE49-F238E27FC236}">
                    <a16:creationId xmlns:a16="http://schemas.microsoft.com/office/drawing/2014/main" id="{A151735F-3432-B19A-97FE-44F44F151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9064" y="3306817"/>
                <a:ext cx="3095249" cy="7861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Box 6">
            <a:extLst>
              <a:ext uri="{FF2B5EF4-FFF2-40B4-BE49-F238E27FC236}">
                <a16:creationId xmlns:a16="http://schemas.microsoft.com/office/drawing/2014/main" id="{1893EB4E-423F-0173-855F-414D0836D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782" y="4254256"/>
            <a:ext cx="81945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因此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18">
                <a:extLst>
                  <a:ext uri="{FF2B5EF4-FFF2-40B4-BE49-F238E27FC236}">
                    <a16:creationId xmlns:a16="http://schemas.microsoft.com/office/drawing/2014/main" id="{73454EEA-E322-C660-8B8E-4F7EE315A57E}"/>
                  </a:ext>
                </a:extLst>
              </p:cNvPr>
              <p:cNvSpPr txBox="1"/>
              <p:nvPr/>
            </p:nvSpPr>
            <p:spPr bwMode="auto">
              <a:xfrm>
                <a:off x="3101265" y="4262194"/>
                <a:ext cx="5914191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因为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h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, 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的正负号由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𝑜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𝜌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确定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Object 18">
                <a:extLst>
                  <a:ext uri="{FF2B5EF4-FFF2-40B4-BE49-F238E27FC236}">
                    <a16:creationId xmlns:a16="http://schemas.microsoft.com/office/drawing/2014/main" id="{73454EEA-E322-C660-8B8E-4F7EE315A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265" y="4262194"/>
                <a:ext cx="5914191" cy="520700"/>
              </a:xfrm>
              <a:prstGeom prst="rect">
                <a:avLst/>
              </a:prstGeom>
              <a:blipFill>
                <a:blip r:embed="rId5"/>
                <a:stretch>
                  <a:fillRect l="-7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20">
                <a:extLst>
                  <a:ext uri="{FF2B5EF4-FFF2-40B4-BE49-F238E27FC236}">
                    <a16:creationId xmlns:a16="http://schemas.microsoft.com/office/drawing/2014/main" id="{2C5922E1-66C2-3B2D-B299-C0060D3541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265" y="4805023"/>
                <a:ext cx="4153701" cy="4624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不能断定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kumimoji="1" lang="zh-CN" alt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zh-CN" alt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zh-CN" altLang="en-US" sz="2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是否为极值点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42" name="Text Box 20">
                <a:extLst>
                  <a:ext uri="{FF2B5EF4-FFF2-40B4-BE49-F238E27FC236}">
                    <a16:creationId xmlns:a16="http://schemas.microsoft.com/office/drawing/2014/main" id="{2C5922E1-66C2-3B2D-B299-C0060D354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265" y="4805023"/>
                <a:ext cx="4153701" cy="462434"/>
              </a:xfrm>
              <a:prstGeom prst="rect">
                <a:avLst/>
              </a:prstGeom>
              <a:blipFill>
                <a:blip r:embed="rId6"/>
                <a:stretch>
                  <a:fillRect l="-1909" t="-6579" r="-1028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Box 33">
            <a:extLst>
              <a:ext uri="{FF2B5EF4-FFF2-40B4-BE49-F238E27FC236}">
                <a16:creationId xmlns:a16="http://schemas.microsoft.com/office/drawing/2014/main" id="{A762D354-6EE9-DA76-47F2-12B097DB1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8519" y="1588899"/>
            <a:ext cx="266717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1" lang="zh-CN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5">
                <a:extLst>
                  <a:ext uri="{FF2B5EF4-FFF2-40B4-BE49-F238E27FC236}">
                    <a16:creationId xmlns:a16="http://schemas.microsoft.com/office/drawing/2014/main" id="{BAE30DDF-D224-D20B-084D-C990E98E0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3607" y="1063395"/>
                <a:ext cx="2733354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20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3</m:t>
                    </m:r>
                    <m:r>
                      <a:rPr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𝐴𝐶</m:t>
                    </m:r>
                    <m:r>
                      <a:rPr kumimoji="1" lang="en-US" altLang="zh-CN" sz="22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2200" i="1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2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pitchFamily="49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4" name="Text Box 45">
                <a:extLst>
                  <a:ext uri="{FF2B5EF4-FFF2-40B4-BE49-F238E27FC236}">
                    <a16:creationId xmlns:a16="http://schemas.microsoft.com/office/drawing/2014/main" id="{BAE30DDF-D224-D20B-084D-C990E98E0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3607" y="1063395"/>
                <a:ext cx="2733354" cy="433068"/>
              </a:xfrm>
              <a:prstGeom prst="rect">
                <a:avLst/>
              </a:prstGeom>
              <a:blipFill>
                <a:blip r:embed="rId7"/>
                <a:stretch>
                  <a:fillRect l="-1559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46">
                <a:extLst>
                  <a:ext uri="{FF2B5EF4-FFF2-40B4-BE49-F238E27FC236}">
                    <a16:creationId xmlns:a16="http://schemas.microsoft.com/office/drawing/2014/main" id="{1839F2BC-FF6D-9052-0A89-D7DE868AE2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265" y="1744432"/>
                <a:ext cx="1295011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lvl="0"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若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≠0</m:t>
                    </m:r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Text Box 46">
                <a:extLst>
                  <a:ext uri="{FF2B5EF4-FFF2-40B4-BE49-F238E27FC236}">
                    <a16:creationId xmlns:a16="http://schemas.microsoft.com/office/drawing/2014/main" id="{1839F2BC-FF6D-9052-0A89-D7DE868AE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265" y="1744432"/>
                <a:ext cx="1295011" cy="433068"/>
              </a:xfrm>
              <a:prstGeom prst="rect">
                <a:avLst/>
              </a:prstGeom>
              <a:blipFill>
                <a:blip r:embed="rId8"/>
                <a:stretch>
                  <a:fillRect l="-6132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47">
            <a:extLst>
              <a:ext uri="{FF2B5EF4-FFF2-40B4-BE49-F238E27FC236}">
                <a16:creationId xmlns:a16="http://schemas.microsoft.com/office/drawing/2014/main" id="{7E30BDF6-545B-DC7B-088E-388B9D133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1263" y="1741257"/>
            <a:ext cx="463886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48">
                <a:extLst>
                  <a:ext uri="{FF2B5EF4-FFF2-40B4-BE49-F238E27FC236}">
                    <a16:creationId xmlns:a16="http://schemas.microsoft.com/office/drawing/2014/main" id="{EED5232F-9A09-925C-5EE6-A23BFCA749ED}"/>
                  </a:ext>
                </a:extLst>
              </p:cNvPr>
              <p:cNvSpPr txBox="1"/>
              <p:nvPr/>
            </p:nvSpPr>
            <p:spPr bwMode="auto">
              <a:xfrm>
                <a:off x="4624956" y="1565023"/>
                <a:ext cx="3103563" cy="7855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𝐴h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𝐵𝑘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48">
                <a:extLst>
                  <a:ext uri="{FF2B5EF4-FFF2-40B4-BE49-F238E27FC236}">
                    <a16:creationId xmlns:a16="http://schemas.microsoft.com/office/drawing/2014/main" id="{EED5232F-9A09-925C-5EE6-A23BFCA74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4956" y="1565023"/>
                <a:ext cx="3103563" cy="7855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9">
                <a:extLst>
                  <a:ext uri="{FF2B5EF4-FFF2-40B4-BE49-F238E27FC236}">
                    <a16:creationId xmlns:a16="http://schemas.microsoft.com/office/drawing/2014/main" id="{A11861B5-C10A-7219-34F4-68ABF7D99C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265" y="2320695"/>
                <a:ext cx="1295011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marR="0" lvl="0" indent="0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若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en-US" altLang="zh-CN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Text Box 49">
                <a:extLst>
                  <a:ext uri="{FF2B5EF4-FFF2-40B4-BE49-F238E27FC236}">
                    <a16:creationId xmlns:a16="http://schemas.microsoft.com/office/drawing/2014/main" id="{A11861B5-C10A-7219-34F4-68ABF7D99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265" y="2320695"/>
                <a:ext cx="1295011" cy="433068"/>
              </a:xfrm>
              <a:prstGeom prst="rect">
                <a:avLst/>
              </a:prstGeom>
              <a:blipFill>
                <a:blip r:embed="rId10"/>
                <a:stretch>
                  <a:fillRect l="-6132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50">
                <a:extLst>
                  <a:ext uri="{FF2B5EF4-FFF2-40B4-BE49-F238E27FC236}">
                    <a16:creationId xmlns:a16="http://schemas.microsoft.com/office/drawing/2014/main" id="{7E95ABAE-1E4B-A14C-6FEB-1362628E0C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3165" y="2320695"/>
                <a:ext cx="1307835" cy="4330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则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𝐵</m:t>
                    </m:r>
                    <m:r>
                      <a:rPr kumimoji="1"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0,</m:t>
                    </m:r>
                  </m:oMath>
                </a14:m>
                <a:endParaRPr kumimoji="1" lang="en-US" altLang="zh-CN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9" name="Text Box 50">
                <a:extLst>
                  <a:ext uri="{FF2B5EF4-FFF2-40B4-BE49-F238E27FC236}">
                    <a16:creationId xmlns:a16="http://schemas.microsoft.com/office/drawing/2014/main" id="{7E95ABAE-1E4B-A14C-6FEB-1362628E0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3165" y="2320695"/>
                <a:ext cx="1307835" cy="433068"/>
              </a:xfrm>
              <a:prstGeom prst="rect">
                <a:avLst/>
              </a:prstGeom>
              <a:blipFill>
                <a:blip r:embed="rId11"/>
                <a:stretch>
                  <a:fillRect l="-6075" t="-15493" b="-211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51">
                <a:extLst>
                  <a:ext uri="{FF2B5EF4-FFF2-40B4-BE49-F238E27FC236}">
                    <a16:creationId xmlns:a16="http://schemas.microsoft.com/office/drawing/2014/main" id="{0D220400-E76A-8721-B6C1-C35CA0927F22}"/>
                  </a:ext>
                </a:extLst>
              </p:cNvPr>
              <p:cNvSpPr txBox="1"/>
              <p:nvPr/>
            </p:nvSpPr>
            <p:spPr bwMode="auto">
              <a:xfrm>
                <a:off x="5574213" y="2320695"/>
                <a:ext cx="20701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2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Object 51">
                <a:extLst>
                  <a:ext uri="{FF2B5EF4-FFF2-40B4-BE49-F238E27FC236}">
                    <a16:creationId xmlns:a16="http://schemas.microsoft.com/office/drawing/2014/main" id="{0D220400-E76A-8721-B6C1-C35CA0927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74213" y="2320695"/>
                <a:ext cx="2070100" cy="533400"/>
              </a:xfrm>
              <a:prstGeom prst="rect">
                <a:avLst/>
              </a:prstGeom>
              <a:blipFill>
                <a:blip r:embed="rId12"/>
                <a:stretch>
                  <a:fillRect l="-14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AutoShape 52">
            <a:extLst>
              <a:ext uri="{FF2B5EF4-FFF2-40B4-BE49-F238E27FC236}">
                <a16:creationId xmlns:a16="http://schemas.microsoft.com/office/drawing/2014/main" id="{0076133F-96AA-2A2D-29DE-1202DDBFD0F7}"/>
              </a:ext>
            </a:extLst>
          </p:cNvPr>
          <p:cNvSpPr>
            <a:spLocks/>
          </p:cNvSpPr>
          <p:nvPr/>
        </p:nvSpPr>
        <p:spPr bwMode="auto">
          <a:xfrm>
            <a:off x="7612342" y="1839910"/>
            <a:ext cx="214238" cy="785535"/>
          </a:xfrm>
          <a:prstGeom prst="rightBrace">
            <a:avLst>
              <a:gd name="adj1" fmla="val 39012"/>
              <a:gd name="adj2" fmla="val 45278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bject 53">
                <a:extLst>
                  <a:ext uri="{FF2B5EF4-FFF2-40B4-BE49-F238E27FC236}">
                    <a16:creationId xmlns:a16="http://schemas.microsoft.com/office/drawing/2014/main" id="{8095B37B-78E1-368E-653E-2B9E89572831}"/>
                  </a:ext>
                </a:extLst>
              </p:cNvPr>
              <p:cNvSpPr txBox="1"/>
              <p:nvPr/>
            </p:nvSpPr>
            <p:spPr bwMode="auto">
              <a:xfrm>
                <a:off x="7901269" y="1728556"/>
                <a:ext cx="18034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𝑄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h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𝑘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可能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Object 53">
                <a:extLst>
                  <a:ext uri="{FF2B5EF4-FFF2-40B4-BE49-F238E27FC236}">
                    <a16:creationId xmlns:a16="http://schemas.microsoft.com/office/drawing/2014/main" id="{8095B37B-78E1-368E-653E-2B9E89572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1269" y="1728556"/>
                <a:ext cx="1803400" cy="444500"/>
              </a:xfrm>
              <a:prstGeom prst="rect">
                <a:avLst/>
              </a:prstGeom>
              <a:blipFill>
                <a:blip r:embed="rId13"/>
                <a:stretch>
                  <a:fillRect l="-1689" b="-152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54">
            <a:extLst>
              <a:ext uri="{FF2B5EF4-FFF2-40B4-BE49-F238E27FC236}">
                <a16:creationId xmlns:a16="http://schemas.microsoft.com/office/drawing/2014/main" id="{B0CE32DD-D5ED-CB1F-6B76-6B527E9C1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1269" y="2272762"/>
            <a:ext cx="1592400" cy="43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为零或非零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8E8D35D-E45A-3EE5-7F5F-E20B5C7A5E7C}"/>
              </a:ext>
            </a:extLst>
          </p:cNvPr>
          <p:cNvSpPr txBox="1"/>
          <p:nvPr/>
        </p:nvSpPr>
        <p:spPr bwMode="auto">
          <a:xfrm>
            <a:off x="8691159" y="4863913"/>
            <a:ext cx="748923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20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证毕</a:t>
            </a:r>
          </a:p>
        </p:txBody>
      </p:sp>
    </p:spTree>
    <p:extLst>
      <p:ext uri="{BB962C8B-B14F-4D97-AF65-F5344CB8AC3E}">
        <p14:creationId xmlns:p14="http://schemas.microsoft.com/office/powerpoint/2010/main" val="6104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2" grpId="0"/>
      <p:bldP spid="53" grpId="0"/>
      <p:bldP spid="5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0">
            <a:extLst>
              <a:ext uri="{FF2B5EF4-FFF2-40B4-BE49-F238E27FC236}">
                <a16:creationId xmlns:a16="http://schemas.microsoft.com/office/drawing/2014/main" id="{AA592F02-E2B6-1A02-4BFA-A4D6D9E37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266" y="1185467"/>
            <a:ext cx="1676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考察函数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1">
                <a:extLst>
                  <a:ext uri="{FF2B5EF4-FFF2-40B4-BE49-F238E27FC236}">
                    <a16:creationId xmlns:a16="http://schemas.microsoft.com/office/drawing/2014/main" id="{FFC7425D-B913-36A8-14EA-3E0E7682F967}"/>
                  </a:ext>
                </a:extLst>
              </p:cNvPr>
              <p:cNvSpPr txBox="1"/>
              <p:nvPr/>
            </p:nvSpPr>
            <p:spPr bwMode="auto">
              <a:xfrm>
                <a:off x="3597466" y="1153567"/>
                <a:ext cx="3033979" cy="493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21">
                <a:extLst>
                  <a:ext uri="{FF2B5EF4-FFF2-40B4-BE49-F238E27FC236}">
                    <a16:creationId xmlns:a16="http://schemas.microsoft.com/office/drawing/2014/main" id="{FFC7425D-B913-36A8-14EA-3E0E7682F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7466" y="1153567"/>
                <a:ext cx="3033979" cy="493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22">
            <a:extLst>
              <a:ext uri="{FF2B5EF4-FFF2-40B4-BE49-F238E27FC236}">
                <a16:creationId xmlns:a16="http://schemas.microsoft.com/office/drawing/2014/main" id="{0B3D0A43-7407-50E9-848E-160E9913D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1275" y="1207692"/>
            <a:ext cx="68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bin Medium" panose="00000600000000000000" pitchFamily="2" charset="0"/>
                <a:ea typeface="黑体" panose="02010609060101010101" pitchFamily="49" charset="-122"/>
              </a:rPr>
              <a:t>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3">
                <a:extLst>
                  <a:ext uri="{FF2B5EF4-FFF2-40B4-BE49-F238E27FC236}">
                    <a16:creationId xmlns:a16="http://schemas.microsoft.com/office/drawing/2014/main" id="{5F7F1757-3FD1-2FE3-5D50-088DF6A0718B}"/>
                  </a:ext>
                </a:extLst>
              </p:cNvPr>
              <p:cNvSpPr txBox="1"/>
              <p:nvPr/>
            </p:nvSpPr>
            <p:spPr bwMode="auto">
              <a:xfrm>
                <a:off x="6746180" y="1152180"/>
                <a:ext cx="3799680" cy="493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 i="1" dirty="0" smtClean="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g</m:t>
                      </m:r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23">
                <a:extLst>
                  <a:ext uri="{FF2B5EF4-FFF2-40B4-BE49-F238E27FC236}">
                    <a16:creationId xmlns:a16="http://schemas.microsoft.com/office/drawing/2014/main" id="{5F7F1757-3FD1-2FE3-5D50-088DF6A07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6180" y="1152180"/>
                <a:ext cx="3799680" cy="493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4">
                <a:extLst>
                  <a:ext uri="{FF2B5EF4-FFF2-40B4-BE49-F238E27FC236}">
                    <a16:creationId xmlns:a16="http://schemas.microsoft.com/office/drawing/2014/main" id="{DCA68DF9-4E8C-2EA5-6974-3AD9FCC06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600" y="1843662"/>
                <a:ext cx="857250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容易验证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这两个函数都以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为驻点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 且在点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</m:oMath>
                </a14:m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24">
                <a:extLst>
                  <a:ext uri="{FF2B5EF4-FFF2-40B4-BE49-F238E27FC236}">
                    <a16:creationId xmlns:a16="http://schemas.microsoft.com/office/drawing/2014/main" id="{DCA68DF9-4E8C-2EA5-6974-3AD9FCC06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1843662"/>
                <a:ext cx="8572502" cy="523220"/>
              </a:xfrm>
              <a:prstGeom prst="rect">
                <a:avLst/>
              </a:prstGeom>
              <a:blipFill>
                <a:blip r:embed="rId5"/>
                <a:stretch>
                  <a:fillRect l="-1422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5">
                <a:extLst>
                  <a:ext uri="{FF2B5EF4-FFF2-40B4-BE49-F238E27FC236}">
                    <a16:creationId xmlns:a16="http://schemas.microsoft.com/office/drawing/2014/main" id="{6757C936-4A15-2A51-A529-853EEB6D33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600" y="2514786"/>
                <a:ext cx="3810000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处都满足 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𝐴𝐶</m:t>
                    </m:r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kumimoji="1" lang="en-US" altLang="zh-CN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  <m:sup>
                        <m:r>
                          <a:rPr kumimoji="1" lang="en-US" altLang="zh-CN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 Box 25">
                <a:extLst>
                  <a:ext uri="{FF2B5EF4-FFF2-40B4-BE49-F238E27FC236}">
                    <a16:creationId xmlns:a16="http://schemas.microsoft.com/office/drawing/2014/main" id="{6757C936-4A15-2A51-A529-853EEB6D3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2514786"/>
                <a:ext cx="3810000" cy="532966"/>
              </a:xfrm>
              <a:prstGeom prst="rect">
                <a:avLst/>
              </a:prstGeom>
              <a:blipFill>
                <a:blip r:embed="rId6"/>
                <a:stretch>
                  <a:fillRect l="-3200" t="-17241" r="-320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6">
                <a:extLst>
                  <a:ext uri="{FF2B5EF4-FFF2-40B4-BE49-F238E27FC236}">
                    <a16:creationId xmlns:a16="http://schemas.microsoft.com/office/drawing/2014/main" id="{2F53797A-6969-AA57-2484-5E3DD506FA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4330" y="2487993"/>
                <a:ext cx="49244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但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处有极小值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bin Medium" panose="00000600000000000000" pitchFamily="2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 Box 26">
                <a:extLst>
                  <a:ext uri="{FF2B5EF4-FFF2-40B4-BE49-F238E27FC236}">
                    <a16:creationId xmlns:a16="http://schemas.microsoft.com/office/drawing/2014/main" id="{2F53797A-6969-AA57-2484-5E3DD506F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4330" y="2487993"/>
                <a:ext cx="4924425" cy="523220"/>
              </a:xfrm>
              <a:prstGeom prst="rect">
                <a:avLst/>
              </a:prstGeom>
              <a:blipFill>
                <a:blip r:embed="rId7"/>
                <a:stretch>
                  <a:fillRect l="-2475" t="-16279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7">
                <a:extLst>
                  <a:ext uri="{FF2B5EF4-FFF2-40B4-BE49-F238E27FC236}">
                    <a16:creationId xmlns:a16="http://schemas.microsoft.com/office/drawing/2014/main" id="{47808396-4569-8578-6551-0ED8972EE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3600" y="3146611"/>
                <a:ext cx="6172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g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 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处却没有极值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bin Medium" panose="00000600000000000000" pitchFamily="2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 Box 27">
                <a:extLst>
                  <a:ext uri="{FF2B5EF4-FFF2-40B4-BE49-F238E27FC236}">
                    <a16:creationId xmlns:a16="http://schemas.microsoft.com/office/drawing/2014/main" id="{47808396-4569-8578-6551-0ED8972EE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3146611"/>
                <a:ext cx="6172200" cy="523220"/>
              </a:xfrm>
              <a:prstGeom prst="rect">
                <a:avLst/>
              </a:prstGeom>
              <a:blipFill>
                <a:blip r:embed="rId8"/>
                <a:stretch>
                  <a:fillRect l="-1974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A0F3C9FF-0806-9F57-33A5-7027F7A656E2}"/>
              </a:ext>
            </a:extLst>
          </p:cNvPr>
          <p:cNvGrpSpPr/>
          <p:nvPr/>
        </p:nvGrpSpPr>
        <p:grpSpPr>
          <a:xfrm>
            <a:off x="2203132" y="649189"/>
            <a:ext cx="1043305" cy="448945"/>
            <a:chOff x="1553" y="3803"/>
            <a:chExt cx="1643" cy="707"/>
          </a:xfrm>
        </p:grpSpPr>
        <p:sp>
          <p:nvSpPr>
            <p:cNvPr id="24" name="圆角矩形 57">
              <a:extLst>
                <a:ext uri="{FF2B5EF4-FFF2-40B4-BE49-F238E27FC236}">
                  <a16:creationId xmlns:a16="http://schemas.microsoft.com/office/drawing/2014/main" id="{6BF4C037-585C-0F13-C86F-8FB047EDAD54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71E19335-58AC-9D8E-2CD5-0F31ABDB8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" y="3804"/>
              <a:ext cx="159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51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589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2491</TotalTime>
  <Words>2113</Words>
  <Application>Microsoft Office PowerPoint</Application>
  <PresentationFormat>宽屏</PresentationFormat>
  <Paragraphs>264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Cabin Medium</vt:lpstr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Times New Roman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yang fan</cp:lastModifiedBy>
  <cp:revision>59</cp:revision>
  <cp:lastPrinted>2022-10-15T02:50:58Z</cp:lastPrinted>
  <dcterms:created xsi:type="dcterms:W3CDTF">2022-09-13T06:18:22Z</dcterms:created>
  <dcterms:modified xsi:type="dcterms:W3CDTF">2023-07-06T04:01:50Z</dcterms:modified>
</cp:coreProperties>
</file>