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7.xml" ContentType="application/vnd.openxmlformats-officedocument.presentationml.tags+xml"/>
  <Override PartName="/ppt/notesSlides/notesSlide17.xml" ContentType="application/vnd.openxmlformats-officedocument.presentationml.notesSlide+xml"/>
  <Override PartName="/ppt/tags/tag8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5.xml" ContentType="application/vnd.openxmlformats-officedocument.presentationml.notesSlide+xml"/>
  <Override PartName="/ppt/tags/tag11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7" r:id="rId2"/>
    <p:sldId id="922" r:id="rId3"/>
    <p:sldId id="664" r:id="rId4"/>
    <p:sldId id="817" r:id="rId5"/>
    <p:sldId id="853" r:id="rId6"/>
    <p:sldId id="778" r:id="rId7"/>
    <p:sldId id="854" r:id="rId8"/>
    <p:sldId id="857" r:id="rId9"/>
    <p:sldId id="858" r:id="rId10"/>
    <p:sldId id="856" r:id="rId11"/>
    <p:sldId id="861" r:id="rId12"/>
    <p:sldId id="859" r:id="rId13"/>
    <p:sldId id="862" r:id="rId14"/>
    <p:sldId id="863" r:id="rId15"/>
    <p:sldId id="864" r:id="rId16"/>
    <p:sldId id="865" r:id="rId17"/>
    <p:sldId id="866" r:id="rId18"/>
    <p:sldId id="860" r:id="rId19"/>
    <p:sldId id="867" r:id="rId20"/>
    <p:sldId id="607" r:id="rId21"/>
    <p:sldId id="870" r:id="rId22"/>
    <p:sldId id="871" r:id="rId23"/>
    <p:sldId id="869" r:id="rId24"/>
    <p:sldId id="872" r:id="rId25"/>
    <p:sldId id="874" r:id="rId26"/>
    <p:sldId id="873" r:id="rId27"/>
    <p:sldId id="876" r:id="rId28"/>
    <p:sldId id="877" r:id="rId29"/>
    <p:sldId id="878" r:id="rId30"/>
    <p:sldId id="879" r:id="rId31"/>
    <p:sldId id="875" r:id="rId32"/>
    <p:sldId id="612" r:id="rId33"/>
    <p:sldId id="880" r:id="rId34"/>
    <p:sldId id="881" r:id="rId35"/>
    <p:sldId id="882" r:id="rId36"/>
    <p:sldId id="883" r:id="rId37"/>
    <p:sldId id="885" r:id="rId38"/>
    <p:sldId id="886" r:id="rId39"/>
    <p:sldId id="887" r:id="rId40"/>
    <p:sldId id="364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41A41-C3E3-49DC-B8E2-5FB79F6BD7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47AB0-E0D1-4C23-847C-8B6B1533D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35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09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805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52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755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02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690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88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940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343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177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7980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7585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5161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1139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429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984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1823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876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0601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757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6157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4596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3708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5731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6514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4699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5404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1793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30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8885680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28" y="6435405"/>
            <a:ext cx="30107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多元函数微分学的几何应用</a:t>
            </a:r>
          </a:p>
        </p:txBody>
      </p:sp>
      <p:sp>
        <p:nvSpPr>
          <p:cNvPr id="14" name="矩形 13"/>
          <p:cNvSpPr/>
          <p:nvPr/>
        </p:nvSpPr>
        <p:spPr>
          <a:xfrm>
            <a:off x="9140852" y="112357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多元函数微分法及其应用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28B7B72-FE5F-FE65-4D2C-E3DB1DB54AC9}"/>
              </a:ext>
            </a:extLst>
          </p:cNvPr>
          <p:cNvCxnSpPr/>
          <p:nvPr userDrawn="1"/>
        </p:nvCxnSpPr>
        <p:spPr>
          <a:xfrm>
            <a:off x="0" y="251555"/>
            <a:ext cx="8665828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D686EB1-B307-14DE-BA1D-E20FC7BCEDB0}"/>
              </a:ext>
            </a:extLst>
          </p:cNvPr>
          <p:cNvCxnSpPr/>
          <p:nvPr userDrawn="1"/>
        </p:nvCxnSpPr>
        <p:spPr>
          <a:xfrm>
            <a:off x="3441287" y="6589556"/>
            <a:ext cx="8748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887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360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38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10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0.png"/><Relationship Id="rId12" Type="http://schemas.openxmlformats.org/officeDocument/2006/relationships/image" Target="../media/image5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.jpe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7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image" Target="../media/image80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80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5" Type="http://schemas.openxmlformats.org/officeDocument/2006/relationships/image" Target="../media/image11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30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3.png"/><Relationship Id="rId11" Type="http://schemas.openxmlformats.org/officeDocument/2006/relationships/image" Target="../media/image127.png"/><Relationship Id="rId5" Type="http://schemas.openxmlformats.org/officeDocument/2006/relationships/image" Target="../media/image122.png"/><Relationship Id="rId10" Type="http://schemas.openxmlformats.org/officeDocument/2006/relationships/image" Target="../media/image125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Relationship Id="rId14" Type="http://schemas.openxmlformats.org/officeDocument/2006/relationships/image" Target="../media/image1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10" Type="http://schemas.openxmlformats.org/officeDocument/2006/relationships/image" Target="../media/image150.png"/><Relationship Id="rId4" Type="http://schemas.openxmlformats.org/officeDocument/2006/relationships/image" Target="../media/image134.png"/><Relationship Id="rId9" Type="http://schemas.openxmlformats.org/officeDocument/2006/relationships/image" Target="../media/image1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6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6" Type="http://schemas.openxmlformats.org/officeDocument/2006/relationships/image" Target="../media/image162.png"/><Relationship Id="rId5" Type="http://schemas.openxmlformats.org/officeDocument/2006/relationships/image" Target="../media/image136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69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5.png"/><Relationship Id="rId4" Type="http://schemas.openxmlformats.org/officeDocument/2006/relationships/image" Target="../media/image17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image" Target="../media/image184.png"/><Relationship Id="rId18" Type="http://schemas.openxmlformats.org/officeDocument/2006/relationships/image" Target="../media/image161.png"/><Relationship Id="rId3" Type="http://schemas.openxmlformats.org/officeDocument/2006/relationships/image" Target="../media/image143.png"/><Relationship Id="rId7" Type="http://schemas.openxmlformats.org/officeDocument/2006/relationships/image" Target="../media/image178.png"/><Relationship Id="rId12" Type="http://schemas.openxmlformats.org/officeDocument/2006/relationships/image" Target="../media/image183.png"/><Relationship Id="rId17" Type="http://schemas.openxmlformats.org/officeDocument/2006/relationships/image" Target="../media/image185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68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7.png"/><Relationship Id="rId11" Type="http://schemas.openxmlformats.org/officeDocument/2006/relationships/image" Target="../media/image182.png"/><Relationship Id="rId5" Type="http://schemas.openxmlformats.org/officeDocument/2006/relationships/image" Target="../media/image176.png"/><Relationship Id="rId15" Type="http://schemas.openxmlformats.org/officeDocument/2006/relationships/image" Target="../media/image1670.png"/><Relationship Id="rId10" Type="http://schemas.openxmlformats.org/officeDocument/2006/relationships/image" Target="../media/image181.png"/><Relationship Id="rId4" Type="http://schemas.openxmlformats.org/officeDocument/2006/relationships/image" Target="../media/image175.png"/><Relationship Id="rId9" Type="http://schemas.openxmlformats.org/officeDocument/2006/relationships/image" Target="../media/image180.png"/><Relationship Id="rId14" Type="http://schemas.openxmlformats.org/officeDocument/2006/relationships/image" Target="../media/image166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80.png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3" Type="http://schemas.openxmlformats.org/officeDocument/2006/relationships/image" Target="../media/image80.png"/><Relationship Id="rId7" Type="http://schemas.openxmlformats.org/officeDocument/2006/relationships/image" Target="../media/image19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0.png"/><Relationship Id="rId5" Type="http://schemas.openxmlformats.org/officeDocument/2006/relationships/image" Target="../media/image193.png"/><Relationship Id="rId9" Type="http://schemas.openxmlformats.org/officeDocument/2006/relationships/image" Target="../media/image19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13" Type="http://schemas.openxmlformats.org/officeDocument/2006/relationships/image" Target="../media/image32.png"/><Relationship Id="rId3" Type="http://schemas.openxmlformats.org/officeDocument/2006/relationships/image" Target="../media/image198.png"/><Relationship Id="rId7" Type="http://schemas.openxmlformats.org/officeDocument/2006/relationships/image" Target="../media/image202.png"/><Relationship Id="rId12" Type="http://schemas.openxmlformats.org/officeDocument/2006/relationships/image" Target="../media/image20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1.png"/><Relationship Id="rId11" Type="http://schemas.openxmlformats.org/officeDocument/2006/relationships/image" Target="../media/image206.png"/><Relationship Id="rId5" Type="http://schemas.openxmlformats.org/officeDocument/2006/relationships/image" Target="../media/image200.png"/><Relationship Id="rId10" Type="http://schemas.openxmlformats.org/officeDocument/2006/relationships/image" Target="../media/image205.png"/><Relationship Id="rId4" Type="http://schemas.openxmlformats.org/officeDocument/2006/relationships/image" Target="../media/image199.png"/><Relationship Id="rId9" Type="http://schemas.openxmlformats.org/officeDocument/2006/relationships/image" Target="../media/image204.png"/><Relationship Id="rId14" Type="http://schemas.openxmlformats.org/officeDocument/2006/relationships/image" Target="../media/image7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13.png"/><Relationship Id="rId12" Type="http://schemas.openxmlformats.org/officeDocument/2006/relationships/image" Target="../media/image7.jpe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12.png"/><Relationship Id="rId11" Type="http://schemas.openxmlformats.org/officeDocument/2006/relationships/image" Target="../media/image216.png"/><Relationship Id="rId5" Type="http://schemas.openxmlformats.org/officeDocument/2006/relationships/image" Target="../media/image211.png"/><Relationship Id="rId4" Type="http://schemas.openxmlformats.org/officeDocument/2006/relationships/image" Target="../media/image21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13" Type="http://schemas.openxmlformats.org/officeDocument/2006/relationships/image" Target="../media/image227.png"/><Relationship Id="rId18" Type="http://schemas.openxmlformats.org/officeDocument/2006/relationships/image" Target="../media/image215.png"/><Relationship Id="rId21" Type="http://schemas.openxmlformats.org/officeDocument/2006/relationships/image" Target="../media/image7.jpeg"/><Relationship Id="rId7" Type="http://schemas.openxmlformats.org/officeDocument/2006/relationships/image" Target="../media/image221.png"/><Relationship Id="rId12" Type="http://schemas.openxmlformats.org/officeDocument/2006/relationships/image" Target="../media/image226.png"/><Relationship Id="rId17" Type="http://schemas.openxmlformats.org/officeDocument/2006/relationships/image" Target="../media/image209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208.png"/><Relationship Id="rId20" Type="http://schemas.openxmlformats.org/officeDocument/2006/relationships/image" Target="../media/image2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0.png"/><Relationship Id="rId11" Type="http://schemas.openxmlformats.org/officeDocument/2006/relationships/image" Target="../media/image225.png"/><Relationship Id="rId5" Type="http://schemas.openxmlformats.org/officeDocument/2006/relationships/image" Target="../media/image219.png"/><Relationship Id="rId15" Type="http://schemas.openxmlformats.org/officeDocument/2006/relationships/image" Target="../media/image229.png"/><Relationship Id="rId10" Type="http://schemas.openxmlformats.org/officeDocument/2006/relationships/image" Target="../media/image224.png"/><Relationship Id="rId19" Type="http://schemas.openxmlformats.org/officeDocument/2006/relationships/image" Target="../media/image233.png"/><Relationship Id="rId4" Type="http://schemas.openxmlformats.org/officeDocument/2006/relationships/image" Target="../media/image218.png"/><Relationship Id="rId9" Type="http://schemas.openxmlformats.org/officeDocument/2006/relationships/image" Target="../media/image223.png"/><Relationship Id="rId14" Type="http://schemas.openxmlformats.org/officeDocument/2006/relationships/image" Target="../media/image22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238.png"/><Relationship Id="rId12" Type="http://schemas.openxmlformats.org/officeDocument/2006/relationships/image" Target="../media/image230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6" Type="http://schemas.openxmlformats.org/officeDocument/2006/relationships/image" Target="../media/image237.png"/><Relationship Id="rId11" Type="http://schemas.openxmlformats.org/officeDocument/2006/relationships/image" Target="../media/image242.png"/><Relationship Id="rId5" Type="http://schemas.openxmlformats.org/officeDocument/2006/relationships/image" Target="../media/image236.png"/><Relationship Id="rId10" Type="http://schemas.openxmlformats.org/officeDocument/2006/relationships/image" Target="../media/image241.png"/><Relationship Id="rId4" Type="http://schemas.openxmlformats.org/officeDocument/2006/relationships/image" Target="../media/image235.png"/><Relationship Id="rId9" Type="http://schemas.openxmlformats.org/officeDocument/2006/relationships/image" Target="../media/image24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3" Type="http://schemas.openxmlformats.org/officeDocument/2006/relationships/image" Target="../media/image244.png"/><Relationship Id="rId7" Type="http://schemas.openxmlformats.org/officeDocument/2006/relationships/image" Target="../media/image2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7.png"/><Relationship Id="rId5" Type="http://schemas.openxmlformats.org/officeDocument/2006/relationships/image" Target="../media/image246.png"/><Relationship Id="rId4" Type="http://schemas.openxmlformats.org/officeDocument/2006/relationships/image" Target="../media/image24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png"/><Relationship Id="rId3" Type="http://schemas.openxmlformats.org/officeDocument/2006/relationships/image" Target="../media/image250.png"/><Relationship Id="rId7" Type="http://schemas.openxmlformats.org/officeDocument/2006/relationships/image" Target="../media/image2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3.png"/><Relationship Id="rId11" Type="http://schemas.openxmlformats.org/officeDocument/2006/relationships/image" Target="../media/image232.png"/><Relationship Id="rId5" Type="http://schemas.openxmlformats.org/officeDocument/2006/relationships/image" Target="../media/image252.png"/><Relationship Id="rId10" Type="http://schemas.openxmlformats.org/officeDocument/2006/relationships/image" Target="../media/image257.png"/><Relationship Id="rId4" Type="http://schemas.openxmlformats.org/officeDocument/2006/relationships/image" Target="../media/image251.png"/><Relationship Id="rId9" Type="http://schemas.openxmlformats.org/officeDocument/2006/relationships/image" Target="../media/image25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png"/><Relationship Id="rId13" Type="http://schemas.openxmlformats.org/officeDocument/2006/relationships/image" Target="../media/image265.png"/><Relationship Id="rId3" Type="http://schemas.openxmlformats.org/officeDocument/2006/relationships/image" Target="../media/image80.png"/><Relationship Id="rId7" Type="http://schemas.openxmlformats.org/officeDocument/2006/relationships/image" Target="../media/image261.png"/><Relationship Id="rId12" Type="http://schemas.openxmlformats.org/officeDocument/2006/relationships/image" Target="../media/image2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80.png"/><Relationship Id="rId11" Type="http://schemas.openxmlformats.org/officeDocument/2006/relationships/image" Target="../media/image234.png"/><Relationship Id="rId5" Type="http://schemas.openxmlformats.org/officeDocument/2006/relationships/image" Target="../media/image260.png"/><Relationship Id="rId10" Type="http://schemas.openxmlformats.org/officeDocument/2006/relationships/image" Target="../media/image2400.png"/><Relationship Id="rId4" Type="http://schemas.openxmlformats.org/officeDocument/2006/relationships/image" Target="../media/image259.png"/><Relationship Id="rId9" Type="http://schemas.openxmlformats.org/officeDocument/2006/relationships/image" Target="../media/image2420.png"/><Relationship Id="rId14" Type="http://schemas.openxmlformats.org/officeDocument/2006/relationships/image" Target="../media/image26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3" Type="http://schemas.openxmlformats.org/officeDocument/2006/relationships/image" Target="../media/image80.png"/><Relationship Id="rId7" Type="http://schemas.openxmlformats.org/officeDocument/2006/relationships/image" Target="../media/image27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8.png"/><Relationship Id="rId5" Type="http://schemas.openxmlformats.org/officeDocument/2006/relationships/image" Target="../media/image268.png"/><Relationship Id="rId4" Type="http://schemas.openxmlformats.org/officeDocument/2006/relationships/image" Target="../media/image26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png"/><Relationship Id="rId13" Type="http://schemas.openxmlformats.org/officeDocument/2006/relationships/image" Target="../media/image281.png"/><Relationship Id="rId3" Type="http://schemas.openxmlformats.org/officeDocument/2006/relationships/image" Target="../media/image80.png"/><Relationship Id="rId7" Type="http://schemas.openxmlformats.org/officeDocument/2006/relationships/image" Target="../media/image275.png"/><Relationship Id="rId12" Type="http://schemas.openxmlformats.org/officeDocument/2006/relationships/image" Target="../media/image26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4.png"/><Relationship Id="rId11" Type="http://schemas.openxmlformats.org/officeDocument/2006/relationships/image" Target="../media/image279.png"/><Relationship Id="rId5" Type="http://schemas.openxmlformats.org/officeDocument/2006/relationships/image" Target="../media/image273.png"/><Relationship Id="rId10" Type="http://schemas.openxmlformats.org/officeDocument/2006/relationships/image" Target="../media/image278.png"/><Relationship Id="rId4" Type="http://schemas.openxmlformats.org/officeDocument/2006/relationships/image" Target="../media/image272.png"/><Relationship Id="rId9" Type="http://schemas.openxmlformats.org/officeDocument/2006/relationships/image" Target="../media/image27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765935" y="4450080"/>
            <a:ext cx="2087880" cy="1556385"/>
            <a:chOff x="3633" y="6990"/>
            <a:chExt cx="3288" cy="2451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一元函数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4131" y="8233"/>
              <a:ext cx="2269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微分学</a:t>
              </a:r>
            </a:p>
          </p:txBody>
        </p:sp>
      </p:grpSp>
      <p:sp>
        <p:nvSpPr>
          <p:cNvPr id="5" name="右箭头 4"/>
          <p:cNvSpPr/>
          <p:nvPr/>
        </p:nvSpPr>
        <p:spPr>
          <a:xfrm>
            <a:off x="382587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96214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61B6C4-35F1-7875-98C1-A82818FC227F}"/>
              </a:ext>
            </a:extLst>
          </p:cNvPr>
          <p:cNvSpPr/>
          <p:nvPr/>
        </p:nvSpPr>
        <p:spPr>
          <a:xfrm>
            <a:off x="1801178" y="884555"/>
            <a:ext cx="85896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第九章   </a:t>
            </a:r>
            <a:r>
              <a:rPr lang="zh-CN" altLang="en-US" sz="4400" b="1" baseline="0" dirty="0">
                <a:solidFill>
                  <a:schemeClr val="bg1"/>
                </a:solidFill>
                <a:latin typeface="+mj-ea"/>
                <a:ea typeface="+mj-ea"/>
              </a:rPr>
              <a:t>多元函数微分法及其应用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B066930-DF94-DF6F-9EC0-A1295840C882}"/>
              </a:ext>
            </a:extLst>
          </p:cNvPr>
          <p:cNvGrpSpPr/>
          <p:nvPr/>
        </p:nvGrpSpPr>
        <p:grpSpPr>
          <a:xfrm>
            <a:off x="4730442" y="4450080"/>
            <a:ext cx="2087880" cy="1556385"/>
            <a:chOff x="3633" y="6990"/>
            <a:chExt cx="3288" cy="2451"/>
          </a:xfrm>
        </p:grpSpPr>
        <p:sp>
          <p:nvSpPr>
            <p:cNvPr id="9" name="矩形: 圆角 40">
              <a:extLst>
                <a:ext uri="{FF2B5EF4-FFF2-40B4-BE49-F238E27FC236}">
                  <a16:creationId xmlns:a16="http://schemas.microsoft.com/office/drawing/2014/main" id="{2EB9713E-EEE0-DC80-43B7-769012092E62}"/>
                </a:ext>
              </a:extLst>
            </p:cNvPr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EF3844B-AAC9-5582-BC84-02299D166C65}"/>
                </a:ext>
              </a:extLst>
            </p:cNvPr>
            <p:cNvSpPr/>
            <p:nvPr/>
          </p:nvSpPr>
          <p:spPr>
            <a:xfrm>
              <a:off x="4056" y="6990"/>
              <a:ext cx="2441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多元函数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533C61B-C6F5-3F38-0087-496DEA7A139A}"/>
                </a:ext>
              </a:extLst>
            </p:cNvPr>
            <p:cNvSpPr/>
            <p:nvPr/>
          </p:nvSpPr>
          <p:spPr>
            <a:xfrm>
              <a:off x="4131" y="8233"/>
              <a:ext cx="2237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微分学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DA8E5B8-DE15-F373-0143-9F49B2503382}"/>
              </a:ext>
            </a:extLst>
          </p:cNvPr>
          <p:cNvGrpSpPr/>
          <p:nvPr/>
        </p:nvGrpSpPr>
        <p:grpSpPr>
          <a:xfrm>
            <a:off x="7938154" y="4469765"/>
            <a:ext cx="2087880" cy="1556385"/>
            <a:chOff x="3633" y="6990"/>
            <a:chExt cx="3288" cy="2451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57FF1588-584F-6CCF-8E4D-ACAA5D847F7B}"/>
                </a:ext>
              </a:extLst>
            </p:cNvPr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7CE5D6D-1331-95F7-B14D-69F1DEC4A353}"/>
                </a:ext>
              </a:extLst>
            </p:cNvPr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注意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4BA4533-8480-3426-1642-FAFD9FB15DB4}"/>
                </a:ext>
              </a:extLst>
            </p:cNvPr>
            <p:cNvSpPr/>
            <p:nvPr/>
          </p:nvSpPr>
          <p:spPr>
            <a:xfrm>
              <a:off x="3889" y="7955"/>
              <a:ext cx="2769" cy="13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善于类比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区别异同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57282" y="691154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第九章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5798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F3975876-371D-E943-BDE0-7053794AE009}"/>
              </a:ext>
            </a:extLst>
          </p:cNvPr>
          <p:cNvSpPr/>
          <p:nvPr/>
        </p:nvSpPr>
        <p:spPr>
          <a:xfrm>
            <a:off x="945202" y="2378656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多元函数的基本概念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657142-156F-BC40-A369-9AC5D1511533}"/>
              </a:ext>
            </a:extLst>
          </p:cNvPr>
          <p:cNvSpPr/>
          <p:nvPr/>
        </p:nvSpPr>
        <p:spPr>
          <a:xfrm>
            <a:off x="945202" y="3144845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全微分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321BC7-FF39-1E4C-A373-3F26FDA536D1}"/>
              </a:ext>
            </a:extLst>
          </p:cNvPr>
          <p:cNvSpPr/>
          <p:nvPr/>
        </p:nvSpPr>
        <p:spPr>
          <a:xfrm>
            <a:off x="6146076" y="2378656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偏导数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C3F917-6EB5-AF43-9C27-AC487099C634}"/>
              </a:ext>
            </a:extLst>
          </p:cNvPr>
          <p:cNvSpPr/>
          <p:nvPr/>
        </p:nvSpPr>
        <p:spPr>
          <a:xfrm>
            <a:off x="6146076" y="3144845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BE5E46-5684-754B-A1A9-127A41F07D2F}"/>
              </a:ext>
            </a:extLst>
          </p:cNvPr>
          <p:cNvSpPr/>
          <p:nvPr/>
        </p:nvSpPr>
        <p:spPr>
          <a:xfrm>
            <a:off x="945202" y="391103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隐函数的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求导公式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DB2DEE-225F-E442-8E1E-33456E4415A2}"/>
              </a:ext>
            </a:extLst>
          </p:cNvPr>
          <p:cNvSpPr/>
          <p:nvPr/>
        </p:nvSpPr>
        <p:spPr>
          <a:xfrm>
            <a:off x="945202" y="4675933"/>
            <a:ext cx="3691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方向导数与梯度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624D60B-0ECD-E147-8CE1-4C5B182862BE}"/>
              </a:ext>
            </a:extLst>
          </p:cNvPr>
          <p:cNvSpPr/>
          <p:nvPr/>
        </p:nvSpPr>
        <p:spPr>
          <a:xfrm>
            <a:off x="6146076" y="3909744"/>
            <a:ext cx="5075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第六节   多元函数微分学的几何应用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8B4882-32F6-3E47-B43D-2E381BD7331B}"/>
              </a:ext>
            </a:extLst>
          </p:cNvPr>
          <p:cNvSpPr/>
          <p:nvPr/>
        </p:nvSpPr>
        <p:spPr>
          <a:xfrm>
            <a:off x="6146076" y="4675933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多元函数的极值及其求法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00EF9C-1D20-A540-B9A1-9EA25E112FAE}"/>
              </a:ext>
            </a:extLst>
          </p:cNvPr>
          <p:cNvSpPr/>
          <p:nvPr/>
        </p:nvSpPr>
        <p:spPr>
          <a:xfrm>
            <a:off x="945202" y="5440831"/>
            <a:ext cx="4906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二元函数的泰勒公式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AA557CA-A43B-FE4D-AEC3-A535128611AD}"/>
              </a:ext>
            </a:extLst>
          </p:cNvPr>
          <p:cNvSpPr/>
          <p:nvPr/>
        </p:nvSpPr>
        <p:spPr>
          <a:xfrm>
            <a:off x="6146076" y="5440831"/>
            <a:ext cx="5481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最小二乘法</a:t>
            </a:r>
          </a:p>
        </p:txBody>
      </p:sp>
    </p:spTree>
    <p:extLst>
      <p:ext uri="{BB962C8B-B14F-4D97-AF65-F5344CB8AC3E}">
        <p14:creationId xmlns:p14="http://schemas.microsoft.com/office/powerpoint/2010/main" val="31505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731523"/>
            <a:ext cx="11536045" cy="42898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2804073" y="686345"/>
            <a:ext cx="6583854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第六节  多元函数微分学的几何应用</a:t>
            </a:r>
          </a:p>
        </p:txBody>
      </p:sp>
      <p:sp>
        <p:nvSpPr>
          <p:cNvPr id="4" name="矩形: 圆角 40">
            <a:extLst>
              <a:ext uri="{FF2B5EF4-FFF2-40B4-BE49-F238E27FC236}">
                <a16:creationId xmlns:a16="http://schemas.microsoft.com/office/drawing/2014/main" id="{0AFCECA3-3830-4C31-F876-EF09B7116080}"/>
              </a:ext>
            </a:extLst>
          </p:cNvPr>
          <p:cNvSpPr/>
          <p:nvPr/>
        </p:nvSpPr>
        <p:spPr>
          <a:xfrm flipV="1">
            <a:off x="3376753" y="2223700"/>
            <a:ext cx="5310047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342900">
              <a:defRPr/>
            </a:pPr>
            <a:endParaRPr lang="zh-CN" altLang="en-US" kern="0" dirty="0">
              <a:solidFill>
                <a:srgbClr val="FFFFFF"/>
              </a:solidFill>
              <a:latin typeface="Calibri" panose="020F0502020204030204"/>
              <a:ea typeface="微软雅黑 Light" panose="020B0502040204020203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F17138-8605-1774-D008-6AE81E15D8D9}"/>
              </a:ext>
            </a:extLst>
          </p:cNvPr>
          <p:cNvSpPr/>
          <p:nvPr/>
        </p:nvSpPr>
        <p:spPr>
          <a:xfrm>
            <a:off x="3616931" y="2412933"/>
            <a:ext cx="4852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kumimoji="1"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一元向量值函数及其导数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40">
            <a:extLst>
              <a:ext uri="{FF2B5EF4-FFF2-40B4-BE49-F238E27FC236}">
                <a16:creationId xmlns:a16="http://schemas.microsoft.com/office/drawing/2014/main" id="{2AFCDF72-0B32-3B23-3BEA-A6D0061312B5}"/>
              </a:ext>
            </a:extLst>
          </p:cNvPr>
          <p:cNvSpPr/>
          <p:nvPr/>
        </p:nvSpPr>
        <p:spPr>
          <a:xfrm flipV="1">
            <a:off x="3376753" y="3448293"/>
            <a:ext cx="5310047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342900">
              <a:defRPr/>
            </a:pPr>
            <a:endParaRPr lang="zh-CN" altLang="en-US" kern="0" dirty="0">
              <a:solidFill>
                <a:srgbClr val="FFFFFF"/>
              </a:solidFill>
              <a:latin typeface="Calibri" panose="020F0502020204030204"/>
              <a:ea typeface="微软雅黑 Light" panose="020B0502040204020203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FFA758-C763-F6DD-43E6-7491515A6524}"/>
              </a:ext>
            </a:extLst>
          </p:cNvPr>
          <p:cNvSpPr/>
          <p:nvPr/>
        </p:nvSpPr>
        <p:spPr>
          <a:xfrm>
            <a:off x="3616931" y="3637526"/>
            <a:ext cx="4852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kumimoji="1" lang="zh-CN" altLang="en-US" sz="2800" b="1" i="0" u="none" strike="noStrike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空间曲线的切线与法平面</a:t>
            </a:r>
            <a:endParaRPr lang="zh-CN" altLang="en-US" sz="2800" dirty="0"/>
          </a:p>
        </p:txBody>
      </p:sp>
      <p:sp>
        <p:nvSpPr>
          <p:cNvPr id="17" name="矩形: 圆角 40">
            <a:extLst>
              <a:ext uri="{FF2B5EF4-FFF2-40B4-BE49-F238E27FC236}">
                <a16:creationId xmlns:a16="http://schemas.microsoft.com/office/drawing/2014/main" id="{F0C1625A-8AFB-064E-8114-6A8BDB4CCB0A}"/>
              </a:ext>
            </a:extLst>
          </p:cNvPr>
          <p:cNvSpPr/>
          <p:nvPr/>
        </p:nvSpPr>
        <p:spPr>
          <a:xfrm flipV="1">
            <a:off x="3376753" y="4664251"/>
            <a:ext cx="5310047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342900">
              <a:defRPr/>
            </a:pPr>
            <a:endParaRPr lang="zh-CN" altLang="en-US" kern="0" dirty="0">
              <a:solidFill>
                <a:srgbClr val="FFFFFF"/>
              </a:solidFill>
              <a:latin typeface="Calibri" panose="020F0502020204030204"/>
              <a:ea typeface="微软雅黑 Light" panose="020B0502040204020203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1D9E1D-1020-F744-A3FA-7B32C6575660}"/>
              </a:ext>
            </a:extLst>
          </p:cNvPr>
          <p:cNvSpPr/>
          <p:nvPr/>
        </p:nvSpPr>
        <p:spPr>
          <a:xfrm>
            <a:off x="3616931" y="4853484"/>
            <a:ext cx="49584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三、空间</a:t>
            </a:r>
            <a:r>
              <a:rPr kumimoji="1" lang="zh-CN" altLang="en-US" sz="2800" b="1" i="0" u="none" strike="noStrike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曲面的切平面与法线</a:t>
            </a:r>
            <a:r>
              <a:rPr kumimoji="1" lang="zh-CN" altLang="en-US" sz="2800" b="0" i="0" u="none" strike="noStrike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9764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224790" y="196850"/>
            <a:ext cx="11743055" cy="6456045"/>
          </a:xfrm>
          <a:prstGeom prst="roundRect">
            <a:avLst>
              <a:gd name="adj" fmla="val 3499"/>
            </a:avLst>
          </a:prstGeom>
          <a:solidFill>
            <a:schemeClr val="bg1"/>
          </a:solidFill>
          <a:ln>
            <a:solidFill>
              <a:srgbClr val="1790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A4A320F-4F14-DB2D-62EF-2D4637EBB8BD}"/>
              </a:ext>
            </a:extLst>
          </p:cNvPr>
          <p:cNvGrpSpPr/>
          <p:nvPr/>
        </p:nvGrpSpPr>
        <p:grpSpPr>
          <a:xfrm>
            <a:off x="228600" y="236182"/>
            <a:ext cx="11713297" cy="6421275"/>
            <a:chOff x="228600" y="236182"/>
            <a:chExt cx="11713297" cy="6421275"/>
          </a:xfrm>
        </p:grpSpPr>
        <p:sp>
          <p:nvSpPr>
            <p:cNvPr id="5" name="Rectangle 1">
              <a:extLst>
                <a:ext uri="{FF2B5EF4-FFF2-40B4-BE49-F238E27FC236}">
                  <a16:creationId xmlns:a16="http://schemas.microsoft.com/office/drawing/2014/main" id="{ED608AAE-9C6A-AD29-F2EC-6DAF0C7EB258}"/>
                </a:ext>
              </a:extLst>
            </p:cNvPr>
            <p:cNvSpPr/>
            <p:nvPr/>
          </p:nvSpPr>
          <p:spPr>
            <a:xfrm>
              <a:off x="364173" y="6460603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C7A2FC5C-A81F-895F-A596-06FE78DD8996}"/>
                </a:ext>
              </a:extLst>
            </p:cNvPr>
            <p:cNvSpPr/>
            <p:nvPr/>
          </p:nvSpPr>
          <p:spPr>
            <a:xfrm rot="2659048">
              <a:off x="8838055" y="295963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768B75A-26E3-4BDA-B653-383A0B41D28A}"/>
                </a:ext>
              </a:extLst>
            </p:cNvPr>
            <p:cNvSpPr/>
            <p:nvPr/>
          </p:nvSpPr>
          <p:spPr>
            <a:xfrm>
              <a:off x="543503" y="6349680"/>
              <a:ext cx="321594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第六节 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多元函数微分学习的几何应用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C9D5358-BCAE-5935-01B0-1C306CAEC0D3}"/>
                </a:ext>
              </a:extLst>
            </p:cNvPr>
            <p:cNvSpPr/>
            <p:nvPr/>
          </p:nvSpPr>
          <p:spPr>
            <a:xfrm>
              <a:off x="9055533" y="236182"/>
              <a:ext cx="28568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第九章 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多元函数微分法及其应用</a:t>
              </a: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F20D921-E79A-AAB3-8F06-2FFA7A88ACA6}"/>
                </a:ext>
              </a:extLst>
            </p:cNvPr>
            <p:cNvCxnSpPr/>
            <p:nvPr/>
          </p:nvCxnSpPr>
          <p:spPr>
            <a:xfrm>
              <a:off x="228600" y="375380"/>
              <a:ext cx="8388000" cy="0"/>
            </a:xfrm>
            <a:prstGeom prst="line">
              <a:avLst/>
            </a:prstGeom>
            <a:ln>
              <a:solidFill>
                <a:srgbClr val="04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55FA6146-EEC9-EF62-B762-7602D44A3F36}"/>
                </a:ext>
              </a:extLst>
            </p:cNvPr>
            <p:cNvCxnSpPr/>
            <p:nvPr/>
          </p:nvCxnSpPr>
          <p:spPr>
            <a:xfrm>
              <a:off x="3877897" y="6503831"/>
              <a:ext cx="8064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B3D6E473-9689-3D19-0E8E-412FBA67BC6B}"/>
              </a:ext>
            </a:extLst>
          </p:cNvPr>
          <p:cNvSpPr/>
          <p:nvPr/>
        </p:nvSpPr>
        <p:spPr>
          <a:xfrm>
            <a:off x="2960357" y="612146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平面曲线的切线与法线</a:t>
            </a:r>
            <a:endParaRPr lang="zh-CN" altLang="en-US" sz="2800" dirty="0"/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66593AC6-D4D6-6142-0DDB-93790A6E8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357" y="1244113"/>
            <a:ext cx="342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已知平面光滑曲线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4">
                <a:extLst>
                  <a:ext uri="{FF2B5EF4-FFF2-40B4-BE49-F238E27FC236}">
                    <a16:creationId xmlns:a16="http://schemas.microsoft.com/office/drawing/2014/main" id="{3D423C52-9008-0E84-A9FF-A1B5FAD6279F}"/>
                  </a:ext>
                </a:extLst>
              </p:cNvPr>
              <p:cNvSpPr txBox="1"/>
              <p:nvPr/>
            </p:nvSpPr>
            <p:spPr bwMode="auto">
              <a:xfrm>
                <a:off x="5878277" y="1208216"/>
                <a:ext cx="1711501" cy="5765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4">
                <a:extLst>
                  <a:ext uri="{FF2B5EF4-FFF2-40B4-BE49-F238E27FC236}">
                    <a16:creationId xmlns:a16="http://schemas.microsoft.com/office/drawing/2014/main" id="{3D423C52-9008-0E84-A9FF-A1B5FAD62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78277" y="1208216"/>
                <a:ext cx="1711501" cy="5765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BB6E8757-6AEC-84E0-8919-A31FE4DF4AF9}"/>
                  </a:ext>
                </a:extLst>
              </p:cNvPr>
              <p:cNvSpPr txBox="1"/>
              <p:nvPr/>
            </p:nvSpPr>
            <p:spPr bwMode="auto">
              <a:xfrm>
                <a:off x="8095575" y="1201405"/>
                <a:ext cx="1365866" cy="5354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BB6E8757-6AEC-84E0-8919-A31FE4DF4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95575" y="1201405"/>
                <a:ext cx="1365866" cy="5354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6">
            <a:extLst>
              <a:ext uri="{FF2B5EF4-FFF2-40B4-BE49-F238E27FC236}">
                <a16:creationId xmlns:a16="http://schemas.microsoft.com/office/drawing/2014/main" id="{576FAD8C-ED0E-39FB-B7F3-F34B2F7A8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357" y="1931500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切线方程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7">
                <a:extLst>
                  <a:ext uri="{FF2B5EF4-FFF2-40B4-BE49-F238E27FC236}">
                    <a16:creationId xmlns:a16="http://schemas.microsoft.com/office/drawing/2014/main" id="{923C241A-6B73-FFCA-450B-68423D4A9E12}"/>
                  </a:ext>
                </a:extLst>
              </p:cNvPr>
              <p:cNvSpPr txBox="1"/>
              <p:nvPr/>
            </p:nvSpPr>
            <p:spPr bwMode="auto">
              <a:xfrm>
                <a:off x="4520065" y="1881672"/>
                <a:ext cx="1337652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7">
                <a:extLst>
                  <a:ext uri="{FF2B5EF4-FFF2-40B4-BE49-F238E27FC236}">
                    <a16:creationId xmlns:a16="http://schemas.microsoft.com/office/drawing/2014/main" id="{923C241A-6B73-FFCA-450B-68423D4A9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20065" y="1881672"/>
                <a:ext cx="1337652" cy="444500"/>
              </a:xfrm>
              <a:prstGeom prst="rect">
                <a:avLst/>
              </a:prstGeom>
              <a:blipFill>
                <a:blip r:embed="rId5"/>
                <a:stretch>
                  <a:fillRect b="-54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Box 8">
            <a:extLst>
              <a:ext uri="{FF2B5EF4-FFF2-40B4-BE49-F238E27FC236}">
                <a16:creationId xmlns:a16="http://schemas.microsoft.com/office/drawing/2014/main" id="{19B90BF7-0DFF-04D3-59B5-96C1962A2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357" y="2772875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法线方程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9">
                <a:extLst>
                  <a:ext uri="{FF2B5EF4-FFF2-40B4-BE49-F238E27FC236}">
                    <a16:creationId xmlns:a16="http://schemas.microsoft.com/office/drawing/2014/main" id="{D3A07C20-D293-5088-080C-80F9E0A3C4D8}"/>
                  </a:ext>
                </a:extLst>
              </p:cNvPr>
              <p:cNvSpPr txBox="1"/>
              <p:nvPr/>
            </p:nvSpPr>
            <p:spPr bwMode="auto">
              <a:xfrm>
                <a:off x="4520065" y="2717545"/>
                <a:ext cx="147381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9">
                <a:extLst>
                  <a:ext uri="{FF2B5EF4-FFF2-40B4-BE49-F238E27FC236}">
                    <a16:creationId xmlns:a16="http://schemas.microsoft.com/office/drawing/2014/main" id="{D3A07C20-D293-5088-080C-80F9E0A3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20065" y="2717545"/>
                <a:ext cx="1473810" cy="444500"/>
              </a:xfrm>
              <a:prstGeom prst="rect">
                <a:avLst/>
              </a:prstGeom>
              <a:blipFill>
                <a:blip r:embed="rId6"/>
                <a:stretch>
                  <a:fillRect b="-54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Box 10">
            <a:extLst>
              <a:ext uri="{FF2B5EF4-FFF2-40B4-BE49-F238E27FC236}">
                <a16:creationId xmlns:a16="http://schemas.microsoft.com/office/drawing/2014/main" id="{69EC69F2-4EA5-10C0-D0D6-C3647CEAE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357" y="3811188"/>
            <a:ext cx="388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若平面光滑曲线方程为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11">
                <a:extLst>
                  <a:ext uri="{FF2B5EF4-FFF2-40B4-BE49-F238E27FC236}">
                    <a16:creationId xmlns:a16="http://schemas.microsoft.com/office/drawing/2014/main" id="{8659C228-9BBE-4F03-E5FD-A79C82184B48}"/>
                  </a:ext>
                </a:extLst>
              </p:cNvPr>
              <p:cNvSpPr txBox="1"/>
              <p:nvPr/>
            </p:nvSpPr>
            <p:spPr bwMode="auto">
              <a:xfrm>
                <a:off x="5425280" y="3776167"/>
                <a:ext cx="2023403" cy="5588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" name="Object 11">
                <a:extLst>
                  <a:ext uri="{FF2B5EF4-FFF2-40B4-BE49-F238E27FC236}">
                    <a16:creationId xmlns:a16="http://schemas.microsoft.com/office/drawing/2014/main" id="{8659C228-9BBE-4F03-E5FD-A79C82184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5280" y="3776167"/>
                <a:ext cx="2023403" cy="5588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12">
                <a:extLst>
                  <a:ext uri="{FF2B5EF4-FFF2-40B4-BE49-F238E27FC236}">
                    <a16:creationId xmlns:a16="http://schemas.microsoft.com/office/drawing/2014/main" id="{5402635F-597D-9F36-D812-0558D53D1AA4}"/>
                  </a:ext>
                </a:extLst>
              </p:cNvPr>
              <p:cNvSpPr txBox="1"/>
              <p:nvPr/>
            </p:nvSpPr>
            <p:spPr bwMode="auto">
              <a:xfrm>
                <a:off x="7772604" y="3547743"/>
                <a:ext cx="2707015" cy="10885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en-US" altLang="zh-CN" sz="280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en-US" altLang="zh-CN" sz="280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den>
                      </m:f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6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" name="Object 12">
                <a:extLst>
                  <a:ext uri="{FF2B5EF4-FFF2-40B4-BE49-F238E27FC236}">
                    <a16:creationId xmlns:a16="http://schemas.microsoft.com/office/drawing/2014/main" id="{5402635F-597D-9F36-D812-0558D53D1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2604" y="3547743"/>
                <a:ext cx="2707015" cy="10885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Box 13">
            <a:extLst>
              <a:ext uri="{FF2B5EF4-FFF2-40B4-BE49-F238E27FC236}">
                <a16:creationId xmlns:a16="http://schemas.microsoft.com/office/drawing/2014/main" id="{C130F8E6-5F7E-5869-6405-25D1BB1EA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357" y="4511589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故在点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14">
                <a:extLst>
                  <a:ext uri="{FF2B5EF4-FFF2-40B4-BE49-F238E27FC236}">
                    <a16:creationId xmlns:a16="http://schemas.microsoft.com/office/drawing/2014/main" id="{16181F8C-02D4-3A6A-9460-ED40B7EABEB0}"/>
                  </a:ext>
                </a:extLst>
              </p:cNvPr>
              <p:cNvSpPr txBox="1"/>
              <p:nvPr/>
            </p:nvSpPr>
            <p:spPr bwMode="auto">
              <a:xfrm>
                <a:off x="2912097" y="4487576"/>
                <a:ext cx="1155700" cy="5570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Object 14">
                <a:extLst>
                  <a:ext uri="{FF2B5EF4-FFF2-40B4-BE49-F238E27FC236}">
                    <a16:creationId xmlns:a16="http://schemas.microsoft.com/office/drawing/2014/main" id="{16181F8C-02D4-3A6A-9460-ED40B7EAB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2097" y="4487576"/>
                <a:ext cx="1155700" cy="557013"/>
              </a:xfrm>
              <a:prstGeom prst="rect">
                <a:avLst/>
              </a:prstGeom>
              <a:blipFill>
                <a:blip r:embed="rId9"/>
                <a:stretch>
                  <a:fillRect r="-31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 Box 15">
            <a:extLst>
              <a:ext uri="{FF2B5EF4-FFF2-40B4-BE49-F238E27FC236}">
                <a16:creationId xmlns:a16="http://schemas.microsoft.com/office/drawing/2014/main" id="{6A1B1FCA-EEC0-97B9-B94C-6BC7253A0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357" y="5099029"/>
            <a:ext cx="1639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切线方程</a:t>
            </a:r>
          </a:p>
        </p:txBody>
      </p:sp>
      <p:sp>
        <p:nvSpPr>
          <p:cNvPr id="39" name="Text Box 16">
            <a:extLst>
              <a:ext uri="{FF2B5EF4-FFF2-40B4-BE49-F238E27FC236}">
                <a16:creationId xmlns:a16="http://schemas.microsoft.com/office/drawing/2014/main" id="{A4A2BCFC-F167-4573-5F5C-D0A7081A0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357" y="5722916"/>
            <a:ext cx="1749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法线方程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17">
                <a:extLst>
                  <a:ext uri="{FF2B5EF4-FFF2-40B4-BE49-F238E27FC236}">
                    <a16:creationId xmlns:a16="http://schemas.microsoft.com/office/drawing/2014/main" id="{D1D7ED45-5D28-8BA7-5002-869E2C042AA6}"/>
                  </a:ext>
                </a:extLst>
              </p:cNvPr>
              <p:cNvSpPr txBox="1"/>
              <p:nvPr/>
            </p:nvSpPr>
            <p:spPr bwMode="auto">
              <a:xfrm>
                <a:off x="7832897" y="5088592"/>
                <a:ext cx="1534136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0" name="Object 17">
                <a:extLst>
                  <a:ext uri="{FF2B5EF4-FFF2-40B4-BE49-F238E27FC236}">
                    <a16:creationId xmlns:a16="http://schemas.microsoft.com/office/drawing/2014/main" id="{D1D7ED45-5D28-8BA7-5002-869E2C042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32897" y="5088592"/>
                <a:ext cx="1534136" cy="444500"/>
              </a:xfrm>
              <a:prstGeom prst="rect">
                <a:avLst/>
              </a:prstGeom>
              <a:blipFill>
                <a:blip r:embed="rId10"/>
                <a:stretch>
                  <a:fillRect b="-68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18">
                <a:extLst>
                  <a:ext uri="{FF2B5EF4-FFF2-40B4-BE49-F238E27FC236}">
                    <a16:creationId xmlns:a16="http://schemas.microsoft.com/office/drawing/2014/main" id="{C76903DE-C848-4593-7522-083A7A46F3AE}"/>
                  </a:ext>
                </a:extLst>
              </p:cNvPr>
              <p:cNvSpPr txBox="1"/>
              <p:nvPr/>
            </p:nvSpPr>
            <p:spPr bwMode="auto">
              <a:xfrm>
                <a:off x="6100605" y="5082242"/>
                <a:ext cx="1854200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2" name="Object 18">
                <a:extLst>
                  <a:ext uri="{FF2B5EF4-FFF2-40B4-BE49-F238E27FC236}">
                    <a16:creationId xmlns:a16="http://schemas.microsoft.com/office/drawing/2014/main" id="{C76903DE-C848-4593-7522-083A7A46F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00605" y="5082242"/>
                <a:ext cx="1854200" cy="495300"/>
              </a:xfrm>
              <a:prstGeom prst="rect">
                <a:avLst/>
              </a:prstGeom>
              <a:blipFill>
                <a:blip r:embed="rId11"/>
                <a:stretch>
                  <a:fillRect b="-370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19">
                <a:extLst>
                  <a:ext uri="{FF2B5EF4-FFF2-40B4-BE49-F238E27FC236}">
                    <a16:creationId xmlns:a16="http://schemas.microsoft.com/office/drawing/2014/main" id="{1B1C9229-0E00-B077-5EC5-5EAA726D5167}"/>
                  </a:ext>
                </a:extLst>
              </p:cNvPr>
              <p:cNvSpPr txBox="1"/>
              <p:nvPr/>
            </p:nvSpPr>
            <p:spPr bwMode="auto">
              <a:xfrm>
                <a:off x="3347244" y="5083586"/>
                <a:ext cx="3100047" cy="4926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2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11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11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11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11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11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11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11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11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11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11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11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11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)(</m:t>
                      </m:r>
                      <m:r>
                        <a:rPr kumimoji="1" lang="zh-CN" altLang="en-US" sz="11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11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11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11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11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11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3" name="Object 19">
                <a:extLst>
                  <a:ext uri="{FF2B5EF4-FFF2-40B4-BE49-F238E27FC236}">
                    <a16:creationId xmlns:a16="http://schemas.microsoft.com/office/drawing/2014/main" id="{1B1C9229-0E00-B077-5EC5-5EAA726D5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7244" y="5083586"/>
                <a:ext cx="3100047" cy="49261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21">
                <a:extLst>
                  <a:ext uri="{FF2B5EF4-FFF2-40B4-BE49-F238E27FC236}">
                    <a16:creationId xmlns:a16="http://schemas.microsoft.com/office/drawing/2014/main" id="{48E1E8FB-C7BF-DB42-F80F-B777479812D2}"/>
                  </a:ext>
                </a:extLst>
              </p:cNvPr>
              <p:cNvSpPr txBox="1"/>
              <p:nvPr/>
            </p:nvSpPr>
            <p:spPr bwMode="auto">
              <a:xfrm>
                <a:off x="9194817" y="5088592"/>
                <a:ext cx="792162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</m:t>
                      </m:r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3" name="Object 21">
                <a:extLst>
                  <a:ext uri="{FF2B5EF4-FFF2-40B4-BE49-F238E27FC236}">
                    <a16:creationId xmlns:a16="http://schemas.microsoft.com/office/drawing/2014/main" id="{48E1E8FB-C7BF-DB42-F80F-B77747981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94817" y="5088592"/>
                <a:ext cx="792162" cy="4445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22">
                <a:extLst>
                  <a:ext uri="{FF2B5EF4-FFF2-40B4-BE49-F238E27FC236}">
                    <a16:creationId xmlns:a16="http://schemas.microsoft.com/office/drawing/2014/main" id="{4921ADCD-79A7-4E31-0984-BB2EDA8EF7A3}"/>
                  </a:ext>
                </a:extLst>
              </p:cNvPr>
              <p:cNvSpPr txBox="1"/>
              <p:nvPr/>
            </p:nvSpPr>
            <p:spPr bwMode="auto">
              <a:xfrm>
                <a:off x="5583677" y="1886322"/>
                <a:ext cx="3111147" cy="6105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𝑓</m:t>
                        </m:r>
                      </m:e>
                      <m:sup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)(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𝑥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−</m:t>
                    </m:r>
                    <m:sSub>
                      <m:sSub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,</a:t>
                </a:r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4" name="Object 22">
                <a:extLst>
                  <a:ext uri="{FF2B5EF4-FFF2-40B4-BE49-F238E27FC236}">
                    <a16:creationId xmlns:a16="http://schemas.microsoft.com/office/drawing/2014/main" id="{4921ADCD-79A7-4E31-0984-BB2EDA8EF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3677" y="1886322"/>
                <a:ext cx="3111147" cy="610504"/>
              </a:xfrm>
              <a:prstGeom prst="rect">
                <a:avLst/>
              </a:prstGeom>
              <a:blipFill>
                <a:blip r:embed="rId14"/>
                <a:stretch>
                  <a:fillRect t="-9901" b="-1188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bject 23">
                <a:extLst>
                  <a:ext uri="{FF2B5EF4-FFF2-40B4-BE49-F238E27FC236}">
                    <a16:creationId xmlns:a16="http://schemas.microsoft.com/office/drawing/2014/main" id="{CA7F73E2-3292-02FA-59BF-DF7E588B5367}"/>
                  </a:ext>
                </a:extLst>
              </p:cNvPr>
              <p:cNvSpPr txBox="1"/>
              <p:nvPr/>
            </p:nvSpPr>
            <p:spPr bwMode="auto">
              <a:xfrm>
                <a:off x="5585410" y="2492174"/>
                <a:ext cx="3314287" cy="10383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𝑓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5" name="Object 23">
                <a:extLst>
                  <a:ext uri="{FF2B5EF4-FFF2-40B4-BE49-F238E27FC236}">
                    <a16:creationId xmlns:a16="http://schemas.microsoft.com/office/drawing/2014/main" id="{CA7F73E2-3292-02FA-59BF-DF7E588B5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5410" y="2492174"/>
                <a:ext cx="3314287" cy="103830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 Box 24">
            <a:extLst>
              <a:ext uri="{FF2B5EF4-FFF2-40B4-BE49-F238E27FC236}">
                <a16:creationId xmlns:a16="http://schemas.microsoft.com/office/drawing/2014/main" id="{E7993089-49DB-F2DB-D93B-8DE3C4EE4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7698" y="1244113"/>
            <a:ext cx="98870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在点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25">
                <a:extLst>
                  <a:ext uri="{FF2B5EF4-FFF2-40B4-BE49-F238E27FC236}">
                    <a16:creationId xmlns:a16="http://schemas.microsoft.com/office/drawing/2014/main" id="{08084CA2-CBAC-23BA-DD6A-319A36E0B8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78572" y="1229825"/>
                <a:ext cx="68866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7" name="Text Box 25">
                <a:extLst>
                  <a:ext uri="{FF2B5EF4-FFF2-40B4-BE49-F238E27FC236}">
                    <a16:creationId xmlns:a16="http://schemas.microsoft.com/office/drawing/2014/main" id="{08084CA2-CBAC-23BA-DD6A-319A36E0B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78572" y="1229825"/>
                <a:ext cx="688665" cy="523220"/>
              </a:xfrm>
              <a:prstGeom prst="rect">
                <a:avLst/>
              </a:prstGeom>
              <a:blipFill>
                <a:blip r:embed="rId16"/>
                <a:stretch>
                  <a:fillRect l="-17699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 Box 27">
            <a:extLst>
              <a:ext uri="{FF2B5EF4-FFF2-40B4-BE49-F238E27FC236}">
                <a16:creationId xmlns:a16="http://schemas.microsoft.com/office/drawing/2014/main" id="{36C64040-0164-608F-6461-946418C19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8787" y="4516151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</a:t>
            </a:r>
          </a:p>
        </p:txBody>
      </p:sp>
      <p:sp>
        <p:nvSpPr>
          <p:cNvPr id="59" name="Text Box 36">
            <a:extLst>
              <a:ext uri="{FF2B5EF4-FFF2-40B4-BE49-F238E27FC236}">
                <a16:creationId xmlns:a16="http://schemas.microsoft.com/office/drawing/2014/main" id="{BFC321FA-8E83-8435-D19A-458C5705F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6278" y="3807289"/>
            <a:ext cx="57052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因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bject 45">
                <a:extLst>
                  <a:ext uri="{FF2B5EF4-FFF2-40B4-BE49-F238E27FC236}">
                    <a16:creationId xmlns:a16="http://schemas.microsoft.com/office/drawing/2014/main" id="{89B8EAE2-42D1-1E16-639C-B6D4FD3ED6A1}"/>
                  </a:ext>
                </a:extLst>
              </p:cNvPr>
              <p:cNvSpPr txBox="1"/>
              <p:nvPr/>
            </p:nvSpPr>
            <p:spPr bwMode="auto">
              <a:xfrm>
                <a:off x="6099629" y="5731097"/>
                <a:ext cx="3986212" cy="5953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)​(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)=0.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0" name="Object 45">
                <a:extLst>
                  <a:ext uri="{FF2B5EF4-FFF2-40B4-BE49-F238E27FC236}">
                    <a16:creationId xmlns:a16="http://schemas.microsoft.com/office/drawing/2014/main" id="{89B8EAE2-42D1-1E16-639C-B6D4FD3ED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9629" y="5731097"/>
                <a:ext cx="3986212" cy="59530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bject 47">
                <a:extLst>
                  <a:ext uri="{FF2B5EF4-FFF2-40B4-BE49-F238E27FC236}">
                    <a16:creationId xmlns:a16="http://schemas.microsoft.com/office/drawing/2014/main" id="{27E46148-47D0-E0B1-F249-C15CF82C9A3C}"/>
                  </a:ext>
                </a:extLst>
              </p:cNvPr>
              <p:cNvSpPr txBox="1"/>
              <p:nvPr/>
            </p:nvSpPr>
            <p:spPr bwMode="auto">
              <a:xfrm>
                <a:off x="3317718" y="5733474"/>
                <a:ext cx="1574800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2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11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11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11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11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11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11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11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11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11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11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11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11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1" name="Object 47">
                <a:extLst>
                  <a:ext uri="{FF2B5EF4-FFF2-40B4-BE49-F238E27FC236}">
                    <a16:creationId xmlns:a16="http://schemas.microsoft.com/office/drawing/2014/main" id="{27E46148-47D0-E0B1-F249-C15CF82C9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7718" y="5733474"/>
                <a:ext cx="1574800" cy="495300"/>
              </a:xfrm>
              <a:prstGeom prst="rect">
                <a:avLst/>
              </a:prstGeom>
              <a:blipFill>
                <a:blip r:embed="rId18"/>
                <a:stretch>
                  <a:fillRect b="-370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bject 48">
                <a:extLst>
                  <a:ext uri="{FF2B5EF4-FFF2-40B4-BE49-F238E27FC236}">
                    <a16:creationId xmlns:a16="http://schemas.microsoft.com/office/drawing/2014/main" id="{62147686-27A7-A42E-A509-C33D7CB2AF68}"/>
                  </a:ext>
                </a:extLst>
              </p:cNvPr>
              <p:cNvSpPr txBox="1"/>
              <p:nvPr/>
            </p:nvSpPr>
            <p:spPr bwMode="auto">
              <a:xfrm>
                <a:off x="4790917" y="5730299"/>
                <a:ext cx="1574799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2" name="Object 48">
                <a:extLst>
                  <a:ext uri="{FF2B5EF4-FFF2-40B4-BE49-F238E27FC236}">
                    <a16:creationId xmlns:a16="http://schemas.microsoft.com/office/drawing/2014/main" id="{62147686-27A7-A42E-A509-C33D7CB2A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0917" y="5730299"/>
                <a:ext cx="1574799" cy="444500"/>
              </a:xfrm>
              <a:prstGeom prst="rect">
                <a:avLst/>
              </a:prstGeom>
              <a:blipFill>
                <a:blip r:embed="rId19"/>
                <a:stretch>
                  <a:fillRect b="-68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组合 62">
            <a:extLst>
              <a:ext uri="{FF2B5EF4-FFF2-40B4-BE49-F238E27FC236}">
                <a16:creationId xmlns:a16="http://schemas.microsoft.com/office/drawing/2014/main" id="{0567098D-B8C9-79E7-F590-DCB4D0187740}"/>
              </a:ext>
            </a:extLst>
          </p:cNvPr>
          <p:cNvGrpSpPr/>
          <p:nvPr/>
        </p:nvGrpSpPr>
        <p:grpSpPr>
          <a:xfrm>
            <a:off x="1933606" y="639478"/>
            <a:ext cx="962025" cy="448945"/>
            <a:chOff x="1553" y="3803"/>
            <a:chExt cx="1515" cy="707"/>
          </a:xfrm>
        </p:grpSpPr>
        <p:sp>
          <p:nvSpPr>
            <p:cNvPr id="64" name="圆角矩形 57">
              <a:extLst>
                <a:ext uri="{FF2B5EF4-FFF2-40B4-BE49-F238E27FC236}">
                  <a16:creationId xmlns:a16="http://schemas.microsoft.com/office/drawing/2014/main" id="{0A356DC5-800C-FD1B-3B2F-B0698172011A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Text Box 28">
              <a:extLst>
                <a:ext uri="{FF2B5EF4-FFF2-40B4-BE49-F238E27FC236}">
                  <a16:creationId xmlns:a16="http://schemas.microsoft.com/office/drawing/2014/main" id="{F9031199-B54B-D27F-8586-2FB69BA874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回顾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792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utoUpdateAnimBg="0"/>
      <p:bldP spid="14" grpId="0"/>
      <p:bldP spid="16" grpId="0"/>
      <p:bldP spid="22" grpId="0" autoUpdateAnimBg="0"/>
      <p:bldP spid="23" grpId="0"/>
      <p:bldP spid="28" grpId="0" autoUpdateAnimBg="0"/>
      <p:bldP spid="29" grpId="0"/>
      <p:bldP spid="33" grpId="0" autoUpdateAnimBg="0"/>
      <p:bldP spid="34" grpId="0"/>
      <p:bldP spid="35" grpId="0"/>
      <p:bldP spid="36" grpId="0" autoUpdateAnimBg="0"/>
      <p:bldP spid="37" grpId="0"/>
      <p:bldP spid="38" grpId="0" autoUpdateAnimBg="0"/>
      <p:bldP spid="39" grpId="0" autoUpdateAnimBg="0"/>
      <p:bldP spid="40" grpId="0"/>
      <p:bldP spid="42" grpId="0"/>
      <p:bldP spid="43" grpId="0"/>
      <p:bldP spid="53" grpId="0"/>
      <p:bldP spid="54" grpId="0"/>
      <p:bldP spid="55" grpId="0"/>
      <p:bldP spid="56" grpId="0" autoUpdateAnimBg="0"/>
      <p:bldP spid="57" grpId="0" autoUpdateAnimBg="0"/>
      <p:bldP spid="58" grpId="0" autoUpdateAnimBg="0"/>
      <p:bldP spid="59" grpId="0" autoUpdateAnimBg="0"/>
      <p:bldP spid="60" grpId="0"/>
      <p:bldP spid="61" grpId="0"/>
      <p:bldP spid="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7">
            <a:extLst>
              <a:ext uri="{FF2B5EF4-FFF2-40B4-BE49-F238E27FC236}">
                <a16:creationId xmlns:a16="http://schemas.microsoft.com/office/drawing/2014/main" id="{B162DD10-98D1-2455-D1E7-15EAEBAF05C4}"/>
              </a:ext>
            </a:extLst>
          </p:cNvPr>
          <p:cNvSpPr txBox="1">
            <a:spLocks noChangeArrowheads="1"/>
          </p:cNvSpPr>
          <p:nvPr/>
        </p:nvSpPr>
        <p:spPr>
          <a:xfrm>
            <a:off x="810053" y="533011"/>
            <a:ext cx="5716065" cy="6096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一、一元向量值函数及其导数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AEB6B03-6895-CAEE-A7D3-CE93F2F01CA7}"/>
              </a:ext>
            </a:extLst>
          </p:cNvPr>
          <p:cNvSpPr txBox="1">
            <a:spLocks noChangeArrowheads="1"/>
          </p:cNvSpPr>
          <p:nvPr/>
        </p:nvSpPr>
        <p:spPr>
          <a:xfrm>
            <a:off x="1169660" y="1107107"/>
            <a:ext cx="1455770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引例</a:t>
            </a:r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71">
                <a:extLst>
                  <a:ext uri="{FF2B5EF4-FFF2-40B4-BE49-F238E27FC236}">
                    <a16:creationId xmlns:a16="http://schemas.microsoft.com/office/drawing/2014/main" id="{4DFD77A7-E985-130B-DD94-812831D441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9710" y="1675432"/>
                <a:ext cx="5638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已知空间曲线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𝛤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的参数方程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Text Box 171">
                <a:extLst>
                  <a:ext uri="{FF2B5EF4-FFF2-40B4-BE49-F238E27FC236}">
                    <a16:creationId xmlns:a16="http://schemas.microsoft.com/office/drawing/2014/main" id="{4DFD77A7-E985-130B-DD94-812831D44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9710" y="1675432"/>
                <a:ext cx="5638800" cy="523220"/>
              </a:xfrm>
              <a:prstGeom prst="rect">
                <a:avLst/>
              </a:prstGeom>
              <a:blipFill>
                <a:blip r:embed="rId3"/>
                <a:stretch>
                  <a:fillRect l="-2162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72">
                <a:extLst>
                  <a:ext uri="{FF2B5EF4-FFF2-40B4-BE49-F238E27FC236}">
                    <a16:creationId xmlns:a16="http://schemas.microsoft.com/office/drawing/2014/main" id="{9CD38CC1-E318-9482-9F48-FAC1DC55451D}"/>
                  </a:ext>
                </a:extLst>
              </p:cNvPr>
              <p:cNvSpPr txBox="1"/>
              <p:nvPr/>
            </p:nvSpPr>
            <p:spPr bwMode="auto">
              <a:xfrm>
                <a:off x="3998585" y="2267534"/>
                <a:ext cx="3914082" cy="17528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en-US" altLang="zh-CN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𝜑</m:t>
                                </m:r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𝑡</m:t>
                                </m:r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𝜓</m:t>
                                </m:r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𝑡</m:t>
                                </m:r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𝜔</m:t>
                                </m:r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𝑡</m:t>
                                </m:r>
                                <m:r>
                                  <a:rPr kumimoji="1" lang="zh-CN" altLang="en-US" sz="28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),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∈[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𝛼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𝛽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].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72">
                <a:extLst>
                  <a:ext uri="{FF2B5EF4-FFF2-40B4-BE49-F238E27FC236}">
                    <a16:creationId xmlns:a16="http://schemas.microsoft.com/office/drawing/2014/main" id="{9CD38CC1-E318-9482-9F48-FAC1DC554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8585" y="2267534"/>
                <a:ext cx="3914082" cy="17528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73">
                <a:extLst>
                  <a:ext uri="{FF2B5EF4-FFF2-40B4-BE49-F238E27FC236}">
                    <a16:creationId xmlns:a16="http://schemas.microsoft.com/office/drawing/2014/main" id="{5CCB1798-887D-1D3C-908C-B7F1AC6261B5}"/>
                  </a:ext>
                </a:extLst>
              </p:cNvPr>
              <p:cNvSpPr txBox="1"/>
              <p:nvPr/>
            </p:nvSpPr>
            <p:spPr bwMode="auto">
              <a:xfrm>
                <a:off x="2055486" y="4046869"/>
                <a:ext cx="6872248" cy="5771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 </m:t>
                      </m:r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𝒇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)=(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𝜔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)),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173">
                <a:extLst>
                  <a:ext uri="{FF2B5EF4-FFF2-40B4-BE49-F238E27FC236}">
                    <a16:creationId xmlns:a16="http://schemas.microsoft.com/office/drawing/2014/main" id="{5CCB1798-887D-1D3C-908C-B7F1AC626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5486" y="4046869"/>
                <a:ext cx="6872248" cy="5771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174">
                <a:extLst>
                  <a:ext uri="{FF2B5EF4-FFF2-40B4-BE49-F238E27FC236}">
                    <a16:creationId xmlns:a16="http://schemas.microsoft.com/office/drawing/2014/main" id="{7D06FF11-AC66-F109-BA53-74667FB0E7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08660" y="4048470"/>
                <a:ext cx="3276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则 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𝛤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向量方程为</a:t>
                </a:r>
              </a:p>
            </p:txBody>
          </p:sp>
        </mc:Choice>
        <mc:Fallback xmlns="">
          <p:sp>
            <p:nvSpPr>
              <p:cNvPr id="22" name="Text Box 174">
                <a:extLst>
                  <a:ext uri="{FF2B5EF4-FFF2-40B4-BE49-F238E27FC236}">
                    <a16:creationId xmlns:a16="http://schemas.microsoft.com/office/drawing/2014/main" id="{7D06FF11-AC66-F109-BA53-74667FB0E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08660" y="4048470"/>
                <a:ext cx="3276600" cy="523220"/>
              </a:xfrm>
              <a:prstGeom prst="rect">
                <a:avLst/>
              </a:prstGeom>
              <a:blipFill>
                <a:blip r:embed="rId6"/>
                <a:stretch>
                  <a:fillRect l="-3717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175">
                <a:extLst>
                  <a:ext uri="{FF2B5EF4-FFF2-40B4-BE49-F238E27FC236}">
                    <a16:creationId xmlns:a16="http://schemas.microsoft.com/office/drawing/2014/main" id="{F83817EF-A333-5983-1B4A-CACEA0D61710}"/>
                  </a:ext>
                </a:extLst>
              </p:cNvPr>
              <p:cNvSpPr txBox="1"/>
              <p:nvPr/>
            </p:nvSpPr>
            <p:spPr bwMode="auto">
              <a:xfrm>
                <a:off x="4557258" y="4720848"/>
                <a:ext cx="4016375" cy="5771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𝒇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∈[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𝛼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𝛽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].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175">
                <a:extLst>
                  <a:ext uri="{FF2B5EF4-FFF2-40B4-BE49-F238E27FC236}">
                    <a16:creationId xmlns:a16="http://schemas.microsoft.com/office/drawing/2014/main" id="{F83817EF-A333-5983-1B4A-CACEA0D61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7258" y="4720848"/>
                <a:ext cx="4016375" cy="5771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Box 176">
            <a:extLst>
              <a:ext uri="{FF2B5EF4-FFF2-40B4-BE49-F238E27FC236}">
                <a16:creationId xmlns:a16="http://schemas.microsoft.com/office/drawing/2014/main" id="{2B329656-7BCE-B316-8532-D23A2B2B6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9710" y="5450218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此方程确定映射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177">
                <a:extLst>
                  <a:ext uri="{FF2B5EF4-FFF2-40B4-BE49-F238E27FC236}">
                    <a16:creationId xmlns:a16="http://schemas.microsoft.com/office/drawing/2014/main" id="{40CD1649-654F-03F1-BC70-BF17E86DF0EE}"/>
                  </a:ext>
                </a:extLst>
              </p:cNvPr>
              <p:cNvSpPr txBox="1"/>
              <p:nvPr/>
            </p:nvSpPr>
            <p:spPr bwMode="auto">
              <a:xfrm>
                <a:off x="4152338" y="5425051"/>
                <a:ext cx="2413107" cy="5270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:[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9" name="Object 177">
                <a:extLst>
                  <a:ext uri="{FF2B5EF4-FFF2-40B4-BE49-F238E27FC236}">
                    <a16:creationId xmlns:a16="http://schemas.microsoft.com/office/drawing/2014/main" id="{40CD1649-654F-03F1-BC70-BF17E86DF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2338" y="5425051"/>
                <a:ext cx="2413107" cy="5270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Box 178">
            <a:extLst>
              <a:ext uri="{FF2B5EF4-FFF2-40B4-BE49-F238E27FC236}">
                <a16:creationId xmlns:a16="http://schemas.microsoft.com/office/drawing/2014/main" id="{E0126D90-ABF8-BBF3-765D-8B5ACCD2F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0393" y="5433011"/>
            <a:ext cx="3581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称此映射为</a:t>
            </a:r>
            <a:r>
              <a:rPr kumimoji="1"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一元向量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179">
                <a:extLst>
                  <a:ext uri="{FF2B5EF4-FFF2-40B4-BE49-F238E27FC236}">
                    <a16:creationId xmlns:a16="http://schemas.microsoft.com/office/drawing/2014/main" id="{623D1FEF-D148-8633-4D03-BF4C6A315C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53492" y="5423486"/>
                <a:ext cx="137499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kumimoji="1" lang="zh-CN" altLang="en-US" sz="2800" b="1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值函数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.</m:t>
                    </m:r>
                  </m:oMath>
                </a14:m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" name="Text Box 179">
                <a:extLst>
                  <a:ext uri="{FF2B5EF4-FFF2-40B4-BE49-F238E27FC236}">
                    <a16:creationId xmlns:a16="http://schemas.microsoft.com/office/drawing/2014/main" id="{623D1FEF-D148-8633-4D03-BF4C6A315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53492" y="5423486"/>
                <a:ext cx="1374991" cy="523220"/>
              </a:xfrm>
              <a:prstGeom prst="rect">
                <a:avLst/>
              </a:prstGeom>
              <a:blipFill>
                <a:blip r:embed="rId9"/>
                <a:stretch>
                  <a:fillRect l="-9333" t="-16279" r="-444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 Box 180">
            <a:extLst>
              <a:ext uri="{FF2B5EF4-FFF2-40B4-BE49-F238E27FC236}">
                <a16:creationId xmlns:a16="http://schemas.microsoft.com/office/drawing/2014/main" id="{B42BEC0C-7F6B-F66E-ED06-6AF5D487D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9710" y="4046868"/>
            <a:ext cx="533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/>
      <p:bldP spid="14" grpId="0"/>
      <p:bldP spid="16" grpId="0"/>
      <p:bldP spid="22" grpId="0"/>
      <p:bldP spid="23" grpId="0"/>
      <p:bldP spid="28" grpId="0"/>
      <p:bldP spid="29" grpId="0"/>
      <p:bldP spid="33" grpId="0"/>
      <p:bldP spid="34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C284EC7-C077-78BA-3125-111FC5B8A539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45AFE23B-AFCF-30CA-1333-25C9E95589E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07A6D96-81C1-5544-91BC-EDB194CA771B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8D80F602-D148-3528-E129-D3C316FEA84D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F38042B0-5C22-B7E9-7D29-0E9150C2B15E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A184A77D-842F-6B99-4EEA-34584C41BA35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219">
                <a:extLst>
                  <a:ext uri="{FF2B5EF4-FFF2-40B4-BE49-F238E27FC236}">
                    <a16:creationId xmlns:a16="http://schemas.microsoft.com/office/drawing/2014/main" id="{EC97679C-551A-47C8-B612-47D9E7E932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1060" y="1180037"/>
                <a:ext cx="374015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 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𝛤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上的动点 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kumimoji="1" lang="en-US" altLang="zh-CN" sz="280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显然</a:t>
                </a:r>
              </a:p>
            </p:txBody>
          </p:sp>
        </mc:Choice>
        <mc:Fallback xmlns="">
          <p:sp>
            <p:nvSpPr>
              <p:cNvPr id="8" name="Text Box 219">
                <a:extLst>
                  <a:ext uri="{FF2B5EF4-FFF2-40B4-BE49-F238E27FC236}">
                    <a16:creationId xmlns:a16="http://schemas.microsoft.com/office/drawing/2014/main" id="{EC97679C-551A-47C8-B612-47D9E7E93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1060" y="1180037"/>
                <a:ext cx="3740150" cy="523220"/>
              </a:xfrm>
              <a:prstGeom prst="rect">
                <a:avLst/>
              </a:prstGeom>
              <a:blipFill>
                <a:blip r:embed="rId4"/>
                <a:stretch>
                  <a:fillRect l="-3426" t="-12941" r="-163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220">
                <a:extLst>
                  <a:ext uri="{FF2B5EF4-FFF2-40B4-BE49-F238E27FC236}">
                    <a16:creationId xmlns:a16="http://schemas.microsoft.com/office/drawing/2014/main" id="{ADC4371D-BD16-BE07-D4A8-7E653B85C2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1060" y="1798615"/>
                <a:ext cx="129965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即 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𝛤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是</a:t>
                </a:r>
              </a:p>
            </p:txBody>
          </p:sp>
        </mc:Choice>
        <mc:Fallback xmlns="">
          <p:sp>
            <p:nvSpPr>
              <p:cNvPr id="9" name="Text Box 220">
                <a:extLst>
                  <a:ext uri="{FF2B5EF4-FFF2-40B4-BE49-F238E27FC236}">
                    <a16:creationId xmlns:a16="http://schemas.microsoft.com/office/drawing/2014/main" id="{ADC4371D-BD16-BE07-D4A8-7E653B85C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1060" y="1798615"/>
                <a:ext cx="1299651" cy="523220"/>
              </a:xfrm>
              <a:prstGeom prst="rect">
                <a:avLst/>
              </a:prstGeom>
              <a:blipFill>
                <a:blip r:embed="rId5"/>
                <a:stretch>
                  <a:fillRect l="-9859" t="-11628" r="-8451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233">
                <a:extLst>
                  <a:ext uri="{FF2B5EF4-FFF2-40B4-BE49-F238E27FC236}">
                    <a16:creationId xmlns:a16="http://schemas.microsoft.com/office/drawing/2014/main" id="{CAC79D9C-5A5E-BB00-07B4-A56D01EBC8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20539" y="1778538"/>
                <a:ext cx="166661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的终点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kumimoji="1"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 Box 233">
                <a:extLst>
                  <a:ext uri="{FF2B5EF4-FFF2-40B4-BE49-F238E27FC236}">
                    <a16:creationId xmlns:a16="http://schemas.microsoft.com/office/drawing/2014/main" id="{CAC79D9C-5A5E-BB00-07B4-A56D01EBC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0539" y="1778538"/>
                <a:ext cx="1666610" cy="523220"/>
              </a:xfrm>
              <a:prstGeom prst="rect">
                <a:avLst/>
              </a:prstGeom>
              <a:blipFill>
                <a:blip r:embed="rId6"/>
                <a:stretch>
                  <a:fillRect l="-7299" t="-12791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234">
                <a:extLst>
                  <a:ext uri="{FF2B5EF4-FFF2-40B4-BE49-F238E27FC236}">
                    <a16:creationId xmlns:a16="http://schemas.microsoft.com/office/drawing/2014/main" id="{424910BE-F2AA-3B99-6E17-8E10E638A8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7289" y="1776633"/>
                <a:ext cx="142539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的轨迹 </a:t>
                </a:r>
                <a14:m>
                  <m:oMath xmlns:m="http://schemas.openxmlformats.org/officeDocument/2006/math">
                    <m:r>
                      <a:rPr kumimoji="1" lang="en-US" altLang="zh-CN" sz="280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 Box 234">
                <a:extLst>
                  <a:ext uri="{FF2B5EF4-FFF2-40B4-BE49-F238E27FC236}">
                    <a16:creationId xmlns:a16="http://schemas.microsoft.com/office/drawing/2014/main" id="{424910BE-F2AA-3B99-6E17-8E10E638A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7289" y="1776633"/>
                <a:ext cx="1425390" cy="523220"/>
              </a:xfrm>
              <a:prstGeom prst="rect">
                <a:avLst/>
              </a:prstGeom>
              <a:blipFill>
                <a:blip r:embed="rId7"/>
                <a:stretch>
                  <a:fillRect l="-8974" t="-11628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235">
            <a:extLst>
              <a:ext uri="{FF2B5EF4-FFF2-40B4-BE49-F238E27FC236}">
                <a16:creationId xmlns:a16="http://schemas.microsoft.com/office/drawing/2014/main" id="{F9C28485-2801-BD2C-D48C-02C32AE3C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1060" y="2355829"/>
            <a:ext cx="60007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此</a:t>
            </a: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轨迹称为向量值函数的</a:t>
            </a:r>
            <a:r>
              <a:rPr kumimoji="1"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终端曲线</a:t>
            </a:r>
            <a:r>
              <a:rPr kumimoji="1" lang="en-US" altLang="zh-CN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241">
                <a:extLst>
                  <a:ext uri="{FF2B5EF4-FFF2-40B4-BE49-F238E27FC236}">
                    <a16:creationId xmlns:a16="http://schemas.microsoft.com/office/drawing/2014/main" id="{211C31E3-41A7-7974-5631-B1080B037B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1060" y="3356899"/>
                <a:ext cx="6115236" cy="19303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ct val="150000"/>
                  </a:lnSpc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要利用向量值函数研究曲线的连续性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eaLnBrk="0" hangingPunct="0">
                  <a:lnSpc>
                    <a:spcPct val="150000"/>
                  </a:lnSpc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和光滑性</a:t>
                </a:r>
                <a14:m>
                  <m:oMath xmlns:m="http://schemas.openxmlformats.org/officeDocument/2006/math">
                    <m:r>
                      <a:rPr kumimoji="1" lang="en-US" altLang="zh-CN" sz="280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就需要引进向量值函数的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eaLnBrk="0" hangingPunct="0">
                  <a:lnSpc>
                    <a:spcPct val="150000"/>
                  </a:lnSpc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极限</a:t>
                </a:r>
                <a14:m>
                  <m:oMath xmlns:m="http://schemas.openxmlformats.org/officeDocument/2006/math">
                    <m:r>
                      <a:rPr kumimoji="1" lang="en-US" altLang="zh-CN" sz="280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连续</a:t>
                </a:r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导数的概念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5" name="Text Box 241">
                <a:extLst>
                  <a:ext uri="{FF2B5EF4-FFF2-40B4-BE49-F238E27FC236}">
                    <a16:creationId xmlns:a16="http://schemas.microsoft.com/office/drawing/2014/main" id="{211C31E3-41A7-7974-5631-B1080B037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1060" y="3356899"/>
                <a:ext cx="6115236" cy="1930337"/>
              </a:xfrm>
              <a:prstGeom prst="rect">
                <a:avLst/>
              </a:prstGeom>
              <a:blipFill>
                <a:blip r:embed="rId8"/>
                <a:stretch>
                  <a:fillRect l="-2094" b="-822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28">
                <a:extLst>
                  <a:ext uri="{FF2B5EF4-FFF2-40B4-BE49-F238E27FC236}">
                    <a16:creationId xmlns:a16="http://schemas.microsoft.com/office/drawing/2014/main" id="{04509899-B3D7-DB70-2FFC-20B7C0155BDE}"/>
                  </a:ext>
                </a:extLst>
              </p:cNvPr>
              <p:cNvSpPr txBox="1"/>
              <p:nvPr/>
            </p:nvSpPr>
            <p:spPr bwMode="auto">
              <a:xfrm>
                <a:off x="4819842" y="1069865"/>
                <a:ext cx="2209215" cy="600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groupChr>
                        <m:groupChrPr>
                          <m:chr m:val="→"/>
                          <m:pos m:val="top"/>
                          <m:vertJc m:val="bot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𝑂𝑀</m:t>
                          </m:r>
                        </m:e>
                      </m:groupChr>
                      <m:r>
                        <a:rPr lang="en-US" altLang="zh-CN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Object 228">
                <a:extLst>
                  <a:ext uri="{FF2B5EF4-FFF2-40B4-BE49-F238E27FC236}">
                    <a16:creationId xmlns:a16="http://schemas.microsoft.com/office/drawing/2014/main" id="{04509899-B3D7-DB70-2FFC-20B7C0155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19842" y="1069865"/>
                <a:ext cx="2209215" cy="6000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32">
                <a:extLst>
                  <a:ext uri="{FF2B5EF4-FFF2-40B4-BE49-F238E27FC236}">
                    <a16:creationId xmlns:a16="http://schemas.microsoft.com/office/drawing/2014/main" id="{541B34EF-A9EA-1492-FCCB-E6EBBD8301A0}"/>
                  </a:ext>
                </a:extLst>
              </p:cNvPr>
              <p:cNvSpPr txBox="1"/>
              <p:nvPr/>
            </p:nvSpPr>
            <p:spPr bwMode="auto">
              <a:xfrm>
                <a:off x="2441258" y="1785938"/>
                <a:ext cx="347662" cy="4469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8" name="Object 232">
                <a:extLst>
                  <a:ext uri="{FF2B5EF4-FFF2-40B4-BE49-F238E27FC236}">
                    <a16:creationId xmlns:a16="http://schemas.microsoft.com/office/drawing/2014/main" id="{541B34EF-A9EA-1492-FCCB-E6EBBD830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1258" y="1785938"/>
                <a:ext cx="347662" cy="4469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 descr="图片包含 照片, 挂, 飞行, 线">
            <a:extLst>
              <a:ext uri="{FF2B5EF4-FFF2-40B4-BE49-F238E27FC236}">
                <a16:creationId xmlns:a16="http://schemas.microsoft.com/office/drawing/2014/main" id="{FF9E606F-E36D-6824-A6C1-402D751C1A1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846" y="1640323"/>
            <a:ext cx="3340149" cy="276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7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9" grpId="0" build="p" autoUpdateAnimBg="0"/>
      <p:bldP spid="12" grpId="0" build="p" autoUpdateAnimBg="0" advAuto="0"/>
      <p:bldP spid="13" grpId="0" build="p" autoUpdateAnimBg="0" advAuto="0"/>
      <p:bldP spid="14" grpId="0" build="p" autoUpdateAnimBg="0"/>
      <p:bldP spid="15" grpId="0" autoUpdateAnimBg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E8F9A7-B433-43CA-BF7C-BCA6D1EA70D5}"/>
              </a:ext>
            </a:extLst>
          </p:cNvPr>
          <p:cNvSpPr/>
          <p:nvPr/>
        </p:nvSpPr>
        <p:spPr>
          <a:xfrm>
            <a:off x="1572196" y="4346024"/>
            <a:ext cx="9047607" cy="1906220"/>
          </a:xfrm>
          <a:prstGeom prst="rect">
            <a:avLst/>
          </a:prstGeom>
          <a:solidFill>
            <a:srgbClr val="04926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142">
                <a:extLst>
                  <a:ext uri="{FF2B5EF4-FFF2-40B4-BE49-F238E27FC236}">
                    <a16:creationId xmlns:a16="http://schemas.microsoft.com/office/drawing/2014/main" id="{5A33C138-84C8-87DE-73C0-B03C4F1D3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3219" y="1078958"/>
                <a:ext cx="4792878" cy="533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kumimoji="1" lang="zh-CN" altLang="en-US" sz="2800" b="1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定义</a:t>
                </a:r>
                <a:r>
                  <a:rPr kumimoji="1" lang="en-US" altLang="zh-CN" sz="2800" b="1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给定数集 </a:t>
                </a:r>
                <a14:m>
                  <m:oMath xmlns:m="http://schemas.openxmlformats.org/officeDocument/2006/math">
                    <m:r>
                      <a:rPr lang="zh-CN" alt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 </a:t>
                </a:r>
                <a:r>
                  <a:rPr lang="en-US" altLang="zh-CN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R</a:t>
                </a:r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称映射</a:t>
                </a:r>
              </a:p>
            </p:txBody>
          </p:sp>
        </mc:Choice>
        <mc:Fallback xmlns="">
          <p:sp>
            <p:nvSpPr>
              <p:cNvPr id="8" name="Rectangle 142">
                <a:extLst>
                  <a:ext uri="{FF2B5EF4-FFF2-40B4-BE49-F238E27FC236}">
                    <a16:creationId xmlns:a16="http://schemas.microsoft.com/office/drawing/2014/main" id="{5A33C138-84C8-87DE-73C0-B03C4F1D38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3219" y="1078958"/>
                <a:ext cx="4792878" cy="533400"/>
              </a:xfrm>
              <a:prstGeom prst="rect">
                <a:avLst/>
              </a:prstGeom>
              <a:blipFill>
                <a:blip r:embed="rId3"/>
                <a:stretch>
                  <a:fillRect l="-2672" t="-13793" r="-1781" b="-321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46">
            <a:extLst>
              <a:ext uri="{FF2B5EF4-FFF2-40B4-BE49-F238E27FC236}">
                <a16:creationId xmlns:a16="http://schemas.microsoft.com/office/drawing/2014/main" id="{8E22974F-C5BA-4F00-7DB4-F5648E9B9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3747" y="1054866"/>
            <a:ext cx="17653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kumimoji="1"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一元向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47">
                <a:extLst>
                  <a:ext uri="{FF2B5EF4-FFF2-40B4-BE49-F238E27FC236}">
                    <a16:creationId xmlns:a16="http://schemas.microsoft.com/office/drawing/2014/main" id="{F7C40E8B-E137-BF39-4FF1-0A0C385AC8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3219" y="1676400"/>
                <a:ext cx="541366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b="1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量值函数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1" lang="zh-CN" altLang="en-US" sz="2800" dirty="0"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简称</m:t>
                        </m:r>
                        <m:r>
                          <m:rPr>
                            <m:nor/>
                          </m:rPr>
                          <a:rPr kumimoji="1" lang="zh-CN" altLang="en-US" sz="2800" b="1" dirty="0">
                            <a:solidFill>
                              <a:srgbClr val="04926A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向量值函数</m:t>
                        </m:r>
                      </m:e>
                    </m:d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记为</a:t>
                </a:r>
              </a:p>
            </p:txBody>
          </p:sp>
        </mc:Choice>
        <mc:Fallback xmlns="">
          <p:sp>
            <p:nvSpPr>
              <p:cNvPr id="10" name="Text Box 147">
                <a:extLst>
                  <a:ext uri="{FF2B5EF4-FFF2-40B4-BE49-F238E27FC236}">
                    <a16:creationId xmlns:a16="http://schemas.microsoft.com/office/drawing/2014/main" id="{F7C40E8B-E137-BF39-4FF1-0A0C385AC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3219" y="1676400"/>
                <a:ext cx="5413663" cy="523220"/>
              </a:xfrm>
              <a:prstGeom prst="rect">
                <a:avLst/>
              </a:prstGeom>
              <a:blipFill>
                <a:blip r:embed="rId4"/>
                <a:stretch>
                  <a:fillRect l="-2365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49">
                <a:extLst>
                  <a:ext uri="{FF2B5EF4-FFF2-40B4-BE49-F238E27FC236}">
                    <a16:creationId xmlns:a16="http://schemas.microsoft.com/office/drawing/2014/main" id="{3C521A39-9C4D-ECF5-07C1-B3E1D081D023}"/>
                  </a:ext>
                </a:extLst>
              </p:cNvPr>
              <p:cNvSpPr txBox="1"/>
              <p:nvPr/>
            </p:nvSpPr>
            <p:spPr bwMode="auto">
              <a:xfrm>
                <a:off x="4501470" y="2718999"/>
                <a:ext cx="3305175" cy="6700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𝒓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b="1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𝒇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), 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∈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𝐷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Object 149">
                <a:extLst>
                  <a:ext uri="{FF2B5EF4-FFF2-40B4-BE49-F238E27FC236}">
                    <a16:creationId xmlns:a16="http://schemas.microsoft.com/office/drawing/2014/main" id="{3C521A39-9C4D-ECF5-07C1-B3E1D081D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01470" y="2718999"/>
                <a:ext cx="3305175" cy="6700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55">
            <a:extLst>
              <a:ext uri="{FF2B5EF4-FFF2-40B4-BE49-F238E27FC236}">
                <a16:creationId xmlns:a16="http://schemas.microsoft.com/office/drawing/2014/main" id="{9B691711-5260-6123-C145-AE454BD9D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4146" y="4394221"/>
            <a:ext cx="84433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向量值函数的极限、连续和导数都与各分量的极限、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56">
                <a:extLst>
                  <a:ext uri="{FF2B5EF4-FFF2-40B4-BE49-F238E27FC236}">
                    <a16:creationId xmlns:a16="http://schemas.microsoft.com/office/drawing/2014/main" id="{8D696360-842F-3928-824E-C6AB7E3E80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4146" y="5049531"/>
                <a:ext cx="359585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连续和导数密切相关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 Box 156">
                <a:extLst>
                  <a:ext uri="{FF2B5EF4-FFF2-40B4-BE49-F238E27FC236}">
                    <a16:creationId xmlns:a16="http://schemas.microsoft.com/office/drawing/2014/main" id="{8D696360-842F-3928-824E-C6AB7E3E8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4146" y="5049531"/>
                <a:ext cx="3595856" cy="523220"/>
              </a:xfrm>
              <a:prstGeom prst="rect">
                <a:avLst/>
              </a:prstGeom>
              <a:blipFill>
                <a:blip r:embed="rId6"/>
                <a:stretch>
                  <a:fillRect l="-3390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157">
            <a:extLst>
              <a:ext uri="{FF2B5EF4-FFF2-40B4-BE49-F238E27FC236}">
                <a16:creationId xmlns:a16="http://schemas.microsoft.com/office/drawing/2014/main" id="{3F1028D6-E114-EB95-BE78-2DA19B623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4146" y="5655956"/>
            <a:ext cx="2590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表进行讨论</a:t>
            </a:r>
            <a:r>
              <a:rPr kumimoji="1" lang="en-US" altLang="zh-CN" sz="280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81">
                <a:extLst>
                  <a:ext uri="{FF2B5EF4-FFF2-40B4-BE49-F238E27FC236}">
                    <a16:creationId xmlns:a16="http://schemas.microsoft.com/office/drawing/2014/main" id="{63EB810D-1F03-B77C-C52B-7258C78860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4159" y="5044768"/>
                <a:ext cx="540702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因此下面仅以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𝑛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=3</m:t>
                    </m:r>
                  </m:oMath>
                </a14:m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的情形为代</a:t>
                </a:r>
              </a:p>
            </p:txBody>
          </p:sp>
        </mc:Choice>
        <mc:Fallback xmlns="">
          <p:sp>
            <p:nvSpPr>
              <p:cNvPr id="18" name="Text Box 181">
                <a:extLst>
                  <a:ext uri="{FF2B5EF4-FFF2-40B4-BE49-F238E27FC236}">
                    <a16:creationId xmlns:a16="http://schemas.microsoft.com/office/drawing/2014/main" id="{63EB810D-1F03-B77C-C52B-7258C7886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24159" y="5044768"/>
                <a:ext cx="5407025" cy="523220"/>
              </a:xfrm>
              <a:prstGeom prst="rect">
                <a:avLst/>
              </a:prstGeom>
              <a:blipFill>
                <a:blip r:embed="rId7"/>
                <a:stretch>
                  <a:fillRect l="-2255" t="-15294" b="-305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2">
            <a:extLst>
              <a:ext uri="{FF2B5EF4-FFF2-40B4-BE49-F238E27FC236}">
                <a16:creationId xmlns:a16="http://schemas.microsoft.com/office/drawing/2014/main" id="{21255B76-6412-0D48-1871-277FEAC7A888}"/>
              </a:ext>
            </a:extLst>
          </p:cNvPr>
          <p:cNvSpPr txBox="1">
            <a:spLocks noChangeArrowheads="1"/>
          </p:cNvSpPr>
          <p:nvPr/>
        </p:nvSpPr>
        <p:spPr>
          <a:xfrm>
            <a:off x="1454438" y="443831"/>
            <a:ext cx="1455770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定义</a:t>
            </a:r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对象 1">
                <a:extLst>
                  <a:ext uri="{FF2B5EF4-FFF2-40B4-BE49-F238E27FC236}">
                    <a16:creationId xmlns:a16="http://schemas.microsoft.com/office/drawing/2014/main" id="{0F91E36D-E2F6-5636-E185-1599ECB87910}"/>
                  </a:ext>
                </a:extLst>
              </p:cNvPr>
              <p:cNvSpPr txBox="1"/>
              <p:nvPr/>
            </p:nvSpPr>
            <p:spPr>
              <a:xfrm>
                <a:off x="6554108" y="1072281"/>
                <a:ext cx="1895475" cy="4699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: </m:t>
                      </m:r>
                      <m:r>
                        <a:rPr kumimoji="1" lang="zh-CN" altLang="en-US" sz="2800" b="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𝐷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→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𝐑</m:t>
                          </m:r>
                        </m:e>
                        <m:sup>
                          <m:r>
                            <a:rPr kumimoji="1" lang="en-US" altLang="zh-CN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0" name="对象 1">
                <a:extLst>
                  <a:ext uri="{FF2B5EF4-FFF2-40B4-BE49-F238E27FC236}">
                    <a16:creationId xmlns:a16="http://schemas.microsoft.com/office/drawing/2014/main" id="{0F91E36D-E2F6-5636-E185-1599ECB87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108" y="1072281"/>
                <a:ext cx="1895475" cy="469900"/>
              </a:xfrm>
              <a:prstGeom prst="rect">
                <a:avLst/>
              </a:prstGeom>
              <a:blipFill>
                <a:blip r:embed="rId8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utoShape 7">
            <a:extLst>
              <a:ext uri="{FF2B5EF4-FFF2-40B4-BE49-F238E27FC236}">
                <a16:creationId xmlns:a16="http://schemas.microsoft.com/office/drawing/2014/main" id="{AB502063-10FB-81CF-0B8F-C1E5D5780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845" y="3615514"/>
            <a:ext cx="1256224" cy="457200"/>
          </a:xfrm>
          <a:prstGeom prst="wedgeRectCallout">
            <a:avLst>
              <a:gd name="adj1" fmla="val 51605"/>
              <a:gd name="adj2" fmla="val -124722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sym typeface="+mn-ea"/>
              </a:rPr>
              <a:t>因变量</a:t>
            </a:r>
            <a:endParaRPr lang="zh-CN" altLang="en-US" sz="2800" b="1" dirty="0">
              <a:ea typeface="宋体" panose="02010600030101010101" pitchFamily="2" charset="-122"/>
            </a:endParaRPr>
          </a:p>
        </p:txBody>
      </p:sp>
      <p:sp>
        <p:nvSpPr>
          <p:cNvPr id="30" name="AutoShape 7">
            <a:extLst>
              <a:ext uri="{FF2B5EF4-FFF2-40B4-BE49-F238E27FC236}">
                <a16:creationId xmlns:a16="http://schemas.microsoft.com/office/drawing/2014/main" id="{F4884FF3-4513-DCDD-5E66-DD28CD7D1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709" y="3634169"/>
            <a:ext cx="1256224" cy="457200"/>
          </a:xfrm>
          <a:prstGeom prst="wedgeRectCallout">
            <a:avLst>
              <a:gd name="adj1" fmla="val -140226"/>
              <a:gd name="adj2" fmla="val -112222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sym typeface="+mn-ea"/>
              </a:rPr>
              <a:t>自变量</a:t>
            </a:r>
            <a:endParaRPr lang="zh-CN" altLang="en-US" sz="2800" b="1" dirty="0">
              <a:ea typeface="宋体" panose="02010600030101010101" pitchFamily="2" charset="-122"/>
            </a:endParaRPr>
          </a:p>
        </p:txBody>
      </p:sp>
      <p:sp>
        <p:nvSpPr>
          <p:cNvPr id="31" name="AutoShape 7">
            <a:extLst>
              <a:ext uri="{FF2B5EF4-FFF2-40B4-BE49-F238E27FC236}">
                <a16:creationId xmlns:a16="http://schemas.microsoft.com/office/drawing/2014/main" id="{CA99BB6C-E370-4FC6-912B-E4ACF3DD9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3821" y="2382884"/>
            <a:ext cx="1256224" cy="457200"/>
          </a:xfrm>
          <a:prstGeom prst="wedgeRectCallout">
            <a:avLst>
              <a:gd name="adj1" fmla="val -85634"/>
              <a:gd name="adj2" fmla="val 62778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sym typeface="+mn-ea"/>
              </a:rPr>
              <a:t>定义域</a:t>
            </a:r>
            <a:endParaRPr lang="zh-CN" altLang="en-US" sz="2800" b="1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612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8" grpId="0"/>
      <p:bldP spid="9" grpId="0"/>
      <p:bldP spid="10" grpId="0"/>
      <p:bldP spid="11" grpId="0"/>
      <p:bldP spid="15" grpId="0"/>
      <p:bldP spid="16" grpId="0"/>
      <p:bldP spid="17" grpId="0"/>
      <p:bldP spid="18" grpId="0"/>
      <p:bldP spid="19" grpId="0" animBg="1"/>
      <p:bldP spid="20" grpId="0"/>
      <p:bldP spid="29" grpId="0" animBg="1"/>
      <p:bldP spid="30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C284EC7-C077-78BA-3125-111FC5B8A539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45AFE23B-AFCF-30CA-1333-25C9E95589E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07A6D96-81C1-5544-91BC-EDB194CA771B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8D80F602-D148-3528-E129-D3C316FEA84D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F38042B0-5C22-B7E9-7D29-0E9150C2B15E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A184A77D-842F-6B99-4EEA-34584C41BA35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96">
                <a:extLst>
                  <a:ext uri="{FF2B5EF4-FFF2-40B4-BE49-F238E27FC236}">
                    <a16:creationId xmlns:a16="http://schemas.microsoft.com/office/drawing/2014/main" id="{62222CEB-B117-9576-544D-5312A8E16C85}"/>
                  </a:ext>
                </a:extLst>
              </p:cNvPr>
              <p:cNvSpPr txBox="1"/>
              <p:nvPr/>
            </p:nvSpPr>
            <p:spPr bwMode="auto">
              <a:xfrm>
                <a:off x="2471739" y="1041400"/>
                <a:ext cx="5300662" cy="5540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𝒇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7" name="Object 96">
                <a:extLst>
                  <a:ext uri="{FF2B5EF4-FFF2-40B4-BE49-F238E27FC236}">
                    <a16:creationId xmlns:a16="http://schemas.microsoft.com/office/drawing/2014/main" id="{62222CEB-B117-9576-544D-5312A8E16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1739" y="1041400"/>
                <a:ext cx="5300662" cy="5540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Box 98">
            <a:extLst>
              <a:ext uri="{FF2B5EF4-FFF2-40B4-BE49-F238E27FC236}">
                <a16:creationId xmlns:a16="http://schemas.microsoft.com/office/drawing/2014/main" id="{A994279D-8912-C408-5C34-A0072A26B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5650" y="1943100"/>
            <a:ext cx="10207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极限</a:t>
            </a:r>
            <a:r>
              <a:rPr kumimoji="1" lang="en-US" altLang="zh-CN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zh-CN" altLang="en-US" sz="2800" b="1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99">
            <a:extLst>
              <a:ext uri="{FF2B5EF4-FFF2-40B4-BE49-F238E27FC236}">
                <a16:creationId xmlns:a16="http://schemas.microsoft.com/office/drawing/2014/main" id="{AE771D22-716A-148C-65E8-CBA5B87B4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5651" y="2905125"/>
            <a:ext cx="10207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连续</a:t>
            </a:r>
            <a:r>
              <a:rPr kumimoji="1" lang="en-US" altLang="zh-CN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zh-CN" altLang="en-US" sz="2800" b="1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Text Box 100">
            <a:extLst>
              <a:ext uri="{FF2B5EF4-FFF2-40B4-BE49-F238E27FC236}">
                <a16:creationId xmlns:a16="http://schemas.microsoft.com/office/drawing/2014/main" id="{0452E00F-0324-F3D3-B44B-B4D7D2420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5651" y="3790950"/>
            <a:ext cx="10207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导数</a:t>
            </a:r>
            <a:r>
              <a:rPr kumimoji="1" lang="en-US" altLang="zh-CN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zh-CN" altLang="en-US" sz="2800" b="1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102">
                <a:extLst>
                  <a:ext uri="{FF2B5EF4-FFF2-40B4-BE49-F238E27FC236}">
                    <a16:creationId xmlns:a16="http://schemas.microsoft.com/office/drawing/2014/main" id="{F8C7BEE3-138C-AF5D-7F77-3697EE822BE6}"/>
                  </a:ext>
                </a:extLst>
              </p:cNvPr>
              <p:cNvSpPr txBox="1"/>
              <p:nvPr/>
            </p:nvSpPr>
            <p:spPr bwMode="auto">
              <a:xfrm>
                <a:off x="3046413" y="1943101"/>
                <a:ext cx="7291388" cy="644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kumimoji="1" lang="zh-CN" altLang="en-US" sz="2800" b="1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𝒇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), 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), 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Object 102">
                <a:extLst>
                  <a:ext uri="{FF2B5EF4-FFF2-40B4-BE49-F238E27FC236}">
                    <a16:creationId xmlns:a16="http://schemas.microsoft.com/office/drawing/2014/main" id="{F8C7BEE3-138C-AF5D-7F77-3697EE822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6413" y="1943101"/>
                <a:ext cx="7291388" cy="644525"/>
              </a:xfrm>
              <a:prstGeom prst="rect">
                <a:avLst/>
              </a:prstGeom>
              <a:blipFill>
                <a:blip r:embed="rId5"/>
                <a:stretch>
                  <a:fillRect b="-19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105">
                <a:extLst>
                  <a:ext uri="{FF2B5EF4-FFF2-40B4-BE49-F238E27FC236}">
                    <a16:creationId xmlns:a16="http://schemas.microsoft.com/office/drawing/2014/main" id="{06C07ECE-4F0D-F339-867D-305F60FA58DB}"/>
                  </a:ext>
                </a:extLst>
              </p:cNvPr>
              <p:cNvSpPr txBox="1"/>
              <p:nvPr/>
            </p:nvSpPr>
            <p:spPr bwMode="auto">
              <a:xfrm>
                <a:off x="3046412" y="2906947"/>
                <a:ext cx="2884488" cy="644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kumimoji="1" lang="zh-CN" altLang="en-US" sz="2800" b="1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𝒇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2" name="Object 105">
                <a:extLst>
                  <a:ext uri="{FF2B5EF4-FFF2-40B4-BE49-F238E27FC236}">
                    <a16:creationId xmlns:a16="http://schemas.microsoft.com/office/drawing/2014/main" id="{06C07ECE-4F0D-F339-867D-305F60FA5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6412" y="2906947"/>
                <a:ext cx="2884488" cy="644525"/>
              </a:xfrm>
              <a:prstGeom prst="rect">
                <a:avLst/>
              </a:prstGeom>
              <a:blipFill>
                <a:blip r:embed="rId6"/>
                <a:stretch>
                  <a:fillRect b="-94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109">
                <a:extLst>
                  <a:ext uri="{FF2B5EF4-FFF2-40B4-BE49-F238E27FC236}">
                    <a16:creationId xmlns:a16="http://schemas.microsoft.com/office/drawing/2014/main" id="{47490BF7-9999-6D51-50D6-25510EDFAA01}"/>
                  </a:ext>
                </a:extLst>
              </p:cNvPr>
              <p:cNvSpPr txBox="1"/>
              <p:nvPr/>
            </p:nvSpPr>
            <p:spPr bwMode="auto">
              <a:xfrm>
                <a:off x="3046412" y="3804569"/>
                <a:ext cx="4725989" cy="5048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zh-CN" altLang="en-US" sz="2800" b="1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𝒇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), </m:t>
                      </m:r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), </m:t>
                      </m:r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" name="Object 109">
                <a:extLst>
                  <a:ext uri="{FF2B5EF4-FFF2-40B4-BE49-F238E27FC236}">
                    <a16:creationId xmlns:a16="http://schemas.microsoft.com/office/drawing/2014/main" id="{47490BF7-9999-6D51-50D6-25510EDFA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6412" y="3804569"/>
                <a:ext cx="4725989" cy="5048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112">
                <a:extLst>
                  <a:ext uri="{FF2B5EF4-FFF2-40B4-BE49-F238E27FC236}">
                    <a16:creationId xmlns:a16="http://schemas.microsoft.com/office/drawing/2014/main" id="{D3E59BD9-CD8F-00E6-351A-09B0F0F5BAEE}"/>
                  </a:ext>
                </a:extLst>
              </p:cNvPr>
              <p:cNvSpPr txBox="1"/>
              <p:nvPr/>
            </p:nvSpPr>
            <p:spPr bwMode="auto">
              <a:xfrm>
                <a:off x="3046413" y="4635023"/>
                <a:ext cx="5208588" cy="9477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zh-CN" altLang="en-US" sz="2800" b="1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𝒇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 b="1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𝒇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kumimoji="1" lang="zh-CN" altLang="en-US" sz="2800" b="1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𝒇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4" name="Object 112">
                <a:extLst>
                  <a:ext uri="{FF2B5EF4-FFF2-40B4-BE49-F238E27FC236}">
                    <a16:creationId xmlns:a16="http://schemas.microsoft.com/office/drawing/2014/main" id="{D3E59BD9-CD8F-00E6-351A-09B0F0F5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6413" y="4635023"/>
                <a:ext cx="5208588" cy="9477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 Box 117">
            <a:extLst>
              <a:ext uri="{FF2B5EF4-FFF2-40B4-BE49-F238E27FC236}">
                <a16:creationId xmlns:a16="http://schemas.microsoft.com/office/drawing/2014/main" id="{5EC18345-E55A-F8CF-D0A8-5547BB924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5650" y="1025525"/>
            <a:ext cx="60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36" name="Text Box 118">
            <a:extLst>
              <a:ext uri="{FF2B5EF4-FFF2-40B4-BE49-F238E27FC236}">
                <a16:creationId xmlns:a16="http://schemas.microsoft.com/office/drawing/2014/main" id="{60751FE8-A7C6-4E84-9AA1-EE9D2CE40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3975" y="1050692"/>
            <a:ext cx="1219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</a:p>
        </p:txBody>
      </p:sp>
    </p:spTree>
    <p:extLst>
      <p:ext uri="{BB962C8B-B14F-4D97-AF65-F5344CB8AC3E}">
        <p14:creationId xmlns:p14="http://schemas.microsoft.com/office/powerpoint/2010/main" val="103817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194">
                <a:extLst>
                  <a:ext uri="{FF2B5EF4-FFF2-40B4-BE49-F238E27FC236}">
                    <a16:creationId xmlns:a16="http://schemas.microsoft.com/office/drawing/2014/main" id="{51E285D4-C167-B102-0018-F16797ACE3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2952" y="1167845"/>
                <a:ext cx="4724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设 </a:t>
                </a:r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𝒖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𝒗</m:t>
                    </m:r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是可导向量值函数</a:t>
                </a:r>
                <a14:m>
                  <m:oMath xmlns:m="http://schemas.openxmlformats.org/officeDocument/2006/math">
                    <m:r>
                      <a:rPr kumimoji="1" lang="en-US" altLang="zh-CN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 Box 194">
                <a:extLst>
                  <a:ext uri="{FF2B5EF4-FFF2-40B4-BE49-F238E27FC236}">
                    <a16:creationId xmlns:a16="http://schemas.microsoft.com/office/drawing/2014/main" id="{51E285D4-C167-B102-0018-F16797ACE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2952" y="1167845"/>
                <a:ext cx="4724400" cy="523220"/>
              </a:xfrm>
              <a:prstGeom prst="rect">
                <a:avLst/>
              </a:prstGeom>
              <a:blipFill>
                <a:blip r:embed="rId3"/>
                <a:stretch>
                  <a:fillRect l="-2710" t="-16471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195">
            <a:extLst>
              <a:ext uri="{FF2B5EF4-FFF2-40B4-BE49-F238E27FC236}">
                <a16:creationId xmlns:a16="http://schemas.microsoft.com/office/drawing/2014/main" id="{87DEA18B-AD66-F001-B015-8F9D7A78D146}"/>
              </a:ext>
            </a:extLst>
          </p:cNvPr>
          <p:cNvGrpSpPr>
            <a:grpSpLocks/>
          </p:cNvGrpSpPr>
          <p:nvPr/>
        </p:nvGrpSpPr>
        <p:grpSpPr bwMode="auto">
          <a:xfrm>
            <a:off x="2142952" y="1771095"/>
            <a:ext cx="3205164" cy="547688"/>
            <a:chOff x="144" y="904"/>
            <a:chExt cx="2019" cy="3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bject 196">
                  <a:extLst>
                    <a:ext uri="{FF2B5EF4-FFF2-40B4-BE49-F238E27FC236}">
                      <a16:creationId xmlns:a16="http://schemas.microsoft.com/office/drawing/2014/main" id="{3D1BFAAB-AFDC-BC75-8F14-4D13B83EA121}"/>
                    </a:ext>
                  </a:extLst>
                </p:cNvPr>
                <p:cNvSpPr txBox="1"/>
                <p:nvPr/>
              </p:nvSpPr>
              <p:spPr bwMode="auto">
                <a:xfrm>
                  <a:off x="144" y="904"/>
                  <a:ext cx="558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𝜑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8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" name="Object 196">
                  <a:extLst>
                    <a:ext uri="{FF2B5EF4-FFF2-40B4-BE49-F238E27FC236}">
                      <a16:creationId xmlns:a16="http://schemas.microsoft.com/office/drawing/2014/main" id="{3D1BFAAB-AFDC-BC75-8F14-4D13B83EA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4" y="904"/>
                  <a:ext cx="558" cy="3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 Box 197">
                  <a:extLst>
                    <a:ext uri="{FF2B5EF4-FFF2-40B4-BE49-F238E27FC236}">
                      <a16:creationId xmlns:a16="http://schemas.microsoft.com/office/drawing/2014/main" id="{0A7253B3-5E7F-E9B2-385F-39D96E4BC9B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94" y="919"/>
                  <a:ext cx="1569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800" dirty="0">
                      <a:latin typeface="黑体" panose="02010609060101010101" pitchFamily="49" charset="-122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是可导函数</a:t>
                  </a:r>
                  <a14:m>
                    <m:oMath xmlns:m="http://schemas.openxmlformats.org/officeDocument/2006/math"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</m:oMath>
                  </a14:m>
                  <a:r>
                    <a:rPr lang="zh-CN" altLang="en-US" sz="2800" dirty="0">
                      <a:latin typeface="黑体" panose="02010609060101010101" pitchFamily="49" charset="-122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则</a:t>
                  </a:r>
                </a:p>
              </p:txBody>
            </p:sp>
          </mc:Choice>
          <mc:Fallback xmlns="">
            <p:sp>
              <p:nvSpPr>
                <p:cNvPr id="5" name="Text Box 197">
                  <a:extLst>
                    <a:ext uri="{FF2B5EF4-FFF2-40B4-BE49-F238E27FC236}">
                      <a16:creationId xmlns:a16="http://schemas.microsoft.com/office/drawing/2014/main" id="{0A7253B3-5E7F-E9B2-385F-39D96E4BC9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4" y="919"/>
                  <a:ext cx="1569" cy="330"/>
                </a:xfrm>
                <a:prstGeom prst="rect">
                  <a:avLst/>
                </a:prstGeom>
                <a:blipFill>
                  <a:blip r:embed="rId5"/>
                  <a:stretch>
                    <a:fillRect l="-5147" t="-13953" r="-4167" b="-2907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99">
                <a:extLst>
                  <a:ext uri="{FF2B5EF4-FFF2-40B4-BE49-F238E27FC236}">
                    <a16:creationId xmlns:a16="http://schemas.microsoft.com/office/drawing/2014/main" id="{2D8F5863-EB97-DB2F-BC35-489605191E5A}"/>
                  </a:ext>
                </a:extLst>
              </p:cNvPr>
              <p:cNvSpPr txBox="1"/>
              <p:nvPr/>
            </p:nvSpPr>
            <p:spPr bwMode="auto">
              <a:xfrm>
                <a:off x="3258005" y="2341009"/>
                <a:ext cx="46228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(1)  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  <m:r>
                        <a:rPr kumimoji="1" lang="en-US" altLang="zh-CN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𝑪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𝟎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199">
                <a:extLst>
                  <a:ext uri="{FF2B5EF4-FFF2-40B4-BE49-F238E27FC236}">
                    <a16:creationId xmlns:a16="http://schemas.microsoft.com/office/drawing/2014/main" id="{2D8F5863-EB97-DB2F-BC35-489605191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8005" y="2341009"/>
                <a:ext cx="4622800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03">
                <a:extLst>
                  <a:ext uri="{FF2B5EF4-FFF2-40B4-BE49-F238E27FC236}">
                    <a16:creationId xmlns:a16="http://schemas.microsoft.com/office/drawing/2014/main" id="{72A2231A-AD3D-B571-F97F-C6A496C7AD4E}"/>
                  </a:ext>
                </a:extLst>
              </p:cNvPr>
              <p:cNvSpPr txBox="1"/>
              <p:nvPr/>
            </p:nvSpPr>
            <p:spPr bwMode="auto">
              <a:xfrm>
                <a:off x="3258005" y="3363912"/>
                <a:ext cx="5386635" cy="9159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(2)  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[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𝑐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𝒖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)]=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𝑐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𝒖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);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203">
                <a:extLst>
                  <a:ext uri="{FF2B5EF4-FFF2-40B4-BE49-F238E27FC236}">
                    <a16:creationId xmlns:a16="http://schemas.microsoft.com/office/drawing/2014/main" id="{72A2231A-AD3D-B571-F97F-C6A496C7A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8005" y="3363912"/>
                <a:ext cx="5386635" cy="9159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07">
                <a:extLst>
                  <a:ext uri="{FF2B5EF4-FFF2-40B4-BE49-F238E27FC236}">
                    <a16:creationId xmlns:a16="http://schemas.microsoft.com/office/drawing/2014/main" id="{5079C356-F786-232E-924A-E20B52B1608E}"/>
                  </a:ext>
                </a:extLst>
              </p:cNvPr>
              <p:cNvSpPr txBox="1"/>
              <p:nvPr/>
            </p:nvSpPr>
            <p:spPr bwMode="auto">
              <a:xfrm>
                <a:off x="3258005" y="4378878"/>
                <a:ext cx="6914308" cy="9159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(3)  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1" lang="en-US" altLang="zh-CN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𝒖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)±</m:t>
                      </m:r>
                      <m:r>
                        <a:rPr kumimoji="1" lang="en-US" altLang="zh-CN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𝒗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𝒖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)±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𝒗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);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Object 207">
                <a:extLst>
                  <a:ext uri="{FF2B5EF4-FFF2-40B4-BE49-F238E27FC236}">
                    <a16:creationId xmlns:a16="http://schemas.microsoft.com/office/drawing/2014/main" id="{5079C356-F786-232E-924A-E20B52B16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8005" y="4378878"/>
                <a:ext cx="6914308" cy="9159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213">
                <a:extLst>
                  <a:ext uri="{FF2B5EF4-FFF2-40B4-BE49-F238E27FC236}">
                    <a16:creationId xmlns:a16="http://schemas.microsoft.com/office/drawing/2014/main" id="{74F360CC-72EB-908A-41C4-6A146A8A083A}"/>
                  </a:ext>
                </a:extLst>
              </p:cNvPr>
              <p:cNvSpPr txBox="1"/>
              <p:nvPr/>
            </p:nvSpPr>
            <p:spPr bwMode="auto">
              <a:xfrm>
                <a:off x="3258005" y="5370514"/>
                <a:ext cx="7546860" cy="9159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(4)  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[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𝒖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)]=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𝒖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)+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𝒖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);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213">
                <a:extLst>
                  <a:ext uri="{FF2B5EF4-FFF2-40B4-BE49-F238E27FC236}">
                    <a16:creationId xmlns:a16="http://schemas.microsoft.com/office/drawing/2014/main" id="{74F360CC-72EB-908A-41C4-6A146A8A0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8005" y="5370514"/>
                <a:ext cx="7546860" cy="9159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235">
                <a:extLst>
                  <a:ext uri="{FF2B5EF4-FFF2-40B4-BE49-F238E27FC236}">
                    <a16:creationId xmlns:a16="http://schemas.microsoft.com/office/drawing/2014/main" id="{926D0BA3-46F5-C023-5A88-013A9D5655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93123" y="1169433"/>
                <a:ext cx="200381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𝑪</m:t>
                    </m:r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是常向量</a:t>
                </a:r>
                <a14:m>
                  <m:oMath xmlns:m="http://schemas.openxmlformats.org/officeDocument/2006/math">
                    <m:r>
                      <a:rPr kumimoji="1" lang="en-US" altLang="zh-CN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 Box 235">
                <a:extLst>
                  <a:ext uri="{FF2B5EF4-FFF2-40B4-BE49-F238E27FC236}">
                    <a16:creationId xmlns:a16="http://schemas.microsoft.com/office/drawing/2014/main" id="{926D0BA3-46F5-C023-5A88-013A9D565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3123" y="1169433"/>
                <a:ext cx="2003818" cy="523220"/>
              </a:xfrm>
              <a:prstGeom prst="rect">
                <a:avLst/>
              </a:prstGeom>
              <a:blipFill>
                <a:blip r:embed="rId10"/>
                <a:stretch>
                  <a:fillRect t="-16279" r="-1220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236">
                <a:extLst>
                  <a:ext uri="{FF2B5EF4-FFF2-40B4-BE49-F238E27FC236}">
                    <a16:creationId xmlns:a16="http://schemas.microsoft.com/office/drawing/2014/main" id="{D0A30FF5-3205-58BE-4982-258B97DCEA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82931" y="1164670"/>
                <a:ext cx="231826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𝑐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是任一常数</a:t>
                </a:r>
                <a14:m>
                  <m:oMath xmlns:m="http://schemas.openxmlformats.org/officeDocument/2006/math">
                    <m:r>
                      <a:rPr kumimoji="1" lang="en-US" altLang="zh-CN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 Box 236">
                <a:extLst>
                  <a:ext uri="{FF2B5EF4-FFF2-40B4-BE49-F238E27FC236}">
                    <a16:creationId xmlns:a16="http://schemas.microsoft.com/office/drawing/2014/main" id="{D0A30FF5-3205-58BE-4982-258B97DCE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82931" y="1164670"/>
                <a:ext cx="2318263" cy="523220"/>
              </a:xfrm>
              <a:prstGeom prst="rect">
                <a:avLst/>
              </a:prstGeom>
              <a:blipFill>
                <a:blip r:embed="rId11"/>
                <a:stretch>
                  <a:fillRect t="-15116" r="-78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2">
            <a:extLst>
              <a:ext uri="{FF2B5EF4-FFF2-40B4-BE49-F238E27FC236}">
                <a16:creationId xmlns:a16="http://schemas.microsoft.com/office/drawing/2014/main" id="{62326268-1641-B71E-E6D2-334715474C43}"/>
              </a:ext>
            </a:extLst>
          </p:cNvPr>
          <p:cNvSpPr txBox="1">
            <a:spLocks noChangeArrowheads="1"/>
          </p:cNvSpPr>
          <p:nvPr/>
        </p:nvSpPr>
        <p:spPr>
          <a:xfrm>
            <a:off x="1622597" y="556657"/>
            <a:ext cx="5177123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向量值函数的导数运算法则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895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  <p:bldP spid="10" grpId="0"/>
      <p:bldP spid="11" grpId="0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177165" y="1306830"/>
            <a:ext cx="11837670" cy="4287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64">
                <a:extLst>
                  <a:ext uri="{FF2B5EF4-FFF2-40B4-BE49-F238E27FC236}">
                    <a16:creationId xmlns:a16="http://schemas.microsoft.com/office/drawing/2014/main" id="{A68F0229-0E1F-B5D8-0587-2E5CF50BED38}"/>
                  </a:ext>
                </a:extLst>
              </p:cNvPr>
              <p:cNvSpPr txBox="1"/>
              <p:nvPr/>
            </p:nvSpPr>
            <p:spPr bwMode="auto">
              <a:xfrm>
                <a:off x="2170112" y="1759268"/>
                <a:ext cx="7611103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(5)  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[</m:t>
                      </m:r>
                      <m:r>
                        <a:rPr kumimoji="1" lang="en-US" altLang="zh-CN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𝒖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)⋅</m:t>
                      </m:r>
                      <m:r>
                        <a:rPr kumimoji="1" lang="en-US" altLang="zh-CN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𝒗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)]=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𝒖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)⋅</m:t>
                      </m:r>
                      <m:r>
                        <a:rPr kumimoji="1" lang="en-US" altLang="zh-CN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𝒗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)+</m:t>
                      </m:r>
                      <m:r>
                        <a:rPr kumimoji="1" lang="en-US" altLang="zh-CN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𝒖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)⋅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𝒗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);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" name="Object 64">
                <a:extLst>
                  <a:ext uri="{FF2B5EF4-FFF2-40B4-BE49-F238E27FC236}">
                    <a16:creationId xmlns:a16="http://schemas.microsoft.com/office/drawing/2014/main" id="{A68F0229-0E1F-B5D8-0587-2E5CF50BE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0112" y="1759268"/>
                <a:ext cx="7611103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72">
                <a:extLst>
                  <a:ext uri="{FF2B5EF4-FFF2-40B4-BE49-F238E27FC236}">
                    <a16:creationId xmlns:a16="http://schemas.microsoft.com/office/drawing/2014/main" id="{4DFB875E-C85F-2106-2CD5-ED4F50D733CD}"/>
                  </a:ext>
                </a:extLst>
              </p:cNvPr>
              <p:cNvSpPr txBox="1"/>
              <p:nvPr/>
            </p:nvSpPr>
            <p:spPr bwMode="auto">
              <a:xfrm>
                <a:off x="2170112" y="2943543"/>
                <a:ext cx="8387051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(6)  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[</m:t>
                      </m:r>
                      <m:r>
                        <a:rPr kumimoji="1" lang="en-US" altLang="zh-CN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𝒖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)×</m:t>
                      </m:r>
                      <m:r>
                        <a:rPr kumimoji="1" lang="en-US" altLang="zh-CN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𝒗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)]=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𝒖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)×</m:t>
                      </m:r>
                      <m:r>
                        <a:rPr kumimoji="1" lang="en-US" altLang="zh-CN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𝒗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)+</m:t>
                      </m:r>
                      <m:r>
                        <a:rPr kumimoji="1" lang="en-US" altLang="zh-CN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𝒖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)×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𝒗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);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72">
                <a:extLst>
                  <a:ext uri="{FF2B5EF4-FFF2-40B4-BE49-F238E27FC236}">
                    <a16:creationId xmlns:a16="http://schemas.microsoft.com/office/drawing/2014/main" id="{4DFB875E-C85F-2106-2CD5-ED4F50D73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0112" y="2943543"/>
                <a:ext cx="8387051" cy="88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80">
                <a:extLst>
                  <a:ext uri="{FF2B5EF4-FFF2-40B4-BE49-F238E27FC236}">
                    <a16:creationId xmlns:a16="http://schemas.microsoft.com/office/drawing/2014/main" id="{695D44A8-159D-4013-9A57-A6DAC65DBCAA}"/>
                  </a:ext>
                </a:extLst>
              </p:cNvPr>
              <p:cNvSpPr txBox="1"/>
              <p:nvPr/>
            </p:nvSpPr>
            <p:spPr bwMode="auto">
              <a:xfrm>
                <a:off x="2170112" y="4127818"/>
                <a:ext cx="5211763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(7)  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  <m:r>
                        <a:rPr kumimoji="1" lang="en-US" altLang="zh-CN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𝒖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𝒖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Object 80">
                <a:extLst>
                  <a:ext uri="{FF2B5EF4-FFF2-40B4-BE49-F238E27FC236}">
                    <a16:creationId xmlns:a16="http://schemas.microsoft.com/office/drawing/2014/main" id="{695D44A8-159D-4013-9A57-A6DAC65DB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0112" y="4127818"/>
                <a:ext cx="5211763" cy="889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88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00">
                <a:extLst>
                  <a:ext uri="{FF2B5EF4-FFF2-40B4-BE49-F238E27FC236}">
                    <a16:creationId xmlns:a16="http://schemas.microsoft.com/office/drawing/2014/main" id="{E48A3DDB-0B4B-E2AA-48C9-64D115A2DF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1190" y="1524000"/>
                <a:ext cx="20193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r>
                          <a:rPr kumimoji="1" lang="zh-CN" altLang="en-US" sz="280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𝐑</m:t>
                        </m:r>
                      </m:e>
                      <m: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中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</a:p>
            </p:txBody>
          </p:sp>
        </mc:Choice>
        <mc:Fallback xmlns="">
          <p:sp>
            <p:nvSpPr>
              <p:cNvPr id="13" name="Text Box 100">
                <a:extLst>
                  <a:ext uri="{FF2B5EF4-FFF2-40B4-BE49-F238E27FC236}">
                    <a16:creationId xmlns:a16="http://schemas.microsoft.com/office/drawing/2014/main" id="{E48A3DDB-0B4B-E2AA-48C9-64D115A2D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1190" y="1524000"/>
                <a:ext cx="2019300" cy="523220"/>
              </a:xfrm>
              <a:prstGeom prst="rect">
                <a:avLst/>
              </a:prstGeom>
              <a:blipFill>
                <a:blip r:embed="rId3"/>
                <a:stretch>
                  <a:fillRect l="-6344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02">
                <a:extLst>
                  <a:ext uri="{FF2B5EF4-FFF2-40B4-BE49-F238E27FC236}">
                    <a16:creationId xmlns:a16="http://schemas.microsoft.com/office/drawing/2014/main" id="{9CE0C60A-A3C4-1922-365A-AF07DAFBA2DE}"/>
                  </a:ext>
                </a:extLst>
              </p:cNvPr>
              <p:cNvSpPr txBox="1"/>
              <p:nvPr/>
            </p:nvSpPr>
            <p:spPr bwMode="auto">
              <a:xfrm>
                <a:off x="3728210" y="1498659"/>
                <a:ext cx="3159628" cy="6128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𝒓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b="1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𝒇</m:t>
                      </m:r>
                      <m:d>
                        <m:d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zh-CN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∈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𝐷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Object 102">
                <a:extLst>
                  <a:ext uri="{FF2B5EF4-FFF2-40B4-BE49-F238E27FC236}">
                    <a16:creationId xmlns:a16="http://schemas.microsoft.com/office/drawing/2014/main" id="{9CE0C60A-A3C4-1922-365A-AF07DAFBA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28210" y="1498659"/>
                <a:ext cx="3159628" cy="6128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05">
                <a:extLst>
                  <a:ext uri="{FF2B5EF4-FFF2-40B4-BE49-F238E27FC236}">
                    <a16:creationId xmlns:a16="http://schemas.microsoft.com/office/drawing/2014/main" id="{73ABEE28-3484-C03C-65C2-AF15E5DE3B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56195" y="1524983"/>
                <a:ext cx="353426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的终端曲线为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𝛤</m:t>
                    </m:r>
                    <m:r>
                      <a:rPr kumimoji="1" lang="en-US" altLang="zh-CN" sz="280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en-US" altLang="zh-CN" sz="2800" i="1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 Box 105">
                <a:extLst>
                  <a:ext uri="{FF2B5EF4-FFF2-40B4-BE49-F238E27FC236}">
                    <a16:creationId xmlns:a16="http://schemas.microsoft.com/office/drawing/2014/main" id="{73ABEE28-3484-C03C-65C2-AF15E5DE3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56195" y="1524983"/>
                <a:ext cx="3534269" cy="523220"/>
              </a:xfrm>
              <a:prstGeom prst="rect">
                <a:avLst/>
              </a:prstGeom>
              <a:blipFill>
                <a:blip r:embed="rId5"/>
                <a:stretch>
                  <a:fillRect l="-3448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07">
                <a:extLst>
                  <a:ext uri="{FF2B5EF4-FFF2-40B4-BE49-F238E27FC236}">
                    <a16:creationId xmlns:a16="http://schemas.microsoft.com/office/drawing/2014/main" id="{968D182D-DD2A-D943-2DE6-DC6843B30D1F}"/>
                  </a:ext>
                </a:extLst>
              </p:cNvPr>
              <p:cNvSpPr txBox="1"/>
              <p:nvPr/>
            </p:nvSpPr>
            <p:spPr bwMode="auto">
              <a:xfrm>
                <a:off x="1954162" y="2301875"/>
                <a:ext cx="5198359" cy="6127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pos m:val="top"/>
                          <m:vertJc m:val="bot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𝑂𝑀</m:t>
                          </m:r>
                        </m:e>
                      </m:groupCh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𝒇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  </m:t>
                      </m:r>
                      <m:groupChr>
                        <m:groupChrPr>
                          <m:chr m:val="→"/>
                          <m:pos m:val="top"/>
                          <m:vertJc m:val="bot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groupCh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𝒇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Δ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Object 107">
                <a:extLst>
                  <a:ext uri="{FF2B5EF4-FFF2-40B4-BE49-F238E27FC236}">
                    <a16:creationId xmlns:a16="http://schemas.microsoft.com/office/drawing/2014/main" id="{968D182D-DD2A-D943-2DE6-DC6843B30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54162" y="2301875"/>
                <a:ext cx="5198359" cy="6127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13">
                <a:extLst>
                  <a:ext uri="{FF2B5EF4-FFF2-40B4-BE49-F238E27FC236}">
                    <a16:creationId xmlns:a16="http://schemas.microsoft.com/office/drawing/2014/main" id="{B656E4AC-C5FF-F503-520C-2BE0A2908B66}"/>
                  </a:ext>
                </a:extLst>
              </p:cNvPr>
              <p:cNvSpPr txBox="1"/>
              <p:nvPr/>
            </p:nvSpPr>
            <p:spPr bwMode="auto">
              <a:xfrm>
                <a:off x="1920507" y="3121026"/>
                <a:ext cx="4133852" cy="5238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Δ</m:t>
                      </m:r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𝒓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𝒇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Δ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)−</m:t>
                      </m:r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𝒇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0" name="Object 113">
                <a:extLst>
                  <a:ext uri="{FF2B5EF4-FFF2-40B4-BE49-F238E27FC236}">
                    <a16:creationId xmlns:a16="http://schemas.microsoft.com/office/drawing/2014/main" id="{B656E4AC-C5FF-F503-520C-2BE0A2908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0507" y="3121026"/>
                <a:ext cx="4133852" cy="5238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18">
                <a:extLst>
                  <a:ext uri="{FF2B5EF4-FFF2-40B4-BE49-F238E27FC236}">
                    <a16:creationId xmlns:a16="http://schemas.microsoft.com/office/drawing/2014/main" id="{46136C69-26B5-D83D-2D7A-F41CA5F0733B}"/>
                  </a:ext>
                </a:extLst>
              </p:cNvPr>
              <p:cNvSpPr txBox="1"/>
              <p:nvPr/>
            </p:nvSpPr>
            <p:spPr bwMode="auto">
              <a:xfrm>
                <a:off x="1915747" y="3803651"/>
                <a:ext cx="2983913" cy="1044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 b="1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𝒓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den>
                          </m:f>
                        </m:e>
                      </m:func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b="1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𝒇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1" name="Object 118">
                <a:extLst>
                  <a:ext uri="{FF2B5EF4-FFF2-40B4-BE49-F238E27FC236}">
                    <a16:creationId xmlns:a16="http://schemas.microsoft.com/office/drawing/2014/main" id="{46136C69-26B5-D83D-2D7A-F41CA5F07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5747" y="3803651"/>
                <a:ext cx="2983913" cy="10445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123">
            <a:extLst>
              <a:ext uri="{FF2B5EF4-FFF2-40B4-BE49-F238E27FC236}">
                <a16:creationId xmlns:a16="http://schemas.microsoft.com/office/drawing/2014/main" id="{FC46FFDB-1423-009A-B599-C2A994E15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7433" y="5559871"/>
            <a:ext cx="27717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增长方向一致</a:t>
            </a:r>
            <a:r>
              <a:rPr kumimoji="1"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126">
                <a:extLst>
                  <a:ext uri="{FF2B5EF4-FFF2-40B4-BE49-F238E27FC236}">
                    <a16:creationId xmlns:a16="http://schemas.microsoft.com/office/drawing/2014/main" id="{2C71F2B1-B6E9-9530-5E4C-63F635C26C40}"/>
                  </a:ext>
                </a:extLst>
              </p:cNvPr>
              <p:cNvSpPr txBox="1"/>
              <p:nvPr/>
            </p:nvSpPr>
            <p:spPr bwMode="auto">
              <a:xfrm>
                <a:off x="4695438" y="4916479"/>
                <a:ext cx="1144053" cy="555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b="1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𝒇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3" name="Object 126">
                <a:extLst>
                  <a:ext uri="{FF2B5EF4-FFF2-40B4-BE49-F238E27FC236}">
                    <a16:creationId xmlns:a16="http://schemas.microsoft.com/office/drawing/2014/main" id="{2C71F2B1-B6E9-9530-5E4C-63F635C26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95438" y="4916479"/>
                <a:ext cx="1144053" cy="5556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128">
            <a:extLst>
              <a:ext uri="{FF2B5EF4-FFF2-40B4-BE49-F238E27FC236}">
                <a16:creationId xmlns:a16="http://schemas.microsoft.com/office/drawing/2014/main" id="{AE12BDC2-3352-C377-194E-9F0CA7077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884" y="4897746"/>
            <a:ext cx="4635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30">
                <a:extLst>
                  <a:ext uri="{FF2B5EF4-FFF2-40B4-BE49-F238E27FC236}">
                    <a16:creationId xmlns:a16="http://schemas.microsoft.com/office/drawing/2014/main" id="{F2CA9A74-BC97-5772-7E46-6C852866A50D}"/>
                  </a:ext>
                </a:extLst>
              </p:cNvPr>
              <p:cNvSpPr txBox="1"/>
              <p:nvPr/>
            </p:nvSpPr>
            <p:spPr bwMode="auto">
              <a:xfrm>
                <a:off x="2382645" y="4912986"/>
                <a:ext cx="2004927" cy="546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b="1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𝒇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)≠0 </m:t>
                      </m:r>
                      <m:r>
                        <a:rPr kumimoji="1" lang="en-US" altLang="zh-CN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5" name="Object 130">
                <a:extLst>
                  <a:ext uri="{FF2B5EF4-FFF2-40B4-BE49-F238E27FC236}">
                    <a16:creationId xmlns:a16="http://schemas.microsoft.com/office/drawing/2014/main" id="{F2CA9A74-BC97-5772-7E46-6C852866A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2645" y="4912986"/>
                <a:ext cx="2004927" cy="5461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Box 133">
            <a:extLst>
              <a:ext uri="{FF2B5EF4-FFF2-40B4-BE49-F238E27FC236}">
                <a16:creationId xmlns:a16="http://schemas.microsoft.com/office/drawing/2014/main" id="{147BBBC0-4E81-094E-B2EF-EB812E8BB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096" y="4898698"/>
            <a:ext cx="4635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27" name="Rectangle 167">
            <a:extLst>
              <a:ext uri="{FF2B5EF4-FFF2-40B4-BE49-F238E27FC236}">
                <a16:creationId xmlns:a16="http://schemas.microsoft.com/office/drawing/2014/main" id="{A08E5F60-E191-C177-7D34-DA7B45231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437" y="4907906"/>
            <a:ext cx="16177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表示终端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121">
                <a:extLst>
                  <a:ext uri="{FF2B5EF4-FFF2-40B4-BE49-F238E27FC236}">
                    <a16:creationId xmlns:a16="http://schemas.microsoft.com/office/drawing/2014/main" id="{C4B5A45B-89F2-A7AE-E121-0244D35C0F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21250" y="4923315"/>
                <a:ext cx="360480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曲线在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r>
                          <a:rPr kumimoji="1" lang="zh-CN" altLang="en-US" sz="280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kumimoji="1" lang="zh-CN" altLang="en-US" sz="280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  <m: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处的切向量</a:t>
                </a:r>
                <a14:m>
                  <m:oMath xmlns:m="http://schemas.openxmlformats.org/officeDocument/2006/math">
                    <m:r>
                      <a:rPr kumimoji="1" lang="en-US" altLang="zh-CN" sz="280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 Box 121">
                <a:extLst>
                  <a:ext uri="{FF2B5EF4-FFF2-40B4-BE49-F238E27FC236}">
                    <a16:creationId xmlns:a16="http://schemas.microsoft.com/office/drawing/2014/main" id="{C4B5A45B-89F2-A7AE-E121-0244D35C0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21250" y="4923315"/>
                <a:ext cx="3604807" cy="523220"/>
              </a:xfrm>
              <a:prstGeom prst="rect">
                <a:avLst/>
              </a:prstGeom>
              <a:blipFill>
                <a:blip r:embed="rId11"/>
                <a:stretch>
                  <a:fillRect l="-3378" t="-16471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168">
                <a:extLst>
                  <a:ext uri="{FF2B5EF4-FFF2-40B4-BE49-F238E27FC236}">
                    <a16:creationId xmlns:a16="http://schemas.microsoft.com/office/drawing/2014/main" id="{F86835F9-4235-9B3B-CC39-430AE078B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9125" y="5573503"/>
                <a:ext cx="229692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其指向与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zh-CN" altLang="en-US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𝑡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的</a:t>
                </a:r>
              </a:p>
            </p:txBody>
          </p:sp>
        </mc:Choice>
        <mc:Fallback xmlns="">
          <p:sp>
            <p:nvSpPr>
              <p:cNvPr id="29" name="Rectangle 168">
                <a:extLst>
                  <a:ext uri="{FF2B5EF4-FFF2-40B4-BE49-F238E27FC236}">
                    <a16:creationId xmlns:a16="http://schemas.microsoft.com/office/drawing/2014/main" id="{F86835F9-4235-9B3B-CC39-430AE078B0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9125" y="5573503"/>
                <a:ext cx="2296921" cy="523220"/>
              </a:xfrm>
              <a:prstGeom prst="rect">
                <a:avLst/>
              </a:prstGeom>
              <a:blipFill>
                <a:blip r:embed="rId12"/>
                <a:stretch>
                  <a:fillRect l="-5570" t="-13953" r="-3979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">
            <a:extLst>
              <a:ext uri="{FF2B5EF4-FFF2-40B4-BE49-F238E27FC236}">
                <a16:creationId xmlns:a16="http://schemas.microsoft.com/office/drawing/2014/main" id="{E3420021-6665-64B7-08E3-09EE86D76F2A}"/>
              </a:ext>
            </a:extLst>
          </p:cNvPr>
          <p:cNvSpPr txBox="1">
            <a:spLocks noChangeArrowheads="1"/>
          </p:cNvSpPr>
          <p:nvPr/>
        </p:nvSpPr>
        <p:spPr>
          <a:xfrm>
            <a:off x="1475193" y="756044"/>
            <a:ext cx="6125757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向量值函数的导向量的几何意义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CB9F6EE2-ADFF-0620-B358-58BD20B0051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068" y="2207543"/>
            <a:ext cx="3482907" cy="264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19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/>
      <p:bldP spid="14" grpId="0"/>
      <p:bldP spid="15" grpId="0" build="p" autoUpdateAnimBg="0" advAuto="0"/>
      <p:bldP spid="17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C284EC7-C077-78BA-3125-111FC5B8A539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45AFE23B-AFCF-30CA-1333-25C9E95589E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07A6D96-81C1-5544-91BC-EDB194CA771B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8D80F602-D148-3528-E129-D3C316FEA84D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F38042B0-5C22-B7E9-7D29-0E9150C2B15E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A184A77D-842F-6B99-4EEA-34584C41BA35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8" name="Text Box 102">
            <a:extLst>
              <a:ext uri="{FF2B5EF4-FFF2-40B4-BE49-F238E27FC236}">
                <a16:creationId xmlns:a16="http://schemas.microsoft.com/office/drawing/2014/main" id="{EEF0D78C-2A26-EB5A-7504-2C05BBB36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995" y="2258014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4">
                <a:extLst>
                  <a:ext uri="{FF2B5EF4-FFF2-40B4-BE49-F238E27FC236}">
                    <a16:creationId xmlns:a16="http://schemas.microsoft.com/office/drawing/2014/main" id="{D84F0FC0-ACDF-3D43-C54E-38ED2124D022}"/>
                  </a:ext>
                </a:extLst>
              </p:cNvPr>
              <p:cNvSpPr txBox="1"/>
              <p:nvPr/>
            </p:nvSpPr>
            <p:spPr bwMode="auto">
              <a:xfrm>
                <a:off x="2919095" y="2267369"/>
                <a:ext cx="1752600" cy="4476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𝒓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𝒇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104">
                <a:extLst>
                  <a:ext uri="{FF2B5EF4-FFF2-40B4-BE49-F238E27FC236}">
                    <a16:creationId xmlns:a16="http://schemas.microsoft.com/office/drawing/2014/main" id="{D84F0FC0-ACDF-3D43-C54E-38ED2124D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9095" y="2267369"/>
                <a:ext cx="1752600" cy="447675"/>
              </a:xfrm>
              <a:prstGeom prst="rect">
                <a:avLst/>
              </a:prstGeom>
              <a:blipFill>
                <a:blip r:embed="rId4"/>
                <a:stretch>
                  <a:fillRect b="-68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07">
                <a:extLst>
                  <a:ext uri="{FF2B5EF4-FFF2-40B4-BE49-F238E27FC236}">
                    <a16:creationId xmlns:a16="http://schemas.microsoft.com/office/drawing/2014/main" id="{05DB53B1-3B75-EA2B-974D-A983F4E88F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2595" y="2286589"/>
                <a:ext cx="6400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表示质点沿光滑曲线运动的位置向量</a:t>
                </a:r>
                <a14:m>
                  <m:oMath xmlns:m="http://schemas.openxmlformats.org/officeDocument/2006/math">
                    <m:r>
                      <a:rPr kumimoji="1" lang="en-US" altLang="zh-CN" sz="280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endParaRPr kumimoji="1" lang="en-US" altLang="zh-CN" sz="2800" i="1" dirty="0"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0" name="Text Box 107">
                <a:extLst>
                  <a:ext uri="{FF2B5EF4-FFF2-40B4-BE49-F238E27FC236}">
                    <a16:creationId xmlns:a16="http://schemas.microsoft.com/office/drawing/2014/main" id="{05DB53B1-3B75-EA2B-974D-A983F4E88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2595" y="2286589"/>
                <a:ext cx="6400800" cy="523220"/>
              </a:xfrm>
              <a:prstGeom prst="rect">
                <a:avLst/>
              </a:prstGeom>
              <a:blipFill>
                <a:blip r:embed="rId5"/>
                <a:stretch>
                  <a:fillRect l="-2000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9">
                <a:extLst>
                  <a:ext uri="{FF2B5EF4-FFF2-40B4-BE49-F238E27FC236}">
                    <a16:creationId xmlns:a16="http://schemas.microsoft.com/office/drawing/2014/main" id="{310F47DD-426D-562E-1EB4-89DED20FB8A2}"/>
                  </a:ext>
                </a:extLst>
              </p:cNvPr>
              <p:cNvSpPr txBox="1"/>
              <p:nvPr/>
            </p:nvSpPr>
            <p:spPr bwMode="auto">
              <a:xfrm>
                <a:off x="4718050" y="3637074"/>
                <a:ext cx="2310836" cy="4841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𝒗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b="1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𝒇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Object 109">
                <a:extLst>
                  <a:ext uri="{FF2B5EF4-FFF2-40B4-BE49-F238E27FC236}">
                    <a16:creationId xmlns:a16="http://schemas.microsoft.com/office/drawing/2014/main" id="{310F47DD-426D-562E-1EB4-89DED20FB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18050" y="3637074"/>
                <a:ext cx="2310836" cy="4841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13">
                <a:extLst>
                  <a:ext uri="{FF2B5EF4-FFF2-40B4-BE49-F238E27FC236}">
                    <a16:creationId xmlns:a16="http://schemas.microsoft.com/office/drawing/2014/main" id="{1F22CC5D-EB4E-EBC5-1DC9-6525D30CDDA7}"/>
                  </a:ext>
                </a:extLst>
              </p:cNvPr>
              <p:cNvSpPr txBox="1"/>
              <p:nvPr/>
            </p:nvSpPr>
            <p:spPr bwMode="auto">
              <a:xfrm>
                <a:off x="4565522" y="4396257"/>
                <a:ext cx="1971758" cy="4476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𝒂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b="1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𝒗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113">
                <a:extLst>
                  <a:ext uri="{FF2B5EF4-FFF2-40B4-BE49-F238E27FC236}">
                    <a16:creationId xmlns:a16="http://schemas.microsoft.com/office/drawing/2014/main" id="{1F22CC5D-EB4E-EBC5-1DC9-6525D30CD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5522" y="4396257"/>
                <a:ext cx="1971758" cy="447675"/>
              </a:xfrm>
              <a:prstGeom prst="rect">
                <a:avLst/>
              </a:prstGeom>
              <a:blipFill>
                <a:blip r:embed="rId7"/>
                <a:stretch>
                  <a:fillRect b="-54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18">
                <a:extLst>
                  <a:ext uri="{FF2B5EF4-FFF2-40B4-BE49-F238E27FC236}">
                    <a16:creationId xmlns:a16="http://schemas.microsoft.com/office/drawing/2014/main" id="{DCA31E00-1464-CD64-3392-B394B69988CB}"/>
                  </a:ext>
                </a:extLst>
              </p:cNvPr>
              <p:cNvSpPr txBox="1"/>
              <p:nvPr/>
            </p:nvSpPr>
            <p:spPr bwMode="auto">
              <a:xfrm>
                <a:off x="6057976" y="4391152"/>
                <a:ext cx="1498395" cy="4746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b="1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𝒇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  <m:r>
                            <a:rPr kumimoji="1" lang="en-US" altLang="zh-CN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zh-CN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3" name="Object 118">
                <a:extLst>
                  <a:ext uri="{FF2B5EF4-FFF2-40B4-BE49-F238E27FC236}">
                    <a16:creationId xmlns:a16="http://schemas.microsoft.com/office/drawing/2014/main" id="{DCA31E00-1464-CD64-3392-B394B6998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57976" y="4391152"/>
                <a:ext cx="1498395" cy="4746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119">
            <a:extLst>
              <a:ext uri="{FF2B5EF4-FFF2-40B4-BE49-F238E27FC236}">
                <a16:creationId xmlns:a16="http://schemas.microsoft.com/office/drawing/2014/main" id="{4AE1C673-F302-8DEC-75A6-5AE943712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995" y="3637074"/>
            <a:ext cx="20655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速度向量</a:t>
            </a:r>
            <a:r>
              <a:rPr kumimoji="1" lang="en-US" altLang="zh-CN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zh-CN" altLang="en-US" sz="2800" b="1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 Box 120">
            <a:extLst>
              <a:ext uri="{FF2B5EF4-FFF2-40B4-BE49-F238E27FC236}">
                <a16:creationId xmlns:a16="http://schemas.microsoft.com/office/drawing/2014/main" id="{ED734B9B-FA95-E050-D0F9-6B35ECA3D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995" y="4399074"/>
            <a:ext cx="21717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加速度向量</a:t>
            </a:r>
            <a:r>
              <a:rPr kumimoji="1" lang="en-US" altLang="zh-CN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zh-CN" altLang="en-US" sz="2800" b="1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122">
            <a:extLst>
              <a:ext uri="{FF2B5EF4-FFF2-40B4-BE49-F238E27FC236}">
                <a16:creationId xmlns:a16="http://schemas.microsoft.com/office/drawing/2014/main" id="{B84F9B16-36A8-E208-6111-43265ED7C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520" y="2919298"/>
            <a:ext cx="1676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则有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8D2EC177-73A6-EF64-3947-7792303D6803}"/>
              </a:ext>
            </a:extLst>
          </p:cNvPr>
          <p:cNvSpPr txBox="1">
            <a:spLocks noChangeArrowheads="1"/>
          </p:cNvSpPr>
          <p:nvPr/>
        </p:nvSpPr>
        <p:spPr>
          <a:xfrm>
            <a:off x="2075268" y="1524663"/>
            <a:ext cx="6125757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向量值函数的导向量的物理意义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239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324" y="1229686"/>
                <a:ext cx="10817352" cy="43986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24" y="1229686"/>
                <a:ext cx="10817352" cy="4398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1229686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1229686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4954797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4934931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ext Box 254">
            <a:extLst>
              <a:ext uri="{FF2B5EF4-FFF2-40B4-BE49-F238E27FC236}">
                <a16:creationId xmlns:a16="http://schemas.microsoft.com/office/drawing/2014/main" id="{CE6FB88A-5416-8817-CA6F-87A41D6B5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083" y="2122428"/>
            <a:ext cx="131638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3" name="Text Box 255">
            <a:extLst>
              <a:ext uri="{FF2B5EF4-FFF2-40B4-BE49-F238E27FC236}">
                <a16:creationId xmlns:a16="http://schemas.microsoft.com/office/drawing/2014/main" id="{A2CFB55F-FFC6-EE68-A348-D7FA25C61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597" y="3132749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4" name="Text Box 258">
            <a:extLst>
              <a:ext uri="{FF2B5EF4-FFF2-40B4-BE49-F238E27FC236}">
                <a16:creationId xmlns:a16="http://schemas.microsoft.com/office/drawing/2014/main" id="{CBD8F8B6-7573-35A4-220C-CA6271D83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6920" y="2114039"/>
            <a:ext cx="533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1">
                <a:extLst>
                  <a:ext uri="{FF2B5EF4-FFF2-40B4-BE49-F238E27FC236}">
                    <a16:creationId xmlns:a16="http://schemas.microsoft.com/office/drawing/2014/main" id="{948C06BE-FC9C-F094-25F4-E8B27AB6FED1}"/>
                  </a:ext>
                </a:extLst>
              </p:cNvPr>
              <p:cNvSpPr txBox="1"/>
              <p:nvPr/>
            </p:nvSpPr>
            <p:spPr>
              <a:xfrm>
                <a:off x="3427995" y="2108734"/>
                <a:ext cx="5359400" cy="63087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𝒇</m:t>
                      </m:r>
                      <m:d>
                        <m:d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d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𝒊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𝒋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𝒌</m:t>
                      </m:r>
                      <m:r>
                        <a:rPr kumimoji="1" lang="en-US" altLang="zh-CN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对象 1">
                <a:extLst>
                  <a:ext uri="{FF2B5EF4-FFF2-40B4-BE49-F238E27FC236}">
                    <a16:creationId xmlns:a16="http://schemas.microsoft.com/office/drawing/2014/main" id="{948C06BE-FC9C-F094-25F4-E8B27AB6F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995" y="2108734"/>
                <a:ext cx="5359400" cy="6308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2">
                <a:extLst>
                  <a:ext uri="{FF2B5EF4-FFF2-40B4-BE49-F238E27FC236}">
                    <a16:creationId xmlns:a16="http://schemas.microsoft.com/office/drawing/2014/main" id="{EB4DA4B5-C91C-54B7-DA0A-3CC29056B216}"/>
                  </a:ext>
                </a:extLst>
              </p:cNvPr>
              <p:cNvSpPr txBox="1"/>
              <p:nvPr/>
            </p:nvSpPr>
            <p:spPr>
              <a:xfrm>
                <a:off x="8494707" y="2134348"/>
                <a:ext cx="1636083" cy="8001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lim>
                          </m:limLow>
                        </m:fName>
                        <m:e>
                          <m:r>
                            <a:rPr kumimoji="1" lang="zh-CN" altLang="en-US" sz="2800" b="1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𝒇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对象 2">
                <a:extLst>
                  <a:ext uri="{FF2B5EF4-FFF2-40B4-BE49-F238E27FC236}">
                    <a16:creationId xmlns:a16="http://schemas.microsoft.com/office/drawing/2014/main" id="{EB4DA4B5-C91C-54B7-DA0A-3CC29056B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707" y="2134348"/>
                <a:ext cx="1636083" cy="800100"/>
              </a:xfrm>
              <a:prstGeom prst="rect">
                <a:avLst/>
              </a:prstGeom>
              <a:blipFill>
                <a:blip r:embed="rId5"/>
                <a:stretch>
                  <a:fillRect b="-3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24">
                <a:extLst>
                  <a:ext uri="{FF2B5EF4-FFF2-40B4-BE49-F238E27FC236}">
                    <a16:creationId xmlns:a16="http://schemas.microsoft.com/office/drawing/2014/main" id="{78232035-EA60-C0B2-C74F-7C6E4EDEDFA4}"/>
                  </a:ext>
                </a:extLst>
              </p:cNvPr>
              <p:cNvSpPr txBox="1"/>
              <p:nvPr/>
            </p:nvSpPr>
            <p:spPr>
              <a:xfrm>
                <a:off x="3005130" y="3115971"/>
                <a:ext cx="1219200" cy="8001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4</m:t>
                                  </m:r>
                                </m:den>
                              </m:f>
                            </m:lim>
                          </m:limLow>
                        </m:fName>
                        <m:e>
                          <m:r>
                            <a:rPr kumimoji="1" lang="zh-CN" altLang="en-US" sz="2400" b="1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𝒇</m:t>
                          </m:r>
                        </m:e>
                      </m:func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对象 24">
                <a:extLst>
                  <a:ext uri="{FF2B5EF4-FFF2-40B4-BE49-F238E27FC236}">
                    <a16:creationId xmlns:a16="http://schemas.microsoft.com/office/drawing/2014/main" id="{78232035-EA60-C0B2-C74F-7C6E4EDED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5130" y="3115971"/>
                <a:ext cx="1219200" cy="800100"/>
              </a:xfrm>
              <a:prstGeom prst="rect">
                <a:avLst/>
              </a:prstGeom>
              <a:blipFill>
                <a:blip r:embed="rId6"/>
                <a:stretch>
                  <a:fillRect r="-1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26">
                <a:extLst>
                  <a:ext uri="{FF2B5EF4-FFF2-40B4-BE49-F238E27FC236}">
                    <a16:creationId xmlns:a16="http://schemas.microsoft.com/office/drawing/2014/main" id="{45EC3661-FF14-EB42-E81E-56261DC96869}"/>
                  </a:ext>
                </a:extLst>
              </p:cNvPr>
              <p:cNvSpPr txBox="1"/>
              <p:nvPr/>
            </p:nvSpPr>
            <p:spPr>
              <a:xfrm>
                <a:off x="4058961" y="3929194"/>
                <a:ext cx="3022600" cy="9144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𝒊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zh-CN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𝒋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π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4</m:t>
                          </m:r>
                        </m:den>
                      </m:f>
                      <m:r>
                        <a:rPr kumimoji="1" lang="zh-CN" altLang="en-US" sz="22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𝒌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对象 26">
                <a:extLst>
                  <a:ext uri="{FF2B5EF4-FFF2-40B4-BE49-F238E27FC236}">
                    <a16:creationId xmlns:a16="http://schemas.microsoft.com/office/drawing/2014/main" id="{45EC3661-FF14-EB42-E81E-56261DC96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961" y="3929194"/>
                <a:ext cx="3022600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4">
                <a:extLst>
                  <a:ext uri="{FF2B5EF4-FFF2-40B4-BE49-F238E27FC236}">
                    <a16:creationId xmlns:a16="http://schemas.microsoft.com/office/drawing/2014/main" id="{BD0E04A4-AA74-5CD7-8767-C4631DA84A10}"/>
                  </a:ext>
                </a:extLst>
              </p:cNvPr>
              <p:cNvSpPr txBox="1"/>
              <p:nvPr/>
            </p:nvSpPr>
            <p:spPr>
              <a:xfrm>
                <a:off x="4058961" y="3116119"/>
                <a:ext cx="4947879" cy="8001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=(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4</m:t>
                                  </m:r>
                                </m:den>
                              </m:f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</m:func>
                        </m:e>
                      </m:func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2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𝒊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+(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 i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4</m:t>
                                  </m:r>
                                </m:den>
                              </m:f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</m:func>
                        </m:e>
                      </m:func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2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𝒋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+(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 i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4</m:t>
                                  </m:r>
                                </m:den>
                              </m:f>
                            </m:lim>
                          </m:limLow>
                        </m:fName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2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𝒌</m:t>
                      </m:r>
                    </m:oMath>
                  </m:oMathPara>
                </a14:m>
                <a:endParaRPr kumimoji="1" lang="zh-CN" altLang="en-US" sz="2200" b="1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对象 4">
                <a:extLst>
                  <a:ext uri="{FF2B5EF4-FFF2-40B4-BE49-F238E27FC236}">
                    <a16:creationId xmlns:a16="http://schemas.microsoft.com/office/drawing/2014/main" id="{BD0E04A4-AA74-5CD7-8767-C4631DA84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961" y="3116119"/>
                <a:ext cx="4947879" cy="800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225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Box 274">
            <a:extLst>
              <a:ext uri="{FF2B5EF4-FFF2-40B4-BE49-F238E27FC236}">
                <a16:creationId xmlns:a16="http://schemas.microsoft.com/office/drawing/2014/main" id="{189564C7-1ABD-7A32-A02C-7FD1646A5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482" y="771681"/>
            <a:ext cx="93319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 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279">
            <a:extLst>
              <a:ext uri="{FF2B5EF4-FFF2-40B4-BE49-F238E27FC236}">
                <a16:creationId xmlns:a16="http://schemas.microsoft.com/office/drawing/2014/main" id="{A922A98D-3F47-424C-377B-4B54DA3E9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482" y="2791866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">
                <a:extLst>
                  <a:ext uri="{FF2B5EF4-FFF2-40B4-BE49-F238E27FC236}">
                    <a16:creationId xmlns:a16="http://schemas.microsoft.com/office/drawing/2014/main" id="{26A395EB-D075-1EA9-859C-9E155158078A}"/>
                  </a:ext>
                </a:extLst>
              </p:cNvPr>
              <p:cNvSpPr txBox="1"/>
              <p:nvPr/>
            </p:nvSpPr>
            <p:spPr>
              <a:xfrm>
                <a:off x="2896615" y="765184"/>
                <a:ext cx="4590035" cy="51084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设空间曲线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𝛤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的向量方程为</m:t>
                      </m:r>
                    </m:oMath>
                  </m:oMathPara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对象 1">
                <a:extLst>
                  <a:ext uri="{FF2B5EF4-FFF2-40B4-BE49-F238E27FC236}">
                    <a16:creationId xmlns:a16="http://schemas.microsoft.com/office/drawing/2014/main" id="{26A395EB-D075-1EA9-859C-9E1551580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615" y="765184"/>
                <a:ext cx="4590035" cy="5108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3">
                <a:extLst>
                  <a:ext uri="{FF2B5EF4-FFF2-40B4-BE49-F238E27FC236}">
                    <a16:creationId xmlns:a16="http://schemas.microsoft.com/office/drawing/2014/main" id="{1BC0B031-558F-A3C0-4525-86A10232B826}"/>
                  </a:ext>
                </a:extLst>
              </p:cNvPr>
              <p:cNvSpPr txBox="1"/>
              <p:nvPr/>
            </p:nvSpPr>
            <p:spPr>
              <a:xfrm>
                <a:off x="2896615" y="2812176"/>
                <a:ext cx="3822699" cy="406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b="1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𝒇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)=(2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en-US" altLang="zh-CN" sz="22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4</m:t>
                      </m:r>
                      <m:r>
                        <a:rPr kumimoji="1" lang="en-US" altLang="zh-CN" sz="22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4</m:t>
                      </m:r>
                      <m:r>
                        <a:rPr kumimoji="1" lang="zh-CN" altLang="en-US" sz="22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−6)</m:t>
                      </m:r>
                      <m:r>
                        <a:rPr kumimoji="1" lang="en-US" altLang="zh-CN" sz="22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3" name="对象 3">
                <a:extLst>
                  <a:ext uri="{FF2B5EF4-FFF2-40B4-BE49-F238E27FC236}">
                    <a16:creationId xmlns:a16="http://schemas.microsoft.com/office/drawing/2014/main" id="{1BC0B031-558F-A3C0-4525-86A10232B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615" y="2812176"/>
                <a:ext cx="3822699" cy="406400"/>
              </a:xfrm>
              <a:prstGeom prst="rect">
                <a:avLst/>
              </a:prstGeom>
              <a:blipFill>
                <a:blip r:embed="rId5"/>
                <a:stretch>
                  <a:fillRect l="-957" b="-25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4">
                <a:extLst>
                  <a:ext uri="{FF2B5EF4-FFF2-40B4-BE49-F238E27FC236}">
                    <a16:creationId xmlns:a16="http://schemas.microsoft.com/office/drawing/2014/main" id="{7A7205BB-8473-D53D-A418-B06FE401DB72}"/>
                  </a:ext>
                </a:extLst>
              </p:cNvPr>
              <p:cNvSpPr txBox="1"/>
              <p:nvPr/>
            </p:nvSpPr>
            <p:spPr>
              <a:xfrm>
                <a:off x="2896615" y="3434327"/>
                <a:ext cx="2156791" cy="406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b="1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𝒇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(2)=(4</m:t>
                      </m:r>
                      <m:r>
                        <a:rPr kumimoji="1" lang="en-US" altLang="zh-CN" sz="22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4</m:t>
                      </m:r>
                      <m:r>
                        <a:rPr kumimoji="1" lang="en-US" altLang="zh-CN" sz="22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2)</m:t>
                      </m:r>
                      <m:r>
                        <a:rPr kumimoji="1" lang="en-US" altLang="zh-CN" sz="22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对象 4">
                <a:extLst>
                  <a:ext uri="{FF2B5EF4-FFF2-40B4-BE49-F238E27FC236}">
                    <a16:creationId xmlns:a16="http://schemas.microsoft.com/office/drawing/2014/main" id="{7A7205BB-8473-D53D-A418-B06FE401D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615" y="3434327"/>
                <a:ext cx="2156791" cy="406400"/>
              </a:xfrm>
              <a:prstGeom prst="rect">
                <a:avLst/>
              </a:prstGeom>
              <a:blipFill>
                <a:blip r:embed="rId6"/>
                <a:stretch>
                  <a:fillRect l="-1695" b="-25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7">
                <a:extLst>
                  <a:ext uri="{FF2B5EF4-FFF2-40B4-BE49-F238E27FC236}">
                    <a16:creationId xmlns:a16="http://schemas.microsoft.com/office/drawing/2014/main" id="{C599A168-7B81-6E87-F530-551F9009C202}"/>
                  </a:ext>
                </a:extLst>
              </p:cNvPr>
              <p:cNvSpPr txBox="1"/>
              <p:nvPr/>
            </p:nvSpPr>
            <p:spPr>
              <a:xfrm>
                <a:off x="4872373" y="3354516"/>
                <a:ext cx="3769891" cy="584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b="1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𝒇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(2)</m:t>
                          </m:r>
                        </m:e>
                      </m:d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=6.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" name="对象 7">
                <a:extLst>
                  <a:ext uri="{FF2B5EF4-FFF2-40B4-BE49-F238E27FC236}">
                    <a16:creationId xmlns:a16="http://schemas.microsoft.com/office/drawing/2014/main" id="{C599A168-7B81-6E87-F530-551F9009C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373" y="3354516"/>
                <a:ext cx="3769891" cy="584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15">
            <a:extLst>
              <a:ext uri="{FF2B5EF4-FFF2-40B4-BE49-F238E27FC236}">
                <a16:creationId xmlns:a16="http://schemas.microsoft.com/office/drawing/2014/main" id="{F0794EDB-574C-016B-AE2D-4F020A842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6615" y="5551670"/>
            <a:ext cx="520046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指向与 </a:t>
            </a:r>
            <a:r>
              <a:rPr kumimoji="1" lang="en-US" altLang="zh-CN" sz="2200" i="1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t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增长方向相反的一个单位向量为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8">
                <a:extLst>
                  <a:ext uri="{FF2B5EF4-FFF2-40B4-BE49-F238E27FC236}">
                    <a16:creationId xmlns:a16="http://schemas.microsoft.com/office/drawing/2014/main" id="{B3BFC839-4891-590F-2B98-080B54C7D29C}"/>
                  </a:ext>
                </a:extLst>
              </p:cNvPr>
              <p:cNvSpPr txBox="1"/>
              <p:nvPr/>
            </p:nvSpPr>
            <p:spPr>
              <a:xfrm>
                <a:off x="2896615" y="1331757"/>
                <a:ext cx="7085585" cy="53625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𝒓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b="1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𝒇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+1</m:t>
                          </m:r>
                          <m:r>
                            <a:rPr kumimoji="1" lang="en-US" altLang="zh-CN" sz="280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 4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−3, 2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−6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zh-CN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∈</m:t>
                      </m:r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𝐑</m:t>
                      </m:r>
                      <m:r>
                        <a:rPr kumimoji="1" lang="en-US" altLang="zh-CN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对象 8">
                <a:extLst>
                  <a:ext uri="{FF2B5EF4-FFF2-40B4-BE49-F238E27FC236}">
                    <a16:creationId xmlns:a16="http://schemas.microsoft.com/office/drawing/2014/main" id="{B3BFC839-4891-590F-2B98-080B54C7D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615" y="1331757"/>
                <a:ext cx="7085585" cy="5362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对象 9">
                <a:extLst>
                  <a:ext uri="{FF2B5EF4-FFF2-40B4-BE49-F238E27FC236}">
                    <a16:creationId xmlns:a16="http://schemas.microsoft.com/office/drawing/2014/main" id="{C46765FE-48F9-C3DB-8BA4-B4B3871A7127}"/>
                  </a:ext>
                </a:extLst>
              </p:cNvPr>
              <p:cNvSpPr txBox="1"/>
              <p:nvPr/>
            </p:nvSpPr>
            <p:spPr>
              <a:xfrm>
                <a:off x="2896615" y="2015175"/>
                <a:ext cx="7504685" cy="56750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求曲线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𝛤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在与</m:t>
                      </m:r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=2 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相应的点处的单位切向量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" name="对象 9">
                <a:extLst>
                  <a:ext uri="{FF2B5EF4-FFF2-40B4-BE49-F238E27FC236}">
                    <a16:creationId xmlns:a16="http://schemas.microsoft.com/office/drawing/2014/main" id="{C46765FE-48F9-C3DB-8BA4-B4B3871A7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615" y="2015175"/>
                <a:ext cx="7504685" cy="5675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对象 10">
                <a:extLst>
                  <a:ext uri="{FF2B5EF4-FFF2-40B4-BE49-F238E27FC236}">
                    <a16:creationId xmlns:a16="http://schemas.microsoft.com/office/drawing/2014/main" id="{3B164296-8366-5C85-4CC9-4CD1B4D7742A}"/>
                  </a:ext>
                </a:extLst>
              </p:cNvPr>
              <p:cNvSpPr txBox="1"/>
              <p:nvPr/>
            </p:nvSpPr>
            <p:spPr>
              <a:xfrm>
                <a:off x="7941705" y="4367989"/>
                <a:ext cx="1524000" cy="952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den>
                          </m:f>
                          <m:r>
                            <a:rPr kumimoji="1" lang="en-US" altLang="zh-CN" sz="2200" i="1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den>
                          </m:f>
                          <m:r>
                            <a:rPr kumimoji="1" lang="en-US" altLang="zh-CN" sz="2200" i="1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kumimoji="1" lang="en-US" altLang="zh-CN" sz="22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9" name="对象 10">
                <a:extLst>
                  <a:ext uri="{FF2B5EF4-FFF2-40B4-BE49-F238E27FC236}">
                    <a16:creationId xmlns:a16="http://schemas.microsoft.com/office/drawing/2014/main" id="{3B164296-8366-5C85-4CC9-4CD1B4D77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05" y="4367989"/>
                <a:ext cx="1524000" cy="9525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15">
            <a:extLst>
              <a:ext uri="{FF2B5EF4-FFF2-40B4-BE49-F238E27FC236}">
                <a16:creationId xmlns:a16="http://schemas.microsoft.com/office/drawing/2014/main" id="{879E3293-B320-92A6-77DC-A41A0FE01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6615" y="4019787"/>
            <a:ext cx="142128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对象 11">
                <a:extLst>
                  <a:ext uri="{FF2B5EF4-FFF2-40B4-BE49-F238E27FC236}">
                    <a16:creationId xmlns:a16="http://schemas.microsoft.com/office/drawing/2014/main" id="{4BF30CB4-9039-85C8-FC51-5CF77AC12008}"/>
                  </a:ext>
                </a:extLst>
              </p:cNvPr>
              <p:cNvSpPr txBox="1"/>
              <p:nvPr/>
            </p:nvSpPr>
            <p:spPr>
              <a:xfrm>
                <a:off x="7910391" y="5317795"/>
                <a:ext cx="2260600" cy="952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den>
                          </m:f>
                          <m:r>
                            <a:rPr kumimoji="1" lang="en-US" altLang="zh-CN" sz="2200" i="1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den>
                          </m:f>
                          <m:r>
                            <a:rPr kumimoji="1" lang="en-US" altLang="zh-CN" sz="2200" i="1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5" name="对象 11">
                <a:extLst>
                  <a:ext uri="{FF2B5EF4-FFF2-40B4-BE49-F238E27FC236}">
                    <a16:creationId xmlns:a16="http://schemas.microsoft.com/office/drawing/2014/main" id="{4BF30CB4-9039-85C8-FC51-5CF77AC12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391" y="5317795"/>
                <a:ext cx="2260600" cy="9525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矩形 55">
            <a:extLst>
              <a:ext uri="{FF2B5EF4-FFF2-40B4-BE49-F238E27FC236}">
                <a16:creationId xmlns:a16="http://schemas.microsoft.com/office/drawing/2014/main" id="{7C36BFBD-6F03-4060-2E74-990FEC5DA44C}"/>
              </a:ext>
            </a:extLst>
          </p:cNvPr>
          <p:cNvSpPr/>
          <p:nvPr/>
        </p:nvSpPr>
        <p:spPr>
          <a:xfrm>
            <a:off x="2896615" y="4601853"/>
            <a:ext cx="520046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指向与 </a:t>
            </a:r>
            <a:r>
              <a:rPr kumimoji="1" lang="en-US" altLang="zh-CN" sz="2200" i="1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t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增长方向一致的一个单位向量为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55" grpId="0"/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ext Box 295">
            <a:extLst>
              <a:ext uri="{FF2B5EF4-FFF2-40B4-BE49-F238E27FC236}">
                <a16:creationId xmlns:a16="http://schemas.microsoft.com/office/drawing/2014/main" id="{2508367D-53B7-9367-5575-6D6DA62C7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831" y="841376"/>
            <a:ext cx="88044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 </a:t>
            </a: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一个人在悬挂式滑翔机上由于快速上升气流而沿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96">
                <a:extLst>
                  <a:ext uri="{FF2B5EF4-FFF2-40B4-BE49-F238E27FC236}">
                    <a16:creationId xmlns:a16="http://schemas.microsoft.com/office/drawing/2014/main" id="{B07DDF72-D679-A53B-5A4A-599352F7CA59}"/>
                  </a:ext>
                </a:extLst>
              </p:cNvPr>
              <p:cNvSpPr txBox="1"/>
              <p:nvPr/>
            </p:nvSpPr>
            <p:spPr bwMode="auto">
              <a:xfrm>
                <a:off x="3881008" y="1378920"/>
                <a:ext cx="6441242" cy="4429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𝒓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b="1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𝒇</m:t>
                      </m:r>
                      <m:d>
                        <m:d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d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  <m:r>
                        <a:rPr kumimoji="1" lang="zh-CN" altLang="en-US" sz="2800" b="1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𝒊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+(3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𝒋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 b="1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𝒌</m:t>
                      </m:r>
                    </m:oMath>
                  </m:oMathPara>
                </a14:m>
                <a:endParaRPr kumimoji="1" lang="zh-CN" altLang="en-US" sz="2800" b="1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296">
                <a:extLst>
                  <a:ext uri="{FF2B5EF4-FFF2-40B4-BE49-F238E27FC236}">
                    <a16:creationId xmlns:a16="http://schemas.microsoft.com/office/drawing/2014/main" id="{B07DDF72-D679-A53B-5A4A-599352F7C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1008" y="1378920"/>
                <a:ext cx="6441242" cy="442913"/>
              </a:xfrm>
              <a:prstGeom prst="rect">
                <a:avLst/>
              </a:prstGeom>
              <a:blipFill>
                <a:blip r:embed="rId4"/>
                <a:stretch>
                  <a:fillRect b="-68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297">
            <a:extLst>
              <a:ext uri="{FF2B5EF4-FFF2-40B4-BE49-F238E27FC236}">
                <a16:creationId xmlns:a16="http://schemas.microsoft.com/office/drawing/2014/main" id="{F1D30A59-7A4D-121C-FD62-510FFC31E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949" y="1376655"/>
            <a:ext cx="16846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圆柱螺线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298">
                <a:extLst>
                  <a:ext uri="{FF2B5EF4-FFF2-40B4-BE49-F238E27FC236}">
                    <a16:creationId xmlns:a16="http://schemas.microsoft.com/office/drawing/2014/main" id="{5BF76869-3E00-7167-7790-66982A09DA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2949" y="1955171"/>
                <a:ext cx="254872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螺线式向上</a:t>
                </a:r>
                <a14:m>
                  <m:oMath xmlns:m="http://schemas.openxmlformats.org/officeDocument/2006/math">
                    <m:r>
                      <a:rPr kumimoji="1" lang="en-US" altLang="zh-CN" sz="280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求</a:t>
                </a:r>
              </a:p>
            </p:txBody>
          </p:sp>
        </mc:Choice>
        <mc:Fallback xmlns="">
          <p:sp>
            <p:nvSpPr>
              <p:cNvPr id="6" name="Text Box 298">
                <a:extLst>
                  <a:ext uri="{FF2B5EF4-FFF2-40B4-BE49-F238E27FC236}">
                    <a16:creationId xmlns:a16="http://schemas.microsoft.com/office/drawing/2014/main" id="{5BF76869-3E00-7167-7790-66982A09D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2949" y="1955171"/>
                <a:ext cx="2548729" cy="523220"/>
              </a:xfrm>
              <a:prstGeom prst="rect">
                <a:avLst/>
              </a:prstGeom>
              <a:blipFill>
                <a:blip r:embed="rId5"/>
                <a:stretch>
                  <a:fillRect l="-5024" t="-15116" r="-1675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299">
                <a:extLst>
                  <a:ext uri="{FF2B5EF4-FFF2-40B4-BE49-F238E27FC236}">
                    <a16:creationId xmlns:a16="http://schemas.microsoft.com/office/drawing/2014/main" id="{0B248235-D030-B602-9E07-6B29A46779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2949" y="2511979"/>
                <a:ext cx="793930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滑翔机在任意时刻</a:t>
                </a:r>
                <a:r>
                  <a: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t </a:t>
                </a:r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的速度向量和加速度向量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Text Box 299">
                <a:extLst>
                  <a:ext uri="{FF2B5EF4-FFF2-40B4-BE49-F238E27FC236}">
                    <a16:creationId xmlns:a16="http://schemas.microsoft.com/office/drawing/2014/main" id="{0B248235-D030-B602-9E07-6B29A4677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2949" y="2511979"/>
                <a:ext cx="7939301" cy="523220"/>
              </a:xfrm>
              <a:prstGeom prst="rect">
                <a:avLst/>
              </a:prstGeom>
              <a:blipFill>
                <a:blip r:embed="rId6"/>
                <a:stretch>
                  <a:fillRect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300">
                <a:extLst>
                  <a:ext uri="{FF2B5EF4-FFF2-40B4-BE49-F238E27FC236}">
                    <a16:creationId xmlns:a16="http://schemas.microsoft.com/office/drawing/2014/main" id="{173B38B2-72F0-FD74-9DBC-3910EFC653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2949" y="3084471"/>
                <a:ext cx="512414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滑翔机在任意时刻</a:t>
                </a:r>
                <a:r>
                  <a: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t </a:t>
                </a:r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的速率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Text Box 300">
                <a:extLst>
                  <a:ext uri="{FF2B5EF4-FFF2-40B4-BE49-F238E27FC236}">
                    <a16:creationId xmlns:a16="http://schemas.microsoft.com/office/drawing/2014/main" id="{173B38B2-72F0-FD74-9DBC-3910EFC65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2949" y="3084471"/>
                <a:ext cx="5124149" cy="523220"/>
              </a:xfrm>
              <a:prstGeom prst="rect">
                <a:avLst/>
              </a:prstGeom>
              <a:blipFill>
                <a:blip r:embed="rId7"/>
                <a:stretch>
                  <a:fillRect t="-1627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301">
                <a:extLst>
                  <a:ext uri="{FF2B5EF4-FFF2-40B4-BE49-F238E27FC236}">
                    <a16:creationId xmlns:a16="http://schemas.microsoft.com/office/drawing/2014/main" id="{FE0E9524-8FFA-C517-D00C-1C9A1ADD8C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2949" y="3681552"/>
                <a:ext cx="640004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3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滑翔机的加速度与速度正交的时刻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Text Box 301">
                <a:extLst>
                  <a:ext uri="{FF2B5EF4-FFF2-40B4-BE49-F238E27FC236}">
                    <a16:creationId xmlns:a16="http://schemas.microsoft.com/office/drawing/2014/main" id="{FE0E9524-8FFA-C517-D00C-1C9A1ADD8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2949" y="3681552"/>
                <a:ext cx="6400047" cy="523220"/>
              </a:xfrm>
              <a:prstGeom prst="rect">
                <a:avLst/>
              </a:prstGeom>
              <a:blipFill>
                <a:blip r:embed="rId8"/>
                <a:stretch>
                  <a:fillRect t="-1511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302">
            <a:extLst>
              <a:ext uri="{FF2B5EF4-FFF2-40B4-BE49-F238E27FC236}">
                <a16:creationId xmlns:a16="http://schemas.microsoft.com/office/drawing/2014/main" id="{20BAB49C-9100-4B2A-E2B7-B6FDC2BCC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7831" y="4561365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303">
                <a:extLst>
                  <a:ext uri="{FF2B5EF4-FFF2-40B4-BE49-F238E27FC236}">
                    <a16:creationId xmlns:a16="http://schemas.microsoft.com/office/drawing/2014/main" id="{EB7594D3-B068-9D42-E56B-8C9F23B637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2665" y="4615340"/>
                <a:ext cx="716991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sz="22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kumimoji="1" lang="en-US" altLang="zh-CN" sz="2200" b="1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Rectangle 303">
                <a:extLst>
                  <a:ext uri="{FF2B5EF4-FFF2-40B4-BE49-F238E27FC236}">
                    <a16:creationId xmlns:a16="http://schemas.microsoft.com/office/drawing/2014/main" id="{EB7594D3-B068-9D42-E56B-8C9F23B63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2665" y="4615340"/>
                <a:ext cx="716991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304">
                <a:extLst>
                  <a:ext uri="{FF2B5EF4-FFF2-40B4-BE49-F238E27FC236}">
                    <a16:creationId xmlns:a16="http://schemas.microsoft.com/office/drawing/2014/main" id="{A3ADFF30-B446-1147-7E8A-9705A956E987}"/>
                  </a:ext>
                </a:extLst>
              </p:cNvPr>
              <p:cNvSpPr txBox="1"/>
              <p:nvPr/>
            </p:nvSpPr>
            <p:spPr bwMode="auto">
              <a:xfrm>
                <a:off x="2818710" y="4434880"/>
                <a:ext cx="1029028" cy="7540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𝒗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4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4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𝒓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4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4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4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2" name="Object 304">
                <a:extLst>
                  <a:ext uri="{FF2B5EF4-FFF2-40B4-BE49-F238E27FC236}">
                    <a16:creationId xmlns:a16="http://schemas.microsoft.com/office/drawing/2014/main" id="{A3ADFF30-B446-1147-7E8A-9705A956E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8710" y="4434880"/>
                <a:ext cx="1029028" cy="7540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305">
                <a:extLst>
                  <a:ext uri="{FF2B5EF4-FFF2-40B4-BE49-F238E27FC236}">
                    <a16:creationId xmlns:a16="http://schemas.microsoft.com/office/drawing/2014/main" id="{A84FE359-A688-B5ED-CC55-2891B57FE709}"/>
                  </a:ext>
                </a:extLst>
              </p:cNvPr>
              <p:cNvSpPr txBox="1"/>
              <p:nvPr/>
            </p:nvSpPr>
            <p:spPr bwMode="auto">
              <a:xfrm>
                <a:off x="3718197" y="4610944"/>
                <a:ext cx="4087234" cy="390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  <m:r>
                        <a:rPr lang="zh-CN" altLang="en-US" sz="2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+(3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3" name="Object 305">
                <a:extLst>
                  <a:ext uri="{FF2B5EF4-FFF2-40B4-BE49-F238E27FC236}">
                    <a16:creationId xmlns:a16="http://schemas.microsoft.com/office/drawing/2014/main" id="{A84FE359-A688-B5ED-CC55-2891B57FE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8197" y="4610944"/>
                <a:ext cx="4087234" cy="390525"/>
              </a:xfrm>
              <a:prstGeom prst="rect">
                <a:avLst/>
              </a:prstGeom>
              <a:blipFill>
                <a:blip r:embed="rId11"/>
                <a:stretch>
                  <a:fillRect b="-281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306">
                <a:extLst>
                  <a:ext uri="{FF2B5EF4-FFF2-40B4-BE49-F238E27FC236}">
                    <a16:creationId xmlns:a16="http://schemas.microsoft.com/office/drawing/2014/main" id="{5976D301-7382-06B4-63B0-8F1E5FFDA11B}"/>
                  </a:ext>
                </a:extLst>
              </p:cNvPr>
              <p:cNvSpPr txBox="1"/>
              <p:nvPr/>
            </p:nvSpPr>
            <p:spPr bwMode="auto">
              <a:xfrm>
                <a:off x="2819256" y="5215929"/>
                <a:ext cx="1159458" cy="8016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𝒂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𝒓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4" name="Object 306">
                <a:extLst>
                  <a:ext uri="{FF2B5EF4-FFF2-40B4-BE49-F238E27FC236}">
                    <a16:creationId xmlns:a16="http://schemas.microsoft.com/office/drawing/2014/main" id="{5976D301-7382-06B4-63B0-8F1E5FFDA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9256" y="5215929"/>
                <a:ext cx="1159458" cy="80168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307">
                <a:extLst>
                  <a:ext uri="{FF2B5EF4-FFF2-40B4-BE49-F238E27FC236}">
                    <a16:creationId xmlns:a16="http://schemas.microsoft.com/office/drawing/2014/main" id="{829C251A-10D3-FDC7-0082-1E83BFA37AED}"/>
                  </a:ext>
                </a:extLst>
              </p:cNvPr>
              <p:cNvSpPr txBox="1"/>
              <p:nvPr/>
            </p:nvSpPr>
            <p:spPr bwMode="auto">
              <a:xfrm>
                <a:off x="3847737" y="5427398"/>
                <a:ext cx="3918314" cy="390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=(−3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𝒊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−(3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𝒋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+2</m:t>
                      </m:r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𝒌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5" name="Object 307">
                <a:extLst>
                  <a:ext uri="{FF2B5EF4-FFF2-40B4-BE49-F238E27FC236}">
                    <a16:creationId xmlns:a16="http://schemas.microsoft.com/office/drawing/2014/main" id="{829C251A-10D3-FDC7-0082-1E83BFA37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47737" y="5427398"/>
                <a:ext cx="3918314" cy="390525"/>
              </a:xfrm>
              <a:prstGeom prst="rect">
                <a:avLst/>
              </a:prstGeom>
              <a:blipFill>
                <a:blip r:embed="rId13"/>
                <a:stretch>
                  <a:fillRect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819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/>
      <p:bldP spid="11" grpId="0"/>
      <p:bldP spid="21" grpId="0"/>
      <p:bldP spid="22" grpId="0"/>
      <p:bldP spid="23" grpId="0"/>
      <p:bldP spid="24" grpId="0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2">
                <a:extLst>
                  <a:ext uri="{FF2B5EF4-FFF2-40B4-BE49-F238E27FC236}">
                    <a16:creationId xmlns:a16="http://schemas.microsoft.com/office/drawing/2014/main" id="{CCFF067C-F825-7D40-C9B7-080246353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2407" y="2841565"/>
                <a:ext cx="716991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sz="22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kumimoji="1" lang="en-US" altLang="zh-CN" sz="2200" b="1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Rectangle 22">
                <a:extLst>
                  <a:ext uri="{FF2B5EF4-FFF2-40B4-BE49-F238E27FC236}">
                    <a16:creationId xmlns:a16="http://schemas.microsoft.com/office/drawing/2014/main" id="{CCFF067C-F825-7D40-C9B7-080246353F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407" y="2841565"/>
                <a:ext cx="71699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23">
            <a:extLst>
              <a:ext uri="{FF2B5EF4-FFF2-40B4-BE49-F238E27FC236}">
                <a16:creationId xmlns:a16="http://schemas.microsoft.com/office/drawing/2014/main" id="{26F4A0A0-8F12-8562-D800-641F84C35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392" y="2856805"/>
            <a:ext cx="2133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latin typeface="Cambria Math" panose="02040503050406030204" pitchFamily="18" charset="0"/>
                <a:ea typeface="黑体" panose="02010609060101010101" pitchFamily="49" charset="-122"/>
                <a:cs typeface="Cambria Math" panose="02040503050406030204" charset="0"/>
              </a:rPr>
              <a:t>速率是速度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4">
                <a:extLst>
                  <a:ext uri="{FF2B5EF4-FFF2-40B4-BE49-F238E27FC236}">
                    <a16:creationId xmlns:a16="http://schemas.microsoft.com/office/drawing/2014/main" id="{6F178840-5C80-2E43-5FF1-B4EC373551C9}"/>
                  </a:ext>
                </a:extLst>
              </p:cNvPr>
              <p:cNvSpPr txBox="1"/>
              <p:nvPr/>
            </p:nvSpPr>
            <p:spPr bwMode="auto">
              <a:xfrm>
                <a:off x="4355212" y="2835539"/>
                <a:ext cx="315912" cy="346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𝒗</m:t>
                      </m:r>
                    </m:oMath>
                  </m:oMathPara>
                </a14:m>
                <a:endParaRPr kumimoji="1" lang="zh-CN" altLang="en-US" sz="2200" b="1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24">
                <a:extLst>
                  <a:ext uri="{FF2B5EF4-FFF2-40B4-BE49-F238E27FC236}">
                    <a16:creationId xmlns:a16="http://schemas.microsoft.com/office/drawing/2014/main" id="{6F178840-5C80-2E43-5FF1-B4EC37355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55212" y="2835539"/>
                <a:ext cx="315912" cy="346075"/>
              </a:xfrm>
              <a:prstGeom prst="rect">
                <a:avLst/>
              </a:prstGeom>
              <a:blipFill>
                <a:blip r:embed="rId5"/>
                <a:stretch>
                  <a:fillRect r="-5769" b="-140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25">
                <a:extLst>
                  <a:ext uri="{FF2B5EF4-FFF2-40B4-BE49-F238E27FC236}">
                    <a16:creationId xmlns:a16="http://schemas.microsoft.com/office/drawing/2014/main" id="{3214395F-3CF4-04BD-6419-6A6BE40FC1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3113" y="2860706"/>
                <a:ext cx="1495352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的大小</a:t>
                </a:r>
                <a14:m>
                  <m:oMath xmlns:m="http://schemas.openxmlformats.org/officeDocument/2006/math">
                    <m:r>
                      <a:rPr kumimoji="1" lang="en-US" altLang="zh-CN" sz="220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 即</a:t>
                </a:r>
              </a:p>
            </p:txBody>
          </p:sp>
        </mc:Choice>
        <mc:Fallback xmlns="">
          <p:sp>
            <p:nvSpPr>
              <p:cNvPr id="13" name="Text Box 25">
                <a:extLst>
                  <a:ext uri="{FF2B5EF4-FFF2-40B4-BE49-F238E27FC236}">
                    <a16:creationId xmlns:a16="http://schemas.microsoft.com/office/drawing/2014/main" id="{3214395F-3CF4-04BD-6419-6A6BE40FC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3113" y="2860706"/>
                <a:ext cx="1495352" cy="430887"/>
              </a:xfrm>
              <a:prstGeom prst="rect">
                <a:avLst/>
              </a:prstGeom>
              <a:blipFill>
                <a:blip r:embed="rId6"/>
                <a:stretch>
                  <a:fillRect l="-5306" t="-12676" r="-408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26">
                <a:extLst>
                  <a:ext uri="{FF2B5EF4-FFF2-40B4-BE49-F238E27FC236}">
                    <a16:creationId xmlns:a16="http://schemas.microsoft.com/office/drawing/2014/main" id="{31CED82B-EFB9-3268-119E-3E384A9BF52D}"/>
                  </a:ext>
                </a:extLst>
              </p:cNvPr>
              <p:cNvSpPr txBox="1"/>
              <p:nvPr/>
            </p:nvSpPr>
            <p:spPr bwMode="auto">
              <a:xfrm>
                <a:off x="2902392" y="3437830"/>
                <a:ext cx="6616995" cy="584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|</m:t>
                      </m:r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𝒗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|=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(−3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</m:func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+(3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</m:func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+(2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9+4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Object 26">
                <a:extLst>
                  <a:ext uri="{FF2B5EF4-FFF2-40B4-BE49-F238E27FC236}">
                    <a16:creationId xmlns:a16="http://schemas.microsoft.com/office/drawing/2014/main" id="{31CED82B-EFB9-3268-119E-3E384A9BF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2392" y="3437830"/>
                <a:ext cx="6616995" cy="584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27">
                <a:extLst>
                  <a:ext uri="{FF2B5EF4-FFF2-40B4-BE49-F238E27FC236}">
                    <a16:creationId xmlns:a16="http://schemas.microsoft.com/office/drawing/2014/main" id="{9BDFA531-A577-813A-1095-55433A6ED9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2391" y="4188717"/>
                <a:ext cx="611099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这表明</a:t>
                </a:r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: </a:t>
                </a:r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滑翔机沿其路径升高时</a:t>
                </a:r>
                <a14:m>
                  <m:oMath xmlns:m="http://schemas.openxmlformats.org/officeDocument/2006/math">
                    <m:r>
                      <a:rPr kumimoji="1" lang="en-US" altLang="zh-CN" sz="22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 运动得越来越快</a:t>
                </a:r>
                <a14:m>
                  <m:oMath xmlns:m="http://schemas.openxmlformats.org/officeDocument/2006/math">
                    <m:r>
                      <a:rPr kumimoji="1" lang="zh-CN" altLang="en-US" sz="22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" name="Text Box 27">
                <a:extLst>
                  <a:ext uri="{FF2B5EF4-FFF2-40B4-BE49-F238E27FC236}">
                    <a16:creationId xmlns:a16="http://schemas.microsoft.com/office/drawing/2014/main" id="{9BDFA531-A577-813A-1095-55433A6ED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2391" y="4188717"/>
                <a:ext cx="6110993" cy="430887"/>
              </a:xfrm>
              <a:prstGeom prst="rect">
                <a:avLst/>
              </a:prstGeom>
              <a:blipFill>
                <a:blip r:embed="rId8"/>
                <a:stretch>
                  <a:fillRect l="-1296" t="-14085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28">
                <a:extLst>
                  <a:ext uri="{FF2B5EF4-FFF2-40B4-BE49-F238E27FC236}">
                    <a16:creationId xmlns:a16="http://schemas.microsoft.com/office/drawing/2014/main" id="{741162C3-0E1D-F1DB-93F4-B6535EC25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2407" y="4790691"/>
                <a:ext cx="716991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en-US" altLang="zh-CN" sz="22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kumimoji="1" lang="en-US" altLang="zh-CN" sz="2200" b="1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Rectangle 28">
                <a:extLst>
                  <a:ext uri="{FF2B5EF4-FFF2-40B4-BE49-F238E27FC236}">
                    <a16:creationId xmlns:a16="http://schemas.microsoft.com/office/drawing/2014/main" id="{741162C3-0E1D-F1DB-93F4-B6535EC25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407" y="4790691"/>
                <a:ext cx="716991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29">
            <a:extLst>
              <a:ext uri="{FF2B5EF4-FFF2-40B4-BE49-F238E27FC236}">
                <a16:creationId xmlns:a16="http://schemas.microsoft.com/office/drawing/2014/main" id="{6FE39CA5-687E-0E7A-5483-1F000B8CF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392" y="4799905"/>
            <a:ext cx="7080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latin typeface="Cambria Math" panose="02040503050406030204" pitchFamily="18" charset="0"/>
                <a:ea typeface="黑体" panose="02010609060101010101" pitchFamily="49" charset="-122"/>
                <a:cs typeface="Cambria Math" panose="02040503050406030204" charset="0"/>
              </a:rPr>
              <a:t>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30">
                <a:extLst>
                  <a:ext uri="{FF2B5EF4-FFF2-40B4-BE49-F238E27FC236}">
                    <a16:creationId xmlns:a16="http://schemas.microsoft.com/office/drawing/2014/main" id="{94CBC9ED-CB7E-B706-E6AB-5EB7E0A86BC4}"/>
                  </a:ext>
                </a:extLst>
              </p:cNvPr>
              <p:cNvSpPr txBox="1"/>
              <p:nvPr/>
            </p:nvSpPr>
            <p:spPr bwMode="auto">
              <a:xfrm>
                <a:off x="3301677" y="4794203"/>
                <a:ext cx="5265295" cy="4238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𝒗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𝒂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=9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−9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+4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" name="Object 30">
                <a:extLst>
                  <a:ext uri="{FF2B5EF4-FFF2-40B4-BE49-F238E27FC236}">
                    <a16:creationId xmlns:a16="http://schemas.microsoft.com/office/drawing/2014/main" id="{94CBC9ED-CB7E-B706-E6AB-5EB7E0A86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1677" y="4794203"/>
                <a:ext cx="5265295" cy="4238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31">
                <a:extLst>
                  <a:ext uri="{FF2B5EF4-FFF2-40B4-BE49-F238E27FC236}">
                    <a16:creationId xmlns:a16="http://schemas.microsoft.com/office/drawing/2014/main" id="{E8FB8E10-D938-FC86-D500-BBD656F01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1288" y="4802452"/>
                <a:ext cx="1451052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解得 </a:t>
                </a:r>
                <a:r>
                  <a: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t </a:t>
                </a:r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= 0</a:t>
                </a:r>
                <a14:m>
                  <m:oMath xmlns:m="http://schemas.openxmlformats.org/officeDocument/2006/math">
                    <m:r>
                      <a:rPr kumimoji="1" lang="zh-CN" altLang="en-US" sz="22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</m:oMath>
                </a14:m>
                <a:endParaRPr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 Box 31">
                <a:extLst>
                  <a:ext uri="{FF2B5EF4-FFF2-40B4-BE49-F238E27FC236}">
                    <a16:creationId xmlns:a16="http://schemas.microsoft.com/office/drawing/2014/main" id="{E8FB8E10-D938-FC86-D500-BBD656F01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1288" y="4802452"/>
                <a:ext cx="1451052" cy="430887"/>
              </a:xfrm>
              <a:prstGeom prst="rect">
                <a:avLst/>
              </a:prstGeom>
              <a:blipFill>
                <a:blip r:embed="rId11"/>
                <a:stretch>
                  <a:fillRect l="-5462" t="-14286" r="-840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32">
                <a:extLst>
                  <a:ext uri="{FF2B5EF4-FFF2-40B4-BE49-F238E27FC236}">
                    <a16:creationId xmlns:a16="http://schemas.microsoft.com/office/drawing/2014/main" id="{6F49F434-6231-8657-49DC-121A22DA80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2392" y="5371405"/>
                <a:ext cx="6457508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这表明</a:t>
                </a:r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: </a:t>
                </a:r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加速度与速度正交的唯一时刻是在 </a:t>
                </a:r>
                <a:r>
                  <a: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t </a:t>
                </a:r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= 0</a:t>
                </a:r>
                <a14:m>
                  <m:oMath xmlns:m="http://schemas.openxmlformats.org/officeDocument/2006/math">
                    <m:r>
                      <a:rPr kumimoji="1" lang="zh-CN" altLang="en-US" sz="220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0" name="Text Box 32">
                <a:extLst>
                  <a:ext uri="{FF2B5EF4-FFF2-40B4-BE49-F238E27FC236}">
                    <a16:creationId xmlns:a16="http://schemas.microsoft.com/office/drawing/2014/main" id="{6F49F434-6231-8657-49DC-121A22DA8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2392" y="5371405"/>
                <a:ext cx="6457508" cy="430887"/>
              </a:xfrm>
              <a:prstGeom prst="rect">
                <a:avLst/>
              </a:prstGeom>
              <a:blipFill>
                <a:blip r:embed="rId12"/>
                <a:stretch>
                  <a:fillRect l="-1228" t="-14085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Line 33">
            <a:extLst>
              <a:ext uri="{FF2B5EF4-FFF2-40B4-BE49-F238E27FC236}">
                <a16:creationId xmlns:a16="http://schemas.microsoft.com/office/drawing/2014/main" id="{F6D7D47A-6929-8CC3-3D32-00940A1334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2690710"/>
            <a:ext cx="89916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34">
                <a:extLst>
                  <a:ext uri="{FF2B5EF4-FFF2-40B4-BE49-F238E27FC236}">
                    <a16:creationId xmlns:a16="http://schemas.microsoft.com/office/drawing/2014/main" id="{968869C1-D5D1-7108-E2DB-D814A7266F9C}"/>
                  </a:ext>
                </a:extLst>
              </p:cNvPr>
              <p:cNvSpPr txBox="1"/>
              <p:nvPr/>
            </p:nvSpPr>
            <p:spPr bwMode="auto">
              <a:xfrm>
                <a:off x="2460949" y="904180"/>
                <a:ext cx="1463453" cy="7540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𝒗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𝒓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4" name="Object 34">
                <a:extLst>
                  <a:ext uri="{FF2B5EF4-FFF2-40B4-BE49-F238E27FC236}">
                    <a16:creationId xmlns:a16="http://schemas.microsoft.com/office/drawing/2014/main" id="{968869C1-D5D1-7108-E2DB-D814A7266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0949" y="904180"/>
                <a:ext cx="1463453" cy="75406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5">
                <a:extLst>
                  <a:ext uri="{FF2B5EF4-FFF2-40B4-BE49-F238E27FC236}">
                    <a16:creationId xmlns:a16="http://schemas.microsoft.com/office/drawing/2014/main" id="{590AA080-BE31-8C19-6006-E6BCD57A8F62}"/>
                  </a:ext>
                </a:extLst>
              </p:cNvPr>
              <p:cNvSpPr txBox="1"/>
              <p:nvPr/>
            </p:nvSpPr>
            <p:spPr bwMode="auto">
              <a:xfrm>
                <a:off x="3370364" y="1083257"/>
                <a:ext cx="4039333" cy="390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−3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𝒊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+(3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𝒋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+2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𝒌</m:t>
                      </m:r>
                      <m:r>
                        <a:rPr kumimoji="1"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5" name="Object 35">
                <a:extLst>
                  <a:ext uri="{FF2B5EF4-FFF2-40B4-BE49-F238E27FC236}">
                    <a16:creationId xmlns:a16="http://schemas.microsoft.com/office/drawing/2014/main" id="{590AA080-BE31-8C19-6006-E6BCD57A8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70364" y="1083257"/>
                <a:ext cx="4039333" cy="390525"/>
              </a:xfrm>
              <a:prstGeom prst="rect">
                <a:avLst/>
              </a:prstGeom>
              <a:blipFill>
                <a:blip r:embed="rId14"/>
                <a:stretch>
                  <a:fillRect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36">
                <a:extLst>
                  <a:ext uri="{FF2B5EF4-FFF2-40B4-BE49-F238E27FC236}">
                    <a16:creationId xmlns:a16="http://schemas.microsoft.com/office/drawing/2014/main" id="{7CA3E296-96BB-D952-6305-98315DD4CBBD}"/>
                  </a:ext>
                </a:extLst>
              </p:cNvPr>
              <p:cNvSpPr txBox="1"/>
              <p:nvPr/>
            </p:nvSpPr>
            <p:spPr bwMode="auto">
              <a:xfrm>
                <a:off x="2460949" y="1736031"/>
                <a:ext cx="1463453" cy="801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𝒂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𝒓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6" name="Object 36">
                <a:extLst>
                  <a:ext uri="{FF2B5EF4-FFF2-40B4-BE49-F238E27FC236}">
                    <a16:creationId xmlns:a16="http://schemas.microsoft.com/office/drawing/2014/main" id="{7CA3E296-96BB-D952-6305-98315DD4C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0949" y="1736031"/>
                <a:ext cx="1463453" cy="8016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37">
                <a:extLst>
                  <a:ext uri="{FF2B5EF4-FFF2-40B4-BE49-F238E27FC236}">
                    <a16:creationId xmlns:a16="http://schemas.microsoft.com/office/drawing/2014/main" id="{CDDA8D14-5968-BC0E-A8BE-DD5D9A55F384}"/>
                  </a:ext>
                </a:extLst>
              </p:cNvPr>
              <p:cNvSpPr txBox="1"/>
              <p:nvPr/>
            </p:nvSpPr>
            <p:spPr bwMode="auto">
              <a:xfrm>
                <a:off x="3527750" y="1947175"/>
                <a:ext cx="3973388" cy="390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−3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𝒊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−(3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𝒋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+2</m:t>
                      </m:r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𝒌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7" name="Object 37">
                <a:extLst>
                  <a:ext uri="{FF2B5EF4-FFF2-40B4-BE49-F238E27FC236}">
                    <a16:creationId xmlns:a16="http://schemas.microsoft.com/office/drawing/2014/main" id="{CDDA8D14-5968-BC0E-A8BE-DD5D9A55F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27750" y="1947175"/>
                <a:ext cx="3973388" cy="390525"/>
              </a:xfrm>
              <a:prstGeom prst="rect">
                <a:avLst/>
              </a:prstGeom>
              <a:blipFill>
                <a:blip r:embed="rId16"/>
                <a:stretch>
                  <a:fillRect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78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33" grpId="0" animBg="1"/>
      <p:bldP spid="34" grpId="0"/>
      <p:bldP spid="35" grpId="0"/>
      <p:bldP spid="36" grpId="0"/>
      <p:bldP spid="3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>
            <a:extLst>
              <a:ext uri="{FF2B5EF4-FFF2-40B4-BE49-F238E27FC236}">
                <a16:creationId xmlns:a16="http://schemas.microsoft.com/office/drawing/2014/main" id="{960B3F9E-8B2B-0036-AFE1-361622F786F0}"/>
              </a:ext>
            </a:extLst>
          </p:cNvPr>
          <p:cNvSpPr txBox="1">
            <a:spLocks noChangeArrowheads="1"/>
          </p:cNvSpPr>
          <p:nvPr/>
        </p:nvSpPr>
        <p:spPr>
          <a:xfrm>
            <a:off x="1012787" y="797761"/>
            <a:ext cx="5847935" cy="56101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二、空间曲线的切线与法平面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8F9222-EE66-EB79-EAA2-FB7EDDF430FC}"/>
              </a:ext>
            </a:extLst>
          </p:cNvPr>
          <p:cNvSpPr txBox="1">
            <a:spLocks noChangeArrowheads="1"/>
          </p:cNvSpPr>
          <p:nvPr/>
        </p:nvSpPr>
        <p:spPr>
          <a:xfrm>
            <a:off x="1424719" y="1525467"/>
            <a:ext cx="1455770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定义</a:t>
            </a:r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40">
                <a:extLst>
                  <a:ext uri="{FF2B5EF4-FFF2-40B4-BE49-F238E27FC236}">
                    <a16:creationId xmlns:a16="http://schemas.microsoft.com/office/drawing/2014/main" id="{D65A558D-6ADE-AC91-F5BD-DE446C08CB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9564" y="2726271"/>
                <a:ext cx="908074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过点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𝑀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与切线垂直的平面称为曲线在该点的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法平面</a:t>
                </a:r>
                <a14:m>
                  <m:oMath xmlns:m="http://schemas.openxmlformats.org/officeDocument/2006/math">
                    <m:r>
                      <a:rPr kumimoji="1" lang="zh-CN" altLang="en-US" sz="2800" b="1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zh-CN" altLang="en-US" sz="2800" b="1" dirty="0">
                  <a:solidFill>
                    <a:srgbClr val="04926A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Text Box 40">
                <a:extLst>
                  <a:ext uri="{FF2B5EF4-FFF2-40B4-BE49-F238E27FC236}">
                    <a16:creationId xmlns:a16="http://schemas.microsoft.com/office/drawing/2014/main" id="{D65A558D-6ADE-AC91-F5BD-DE446C08C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9564" y="2726271"/>
                <a:ext cx="9080748" cy="523220"/>
              </a:xfrm>
              <a:prstGeom prst="rect">
                <a:avLst/>
              </a:prstGeom>
              <a:blipFill>
                <a:blip r:embed="rId4"/>
                <a:stretch>
                  <a:fillRect l="-1342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101">
            <a:extLst>
              <a:ext uri="{FF2B5EF4-FFF2-40B4-BE49-F238E27FC236}">
                <a16:creationId xmlns:a16="http://schemas.microsoft.com/office/drawing/2014/main" id="{55C18377-6930-43A7-A307-522A56467DA6}"/>
              </a:ext>
            </a:extLst>
          </p:cNvPr>
          <p:cNvSpPr>
            <a:spLocks/>
          </p:cNvSpPr>
          <p:nvPr/>
        </p:nvSpPr>
        <p:spPr bwMode="auto">
          <a:xfrm>
            <a:off x="2168153" y="4701401"/>
            <a:ext cx="882650" cy="1058863"/>
          </a:xfrm>
          <a:custGeom>
            <a:avLst/>
            <a:gdLst>
              <a:gd name="T0" fmla="*/ 6 w 450"/>
              <a:gd name="T1" fmla="*/ 528 h 540"/>
              <a:gd name="T2" fmla="*/ 18 w 450"/>
              <a:gd name="T3" fmla="*/ 504 h 540"/>
              <a:gd name="T4" fmla="*/ 24 w 450"/>
              <a:gd name="T5" fmla="*/ 480 h 540"/>
              <a:gd name="T6" fmla="*/ 36 w 450"/>
              <a:gd name="T7" fmla="*/ 456 h 540"/>
              <a:gd name="T8" fmla="*/ 42 w 450"/>
              <a:gd name="T9" fmla="*/ 438 h 540"/>
              <a:gd name="T10" fmla="*/ 54 w 450"/>
              <a:gd name="T11" fmla="*/ 420 h 540"/>
              <a:gd name="T12" fmla="*/ 60 w 450"/>
              <a:gd name="T13" fmla="*/ 396 h 540"/>
              <a:gd name="T14" fmla="*/ 72 w 450"/>
              <a:gd name="T15" fmla="*/ 384 h 540"/>
              <a:gd name="T16" fmla="*/ 78 w 450"/>
              <a:gd name="T17" fmla="*/ 366 h 540"/>
              <a:gd name="T18" fmla="*/ 84 w 450"/>
              <a:gd name="T19" fmla="*/ 348 h 540"/>
              <a:gd name="T20" fmla="*/ 96 w 450"/>
              <a:gd name="T21" fmla="*/ 330 h 540"/>
              <a:gd name="T22" fmla="*/ 102 w 450"/>
              <a:gd name="T23" fmla="*/ 318 h 540"/>
              <a:gd name="T24" fmla="*/ 114 w 450"/>
              <a:gd name="T25" fmla="*/ 306 h 540"/>
              <a:gd name="T26" fmla="*/ 120 w 450"/>
              <a:gd name="T27" fmla="*/ 288 h 540"/>
              <a:gd name="T28" fmla="*/ 132 w 450"/>
              <a:gd name="T29" fmla="*/ 276 h 540"/>
              <a:gd name="T30" fmla="*/ 138 w 450"/>
              <a:gd name="T31" fmla="*/ 264 h 540"/>
              <a:gd name="T32" fmla="*/ 150 w 450"/>
              <a:gd name="T33" fmla="*/ 252 h 540"/>
              <a:gd name="T34" fmla="*/ 156 w 450"/>
              <a:gd name="T35" fmla="*/ 240 h 540"/>
              <a:gd name="T36" fmla="*/ 168 w 450"/>
              <a:gd name="T37" fmla="*/ 228 h 540"/>
              <a:gd name="T38" fmla="*/ 174 w 450"/>
              <a:gd name="T39" fmla="*/ 216 h 540"/>
              <a:gd name="T40" fmla="*/ 186 w 450"/>
              <a:gd name="T41" fmla="*/ 210 h 540"/>
              <a:gd name="T42" fmla="*/ 192 w 450"/>
              <a:gd name="T43" fmla="*/ 198 h 540"/>
              <a:gd name="T44" fmla="*/ 204 w 450"/>
              <a:gd name="T45" fmla="*/ 186 h 540"/>
              <a:gd name="T46" fmla="*/ 210 w 450"/>
              <a:gd name="T47" fmla="*/ 180 h 540"/>
              <a:gd name="T48" fmla="*/ 222 w 450"/>
              <a:gd name="T49" fmla="*/ 168 h 540"/>
              <a:gd name="T50" fmla="*/ 228 w 450"/>
              <a:gd name="T51" fmla="*/ 162 h 540"/>
              <a:gd name="T52" fmla="*/ 240 w 450"/>
              <a:gd name="T53" fmla="*/ 150 h 540"/>
              <a:gd name="T54" fmla="*/ 246 w 450"/>
              <a:gd name="T55" fmla="*/ 144 h 540"/>
              <a:gd name="T56" fmla="*/ 252 w 450"/>
              <a:gd name="T57" fmla="*/ 138 h 540"/>
              <a:gd name="T58" fmla="*/ 264 w 450"/>
              <a:gd name="T59" fmla="*/ 126 h 540"/>
              <a:gd name="T60" fmla="*/ 270 w 450"/>
              <a:gd name="T61" fmla="*/ 120 h 540"/>
              <a:gd name="T62" fmla="*/ 282 w 450"/>
              <a:gd name="T63" fmla="*/ 114 h 540"/>
              <a:gd name="T64" fmla="*/ 288 w 450"/>
              <a:gd name="T65" fmla="*/ 108 h 540"/>
              <a:gd name="T66" fmla="*/ 300 w 450"/>
              <a:gd name="T67" fmla="*/ 96 h 540"/>
              <a:gd name="T68" fmla="*/ 306 w 450"/>
              <a:gd name="T69" fmla="*/ 90 h 540"/>
              <a:gd name="T70" fmla="*/ 318 w 450"/>
              <a:gd name="T71" fmla="*/ 84 h 540"/>
              <a:gd name="T72" fmla="*/ 324 w 450"/>
              <a:gd name="T73" fmla="*/ 78 h 540"/>
              <a:gd name="T74" fmla="*/ 336 w 450"/>
              <a:gd name="T75" fmla="*/ 72 h 540"/>
              <a:gd name="T76" fmla="*/ 342 w 450"/>
              <a:gd name="T77" fmla="*/ 66 h 540"/>
              <a:gd name="T78" fmla="*/ 354 w 450"/>
              <a:gd name="T79" fmla="*/ 60 h 540"/>
              <a:gd name="T80" fmla="*/ 360 w 450"/>
              <a:gd name="T81" fmla="*/ 54 h 540"/>
              <a:gd name="T82" fmla="*/ 372 w 450"/>
              <a:gd name="T83" fmla="*/ 48 h 540"/>
              <a:gd name="T84" fmla="*/ 378 w 450"/>
              <a:gd name="T85" fmla="*/ 42 h 540"/>
              <a:gd name="T86" fmla="*/ 390 w 450"/>
              <a:gd name="T87" fmla="*/ 36 h 540"/>
              <a:gd name="T88" fmla="*/ 396 w 450"/>
              <a:gd name="T89" fmla="*/ 30 h 540"/>
              <a:gd name="T90" fmla="*/ 408 w 450"/>
              <a:gd name="T91" fmla="*/ 30 h 540"/>
              <a:gd name="T92" fmla="*/ 414 w 450"/>
              <a:gd name="T93" fmla="*/ 24 h 540"/>
              <a:gd name="T94" fmla="*/ 426 w 450"/>
              <a:gd name="T95" fmla="*/ 18 h 540"/>
              <a:gd name="T96" fmla="*/ 432 w 450"/>
              <a:gd name="T97" fmla="*/ 12 h 540"/>
              <a:gd name="T98" fmla="*/ 438 w 450"/>
              <a:gd name="T99" fmla="*/ 6 h 540"/>
              <a:gd name="T100" fmla="*/ 450 w 450"/>
              <a:gd name="T101" fmla="*/ 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450" h="540">
                <a:moveTo>
                  <a:pt x="0" y="540"/>
                </a:moveTo>
                <a:lnTo>
                  <a:pt x="0" y="534"/>
                </a:lnTo>
                <a:lnTo>
                  <a:pt x="6" y="534"/>
                </a:lnTo>
                <a:lnTo>
                  <a:pt x="6" y="534"/>
                </a:lnTo>
                <a:lnTo>
                  <a:pt x="6" y="528"/>
                </a:lnTo>
                <a:lnTo>
                  <a:pt x="6" y="522"/>
                </a:lnTo>
                <a:lnTo>
                  <a:pt x="12" y="516"/>
                </a:lnTo>
                <a:lnTo>
                  <a:pt x="12" y="510"/>
                </a:lnTo>
                <a:lnTo>
                  <a:pt x="12" y="504"/>
                </a:lnTo>
                <a:lnTo>
                  <a:pt x="18" y="504"/>
                </a:lnTo>
                <a:lnTo>
                  <a:pt x="18" y="498"/>
                </a:lnTo>
                <a:lnTo>
                  <a:pt x="18" y="492"/>
                </a:lnTo>
                <a:lnTo>
                  <a:pt x="24" y="486"/>
                </a:lnTo>
                <a:lnTo>
                  <a:pt x="24" y="486"/>
                </a:lnTo>
                <a:lnTo>
                  <a:pt x="24" y="480"/>
                </a:lnTo>
                <a:lnTo>
                  <a:pt x="24" y="474"/>
                </a:lnTo>
                <a:lnTo>
                  <a:pt x="30" y="468"/>
                </a:lnTo>
                <a:lnTo>
                  <a:pt x="30" y="468"/>
                </a:lnTo>
                <a:lnTo>
                  <a:pt x="30" y="462"/>
                </a:lnTo>
                <a:lnTo>
                  <a:pt x="36" y="456"/>
                </a:lnTo>
                <a:lnTo>
                  <a:pt x="36" y="456"/>
                </a:lnTo>
                <a:lnTo>
                  <a:pt x="36" y="450"/>
                </a:lnTo>
                <a:lnTo>
                  <a:pt x="36" y="444"/>
                </a:lnTo>
                <a:lnTo>
                  <a:pt x="42" y="438"/>
                </a:lnTo>
                <a:lnTo>
                  <a:pt x="42" y="438"/>
                </a:lnTo>
                <a:lnTo>
                  <a:pt x="42" y="432"/>
                </a:lnTo>
                <a:lnTo>
                  <a:pt x="48" y="426"/>
                </a:lnTo>
                <a:lnTo>
                  <a:pt x="48" y="426"/>
                </a:lnTo>
                <a:lnTo>
                  <a:pt x="48" y="420"/>
                </a:lnTo>
                <a:lnTo>
                  <a:pt x="54" y="420"/>
                </a:lnTo>
                <a:lnTo>
                  <a:pt x="54" y="414"/>
                </a:lnTo>
                <a:lnTo>
                  <a:pt x="54" y="408"/>
                </a:lnTo>
                <a:lnTo>
                  <a:pt x="54" y="408"/>
                </a:lnTo>
                <a:lnTo>
                  <a:pt x="60" y="402"/>
                </a:lnTo>
                <a:lnTo>
                  <a:pt x="60" y="396"/>
                </a:lnTo>
                <a:lnTo>
                  <a:pt x="60" y="396"/>
                </a:lnTo>
                <a:lnTo>
                  <a:pt x="66" y="390"/>
                </a:lnTo>
                <a:lnTo>
                  <a:pt x="66" y="390"/>
                </a:lnTo>
                <a:lnTo>
                  <a:pt x="66" y="384"/>
                </a:lnTo>
                <a:lnTo>
                  <a:pt x="72" y="384"/>
                </a:lnTo>
                <a:lnTo>
                  <a:pt x="72" y="378"/>
                </a:lnTo>
                <a:lnTo>
                  <a:pt x="72" y="372"/>
                </a:lnTo>
                <a:lnTo>
                  <a:pt x="72" y="372"/>
                </a:lnTo>
                <a:lnTo>
                  <a:pt x="78" y="366"/>
                </a:lnTo>
                <a:lnTo>
                  <a:pt x="78" y="366"/>
                </a:lnTo>
                <a:lnTo>
                  <a:pt x="78" y="360"/>
                </a:lnTo>
                <a:lnTo>
                  <a:pt x="84" y="360"/>
                </a:lnTo>
                <a:lnTo>
                  <a:pt x="84" y="354"/>
                </a:lnTo>
                <a:lnTo>
                  <a:pt x="84" y="354"/>
                </a:lnTo>
                <a:lnTo>
                  <a:pt x="84" y="348"/>
                </a:lnTo>
                <a:lnTo>
                  <a:pt x="90" y="342"/>
                </a:lnTo>
                <a:lnTo>
                  <a:pt x="90" y="342"/>
                </a:lnTo>
                <a:lnTo>
                  <a:pt x="90" y="336"/>
                </a:lnTo>
                <a:lnTo>
                  <a:pt x="96" y="336"/>
                </a:lnTo>
                <a:lnTo>
                  <a:pt x="96" y="330"/>
                </a:lnTo>
                <a:lnTo>
                  <a:pt x="96" y="330"/>
                </a:lnTo>
                <a:lnTo>
                  <a:pt x="102" y="324"/>
                </a:lnTo>
                <a:lnTo>
                  <a:pt x="102" y="324"/>
                </a:lnTo>
                <a:lnTo>
                  <a:pt x="102" y="318"/>
                </a:lnTo>
                <a:lnTo>
                  <a:pt x="102" y="318"/>
                </a:lnTo>
                <a:lnTo>
                  <a:pt x="108" y="318"/>
                </a:lnTo>
                <a:lnTo>
                  <a:pt x="108" y="312"/>
                </a:lnTo>
                <a:lnTo>
                  <a:pt x="108" y="312"/>
                </a:lnTo>
                <a:lnTo>
                  <a:pt x="114" y="306"/>
                </a:lnTo>
                <a:lnTo>
                  <a:pt x="114" y="306"/>
                </a:lnTo>
                <a:lnTo>
                  <a:pt x="114" y="300"/>
                </a:lnTo>
                <a:lnTo>
                  <a:pt x="114" y="300"/>
                </a:lnTo>
                <a:lnTo>
                  <a:pt x="120" y="294"/>
                </a:lnTo>
                <a:lnTo>
                  <a:pt x="120" y="294"/>
                </a:lnTo>
                <a:lnTo>
                  <a:pt x="120" y="288"/>
                </a:lnTo>
                <a:lnTo>
                  <a:pt x="126" y="288"/>
                </a:lnTo>
                <a:lnTo>
                  <a:pt x="126" y="282"/>
                </a:lnTo>
                <a:lnTo>
                  <a:pt x="126" y="282"/>
                </a:lnTo>
                <a:lnTo>
                  <a:pt x="132" y="282"/>
                </a:lnTo>
                <a:lnTo>
                  <a:pt x="132" y="276"/>
                </a:lnTo>
                <a:lnTo>
                  <a:pt x="132" y="276"/>
                </a:lnTo>
                <a:lnTo>
                  <a:pt x="132" y="270"/>
                </a:lnTo>
                <a:lnTo>
                  <a:pt x="138" y="270"/>
                </a:lnTo>
                <a:lnTo>
                  <a:pt x="138" y="270"/>
                </a:lnTo>
                <a:lnTo>
                  <a:pt x="138" y="264"/>
                </a:lnTo>
                <a:lnTo>
                  <a:pt x="144" y="264"/>
                </a:lnTo>
                <a:lnTo>
                  <a:pt x="144" y="258"/>
                </a:lnTo>
                <a:lnTo>
                  <a:pt x="144" y="258"/>
                </a:lnTo>
                <a:lnTo>
                  <a:pt x="144" y="252"/>
                </a:lnTo>
                <a:lnTo>
                  <a:pt x="150" y="252"/>
                </a:lnTo>
                <a:lnTo>
                  <a:pt x="150" y="252"/>
                </a:lnTo>
                <a:lnTo>
                  <a:pt x="150" y="246"/>
                </a:lnTo>
                <a:lnTo>
                  <a:pt x="156" y="246"/>
                </a:lnTo>
                <a:lnTo>
                  <a:pt x="156" y="246"/>
                </a:lnTo>
                <a:lnTo>
                  <a:pt x="156" y="240"/>
                </a:lnTo>
                <a:lnTo>
                  <a:pt x="162" y="240"/>
                </a:lnTo>
                <a:lnTo>
                  <a:pt x="162" y="234"/>
                </a:lnTo>
                <a:lnTo>
                  <a:pt x="162" y="234"/>
                </a:lnTo>
                <a:lnTo>
                  <a:pt x="162" y="234"/>
                </a:lnTo>
                <a:lnTo>
                  <a:pt x="168" y="228"/>
                </a:lnTo>
                <a:lnTo>
                  <a:pt x="168" y="228"/>
                </a:lnTo>
                <a:lnTo>
                  <a:pt x="168" y="228"/>
                </a:lnTo>
                <a:lnTo>
                  <a:pt x="174" y="222"/>
                </a:lnTo>
                <a:lnTo>
                  <a:pt x="174" y="222"/>
                </a:lnTo>
                <a:lnTo>
                  <a:pt x="174" y="216"/>
                </a:lnTo>
                <a:lnTo>
                  <a:pt x="180" y="216"/>
                </a:lnTo>
                <a:lnTo>
                  <a:pt x="180" y="216"/>
                </a:lnTo>
                <a:lnTo>
                  <a:pt x="180" y="210"/>
                </a:lnTo>
                <a:lnTo>
                  <a:pt x="180" y="210"/>
                </a:lnTo>
                <a:lnTo>
                  <a:pt x="186" y="210"/>
                </a:lnTo>
                <a:lnTo>
                  <a:pt x="186" y="204"/>
                </a:lnTo>
                <a:lnTo>
                  <a:pt x="186" y="204"/>
                </a:lnTo>
                <a:lnTo>
                  <a:pt x="192" y="204"/>
                </a:lnTo>
                <a:lnTo>
                  <a:pt x="192" y="198"/>
                </a:lnTo>
                <a:lnTo>
                  <a:pt x="192" y="198"/>
                </a:lnTo>
                <a:lnTo>
                  <a:pt x="192" y="198"/>
                </a:lnTo>
                <a:lnTo>
                  <a:pt x="198" y="192"/>
                </a:lnTo>
                <a:lnTo>
                  <a:pt x="198" y="192"/>
                </a:lnTo>
                <a:lnTo>
                  <a:pt x="198" y="192"/>
                </a:lnTo>
                <a:lnTo>
                  <a:pt x="204" y="186"/>
                </a:lnTo>
                <a:lnTo>
                  <a:pt x="204" y="186"/>
                </a:lnTo>
                <a:lnTo>
                  <a:pt x="204" y="186"/>
                </a:lnTo>
                <a:lnTo>
                  <a:pt x="210" y="180"/>
                </a:lnTo>
                <a:lnTo>
                  <a:pt x="210" y="180"/>
                </a:lnTo>
                <a:lnTo>
                  <a:pt x="210" y="180"/>
                </a:lnTo>
                <a:lnTo>
                  <a:pt x="210" y="180"/>
                </a:lnTo>
                <a:lnTo>
                  <a:pt x="216" y="174"/>
                </a:lnTo>
                <a:lnTo>
                  <a:pt x="216" y="174"/>
                </a:lnTo>
                <a:lnTo>
                  <a:pt x="216" y="174"/>
                </a:lnTo>
                <a:lnTo>
                  <a:pt x="222" y="168"/>
                </a:lnTo>
                <a:lnTo>
                  <a:pt x="222" y="168"/>
                </a:lnTo>
                <a:lnTo>
                  <a:pt x="222" y="168"/>
                </a:lnTo>
                <a:lnTo>
                  <a:pt x="222" y="162"/>
                </a:lnTo>
                <a:lnTo>
                  <a:pt x="228" y="162"/>
                </a:lnTo>
                <a:lnTo>
                  <a:pt x="228" y="162"/>
                </a:lnTo>
                <a:lnTo>
                  <a:pt x="228" y="162"/>
                </a:lnTo>
                <a:lnTo>
                  <a:pt x="234" y="156"/>
                </a:lnTo>
                <a:lnTo>
                  <a:pt x="234" y="156"/>
                </a:lnTo>
                <a:lnTo>
                  <a:pt x="234" y="156"/>
                </a:lnTo>
                <a:lnTo>
                  <a:pt x="240" y="150"/>
                </a:lnTo>
                <a:lnTo>
                  <a:pt x="240" y="150"/>
                </a:lnTo>
                <a:lnTo>
                  <a:pt x="240" y="150"/>
                </a:lnTo>
                <a:lnTo>
                  <a:pt x="240" y="150"/>
                </a:lnTo>
                <a:lnTo>
                  <a:pt x="246" y="144"/>
                </a:lnTo>
                <a:lnTo>
                  <a:pt x="246" y="144"/>
                </a:lnTo>
                <a:lnTo>
                  <a:pt x="246" y="144"/>
                </a:lnTo>
                <a:lnTo>
                  <a:pt x="252" y="138"/>
                </a:lnTo>
                <a:lnTo>
                  <a:pt x="252" y="138"/>
                </a:lnTo>
                <a:lnTo>
                  <a:pt x="252" y="138"/>
                </a:lnTo>
                <a:lnTo>
                  <a:pt x="252" y="138"/>
                </a:lnTo>
                <a:lnTo>
                  <a:pt x="258" y="132"/>
                </a:lnTo>
                <a:lnTo>
                  <a:pt x="258" y="132"/>
                </a:lnTo>
                <a:lnTo>
                  <a:pt x="258" y="132"/>
                </a:lnTo>
                <a:lnTo>
                  <a:pt x="264" y="132"/>
                </a:lnTo>
                <a:lnTo>
                  <a:pt x="264" y="126"/>
                </a:lnTo>
                <a:lnTo>
                  <a:pt x="264" y="126"/>
                </a:lnTo>
                <a:lnTo>
                  <a:pt x="270" y="126"/>
                </a:lnTo>
                <a:lnTo>
                  <a:pt x="270" y="126"/>
                </a:lnTo>
                <a:lnTo>
                  <a:pt x="270" y="120"/>
                </a:lnTo>
                <a:lnTo>
                  <a:pt x="270" y="120"/>
                </a:lnTo>
                <a:lnTo>
                  <a:pt x="276" y="120"/>
                </a:lnTo>
                <a:lnTo>
                  <a:pt x="276" y="120"/>
                </a:lnTo>
                <a:lnTo>
                  <a:pt x="276" y="114"/>
                </a:lnTo>
                <a:lnTo>
                  <a:pt x="282" y="114"/>
                </a:lnTo>
                <a:lnTo>
                  <a:pt x="282" y="114"/>
                </a:lnTo>
                <a:lnTo>
                  <a:pt x="282" y="114"/>
                </a:lnTo>
                <a:lnTo>
                  <a:pt x="288" y="108"/>
                </a:lnTo>
                <a:lnTo>
                  <a:pt x="288" y="108"/>
                </a:lnTo>
                <a:lnTo>
                  <a:pt x="288" y="108"/>
                </a:lnTo>
                <a:lnTo>
                  <a:pt x="288" y="108"/>
                </a:lnTo>
                <a:lnTo>
                  <a:pt x="294" y="102"/>
                </a:lnTo>
                <a:lnTo>
                  <a:pt x="294" y="102"/>
                </a:lnTo>
                <a:lnTo>
                  <a:pt x="294" y="102"/>
                </a:lnTo>
                <a:lnTo>
                  <a:pt x="300" y="102"/>
                </a:lnTo>
                <a:lnTo>
                  <a:pt x="300" y="96"/>
                </a:lnTo>
                <a:lnTo>
                  <a:pt x="300" y="96"/>
                </a:lnTo>
                <a:lnTo>
                  <a:pt x="300" y="96"/>
                </a:lnTo>
                <a:lnTo>
                  <a:pt x="306" y="96"/>
                </a:lnTo>
                <a:lnTo>
                  <a:pt x="306" y="96"/>
                </a:lnTo>
                <a:lnTo>
                  <a:pt x="306" y="90"/>
                </a:lnTo>
                <a:lnTo>
                  <a:pt x="312" y="90"/>
                </a:lnTo>
                <a:lnTo>
                  <a:pt x="312" y="90"/>
                </a:lnTo>
                <a:lnTo>
                  <a:pt x="312" y="90"/>
                </a:lnTo>
                <a:lnTo>
                  <a:pt x="318" y="84"/>
                </a:lnTo>
                <a:lnTo>
                  <a:pt x="318" y="84"/>
                </a:lnTo>
                <a:lnTo>
                  <a:pt x="318" y="84"/>
                </a:lnTo>
                <a:lnTo>
                  <a:pt x="318" y="84"/>
                </a:lnTo>
                <a:lnTo>
                  <a:pt x="324" y="84"/>
                </a:lnTo>
                <a:lnTo>
                  <a:pt x="324" y="78"/>
                </a:lnTo>
                <a:lnTo>
                  <a:pt x="324" y="78"/>
                </a:lnTo>
                <a:lnTo>
                  <a:pt x="330" y="78"/>
                </a:lnTo>
                <a:lnTo>
                  <a:pt x="330" y="78"/>
                </a:lnTo>
                <a:lnTo>
                  <a:pt x="330" y="72"/>
                </a:lnTo>
                <a:lnTo>
                  <a:pt x="330" y="72"/>
                </a:lnTo>
                <a:lnTo>
                  <a:pt x="336" y="72"/>
                </a:lnTo>
                <a:lnTo>
                  <a:pt x="336" y="72"/>
                </a:lnTo>
                <a:lnTo>
                  <a:pt x="336" y="72"/>
                </a:lnTo>
                <a:lnTo>
                  <a:pt x="342" y="66"/>
                </a:lnTo>
                <a:lnTo>
                  <a:pt x="342" y="66"/>
                </a:lnTo>
                <a:lnTo>
                  <a:pt x="342" y="66"/>
                </a:lnTo>
                <a:lnTo>
                  <a:pt x="348" y="66"/>
                </a:lnTo>
                <a:lnTo>
                  <a:pt x="348" y="66"/>
                </a:lnTo>
                <a:lnTo>
                  <a:pt x="348" y="60"/>
                </a:lnTo>
                <a:lnTo>
                  <a:pt x="348" y="60"/>
                </a:lnTo>
                <a:lnTo>
                  <a:pt x="354" y="60"/>
                </a:lnTo>
                <a:lnTo>
                  <a:pt x="354" y="60"/>
                </a:lnTo>
                <a:lnTo>
                  <a:pt x="354" y="60"/>
                </a:lnTo>
                <a:lnTo>
                  <a:pt x="360" y="54"/>
                </a:lnTo>
                <a:lnTo>
                  <a:pt x="360" y="54"/>
                </a:lnTo>
                <a:lnTo>
                  <a:pt x="360" y="54"/>
                </a:lnTo>
                <a:lnTo>
                  <a:pt x="360" y="54"/>
                </a:lnTo>
                <a:lnTo>
                  <a:pt x="366" y="54"/>
                </a:lnTo>
                <a:lnTo>
                  <a:pt x="366" y="48"/>
                </a:lnTo>
                <a:lnTo>
                  <a:pt x="366" y="48"/>
                </a:lnTo>
                <a:lnTo>
                  <a:pt x="372" y="48"/>
                </a:lnTo>
                <a:lnTo>
                  <a:pt x="372" y="48"/>
                </a:lnTo>
                <a:lnTo>
                  <a:pt x="372" y="48"/>
                </a:lnTo>
                <a:lnTo>
                  <a:pt x="378" y="48"/>
                </a:lnTo>
                <a:lnTo>
                  <a:pt x="378" y="42"/>
                </a:lnTo>
                <a:lnTo>
                  <a:pt x="378" y="42"/>
                </a:lnTo>
                <a:lnTo>
                  <a:pt x="378" y="42"/>
                </a:lnTo>
                <a:lnTo>
                  <a:pt x="384" y="42"/>
                </a:lnTo>
                <a:lnTo>
                  <a:pt x="384" y="42"/>
                </a:lnTo>
                <a:lnTo>
                  <a:pt x="384" y="36"/>
                </a:lnTo>
                <a:lnTo>
                  <a:pt x="390" y="36"/>
                </a:lnTo>
                <a:lnTo>
                  <a:pt x="390" y="36"/>
                </a:lnTo>
                <a:lnTo>
                  <a:pt x="390" y="36"/>
                </a:lnTo>
                <a:lnTo>
                  <a:pt x="390" y="36"/>
                </a:lnTo>
                <a:lnTo>
                  <a:pt x="396" y="36"/>
                </a:lnTo>
                <a:lnTo>
                  <a:pt x="396" y="30"/>
                </a:lnTo>
                <a:lnTo>
                  <a:pt x="396" y="30"/>
                </a:lnTo>
                <a:lnTo>
                  <a:pt x="402" y="30"/>
                </a:lnTo>
                <a:lnTo>
                  <a:pt x="402" y="30"/>
                </a:lnTo>
                <a:lnTo>
                  <a:pt x="402" y="30"/>
                </a:lnTo>
                <a:lnTo>
                  <a:pt x="408" y="30"/>
                </a:lnTo>
                <a:lnTo>
                  <a:pt x="408" y="24"/>
                </a:lnTo>
                <a:lnTo>
                  <a:pt x="408" y="24"/>
                </a:lnTo>
                <a:lnTo>
                  <a:pt x="408" y="24"/>
                </a:lnTo>
                <a:lnTo>
                  <a:pt x="414" y="24"/>
                </a:lnTo>
                <a:lnTo>
                  <a:pt x="414" y="24"/>
                </a:lnTo>
                <a:lnTo>
                  <a:pt x="414" y="24"/>
                </a:lnTo>
                <a:lnTo>
                  <a:pt x="420" y="18"/>
                </a:lnTo>
                <a:lnTo>
                  <a:pt x="420" y="18"/>
                </a:lnTo>
                <a:lnTo>
                  <a:pt x="420" y="18"/>
                </a:lnTo>
                <a:lnTo>
                  <a:pt x="426" y="18"/>
                </a:lnTo>
                <a:lnTo>
                  <a:pt x="426" y="18"/>
                </a:lnTo>
                <a:lnTo>
                  <a:pt x="426" y="18"/>
                </a:lnTo>
                <a:lnTo>
                  <a:pt x="426" y="12"/>
                </a:lnTo>
                <a:lnTo>
                  <a:pt x="432" y="12"/>
                </a:lnTo>
                <a:lnTo>
                  <a:pt x="432" y="12"/>
                </a:lnTo>
                <a:lnTo>
                  <a:pt x="432" y="12"/>
                </a:lnTo>
                <a:lnTo>
                  <a:pt x="438" y="12"/>
                </a:lnTo>
                <a:lnTo>
                  <a:pt x="438" y="12"/>
                </a:lnTo>
                <a:lnTo>
                  <a:pt x="438" y="6"/>
                </a:lnTo>
                <a:lnTo>
                  <a:pt x="438" y="6"/>
                </a:lnTo>
                <a:lnTo>
                  <a:pt x="444" y="6"/>
                </a:lnTo>
                <a:lnTo>
                  <a:pt x="444" y="6"/>
                </a:lnTo>
                <a:lnTo>
                  <a:pt x="444" y="6"/>
                </a:lnTo>
                <a:lnTo>
                  <a:pt x="450" y="6"/>
                </a:lnTo>
                <a:lnTo>
                  <a:pt x="450" y="0"/>
                </a:lnTo>
                <a:lnTo>
                  <a:pt x="450" y="0"/>
                </a:lnTo>
              </a:path>
            </a:pathLst>
          </a:custGeom>
          <a:noFill/>
          <a:ln w="19050" cmpd="sng">
            <a:solidFill>
              <a:srgbClr val="04926A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Freeform 115">
            <a:extLst>
              <a:ext uri="{FF2B5EF4-FFF2-40B4-BE49-F238E27FC236}">
                <a16:creationId xmlns:a16="http://schemas.microsoft.com/office/drawing/2014/main" id="{757AF952-7712-BDF3-5FF0-C8866FBBAC31}"/>
              </a:ext>
            </a:extLst>
          </p:cNvPr>
          <p:cNvSpPr>
            <a:spLocks/>
          </p:cNvSpPr>
          <p:nvPr/>
        </p:nvSpPr>
        <p:spPr bwMode="auto">
          <a:xfrm rot="20759476">
            <a:off x="2320553" y="3594913"/>
            <a:ext cx="1035050" cy="2354262"/>
          </a:xfrm>
          <a:custGeom>
            <a:avLst/>
            <a:gdLst>
              <a:gd name="T0" fmla="*/ 0 w 384"/>
              <a:gd name="T1" fmla="*/ 288 h 864"/>
              <a:gd name="T2" fmla="*/ 0 w 384"/>
              <a:gd name="T3" fmla="*/ 864 h 864"/>
              <a:gd name="T4" fmla="*/ 384 w 384"/>
              <a:gd name="T5" fmla="*/ 576 h 864"/>
              <a:gd name="T6" fmla="*/ 384 w 384"/>
              <a:gd name="T7" fmla="*/ 0 h 864"/>
              <a:gd name="T8" fmla="*/ 0 w 384"/>
              <a:gd name="T9" fmla="*/ 288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4" h="864">
                <a:moveTo>
                  <a:pt x="0" y="288"/>
                </a:moveTo>
                <a:lnTo>
                  <a:pt x="0" y="864"/>
                </a:lnTo>
                <a:lnTo>
                  <a:pt x="384" y="576"/>
                </a:lnTo>
                <a:lnTo>
                  <a:pt x="384" y="0"/>
                </a:lnTo>
                <a:lnTo>
                  <a:pt x="0" y="288"/>
                </a:lnTo>
                <a:close/>
              </a:path>
            </a:pathLst>
          </a:cu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Line 107">
            <a:extLst>
              <a:ext uri="{FF2B5EF4-FFF2-40B4-BE49-F238E27FC236}">
                <a16:creationId xmlns:a16="http://schemas.microsoft.com/office/drawing/2014/main" id="{132598AF-8602-5815-B2F3-45C25B99D6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92042" y="3688576"/>
            <a:ext cx="1881187" cy="1177925"/>
          </a:xfrm>
          <a:prstGeom prst="line">
            <a:avLst/>
          </a:prstGeom>
          <a:noFill/>
          <a:ln w="28575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08">
                <a:extLst>
                  <a:ext uri="{FF2B5EF4-FFF2-40B4-BE49-F238E27FC236}">
                    <a16:creationId xmlns:a16="http://schemas.microsoft.com/office/drawing/2014/main" id="{5BF75389-8067-CD51-7C8C-1DC987748C0E}"/>
                  </a:ext>
                </a:extLst>
              </p:cNvPr>
              <p:cNvSpPr txBox="1"/>
              <p:nvPr/>
            </p:nvSpPr>
            <p:spPr bwMode="auto">
              <a:xfrm>
                <a:off x="4809753" y="3834625"/>
                <a:ext cx="468608" cy="3750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𝛤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Object 108">
                <a:extLst>
                  <a:ext uri="{FF2B5EF4-FFF2-40B4-BE49-F238E27FC236}">
                    <a16:creationId xmlns:a16="http://schemas.microsoft.com/office/drawing/2014/main" id="{5BF75389-8067-CD51-7C8C-1DC987748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9753" y="3834625"/>
                <a:ext cx="468608" cy="375028"/>
              </a:xfrm>
              <a:prstGeom prst="rect">
                <a:avLst/>
              </a:prstGeom>
              <a:blipFill>
                <a:blip r:embed="rId5"/>
                <a:stretch>
                  <a:fillRect l="-1299" b="-1129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9">
                <a:extLst>
                  <a:ext uri="{FF2B5EF4-FFF2-40B4-BE49-F238E27FC236}">
                    <a16:creationId xmlns:a16="http://schemas.microsoft.com/office/drawing/2014/main" id="{DB6846F6-82C5-8CF8-FA5D-D535E278715E}"/>
                  </a:ext>
                </a:extLst>
              </p:cNvPr>
              <p:cNvSpPr txBox="1"/>
              <p:nvPr/>
            </p:nvSpPr>
            <p:spPr bwMode="auto">
              <a:xfrm>
                <a:off x="4339853" y="3434575"/>
                <a:ext cx="266700" cy="304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𝑇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109">
                <a:extLst>
                  <a:ext uri="{FF2B5EF4-FFF2-40B4-BE49-F238E27FC236}">
                    <a16:creationId xmlns:a16="http://schemas.microsoft.com/office/drawing/2014/main" id="{DB6846F6-82C5-8CF8-FA5D-D535E2787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39853" y="3434575"/>
                <a:ext cx="266700" cy="304800"/>
              </a:xfrm>
              <a:prstGeom prst="rect">
                <a:avLst/>
              </a:prstGeom>
              <a:blipFill>
                <a:blip r:embed="rId6"/>
                <a:stretch>
                  <a:fillRect l="-2273" r="-31818" b="-38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10">
                <a:extLst>
                  <a:ext uri="{FF2B5EF4-FFF2-40B4-BE49-F238E27FC236}">
                    <a16:creationId xmlns:a16="http://schemas.microsoft.com/office/drawing/2014/main" id="{6B6A5701-9CB1-B8B7-9A3D-615B0B90B95B}"/>
                  </a:ext>
                </a:extLst>
              </p:cNvPr>
              <p:cNvSpPr txBox="1"/>
              <p:nvPr/>
            </p:nvSpPr>
            <p:spPr bwMode="auto">
              <a:xfrm>
                <a:off x="2549153" y="4425175"/>
                <a:ext cx="406400" cy="304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𝑀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Object 110">
                <a:extLst>
                  <a:ext uri="{FF2B5EF4-FFF2-40B4-BE49-F238E27FC236}">
                    <a16:creationId xmlns:a16="http://schemas.microsoft.com/office/drawing/2014/main" id="{6B6A5701-9CB1-B8B7-9A3D-615B0B90B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9153" y="4425175"/>
                <a:ext cx="406400" cy="304800"/>
              </a:xfrm>
              <a:prstGeom prst="rect">
                <a:avLst/>
              </a:prstGeom>
              <a:blipFill>
                <a:blip r:embed="rId7"/>
                <a:stretch>
                  <a:fillRect l="-1493" r="-4478" b="-36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6">
                <a:extLst>
                  <a:ext uri="{FF2B5EF4-FFF2-40B4-BE49-F238E27FC236}">
                    <a16:creationId xmlns:a16="http://schemas.microsoft.com/office/drawing/2014/main" id="{21166705-29DB-6F8E-DCD8-6AFD1C35DB5F}"/>
                  </a:ext>
                </a:extLst>
              </p:cNvPr>
              <p:cNvSpPr txBox="1"/>
              <p:nvPr/>
            </p:nvSpPr>
            <p:spPr bwMode="auto">
              <a:xfrm>
                <a:off x="3179019" y="3571846"/>
                <a:ext cx="362691" cy="44659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𝜋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Object 116">
                <a:extLst>
                  <a:ext uri="{FF2B5EF4-FFF2-40B4-BE49-F238E27FC236}">
                    <a16:creationId xmlns:a16="http://schemas.microsoft.com/office/drawing/2014/main" id="{21166705-29DB-6F8E-DCD8-6AFD1C35D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9019" y="3571846"/>
                <a:ext cx="362691" cy="4465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19">
                <a:extLst>
                  <a:ext uri="{FF2B5EF4-FFF2-40B4-BE49-F238E27FC236}">
                    <a16:creationId xmlns:a16="http://schemas.microsoft.com/office/drawing/2014/main" id="{1633B124-A781-6A22-EAA0-33761B2628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9564" y="2135067"/>
                <a:ext cx="916281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空间光滑曲线在点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𝑀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处的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切线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为此点处割线的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极限位置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12" name="Text Box 119">
                <a:extLst>
                  <a:ext uri="{FF2B5EF4-FFF2-40B4-BE49-F238E27FC236}">
                    <a16:creationId xmlns:a16="http://schemas.microsoft.com/office/drawing/2014/main" id="{1633B124-A781-6A22-EAA0-33761B262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9564" y="2135067"/>
                <a:ext cx="9162810" cy="523220"/>
              </a:xfrm>
              <a:prstGeom prst="rect">
                <a:avLst/>
              </a:prstGeom>
              <a:blipFill>
                <a:blip r:embed="rId9"/>
                <a:stretch>
                  <a:fillRect l="-1331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1">
            <a:extLst>
              <a:ext uri="{FF2B5EF4-FFF2-40B4-BE49-F238E27FC236}">
                <a16:creationId xmlns:a16="http://schemas.microsoft.com/office/drawing/2014/main" id="{4F7BF677-023E-5115-3FAB-DDAAF4096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7754" y="4828401"/>
            <a:ext cx="53975" cy="53975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14" name="Group 103">
            <a:extLst>
              <a:ext uri="{FF2B5EF4-FFF2-40B4-BE49-F238E27FC236}">
                <a16:creationId xmlns:a16="http://schemas.microsoft.com/office/drawing/2014/main" id="{6A5297ED-9642-C224-AAB5-FB05A805071A}"/>
              </a:ext>
            </a:extLst>
          </p:cNvPr>
          <p:cNvGrpSpPr>
            <a:grpSpLocks/>
          </p:cNvGrpSpPr>
          <p:nvPr/>
        </p:nvGrpSpPr>
        <p:grpSpPr bwMode="auto">
          <a:xfrm>
            <a:off x="2853954" y="4207687"/>
            <a:ext cx="2301876" cy="620713"/>
            <a:chOff x="1764" y="2520"/>
            <a:chExt cx="1074" cy="252"/>
          </a:xfrm>
        </p:grpSpPr>
        <p:sp>
          <p:nvSpPr>
            <p:cNvPr id="15" name="Freeform 104">
              <a:extLst>
                <a:ext uri="{FF2B5EF4-FFF2-40B4-BE49-F238E27FC236}">
                  <a16:creationId xmlns:a16="http://schemas.microsoft.com/office/drawing/2014/main" id="{6E7F962F-1629-3D5C-F66C-00D0A59DE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4" y="2622"/>
              <a:ext cx="450" cy="150"/>
            </a:xfrm>
            <a:custGeom>
              <a:avLst/>
              <a:gdLst>
                <a:gd name="T0" fmla="*/ 6 w 450"/>
                <a:gd name="T1" fmla="*/ 150 h 150"/>
                <a:gd name="T2" fmla="*/ 18 w 450"/>
                <a:gd name="T3" fmla="*/ 144 h 150"/>
                <a:gd name="T4" fmla="*/ 24 w 450"/>
                <a:gd name="T5" fmla="*/ 138 h 150"/>
                <a:gd name="T6" fmla="*/ 36 w 450"/>
                <a:gd name="T7" fmla="*/ 138 h 150"/>
                <a:gd name="T8" fmla="*/ 42 w 450"/>
                <a:gd name="T9" fmla="*/ 132 h 150"/>
                <a:gd name="T10" fmla="*/ 54 w 450"/>
                <a:gd name="T11" fmla="*/ 126 h 150"/>
                <a:gd name="T12" fmla="*/ 60 w 450"/>
                <a:gd name="T13" fmla="*/ 120 h 150"/>
                <a:gd name="T14" fmla="*/ 72 w 450"/>
                <a:gd name="T15" fmla="*/ 120 h 150"/>
                <a:gd name="T16" fmla="*/ 78 w 450"/>
                <a:gd name="T17" fmla="*/ 114 h 150"/>
                <a:gd name="T18" fmla="*/ 90 w 450"/>
                <a:gd name="T19" fmla="*/ 114 h 150"/>
                <a:gd name="T20" fmla="*/ 96 w 450"/>
                <a:gd name="T21" fmla="*/ 108 h 150"/>
                <a:gd name="T22" fmla="*/ 108 w 450"/>
                <a:gd name="T23" fmla="*/ 102 h 150"/>
                <a:gd name="T24" fmla="*/ 114 w 450"/>
                <a:gd name="T25" fmla="*/ 102 h 150"/>
                <a:gd name="T26" fmla="*/ 126 w 450"/>
                <a:gd name="T27" fmla="*/ 96 h 150"/>
                <a:gd name="T28" fmla="*/ 132 w 450"/>
                <a:gd name="T29" fmla="*/ 90 h 150"/>
                <a:gd name="T30" fmla="*/ 144 w 450"/>
                <a:gd name="T31" fmla="*/ 90 h 150"/>
                <a:gd name="T32" fmla="*/ 150 w 450"/>
                <a:gd name="T33" fmla="*/ 84 h 150"/>
                <a:gd name="T34" fmla="*/ 156 w 450"/>
                <a:gd name="T35" fmla="*/ 84 h 150"/>
                <a:gd name="T36" fmla="*/ 168 w 450"/>
                <a:gd name="T37" fmla="*/ 78 h 150"/>
                <a:gd name="T38" fmla="*/ 174 w 450"/>
                <a:gd name="T39" fmla="*/ 78 h 150"/>
                <a:gd name="T40" fmla="*/ 186 w 450"/>
                <a:gd name="T41" fmla="*/ 72 h 150"/>
                <a:gd name="T42" fmla="*/ 192 w 450"/>
                <a:gd name="T43" fmla="*/ 72 h 150"/>
                <a:gd name="T44" fmla="*/ 204 w 450"/>
                <a:gd name="T45" fmla="*/ 66 h 150"/>
                <a:gd name="T46" fmla="*/ 210 w 450"/>
                <a:gd name="T47" fmla="*/ 66 h 150"/>
                <a:gd name="T48" fmla="*/ 222 w 450"/>
                <a:gd name="T49" fmla="*/ 60 h 150"/>
                <a:gd name="T50" fmla="*/ 228 w 450"/>
                <a:gd name="T51" fmla="*/ 60 h 150"/>
                <a:gd name="T52" fmla="*/ 240 w 450"/>
                <a:gd name="T53" fmla="*/ 54 h 150"/>
                <a:gd name="T54" fmla="*/ 246 w 450"/>
                <a:gd name="T55" fmla="*/ 54 h 150"/>
                <a:gd name="T56" fmla="*/ 258 w 450"/>
                <a:gd name="T57" fmla="*/ 48 h 150"/>
                <a:gd name="T58" fmla="*/ 264 w 450"/>
                <a:gd name="T59" fmla="*/ 48 h 150"/>
                <a:gd name="T60" fmla="*/ 276 w 450"/>
                <a:gd name="T61" fmla="*/ 42 h 150"/>
                <a:gd name="T62" fmla="*/ 282 w 450"/>
                <a:gd name="T63" fmla="*/ 42 h 150"/>
                <a:gd name="T64" fmla="*/ 294 w 450"/>
                <a:gd name="T65" fmla="*/ 42 h 150"/>
                <a:gd name="T66" fmla="*/ 300 w 450"/>
                <a:gd name="T67" fmla="*/ 36 h 150"/>
                <a:gd name="T68" fmla="*/ 312 w 450"/>
                <a:gd name="T69" fmla="*/ 36 h 150"/>
                <a:gd name="T70" fmla="*/ 318 w 450"/>
                <a:gd name="T71" fmla="*/ 30 h 150"/>
                <a:gd name="T72" fmla="*/ 330 w 450"/>
                <a:gd name="T73" fmla="*/ 30 h 150"/>
                <a:gd name="T74" fmla="*/ 336 w 450"/>
                <a:gd name="T75" fmla="*/ 30 h 150"/>
                <a:gd name="T76" fmla="*/ 342 w 450"/>
                <a:gd name="T77" fmla="*/ 24 h 150"/>
                <a:gd name="T78" fmla="*/ 354 w 450"/>
                <a:gd name="T79" fmla="*/ 24 h 150"/>
                <a:gd name="T80" fmla="*/ 360 w 450"/>
                <a:gd name="T81" fmla="*/ 18 h 150"/>
                <a:gd name="T82" fmla="*/ 372 w 450"/>
                <a:gd name="T83" fmla="*/ 18 h 150"/>
                <a:gd name="T84" fmla="*/ 378 w 450"/>
                <a:gd name="T85" fmla="*/ 18 h 150"/>
                <a:gd name="T86" fmla="*/ 390 w 450"/>
                <a:gd name="T87" fmla="*/ 12 h 150"/>
                <a:gd name="T88" fmla="*/ 396 w 450"/>
                <a:gd name="T89" fmla="*/ 12 h 150"/>
                <a:gd name="T90" fmla="*/ 408 w 450"/>
                <a:gd name="T91" fmla="*/ 6 h 150"/>
                <a:gd name="T92" fmla="*/ 414 w 450"/>
                <a:gd name="T93" fmla="*/ 6 h 150"/>
                <a:gd name="T94" fmla="*/ 426 w 450"/>
                <a:gd name="T95" fmla="*/ 6 h 150"/>
                <a:gd name="T96" fmla="*/ 432 w 450"/>
                <a:gd name="T97" fmla="*/ 0 h 150"/>
                <a:gd name="T98" fmla="*/ 444 w 450"/>
                <a:gd name="T99" fmla="*/ 0 h 150"/>
                <a:gd name="T100" fmla="*/ 450 w 450"/>
                <a:gd name="T101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50" h="150">
                  <a:moveTo>
                    <a:pt x="0" y="150"/>
                  </a:moveTo>
                  <a:lnTo>
                    <a:pt x="6" y="150"/>
                  </a:lnTo>
                  <a:lnTo>
                    <a:pt x="6" y="150"/>
                  </a:lnTo>
                  <a:lnTo>
                    <a:pt x="6" y="150"/>
                  </a:lnTo>
                  <a:lnTo>
                    <a:pt x="6" y="150"/>
                  </a:lnTo>
                  <a:lnTo>
                    <a:pt x="12" y="150"/>
                  </a:lnTo>
                  <a:lnTo>
                    <a:pt x="12" y="144"/>
                  </a:lnTo>
                  <a:lnTo>
                    <a:pt x="12" y="144"/>
                  </a:lnTo>
                  <a:lnTo>
                    <a:pt x="18" y="144"/>
                  </a:lnTo>
                  <a:lnTo>
                    <a:pt x="18" y="144"/>
                  </a:lnTo>
                  <a:lnTo>
                    <a:pt x="18" y="144"/>
                  </a:lnTo>
                  <a:lnTo>
                    <a:pt x="18" y="144"/>
                  </a:lnTo>
                  <a:lnTo>
                    <a:pt x="24" y="144"/>
                  </a:lnTo>
                  <a:lnTo>
                    <a:pt x="24" y="138"/>
                  </a:lnTo>
                  <a:lnTo>
                    <a:pt x="24" y="138"/>
                  </a:lnTo>
                  <a:lnTo>
                    <a:pt x="30" y="138"/>
                  </a:lnTo>
                  <a:lnTo>
                    <a:pt x="30" y="138"/>
                  </a:lnTo>
                  <a:lnTo>
                    <a:pt x="30" y="138"/>
                  </a:lnTo>
                  <a:lnTo>
                    <a:pt x="36" y="138"/>
                  </a:lnTo>
                  <a:lnTo>
                    <a:pt x="36" y="138"/>
                  </a:lnTo>
                  <a:lnTo>
                    <a:pt x="36" y="132"/>
                  </a:lnTo>
                  <a:lnTo>
                    <a:pt x="36" y="132"/>
                  </a:lnTo>
                  <a:lnTo>
                    <a:pt x="42" y="132"/>
                  </a:lnTo>
                  <a:lnTo>
                    <a:pt x="42" y="132"/>
                  </a:lnTo>
                  <a:lnTo>
                    <a:pt x="42" y="132"/>
                  </a:lnTo>
                  <a:lnTo>
                    <a:pt x="48" y="132"/>
                  </a:lnTo>
                  <a:lnTo>
                    <a:pt x="48" y="132"/>
                  </a:lnTo>
                  <a:lnTo>
                    <a:pt x="48" y="126"/>
                  </a:lnTo>
                  <a:lnTo>
                    <a:pt x="48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60" y="120"/>
                  </a:lnTo>
                  <a:lnTo>
                    <a:pt x="66" y="120"/>
                  </a:lnTo>
                  <a:lnTo>
                    <a:pt x="66" y="120"/>
                  </a:lnTo>
                  <a:lnTo>
                    <a:pt x="66" y="120"/>
                  </a:lnTo>
                  <a:lnTo>
                    <a:pt x="66" y="120"/>
                  </a:lnTo>
                  <a:lnTo>
                    <a:pt x="72" y="120"/>
                  </a:lnTo>
                  <a:lnTo>
                    <a:pt x="72" y="120"/>
                  </a:lnTo>
                  <a:lnTo>
                    <a:pt x="72" y="120"/>
                  </a:lnTo>
                  <a:lnTo>
                    <a:pt x="78" y="114"/>
                  </a:lnTo>
                  <a:lnTo>
                    <a:pt x="78" y="114"/>
                  </a:lnTo>
                  <a:lnTo>
                    <a:pt x="78" y="114"/>
                  </a:lnTo>
                  <a:lnTo>
                    <a:pt x="84" y="114"/>
                  </a:lnTo>
                  <a:lnTo>
                    <a:pt x="84" y="114"/>
                  </a:lnTo>
                  <a:lnTo>
                    <a:pt x="84" y="114"/>
                  </a:lnTo>
                  <a:lnTo>
                    <a:pt x="84" y="114"/>
                  </a:lnTo>
                  <a:lnTo>
                    <a:pt x="90" y="114"/>
                  </a:lnTo>
                  <a:lnTo>
                    <a:pt x="90" y="108"/>
                  </a:lnTo>
                  <a:lnTo>
                    <a:pt x="90" y="108"/>
                  </a:lnTo>
                  <a:lnTo>
                    <a:pt x="96" y="108"/>
                  </a:lnTo>
                  <a:lnTo>
                    <a:pt x="96" y="108"/>
                  </a:lnTo>
                  <a:lnTo>
                    <a:pt x="96" y="108"/>
                  </a:lnTo>
                  <a:lnTo>
                    <a:pt x="96" y="108"/>
                  </a:lnTo>
                  <a:lnTo>
                    <a:pt x="102" y="108"/>
                  </a:lnTo>
                  <a:lnTo>
                    <a:pt x="102" y="108"/>
                  </a:lnTo>
                  <a:lnTo>
                    <a:pt x="102" y="102"/>
                  </a:lnTo>
                  <a:lnTo>
                    <a:pt x="108" y="102"/>
                  </a:lnTo>
                  <a:lnTo>
                    <a:pt x="108" y="102"/>
                  </a:lnTo>
                  <a:lnTo>
                    <a:pt x="108" y="102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20" y="96"/>
                  </a:lnTo>
                  <a:lnTo>
                    <a:pt x="120" y="96"/>
                  </a:lnTo>
                  <a:lnTo>
                    <a:pt x="120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32" y="96"/>
                  </a:lnTo>
                  <a:lnTo>
                    <a:pt x="132" y="90"/>
                  </a:lnTo>
                  <a:lnTo>
                    <a:pt x="132" y="90"/>
                  </a:lnTo>
                  <a:lnTo>
                    <a:pt x="138" y="90"/>
                  </a:lnTo>
                  <a:lnTo>
                    <a:pt x="138" y="90"/>
                  </a:lnTo>
                  <a:lnTo>
                    <a:pt x="138" y="90"/>
                  </a:lnTo>
                  <a:lnTo>
                    <a:pt x="144" y="90"/>
                  </a:lnTo>
                  <a:lnTo>
                    <a:pt x="144" y="90"/>
                  </a:lnTo>
                  <a:lnTo>
                    <a:pt x="144" y="90"/>
                  </a:lnTo>
                  <a:lnTo>
                    <a:pt x="144" y="90"/>
                  </a:lnTo>
                  <a:lnTo>
                    <a:pt x="150" y="84"/>
                  </a:lnTo>
                  <a:lnTo>
                    <a:pt x="150" y="84"/>
                  </a:lnTo>
                  <a:lnTo>
                    <a:pt x="150" y="84"/>
                  </a:lnTo>
                  <a:lnTo>
                    <a:pt x="156" y="84"/>
                  </a:lnTo>
                  <a:lnTo>
                    <a:pt x="156" y="84"/>
                  </a:lnTo>
                  <a:lnTo>
                    <a:pt x="156" y="84"/>
                  </a:lnTo>
                  <a:lnTo>
                    <a:pt x="156" y="84"/>
                  </a:lnTo>
                  <a:lnTo>
                    <a:pt x="162" y="84"/>
                  </a:lnTo>
                  <a:lnTo>
                    <a:pt x="162" y="84"/>
                  </a:lnTo>
                  <a:lnTo>
                    <a:pt x="162" y="78"/>
                  </a:lnTo>
                  <a:lnTo>
                    <a:pt x="168" y="78"/>
                  </a:lnTo>
                  <a:lnTo>
                    <a:pt x="168" y="78"/>
                  </a:lnTo>
                  <a:lnTo>
                    <a:pt x="168" y="78"/>
                  </a:lnTo>
                  <a:lnTo>
                    <a:pt x="174" y="78"/>
                  </a:lnTo>
                  <a:lnTo>
                    <a:pt x="174" y="78"/>
                  </a:lnTo>
                  <a:lnTo>
                    <a:pt x="174" y="78"/>
                  </a:lnTo>
                  <a:lnTo>
                    <a:pt x="174" y="78"/>
                  </a:lnTo>
                  <a:lnTo>
                    <a:pt x="180" y="78"/>
                  </a:lnTo>
                  <a:lnTo>
                    <a:pt x="180" y="78"/>
                  </a:lnTo>
                  <a:lnTo>
                    <a:pt x="180" y="72"/>
                  </a:lnTo>
                  <a:lnTo>
                    <a:pt x="186" y="72"/>
                  </a:lnTo>
                  <a:lnTo>
                    <a:pt x="186" y="72"/>
                  </a:lnTo>
                  <a:lnTo>
                    <a:pt x="186" y="72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198" y="66"/>
                  </a:lnTo>
                  <a:lnTo>
                    <a:pt x="204" y="66"/>
                  </a:lnTo>
                  <a:lnTo>
                    <a:pt x="204" y="66"/>
                  </a:lnTo>
                  <a:lnTo>
                    <a:pt x="204" y="66"/>
                  </a:lnTo>
                  <a:lnTo>
                    <a:pt x="204" y="66"/>
                  </a:lnTo>
                  <a:lnTo>
                    <a:pt x="210" y="66"/>
                  </a:lnTo>
                  <a:lnTo>
                    <a:pt x="210" y="66"/>
                  </a:lnTo>
                  <a:lnTo>
                    <a:pt x="210" y="66"/>
                  </a:lnTo>
                  <a:lnTo>
                    <a:pt x="216" y="66"/>
                  </a:lnTo>
                  <a:lnTo>
                    <a:pt x="216" y="66"/>
                  </a:lnTo>
                  <a:lnTo>
                    <a:pt x="216" y="60"/>
                  </a:lnTo>
                  <a:lnTo>
                    <a:pt x="222" y="60"/>
                  </a:lnTo>
                  <a:lnTo>
                    <a:pt x="222" y="60"/>
                  </a:lnTo>
                  <a:lnTo>
                    <a:pt x="222" y="60"/>
                  </a:lnTo>
                  <a:lnTo>
                    <a:pt x="222" y="60"/>
                  </a:lnTo>
                  <a:lnTo>
                    <a:pt x="228" y="60"/>
                  </a:lnTo>
                  <a:lnTo>
                    <a:pt x="228" y="60"/>
                  </a:lnTo>
                  <a:lnTo>
                    <a:pt x="228" y="60"/>
                  </a:lnTo>
                  <a:lnTo>
                    <a:pt x="234" y="60"/>
                  </a:lnTo>
                  <a:lnTo>
                    <a:pt x="234" y="60"/>
                  </a:lnTo>
                  <a:lnTo>
                    <a:pt x="234" y="54"/>
                  </a:lnTo>
                  <a:lnTo>
                    <a:pt x="234" y="54"/>
                  </a:lnTo>
                  <a:lnTo>
                    <a:pt x="240" y="54"/>
                  </a:lnTo>
                  <a:lnTo>
                    <a:pt x="240" y="54"/>
                  </a:lnTo>
                  <a:lnTo>
                    <a:pt x="240" y="54"/>
                  </a:lnTo>
                  <a:lnTo>
                    <a:pt x="246" y="54"/>
                  </a:lnTo>
                  <a:lnTo>
                    <a:pt x="246" y="54"/>
                  </a:lnTo>
                  <a:lnTo>
                    <a:pt x="246" y="54"/>
                  </a:lnTo>
                  <a:lnTo>
                    <a:pt x="252" y="54"/>
                  </a:lnTo>
                  <a:lnTo>
                    <a:pt x="252" y="54"/>
                  </a:lnTo>
                  <a:lnTo>
                    <a:pt x="252" y="54"/>
                  </a:lnTo>
                  <a:lnTo>
                    <a:pt x="252" y="48"/>
                  </a:lnTo>
                  <a:lnTo>
                    <a:pt x="258" y="48"/>
                  </a:lnTo>
                  <a:lnTo>
                    <a:pt x="258" y="48"/>
                  </a:lnTo>
                  <a:lnTo>
                    <a:pt x="258" y="48"/>
                  </a:lnTo>
                  <a:lnTo>
                    <a:pt x="264" y="48"/>
                  </a:lnTo>
                  <a:lnTo>
                    <a:pt x="264" y="48"/>
                  </a:lnTo>
                  <a:lnTo>
                    <a:pt x="264" y="48"/>
                  </a:lnTo>
                  <a:lnTo>
                    <a:pt x="264" y="48"/>
                  </a:lnTo>
                  <a:lnTo>
                    <a:pt x="270" y="48"/>
                  </a:lnTo>
                  <a:lnTo>
                    <a:pt x="270" y="48"/>
                  </a:lnTo>
                  <a:lnTo>
                    <a:pt x="270" y="48"/>
                  </a:lnTo>
                  <a:lnTo>
                    <a:pt x="276" y="42"/>
                  </a:lnTo>
                  <a:lnTo>
                    <a:pt x="276" y="42"/>
                  </a:lnTo>
                  <a:lnTo>
                    <a:pt x="276" y="42"/>
                  </a:lnTo>
                  <a:lnTo>
                    <a:pt x="282" y="42"/>
                  </a:lnTo>
                  <a:lnTo>
                    <a:pt x="282" y="42"/>
                  </a:lnTo>
                  <a:lnTo>
                    <a:pt x="282" y="42"/>
                  </a:lnTo>
                  <a:lnTo>
                    <a:pt x="282" y="42"/>
                  </a:lnTo>
                  <a:lnTo>
                    <a:pt x="288" y="42"/>
                  </a:lnTo>
                  <a:lnTo>
                    <a:pt x="288" y="42"/>
                  </a:lnTo>
                  <a:lnTo>
                    <a:pt x="288" y="42"/>
                  </a:lnTo>
                  <a:lnTo>
                    <a:pt x="294" y="42"/>
                  </a:lnTo>
                  <a:lnTo>
                    <a:pt x="294" y="36"/>
                  </a:lnTo>
                  <a:lnTo>
                    <a:pt x="294" y="36"/>
                  </a:lnTo>
                  <a:lnTo>
                    <a:pt x="294" y="36"/>
                  </a:lnTo>
                  <a:lnTo>
                    <a:pt x="300" y="36"/>
                  </a:lnTo>
                  <a:lnTo>
                    <a:pt x="300" y="36"/>
                  </a:lnTo>
                  <a:lnTo>
                    <a:pt x="300" y="36"/>
                  </a:lnTo>
                  <a:lnTo>
                    <a:pt x="306" y="36"/>
                  </a:lnTo>
                  <a:lnTo>
                    <a:pt x="306" y="36"/>
                  </a:lnTo>
                  <a:lnTo>
                    <a:pt x="306" y="36"/>
                  </a:lnTo>
                  <a:lnTo>
                    <a:pt x="312" y="36"/>
                  </a:lnTo>
                  <a:lnTo>
                    <a:pt x="312" y="36"/>
                  </a:lnTo>
                  <a:lnTo>
                    <a:pt x="312" y="36"/>
                  </a:lnTo>
                  <a:lnTo>
                    <a:pt x="312" y="30"/>
                  </a:lnTo>
                  <a:lnTo>
                    <a:pt x="318" y="30"/>
                  </a:lnTo>
                  <a:lnTo>
                    <a:pt x="318" y="30"/>
                  </a:lnTo>
                  <a:lnTo>
                    <a:pt x="318" y="30"/>
                  </a:lnTo>
                  <a:lnTo>
                    <a:pt x="324" y="30"/>
                  </a:lnTo>
                  <a:lnTo>
                    <a:pt x="324" y="30"/>
                  </a:lnTo>
                  <a:lnTo>
                    <a:pt x="324" y="30"/>
                  </a:lnTo>
                  <a:lnTo>
                    <a:pt x="330" y="30"/>
                  </a:lnTo>
                  <a:lnTo>
                    <a:pt x="330" y="30"/>
                  </a:lnTo>
                  <a:lnTo>
                    <a:pt x="330" y="30"/>
                  </a:lnTo>
                  <a:lnTo>
                    <a:pt x="330" y="30"/>
                  </a:lnTo>
                  <a:lnTo>
                    <a:pt x="336" y="30"/>
                  </a:lnTo>
                  <a:lnTo>
                    <a:pt x="336" y="30"/>
                  </a:lnTo>
                  <a:lnTo>
                    <a:pt x="336" y="24"/>
                  </a:lnTo>
                  <a:lnTo>
                    <a:pt x="342" y="24"/>
                  </a:lnTo>
                  <a:lnTo>
                    <a:pt x="342" y="24"/>
                  </a:lnTo>
                  <a:lnTo>
                    <a:pt x="342" y="24"/>
                  </a:lnTo>
                  <a:lnTo>
                    <a:pt x="342" y="24"/>
                  </a:lnTo>
                  <a:lnTo>
                    <a:pt x="348" y="24"/>
                  </a:lnTo>
                  <a:lnTo>
                    <a:pt x="348" y="24"/>
                  </a:lnTo>
                  <a:lnTo>
                    <a:pt x="348" y="24"/>
                  </a:lnTo>
                  <a:lnTo>
                    <a:pt x="354" y="24"/>
                  </a:lnTo>
                  <a:lnTo>
                    <a:pt x="354" y="24"/>
                  </a:lnTo>
                  <a:lnTo>
                    <a:pt x="354" y="24"/>
                  </a:lnTo>
                  <a:lnTo>
                    <a:pt x="360" y="24"/>
                  </a:lnTo>
                  <a:lnTo>
                    <a:pt x="360" y="18"/>
                  </a:lnTo>
                  <a:lnTo>
                    <a:pt x="360" y="18"/>
                  </a:lnTo>
                  <a:lnTo>
                    <a:pt x="360" y="18"/>
                  </a:lnTo>
                  <a:lnTo>
                    <a:pt x="366" y="18"/>
                  </a:lnTo>
                  <a:lnTo>
                    <a:pt x="366" y="18"/>
                  </a:lnTo>
                  <a:lnTo>
                    <a:pt x="366" y="18"/>
                  </a:lnTo>
                  <a:lnTo>
                    <a:pt x="372" y="18"/>
                  </a:lnTo>
                  <a:lnTo>
                    <a:pt x="372" y="18"/>
                  </a:lnTo>
                  <a:lnTo>
                    <a:pt x="372" y="18"/>
                  </a:lnTo>
                  <a:lnTo>
                    <a:pt x="372" y="18"/>
                  </a:lnTo>
                  <a:lnTo>
                    <a:pt x="378" y="18"/>
                  </a:lnTo>
                  <a:lnTo>
                    <a:pt x="378" y="18"/>
                  </a:lnTo>
                  <a:lnTo>
                    <a:pt x="378" y="18"/>
                  </a:lnTo>
                  <a:lnTo>
                    <a:pt x="384" y="18"/>
                  </a:lnTo>
                  <a:lnTo>
                    <a:pt x="384" y="12"/>
                  </a:lnTo>
                  <a:lnTo>
                    <a:pt x="384" y="12"/>
                  </a:lnTo>
                  <a:lnTo>
                    <a:pt x="390" y="12"/>
                  </a:lnTo>
                  <a:lnTo>
                    <a:pt x="390" y="12"/>
                  </a:lnTo>
                  <a:lnTo>
                    <a:pt x="390" y="12"/>
                  </a:lnTo>
                  <a:lnTo>
                    <a:pt x="390" y="12"/>
                  </a:lnTo>
                  <a:lnTo>
                    <a:pt x="396" y="12"/>
                  </a:lnTo>
                  <a:lnTo>
                    <a:pt x="396" y="12"/>
                  </a:lnTo>
                  <a:lnTo>
                    <a:pt x="396" y="12"/>
                  </a:lnTo>
                  <a:lnTo>
                    <a:pt x="402" y="12"/>
                  </a:lnTo>
                  <a:lnTo>
                    <a:pt x="402" y="12"/>
                  </a:lnTo>
                  <a:lnTo>
                    <a:pt x="402" y="12"/>
                  </a:lnTo>
                  <a:lnTo>
                    <a:pt x="402" y="12"/>
                  </a:lnTo>
                  <a:lnTo>
                    <a:pt x="408" y="6"/>
                  </a:lnTo>
                  <a:lnTo>
                    <a:pt x="408" y="6"/>
                  </a:lnTo>
                  <a:lnTo>
                    <a:pt x="408" y="6"/>
                  </a:lnTo>
                  <a:lnTo>
                    <a:pt x="414" y="6"/>
                  </a:lnTo>
                  <a:lnTo>
                    <a:pt x="414" y="6"/>
                  </a:lnTo>
                  <a:lnTo>
                    <a:pt x="414" y="6"/>
                  </a:lnTo>
                  <a:lnTo>
                    <a:pt x="420" y="6"/>
                  </a:lnTo>
                  <a:lnTo>
                    <a:pt x="420" y="6"/>
                  </a:lnTo>
                  <a:lnTo>
                    <a:pt x="420" y="6"/>
                  </a:lnTo>
                  <a:lnTo>
                    <a:pt x="420" y="6"/>
                  </a:lnTo>
                  <a:lnTo>
                    <a:pt x="426" y="6"/>
                  </a:lnTo>
                  <a:lnTo>
                    <a:pt x="426" y="6"/>
                  </a:lnTo>
                  <a:lnTo>
                    <a:pt x="426" y="6"/>
                  </a:lnTo>
                  <a:lnTo>
                    <a:pt x="432" y="6"/>
                  </a:lnTo>
                  <a:lnTo>
                    <a:pt x="432" y="6"/>
                  </a:lnTo>
                  <a:lnTo>
                    <a:pt x="432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0" y="0"/>
                  </a:lnTo>
                </a:path>
              </a:pathLst>
            </a:custGeom>
            <a:noFill/>
            <a:ln w="19050" cmpd="sng">
              <a:solidFill>
                <a:srgbClr val="04926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6" name="Freeform 105">
              <a:extLst>
                <a:ext uri="{FF2B5EF4-FFF2-40B4-BE49-F238E27FC236}">
                  <a16:creationId xmlns:a16="http://schemas.microsoft.com/office/drawing/2014/main" id="{895F1650-897D-A787-8277-AA8D851B41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4" y="2544"/>
              <a:ext cx="456" cy="78"/>
            </a:xfrm>
            <a:custGeom>
              <a:avLst/>
              <a:gdLst>
                <a:gd name="T0" fmla="*/ 12 w 456"/>
                <a:gd name="T1" fmla="*/ 72 h 78"/>
                <a:gd name="T2" fmla="*/ 18 w 456"/>
                <a:gd name="T3" fmla="*/ 72 h 78"/>
                <a:gd name="T4" fmla="*/ 30 w 456"/>
                <a:gd name="T5" fmla="*/ 72 h 78"/>
                <a:gd name="T6" fmla="*/ 36 w 456"/>
                <a:gd name="T7" fmla="*/ 66 h 78"/>
                <a:gd name="T8" fmla="*/ 48 w 456"/>
                <a:gd name="T9" fmla="*/ 66 h 78"/>
                <a:gd name="T10" fmla="*/ 54 w 456"/>
                <a:gd name="T11" fmla="*/ 66 h 78"/>
                <a:gd name="T12" fmla="*/ 60 w 456"/>
                <a:gd name="T13" fmla="*/ 66 h 78"/>
                <a:gd name="T14" fmla="*/ 72 w 456"/>
                <a:gd name="T15" fmla="*/ 60 h 78"/>
                <a:gd name="T16" fmla="*/ 78 w 456"/>
                <a:gd name="T17" fmla="*/ 60 h 78"/>
                <a:gd name="T18" fmla="*/ 90 w 456"/>
                <a:gd name="T19" fmla="*/ 60 h 78"/>
                <a:gd name="T20" fmla="*/ 96 w 456"/>
                <a:gd name="T21" fmla="*/ 54 h 78"/>
                <a:gd name="T22" fmla="*/ 108 w 456"/>
                <a:gd name="T23" fmla="*/ 54 h 78"/>
                <a:gd name="T24" fmla="*/ 114 w 456"/>
                <a:gd name="T25" fmla="*/ 54 h 78"/>
                <a:gd name="T26" fmla="*/ 126 w 456"/>
                <a:gd name="T27" fmla="*/ 48 h 78"/>
                <a:gd name="T28" fmla="*/ 132 w 456"/>
                <a:gd name="T29" fmla="*/ 48 h 78"/>
                <a:gd name="T30" fmla="*/ 144 w 456"/>
                <a:gd name="T31" fmla="*/ 48 h 78"/>
                <a:gd name="T32" fmla="*/ 150 w 456"/>
                <a:gd name="T33" fmla="*/ 48 h 78"/>
                <a:gd name="T34" fmla="*/ 162 w 456"/>
                <a:gd name="T35" fmla="*/ 42 h 78"/>
                <a:gd name="T36" fmla="*/ 168 w 456"/>
                <a:gd name="T37" fmla="*/ 42 h 78"/>
                <a:gd name="T38" fmla="*/ 180 w 456"/>
                <a:gd name="T39" fmla="*/ 42 h 78"/>
                <a:gd name="T40" fmla="*/ 186 w 456"/>
                <a:gd name="T41" fmla="*/ 42 h 78"/>
                <a:gd name="T42" fmla="*/ 198 w 456"/>
                <a:gd name="T43" fmla="*/ 36 h 78"/>
                <a:gd name="T44" fmla="*/ 204 w 456"/>
                <a:gd name="T45" fmla="*/ 36 h 78"/>
                <a:gd name="T46" fmla="*/ 216 w 456"/>
                <a:gd name="T47" fmla="*/ 36 h 78"/>
                <a:gd name="T48" fmla="*/ 222 w 456"/>
                <a:gd name="T49" fmla="*/ 36 h 78"/>
                <a:gd name="T50" fmla="*/ 234 w 456"/>
                <a:gd name="T51" fmla="*/ 30 h 78"/>
                <a:gd name="T52" fmla="*/ 240 w 456"/>
                <a:gd name="T53" fmla="*/ 30 h 78"/>
                <a:gd name="T54" fmla="*/ 246 w 456"/>
                <a:gd name="T55" fmla="*/ 30 h 78"/>
                <a:gd name="T56" fmla="*/ 258 w 456"/>
                <a:gd name="T57" fmla="*/ 30 h 78"/>
                <a:gd name="T58" fmla="*/ 264 w 456"/>
                <a:gd name="T59" fmla="*/ 24 h 78"/>
                <a:gd name="T60" fmla="*/ 276 w 456"/>
                <a:gd name="T61" fmla="*/ 24 h 78"/>
                <a:gd name="T62" fmla="*/ 282 w 456"/>
                <a:gd name="T63" fmla="*/ 24 h 78"/>
                <a:gd name="T64" fmla="*/ 294 w 456"/>
                <a:gd name="T65" fmla="*/ 24 h 78"/>
                <a:gd name="T66" fmla="*/ 300 w 456"/>
                <a:gd name="T67" fmla="*/ 18 h 78"/>
                <a:gd name="T68" fmla="*/ 312 w 456"/>
                <a:gd name="T69" fmla="*/ 18 h 78"/>
                <a:gd name="T70" fmla="*/ 318 w 456"/>
                <a:gd name="T71" fmla="*/ 18 h 78"/>
                <a:gd name="T72" fmla="*/ 330 w 456"/>
                <a:gd name="T73" fmla="*/ 18 h 78"/>
                <a:gd name="T74" fmla="*/ 336 w 456"/>
                <a:gd name="T75" fmla="*/ 18 h 78"/>
                <a:gd name="T76" fmla="*/ 348 w 456"/>
                <a:gd name="T77" fmla="*/ 12 h 78"/>
                <a:gd name="T78" fmla="*/ 354 w 456"/>
                <a:gd name="T79" fmla="*/ 12 h 78"/>
                <a:gd name="T80" fmla="*/ 366 w 456"/>
                <a:gd name="T81" fmla="*/ 12 h 78"/>
                <a:gd name="T82" fmla="*/ 372 w 456"/>
                <a:gd name="T83" fmla="*/ 12 h 78"/>
                <a:gd name="T84" fmla="*/ 384 w 456"/>
                <a:gd name="T85" fmla="*/ 6 h 78"/>
                <a:gd name="T86" fmla="*/ 390 w 456"/>
                <a:gd name="T87" fmla="*/ 6 h 78"/>
                <a:gd name="T88" fmla="*/ 402 w 456"/>
                <a:gd name="T89" fmla="*/ 6 h 78"/>
                <a:gd name="T90" fmla="*/ 408 w 456"/>
                <a:gd name="T91" fmla="*/ 6 h 78"/>
                <a:gd name="T92" fmla="*/ 414 w 456"/>
                <a:gd name="T93" fmla="*/ 6 h 78"/>
                <a:gd name="T94" fmla="*/ 426 w 456"/>
                <a:gd name="T95" fmla="*/ 0 h 78"/>
                <a:gd name="T96" fmla="*/ 432 w 456"/>
                <a:gd name="T97" fmla="*/ 0 h 78"/>
                <a:gd name="T98" fmla="*/ 444 w 456"/>
                <a:gd name="T99" fmla="*/ 0 h 78"/>
                <a:gd name="T100" fmla="*/ 450 w 456"/>
                <a:gd name="T101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56" h="78">
                  <a:moveTo>
                    <a:pt x="0" y="78"/>
                  </a:moveTo>
                  <a:lnTo>
                    <a:pt x="6" y="78"/>
                  </a:lnTo>
                  <a:lnTo>
                    <a:pt x="6" y="78"/>
                  </a:lnTo>
                  <a:lnTo>
                    <a:pt x="6" y="72"/>
                  </a:lnTo>
                  <a:lnTo>
                    <a:pt x="12" y="72"/>
                  </a:lnTo>
                  <a:lnTo>
                    <a:pt x="12" y="72"/>
                  </a:lnTo>
                  <a:lnTo>
                    <a:pt x="12" y="72"/>
                  </a:lnTo>
                  <a:lnTo>
                    <a:pt x="18" y="72"/>
                  </a:lnTo>
                  <a:lnTo>
                    <a:pt x="18" y="72"/>
                  </a:lnTo>
                  <a:lnTo>
                    <a:pt x="18" y="72"/>
                  </a:lnTo>
                  <a:lnTo>
                    <a:pt x="18" y="72"/>
                  </a:lnTo>
                  <a:lnTo>
                    <a:pt x="24" y="72"/>
                  </a:lnTo>
                  <a:lnTo>
                    <a:pt x="24" y="72"/>
                  </a:lnTo>
                  <a:lnTo>
                    <a:pt x="24" y="72"/>
                  </a:lnTo>
                  <a:lnTo>
                    <a:pt x="30" y="72"/>
                  </a:lnTo>
                  <a:lnTo>
                    <a:pt x="30" y="72"/>
                  </a:lnTo>
                  <a:lnTo>
                    <a:pt x="30" y="72"/>
                  </a:lnTo>
                  <a:lnTo>
                    <a:pt x="30" y="72"/>
                  </a:lnTo>
                  <a:lnTo>
                    <a:pt x="36" y="72"/>
                  </a:lnTo>
                  <a:lnTo>
                    <a:pt x="36" y="66"/>
                  </a:lnTo>
                  <a:lnTo>
                    <a:pt x="36" y="66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54" y="66"/>
                  </a:lnTo>
                  <a:lnTo>
                    <a:pt x="54" y="66"/>
                  </a:lnTo>
                  <a:lnTo>
                    <a:pt x="54" y="66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6" y="60"/>
                  </a:lnTo>
                  <a:lnTo>
                    <a:pt x="66" y="60"/>
                  </a:lnTo>
                  <a:lnTo>
                    <a:pt x="66" y="60"/>
                  </a:lnTo>
                  <a:lnTo>
                    <a:pt x="72" y="60"/>
                  </a:lnTo>
                  <a:lnTo>
                    <a:pt x="72" y="60"/>
                  </a:lnTo>
                  <a:lnTo>
                    <a:pt x="72" y="60"/>
                  </a:lnTo>
                  <a:lnTo>
                    <a:pt x="78" y="60"/>
                  </a:lnTo>
                  <a:lnTo>
                    <a:pt x="78" y="60"/>
                  </a:lnTo>
                  <a:lnTo>
                    <a:pt x="78" y="60"/>
                  </a:lnTo>
                  <a:lnTo>
                    <a:pt x="78" y="60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90" y="60"/>
                  </a:lnTo>
                  <a:lnTo>
                    <a:pt x="90" y="60"/>
                  </a:lnTo>
                  <a:lnTo>
                    <a:pt x="90" y="60"/>
                  </a:lnTo>
                  <a:lnTo>
                    <a:pt x="96" y="54"/>
                  </a:lnTo>
                  <a:lnTo>
                    <a:pt x="96" y="54"/>
                  </a:lnTo>
                  <a:lnTo>
                    <a:pt x="96" y="54"/>
                  </a:lnTo>
                  <a:lnTo>
                    <a:pt x="96" y="54"/>
                  </a:lnTo>
                  <a:lnTo>
                    <a:pt x="102" y="54"/>
                  </a:lnTo>
                  <a:lnTo>
                    <a:pt x="102" y="54"/>
                  </a:lnTo>
                  <a:lnTo>
                    <a:pt x="102" y="54"/>
                  </a:lnTo>
                  <a:lnTo>
                    <a:pt x="108" y="54"/>
                  </a:lnTo>
                  <a:lnTo>
                    <a:pt x="108" y="54"/>
                  </a:lnTo>
                  <a:lnTo>
                    <a:pt x="108" y="54"/>
                  </a:lnTo>
                  <a:lnTo>
                    <a:pt x="108" y="54"/>
                  </a:lnTo>
                  <a:lnTo>
                    <a:pt x="114" y="54"/>
                  </a:lnTo>
                  <a:lnTo>
                    <a:pt x="114" y="54"/>
                  </a:lnTo>
                  <a:lnTo>
                    <a:pt x="114" y="54"/>
                  </a:lnTo>
                  <a:lnTo>
                    <a:pt x="120" y="54"/>
                  </a:lnTo>
                  <a:lnTo>
                    <a:pt x="120" y="54"/>
                  </a:lnTo>
                  <a:lnTo>
                    <a:pt x="120" y="54"/>
                  </a:lnTo>
                  <a:lnTo>
                    <a:pt x="126" y="54"/>
                  </a:lnTo>
                  <a:lnTo>
                    <a:pt x="126" y="48"/>
                  </a:lnTo>
                  <a:lnTo>
                    <a:pt x="126" y="48"/>
                  </a:lnTo>
                  <a:lnTo>
                    <a:pt x="126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8" y="48"/>
                  </a:lnTo>
                  <a:lnTo>
                    <a:pt x="138" y="48"/>
                  </a:lnTo>
                  <a:lnTo>
                    <a:pt x="138" y="48"/>
                  </a:lnTo>
                  <a:lnTo>
                    <a:pt x="138" y="48"/>
                  </a:lnTo>
                  <a:lnTo>
                    <a:pt x="144" y="48"/>
                  </a:lnTo>
                  <a:lnTo>
                    <a:pt x="144" y="48"/>
                  </a:lnTo>
                  <a:lnTo>
                    <a:pt x="144" y="48"/>
                  </a:lnTo>
                  <a:lnTo>
                    <a:pt x="150" y="48"/>
                  </a:lnTo>
                  <a:lnTo>
                    <a:pt x="150" y="48"/>
                  </a:lnTo>
                  <a:lnTo>
                    <a:pt x="150" y="48"/>
                  </a:lnTo>
                  <a:lnTo>
                    <a:pt x="156" y="48"/>
                  </a:lnTo>
                  <a:lnTo>
                    <a:pt x="156" y="48"/>
                  </a:lnTo>
                  <a:lnTo>
                    <a:pt x="156" y="42"/>
                  </a:lnTo>
                  <a:lnTo>
                    <a:pt x="156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8" y="42"/>
                  </a:lnTo>
                  <a:lnTo>
                    <a:pt x="168" y="42"/>
                  </a:lnTo>
                  <a:lnTo>
                    <a:pt x="168" y="42"/>
                  </a:lnTo>
                  <a:lnTo>
                    <a:pt x="168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80" y="42"/>
                  </a:lnTo>
                  <a:lnTo>
                    <a:pt x="180" y="42"/>
                  </a:lnTo>
                  <a:lnTo>
                    <a:pt x="180" y="42"/>
                  </a:lnTo>
                  <a:lnTo>
                    <a:pt x="186" y="42"/>
                  </a:lnTo>
                  <a:lnTo>
                    <a:pt x="186" y="42"/>
                  </a:lnTo>
                  <a:lnTo>
                    <a:pt x="186" y="42"/>
                  </a:lnTo>
                  <a:lnTo>
                    <a:pt x="186" y="42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8" y="36"/>
                  </a:lnTo>
                  <a:lnTo>
                    <a:pt x="198" y="36"/>
                  </a:lnTo>
                  <a:lnTo>
                    <a:pt x="198" y="36"/>
                  </a:lnTo>
                  <a:lnTo>
                    <a:pt x="198" y="36"/>
                  </a:lnTo>
                  <a:lnTo>
                    <a:pt x="204" y="36"/>
                  </a:lnTo>
                  <a:lnTo>
                    <a:pt x="204" y="36"/>
                  </a:lnTo>
                  <a:lnTo>
                    <a:pt x="204" y="36"/>
                  </a:lnTo>
                  <a:lnTo>
                    <a:pt x="210" y="36"/>
                  </a:lnTo>
                  <a:lnTo>
                    <a:pt x="210" y="36"/>
                  </a:lnTo>
                  <a:lnTo>
                    <a:pt x="210" y="36"/>
                  </a:lnTo>
                  <a:lnTo>
                    <a:pt x="216" y="36"/>
                  </a:lnTo>
                  <a:lnTo>
                    <a:pt x="216" y="36"/>
                  </a:lnTo>
                  <a:lnTo>
                    <a:pt x="216" y="36"/>
                  </a:lnTo>
                  <a:lnTo>
                    <a:pt x="216" y="36"/>
                  </a:lnTo>
                  <a:lnTo>
                    <a:pt x="222" y="36"/>
                  </a:lnTo>
                  <a:lnTo>
                    <a:pt x="222" y="36"/>
                  </a:lnTo>
                  <a:lnTo>
                    <a:pt x="222" y="36"/>
                  </a:lnTo>
                  <a:lnTo>
                    <a:pt x="228" y="30"/>
                  </a:lnTo>
                  <a:lnTo>
                    <a:pt x="228" y="30"/>
                  </a:lnTo>
                  <a:lnTo>
                    <a:pt x="228" y="30"/>
                  </a:lnTo>
                  <a:lnTo>
                    <a:pt x="234" y="30"/>
                  </a:lnTo>
                  <a:lnTo>
                    <a:pt x="234" y="30"/>
                  </a:lnTo>
                  <a:lnTo>
                    <a:pt x="234" y="30"/>
                  </a:lnTo>
                  <a:lnTo>
                    <a:pt x="234" y="30"/>
                  </a:lnTo>
                  <a:lnTo>
                    <a:pt x="240" y="30"/>
                  </a:lnTo>
                  <a:lnTo>
                    <a:pt x="240" y="30"/>
                  </a:lnTo>
                  <a:lnTo>
                    <a:pt x="240" y="30"/>
                  </a:lnTo>
                  <a:lnTo>
                    <a:pt x="246" y="30"/>
                  </a:lnTo>
                  <a:lnTo>
                    <a:pt x="246" y="30"/>
                  </a:lnTo>
                  <a:lnTo>
                    <a:pt x="246" y="30"/>
                  </a:lnTo>
                  <a:lnTo>
                    <a:pt x="246" y="30"/>
                  </a:lnTo>
                  <a:lnTo>
                    <a:pt x="252" y="30"/>
                  </a:lnTo>
                  <a:lnTo>
                    <a:pt x="252" y="30"/>
                  </a:lnTo>
                  <a:lnTo>
                    <a:pt x="252" y="30"/>
                  </a:lnTo>
                  <a:lnTo>
                    <a:pt x="258" y="30"/>
                  </a:lnTo>
                  <a:lnTo>
                    <a:pt x="258" y="30"/>
                  </a:lnTo>
                  <a:lnTo>
                    <a:pt x="258" y="30"/>
                  </a:lnTo>
                  <a:lnTo>
                    <a:pt x="264" y="24"/>
                  </a:lnTo>
                  <a:lnTo>
                    <a:pt x="264" y="24"/>
                  </a:lnTo>
                  <a:lnTo>
                    <a:pt x="264" y="24"/>
                  </a:lnTo>
                  <a:lnTo>
                    <a:pt x="264" y="24"/>
                  </a:lnTo>
                  <a:lnTo>
                    <a:pt x="270" y="24"/>
                  </a:lnTo>
                  <a:lnTo>
                    <a:pt x="270" y="24"/>
                  </a:lnTo>
                  <a:lnTo>
                    <a:pt x="270" y="24"/>
                  </a:lnTo>
                  <a:lnTo>
                    <a:pt x="276" y="24"/>
                  </a:lnTo>
                  <a:lnTo>
                    <a:pt x="276" y="24"/>
                  </a:lnTo>
                  <a:lnTo>
                    <a:pt x="276" y="24"/>
                  </a:lnTo>
                  <a:lnTo>
                    <a:pt x="276" y="24"/>
                  </a:lnTo>
                  <a:lnTo>
                    <a:pt x="282" y="24"/>
                  </a:lnTo>
                  <a:lnTo>
                    <a:pt x="282" y="24"/>
                  </a:lnTo>
                  <a:lnTo>
                    <a:pt x="282" y="24"/>
                  </a:lnTo>
                  <a:lnTo>
                    <a:pt x="288" y="24"/>
                  </a:lnTo>
                  <a:lnTo>
                    <a:pt x="288" y="24"/>
                  </a:lnTo>
                  <a:lnTo>
                    <a:pt x="288" y="24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300" y="24"/>
                  </a:lnTo>
                  <a:lnTo>
                    <a:pt x="300" y="18"/>
                  </a:lnTo>
                  <a:lnTo>
                    <a:pt x="300" y="18"/>
                  </a:lnTo>
                  <a:lnTo>
                    <a:pt x="306" y="18"/>
                  </a:lnTo>
                  <a:lnTo>
                    <a:pt x="306" y="18"/>
                  </a:lnTo>
                  <a:lnTo>
                    <a:pt x="306" y="18"/>
                  </a:lnTo>
                  <a:lnTo>
                    <a:pt x="306" y="18"/>
                  </a:lnTo>
                  <a:lnTo>
                    <a:pt x="312" y="18"/>
                  </a:lnTo>
                  <a:lnTo>
                    <a:pt x="312" y="18"/>
                  </a:lnTo>
                  <a:lnTo>
                    <a:pt x="312" y="18"/>
                  </a:lnTo>
                  <a:lnTo>
                    <a:pt x="318" y="18"/>
                  </a:lnTo>
                  <a:lnTo>
                    <a:pt x="318" y="18"/>
                  </a:lnTo>
                  <a:lnTo>
                    <a:pt x="318" y="18"/>
                  </a:lnTo>
                  <a:lnTo>
                    <a:pt x="324" y="18"/>
                  </a:lnTo>
                  <a:lnTo>
                    <a:pt x="324" y="18"/>
                  </a:lnTo>
                  <a:lnTo>
                    <a:pt x="324" y="18"/>
                  </a:lnTo>
                  <a:lnTo>
                    <a:pt x="324" y="18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6" y="18"/>
                  </a:lnTo>
                  <a:lnTo>
                    <a:pt x="336" y="18"/>
                  </a:lnTo>
                  <a:lnTo>
                    <a:pt x="336" y="18"/>
                  </a:lnTo>
                  <a:lnTo>
                    <a:pt x="342" y="12"/>
                  </a:lnTo>
                  <a:lnTo>
                    <a:pt x="342" y="12"/>
                  </a:lnTo>
                  <a:lnTo>
                    <a:pt x="342" y="12"/>
                  </a:lnTo>
                  <a:lnTo>
                    <a:pt x="342" y="12"/>
                  </a:lnTo>
                  <a:lnTo>
                    <a:pt x="348" y="12"/>
                  </a:lnTo>
                  <a:lnTo>
                    <a:pt x="348" y="12"/>
                  </a:lnTo>
                  <a:lnTo>
                    <a:pt x="348" y="12"/>
                  </a:lnTo>
                  <a:lnTo>
                    <a:pt x="354" y="12"/>
                  </a:lnTo>
                  <a:lnTo>
                    <a:pt x="354" y="12"/>
                  </a:lnTo>
                  <a:lnTo>
                    <a:pt x="354" y="12"/>
                  </a:lnTo>
                  <a:lnTo>
                    <a:pt x="354" y="12"/>
                  </a:lnTo>
                  <a:lnTo>
                    <a:pt x="360" y="12"/>
                  </a:lnTo>
                  <a:lnTo>
                    <a:pt x="360" y="12"/>
                  </a:lnTo>
                  <a:lnTo>
                    <a:pt x="360" y="12"/>
                  </a:lnTo>
                  <a:lnTo>
                    <a:pt x="366" y="12"/>
                  </a:lnTo>
                  <a:lnTo>
                    <a:pt x="366" y="12"/>
                  </a:lnTo>
                  <a:lnTo>
                    <a:pt x="366" y="12"/>
                  </a:lnTo>
                  <a:lnTo>
                    <a:pt x="372" y="12"/>
                  </a:lnTo>
                  <a:lnTo>
                    <a:pt x="372" y="12"/>
                  </a:lnTo>
                  <a:lnTo>
                    <a:pt x="372" y="12"/>
                  </a:lnTo>
                  <a:lnTo>
                    <a:pt x="372" y="12"/>
                  </a:lnTo>
                  <a:lnTo>
                    <a:pt x="378" y="12"/>
                  </a:lnTo>
                  <a:lnTo>
                    <a:pt x="378" y="12"/>
                  </a:lnTo>
                  <a:lnTo>
                    <a:pt x="378" y="12"/>
                  </a:lnTo>
                  <a:lnTo>
                    <a:pt x="384" y="6"/>
                  </a:lnTo>
                  <a:lnTo>
                    <a:pt x="384" y="6"/>
                  </a:lnTo>
                  <a:lnTo>
                    <a:pt x="384" y="6"/>
                  </a:lnTo>
                  <a:lnTo>
                    <a:pt x="384" y="6"/>
                  </a:lnTo>
                  <a:lnTo>
                    <a:pt x="390" y="6"/>
                  </a:lnTo>
                  <a:lnTo>
                    <a:pt x="390" y="6"/>
                  </a:lnTo>
                  <a:lnTo>
                    <a:pt x="390" y="6"/>
                  </a:lnTo>
                  <a:lnTo>
                    <a:pt x="396" y="6"/>
                  </a:lnTo>
                  <a:lnTo>
                    <a:pt x="396" y="6"/>
                  </a:lnTo>
                  <a:lnTo>
                    <a:pt x="396" y="6"/>
                  </a:lnTo>
                  <a:lnTo>
                    <a:pt x="402" y="6"/>
                  </a:lnTo>
                  <a:lnTo>
                    <a:pt x="402" y="6"/>
                  </a:lnTo>
                  <a:lnTo>
                    <a:pt x="402" y="6"/>
                  </a:lnTo>
                  <a:lnTo>
                    <a:pt x="402" y="6"/>
                  </a:lnTo>
                  <a:lnTo>
                    <a:pt x="408" y="6"/>
                  </a:lnTo>
                  <a:lnTo>
                    <a:pt x="408" y="6"/>
                  </a:lnTo>
                  <a:lnTo>
                    <a:pt x="408" y="6"/>
                  </a:lnTo>
                  <a:lnTo>
                    <a:pt x="414" y="6"/>
                  </a:lnTo>
                  <a:lnTo>
                    <a:pt x="414" y="6"/>
                  </a:lnTo>
                  <a:lnTo>
                    <a:pt x="414" y="6"/>
                  </a:lnTo>
                  <a:lnTo>
                    <a:pt x="414" y="6"/>
                  </a:lnTo>
                  <a:lnTo>
                    <a:pt x="420" y="6"/>
                  </a:lnTo>
                  <a:lnTo>
                    <a:pt x="420" y="6"/>
                  </a:lnTo>
                  <a:lnTo>
                    <a:pt x="420" y="6"/>
                  </a:lnTo>
                  <a:lnTo>
                    <a:pt x="426" y="0"/>
                  </a:lnTo>
                  <a:lnTo>
                    <a:pt x="426" y="0"/>
                  </a:lnTo>
                  <a:lnTo>
                    <a:pt x="426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6" y="0"/>
                  </a:lnTo>
                </a:path>
              </a:pathLst>
            </a:custGeom>
            <a:noFill/>
            <a:ln w="19050" cmpd="sng">
              <a:solidFill>
                <a:srgbClr val="04926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7" name="Freeform 106">
              <a:extLst>
                <a:ext uri="{FF2B5EF4-FFF2-40B4-BE49-F238E27FC236}">
                  <a16:creationId xmlns:a16="http://schemas.microsoft.com/office/drawing/2014/main" id="{9D1542D6-6D1C-BAAD-FD23-979559713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" y="2520"/>
              <a:ext cx="168" cy="24"/>
            </a:xfrm>
            <a:custGeom>
              <a:avLst/>
              <a:gdLst>
                <a:gd name="T0" fmla="*/ 0 w 168"/>
                <a:gd name="T1" fmla="*/ 24 h 24"/>
                <a:gd name="T2" fmla="*/ 6 w 168"/>
                <a:gd name="T3" fmla="*/ 24 h 24"/>
                <a:gd name="T4" fmla="*/ 6 w 168"/>
                <a:gd name="T5" fmla="*/ 24 h 24"/>
                <a:gd name="T6" fmla="*/ 12 w 168"/>
                <a:gd name="T7" fmla="*/ 24 h 24"/>
                <a:gd name="T8" fmla="*/ 12 w 168"/>
                <a:gd name="T9" fmla="*/ 18 h 24"/>
                <a:gd name="T10" fmla="*/ 18 w 168"/>
                <a:gd name="T11" fmla="*/ 18 h 24"/>
                <a:gd name="T12" fmla="*/ 24 w 168"/>
                <a:gd name="T13" fmla="*/ 18 h 24"/>
                <a:gd name="T14" fmla="*/ 24 w 168"/>
                <a:gd name="T15" fmla="*/ 18 h 24"/>
                <a:gd name="T16" fmla="*/ 30 w 168"/>
                <a:gd name="T17" fmla="*/ 18 h 24"/>
                <a:gd name="T18" fmla="*/ 30 w 168"/>
                <a:gd name="T19" fmla="*/ 18 h 24"/>
                <a:gd name="T20" fmla="*/ 36 w 168"/>
                <a:gd name="T21" fmla="*/ 18 h 24"/>
                <a:gd name="T22" fmla="*/ 36 w 168"/>
                <a:gd name="T23" fmla="*/ 18 h 24"/>
                <a:gd name="T24" fmla="*/ 42 w 168"/>
                <a:gd name="T25" fmla="*/ 18 h 24"/>
                <a:gd name="T26" fmla="*/ 48 w 168"/>
                <a:gd name="T27" fmla="*/ 18 h 24"/>
                <a:gd name="T28" fmla="*/ 48 w 168"/>
                <a:gd name="T29" fmla="*/ 18 h 24"/>
                <a:gd name="T30" fmla="*/ 54 w 168"/>
                <a:gd name="T31" fmla="*/ 18 h 24"/>
                <a:gd name="T32" fmla="*/ 54 w 168"/>
                <a:gd name="T33" fmla="*/ 18 h 24"/>
                <a:gd name="T34" fmla="*/ 60 w 168"/>
                <a:gd name="T35" fmla="*/ 18 h 24"/>
                <a:gd name="T36" fmla="*/ 66 w 168"/>
                <a:gd name="T37" fmla="*/ 12 h 24"/>
                <a:gd name="T38" fmla="*/ 66 w 168"/>
                <a:gd name="T39" fmla="*/ 12 h 24"/>
                <a:gd name="T40" fmla="*/ 72 w 168"/>
                <a:gd name="T41" fmla="*/ 12 h 24"/>
                <a:gd name="T42" fmla="*/ 72 w 168"/>
                <a:gd name="T43" fmla="*/ 12 h 24"/>
                <a:gd name="T44" fmla="*/ 78 w 168"/>
                <a:gd name="T45" fmla="*/ 12 h 24"/>
                <a:gd name="T46" fmla="*/ 84 w 168"/>
                <a:gd name="T47" fmla="*/ 12 h 24"/>
                <a:gd name="T48" fmla="*/ 84 w 168"/>
                <a:gd name="T49" fmla="*/ 12 h 24"/>
                <a:gd name="T50" fmla="*/ 90 w 168"/>
                <a:gd name="T51" fmla="*/ 12 h 24"/>
                <a:gd name="T52" fmla="*/ 90 w 168"/>
                <a:gd name="T53" fmla="*/ 12 h 24"/>
                <a:gd name="T54" fmla="*/ 96 w 168"/>
                <a:gd name="T55" fmla="*/ 12 h 24"/>
                <a:gd name="T56" fmla="*/ 96 w 168"/>
                <a:gd name="T57" fmla="*/ 12 h 24"/>
                <a:gd name="T58" fmla="*/ 102 w 168"/>
                <a:gd name="T59" fmla="*/ 12 h 24"/>
                <a:gd name="T60" fmla="*/ 108 w 168"/>
                <a:gd name="T61" fmla="*/ 12 h 24"/>
                <a:gd name="T62" fmla="*/ 108 w 168"/>
                <a:gd name="T63" fmla="*/ 12 h 24"/>
                <a:gd name="T64" fmla="*/ 114 w 168"/>
                <a:gd name="T65" fmla="*/ 6 h 24"/>
                <a:gd name="T66" fmla="*/ 114 w 168"/>
                <a:gd name="T67" fmla="*/ 6 h 24"/>
                <a:gd name="T68" fmla="*/ 120 w 168"/>
                <a:gd name="T69" fmla="*/ 6 h 24"/>
                <a:gd name="T70" fmla="*/ 126 w 168"/>
                <a:gd name="T71" fmla="*/ 6 h 24"/>
                <a:gd name="T72" fmla="*/ 126 w 168"/>
                <a:gd name="T73" fmla="*/ 6 h 24"/>
                <a:gd name="T74" fmla="*/ 132 w 168"/>
                <a:gd name="T75" fmla="*/ 6 h 24"/>
                <a:gd name="T76" fmla="*/ 132 w 168"/>
                <a:gd name="T77" fmla="*/ 6 h 24"/>
                <a:gd name="T78" fmla="*/ 138 w 168"/>
                <a:gd name="T79" fmla="*/ 6 h 24"/>
                <a:gd name="T80" fmla="*/ 144 w 168"/>
                <a:gd name="T81" fmla="*/ 6 h 24"/>
                <a:gd name="T82" fmla="*/ 144 w 168"/>
                <a:gd name="T83" fmla="*/ 6 h 24"/>
                <a:gd name="T84" fmla="*/ 150 w 168"/>
                <a:gd name="T85" fmla="*/ 6 h 24"/>
                <a:gd name="T86" fmla="*/ 150 w 168"/>
                <a:gd name="T87" fmla="*/ 6 h 24"/>
                <a:gd name="T88" fmla="*/ 156 w 168"/>
                <a:gd name="T89" fmla="*/ 6 h 24"/>
                <a:gd name="T90" fmla="*/ 162 w 168"/>
                <a:gd name="T91" fmla="*/ 6 h 24"/>
                <a:gd name="T92" fmla="*/ 162 w 168"/>
                <a:gd name="T93" fmla="*/ 6 h 24"/>
                <a:gd name="T94" fmla="*/ 168 w 168"/>
                <a:gd name="T9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68" h="24">
                  <a:moveTo>
                    <a:pt x="0" y="24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36" y="18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48" y="18"/>
                  </a:lnTo>
                  <a:lnTo>
                    <a:pt x="48" y="18"/>
                  </a:lnTo>
                  <a:lnTo>
                    <a:pt x="48" y="18"/>
                  </a:lnTo>
                  <a:lnTo>
                    <a:pt x="54" y="18"/>
                  </a:lnTo>
                  <a:lnTo>
                    <a:pt x="54" y="18"/>
                  </a:lnTo>
                  <a:lnTo>
                    <a:pt x="54" y="18"/>
                  </a:lnTo>
                  <a:lnTo>
                    <a:pt x="54" y="18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0" y="12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14" y="12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32" y="6"/>
                  </a:lnTo>
                  <a:lnTo>
                    <a:pt x="132" y="6"/>
                  </a:lnTo>
                  <a:lnTo>
                    <a:pt x="132" y="6"/>
                  </a:lnTo>
                  <a:lnTo>
                    <a:pt x="132" y="6"/>
                  </a:lnTo>
                  <a:lnTo>
                    <a:pt x="138" y="6"/>
                  </a:lnTo>
                  <a:lnTo>
                    <a:pt x="138" y="6"/>
                  </a:lnTo>
                  <a:lnTo>
                    <a:pt x="138" y="6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50" y="6"/>
                  </a:lnTo>
                  <a:lnTo>
                    <a:pt x="150" y="6"/>
                  </a:lnTo>
                  <a:lnTo>
                    <a:pt x="150" y="6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62" y="6"/>
                  </a:lnTo>
                  <a:lnTo>
                    <a:pt x="162" y="6"/>
                  </a:lnTo>
                  <a:lnTo>
                    <a:pt x="162" y="6"/>
                  </a:lnTo>
                  <a:lnTo>
                    <a:pt x="162" y="6"/>
                  </a:lnTo>
                  <a:lnTo>
                    <a:pt x="168" y="0"/>
                  </a:lnTo>
                  <a:lnTo>
                    <a:pt x="168" y="0"/>
                  </a:lnTo>
                </a:path>
              </a:pathLst>
            </a:custGeom>
            <a:noFill/>
            <a:ln w="19050" cmpd="sng">
              <a:solidFill>
                <a:srgbClr val="04926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689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build="p" autoUpdateAnimBg="0"/>
      <p:bldP spid="8" grpId="0"/>
      <p:bldP spid="9" grpId="0"/>
      <p:bldP spid="10" grpId="0"/>
      <p:bldP spid="11" grpId="0"/>
      <p:bldP spid="12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15">
                <a:extLst>
                  <a:ext uri="{FF2B5EF4-FFF2-40B4-BE49-F238E27FC236}">
                    <a16:creationId xmlns:a16="http://schemas.microsoft.com/office/drawing/2014/main" id="{253B8FA0-BAC0-4E8F-A752-6D77F2F5F3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7073" y="1353786"/>
                <a:ext cx="466737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设空间曲线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的参数方程为</a:t>
                </a:r>
                <a:endParaRPr kumimoji="1"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 Box 15">
                <a:extLst>
                  <a:ext uri="{FF2B5EF4-FFF2-40B4-BE49-F238E27FC236}">
                    <a16:creationId xmlns:a16="http://schemas.microsoft.com/office/drawing/2014/main" id="{253B8FA0-BAC0-4E8F-A752-6D77F2F5F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7073" y="1353786"/>
                <a:ext cx="4667375" cy="523220"/>
              </a:xfrm>
              <a:prstGeom prst="rect">
                <a:avLst/>
              </a:prstGeom>
              <a:blipFill>
                <a:blip r:embed="rId3"/>
                <a:stretch>
                  <a:fillRect l="-2611" t="-11628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7">
                <a:extLst>
                  <a:ext uri="{FF2B5EF4-FFF2-40B4-BE49-F238E27FC236}">
                    <a16:creationId xmlns:a16="http://schemas.microsoft.com/office/drawing/2014/main" id="{6ACCA7D5-DA3A-DCF9-26B4-6773283CA9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7073" y="3689308"/>
                <a:ext cx="691857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假设上式中的三个函数都在 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[</a:t>
                </a:r>
                <a:r>
                  <a: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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 , </a:t>
                </a:r>
                <a:r>
                  <a: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 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] 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上可导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Text Box 17">
                <a:extLst>
                  <a:ext uri="{FF2B5EF4-FFF2-40B4-BE49-F238E27FC236}">
                    <a16:creationId xmlns:a16="http://schemas.microsoft.com/office/drawing/2014/main" id="{6ACCA7D5-DA3A-DCF9-26B4-6773283CA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7073" y="3689308"/>
                <a:ext cx="6918576" cy="523220"/>
              </a:xfrm>
              <a:prstGeom prst="rect">
                <a:avLst/>
              </a:prstGeom>
              <a:blipFill>
                <a:blip r:embed="rId4"/>
                <a:stretch>
                  <a:fillRect l="-1762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18">
                <a:extLst>
                  <a:ext uri="{FF2B5EF4-FFF2-40B4-BE49-F238E27FC236}">
                    <a16:creationId xmlns:a16="http://schemas.microsoft.com/office/drawing/2014/main" id="{1F9FAEB3-AE60-B299-1111-A84A6692FA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7073" y="4346668"/>
                <a:ext cx="415048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且三个导数不同时为零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Text Box 18">
                <a:extLst>
                  <a:ext uri="{FF2B5EF4-FFF2-40B4-BE49-F238E27FC236}">
                    <a16:creationId xmlns:a16="http://schemas.microsoft.com/office/drawing/2014/main" id="{1F9FAEB3-AE60-B299-1111-A84A6692F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7073" y="4346668"/>
                <a:ext cx="4150484" cy="523220"/>
              </a:xfrm>
              <a:prstGeom prst="rect">
                <a:avLst/>
              </a:prstGeom>
              <a:blipFill>
                <a:blip r:embed="rId5"/>
                <a:stretch>
                  <a:fillRect l="-2937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20">
            <a:extLst>
              <a:ext uri="{FF2B5EF4-FFF2-40B4-BE49-F238E27FC236}">
                <a16:creationId xmlns:a16="http://schemas.microsoft.com/office/drawing/2014/main" id="{8F3A7FAB-4939-45FF-8005-E23BE1B5D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7479" y="4338146"/>
            <a:ext cx="14635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则向量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22">
                <a:extLst>
                  <a:ext uri="{FF2B5EF4-FFF2-40B4-BE49-F238E27FC236}">
                    <a16:creationId xmlns:a16="http://schemas.microsoft.com/office/drawing/2014/main" id="{FE2FEC7A-41A8-D6F3-07E2-3907BD5BDD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7074" y="5575728"/>
                <a:ext cx="375040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为曲线 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在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𝑡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 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处的</a:t>
                </a:r>
              </a:p>
            </p:txBody>
          </p:sp>
        </mc:Choice>
        <mc:Fallback xmlns="">
          <p:sp>
            <p:nvSpPr>
              <p:cNvPr id="6" name="Text Box 22">
                <a:extLst>
                  <a:ext uri="{FF2B5EF4-FFF2-40B4-BE49-F238E27FC236}">
                    <a16:creationId xmlns:a16="http://schemas.microsoft.com/office/drawing/2014/main" id="{FE2FEC7A-41A8-D6F3-07E2-3907BD5BD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7074" y="5575728"/>
                <a:ext cx="3750406" cy="523220"/>
              </a:xfrm>
              <a:prstGeom prst="rect">
                <a:avLst/>
              </a:prstGeom>
              <a:blipFill>
                <a:blip r:embed="rId6"/>
                <a:stretch>
                  <a:fillRect l="-3252" t="-16471" r="-1138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2">
            <a:extLst>
              <a:ext uri="{FF2B5EF4-FFF2-40B4-BE49-F238E27FC236}">
                <a16:creationId xmlns:a16="http://schemas.microsoft.com/office/drawing/2014/main" id="{476974F3-B253-533D-5771-D4975A59C085}"/>
              </a:ext>
            </a:extLst>
          </p:cNvPr>
          <p:cNvSpPr txBox="1">
            <a:spLocks noChangeArrowheads="1"/>
          </p:cNvSpPr>
          <p:nvPr/>
        </p:nvSpPr>
        <p:spPr>
          <a:xfrm>
            <a:off x="1017948" y="729868"/>
            <a:ext cx="5087761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曲线方程为参数方程的情况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1">
                <a:extLst>
                  <a:ext uri="{FF2B5EF4-FFF2-40B4-BE49-F238E27FC236}">
                    <a16:creationId xmlns:a16="http://schemas.microsoft.com/office/drawing/2014/main" id="{848F457F-C598-FA5A-CC96-E5F2CDA71AC4}"/>
                  </a:ext>
                </a:extLst>
              </p:cNvPr>
              <p:cNvSpPr txBox="1"/>
              <p:nvPr/>
            </p:nvSpPr>
            <p:spPr>
              <a:xfrm>
                <a:off x="2158243" y="1953210"/>
                <a:ext cx="3759958" cy="176720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𝜑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𝜓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𝜔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),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 </m:t>
                      </m:r>
                      <m:r>
                        <a:rPr kumimoji="1" lang="zh-CN" altLang="en-US" sz="2800" b="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∈[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𝛼</m:t>
                      </m:r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𝛽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].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对象 1">
                <a:extLst>
                  <a:ext uri="{FF2B5EF4-FFF2-40B4-BE49-F238E27FC236}">
                    <a16:creationId xmlns:a16="http://schemas.microsoft.com/office/drawing/2014/main" id="{848F457F-C598-FA5A-CC96-E5F2CDA71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243" y="1953210"/>
                <a:ext cx="3759958" cy="17672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2">
                <a:extLst>
                  <a:ext uri="{FF2B5EF4-FFF2-40B4-BE49-F238E27FC236}">
                    <a16:creationId xmlns:a16="http://schemas.microsoft.com/office/drawing/2014/main" id="{FD3523D7-F6E1-C55D-9499-12094464C7A9}"/>
                  </a:ext>
                </a:extLst>
              </p:cNvPr>
              <p:cNvSpPr txBox="1"/>
              <p:nvPr/>
            </p:nvSpPr>
            <p:spPr>
              <a:xfrm>
                <a:off x="2158242" y="4968353"/>
                <a:ext cx="6499290" cy="57938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𝑻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𝒇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)=(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) </m:t>
                      </m:r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𝜓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) </m:t>
                      </m:r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对象 2">
                <a:extLst>
                  <a:ext uri="{FF2B5EF4-FFF2-40B4-BE49-F238E27FC236}">
                    <a16:creationId xmlns:a16="http://schemas.microsoft.com/office/drawing/2014/main" id="{FD3523D7-F6E1-C55D-9499-12094464C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242" y="4968353"/>
                <a:ext cx="6499290" cy="5793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B38CD33-C07A-F936-F731-ED8E3837DAE7}"/>
                  </a:ext>
                </a:extLst>
              </p:cNvPr>
              <p:cNvSpPr/>
              <p:nvPr/>
            </p:nvSpPr>
            <p:spPr>
              <a:xfrm>
                <a:off x="4927319" y="5575728"/>
                <a:ext cx="13564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切向量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zh-CN" altLang="en-US" sz="2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B38CD33-C07A-F936-F731-ED8E3837DA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319" y="5575728"/>
                <a:ext cx="1356462" cy="523220"/>
              </a:xfrm>
              <a:prstGeom prst="rect">
                <a:avLst/>
              </a:prstGeom>
              <a:blipFill>
                <a:blip r:embed="rId9"/>
                <a:stretch>
                  <a:fillRect l="-8969" t="-16471" r="-1794" b="-2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22">
                <a:extLst>
                  <a:ext uri="{FF2B5EF4-FFF2-40B4-BE49-F238E27FC236}">
                    <a16:creationId xmlns:a16="http://schemas.microsoft.com/office/drawing/2014/main" id="{6B27E29B-541A-C362-BC49-1CCB3B88DC56}"/>
                  </a:ext>
                </a:extLst>
              </p:cNvPr>
              <p:cNvSpPr txBox="1"/>
              <p:nvPr/>
            </p:nvSpPr>
            <p:spPr bwMode="auto">
              <a:xfrm>
                <a:off x="7900932" y="2564109"/>
                <a:ext cx="3170928" cy="452184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𝒇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),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𝜓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),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𝜔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Object 122">
                <a:extLst>
                  <a:ext uri="{FF2B5EF4-FFF2-40B4-BE49-F238E27FC236}">
                    <a16:creationId xmlns:a16="http://schemas.microsoft.com/office/drawing/2014/main" id="{6B27E29B-541A-C362-BC49-1CCB3B88D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00932" y="2564109"/>
                <a:ext cx="3170928" cy="452184"/>
              </a:xfrm>
              <a:prstGeom prst="rect">
                <a:avLst/>
              </a:prstGeom>
              <a:blipFill>
                <a:blip r:embed="rId10"/>
                <a:stretch>
                  <a:fillRect l="-1154" b="-135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76">
                <a:extLst>
                  <a:ext uri="{FF2B5EF4-FFF2-40B4-BE49-F238E27FC236}">
                    <a16:creationId xmlns:a16="http://schemas.microsoft.com/office/drawing/2014/main" id="{C6477C32-47C8-1D33-4106-DB9ED42E95A2}"/>
                  </a:ext>
                </a:extLst>
              </p:cNvPr>
              <p:cNvSpPr txBox="1"/>
              <p:nvPr/>
            </p:nvSpPr>
            <p:spPr bwMode="auto">
              <a:xfrm>
                <a:off x="8195600" y="1176979"/>
                <a:ext cx="1481799" cy="462697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𝑻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𝒇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76">
                <a:extLst>
                  <a:ext uri="{FF2B5EF4-FFF2-40B4-BE49-F238E27FC236}">
                    <a16:creationId xmlns:a16="http://schemas.microsoft.com/office/drawing/2014/main" id="{C6477C32-47C8-1D33-4106-DB9ED42E9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95600" y="1176979"/>
                <a:ext cx="1481799" cy="462697"/>
              </a:xfrm>
              <a:prstGeom prst="rect">
                <a:avLst/>
              </a:prstGeom>
              <a:blipFill>
                <a:blip r:embed="rId11"/>
                <a:stretch>
                  <a:fillRect l="-412" b="-105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 72">
            <a:extLst>
              <a:ext uri="{FF2B5EF4-FFF2-40B4-BE49-F238E27FC236}">
                <a16:creationId xmlns:a16="http://schemas.microsoft.com/office/drawing/2014/main" id="{813FF49F-F26F-6607-C19E-C595D5B861D3}"/>
              </a:ext>
            </a:extLst>
          </p:cNvPr>
          <p:cNvSpPr>
            <a:spLocks/>
          </p:cNvSpPr>
          <p:nvPr/>
        </p:nvSpPr>
        <p:spPr bwMode="auto">
          <a:xfrm>
            <a:off x="6959763" y="2189009"/>
            <a:ext cx="737050" cy="809625"/>
          </a:xfrm>
          <a:custGeom>
            <a:avLst/>
            <a:gdLst>
              <a:gd name="T0" fmla="*/ 6 w 450"/>
              <a:gd name="T1" fmla="*/ 528 h 540"/>
              <a:gd name="T2" fmla="*/ 18 w 450"/>
              <a:gd name="T3" fmla="*/ 504 h 540"/>
              <a:gd name="T4" fmla="*/ 24 w 450"/>
              <a:gd name="T5" fmla="*/ 480 h 540"/>
              <a:gd name="T6" fmla="*/ 36 w 450"/>
              <a:gd name="T7" fmla="*/ 456 h 540"/>
              <a:gd name="T8" fmla="*/ 42 w 450"/>
              <a:gd name="T9" fmla="*/ 438 h 540"/>
              <a:gd name="T10" fmla="*/ 54 w 450"/>
              <a:gd name="T11" fmla="*/ 420 h 540"/>
              <a:gd name="T12" fmla="*/ 60 w 450"/>
              <a:gd name="T13" fmla="*/ 396 h 540"/>
              <a:gd name="T14" fmla="*/ 72 w 450"/>
              <a:gd name="T15" fmla="*/ 384 h 540"/>
              <a:gd name="T16" fmla="*/ 78 w 450"/>
              <a:gd name="T17" fmla="*/ 366 h 540"/>
              <a:gd name="T18" fmla="*/ 84 w 450"/>
              <a:gd name="T19" fmla="*/ 348 h 540"/>
              <a:gd name="T20" fmla="*/ 96 w 450"/>
              <a:gd name="T21" fmla="*/ 330 h 540"/>
              <a:gd name="T22" fmla="*/ 102 w 450"/>
              <a:gd name="T23" fmla="*/ 318 h 540"/>
              <a:gd name="T24" fmla="*/ 114 w 450"/>
              <a:gd name="T25" fmla="*/ 306 h 540"/>
              <a:gd name="T26" fmla="*/ 120 w 450"/>
              <a:gd name="T27" fmla="*/ 288 h 540"/>
              <a:gd name="T28" fmla="*/ 132 w 450"/>
              <a:gd name="T29" fmla="*/ 276 h 540"/>
              <a:gd name="T30" fmla="*/ 138 w 450"/>
              <a:gd name="T31" fmla="*/ 264 h 540"/>
              <a:gd name="T32" fmla="*/ 150 w 450"/>
              <a:gd name="T33" fmla="*/ 252 h 540"/>
              <a:gd name="T34" fmla="*/ 156 w 450"/>
              <a:gd name="T35" fmla="*/ 240 h 540"/>
              <a:gd name="T36" fmla="*/ 168 w 450"/>
              <a:gd name="T37" fmla="*/ 228 h 540"/>
              <a:gd name="T38" fmla="*/ 174 w 450"/>
              <a:gd name="T39" fmla="*/ 216 h 540"/>
              <a:gd name="T40" fmla="*/ 186 w 450"/>
              <a:gd name="T41" fmla="*/ 210 h 540"/>
              <a:gd name="T42" fmla="*/ 192 w 450"/>
              <a:gd name="T43" fmla="*/ 198 h 540"/>
              <a:gd name="T44" fmla="*/ 204 w 450"/>
              <a:gd name="T45" fmla="*/ 186 h 540"/>
              <a:gd name="T46" fmla="*/ 210 w 450"/>
              <a:gd name="T47" fmla="*/ 180 h 540"/>
              <a:gd name="T48" fmla="*/ 222 w 450"/>
              <a:gd name="T49" fmla="*/ 168 h 540"/>
              <a:gd name="T50" fmla="*/ 228 w 450"/>
              <a:gd name="T51" fmla="*/ 162 h 540"/>
              <a:gd name="T52" fmla="*/ 240 w 450"/>
              <a:gd name="T53" fmla="*/ 150 h 540"/>
              <a:gd name="T54" fmla="*/ 246 w 450"/>
              <a:gd name="T55" fmla="*/ 144 h 540"/>
              <a:gd name="T56" fmla="*/ 252 w 450"/>
              <a:gd name="T57" fmla="*/ 138 h 540"/>
              <a:gd name="T58" fmla="*/ 264 w 450"/>
              <a:gd name="T59" fmla="*/ 126 h 540"/>
              <a:gd name="T60" fmla="*/ 270 w 450"/>
              <a:gd name="T61" fmla="*/ 120 h 540"/>
              <a:gd name="T62" fmla="*/ 282 w 450"/>
              <a:gd name="T63" fmla="*/ 114 h 540"/>
              <a:gd name="T64" fmla="*/ 288 w 450"/>
              <a:gd name="T65" fmla="*/ 108 h 540"/>
              <a:gd name="T66" fmla="*/ 300 w 450"/>
              <a:gd name="T67" fmla="*/ 96 h 540"/>
              <a:gd name="T68" fmla="*/ 306 w 450"/>
              <a:gd name="T69" fmla="*/ 90 h 540"/>
              <a:gd name="T70" fmla="*/ 318 w 450"/>
              <a:gd name="T71" fmla="*/ 84 h 540"/>
              <a:gd name="T72" fmla="*/ 324 w 450"/>
              <a:gd name="T73" fmla="*/ 78 h 540"/>
              <a:gd name="T74" fmla="*/ 336 w 450"/>
              <a:gd name="T75" fmla="*/ 72 h 540"/>
              <a:gd name="T76" fmla="*/ 342 w 450"/>
              <a:gd name="T77" fmla="*/ 66 h 540"/>
              <a:gd name="T78" fmla="*/ 354 w 450"/>
              <a:gd name="T79" fmla="*/ 60 h 540"/>
              <a:gd name="T80" fmla="*/ 360 w 450"/>
              <a:gd name="T81" fmla="*/ 54 h 540"/>
              <a:gd name="T82" fmla="*/ 372 w 450"/>
              <a:gd name="T83" fmla="*/ 48 h 540"/>
              <a:gd name="T84" fmla="*/ 378 w 450"/>
              <a:gd name="T85" fmla="*/ 42 h 540"/>
              <a:gd name="T86" fmla="*/ 390 w 450"/>
              <a:gd name="T87" fmla="*/ 36 h 540"/>
              <a:gd name="T88" fmla="*/ 396 w 450"/>
              <a:gd name="T89" fmla="*/ 30 h 540"/>
              <a:gd name="T90" fmla="*/ 408 w 450"/>
              <a:gd name="T91" fmla="*/ 30 h 540"/>
              <a:gd name="T92" fmla="*/ 414 w 450"/>
              <a:gd name="T93" fmla="*/ 24 h 540"/>
              <a:gd name="T94" fmla="*/ 426 w 450"/>
              <a:gd name="T95" fmla="*/ 18 h 540"/>
              <a:gd name="T96" fmla="*/ 432 w 450"/>
              <a:gd name="T97" fmla="*/ 12 h 540"/>
              <a:gd name="T98" fmla="*/ 438 w 450"/>
              <a:gd name="T99" fmla="*/ 6 h 540"/>
              <a:gd name="T100" fmla="*/ 450 w 450"/>
              <a:gd name="T101" fmla="*/ 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450" h="540">
                <a:moveTo>
                  <a:pt x="0" y="540"/>
                </a:moveTo>
                <a:lnTo>
                  <a:pt x="0" y="534"/>
                </a:lnTo>
                <a:lnTo>
                  <a:pt x="6" y="534"/>
                </a:lnTo>
                <a:lnTo>
                  <a:pt x="6" y="534"/>
                </a:lnTo>
                <a:lnTo>
                  <a:pt x="6" y="528"/>
                </a:lnTo>
                <a:lnTo>
                  <a:pt x="6" y="522"/>
                </a:lnTo>
                <a:lnTo>
                  <a:pt x="12" y="516"/>
                </a:lnTo>
                <a:lnTo>
                  <a:pt x="12" y="510"/>
                </a:lnTo>
                <a:lnTo>
                  <a:pt x="12" y="504"/>
                </a:lnTo>
                <a:lnTo>
                  <a:pt x="18" y="504"/>
                </a:lnTo>
                <a:lnTo>
                  <a:pt x="18" y="498"/>
                </a:lnTo>
                <a:lnTo>
                  <a:pt x="18" y="492"/>
                </a:lnTo>
                <a:lnTo>
                  <a:pt x="24" y="486"/>
                </a:lnTo>
                <a:lnTo>
                  <a:pt x="24" y="486"/>
                </a:lnTo>
                <a:lnTo>
                  <a:pt x="24" y="480"/>
                </a:lnTo>
                <a:lnTo>
                  <a:pt x="24" y="474"/>
                </a:lnTo>
                <a:lnTo>
                  <a:pt x="30" y="468"/>
                </a:lnTo>
                <a:lnTo>
                  <a:pt x="30" y="468"/>
                </a:lnTo>
                <a:lnTo>
                  <a:pt x="30" y="462"/>
                </a:lnTo>
                <a:lnTo>
                  <a:pt x="36" y="456"/>
                </a:lnTo>
                <a:lnTo>
                  <a:pt x="36" y="456"/>
                </a:lnTo>
                <a:lnTo>
                  <a:pt x="36" y="450"/>
                </a:lnTo>
                <a:lnTo>
                  <a:pt x="36" y="444"/>
                </a:lnTo>
                <a:lnTo>
                  <a:pt x="42" y="438"/>
                </a:lnTo>
                <a:lnTo>
                  <a:pt x="42" y="438"/>
                </a:lnTo>
                <a:lnTo>
                  <a:pt x="42" y="432"/>
                </a:lnTo>
                <a:lnTo>
                  <a:pt x="48" y="426"/>
                </a:lnTo>
                <a:lnTo>
                  <a:pt x="48" y="426"/>
                </a:lnTo>
                <a:lnTo>
                  <a:pt x="48" y="420"/>
                </a:lnTo>
                <a:lnTo>
                  <a:pt x="54" y="420"/>
                </a:lnTo>
                <a:lnTo>
                  <a:pt x="54" y="414"/>
                </a:lnTo>
                <a:lnTo>
                  <a:pt x="54" y="408"/>
                </a:lnTo>
                <a:lnTo>
                  <a:pt x="54" y="408"/>
                </a:lnTo>
                <a:lnTo>
                  <a:pt x="60" y="402"/>
                </a:lnTo>
                <a:lnTo>
                  <a:pt x="60" y="396"/>
                </a:lnTo>
                <a:lnTo>
                  <a:pt x="60" y="396"/>
                </a:lnTo>
                <a:lnTo>
                  <a:pt x="66" y="390"/>
                </a:lnTo>
                <a:lnTo>
                  <a:pt x="66" y="390"/>
                </a:lnTo>
                <a:lnTo>
                  <a:pt x="66" y="384"/>
                </a:lnTo>
                <a:lnTo>
                  <a:pt x="72" y="384"/>
                </a:lnTo>
                <a:lnTo>
                  <a:pt x="72" y="378"/>
                </a:lnTo>
                <a:lnTo>
                  <a:pt x="72" y="372"/>
                </a:lnTo>
                <a:lnTo>
                  <a:pt x="72" y="372"/>
                </a:lnTo>
                <a:lnTo>
                  <a:pt x="78" y="366"/>
                </a:lnTo>
                <a:lnTo>
                  <a:pt x="78" y="366"/>
                </a:lnTo>
                <a:lnTo>
                  <a:pt x="78" y="360"/>
                </a:lnTo>
                <a:lnTo>
                  <a:pt x="84" y="360"/>
                </a:lnTo>
                <a:lnTo>
                  <a:pt x="84" y="354"/>
                </a:lnTo>
                <a:lnTo>
                  <a:pt x="84" y="354"/>
                </a:lnTo>
                <a:lnTo>
                  <a:pt x="84" y="348"/>
                </a:lnTo>
                <a:lnTo>
                  <a:pt x="90" y="342"/>
                </a:lnTo>
                <a:lnTo>
                  <a:pt x="90" y="342"/>
                </a:lnTo>
                <a:lnTo>
                  <a:pt x="90" y="336"/>
                </a:lnTo>
                <a:lnTo>
                  <a:pt x="96" y="336"/>
                </a:lnTo>
                <a:lnTo>
                  <a:pt x="96" y="330"/>
                </a:lnTo>
                <a:lnTo>
                  <a:pt x="96" y="330"/>
                </a:lnTo>
                <a:lnTo>
                  <a:pt x="102" y="324"/>
                </a:lnTo>
                <a:lnTo>
                  <a:pt x="102" y="324"/>
                </a:lnTo>
                <a:lnTo>
                  <a:pt x="102" y="318"/>
                </a:lnTo>
                <a:lnTo>
                  <a:pt x="102" y="318"/>
                </a:lnTo>
                <a:lnTo>
                  <a:pt x="108" y="318"/>
                </a:lnTo>
                <a:lnTo>
                  <a:pt x="108" y="312"/>
                </a:lnTo>
                <a:lnTo>
                  <a:pt x="108" y="312"/>
                </a:lnTo>
                <a:lnTo>
                  <a:pt x="114" y="306"/>
                </a:lnTo>
                <a:lnTo>
                  <a:pt x="114" y="306"/>
                </a:lnTo>
                <a:lnTo>
                  <a:pt x="114" y="300"/>
                </a:lnTo>
                <a:lnTo>
                  <a:pt x="114" y="300"/>
                </a:lnTo>
                <a:lnTo>
                  <a:pt x="120" y="294"/>
                </a:lnTo>
                <a:lnTo>
                  <a:pt x="120" y="294"/>
                </a:lnTo>
                <a:lnTo>
                  <a:pt x="120" y="288"/>
                </a:lnTo>
                <a:lnTo>
                  <a:pt x="126" y="288"/>
                </a:lnTo>
                <a:lnTo>
                  <a:pt x="126" y="282"/>
                </a:lnTo>
                <a:lnTo>
                  <a:pt x="126" y="282"/>
                </a:lnTo>
                <a:lnTo>
                  <a:pt x="132" y="282"/>
                </a:lnTo>
                <a:lnTo>
                  <a:pt x="132" y="276"/>
                </a:lnTo>
                <a:lnTo>
                  <a:pt x="132" y="276"/>
                </a:lnTo>
                <a:lnTo>
                  <a:pt x="132" y="270"/>
                </a:lnTo>
                <a:lnTo>
                  <a:pt x="138" y="270"/>
                </a:lnTo>
                <a:lnTo>
                  <a:pt x="138" y="270"/>
                </a:lnTo>
                <a:lnTo>
                  <a:pt x="138" y="264"/>
                </a:lnTo>
                <a:lnTo>
                  <a:pt x="144" y="264"/>
                </a:lnTo>
                <a:lnTo>
                  <a:pt x="144" y="258"/>
                </a:lnTo>
                <a:lnTo>
                  <a:pt x="144" y="258"/>
                </a:lnTo>
                <a:lnTo>
                  <a:pt x="144" y="252"/>
                </a:lnTo>
                <a:lnTo>
                  <a:pt x="150" y="252"/>
                </a:lnTo>
                <a:lnTo>
                  <a:pt x="150" y="252"/>
                </a:lnTo>
                <a:lnTo>
                  <a:pt x="150" y="246"/>
                </a:lnTo>
                <a:lnTo>
                  <a:pt x="156" y="246"/>
                </a:lnTo>
                <a:lnTo>
                  <a:pt x="156" y="246"/>
                </a:lnTo>
                <a:lnTo>
                  <a:pt x="156" y="240"/>
                </a:lnTo>
                <a:lnTo>
                  <a:pt x="162" y="240"/>
                </a:lnTo>
                <a:lnTo>
                  <a:pt x="162" y="234"/>
                </a:lnTo>
                <a:lnTo>
                  <a:pt x="162" y="234"/>
                </a:lnTo>
                <a:lnTo>
                  <a:pt x="162" y="234"/>
                </a:lnTo>
                <a:lnTo>
                  <a:pt x="168" y="228"/>
                </a:lnTo>
                <a:lnTo>
                  <a:pt x="168" y="228"/>
                </a:lnTo>
                <a:lnTo>
                  <a:pt x="168" y="228"/>
                </a:lnTo>
                <a:lnTo>
                  <a:pt x="174" y="222"/>
                </a:lnTo>
                <a:lnTo>
                  <a:pt x="174" y="222"/>
                </a:lnTo>
                <a:lnTo>
                  <a:pt x="174" y="216"/>
                </a:lnTo>
                <a:lnTo>
                  <a:pt x="180" y="216"/>
                </a:lnTo>
                <a:lnTo>
                  <a:pt x="180" y="216"/>
                </a:lnTo>
                <a:lnTo>
                  <a:pt x="180" y="210"/>
                </a:lnTo>
                <a:lnTo>
                  <a:pt x="180" y="210"/>
                </a:lnTo>
                <a:lnTo>
                  <a:pt x="186" y="210"/>
                </a:lnTo>
                <a:lnTo>
                  <a:pt x="186" y="204"/>
                </a:lnTo>
                <a:lnTo>
                  <a:pt x="186" y="204"/>
                </a:lnTo>
                <a:lnTo>
                  <a:pt x="192" y="204"/>
                </a:lnTo>
                <a:lnTo>
                  <a:pt x="192" y="198"/>
                </a:lnTo>
                <a:lnTo>
                  <a:pt x="192" y="198"/>
                </a:lnTo>
                <a:lnTo>
                  <a:pt x="192" y="198"/>
                </a:lnTo>
                <a:lnTo>
                  <a:pt x="198" y="192"/>
                </a:lnTo>
                <a:lnTo>
                  <a:pt x="198" y="192"/>
                </a:lnTo>
                <a:lnTo>
                  <a:pt x="198" y="192"/>
                </a:lnTo>
                <a:lnTo>
                  <a:pt x="204" y="186"/>
                </a:lnTo>
                <a:lnTo>
                  <a:pt x="204" y="186"/>
                </a:lnTo>
                <a:lnTo>
                  <a:pt x="204" y="186"/>
                </a:lnTo>
                <a:lnTo>
                  <a:pt x="210" y="180"/>
                </a:lnTo>
                <a:lnTo>
                  <a:pt x="210" y="180"/>
                </a:lnTo>
                <a:lnTo>
                  <a:pt x="210" y="180"/>
                </a:lnTo>
                <a:lnTo>
                  <a:pt x="210" y="180"/>
                </a:lnTo>
                <a:lnTo>
                  <a:pt x="216" y="174"/>
                </a:lnTo>
                <a:lnTo>
                  <a:pt x="216" y="174"/>
                </a:lnTo>
                <a:lnTo>
                  <a:pt x="216" y="174"/>
                </a:lnTo>
                <a:lnTo>
                  <a:pt x="222" y="168"/>
                </a:lnTo>
                <a:lnTo>
                  <a:pt x="222" y="168"/>
                </a:lnTo>
                <a:lnTo>
                  <a:pt x="222" y="168"/>
                </a:lnTo>
                <a:lnTo>
                  <a:pt x="222" y="162"/>
                </a:lnTo>
                <a:lnTo>
                  <a:pt x="228" y="162"/>
                </a:lnTo>
                <a:lnTo>
                  <a:pt x="228" y="162"/>
                </a:lnTo>
                <a:lnTo>
                  <a:pt x="228" y="162"/>
                </a:lnTo>
                <a:lnTo>
                  <a:pt x="234" y="156"/>
                </a:lnTo>
                <a:lnTo>
                  <a:pt x="234" y="156"/>
                </a:lnTo>
                <a:lnTo>
                  <a:pt x="234" y="156"/>
                </a:lnTo>
                <a:lnTo>
                  <a:pt x="240" y="150"/>
                </a:lnTo>
                <a:lnTo>
                  <a:pt x="240" y="150"/>
                </a:lnTo>
                <a:lnTo>
                  <a:pt x="240" y="150"/>
                </a:lnTo>
                <a:lnTo>
                  <a:pt x="240" y="150"/>
                </a:lnTo>
                <a:lnTo>
                  <a:pt x="246" y="144"/>
                </a:lnTo>
                <a:lnTo>
                  <a:pt x="246" y="144"/>
                </a:lnTo>
                <a:lnTo>
                  <a:pt x="246" y="144"/>
                </a:lnTo>
                <a:lnTo>
                  <a:pt x="252" y="138"/>
                </a:lnTo>
                <a:lnTo>
                  <a:pt x="252" y="138"/>
                </a:lnTo>
                <a:lnTo>
                  <a:pt x="252" y="138"/>
                </a:lnTo>
                <a:lnTo>
                  <a:pt x="252" y="138"/>
                </a:lnTo>
                <a:lnTo>
                  <a:pt x="258" y="132"/>
                </a:lnTo>
                <a:lnTo>
                  <a:pt x="258" y="132"/>
                </a:lnTo>
                <a:lnTo>
                  <a:pt x="258" y="132"/>
                </a:lnTo>
                <a:lnTo>
                  <a:pt x="264" y="132"/>
                </a:lnTo>
                <a:lnTo>
                  <a:pt x="264" y="126"/>
                </a:lnTo>
                <a:lnTo>
                  <a:pt x="264" y="126"/>
                </a:lnTo>
                <a:lnTo>
                  <a:pt x="270" y="126"/>
                </a:lnTo>
                <a:lnTo>
                  <a:pt x="270" y="126"/>
                </a:lnTo>
                <a:lnTo>
                  <a:pt x="270" y="120"/>
                </a:lnTo>
                <a:lnTo>
                  <a:pt x="270" y="120"/>
                </a:lnTo>
                <a:lnTo>
                  <a:pt x="276" y="120"/>
                </a:lnTo>
                <a:lnTo>
                  <a:pt x="276" y="120"/>
                </a:lnTo>
                <a:lnTo>
                  <a:pt x="276" y="114"/>
                </a:lnTo>
                <a:lnTo>
                  <a:pt x="282" y="114"/>
                </a:lnTo>
                <a:lnTo>
                  <a:pt x="282" y="114"/>
                </a:lnTo>
                <a:lnTo>
                  <a:pt x="282" y="114"/>
                </a:lnTo>
                <a:lnTo>
                  <a:pt x="288" y="108"/>
                </a:lnTo>
                <a:lnTo>
                  <a:pt x="288" y="108"/>
                </a:lnTo>
                <a:lnTo>
                  <a:pt x="288" y="108"/>
                </a:lnTo>
                <a:lnTo>
                  <a:pt x="288" y="108"/>
                </a:lnTo>
                <a:lnTo>
                  <a:pt x="294" y="102"/>
                </a:lnTo>
                <a:lnTo>
                  <a:pt x="294" y="102"/>
                </a:lnTo>
                <a:lnTo>
                  <a:pt x="294" y="102"/>
                </a:lnTo>
                <a:lnTo>
                  <a:pt x="300" y="102"/>
                </a:lnTo>
                <a:lnTo>
                  <a:pt x="300" y="96"/>
                </a:lnTo>
                <a:lnTo>
                  <a:pt x="300" y="96"/>
                </a:lnTo>
                <a:lnTo>
                  <a:pt x="300" y="96"/>
                </a:lnTo>
                <a:lnTo>
                  <a:pt x="306" y="96"/>
                </a:lnTo>
                <a:lnTo>
                  <a:pt x="306" y="96"/>
                </a:lnTo>
                <a:lnTo>
                  <a:pt x="306" y="90"/>
                </a:lnTo>
                <a:lnTo>
                  <a:pt x="312" y="90"/>
                </a:lnTo>
                <a:lnTo>
                  <a:pt x="312" y="90"/>
                </a:lnTo>
                <a:lnTo>
                  <a:pt x="312" y="90"/>
                </a:lnTo>
                <a:lnTo>
                  <a:pt x="318" y="84"/>
                </a:lnTo>
                <a:lnTo>
                  <a:pt x="318" y="84"/>
                </a:lnTo>
                <a:lnTo>
                  <a:pt x="318" y="84"/>
                </a:lnTo>
                <a:lnTo>
                  <a:pt x="318" y="84"/>
                </a:lnTo>
                <a:lnTo>
                  <a:pt x="324" y="84"/>
                </a:lnTo>
                <a:lnTo>
                  <a:pt x="324" y="78"/>
                </a:lnTo>
                <a:lnTo>
                  <a:pt x="324" y="78"/>
                </a:lnTo>
                <a:lnTo>
                  <a:pt x="330" y="78"/>
                </a:lnTo>
                <a:lnTo>
                  <a:pt x="330" y="78"/>
                </a:lnTo>
                <a:lnTo>
                  <a:pt x="330" y="72"/>
                </a:lnTo>
                <a:lnTo>
                  <a:pt x="330" y="72"/>
                </a:lnTo>
                <a:lnTo>
                  <a:pt x="336" y="72"/>
                </a:lnTo>
                <a:lnTo>
                  <a:pt x="336" y="72"/>
                </a:lnTo>
                <a:lnTo>
                  <a:pt x="336" y="72"/>
                </a:lnTo>
                <a:lnTo>
                  <a:pt x="342" y="66"/>
                </a:lnTo>
                <a:lnTo>
                  <a:pt x="342" y="66"/>
                </a:lnTo>
                <a:lnTo>
                  <a:pt x="342" y="66"/>
                </a:lnTo>
                <a:lnTo>
                  <a:pt x="348" y="66"/>
                </a:lnTo>
                <a:lnTo>
                  <a:pt x="348" y="66"/>
                </a:lnTo>
                <a:lnTo>
                  <a:pt x="348" y="60"/>
                </a:lnTo>
                <a:lnTo>
                  <a:pt x="348" y="60"/>
                </a:lnTo>
                <a:lnTo>
                  <a:pt x="354" y="60"/>
                </a:lnTo>
                <a:lnTo>
                  <a:pt x="354" y="60"/>
                </a:lnTo>
                <a:lnTo>
                  <a:pt x="354" y="60"/>
                </a:lnTo>
                <a:lnTo>
                  <a:pt x="360" y="54"/>
                </a:lnTo>
                <a:lnTo>
                  <a:pt x="360" y="54"/>
                </a:lnTo>
                <a:lnTo>
                  <a:pt x="360" y="54"/>
                </a:lnTo>
                <a:lnTo>
                  <a:pt x="360" y="54"/>
                </a:lnTo>
                <a:lnTo>
                  <a:pt x="366" y="54"/>
                </a:lnTo>
                <a:lnTo>
                  <a:pt x="366" y="48"/>
                </a:lnTo>
                <a:lnTo>
                  <a:pt x="366" y="48"/>
                </a:lnTo>
                <a:lnTo>
                  <a:pt x="372" y="48"/>
                </a:lnTo>
                <a:lnTo>
                  <a:pt x="372" y="48"/>
                </a:lnTo>
                <a:lnTo>
                  <a:pt x="372" y="48"/>
                </a:lnTo>
                <a:lnTo>
                  <a:pt x="378" y="48"/>
                </a:lnTo>
                <a:lnTo>
                  <a:pt x="378" y="42"/>
                </a:lnTo>
                <a:lnTo>
                  <a:pt x="378" y="42"/>
                </a:lnTo>
                <a:lnTo>
                  <a:pt x="378" y="42"/>
                </a:lnTo>
                <a:lnTo>
                  <a:pt x="384" y="42"/>
                </a:lnTo>
                <a:lnTo>
                  <a:pt x="384" y="42"/>
                </a:lnTo>
                <a:lnTo>
                  <a:pt x="384" y="36"/>
                </a:lnTo>
                <a:lnTo>
                  <a:pt x="390" y="36"/>
                </a:lnTo>
                <a:lnTo>
                  <a:pt x="390" y="36"/>
                </a:lnTo>
                <a:lnTo>
                  <a:pt x="390" y="36"/>
                </a:lnTo>
                <a:lnTo>
                  <a:pt x="390" y="36"/>
                </a:lnTo>
                <a:lnTo>
                  <a:pt x="396" y="36"/>
                </a:lnTo>
                <a:lnTo>
                  <a:pt x="396" y="30"/>
                </a:lnTo>
                <a:lnTo>
                  <a:pt x="396" y="30"/>
                </a:lnTo>
                <a:lnTo>
                  <a:pt x="402" y="30"/>
                </a:lnTo>
                <a:lnTo>
                  <a:pt x="402" y="30"/>
                </a:lnTo>
                <a:lnTo>
                  <a:pt x="402" y="30"/>
                </a:lnTo>
                <a:lnTo>
                  <a:pt x="408" y="30"/>
                </a:lnTo>
                <a:lnTo>
                  <a:pt x="408" y="24"/>
                </a:lnTo>
                <a:lnTo>
                  <a:pt x="408" y="24"/>
                </a:lnTo>
                <a:lnTo>
                  <a:pt x="408" y="24"/>
                </a:lnTo>
                <a:lnTo>
                  <a:pt x="414" y="24"/>
                </a:lnTo>
                <a:lnTo>
                  <a:pt x="414" y="24"/>
                </a:lnTo>
                <a:lnTo>
                  <a:pt x="414" y="24"/>
                </a:lnTo>
                <a:lnTo>
                  <a:pt x="420" y="18"/>
                </a:lnTo>
                <a:lnTo>
                  <a:pt x="420" y="18"/>
                </a:lnTo>
                <a:lnTo>
                  <a:pt x="420" y="18"/>
                </a:lnTo>
                <a:lnTo>
                  <a:pt x="426" y="18"/>
                </a:lnTo>
                <a:lnTo>
                  <a:pt x="426" y="18"/>
                </a:lnTo>
                <a:lnTo>
                  <a:pt x="426" y="18"/>
                </a:lnTo>
                <a:lnTo>
                  <a:pt x="426" y="12"/>
                </a:lnTo>
                <a:lnTo>
                  <a:pt x="432" y="12"/>
                </a:lnTo>
                <a:lnTo>
                  <a:pt x="432" y="12"/>
                </a:lnTo>
                <a:lnTo>
                  <a:pt x="432" y="12"/>
                </a:lnTo>
                <a:lnTo>
                  <a:pt x="438" y="12"/>
                </a:lnTo>
                <a:lnTo>
                  <a:pt x="438" y="12"/>
                </a:lnTo>
                <a:lnTo>
                  <a:pt x="438" y="6"/>
                </a:lnTo>
                <a:lnTo>
                  <a:pt x="438" y="6"/>
                </a:lnTo>
                <a:lnTo>
                  <a:pt x="444" y="6"/>
                </a:lnTo>
                <a:lnTo>
                  <a:pt x="444" y="6"/>
                </a:lnTo>
                <a:lnTo>
                  <a:pt x="444" y="6"/>
                </a:lnTo>
                <a:lnTo>
                  <a:pt x="450" y="6"/>
                </a:lnTo>
                <a:lnTo>
                  <a:pt x="450" y="0"/>
                </a:lnTo>
                <a:lnTo>
                  <a:pt x="450" y="0"/>
                </a:lnTo>
              </a:path>
            </a:pathLst>
          </a:custGeom>
          <a:noFill/>
          <a:ln w="19050" cmpd="sng">
            <a:solidFill>
              <a:srgbClr val="04926A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Line 74">
            <a:extLst>
              <a:ext uri="{FF2B5EF4-FFF2-40B4-BE49-F238E27FC236}">
                <a16:creationId xmlns:a16="http://schemas.microsoft.com/office/drawing/2014/main" id="{341FD10B-E337-86C8-CE52-C6AD49CA8A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37599" y="1717521"/>
            <a:ext cx="1021466" cy="587375"/>
          </a:xfrm>
          <a:prstGeom prst="line">
            <a:avLst/>
          </a:prstGeom>
          <a:noFill/>
          <a:ln w="28575">
            <a:solidFill>
              <a:srgbClr val="00B0F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15" name="Group 129">
            <a:extLst>
              <a:ext uri="{FF2B5EF4-FFF2-40B4-BE49-F238E27FC236}">
                <a16:creationId xmlns:a16="http://schemas.microsoft.com/office/drawing/2014/main" id="{0A4CBDBD-2DB8-0C4F-824C-A7D8E6705AAD}"/>
              </a:ext>
            </a:extLst>
          </p:cNvPr>
          <p:cNvGrpSpPr>
            <a:grpSpLocks/>
          </p:cNvGrpSpPr>
          <p:nvPr/>
        </p:nvGrpSpPr>
        <p:grpSpPr bwMode="auto">
          <a:xfrm>
            <a:off x="7158203" y="1836585"/>
            <a:ext cx="1548674" cy="490538"/>
            <a:chOff x="4508" y="617"/>
            <a:chExt cx="893" cy="309"/>
          </a:xfrm>
        </p:grpSpPr>
        <p:sp>
          <p:nvSpPr>
            <p:cNvPr id="16" name="Freeform 81">
              <a:extLst>
                <a:ext uri="{FF2B5EF4-FFF2-40B4-BE49-F238E27FC236}">
                  <a16:creationId xmlns:a16="http://schemas.microsoft.com/office/drawing/2014/main" id="{7A5A7277-6124-C293-0F4E-89BF1E723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0" y="698"/>
              <a:ext cx="543" cy="206"/>
            </a:xfrm>
            <a:custGeom>
              <a:avLst/>
              <a:gdLst>
                <a:gd name="T0" fmla="*/ 6 w 450"/>
                <a:gd name="T1" fmla="*/ 150 h 150"/>
                <a:gd name="T2" fmla="*/ 18 w 450"/>
                <a:gd name="T3" fmla="*/ 144 h 150"/>
                <a:gd name="T4" fmla="*/ 24 w 450"/>
                <a:gd name="T5" fmla="*/ 138 h 150"/>
                <a:gd name="T6" fmla="*/ 36 w 450"/>
                <a:gd name="T7" fmla="*/ 138 h 150"/>
                <a:gd name="T8" fmla="*/ 42 w 450"/>
                <a:gd name="T9" fmla="*/ 132 h 150"/>
                <a:gd name="T10" fmla="*/ 54 w 450"/>
                <a:gd name="T11" fmla="*/ 126 h 150"/>
                <a:gd name="T12" fmla="*/ 60 w 450"/>
                <a:gd name="T13" fmla="*/ 120 h 150"/>
                <a:gd name="T14" fmla="*/ 72 w 450"/>
                <a:gd name="T15" fmla="*/ 120 h 150"/>
                <a:gd name="T16" fmla="*/ 78 w 450"/>
                <a:gd name="T17" fmla="*/ 114 h 150"/>
                <a:gd name="T18" fmla="*/ 90 w 450"/>
                <a:gd name="T19" fmla="*/ 114 h 150"/>
                <a:gd name="T20" fmla="*/ 96 w 450"/>
                <a:gd name="T21" fmla="*/ 108 h 150"/>
                <a:gd name="T22" fmla="*/ 108 w 450"/>
                <a:gd name="T23" fmla="*/ 102 h 150"/>
                <a:gd name="T24" fmla="*/ 114 w 450"/>
                <a:gd name="T25" fmla="*/ 102 h 150"/>
                <a:gd name="T26" fmla="*/ 126 w 450"/>
                <a:gd name="T27" fmla="*/ 96 h 150"/>
                <a:gd name="T28" fmla="*/ 132 w 450"/>
                <a:gd name="T29" fmla="*/ 90 h 150"/>
                <a:gd name="T30" fmla="*/ 144 w 450"/>
                <a:gd name="T31" fmla="*/ 90 h 150"/>
                <a:gd name="T32" fmla="*/ 150 w 450"/>
                <a:gd name="T33" fmla="*/ 84 h 150"/>
                <a:gd name="T34" fmla="*/ 156 w 450"/>
                <a:gd name="T35" fmla="*/ 84 h 150"/>
                <a:gd name="T36" fmla="*/ 168 w 450"/>
                <a:gd name="T37" fmla="*/ 78 h 150"/>
                <a:gd name="T38" fmla="*/ 174 w 450"/>
                <a:gd name="T39" fmla="*/ 78 h 150"/>
                <a:gd name="T40" fmla="*/ 186 w 450"/>
                <a:gd name="T41" fmla="*/ 72 h 150"/>
                <a:gd name="T42" fmla="*/ 192 w 450"/>
                <a:gd name="T43" fmla="*/ 72 h 150"/>
                <a:gd name="T44" fmla="*/ 204 w 450"/>
                <a:gd name="T45" fmla="*/ 66 h 150"/>
                <a:gd name="T46" fmla="*/ 210 w 450"/>
                <a:gd name="T47" fmla="*/ 66 h 150"/>
                <a:gd name="T48" fmla="*/ 222 w 450"/>
                <a:gd name="T49" fmla="*/ 60 h 150"/>
                <a:gd name="T50" fmla="*/ 228 w 450"/>
                <a:gd name="T51" fmla="*/ 60 h 150"/>
                <a:gd name="T52" fmla="*/ 240 w 450"/>
                <a:gd name="T53" fmla="*/ 54 h 150"/>
                <a:gd name="T54" fmla="*/ 246 w 450"/>
                <a:gd name="T55" fmla="*/ 54 h 150"/>
                <a:gd name="T56" fmla="*/ 258 w 450"/>
                <a:gd name="T57" fmla="*/ 48 h 150"/>
                <a:gd name="T58" fmla="*/ 264 w 450"/>
                <a:gd name="T59" fmla="*/ 48 h 150"/>
                <a:gd name="T60" fmla="*/ 276 w 450"/>
                <a:gd name="T61" fmla="*/ 42 h 150"/>
                <a:gd name="T62" fmla="*/ 282 w 450"/>
                <a:gd name="T63" fmla="*/ 42 h 150"/>
                <a:gd name="T64" fmla="*/ 294 w 450"/>
                <a:gd name="T65" fmla="*/ 42 h 150"/>
                <a:gd name="T66" fmla="*/ 300 w 450"/>
                <a:gd name="T67" fmla="*/ 36 h 150"/>
                <a:gd name="T68" fmla="*/ 312 w 450"/>
                <a:gd name="T69" fmla="*/ 36 h 150"/>
                <a:gd name="T70" fmla="*/ 318 w 450"/>
                <a:gd name="T71" fmla="*/ 30 h 150"/>
                <a:gd name="T72" fmla="*/ 330 w 450"/>
                <a:gd name="T73" fmla="*/ 30 h 150"/>
                <a:gd name="T74" fmla="*/ 336 w 450"/>
                <a:gd name="T75" fmla="*/ 30 h 150"/>
                <a:gd name="T76" fmla="*/ 342 w 450"/>
                <a:gd name="T77" fmla="*/ 24 h 150"/>
                <a:gd name="T78" fmla="*/ 354 w 450"/>
                <a:gd name="T79" fmla="*/ 24 h 150"/>
                <a:gd name="T80" fmla="*/ 360 w 450"/>
                <a:gd name="T81" fmla="*/ 18 h 150"/>
                <a:gd name="T82" fmla="*/ 372 w 450"/>
                <a:gd name="T83" fmla="*/ 18 h 150"/>
                <a:gd name="T84" fmla="*/ 378 w 450"/>
                <a:gd name="T85" fmla="*/ 18 h 150"/>
                <a:gd name="T86" fmla="*/ 390 w 450"/>
                <a:gd name="T87" fmla="*/ 12 h 150"/>
                <a:gd name="T88" fmla="*/ 396 w 450"/>
                <a:gd name="T89" fmla="*/ 12 h 150"/>
                <a:gd name="T90" fmla="*/ 408 w 450"/>
                <a:gd name="T91" fmla="*/ 6 h 150"/>
                <a:gd name="T92" fmla="*/ 414 w 450"/>
                <a:gd name="T93" fmla="*/ 6 h 150"/>
                <a:gd name="T94" fmla="*/ 426 w 450"/>
                <a:gd name="T95" fmla="*/ 6 h 150"/>
                <a:gd name="T96" fmla="*/ 432 w 450"/>
                <a:gd name="T97" fmla="*/ 0 h 150"/>
                <a:gd name="T98" fmla="*/ 444 w 450"/>
                <a:gd name="T99" fmla="*/ 0 h 150"/>
                <a:gd name="T100" fmla="*/ 450 w 450"/>
                <a:gd name="T101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50" h="150">
                  <a:moveTo>
                    <a:pt x="0" y="150"/>
                  </a:moveTo>
                  <a:lnTo>
                    <a:pt x="6" y="150"/>
                  </a:lnTo>
                  <a:lnTo>
                    <a:pt x="6" y="150"/>
                  </a:lnTo>
                  <a:lnTo>
                    <a:pt x="6" y="150"/>
                  </a:lnTo>
                  <a:lnTo>
                    <a:pt x="6" y="150"/>
                  </a:lnTo>
                  <a:lnTo>
                    <a:pt x="12" y="150"/>
                  </a:lnTo>
                  <a:lnTo>
                    <a:pt x="12" y="144"/>
                  </a:lnTo>
                  <a:lnTo>
                    <a:pt x="12" y="144"/>
                  </a:lnTo>
                  <a:lnTo>
                    <a:pt x="18" y="144"/>
                  </a:lnTo>
                  <a:lnTo>
                    <a:pt x="18" y="144"/>
                  </a:lnTo>
                  <a:lnTo>
                    <a:pt x="18" y="144"/>
                  </a:lnTo>
                  <a:lnTo>
                    <a:pt x="18" y="144"/>
                  </a:lnTo>
                  <a:lnTo>
                    <a:pt x="24" y="144"/>
                  </a:lnTo>
                  <a:lnTo>
                    <a:pt x="24" y="138"/>
                  </a:lnTo>
                  <a:lnTo>
                    <a:pt x="24" y="138"/>
                  </a:lnTo>
                  <a:lnTo>
                    <a:pt x="30" y="138"/>
                  </a:lnTo>
                  <a:lnTo>
                    <a:pt x="30" y="138"/>
                  </a:lnTo>
                  <a:lnTo>
                    <a:pt x="30" y="138"/>
                  </a:lnTo>
                  <a:lnTo>
                    <a:pt x="36" y="138"/>
                  </a:lnTo>
                  <a:lnTo>
                    <a:pt x="36" y="138"/>
                  </a:lnTo>
                  <a:lnTo>
                    <a:pt x="36" y="132"/>
                  </a:lnTo>
                  <a:lnTo>
                    <a:pt x="36" y="132"/>
                  </a:lnTo>
                  <a:lnTo>
                    <a:pt x="42" y="132"/>
                  </a:lnTo>
                  <a:lnTo>
                    <a:pt x="42" y="132"/>
                  </a:lnTo>
                  <a:lnTo>
                    <a:pt x="42" y="132"/>
                  </a:lnTo>
                  <a:lnTo>
                    <a:pt x="48" y="132"/>
                  </a:lnTo>
                  <a:lnTo>
                    <a:pt x="48" y="132"/>
                  </a:lnTo>
                  <a:lnTo>
                    <a:pt x="48" y="126"/>
                  </a:lnTo>
                  <a:lnTo>
                    <a:pt x="48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60" y="120"/>
                  </a:lnTo>
                  <a:lnTo>
                    <a:pt x="66" y="120"/>
                  </a:lnTo>
                  <a:lnTo>
                    <a:pt x="66" y="120"/>
                  </a:lnTo>
                  <a:lnTo>
                    <a:pt x="66" y="120"/>
                  </a:lnTo>
                  <a:lnTo>
                    <a:pt x="66" y="120"/>
                  </a:lnTo>
                  <a:lnTo>
                    <a:pt x="72" y="120"/>
                  </a:lnTo>
                  <a:lnTo>
                    <a:pt x="72" y="120"/>
                  </a:lnTo>
                  <a:lnTo>
                    <a:pt x="72" y="120"/>
                  </a:lnTo>
                  <a:lnTo>
                    <a:pt x="78" y="114"/>
                  </a:lnTo>
                  <a:lnTo>
                    <a:pt x="78" y="114"/>
                  </a:lnTo>
                  <a:lnTo>
                    <a:pt x="78" y="114"/>
                  </a:lnTo>
                  <a:lnTo>
                    <a:pt x="84" y="114"/>
                  </a:lnTo>
                  <a:lnTo>
                    <a:pt x="84" y="114"/>
                  </a:lnTo>
                  <a:lnTo>
                    <a:pt x="84" y="114"/>
                  </a:lnTo>
                  <a:lnTo>
                    <a:pt x="84" y="114"/>
                  </a:lnTo>
                  <a:lnTo>
                    <a:pt x="90" y="114"/>
                  </a:lnTo>
                  <a:lnTo>
                    <a:pt x="90" y="108"/>
                  </a:lnTo>
                  <a:lnTo>
                    <a:pt x="90" y="108"/>
                  </a:lnTo>
                  <a:lnTo>
                    <a:pt x="96" y="108"/>
                  </a:lnTo>
                  <a:lnTo>
                    <a:pt x="96" y="108"/>
                  </a:lnTo>
                  <a:lnTo>
                    <a:pt x="96" y="108"/>
                  </a:lnTo>
                  <a:lnTo>
                    <a:pt x="96" y="108"/>
                  </a:lnTo>
                  <a:lnTo>
                    <a:pt x="102" y="108"/>
                  </a:lnTo>
                  <a:lnTo>
                    <a:pt x="102" y="108"/>
                  </a:lnTo>
                  <a:lnTo>
                    <a:pt x="102" y="102"/>
                  </a:lnTo>
                  <a:lnTo>
                    <a:pt x="108" y="102"/>
                  </a:lnTo>
                  <a:lnTo>
                    <a:pt x="108" y="102"/>
                  </a:lnTo>
                  <a:lnTo>
                    <a:pt x="108" y="102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20" y="96"/>
                  </a:lnTo>
                  <a:lnTo>
                    <a:pt x="120" y="96"/>
                  </a:lnTo>
                  <a:lnTo>
                    <a:pt x="120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32" y="96"/>
                  </a:lnTo>
                  <a:lnTo>
                    <a:pt x="132" y="90"/>
                  </a:lnTo>
                  <a:lnTo>
                    <a:pt x="132" y="90"/>
                  </a:lnTo>
                  <a:lnTo>
                    <a:pt x="138" y="90"/>
                  </a:lnTo>
                  <a:lnTo>
                    <a:pt x="138" y="90"/>
                  </a:lnTo>
                  <a:lnTo>
                    <a:pt x="138" y="90"/>
                  </a:lnTo>
                  <a:lnTo>
                    <a:pt x="144" y="90"/>
                  </a:lnTo>
                  <a:lnTo>
                    <a:pt x="144" y="90"/>
                  </a:lnTo>
                  <a:lnTo>
                    <a:pt x="144" y="90"/>
                  </a:lnTo>
                  <a:lnTo>
                    <a:pt x="144" y="90"/>
                  </a:lnTo>
                  <a:lnTo>
                    <a:pt x="150" y="84"/>
                  </a:lnTo>
                  <a:lnTo>
                    <a:pt x="150" y="84"/>
                  </a:lnTo>
                  <a:lnTo>
                    <a:pt x="150" y="84"/>
                  </a:lnTo>
                  <a:lnTo>
                    <a:pt x="156" y="84"/>
                  </a:lnTo>
                  <a:lnTo>
                    <a:pt x="156" y="84"/>
                  </a:lnTo>
                  <a:lnTo>
                    <a:pt x="156" y="84"/>
                  </a:lnTo>
                  <a:lnTo>
                    <a:pt x="156" y="84"/>
                  </a:lnTo>
                  <a:lnTo>
                    <a:pt x="162" y="84"/>
                  </a:lnTo>
                  <a:lnTo>
                    <a:pt x="162" y="84"/>
                  </a:lnTo>
                  <a:lnTo>
                    <a:pt x="162" y="78"/>
                  </a:lnTo>
                  <a:lnTo>
                    <a:pt x="168" y="78"/>
                  </a:lnTo>
                  <a:lnTo>
                    <a:pt x="168" y="78"/>
                  </a:lnTo>
                  <a:lnTo>
                    <a:pt x="168" y="78"/>
                  </a:lnTo>
                  <a:lnTo>
                    <a:pt x="174" y="78"/>
                  </a:lnTo>
                  <a:lnTo>
                    <a:pt x="174" y="78"/>
                  </a:lnTo>
                  <a:lnTo>
                    <a:pt x="174" y="78"/>
                  </a:lnTo>
                  <a:lnTo>
                    <a:pt x="174" y="78"/>
                  </a:lnTo>
                  <a:lnTo>
                    <a:pt x="180" y="78"/>
                  </a:lnTo>
                  <a:lnTo>
                    <a:pt x="180" y="78"/>
                  </a:lnTo>
                  <a:lnTo>
                    <a:pt x="180" y="72"/>
                  </a:lnTo>
                  <a:lnTo>
                    <a:pt x="186" y="72"/>
                  </a:lnTo>
                  <a:lnTo>
                    <a:pt x="186" y="72"/>
                  </a:lnTo>
                  <a:lnTo>
                    <a:pt x="186" y="72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8" y="72"/>
                  </a:lnTo>
                  <a:lnTo>
                    <a:pt x="198" y="72"/>
                  </a:lnTo>
                  <a:lnTo>
                    <a:pt x="198" y="66"/>
                  </a:lnTo>
                  <a:lnTo>
                    <a:pt x="204" y="66"/>
                  </a:lnTo>
                  <a:lnTo>
                    <a:pt x="204" y="66"/>
                  </a:lnTo>
                  <a:lnTo>
                    <a:pt x="204" y="66"/>
                  </a:lnTo>
                  <a:lnTo>
                    <a:pt x="204" y="66"/>
                  </a:lnTo>
                  <a:lnTo>
                    <a:pt x="210" y="66"/>
                  </a:lnTo>
                  <a:lnTo>
                    <a:pt x="210" y="66"/>
                  </a:lnTo>
                  <a:lnTo>
                    <a:pt x="210" y="66"/>
                  </a:lnTo>
                  <a:lnTo>
                    <a:pt x="216" y="66"/>
                  </a:lnTo>
                  <a:lnTo>
                    <a:pt x="216" y="66"/>
                  </a:lnTo>
                  <a:lnTo>
                    <a:pt x="216" y="60"/>
                  </a:lnTo>
                  <a:lnTo>
                    <a:pt x="222" y="60"/>
                  </a:lnTo>
                  <a:lnTo>
                    <a:pt x="222" y="60"/>
                  </a:lnTo>
                  <a:lnTo>
                    <a:pt x="222" y="60"/>
                  </a:lnTo>
                  <a:lnTo>
                    <a:pt x="222" y="60"/>
                  </a:lnTo>
                  <a:lnTo>
                    <a:pt x="228" y="60"/>
                  </a:lnTo>
                  <a:lnTo>
                    <a:pt x="228" y="60"/>
                  </a:lnTo>
                  <a:lnTo>
                    <a:pt x="228" y="60"/>
                  </a:lnTo>
                  <a:lnTo>
                    <a:pt x="234" y="60"/>
                  </a:lnTo>
                  <a:lnTo>
                    <a:pt x="234" y="60"/>
                  </a:lnTo>
                  <a:lnTo>
                    <a:pt x="234" y="54"/>
                  </a:lnTo>
                  <a:lnTo>
                    <a:pt x="234" y="54"/>
                  </a:lnTo>
                  <a:lnTo>
                    <a:pt x="240" y="54"/>
                  </a:lnTo>
                  <a:lnTo>
                    <a:pt x="240" y="54"/>
                  </a:lnTo>
                  <a:lnTo>
                    <a:pt x="240" y="54"/>
                  </a:lnTo>
                  <a:lnTo>
                    <a:pt x="246" y="54"/>
                  </a:lnTo>
                  <a:lnTo>
                    <a:pt x="246" y="54"/>
                  </a:lnTo>
                  <a:lnTo>
                    <a:pt x="246" y="54"/>
                  </a:lnTo>
                  <a:lnTo>
                    <a:pt x="252" y="54"/>
                  </a:lnTo>
                  <a:lnTo>
                    <a:pt x="252" y="54"/>
                  </a:lnTo>
                  <a:lnTo>
                    <a:pt x="252" y="54"/>
                  </a:lnTo>
                  <a:lnTo>
                    <a:pt x="252" y="48"/>
                  </a:lnTo>
                  <a:lnTo>
                    <a:pt x="258" y="48"/>
                  </a:lnTo>
                  <a:lnTo>
                    <a:pt x="258" y="48"/>
                  </a:lnTo>
                  <a:lnTo>
                    <a:pt x="258" y="48"/>
                  </a:lnTo>
                  <a:lnTo>
                    <a:pt x="264" y="48"/>
                  </a:lnTo>
                  <a:lnTo>
                    <a:pt x="264" y="48"/>
                  </a:lnTo>
                  <a:lnTo>
                    <a:pt x="264" y="48"/>
                  </a:lnTo>
                  <a:lnTo>
                    <a:pt x="264" y="48"/>
                  </a:lnTo>
                  <a:lnTo>
                    <a:pt x="270" y="48"/>
                  </a:lnTo>
                  <a:lnTo>
                    <a:pt x="270" y="48"/>
                  </a:lnTo>
                  <a:lnTo>
                    <a:pt x="270" y="48"/>
                  </a:lnTo>
                  <a:lnTo>
                    <a:pt x="276" y="42"/>
                  </a:lnTo>
                  <a:lnTo>
                    <a:pt x="276" y="42"/>
                  </a:lnTo>
                  <a:lnTo>
                    <a:pt x="276" y="42"/>
                  </a:lnTo>
                  <a:lnTo>
                    <a:pt x="282" y="42"/>
                  </a:lnTo>
                  <a:lnTo>
                    <a:pt x="282" y="42"/>
                  </a:lnTo>
                  <a:lnTo>
                    <a:pt x="282" y="42"/>
                  </a:lnTo>
                  <a:lnTo>
                    <a:pt x="282" y="42"/>
                  </a:lnTo>
                  <a:lnTo>
                    <a:pt x="288" y="42"/>
                  </a:lnTo>
                  <a:lnTo>
                    <a:pt x="288" y="42"/>
                  </a:lnTo>
                  <a:lnTo>
                    <a:pt x="288" y="42"/>
                  </a:lnTo>
                  <a:lnTo>
                    <a:pt x="294" y="42"/>
                  </a:lnTo>
                  <a:lnTo>
                    <a:pt x="294" y="36"/>
                  </a:lnTo>
                  <a:lnTo>
                    <a:pt x="294" y="36"/>
                  </a:lnTo>
                  <a:lnTo>
                    <a:pt x="294" y="36"/>
                  </a:lnTo>
                  <a:lnTo>
                    <a:pt x="300" y="36"/>
                  </a:lnTo>
                  <a:lnTo>
                    <a:pt x="300" y="36"/>
                  </a:lnTo>
                  <a:lnTo>
                    <a:pt x="300" y="36"/>
                  </a:lnTo>
                  <a:lnTo>
                    <a:pt x="306" y="36"/>
                  </a:lnTo>
                  <a:lnTo>
                    <a:pt x="306" y="36"/>
                  </a:lnTo>
                  <a:lnTo>
                    <a:pt x="306" y="36"/>
                  </a:lnTo>
                  <a:lnTo>
                    <a:pt x="312" y="36"/>
                  </a:lnTo>
                  <a:lnTo>
                    <a:pt x="312" y="36"/>
                  </a:lnTo>
                  <a:lnTo>
                    <a:pt x="312" y="36"/>
                  </a:lnTo>
                  <a:lnTo>
                    <a:pt x="312" y="30"/>
                  </a:lnTo>
                  <a:lnTo>
                    <a:pt x="318" y="30"/>
                  </a:lnTo>
                  <a:lnTo>
                    <a:pt x="318" y="30"/>
                  </a:lnTo>
                  <a:lnTo>
                    <a:pt x="318" y="30"/>
                  </a:lnTo>
                  <a:lnTo>
                    <a:pt x="324" y="30"/>
                  </a:lnTo>
                  <a:lnTo>
                    <a:pt x="324" y="30"/>
                  </a:lnTo>
                  <a:lnTo>
                    <a:pt x="324" y="30"/>
                  </a:lnTo>
                  <a:lnTo>
                    <a:pt x="330" y="30"/>
                  </a:lnTo>
                  <a:lnTo>
                    <a:pt x="330" y="30"/>
                  </a:lnTo>
                  <a:lnTo>
                    <a:pt x="330" y="30"/>
                  </a:lnTo>
                  <a:lnTo>
                    <a:pt x="330" y="30"/>
                  </a:lnTo>
                  <a:lnTo>
                    <a:pt x="336" y="30"/>
                  </a:lnTo>
                  <a:lnTo>
                    <a:pt x="336" y="30"/>
                  </a:lnTo>
                  <a:lnTo>
                    <a:pt x="336" y="24"/>
                  </a:lnTo>
                  <a:lnTo>
                    <a:pt x="342" y="24"/>
                  </a:lnTo>
                  <a:lnTo>
                    <a:pt x="342" y="24"/>
                  </a:lnTo>
                  <a:lnTo>
                    <a:pt x="342" y="24"/>
                  </a:lnTo>
                  <a:lnTo>
                    <a:pt x="342" y="24"/>
                  </a:lnTo>
                  <a:lnTo>
                    <a:pt x="348" y="24"/>
                  </a:lnTo>
                  <a:lnTo>
                    <a:pt x="348" y="24"/>
                  </a:lnTo>
                  <a:lnTo>
                    <a:pt x="348" y="24"/>
                  </a:lnTo>
                  <a:lnTo>
                    <a:pt x="354" y="24"/>
                  </a:lnTo>
                  <a:lnTo>
                    <a:pt x="354" y="24"/>
                  </a:lnTo>
                  <a:lnTo>
                    <a:pt x="354" y="24"/>
                  </a:lnTo>
                  <a:lnTo>
                    <a:pt x="360" y="24"/>
                  </a:lnTo>
                  <a:lnTo>
                    <a:pt x="360" y="18"/>
                  </a:lnTo>
                  <a:lnTo>
                    <a:pt x="360" y="18"/>
                  </a:lnTo>
                  <a:lnTo>
                    <a:pt x="360" y="18"/>
                  </a:lnTo>
                  <a:lnTo>
                    <a:pt x="366" y="18"/>
                  </a:lnTo>
                  <a:lnTo>
                    <a:pt x="366" y="18"/>
                  </a:lnTo>
                  <a:lnTo>
                    <a:pt x="366" y="18"/>
                  </a:lnTo>
                  <a:lnTo>
                    <a:pt x="372" y="18"/>
                  </a:lnTo>
                  <a:lnTo>
                    <a:pt x="372" y="18"/>
                  </a:lnTo>
                  <a:lnTo>
                    <a:pt x="372" y="18"/>
                  </a:lnTo>
                  <a:lnTo>
                    <a:pt x="372" y="18"/>
                  </a:lnTo>
                  <a:lnTo>
                    <a:pt x="378" y="18"/>
                  </a:lnTo>
                  <a:lnTo>
                    <a:pt x="378" y="18"/>
                  </a:lnTo>
                  <a:lnTo>
                    <a:pt x="378" y="18"/>
                  </a:lnTo>
                  <a:lnTo>
                    <a:pt x="384" y="18"/>
                  </a:lnTo>
                  <a:lnTo>
                    <a:pt x="384" y="12"/>
                  </a:lnTo>
                  <a:lnTo>
                    <a:pt x="384" y="12"/>
                  </a:lnTo>
                  <a:lnTo>
                    <a:pt x="390" y="12"/>
                  </a:lnTo>
                  <a:lnTo>
                    <a:pt x="390" y="12"/>
                  </a:lnTo>
                  <a:lnTo>
                    <a:pt x="390" y="12"/>
                  </a:lnTo>
                  <a:lnTo>
                    <a:pt x="390" y="12"/>
                  </a:lnTo>
                  <a:lnTo>
                    <a:pt x="396" y="12"/>
                  </a:lnTo>
                  <a:lnTo>
                    <a:pt x="396" y="12"/>
                  </a:lnTo>
                  <a:lnTo>
                    <a:pt x="396" y="12"/>
                  </a:lnTo>
                  <a:lnTo>
                    <a:pt x="402" y="12"/>
                  </a:lnTo>
                  <a:lnTo>
                    <a:pt x="402" y="12"/>
                  </a:lnTo>
                  <a:lnTo>
                    <a:pt x="402" y="12"/>
                  </a:lnTo>
                  <a:lnTo>
                    <a:pt x="402" y="12"/>
                  </a:lnTo>
                  <a:lnTo>
                    <a:pt x="408" y="6"/>
                  </a:lnTo>
                  <a:lnTo>
                    <a:pt x="408" y="6"/>
                  </a:lnTo>
                  <a:lnTo>
                    <a:pt x="408" y="6"/>
                  </a:lnTo>
                  <a:lnTo>
                    <a:pt x="414" y="6"/>
                  </a:lnTo>
                  <a:lnTo>
                    <a:pt x="414" y="6"/>
                  </a:lnTo>
                  <a:lnTo>
                    <a:pt x="414" y="6"/>
                  </a:lnTo>
                  <a:lnTo>
                    <a:pt x="420" y="6"/>
                  </a:lnTo>
                  <a:lnTo>
                    <a:pt x="420" y="6"/>
                  </a:lnTo>
                  <a:lnTo>
                    <a:pt x="420" y="6"/>
                  </a:lnTo>
                  <a:lnTo>
                    <a:pt x="420" y="6"/>
                  </a:lnTo>
                  <a:lnTo>
                    <a:pt x="426" y="6"/>
                  </a:lnTo>
                  <a:lnTo>
                    <a:pt x="426" y="6"/>
                  </a:lnTo>
                  <a:lnTo>
                    <a:pt x="426" y="6"/>
                  </a:lnTo>
                  <a:lnTo>
                    <a:pt x="432" y="6"/>
                  </a:lnTo>
                  <a:lnTo>
                    <a:pt x="432" y="6"/>
                  </a:lnTo>
                  <a:lnTo>
                    <a:pt x="432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0" y="0"/>
                  </a:lnTo>
                </a:path>
              </a:pathLst>
            </a:custGeom>
            <a:noFill/>
            <a:ln w="19050" cmpd="sng">
              <a:solidFill>
                <a:srgbClr val="04926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bject 75">
                  <a:extLst>
                    <a:ext uri="{FF2B5EF4-FFF2-40B4-BE49-F238E27FC236}">
                      <a16:creationId xmlns:a16="http://schemas.microsoft.com/office/drawing/2014/main" id="{9265376A-AB7F-78E7-8D63-DB2BA8914A76}"/>
                    </a:ext>
                  </a:extLst>
                </p:cNvPr>
                <p:cNvSpPr txBox="1"/>
                <p:nvPr/>
              </p:nvSpPr>
              <p:spPr bwMode="auto">
                <a:xfrm>
                  <a:off x="5193" y="617"/>
                  <a:ext cx="208" cy="1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𝛤</m:t>
                        </m:r>
                      </m:oMath>
                    </m:oMathPara>
                  </a14:m>
                  <a:endParaRPr kumimoji="1" lang="zh-CN" altLang="en-US" sz="22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" name="Object 75">
                  <a:extLst>
                    <a:ext uri="{FF2B5EF4-FFF2-40B4-BE49-F238E27FC236}">
                      <a16:creationId xmlns:a16="http://schemas.microsoft.com/office/drawing/2014/main" id="{9265376A-AB7F-78E7-8D63-DB2BA8914A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93" y="617"/>
                  <a:ext cx="208" cy="184"/>
                </a:xfrm>
                <a:prstGeom prst="rect">
                  <a:avLst/>
                </a:prstGeom>
                <a:blipFill>
                  <a:blip r:embed="rId12"/>
                  <a:stretch>
                    <a:fillRect l="-1695" b="-4375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bject 77">
                  <a:extLst>
                    <a:ext uri="{FF2B5EF4-FFF2-40B4-BE49-F238E27FC236}">
                      <a16:creationId xmlns:a16="http://schemas.microsoft.com/office/drawing/2014/main" id="{9475C907-5615-4797-6454-7F5F704CAF68}"/>
                    </a:ext>
                  </a:extLst>
                </p:cNvPr>
                <p:cNvSpPr txBox="1"/>
                <p:nvPr/>
              </p:nvSpPr>
              <p:spPr bwMode="auto">
                <a:xfrm>
                  <a:off x="4508" y="686"/>
                  <a:ext cx="256" cy="1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𝑀</m:t>
                        </m:r>
                      </m:oMath>
                    </m:oMathPara>
                  </a14:m>
                  <a:endParaRPr kumimoji="1" lang="zh-CN" altLang="en-US" sz="22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8" name="Object 77">
                  <a:extLst>
                    <a:ext uri="{FF2B5EF4-FFF2-40B4-BE49-F238E27FC236}">
                      <a16:creationId xmlns:a16="http://schemas.microsoft.com/office/drawing/2014/main" id="{9475C907-5615-4797-6454-7F5F704CAF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08" y="686"/>
                  <a:ext cx="256" cy="184"/>
                </a:xfrm>
                <a:prstGeom prst="rect">
                  <a:avLst/>
                </a:prstGeom>
                <a:blipFill>
                  <a:blip r:embed="rId13"/>
                  <a:stretch>
                    <a:fillRect l="-1370" b="-4375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Oval 79">
              <a:extLst>
                <a:ext uri="{FF2B5EF4-FFF2-40B4-BE49-F238E27FC236}">
                  <a16:creationId xmlns:a16="http://schemas.microsoft.com/office/drawing/2014/main" id="{C5394BA8-A79C-1E3E-1356-9967A19C6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892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0" name="Line 114">
            <a:extLst>
              <a:ext uri="{FF2B5EF4-FFF2-40B4-BE49-F238E27FC236}">
                <a16:creationId xmlns:a16="http://schemas.microsoft.com/office/drawing/2014/main" id="{149880F5-69D2-796A-EED0-C7424E7B9B2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7599" y="2304896"/>
            <a:ext cx="542816" cy="11302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1" name="Group 121">
            <a:extLst>
              <a:ext uri="{FF2B5EF4-FFF2-40B4-BE49-F238E27FC236}">
                <a16:creationId xmlns:a16="http://schemas.microsoft.com/office/drawing/2014/main" id="{AB6088FC-40C6-3766-DE85-F39F2679C594}"/>
              </a:ext>
            </a:extLst>
          </p:cNvPr>
          <p:cNvGrpSpPr>
            <a:grpSpLocks/>
          </p:cNvGrpSpPr>
          <p:nvPr/>
        </p:nvGrpSpPr>
        <p:grpSpPr bwMode="auto">
          <a:xfrm>
            <a:off x="7648706" y="3321708"/>
            <a:ext cx="372812" cy="462697"/>
            <a:chOff x="4829" y="1590"/>
            <a:chExt cx="145" cy="154"/>
          </a:xfrm>
        </p:grpSpPr>
        <p:sp>
          <p:nvSpPr>
            <p:cNvPr id="22" name="Oval 115">
              <a:extLst>
                <a:ext uri="{FF2B5EF4-FFF2-40B4-BE49-F238E27FC236}">
                  <a16:creationId xmlns:a16="http://schemas.microsoft.com/office/drawing/2014/main" id="{9913360B-6E9A-14DA-9998-8C2A4BF1E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0" y="1623"/>
              <a:ext cx="34" cy="34"/>
            </a:xfrm>
            <a:prstGeom prst="ellipse">
              <a:avLst/>
            </a:prstGeom>
            <a:solidFill>
              <a:srgbClr val="04926A"/>
            </a:solidFill>
            <a:ln w="9525">
              <a:solidFill>
                <a:srgbClr val="04926A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bject 120">
                  <a:extLst>
                    <a:ext uri="{FF2B5EF4-FFF2-40B4-BE49-F238E27FC236}">
                      <a16:creationId xmlns:a16="http://schemas.microsoft.com/office/drawing/2014/main" id="{8AC0E7C3-2339-810A-6CBE-34C9F28F06A8}"/>
                    </a:ext>
                  </a:extLst>
                </p:cNvPr>
                <p:cNvSpPr txBox="1"/>
                <p:nvPr/>
              </p:nvSpPr>
              <p:spPr bwMode="auto">
                <a:xfrm>
                  <a:off x="4829" y="1590"/>
                  <a:ext cx="138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𝑂</m:t>
                        </m:r>
                      </m:oMath>
                    </m:oMathPara>
                  </a14:m>
                  <a:endParaRPr kumimoji="1" lang="zh-CN" altLang="en-US" sz="22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3" name="Object 120">
                  <a:extLst>
                    <a:ext uri="{FF2B5EF4-FFF2-40B4-BE49-F238E27FC236}">
                      <a16:creationId xmlns:a16="http://schemas.microsoft.com/office/drawing/2014/main" id="{8AC0E7C3-2339-810A-6CBE-34C9F28F0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29" y="1590"/>
                  <a:ext cx="138" cy="154"/>
                </a:xfrm>
                <a:prstGeom prst="rect">
                  <a:avLst/>
                </a:prstGeom>
                <a:blipFill>
                  <a:blip r:embed="rId14"/>
                  <a:stretch>
                    <a:fillRect l="-1724" r="-689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3253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图文框 28"/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1C7CA7CD-4310-655B-AC92-9C55FD690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027" y="2555121"/>
            <a:ext cx="1905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切线方程</a:t>
            </a: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04F6C16E-8520-1337-CD1B-70D4D585B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0150" y="1063532"/>
            <a:ext cx="1447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切向量</a:t>
            </a:r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7DC01D57-0A4E-C6FD-4A80-3033FB864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2100" y="1662113"/>
            <a:ext cx="9170988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C8AA4C2D-9209-D3D8-93A5-3FA70AE46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027" y="4572327"/>
            <a:ext cx="2514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法平面方程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对象 1">
                <a:extLst>
                  <a:ext uri="{FF2B5EF4-FFF2-40B4-BE49-F238E27FC236}">
                    <a16:creationId xmlns:a16="http://schemas.microsoft.com/office/drawing/2014/main" id="{5C4D2F5E-246C-B685-0336-561CF8173B99}"/>
                  </a:ext>
                </a:extLst>
              </p:cNvPr>
              <p:cNvSpPr txBox="1"/>
              <p:nvPr/>
            </p:nvSpPr>
            <p:spPr>
              <a:xfrm>
                <a:off x="1415027" y="3348363"/>
                <a:ext cx="4313178" cy="952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0" name="对象 1">
                <a:extLst>
                  <a:ext uri="{FF2B5EF4-FFF2-40B4-BE49-F238E27FC236}">
                    <a16:creationId xmlns:a16="http://schemas.microsoft.com/office/drawing/2014/main" id="{5C4D2F5E-246C-B685-0336-561CF8173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027" y="3348363"/>
                <a:ext cx="4313178" cy="9525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对象 2">
                <a:extLst>
                  <a:ext uri="{FF2B5EF4-FFF2-40B4-BE49-F238E27FC236}">
                    <a16:creationId xmlns:a16="http://schemas.microsoft.com/office/drawing/2014/main" id="{FE5B9B18-7545-245E-E94A-AFFE351E73DB}"/>
                  </a:ext>
                </a:extLst>
              </p:cNvPr>
              <p:cNvSpPr txBox="1"/>
              <p:nvPr/>
            </p:nvSpPr>
            <p:spPr>
              <a:xfrm>
                <a:off x="1415027" y="5318058"/>
                <a:ext cx="8497323" cy="52321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𝜓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)=0.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1" name="对象 2">
                <a:extLst>
                  <a:ext uri="{FF2B5EF4-FFF2-40B4-BE49-F238E27FC236}">
                    <a16:creationId xmlns:a16="http://schemas.microsoft.com/office/drawing/2014/main" id="{FE5B9B18-7545-245E-E94A-AFFE351E7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027" y="5318058"/>
                <a:ext cx="8497323" cy="5232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对象 3">
                <a:extLst>
                  <a:ext uri="{FF2B5EF4-FFF2-40B4-BE49-F238E27FC236}">
                    <a16:creationId xmlns:a16="http://schemas.microsoft.com/office/drawing/2014/main" id="{2D4DA583-9D7E-6D81-66D1-B7DBAAFB9043}"/>
                  </a:ext>
                </a:extLst>
              </p:cNvPr>
              <p:cNvSpPr txBox="1"/>
              <p:nvPr/>
            </p:nvSpPr>
            <p:spPr>
              <a:xfrm>
                <a:off x="3578224" y="1060357"/>
                <a:ext cx="6207126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𝑻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𝒇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)=(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) </m:t>
                      </m:r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𝜓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) </m:t>
                      </m:r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3" name="对象 3">
                <a:extLst>
                  <a:ext uri="{FF2B5EF4-FFF2-40B4-BE49-F238E27FC236}">
                    <a16:creationId xmlns:a16="http://schemas.microsoft.com/office/drawing/2014/main" id="{2D4DA583-9D7E-6D81-66D1-B7DBAAFB9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224" y="1060357"/>
                <a:ext cx="6207126" cy="431800"/>
              </a:xfrm>
              <a:prstGeom prst="rect">
                <a:avLst/>
              </a:prstGeom>
              <a:blipFill>
                <a:blip r:embed="rId4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2">
            <a:extLst>
              <a:ext uri="{FF2B5EF4-FFF2-40B4-BE49-F238E27FC236}">
                <a16:creationId xmlns:a16="http://schemas.microsoft.com/office/drawing/2014/main" id="{D3D2F100-183B-9CD6-C8C7-36ADA0CAC148}"/>
              </a:ext>
            </a:extLst>
          </p:cNvPr>
          <p:cNvSpPr txBox="1">
            <a:spLocks noChangeArrowheads="1"/>
          </p:cNvSpPr>
          <p:nvPr/>
        </p:nvSpPr>
        <p:spPr>
          <a:xfrm>
            <a:off x="1415027" y="1853707"/>
            <a:ext cx="3453671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于是得到</a:t>
            </a:r>
            <a:endParaRPr kumimoji="1" lang="en-US" altLang="zh-CN" b="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 animBg="1"/>
      <p:bldP spid="25" grpId="0"/>
      <p:bldP spid="30" grpId="0"/>
      <p:bldP spid="31" grpId="0"/>
      <p:bldP spid="33" grpId="0"/>
      <p:bldP spid="3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图文框 28"/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4">
                <a:extLst>
                  <a:ext uri="{FF2B5EF4-FFF2-40B4-BE49-F238E27FC236}">
                    <a16:creationId xmlns:a16="http://schemas.microsoft.com/office/drawing/2014/main" id="{86ACA6E0-8DE5-5E86-7149-93B4D0CD1D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1305" y="760674"/>
                <a:ext cx="502414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特别地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如果空间曲线的方程为</a:t>
                </a:r>
              </a:p>
            </p:txBody>
          </p:sp>
        </mc:Choice>
        <mc:Fallback xmlns="">
          <p:sp>
            <p:nvSpPr>
              <p:cNvPr id="2" name="Text Box 4">
                <a:extLst>
                  <a:ext uri="{FF2B5EF4-FFF2-40B4-BE49-F238E27FC236}">
                    <a16:creationId xmlns:a16="http://schemas.microsoft.com/office/drawing/2014/main" id="{86ACA6E0-8DE5-5E86-7149-93B4D0CD1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1305" y="760674"/>
                <a:ext cx="5024145" cy="523220"/>
              </a:xfrm>
              <a:prstGeom prst="rect">
                <a:avLst/>
              </a:prstGeom>
              <a:blipFill>
                <a:blip r:embed="rId2"/>
                <a:stretch>
                  <a:fillRect l="-2427" t="-16279" r="-1092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6">
            <a:extLst>
              <a:ext uri="{FF2B5EF4-FFF2-40B4-BE49-F238E27FC236}">
                <a16:creationId xmlns:a16="http://schemas.microsoft.com/office/drawing/2014/main" id="{5BACA269-15D5-7C34-D75C-3B9A3DFA3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305" y="3097752"/>
            <a:ext cx="1905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切线方程</a:t>
            </a: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FA0AD938-D00E-015F-1133-70BF3EBE0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305" y="4888452"/>
            <a:ext cx="2514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法平面方程</a:t>
            </a:r>
          </a:p>
        </p:txBody>
      </p:sp>
      <p:sp>
        <p:nvSpPr>
          <p:cNvPr id="5" name="AutoShape 11">
            <a:extLst>
              <a:ext uri="{FF2B5EF4-FFF2-40B4-BE49-F238E27FC236}">
                <a16:creationId xmlns:a16="http://schemas.microsoft.com/office/drawing/2014/main" id="{D588CBDF-937E-119B-8806-422E4B9A2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070" y="2013489"/>
            <a:ext cx="838200" cy="457200"/>
          </a:xfrm>
          <a:prstGeom prst="leftRightArrow">
            <a:avLst>
              <a:gd name="adj1" fmla="val 50000"/>
              <a:gd name="adj2" fmla="val 36667"/>
            </a:avLst>
          </a:prstGeom>
          <a:solidFill>
            <a:srgbClr val="04926A"/>
          </a:solidFill>
          <a:ln w="9525">
            <a:solidFill>
              <a:srgbClr val="04926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1">
                <a:extLst>
                  <a:ext uri="{FF2B5EF4-FFF2-40B4-BE49-F238E27FC236}">
                    <a16:creationId xmlns:a16="http://schemas.microsoft.com/office/drawing/2014/main" id="{EA1D75B1-67DD-4677-D868-D8B2F31DA459}"/>
                  </a:ext>
                </a:extLst>
              </p:cNvPr>
              <p:cNvSpPr txBox="1"/>
              <p:nvPr/>
            </p:nvSpPr>
            <p:spPr>
              <a:xfrm>
                <a:off x="2989554" y="3786685"/>
                <a:ext cx="4403880" cy="952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对象 1">
                <a:extLst>
                  <a:ext uri="{FF2B5EF4-FFF2-40B4-BE49-F238E27FC236}">
                    <a16:creationId xmlns:a16="http://schemas.microsoft.com/office/drawing/2014/main" id="{EA1D75B1-67DD-4677-D868-D8B2F31DA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9554" y="3786685"/>
                <a:ext cx="4403880" cy="952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2">
                <a:extLst>
                  <a:ext uri="{FF2B5EF4-FFF2-40B4-BE49-F238E27FC236}">
                    <a16:creationId xmlns:a16="http://schemas.microsoft.com/office/drawing/2014/main" id="{E1ECDCE2-3D69-C97F-10B3-2447DA7B7706}"/>
                  </a:ext>
                </a:extLst>
              </p:cNvPr>
              <p:cNvSpPr txBox="1"/>
              <p:nvPr/>
            </p:nvSpPr>
            <p:spPr>
              <a:xfrm>
                <a:off x="2989554" y="5560939"/>
                <a:ext cx="7830845" cy="52322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𝜓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)=0.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对象 2">
                <a:extLst>
                  <a:ext uri="{FF2B5EF4-FFF2-40B4-BE49-F238E27FC236}">
                    <a16:creationId xmlns:a16="http://schemas.microsoft.com/office/drawing/2014/main" id="{E1ECDCE2-3D69-C97F-10B3-2447DA7B7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9554" y="5560939"/>
                <a:ext cx="783084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3">
                <a:extLst>
                  <a:ext uri="{FF2B5EF4-FFF2-40B4-BE49-F238E27FC236}">
                    <a16:creationId xmlns:a16="http://schemas.microsoft.com/office/drawing/2014/main" id="{534A1891-B075-BECD-14D5-E63083C81C0F}"/>
                  </a:ext>
                </a:extLst>
              </p:cNvPr>
              <p:cNvSpPr txBox="1"/>
              <p:nvPr/>
            </p:nvSpPr>
            <p:spPr>
              <a:xfrm>
                <a:off x="1751305" y="1704392"/>
                <a:ext cx="2367255" cy="118207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𝜑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𝜓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),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对象 3">
                <a:extLst>
                  <a:ext uri="{FF2B5EF4-FFF2-40B4-BE49-F238E27FC236}">
                    <a16:creationId xmlns:a16="http://schemas.microsoft.com/office/drawing/2014/main" id="{534A1891-B075-BECD-14D5-E63083C81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305" y="1704392"/>
                <a:ext cx="2367255" cy="11820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4">
                <a:extLst>
                  <a:ext uri="{FF2B5EF4-FFF2-40B4-BE49-F238E27FC236}">
                    <a16:creationId xmlns:a16="http://schemas.microsoft.com/office/drawing/2014/main" id="{BB9142C2-522D-3809-9E0B-1921C7290CAE}"/>
                  </a:ext>
                </a:extLst>
              </p:cNvPr>
              <p:cNvSpPr txBox="1"/>
              <p:nvPr/>
            </p:nvSpPr>
            <p:spPr>
              <a:xfrm>
                <a:off x="4753224" y="1496281"/>
                <a:ext cx="2112885" cy="156774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80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     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𝜑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𝜓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对象 4">
                <a:extLst>
                  <a:ext uri="{FF2B5EF4-FFF2-40B4-BE49-F238E27FC236}">
                    <a16:creationId xmlns:a16="http://schemas.microsoft.com/office/drawing/2014/main" id="{BB9142C2-522D-3809-9E0B-1921C7290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224" y="1496281"/>
                <a:ext cx="2112885" cy="15677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AutoShape 7">
                <a:extLst>
                  <a:ext uri="{FF2B5EF4-FFF2-40B4-BE49-F238E27FC236}">
                    <a16:creationId xmlns:a16="http://schemas.microsoft.com/office/drawing/2014/main" id="{283CA019-9344-E55B-FAC0-46CA69ED4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4049" y="1838229"/>
                <a:ext cx="1626808" cy="523220"/>
              </a:xfrm>
              <a:prstGeom prst="wedgeRectCallout">
                <a:avLst>
                  <a:gd name="adj1" fmla="val -73338"/>
                  <a:gd name="adj2" fmla="val 54445"/>
                </a:avLst>
              </a:prstGeom>
              <a:solidFill>
                <a:srgbClr val="04926A">
                  <a:alpha val="42000"/>
                </a:srgbClr>
              </a:solidFill>
              <a:ln w="12700">
                <a:noFill/>
                <a:miter lim="800000"/>
              </a:ln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为参数</a:t>
                </a:r>
              </a:p>
            </p:txBody>
          </p:sp>
        </mc:Choice>
        <mc:Fallback xmlns="">
          <p:sp>
            <p:nvSpPr>
              <p:cNvPr id="11" name="AutoShape 7">
                <a:extLst>
                  <a:ext uri="{FF2B5EF4-FFF2-40B4-BE49-F238E27FC236}">
                    <a16:creationId xmlns:a16="http://schemas.microsoft.com/office/drawing/2014/main" id="{283CA019-9344-E55B-FAC0-46CA69ED4C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4049" y="1838229"/>
                <a:ext cx="1626808" cy="523220"/>
              </a:xfrm>
              <a:prstGeom prst="wedgeRectCallout">
                <a:avLst>
                  <a:gd name="adj1" fmla="val -73338"/>
                  <a:gd name="adj2" fmla="val 54445"/>
                </a:avLst>
              </a:prstGeom>
              <a:blipFill>
                <a:blip r:embed="rId7"/>
                <a:stretch>
                  <a:fillRect t="-15730" r="-1818" b="-23596"/>
                </a:stretch>
              </a:blipFill>
              <a:ln w="12700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526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/>
      <p:bldP spid="9" grpId="0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237">
                <a:extLst>
                  <a:ext uri="{FF2B5EF4-FFF2-40B4-BE49-F238E27FC236}">
                    <a16:creationId xmlns:a16="http://schemas.microsoft.com/office/drawing/2014/main" id="{C86B560E-22D4-E8AD-C677-C0C16E6607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3038" y="753596"/>
                <a:ext cx="892283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</a:t>
                </a:r>
                <a:r>
                  <a:rPr kumimoji="1"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求曲线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=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𝑡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   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p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  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p>
                        <m: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在点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(1, 1, 1)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处的切线</a:t>
                </a:r>
              </a:p>
            </p:txBody>
          </p:sp>
        </mc:Choice>
        <mc:Fallback xmlns="">
          <p:sp>
            <p:nvSpPr>
              <p:cNvPr id="51" name="Text Box 237">
                <a:extLst>
                  <a:ext uri="{FF2B5EF4-FFF2-40B4-BE49-F238E27FC236}">
                    <a16:creationId xmlns:a16="http://schemas.microsoft.com/office/drawing/2014/main" id="{C86B560E-22D4-E8AD-C677-C0C16E660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3038" y="753596"/>
                <a:ext cx="8922836" cy="523220"/>
              </a:xfrm>
              <a:prstGeom prst="rect">
                <a:avLst/>
              </a:prstGeom>
              <a:blipFill>
                <a:blip r:embed="rId4"/>
                <a:stretch>
                  <a:fillRect l="-1435" t="-16471" b="-341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238">
                <a:extLst>
                  <a:ext uri="{FF2B5EF4-FFF2-40B4-BE49-F238E27FC236}">
                    <a16:creationId xmlns:a16="http://schemas.microsoft.com/office/drawing/2014/main" id="{88B6469B-097F-2237-FF08-00AE73801B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9981" y="1353599"/>
                <a:ext cx="2895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及法平面方程</a:t>
                </a:r>
                <a14:m>
                  <m:oMath xmlns:m="http://schemas.openxmlformats.org/officeDocument/2006/math">
                    <m:r>
                      <a:rPr kumimoji="1"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2" name="Text Box 238">
                <a:extLst>
                  <a:ext uri="{FF2B5EF4-FFF2-40B4-BE49-F238E27FC236}">
                    <a16:creationId xmlns:a16="http://schemas.microsoft.com/office/drawing/2014/main" id="{88B6469B-097F-2237-FF08-00AE73801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9981" y="1353599"/>
                <a:ext cx="2895600" cy="523220"/>
              </a:xfrm>
              <a:prstGeom prst="rect">
                <a:avLst/>
              </a:prstGeom>
              <a:blipFill>
                <a:blip r:embed="rId6"/>
                <a:stretch>
                  <a:fillRect l="-4211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 Box 239">
            <a:extLst>
              <a:ext uri="{FF2B5EF4-FFF2-40B4-BE49-F238E27FC236}">
                <a16:creationId xmlns:a16="http://schemas.microsoft.com/office/drawing/2014/main" id="{BE25B3CB-B973-7FE2-1F76-F3702BB94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726" y="2127250"/>
            <a:ext cx="12954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因为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240">
                <a:extLst>
                  <a:ext uri="{FF2B5EF4-FFF2-40B4-BE49-F238E27FC236}">
                    <a16:creationId xmlns:a16="http://schemas.microsoft.com/office/drawing/2014/main" id="{866FE8EA-1824-2532-0794-067B1682ABC5}"/>
                  </a:ext>
                </a:extLst>
              </p:cNvPr>
              <p:cNvSpPr txBox="1"/>
              <p:nvPr/>
            </p:nvSpPr>
            <p:spPr bwMode="auto">
              <a:xfrm>
                <a:off x="2797676" y="2100061"/>
                <a:ext cx="3505200" cy="4531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=1</m:t>
                      </m:r>
                      <m:r>
                        <a:rPr kumimoji="1"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=2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=3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4" name="Object 240">
                <a:extLst>
                  <a:ext uri="{FF2B5EF4-FFF2-40B4-BE49-F238E27FC236}">
                    <a16:creationId xmlns:a16="http://schemas.microsoft.com/office/drawing/2014/main" id="{866FE8EA-1824-2532-0794-067B1682A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7676" y="2100061"/>
                <a:ext cx="3505200" cy="453137"/>
              </a:xfrm>
              <a:prstGeom prst="rect">
                <a:avLst/>
              </a:prstGeom>
              <a:blipFill>
                <a:blip r:embed="rId7"/>
                <a:stretch>
                  <a:fillRect b="-5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Box 241">
                <a:extLst>
                  <a:ext uri="{FF2B5EF4-FFF2-40B4-BE49-F238E27FC236}">
                    <a16:creationId xmlns:a16="http://schemas.microsoft.com/office/drawing/2014/main" id="{B6CE6450-79BB-6B80-22E5-C7DA0A259B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1726" y="2851150"/>
                <a:ext cx="4283250" cy="453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而点</a:t>
                </a:r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(1,1,1)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所对应的参数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4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en-US" altLang="zh-CN" sz="2400" b="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kumimoji="1" lang="zh-CN" altLang="en-US" sz="24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= 1,</a:t>
                </a:r>
              </a:p>
            </p:txBody>
          </p:sp>
        </mc:Choice>
        <mc:Fallback xmlns="">
          <p:sp>
            <p:nvSpPr>
              <p:cNvPr id="55" name="Text Box 241">
                <a:extLst>
                  <a:ext uri="{FF2B5EF4-FFF2-40B4-BE49-F238E27FC236}">
                    <a16:creationId xmlns:a16="http://schemas.microsoft.com/office/drawing/2014/main" id="{B6CE6450-79BB-6B80-22E5-C7DA0A259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1726" y="2851150"/>
                <a:ext cx="4283250" cy="453137"/>
              </a:xfrm>
              <a:prstGeom prst="rect">
                <a:avLst/>
              </a:prstGeom>
              <a:blipFill>
                <a:blip r:embed="rId8"/>
                <a:stretch>
                  <a:fillRect l="-1849" t="-9459" b="-256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 Box 242">
            <a:extLst>
              <a:ext uri="{FF2B5EF4-FFF2-40B4-BE49-F238E27FC236}">
                <a16:creationId xmlns:a16="http://schemas.microsoft.com/office/drawing/2014/main" id="{D9B67DBC-68CC-E14A-8032-F246879E9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726" y="3536950"/>
            <a:ext cx="189052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所以</a:t>
            </a:r>
            <a:r>
              <a:rPr kumimoji="1" lang="en-US" altLang="zh-CN" sz="2400" dirty="0">
                <a:latin typeface="Cambria Math" panose="02040503050406030204" pitchFamily="18" charset="0"/>
                <a:ea typeface="黑体" panose="02010609060101010101" pitchFamily="49" charset="-122"/>
                <a:cs typeface="Cambria Math" panose="02040503050406030204" charset="0"/>
              </a:rPr>
              <a:t>, </a:t>
            </a: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切向量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bject 243">
                <a:extLst>
                  <a:ext uri="{FF2B5EF4-FFF2-40B4-BE49-F238E27FC236}">
                    <a16:creationId xmlns:a16="http://schemas.microsoft.com/office/drawing/2014/main" id="{37B971D8-771B-9A72-7A6E-BE87B674ED67}"/>
                  </a:ext>
                </a:extLst>
              </p:cNvPr>
              <p:cNvSpPr txBox="1"/>
              <p:nvPr/>
            </p:nvSpPr>
            <p:spPr bwMode="auto">
              <a:xfrm>
                <a:off x="3794221" y="3536489"/>
                <a:ext cx="1647278" cy="501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𝑻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=(1,2,3).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7" name="Object 243">
                <a:extLst>
                  <a:ext uri="{FF2B5EF4-FFF2-40B4-BE49-F238E27FC236}">
                    <a16:creationId xmlns:a16="http://schemas.microsoft.com/office/drawing/2014/main" id="{37B971D8-771B-9A72-7A6E-BE87B674E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4221" y="3536489"/>
                <a:ext cx="1647278" cy="501650"/>
              </a:xfrm>
              <a:prstGeom prst="rect">
                <a:avLst/>
              </a:prstGeom>
              <a:blipFill>
                <a:blip r:embed="rId9"/>
                <a:stretch>
                  <a:fillRect l="-369" b="-24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 Box 244">
            <a:extLst>
              <a:ext uri="{FF2B5EF4-FFF2-40B4-BE49-F238E27FC236}">
                <a16:creationId xmlns:a16="http://schemas.microsoft.com/office/drawing/2014/main" id="{72B8520B-8364-20C1-8CB4-933B5CABE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726" y="4222750"/>
            <a:ext cx="32004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于是切线方程为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bject 245">
                <a:extLst>
                  <a:ext uri="{FF2B5EF4-FFF2-40B4-BE49-F238E27FC236}">
                    <a16:creationId xmlns:a16="http://schemas.microsoft.com/office/drawing/2014/main" id="{1245A968-A7C7-7ACC-8E61-4096424FF757}"/>
                  </a:ext>
                </a:extLst>
              </p:cNvPr>
              <p:cNvSpPr txBox="1"/>
              <p:nvPr/>
            </p:nvSpPr>
            <p:spPr bwMode="auto">
              <a:xfrm>
                <a:off x="4254555" y="4057392"/>
                <a:ext cx="3436351" cy="7953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den>
                      </m:f>
                      <m:r>
                        <a:rPr kumimoji="1"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9" name="Object 245">
                <a:extLst>
                  <a:ext uri="{FF2B5EF4-FFF2-40B4-BE49-F238E27FC236}">
                    <a16:creationId xmlns:a16="http://schemas.microsoft.com/office/drawing/2014/main" id="{1245A968-A7C7-7ACC-8E61-4096424FF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4555" y="4057392"/>
                <a:ext cx="3436351" cy="7953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 Box 246">
            <a:extLst>
              <a:ext uri="{FF2B5EF4-FFF2-40B4-BE49-F238E27FC236}">
                <a16:creationId xmlns:a16="http://schemas.microsoft.com/office/drawing/2014/main" id="{B20B9F53-3043-4767-48A1-AF213309B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726" y="4960938"/>
            <a:ext cx="2667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法平面方程为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bject 247">
                <a:extLst>
                  <a:ext uri="{FF2B5EF4-FFF2-40B4-BE49-F238E27FC236}">
                    <a16:creationId xmlns:a16="http://schemas.microsoft.com/office/drawing/2014/main" id="{1B69AB81-75DE-75DB-C8FC-1C4B006089C7}"/>
                  </a:ext>
                </a:extLst>
              </p:cNvPr>
              <p:cNvSpPr txBox="1"/>
              <p:nvPr/>
            </p:nvSpPr>
            <p:spPr bwMode="auto">
              <a:xfrm>
                <a:off x="3899854" y="4937809"/>
                <a:ext cx="4665341" cy="409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−1)+2(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−1)+3(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−1)=0,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1" name="Object 247">
                <a:extLst>
                  <a:ext uri="{FF2B5EF4-FFF2-40B4-BE49-F238E27FC236}">
                    <a16:creationId xmlns:a16="http://schemas.microsoft.com/office/drawing/2014/main" id="{1B69AB81-75DE-75DB-C8FC-1C4B00608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9854" y="4937809"/>
                <a:ext cx="4665341" cy="409575"/>
              </a:xfrm>
              <a:prstGeom prst="rect">
                <a:avLst/>
              </a:prstGeom>
              <a:blipFill>
                <a:blip r:embed="rId11"/>
                <a:stretch>
                  <a:fillRect l="-915" b="-253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 Box 248">
            <a:extLst>
              <a:ext uri="{FF2B5EF4-FFF2-40B4-BE49-F238E27FC236}">
                <a16:creationId xmlns:a16="http://schemas.microsoft.com/office/drawing/2014/main" id="{A6D0D92B-4260-D5B5-5741-DD752ED7D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726" y="5634694"/>
            <a:ext cx="1524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bject 249">
                <a:extLst>
                  <a:ext uri="{FF2B5EF4-FFF2-40B4-BE49-F238E27FC236}">
                    <a16:creationId xmlns:a16="http://schemas.microsoft.com/office/drawing/2014/main" id="{99B7B62C-B26D-2C5D-19F1-12FBFAB27538}"/>
                  </a:ext>
                </a:extLst>
              </p:cNvPr>
              <p:cNvSpPr txBox="1"/>
              <p:nvPr/>
            </p:nvSpPr>
            <p:spPr bwMode="auto">
              <a:xfrm>
                <a:off x="2593072" y="5611574"/>
                <a:ext cx="2789054" cy="409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+2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+3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6.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3" name="Object 249">
                <a:extLst>
                  <a:ext uri="{FF2B5EF4-FFF2-40B4-BE49-F238E27FC236}">
                    <a16:creationId xmlns:a16="http://schemas.microsoft.com/office/drawing/2014/main" id="{99B7B62C-B26D-2C5D-19F1-12FBFAB27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3072" y="5611574"/>
                <a:ext cx="2789054" cy="409575"/>
              </a:xfrm>
              <a:prstGeom prst="rect">
                <a:avLst/>
              </a:prstGeom>
              <a:blipFill>
                <a:blip r:embed="rId12"/>
                <a:stretch>
                  <a:fillRect b="-2388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ectangle 250">
            <a:extLst>
              <a:ext uri="{FF2B5EF4-FFF2-40B4-BE49-F238E27FC236}">
                <a16:creationId xmlns:a16="http://schemas.microsoft.com/office/drawing/2014/main" id="{07212B81-F393-5E77-2D1D-25FE4DB83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038" y="2070100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376990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B8E343C9-1351-018A-E9B3-82E5445559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0227" y="2544763"/>
                <a:ext cx="544195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𝑀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</m:sub>
                    </m:sSub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,</m:t>
                    </m:r>
                    <m:sSub>
                      <m:sSub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是曲线上的一个点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B8E343C9-1351-018A-E9B3-82E544555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0227" y="2544763"/>
                <a:ext cx="5441951" cy="523220"/>
              </a:xfrm>
              <a:prstGeom prst="rect">
                <a:avLst/>
              </a:prstGeom>
              <a:blipFill>
                <a:blip r:embed="rId3"/>
                <a:stretch>
                  <a:fillRect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7">
                <a:extLst>
                  <a:ext uri="{FF2B5EF4-FFF2-40B4-BE49-F238E27FC236}">
                    <a16:creationId xmlns:a16="http://schemas.microsoft.com/office/drawing/2014/main" id="{48AC45BD-DCB8-B3AD-1F7F-188A1FE28F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72778" y="2535238"/>
                <a:ext cx="3810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又设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𝐹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𝐺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有对各个变</a:t>
                </a:r>
              </a:p>
            </p:txBody>
          </p:sp>
        </mc:Choice>
        <mc:Fallback xmlns="">
          <p:sp>
            <p:nvSpPr>
              <p:cNvPr id="3" name="Text Box 7">
                <a:extLst>
                  <a:ext uri="{FF2B5EF4-FFF2-40B4-BE49-F238E27FC236}">
                    <a16:creationId xmlns:a16="http://schemas.microsoft.com/office/drawing/2014/main" id="{48AC45BD-DCB8-B3AD-1F7F-188A1FE28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72778" y="2535238"/>
                <a:ext cx="3810000" cy="523220"/>
              </a:xfrm>
              <a:prstGeom prst="rect">
                <a:avLst/>
              </a:prstGeom>
              <a:blipFill>
                <a:blip r:embed="rId4"/>
                <a:stretch>
                  <a:fillRect l="-3360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8">
                <a:extLst>
                  <a:ext uri="{FF2B5EF4-FFF2-40B4-BE49-F238E27FC236}">
                    <a16:creationId xmlns:a16="http://schemas.microsoft.com/office/drawing/2014/main" id="{3D7A7AB0-E941-B335-AC8D-F334821E72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0227" y="3230563"/>
                <a:ext cx="4191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量的连续偏导数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且</a:t>
                </a:r>
              </a:p>
            </p:txBody>
          </p:sp>
        </mc:Choice>
        <mc:Fallback xmlns="">
          <p:sp>
            <p:nvSpPr>
              <p:cNvPr id="4" name="Text Box 8">
                <a:extLst>
                  <a:ext uri="{FF2B5EF4-FFF2-40B4-BE49-F238E27FC236}">
                    <a16:creationId xmlns:a16="http://schemas.microsoft.com/office/drawing/2014/main" id="{3D7A7AB0-E941-B335-AC8D-F334821E7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0227" y="3230563"/>
                <a:ext cx="4191000" cy="523220"/>
              </a:xfrm>
              <a:prstGeom prst="rect">
                <a:avLst/>
              </a:prstGeom>
              <a:blipFill>
                <a:blip r:embed="rId5"/>
                <a:stretch>
                  <a:fillRect l="-3057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10">
                <a:extLst>
                  <a:ext uri="{FF2B5EF4-FFF2-40B4-BE49-F238E27FC236}">
                    <a16:creationId xmlns:a16="http://schemas.microsoft.com/office/drawing/2014/main" id="{EE8361FB-99C8-79D9-658C-11289C884A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0227" y="5135563"/>
                <a:ext cx="764857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则方程组在点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的某个邻域内确定了一组函数</a:t>
                </a:r>
              </a:p>
            </p:txBody>
          </p:sp>
        </mc:Choice>
        <mc:Fallback xmlns="">
          <p:sp>
            <p:nvSpPr>
              <p:cNvPr id="5" name="Text Box 10">
                <a:extLst>
                  <a:ext uri="{FF2B5EF4-FFF2-40B4-BE49-F238E27FC236}">
                    <a16:creationId xmlns:a16="http://schemas.microsoft.com/office/drawing/2014/main" id="{EE8361FB-99C8-79D9-658C-11289C884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0227" y="5135563"/>
                <a:ext cx="7648576" cy="523220"/>
              </a:xfrm>
              <a:prstGeom prst="rect">
                <a:avLst/>
              </a:prstGeom>
              <a:blipFill>
                <a:blip r:embed="rId6"/>
                <a:stretch>
                  <a:fillRect l="-1675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1">
                <a:extLst>
                  <a:ext uri="{FF2B5EF4-FFF2-40B4-BE49-F238E27FC236}">
                    <a16:creationId xmlns:a16="http://schemas.microsoft.com/office/drawing/2014/main" id="{E61FC078-5130-FF10-1433-7D48CA2A8586}"/>
                  </a:ext>
                </a:extLst>
              </p:cNvPr>
              <p:cNvSpPr txBox="1"/>
              <p:nvPr/>
            </p:nvSpPr>
            <p:spPr>
              <a:xfrm>
                <a:off x="5667828" y="1316039"/>
                <a:ext cx="2876550" cy="10033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𝐹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80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en-US" altLang="zh-CN" sz="280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)=0,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𝐺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80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en-US" altLang="zh-CN" sz="280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)=0.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对象 1">
                <a:extLst>
                  <a:ext uri="{FF2B5EF4-FFF2-40B4-BE49-F238E27FC236}">
                    <a16:creationId xmlns:a16="http://schemas.microsoft.com/office/drawing/2014/main" id="{E61FC078-5130-FF10-1433-7D48CA2A8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828" y="1316039"/>
                <a:ext cx="2876550" cy="10033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2">
                <a:extLst>
                  <a:ext uri="{FF2B5EF4-FFF2-40B4-BE49-F238E27FC236}">
                    <a16:creationId xmlns:a16="http://schemas.microsoft.com/office/drawing/2014/main" id="{F69B965B-BB96-534E-F380-21B78D73BE70}"/>
                  </a:ext>
                </a:extLst>
              </p:cNvPr>
              <p:cNvSpPr txBox="1"/>
              <p:nvPr/>
            </p:nvSpPr>
            <p:spPr>
              <a:xfrm>
                <a:off x="4315278" y="3840163"/>
                <a:ext cx="4266954" cy="113281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𝐹</m:t>
                                  </m:r>
                                  <m:r>
                                    <a:rPr kumimoji="1" lang="en-US" altLang="zh-CN" sz="280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𝐺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  <m:r>
                                    <a:rPr kumimoji="1" lang="en-US" altLang="zh-CN" sz="280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zh-CN" sz="280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 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zh-CN" sz="280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 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≠0.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对象 2">
                <a:extLst>
                  <a:ext uri="{FF2B5EF4-FFF2-40B4-BE49-F238E27FC236}">
                    <a16:creationId xmlns:a16="http://schemas.microsoft.com/office/drawing/2014/main" id="{F69B965B-BB96-534E-F380-21B78D73B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278" y="3840163"/>
                <a:ext cx="4266954" cy="11328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3">
                <a:extLst>
                  <a:ext uri="{FF2B5EF4-FFF2-40B4-BE49-F238E27FC236}">
                    <a16:creationId xmlns:a16="http://schemas.microsoft.com/office/drawing/2014/main" id="{2E28DC8A-B479-D043-2452-AE88DA5D23BA}"/>
                  </a:ext>
                </a:extLst>
              </p:cNvPr>
              <p:cNvSpPr txBox="1"/>
              <p:nvPr/>
            </p:nvSpPr>
            <p:spPr>
              <a:xfrm>
                <a:off x="4315278" y="5745163"/>
                <a:ext cx="3590925" cy="54907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𝜑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𝜓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对象 3">
                <a:extLst>
                  <a:ext uri="{FF2B5EF4-FFF2-40B4-BE49-F238E27FC236}">
                    <a16:creationId xmlns:a16="http://schemas.microsoft.com/office/drawing/2014/main" id="{2E28DC8A-B479-D043-2452-AE88DA5D2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278" y="5745163"/>
                <a:ext cx="3590925" cy="5490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4">
            <a:extLst>
              <a:ext uri="{FF2B5EF4-FFF2-40B4-BE49-F238E27FC236}">
                <a16:creationId xmlns:a16="http://schemas.microsoft.com/office/drawing/2014/main" id="{5F09FAEF-6B62-E2C3-251F-778C52771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227" y="1556426"/>
            <a:ext cx="3933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如果空间曲线的方程为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08692B1-E095-5E0F-553C-10F09B0AC09D}"/>
              </a:ext>
            </a:extLst>
          </p:cNvPr>
          <p:cNvSpPr txBox="1">
            <a:spLocks noChangeArrowheads="1"/>
          </p:cNvSpPr>
          <p:nvPr/>
        </p:nvSpPr>
        <p:spPr>
          <a:xfrm>
            <a:off x="1588422" y="487561"/>
            <a:ext cx="5087761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曲线方程为一般式的情况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0705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26BC38F-C2C4-4BBE-ABE0-903D64AB1F72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4F3E60F2-C54D-D87C-84C9-900C3AE87B85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882744D-EDFF-0F56-C09B-672F7E797E95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0332E587-3CEF-A65B-DB43-42DCA9C63C03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57ABCD9B-1CC7-660F-8995-5450AD927793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85A54CCB-5C7B-96EC-79AB-B7FDBF65A7D6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8" name="AutoShape 6">
            <a:extLst>
              <a:ext uri="{FF2B5EF4-FFF2-40B4-BE49-F238E27FC236}">
                <a16:creationId xmlns:a16="http://schemas.microsoft.com/office/drawing/2014/main" id="{171665AC-3623-E65E-CF42-B40EF8278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2805" y="1127554"/>
            <a:ext cx="838200" cy="457200"/>
          </a:xfrm>
          <a:prstGeom prst="leftRightArrow">
            <a:avLst>
              <a:gd name="adj1" fmla="val 50000"/>
              <a:gd name="adj2" fmla="val 36667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12E2279A-8198-3C2E-695D-8A549C520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100" y="2080165"/>
            <a:ext cx="3276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于是切向量为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071B1A97-FA5C-7F65-D40C-BE6020A03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100" y="3014761"/>
            <a:ext cx="1905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下面来求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038898D1-1217-3DF1-206F-5952A731C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2725" y="3014761"/>
            <a:ext cx="2819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为此在恒等式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3">
                <a:extLst>
                  <a:ext uri="{FF2B5EF4-FFF2-40B4-BE49-F238E27FC236}">
                    <a16:creationId xmlns:a16="http://schemas.microsoft.com/office/drawing/2014/main" id="{597F0ACB-E3BB-D8AC-C2B5-F7A2FCCEDE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5100" y="5057049"/>
                <a:ext cx="3962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两边分别对 </a:t>
                </a:r>
                <a:r>
                  <a:rPr kumimoji="1" lang="en-US" altLang="zh-CN" sz="28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x 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求导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得</a:t>
                </a:r>
              </a:p>
            </p:txBody>
          </p:sp>
        </mc:Choice>
        <mc:Fallback xmlns="">
          <p:sp>
            <p:nvSpPr>
              <p:cNvPr id="12" name="Text Box 13">
                <a:extLst>
                  <a:ext uri="{FF2B5EF4-FFF2-40B4-BE49-F238E27FC236}">
                    <a16:creationId xmlns:a16="http://schemas.microsoft.com/office/drawing/2014/main" id="{597F0ACB-E3BB-D8AC-C2B5-F7A2FCCED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5100" y="5057049"/>
                <a:ext cx="3962400" cy="523220"/>
              </a:xfrm>
              <a:prstGeom prst="rect">
                <a:avLst/>
              </a:prstGeom>
              <a:blipFill>
                <a:blip r:embed="rId4"/>
                <a:stretch>
                  <a:fillRect l="-3231" t="-16471" b="-341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14">
            <a:extLst>
              <a:ext uri="{FF2B5EF4-FFF2-40B4-BE49-F238E27FC236}">
                <a16:creationId xmlns:a16="http://schemas.microsoft.com/office/drawing/2014/main" id="{331646D1-2DAD-59D6-73BB-B28C4C364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100" y="1109663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">
                <a:extLst>
                  <a:ext uri="{FF2B5EF4-FFF2-40B4-BE49-F238E27FC236}">
                    <a16:creationId xmlns:a16="http://schemas.microsoft.com/office/drawing/2014/main" id="{183083C0-0BEC-D9C8-4508-2BDF428AD806}"/>
                  </a:ext>
                </a:extLst>
              </p:cNvPr>
              <p:cNvSpPr txBox="1"/>
              <p:nvPr/>
            </p:nvSpPr>
            <p:spPr>
              <a:xfrm>
                <a:off x="4920077" y="2109013"/>
                <a:ext cx="4890673" cy="52321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𝑻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=(1,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𝜓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)).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对象 1">
                <a:extLst>
                  <a:ext uri="{FF2B5EF4-FFF2-40B4-BE49-F238E27FC236}">
                    <a16:creationId xmlns:a16="http://schemas.microsoft.com/office/drawing/2014/main" id="{183083C0-0BEC-D9C8-4508-2BDF428AD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077" y="2109013"/>
                <a:ext cx="4890673" cy="5232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2">
                <a:extLst>
                  <a:ext uri="{FF2B5EF4-FFF2-40B4-BE49-F238E27FC236}">
                    <a16:creationId xmlns:a16="http://schemas.microsoft.com/office/drawing/2014/main" id="{473FB655-7628-7B8F-1C26-01C1A3020A17}"/>
                  </a:ext>
                </a:extLst>
              </p:cNvPr>
              <p:cNvSpPr txBox="1"/>
              <p:nvPr/>
            </p:nvSpPr>
            <p:spPr>
              <a:xfrm>
                <a:off x="4349749" y="3774064"/>
                <a:ext cx="3765551" cy="10033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[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𝜑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),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𝜓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)]≡0,</m:t>
                              </m:r>
                            </m:e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𝐺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[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𝜑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),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𝜓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)]≡0,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6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" name="对象 2">
                <a:extLst>
                  <a:ext uri="{FF2B5EF4-FFF2-40B4-BE49-F238E27FC236}">
                    <a16:creationId xmlns:a16="http://schemas.microsoft.com/office/drawing/2014/main" id="{473FB655-7628-7B8F-1C26-01C1A3020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749" y="3774064"/>
                <a:ext cx="3765551" cy="10033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3">
                <a:extLst>
                  <a:ext uri="{FF2B5EF4-FFF2-40B4-BE49-F238E27FC236}">
                    <a16:creationId xmlns:a16="http://schemas.microsoft.com/office/drawing/2014/main" id="{92554961-60D0-5984-FD21-9AAC3974BB0D}"/>
                  </a:ext>
                </a:extLst>
              </p:cNvPr>
              <p:cNvSpPr txBox="1"/>
              <p:nvPr/>
            </p:nvSpPr>
            <p:spPr>
              <a:xfrm>
                <a:off x="6875245" y="810505"/>
                <a:ext cx="2195097" cy="10033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𝜑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𝜓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6" name="对象 3">
                <a:extLst>
                  <a:ext uri="{FF2B5EF4-FFF2-40B4-BE49-F238E27FC236}">
                    <a16:creationId xmlns:a16="http://schemas.microsoft.com/office/drawing/2014/main" id="{92554961-60D0-5984-FD21-9AAC3974B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245" y="810505"/>
                <a:ext cx="2195097" cy="10033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4">
                <a:extLst>
                  <a:ext uri="{FF2B5EF4-FFF2-40B4-BE49-F238E27FC236}">
                    <a16:creationId xmlns:a16="http://schemas.microsoft.com/office/drawing/2014/main" id="{56FF8373-08FC-D335-BAC2-353C63EADF80}"/>
                  </a:ext>
                </a:extLst>
              </p:cNvPr>
              <p:cNvSpPr txBox="1"/>
              <p:nvPr/>
            </p:nvSpPr>
            <p:spPr>
              <a:xfrm>
                <a:off x="3417747" y="810505"/>
                <a:ext cx="3043203" cy="10033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𝐹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80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en-US" altLang="zh-CN" sz="280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)=0,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𝐺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80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en-US" altLang="zh-CN" sz="280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)=0,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对象 4">
                <a:extLst>
                  <a:ext uri="{FF2B5EF4-FFF2-40B4-BE49-F238E27FC236}">
                    <a16:creationId xmlns:a16="http://schemas.microsoft.com/office/drawing/2014/main" id="{56FF8373-08FC-D335-BAC2-353C63EAD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747" y="810505"/>
                <a:ext cx="3043203" cy="10033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对象 5">
                <a:extLst>
                  <a:ext uri="{FF2B5EF4-FFF2-40B4-BE49-F238E27FC236}">
                    <a16:creationId xmlns:a16="http://schemas.microsoft.com/office/drawing/2014/main" id="{1B095F61-D70B-3A92-190C-C4B4D0566E61}"/>
                  </a:ext>
                </a:extLst>
              </p:cNvPr>
              <p:cNvSpPr txBox="1"/>
              <p:nvPr/>
            </p:nvSpPr>
            <p:spPr>
              <a:xfrm>
                <a:off x="4208878" y="2984271"/>
                <a:ext cx="2562128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𝜓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" name="对象 5">
                <a:extLst>
                  <a:ext uri="{FF2B5EF4-FFF2-40B4-BE49-F238E27FC236}">
                    <a16:creationId xmlns:a16="http://schemas.microsoft.com/office/drawing/2014/main" id="{1B095F61-D70B-3A92-190C-C4B4D0566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878" y="2984271"/>
                <a:ext cx="2562128" cy="431800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198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26BC38F-C2C4-4BBE-ABE0-903D64AB1F72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4F3E60F2-C54D-D87C-84C9-900C3AE87B85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882744D-EDFF-0F56-C09B-672F7E797E95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0332E587-3CEF-A65B-DB43-42DCA9C63C03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57ABCD9B-1CC7-660F-8995-5450AD927793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85A54CCB-5C7B-96EC-79AB-B7FDBF65A7D6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F8CB8B0D-FE72-258F-483E-CBE67C76B510}"/>
                  </a:ext>
                </a:extLst>
              </p:cNvPr>
              <p:cNvSpPr txBox="1"/>
              <p:nvPr/>
            </p:nvSpPr>
            <p:spPr bwMode="auto">
              <a:xfrm>
                <a:off x="2905577" y="585789"/>
                <a:ext cx="4498976" cy="2071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𝐹</m:t>
                                    </m:r>
                                  </m:num>
                                  <m:den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𝐹</m:t>
                                    </m:r>
                                  </m:num>
                                  <m:den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𝐹</m:t>
                                    </m:r>
                                  </m:num>
                                  <m:den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=0</m:t>
                                </m:r>
                                <m:r>
                                  <a:rPr kumimoji="1" lang="en-US" altLang="zh-CN" sz="280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𝐺</m:t>
                                    </m:r>
                                  </m:num>
                                  <m:den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𝐺</m:t>
                                    </m:r>
                                  </m:num>
                                  <m:den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𝐺</m:t>
                                    </m:r>
                                  </m:num>
                                  <m:den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=0.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F8CB8B0D-FE72-258F-483E-CBE67C76B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5577" y="585789"/>
                <a:ext cx="4498976" cy="20716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5">
                <a:extLst>
                  <a:ext uri="{FF2B5EF4-FFF2-40B4-BE49-F238E27FC236}">
                    <a16:creationId xmlns:a16="http://schemas.microsoft.com/office/drawing/2014/main" id="{CCB20F8B-114B-D806-DB18-A91AC7680C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8729" y="2837190"/>
                <a:ext cx="552359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由假设可知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在点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的某个邻域内</a:t>
                </a:r>
              </a:p>
            </p:txBody>
          </p:sp>
        </mc:Choice>
        <mc:Fallback xmlns="">
          <p:sp>
            <p:nvSpPr>
              <p:cNvPr id="20" name="Text Box 5">
                <a:extLst>
                  <a:ext uri="{FF2B5EF4-FFF2-40B4-BE49-F238E27FC236}">
                    <a16:creationId xmlns:a16="http://schemas.microsoft.com/office/drawing/2014/main" id="{CCB20F8B-114B-D806-DB18-A91AC7680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8729" y="2837190"/>
                <a:ext cx="5523595" cy="523220"/>
              </a:xfrm>
              <a:prstGeom prst="rect">
                <a:avLst/>
              </a:prstGeom>
              <a:blipFill>
                <a:blip r:embed="rId5"/>
                <a:stretch>
                  <a:fillRect l="-2205" t="-15116" r="-551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6">
                <a:extLst>
                  <a:ext uri="{FF2B5EF4-FFF2-40B4-BE49-F238E27FC236}">
                    <a16:creationId xmlns:a16="http://schemas.microsoft.com/office/drawing/2014/main" id="{3A1F45BF-A3F4-9A63-D5DF-145F59D7C42C}"/>
                  </a:ext>
                </a:extLst>
              </p:cNvPr>
              <p:cNvSpPr txBox="1"/>
              <p:nvPr/>
            </p:nvSpPr>
            <p:spPr bwMode="auto">
              <a:xfrm>
                <a:off x="6998151" y="2586668"/>
                <a:ext cx="2847976" cy="10350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𝐽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𝐺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≠0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1" name="Object 6">
                <a:extLst>
                  <a:ext uri="{FF2B5EF4-FFF2-40B4-BE49-F238E27FC236}">
                    <a16:creationId xmlns:a16="http://schemas.microsoft.com/office/drawing/2014/main" id="{3A1F45BF-A3F4-9A63-D5DF-145F59D7C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98151" y="2586668"/>
                <a:ext cx="2847976" cy="10350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7">
            <a:extLst>
              <a:ext uri="{FF2B5EF4-FFF2-40B4-BE49-F238E27FC236}">
                <a16:creationId xmlns:a16="http://schemas.microsoft.com/office/drawing/2014/main" id="{34CBC6C0-F041-0F3E-6207-9141D9562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8730" y="3457575"/>
            <a:ext cx="1981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故可解得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9">
                <a:extLst>
                  <a:ext uri="{FF2B5EF4-FFF2-40B4-BE49-F238E27FC236}">
                    <a16:creationId xmlns:a16="http://schemas.microsoft.com/office/drawing/2014/main" id="{36823DB2-D3EC-CE1B-5D72-47B99545ED97}"/>
                  </a:ext>
                </a:extLst>
              </p:cNvPr>
              <p:cNvSpPr txBox="1"/>
              <p:nvPr/>
            </p:nvSpPr>
            <p:spPr bwMode="auto">
              <a:xfrm>
                <a:off x="2924626" y="3863976"/>
                <a:ext cx="8953049" cy="2384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𝜓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3" name="Object 9">
                <a:extLst>
                  <a:ext uri="{FF2B5EF4-FFF2-40B4-BE49-F238E27FC236}">
                    <a16:creationId xmlns:a16="http://schemas.microsoft.com/office/drawing/2014/main" id="{36823DB2-D3EC-CE1B-5D72-47B99545E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4626" y="3863976"/>
                <a:ext cx="8953049" cy="23844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9901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>
            <a:extLst>
              <a:ext uri="{FF2B5EF4-FFF2-40B4-BE49-F238E27FC236}">
                <a16:creationId xmlns:a16="http://schemas.microsoft.com/office/drawing/2014/main" id="{F4B18922-888C-2910-7C70-73113315A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950" y="794544"/>
            <a:ext cx="1447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切向量</a:t>
            </a: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15F8E818-C371-7F2B-6967-87BF41648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743325"/>
            <a:ext cx="88392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/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413440FB-907E-6C7C-CAF2-B88BBD54B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950" y="3962400"/>
            <a:ext cx="4114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于是可求得切向量为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">
                <a:extLst>
                  <a:ext uri="{FF2B5EF4-FFF2-40B4-BE49-F238E27FC236}">
                    <a16:creationId xmlns:a16="http://schemas.microsoft.com/office/drawing/2014/main" id="{E07D56A8-8AEB-7B6B-8ACA-1BABC482B925}"/>
                  </a:ext>
                </a:extLst>
              </p:cNvPr>
              <p:cNvSpPr txBox="1"/>
              <p:nvPr/>
            </p:nvSpPr>
            <p:spPr>
              <a:xfrm>
                <a:off x="3422003" y="792629"/>
                <a:ext cx="4196410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𝑻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=(1,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𝜓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)).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对象 1">
                <a:extLst>
                  <a:ext uri="{FF2B5EF4-FFF2-40B4-BE49-F238E27FC236}">
                    <a16:creationId xmlns:a16="http://schemas.microsoft.com/office/drawing/2014/main" id="{E07D56A8-8AEB-7B6B-8ACA-1BABC482B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003" y="792629"/>
                <a:ext cx="4196410" cy="431800"/>
              </a:xfrm>
              <a:prstGeom prst="rect">
                <a:avLst/>
              </a:prstGeom>
              <a:blipFill>
                <a:blip r:embed="rId3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2">
                <a:extLst>
                  <a:ext uri="{FF2B5EF4-FFF2-40B4-BE49-F238E27FC236}">
                    <a16:creationId xmlns:a16="http://schemas.microsoft.com/office/drawing/2014/main" id="{D8B62625-7A4C-91E7-EDEC-8DEA63E9DD6C}"/>
                  </a:ext>
                </a:extLst>
              </p:cNvPr>
              <p:cNvSpPr txBox="1"/>
              <p:nvPr/>
            </p:nvSpPr>
            <p:spPr>
              <a:xfrm>
                <a:off x="2266950" y="1460500"/>
                <a:ext cx="7991475" cy="2273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𝜓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对象 2">
                <a:extLst>
                  <a:ext uri="{FF2B5EF4-FFF2-40B4-BE49-F238E27FC236}">
                    <a16:creationId xmlns:a16="http://schemas.microsoft.com/office/drawing/2014/main" id="{D8B62625-7A4C-91E7-EDEC-8DEA63E9D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950" y="1460500"/>
                <a:ext cx="7991475" cy="2273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3">
                <a:extLst>
                  <a:ext uri="{FF2B5EF4-FFF2-40B4-BE49-F238E27FC236}">
                    <a16:creationId xmlns:a16="http://schemas.microsoft.com/office/drawing/2014/main" id="{8C022245-25FA-E6F4-DF3F-C16E98AC12B1}"/>
                  </a:ext>
                </a:extLst>
              </p:cNvPr>
              <p:cNvSpPr txBox="1"/>
              <p:nvPr/>
            </p:nvSpPr>
            <p:spPr>
              <a:xfrm>
                <a:off x="2266950" y="4775200"/>
                <a:ext cx="8129587" cy="1231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𝑻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 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 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 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𝑀</m:t>
                              </m:r>
                            </m:sub>
                          </m:sSub>
                        </m:e>
                      </m:d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3" name="对象 3">
                <a:extLst>
                  <a:ext uri="{FF2B5EF4-FFF2-40B4-BE49-F238E27FC236}">
                    <a16:creationId xmlns:a16="http://schemas.microsoft.com/office/drawing/2014/main" id="{8C022245-25FA-E6F4-DF3F-C16E98AC1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950" y="4775200"/>
                <a:ext cx="8129587" cy="1231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59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/>
      <p:bldP spid="12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5">
            <a:extLst>
              <a:ext uri="{FF2B5EF4-FFF2-40B4-BE49-F238E27FC236}">
                <a16:creationId xmlns:a16="http://schemas.microsoft.com/office/drawing/2014/main" id="{3323BC59-004C-B27F-AE82-523AE1A3B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425" y="2205038"/>
            <a:ext cx="105480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EF694074-BA10-3620-CAAD-7DDE19E95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245" y="2671762"/>
            <a:ext cx="1981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切线方程</a:t>
            </a: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96787D46-A598-08D4-A8ED-1C4E9C54A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245" y="4186238"/>
            <a:ext cx="2286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法平面方程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1">
                <a:extLst>
                  <a:ext uri="{FF2B5EF4-FFF2-40B4-BE49-F238E27FC236}">
                    <a16:creationId xmlns:a16="http://schemas.microsoft.com/office/drawing/2014/main" id="{827AD55C-9C8D-CE65-2B30-0173437CC8DC}"/>
                  </a:ext>
                </a:extLst>
              </p:cNvPr>
              <p:cNvSpPr txBox="1"/>
              <p:nvPr/>
            </p:nvSpPr>
            <p:spPr>
              <a:xfrm>
                <a:off x="2403845" y="775495"/>
                <a:ext cx="7902205" cy="1231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𝑻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 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 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 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𝑀</m:t>
                              </m:r>
                            </m:sub>
                          </m:sSub>
                        </m:e>
                      </m:d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对象 1">
                <a:extLst>
                  <a:ext uri="{FF2B5EF4-FFF2-40B4-BE49-F238E27FC236}">
                    <a16:creationId xmlns:a16="http://schemas.microsoft.com/office/drawing/2014/main" id="{827AD55C-9C8D-CE65-2B30-0173437CC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845" y="775495"/>
                <a:ext cx="7902205" cy="1231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2">
                <a:extLst>
                  <a:ext uri="{FF2B5EF4-FFF2-40B4-BE49-F238E27FC236}">
                    <a16:creationId xmlns:a16="http://schemas.microsoft.com/office/drawing/2014/main" id="{A17D60C0-B30A-D44D-CCAE-4EC5FB160224}"/>
                  </a:ext>
                </a:extLst>
              </p:cNvPr>
              <p:cNvSpPr txBox="1"/>
              <p:nvPr/>
            </p:nvSpPr>
            <p:spPr>
              <a:xfrm>
                <a:off x="2545887" y="2527767"/>
                <a:ext cx="6198063" cy="1612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kumimoji="1" lang="zh-CN" altLang="en-US" sz="28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  <a:cs typeface="Cambria Math" panose="02040503050406030204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对象 2">
                <a:extLst>
                  <a:ext uri="{FF2B5EF4-FFF2-40B4-BE49-F238E27FC236}">
                    <a16:creationId xmlns:a16="http://schemas.microsoft.com/office/drawing/2014/main" id="{A17D60C0-B30A-D44D-CCAE-4EC5FB160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887" y="2527767"/>
                <a:ext cx="6198063" cy="1612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3">
                <a:extLst>
                  <a:ext uri="{FF2B5EF4-FFF2-40B4-BE49-F238E27FC236}">
                    <a16:creationId xmlns:a16="http://schemas.microsoft.com/office/drawing/2014/main" id="{85049482-7130-FD0B-E956-3B6D7A99D191}"/>
                  </a:ext>
                </a:extLst>
              </p:cNvPr>
              <p:cNvSpPr txBox="1"/>
              <p:nvPr/>
            </p:nvSpPr>
            <p:spPr>
              <a:xfrm>
                <a:off x="905245" y="5022385"/>
                <a:ext cx="10667630" cy="11557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𝑀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𝑀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𝑀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)=0.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对象 3">
                <a:extLst>
                  <a:ext uri="{FF2B5EF4-FFF2-40B4-BE49-F238E27FC236}">
                    <a16:creationId xmlns:a16="http://schemas.microsoft.com/office/drawing/2014/main" id="{85049482-7130-FD0B-E956-3B6D7A99D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45" y="5022385"/>
                <a:ext cx="10667630" cy="11557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383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87DF00F-23FE-6943-1AF5-A07BA7C4AB2A}"/>
              </a:ext>
            </a:extLst>
          </p:cNvPr>
          <p:cNvSpPr txBox="1">
            <a:spLocks noChangeArrowheads="1"/>
          </p:cNvSpPr>
          <p:nvPr/>
        </p:nvSpPr>
        <p:spPr>
          <a:xfrm>
            <a:off x="1756029" y="759696"/>
            <a:ext cx="24384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  </a:t>
            </a:r>
            <a:r>
              <a:rPr lang="en-US" altLang="zh-CN" sz="2800" dirty="0">
                <a:ea typeface="黑体" panose="02010609060101010101" pitchFamily="49" charset="-122"/>
              </a:rPr>
              <a:t>    </a:t>
            </a:r>
            <a:r>
              <a:rPr lang="zh-CN" altLang="en-US" sz="2800" dirty="0">
                <a:ea typeface="黑体" panose="02010609060101010101" pitchFamily="49" charset="-122"/>
              </a:rPr>
              <a:t>求曲线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00A3660E-8376-04F3-8BC9-368D72E4FBE7}"/>
                  </a:ext>
                </a:extLst>
              </p:cNvPr>
              <p:cNvSpPr txBox="1"/>
              <p:nvPr/>
            </p:nvSpPr>
            <p:spPr bwMode="auto">
              <a:xfrm>
                <a:off x="3986286" y="782865"/>
                <a:ext cx="5408612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=6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00A3660E-8376-04F3-8BC9-368D72E4F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6286" y="782865"/>
                <a:ext cx="5408612" cy="5207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4">
            <a:extLst>
              <a:ext uri="{FF2B5EF4-FFF2-40B4-BE49-F238E27FC236}">
                <a16:creationId xmlns:a16="http://schemas.microsoft.com/office/drawing/2014/main" id="{C6D50CC7-0B4A-7509-36D2-0AD82B0B6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7104" y="79158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latin typeface="+mj-lt"/>
                <a:ea typeface="黑体" panose="02010609060101010101" pitchFamily="49" charset="-122"/>
                <a:cs typeface="+mj-cs"/>
              </a:rPr>
              <a:t>在点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89C8DF50-4151-124E-9EDA-E82EDDF8D6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8493" y="1360565"/>
                <a:ext cx="6762161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( 1,–2, 1) </a:t>
                </a:r>
                <a:r>
                  <a:rPr lang="zh-CN" altLang="en-US" sz="2800" dirty="0">
                    <a:latin typeface="+mj-lt"/>
                    <a:ea typeface="黑体" panose="02010609060101010101" pitchFamily="49" charset="-122"/>
                    <a:cs typeface="+mj-cs"/>
                  </a:rPr>
                  <a:t>处的切线方程与法平面方程</a:t>
                </a:r>
                <a:r>
                  <a:rPr lang="en-US" altLang="zh-CN" sz="2800" dirty="0">
                    <a:latin typeface="+mj-lt"/>
                    <a:ea typeface="黑体" panose="02010609060101010101" pitchFamily="49" charset="-122"/>
                    <a:cs typeface="+mj-cs"/>
                  </a:rPr>
                  <a:t>.  </a:t>
                </a:r>
              </a:p>
            </p:txBody>
          </p:sp>
        </mc:Choice>
        <mc:Fallback xmlns="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89C8DF50-4151-124E-9EDA-E82EDDF8D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8493" y="1360565"/>
                <a:ext cx="6762161" cy="519113"/>
              </a:xfrm>
              <a:prstGeom prst="rect">
                <a:avLst/>
              </a:prstGeom>
              <a:blipFill>
                <a:blip r:embed="rId5"/>
                <a:stretch>
                  <a:fillRect t="-16471" b="-352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46E5B461-FA22-1D22-DCC8-FE7B8D596DD8}"/>
                  </a:ext>
                </a:extLst>
              </p:cNvPr>
              <p:cNvSpPr txBox="1"/>
              <p:nvPr/>
            </p:nvSpPr>
            <p:spPr bwMode="auto">
              <a:xfrm>
                <a:off x="3446464" y="2612888"/>
                <a:ext cx="1665287" cy="9540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4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4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4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𝐹</m:t>
                                  </m:r>
                                  <m:r>
                                    <a:rPr kumimoji="1" lang="en-US" altLang="zh-CN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𝐺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  <m:r>
                                    <a:rPr kumimoji="1" lang="en-US" altLang="zh-CN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4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r>
                                  <a:rPr kumimoji="1" lang="zh-CN" altLang="en-US" sz="24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𝑀</m:t>
                                </m:r>
                              </m:e>
                            </m:mr>
                          </m:m>
                        </m:sub>
                      </m:sSub>
                    </m:oMath>
                  </m:oMathPara>
                </a14:m>
                <a:endParaRPr kumimoji="1" lang="zh-CN" altLang="en-US" sz="24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46E5B461-FA22-1D22-DCC8-FE7B8D596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6464" y="2612888"/>
                <a:ext cx="1665287" cy="9540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7">
            <a:extLst>
              <a:ext uri="{FF2B5EF4-FFF2-40B4-BE49-F238E27FC236}">
                <a16:creationId xmlns:a16="http://schemas.microsoft.com/office/drawing/2014/main" id="{8CD6D1DC-50C9-0EC7-B739-A97629B1E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93" y="5479832"/>
            <a:ext cx="1774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切线方程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12D4A18B-0A72-BE06-A394-AFCEA668D7BB}"/>
                  </a:ext>
                </a:extLst>
              </p:cNvPr>
              <p:cNvSpPr txBox="1"/>
              <p:nvPr/>
            </p:nvSpPr>
            <p:spPr bwMode="auto">
              <a:xfrm>
                <a:off x="4080283" y="5320717"/>
                <a:ext cx="3022192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−6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+2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6</m:t>
                          </m:r>
                        </m:den>
                      </m:f>
                      <m:r>
                        <a:rPr kumimoji="1"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12D4A18B-0A72-BE06-A394-AFCEA668D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80283" y="5320717"/>
                <a:ext cx="3022192" cy="838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9">
            <a:extLst>
              <a:ext uri="{FF2B5EF4-FFF2-40B4-BE49-F238E27FC236}">
                <a16:creationId xmlns:a16="http://schemas.microsoft.com/office/drawing/2014/main" id="{4083E995-28AE-27A5-B71D-67EDD7DC7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454" y="1957529"/>
            <a:ext cx="17764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解法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8CE79EE5-F5D8-F2BE-DDA7-55EC1B1A1CB5}"/>
                  </a:ext>
                </a:extLst>
              </p:cNvPr>
              <p:cNvSpPr txBox="1"/>
              <p:nvPr/>
            </p:nvSpPr>
            <p:spPr bwMode="auto">
              <a:xfrm>
                <a:off x="3228374" y="2031727"/>
                <a:ext cx="4327054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𝐹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  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𝐺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8CE79EE5-F5D8-F2BE-DDA7-55EC1B1A1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8374" y="2031727"/>
                <a:ext cx="4327054" cy="533400"/>
              </a:xfrm>
              <a:prstGeom prst="rect">
                <a:avLst/>
              </a:prstGeom>
              <a:blipFill>
                <a:blip r:embed="rId8"/>
                <a:stretch>
                  <a:fillRect l="-1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1">
            <a:extLst>
              <a:ext uri="{FF2B5EF4-FFF2-40B4-BE49-F238E27FC236}">
                <a16:creationId xmlns:a16="http://schemas.microsoft.com/office/drawing/2014/main" id="{C80C7C8C-6CE1-6321-97E0-119F2E839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700" y="2031364"/>
            <a:ext cx="685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则</a:t>
            </a: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477814CF-BD6C-9FB1-3E3C-2A3440265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6652" y="5479832"/>
            <a:ext cx="56877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即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7">
                <a:extLst>
                  <a:ext uri="{FF2B5EF4-FFF2-40B4-BE49-F238E27FC236}">
                    <a16:creationId xmlns:a16="http://schemas.microsoft.com/office/drawing/2014/main" id="{706785DF-0628-7EAA-2130-1E1B8145E263}"/>
                  </a:ext>
                </a:extLst>
              </p:cNvPr>
              <p:cNvSpPr txBox="1"/>
              <p:nvPr/>
            </p:nvSpPr>
            <p:spPr bwMode="auto">
              <a:xfrm>
                <a:off x="7271205" y="5268886"/>
                <a:ext cx="2286000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−2=0,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+2=0.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3" name="Object 17">
                <a:extLst>
                  <a:ext uri="{FF2B5EF4-FFF2-40B4-BE49-F238E27FC236}">
                    <a16:creationId xmlns:a16="http://schemas.microsoft.com/office/drawing/2014/main" id="{706785DF-0628-7EAA-2130-1E1B8145E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71205" y="5268886"/>
                <a:ext cx="2286000" cy="10033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18">
            <a:extLst>
              <a:ext uri="{FF2B5EF4-FFF2-40B4-BE49-F238E27FC236}">
                <a16:creationId xmlns:a16="http://schemas.microsoft.com/office/drawing/2014/main" id="{C2F85632-03F7-3721-F55A-CE8BD06EF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93" y="4611846"/>
            <a:ext cx="16764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切向量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20">
                <a:extLst>
                  <a:ext uri="{FF2B5EF4-FFF2-40B4-BE49-F238E27FC236}">
                    <a16:creationId xmlns:a16="http://schemas.microsoft.com/office/drawing/2014/main" id="{CFF6387C-3AD8-1266-28A9-6CE4EC6A8B10}"/>
                  </a:ext>
                </a:extLst>
              </p:cNvPr>
              <p:cNvSpPr txBox="1"/>
              <p:nvPr/>
            </p:nvSpPr>
            <p:spPr bwMode="auto">
              <a:xfrm>
                <a:off x="3445881" y="3612367"/>
                <a:ext cx="2030413" cy="9540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4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4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4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𝐹</m:t>
                                  </m:r>
                                  <m:r>
                                    <a:rPr kumimoji="1" lang="en-US" altLang="zh-CN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𝐺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  <m:r>
                                    <a:rPr kumimoji="1" lang="en-US" altLang="zh-CN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4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r>
                                  <a:rPr kumimoji="1" lang="zh-CN" altLang="en-US" sz="24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𝑀</m:t>
                                </m:r>
                              </m:e>
                            </m:mr>
                          </m:m>
                        </m:sub>
                      </m:sSub>
                      <m: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</m:t>
                      </m:r>
                      <m:r>
                        <a:rPr kumimoji="1" lang="en-US" altLang="zh-CN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" name="Object 20">
                <a:extLst>
                  <a:ext uri="{FF2B5EF4-FFF2-40B4-BE49-F238E27FC236}">
                    <a16:creationId xmlns:a16="http://schemas.microsoft.com/office/drawing/2014/main" id="{CFF6387C-3AD8-1266-28A9-6CE4EC6A8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5881" y="3612367"/>
                <a:ext cx="2030413" cy="9540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21">
                <a:extLst>
                  <a:ext uri="{FF2B5EF4-FFF2-40B4-BE49-F238E27FC236}">
                    <a16:creationId xmlns:a16="http://schemas.microsoft.com/office/drawing/2014/main" id="{A9492D92-AC07-917F-FB1E-12240B533A63}"/>
                  </a:ext>
                </a:extLst>
              </p:cNvPr>
              <p:cNvSpPr txBox="1"/>
              <p:nvPr/>
            </p:nvSpPr>
            <p:spPr bwMode="auto">
              <a:xfrm>
                <a:off x="4706143" y="2690625"/>
                <a:ext cx="2030413" cy="7622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4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4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4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1" lang="zh-CN" altLang="en-US" sz="24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 2</m:t>
                                    </m:r>
                                    <m:r>
                                      <a:rPr kumimoji="1" lang="zh-CN" altLang="en-US" sz="24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  <m:e>
                                    <m:r>
                                      <a:rPr kumimoji="1" lang="zh-CN" altLang="en-US" sz="24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  <m:r>
                                      <a:rPr kumimoji="1" lang="zh-CN" altLang="en-US" sz="24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  <m:r>
                                      <a:rPr kumimoji="1" lang="zh-CN" altLang="en-US" sz="24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 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1" lang="zh-CN" altLang="en-US" sz="24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1" lang="zh-CN" altLang="en-US" sz="24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kumimoji="1" lang="zh-CN" altLang="en-US" sz="24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kumimoji="1" lang="zh-CN" altLang="en-US" sz="24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6" name="Object 21">
                <a:extLst>
                  <a:ext uri="{FF2B5EF4-FFF2-40B4-BE49-F238E27FC236}">
                    <a16:creationId xmlns:a16="http://schemas.microsoft.com/office/drawing/2014/main" id="{A9492D92-AC07-917F-FB1E-12240B533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6143" y="2690625"/>
                <a:ext cx="2030413" cy="7622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2">
                <a:extLst>
                  <a:ext uri="{FF2B5EF4-FFF2-40B4-BE49-F238E27FC236}">
                    <a16:creationId xmlns:a16="http://schemas.microsoft.com/office/drawing/2014/main" id="{F7A29F86-B548-1F69-E5B5-5C570E5832E7}"/>
                  </a:ext>
                </a:extLst>
              </p:cNvPr>
              <p:cNvSpPr txBox="1"/>
              <p:nvPr/>
            </p:nvSpPr>
            <p:spPr bwMode="auto">
              <a:xfrm>
                <a:off x="6506438" y="2748968"/>
                <a:ext cx="1815238" cy="7815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2(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𝑀</m:t>
                                </m:r>
                              </m:e>
                            </m:mr>
                          </m:m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Object 22">
                <a:extLst>
                  <a:ext uri="{FF2B5EF4-FFF2-40B4-BE49-F238E27FC236}">
                    <a16:creationId xmlns:a16="http://schemas.microsoft.com/office/drawing/2014/main" id="{F7A29F86-B548-1F69-E5B5-5C570E583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06438" y="2748968"/>
                <a:ext cx="1815238" cy="7815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3">
                <a:extLst>
                  <a:ext uri="{FF2B5EF4-FFF2-40B4-BE49-F238E27FC236}">
                    <a16:creationId xmlns:a16="http://schemas.microsoft.com/office/drawing/2014/main" id="{AACFABB4-648B-0655-D0F2-BC5F0738A773}"/>
                  </a:ext>
                </a:extLst>
              </p:cNvPr>
              <p:cNvSpPr txBox="1"/>
              <p:nvPr/>
            </p:nvSpPr>
            <p:spPr bwMode="auto">
              <a:xfrm>
                <a:off x="8205644" y="2823648"/>
                <a:ext cx="8382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=−6</m:t>
                      </m:r>
                      <m:r>
                        <a:rPr kumimoji="1"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" name="Object 23">
                <a:extLst>
                  <a:ext uri="{FF2B5EF4-FFF2-40B4-BE49-F238E27FC236}">
                    <a16:creationId xmlns:a16="http://schemas.microsoft.com/office/drawing/2014/main" id="{AACFABB4-648B-0655-D0F2-BC5F0738A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05644" y="2823648"/>
                <a:ext cx="838200" cy="393700"/>
              </a:xfrm>
              <a:prstGeom prst="rect">
                <a:avLst/>
              </a:prstGeom>
              <a:blipFill>
                <a:blip r:embed="rId13"/>
                <a:stretch>
                  <a:fillRect b="-61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26">
            <a:extLst>
              <a:ext uri="{FF2B5EF4-FFF2-40B4-BE49-F238E27FC236}">
                <a16:creationId xmlns:a16="http://schemas.microsoft.com/office/drawing/2014/main" id="{EC4AC925-988E-91D6-C2C0-BB0BBBF7D490}"/>
              </a:ext>
            </a:extLst>
          </p:cNvPr>
          <p:cNvGrpSpPr>
            <a:grpSpLocks/>
          </p:cNvGrpSpPr>
          <p:nvPr/>
        </p:nvGrpSpPr>
        <p:grpSpPr bwMode="auto">
          <a:xfrm>
            <a:off x="8922893" y="3657523"/>
            <a:ext cx="1447800" cy="1295400"/>
            <a:chOff x="4560" y="1680"/>
            <a:chExt cx="912" cy="816"/>
          </a:xfrm>
          <a:solidFill>
            <a:schemeClr val="bg2"/>
          </a:solidFill>
        </p:grpSpPr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33CF48DD-B276-7CC9-62B5-525BD3FF4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680"/>
              <a:ext cx="912" cy="816"/>
            </a:xfrm>
            <a:prstGeom prst="rect">
              <a:avLst/>
            </a:prstGeom>
            <a:grpFill/>
            <a:ln w="9525">
              <a:solidFill>
                <a:srgbClr val="04926A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bject 28">
                  <a:extLst>
                    <a:ext uri="{FF2B5EF4-FFF2-40B4-BE49-F238E27FC236}">
                      <a16:creationId xmlns:a16="http://schemas.microsoft.com/office/drawing/2014/main" id="{DFB33F29-DB98-FDAA-CB48-F65F2A0F58E7}"/>
                    </a:ext>
                  </a:extLst>
                </p:cNvPr>
                <p:cNvSpPr txBox="1"/>
                <p:nvPr/>
              </p:nvSpPr>
              <p:spPr bwMode="auto">
                <a:xfrm>
                  <a:off x="4901" y="1760"/>
                  <a:ext cx="187" cy="240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1" name="Object 28">
                  <a:extLst>
                    <a:ext uri="{FF2B5EF4-FFF2-40B4-BE49-F238E27FC236}">
                      <a16:creationId xmlns:a16="http://schemas.microsoft.com/office/drawing/2014/main" id="{DFB33F29-DB98-FDAA-CB48-F65F2A0F58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01" y="1760"/>
                  <a:ext cx="187" cy="240"/>
                </a:xfrm>
                <a:prstGeom prst="rect">
                  <a:avLst/>
                </a:prstGeom>
                <a:blipFill>
                  <a:blip r:embed="rId14"/>
                  <a:stretch>
                    <a:fillRect r="-408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bject 29">
                  <a:extLst>
                    <a:ext uri="{FF2B5EF4-FFF2-40B4-BE49-F238E27FC236}">
                      <a16:creationId xmlns:a16="http://schemas.microsoft.com/office/drawing/2014/main" id="{7CAE515F-2ED6-71B4-F9C7-D6FDBC885BF7}"/>
                    </a:ext>
                  </a:extLst>
                </p:cNvPr>
                <p:cNvSpPr txBox="1"/>
                <p:nvPr/>
              </p:nvSpPr>
              <p:spPr bwMode="auto">
                <a:xfrm>
                  <a:off x="4672" y="2165"/>
                  <a:ext cx="179" cy="25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2" name="Object 29">
                  <a:extLst>
                    <a:ext uri="{FF2B5EF4-FFF2-40B4-BE49-F238E27FC236}">
                      <a16:creationId xmlns:a16="http://schemas.microsoft.com/office/drawing/2014/main" id="{7CAE515F-2ED6-71B4-F9C7-D6FDBC885B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72" y="2165"/>
                  <a:ext cx="179" cy="252"/>
                </a:xfrm>
                <a:prstGeom prst="rect">
                  <a:avLst/>
                </a:prstGeom>
                <a:blipFill>
                  <a:blip r:embed="rId15"/>
                  <a:stretch>
                    <a:fillRect l="-4348" r="-23913" b="-1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bject 30">
                  <a:extLst>
                    <a:ext uri="{FF2B5EF4-FFF2-40B4-BE49-F238E27FC236}">
                      <a16:creationId xmlns:a16="http://schemas.microsoft.com/office/drawing/2014/main" id="{23CD1E44-3C41-DD23-C106-17A718AE7E7A}"/>
                    </a:ext>
                  </a:extLst>
                </p:cNvPr>
                <p:cNvSpPr txBox="1"/>
                <p:nvPr/>
              </p:nvSpPr>
              <p:spPr bwMode="auto">
                <a:xfrm>
                  <a:off x="5208" y="2185"/>
                  <a:ext cx="250" cy="263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3" name="Object 30">
                  <a:extLst>
                    <a:ext uri="{FF2B5EF4-FFF2-40B4-BE49-F238E27FC236}">
                      <a16:creationId xmlns:a16="http://schemas.microsoft.com/office/drawing/2014/main" id="{23CD1E44-3C41-DD23-C106-17A718AE7E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08" y="2185"/>
                  <a:ext cx="250" cy="263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Line 31">
              <a:extLst>
                <a:ext uri="{FF2B5EF4-FFF2-40B4-BE49-F238E27FC236}">
                  <a16:creationId xmlns:a16="http://schemas.microsoft.com/office/drawing/2014/main" id="{BD9A2C0F-E895-8469-F393-BA7AEB1F9B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1968"/>
              <a:ext cx="144" cy="24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5" name="Line 32">
              <a:extLst>
                <a:ext uri="{FF2B5EF4-FFF2-40B4-BE49-F238E27FC236}">
                  <a16:creationId xmlns:a16="http://schemas.microsoft.com/office/drawing/2014/main" id="{3296BDF1-F0FD-6F42-D306-73AB6348A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352"/>
              <a:ext cx="288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6" name="Line 33">
              <a:extLst>
                <a:ext uri="{FF2B5EF4-FFF2-40B4-BE49-F238E27FC236}">
                  <a16:creationId xmlns:a16="http://schemas.microsoft.com/office/drawing/2014/main" id="{3C32B84D-1124-5540-0A50-F0B95191AA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36" y="1920"/>
              <a:ext cx="144" cy="24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42">
                <a:extLst>
                  <a:ext uri="{FF2B5EF4-FFF2-40B4-BE49-F238E27FC236}">
                    <a16:creationId xmlns:a16="http://schemas.microsoft.com/office/drawing/2014/main" id="{BEE5DDCA-F790-7F1E-F89E-CCDB91B5F3BB}"/>
                  </a:ext>
                </a:extLst>
              </p:cNvPr>
              <p:cNvSpPr txBox="1"/>
              <p:nvPr/>
            </p:nvSpPr>
            <p:spPr bwMode="auto">
              <a:xfrm>
                <a:off x="5322888" y="3612895"/>
                <a:ext cx="2030413" cy="9540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4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4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4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𝐹</m:t>
                                  </m:r>
                                  <m:r>
                                    <a:rPr kumimoji="1" lang="en-US" altLang="zh-CN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𝐺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  <m:r>
                                    <a:rPr kumimoji="1" lang="en-US" altLang="zh-CN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  <m:r>
                                    <a:rPr kumimoji="1" lang="zh-CN" altLang="en-US" sz="24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4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r>
                                  <a:rPr kumimoji="1" lang="zh-CN" altLang="en-US" sz="24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𝑀</m:t>
                                </m:r>
                              </m:e>
                            </m:mr>
                          </m:m>
                        </m:sub>
                      </m:sSub>
                      <m: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=6.</m:t>
                      </m:r>
                    </m:oMath>
                  </m:oMathPara>
                </a14:m>
                <a:endParaRPr kumimoji="1" lang="zh-CN" altLang="en-US" sz="24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7" name="Object 42">
                <a:extLst>
                  <a:ext uri="{FF2B5EF4-FFF2-40B4-BE49-F238E27FC236}">
                    <a16:creationId xmlns:a16="http://schemas.microsoft.com/office/drawing/2014/main" id="{BEE5DDCA-F790-7F1E-F89E-CCDB91B5F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22888" y="3612895"/>
                <a:ext cx="2030413" cy="9540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19">
                <a:extLst>
                  <a:ext uri="{FF2B5EF4-FFF2-40B4-BE49-F238E27FC236}">
                    <a16:creationId xmlns:a16="http://schemas.microsoft.com/office/drawing/2014/main" id="{83891E35-D67E-4D36-C92D-1E7E1FCED2DC}"/>
                  </a:ext>
                </a:extLst>
              </p:cNvPr>
              <p:cNvSpPr txBox="1"/>
              <p:nvPr/>
            </p:nvSpPr>
            <p:spPr bwMode="auto">
              <a:xfrm>
                <a:off x="3777659" y="4606176"/>
                <a:ext cx="2297113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𝑻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=(−6, 0, 6),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9" name="Object 19">
                <a:extLst>
                  <a:ext uri="{FF2B5EF4-FFF2-40B4-BE49-F238E27FC236}">
                    <a16:creationId xmlns:a16="http://schemas.microsoft.com/office/drawing/2014/main" id="{83891E35-D67E-4D36-C92D-1E7E1FCED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7659" y="4606176"/>
                <a:ext cx="2297113" cy="393700"/>
              </a:xfrm>
              <a:prstGeom prst="rect">
                <a:avLst/>
              </a:prstGeom>
              <a:blipFill>
                <a:blip r:embed="rId18"/>
                <a:stretch>
                  <a:fillRect l="-265"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309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 autoUpdateAnimBg="0"/>
      <p:bldP spid="10" grpId="0"/>
      <p:bldP spid="11" grpId="0" autoUpdateAnimBg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7" grpId="0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1F9C0FC6-53F2-2782-37A8-8557066F0157}"/>
              </a:ext>
            </a:extLst>
          </p:cNvPr>
          <p:cNvSpPr txBox="1">
            <a:spLocks noChangeArrowheads="1"/>
          </p:cNvSpPr>
          <p:nvPr/>
        </p:nvSpPr>
        <p:spPr>
          <a:xfrm>
            <a:off x="3093745" y="875819"/>
            <a:ext cx="160843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200" dirty="0">
                <a:ea typeface="黑体" panose="02010609060101010101" pitchFamily="49" charset="-122"/>
              </a:rPr>
              <a:t>法平面方程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13">
                <a:extLst>
                  <a:ext uri="{FF2B5EF4-FFF2-40B4-BE49-F238E27FC236}">
                    <a16:creationId xmlns:a16="http://schemas.microsoft.com/office/drawing/2014/main" id="{7FDEB9B4-3CD7-1BFA-44DC-F6517733D4BD}"/>
                  </a:ext>
                </a:extLst>
              </p:cNvPr>
              <p:cNvSpPr txBox="1"/>
              <p:nvPr/>
            </p:nvSpPr>
            <p:spPr bwMode="auto">
              <a:xfrm>
                <a:off x="4966649" y="909899"/>
                <a:ext cx="5574352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−6⋅(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−1)+0⋅(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+2)+6⋅(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−1)=0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0" name="Object 13">
                <a:extLst>
                  <a:ext uri="{FF2B5EF4-FFF2-40B4-BE49-F238E27FC236}">
                    <a16:creationId xmlns:a16="http://schemas.microsoft.com/office/drawing/2014/main" id="{7FDEB9B4-3CD7-1BFA-44DC-F6517733D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6649" y="909899"/>
                <a:ext cx="5574352" cy="533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 Box 14">
            <a:extLst>
              <a:ext uri="{FF2B5EF4-FFF2-40B4-BE49-F238E27FC236}">
                <a16:creationId xmlns:a16="http://schemas.microsoft.com/office/drawing/2014/main" id="{4C413AA4-AE5A-CB4D-AFFD-9977F9A9D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872" y="1520904"/>
            <a:ext cx="50396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15">
                <a:extLst>
                  <a:ext uri="{FF2B5EF4-FFF2-40B4-BE49-F238E27FC236}">
                    <a16:creationId xmlns:a16="http://schemas.microsoft.com/office/drawing/2014/main" id="{B55A7BC2-6D76-54A7-25A1-2D8709D789C5}"/>
                  </a:ext>
                </a:extLst>
              </p:cNvPr>
              <p:cNvSpPr txBox="1"/>
              <p:nvPr/>
            </p:nvSpPr>
            <p:spPr bwMode="auto">
              <a:xfrm>
                <a:off x="4966648" y="1501406"/>
                <a:ext cx="1789752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2" name="Object 15">
                <a:extLst>
                  <a:ext uri="{FF2B5EF4-FFF2-40B4-BE49-F238E27FC236}">
                    <a16:creationId xmlns:a16="http://schemas.microsoft.com/office/drawing/2014/main" id="{B55A7BC2-6D76-54A7-25A1-2D8709D78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6648" y="1501406"/>
                <a:ext cx="1789752" cy="5191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253">
            <a:extLst>
              <a:ext uri="{FF2B5EF4-FFF2-40B4-BE49-F238E27FC236}">
                <a16:creationId xmlns:a16="http://schemas.microsoft.com/office/drawing/2014/main" id="{0788203B-4D5B-D42A-1429-2C9CF6A21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523" y="2105470"/>
            <a:ext cx="12266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解法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254">
                <a:extLst>
                  <a:ext uri="{FF2B5EF4-FFF2-40B4-BE49-F238E27FC236}">
                    <a16:creationId xmlns:a16="http://schemas.microsoft.com/office/drawing/2014/main" id="{FA2BB69B-38D7-FCB2-32FC-46F48D7782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93745" y="2167793"/>
                <a:ext cx="5141816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+mj-lt"/>
                    <a:ea typeface="黑体" panose="02010609060101010101" pitchFamily="49" charset="-122"/>
                    <a:cs typeface="+mj-cs"/>
                  </a:rPr>
                  <a:t>将所给的方程的两边对 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200" dirty="0">
                    <a:latin typeface="+mj-lt"/>
                    <a:ea typeface="黑体" panose="02010609060101010101" pitchFamily="49" charset="-122"/>
                    <a:cs typeface="+mj-cs"/>
                  </a:rPr>
                  <a:t> 求导并移项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lang="zh-CN" altLang="en-US" sz="2200" dirty="0">
                    <a:latin typeface="+mj-lt"/>
                    <a:ea typeface="黑体" panose="02010609060101010101" pitchFamily="49" charset="-122"/>
                    <a:cs typeface="+mj-cs"/>
                  </a:rPr>
                  <a:t> 得</a:t>
                </a:r>
              </a:p>
            </p:txBody>
          </p:sp>
        </mc:Choice>
        <mc:Fallback xmlns="">
          <p:sp>
            <p:nvSpPr>
              <p:cNvPr id="34" name="Text Box 254">
                <a:extLst>
                  <a:ext uri="{FF2B5EF4-FFF2-40B4-BE49-F238E27FC236}">
                    <a16:creationId xmlns:a16="http://schemas.microsoft.com/office/drawing/2014/main" id="{FA2BB69B-38D7-FCB2-32FC-46F48D778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3745" y="2167793"/>
                <a:ext cx="5141816" cy="430887"/>
              </a:xfrm>
              <a:prstGeom prst="rect">
                <a:avLst/>
              </a:prstGeom>
              <a:blipFill>
                <a:blip r:embed="rId6"/>
                <a:stretch>
                  <a:fillRect l="-1542" t="-15714" b="-228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255">
                <a:extLst>
                  <a:ext uri="{FF2B5EF4-FFF2-40B4-BE49-F238E27FC236}">
                    <a16:creationId xmlns:a16="http://schemas.microsoft.com/office/drawing/2014/main" id="{8D225269-A8A8-A1FC-AB8E-BB5A9CEA5F92}"/>
                  </a:ext>
                </a:extLst>
              </p:cNvPr>
              <p:cNvSpPr txBox="1"/>
              <p:nvPr/>
            </p:nvSpPr>
            <p:spPr bwMode="auto">
              <a:xfrm>
                <a:off x="4966649" y="2663093"/>
                <a:ext cx="2755730" cy="156889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f>
                                  <m:f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  <m:f>
                                  <m:f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=−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20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=−1.    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5" name="Object 255">
                <a:extLst>
                  <a:ext uri="{FF2B5EF4-FFF2-40B4-BE49-F238E27FC236}">
                    <a16:creationId xmlns:a16="http://schemas.microsoft.com/office/drawing/2014/main" id="{8D225269-A8A8-A1FC-AB8E-BB5A9CEA5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6649" y="2663093"/>
                <a:ext cx="2755730" cy="15688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Box 256">
            <a:extLst>
              <a:ext uri="{FF2B5EF4-FFF2-40B4-BE49-F238E27FC236}">
                <a16:creationId xmlns:a16="http://schemas.microsoft.com/office/drawing/2014/main" id="{B33AD0E6-1D02-237E-F78F-F6FCDDCF0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3745" y="4966932"/>
            <a:ext cx="122661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+mj-lt"/>
                <a:ea typeface="黑体" panose="02010609060101010101" pitchFamily="49" charset="-122"/>
                <a:cs typeface="+mj-cs"/>
              </a:rPr>
              <a:t>解之得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257">
                <a:extLst>
                  <a:ext uri="{FF2B5EF4-FFF2-40B4-BE49-F238E27FC236}">
                    <a16:creationId xmlns:a16="http://schemas.microsoft.com/office/drawing/2014/main" id="{0BF77563-6B88-76C3-8174-EBBEBEB988F7}"/>
                  </a:ext>
                </a:extLst>
              </p:cNvPr>
              <p:cNvSpPr txBox="1"/>
              <p:nvPr/>
            </p:nvSpPr>
            <p:spPr bwMode="auto">
              <a:xfrm>
                <a:off x="4966648" y="4359307"/>
                <a:ext cx="2258293" cy="16497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−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−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den>
                                </m:f>
                                <m:r>
                                  <a:rPr kumimoji="1" lang="en-US" altLang="zh-CN" sz="220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−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−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den>
                                </m:f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7" name="Object 257">
                <a:extLst>
                  <a:ext uri="{FF2B5EF4-FFF2-40B4-BE49-F238E27FC236}">
                    <a16:creationId xmlns:a16="http://schemas.microsoft.com/office/drawing/2014/main" id="{0BF77563-6B88-76C3-8174-EBBEBEB98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6648" y="4359307"/>
                <a:ext cx="2258293" cy="16497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494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ECCD0405-1890-6701-A78E-38C89816ACEA}"/>
                  </a:ext>
                </a:extLst>
              </p:cNvPr>
              <p:cNvSpPr txBox="1"/>
              <p:nvPr/>
            </p:nvSpPr>
            <p:spPr bwMode="auto">
              <a:xfrm>
                <a:off x="4099669" y="762593"/>
                <a:ext cx="3348882" cy="8654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r>
                        <a:rPr kumimoji="1"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ECCD0405-1890-6701-A78E-38C89816A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9669" y="762593"/>
                <a:ext cx="3348882" cy="8654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ine 10">
            <a:extLst>
              <a:ext uri="{FF2B5EF4-FFF2-40B4-BE49-F238E27FC236}">
                <a16:creationId xmlns:a16="http://schemas.microsoft.com/office/drawing/2014/main" id="{6D780733-5D73-E418-F233-A830F7482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753193"/>
            <a:ext cx="88392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1C11E781-BFC0-86D7-28D4-DDA184789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4867" y="2192675"/>
            <a:ext cx="1655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+mj-lt"/>
                <a:ea typeface="黑体" panose="02010609060101010101" pitchFamily="49" charset="-122"/>
                <a:cs typeface="+mj-cs"/>
              </a:rPr>
              <a:t>从而切向量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BE31DF83-4FB5-BDDA-79CC-8D54F131E1A6}"/>
                  </a:ext>
                </a:extLst>
              </p:cNvPr>
              <p:cNvSpPr txBox="1"/>
              <p:nvPr/>
            </p:nvSpPr>
            <p:spPr bwMode="auto">
              <a:xfrm>
                <a:off x="3023639" y="2165721"/>
                <a:ext cx="2397573" cy="501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𝑻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=(1 , 0 , −1).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BE31DF83-4FB5-BDDA-79CC-8D54F131E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3639" y="2165721"/>
                <a:ext cx="2397573" cy="501650"/>
              </a:xfrm>
              <a:prstGeom prst="rect">
                <a:avLst/>
              </a:prstGeom>
              <a:blipFill>
                <a:blip r:embed="rId6"/>
                <a:stretch>
                  <a:fillRect l="-254" b="-12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13">
            <a:extLst>
              <a:ext uri="{FF2B5EF4-FFF2-40B4-BE49-F238E27FC236}">
                <a16:creationId xmlns:a16="http://schemas.microsoft.com/office/drawing/2014/main" id="{82F3897C-9E2F-B2D4-E3B5-5F0D65523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4867" y="2825310"/>
            <a:ext cx="258116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+mj-lt"/>
                <a:ea typeface="黑体" panose="02010609060101010101" pitchFamily="49" charset="-122"/>
                <a:cs typeface="+mj-cs"/>
              </a:rPr>
              <a:t>故所求切线方程为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FF619497-9A1A-67FF-81F4-1270F46B8119}"/>
                  </a:ext>
                </a:extLst>
              </p:cNvPr>
              <p:cNvSpPr txBox="1"/>
              <p:nvPr/>
            </p:nvSpPr>
            <p:spPr bwMode="auto">
              <a:xfrm>
                <a:off x="1959530" y="3513326"/>
                <a:ext cx="3461682" cy="8313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+2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−1</m:t>
                          </m:r>
                        </m:den>
                      </m:f>
                      <m:r>
                        <a:rPr kumimoji="1"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FF619497-9A1A-67FF-81F4-1270F46B8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59530" y="3513326"/>
                <a:ext cx="3461682" cy="8313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5">
            <a:extLst>
              <a:ext uri="{FF2B5EF4-FFF2-40B4-BE49-F238E27FC236}">
                <a16:creationId xmlns:a16="http://schemas.microsoft.com/office/drawing/2014/main" id="{0FD3B8C2-35AF-7412-8039-20FAA7BE1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4867" y="4469811"/>
            <a:ext cx="213349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+mj-lt"/>
                <a:ea typeface="黑体" panose="02010609060101010101" pitchFamily="49" charset="-122"/>
                <a:cs typeface="+mj-cs"/>
              </a:rPr>
              <a:t>法平面方程为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D5FE3D8A-B0B7-FA7F-16C7-023936ACE228}"/>
                  </a:ext>
                </a:extLst>
              </p:cNvPr>
              <p:cNvSpPr txBox="1"/>
              <p:nvPr/>
            </p:nvSpPr>
            <p:spPr bwMode="auto">
              <a:xfrm>
                <a:off x="1959530" y="5011681"/>
                <a:ext cx="4347730" cy="409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−1)+0(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+2)−(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−1)=0,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D5FE3D8A-B0B7-FA7F-16C7-023936ACE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59530" y="5011681"/>
                <a:ext cx="4347730" cy="409575"/>
              </a:xfrm>
              <a:prstGeom prst="rect">
                <a:avLst/>
              </a:prstGeom>
              <a:blipFill>
                <a:blip r:embed="rId8"/>
                <a:stretch>
                  <a:fillRect l="-840" b="-253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17">
            <a:extLst>
              <a:ext uri="{FF2B5EF4-FFF2-40B4-BE49-F238E27FC236}">
                <a16:creationId xmlns:a16="http://schemas.microsoft.com/office/drawing/2014/main" id="{9BB98758-3C72-B66B-1574-D43906933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4867" y="5580322"/>
            <a:ext cx="54281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+mj-lt"/>
                <a:ea typeface="黑体" panose="02010609060101010101" pitchFamily="49" charset="-122"/>
                <a:cs typeface="+mj-cs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8">
                <a:extLst>
                  <a:ext uri="{FF2B5EF4-FFF2-40B4-BE49-F238E27FC236}">
                    <a16:creationId xmlns:a16="http://schemas.microsoft.com/office/drawing/2014/main" id="{5BFB9344-C7C4-5477-D422-9B03C6AE50D8}"/>
                  </a:ext>
                </a:extLst>
              </p:cNvPr>
              <p:cNvSpPr txBox="1"/>
              <p:nvPr/>
            </p:nvSpPr>
            <p:spPr bwMode="auto">
              <a:xfrm>
                <a:off x="1959530" y="5546413"/>
                <a:ext cx="1595004" cy="409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" name="Object 18">
                <a:extLst>
                  <a:ext uri="{FF2B5EF4-FFF2-40B4-BE49-F238E27FC236}">
                    <a16:creationId xmlns:a16="http://schemas.microsoft.com/office/drawing/2014/main" id="{5BFB9344-C7C4-5477-D422-9B03C6AE5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59530" y="5546413"/>
                <a:ext cx="1595004" cy="409575"/>
              </a:xfrm>
              <a:prstGeom prst="rect">
                <a:avLst/>
              </a:prstGeom>
              <a:blipFill>
                <a:blip r:embed="rId9"/>
                <a:stretch>
                  <a:fillRect b="-14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8457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BC99A4C-734C-5BF8-370A-9C0345C82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565" y="522954"/>
            <a:ext cx="5919719" cy="584775"/>
          </a:xfrm>
          <a:prstGeom prst="rect">
            <a:avLst/>
          </a:prstGeom>
          <a:noFill/>
          <a:ln w="28575">
            <a:noFill/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三、空间曲面的切平面与法线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FBA2046-FF87-A891-500A-5EB13B33C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145" y="1165186"/>
            <a:ext cx="5044304" cy="523220"/>
          </a:xfrm>
          <a:prstGeom prst="rect">
            <a:avLst/>
          </a:prstGeom>
          <a:noFill/>
          <a:ln w="28575">
            <a:noFill/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曲面方程为隐函数的情形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1">
                <a:extLst>
                  <a:ext uri="{FF2B5EF4-FFF2-40B4-BE49-F238E27FC236}">
                    <a16:creationId xmlns:a16="http://schemas.microsoft.com/office/drawing/2014/main" id="{C32A9D7C-A07A-1625-A2BA-91D08B0FB3B5}"/>
                  </a:ext>
                </a:extLst>
              </p:cNvPr>
              <p:cNvSpPr txBox="1"/>
              <p:nvPr/>
            </p:nvSpPr>
            <p:spPr bwMode="auto">
              <a:xfrm>
                <a:off x="3159720" y="1723400"/>
                <a:ext cx="3118467" cy="5791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𝛴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𝐹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)=0.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41">
                <a:extLst>
                  <a:ext uri="{FF2B5EF4-FFF2-40B4-BE49-F238E27FC236}">
                    <a16:creationId xmlns:a16="http://schemas.microsoft.com/office/drawing/2014/main" id="{C32A9D7C-A07A-1625-A2BA-91D08B0FB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59720" y="1723400"/>
                <a:ext cx="3118467" cy="5791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3">
            <a:extLst>
              <a:ext uri="{FF2B5EF4-FFF2-40B4-BE49-F238E27FC236}">
                <a16:creationId xmlns:a16="http://schemas.microsoft.com/office/drawing/2014/main" id="{E74F1886-40A2-E838-E756-1E77780AE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714" y="1743414"/>
            <a:ext cx="167133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latin typeface="+mj-lt"/>
                <a:ea typeface="黑体" panose="02010609060101010101" pitchFamily="49" charset="-122"/>
                <a:cs typeface="+mj-cs"/>
              </a:rPr>
              <a:t>设</a:t>
            </a:r>
            <a:r>
              <a:rPr lang="zh-CN" altLang="en-US" sz="2800" dirty="0">
                <a:latin typeface="+mj-lt"/>
                <a:ea typeface="黑体" panose="02010609060101010101" pitchFamily="49" charset="-122"/>
                <a:cs typeface="+mj-cs"/>
                <a:sym typeface="Symbol" panose="05050102010706020507" pitchFamily="18" charset="2"/>
              </a:rPr>
              <a:t>有</a:t>
            </a:r>
            <a:r>
              <a:rPr lang="zh-CN" altLang="en-US" sz="2800" dirty="0">
                <a:latin typeface="+mj-lt"/>
                <a:ea typeface="黑体" panose="02010609060101010101" pitchFamily="49" charset="-122"/>
                <a:cs typeface="+mj-cs"/>
              </a:rPr>
              <a:t>曲面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0237FD25-5B7C-A15E-A585-FDCCD9B15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713" y="2345433"/>
            <a:ext cx="2438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dirty="0">
                <a:latin typeface="+mj-lt"/>
                <a:ea typeface="黑体" panose="02010609060101010101" pitchFamily="49" charset="-122"/>
                <a:cs typeface="+mj-cs"/>
              </a:rPr>
              <a:t>通过其上定点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B3DECFAC-87B8-43E8-5968-F349161A2FA1}"/>
                  </a:ext>
                </a:extLst>
              </p:cNvPr>
              <p:cNvSpPr txBox="1"/>
              <p:nvPr/>
            </p:nvSpPr>
            <p:spPr bwMode="auto">
              <a:xfrm>
                <a:off x="3814045" y="2318402"/>
                <a:ext cx="2148605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𝑀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B3DECFAC-87B8-43E8-5968-F349161A2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4045" y="2318402"/>
                <a:ext cx="214860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CBCC7C26-7422-A998-D993-BD671ABF0A72}"/>
                  </a:ext>
                </a:extLst>
              </p:cNvPr>
              <p:cNvSpPr txBox="1"/>
              <p:nvPr/>
            </p:nvSpPr>
            <p:spPr bwMode="auto">
              <a:xfrm>
                <a:off x="6772581" y="2966317"/>
                <a:ext cx="1597990" cy="4460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设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CBCC7C26-7422-A998-D993-BD671ABF0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72581" y="2966317"/>
                <a:ext cx="1597990" cy="446087"/>
              </a:xfrm>
              <a:prstGeom prst="rect">
                <a:avLst/>
              </a:prstGeom>
              <a:blipFill>
                <a:blip r:embed="rId5"/>
                <a:stretch>
                  <a:fillRect b="-54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7">
                <a:extLst>
                  <a:ext uri="{FF2B5EF4-FFF2-40B4-BE49-F238E27FC236}">
                    <a16:creationId xmlns:a16="http://schemas.microsoft.com/office/drawing/2014/main" id="{978A3C14-6EB2-B6ED-4221-CA12D051CE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75781" y="2989119"/>
                <a:ext cx="18288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2800" dirty="0">
                    <a:latin typeface="+mj-lt"/>
                    <a:ea typeface="黑体" panose="02010609060101010101" pitchFamily="49" charset="-122"/>
                    <a:cs typeface="+mj-cs"/>
                  </a:rPr>
                  <a:t>对应点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,</a:t>
                </a:r>
              </a:p>
            </p:txBody>
          </p:sp>
        </mc:Choice>
        <mc:Fallback xmlns="">
          <p:sp>
            <p:nvSpPr>
              <p:cNvPr id="9" name="Text Box 7">
                <a:extLst>
                  <a:ext uri="{FF2B5EF4-FFF2-40B4-BE49-F238E27FC236}">
                    <a16:creationId xmlns:a16="http://schemas.microsoft.com/office/drawing/2014/main" id="{978A3C14-6EB2-B6ED-4221-CA12D051C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5781" y="2989119"/>
                <a:ext cx="1828800" cy="519113"/>
              </a:xfrm>
              <a:prstGeom prst="rect">
                <a:avLst/>
              </a:prstGeom>
              <a:blipFill>
                <a:blip r:embed="rId6"/>
                <a:stretch>
                  <a:fillRect l="-7000" t="-15294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8">
                <a:extLst>
                  <a:ext uri="{FF2B5EF4-FFF2-40B4-BE49-F238E27FC236}">
                    <a16:creationId xmlns:a16="http://schemas.microsoft.com/office/drawing/2014/main" id="{891A5741-E1D9-D1E2-E0A6-E3E7E30B5859}"/>
                  </a:ext>
                </a:extLst>
              </p:cNvPr>
              <p:cNvSpPr txBox="1"/>
              <p:nvPr/>
            </p:nvSpPr>
            <p:spPr bwMode="auto">
              <a:xfrm>
                <a:off x="1603713" y="3506281"/>
                <a:ext cx="3730601" cy="5969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𝜓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Object 8">
                <a:extLst>
                  <a:ext uri="{FF2B5EF4-FFF2-40B4-BE49-F238E27FC236}">
                    <a16:creationId xmlns:a16="http://schemas.microsoft.com/office/drawing/2014/main" id="{891A5741-E1D9-D1E2-E0A6-E3E7E30B5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3713" y="3506281"/>
                <a:ext cx="3730601" cy="5969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0">
            <a:extLst>
              <a:ext uri="{FF2B5EF4-FFF2-40B4-BE49-F238E27FC236}">
                <a16:creationId xmlns:a16="http://schemas.microsoft.com/office/drawing/2014/main" id="{55C9CBD8-DCE1-75CA-8096-C0CA6F38C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713" y="5536598"/>
            <a:ext cx="213389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切线方程为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5800240C-8F9D-4F5C-1083-86798F1CA273}"/>
                  </a:ext>
                </a:extLst>
              </p:cNvPr>
              <p:cNvSpPr txBox="1"/>
              <p:nvPr/>
            </p:nvSpPr>
            <p:spPr bwMode="auto">
              <a:xfrm>
                <a:off x="3487995" y="5383422"/>
                <a:ext cx="4446866" cy="939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5800240C-8F9D-4F5C-1083-86798F1CA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7995" y="5383422"/>
                <a:ext cx="4446866" cy="9398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2">
                <a:extLst>
                  <a:ext uri="{FF2B5EF4-FFF2-40B4-BE49-F238E27FC236}">
                    <a16:creationId xmlns:a16="http://schemas.microsoft.com/office/drawing/2014/main" id="{E843AF23-1374-B97F-A291-D90E0DF149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26519" y="3548455"/>
                <a:ext cx="19812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2800" dirty="0">
                    <a:latin typeface="+mj-lt"/>
                    <a:ea typeface="黑体" panose="02010609060101010101" pitchFamily="49" charset="-122"/>
                    <a:cs typeface="+mj-cs"/>
                  </a:rPr>
                  <a:t>不全为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0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13" name="Text Box 12">
                <a:extLst>
                  <a:ext uri="{FF2B5EF4-FFF2-40B4-BE49-F238E27FC236}">
                    <a16:creationId xmlns:a16="http://schemas.microsoft.com/office/drawing/2014/main" id="{E843AF23-1374-B97F-A291-D90E0DF14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26519" y="3548455"/>
                <a:ext cx="1981200" cy="519113"/>
              </a:xfrm>
              <a:prstGeom prst="rect">
                <a:avLst/>
              </a:prstGeom>
              <a:blipFill>
                <a:blip r:embed="rId9"/>
                <a:stretch>
                  <a:fillRect l="-6462" t="-15294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3">
                <a:extLst>
                  <a:ext uri="{FF2B5EF4-FFF2-40B4-BE49-F238E27FC236}">
                    <a16:creationId xmlns:a16="http://schemas.microsoft.com/office/drawing/2014/main" id="{6E5B18A1-0911-90B4-EF70-E46505CF3E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65455" y="3530992"/>
                <a:ext cx="17526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2800" dirty="0">
                    <a:latin typeface="+mj-lt"/>
                    <a:ea typeface="黑体" panose="02010609060101010101" pitchFamily="49" charset="-122"/>
                    <a:cs typeface="+mj-cs"/>
                  </a:rPr>
                  <a:t>则 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 sz="2800" dirty="0">
                    <a:latin typeface="+mj-lt"/>
                    <a:ea typeface="黑体" panose="02010609060101010101" pitchFamily="49" charset="-122"/>
                    <a:cs typeface="+mj-cs"/>
                  </a:rPr>
                  <a:t> 在</a:t>
                </a:r>
                <a:endParaRPr lang="zh-CN" altLang="en-US" sz="2800" dirty="0">
                  <a:latin typeface="+mj-lt"/>
                  <a:ea typeface="黑体" panose="02010609060101010101" pitchFamily="49" charset="-122"/>
                  <a:cs typeface="+mj-cs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4" name="Text Box 13">
                <a:extLst>
                  <a:ext uri="{FF2B5EF4-FFF2-40B4-BE49-F238E27FC236}">
                    <a16:creationId xmlns:a16="http://schemas.microsoft.com/office/drawing/2014/main" id="{6E5B18A1-0911-90B4-EF70-E46505CF3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65455" y="3530992"/>
                <a:ext cx="1752600" cy="519112"/>
              </a:xfrm>
              <a:prstGeom prst="rect">
                <a:avLst/>
              </a:prstGeom>
              <a:blipFill>
                <a:blip r:embed="rId10"/>
                <a:stretch>
                  <a:fillRect l="-7317" t="-16471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4">
                <a:extLst>
                  <a:ext uri="{FF2B5EF4-FFF2-40B4-BE49-F238E27FC236}">
                    <a16:creationId xmlns:a16="http://schemas.microsoft.com/office/drawing/2014/main" id="{9B5EF58D-20F3-21FF-311D-5431E38A6865}"/>
                  </a:ext>
                </a:extLst>
              </p:cNvPr>
              <p:cNvSpPr txBox="1"/>
              <p:nvPr/>
            </p:nvSpPr>
            <p:spPr bwMode="auto">
              <a:xfrm>
                <a:off x="1603713" y="2936817"/>
                <a:ext cx="5533254" cy="5426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𝛤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: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𝜑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𝜓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𝜔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" name="Object 14">
                <a:extLst>
                  <a:ext uri="{FF2B5EF4-FFF2-40B4-BE49-F238E27FC236}">
                    <a16:creationId xmlns:a16="http://schemas.microsoft.com/office/drawing/2014/main" id="{9B5EF58D-20F3-21FF-311D-5431E38A6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3713" y="2936817"/>
                <a:ext cx="5533254" cy="5426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15">
            <a:extLst>
              <a:ext uri="{FF2B5EF4-FFF2-40B4-BE49-F238E27FC236}">
                <a16:creationId xmlns:a16="http://schemas.microsoft.com/office/drawing/2014/main" id="{526C13A8-FE85-88DE-121E-F4E29F12B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3005" y="2990714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2800" dirty="0">
                <a:latin typeface="+mj-lt"/>
                <a:ea typeface="黑体" panose="02010609060101010101" pitchFamily="49" charset="-122"/>
                <a:cs typeface="+mj-cs"/>
              </a:rPr>
              <a:t>且</a:t>
            </a:r>
            <a:endParaRPr lang="zh-CN" altLang="en-US" sz="2800" dirty="0">
              <a:latin typeface="+mj-lt"/>
              <a:ea typeface="黑体" panose="02010609060101010101" pitchFamily="49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6">
                <a:extLst>
                  <a:ext uri="{FF2B5EF4-FFF2-40B4-BE49-F238E27FC236}">
                    <a16:creationId xmlns:a16="http://schemas.microsoft.com/office/drawing/2014/main" id="{7797A5C7-68D6-2F08-BC53-31BA5E67D3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3713" y="4087127"/>
                <a:ext cx="28956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点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的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切向量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为</a:t>
                </a:r>
              </a:p>
            </p:txBody>
          </p:sp>
        </mc:Choice>
        <mc:Fallback xmlns="">
          <p:sp>
            <p:nvSpPr>
              <p:cNvPr id="17" name="Text Box 16">
                <a:extLst>
                  <a:ext uri="{FF2B5EF4-FFF2-40B4-BE49-F238E27FC236}">
                    <a16:creationId xmlns:a16="http://schemas.microsoft.com/office/drawing/2014/main" id="{7797A5C7-68D6-2F08-BC53-31BA5E67D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3713" y="4087127"/>
                <a:ext cx="2895600" cy="519112"/>
              </a:xfrm>
              <a:prstGeom prst="rect">
                <a:avLst/>
              </a:prstGeom>
              <a:blipFill>
                <a:blip r:embed="rId12"/>
                <a:stretch>
                  <a:fillRect l="-4211" t="-15116" r="-1263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Box 17">
            <a:extLst>
              <a:ext uri="{FF2B5EF4-FFF2-40B4-BE49-F238E27FC236}">
                <a16:creationId xmlns:a16="http://schemas.microsoft.com/office/drawing/2014/main" id="{8BBA3118-C82C-53EB-3DA2-2A3038272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1059" y="2387069"/>
            <a:ext cx="3429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任意</a:t>
            </a:r>
            <a:r>
              <a:rPr lang="zh-CN" altLang="en-US" sz="2800" dirty="0">
                <a:latin typeface="+mj-lt"/>
                <a:ea typeface="黑体" panose="02010609060101010101" pitchFamily="49" charset="-122"/>
                <a:cs typeface="+mj-cs"/>
              </a:rPr>
              <a:t>引一条光滑曲线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9">
                <a:extLst>
                  <a:ext uri="{FF2B5EF4-FFF2-40B4-BE49-F238E27FC236}">
                    <a16:creationId xmlns:a16="http://schemas.microsoft.com/office/drawing/2014/main" id="{F84918A3-2550-FF60-36F3-970744561E69}"/>
                  </a:ext>
                </a:extLst>
              </p:cNvPr>
              <p:cNvSpPr txBox="1"/>
              <p:nvPr/>
            </p:nvSpPr>
            <p:spPr bwMode="auto">
              <a:xfrm>
                <a:off x="2844912" y="4716599"/>
                <a:ext cx="4776630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𝑻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=(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𝜓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9" name="Object 9">
                <a:extLst>
                  <a:ext uri="{FF2B5EF4-FFF2-40B4-BE49-F238E27FC236}">
                    <a16:creationId xmlns:a16="http://schemas.microsoft.com/office/drawing/2014/main" id="{F84918A3-2550-FF60-36F3-970744561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4912" y="4716599"/>
                <a:ext cx="4776630" cy="51911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片 21" descr="图示&#10;&#10;低可信度描述已自动生成">
            <a:extLst>
              <a:ext uri="{FF2B5EF4-FFF2-40B4-BE49-F238E27FC236}">
                <a16:creationId xmlns:a16="http://schemas.microsoft.com/office/drawing/2014/main" id="{ABD52646-BB6B-D365-9914-FFD69FF109F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3468" y="3682862"/>
            <a:ext cx="2960551" cy="258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3846AE7C-4162-06B7-9E55-5E66F3D6A943}"/>
              </a:ext>
            </a:extLst>
          </p:cNvPr>
          <p:cNvGrpSpPr/>
          <p:nvPr/>
        </p:nvGrpSpPr>
        <p:grpSpPr>
          <a:xfrm>
            <a:off x="-3175" y="-1771"/>
            <a:ext cx="12195175" cy="6858000"/>
            <a:chOff x="-20" y="-21"/>
            <a:chExt cx="19205" cy="10800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035CEFAA-E9B9-A10A-2CBC-B081D3CCF88E}"/>
                </a:ext>
              </a:extLst>
            </p:cNvPr>
            <p:cNvGrpSpPr/>
            <p:nvPr/>
          </p:nvGrpSpPr>
          <p:grpSpPr>
            <a:xfrm>
              <a:off x="-20" y="-21"/>
              <a:ext cx="19205" cy="10800"/>
              <a:chOff x="0" y="0"/>
              <a:chExt cx="19205" cy="10800"/>
            </a:xfrm>
          </p:grpSpPr>
          <p:sp>
            <p:nvSpPr>
              <p:cNvPr id="19" name="Rectangle 1">
                <a:extLst>
                  <a:ext uri="{FF2B5EF4-FFF2-40B4-BE49-F238E27FC236}">
                    <a16:creationId xmlns:a16="http://schemas.microsoft.com/office/drawing/2014/main" id="{04EED625-12F1-F372-4A3C-2224738000B4}"/>
                  </a:ext>
                </a:extLst>
              </p:cNvPr>
              <p:cNvSpPr/>
              <p:nvPr/>
            </p:nvSpPr>
            <p:spPr>
              <a:xfrm>
                <a:off x="0" y="0"/>
                <a:ext cx="19205" cy="10800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/>
                  </a:gs>
                  <a:gs pos="55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PA-102231">
                <a:extLst>
                  <a:ext uri="{FF2B5EF4-FFF2-40B4-BE49-F238E27FC236}">
                    <a16:creationId xmlns:a16="http://schemas.microsoft.com/office/drawing/2014/main" id="{1CC47C05-7D53-6B06-D29D-78681EE872B2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>
                <a:off x="798" y="10042"/>
                <a:ext cx="8533" cy="169"/>
              </a:xfrm>
              <a:prstGeom prst="rect">
                <a:avLst/>
              </a:prstGeom>
              <a:solidFill>
                <a:srgbClr val="068884"/>
              </a:solidFill>
              <a:ln>
                <a:noFill/>
              </a:ln>
              <a:effectLst>
                <a:outerShdw blurRad="203200" dist="63500" dir="3000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cs typeface="+mn-ea"/>
                  <a:sym typeface="+mn-lt"/>
                </a:endParaRPr>
              </a:p>
            </p:txBody>
          </p:sp>
          <p:sp>
            <p:nvSpPr>
              <p:cNvPr id="21" name="PA-102231">
                <a:extLst>
                  <a:ext uri="{FF2B5EF4-FFF2-40B4-BE49-F238E27FC236}">
                    <a16:creationId xmlns:a16="http://schemas.microsoft.com/office/drawing/2014/main" id="{974626AE-B5D5-1854-6B92-3C463BA21D98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9858" y="10050"/>
                <a:ext cx="8533" cy="162"/>
              </a:xfrm>
              <a:prstGeom prst="rect">
                <a:avLst/>
              </a:prstGeom>
              <a:solidFill>
                <a:srgbClr val="068884"/>
              </a:solidFill>
              <a:ln>
                <a:noFill/>
              </a:ln>
              <a:effectLst>
                <a:outerShdw blurRad="203200" dist="63500" dir="3000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cs typeface="+mn-ea"/>
                  <a:sym typeface="+mn-lt"/>
                </a:endParaRPr>
              </a:p>
            </p:txBody>
          </p:sp>
        </p:grpSp>
        <p:sp>
          <p:nvSpPr>
            <p:cNvPr id="18" name="矩形: 折角 16">
              <a:extLst>
                <a:ext uri="{FF2B5EF4-FFF2-40B4-BE49-F238E27FC236}">
                  <a16:creationId xmlns:a16="http://schemas.microsoft.com/office/drawing/2014/main" id="{550D0842-238D-4D5F-9B62-A36F5AAC73E3}"/>
                </a:ext>
              </a:extLst>
            </p:cNvPr>
            <p:cNvSpPr/>
            <p:nvPr/>
          </p:nvSpPr>
          <p:spPr>
            <a:xfrm rot="10800000">
              <a:off x="230" y="248"/>
              <a:ext cx="18709" cy="10259"/>
            </a:xfrm>
            <a:prstGeom prst="foldedCorner">
              <a:avLst>
                <a:gd name="adj" fmla="val 10200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D913803-086B-5339-DB47-30DF2C4D3E7A}"/>
              </a:ext>
            </a:extLst>
          </p:cNvPr>
          <p:cNvGrpSpPr/>
          <p:nvPr/>
        </p:nvGrpSpPr>
        <p:grpSpPr>
          <a:xfrm>
            <a:off x="228600" y="236182"/>
            <a:ext cx="11808547" cy="6421275"/>
            <a:chOff x="228600" y="236182"/>
            <a:chExt cx="11808547" cy="6421275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4A8A8BAF-12B4-D5FD-0A34-A2F1441962EE}"/>
                </a:ext>
              </a:extLst>
            </p:cNvPr>
            <p:cNvSpPr/>
            <p:nvPr/>
          </p:nvSpPr>
          <p:spPr>
            <a:xfrm>
              <a:off x="364173" y="6460603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B7661E7F-BD8E-3DE7-24FD-E7FAF0C72699}"/>
                </a:ext>
              </a:extLst>
            </p:cNvPr>
            <p:cNvSpPr/>
            <p:nvPr/>
          </p:nvSpPr>
          <p:spPr>
            <a:xfrm rot="2659048">
              <a:off x="8838055" y="295963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D4D3E81-E9B8-D758-4A0E-6169300A5472}"/>
                </a:ext>
              </a:extLst>
            </p:cNvPr>
            <p:cNvSpPr/>
            <p:nvPr/>
          </p:nvSpPr>
          <p:spPr>
            <a:xfrm>
              <a:off x="543503" y="6349680"/>
              <a:ext cx="321594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第六节 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多元函数微分学习的几何应用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F0C8531-76B3-D765-AAFA-09E59FB23136}"/>
                </a:ext>
              </a:extLst>
            </p:cNvPr>
            <p:cNvSpPr/>
            <p:nvPr/>
          </p:nvSpPr>
          <p:spPr>
            <a:xfrm>
              <a:off x="9055533" y="236182"/>
              <a:ext cx="28568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第九章 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多元函数微分法及其应用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CE88B4C8-A726-B429-76A9-859D0FA7EEE0}"/>
                </a:ext>
              </a:extLst>
            </p:cNvPr>
            <p:cNvCxnSpPr/>
            <p:nvPr/>
          </p:nvCxnSpPr>
          <p:spPr>
            <a:xfrm>
              <a:off x="228600" y="375380"/>
              <a:ext cx="8388000" cy="0"/>
            </a:xfrm>
            <a:prstGeom prst="line">
              <a:avLst/>
            </a:prstGeom>
            <a:ln>
              <a:solidFill>
                <a:srgbClr val="04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451AC45A-521B-00DD-ABE8-4B40B1B65BE0}"/>
                </a:ext>
              </a:extLst>
            </p:cNvPr>
            <p:cNvCxnSpPr/>
            <p:nvPr/>
          </p:nvCxnSpPr>
          <p:spPr>
            <a:xfrm>
              <a:off x="3973147" y="6503831"/>
              <a:ext cx="8064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9">
                <a:extLst>
                  <a:ext uri="{FF2B5EF4-FFF2-40B4-BE49-F238E27FC236}">
                    <a16:creationId xmlns:a16="http://schemas.microsoft.com/office/drawing/2014/main" id="{0D3EA3BB-79C4-D569-A515-BB6C003A31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11197" y="1023938"/>
                <a:ext cx="195262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+mj-lt"/>
                    <a:ea typeface="黑体" panose="02010609060101010101" pitchFamily="49" charset="-122"/>
                    <a:cs typeface="+mj-cs"/>
                  </a:rPr>
                  <a:t>下面证明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zh-CN" altLang="en-US" sz="28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0" name="Text Box 9">
                <a:extLst>
                  <a:ext uri="{FF2B5EF4-FFF2-40B4-BE49-F238E27FC236}">
                    <a16:creationId xmlns:a16="http://schemas.microsoft.com/office/drawing/2014/main" id="{0D3EA3BB-79C4-D569-A515-BB6C003A3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1197" y="1023938"/>
                <a:ext cx="1952626" cy="523220"/>
              </a:xfrm>
              <a:prstGeom prst="rect">
                <a:avLst/>
              </a:prstGeom>
              <a:blipFill>
                <a:blip r:embed="rId4"/>
                <a:stretch>
                  <a:fillRect l="-6231" t="-17442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0">
                <a:extLst>
                  <a:ext uri="{FF2B5EF4-FFF2-40B4-BE49-F238E27FC236}">
                    <a16:creationId xmlns:a16="http://schemas.microsoft.com/office/drawing/2014/main" id="{8D8DA93E-A73D-D69C-0BDB-866F6AA27C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11197" y="1671638"/>
                <a:ext cx="915572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在曲面 </a:t>
                </a:r>
                <a14:m>
                  <m:oMath xmlns:m="http://schemas.openxmlformats.org/officeDocument/2006/math">
                    <m:r>
                      <a:rPr kumimoji="1" lang="zh-CN" altLang="en-US" sz="280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𝛴</m:t>
                    </m:r>
                  </m:oMath>
                </a14:m>
                <a:r>
                  <a:rPr kumimoji="1" lang="zh-CN" altLang="en-US" sz="2800" b="1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上通过点 </a:t>
                </a:r>
                <a14:m>
                  <m:oMath xmlns:m="http://schemas.openxmlformats.org/officeDocument/2006/math">
                    <m:r>
                      <a:rPr kumimoji="1" lang="zh-CN" altLang="en-US" sz="280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kumimoji="1" lang="zh-CN" altLang="en-US" sz="2800" b="1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且在点 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kumimoji="1" lang="zh-CN" altLang="en-US" sz="2800" b="1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处具有切线的任何曲线</a:t>
                </a:r>
                <a14:m>
                  <m:oMath xmlns:m="http://schemas.openxmlformats.org/officeDocument/2006/math">
                    <m:r>
                      <a:rPr kumimoji="1" lang="en-US" altLang="zh-CN" sz="280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en-US" altLang="zh-CN" sz="2800" b="1" dirty="0">
                  <a:solidFill>
                    <a:srgbClr val="04926A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Text Box 10">
                <a:extLst>
                  <a:ext uri="{FF2B5EF4-FFF2-40B4-BE49-F238E27FC236}">
                    <a16:creationId xmlns:a16="http://schemas.microsoft.com/office/drawing/2014/main" id="{8D8DA93E-A73D-D69C-0BDB-866F6AA27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1197" y="1671638"/>
                <a:ext cx="9155723" cy="523220"/>
              </a:xfrm>
              <a:prstGeom prst="rect">
                <a:avLst/>
              </a:prstGeom>
              <a:blipFill>
                <a:blip r:embed="rId5"/>
                <a:stretch>
                  <a:fillRect l="-1332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1">
                <a:extLst>
                  <a:ext uri="{FF2B5EF4-FFF2-40B4-BE49-F238E27FC236}">
                    <a16:creationId xmlns:a16="http://schemas.microsoft.com/office/drawing/2014/main" id="{BFCBFEC8-EB15-6D3B-9BED-8F7E706E0A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11197" y="2319338"/>
                <a:ext cx="825890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它们在点</a:t>
                </a:r>
                <a14:m>
                  <m:oMath xmlns:m="http://schemas.openxmlformats.org/officeDocument/2006/math">
                    <m:r>
                      <a:rPr kumimoji="1" lang="en-US" altLang="zh-CN" sz="2800" b="1" i="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zh-CN" altLang="en-US" sz="2800" i="1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kumimoji="1" lang="zh-CN" altLang="en-US" sz="2800" b="1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处的切线都在同一个平面上</a:t>
                </a:r>
                <a14:m>
                  <m:oMath xmlns:m="http://schemas.openxmlformats.org/officeDocument/2006/math">
                    <m:r>
                      <a:rPr kumimoji="1" lang="zh-CN" altLang="en-US" sz="280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zh-CN" altLang="en-US" sz="2800" b="1" dirty="0">
                  <a:solidFill>
                    <a:srgbClr val="04926A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Text Box 11">
                <a:extLst>
                  <a:ext uri="{FF2B5EF4-FFF2-40B4-BE49-F238E27FC236}">
                    <a16:creationId xmlns:a16="http://schemas.microsoft.com/office/drawing/2014/main" id="{BFCBFEC8-EB15-6D3B-9BED-8F7E706E0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1197" y="2319338"/>
                <a:ext cx="8258908" cy="523220"/>
              </a:xfrm>
              <a:prstGeom prst="rect">
                <a:avLst/>
              </a:prstGeom>
              <a:blipFill>
                <a:blip r:embed="rId6"/>
                <a:stretch>
                  <a:fillRect l="-1476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3">
                <a:extLst>
                  <a:ext uri="{FF2B5EF4-FFF2-40B4-BE49-F238E27FC236}">
                    <a16:creationId xmlns:a16="http://schemas.microsoft.com/office/drawing/2014/main" id="{9AA721B4-AF60-1E4F-618F-201BDA8D04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11197" y="4601277"/>
                <a:ext cx="195262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只需证明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Text Box 13">
                <a:extLst>
                  <a:ext uri="{FF2B5EF4-FFF2-40B4-BE49-F238E27FC236}">
                    <a16:creationId xmlns:a16="http://schemas.microsoft.com/office/drawing/2014/main" id="{9AA721B4-AF60-1E4F-618F-201BDA8D0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1197" y="4601277"/>
                <a:ext cx="1952626" cy="523220"/>
              </a:xfrm>
              <a:prstGeom prst="rect">
                <a:avLst/>
              </a:prstGeom>
              <a:blipFill>
                <a:blip r:embed="rId7"/>
                <a:stretch>
                  <a:fillRect l="-6231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14">
                <a:extLst>
                  <a:ext uri="{FF2B5EF4-FFF2-40B4-BE49-F238E27FC236}">
                    <a16:creationId xmlns:a16="http://schemas.microsoft.com/office/drawing/2014/main" id="{B5823E66-4D66-B0B0-B904-E90FC20BB1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11197" y="5248977"/>
                <a:ext cx="866335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任意曲线 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在点 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𝑀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处的切向量垂直于定向向量即可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Text Box 14">
                <a:extLst>
                  <a:ext uri="{FF2B5EF4-FFF2-40B4-BE49-F238E27FC236}">
                    <a16:creationId xmlns:a16="http://schemas.microsoft.com/office/drawing/2014/main" id="{B5823E66-4D66-B0B0-B904-E90FC20BB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1197" y="5248977"/>
                <a:ext cx="8663355" cy="523220"/>
              </a:xfrm>
              <a:prstGeom prst="rect">
                <a:avLst/>
              </a:prstGeom>
              <a:blipFill>
                <a:blip r:embed="rId8"/>
                <a:stretch>
                  <a:fillRect l="-1406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B31DF57-CEEF-E713-F8B9-E1DDA8629FCD}"/>
                  </a:ext>
                </a:extLst>
              </p:cNvPr>
              <p:cNvSpPr txBox="1"/>
              <p:nvPr/>
            </p:nvSpPr>
            <p:spPr>
              <a:xfrm>
                <a:off x="1411197" y="2995221"/>
                <a:ext cx="610076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kumimoji="1"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这个平面称为曲面在点 </a:t>
                </a:r>
                <a14:m>
                  <m:oMath xmlns:m="http://schemas.openxmlformats.org/officeDocument/2006/math">
                    <m:r>
                      <a:rPr kumimoji="1" lang="zh-CN" altLang="en-US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𝑀</m:t>
                    </m:r>
                    <m:r>
                      <a:rPr kumimoji="1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切平面</a:t>
                </a:r>
                <a14:m>
                  <m:oMath xmlns:m="http://schemas.openxmlformats.org/officeDocument/2006/math">
                    <m:r>
                      <a:rPr kumimoji="1" lang="zh-CN" altLang="en-US" sz="280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zh-CN" altLang="en-US" sz="2800" b="1" dirty="0">
                  <a:solidFill>
                    <a:srgbClr val="04926A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B31DF57-CEEF-E713-F8B9-E1DDA8629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197" y="2995221"/>
                <a:ext cx="6100762" cy="523220"/>
              </a:xfrm>
              <a:prstGeom prst="rect">
                <a:avLst/>
              </a:prstGeom>
              <a:blipFill>
                <a:blip r:embed="rId11"/>
                <a:stretch>
                  <a:fillRect l="-1998"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 descr="图示&#10;&#10;低可信度描述已自动生成">
            <a:extLst>
              <a:ext uri="{FF2B5EF4-FFF2-40B4-BE49-F238E27FC236}">
                <a16:creationId xmlns:a16="http://schemas.microsoft.com/office/drawing/2014/main" id="{2BCCFC1E-A4A2-0AA4-E3D1-2FED1BE89F0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5642" y="2489292"/>
            <a:ext cx="2960551" cy="25865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  <p:bldP spid="29" grpId="0"/>
      <p:bldP spid="3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7">
            <a:extLst>
              <a:ext uri="{FF2B5EF4-FFF2-40B4-BE49-F238E27FC236}">
                <a16:creationId xmlns:a16="http://schemas.microsoft.com/office/drawing/2014/main" id="{E8B02B16-C98E-5BD3-04B9-B800023190EE}"/>
              </a:ext>
            </a:extLst>
          </p:cNvPr>
          <p:cNvSpPr txBox="1">
            <a:spLocks noChangeArrowheads="1"/>
          </p:cNvSpPr>
          <p:nvPr/>
        </p:nvSpPr>
        <p:spPr>
          <a:xfrm>
            <a:off x="1260516" y="583366"/>
            <a:ext cx="762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证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268">
                <a:extLst>
                  <a:ext uri="{FF2B5EF4-FFF2-40B4-BE49-F238E27FC236}">
                    <a16:creationId xmlns:a16="http://schemas.microsoft.com/office/drawing/2014/main" id="{95F4FD0F-94C6-DC02-2EF6-1213B263BD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93605" y="659959"/>
                <a:ext cx="1241808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在 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上</a:t>
                </a:r>
                <a14:m>
                  <m:oMath xmlns:m="http://schemas.openxmlformats.org/officeDocument/2006/math"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Text Box 268">
                <a:extLst>
                  <a:ext uri="{FF2B5EF4-FFF2-40B4-BE49-F238E27FC236}">
                    <a16:creationId xmlns:a16="http://schemas.microsoft.com/office/drawing/2014/main" id="{95F4FD0F-94C6-DC02-2EF6-1213B263B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93605" y="659959"/>
                <a:ext cx="1241808" cy="430887"/>
              </a:xfrm>
              <a:prstGeom prst="rect">
                <a:avLst/>
              </a:prstGeom>
              <a:blipFill>
                <a:blip r:embed="rId4"/>
                <a:stretch>
                  <a:fillRect l="-6373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269">
                <a:extLst>
                  <a:ext uri="{FF2B5EF4-FFF2-40B4-BE49-F238E27FC236}">
                    <a16:creationId xmlns:a16="http://schemas.microsoft.com/office/drawing/2014/main" id="{2E3FBD61-7BEE-EF99-24FE-A6DA1F0260EB}"/>
                  </a:ext>
                </a:extLst>
              </p:cNvPr>
              <p:cNvSpPr txBox="1"/>
              <p:nvPr/>
            </p:nvSpPr>
            <p:spPr bwMode="auto">
              <a:xfrm>
                <a:off x="1916285" y="656395"/>
                <a:ext cx="4478164" cy="392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∵ 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𝛤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: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𝜑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𝑡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), 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𝜓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𝑡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), 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𝜔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𝑡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31" name="Object 269">
                <a:extLst>
                  <a:ext uri="{FF2B5EF4-FFF2-40B4-BE49-F238E27FC236}">
                    <a16:creationId xmlns:a16="http://schemas.microsoft.com/office/drawing/2014/main" id="{2E3FBD61-7BEE-EF99-24FE-A6DA1F026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6285" y="656395"/>
                <a:ext cx="4478164" cy="392113"/>
              </a:xfrm>
              <a:prstGeom prst="rect">
                <a:avLst/>
              </a:prstGeom>
              <a:blipFill>
                <a:blip r:embed="rId5"/>
                <a:stretch>
                  <a:fillRect b="-281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282">
                <a:extLst>
                  <a:ext uri="{FF2B5EF4-FFF2-40B4-BE49-F238E27FC236}">
                    <a16:creationId xmlns:a16="http://schemas.microsoft.com/office/drawing/2014/main" id="{F53D651E-1AD4-BD92-25B3-23453AE04AF6}"/>
                  </a:ext>
                </a:extLst>
              </p:cNvPr>
              <p:cNvSpPr txBox="1"/>
              <p:nvPr/>
            </p:nvSpPr>
            <p:spPr bwMode="auto">
              <a:xfrm>
                <a:off x="1916285" y="1211263"/>
                <a:ext cx="4107055" cy="390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∴</m:t>
                      </m:r>
                      <m:r>
                        <a:rPr lang="en-US" altLang="zh-CN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  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𝐹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𝜑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𝑡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), 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𝜓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𝑡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), 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𝜔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𝑡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))≡0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32" name="Object 282">
                <a:extLst>
                  <a:ext uri="{FF2B5EF4-FFF2-40B4-BE49-F238E27FC236}">
                    <a16:creationId xmlns:a16="http://schemas.microsoft.com/office/drawing/2014/main" id="{F53D651E-1AD4-BD92-25B3-23453AE04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6285" y="1211263"/>
                <a:ext cx="4107055" cy="390525"/>
              </a:xfrm>
              <a:prstGeom prst="rect">
                <a:avLst/>
              </a:prstGeom>
              <a:blipFill>
                <a:blip r:embed="rId6"/>
                <a:stretch>
                  <a:fillRect b="-281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285">
                <a:extLst>
                  <a:ext uri="{FF2B5EF4-FFF2-40B4-BE49-F238E27FC236}">
                    <a16:creationId xmlns:a16="http://schemas.microsoft.com/office/drawing/2014/main" id="{8DB46C23-BC49-7188-FC61-664993E56035}"/>
                  </a:ext>
                </a:extLst>
              </p:cNvPr>
              <p:cNvSpPr txBox="1"/>
              <p:nvPr/>
            </p:nvSpPr>
            <p:spPr bwMode="auto">
              <a:xfrm>
                <a:off x="1916285" y="1745419"/>
                <a:ext cx="2827165" cy="4683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两边在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𝑡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处求导</m:t>
                      </m:r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33" name="Object 285">
                <a:extLst>
                  <a:ext uri="{FF2B5EF4-FFF2-40B4-BE49-F238E27FC236}">
                    <a16:creationId xmlns:a16="http://schemas.microsoft.com/office/drawing/2014/main" id="{8DB46C23-BC49-7188-FC61-664993E56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6285" y="1745419"/>
                <a:ext cx="2827165" cy="468313"/>
              </a:xfrm>
              <a:prstGeom prst="rect">
                <a:avLst/>
              </a:prstGeom>
              <a:blipFill>
                <a:blip r:embed="rId7"/>
                <a:stretch>
                  <a:fillRect l="-1509" b="-12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286">
                <a:extLst>
                  <a:ext uri="{FF2B5EF4-FFF2-40B4-BE49-F238E27FC236}">
                    <a16:creationId xmlns:a16="http://schemas.microsoft.com/office/drawing/2014/main" id="{38AD0809-D4B6-F216-8E86-1850BD325400}"/>
                  </a:ext>
                </a:extLst>
              </p:cNvPr>
              <p:cNvSpPr txBox="1"/>
              <p:nvPr/>
            </p:nvSpPr>
            <p:spPr bwMode="auto">
              <a:xfrm>
                <a:off x="4631505" y="1746689"/>
                <a:ext cx="3200400" cy="4556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注意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𝑡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对应点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𝑀</m:t>
                      </m:r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34" name="Object 286">
                <a:extLst>
                  <a:ext uri="{FF2B5EF4-FFF2-40B4-BE49-F238E27FC236}">
                    <a16:creationId xmlns:a16="http://schemas.microsoft.com/office/drawing/2014/main" id="{38AD0809-D4B6-F216-8E86-1850BD325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31505" y="1746689"/>
                <a:ext cx="3200400" cy="455613"/>
              </a:xfrm>
              <a:prstGeom prst="rect">
                <a:avLst/>
              </a:prstGeom>
              <a:blipFill>
                <a:blip r:embed="rId8"/>
                <a:stretch>
                  <a:fillRect l="-1333" b="-40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287">
                <a:extLst>
                  <a:ext uri="{FF2B5EF4-FFF2-40B4-BE49-F238E27FC236}">
                    <a16:creationId xmlns:a16="http://schemas.microsoft.com/office/drawing/2014/main" id="{80DA95D2-0101-9DE0-7EE3-6E109460B3F4}"/>
                  </a:ext>
                </a:extLst>
              </p:cNvPr>
              <p:cNvSpPr txBox="1"/>
              <p:nvPr/>
            </p:nvSpPr>
            <p:spPr bwMode="auto">
              <a:xfrm>
                <a:off x="6789549" y="2993197"/>
                <a:ext cx="9906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𝜔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′</m:t>
                          </m:r>
                        </m:sup>
                      </m:sSup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35" name="Object 287">
                <a:extLst>
                  <a:ext uri="{FF2B5EF4-FFF2-40B4-BE49-F238E27FC236}">
                    <a16:creationId xmlns:a16="http://schemas.microsoft.com/office/drawing/2014/main" id="{80DA95D2-0101-9DE0-7EE3-6E109460B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9549" y="2993197"/>
                <a:ext cx="990600" cy="444500"/>
              </a:xfrm>
              <a:prstGeom prst="rect">
                <a:avLst/>
              </a:prstGeom>
              <a:blipFill>
                <a:blip r:embed="rId9"/>
                <a:stretch>
                  <a:fillRect b="-123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288">
                <a:extLst>
                  <a:ext uri="{FF2B5EF4-FFF2-40B4-BE49-F238E27FC236}">
                    <a16:creationId xmlns:a16="http://schemas.microsoft.com/office/drawing/2014/main" id="{E5EA4D1E-E870-5360-D2C4-3ADB15314B09}"/>
                  </a:ext>
                </a:extLst>
              </p:cNvPr>
              <p:cNvSpPr txBox="1"/>
              <p:nvPr/>
            </p:nvSpPr>
            <p:spPr bwMode="auto">
              <a:xfrm>
                <a:off x="7607430" y="2999547"/>
                <a:ext cx="599873" cy="4238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=0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36" name="Object 288">
                <a:extLst>
                  <a:ext uri="{FF2B5EF4-FFF2-40B4-BE49-F238E27FC236}">
                    <a16:creationId xmlns:a16="http://schemas.microsoft.com/office/drawing/2014/main" id="{E5EA4D1E-E870-5360-D2C4-3ADB15314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07430" y="2999547"/>
                <a:ext cx="599873" cy="423862"/>
              </a:xfrm>
              <a:prstGeom prst="rect">
                <a:avLst/>
              </a:prstGeom>
              <a:blipFill>
                <a:blip r:embed="rId10"/>
                <a:stretch>
                  <a:fillRect r="-5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289">
                <a:extLst>
                  <a:ext uri="{FF2B5EF4-FFF2-40B4-BE49-F238E27FC236}">
                    <a16:creationId xmlns:a16="http://schemas.microsoft.com/office/drawing/2014/main" id="{DAE797A5-2437-A094-9D2F-2A12C85FE1B7}"/>
                  </a:ext>
                </a:extLst>
              </p:cNvPr>
              <p:cNvSpPr txBox="1"/>
              <p:nvPr/>
            </p:nvSpPr>
            <p:spPr bwMode="auto">
              <a:xfrm>
                <a:off x="2739312" y="2457969"/>
                <a:ext cx="2025650" cy="4413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37" name="Object 289">
                <a:extLst>
                  <a:ext uri="{FF2B5EF4-FFF2-40B4-BE49-F238E27FC236}">
                    <a16:creationId xmlns:a16="http://schemas.microsoft.com/office/drawing/2014/main" id="{DAE797A5-2437-A094-9D2F-2A12C85FE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9312" y="2457969"/>
                <a:ext cx="2025650" cy="441325"/>
              </a:xfrm>
              <a:prstGeom prst="rect">
                <a:avLst/>
              </a:prstGeom>
              <a:blipFill>
                <a:blip r:embed="rId11"/>
                <a:stretch>
                  <a:fillRect l="-300" b="-123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290">
                <a:extLst>
                  <a:ext uri="{FF2B5EF4-FFF2-40B4-BE49-F238E27FC236}">
                    <a16:creationId xmlns:a16="http://schemas.microsoft.com/office/drawing/2014/main" id="{6714DBBD-4E83-CDB2-63A1-417C2C1F4F78}"/>
                  </a:ext>
                </a:extLst>
              </p:cNvPr>
              <p:cNvSpPr txBox="1"/>
              <p:nvPr/>
            </p:nvSpPr>
            <p:spPr bwMode="auto">
              <a:xfrm>
                <a:off x="5050288" y="2446343"/>
                <a:ext cx="1975586" cy="492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38" name="Object 290">
                <a:extLst>
                  <a:ext uri="{FF2B5EF4-FFF2-40B4-BE49-F238E27FC236}">
                    <a16:creationId xmlns:a16="http://schemas.microsoft.com/office/drawing/2014/main" id="{6714DBBD-4E83-CDB2-63A1-417C2C1F4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50288" y="2446343"/>
                <a:ext cx="1975586" cy="492125"/>
              </a:xfrm>
              <a:prstGeom prst="rect">
                <a:avLst/>
              </a:prstGeom>
              <a:blipFill>
                <a:blip r:embed="rId12"/>
                <a:stretch>
                  <a:fillRect b="-24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291">
                <a:extLst>
                  <a:ext uri="{FF2B5EF4-FFF2-40B4-BE49-F238E27FC236}">
                    <a16:creationId xmlns:a16="http://schemas.microsoft.com/office/drawing/2014/main" id="{62FF0D2C-19A6-1C9B-C174-2116F16DECE5}"/>
                  </a:ext>
                </a:extLst>
              </p:cNvPr>
              <p:cNvSpPr txBox="1"/>
              <p:nvPr/>
            </p:nvSpPr>
            <p:spPr bwMode="auto">
              <a:xfrm>
                <a:off x="5050288" y="2991610"/>
                <a:ext cx="2287587" cy="4429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𝑧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39" name="Object 291">
                <a:extLst>
                  <a:ext uri="{FF2B5EF4-FFF2-40B4-BE49-F238E27FC236}">
                    <a16:creationId xmlns:a16="http://schemas.microsoft.com/office/drawing/2014/main" id="{62FF0D2C-19A6-1C9B-C174-2116F16DE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50288" y="2991610"/>
                <a:ext cx="2287587" cy="442912"/>
              </a:xfrm>
              <a:prstGeom prst="rect">
                <a:avLst/>
              </a:prstGeom>
              <a:blipFill>
                <a:blip r:embed="rId13"/>
                <a:stretch>
                  <a:fillRect b="-138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292">
                <a:extLst>
                  <a:ext uri="{FF2B5EF4-FFF2-40B4-BE49-F238E27FC236}">
                    <a16:creationId xmlns:a16="http://schemas.microsoft.com/office/drawing/2014/main" id="{D729B07F-7451-8A96-39AD-A12BCC996008}"/>
                  </a:ext>
                </a:extLst>
              </p:cNvPr>
              <p:cNvSpPr txBox="1"/>
              <p:nvPr/>
            </p:nvSpPr>
            <p:spPr bwMode="auto">
              <a:xfrm>
                <a:off x="4272287" y="2457773"/>
                <a:ext cx="1120977" cy="4413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′</m:t>
                          </m:r>
                        </m:sup>
                      </m:sSup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40" name="Object 292">
                <a:extLst>
                  <a:ext uri="{FF2B5EF4-FFF2-40B4-BE49-F238E27FC236}">
                    <a16:creationId xmlns:a16="http://schemas.microsoft.com/office/drawing/2014/main" id="{D729B07F-7451-8A96-39AD-A12BCC996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2287" y="2457773"/>
                <a:ext cx="1120977" cy="441325"/>
              </a:xfrm>
              <a:prstGeom prst="rect">
                <a:avLst/>
              </a:prstGeom>
              <a:blipFill>
                <a:blip r:embed="rId14"/>
                <a:stretch>
                  <a:fillRect l="-1087" b="-123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293">
                <a:extLst>
                  <a:ext uri="{FF2B5EF4-FFF2-40B4-BE49-F238E27FC236}">
                    <a16:creationId xmlns:a16="http://schemas.microsoft.com/office/drawing/2014/main" id="{E185035C-DCA6-EAED-BBD2-FE0C1167716E}"/>
                  </a:ext>
                </a:extLst>
              </p:cNvPr>
              <p:cNvSpPr txBox="1"/>
              <p:nvPr/>
            </p:nvSpPr>
            <p:spPr bwMode="auto">
              <a:xfrm>
                <a:off x="6860118" y="2451421"/>
                <a:ext cx="1344259" cy="4810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𝜓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′</m:t>
                          </m:r>
                        </m:sup>
                      </m:sSup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41" name="Object 293">
                <a:extLst>
                  <a:ext uri="{FF2B5EF4-FFF2-40B4-BE49-F238E27FC236}">
                    <a16:creationId xmlns:a16="http://schemas.microsoft.com/office/drawing/2014/main" id="{E185035C-DCA6-EAED-BBD2-FE0C11677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60118" y="2451421"/>
                <a:ext cx="1344259" cy="481011"/>
              </a:xfrm>
              <a:prstGeom prst="rect">
                <a:avLst/>
              </a:prstGeom>
              <a:blipFill>
                <a:blip r:embed="rId15"/>
                <a:stretch>
                  <a:fillRect l="-2715" b="-37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 Box 294">
            <a:extLst>
              <a:ext uri="{FF2B5EF4-FFF2-40B4-BE49-F238E27FC236}">
                <a16:creationId xmlns:a16="http://schemas.microsoft.com/office/drawing/2014/main" id="{D4D3F796-E93D-AD29-13E5-6E7EE2CBA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6285" y="2457773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+mj-lt"/>
                <a:ea typeface="黑体" panose="02010609060101010101" pitchFamily="49" charset="-122"/>
                <a:cs typeface="+mj-cs"/>
              </a:rPr>
              <a:t>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296">
                <a:extLst>
                  <a:ext uri="{FF2B5EF4-FFF2-40B4-BE49-F238E27FC236}">
                    <a16:creationId xmlns:a16="http://schemas.microsoft.com/office/drawing/2014/main" id="{8C905B28-EBB0-5DA9-72D3-F080C3A53D3A}"/>
                  </a:ext>
                </a:extLst>
              </p:cNvPr>
              <p:cNvSpPr txBox="1"/>
              <p:nvPr/>
            </p:nvSpPr>
            <p:spPr bwMode="auto">
              <a:xfrm>
                <a:off x="3400350" y="3747375"/>
                <a:ext cx="3770313" cy="428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𝑻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=(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𝜑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′</m:t>
                          </m:r>
                        </m:sup>
                      </m:sSup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</m:t>
                      </m:r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𝜓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′</m:t>
                          </m:r>
                        </m:sup>
                      </m:sSup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</m:t>
                      </m:r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𝜔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′</m:t>
                          </m:r>
                        </m:sup>
                      </m:sSup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))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43" name="Object 296">
                <a:extLst>
                  <a:ext uri="{FF2B5EF4-FFF2-40B4-BE49-F238E27FC236}">
                    <a16:creationId xmlns:a16="http://schemas.microsoft.com/office/drawing/2014/main" id="{8C905B28-EBB0-5DA9-72D3-F080C3A53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0350" y="3747375"/>
                <a:ext cx="3770313" cy="428625"/>
              </a:xfrm>
              <a:prstGeom prst="rect">
                <a:avLst/>
              </a:prstGeom>
              <a:blipFill>
                <a:blip r:embed="rId16"/>
                <a:stretch>
                  <a:fillRect l="-162" b="-1714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299">
                <a:extLst>
                  <a:ext uri="{FF2B5EF4-FFF2-40B4-BE49-F238E27FC236}">
                    <a16:creationId xmlns:a16="http://schemas.microsoft.com/office/drawing/2014/main" id="{366006CC-FE02-0EF9-B735-8684A8FE413B}"/>
                  </a:ext>
                </a:extLst>
              </p:cNvPr>
              <p:cNvSpPr txBox="1"/>
              <p:nvPr/>
            </p:nvSpPr>
            <p:spPr bwMode="auto">
              <a:xfrm>
                <a:off x="3401811" y="4292503"/>
                <a:ext cx="5917996" cy="479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𝒏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</m:t>
                      </m:r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</m:t>
                      </m:r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𝑧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en-US" altLang="zh-CN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))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44" name="Object 299">
                <a:extLst>
                  <a:ext uri="{FF2B5EF4-FFF2-40B4-BE49-F238E27FC236}">
                    <a16:creationId xmlns:a16="http://schemas.microsoft.com/office/drawing/2014/main" id="{366006CC-FE02-0EF9-B735-8684A8FE4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1811" y="4292503"/>
                <a:ext cx="5917996" cy="479425"/>
              </a:xfrm>
              <a:prstGeom prst="rect">
                <a:avLst/>
              </a:prstGeom>
              <a:blipFill>
                <a:blip r:embed="rId17"/>
                <a:stretch>
                  <a:fillRect b="-50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301">
            <a:extLst>
              <a:ext uri="{FF2B5EF4-FFF2-40B4-BE49-F238E27FC236}">
                <a16:creationId xmlns:a16="http://schemas.microsoft.com/office/drawing/2014/main" id="{86521683-CAFD-53C4-0140-6D101089B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951" y="2348668"/>
            <a:ext cx="5917997" cy="1219200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6" name="Text Box 302">
            <a:extLst>
              <a:ext uri="{FF2B5EF4-FFF2-40B4-BE49-F238E27FC236}">
                <a16:creationId xmlns:a16="http://schemas.microsoft.com/office/drawing/2014/main" id="{413FD6F8-05B1-15F5-A8B1-AB45FDFAA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951" y="3731797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令</a:t>
            </a:r>
          </a:p>
        </p:txBody>
      </p:sp>
      <p:sp>
        <p:nvSpPr>
          <p:cNvPr id="47" name="Line 303">
            <a:extLst>
              <a:ext uri="{FF2B5EF4-FFF2-40B4-BE49-F238E27FC236}">
                <a16:creationId xmlns:a16="http://schemas.microsoft.com/office/drawing/2014/main" id="{2510B04C-1108-CFBC-4F2C-94BD92D16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2951" y="3629781"/>
            <a:ext cx="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304">
                <a:extLst>
                  <a:ext uri="{FF2B5EF4-FFF2-40B4-BE49-F238E27FC236}">
                    <a16:creationId xmlns:a16="http://schemas.microsoft.com/office/drawing/2014/main" id="{22E08C0E-6ED3-A6B8-D213-C354A04F6532}"/>
                  </a:ext>
                </a:extLst>
              </p:cNvPr>
              <p:cNvSpPr txBox="1"/>
              <p:nvPr/>
            </p:nvSpPr>
            <p:spPr bwMode="auto">
              <a:xfrm>
                <a:off x="2363989" y="4888675"/>
                <a:ext cx="20066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切向量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</m:t>
                      </m:r>
                      <m:r>
                        <a:rPr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𝑻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⊥</m:t>
                      </m:r>
                      <m:r>
                        <a:rPr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𝒏</m:t>
                      </m:r>
                    </m:oMath>
                  </m:oMathPara>
                </a14:m>
                <a:endParaRPr lang="zh-CN" altLang="en-US" sz="2200" b="1" i="1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48" name="Object 304">
                <a:extLst>
                  <a:ext uri="{FF2B5EF4-FFF2-40B4-BE49-F238E27FC236}">
                    <a16:creationId xmlns:a16="http://schemas.microsoft.com/office/drawing/2014/main" id="{22E08C0E-6ED3-A6B8-D213-C354A04F6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3989" y="4888675"/>
                <a:ext cx="2006600" cy="431800"/>
              </a:xfrm>
              <a:prstGeom prst="rect">
                <a:avLst/>
              </a:prstGeom>
              <a:blipFill>
                <a:blip r:embed="rId18"/>
                <a:stretch>
                  <a:fillRect l="-2128" b="-84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310">
                <a:extLst>
                  <a:ext uri="{FF2B5EF4-FFF2-40B4-BE49-F238E27FC236}">
                    <a16:creationId xmlns:a16="http://schemas.microsoft.com/office/drawing/2014/main" id="{8F37EB2D-64E5-2E9E-3D62-AE7E6D19C9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6285" y="5382381"/>
                <a:ext cx="2946897" cy="3801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lnSpc>
                    <a:spcPct val="85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2200" dirty="0">
                    <a:latin typeface="+mj-lt"/>
                    <a:ea typeface="黑体" panose="02010609060101010101" pitchFamily="49" charset="-122"/>
                    <a:cs typeface="+mj-cs"/>
                  </a:rPr>
                  <a:t>由于曲线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zh-CN" altLang="en-US" sz="22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𝛤</m:t>
                    </m:r>
                  </m:oMath>
                </a14:m>
                <a:r>
                  <a:rPr lang="zh-CN" altLang="en-US" sz="2200" dirty="0">
                    <a:latin typeface="+mj-lt"/>
                    <a:ea typeface="黑体" panose="02010609060101010101" pitchFamily="49" charset="-122"/>
                    <a:cs typeface="+mj-cs"/>
                  </a:rPr>
                  <a:t> 的任意性</a:t>
                </a:r>
                <a:r>
                  <a:rPr lang="en-US" altLang="zh-CN" sz="2200" dirty="0">
                    <a:latin typeface="+mj-lt"/>
                    <a:ea typeface="黑体" panose="02010609060101010101" pitchFamily="49" charset="-122"/>
                    <a:cs typeface="+mj-cs"/>
                  </a:rPr>
                  <a:t>, </a:t>
                </a:r>
              </a:p>
            </p:txBody>
          </p:sp>
        </mc:Choice>
        <mc:Fallback xmlns="">
          <p:sp>
            <p:nvSpPr>
              <p:cNvPr id="49" name="Text Box 310">
                <a:extLst>
                  <a:ext uri="{FF2B5EF4-FFF2-40B4-BE49-F238E27FC236}">
                    <a16:creationId xmlns:a16="http://schemas.microsoft.com/office/drawing/2014/main" id="{8F37EB2D-64E5-2E9E-3D62-AE7E6D19C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6285" y="5382381"/>
                <a:ext cx="2946897" cy="380104"/>
              </a:xfrm>
              <a:prstGeom prst="rect">
                <a:avLst/>
              </a:prstGeom>
              <a:blipFill>
                <a:blip r:embed="rId19"/>
                <a:stretch>
                  <a:fillRect l="-2686" t="-30645" b="-338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 Box 311">
            <a:extLst>
              <a:ext uri="{FF2B5EF4-FFF2-40B4-BE49-F238E27FC236}">
                <a16:creationId xmlns:a16="http://schemas.microsoft.com/office/drawing/2014/main" id="{FA4ABB47-0525-7E4B-B587-6FC45CDD1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814" y="5327771"/>
            <a:ext cx="27238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+mj-lt"/>
                <a:ea typeface="黑体" panose="02010609060101010101" pitchFamily="49" charset="-122"/>
                <a:cs typeface="+mj-cs"/>
              </a:rPr>
              <a:t>表明这些切线都在以</a:t>
            </a:r>
          </a:p>
        </p:txBody>
      </p:sp>
      <p:sp>
        <p:nvSpPr>
          <p:cNvPr id="51" name="Text Box 312">
            <a:extLst>
              <a:ext uri="{FF2B5EF4-FFF2-40B4-BE49-F238E27FC236}">
                <a16:creationId xmlns:a16="http://schemas.microsoft.com/office/drawing/2014/main" id="{F6308379-A183-22C6-0901-19572CEFC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5413" y="5328089"/>
            <a:ext cx="130594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200" dirty="0">
                <a:latin typeface="+mj-lt"/>
                <a:ea typeface="黑体" panose="02010609060101010101" pitchFamily="49" charset="-122"/>
                <a:cs typeface="+mj-cs"/>
              </a:rPr>
              <a:t>为法向量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314">
                <a:extLst>
                  <a:ext uri="{FF2B5EF4-FFF2-40B4-BE49-F238E27FC236}">
                    <a16:creationId xmlns:a16="http://schemas.microsoft.com/office/drawing/2014/main" id="{CBEC0AAD-1300-C7F0-58E6-9F7F27BD1A0A}"/>
                  </a:ext>
                </a:extLst>
              </p:cNvPr>
              <p:cNvSpPr txBox="1"/>
              <p:nvPr/>
            </p:nvSpPr>
            <p:spPr bwMode="auto">
              <a:xfrm>
                <a:off x="7190530" y="5323944"/>
                <a:ext cx="337936" cy="3603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zh-CN" altLang="en-US" sz="2200" b="1" dirty="0"/>
              </a:p>
            </p:txBody>
          </p:sp>
        </mc:Choice>
        <mc:Fallback xmlns="">
          <p:sp>
            <p:nvSpPr>
              <p:cNvPr id="52" name="Object 314">
                <a:extLst>
                  <a:ext uri="{FF2B5EF4-FFF2-40B4-BE49-F238E27FC236}">
                    <a16:creationId xmlns:a16="http://schemas.microsoft.com/office/drawing/2014/main" id="{CBEC0AAD-1300-C7F0-58E6-9F7F27BD1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90530" y="5323944"/>
                <a:ext cx="337936" cy="360362"/>
              </a:xfrm>
              <a:prstGeom prst="rect">
                <a:avLst/>
              </a:prstGeom>
              <a:blipFill>
                <a:blip r:embed="rId20"/>
                <a:stretch>
                  <a:fillRect r="-3636" b="-678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 Box 316">
            <a:extLst>
              <a:ext uri="{FF2B5EF4-FFF2-40B4-BE49-F238E27FC236}">
                <a16:creationId xmlns:a16="http://schemas.microsoft.com/office/drawing/2014/main" id="{C1F8374E-24FE-99F9-4BF0-99AC24D83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0922" y="5322946"/>
            <a:ext cx="138371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+mj-lt"/>
                <a:ea typeface="黑体" panose="02010609060101010101" pitchFamily="49" charset="-122"/>
                <a:cs typeface="+mj-cs"/>
              </a:rPr>
              <a:t>的平面上</a:t>
            </a:r>
            <a:r>
              <a:rPr lang="en-US" altLang="zh-CN" sz="2200" dirty="0">
                <a:latin typeface="+mj-lt"/>
                <a:ea typeface="黑体" panose="02010609060101010101" pitchFamily="49" charset="-122"/>
                <a:cs typeface="+mj-cs"/>
              </a:rPr>
              <a:t>,</a:t>
            </a:r>
          </a:p>
        </p:txBody>
      </p:sp>
      <p:sp>
        <p:nvSpPr>
          <p:cNvPr id="54" name="Text Box 317">
            <a:extLst>
              <a:ext uri="{FF2B5EF4-FFF2-40B4-BE49-F238E27FC236}">
                <a16:creationId xmlns:a16="http://schemas.microsoft.com/office/drawing/2014/main" id="{4148BABC-5BA9-709E-A1A3-5AEE45EEA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6285" y="5803232"/>
            <a:ext cx="245430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200" dirty="0">
                <a:latin typeface="+mj-lt"/>
                <a:ea typeface="黑体" panose="02010609060101010101" pitchFamily="49" charset="-122"/>
                <a:cs typeface="+mj-cs"/>
              </a:rPr>
              <a:t>从而切平面存在</a:t>
            </a:r>
            <a:r>
              <a:rPr lang="en-US" altLang="zh-CN" sz="2200" dirty="0">
                <a:latin typeface="+mj-lt"/>
                <a:ea typeface="黑体" panose="02010609060101010101" pitchFamily="49" charset="-122"/>
                <a:cs typeface="+mj-cs"/>
              </a:rPr>
              <a:t>.</a:t>
            </a:r>
          </a:p>
        </p:txBody>
      </p:sp>
      <p:pic>
        <p:nvPicPr>
          <p:cNvPr id="2" name="图片 1" descr="图示&#10;&#10;低可信度描述已自动生成">
            <a:extLst>
              <a:ext uri="{FF2B5EF4-FFF2-40B4-BE49-F238E27FC236}">
                <a16:creationId xmlns:a16="http://schemas.microsoft.com/office/drawing/2014/main" id="{A4BAF87C-9CFA-A1E9-5D64-1DA006345E9D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2783" y="836823"/>
            <a:ext cx="2960551" cy="258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3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utoUpdateAnimBg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 build="p" autoUpdateAnimBg="0"/>
      <p:bldP spid="43" grpId="0"/>
      <p:bldP spid="44" grpId="0"/>
      <p:bldP spid="46" grpId="0" build="p" autoUpdateAnimBg="0"/>
      <p:bldP spid="48" grpId="0"/>
      <p:bldP spid="49" grpId="0" build="p" autoUpdateAnimBg="0"/>
      <p:bldP spid="50" grpId="0" build="p" autoUpdateAnimBg="0"/>
      <p:bldP spid="51" grpId="0" build="p" autoUpdateAnimBg="0" advAuto="0"/>
      <p:bldP spid="52" grpId="0"/>
      <p:bldP spid="53" grpId="0" build="p" autoUpdateAnimBg="0" advAuto="0"/>
      <p:bldP spid="54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35E7EDA-DEC0-BB88-2E40-76D1971F9CDD}"/>
              </a:ext>
            </a:extLst>
          </p:cNvPr>
          <p:cNvGrpSpPr/>
          <p:nvPr/>
        </p:nvGrpSpPr>
        <p:grpSpPr>
          <a:xfrm>
            <a:off x="510540" y="466673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78AB01E9-5AB6-EAC8-035D-BDF7EB210333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5137E538-F2D1-8634-506A-E33B903F6D45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B1F04438-8726-B008-B8B1-13A9878B4893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F26F13B7-C170-7D4C-AB45-CE28CE77E994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E6295E4E-08A8-FE67-93ED-CC8F0C8635C6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027">
                <a:extLst>
                  <a:ext uri="{FF2B5EF4-FFF2-40B4-BE49-F238E27FC236}">
                    <a16:creationId xmlns:a16="http://schemas.microsoft.com/office/drawing/2014/main" id="{DA3C05C6-52C2-EED8-78C0-E8A84C1DBF51}"/>
                  </a:ext>
                </a:extLst>
              </p:cNvPr>
              <p:cNvSpPr txBox="1"/>
              <p:nvPr/>
            </p:nvSpPr>
            <p:spPr bwMode="auto">
              <a:xfrm>
                <a:off x="2650119" y="2646502"/>
                <a:ext cx="3552360" cy="4413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027">
                <a:extLst>
                  <a:ext uri="{FF2B5EF4-FFF2-40B4-BE49-F238E27FC236}">
                    <a16:creationId xmlns:a16="http://schemas.microsoft.com/office/drawing/2014/main" id="{DA3C05C6-52C2-EED8-78C0-E8A84C1DB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0119" y="2646502"/>
                <a:ext cx="3552360" cy="441325"/>
              </a:xfrm>
              <a:prstGeom prst="rect">
                <a:avLst/>
              </a:prstGeom>
              <a:blipFill>
                <a:blip r:embed="rId4"/>
                <a:stretch>
                  <a:fillRect b="-68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1029">
                <a:extLst>
                  <a:ext uri="{FF2B5EF4-FFF2-40B4-BE49-F238E27FC236}">
                    <a16:creationId xmlns:a16="http://schemas.microsoft.com/office/drawing/2014/main" id="{236F7B0D-BA6F-DCC9-DF51-D2BF83D93F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6059" y="657364"/>
                <a:ext cx="41910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曲面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在点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𝑀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的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法向量</a:t>
                </a:r>
              </a:p>
            </p:txBody>
          </p:sp>
        </mc:Choice>
        <mc:Fallback xmlns="">
          <p:sp>
            <p:nvSpPr>
              <p:cNvPr id="9" name="Text Box 1029">
                <a:extLst>
                  <a:ext uri="{FF2B5EF4-FFF2-40B4-BE49-F238E27FC236}">
                    <a16:creationId xmlns:a16="http://schemas.microsoft.com/office/drawing/2014/main" id="{236F7B0D-BA6F-DCC9-DF51-D2BF83D93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6059" y="657364"/>
                <a:ext cx="4191000" cy="519112"/>
              </a:xfrm>
              <a:prstGeom prst="rect">
                <a:avLst/>
              </a:prstGeom>
              <a:blipFill>
                <a:blip r:embed="rId5"/>
                <a:stretch>
                  <a:fillRect l="-2907" t="-16471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1031">
            <a:extLst>
              <a:ext uri="{FF2B5EF4-FFF2-40B4-BE49-F238E27FC236}">
                <a16:creationId xmlns:a16="http://schemas.microsoft.com/office/drawing/2014/main" id="{1D159492-07C7-0DA8-043A-FDD134E05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6059" y="4020272"/>
            <a:ext cx="220980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法线方程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32">
                <a:extLst>
                  <a:ext uri="{FF2B5EF4-FFF2-40B4-BE49-F238E27FC236}">
                    <a16:creationId xmlns:a16="http://schemas.microsoft.com/office/drawing/2014/main" id="{E2887934-6CAF-CB91-049F-FB78C8AF6555}"/>
                  </a:ext>
                </a:extLst>
              </p:cNvPr>
              <p:cNvSpPr txBox="1"/>
              <p:nvPr/>
            </p:nvSpPr>
            <p:spPr bwMode="auto">
              <a:xfrm>
                <a:off x="2839758" y="4710250"/>
                <a:ext cx="7081016" cy="11303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     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     </m:t>
                          </m:r>
                        </m:num>
                        <m:den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     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     </m:t>
                          </m:r>
                        </m:num>
                        <m:den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     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     </m:t>
                          </m:r>
                        </m:num>
                        <m:den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032">
                <a:extLst>
                  <a:ext uri="{FF2B5EF4-FFF2-40B4-BE49-F238E27FC236}">
                    <a16:creationId xmlns:a16="http://schemas.microsoft.com/office/drawing/2014/main" id="{E2887934-6CAF-CB91-049F-FB78C8AF6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9758" y="4710250"/>
                <a:ext cx="7081016" cy="11303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40">
                <a:extLst>
                  <a:ext uri="{FF2B5EF4-FFF2-40B4-BE49-F238E27FC236}">
                    <a16:creationId xmlns:a16="http://schemas.microsoft.com/office/drawing/2014/main" id="{72F8C05D-6100-F66E-5564-893857901836}"/>
                  </a:ext>
                </a:extLst>
              </p:cNvPr>
              <p:cNvSpPr txBox="1"/>
              <p:nvPr/>
            </p:nvSpPr>
            <p:spPr bwMode="auto">
              <a:xfrm>
                <a:off x="5982280" y="2659202"/>
                <a:ext cx="3849807" cy="492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040">
                <a:extLst>
                  <a:ext uri="{FF2B5EF4-FFF2-40B4-BE49-F238E27FC236}">
                    <a16:creationId xmlns:a16="http://schemas.microsoft.com/office/drawing/2014/main" id="{72F8C05D-6100-F66E-5564-893857901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2280" y="2659202"/>
                <a:ext cx="3849807" cy="492125"/>
              </a:xfrm>
              <a:prstGeom prst="rect">
                <a:avLst/>
              </a:prstGeom>
              <a:blipFill>
                <a:blip r:embed="rId7"/>
                <a:stretch>
                  <a:fillRect b="-370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041">
                <a:extLst>
                  <a:ext uri="{FF2B5EF4-FFF2-40B4-BE49-F238E27FC236}">
                    <a16:creationId xmlns:a16="http://schemas.microsoft.com/office/drawing/2014/main" id="{2479F14E-DCCC-D07F-241F-269D2C65202A}"/>
                  </a:ext>
                </a:extLst>
              </p:cNvPr>
              <p:cNvSpPr txBox="1"/>
              <p:nvPr/>
            </p:nvSpPr>
            <p:spPr bwMode="auto">
              <a:xfrm>
                <a:off x="5987066" y="3497263"/>
                <a:ext cx="4376867" cy="4413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)=0 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041">
                <a:extLst>
                  <a:ext uri="{FF2B5EF4-FFF2-40B4-BE49-F238E27FC236}">
                    <a16:creationId xmlns:a16="http://schemas.microsoft.com/office/drawing/2014/main" id="{2479F14E-DCCC-D07F-241F-269D2C652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7066" y="3497263"/>
                <a:ext cx="4376867" cy="441325"/>
              </a:xfrm>
              <a:prstGeom prst="rect">
                <a:avLst/>
              </a:prstGeom>
              <a:blipFill>
                <a:blip r:embed="rId8"/>
                <a:stretch>
                  <a:fillRect b="-69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045">
            <a:extLst>
              <a:ext uri="{FF2B5EF4-FFF2-40B4-BE49-F238E27FC236}">
                <a16:creationId xmlns:a16="http://schemas.microsoft.com/office/drawing/2014/main" id="{DBBD30C9-A949-5092-E08B-2FE1EFF9865C}"/>
              </a:ext>
            </a:extLst>
          </p:cNvPr>
          <p:cNvSpPr txBox="1">
            <a:spLocks noChangeArrowheads="1"/>
          </p:cNvSpPr>
          <p:nvPr/>
        </p:nvSpPr>
        <p:spPr>
          <a:xfrm>
            <a:off x="1946059" y="2016917"/>
            <a:ext cx="2003123" cy="5380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切平面方程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047">
                <a:extLst>
                  <a:ext uri="{FF2B5EF4-FFF2-40B4-BE49-F238E27FC236}">
                    <a16:creationId xmlns:a16="http://schemas.microsoft.com/office/drawing/2014/main" id="{C481E2F3-69CC-C425-26EB-187340ED9844}"/>
                  </a:ext>
                </a:extLst>
              </p:cNvPr>
              <p:cNvSpPr txBox="1"/>
              <p:nvPr/>
            </p:nvSpPr>
            <p:spPr bwMode="auto">
              <a:xfrm>
                <a:off x="2787371" y="5169495"/>
                <a:ext cx="2016125" cy="4413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047">
                <a:extLst>
                  <a:ext uri="{FF2B5EF4-FFF2-40B4-BE49-F238E27FC236}">
                    <a16:creationId xmlns:a16="http://schemas.microsoft.com/office/drawing/2014/main" id="{C481E2F3-69CC-C425-26EB-187340ED9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7371" y="5169495"/>
                <a:ext cx="2016125" cy="441325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048">
                <a:extLst>
                  <a:ext uri="{FF2B5EF4-FFF2-40B4-BE49-F238E27FC236}">
                    <a16:creationId xmlns:a16="http://schemas.microsoft.com/office/drawing/2014/main" id="{CCE6C3D9-1BE5-AC57-D639-3199043AE6F3}"/>
                  </a:ext>
                </a:extLst>
              </p:cNvPr>
              <p:cNvSpPr txBox="1"/>
              <p:nvPr/>
            </p:nvSpPr>
            <p:spPr bwMode="auto">
              <a:xfrm>
                <a:off x="5209896" y="5191914"/>
                <a:ext cx="2203665" cy="492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1048">
                <a:extLst>
                  <a:ext uri="{FF2B5EF4-FFF2-40B4-BE49-F238E27FC236}">
                    <a16:creationId xmlns:a16="http://schemas.microsoft.com/office/drawing/2014/main" id="{CCE6C3D9-1BE5-AC57-D639-3199043AE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9896" y="5191914"/>
                <a:ext cx="2203665" cy="492125"/>
              </a:xfrm>
              <a:prstGeom prst="rect">
                <a:avLst/>
              </a:prstGeom>
              <a:blipFill>
                <a:blip r:embed="rId10"/>
                <a:stretch>
                  <a:fillRect b="-5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050">
                <a:extLst>
                  <a:ext uri="{FF2B5EF4-FFF2-40B4-BE49-F238E27FC236}">
                    <a16:creationId xmlns:a16="http://schemas.microsoft.com/office/drawing/2014/main" id="{2E35D68E-46AD-8782-9F88-BCC20F292AAF}"/>
                  </a:ext>
                </a:extLst>
              </p:cNvPr>
              <p:cNvSpPr txBox="1"/>
              <p:nvPr/>
            </p:nvSpPr>
            <p:spPr bwMode="auto">
              <a:xfrm>
                <a:off x="7613586" y="5190908"/>
                <a:ext cx="2001838" cy="438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1050">
                <a:extLst>
                  <a:ext uri="{FF2B5EF4-FFF2-40B4-BE49-F238E27FC236}">
                    <a16:creationId xmlns:a16="http://schemas.microsoft.com/office/drawing/2014/main" id="{2E35D68E-46AD-8782-9F88-BCC20F292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13586" y="5190908"/>
                <a:ext cx="2001838" cy="438150"/>
              </a:xfrm>
              <a:prstGeom prst="rect">
                <a:avLst/>
              </a:prstGeom>
              <a:blipFill>
                <a:blip r:embed="rId11"/>
                <a:stretch>
                  <a:fillRect b="-84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028">
                <a:extLst>
                  <a:ext uri="{FF2B5EF4-FFF2-40B4-BE49-F238E27FC236}">
                    <a16:creationId xmlns:a16="http://schemas.microsoft.com/office/drawing/2014/main" id="{B200D30F-8CAA-CEFA-33AF-1BBF60F31945}"/>
                  </a:ext>
                </a:extLst>
              </p:cNvPr>
              <p:cNvSpPr txBox="1"/>
              <p:nvPr/>
            </p:nvSpPr>
            <p:spPr bwMode="auto">
              <a:xfrm>
                <a:off x="2678112" y="1296988"/>
                <a:ext cx="7569233" cy="5905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𝒏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 b="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1028">
                <a:extLst>
                  <a:ext uri="{FF2B5EF4-FFF2-40B4-BE49-F238E27FC236}">
                    <a16:creationId xmlns:a16="http://schemas.microsoft.com/office/drawing/2014/main" id="{B200D30F-8CAA-CEFA-33AF-1BBF60F31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8112" y="1296988"/>
                <a:ext cx="7569233" cy="5905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33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5F062240-8573-E6C1-34DC-5838F6199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362" y="1275204"/>
            <a:ext cx="2743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当曲面方程为</a:t>
            </a: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BC3CD4D4-C122-E091-12BD-C23386869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362" y="2103562"/>
            <a:ext cx="6100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8CD668C8-6381-ADE0-0147-ED2A65F91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362" y="3688659"/>
            <a:ext cx="2514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切平面方程</a:t>
            </a: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A587D584-6DE1-1920-9B57-A5DEDD983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362" y="5350176"/>
            <a:ext cx="2514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法线方程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41902DD-4C35-21F3-D21D-FA95FA696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7155" y="645280"/>
            <a:ext cx="5044304" cy="523220"/>
          </a:xfrm>
          <a:prstGeom prst="rect">
            <a:avLst/>
          </a:prstGeom>
          <a:noFill/>
          <a:ln w="28575">
            <a:noFill/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曲面方程为显函数的情形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1">
                <a:extLst>
                  <a:ext uri="{FF2B5EF4-FFF2-40B4-BE49-F238E27FC236}">
                    <a16:creationId xmlns:a16="http://schemas.microsoft.com/office/drawing/2014/main" id="{5586636F-AD8A-78F2-2795-242E80CF6FBE}"/>
                  </a:ext>
                </a:extLst>
              </p:cNvPr>
              <p:cNvSpPr txBox="1"/>
              <p:nvPr/>
            </p:nvSpPr>
            <p:spPr>
              <a:xfrm>
                <a:off x="2328017" y="4396902"/>
                <a:ext cx="8871684" cy="4826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)−(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1">
                <a:extLst>
                  <a:ext uri="{FF2B5EF4-FFF2-40B4-BE49-F238E27FC236}">
                    <a16:creationId xmlns:a16="http://schemas.microsoft.com/office/drawing/2014/main" id="{5586636F-AD8A-78F2-2795-242E80CF6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017" y="4396902"/>
                <a:ext cx="8871684" cy="482600"/>
              </a:xfrm>
              <a:prstGeom prst="rect">
                <a:avLst/>
              </a:prstGeom>
              <a:blipFill>
                <a:blip r:embed="rId3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2">
                <a:extLst>
                  <a:ext uri="{FF2B5EF4-FFF2-40B4-BE49-F238E27FC236}">
                    <a16:creationId xmlns:a16="http://schemas.microsoft.com/office/drawing/2014/main" id="{EC3DD7DF-E752-76E6-58F9-2C60819EB819}"/>
                  </a:ext>
                </a:extLst>
              </p:cNvPr>
              <p:cNvSpPr txBox="1"/>
              <p:nvPr/>
            </p:nvSpPr>
            <p:spPr>
              <a:xfrm>
                <a:off x="3596093" y="5198080"/>
                <a:ext cx="5222064" cy="9906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−1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对象 2">
                <a:extLst>
                  <a:ext uri="{FF2B5EF4-FFF2-40B4-BE49-F238E27FC236}">
                    <a16:creationId xmlns:a16="http://schemas.microsoft.com/office/drawing/2014/main" id="{EC3DD7DF-E752-76E6-58F9-2C60819EB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093" y="5198080"/>
                <a:ext cx="5222064" cy="990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3">
                <a:extLst>
                  <a:ext uri="{FF2B5EF4-FFF2-40B4-BE49-F238E27FC236}">
                    <a16:creationId xmlns:a16="http://schemas.microsoft.com/office/drawing/2014/main" id="{D5E5BD68-A54D-4235-9477-B68831353208}"/>
                  </a:ext>
                </a:extLst>
              </p:cNvPr>
              <p:cNvSpPr txBox="1"/>
              <p:nvPr/>
            </p:nvSpPr>
            <p:spPr>
              <a:xfrm>
                <a:off x="4168775" y="1273804"/>
                <a:ext cx="2038350" cy="55872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对象 3">
                <a:extLst>
                  <a:ext uri="{FF2B5EF4-FFF2-40B4-BE49-F238E27FC236}">
                    <a16:creationId xmlns:a16="http://schemas.microsoft.com/office/drawing/2014/main" id="{D5E5BD68-A54D-4235-9477-B68831353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775" y="1273804"/>
                <a:ext cx="2038350" cy="5587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4">
                <a:extLst>
                  <a:ext uri="{FF2B5EF4-FFF2-40B4-BE49-F238E27FC236}">
                    <a16:creationId xmlns:a16="http://schemas.microsoft.com/office/drawing/2014/main" id="{C41ECBA6-285F-E2EF-7E86-FFC1035EBB09}"/>
                  </a:ext>
                </a:extLst>
              </p:cNvPr>
              <p:cNvSpPr txBox="1"/>
              <p:nvPr/>
            </p:nvSpPr>
            <p:spPr>
              <a:xfrm>
                <a:off x="6127262" y="1329366"/>
                <a:ext cx="4724888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令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𝐹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)–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对象 4">
                <a:extLst>
                  <a:ext uri="{FF2B5EF4-FFF2-40B4-BE49-F238E27FC236}">
                    <a16:creationId xmlns:a16="http://schemas.microsoft.com/office/drawing/2014/main" id="{C41ECBA6-285F-E2EF-7E86-FFC1035EB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262" y="1329366"/>
                <a:ext cx="4724888" cy="444500"/>
              </a:xfrm>
              <a:prstGeom prst="rect">
                <a:avLst/>
              </a:prstGeom>
              <a:blipFill>
                <a:blip r:embed="rId6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3">
                <a:extLst>
                  <a:ext uri="{FF2B5EF4-FFF2-40B4-BE49-F238E27FC236}">
                    <a16:creationId xmlns:a16="http://schemas.microsoft.com/office/drawing/2014/main" id="{D633DB58-3906-4C3A-F251-F942B697ED8C}"/>
                  </a:ext>
                </a:extLst>
              </p:cNvPr>
              <p:cNvSpPr txBox="1"/>
              <p:nvPr/>
            </p:nvSpPr>
            <p:spPr>
              <a:xfrm>
                <a:off x="2408848" y="1984855"/>
                <a:ext cx="6036652" cy="7747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𝒏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(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  <m:r>
                                    <a:rPr kumimoji="1" lang="en-US" altLang="zh-CN" sz="280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,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),</m:t>
                                  </m:r>
                                  <m:sSub>
                                    <m:sSub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(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  <m:r>
                                    <a:rPr kumimoji="1" lang="en-US" altLang="zh-CN" sz="280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,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),−1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𝑀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  <m: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对象 13">
                <a:extLst>
                  <a:ext uri="{FF2B5EF4-FFF2-40B4-BE49-F238E27FC236}">
                    <a16:creationId xmlns:a16="http://schemas.microsoft.com/office/drawing/2014/main" id="{D633DB58-3906-4C3A-F251-F942B697E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848" y="1984855"/>
                <a:ext cx="6036652" cy="774700"/>
              </a:xfrm>
              <a:prstGeom prst="rect">
                <a:avLst/>
              </a:prstGeom>
              <a:blipFill>
                <a:blip r:embed="rId7"/>
                <a:stretch>
                  <a:fillRect b="-5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853049F7-41FB-5157-2FCC-FB203B08C3E2}"/>
              </a:ext>
            </a:extLst>
          </p:cNvPr>
          <p:cNvSpPr txBox="1"/>
          <p:nvPr/>
        </p:nvSpPr>
        <p:spPr bwMode="auto">
          <a:xfrm>
            <a:off x="8323385" y="2103562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于是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029">
                <a:extLst>
                  <a:ext uri="{FF2B5EF4-FFF2-40B4-BE49-F238E27FC236}">
                    <a16:creationId xmlns:a16="http://schemas.microsoft.com/office/drawing/2014/main" id="{4FCCC275-3902-FA70-D976-DC7E0AC3FC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4362" y="2965778"/>
                <a:ext cx="25146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曲面</a:t>
                </a:r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在点 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𝑀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</a:t>
                </a:r>
                <a:endParaRPr kumimoji="1"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Text Box 1029">
                <a:extLst>
                  <a:ext uri="{FF2B5EF4-FFF2-40B4-BE49-F238E27FC236}">
                    <a16:creationId xmlns:a16="http://schemas.microsoft.com/office/drawing/2014/main" id="{4FCCC275-3902-FA70-D976-DC7E0AC3F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4362" y="2965778"/>
                <a:ext cx="2514600" cy="519112"/>
              </a:xfrm>
              <a:prstGeom prst="rect">
                <a:avLst/>
              </a:prstGeom>
              <a:blipFill>
                <a:blip r:embed="rId8"/>
                <a:stretch>
                  <a:fillRect l="-5097" t="-16471" r="-1942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526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9">
                <a:extLst>
                  <a:ext uri="{FF2B5EF4-FFF2-40B4-BE49-F238E27FC236}">
                    <a16:creationId xmlns:a16="http://schemas.microsoft.com/office/drawing/2014/main" id="{053F94E8-036D-8B0B-0087-4D8B75807ED4}"/>
                  </a:ext>
                </a:extLst>
              </p:cNvPr>
              <p:cNvSpPr txBox="1"/>
              <p:nvPr/>
            </p:nvSpPr>
            <p:spPr bwMode="auto">
              <a:xfrm>
                <a:off x="2652713" y="493715"/>
                <a:ext cx="1393825" cy="501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𝛼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𝛽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𝛾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19">
                <a:extLst>
                  <a:ext uri="{FF2B5EF4-FFF2-40B4-BE49-F238E27FC236}">
                    <a16:creationId xmlns:a16="http://schemas.microsoft.com/office/drawing/2014/main" id="{053F94E8-036D-8B0B-0087-4D8B75807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2713" y="493715"/>
                <a:ext cx="1393825" cy="5016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15">
            <a:extLst>
              <a:ext uri="{FF2B5EF4-FFF2-40B4-BE49-F238E27FC236}">
                <a16:creationId xmlns:a16="http://schemas.microsoft.com/office/drawing/2014/main" id="{8DFE50B9-505D-7124-A9C2-51C02DA39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8200" y="1578930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法向量</a:t>
            </a:r>
          </a:p>
        </p:txBody>
      </p:sp>
      <p:sp>
        <p:nvSpPr>
          <p:cNvPr id="4" name="Text Box 20">
            <a:extLst>
              <a:ext uri="{FF2B5EF4-FFF2-40B4-BE49-F238E27FC236}">
                <a16:creationId xmlns:a16="http://schemas.microsoft.com/office/drawing/2014/main" id="{CFD2E7AD-D124-DF56-C6BA-40829491E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900" y="514351"/>
            <a:ext cx="666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2">
                <a:extLst>
                  <a:ext uri="{FF2B5EF4-FFF2-40B4-BE49-F238E27FC236}">
                    <a16:creationId xmlns:a16="http://schemas.microsoft.com/office/drawing/2014/main" id="{8567F136-6310-69FC-85CF-40615DBCA375}"/>
                  </a:ext>
                </a:extLst>
              </p:cNvPr>
              <p:cNvSpPr txBox="1"/>
              <p:nvPr/>
            </p:nvSpPr>
            <p:spPr bwMode="auto">
              <a:xfrm>
                <a:off x="2111374" y="4927300"/>
                <a:ext cx="5857875" cy="1612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𝛾</m:t>
                          </m:r>
                        </m:e>
                      </m:func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22">
                <a:extLst>
                  <a:ext uri="{FF2B5EF4-FFF2-40B4-BE49-F238E27FC236}">
                    <a16:creationId xmlns:a16="http://schemas.microsoft.com/office/drawing/2014/main" id="{8567F136-6310-69FC-85CF-40615DBCA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11374" y="4927300"/>
                <a:ext cx="5857875" cy="1612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24">
            <a:extLst>
              <a:ext uri="{FF2B5EF4-FFF2-40B4-BE49-F238E27FC236}">
                <a16:creationId xmlns:a16="http://schemas.microsoft.com/office/drawing/2014/main" id="{A33AFFE9-B789-9923-EA55-9703C03E3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8200" y="2164395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5">
                <a:extLst>
                  <a:ext uri="{FF2B5EF4-FFF2-40B4-BE49-F238E27FC236}">
                    <a16:creationId xmlns:a16="http://schemas.microsoft.com/office/drawing/2014/main" id="{71597179-FC5F-7FF3-AD25-3331ED030F2E}"/>
                  </a:ext>
                </a:extLst>
              </p:cNvPr>
              <p:cNvSpPr txBox="1"/>
              <p:nvPr/>
            </p:nvSpPr>
            <p:spPr bwMode="auto">
              <a:xfrm>
                <a:off x="2527300" y="2140584"/>
                <a:ext cx="3543300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25">
                <a:extLst>
                  <a:ext uri="{FF2B5EF4-FFF2-40B4-BE49-F238E27FC236}">
                    <a16:creationId xmlns:a16="http://schemas.microsoft.com/office/drawing/2014/main" id="{71597179-FC5F-7FF3-AD25-3331ED030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7300" y="2140584"/>
                <a:ext cx="3543300" cy="495300"/>
              </a:xfrm>
              <a:prstGeom prst="rect">
                <a:avLst/>
              </a:prstGeom>
              <a:blipFill>
                <a:blip r:embed="rId5"/>
                <a:stretch>
                  <a:fillRect b="-370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6">
                <a:extLst>
                  <a:ext uri="{FF2B5EF4-FFF2-40B4-BE49-F238E27FC236}">
                    <a16:creationId xmlns:a16="http://schemas.microsoft.com/office/drawing/2014/main" id="{67E063B2-4C41-83E5-F675-332054980B0C}"/>
                  </a:ext>
                </a:extLst>
              </p:cNvPr>
              <p:cNvSpPr txBox="1"/>
              <p:nvPr/>
            </p:nvSpPr>
            <p:spPr bwMode="auto">
              <a:xfrm>
                <a:off x="7204075" y="2146935"/>
                <a:ext cx="1247775" cy="4857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26">
                <a:extLst>
                  <a:ext uri="{FF2B5EF4-FFF2-40B4-BE49-F238E27FC236}">
                    <a16:creationId xmlns:a16="http://schemas.microsoft.com/office/drawing/2014/main" id="{67E063B2-4C41-83E5-F675-332054980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4075" y="2146935"/>
                <a:ext cx="1247775" cy="485775"/>
              </a:xfrm>
              <a:prstGeom prst="rect">
                <a:avLst/>
              </a:prstGeom>
              <a:blipFill>
                <a:blip r:embed="rId6"/>
                <a:stretch>
                  <a:fillRect b="-5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37">
            <a:extLst>
              <a:ext uri="{FF2B5EF4-FFF2-40B4-BE49-F238E27FC236}">
                <a16:creationId xmlns:a16="http://schemas.microsoft.com/office/drawing/2014/main" id="{FA7C391E-83A5-720B-C8A1-5D6EE22EFF7B}"/>
              </a:ext>
            </a:extLst>
          </p:cNvPr>
          <p:cNvSpPr txBox="1">
            <a:spLocks noChangeArrowheads="1"/>
          </p:cNvSpPr>
          <p:nvPr/>
        </p:nvSpPr>
        <p:spPr>
          <a:xfrm>
            <a:off x="2108200" y="2815923"/>
            <a:ext cx="3429000" cy="533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法向量的方向余弦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:</a:t>
            </a:r>
            <a:endParaRPr kumimoji="1"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41">
                <a:extLst>
                  <a:ext uri="{FF2B5EF4-FFF2-40B4-BE49-F238E27FC236}">
                    <a16:creationId xmlns:a16="http://schemas.microsoft.com/office/drawing/2014/main" id="{0AD36638-499F-BD33-1DE1-AB733B5BFF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3000" y="514351"/>
                <a:ext cx="37338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表示法向量的方向角</a:t>
                </a:r>
                <a14:m>
                  <m:oMath xmlns:m="http://schemas.openxmlformats.org/officeDocument/2006/math"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Text Box 41">
                <a:extLst>
                  <a:ext uri="{FF2B5EF4-FFF2-40B4-BE49-F238E27FC236}">
                    <a16:creationId xmlns:a16="http://schemas.microsoft.com/office/drawing/2014/main" id="{0AD36638-499F-BD33-1DE1-AB733B5BF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83000" y="514351"/>
                <a:ext cx="3733800" cy="519113"/>
              </a:xfrm>
              <a:prstGeom prst="rect">
                <a:avLst/>
              </a:prstGeom>
              <a:blipFill>
                <a:blip r:embed="rId7"/>
                <a:stretch>
                  <a:fillRect l="-3263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42">
            <a:extLst>
              <a:ext uri="{FF2B5EF4-FFF2-40B4-BE49-F238E27FC236}">
                <a16:creationId xmlns:a16="http://schemas.microsoft.com/office/drawing/2014/main" id="{D1948E96-4837-5855-6525-5F12050DA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9612" y="514351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并假定法向量方向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1">
                <a:extLst>
                  <a:ext uri="{FF2B5EF4-FFF2-40B4-BE49-F238E27FC236}">
                    <a16:creationId xmlns:a16="http://schemas.microsoft.com/office/drawing/2014/main" id="{27B8F28F-2D07-956B-2D88-4CCEEC51B56C}"/>
                  </a:ext>
                </a:extLst>
              </p:cNvPr>
              <p:cNvSpPr txBox="1"/>
              <p:nvPr/>
            </p:nvSpPr>
            <p:spPr bwMode="auto">
              <a:xfrm>
                <a:off x="3025775" y="1031875"/>
                <a:ext cx="2559050" cy="4413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则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𝛾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为锐角</m:t>
                      </m:r>
                      <m:r>
                        <a:rPr kumimoji="1" lang="en-US" altLang="zh-CN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21">
                <a:extLst>
                  <a:ext uri="{FF2B5EF4-FFF2-40B4-BE49-F238E27FC236}">
                    <a16:creationId xmlns:a16="http://schemas.microsoft.com/office/drawing/2014/main" id="{27B8F28F-2D07-956B-2D88-4CCEEC51B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5775" y="1031875"/>
                <a:ext cx="2559050" cy="441325"/>
              </a:xfrm>
              <a:prstGeom prst="rect">
                <a:avLst/>
              </a:prstGeom>
              <a:blipFill>
                <a:blip r:embed="rId8"/>
                <a:stretch>
                  <a:fillRect b="-41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45">
            <a:extLst>
              <a:ext uri="{FF2B5EF4-FFF2-40B4-BE49-F238E27FC236}">
                <a16:creationId xmlns:a16="http://schemas.microsoft.com/office/drawing/2014/main" id="{FBDDCA03-93FF-6EEC-AB32-619418971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9924" y="2164395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分别记为</a:t>
            </a:r>
          </a:p>
        </p:txBody>
      </p:sp>
      <p:sp>
        <p:nvSpPr>
          <p:cNvPr id="14" name="Text Box 46">
            <a:extLst>
              <a:ext uri="{FF2B5EF4-FFF2-40B4-BE49-F238E27FC236}">
                <a16:creationId xmlns:a16="http://schemas.microsoft.com/office/drawing/2014/main" id="{1F1A95AB-53F9-760C-0888-5DE5A27AF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637" y="2173922"/>
            <a:ext cx="5699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47">
                <a:extLst>
                  <a:ext uri="{FF2B5EF4-FFF2-40B4-BE49-F238E27FC236}">
                    <a16:creationId xmlns:a16="http://schemas.microsoft.com/office/drawing/2014/main" id="{8C4FD5FD-2F04-2ACB-32A8-F48BBEE23B22}"/>
                  </a:ext>
                </a:extLst>
              </p:cNvPr>
              <p:cNvSpPr txBox="1"/>
              <p:nvPr/>
            </p:nvSpPr>
            <p:spPr bwMode="auto">
              <a:xfrm>
                <a:off x="1992312" y="3349323"/>
                <a:ext cx="8420100" cy="1638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   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𝛽</m:t>
                          </m:r>
                        </m:e>
                      </m:func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47">
                <a:extLst>
                  <a:ext uri="{FF2B5EF4-FFF2-40B4-BE49-F238E27FC236}">
                    <a16:creationId xmlns:a16="http://schemas.microsoft.com/office/drawing/2014/main" id="{8C4FD5FD-2F04-2ACB-32A8-F48BBEE23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2312" y="3349323"/>
                <a:ext cx="8420100" cy="16383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54">
                <a:extLst>
                  <a:ext uri="{FF2B5EF4-FFF2-40B4-BE49-F238E27FC236}">
                    <a16:creationId xmlns:a16="http://schemas.microsoft.com/office/drawing/2014/main" id="{1803C08D-917C-DD0C-F697-8568B6F6A5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8200" y="1022351"/>
                <a:ext cx="11430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向上</a:t>
                </a:r>
                <a14:m>
                  <m:oMath xmlns:m="http://schemas.openxmlformats.org/officeDocument/2006/math"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Text Box 54">
                <a:extLst>
                  <a:ext uri="{FF2B5EF4-FFF2-40B4-BE49-F238E27FC236}">
                    <a16:creationId xmlns:a16="http://schemas.microsoft.com/office/drawing/2014/main" id="{1803C08D-917C-DD0C-F697-8568B6F6A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8200" y="1022351"/>
                <a:ext cx="1143000" cy="519113"/>
              </a:xfrm>
              <a:prstGeom prst="rect">
                <a:avLst/>
              </a:prstGeom>
              <a:blipFill>
                <a:blip r:embed="rId10"/>
                <a:stretch>
                  <a:fillRect l="-11230" t="-16471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52">
                <a:extLst>
                  <a:ext uri="{FF2B5EF4-FFF2-40B4-BE49-F238E27FC236}">
                    <a16:creationId xmlns:a16="http://schemas.microsoft.com/office/drawing/2014/main" id="{A0C41FCB-46EB-920D-F5B3-36A8CCA4BABE}"/>
                  </a:ext>
                </a:extLst>
              </p:cNvPr>
              <p:cNvSpPr txBox="1"/>
              <p:nvPr/>
            </p:nvSpPr>
            <p:spPr bwMode="auto">
              <a:xfrm>
                <a:off x="3252788" y="1548769"/>
                <a:ext cx="6564312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𝒏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=(−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1).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52">
                <a:extLst>
                  <a:ext uri="{FF2B5EF4-FFF2-40B4-BE49-F238E27FC236}">
                    <a16:creationId xmlns:a16="http://schemas.microsoft.com/office/drawing/2014/main" id="{A0C41FCB-46EB-920D-F5B3-36A8CCA4B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2788" y="1548769"/>
                <a:ext cx="6564312" cy="482600"/>
              </a:xfrm>
              <a:prstGeom prst="rect">
                <a:avLst/>
              </a:prstGeom>
              <a:blipFill>
                <a:blip r:embed="rId11"/>
                <a:stretch>
                  <a:fillRect b="-63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201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74077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D508A62-762F-9779-E82C-D8FDD91956D2}"/>
              </a:ext>
            </a:extLst>
          </p:cNvPr>
          <p:cNvSpPr txBox="1">
            <a:spLocks noChangeArrowheads="1"/>
          </p:cNvSpPr>
          <p:nvPr/>
        </p:nvSpPr>
        <p:spPr>
          <a:xfrm>
            <a:off x="1878424" y="815977"/>
            <a:ext cx="2286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  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求球面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94F620B2-73CD-28E0-F4E3-2631E4B05701}"/>
                  </a:ext>
                </a:extLst>
              </p:cNvPr>
              <p:cNvSpPr txBox="1"/>
              <p:nvPr/>
            </p:nvSpPr>
            <p:spPr bwMode="auto">
              <a:xfrm>
                <a:off x="3766102" y="809258"/>
                <a:ext cx="3255219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=14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94F620B2-73CD-28E0-F4E3-2631E4B05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6102" y="809258"/>
                <a:ext cx="3255219" cy="469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4">
            <a:extLst>
              <a:ext uri="{FF2B5EF4-FFF2-40B4-BE49-F238E27FC236}">
                <a16:creationId xmlns:a16="http://schemas.microsoft.com/office/drawing/2014/main" id="{FAEB2A89-BBE0-31DC-CC2F-07D76AF62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7071" y="794546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在点</a:t>
            </a:r>
            <a:r>
              <a: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</a:rPr>
              <a:t>(1 , 2 , 3) 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处的切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BA014381-B768-9EF6-451D-550081CED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2839" y="1357313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平面及法线方程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7FB4642C-22E1-7DA2-C441-B83B331BD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6425" y="1943665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F86AC8F7-D205-E6AF-6FC9-01C539D56865}"/>
                  </a:ext>
                </a:extLst>
              </p:cNvPr>
              <p:cNvSpPr txBox="1"/>
              <p:nvPr/>
            </p:nvSpPr>
            <p:spPr bwMode="auto">
              <a:xfrm>
                <a:off x="3103280" y="1999051"/>
                <a:ext cx="3885446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𝐹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𝑧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)=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𝑧</m:t>
                          </m:r>
                        </m:e>
                        <m:sup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−14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F86AC8F7-D205-E6AF-6FC9-01C539D56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3280" y="1999051"/>
                <a:ext cx="3885446" cy="469900"/>
              </a:xfrm>
              <a:prstGeom prst="rect">
                <a:avLst/>
              </a:prstGeom>
              <a:blipFill>
                <a:blip r:embed="rId5"/>
                <a:stretch>
                  <a:fillRect l="-157" b="-90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0">
            <a:extLst>
              <a:ext uri="{FF2B5EF4-FFF2-40B4-BE49-F238E27FC236}">
                <a16:creationId xmlns:a16="http://schemas.microsoft.com/office/drawing/2014/main" id="{10EFE1A3-D684-DDAE-98A3-D6F0E6151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2839" y="3969066"/>
            <a:ext cx="188116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2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切平面方程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36EFEF05-54D2-EB3C-BFCB-889E171D6B26}"/>
                  </a:ext>
                </a:extLst>
              </p:cNvPr>
              <p:cNvSpPr txBox="1"/>
              <p:nvPr/>
            </p:nvSpPr>
            <p:spPr bwMode="auto">
              <a:xfrm>
                <a:off x="4194239" y="3953918"/>
                <a:ext cx="1482726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2(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−1)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36EFEF05-54D2-EB3C-BFCB-889E171D6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4239" y="3953918"/>
                <a:ext cx="1482726" cy="393700"/>
              </a:xfrm>
              <a:prstGeom prst="rect">
                <a:avLst/>
              </a:prstGeom>
              <a:blipFill>
                <a:blip r:embed="rId6"/>
                <a:stretch>
                  <a:fillRect l="-412"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2">
                <a:extLst>
                  <a:ext uri="{FF2B5EF4-FFF2-40B4-BE49-F238E27FC236}">
                    <a16:creationId xmlns:a16="http://schemas.microsoft.com/office/drawing/2014/main" id="{D716CFAE-9BAC-D9A5-0F75-670013352738}"/>
                  </a:ext>
                </a:extLst>
              </p:cNvPr>
              <p:cNvSpPr txBox="1"/>
              <p:nvPr/>
            </p:nvSpPr>
            <p:spPr bwMode="auto">
              <a:xfrm>
                <a:off x="4097939" y="4586288"/>
                <a:ext cx="32131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+2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+3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𝑧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−14=0. 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7" name="Object 12">
                <a:extLst>
                  <a:ext uri="{FF2B5EF4-FFF2-40B4-BE49-F238E27FC236}">
                    <a16:creationId xmlns:a16="http://schemas.microsoft.com/office/drawing/2014/main" id="{D716CFAE-9BAC-D9A5-0F75-670013352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7939" y="4586288"/>
                <a:ext cx="3213100" cy="393700"/>
              </a:xfrm>
              <a:prstGeom prst="rect">
                <a:avLst/>
              </a:prstGeom>
              <a:blipFill>
                <a:blip r:embed="rId7"/>
                <a:stretch>
                  <a:fillRect b="-292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Box 13">
            <a:extLst>
              <a:ext uri="{FF2B5EF4-FFF2-40B4-BE49-F238E27FC236}">
                <a16:creationId xmlns:a16="http://schemas.microsoft.com/office/drawing/2014/main" id="{C27390F5-9FD4-6C22-93B4-C45CD8EDC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2839" y="4601110"/>
            <a:ext cx="838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Cambria Math" panose="02040503050406030204" pitchFamily="18" charset="0"/>
                <a:ea typeface="黑体" panose="02010609060101010101" pitchFamily="49" charset="-122"/>
                <a:cs typeface="+mj-cs"/>
              </a:rPr>
              <a:t>即</a:t>
            </a:r>
          </a:p>
        </p:txBody>
      </p:sp>
      <p:sp>
        <p:nvSpPr>
          <p:cNvPr id="19" name="Text Box 14">
            <a:extLst>
              <a:ext uri="{FF2B5EF4-FFF2-40B4-BE49-F238E27FC236}">
                <a16:creationId xmlns:a16="http://schemas.microsoft.com/office/drawing/2014/main" id="{0A5B6DE3-95D9-7771-97DF-41CD30190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2839" y="5387196"/>
            <a:ext cx="20574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法线方程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5">
                <a:extLst>
                  <a:ext uri="{FF2B5EF4-FFF2-40B4-BE49-F238E27FC236}">
                    <a16:creationId xmlns:a16="http://schemas.microsoft.com/office/drawing/2014/main" id="{C64E608F-E8C1-DD76-3EBC-A3312553DA78}"/>
                  </a:ext>
                </a:extLst>
              </p:cNvPr>
              <p:cNvSpPr txBox="1"/>
              <p:nvPr/>
            </p:nvSpPr>
            <p:spPr bwMode="auto">
              <a:xfrm>
                <a:off x="3964011" y="5221288"/>
                <a:ext cx="31369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−1</m:t>
                          </m:r>
                        </m:num>
                        <m:den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</m:den>
                      </m:f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−2</m:t>
                          </m:r>
                        </m:num>
                        <m:den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𝑧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−3</m:t>
                          </m:r>
                        </m:num>
                        <m:den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0" name="Object 15">
                <a:extLst>
                  <a:ext uri="{FF2B5EF4-FFF2-40B4-BE49-F238E27FC236}">
                    <a16:creationId xmlns:a16="http://schemas.microsoft.com/office/drawing/2014/main" id="{C64E608F-E8C1-DD76-3EBC-A3312553D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4011" y="5221288"/>
                <a:ext cx="3136900" cy="838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2">
                <a:extLst>
                  <a:ext uri="{FF2B5EF4-FFF2-40B4-BE49-F238E27FC236}">
                    <a16:creationId xmlns:a16="http://schemas.microsoft.com/office/drawing/2014/main" id="{564259FC-7E55-4490-7B76-542EE0E85F01}"/>
                  </a:ext>
                </a:extLst>
              </p:cNvPr>
              <p:cNvSpPr txBox="1"/>
              <p:nvPr/>
            </p:nvSpPr>
            <p:spPr bwMode="auto">
              <a:xfrm>
                <a:off x="5219764" y="3953918"/>
                <a:ext cx="153524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+4(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−2)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1" name="Object 22">
                <a:extLst>
                  <a:ext uri="{FF2B5EF4-FFF2-40B4-BE49-F238E27FC236}">
                    <a16:creationId xmlns:a16="http://schemas.microsoft.com/office/drawing/2014/main" id="{564259FC-7E55-4490-7B76-542EE0E85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19764" y="3953918"/>
                <a:ext cx="1535240" cy="393700"/>
              </a:xfrm>
              <a:prstGeom prst="rect">
                <a:avLst/>
              </a:prstGeom>
              <a:blipFill>
                <a:blip r:embed="rId9"/>
                <a:stretch>
                  <a:fillRect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23">
                <a:extLst>
                  <a:ext uri="{FF2B5EF4-FFF2-40B4-BE49-F238E27FC236}">
                    <a16:creationId xmlns:a16="http://schemas.microsoft.com/office/drawing/2014/main" id="{7A5BD22E-9916-D892-864C-30DACC09C788}"/>
                  </a:ext>
                </a:extLst>
              </p:cNvPr>
              <p:cNvSpPr txBox="1"/>
              <p:nvPr/>
            </p:nvSpPr>
            <p:spPr bwMode="auto">
              <a:xfrm>
                <a:off x="6442138" y="3953918"/>
                <a:ext cx="2312987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+6(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𝑧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−3)=0,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2" name="Object 23">
                <a:extLst>
                  <a:ext uri="{FF2B5EF4-FFF2-40B4-BE49-F238E27FC236}">
                    <a16:creationId xmlns:a16="http://schemas.microsoft.com/office/drawing/2014/main" id="{7A5BD22E-9916-D892-864C-30DACC09C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42138" y="3953918"/>
                <a:ext cx="2312987" cy="393700"/>
              </a:xfrm>
              <a:prstGeom prst="rect">
                <a:avLst/>
              </a:prstGeom>
              <a:blipFill>
                <a:blip r:embed="rId10"/>
                <a:stretch>
                  <a:fillRect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30">
            <a:extLst>
              <a:ext uri="{FF2B5EF4-FFF2-40B4-BE49-F238E27FC236}">
                <a16:creationId xmlns:a16="http://schemas.microsoft.com/office/drawing/2014/main" id="{C911B6E3-6E1D-7FE2-2550-3518D693A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2839" y="2691420"/>
            <a:ext cx="103586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法向量</a:t>
            </a:r>
          </a:p>
        </p:txBody>
      </p:sp>
      <p:sp>
        <p:nvSpPr>
          <p:cNvPr id="24" name="Text Box 31">
            <a:extLst>
              <a:ext uri="{FF2B5EF4-FFF2-40B4-BE49-F238E27FC236}">
                <a16:creationId xmlns:a16="http://schemas.microsoft.com/office/drawing/2014/main" id="{57ED2DF0-A35B-78A9-D4E4-7601C357E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2839" y="2009033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Cambria Math" panose="02040503050406030204" pitchFamily="18" charset="0"/>
                <a:ea typeface="黑体" panose="02010609060101010101" pitchFamily="49" charset="-122"/>
                <a:cs typeface="+mj-cs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8">
                <a:extLst>
                  <a:ext uri="{FF2B5EF4-FFF2-40B4-BE49-F238E27FC236}">
                    <a16:creationId xmlns:a16="http://schemas.microsoft.com/office/drawing/2014/main" id="{DBE9EE05-8E51-5F12-8B1E-AA895A5FBA6D}"/>
                  </a:ext>
                </a:extLst>
              </p:cNvPr>
              <p:cNvSpPr txBox="1"/>
              <p:nvPr/>
            </p:nvSpPr>
            <p:spPr bwMode="auto">
              <a:xfrm>
                <a:off x="3684588" y="2672634"/>
                <a:ext cx="2341562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𝒏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=(2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 2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 2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𝑧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),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5" name="Object 8">
                <a:extLst>
                  <a:ext uri="{FF2B5EF4-FFF2-40B4-BE49-F238E27FC236}">
                    <a16:creationId xmlns:a16="http://schemas.microsoft.com/office/drawing/2014/main" id="{DBE9EE05-8E51-5F12-8B1E-AA895A5FB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84588" y="2672634"/>
                <a:ext cx="2341562" cy="393700"/>
              </a:xfrm>
              <a:prstGeom prst="rect">
                <a:avLst/>
              </a:prstGeom>
              <a:blipFill>
                <a:blip r:embed="rId11"/>
                <a:stretch>
                  <a:fillRect b="-292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6">
                <a:extLst>
                  <a:ext uri="{FF2B5EF4-FFF2-40B4-BE49-F238E27FC236}">
                    <a16:creationId xmlns:a16="http://schemas.microsoft.com/office/drawing/2014/main" id="{F666D5A8-8B10-CB01-0180-102C5EE5FB6F}"/>
                  </a:ext>
                </a:extLst>
              </p:cNvPr>
              <p:cNvSpPr txBox="1"/>
              <p:nvPr/>
            </p:nvSpPr>
            <p:spPr bwMode="auto">
              <a:xfrm>
                <a:off x="5966397" y="2595839"/>
                <a:ext cx="2891282" cy="7020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</m:ctrlPr>
                            </m:dPr>
                            <m:e>
                              <m:r>
                                <a:rPr lang="zh-CN" altLang="en-US" sz="2200" b="1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𝒏</m:t>
                              </m:r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 </m:t>
                              </m:r>
                            </m:e>
                          </m:d>
                        </m:e>
                        <m:sub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(1</m:t>
                          </m:r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,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,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3)</m:t>
                          </m:r>
                        </m:sub>
                      </m:sSub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=(2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 4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 6)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6" name="Object 26">
                <a:extLst>
                  <a:ext uri="{FF2B5EF4-FFF2-40B4-BE49-F238E27FC236}">
                    <a16:creationId xmlns:a16="http://schemas.microsoft.com/office/drawing/2014/main" id="{F666D5A8-8B10-CB01-0180-102C5EE5F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66397" y="2595839"/>
                <a:ext cx="2891282" cy="7020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utoShape 229">
            <a:extLst>
              <a:ext uri="{FF2B5EF4-FFF2-40B4-BE49-F238E27FC236}">
                <a16:creationId xmlns:a16="http://schemas.microsoft.com/office/drawing/2014/main" id="{ED374FED-35BA-81EF-C50F-8515F6E26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676" y="5403156"/>
            <a:ext cx="575822" cy="431800"/>
          </a:xfrm>
          <a:prstGeom prst="rightArrow">
            <a:avLst>
              <a:gd name="adj1" fmla="val 50000"/>
              <a:gd name="adj2" fmla="val 29136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Box 231">
            <a:extLst>
              <a:ext uri="{FF2B5EF4-FFF2-40B4-BE49-F238E27FC236}">
                <a16:creationId xmlns:a16="http://schemas.microsoft.com/office/drawing/2014/main" id="{147A1237-172E-7A26-2F97-BC2965809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4372" y="5357516"/>
            <a:ext cx="165576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2200" dirty="0">
                <a:latin typeface="Cambria Math" panose="02040503050406030204" pitchFamily="18" charset="0"/>
                <a:ea typeface="黑体" panose="02010609060101010101" pitchFamily="49" charset="-122"/>
                <a:cs typeface="+mj-cs"/>
              </a:rPr>
              <a:t>(</a:t>
            </a:r>
            <a:r>
              <a:rPr lang="zh-CN" altLang="en-US" sz="2200" dirty="0">
                <a:latin typeface="Cambria Math" panose="02040503050406030204" pitchFamily="18" charset="0"/>
                <a:ea typeface="黑体" panose="02010609060101010101" pitchFamily="49" charset="-122"/>
                <a:cs typeface="+mj-cs"/>
              </a:rPr>
              <a:t>过原点</a:t>
            </a:r>
            <a:r>
              <a:rPr lang="en-US" altLang="zh-CN" sz="2200" dirty="0">
                <a:latin typeface="Cambria Math" panose="02040503050406030204" pitchFamily="18" charset="0"/>
                <a:ea typeface="黑体" panose="02010609060101010101" pitchFamily="49" charset="-122"/>
                <a:cs typeface="+mj-cs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对象 1">
                <a:extLst>
                  <a:ext uri="{FF2B5EF4-FFF2-40B4-BE49-F238E27FC236}">
                    <a16:creationId xmlns:a16="http://schemas.microsoft.com/office/drawing/2014/main" id="{D98C16EB-0946-A3F2-5D22-5D46A3CBDE39}"/>
                  </a:ext>
                </a:extLst>
              </p:cNvPr>
              <p:cNvSpPr txBox="1"/>
              <p:nvPr/>
            </p:nvSpPr>
            <p:spPr>
              <a:xfrm>
                <a:off x="7613419" y="5277295"/>
                <a:ext cx="1714500" cy="838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num>
                        <m:den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</m:den>
                      </m:f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num>
                        <m:den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𝑧</m:t>
                          </m:r>
                        </m:num>
                        <m:den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.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9" name="对象 1">
                <a:extLst>
                  <a:ext uri="{FF2B5EF4-FFF2-40B4-BE49-F238E27FC236}">
                    <a16:creationId xmlns:a16="http://schemas.microsoft.com/office/drawing/2014/main" id="{D98C16EB-0946-A3F2-5D22-5D46A3CBD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419" y="5277295"/>
                <a:ext cx="1714500" cy="838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对象 2">
                <a:extLst>
                  <a:ext uri="{FF2B5EF4-FFF2-40B4-BE49-F238E27FC236}">
                    <a16:creationId xmlns:a16="http://schemas.microsoft.com/office/drawing/2014/main" id="{7320E790-FE04-1B9B-46C5-B2123B061F58}"/>
                  </a:ext>
                </a:extLst>
              </p:cNvPr>
              <p:cNvSpPr txBox="1"/>
              <p:nvPr/>
            </p:nvSpPr>
            <p:spPr>
              <a:xfrm>
                <a:off x="2662839" y="3387976"/>
                <a:ext cx="4584700" cy="495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所以球面在点</m:t>
                      </m:r>
                      <m:d>
                        <m:d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1 </m:t>
                          </m:r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,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 2 </m:t>
                          </m:r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,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 3</m:t>
                          </m:r>
                        </m:e>
                      </m:d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处有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: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30" name="对象 2">
                <a:extLst>
                  <a:ext uri="{FF2B5EF4-FFF2-40B4-BE49-F238E27FC236}">
                    <a16:creationId xmlns:a16="http://schemas.microsoft.com/office/drawing/2014/main" id="{7320E790-FE04-1B9B-46C5-B2123B061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839" y="3387976"/>
                <a:ext cx="4584700" cy="495300"/>
              </a:xfrm>
              <a:prstGeom prst="rect">
                <a:avLst/>
              </a:prstGeom>
              <a:blipFill>
                <a:blip r:embed="rId14"/>
                <a:stretch>
                  <a:fillRect l="-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095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/>
      <p:bldP spid="11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8" grpId="0"/>
      <p:bldP spid="29" grpId="0"/>
      <p:bldP spid="3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74077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>
                <a:extLst>
                  <a:ext uri="{FF2B5EF4-FFF2-40B4-BE49-F238E27FC236}">
                    <a16:creationId xmlns:a16="http://schemas.microsoft.com/office/drawing/2014/main" id="{B4404366-0ACE-F8A7-3478-7FD2B64FBA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6804" y="1070253"/>
                <a:ext cx="2106612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+mj-cs"/>
                  </a:rPr>
                  <a:t>一般地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+mj-cs"/>
                  </a:rPr>
                  <a:t> 椭球面</a:t>
                </a:r>
              </a:p>
            </p:txBody>
          </p:sp>
        </mc:Choice>
        <mc:Fallback xmlns="">
          <p:sp>
            <p:nvSpPr>
              <p:cNvPr id="5" name="Text Box 4">
                <a:extLst>
                  <a:ext uri="{FF2B5EF4-FFF2-40B4-BE49-F238E27FC236}">
                    <a16:creationId xmlns:a16="http://schemas.microsoft.com/office/drawing/2014/main" id="{B4404366-0ACE-F8A7-3478-7FD2B64FB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6804" y="1070253"/>
                <a:ext cx="2106612" cy="430887"/>
              </a:xfrm>
              <a:prstGeom prst="rect">
                <a:avLst/>
              </a:prstGeom>
              <a:blipFill>
                <a:blip r:embed="rId4"/>
                <a:stretch>
                  <a:fillRect l="-3757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B2501185-DCB5-B8E9-35F9-0375E38FC4A0}"/>
                  </a:ext>
                </a:extLst>
              </p:cNvPr>
              <p:cNvSpPr txBox="1"/>
              <p:nvPr/>
            </p:nvSpPr>
            <p:spPr bwMode="auto">
              <a:xfrm>
                <a:off x="5527511" y="1541946"/>
                <a:ext cx="2725737" cy="9048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altLang="zh-CN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B2501185-DCB5-B8E9-35F9-0375E38FC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7511" y="1541946"/>
                <a:ext cx="2725737" cy="9048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6">
                <a:extLst>
                  <a:ext uri="{FF2B5EF4-FFF2-40B4-BE49-F238E27FC236}">
                    <a16:creationId xmlns:a16="http://schemas.microsoft.com/office/drawing/2014/main" id="{ABBB9B5D-6A25-1382-8BA8-DE7FABA140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6803" y="2481285"/>
                <a:ext cx="579755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+mj-cs"/>
                  </a:rPr>
                  <a:t>在其上任一点 </a:t>
                </a:r>
                <a:r>
                  <a:rPr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+mj-cs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j-cs"/>
                          </a:rPr>
                        </m:ctrlPr>
                      </m:sSubPr>
                      <m:e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j-cs"/>
                          </a:rPr>
                          <m:t>𝑥</m:t>
                        </m:r>
                      </m:e>
                      <m:sub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j-cs"/>
                          </a:rPr>
                          <m:t>0</m:t>
                        </m:r>
                      </m:sub>
                    </m:sSub>
                    <m:r>
                      <a:rPr lang="en-US" altLang="zh-CN" sz="22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+mj-cs"/>
                      </a:rPr>
                      <m:t>,</m:t>
                    </m:r>
                    <m:sSub>
                      <m:sSubPr>
                        <m:ctrlPr>
                          <a:rPr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j-cs"/>
                          </a:rPr>
                        </m:ctrlPr>
                      </m:sSubPr>
                      <m:e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j-cs"/>
                          </a:rPr>
                          <m:t>𝑦</m:t>
                        </m:r>
                      </m:e>
                      <m:sub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j-cs"/>
                          </a:rPr>
                          <m:t>0</m:t>
                        </m:r>
                      </m:sub>
                    </m:sSub>
                    <m:r>
                      <a:rPr lang="en-US" altLang="zh-CN" sz="22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+mj-cs"/>
                      </a:rPr>
                      <m:t>,</m:t>
                    </m:r>
                    <m:sSub>
                      <m:sSubPr>
                        <m:ctrlPr>
                          <a:rPr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j-cs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j-cs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+mj-cs"/>
                  </a:rPr>
                  <a:t>) </a:t>
                </a:r>
                <a:r>
                  <a:rPr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+mj-cs"/>
                  </a:rPr>
                  <a:t>处的切平面方程为</a:t>
                </a:r>
              </a:p>
            </p:txBody>
          </p:sp>
        </mc:Choice>
        <mc:Fallback xmlns="">
          <p:sp>
            <p:nvSpPr>
              <p:cNvPr id="12" name="Text Box 6">
                <a:extLst>
                  <a:ext uri="{FF2B5EF4-FFF2-40B4-BE49-F238E27FC236}">
                    <a16:creationId xmlns:a16="http://schemas.microsoft.com/office/drawing/2014/main" id="{ABBB9B5D-6A25-1382-8BA8-DE7FABA14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6803" y="2481285"/>
                <a:ext cx="5797550" cy="430887"/>
              </a:xfrm>
              <a:prstGeom prst="rect">
                <a:avLst/>
              </a:prstGeom>
              <a:blipFill>
                <a:blip r:embed="rId6"/>
                <a:stretch>
                  <a:fillRect l="-1367" t="-14085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7">
                <a:extLst>
                  <a:ext uri="{FF2B5EF4-FFF2-40B4-BE49-F238E27FC236}">
                    <a16:creationId xmlns:a16="http://schemas.microsoft.com/office/drawing/2014/main" id="{74DD4359-3CD9-799F-77F4-75B3F7E4E645}"/>
                  </a:ext>
                </a:extLst>
              </p:cNvPr>
              <p:cNvSpPr txBox="1"/>
              <p:nvPr/>
            </p:nvSpPr>
            <p:spPr bwMode="auto">
              <a:xfrm>
                <a:off x="5527511" y="3298377"/>
                <a:ext cx="3221037" cy="8493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altLang="zh-CN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" name="Object 7">
                <a:extLst>
                  <a:ext uri="{FF2B5EF4-FFF2-40B4-BE49-F238E27FC236}">
                    <a16:creationId xmlns:a16="http://schemas.microsoft.com/office/drawing/2014/main" id="{74DD4359-3CD9-799F-77F4-75B3F7E4E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7511" y="3298377"/>
                <a:ext cx="3221037" cy="8493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8">
            <a:extLst>
              <a:ext uri="{FF2B5EF4-FFF2-40B4-BE49-F238E27FC236}">
                <a16:creationId xmlns:a16="http://schemas.microsoft.com/office/drawing/2014/main" id="{D2DC847A-7BDE-430F-4FA2-28FE7FB83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803" y="4235071"/>
            <a:ext cx="189706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Cambria Math" panose="02040503050406030204" pitchFamily="18" charset="0"/>
                <a:ea typeface="黑体" panose="02010609060101010101" pitchFamily="49" charset="-122"/>
                <a:cs typeface="+mj-cs"/>
              </a:rPr>
              <a:t>法线方程为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9">
                <a:extLst>
                  <a:ext uri="{FF2B5EF4-FFF2-40B4-BE49-F238E27FC236}">
                    <a16:creationId xmlns:a16="http://schemas.microsoft.com/office/drawing/2014/main" id="{CE245ABB-4564-854B-3AF8-D0AFAE5B81EB}"/>
                  </a:ext>
                </a:extLst>
              </p:cNvPr>
              <p:cNvSpPr txBox="1"/>
              <p:nvPr/>
            </p:nvSpPr>
            <p:spPr bwMode="auto">
              <a:xfrm>
                <a:off x="5183865" y="4879402"/>
                <a:ext cx="3678237" cy="9720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type m:val="skw"/>
                              <m:ctrlPr>
                                <a:rPr lang="zh-CN" altLang="en-US" sz="22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type m:val="skw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type m:val="skw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Object 9">
                <a:extLst>
                  <a:ext uri="{FF2B5EF4-FFF2-40B4-BE49-F238E27FC236}">
                    <a16:creationId xmlns:a16="http://schemas.microsoft.com/office/drawing/2014/main" id="{CE245ABB-4564-854B-3AF8-D0AFAE5B8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3865" y="4879402"/>
                <a:ext cx="3678237" cy="9720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88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13" grpId="0"/>
      <p:bldP spid="14" grpId="0"/>
      <p:bldP spid="1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9819D82-FCDB-FDA5-1D08-33C4D21AA0AE}"/>
              </a:ext>
            </a:extLst>
          </p:cNvPr>
          <p:cNvSpPr txBox="1">
            <a:spLocks noChangeArrowheads="1"/>
          </p:cNvSpPr>
          <p:nvPr/>
        </p:nvSpPr>
        <p:spPr>
          <a:xfrm>
            <a:off x="1131004" y="731028"/>
            <a:ext cx="3407569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 </a:t>
            </a:r>
            <a:r>
              <a:rPr lang="en-US" altLang="zh-CN" sz="28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求旋转抛物面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890DE6B9-410B-D89B-86B4-BC34972EEC57}"/>
                  </a:ext>
                </a:extLst>
              </p:cNvPr>
              <p:cNvSpPr txBox="1"/>
              <p:nvPr/>
            </p:nvSpPr>
            <p:spPr bwMode="auto">
              <a:xfrm>
                <a:off x="4104304" y="714006"/>
                <a:ext cx="3003597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−1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890DE6B9-410B-D89B-86B4-BC34972EE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4304" y="714006"/>
                <a:ext cx="3003597" cy="469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4">
            <a:extLst>
              <a:ext uri="{FF2B5EF4-FFF2-40B4-BE49-F238E27FC236}">
                <a16:creationId xmlns:a16="http://schemas.microsoft.com/office/drawing/2014/main" id="{9114E7D4-4BF0-DE58-022F-C7BC70207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117" y="723588"/>
            <a:ext cx="36923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在点 </a:t>
            </a:r>
            <a:r>
              <a: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</a:rPr>
              <a:t>(2 , 1 , 4) 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处的切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C027B14C-10A2-1A7A-7128-695D99F23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4505" y="1310464"/>
            <a:ext cx="4648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平面及法线方程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21CE6A2A-9991-15A2-05B1-79A18826C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004" y="2000662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52D7D999-676E-2D16-68E9-3B6B23DA5249}"/>
                  </a:ext>
                </a:extLst>
              </p:cNvPr>
              <p:cNvSpPr txBox="1"/>
              <p:nvPr/>
            </p:nvSpPr>
            <p:spPr bwMode="auto">
              <a:xfrm>
                <a:off x="1894505" y="2030697"/>
                <a:ext cx="3487737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设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 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𝑓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)=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−1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52D7D999-676E-2D16-68E9-3B6B23DA5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94505" y="2030697"/>
                <a:ext cx="3487737" cy="469900"/>
              </a:xfrm>
              <a:prstGeom prst="rect">
                <a:avLst/>
              </a:prstGeom>
              <a:blipFill>
                <a:blip r:embed="rId5"/>
                <a:stretch>
                  <a:fillRect l="-1224" b="-90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0">
            <a:extLst>
              <a:ext uri="{FF2B5EF4-FFF2-40B4-BE49-F238E27FC236}">
                <a16:creationId xmlns:a16="http://schemas.microsoft.com/office/drawing/2014/main" id="{448A8A8C-0D42-B701-C2E1-1EB7D4FDB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4505" y="4207967"/>
            <a:ext cx="173743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2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切平面方程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266569A4-5F8D-CF90-1996-07CD845DF206}"/>
                  </a:ext>
                </a:extLst>
              </p:cNvPr>
              <p:cNvSpPr txBox="1"/>
              <p:nvPr/>
            </p:nvSpPr>
            <p:spPr bwMode="auto">
              <a:xfrm>
                <a:off x="3369293" y="4192513"/>
                <a:ext cx="1485328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4(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−2)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266569A4-5F8D-CF90-1996-07CD845DF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9293" y="4192513"/>
                <a:ext cx="1485328" cy="393700"/>
              </a:xfrm>
              <a:prstGeom prst="rect">
                <a:avLst/>
              </a:prstGeom>
              <a:blipFill>
                <a:blip r:embed="rId6"/>
                <a:stretch>
                  <a:fillRect l="-412"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2">
                <a:extLst>
                  <a:ext uri="{FF2B5EF4-FFF2-40B4-BE49-F238E27FC236}">
                    <a16:creationId xmlns:a16="http://schemas.microsoft.com/office/drawing/2014/main" id="{1D6C173E-971E-0C9A-F7A7-84031FA92098}"/>
                  </a:ext>
                </a:extLst>
              </p:cNvPr>
              <p:cNvSpPr txBox="1"/>
              <p:nvPr/>
            </p:nvSpPr>
            <p:spPr bwMode="auto">
              <a:xfrm>
                <a:off x="3369293" y="4853764"/>
                <a:ext cx="30480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4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+2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−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𝑧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−6=0. 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6" name="Object 12">
                <a:extLst>
                  <a:ext uri="{FF2B5EF4-FFF2-40B4-BE49-F238E27FC236}">
                    <a16:creationId xmlns:a16="http://schemas.microsoft.com/office/drawing/2014/main" id="{1D6C173E-971E-0C9A-F7A7-84031FA92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9293" y="4853764"/>
                <a:ext cx="3048000" cy="393700"/>
              </a:xfrm>
              <a:prstGeom prst="rect">
                <a:avLst/>
              </a:prstGeom>
              <a:blipFill>
                <a:blip r:embed="rId7"/>
                <a:stretch>
                  <a:fillRect l="-200" b="-292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13">
            <a:extLst>
              <a:ext uri="{FF2B5EF4-FFF2-40B4-BE49-F238E27FC236}">
                <a16:creationId xmlns:a16="http://schemas.microsoft.com/office/drawing/2014/main" id="{38D0971F-6BF4-478A-DA52-8B9BDB422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4505" y="4868198"/>
            <a:ext cx="838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Cambria Math" panose="02040503050406030204" pitchFamily="18" charset="0"/>
                <a:ea typeface="黑体" panose="02010609060101010101" pitchFamily="49" charset="-122"/>
                <a:cs typeface="+mj-cs"/>
              </a:rPr>
              <a:t>即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257743B3-855C-06D5-9BCF-BF8D52DD9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4505" y="5578472"/>
            <a:ext cx="143827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法线方程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5">
                <a:extLst>
                  <a:ext uri="{FF2B5EF4-FFF2-40B4-BE49-F238E27FC236}">
                    <a16:creationId xmlns:a16="http://schemas.microsoft.com/office/drawing/2014/main" id="{20CDA630-348A-0F61-40BC-1F01D29AE1FF}"/>
                  </a:ext>
                </a:extLst>
              </p:cNvPr>
              <p:cNvSpPr txBox="1"/>
              <p:nvPr/>
            </p:nvSpPr>
            <p:spPr bwMode="auto">
              <a:xfrm>
                <a:off x="3369293" y="5431614"/>
                <a:ext cx="32512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−2</m:t>
                          </m:r>
                        </m:num>
                        <m:den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−1</m:t>
                          </m:r>
                        </m:num>
                        <m:den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𝑧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−4</m:t>
                          </m:r>
                        </m:num>
                        <m:den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−1</m:t>
                          </m:r>
                        </m:den>
                      </m:f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.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9" name="Object 15">
                <a:extLst>
                  <a:ext uri="{FF2B5EF4-FFF2-40B4-BE49-F238E27FC236}">
                    <a16:creationId xmlns:a16="http://schemas.microsoft.com/office/drawing/2014/main" id="{20CDA630-348A-0F61-40BC-1F01D29AE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9293" y="5431614"/>
                <a:ext cx="3251200" cy="838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2">
                <a:extLst>
                  <a:ext uri="{FF2B5EF4-FFF2-40B4-BE49-F238E27FC236}">
                    <a16:creationId xmlns:a16="http://schemas.microsoft.com/office/drawing/2014/main" id="{3B185C92-FD4A-076D-167C-85AFC3B16630}"/>
                  </a:ext>
                </a:extLst>
              </p:cNvPr>
              <p:cNvSpPr txBox="1"/>
              <p:nvPr/>
            </p:nvSpPr>
            <p:spPr bwMode="auto">
              <a:xfrm>
                <a:off x="4415320" y="4198863"/>
                <a:ext cx="1737432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+2(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−1)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0" name="Object 22">
                <a:extLst>
                  <a:ext uri="{FF2B5EF4-FFF2-40B4-BE49-F238E27FC236}">
                    <a16:creationId xmlns:a16="http://schemas.microsoft.com/office/drawing/2014/main" id="{3B185C92-FD4A-076D-167C-85AFC3B16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5320" y="4198863"/>
                <a:ext cx="1737432" cy="393700"/>
              </a:xfrm>
              <a:prstGeom prst="rect">
                <a:avLst/>
              </a:prstGeom>
              <a:blipFill>
                <a:blip r:embed="rId9"/>
                <a:stretch>
                  <a:fillRect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3">
                <a:extLst>
                  <a:ext uri="{FF2B5EF4-FFF2-40B4-BE49-F238E27FC236}">
                    <a16:creationId xmlns:a16="http://schemas.microsoft.com/office/drawing/2014/main" id="{BE438747-019A-28DE-5006-EDB5992CE121}"/>
                  </a:ext>
                </a:extLst>
              </p:cNvPr>
              <p:cNvSpPr txBox="1"/>
              <p:nvPr/>
            </p:nvSpPr>
            <p:spPr bwMode="auto">
              <a:xfrm>
                <a:off x="5667103" y="4202038"/>
                <a:ext cx="2110804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−(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𝑧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−4)=0,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1" name="Object 23">
                <a:extLst>
                  <a:ext uri="{FF2B5EF4-FFF2-40B4-BE49-F238E27FC236}">
                    <a16:creationId xmlns:a16="http://schemas.microsoft.com/office/drawing/2014/main" id="{BE438747-019A-28DE-5006-EDB5992CE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67103" y="4202038"/>
                <a:ext cx="2110804" cy="393700"/>
              </a:xfrm>
              <a:prstGeom prst="rect">
                <a:avLst/>
              </a:prstGeom>
              <a:blipFill>
                <a:blip r:embed="rId10"/>
                <a:stretch>
                  <a:fillRect b="-292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30">
            <a:extLst>
              <a:ext uri="{FF2B5EF4-FFF2-40B4-BE49-F238E27FC236}">
                <a16:creationId xmlns:a16="http://schemas.microsoft.com/office/drawing/2014/main" id="{F3F6F77A-9ACE-F9A3-3E2C-57003CA2F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4505" y="2831262"/>
            <a:ext cx="103586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法向量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8">
                <a:extLst>
                  <a:ext uri="{FF2B5EF4-FFF2-40B4-BE49-F238E27FC236}">
                    <a16:creationId xmlns:a16="http://schemas.microsoft.com/office/drawing/2014/main" id="{4FA10326-9D05-02FA-DC46-BBD01E05B881}"/>
                  </a:ext>
                </a:extLst>
              </p:cNvPr>
              <p:cNvSpPr txBox="1"/>
              <p:nvPr/>
            </p:nvSpPr>
            <p:spPr bwMode="auto">
              <a:xfrm>
                <a:off x="4975843" y="2035596"/>
                <a:ext cx="2933700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则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 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sub>
                      </m:sSub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=2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sub>
                      </m:sSub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=2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3" name="Object 8">
                <a:extLst>
                  <a:ext uri="{FF2B5EF4-FFF2-40B4-BE49-F238E27FC236}">
                    <a16:creationId xmlns:a16="http://schemas.microsoft.com/office/drawing/2014/main" id="{4FA10326-9D05-02FA-DC46-BBD01E05B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75843" y="2035596"/>
                <a:ext cx="2933700" cy="495300"/>
              </a:xfrm>
              <a:prstGeom prst="rect">
                <a:avLst/>
              </a:prstGeom>
              <a:blipFill>
                <a:blip r:embed="rId11"/>
                <a:stretch>
                  <a:fillRect l="-1455" b="-24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6">
                <a:extLst>
                  <a:ext uri="{FF2B5EF4-FFF2-40B4-BE49-F238E27FC236}">
                    <a16:creationId xmlns:a16="http://schemas.microsoft.com/office/drawing/2014/main" id="{89D4A653-1514-416D-6D2A-9048D2D1660C}"/>
                  </a:ext>
                </a:extLst>
              </p:cNvPr>
              <p:cNvSpPr txBox="1"/>
              <p:nvPr/>
            </p:nvSpPr>
            <p:spPr bwMode="auto">
              <a:xfrm>
                <a:off x="2911316" y="2706030"/>
                <a:ext cx="6230542" cy="7304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</m:ctrlPr>
                            </m:dPr>
                            <m:e>
                              <m:r>
                                <a:rPr lang="zh-CN" altLang="en-US" sz="2200" b="1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𝒏</m:t>
                              </m:r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 </m:t>
                              </m:r>
                            </m:e>
                          </m:d>
                        </m:e>
                        <m:sub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(2</m:t>
                          </m:r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,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,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4)</m:t>
                          </m:r>
                        </m:sub>
                      </m:sSub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(2</m:t>
                              </m:r>
                              <m:r>
                                <a:rPr lang="zh-CN" altLang="en-US" sz="220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𝑥</m:t>
                              </m:r>
                              <m:r>
                                <a:rPr lang="en-US" altLang="zh-CN" sz="220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,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 </m:t>
                              </m:r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2</m:t>
                              </m:r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𝑦</m:t>
                              </m:r>
                              <m:r>
                                <a:rPr lang="en-US" altLang="zh-CN" sz="220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,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 </m:t>
                              </m:r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−1)</m:t>
                              </m:r>
                            </m:e>
                          </m:d>
                        </m:e>
                        <m:sub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(2</m:t>
                          </m:r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,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,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4)</m:t>
                          </m:r>
                        </m:sub>
                      </m:sSub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=(4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 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2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−1)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4" name="Object 26">
                <a:extLst>
                  <a:ext uri="{FF2B5EF4-FFF2-40B4-BE49-F238E27FC236}">
                    <a16:creationId xmlns:a16="http://schemas.microsoft.com/office/drawing/2014/main" id="{89D4A653-1514-416D-6D2A-9048D2D16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1316" y="2706030"/>
                <a:ext cx="6230542" cy="73047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对象 2">
                <a:extLst>
                  <a:ext uri="{FF2B5EF4-FFF2-40B4-BE49-F238E27FC236}">
                    <a16:creationId xmlns:a16="http://schemas.microsoft.com/office/drawing/2014/main" id="{9F7A744A-CBDB-59E1-18C1-848A2CD4DDE7}"/>
                  </a:ext>
                </a:extLst>
              </p:cNvPr>
              <p:cNvSpPr txBox="1"/>
              <p:nvPr/>
            </p:nvSpPr>
            <p:spPr>
              <a:xfrm>
                <a:off x="1894505" y="3567095"/>
                <a:ext cx="3873500" cy="495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所以在点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 </m:t>
                      </m:r>
                      <m:d>
                        <m:d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2 </m:t>
                          </m:r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,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 1 </m:t>
                          </m:r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,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 4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 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处有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: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5" name="对象 2">
                <a:extLst>
                  <a:ext uri="{FF2B5EF4-FFF2-40B4-BE49-F238E27FC236}">
                    <a16:creationId xmlns:a16="http://schemas.microsoft.com/office/drawing/2014/main" id="{9F7A744A-CBDB-59E1-18C1-848A2CD4D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505" y="3567095"/>
                <a:ext cx="3873500" cy="495300"/>
              </a:xfrm>
              <a:prstGeom prst="rect">
                <a:avLst/>
              </a:prstGeom>
              <a:blipFill>
                <a:blip r:embed="rId13"/>
                <a:stretch>
                  <a:fillRect l="-1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01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/>
      <p:bldP spid="11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9010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2389</TotalTime>
  <Words>3128</Words>
  <Application>Microsoft Office PowerPoint</Application>
  <PresentationFormat>宽屏</PresentationFormat>
  <Paragraphs>461</Paragraphs>
  <Slides>40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2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Calisto MT</vt:lpstr>
      <vt:lpstr>Cambria Math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EDZ</dc:creator>
  <cp:lastModifiedBy>yang fan</cp:lastModifiedBy>
  <cp:revision>47</cp:revision>
  <dcterms:created xsi:type="dcterms:W3CDTF">2022-09-13T06:18:22Z</dcterms:created>
  <dcterms:modified xsi:type="dcterms:W3CDTF">2023-07-06T03:20:22Z</dcterms:modified>
</cp:coreProperties>
</file>