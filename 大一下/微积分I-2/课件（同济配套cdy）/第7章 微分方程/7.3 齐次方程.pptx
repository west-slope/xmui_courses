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2"/>
    <p:sldId id="679" r:id="rId3"/>
    <p:sldId id="664" r:id="rId4"/>
    <p:sldId id="665" r:id="rId5"/>
    <p:sldId id="264" r:id="rId6"/>
    <p:sldId id="694" r:id="rId7"/>
    <p:sldId id="696" r:id="rId8"/>
    <p:sldId id="697" r:id="rId9"/>
    <p:sldId id="700" r:id="rId10"/>
    <p:sldId id="701" r:id="rId11"/>
    <p:sldId id="703" r:id="rId12"/>
    <p:sldId id="695" r:id="rId13"/>
    <p:sldId id="704" r:id="rId14"/>
    <p:sldId id="705" r:id="rId15"/>
    <p:sldId id="707" r:id="rId16"/>
    <p:sldId id="708" r:id="rId17"/>
    <p:sldId id="709" r:id="rId18"/>
    <p:sldId id="710" r:id="rId19"/>
    <p:sldId id="711" r:id="rId20"/>
    <p:sldId id="364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186" userDrawn="1">
          <p15:clr>
            <a:srgbClr val="A4A3A4"/>
          </p15:clr>
        </p15:guide>
        <p15:guide id="2" orient="horz" pos="26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1D9D79"/>
    <a:srgbClr val="019B4E"/>
    <a:srgbClr val="E3F0DB"/>
    <a:srgbClr val="4A7BA7"/>
    <a:srgbClr val="BBBBBB"/>
    <a:srgbClr val="3333CC"/>
    <a:srgbClr val="335AE6"/>
    <a:srgbClr val="4A7BA8"/>
    <a:srgbClr val="EE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520" autoAdjust="0"/>
    <p:restoredTop sz="97078" autoAdjust="0"/>
  </p:normalViewPr>
  <p:slideViewPr>
    <p:cSldViewPr snapToGrid="0" showGuides="1">
      <p:cViewPr varScale="1">
        <p:scale>
          <a:sx n="68" d="100"/>
          <a:sy n="68" d="100"/>
        </p:scale>
        <p:origin x="60" y="264"/>
      </p:cViewPr>
      <p:guideLst>
        <p:guide pos="1186"/>
        <p:guide orient="horz" pos="26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C4A2F73A-3C5B-82AF-15EC-63E4D9D57965}"/>
              </a:ext>
            </a:extLst>
          </p:cNvPr>
          <p:cNvGrpSpPr/>
          <p:nvPr userDrawn="1"/>
        </p:nvGrpSpPr>
        <p:grpSpPr>
          <a:xfrm>
            <a:off x="-1833" y="87736"/>
            <a:ext cx="12177321" cy="6728203"/>
            <a:chOff x="-1833" y="87736"/>
            <a:chExt cx="12177321" cy="6728203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62F8B7E-9179-733C-0ACB-AB6AD4529971}"/>
                </a:ext>
              </a:extLst>
            </p:cNvPr>
            <p:cNvGrpSpPr/>
            <p:nvPr/>
          </p:nvGrpSpPr>
          <p:grpSpPr>
            <a:xfrm>
              <a:off x="297498" y="87736"/>
              <a:ext cx="11567400" cy="6728203"/>
              <a:chOff x="297498" y="87736"/>
              <a:chExt cx="11567400" cy="6728203"/>
            </a:xfrm>
          </p:grpSpPr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9F46A491-4187-AAFF-2787-C31EE127228E}"/>
                  </a:ext>
                </a:extLst>
              </p:cNvPr>
              <p:cNvSpPr/>
              <p:nvPr/>
            </p:nvSpPr>
            <p:spPr>
              <a:xfrm>
                <a:off x="297498" y="6631105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A822BA7C-6737-3883-E2DC-F4A4ED46C862}"/>
                  </a:ext>
                </a:extLst>
              </p:cNvPr>
              <p:cNvSpPr/>
              <p:nvPr/>
            </p:nvSpPr>
            <p:spPr>
              <a:xfrm rot="2659048">
                <a:off x="10030414" y="147517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1214A70-446B-01B6-833C-DE159BF8B5B0}"/>
                  </a:ext>
                </a:extLst>
              </p:cNvPr>
              <p:cNvSpPr/>
              <p:nvPr/>
            </p:nvSpPr>
            <p:spPr>
              <a:xfrm>
                <a:off x="444552" y="6509234"/>
                <a:ext cx="1663065" cy="3067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第三节</a:t>
                </a:r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齐次方程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066ED5A1-6344-F268-0C22-EBDB3B9153C6}"/>
                  </a:ext>
                </a:extLst>
              </p:cNvPr>
              <p:cNvSpPr/>
              <p:nvPr/>
            </p:nvSpPr>
            <p:spPr>
              <a:xfrm>
                <a:off x="10279303" y="87736"/>
                <a:ext cx="1585595" cy="306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第七章 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微分方程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ED4F251-B1ED-8515-ED81-2A7FBE7365B9}"/>
                </a:ext>
              </a:extLst>
            </p:cNvPr>
            <p:cNvCxnSpPr/>
            <p:nvPr/>
          </p:nvCxnSpPr>
          <p:spPr>
            <a:xfrm flipH="1">
              <a:off x="-1833" y="217535"/>
              <a:ext cx="9720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A9146E2-A3FF-1185-6F98-A8C06250B51D}"/>
                </a:ext>
              </a:extLst>
            </p:cNvPr>
            <p:cNvCxnSpPr/>
            <p:nvPr/>
          </p:nvCxnSpPr>
          <p:spPr>
            <a:xfrm flipH="1">
              <a:off x="2059488" y="6653109"/>
              <a:ext cx="10116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53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5.jpe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6.jpe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7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75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3" Type="http://schemas.openxmlformats.org/officeDocument/2006/relationships/image" Target="../media/image390.png"/><Relationship Id="rId7" Type="http://schemas.openxmlformats.org/officeDocument/2006/relationships/image" Target="../media/image430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0.png"/><Relationship Id="rId5" Type="http://schemas.openxmlformats.org/officeDocument/2006/relationships/image" Target="../media/image410.png"/><Relationship Id="rId4" Type="http://schemas.openxmlformats.org/officeDocument/2006/relationships/image" Target="../media/image400.pn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0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46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1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9" Type="http://schemas.openxmlformats.org/officeDocument/2006/relationships/image" Target="../media/image1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4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0.png"/><Relationship Id="rId5" Type="http://schemas.openxmlformats.org/officeDocument/2006/relationships/image" Target="../media/image116.png"/><Relationship Id="rId4" Type="http://schemas.openxmlformats.org/officeDocument/2006/relationships/image" Target="../media/image1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>
            <a:extLst>
              <a:ext uri="{FF2B5EF4-FFF2-40B4-BE49-F238E27FC236}">
                <a16:creationId xmlns:a16="http://schemas.microsoft.com/office/drawing/2014/main" id="{7E27F1AC-AD87-4217-935F-6A5D24FFC9D3}"/>
              </a:ext>
            </a:extLst>
          </p:cNvPr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3397C8-B2D9-4E67-AF1E-E82D608FF52A}"/>
              </a:ext>
            </a:extLst>
          </p:cNvPr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A78A399D-A9FF-4852-908C-0BB3167A460B}"/>
              </a:ext>
            </a:extLst>
          </p:cNvPr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EBEB345-2912-4E4B-832E-6FF90E594A59}"/>
              </a:ext>
            </a:extLst>
          </p:cNvPr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33888-24AB-4B09-992C-9E7FBB903E1A}"/>
              </a:ext>
            </a:extLst>
          </p:cNvPr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  <p:extLst>
      <p:ext uri="{BB962C8B-B14F-4D97-AF65-F5344CB8AC3E}">
        <p14:creationId xmlns:p14="http://schemas.microsoft.com/office/powerpoint/2010/main" val="11705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604010" y="4450080"/>
            <a:ext cx="2087880" cy="1557020"/>
            <a:chOff x="3633" y="6990"/>
            <a:chExt cx="3288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1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实际问题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169" y="8068"/>
              <a:ext cx="2216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400" b="1" dirty="0">
                  <a:sym typeface="+mn-ea"/>
                </a:rPr>
                <a:t>函数关系</a:t>
              </a:r>
              <a:endParaRPr lang="zh-CN" altLang="en-US" sz="2400" b="1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37660" y="4450080"/>
            <a:ext cx="2795905" cy="1560474"/>
            <a:chOff x="7155" y="6949"/>
            <a:chExt cx="4403" cy="2457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36" y="6184"/>
              <a:ext cx="2041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246" y="6949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285" y="7876"/>
              <a:ext cx="4144" cy="1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含有未知函数及其</a:t>
              </a:r>
            </a:p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导数的等式</a:t>
              </a:r>
              <a:endParaRPr lang="zh-CN" altLang="en-US" sz="2400" b="1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78065" y="4450080"/>
            <a:ext cx="2771775" cy="1558568"/>
            <a:chOff x="7484" y="6949"/>
            <a:chExt cx="4365" cy="2454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6" y="6200"/>
              <a:ext cx="2041" cy="43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077" y="6949"/>
              <a:ext cx="3208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微分方程求解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091" y="8020"/>
              <a:ext cx="3180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400" b="1" dirty="0">
                  <a:sym typeface="+mn-ea"/>
                </a:rPr>
                <a:t>找到未知函数</a:t>
              </a:r>
              <a:endParaRPr lang="zh-CN" altLang="en-US" sz="2400" b="1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3445510" y="884555"/>
            <a:ext cx="59334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kumimoji="1"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53060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66686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869721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7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C</a:t>
            </a:r>
            <a:r>
              <a:rPr kumimoji="1" lang="en-GB" altLang="zh-CN" sz="3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747135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  录</a:t>
            </a:r>
            <a:endParaRPr kumimoji="1" lang="zh-CN" altLang="en-US" sz="40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07356" y="922003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295793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7C089F8-CC2D-1861-5E21-18BBB5F858D0}"/>
              </a:ext>
            </a:extLst>
          </p:cNvPr>
          <p:cNvSpPr/>
          <p:nvPr/>
        </p:nvSpPr>
        <p:spPr>
          <a:xfrm>
            <a:off x="705485" y="2703195"/>
            <a:ext cx="43103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微分方程的基本概念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19E42B-419D-2F0A-4A66-E6FBAA7AC215}"/>
              </a:ext>
            </a:extLst>
          </p:cNvPr>
          <p:cNvSpPr/>
          <p:nvPr/>
        </p:nvSpPr>
        <p:spPr>
          <a:xfrm>
            <a:off x="705485" y="3399790"/>
            <a:ext cx="33134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 齐次方程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415B3-7AE5-8C08-DDD0-C706CBE57836}"/>
              </a:ext>
            </a:extLst>
          </p:cNvPr>
          <p:cNvSpPr/>
          <p:nvPr/>
        </p:nvSpPr>
        <p:spPr>
          <a:xfrm>
            <a:off x="5906135" y="2703195"/>
            <a:ext cx="53079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可分离变量的微分方程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BF91A5-9B7A-4196-A369-3AF9980F63C4}"/>
              </a:ext>
            </a:extLst>
          </p:cNvPr>
          <p:cNvSpPr/>
          <p:nvPr/>
        </p:nvSpPr>
        <p:spPr>
          <a:xfrm>
            <a:off x="5906046" y="3397754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一阶线性微分方程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5FB52C-0FA5-BA75-9D97-D89AFE822F96}"/>
              </a:ext>
            </a:extLst>
          </p:cNvPr>
          <p:cNvSpPr/>
          <p:nvPr/>
        </p:nvSpPr>
        <p:spPr>
          <a:xfrm>
            <a:off x="705172" y="414197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可降解的高阶微分方程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5164A2-8DFC-0516-B44F-BC507E5D016F}"/>
              </a:ext>
            </a:extLst>
          </p:cNvPr>
          <p:cNvSpPr/>
          <p:nvPr/>
        </p:nvSpPr>
        <p:spPr>
          <a:xfrm>
            <a:off x="705485" y="4850130"/>
            <a:ext cx="51663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常系数齐次线性微分方程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405AC9-3AE9-C8B8-E88A-9F06DB9030E3}"/>
              </a:ext>
            </a:extLst>
          </p:cNvPr>
          <p:cNvSpPr/>
          <p:nvPr/>
        </p:nvSpPr>
        <p:spPr>
          <a:xfrm>
            <a:off x="5906135" y="4142105"/>
            <a:ext cx="49669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高阶线性微分方程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EB8BAB-CE62-50C6-9A12-0E5613FDBB6A}"/>
              </a:ext>
            </a:extLst>
          </p:cNvPr>
          <p:cNvSpPr/>
          <p:nvPr/>
        </p:nvSpPr>
        <p:spPr>
          <a:xfrm>
            <a:off x="5906135" y="4844415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常系数非齐次线性微分方程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48A421-A6B5-7F0E-D964-9CC10A098261}"/>
              </a:ext>
            </a:extLst>
          </p:cNvPr>
          <p:cNvSpPr/>
          <p:nvPr/>
        </p:nvSpPr>
        <p:spPr>
          <a:xfrm>
            <a:off x="579755" y="5603875"/>
            <a:ext cx="49060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欧拉方程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7CE23B-A6EC-C2E3-19C2-76156EE39F30}"/>
              </a:ext>
            </a:extLst>
          </p:cNvPr>
          <p:cNvSpPr/>
          <p:nvPr/>
        </p:nvSpPr>
        <p:spPr>
          <a:xfrm>
            <a:off x="5768975" y="5603875"/>
            <a:ext cx="58032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常系数线性微分方程组解法举例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807535"/>
            <a:ext cx="11536045" cy="3891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4487458" y="705836"/>
            <a:ext cx="3300904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齐次方程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94EF04B-613F-D018-B7A9-23C9FD7BCF92}"/>
              </a:ext>
            </a:extLst>
          </p:cNvPr>
          <p:cNvGrpSpPr/>
          <p:nvPr/>
        </p:nvGrpSpPr>
        <p:grpSpPr>
          <a:xfrm>
            <a:off x="3746433" y="2636463"/>
            <a:ext cx="4782955" cy="901065"/>
            <a:chOff x="5061" y="3172"/>
            <a:chExt cx="6615" cy="1419"/>
          </a:xfrm>
        </p:grpSpPr>
        <p:sp>
          <p:nvSpPr>
            <p:cNvPr id="8" name="矩形: 圆角 40">
              <a:extLst>
                <a:ext uri="{FF2B5EF4-FFF2-40B4-BE49-F238E27FC236}">
                  <a16:creationId xmlns:a16="http://schemas.microsoft.com/office/drawing/2014/main" id="{4F17D074-7FBE-B5B8-BA65-AD31854300E8}"/>
                </a:ext>
              </a:extLst>
            </p:cNvPr>
            <p:cNvSpPr/>
            <p:nvPr/>
          </p:nvSpPr>
          <p:spPr>
            <a:xfrm flipV="1">
              <a:off x="5061" y="3172"/>
              <a:ext cx="6615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17C37B-1329-71E7-F5B7-13B9CBAD8C10}"/>
                </a:ext>
              </a:extLst>
            </p:cNvPr>
            <p:cNvSpPr/>
            <p:nvPr/>
          </p:nvSpPr>
          <p:spPr>
            <a:xfrm>
              <a:off x="6108" y="3470"/>
              <a:ext cx="3684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齐次方程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40839C-8650-9BA8-0849-A9C28B188094}"/>
              </a:ext>
            </a:extLst>
          </p:cNvPr>
          <p:cNvGrpSpPr/>
          <p:nvPr/>
        </p:nvGrpSpPr>
        <p:grpSpPr>
          <a:xfrm>
            <a:off x="3746500" y="4006247"/>
            <a:ext cx="4782820" cy="901065"/>
            <a:chOff x="5061" y="5187"/>
            <a:chExt cx="7532" cy="1419"/>
          </a:xfrm>
        </p:grpSpPr>
        <p:sp>
          <p:nvSpPr>
            <p:cNvPr id="12" name="矩形: 圆角 40">
              <a:extLst>
                <a:ext uri="{FF2B5EF4-FFF2-40B4-BE49-F238E27FC236}">
                  <a16:creationId xmlns:a16="http://schemas.microsoft.com/office/drawing/2014/main" id="{0E23C850-1E81-1882-C298-41BE7B747BF3}"/>
                </a:ext>
              </a:extLst>
            </p:cNvPr>
            <p:cNvSpPr/>
            <p:nvPr/>
          </p:nvSpPr>
          <p:spPr>
            <a:xfrm flipV="1">
              <a:off x="5061" y="5187"/>
              <a:ext cx="7532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/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D491C76-A6A9-F9C5-91AE-D01B8EC620E6}"/>
                </a:ext>
              </a:extLst>
            </p:cNvPr>
            <p:cNvSpPr/>
            <p:nvPr/>
          </p:nvSpPr>
          <p:spPr>
            <a:xfrm>
              <a:off x="6108" y="5485"/>
              <a:ext cx="5380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可化为齐次方程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89282" y="909332"/>
            <a:ext cx="5976936" cy="584775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一、齐次方程</a:t>
            </a:r>
          </a:p>
        </p:txBody>
      </p:sp>
      <p:sp>
        <p:nvSpPr>
          <p:cNvPr id="14" name="右箭头 13"/>
          <p:cNvSpPr/>
          <p:nvPr/>
        </p:nvSpPr>
        <p:spPr>
          <a:xfrm>
            <a:off x="4547041" y="4082726"/>
            <a:ext cx="1258154" cy="298599"/>
          </a:xfrm>
          <a:prstGeom prst="rightArrow">
            <a:avLst>
              <a:gd name="adj1" fmla="val 50000"/>
              <a:gd name="adj2" fmla="val 88726"/>
            </a:avLst>
          </a:prstGeom>
          <a:solidFill>
            <a:srgbClr val="04926A"/>
          </a:solidFill>
          <a:ln>
            <a:solidFill>
              <a:srgbClr val="04926A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7567619" y="5131126"/>
            <a:ext cx="1258154" cy="298599"/>
          </a:xfrm>
          <a:prstGeom prst="rightArrow">
            <a:avLst>
              <a:gd name="adj1" fmla="val 50000"/>
              <a:gd name="adj2" fmla="val 88726"/>
            </a:avLst>
          </a:prstGeom>
          <a:solidFill>
            <a:srgbClr val="04926A"/>
          </a:solidFill>
          <a:ln>
            <a:solidFill>
              <a:srgbClr val="04926A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988F72F-9089-10CA-2312-8C2F4ADAFF7B}"/>
              </a:ext>
            </a:extLst>
          </p:cNvPr>
          <p:cNvGrpSpPr/>
          <p:nvPr/>
        </p:nvGrpSpPr>
        <p:grpSpPr>
          <a:xfrm>
            <a:off x="776521" y="1751586"/>
            <a:ext cx="10481296" cy="1706245"/>
            <a:chOff x="763821" y="1624586"/>
            <a:chExt cx="10481296" cy="1706245"/>
          </a:xfrm>
        </p:grpSpPr>
        <p:sp>
          <p:nvSpPr>
            <p:cNvPr id="20" name="Rectangle 1"/>
            <p:cNvSpPr/>
            <p:nvPr/>
          </p:nvSpPr>
          <p:spPr>
            <a:xfrm>
              <a:off x="1048846" y="1624586"/>
              <a:ext cx="10196271" cy="1706245"/>
            </a:xfrm>
            <a:prstGeom prst="rect">
              <a:avLst/>
            </a:prstGeom>
            <a:solidFill>
              <a:srgbClr val="039462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763821" y="2044048"/>
              <a:ext cx="1169670" cy="899795"/>
              <a:chOff x="13276" y="994416"/>
              <a:chExt cx="1767844" cy="899795"/>
            </a:xfrm>
          </p:grpSpPr>
          <p:sp>
            <p:nvSpPr>
              <p:cNvPr id="22" name="PA-102231"/>
              <p:cNvSpPr/>
              <p:nvPr>
                <p:custDataLst>
                  <p:tags r:id="rId1"/>
                </p:custDataLst>
              </p:nvPr>
            </p:nvSpPr>
            <p:spPr>
              <a:xfrm>
                <a:off x="13276" y="994416"/>
                <a:ext cx="1767844" cy="899795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5000">
                      <a:srgbClr val="17A45E"/>
                    </a:gs>
                    <a:gs pos="56000">
                      <a:srgbClr val="039267"/>
                    </a:gs>
                    <a:gs pos="100000">
                      <a:srgbClr val="068983"/>
                    </a:gs>
                  </a:gsLst>
                  <a:lin ang="10800000" scaled="0"/>
                </a:gradFill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24" name="Rectangle 167"/>
              <p:cNvSpPr>
                <a:spLocks noChangeArrowheads="1"/>
              </p:cNvSpPr>
              <p:nvPr/>
            </p:nvSpPr>
            <p:spPr bwMode="auto">
              <a:xfrm>
                <a:off x="60740" y="1229151"/>
                <a:ext cx="1574810" cy="4308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1.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定义</a:t>
                </a:r>
                <a:endPara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1046579" y="3995297"/>
            <a:ext cx="982980" cy="449580"/>
            <a:chOff x="1510" y="3802"/>
            <a:chExt cx="1548" cy="708"/>
          </a:xfrm>
        </p:grpSpPr>
        <p:sp>
          <p:nvSpPr>
            <p:cNvPr id="26" name="圆角矩形 25"/>
            <p:cNvSpPr/>
            <p:nvPr/>
          </p:nvSpPr>
          <p:spPr>
            <a:xfrm>
              <a:off x="1510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1620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310550" y="2011157"/>
            <a:ext cx="5340202" cy="781685"/>
            <a:chOff x="2135925" y="1922257"/>
            <a:chExt cx="5340202" cy="7816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1"/>
                <p:cNvSpPr txBox="1"/>
                <p:nvPr/>
              </p:nvSpPr>
              <p:spPr>
                <a:xfrm>
                  <a:off x="2135925" y="1922257"/>
                  <a:ext cx="5175885" cy="78168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如果一个一阶微分方程可化为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5925" y="1922257"/>
                  <a:ext cx="5175885" cy="78168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文本框 3"/>
            <p:cNvSpPr txBox="1"/>
            <p:nvPr/>
          </p:nvSpPr>
          <p:spPr>
            <a:xfrm>
              <a:off x="6945359" y="1975437"/>
              <a:ext cx="530768" cy="555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039610" y="1445260"/>
            <a:ext cx="1987550" cy="1552613"/>
            <a:chOff x="6865088" y="1284812"/>
            <a:chExt cx="2006600" cy="16227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6"/>
                <p:cNvSpPr txBox="1"/>
                <p:nvPr/>
              </p:nvSpPr>
              <p:spPr>
                <a:xfrm>
                  <a:off x="6865088" y="1680875"/>
                  <a:ext cx="2006600" cy="122665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𝜑</m:t>
                        </m:r>
                        <m:d>
                          <m:d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5088" y="1680875"/>
                  <a:ext cx="2006600" cy="122665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8055241" y="1284812"/>
              <a:ext cx="746953" cy="555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826891" y="2015399"/>
            <a:ext cx="2077420" cy="601980"/>
            <a:chOff x="8652266" y="1926499"/>
            <a:chExt cx="2077420" cy="6019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对象 2"/>
                <p:cNvSpPr txBox="1"/>
                <p:nvPr/>
              </p:nvSpPr>
              <p:spPr>
                <a:xfrm>
                  <a:off x="8652266" y="1942374"/>
                  <a:ext cx="1736090" cy="58610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的形式</m:t>
                        </m:r>
                        <m:r>
                          <a:rPr kumimoji="1" lang="en-US" altLang="zh-CN" sz="28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5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2266" y="1942374"/>
                  <a:ext cx="1736090" cy="58610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本框 17"/>
            <p:cNvSpPr txBox="1"/>
            <p:nvPr/>
          </p:nvSpPr>
          <p:spPr>
            <a:xfrm>
              <a:off x="10134600" y="1926499"/>
              <a:ext cx="595086" cy="595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670783" y="3718154"/>
            <a:ext cx="3050806" cy="1515326"/>
            <a:chOff x="1658083" y="3489554"/>
            <a:chExt cx="3050806" cy="15153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对象 4"/>
                <p:cNvSpPr txBox="1"/>
                <p:nvPr/>
              </p:nvSpPr>
              <p:spPr>
                <a:xfrm>
                  <a:off x="2191256" y="3489554"/>
                  <a:ext cx="2517633" cy="1252982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f>
                          <m:fPr>
                            <m:ctrlP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func>
                          <m:funcPr>
                            <m:ctrlP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kumimoji="1" lang="zh-CN" altLang="en-US" sz="2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zh-CN" altLang="en-US" sz="2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</m:e>
                        </m:func>
                      </m:oMath>
                    </m:oMathPara>
                  </a14:m>
                  <a:endParaRPr kumimoji="1" lang="zh-CN" altLang="en-US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256" y="3489554"/>
                  <a:ext cx="2517633" cy="125298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本框 29"/>
            <p:cNvSpPr txBox="1"/>
            <p:nvPr/>
          </p:nvSpPr>
          <p:spPr>
            <a:xfrm>
              <a:off x="1658083" y="4635548"/>
              <a:ext cx="1738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929991" y="3716532"/>
            <a:ext cx="2730663" cy="1119041"/>
            <a:chOff x="5921603" y="3516507"/>
            <a:chExt cx="2730663" cy="11190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42"/>
                <p:cNvSpPr txBox="1"/>
                <p:nvPr/>
              </p:nvSpPr>
              <p:spPr>
                <a:xfrm>
                  <a:off x="5921603" y="3516507"/>
                  <a:ext cx="2092300" cy="111904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func>
                          <m:func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</m:e>
                        </m:func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603" y="3516507"/>
                  <a:ext cx="2092300" cy="1119041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文本框 31"/>
            <p:cNvSpPr txBox="1"/>
            <p:nvPr/>
          </p:nvSpPr>
          <p:spPr>
            <a:xfrm>
              <a:off x="8013903" y="3516507"/>
              <a:ext cx="638363" cy="636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191737" y="5007913"/>
            <a:ext cx="5722389" cy="1243299"/>
            <a:chOff x="2179037" y="4639613"/>
            <a:chExt cx="5722389" cy="12432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对象 12"/>
                <p:cNvSpPr txBox="1"/>
                <p:nvPr/>
              </p:nvSpPr>
              <p:spPr>
                <a:xfrm>
                  <a:off x="2179037" y="4639613"/>
                  <a:ext cx="5722389" cy="977899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𝑥𝑦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−(</m:t>
                        </m:r>
                        <m:sSup>
                          <m:sSup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−2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𝑥𝑦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" name="对象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9037" y="4639613"/>
                  <a:ext cx="5722389" cy="977899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文本框 33"/>
            <p:cNvSpPr txBox="1"/>
            <p:nvPr/>
          </p:nvSpPr>
          <p:spPr>
            <a:xfrm>
              <a:off x="3788229" y="5399314"/>
              <a:ext cx="537028" cy="483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934771" y="4182622"/>
            <a:ext cx="2914471" cy="2116215"/>
            <a:chOff x="8871129" y="3766697"/>
            <a:chExt cx="2914471" cy="21162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对象 21"/>
                <p:cNvSpPr txBox="1"/>
                <p:nvPr/>
              </p:nvSpPr>
              <p:spPr>
                <a:xfrm>
                  <a:off x="8871129" y="4176667"/>
                  <a:ext cx="2713080" cy="170624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−(</m:t>
                            </m:r>
                            <m:f>
                              <m:f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1−2(</m:t>
                            </m:r>
                            <m:f>
                              <m:f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3" name="对象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1129" y="4176667"/>
                  <a:ext cx="2713080" cy="170624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文本框 35"/>
            <p:cNvSpPr txBox="1"/>
            <p:nvPr/>
          </p:nvSpPr>
          <p:spPr>
            <a:xfrm>
              <a:off x="11245117" y="3766697"/>
              <a:ext cx="540483" cy="454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320290" y="27940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那么就称这方程为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齐次方程.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 animBg="1"/>
      <p:bldP spid="8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4"/>
              <p:cNvSpPr txBox="1"/>
              <p:nvPr/>
            </p:nvSpPr>
            <p:spPr>
              <a:xfrm>
                <a:off x="6193259" y="1525597"/>
                <a:ext cx="2092569" cy="103169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d>
                        <m:d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259" y="1525597"/>
                <a:ext cx="2092569" cy="1031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1387327" y="946152"/>
            <a:ext cx="1615951" cy="52322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181337" y="1779837"/>
            <a:ext cx="5291388" cy="640695"/>
            <a:chOff x="1698171" y="1585202"/>
            <a:chExt cx="5291388" cy="640695"/>
          </a:xfrm>
        </p:grpSpPr>
        <p:sp>
          <p:nvSpPr>
            <p:cNvPr id="19" name="Text Box 46"/>
            <p:cNvSpPr txBox="1">
              <a:spLocks noChangeArrowheads="1"/>
            </p:cNvSpPr>
            <p:nvPr/>
          </p:nvSpPr>
          <p:spPr bwMode="auto">
            <a:xfrm>
              <a:off x="1887120" y="1585202"/>
              <a:ext cx="51024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步骤</a:t>
              </a:r>
              <a:r>
                <a:rPr lang="en-US" altLang="zh-CN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2800" b="1" dirty="0">
                  <a:solidFill>
                    <a:srgbClr val="0000FF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将齐次方程转化为形式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698171" y="1702677"/>
              <a:ext cx="3290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103231" y="1539980"/>
            <a:ext cx="910995" cy="738585"/>
            <a:chOff x="7275062" y="1487312"/>
            <a:chExt cx="910995" cy="738585"/>
          </a:xfrm>
        </p:grpSpPr>
        <p:sp>
          <p:nvSpPr>
            <p:cNvPr id="17" name="文本框 16"/>
            <p:cNvSpPr txBox="1"/>
            <p:nvPr/>
          </p:nvSpPr>
          <p:spPr bwMode="auto">
            <a:xfrm>
              <a:off x="7275062" y="1702677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①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886497" y="1487312"/>
              <a:ext cx="299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62772" y="2745762"/>
            <a:ext cx="1874838" cy="766866"/>
            <a:chOff x="1524000" y="2528583"/>
            <a:chExt cx="1874838" cy="766866"/>
          </a:xfrm>
        </p:grpSpPr>
        <p:sp>
          <p:nvSpPr>
            <p:cNvPr id="21" name="Text Box 46"/>
            <p:cNvSpPr txBox="1">
              <a:spLocks noChangeArrowheads="1"/>
            </p:cNvSpPr>
            <p:nvPr/>
          </p:nvSpPr>
          <p:spPr bwMode="auto">
            <a:xfrm>
              <a:off x="2027238" y="2528583"/>
              <a:ext cx="13716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步骤</a:t>
              </a:r>
              <a:r>
                <a:rPr lang="en-US" altLang="zh-CN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2800" b="1" dirty="0">
                  <a:solidFill>
                    <a:srgbClr val="0000FF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  </a:t>
              </a:r>
              <a:endParaRPr lang="zh-CN" altLang="en-US" sz="2800" b="1" dirty="0">
                <a:solidFill>
                  <a:srgbClr val="0000FF"/>
                </a:solidFill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524000" y="2772229"/>
              <a:ext cx="3338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372178" y="2606975"/>
            <a:ext cx="5038971" cy="1595072"/>
            <a:chOff x="1797258" y="2144457"/>
            <a:chExt cx="5038971" cy="15950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对象 21"/>
                <p:cNvSpPr txBox="1"/>
                <p:nvPr/>
              </p:nvSpPr>
              <p:spPr>
                <a:xfrm>
                  <a:off x="1797258" y="2144457"/>
                  <a:ext cx="1698214" cy="101050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令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" name="对象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7258" y="2144457"/>
                  <a:ext cx="1698214" cy="101050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本框 13"/>
            <p:cNvSpPr txBox="1"/>
            <p:nvPr/>
          </p:nvSpPr>
          <p:spPr>
            <a:xfrm>
              <a:off x="6096000" y="3216309"/>
              <a:ext cx="740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949441" y="2523647"/>
            <a:ext cx="4931994" cy="1723980"/>
            <a:chOff x="4010695" y="2228240"/>
            <a:chExt cx="4931994" cy="17239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5"/>
                <p:cNvSpPr txBox="1"/>
                <p:nvPr/>
              </p:nvSpPr>
              <p:spPr>
                <a:xfrm>
                  <a:off x="4010695" y="2228240"/>
                  <a:ext cx="4931994" cy="137591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则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𝑢𝑥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 ,  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 ,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0695" y="2228240"/>
                  <a:ext cx="4931994" cy="13759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/>
            <p:cNvSpPr txBox="1"/>
            <p:nvPr/>
          </p:nvSpPr>
          <p:spPr>
            <a:xfrm>
              <a:off x="7741856" y="3429000"/>
              <a:ext cx="5458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593398" y="2764954"/>
            <a:ext cx="3276600" cy="1088607"/>
            <a:chOff x="7601622" y="2497127"/>
            <a:chExt cx="3276600" cy="10886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7601622" y="2497127"/>
                  <a:ext cx="3276600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zh-CN" altLang="en-US" sz="28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代入</a:t>
                  </a:r>
                  <a:r>
                    <a:rPr lang="zh-CN" altLang="en-US" sz="2800" dirty="0">
                      <a:solidFill>
                        <a:srgbClr val="04926A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①</a:t>
                  </a:r>
                  <a:r>
                    <a:rPr lang="zh-CN" altLang="en-US" sz="28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式</a:t>
                  </a:r>
                  <a14:m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a14:m>
                  <a:r>
                    <a:rPr lang="zh-CN" altLang="en-US" sz="28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得</a:t>
                  </a:r>
                </a:p>
              </p:txBody>
            </p:sp>
          </mc:Choice>
          <mc:Fallback xmlns="">
            <p:sp>
              <p:nvSpPr>
                <p:cNvPr id="9" name="Text 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01622" y="2497127"/>
                  <a:ext cx="3276600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3911" t="-15294" b="-3058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/>
            <p:cNvSpPr txBox="1"/>
            <p:nvPr/>
          </p:nvSpPr>
          <p:spPr>
            <a:xfrm>
              <a:off x="9318171" y="3062514"/>
              <a:ext cx="3628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366046" y="3504084"/>
            <a:ext cx="4076686" cy="1106805"/>
            <a:chOff x="2104087" y="3046617"/>
            <a:chExt cx="4076686" cy="1106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对象 8"/>
                <p:cNvSpPr txBox="1"/>
                <p:nvPr/>
              </p:nvSpPr>
              <p:spPr>
                <a:xfrm>
                  <a:off x="2104087" y="3046617"/>
                  <a:ext cx="2954611" cy="110680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𝜑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)−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" name="对象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4087" y="3046617"/>
                  <a:ext cx="2954611" cy="110680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本框 28"/>
            <p:cNvSpPr txBox="1"/>
            <p:nvPr/>
          </p:nvSpPr>
          <p:spPr>
            <a:xfrm>
              <a:off x="5711553" y="3311525"/>
              <a:ext cx="469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092292" y="3756275"/>
            <a:ext cx="902899" cy="540722"/>
            <a:chOff x="4942681" y="3411498"/>
            <a:chExt cx="902899" cy="540722"/>
          </a:xfrm>
        </p:grpSpPr>
        <p:sp>
          <p:nvSpPr>
            <p:cNvPr id="24" name="文本框 23"/>
            <p:cNvSpPr txBox="1"/>
            <p:nvPr/>
          </p:nvSpPr>
          <p:spPr bwMode="auto">
            <a:xfrm>
              <a:off x="4942681" y="3411498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②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675086" y="3429000"/>
              <a:ext cx="170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55486" y="4628641"/>
            <a:ext cx="1735270" cy="523220"/>
            <a:chOff x="1524000" y="4156253"/>
            <a:chExt cx="1735270" cy="523220"/>
          </a:xfrm>
        </p:grpSpPr>
        <p:sp>
          <p:nvSpPr>
            <p:cNvPr id="20" name="Text Box 46"/>
            <p:cNvSpPr txBox="1">
              <a:spLocks noChangeArrowheads="1"/>
            </p:cNvSpPr>
            <p:nvPr/>
          </p:nvSpPr>
          <p:spPr bwMode="auto">
            <a:xfrm>
              <a:off x="2027238" y="4156253"/>
              <a:ext cx="12320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步骤</a:t>
              </a:r>
              <a:r>
                <a:rPr lang="en-US" altLang="zh-CN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2800" b="1" dirty="0">
                  <a:solidFill>
                    <a:srgbClr val="0000FF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  </a:t>
              </a:r>
              <a:endParaRPr lang="zh-CN" altLang="en-US" sz="2800" b="1" dirty="0">
                <a:solidFill>
                  <a:srgbClr val="0000FF"/>
                </a:solidFill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524000" y="4156253"/>
              <a:ext cx="5032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89132" y="4503190"/>
            <a:ext cx="3800422" cy="783586"/>
            <a:chOff x="8728799" y="4072858"/>
            <a:chExt cx="3800422" cy="7835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对象 11"/>
                <p:cNvSpPr txBox="1"/>
                <p:nvPr/>
              </p:nvSpPr>
              <p:spPr>
                <a:xfrm>
                  <a:off x="8728799" y="4072858"/>
                  <a:ext cx="3800422" cy="78358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求解后再用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代替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对象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8799" y="4072858"/>
                  <a:ext cx="3800422" cy="78358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文本框 35"/>
            <p:cNvSpPr txBox="1"/>
            <p:nvPr/>
          </p:nvSpPr>
          <p:spPr>
            <a:xfrm>
              <a:off x="10334171" y="4323114"/>
              <a:ext cx="406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373369" y="5409845"/>
            <a:ext cx="3474339" cy="809935"/>
            <a:chOff x="2876595" y="4836828"/>
            <a:chExt cx="3474339" cy="8099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对象 13"/>
                <p:cNvSpPr txBox="1"/>
                <p:nvPr/>
              </p:nvSpPr>
              <p:spPr>
                <a:xfrm>
                  <a:off x="2876595" y="4836828"/>
                  <a:ext cx="3474339" cy="59707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便得原方程的通解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6" name="对象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6595" y="4836828"/>
                  <a:ext cx="3474339" cy="59707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文本框 37"/>
            <p:cNvSpPr txBox="1"/>
            <p:nvPr/>
          </p:nvSpPr>
          <p:spPr>
            <a:xfrm>
              <a:off x="5793928" y="5123543"/>
              <a:ext cx="5570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27915A5-62E0-CA7B-73E0-5745A8B0DFF0}"/>
              </a:ext>
            </a:extLst>
          </p:cNvPr>
          <p:cNvGrpSpPr/>
          <p:nvPr/>
        </p:nvGrpSpPr>
        <p:grpSpPr>
          <a:xfrm>
            <a:off x="2382848" y="4636536"/>
            <a:ext cx="5060907" cy="783586"/>
            <a:chOff x="7506186" y="4064393"/>
            <a:chExt cx="5060907" cy="7835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对象 11">
                  <a:extLst>
                    <a:ext uri="{FF2B5EF4-FFF2-40B4-BE49-F238E27FC236}">
                      <a16:creationId xmlns:a16="http://schemas.microsoft.com/office/drawing/2014/main" id="{870C033C-0B2B-B2C3-E8D1-DCD7BAC57C80}"/>
                    </a:ext>
                  </a:extLst>
                </p:cNvPr>
                <p:cNvSpPr txBox="1"/>
                <p:nvPr/>
              </p:nvSpPr>
              <p:spPr>
                <a:xfrm>
                  <a:off x="7506186" y="4064393"/>
                  <a:ext cx="5060907" cy="78358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dirty="0">
                          <a:solidFill>
                            <a:srgbClr val="04926A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m:t>②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是可分离</m:t>
                      </m:r>
                    </m:oMath>
                  </a14:m>
                  <a:r>
                    <a:rPr lang="zh-CN" altLang="en-US" sz="28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变量的微分方程</a:t>
                  </a:r>
                  <a14:m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1" name="对象 11">
                  <a:extLst>
                    <a:ext uri="{FF2B5EF4-FFF2-40B4-BE49-F238E27FC236}">
                      <a16:creationId xmlns:a16="http://schemas.microsoft.com/office/drawing/2014/main" id="{870C033C-0B2B-B2C3-E8D1-DCD7BAC57C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6186" y="4064393"/>
                  <a:ext cx="5060907" cy="783586"/>
                </a:xfrm>
                <a:prstGeom prst="rect">
                  <a:avLst/>
                </a:prstGeom>
                <a:blipFill>
                  <a:blip r:embed="rId9"/>
                  <a:stretch>
                    <a:fillRect t="-101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EFE557D-3901-A864-D75F-D7EE94A30C0E}"/>
                </a:ext>
              </a:extLst>
            </p:cNvPr>
            <p:cNvSpPr txBox="1"/>
            <p:nvPr/>
          </p:nvSpPr>
          <p:spPr>
            <a:xfrm>
              <a:off x="10334171" y="4323114"/>
              <a:ext cx="406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070" y="1226820"/>
            <a:ext cx="10817225" cy="5110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半闭框 47"/>
          <p:cNvSpPr/>
          <p:nvPr/>
        </p:nvSpPr>
        <p:spPr>
          <a:xfrm>
            <a:off x="687324" y="122682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1226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2504234" y="2636461"/>
            <a:ext cx="5607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32444" y="610942"/>
            <a:ext cx="2322267" cy="52322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典型例题</a:t>
            </a:r>
          </a:p>
        </p:txBody>
      </p:sp>
      <p:sp>
        <p:nvSpPr>
          <p:cNvPr id="19" name="Text Box 44"/>
          <p:cNvSpPr txBox="1">
            <a:spLocks noChangeArrowheads="1"/>
          </p:cNvSpPr>
          <p:nvPr/>
        </p:nvSpPr>
        <p:spPr bwMode="auto">
          <a:xfrm>
            <a:off x="2474353" y="1581509"/>
            <a:ext cx="8675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endParaRPr kumimoji="1" lang="en-US" altLang="zh-CN" sz="28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"/>
              <p:cNvSpPr txBox="1"/>
              <p:nvPr/>
            </p:nvSpPr>
            <p:spPr bwMode="auto">
              <a:xfrm>
                <a:off x="3229777" y="1350338"/>
                <a:ext cx="5003782" cy="1137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解方程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8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𝑥𝑦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fName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​</m:t>
                              </m:r>
                            </m:e>
                          </m:func>
                        </m:den>
                      </m:f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9777" y="1350338"/>
                <a:ext cx="5003782" cy="11372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3237062" y="2313814"/>
            <a:ext cx="5353993" cy="1302395"/>
            <a:chOff x="3364062" y="2263014"/>
            <a:chExt cx="5353993" cy="13023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bject 3"/>
                <p:cNvSpPr txBox="1"/>
                <p:nvPr/>
              </p:nvSpPr>
              <p:spPr bwMode="auto">
                <a:xfrm>
                  <a:off x="3364062" y="2642216"/>
                  <a:ext cx="2401200" cy="5219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原方程可写成</m:t>
                        </m:r>
                      </m:oMath>
                    </m:oMathPara>
                  </a14:m>
                  <a:endParaRPr kumimoji="1" lang="zh-CN" altLang="en-US" sz="22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0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64062" y="2642216"/>
                  <a:ext cx="2401200" cy="521969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"/>
                <p:cNvSpPr txBox="1"/>
                <p:nvPr/>
              </p:nvSpPr>
              <p:spPr>
                <a:xfrm>
                  <a:off x="5297451" y="2263014"/>
                  <a:ext cx="3420604" cy="130239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𝑥𝑦</m:t>
                            </m:r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f>
                              <m:f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f>
                              <m:f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−1</m:t>
                            </m:r>
                          </m:den>
                        </m:f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2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7451" y="2263014"/>
                  <a:ext cx="3420604" cy="13023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3468898" y="2338927"/>
              <a:ext cx="43544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229777" y="3465074"/>
            <a:ext cx="5177970" cy="1037771"/>
            <a:chOff x="3356777" y="3414274"/>
            <a:chExt cx="5177970" cy="10377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31"/>
                <p:cNvSpPr txBox="1"/>
                <p:nvPr/>
              </p:nvSpPr>
              <p:spPr>
                <a:xfrm>
                  <a:off x="3356777" y="3480421"/>
                  <a:ext cx="1483686" cy="9716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令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对象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777" y="3480421"/>
                  <a:ext cx="1483686" cy="97162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对象 32"/>
                <p:cNvSpPr txBox="1"/>
                <p:nvPr/>
              </p:nvSpPr>
              <p:spPr>
                <a:xfrm>
                  <a:off x="4585047" y="3414274"/>
                  <a:ext cx="3949700" cy="8382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则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𝑢𝑥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,  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3" name="对象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5047" y="3414274"/>
                  <a:ext cx="3949700" cy="8382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69"/>
              <p:cNvSpPr txBox="1">
                <a:spLocks noChangeArrowheads="1"/>
              </p:cNvSpPr>
              <p:nvPr/>
            </p:nvSpPr>
            <p:spPr bwMode="auto">
              <a:xfrm>
                <a:off x="7937557" y="3638811"/>
                <a:ext cx="192833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代入上式</a:t>
                </a:r>
                <a14:m>
                  <m:oMath xmlns:m="http://schemas.openxmlformats.org/officeDocument/2006/math">
                    <m:r>
                      <a:rPr kumimoji="1" lang="zh-CN" altLang="en-US" sz="220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 得</a:t>
                </a:r>
              </a:p>
            </p:txBody>
          </p:sp>
        </mc:Choice>
        <mc:Fallback xmlns="">
          <p:sp>
            <p:nvSpPr>
              <p:cNvPr id="5" name="Text 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7557" y="3638811"/>
                <a:ext cx="1928336" cy="430887"/>
              </a:xfrm>
              <a:prstGeom prst="rect">
                <a:avLst/>
              </a:prstGeom>
              <a:blipFill>
                <a:blip r:embed="rId8"/>
                <a:stretch>
                  <a:fillRect l="-4114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对象 34"/>
              <p:cNvSpPr txBox="1"/>
              <p:nvPr/>
            </p:nvSpPr>
            <p:spPr>
              <a:xfrm>
                <a:off x="3237642" y="4327915"/>
                <a:ext cx="2835615" cy="111315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−1</m:t>
                          </m:r>
                        </m:den>
                      </m:f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对象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642" y="4327915"/>
                <a:ext cx="2835615" cy="11131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对象 36"/>
              <p:cNvSpPr txBox="1"/>
              <p:nvPr/>
            </p:nvSpPr>
            <p:spPr>
              <a:xfrm>
                <a:off x="5461963" y="4364356"/>
                <a:ext cx="3033809" cy="119159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即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−1</m:t>
                          </m:r>
                        </m:den>
                      </m:f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对象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963" y="4364356"/>
                <a:ext cx="3033809" cy="11915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37"/>
              <p:cNvSpPr txBox="1"/>
              <p:nvPr/>
            </p:nvSpPr>
            <p:spPr>
              <a:xfrm>
                <a:off x="3237062" y="5283801"/>
                <a:ext cx="4378928" cy="112654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分离变量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得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062" y="5283801"/>
                <a:ext cx="4378928" cy="11265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4" grpId="0"/>
      <p:bldP spid="19" grpId="0"/>
      <p:bldP spid="21" grpId="0"/>
      <p:bldP spid="5" grpId="0"/>
      <p:bldP spid="35" grpId="0"/>
      <p:bldP spid="37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070" y="824230"/>
            <a:ext cx="10817225" cy="5110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82423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82423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26280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24293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Line 20"/>
          <p:cNvSpPr>
            <a:spLocks noChangeShapeType="1"/>
          </p:cNvSpPr>
          <p:nvPr/>
        </p:nvSpPr>
        <p:spPr bwMode="auto">
          <a:xfrm>
            <a:off x="1864643" y="2279068"/>
            <a:ext cx="8485858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544763" y="1295397"/>
            <a:ext cx="5051331" cy="1190069"/>
            <a:chOff x="2747963" y="1193797"/>
            <a:chExt cx="5051331" cy="11900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8"/>
                <p:cNvSpPr txBox="1"/>
                <p:nvPr/>
              </p:nvSpPr>
              <p:spPr>
                <a:xfrm>
                  <a:off x="3985539" y="1193797"/>
                  <a:ext cx="3813755" cy="1190069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𝑢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zh-CN" altLang="en-US" sz="22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对象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5539" y="1193797"/>
                  <a:ext cx="3813755" cy="11900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文本框 1"/>
            <p:cNvSpPr txBox="1"/>
            <p:nvPr/>
          </p:nvSpPr>
          <p:spPr>
            <a:xfrm>
              <a:off x="2747963" y="1224350"/>
              <a:ext cx="63386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338286" y="2407655"/>
            <a:ext cx="6499276" cy="698495"/>
            <a:chOff x="3541486" y="2306055"/>
            <a:chExt cx="6499276" cy="6984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"/>
                <p:cNvSpPr txBox="1"/>
                <p:nvPr/>
              </p:nvSpPr>
              <p:spPr>
                <a:xfrm>
                  <a:off x="3985158" y="2306055"/>
                  <a:ext cx="6055604" cy="69849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两端积分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得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|</m:t>
                            </m:r>
                          </m:e>
                        </m:func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|+</m:t>
                        </m:r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|</m:t>
                            </m:r>
                          </m:e>
                        </m:func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|,</m:t>
                        </m:r>
                      </m:oMath>
                    </m:oMathPara>
                  </a14:m>
                  <a:endParaRPr kumimoji="1" lang="zh-CN" altLang="en-US" sz="22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5158" y="2306055"/>
                  <a:ext cx="6055604" cy="698495"/>
                </a:xfrm>
                <a:prstGeom prst="rect">
                  <a:avLst/>
                </a:prstGeom>
                <a:blipFill>
                  <a:blip r:embed="rId4"/>
                  <a:stretch>
                    <a:fillRect l="-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文本框 4"/>
            <p:cNvSpPr txBox="1"/>
            <p:nvPr/>
          </p:nvSpPr>
          <p:spPr>
            <a:xfrm>
              <a:off x="3541486" y="247087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728686" y="2932153"/>
            <a:ext cx="4945827" cy="1388563"/>
            <a:chOff x="2931886" y="2830553"/>
            <a:chExt cx="4945827" cy="1388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3"/>
                <p:cNvSpPr txBox="1"/>
                <p:nvPr/>
              </p:nvSpPr>
              <p:spPr>
                <a:xfrm>
                  <a:off x="3984396" y="2830553"/>
                  <a:ext cx="3893317" cy="59729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或写为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  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|</m:t>
                            </m:r>
                          </m:e>
                        </m:func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𝑥𝑢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|=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2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4396" y="2830553"/>
                  <a:ext cx="3893317" cy="59729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2931886" y="3788229"/>
              <a:ext cx="29028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802712" y="3485354"/>
            <a:ext cx="5355802" cy="1161105"/>
            <a:chOff x="4005912" y="3383754"/>
            <a:chExt cx="5355802" cy="11611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4"/>
                <p:cNvSpPr txBox="1"/>
                <p:nvPr/>
              </p:nvSpPr>
              <p:spPr>
                <a:xfrm>
                  <a:off x="4005912" y="3383754"/>
                  <a:ext cx="3105578" cy="838199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将</m:t>
                        </m:r>
                        <m:r>
                          <a:rPr kumimoji="1" lang="zh-CN" altLang="en-US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r>
                          <a:rPr kumimoji="1" lang="zh-CN" altLang="en-US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zh-CN" altLang="en-US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代入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 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得</m:t>
                        </m:r>
                      </m:oMath>
                    </m:oMathPara>
                  </a14:m>
                  <a:endParaRPr kumimoji="1" lang="zh-CN" altLang="en-US" sz="22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912" y="3383754"/>
                  <a:ext cx="3105578" cy="8381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8940800" y="4113972"/>
              <a:ext cx="420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815165" y="4215572"/>
            <a:ext cx="5082092" cy="1463227"/>
            <a:chOff x="4018365" y="4113972"/>
            <a:chExt cx="5082092" cy="146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5"/>
                <p:cNvSpPr txBox="1"/>
                <p:nvPr/>
              </p:nvSpPr>
              <p:spPr>
                <a:xfrm>
                  <a:off x="4018365" y="4113972"/>
                  <a:ext cx="2317491" cy="83819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|</m:t>
                            </m:r>
                          </m:e>
                        </m:func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|=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2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8365" y="4113972"/>
                  <a:ext cx="2317491" cy="83819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8577943" y="5138057"/>
              <a:ext cx="522514" cy="439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728686" y="4897059"/>
            <a:ext cx="4871633" cy="898232"/>
            <a:chOff x="2931886" y="4795459"/>
            <a:chExt cx="4871633" cy="8982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6"/>
                <p:cNvSpPr txBox="1"/>
                <p:nvPr/>
              </p:nvSpPr>
              <p:spPr>
                <a:xfrm>
                  <a:off x="4007607" y="4795459"/>
                  <a:ext cx="3795912" cy="83819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或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 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i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</m:sup>
                        </m:sSup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 (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=±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zh-CN" altLang="en-US" sz="2200" b="0" i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).</m:t>
                        </m:r>
                      </m:oMath>
                    </m:oMathPara>
                  </a14:m>
                  <a:endParaRPr kumimoji="1" lang="zh-CN" altLang="en-US" sz="22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7607" y="4795459"/>
                  <a:ext cx="3795912" cy="83819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/>
            <p:cNvSpPr txBox="1"/>
            <p:nvPr/>
          </p:nvSpPr>
          <p:spPr>
            <a:xfrm>
              <a:off x="2931886" y="5262804"/>
              <a:ext cx="44994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201169" y="769256"/>
            <a:ext cx="764953" cy="947369"/>
            <a:chOff x="1146744" y="711200"/>
            <a:chExt cx="764953" cy="947369"/>
          </a:xfrm>
        </p:grpSpPr>
        <p:sp>
          <p:nvSpPr>
            <p:cNvPr id="19" name="Text Box 44"/>
            <p:cNvSpPr txBox="1">
              <a:spLocks noChangeArrowheads="1"/>
            </p:cNvSpPr>
            <p:nvPr/>
          </p:nvSpPr>
          <p:spPr bwMode="auto">
            <a:xfrm>
              <a:off x="1146744" y="1135349"/>
              <a:ext cx="76495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en-US" altLang="zh-CN" sz="28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368679" y="711200"/>
              <a:ext cx="1843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997090" y="593876"/>
            <a:ext cx="9288648" cy="1159756"/>
            <a:chOff x="1942665" y="535820"/>
            <a:chExt cx="9288648" cy="11597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25" name="Rectangle 61"/>
                <p:cNvSpPr>
                  <a:spLocks noChangeArrowheads="1"/>
                </p:cNvSpPr>
                <p:nvPr/>
              </p:nvSpPr>
              <p:spPr bwMode="auto">
                <a:xfrm>
                  <a:off x="1942665" y="1081214"/>
                  <a:ext cx="9288648" cy="6143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/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探照灯的聚光镜面是一张旋转曲面</a:t>
                  </a:r>
                  <a14:m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它的形状由</a:t>
                  </a:r>
                  <a14:m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𝑂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坐标</a:t>
                  </a:r>
                </a:p>
              </p:txBody>
            </p:sp>
          </mc:Choice>
          <mc:Fallback xmlns="">
            <p:sp>
              <p:nvSpPr>
                <p:cNvPr id="11325" name="Rectangle 6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42665" y="1081214"/>
                  <a:ext cx="9288648" cy="614362"/>
                </a:xfrm>
                <a:prstGeom prst="rect">
                  <a:avLst/>
                </a:prstGeom>
                <a:blipFill>
                  <a:blip r:embed="rId4"/>
                  <a:stretch>
                    <a:fillRect l="-1379" t="-4950" b="-1782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4255135" y="535820"/>
              <a:ext cx="2878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997090" y="1771735"/>
            <a:ext cx="9102706" cy="527645"/>
            <a:chOff x="1942665" y="1713679"/>
            <a:chExt cx="9345302" cy="5276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27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1942665" y="1718104"/>
                  <a:ext cx="9345302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/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面上的一条曲线</a:t>
                  </a:r>
                  <a14:m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绕</a:t>
                  </a:r>
                  <a14:m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轴旋转而成</a:t>
                  </a:r>
                  <a14:m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按聚光镜性能的要求</a:t>
                  </a:r>
                  <a14:m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a14:m>
                  <a:r>
                    <a:rPr kumimoji="1" lang="en-US" altLang="zh-CN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327" name="Text 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42665" y="1718104"/>
                  <a:ext cx="9345302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1407" t="-13953" b="-2907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10288578" y="1713679"/>
              <a:ext cx="3808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952981" y="2317483"/>
            <a:ext cx="2146815" cy="789279"/>
            <a:chOff x="8898556" y="2259427"/>
            <a:chExt cx="2146815" cy="789279"/>
          </a:xfrm>
        </p:grpSpPr>
        <p:sp>
          <p:nvSpPr>
            <p:cNvPr id="2" name="矩形 1"/>
            <p:cNvSpPr/>
            <p:nvPr/>
          </p:nvSpPr>
          <p:spPr>
            <a:xfrm>
              <a:off x="8898556" y="2259427"/>
              <a:ext cx="201163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经它反射后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868086" y="2525486"/>
              <a:ext cx="1772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481397" y="2330995"/>
            <a:ext cx="8313061" cy="775767"/>
            <a:chOff x="1397944" y="2272939"/>
            <a:chExt cx="9396112" cy="7757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26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1954856" y="2272939"/>
                  <a:ext cx="8839200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</a:pPr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在其旋转轴</a:t>
                  </a:r>
                  <a:r>
                    <a:rPr kumimoji="1" lang="en-US" altLang="zh-CN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(</a:t>
                  </a:r>
                  <a14:m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轴</a:t>
                  </a:r>
                  <a:r>
                    <a:rPr kumimoji="1" lang="en-US" altLang="zh-CN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)</a:t>
                  </a:r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上一点</a:t>
                  </a:r>
                  <a:r>
                    <a:rPr kumimoji="1" lang="en-US" altLang="zh-CN" sz="2800" i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O</a:t>
                  </a:r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处发出的一切光线</a:t>
                  </a:r>
                  <a14:m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a14:m>
                  <a:endPara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326" name="Text 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54856" y="2272939"/>
                  <a:ext cx="8839200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637" t="-13953" b="-2907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1397944" y="2525486"/>
              <a:ext cx="3349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997090" y="2906422"/>
            <a:ext cx="7724266" cy="967208"/>
            <a:chOff x="1942665" y="2848366"/>
            <a:chExt cx="7724266" cy="9672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2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954856" y="2848366"/>
                  <a:ext cx="7712075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0" hangingPunct="0"/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都与旋转轴平行</a:t>
                  </a:r>
                  <a:r>
                    <a:rPr kumimoji="1" lang="en-US" altLang="zh-CN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.</a:t>
                  </a:r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求曲线</a:t>
                  </a:r>
                  <a14:m>
                    <m:oMath xmlns:m="http://schemas.openxmlformats.org/officeDocument/2006/math"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的方程</a:t>
                  </a:r>
                  <a:r>
                    <a:rPr kumimoji="1" lang="en-US" altLang="zh-CN" sz="2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1329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54856" y="2848366"/>
                  <a:ext cx="7712075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1660" t="-15116" b="-2907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1942665" y="3292354"/>
              <a:ext cx="716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26882" y="3725793"/>
            <a:ext cx="760467" cy="855298"/>
            <a:chOff x="972457" y="3510567"/>
            <a:chExt cx="760467" cy="855298"/>
          </a:xfrm>
        </p:grpSpPr>
        <p:sp>
          <p:nvSpPr>
            <p:cNvPr id="20" name="Text Box 3"/>
            <p:cNvSpPr txBox="1">
              <a:spLocks noChangeArrowheads="1"/>
            </p:cNvSpPr>
            <p:nvPr/>
          </p:nvSpPr>
          <p:spPr bwMode="auto">
            <a:xfrm>
              <a:off x="1172219" y="3510567"/>
              <a:ext cx="56070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base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2457" y="3996533"/>
              <a:ext cx="1742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997090" y="3780872"/>
            <a:ext cx="4824412" cy="465372"/>
            <a:chOff x="1942665" y="3565646"/>
            <a:chExt cx="4824412" cy="4653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 Box 217"/>
                <p:cNvSpPr txBox="1">
                  <a:spLocks noChangeArrowheads="1"/>
                </p:cNvSpPr>
                <p:nvPr/>
              </p:nvSpPr>
              <p:spPr bwMode="auto">
                <a:xfrm>
                  <a:off x="1942665" y="3565646"/>
                  <a:ext cx="4824412" cy="4308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0" hangingPunct="0">
                    <a:spcBef>
                      <a:spcPct val="50000"/>
                    </a:spcBef>
                  </a:pPr>
                  <a:r>
                    <a:rPr kumimoji="1" lang="zh-CN" altLang="en-US" sz="2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将光源所在点取作坐标原点</a:t>
                  </a:r>
                  <a14:m>
                    <m:oMath xmlns:m="http://schemas.openxmlformats.org/officeDocument/2006/math">
                      <m:r>
                        <a:rPr kumimoji="1" lang="zh-CN" altLang="en-US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a14:m>
                  <a:r>
                    <a:rPr kumimoji="1" lang="en-US" altLang="zh-CN" sz="2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7" name="Text Box 2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42665" y="3565646"/>
                  <a:ext cx="4824412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643" t="-14085" b="-2394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/>
          </p:nvSpPr>
          <p:spPr>
            <a:xfrm>
              <a:off x="5690870" y="3661686"/>
              <a:ext cx="129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580965" y="4454644"/>
            <a:ext cx="1221423" cy="966983"/>
            <a:chOff x="1526540" y="4147690"/>
            <a:chExt cx="1221423" cy="966983"/>
          </a:xfrm>
        </p:grpSpPr>
        <p:sp>
          <p:nvSpPr>
            <p:cNvPr id="4" name="Text Box 218"/>
            <p:cNvSpPr txBox="1">
              <a:spLocks noChangeArrowheads="1"/>
            </p:cNvSpPr>
            <p:nvPr/>
          </p:nvSpPr>
          <p:spPr bwMode="auto">
            <a:xfrm>
              <a:off x="1954856" y="4147690"/>
              <a:ext cx="793107" cy="429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并设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526540" y="4745341"/>
              <a:ext cx="45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646495" y="4453611"/>
            <a:ext cx="3344273" cy="443838"/>
            <a:chOff x="2592070" y="4146657"/>
            <a:chExt cx="3344273" cy="4438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对象 38"/>
                <p:cNvSpPr txBox="1"/>
                <p:nvPr/>
              </p:nvSpPr>
              <p:spPr>
                <a:xfrm>
                  <a:off x="2592070" y="4146657"/>
                  <a:ext cx="3098800" cy="393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0" hangingPunct="0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:</m:t>
                        </m:r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)  (</m:t>
                        </m:r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altLang="zh-CN" sz="2200" dirty="0">
                            <a:latin typeface="宋体" panose="02010600030101010101" pitchFamily="2" charset="-122"/>
                          </a:rPr>
                          <m:t>≥</m:t>
                        </m:r>
                        <m:r>
                          <a:rPr kumimoji="1" lang="zh-CN" altLang="en-US" sz="22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0) .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" name="对象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2070" y="4146657"/>
                  <a:ext cx="3098800" cy="393700"/>
                </a:xfrm>
                <a:prstGeom prst="rect">
                  <a:avLst/>
                </a:prstGeom>
                <a:blipFill>
                  <a:blip r:embed="rId9"/>
                  <a:stretch>
                    <a:fillRect l="-197" b="-31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/>
            <p:cNvSpPr txBox="1"/>
            <p:nvPr/>
          </p:nvSpPr>
          <p:spPr>
            <a:xfrm>
              <a:off x="5690870" y="4221163"/>
              <a:ext cx="245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020039" y="5140030"/>
            <a:ext cx="3124200" cy="799227"/>
            <a:chOff x="1965614" y="4711051"/>
            <a:chExt cx="3124200" cy="799227"/>
          </a:xfrm>
        </p:grpSpPr>
        <p:sp>
          <p:nvSpPr>
            <p:cNvPr id="5" name="Text Box 215"/>
            <p:cNvSpPr txBox="1">
              <a:spLocks noChangeArrowheads="1"/>
            </p:cNvSpPr>
            <p:nvPr/>
          </p:nvSpPr>
          <p:spPr bwMode="auto">
            <a:xfrm>
              <a:off x="1965614" y="4711051"/>
              <a:ext cx="3124200" cy="429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由光的反射定律</a:t>
              </a:r>
              <a:r>
                <a:rPr kumimoji="1" lang="en-US" altLang="zh-CN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: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014289" y="5140946"/>
              <a:ext cx="293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309560" y="5174320"/>
            <a:ext cx="2511942" cy="1272554"/>
            <a:chOff x="4255135" y="4745341"/>
            <a:chExt cx="2511942" cy="1272554"/>
          </a:xfrm>
        </p:grpSpPr>
        <p:sp>
          <p:nvSpPr>
            <p:cNvPr id="6" name="Text Box 219"/>
            <p:cNvSpPr txBox="1">
              <a:spLocks noChangeArrowheads="1"/>
            </p:cNvSpPr>
            <p:nvPr/>
          </p:nvSpPr>
          <p:spPr bwMode="auto">
            <a:xfrm>
              <a:off x="4255135" y="4745341"/>
              <a:ext cx="2326640" cy="397032"/>
            </a:xfrm>
            <a:prstGeom prst="rect">
              <a:avLst/>
            </a:prstGeom>
            <a:solidFill>
              <a:srgbClr val="1D9D79">
                <a:alpha val="42000"/>
              </a:srgbClr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kumimoji="1" lang="zh-CN" altLang="en-US" sz="2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入射角 </a:t>
              </a:r>
              <a:r>
                <a:rPr kumimoji="1" lang="en-US" altLang="zh-CN" sz="2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= </a:t>
              </a:r>
              <a:r>
                <a:rPr kumimoji="1" lang="zh-CN" altLang="en-US" sz="22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反射角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299200" y="5442857"/>
              <a:ext cx="467877" cy="575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pic>
        <p:nvPicPr>
          <p:cNvPr id="34" name="图片 33" descr="图示&#10;&#10;描述已自动生成">
            <a:extLst>
              <a:ext uri="{FF2B5EF4-FFF2-40B4-BE49-F238E27FC236}">
                <a16:creationId xmlns:a16="http://schemas.microsoft.com/office/drawing/2014/main" id="{33AEC9D8-491B-46E1-9096-3FD71670D52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717" y="3091809"/>
            <a:ext cx="2792674" cy="2662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318" name="Text Box 30"/>
          <p:cNvSpPr txBox="1">
            <a:spLocks noChangeArrowheads="1"/>
          </p:cNvSpPr>
          <p:nvPr/>
        </p:nvSpPr>
        <p:spPr bwMode="auto">
          <a:xfrm>
            <a:off x="1833707" y="762620"/>
            <a:ext cx="51228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可得 </a:t>
            </a:r>
            <a:r>
              <a:rPr kumimoji="1"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OMA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=  </a:t>
            </a:r>
            <a:r>
              <a:rPr kumimoji="1"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OAM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= </a:t>
            </a:r>
            <a:r>
              <a:rPr kumimoji="1"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12322" name="Text Box 34"/>
          <p:cNvSpPr txBox="1">
            <a:spLocks noChangeArrowheads="1"/>
          </p:cNvSpPr>
          <p:nvPr/>
        </p:nvSpPr>
        <p:spPr bwMode="auto">
          <a:xfrm>
            <a:off x="1812191" y="1308924"/>
            <a:ext cx="375443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从而 </a:t>
            </a:r>
            <a:r>
              <a:rPr kumimoji="1"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AO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= </a:t>
            </a:r>
            <a:r>
              <a:rPr kumimoji="1"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OM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.</a:t>
            </a:r>
          </a:p>
        </p:txBody>
      </p:sp>
      <p:sp>
        <p:nvSpPr>
          <p:cNvPr id="12324" name="Text Box 36"/>
          <p:cNvSpPr txBox="1">
            <a:spLocks noChangeArrowheads="1"/>
          </p:cNvSpPr>
          <p:nvPr/>
        </p:nvSpPr>
        <p:spPr bwMode="auto">
          <a:xfrm>
            <a:off x="1823912" y="1920032"/>
            <a:ext cx="155073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而     </a:t>
            </a:r>
            <a:r>
              <a:rPr kumimoji="1" lang="en-US" altLang="zh-CN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AO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23" name="Object 35"/>
              <p:cNvSpPr txBox="1"/>
              <p:nvPr/>
            </p:nvSpPr>
            <p:spPr bwMode="auto">
              <a:xfrm>
                <a:off x="2813903" y="1914093"/>
                <a:ext cx="1841500" cy="430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𝐴𝑃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𝑂𝑃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323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3903" y="1914093"/>
                <a:ext cx="184150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19" name="Object 31"/>
              <p:cNvSpPr txBox="1"/>
              <p:nvPr/>
            </p:nvSpPr>
            <p:spPr bwMode="auto">
              <a:xfrm>
                <a:off x="4173442" y="1902607"/>
                <a:ext cx="1841500" cy="368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cot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319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3442" y="1902607"/>
                <a:ext cx="1841500" cy="368300"/>
              </a:xfrm>
              <a:prstGeom prst="rect">
                <a:avLst/>
              </a:prstGeom>
              <a:blipFill>
                <a:blip r:embed="rId5"/>
                <a:stretch>
                  <a:fillRect b="-295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813903" y="2454922"/>
                <a:ext cx="1550732" cy="84796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903" y="2454922"/>
                <a:ext cx="1550732" cy="8479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3"/>
              <p:cNvSpPr txBox="1"/>
              <p:nvPr/>
            </p:nvSpPr>
            <p:spPr>
              <a:xfrm>
                <a:off x="2300577" y="3228814"/>
                <a:ext cx="2476500" cy="5715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𝑂𝑀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577" y="3228814"/>
                <a:ext cx="2476500" cy="571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25" name="Text Box 37"/>
          <p:cNvSpPr txBox="1">
            <a:spLocks noChangeArrowheads="1"/>
          </p:cNvSpPr>
          <p:nvPr/>
        </p:nvSpPr>
        <p:spPr bwMode="auto">
          <a:xfrm>
            <a:off x="1834498" y="3928766"/>
            <a:ext cx="24765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于是得微分方程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5"/>
              <p:cNvSpPr txBox="1"/>
              <p:nvPr/>
            </p:nvSpPr>
            <p:spPr>
              <a:xfrm>
                <a:off x="1850103" y="4503409"/>
                <a:ext cx="939800" cy="76411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103" y="4503409"/>
                <a:ext cx="939800" cy="7641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6"/>
              <p:cNvSpPr txBox="1"/>
              <p:nvPr/>
            </p:nvSpPr>
            <p:spPr>
              <a:xfrm>
                <a:off x="2667486" y="4559278"/>
                <a:ext cx="1950062" cy="70824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486" y="4559278"/>
                <a:ext cx="1950062" cy="7082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28" name="Text Box 40"/>
          <p:cNvSpPr txBox="1">
            <a:spLocks noChangeArrowheads="1"/>
          </p:cNvSpPr>
          <p:nvPr/>
        </p:nvSpPr>
        <p:spPr bwMode="auto">
          <a:xfrm>
            <a:off x="1834498" y="5426923"/>
            <a:ext cx="19446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变形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7"/>
              <p:cNvSpPr txBox="1"/>
              <p:nvPr/>
            </p:nvSpPr>
            <p:spPr>
              <a:xfrm>
                <a:off x="2867502" y="5024713"/>
                <a:ext cx="3124200" cy="11684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​</m:t>
                              </m:r>
                            </m:e>
                          </m:func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num>
                        <m:den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​</m:t>
                              </m:r>
                            </m:e>
                          </m:func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zh-CN" altLang="en-US" sz="22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zh-CN" altLang="en-US" sz="220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502" y="5024713"/>
                <a:ext cx="3124200" cy="1168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363831CD-1C4F-5520-FA63-F8846B5A273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127" y="2060182"/>
            <a:ext cx="3050654" cy="29087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8" grpId="0"/>
      <p:bldP spid="12322" grpId="0"/>
      <p:bldP spid="12324" grpId="0"/>
      <p:bldP spid="12323" grpId="0"/>
      <p:bldP spid="12319" grpId="0"/>
      <p:bldP spid="3" grpId="0"/>
      <p:bldP spid="8" grpId="0"/>
      <p:bldP spid="12325" grpId="0"/>
      <p:bldP spid="9" grpId="0"/>
      <p:bldP spid="10" grpId="0"/>
      <p:bldP spid="12328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1708945" y="1982640"/>
            <a:ext cx="8785225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/>
          </a:p>
        </p:txBody>
      </p:sp>
      <p:grpSp>
        <p:nvGrpSpPr>
          <p:cNvPr id="8" name="组合 7"/>
          <p:cNvGrpSpPr/>
          <p:nvPr/>
        </p:nvGrpSpPr>
        <p:grpSpPr>
          <a:xfrm>
            <a:off x="2427069" y="778437"/>
            <a:ext cx="3752074" cy="1168400"/>
            <a:chOff x="2293257" y="778437"/>
            <a:chExt cx="3752074" cy="1168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"/>
                <p:cNvSpPr txBox="1"/>
                <p:nvPr/>
              </p:nvSpPr>
              <p:spPr>
                <a:xfrm>
                  <a:off x="3073531" y="778437"/>
                  <a:ext cx="2971800" cy="11684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func>
                              <m:func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fName>
                              <m:e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​</m:t>
                                </m:r>
                              </m:e>
                            </m:func>
                          </m:den>
                        </m:f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den>
                        </m:f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zh-CN" altLang="en-US" sz="2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1" lang="zh-CN" altLang="en-US" sz="2200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zh-CN" altLang="en-US" sz="220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kumimoji="1" lang="zh-CN" altLang="en-US" sz="220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3531" y="778437"/>
                  <a:ext cx="2971800" cy="11684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文本框 2"/>
            <p:cNvSpPr txBox="1"/>
            <p:nvPr/>
          </p:nvSpPr>
          <p:spPr>
            <a:xfrm>
              <a:off x="2293257" y="1030514"/>
              <a:ext cx="45470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746383" y="2369345"/>
            <a:ext cx="1948476" cy="873594"/>
            <a:chOff x="2612571" y="2369345"/>
            <a:chExt cx="1948476" cy="8735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19" name="Object 7"/>
                <p:cNvSpPr txBox="1"/>
                <p:nvPr/>
              </p:nvSpPr>
              <p:spPr bwMode="auto">
                <a:xfrm>
                  <a:off x="3049746" y="2369345"/>
                  <a:ext cx="1511301" cy="8735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令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den>
                        </m:f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319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49746" y="2369345"/>
                  <a:ext cx="1511301" cy="8735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2612571" y="2504444"/>
              <a:ext cx="24674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540442" y="2090057"/>
            <a:ext cx="3968113" cy="1082399"/>
            <a:chOff x="4406630" y="2090057"/>
            <a:chExt cx="3968113" cy="10823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18" name="Object 6"/>
                <p:cNvSpPr txBox="1"/>
                <p:nvPr/>
              </p:nvSpPr>
              <p:spPr bwMode="auto">
                <a:xfrm>
                  <a:off x="4406630" y="2475869"/>
                  <a:ext cx="1511301" cy="6965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则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31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06630" y="2475869"/>
                  <a:ext cx="1511301" cy="696587"/>
                </a:xfrm>
                <a:prstGeom prst="rect">
                  <a:avLst/>
                </a:prstGeom>
                <a:blipFill>
                  <a:blip r:embed="rId5"/>
                  <a:stretch>
                    <a:fillRect l="-282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7895771" y="2090057"/>
              <a:ext cx="4789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827459" y="2302669"/>
            <a:ext cx="3131039" cy="1098877"/>
            <a:chOff x="5693647" y="2302669"/>
            <a:chExt cx="3131039" cy="10988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2"/>
                <p:cNvSpPr txBox="1"/>
                <p:nvPr/>
              </p:nvSpPr>
              <p:spPr>
                <a:xfrm>
                  <a:off x="5693647" y="2302669"/>
                  <a:ext cx="2459644" cy="1098877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den>
                        </m:f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den>
                        </m:f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3647" y="2302669"/>
                  <a:ext cx="2459644" cy="10988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8519886" y="2656114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267412" y="3281103"/>
            <a:ext cx="3858138" cy="608726"/>
            <a:chOff x="2133600" y="3281103"/>
            <a:chExt cx="3858138" cy="608726"/>
          </a:xfrm>
        </p:grpSpPr>
        <p:sp>
          <p:nvSpPr>
            <p:cNvPr id="13321" name="Text Box 9"/>
            <p:cNvSpPr txBox="1">
              <a:spLocks noChangeArrowheads="1"/>
            </p:cNvSpPr>
            <p:nvPr/>
          </p:nvSpPr>
          <p:spPr bwMode="auto">
            <a:xfrm>
              <a:off x="3038988" y="3281103"/>
              <a:ext cx="295275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于是方程变为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133600" y="3429000"/>
              <a:ext cx="333829" cy="46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014888" y="3102263"/>
            <a:ext cx="3361749" cy="1076239"/>
            <a:chOff x="4881076" y="3102263"/>
            <a:chExt cx="3361749" cy="107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3"/>
                <p:cNvSpPr txBox="1"/>
                <p:nvPr/>
              </p:nvSpPr>
              <p:spPr>
                <a:xfrm>
                  <a:off x="4881076" y="3102263"/>
                  <a:ext cx="2692372" cy="1076239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den>
                        </m:f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 .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1076" y="3102263"/>
                  <a:ext cx="2692372" cy="107623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7895771" y="3615062"/>
              <a:ext cx="34705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427069" y="4074477"/>
            <a:ext cx="4058843" cy="634626"/>
            <a:chOff x="2293257" y="4074477"/>
            <a:chExt cx="4058843" cy="634626"/>
          </a:xfrm>
        </p:grpSpPr>
        <p:sp>
          <p:nvSpPr>
            <p:cNvPr id="13323" name="Text Box 11"/>
            <p:cNvSpPr txBox="1">
              <a:spLocks noChangeArrowheads="1"/>
            </p:cNvSpPr>
            <p:nvPr/>
          </p:nvSpPr>
          <p:spPr bwMode="auto">
            <a:xfrm>
              <a:off x="3038988" y="4074477"/>
              <a:ext cx="331311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可求得其通解为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293257" y="4339771"/>
              <a:ext cx="319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231584" y="4003994"/>
            <a:ext cx="4510685" cy="633970"/>
            <a:chOff x="5097772" y="4003994"/>
            <a:chExt cx="4510685" cy="6339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4"/>
                <p:cNvSpPr txBox="1"/>
                <p:nvPr/>
              </p:nvSpPr>
              <p:spPr>
                <a:xfrm>
                  <a:off x="5097772" y="4003994"/>
                  <a:ext cx="4191000" cy="5715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zh-CN" altLang="en-US" sz="22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kumimoji="1" lang="zh-CN" altLang="en-US" sz="22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)=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</m:func>
                        <m:r>
                          <a:rPr kumimoji="1" lang="en-US" altLang="zh-CN" sz="2200" b="0" i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7772" y="4003994"/>
                  <a:ext cx="4191000" cy="5715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/>
            <p:cNvSpPr txBox="1"/>
            <p:nvPr/>
          </p:nvSpPr>
          <p:spPr>
            <a:xfrm>
              <a:off x="9288772" y="4207077"/>
              <a:ext cx="31968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427069" y="4820606"/>
            <a:ext cx="5976189" cy="430887"/>
            <a:chOff x="2293257" y="4820606"/>
            <a:chExt cx="5976189" cy="43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2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049746" y="4820606"/>
                  <a:ext cx="5219700" cy="4308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zh-CN" altLang="en-US" sz="2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代回原来的变量并化简</a:t>
                  </a:r>
                  <a14:m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a14:m>
                  <a:r>
                    <a:rPr kumimoji="1" lang="zh-CN" altLang="en-US" sz="2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得</a:t>
                  </a:r>
                </a:p>
              </p:txBody>
            </p:sp>
          </mc:Choice>
          <mc:Fallback xmlns="">
            <p:sp>
              <p:nvSpPr>
                <p:cNvPr id="13325" name="Text 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49746" y="4820606"/>
                  <a:ext cx="5219700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519" t="-14286" b="-2428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/>
          </p:nvSpPr>
          <p:spPr>
            <a:xfrm>
              <a:off x="2293257" y="4875360"/>
              <a:ext cx="454706" cy="376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522898" y="4635888"/>
            <a:ext cx="3622588" cy="838200"/>
            <a:chOff x="6522898" y="4654938"/>
            <a:chExt cx="3622588" cy="838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5"/>
                <p:cNvSpPr txBox="1"/>
                <p:nvPr/>
              </p:nvSpPr>
              <p:spPr>
                <a:xfrm>
                  <a:off x="6522898" y="4654938"/>
                  <a:ext cx="2578100" cy="8382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=2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num>
                          <m:den>
                            <m:r>
                              <a:rPr kumimoji="1" lang="zh-CN" altLang="en-US" sz="22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den>
                        </m:f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) .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898" y="4654938"/>
                  <a:ext cx="2578100" cy="8382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9608457" y="4820606"/>
              <a:ext cx="53702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D93BBFC6-D880-5F47-F366-BFDF39454BE1}"/>
              </a:ext>
            </a:extLst>
          </p:cNvPr>
          <p:cNvGrpSpPr/>
          <p:nvPr/>
        </p:nvGrpSpPr>
        <p:grpSpPr>
          <a:xfrm>
            <a:off x="971193" y="1423616"/>
            <a:ext cx="10277378" cy="1706245"/>
            <a:chOff x="855079" y="1423616"/>
            <a:chExt cx="10277378" cy="1706245"/>
          </a:xfrm>
        </p:grpSpPr>
        <p:sp>
          <p:nvSpPr>
            <p:cNvPr id="13" name="Rectangle 1"/>
            <p:cNvSpPr/>
            <p:nvPr/>
          </p:nvSpPr>
          <p:spPr>
            <a:xfrm>
              <a:off x="1140104" y="1423616"/>
              <a:ext cx="9992353" cy="1706245"/>
            </a:xfrm>
            <a:prstGeom prst="rect">
              <a:avLst/>
            </a:prstGeom>
            <a:solidFill>
              <a:srgbClr val="039462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55079" y="1832320"/>
              <a:ext cx="1205684" cy="899795"/>
              <a:chOff x="13276" y="994416"/>
              <a:chExt cx="1822276" cy="899795"/>
            </a:xfrm>
          </p:grpSpPr>
          <p:sp>
            <p:nvSpPr>
              <p:cNvPr id="15" name="PA-102231"/>
              <p:cNvSpPr/>
              <p:nvPr>
                <p:custDataLst>
                  <p:tags r:id="rId1"/>
                </p:custDataLst>
              </p:nvPr>
            </p:nvSpPr>
            <p:spPr>
              <a:xfrm>
                <a:off x="13276" y="994416"/>
                <a:ext cx="1822276" cy="899795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5000">
                      <a:srgbClr val="17A45E"/>
                    </a:gs>
                    <a:gs pos="56000">
                      <a:srgbClr val="039267"/>
                    </a:gs>
                    <a:gs pos="100000">
                      <a:srgbClr val="068983"/>
                    </a:gs>
                  </a:gsLst>
                  <a:lin ang="10800000" scaled="0"/>
                </a:gradFill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16" name="Rectangle 167"/>
              <p:cNvSpPr>
                <a:spLocks noChangeArrowheads="1"/>
              </p:cNvSpPr>
              <p:nvPr/>
            </p:nvSpPr>
            <p:spPr bwMode="auto">
              <a:xfrm>
                <a:off x="62972" y="1229151"/>
                <a:ext cx="1574809" cy="4308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1.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定义</a:t>
                </a:r>
                <a:endPara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</p:grpSp>
      <p:sp>
        <p:nvSpPr>
          <p:cNvPr id="26" name="右箭头 25"/>
          <p:cNvSpPr/>
          <p:nvPr/>
        </p:nvSpPr>
        <p:spPr>
          <a:xfrm>
            <a:off x="5224831" y="5472484"/>
            <a:ext cx="2871209" cy="298599"/>
          </a:xfrm>
          <a:prstGeom prst="rightArrow">
            <a:avLst>
              <a:gd name="adj1" fmla="val 50000"/>
              <a:gd name="adj2" fmla="val 174946"/>
            </a:avLst>
          </a:prstGeom>
          <a:solidFill>
            <a:srgbClr val="04926A"/>
          </a:solidFill>
          <a:ln>
            <a:solidFill>
              <a:srgbClr val="04926A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1256787" y="5288765"/>
            <a:ext cx="968375" cy="448945"/>
            <a:chOff x="1480" y="3803"/>
            <a:chExt cx="1525" cy="707"/>
          </a:xfrm>
        </p:grpSpPr>
        <p:sp>
          <p:nvSpPr>
            <p:cNvPr id="19" name="圆角矩形 18"/>
            <p:cNvSpPr/>
            <p:nvPr/>
          </p:nvSpPr>
          <p:spPr>
            <a:xfrm>
              <a:off x="1480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28"/>
            <p:cNvSpPr txBox="1">
              <a:spLocks noChangeArrowheads="1"/>
            </p:cNvSpPr>
            <p:nvPr/>
          </p:nvSpPr>
          <p:spPr bwMode="auto">
            <a:xfrm>
              <a:off x="1567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54255" y="595086"/>
            <a:ext cx="5976936" cy="739401"/>
            <a:chOff x="1038141" y="595086"/>
            <a:chExt cx="5976936" cy="739401"/>
          </a:xfrm>
        </p:grpSpPr>
        <p:sp>
          <p:nvSpPr>
            <p:cNvPr id="18" name="Text Box 3"/>
            <p:cNvSpPr txBox="1">
              <a:spLocks noChangeArrowheads="1"/>
            </p:cNvSpPr>
            <p:nvPr/>
          </p:nvSpPr>
          <p:spPr bwMode="auto">
            <a:xfrm>
              <a:off x="1038141" y="749712"/>
              <a:ext cx="5976936" cy="584775"/>
            </a:xfrm>
            <a:prstGeom prst="rect">
              <a:avLst/>
            </a:prstGeom>
            <a:noFill/>
            <a:ln w="28575">
              <a:noFill/>
              <a:prstDash val="dashDot"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sz="32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</a:t>
              </a:r>
              <a:r>
                <a:rPr lang="zh-CN" altLang="en-US" sz="32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二、可化为齐次的方程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429829" y="595086"/>
              <a:ext cx="304800" cy="435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0794" y="1822512"/>
            <a:ext cx="9071694" cy="1072840"/>
            <a:chOff x="2264680" y="1822512"/>
            <a:chExt cx="9071694" cy="1072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6"/>
                <p:cNvSpPr txBox="1"/>
                <p:nvPr/>
              </p:nvSpPr>
              <p:spPr>
                <a:xfrm>
                  <a:off x="3181711" y="1822512"/>
                  <a:ext cx="8154663" cy="10728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𝑎𝑥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𝑏𝑦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1711" y="1822512"/>
                  <a:ext cx="8154663" cy="107284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"/>
                <p:cNvSpPr txBox="1"/>
                <p:nvPr/>
              </p:nvSpPr>
              <p:spPr>
                <a:xfrm>
                  <a:off x="2264680" y="2029998"/>
                  <a:ext cx="981463" cy="60106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方程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4680" y="2029998"/>
                  <a:ext cx="981463" cy="6010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本框 7"/>
            <p:cNvSpPr txBox="1"/>
            <p:nvPr/>
          </p:nvSpPr>
          <p:spPr>
            <a:xfrm>
              <a:off x="6629762" y="2351314"/>
              <a:ext cx="45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429072" y="4775639"/>
            <a:ext cx="3493040" cy="1841333"/>
            <a:chOff x="2312958" y="4528457"/>
            <a:chExt cx="3493040" cy="18413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10"/>
                <p:cNvSpPr txBox="1"/>
                <p:nvPr/>
              </p:nvSpPr>
              <p:spPr>
                <a:xfrm>
                  <a:off x="2312958" y="4744309"/>
                  <a:ext cx="3493040" cy="162548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​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​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+4</m:t>
                            </m:r>
                          </m:num>
                          <m:den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−6</m:t>
                            </m:r>
                          </m:den>
                        </m:f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对象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958" y="4744309"/>
                  <a:ext cx="3493040" cy="162548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/>
            <p:cNvSpPr txBox="1"/>
            <p:nvPr/>
          </p:nvSpPr>
          <p:spPr>
            <a:xfrm>
              <a:off x="3323771" y="4528457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225285" y="3975322"/>
            <a:ext cx="3188595" cy="1664508"/>
            <a:chOff x="5109171" y="3728140"/>
            <a:chExt cx="3188595" cy="16645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bject 15"/>
                <p:cNvSpPr txBox="1"/>
                <p:nvPr/>
              </p:nvSpPr>
              <p:spPr bwMode="auto">
                <a:xfrm>
                  <a:off x="5109171" y="4206795"/>
                  <a:ext cx="3188595" cy="11858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令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&amp;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+1 </m:t>
                                </m:r>
                              </m:e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&amp;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−5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09171" y="4206795"/>
                  <a:ext cx="3188595" cy="118585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/>
            <p:cNvSpPr txBox="1"/>
            <p:nvPr/>
          </p:nvSpPr>
          <p:spPr>
            <a:xfrm>
              <a:off x="6096000" y="3728140"/>
              <a:ext cx="232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227117" y="4996895"/>
            <a:ext cx="3188595" cy="1292972"/>
            <a:chOff x="8111003" y="4749713"/>
            <a:chExt cx="3188595" cy="12929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bject 19"/>
                <p:cNvSpPr txBox="1"/>
                <p:nvPr/>
              </p:nvSpPr>
              <p:spPr bwMode="auto">
                <a:xfrm>
                  <a:off x="8111003" y="4749713"/>
                  <a:ext cx="3188595" cy="12929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den>
                        </m:f>
                      </m:oMath>
                    </m:oMathPara>
                  </a14:m>
                  <a:endParaRPr lang="zh-CN" altLang="en-US" sz="2800" i="1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11003" y="4749713"/>
                  <a:ext cx="3188595" cy="129297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/>
          </p:nvSpPr>
          <p:spPr>
            <a:xfrm>
              <a:off x="10363200" y="4787813"/>
              <a:ext cx="2177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对象 6">
                <a:extLst>
                  <a:ext uri="{FF2B5EF4-FFF2-40B4-BE49-F238E27FC236}">
                    <a16:creationId xmlns:a16="http://schemas.microsoft.com/office/drawing/2014/main" id="{2BB29335-731F-591D-6ED4-F09E4F9A13E1}"/>
                  </a:ext>
                </a:extLst>
              </p:cNvPr>
              <p:cNvSpPr txBox="1"/>
              <p:nvPr/>
            </p:nvSpPr>
            <p:spPr>
              <a:xfrm>
                <a:off x="2380793" y="3190658"/>
                <a:ext cx="8154663" cy="60594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tabLst>
                    <a:tab pos="1524000" algn="l"/>
                  </a:tabLst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当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=0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时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齐次的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en-US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对象 6">
                <a:extLst>
                  <a:ext uri="{FF2B5EF4-FFF2-40B4-BE49-F238E27FC236}">
                    <a16:creationId xmlns:a16="http://schemas.microsoft.com/office/drawing/2014/main" id="{2BB29335-731F-591D-6ED4-F09E4F9A1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793" y="3190658"/>
                <a:ext cx="8154663" cy="605946"/>
              </a:xfrm>
              <a:prstGeom prst="rect">
                <a:avLst/>
              </a:prstGeom>
              <a:blipFill>
                <a:blip r:embed="rId8"/>
                <a:stretch>
                  <a:fillRect t="-12000" b="-1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对象 6">
                <a:extLst>
                  <a:ext uri="{FF2B5EF4-FFF2-40B4-BE49-F238E27FC236}">
                    <a16:creationId xmlns:a16="http://schemas.microsoft.com/office/drawing/2014/main" id="{F623FEBB-852F-8259-DF38-58B37821C848}"/>
                  </a:ext>
                </a:extLst>
              </p:cNvPr>
              <p:cNvSpPr txBox="1"/>
              <p:nvPr/>
            </p:nvSpPr>
            <p:spPr>
              <a:xfrm>
                <a:off x="2380793" y="3791111"/>
                <a:ext cx="8761085" cy="60594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tabLst>
                    <a:tab pos="1524000" algn="l"/>
                  </a:tabLst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当</m:t>
                    </m:r>
                    <m:sSup>
                      <m:sSup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+</m:t>
                    </m:r>
                    <m:sSubSup>
                      <m:sSubSup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bSup>
                    <m:r>
                      <a:rPr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时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非齐次的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  <a:sym typeface="+mn-ea"/>
                  </a:rPr>
                  <a:t>, 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但可以化为齐次方程求解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en-US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对象 6">
                <a:extLst>
                  <a:ext uri="{FF2B5EF4-FFF2-40B4-BE49-F238E27FC236}">
                    <a16:creationId xmlns:a16="http://schemas.microsoft.com/office/drawing/2014/main" id="{F623FEBB-852F-8259-DF38-58B37821C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793" y="3791111"/>
                <a:ext cx="8761085" cy="605946"/>
              </a:xfrm>
              <a:prstGeom prst="rect">
                <a:avLst/>
              </a:prstGeom>
              <a:blipFill>
                <a:blip r:embed="rId9"/>
                <a:stretch>
                  <a:fillRect t="-13131" r="-3479"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58"/>
          <p:cNvSpPr>
            <a:spLocks noChangeArrowheads="1"/>
          </p:cNvSpPr>
          <p:nvPr/>
        </p:nvSpPr>
        <p:spPr bwMode="auto">
          <a:xfrm>
            <a:off x="1227130" y="5307695"/>
            <a:ext cx="1650582" cy="533400"/>
          </a:xfrm>
          <a:prstGeom prst="wedgeRectCallout">
            <a:avLst>
              <a:gd name="adj1" fmla="val 66738"/>
              <a:gd name="adj2" fmla="val -1008"/>
            </a:avLst>
          </a:prstGeom>
          <a:solidFill>
            <a:srgbClr val="04926A">
              <a:alpha val="42000"/>
            </a:srgbClr>
          </a:solidFill>
          <a:ln w="9525">
            <a:noFill/>
            <a:miter lim="800000"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齐次方程</a:t>
            </a:r>
          </a:p>
        </p:txBody>
      </p:sp>
      <p:sp>
        <p:nvSpPr>
          <p:cNvPr id="31" name="下箭头 30"/>
          <p:cNvSpPr/>
          <p:nvPr/>
        </p:nvSpPr>
        <p:spPr>
          <a:xfrm>
            <a:off x="3507873" y="3540304"/>
            <a:ext cx="205388" cy="1337784"/>
          </a:xfrm>
          <a:prstGeom prst="downArrow">
            <a:avLst>
              <a:gd name="adj1" fmla="val 50000"/>
              <a:gd name="adj2" fmla="val 151822"/>
            </a:avLst>
          </a:prstGeom>
          <a:solidFill>
            <a:srgbClr val="04926A"/>
          </a:solidFill>
          <a:ln>
            <a:solidFill>
              <a:srgbClr val="04926A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066063" y="572186"/>
            <a:ext cx="1363800" cy="52322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20"/>
              <p:cNvSpPr txBox="1"/>
              <p:nvPr/>
            </p:nvSpPr>
            <p:spPr>
              <a:xfrm>
                <a:off x="2481632" y="563259"/>
                <a:ext cx="2281513" cy="54457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分两种情况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对象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632" y="563259"/>
                <a:ext cx="2281513" cy="5445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对象 21"/>
              <p:cNvSpPr txBox="1"/>
              <p:nvPr/>
            </p:nvSpPr>
            <p:spPr>
              <a:xfrm>
                <a:off x="903329" y="1232654"/>
                <a:ext cx="3722646" cy="94222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当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≠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𝑏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对象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329" y="1232654"/>
                <a:ext cx="3722646" cy="942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对象 22"/>
              <p:cNvSpPr txBox="1"/>
              <p:nvPr/>
            </p:nvSpPr>
            <p:spPr>
              <a:xfrm>
                <a:off x="3610567" y="1192589"/>
                <a:ext cx="5776105" cy="10033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作变换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𝑋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h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𝑌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为待定常数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对象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567" y="1192589"/>
                <a:ext cx="5776105" cy="1003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对象 31"/>
              <p:cNvSpPr txBox="1"/>
              <p:nvPr/>
            </p:nvSpPr>
            <p:spPr>
              <a:xfrm>
                <a:off x="1044391" y="2666927"/>
                <a:ext cx="3210109" cy="5334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则原方程化为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对象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391" y="2666927"/>
                <a:ext cx="3210109" cy="53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26"/>
              <p:cNvSpPr txBox="1"/>
              <p:nvPr/>
            </p:nvSpPr>
            <p:spPr>
              <a:xfrm>
                <a:off x="3325394" y="2422921"/>
                <a:ext cx="6404492" cy="9271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tabLst>
                    <a:tab pos="430530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𝑌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𝑋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𝑋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𝑏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𝑌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𝑎h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𝑏𝑘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𝑐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𝑋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𝑌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对象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394" y="2422921"/>
                <a:ext cx="6404492" cy="92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对象 27"/>
              <p:cNvSpPr txBox="1"/>
              <p:nvPr/>
            </p:nvSpPr>
            <p:spPr>
              <a:xfrm>
                <a:off x="3829956" y="3733978"/>
                <a:ext cx="5664227" cy="10160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令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𝑎h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𝑏𝑘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𝑐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=0 ,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h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𝑘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=0,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解出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对象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956" y="3733978"/>
                <a:ext cx="5664227" cy="101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对象 28"/>
              <p:cNvSpPr txBox="1"/>
              <p:nvPr/>
            </p:nvSpPr>
            <p:spPr>
              <a:xfrm>
                <a:off x="3325394" y="5060045"/>
                <a:ext cx="3759227" cy="9271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𝑌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𝑋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𝑋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𝑏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𝑌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𝑋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𝑌</m:t>
                          </m:r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对象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394" y="5060045"/>
                <a:ext cx="3759227" cy="927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对象 36"/>
              <p:cNvSpPr txBox="1"/>
              <p:nvPr/>
            </p:nvSpPr>
            <p:spPr>
              <a:xfrm>
                <a:off x="6003145" y="5021946"/>
                <a:ext cx="5776104" cy="109001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求出其解后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将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𝑋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</m:e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𝑌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代入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对象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145" y="5021946"/>
                <a:ext cx="5776104" cy="10900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 animBg="1"/>
      <p:bldP spid="13" grpId="0"/>
      <p:bldP spid="21" grpId="0"/>
      <p:bldP spid="22" grpId="0"/>
      <p:bldP spid="23" grpId="0"/>
      <p:bldP spid="32" grpId="0"/>
      <p:bldP spid="27" grpId="0"/>
      <p:bldP spid="28" grpId="0"/>
      <p:bldP spid="29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下箭头 8"/>
          <p:cNvSpPr/>
          <p:nvPr/>
        </p:nvSpPr>
        <p:spPr>
          <a:xfrm>
            <a:off x="2670477" y="2670866"/>
            <a:ext cx="193741" cy="1001692"/>
          </a:xfrm>
          <a:prstGeom prst="downArrow">
            <a:avLst>
              <a:gd name="adj1" fmla="val 50000"/>
              <a:gd name="adj2" fmla="val 151822"/>
            </a:avLst>
          </a:prstGeom>
          <a:solidFill>
            <a:srgbClr val="1D9D79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 dirty="0"/>
          </a:p>
        </p:txBody>
      </p:sp>
      <p:sp>
        <p:nvSpPr>
          <p:cNvPr id="14" name="AutoShape 58"/>
          <p:cNvSpPr>
            <a:spLocks noChangeArrowheads="1"/>
          </p:cNvSpPr>
          <p:nvPr/>
        </p:nvSpPr>
        <p:spPr bwMode="auto">
          <a:xfrm>
            <a:off x="5949014" y="4009894"/>
            <a:ext cx="3075745" cy="533400"/>
          </a:xfrm>
          <a:prstGeom prst="wedgeRectCallout">
            <a:avLst>
              <a:gd name="adj1" fmla="val -60922"/>
              <a:gd name="adj2" fmla="val 3694"/>
            </a:avLst>
          </a:prstGeom>
          <a:solidFill>
            <a:srgbClr val="04926A">
              <a:alpha val="42000"/>
            </a:srgbClr>
          </a:solidFill>
          <a:ln w="9525">
            <a:noFill/>
            <a:miter lim="800000"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可分离变量的方程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69538" y="5217010"/>
            <a:ext cx="612775" cy="612775"/>
            <a:chOff x="1601" y="872"/>
            <a:chExt cx="965" cy="965"/>
          </a:xfrm>
        </p:grpSpPr>
        <p:sp>
          <p:nvSpPr>
            <p:cNvPr id="16" name="椭圆 15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7" name="文本框 16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18" name="椭圆 17"/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70225" y="570394"/>
            <a:ext cx="4479443" cy="995548"/>
            <a:chOff x="1545554" y="434998"/>
            <a:chExt cx="3787452" cy="9955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5"/>
                <p:cNvSpPr txBox="1"/>
                <p:nvPr/>
              </p:nvSpPr>
              <p:spPr>
                <a:xfrm>
                  <a:off x="1545554" y="434998"/>
                  <a:ext cx="3787452" cy="99554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（"/>
                            <m:endChr m:val="）"/>
                            <m:ctrlPr>
                              <a:rPr lang="zh-CN" altLang="en-US" sz="280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zh-CN" altLang="en-US" sz="280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e>
                        </m:d>
                        <m:r>
                          <a:rPr lang="zh-CN" altLang="en-US" sz="28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当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𝜆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时</m:t>
                        </m:r>
                        <m:r>
                          <a:rPr lang="zh-CN" altLang="en-US" sz="28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5554" y="434998"/>
                  <a:ext cx="3787452" cy="99554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文本框 2"/>
            <p:cNvSpPr txBox="1"/>
            <p:nvPr/>
          </p:nvSpPr>
          <p:spPr>
            <a:xfrm>
              <a:off x="1712686" y="593607"/>
              <a:ext cx="435428" cy="538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02714" y="601152"/>
            <a:ext cx="4267200" cy="685087"/>
            <a:chOff x="5803900" y="593607"/>
            <a:chExt cx="4267200" cy="685087"/>
          </a:xfrm>
        </p:grpSpPr>
        <p:sp>
          <p:nvSpPr>
            <p:cNvPr id="12" name="Text Box 31"/>
            <p:cNvSpPr txBox="1">
              <a:spLocks noChangeArrowheads="1"/>
            </p:cNvSpPr>
            <p:nvPr/>
          </p:nvSpPr>
          <p:spPr bwMode="auto">
            <a:xfrm>
              <a:off x="5803900" y="755474"/>
              <a:ext cx="42672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原方程可变形为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02318" y="593607"/>
              <a:ext cx="3531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511848" y="1554930"/>
            <a:ext cx="5191134" cy="927100"/>
            <a:chOff x="2746366" y="1310334"/>
            <a:chExt cx="5191134" cy="9271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3"/>
                <p:cNvSpPr txBox="1"/>
                <p:nvPr/>
              </p:nvSpPr>
              <p:spPr>
                <a:xfrm>
                  <a:off x="2746366" y="1310334"/>
                  <a:ext cx="5191134" cy="9271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𝑎𝑥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𝑏𝑦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𝑐</m:t>
                            </m:r>
                          </m:num>
                          <m:den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𝜆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𝑎𝑥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𝑏𝑦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)+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 ,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≠0.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6366" y="1310334"/>
                  <a:ext cx="5191134" cy="927100"/>
                </a:xfrm>
                <a:prstGeom prst="rect">
                  <a:avLst/>
                </a:prstGeom>
                <a:blipFill>
                  <a:blip r:embed="rId3"/>
                  <a:stretch>
                    <a:fillRect b="-6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/>
            <p:cNvSpPr txBox="1"/>
            <p:nvPr/>
          </p:nvSpPr>
          <p:spPr>
            <a:xfrm>
              <a:off x="7358743" y="1611086"/>
              <a:ext cx="3435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004217" y="2908823"/>
            <a:ext cx="5136008" cy="901978"/>
            <a:chOff x="3238735" y="2492325"/>
            <a:chExt cx="5136008" cy="9019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9"/>
                <p:cNvSpPr txBox="1"/>
                <p:nvPr/>
              </p:nvSpPr>
              <p:spPr>
                <a:xfrm>
                  <a:off x="3238735" y="2492325"/>
                  <a:ext cx="2973582" cy="90197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令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𝑎𝑥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𝑏𝑦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8735" y="2492325"/>
                  <a:ext cx="2973582" cy="90197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/>
          </p:nvSpPr>
          <p:spPr>
            <a:xfrm>
              <a:off x="8055429" y="2492325"/>
              <a:ext cx="3193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483648" y="2691975"/>
            <a:ext cx="3870265" cy="1121570"/>
            <a:chOff x="5752706" y="2319021"/>
            <a:chExt cx="3870265" cy="11215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10"/>
                <p:cNvSpPr txBox="1"/>
                <p:nvPr/>
              </p:nvSpPr>
              <p:spPr>
                <a:xfrm>
                  <a:off x="5752706" y="2319021"/>
                  <a:ext cx="3702282" cy="106520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则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2706" y="2319021"/>
                  <a:ext cx="3702282" cy="106520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9287005" y="2917371"/>
              <a:ext cx="3359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-26978" y="4007228"/>
            <a:ext cx="3620525" cy="553490"/>
            <a:chOff x="207540" y="3862086"/>
            <a:chExt cx="3620525" cy="553490"/>
          </a:xfrm>
        </p:grpSpPr>
        <p:sp>
          <p:nvSpPr>
            <p:cNvPr id="19" name="Text Box 35"/>
            <p:cNvSpPr txBox="1">
              <a:spLocks noChangeArrowheads="1"/>
            </p:cNvSpPr>
            <p:nvPr/>
          </p:nvSpPr>
          <p:spPr bwMode="auto">
            <a:xfrm>
              <a:off x="856265" y="3862086"/>
              <a:ext cx="29718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原方程化为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07540" y="3892356"/>
              <a:ext cx="6563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511848" y="3783884"/>
            <a:ext cx="3349634" cy="1505045"/>
            <a:chOff x="2746366" y="3638742"/>
            <a:chExt cx="3349634" cy="15050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6"/>
                <p:cNvSpPr txBox="1"/>
                <p:nvPr/>
              </p:nvSpPr>
              <p:spPr>
                <a:xfrm>
                  <a:off x="2746366" y="3638742"/>
                  <a:ext cx="3349634" cy="127158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𝑐</m:t>
                            </m:r>
                          </m:num>
                          <m:den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𝜆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6366" y="3638742"/>
                  <a:ext cx="3349634" cy="127158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本框 28"/>
            <p:cNvSpPr txBox="1"/>
            <p:nvPr/>
          </p:nvSpPr>
          <p:spPr>
            <a:xfrm>
              <a:off x="3410857" y="4620567"/>
              <a:ext cx="2902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192842" y="5250313"/>
            <a:ext cx="4673074" cy="623016"/>
            <a:chOff x="1539243" y="5880090"/>
            <a:chExt cx="4673074" cy="623016"/>
          </a:xfrm>
        </p:grpSpPr>
        <p:sp>
          <p:nvSpPr>
            <p:cNvPr id="20" name="Text Box 33"/>
            <p:cNvSpPr txBox="1">
              <a:spLocks noChangeArrowheads="1"/>
            </p:cNvSpPr>
            <p:nvPr/>
          </p:nvSpPr>
          <p:spPr bwMode="auto">
            <a:xfrm>
              <a:off x="1539243" y="5880090"/>
              <a:ext cx="467307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indent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sym typeface="+mn-lt"/>
                </a:rPr>
                <a:t>该方法适用于更一般的方程 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412343" y="5979886"/>
              <a:ext cx="4209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8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对象 3">
                <a:extLst>
                  <a:ext uri="{FF2B5EF4-FFF2-40B4-BE49-F238E27FC236}">
                    <a16:creationId xmlns:a16="http://schemas.microsoft.com/office/drawing/2014/main" id="{326D1A8B-D46B-36BB-1BAE-D57F842B7ACE}"/>
                  </a:ext>
                </a:extLst>
              </p:cNvPr>
              <p:cNvSpPr txBox="1"/>
              <p:nvPr/>
            </p:nvSpPr>
            <p:spPr>
              <a:xfrm>
                <a:off x="5653008" y="4972702"/>
                <a:ext cx="6223604" cy="11303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𝑎𝑥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𝑏𝑦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𝑐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≠0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对象 3">
                <a:extLst>
                  <a:ext uri="{FF2B5EF4-FFF2-40B4-BE49-F238E27FC236}">
                    <a16:creationId xmlns:a16="http://schemas.microsoft.com/office/drawing/2014/main" id="{326D1A8B-D46B-36BB-1BAE-D57F842B7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008" y="4972702"/>
                <a:ext cx="6223604" cy="11303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build="allAtOnce" animBg="1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1738630" y="1051560"/>
            <a:ext cx="8669655" cy="47335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1738630" y="1042788"/>
            <a:ext cx="600710" cy="739140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9727139" y="105156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1738630" y="5111391"/>
            <a:ext cx="600710" cy="673735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9727139" y="5091743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2250563" y="1433532"/>
            <a:ext cx="2322267" cy="52322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典型例题</a:t>
            </a:r>
          </a:p>
        </p:txBody>
      </p:sp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2280444" y="2036060"/>
            <a:ext cx="7649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en-US" altLang="zh-CN" sz="28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3017143" y="2012953"/>
                <a:ext cx="7361550" cy="75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解方程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 (2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+​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​−4)</m:t>
                      </m:r>
                      <m:r>
                        <m:rPr>
                          <m:sty m:val="p"/>
                        </m:rP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d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​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−1)</m:t>
                      </m:r>
                      <m:r>
                        <m:rPr>
                          <m:sty m:val="p"/>
                        </m:rP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d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​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=0.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143" y="2012953"/>
                <a:ext cx="7361550" cy="7553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2280444" y="2953895"/>
            <a:ext cx="5607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244"/>
              <p:cNvSpPr txBox="1">
                <a:spLocks noChangeArrowheads="1"/>
              </p:cNvSpPr>
              <p:nvPr/>
            </p:nvSpPr>
            <p:spPr bwMode="auto">
              <a:xfrm>
                <a:off x="3017143" y="2992277"/>
                <a:ext cx="231668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原方程变形</a:t>
                </a:r>
                <a14:m>
                  <m:oMath xmlns:m="http://schemas.openxmlformats.org/officeDocument/2006/math">
                    <m:r>
                      <a:rPr lang="zh-CN" altLang="en-US" sz="220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得</a:t>
                </a:r>
              </a:p>
            </p:txBody>
          </p:sp>
        </mc:Choice>
        <mc:Fallback xmlns="">
          <p:sp>
            <p:nvSpPr>
              <p:cNvPr id="4" name="Text Box 2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7143" y="2992277"/>
                <a:ext cx="2316683" cy="430887"/>
              </a:xfrm>
              <a:prstGeom prst="rect">
                <a:avLst/>
              </a:prstGeom>
              <a:blipFill>
                <a:blip r:embed="rId4"/>
                <a:stretch>
                  <a:fillRect l="-3421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2"/>
              <p:cNvSpPr txBox="1"/>
              <p:nvPr/>
            </p:nvSpPr>
            <p:spPr>
              <a:xfrm>
                <a:off x="5089866" y="2817861"/>
                <a:ext cx="2873315" cy="82492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​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​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+​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​−4</m:t>
                          </m:r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866" y="2817861"/>
                <a:ext cx="2873315" cy="8249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246"/>
          <p:cNvSpPr txBox="1">
            <a:spLocks noChangeArrowheads="1"/>
          </p:cNvSpPr>
          <p:nvPr/>
        </p:nvSpPr>
        <p:spPr bwMode="auto">
          <a:xfrm>
            <a:off x="3032571" y="3818035"/>
            <a:ext cx="685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3"/>
              <p:cNvSpPr txBox="1"/>
              <p:nvPr/>
            </p:nvSpPr>
            <p:spPr>
              <a:xfrm>
                <a:off x="3375471" y="3609660"/>
                <a:ext cx="1854200" cy="82898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 ,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 , 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471" y="3609660"/>
                <a:ext cx="1854200" cy="8289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48"/>
              <p:cNvSpPr txBox="1">
                <a:spLocks noChangeArrowheads="1"/>
              </p:cNvSpPr>
              <p:nvPr/>
            </p:nvSpPr>
            <p:spPr bwMode="auto">
              <a:xfrm>
                <a:off x="5012834" y="3814147"/>
                <a:ext cx="1949498" cy="453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代入方程</a:t>
                </a:r>
                <a14:m>
                  <m:oMath xmlns:m="http://schemas.openxmlformats.org/officeDocument/2006/math">
                    <m:r>
                      <a:rPr lang="zh-CN" altLang="en-US" sz="240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得</a:t>
                </a:r>
              </a:p>
            </p:txBody>
          </p:sp>
        </mc:Choice>
        <mc:Fallback xmlns="">
          <p:sp>
            <p:nvSpPr>
              <p:cNvPr id="5" name="Text Box 2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2834" y="3814147"/>
                <a:ext cx="1949498" cy="453137"/>
              </a:xfrm>
              <a:prstGeom prst="rect">
                <a:avLst/>
              </a:prstGeom>
              <a:blipFill>
                <a:blip r:embed="rId7"/>
                <a:stretch>
                  <a:fillRect l="-4063" t="-9459" b="-216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4"/>
              <p:cNvSpPr txBox="1"/>
              <p:nvPr/>
            </p:nvSpPr>
            <p:spPr>
              <a:xfrm>
                <a:off x="3072729" y="4563385"/>
                <a:ext cx="4114800" cy="9144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​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+​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+2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−4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729" y="4563385"/>
                <a:ext cx="4114800" cy="91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" grpId="0"/>
      <p:bldP spid="19" grpId="0"/>
      <p:bldP spid="4" grpId="0"/>
      <p:bldP spid="6" grpId="0"/>
      <p:bldP spid="10" grpId="0"/>
      <p:bldP spid="11" grpId="0"/>
      <p:bldP spid="5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半闭框 16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半闭框 17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半闭框 18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半闭框 19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1613694" y="2058573"/>
            <a:ext cx="8964612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 b="1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605012" y="1024135"/>
            <a:ext cx="4680710" cy="914400"/>
            <a:chOff x="2931886" y="1024135"/>
            <a:chExt cx="4680710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"/>
                <p:cNvSpPr txBox="1"/>
                <p:nvPr/>
              </p:nvSpPr>
              <p:spPr>
                <a:xfrm>
                  <a:off x="3662896" y="1024135"/>
                  <a:ext cx="3949700" cy="9144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​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den>
                        </m:f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+​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+2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h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−4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h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den>
                        </m:f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2896" y="1024135"/>
                  <a:ext cx="3949700" cy="9144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文本框 1"/>
            <p:cNvSpPr txBox="1"/>
            <p:nvPr/>
          </p:nvSpPr>
          <p:spPr>
            <a:xfrm>
              <a:off x="2931886" y="1024135"/>
              <a:ext cx="420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001963" y="2475667"/>
            <a:ext cx="2423897" cy="854221"/>
            <a:chOff x="2747963" y="2475667"/>
            <a:chExt cx="2423897" cy="854221"/>
          </a:xfrm>
        </p:grpSpPr>
        <p:sp>
          <p:nvSpPr>
            <p:cNvPr id="12294" name="Text Box 6"/>
            <p:cNvSpPr txBox="1">
              <a:spLocks noChangeArrowheads="1"/>
            </p:cNvSpPr>
            <p:nvPr/>
          </p:nvSpPr>
          <p:spPr bwMode="auto">
            <a:xfrm>
              <a:off x="3155735" y="2475667"/>
              <a:ext cx="2016125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解方程组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747963" y="2899001"/>
              <a:ext cx="2129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565436" y="2279241"/>
            <a:ext cx="2349500" cy="1434187"/>
            <a:chOff x="4311436" y="2279241"/>
            <a:chExt cx="2349500" cy="1434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2"/>
                <p:cNvSpPr txBox="1"/>
                <p:nvPr/>
              </p:nvSpPr>
              <p:spPr>
                <a:xfrm>
                  <a:off x="4311436" y="2279241"/>
                  <a:ext cx="2349500" cy="10033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−4=0 ,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−1=0 ,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1436" y="2279241"/>
                  <a:ext cx="2349500" cy="10033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/>
            <p:cNvSpPr txBox="1"/>
            <p:nvPr/>
          </p:nvSpPr>
          <p:spPr>
            <a:xfrm>
              <a:off x="6545943" y="3282541"/>
              <a:ext cx="11499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150432" y="2306197"/>
            <a:ext cx="1609213" cy="896604"/>
            <a:chOff x="7105982" y="2277622"/>
            <a:chExt cx="1609213" cy="8966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3"/>
                <p:cNvSpPr txBox="1"/>
                <p:nvPr/>
              </p:nvSpPr>
              <p:spPr>
                <a:xfrm>
                  <a:off x="7105982" y="2277622"/>
                  <a:ext cx="1513509" cy="89660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=3 ,  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=−2 .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5982" y="2277622"/>
                  <a:ext cx="1513509" cy="89660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8335829" y="2439539"/>
              <a:ext cx="37936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799872" y="2306196"/>
            <a:ext cx="2480653" cy="621380"/>
            <a:chOff x="6764947" y="2277621"/>
            <a:chExt cx="2480653" cy="621380"/>
          </a:xfrm>
        </p:grpSpPr>
        <p:sp>
          <p:nvSpPr>
            <p:cNvPr id="12296" name="Text Box 8"/>
            <p:cNvSpPr txBox="1">
              <a:spLocks noChangeArrowheads="1"/>
            </p:cNvSpPr>
            <p:nvPr/>
          </p:nvSpPr>
          <p:spPr bwMode="auto">
            <a:xfrm>
              <a:off x="6764947" y="2468114"/>
              <a:ext cx="8636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得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998857" y="2277621"/>
              <a:ext cx="24674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85886" y="3429000"/>
            <a:ext cx="2027587" cy="570407"/>
            <a:chOff x="2931886" y="3429000"/>
            <a:chExt cx="2027587" cy="570407"/>
          </a:xfrm>
        </p:grpSpPr>
        <p:sp>
          <p:nvSpPr>
            <p:cNvPr id="12298" name="Text Box 10"/>
            <p:cNvSpPr txBox="1">
              <a:spLocks noChangeArrowheads="1"/>
            </p:cNvSpPr>
            <p:nvPr/>
          </p:nvSpPr>
          <p:spPr bwMode="auto">
            <a:xfrm>
              <a:off x="3159248" y="3568520"/>
              <a:ext cx="1800225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即经代换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931886" y="3429000"/>
              <a:ext cx="21314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229516" y="3202800"/>
            <a:ext cx="2117433" cy="1142032"/>
            <a:chOff x="3975516" y="3202800"/>
            <a:chExt cx="2117433" cy="11420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4"/>
                <p:cNvSpPr txBox="1"/>
                <p:nvPr/>
              </p:nvSpPr>
              <p:spPr>
                <a:xfrm>
                  <a:off x="4314949" y="3341532"/>
                  <a:ext cx="1778000" cy="10033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zh-CN" altLang="en-US" sz="220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+3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CN" sz="22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4949" y="3341532"/>
                  <a:ext cx="1778000" cy="10033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3975516" y="3202800"/>
              <a:ext cx="420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03303" y="3579331"/>
            <a:ext cx="2812551" cy="503429"/>
            <a:chOff x="5954078" y="3579331"/>
            <a:chExt cx="2812551" cy="503429"/>
          </a:xfrm>
        </p:grpSpPr>
        <p:sp>
          <p:nvSpPr>
            <p:cNvPr id="12300" name="Text Box 12"/>
            <p:cNvSpPr txBox="1">
              <a:spLocks noChangeArrowheads="1"/>
            </p:cNvSpPr>
            <p:nvPr/>
          </p:nvSpPr>
          <p:spPr bwMode="auto">
            <a:xfrm>
              <a:off x="5954078" y="3579331"/>
              <a:ext cx="266541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后原方程变为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619491" y="3651873"/>
              <a:ext cx="1471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001963" y="4536244"/>
            <a:ext cx="2683069" cy="914400"/>
            <a:chOff x="2747963" y="4536244"/>
            <a:chExt cx="2683069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对象 5"/>
                <p:cNvSpPr txBox="1"/>
                <p:nvPr/>
              </p:nvSpPr>
              <p:spPr>
                <a:xfrm>
                  <a:off x="3145032" y="4536244"/>
                  <a:ext cx="2286000" cy="9144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​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den>
                        </m:f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+​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​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den>
                        </m:f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5032" y="4536244"/>
                  <a:ext cx="2286000" cy="9144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本框 28"/>
            <p:cNvSpPr txBox="1"/>
            <p:nvPr/>
          </p:nvSpPr>
          <p:spPr>
            <a:xfrm>
              <a:off x="2747963" y="4919466"/>
              <a:ext cx="4077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343443" y="4334617"/>
            <a:ext cx="1729269" cy="1930135"/>
            <a:chOff x="5089443" y="4334617"/>
            <a:chExt cx="1729269" cy="19301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对象 6"/>
                <p:cNvSpPr txBox="1"/>
                <p:nvPr/>
              </p:nvSpPr>
              <p:spPr>
                <a:xfrm>
                  <a:off x="5089443" y="4334617"/>
                  <a:ext cx="1729269" cy="1708149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2+​</m:t>
                            </m:r>
                            <m:f>
                              <m:fPr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num>
                              <m:den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den>
                            </m:f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​</m:t>
                            </m:r>
                          </m:num>
                          <m:den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num>
                              <m:den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den>
                            </m:f>
                          </m:den>
                        </m:f>
                        <m:r>
                          <a:rPr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i="1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9443" y="4334617"/>
                  <a:ext cx="1729269" cy="170814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文本框 30"/>
            <p:cNvSpPr txBox="1"/>
            <p:nvPr/>
          </p:nvSpPr>
          <p:spPr>
            <a:xfrm>
              <a:off x="6400800" y="5833865"/>
              <a:ext cx="3641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24428" y="4704022"/>
            <a:ext cx="2808288" cy="437238"/>
            <a:chOff x="6570428" y="4704022"/>
            <a:chExt cx="2808288" cy="437238"/>
          </a:xfrm>
        </p:grpSpPr>
        <p:sp>
          <p:nvSpPr>
            <p:cNvPr id="12303" name="Text Box 15"/>
            <p:cNvSpPr txBox="1">
              <a:spLocks noChangeArrowheads="1"/>
            </p:cNvSpPr>
            <p:nvPr/>
          </p:nvSpPr>
          <p:spPr bwMode="auto">
            <a:xfrm>
              <a:off x="6570428" y="4710373"/>
              <a:ext cx="280828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这是齐次方程</a:t>
              </a:r>
              <a:r>
                <a:rPr lang="en-US" altLang="zh-CN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8514824" y="4704022"/>
              <a:ext cx="20933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17" name="半闭框 16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8" name="半闭框 17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9" name="半闭框 18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0" name="半闭框 19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>
            <a:off x="1756228" y="2737184"/>
            <a:ext cx="8671556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 b="1"/>
          </a:p>
        </p:txBody>
      </p:sp>
      <p:grpSp>
        <p:nvGrpSpPr>
          <p:cNvPr id="8" name="组合 7"/>
          <p:cNvGrpSpPr/>
          <p:nvPr/>
        </p:nvGrpSpPr>
        <p:grpSpPr>
          <a:xfrm>
            <a:off x="3204229" y="1596790"/>
            <a:ext cx="2944347" cy="860642"/>
            <a:chOff x="1793244" y="1270754"/>
            <a:chExt cx="2944347" cy="8606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对象 12"/>
                <p:cNvSpPr txBox="1"/>
                <p:nvPr/>
              </p:nvSpPr>
              <p:spPr>
                <a:xfrm>
                  <a:off x="2656794" y="1270754"/>
                  <a:ext cx="2080797" cy="860642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​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den>
                        </m:f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+​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​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den>
                        </m:f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对象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6794" y="1270754"/>
                  <a:ext cx="2080797" cy="86064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文本框 2"/>
            <p:cNvSpPr txBox="1"/>
            <p:nvPr/>
          </p:nvSpPr>
          <p:spPr>
            <a:xfrm>
              <a:off x="1793244" y="1439253"/>
              <a:ext cx="42744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949072" y="1391460"/>
            <a:ext cx="2116173" cy="1286836"/>
            <a:chOff x="4604762" y="1113049"/>
            <a:chExt cx="2116173" cy="12868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3"/>
                <p:cNvSpPr txBox="1"/>
                <p:nvPr/>
              </p:nvSpPr>
              <p:spPr>
                <a:xfrm>
                  <a:off x="4604762" y="1113049"/>
                  <a:ext cx="1427639" cy="128683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2+​</m:t>
                            </m:r>
                            <m:f>
                              <m:fPr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num>
                              <m:den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den>
                            </m:f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​</m:t>
                            </m:r>
                          </m:num>
                          <m:den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num>
                              <m:den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den>
                            </m:f>
                          </m:den>
                        </m:f>
                      </m:oMath>
                    </m:oMathPara>
                  </a14:m>
                  <a:endParaRPr lang="zh-CN" altLang="en-US" sz="2200" i="1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" name="对象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762" y="1113049"/>
                  <a:ext cx="1427639" cy="128683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6193081" y="1439253"/>
              <a:ext cx="52785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722216" y="2981692"/>
            <a:ext cx="1576765" cy="838200"/>
            <a:chOff x="2591329" y="2906449"/>
            <a:chExt cx="1576765" cy="838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1"/>
                <p:cNvSpPr txBox="1"/>
                <p:nvPr/>
              </p:nvSpPr>
              <p:spPr>
                <a:xfrm>
                  <a:off x="3037794" y="2906449"/>
                  <a:ext cx="1130300" cy="8382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den>
                        </m:f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7794" y="2906449"/>
                  <a:ext cx="1130300" cy="8382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2591329" y="3053608"/>
              <a:ext cx="276366" cy="427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611684" y="3005956"/>
            <a:ext cx="652245" cy="495722"/>
            <a:chOff x="2439365" y="2930713"/>
            <a:chExt cx="1265892" cy="495722"/>
          </a:xfrm>
        </p:grpSpPr>
        <p:sp>
          <p:nvSpPr>
            <p:cNvPr id="13319" name="Text Box 7"/>
            <p:cNvSpPr txBox="1">
              <a:spLocks noChangeArrowheads="1"/>
            </p:cNvSpPr>
            <p:nvPr/>
          </p:nvSpPr>
          <p:spPr bwMode="auto">
            <a:xfrm>
              <a:off x="2841657" y="2995548"/>
              <a:ext cx="8636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令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439365" y="2930713"/>
              <a:ext cx="2487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467444" y="2616945"/>
            <a:ext cx="3911600" cy="1144000"/>
            <a:chOff x="4336557" y="2541702"/>
            <a:chExt cx="3911600" cy="1144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2"/>
                <p:cNvSpPr txBox="1"/>
                <p:nvPr/>
              </p:nvSpPr>
              <p:spPr>
                <a:xfrm>
                  <a:off x="4336557" y="2847502"/>
                  <a:ext cx="3911600" cy="8382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zh-CN" altLang="en-US" sz="22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, </m:t>
                        </m:r>
                        <m:f>
                          <m:fPr>
                            <m:ctrlPr>
                              <a:rPr lang="zh-CN" altLang="en-US" sz="220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den>
                        </m:f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den>
                        </m:f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, 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6557" y="2847502"/>
                  <a:ext cx="3911600" cy="8382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/>
            <p:cNvSpPr txBox="1"/>
            <p:nvPr/>
          </p:nvSpPr>
          <p:spPr>
            <a:xfrm>
              <a:off x="4783325" y="2541702"/>
              <a:ext cx="2191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101269" y="2735989"/>
            <a:ext cx="5255973" cy="765689"/>
            <a:chOff x="3970382" y="2660746"/>
            <a:chExt cx="5255973" cy="765689"/>
          </a:xfrm>
        </p:grpSpPr>
        <p:sp>
          <p:nvSpPr>
            <p:cNvPr id="13321" name="Text Box 9"/>
            <p:cNvSpPr txBox="1">
              <a:spLocks noChangeArrowheads="1"/>
            </p:cNvSpPr>
            <p:nvPr/>
          </p:nvSpPr>
          <p:spPr bwMode="auto">
            <a:xfrm>
              <a:off x="3970382" y="2995548"/>
              <a:ext cx="8636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则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154206" y="2660746"/>
              <a:ext cx="7214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460113" y="2967657"/>
            <a:ext cx="2488857" cy="536586"/>
            <a:chOff x="7909899" y="2892414"/>
            <a:chExt cx="2488857" cy="536586"/>
          </a:xfrm>
        </p:grpSpPr>
        <p:sp>
          <p:nvSpPr>
            <p:cNvPr id="13323" name="Text Box 11"/>
            <p:cNvSpPr txBox="1">
              <a:spLocks noChangeArrowheads="1"/>
            </p:cNvSpPr>
            <p:nvPr/>
          </p:nvSpPr>
          <p:spPr bwMode="auto">
            <a:xfrm>
              <a:off x="7909899" y="2998113"/>
              <a:ext cx="2447925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于是方程变为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159805" y="2892414"/>
              <a:ext cx="238951" cy="433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042092" y="3736263"/>
            <a:ext cx="3714803" cy="874145"/>
            <a:chOff x="1911205" y="3661020"/>
            <a:chExt cx="3714803" cy="8741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3"/>
                <p:cNvSpPr txBox="1"/>
                <p:nvPr/>
              </p:nvSpPr>
              <p:spPr>
                <a:xfrm>
                  <a:off x="2679608" y="3696965"/>
                  <a:ext cx="2946400" cy="8382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zh-CN" altLang="en-US" sz="22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den>
                        </m:f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 =−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2+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1+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den>
                        </m:f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9608" y="3696965"/>
                  <a:ext cx="2946400" cy="8382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/>
            <p:cNvSpPr txBox="1"/>
            <p:nvPr/>
          </p:nvSpPr>
          <p:spPr>
            <a:xfrm>
              <a:off x="1911205" y="3661020"/>
              <a:ext cx="30948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042401" y="4825885"/>
            <a:ext cx="4777530" cy="1002333"/>
            <a:chOff x="1911514" y="4750642"/>
            <a:chExt cx="4777530" cy="10023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2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656794" y="4750642"/>
                  <a:ext cx="4032250" cy="4308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zh-CN" altLang="en-US" sz="2200" dirty="0">
                      <a:latin typeface="黑体" panose="02010609060101010101" pitchFamily="49" charset="-122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化简并分离变量</a:t>
                  </a:r>
                  <a14:m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a14:m>
                  <a:r>
                    <a:rPr lang="zh-CN" altLang="en-US" sz="2200" dirty="0">
                      <a:latin typeface="黑体" panose="02010609060101010101" pitchFamily="49" charset="-122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得</a:t>
                  </a:r>
                </a:p>
              </p:txBody>
            </p:sp>
          </mc:Choice>
          <mc:Fallback xmlns="">
            <p:sp>
              <p:nvSpPr>
                <p:cNvPr id="13325" name="Text 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56794" y="4750642"/>
                  <a:ext cx="4032250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964" t="-14286" b="-2428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本框 28"/>
            <p:cNvSpPr txBox="1"/>
            <p:nvPr/>
          </p:nvSpPr>
          <p:spPr>
            <a:xfrm>
              <a:off x="1911514" y="5322088"/>
              <a:ext cx="3091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378901" y="4655790"/>
            <a:ext cx="3687828" cy="1117952"/>
            <a:chOff x="5248014" y="4580547"/>
            <a:chExt cx="3687828" cy="11179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4"/>
                <p:cNvSpPr txBox="1"/>
                <p:nvPr/>
              </p:nvSpPr>
              <p:spPr>
                <a:xfrm>
                  <a:off x="5248014" y="4580547"/>
                  <a:ext cx="3352800" cy="8382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+2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den>
                        </m:f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8014" y="4580547"/>
                  <a:ext cx="3352800" cy="8382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文本框 30"/>
            <p:cNvSpPr txBox="1"/>
            <p:nvPr/>
          </p:nvSpPr>
          <p:spPr>
            <a:xfrm>
              <a:off x="8600814" y="5267612"/>
              <a:ext cx="3350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sz="2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半闭框 16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半闭框 17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半闭框 18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半闭框 19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1427339" y="1776741"/>
            <a:ext cx="8964612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 dirty="0"/>
          </a:p>
        </p:txBody>
      </p:sp>
      <p:sp>
        <p:nvSpPr>
          <p:cNvPr id="14344" name="AutoShape 8"/>
          <p:cNvSpPr>
            <a:spLocks noChangeArrowheads="1"/>
          </p:cNvSpPr>
          <p:nvPr/>
        </p:nvSpPr>
        <p:spPr bwMode="auto">
          <a:xfrm>
            <a:off x="4972256" y="3072126"/>
            <a:ext cx="433388" cy="576262"/>
          </a:xfrm>
          <a:prstGeom prst="downArrow">
            <a:avLst>
              <a:gd name="adj1" fmla="val 50000"/>
              <a:gd name="adj2" fmla="val 33242"/>
            </a:avLst>
          </a:prstGeom>
          <a:solidFill>
            <a:srgbClr val="1D9D79"/>
          </a:solidFill>
          <a:ln w="9525">
            <a:solidFill>
              <a:srgbClr val="04926A"/>
            </a:solidFill>
            <a:miter lim="800000"/>
          </a:ln>
          <a:effectLst/>
        </p:spPr>
        <p:txBody>
          <a:bodyPr vert="eaVert"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/>
          </a:p>
        </p:txBody>
      </p:sp>
      <p:sp>
        <p:nvSpPr>
          <p:cNvPr id="14346" name="AutoShape 10"/>
          <p:cNvSpPr>
            <a:spLocks noChangeArrowheads="1"/>
          </p:cNvSpPr>
          <p:nvPr/>
        </p:nvSpPr>
        <p:spPr bwMode="auto">
          <a:xfrm>
            <a:off x="6264953" y="3895582"/>
            <a:ext cx="574675" cy="487363"/>
          </a:xfrm>
          <a:prstGeom prst="rightArrow">
            <a:avLst>
              <a:gd name="adj1" fmla="val 50000"/>
              <a:gd name="adj2" fmla="val 28459"/>
            </a:avLst>
          </a:prstGeom>
          <a:solidFill>
            <a:srgbClr val="1D9D79"/>
          </a:solidFill>
          <a:ln w="9525">
            <a:solidFill>
              <a:srgbClr val="04926A"/>
            </a:solidFill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 dirty="0"/>
          </a:p>
        </p:txBody>
      </p:sp>
      <p:grpSp>
        <p:nvGrpSpPr>
          <p:cNvPr id="4" name="组合 3"/>
          <p:cNvGrpSpPr/>
          <p:nvPr/>
        </p:nvGrpSpPr>
        <p:grpSpPr>
          <a:xfrm>
            <a:off x="3042170" y="878083"/>
            <a:ext cx="4293560" cy="946141"/>
            <a:chOff x="2336800" y="801883"/>
            <a:chExt cx="4293560" cy="9461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"/>
                <p:cNvSpPr txBox="1"/>
                <p:nvPr/>
              </p:nvSpPr>
              <p:spPr>
                <a:xfrm>
                  <a:off x="3042363" y="801883"/>
                  <a:ext cx="3587997" cy="94614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+2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den>
                        </m:f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2363" y="801883"/>
                  <a:ext cx="3587997" cy="94614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文本框 1"/>
            <p:cNvSpPr txBox="1"/>
            <p:nvPr/>
          </p:nvSpPr>
          <p:spPr>
            <a:xfrm>
              <a:off x="2336800" y="972457"/>
              <a:ext cx="411163" cy="435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482734" y="1912178"/>
            <a:ext cx="2808287" cy="895291"/>
            <a:chOff x="1739106" y="1835978"/>
            <a:chExt cx="2808287" cy="8952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739106" y="1835978"/>
                  <a:ext cx="2808287" cy="4308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zh-CN" altLang="en-US" sz="2200" dirty="0">
                      <a:latin typeface="黑体" panose="02010609060101010101" pitchFamily="49" charset="-122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两边积分</a:t>
                  </a:r>
                  <a14:m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a14:m>
                  <a:r>
                    <a:rPr lang="zh-CN" altLang="en-US" sz="2200" dirty="0">
                      <a:latin typeface="黑体" panose="02010609060101010101" pitchFamily="49" charset="-122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得</a:t>
                  </a:r>
                </a:p>
              </p:txBody>
            </p:sp>
          </mc:Choice>
          <mc:Fallback xmlns="">
            <p:sp>
              <p:nvSpPr>
                <p:cNvPr id="14342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39106" y="1835978"/>
                  <a:ext cx="280828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2820" t="-14286" b="-2428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文本框 4"/>
            <p:cNvSpPr txBox="1"/>
            <p:nvPr/>
          </p:nvSpPr>
          <p:spPr>
            <a:xfrm>
              <a:off x="2365829" y="2361937"/>
              <a:ext cx="1596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807119" y="2352654"/>
            <a:ext cx="4826000" cy="838200"/>
            <a:chOff x="3063491" y="2200058"/>
            <a:chExt cx="4826000" cy="838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2"/>
                <p:cNvSpPr txBox="1"/>
                <p:nvPr/>
              </p:nvSpPr>
              <p:spPr>
                <a:xfrm>
                  <a:off x="3063491" y="2200058"/>
                  <a:ext cx="4826000" cy="8382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func>
                          <m:func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</m:e>
                        </m:func>
                        <m:sSup>
                          <m:sSup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+2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+2)=</m:t>
                        </m:r>
                        <m:func>
                          <m:func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|</m:t>
                            </m:r>
                          </m:e>
                        </m:func>
                        <m:r>
                          <a:rPr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| ,</m:t>
                        </m:r>
                      </m:oMath>
                    </m:oMathPara>
                  </a14:m>
                  <a:endParaRPr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3491" y="2200058"/>
                  <a:ext cx="4826000" cy="8382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/>
            <p:cNvSpPr txBox="1"/>
            <p:nvPr/>
          </p:nvSpPr>
          <p:spPr>
            <a:xfrm>
              <a:off x="7620000" y="2467429"/>
              <a:ext cx="2694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080428" y="3668269"/>
            <a:ext cx="3499172" cy="939800"/>
            <a:chOff x="2336800" y="3592069"/>
            <a:chExt cx="3499172" cy="939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3"/>
                <p:cNvSpPr txBox="1"/>
                <p:nvPr/>
              </p:nvSpPr>
              <p:spPr>
                <a:xfrm>
                  <a:off x="3054672" y="3592069"/>
                  <a:ext cx="2781300" cy="9398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200" b="0" i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𝑢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</m:e>
                            </m:rad>
                          </m:den>
                        </m:f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4672" y="3592069"/>
                  <a:ext cx="2781300" cy="9398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2336800" y="3819382"/>
              <a:ext cx="188686" cy="401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969934" y="3837664"/>
            <a:ext cx="3426015" cy="666923"/>
            <a:chOff x="6404976" y="3761464"/>
            <a:chExt cx="3426015" cy="6669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4"/>
                <p:cNvSpPr txBox="1"/>
                <p:nvPr/>
              </p:nvSpPr>
              <p:spPr>
                <a:xfrm>
                  <a:off x="6404976" y="3761464"/>
                  <a:ext cx="3426015" cy="666923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sz="220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+2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𝑋𝑌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+2</m:t>
                        </m:r>
                        <m:sSup>
                          <m:sSup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.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4976" y="3761464"/>
                  <a:ext cx="3426015" cy="666923"/>
                </a:xfrm>
                <a:prstGeom prst="rect">
                  <a:avLst/>
                </a:prstGeom>
                <a:blipFill>
                  <a:blip r:embed="rId7"/>
                  <a:stretch>
                    <a:fillRect l="-1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9472228" y="3761464"/>
              <a:ext cx="358763" cy="459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477405" y="4833737"/>
            <a:ext cx="6408737" cy="430887"/>
            <a:chOff x="1733777" y="4757537"/>
            <a:chExt cx="6408737" cy="430887"/>
          </a:xfrm>
        </p:grpSpPr>
        <p:sp>
          <p:nvSpPr>
            <p:cNvPr id="14348" name="Text Box 12"/>
            <p:cNvSpPr txBox="1">
              <a:spLocks noChangeArrowheads="1"/>
            </p:cNvSpPr>
            <p:nvPr/>
          </p:nvSpPr>
          <p:spPr bwMode="auto">
            <a:xfrm>
              <a:off x="1733777" y="4757537"/>
              <a:ext cx="64087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代回原来的变量并化简得通解为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620000" y="4757537"/>
              <a:ext cx="269491" cy="399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07119" y="5473895"/>
            <a:ext cx="5079023" cy="770876"/>
            <a:chOff x="3063491" y="5397695"/>
            <a:chExt cx="5079023" cy="7708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5"/>
                <p:cNvSpPr txBox="1"/>
                <p:nvPr/>
              </p:nvSpPr>
              <p:spPr>
                <a:xfrm>
                  <a:off x="3063491" y="5397695"/>
                  <a:ext cx="4381500" cy="4572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+2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𝑥𝑦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−8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−2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.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3491" y="5397695"/>
                  <a:ext cx="4381500" cy="457200"/>
                </a:xfrm>
                <a:prstGeom prst="rect">
                  <a:avLst/>
                </a:prstGeom>
                <a:blipFill>
                  <a:blip r:embed="rId8"/>
                  <a:stretch>
                    <a:fillRect l="-139" b="-10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文本框 23"/>
            <p:cNvSpPr txBox="1"/>
            <p:nvPr/>
          </p:nvSpPr>
          <p:spPr>
            <a:xfrm>
              <a:off x="7736114" y="5665394"/>
              <a:ext cx="406400" cy="503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nimBg="1"/>
      <p:bldP spid="14344" grpId="0" animBg="1"/>
      <p:bldP spid="143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半闭框 16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半闭框 17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半闭框 18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半闭框 19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46200" y="949722"/>
            <a:ext cx="4481560" cy="523220"/>
            <a:chOff x="1219200" y="949722"/>
            <a:chExt cx="4481560" cy="523220"/>
          </a:xfrm>
        </p:grpSpPr>
        <p:sp>
          <p:nvSpPr>
            <p:cNvPr id="15365" name="Text Box 5"/>
            <p:cNvSpPr txBox="1">
              <a:spLocks noChangeArrowheads="1"/>
            </p:cNvSpPr>
            <p:nvPr/>
          </p:nvSpPr>
          <p:spPr bwMode="auto">
            <a:xfrm>
              <a:off x="1770064" y="949722"/>
              <a:ext cx="393069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其积分曲线为一簇椭圆</a:t>
              </a:r>
              <a:r>
                <a: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219200" y="960429"/>
              <a:ext cx="406400" cy="408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615782" y="535820"/>
            <a:ext cx="4752975" cy="947829"/>
            <a:chOff x="5488782" y="535820"/>
            <a:chExt cx="4752975" cy="947829"/>
          </a:xfrm>
        </p:grpSpPr>
        <p:sp>
          <p:nvSpPr>
            <p:cNvPr id="15366" name="Text Box 6"/>
            <p:cNvSpPr txBox="1">
              <a:spLocks noChangeArrowheads="1"/>
            </p:cNvSpPr>
            <p:nvPr/>
          </p:nvSpPr>
          <p:spPr bwMode="auto">
            <a:xfrm>
              <a:off x="5488782" y="960429"/>
              <a:ext cx="475297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当 </a:t>
              </a:r>
              <a:r>
                <a:rPr lang="en-US" altLang="zh-CN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 = 4 </a:t>
              </a: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时的椭圆如下所示</a:t>
              </a:r>
              <a:r>
                <a: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924800" y="535820"/>
              <a:ext cx="174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346200" y="1627584"/>
            <a:ext cx="4883151" cy="599505"/>
            <a:chOff x="1219200" y="1627584"/>
            <a:chExt cx="4883151" cy="599505"/>
          </a:xfrm>
        </p:grpSpPr>
        <p:sp>
          <p:nvSpPr>
            <p:cNvPr id="15367" name="Text Box 7"/>
            <p:cNvSpPr txBox="1">
              <a:spLocks noChangeArrowheads="1"/>
            </p:cNvSpPr>
            <p:nvPr/>
          </p:nvSpPr>
          <p:spPr bwMode="auto">
            <a:xfrm>
              <a:off x="1781176" y="1627584"/>
              <a:ext cx="432117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于是题目的几何意义是：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19200" y="1857757"/>
              <a:ext cx="1494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495679" y="2285786"/>
            <a:ext cx="4445356" cy="681603"/>
            <a:chOff x="1368679" y="2285786"/>
            <a:chExt cx="4445356" cy="681603"/>
          </a:xfrm>
        </p:grpSpPr>
        <p:sp>
          <p:nvSpPr>
            <p:cNvPr id="15368" name="Text Box 8"/>
            <p:cNvSpPr txBox="1">
              <a:spLocks noChangeArrowheads="1"/>
            </p:cNvSpPr>
            <p:nvPr/>
          </p:nvSpPr>
          <p:spPr bwMode="auto">
            <a:xfrm>
              <a:off x="1781785" y="2285786"/>
              <a:ext cx="403225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这一簇椭圆在任意一点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368679" y="2598057"/>
              <a:ext cx="2569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55914" y="2904835"/>
            <a:ext cx="5302635" cy="1118922"/>
            <a:chOff x="928914" y="2904835"/>
            <a:chExt cx="5302635" cy="11189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6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792899" y="2904835"/>
                  <a:ext cx="4438650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2800" dirty="0">
                      <a:latin typeface="Cambria Math" panose="020405030504060302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</m:oMath>
                  </a14:m>
                  <a:r>
                    <a:rPr lang="en-US" altLang="zh-CN" sz="2800" dirty="0">
                      <a:latin typeface="Cambria Math" panose="020405030504060302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</a:t>
                  </a:r>
                  <a14:m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</m:oMath>
                  </a14:m>
                  <a:r>
                    <a:rPr lang="en-US" altLang="zh-CN" sz="2800" dirty="0">
                      <a:latin typeface="Cambria Math" panose="020405030504060302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 </a:t>
                  </a:r>
                  <a:r>
                    <a:rPr lang="zh-CN" altLang="en-US" sz="2800" dirty="0">
                      <a:latin typeface="黑体" panose="02010609060101010101" pitchFamily="49" charset="-122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处的切线斜率为</a:t>
                  </a:r>
                </a:p>
              </p:txBody>
            </p:sp>
          </mc:Choice>
          <mc:Fallback xmlns="">
            <p:sp>
              <p:nvSpPr>
                <p:cNvPr id="15369" name="Text 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92899" y="2904835"/>
                  <a:ext cx="4438650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885" t="-16471" b="-3294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928914" y="3654425"/>
              <a:ext cx="2902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150029" y="3985101"/>
            <a:ext cx="3922284" cy="1519772"/>
            <a:chOff x="2023029" y="3839091"/>
            <a:chExt cx="3922284" cy="1519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"/>
                <p:cNvSpPr txBox="1"/>
                <p:nvPr/>
              </p:nvSpPr>
              <p:spPr>
                <a:xfrm>
                  <a:off x="2023029" y="3839091"/>
                  <a:ext cx="3922284" cy="10714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+​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​−4</m:t>
                            </m:r>
                          </m:num>
                          <m:den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 .</m:t>
                        </m:r>
                      </m:oMath>
                    </m:oMathPara>
                  </a14:m>
                  <a:endParaRPr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3029" y="3839091"/>
                  <a:ext cx="3922284" cy="10714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3730171" y="4963886"/>
              <a:ext cx="508000" cy="3949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pic>
        <p:nvPicPr>
          <p:cNvPr id="21" name="图片 20" descr="图示&#10;&#10;描述已自动生成">
            <a:extLst>
              <a:ext uri="{FF2B5EF4-FFF2-40B4-BE49-F238E27FC236}">
                <a16:creationId xmlns:a16="http://schemas.microsoft.com/office/drawing/2014/main" id="{C51AC4BC-9858-CA62-C3D4-E984C882D74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461" y="1955527"/>
            <a:ext cx="2518677" cy="2945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ZkODBiMGY1YmQ1MDgyN2Q2NGE3YzQ0YzI2NDc4MmYifQ=="/>
  <p:tag name="KSO_WPP_MARK_KEY" val="ead3a381-464e-4d02-80be-36733a825ed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1194</Words>
  <Application>Microsoft Office PowerPoint</Application>
  <PresentationFormat>宽屏</PresentationFormat>
  <Paragraphs>179</Paragraphs>
  <Slides>20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364</cp:revision>
  <dcterms:created xsi:type="dcterms:W3CDTF">2022-03-21T05:54:00Z</dcterms:created>
  <dcterms:modified xsi:type="dcterms:W3CDTF">2023-07-05T07:53:25Z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2052-11.1.0.11744</vt:lpwstr>
  </property>
</Properties>
</file>