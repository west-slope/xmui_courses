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tags/tag5.xml" ContentType="application/vnd.openxmlformats-officedocument.presentationml.tags+xml"/>
  <Override PartName="/ppt/notesSlides/notesSlide2.xml" ContentType="application/vnd.openxmlformats-officedocument.presentationml.notesSlide+xml"/>
  <Override PartName="/ppt/tags/tag6.xml" ContentType="application/vnd.openxmlformats-officedocument.presentationml.tags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7" r:id="rId2"/>
    <p:sldId id="678" r:id="rId3"/>
    <p:sldId id="664" r:id="rId4"/>
    <p:sldId id="665" r:id="rId5"/>
    <p:sldId id="264" r:id="rId6"/>
    <p:sldId id="679" r:id="rId7"/>
    <p:sldId id="273" r:id="rId8"/>
    <p:sldId id="681" r:id="rId9"/>
    <p:sldId id="682" r:id="rId10"/>
    <p:sldId id="683" r:id="rId11"/>
    <p:sldId id="686" r:id="rId12"/>
    <p:sldId id="687" r:id="rId13"/>
    <p:sldId id="685" r:id="rId14"/>
    <p:sldId id="684" r:id="rId15"/>
    <p:sldId id="688" r:id="rId16"/>
    <p:sldId id="690" r:id="rId17"/>
    <p:sldId id="692" r:id="rId18"/>
    <p:sldId id="364" r:id="rId19"/>
  </p:sldIdLst>
  <p:sldSz cx="12192000" cy="6858000"/>
  <p:notesSz cx="6858000" cy="9144000"/>
  <p:custDataLst>
    <p:tags r:id="rId2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764">
          <p15:clr>
            <a:srgbClr val="A4A3A4"/>
          </p15:clr>
        </p15:guide>
        <p15:guide id="2" orient="horz" pos="231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BBBBB"/>
    <a:srgbClr val="04926A"/>
    <a:srgbClr val="037051"/>
    <a:srgbClr val="96D1C0"/>
    <a:srgbClr val="3333CC"/>
    <a:srgbClr val="335AE6"/>
    <a:srgbClr val="4A7BA8"/>
    <a:srgbClr val="EEF9FE"/>
    <a:srgbClr val="019B4E"/>
    <a:srgbClr val="1D9D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3960" autoAdjust="0"/>
    <p:restoredTop sz="97078" autoAdjust="0"/>
  </p:normalViewPr>
  <p:slideViewPr>
    <p:cSldViewPr snapToGrid="0" showGuides="1">
      <p:cViewPr varScale="1">
        <p:scale>
          <a:sx n="73" d="100"/>
          <a:sy n="73" d="100"/>
        </p:scale>
        <p:origin x="60" y="144"/>
      </p:cViewPr>
      <p:guideLst>
        <p:guide pos="3764"/>
        <p:guide orient="horz" pos="231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ags" Target="tags/tag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2023/7/5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"/>
          <p:cNvSpPr/>
          <p:nvPr userDrawn="1"/>
        </p:nvSpPr>
        <p:spPr>
          <a:xfrm>
            <a:off x="297498" y="6546328"/>
            <a:ext cx="82948" cy="81477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73000"/>
                </a:srgbClr>
              </a:gs>
              <a:gs pos="61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"/>
          <p:cNvSpPr/>
          <p:nvPr userDrawn="1"/>
        </p:nvSpPr>
        <p:spPr>
          <a:xfrm rot="2659048">
            <a:off x="9941918" y="172138"/>
            <a:ext cx="147664" cy="140036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73000"/>
                </a:srgbClr>
              </a:gs>
              <a:gs pos="61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659708" y="6435405"/>
            <a:ext cx="2421890" cy="30670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第一节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微分方程的基本概念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0197090" y="112357"/>
            <a:ext cx="160011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第七章   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微分方程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4BE367F1-19D5-DF01-9661-521C011FE854}"/>
              </a:ext>
            </a:extLst>
          </p:cNvPr>
          <p:cNvCxnSpPr/>
          <p:nvPr userDrawn="1"/>
        </p:nvCxnSpPr>
        <p:spPr>
          <a:xfrm>
            <a:off x="-10633" y="255187"/>
            <a:ext cx="9576000" cy="0"/>
          </a:xfrm>
          <a:prstGeom prst="line">
            <a:avLst/>
          </a:prstGeom>
          <a:ln>
            <a:solidFill>
              <a:srgbClr val="0492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56CDDD80-A330-CC07-2E5A-6A7B44C0AA4D}"/>
              </a:ext>
            </a:extLst>
          </p:cNvPr>
          <p:cNvCxnSpPr/>
          <p:nvPr userDrawn="1"/>
        </p:nvCxnSpPr>
        <p:spPr>
          <a:xfrm>
            <a:off x="3237164" y="6584264"/>
            <a:ext cx="8964000" cy="0"/>
          </a:xfrm>
          <a:prstGeom prst="line">
            <a:avLst/>
          </a:prstGeom>
          <a:ln>
            <a:solidFill>
              <a:srgbClr val="BBBB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>
            <a:extLst>
              <a:ext uri="{FF2B5EF4-FFF2-40B4-BE49-F238E27FC236}">
                <a16:creationId xmlns:a16="http://schemas.microsoft.com/office/drawing/2014/main" id="{E46601B6-E439-96B1-05A5-655BCDE5B12B}"/>
              </a:ext>
            </a:extLst>
          </p:cNvPr>
          <p:cNvSpPr/>
          <p:nvPr userDrawn="1"/>
        </p:nvSpPr>
        <p:spPr>
          <a:xfrm>
            <a:off x="297498" y="6522264"/>
            <a:ext cx="82948" cy="81477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73000"/>
                </a:srgbClr>
              </a:gs>
              <a:gs pos="61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58152B1C-9961-462B-F3E0-46ABCDB60797}"/>
              </a:ext>
            </a:extLst>
          </p:cNvPr>
          <p:cNvSpPr/>
          <p:nvPr userDrawn="1"/>
        </p:nvSpPr>
        <p:spPr>
          <a:xfrm rot="2659048">
            <a:off x="9941918" y="172138"/>
            <a:ext cx="147664" cy="140036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73000"/>
                </a:srgbClr>
              </a:gs>
              <a:gs pos="61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541D767-2CFB-8FD2-E88D-04F62684BA36}"/>
              </a:ext>
            </a:extLst>
          </p:cNvPr>
          <p:cNvSpPr/>
          <p:nvPr userDrawn="1"/>
        </p:nvSpPr>
        <p:spPr>
          <a:xfrm>
            <a:off x="575486" y="6435405"/>
            <a:ext cx="2421890" cy="30670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第一节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微分方程的基本概念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D0F5A3C9-DAD6-56DC-0FDB-DFD1F46F9661}"/>
              </a:ext>
            </a:extLst>
          </p:cNvPr>
          <p:cNvCxnSpPr/>
          <p:nvPr userDrawn="1"/>
        </p:nvCxnSpPr>
        <p:spPr>
          <a:xfrm flipV="1">
            <a:off x="3237164" y="6615405"/>
            <a:ext cx="9000000" cy="1240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CA9F0B42-F20C-5AFC-F00B-0D72A8A2C5A3}"/>
              </a:ext>
            </a:extLst>
          </p:cNvPr>
          <p:cNvCxnSpPr/>
          <p:nvPr userDrawn="1"/>
        </p:nvCxnSpPr>
        <p:spPr>
          <a:xfrm>
            <a:off x="0" y="217369"/>
            <a:ext cx="9576000" cy="28338"/>
          </a:xfrm>
          <a:prstGeom prst="line">
            <a:avLst/>
          </a:prstGeom>
          <a:ln>
            <a:solidFill>
              <a:srgbClr val="0492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2F7EAF86-A70A-8F91-DB1D-D1C190377EDF}"/>
              </a:ext>
            </a:extLst>
          </p:cNvPr>
          <p:cNvSpPr/>
          <p:nvPr userDrawn="1"/>
        </p:nvSpPr>
        <p:spPr>
          <a:xfrm>
            <a:off x="10197090" y="112357"/>
            <a:ext cx="160011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第七章   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微分方程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"/>
          <p:cNvSpPr/>
          <p:nvPr userDrawn="1"/>
        </p:nvSpPr>
        <p:spPr>
          <a:xfrm rot="2659048">
            <a:off x="9774913" y="172138"/>
            <a:ext cx="147664" cy="140036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73000"/>
                </a:srgbClr>
              </a:gs>
              <a:gs pos="61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1" name="直接连接符 10"/>
          <p:cNvCxnSpPr/>
          <p:nvPr userDrawn="1"/>
        </p:nvCxnSpPr>
        <p:spPr>
          <a:xfrm>
            <a:off x="0" y="217369"/>
            <a:ext cx="9508067" cy="28338"/>
          </a:xfrm>
          <a:prstGeom prst="line">
            <a:avLst/>
          </a:prstGeom>
          <a:ln>
            <a:solidFill>
              <a:srgbClr val="0492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 userDrawn="1"/>
        </p:nvSpPr>
        <p:spPr>
          <a:xfrm>
            <a:off x="10030085" y="112357"/>
            <a:ext cx="177965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第一章   函数与极限</a:t>
            </a:r>
          </a:p>
        </p:txBody>
      </p:sp>
      <p:sp>
        <p:nvSpPr>
          <p:cNvPr id="5" name="Rectangle 1"/>
          <p:cNvSpPr/>
          <p:nvPr userDrawn="1"/>
        </p:nvSpPr>
        <p:spPr>
          <a:xfrm>
            <a:off x="6096000" y="6338672"/>
            <a:ext cx="6100032" cy="516885"/>
          </a:xfrm>
          <a:prstGeom prst="rect">
            <a:avLst/>
          </a:prstGeom>
          <a:solidFill>
            <a:srgbClr val="04926A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16200000" rotWithShape="0">
              <a:schemeClr val="bg1">
                <a:lumMod val="50000"/>
                <a:alpha val="55000"/>
              </a:scheme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angle 1"/>
          <p:cNvSpPr/>
          <p:nvPr userDrawn="1"/>
        </p:nvSpPr>
        <p:spPr>
          <a:xfrm>
            <a:off x="0" y="6335487"/>
            <a:ext cx="3095897" cy="522514"/>
          </a:xfrm>
          <a:prstGeom prst="rect">
            <a:avLst/>
          </a:prstGeom>
          <a:solidFill>
            <a:srgbClr val="04926A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16200000" rotWithShape="0">
              <a:schemeClr val="bg1">
                <a:lumMod val="50000"/>
                <a:alpha val="55000"/>
              </a:scheme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ctangle 1"/>
          <p:cNvSpPr/>
          <p:nvPr userDrawn="1"/>
        </p:nvSpPr>
        <p:spPr>
          <a:xfrm>
            <a:off x="3095897" y="6335487"/>
            <a:ext cx="3000104" cy="52251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rgbClr val="04926A"/>
            </a:solidFill>
            <a:prstDash val="solid"/>
            <a:miter lim="800000"/>
          </a:ln>
          <a:effectLst>
            <a:outerShdw blurRad="50800" dist="38100" dir="16200000" rotWithShape="0">
              <a:schemeClr val="bg1">
                <a:lumMod val="50000"/>
                <a:alpha val="55000"/>
              </a:scheme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1"/>
          <p:cNvSpPr/>
          <p:nvPr userDrawn="1"/>
        </p:nvSpPr>
        <p:spPr>
          <a:xfrm>
            <a:off x="6091968" y="7110185"/>
            <a:ext cx="6100032" cy="224344"/>
          </a:xfrm>
          <a:prstGeom prst="rect">
            <a:avLst/>
          </a:prstGeom>
          <a:solidFill>
            <a:srgbClr val="04926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1"/>
          <p:cNvSpPr/>
          <p:nvPr userDrawn="1"/>
        </p:nvSpPr>
        <p:spPr>
          <a:xfrm>
            <a:off x="-4032" y="7110186"/>
            <a:ext cx="3099929" cy="224344"/>
          </a:xfrm>
          <a:prstGeom prst="rect">
            <a:avLst/>
          </a:prstGeom>
          <a:solidFill>
            <a:srgbClr val="04926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"/>
          <p:cNvSpPr/>
          <p:nvPr userDrawn="1"/>
        </p:nvSpPr>
        <p:spPr>
          <a:xfrm>
            <a:off x="3095897" y="7110186"/>
            <a:ext cx="2996071" cy="22434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rgbClr val="04926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文框 6"/>
          <p:cNvSpPr/>
          <p:nvPr userDrawn="1"/>
        </p:nvSpPr>
        <p:spPr>
          <a:xfrm>
            <a:off x="0" y="-1"/>
            <a:ext cx="12192001" cy="6858001"/>
          </a:xfrm>
          <a:prstGeom prst="frame">
            <a:avLst>
              <a:gd name="adj1" fmla="val 50000"/>
            </a:avLst>
          </a:prstGeom>
          <a:gradFill flip="none" rotWithShape="1">
            <a:gsLst>
              <a:gs pos="74000">
                <a:srgbClr val="007434">
                  <a:alpha val="31000"/>
                </a:srgbClr>
              </a:gs>
              <a:gs pos="4000">
                <a:schemeClr val="bg1">
                  <a:alpha val="0"/>
                </a:schemeClr>
              </a:gs>
              <a:gs pos="100000">
                <a:schemeClr val="bg1">
                  <a:alpha val="64000"/>
                </a:schemeClr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03" r="7303" b="29466"/>
          <a:stretch>
            <a:fillRect/>
          </a:stretch>
        </p:blipFill>
        <p:spPr>
          <a:xfrm flipH="1">
            <a:off x="0" y="-1905"/>
            <a:ext cx="6996430" cy="6859905"/>
          </a:xfrm>
          <a:prstGeom prst="rect">
            <a:avLst/>
          </a:prstGeom>
        </p:spPr>
      </p:pic>
      <p:sp>
        <p:nvSpPr>
          <p:cNvPr id="9" name="Rectangle 1"/>
          <p:cNvSpPr/>
          <p:nvPr userDrawn="1"/>
        </p:nvSpPr>
        <p:spPr>
          <a:xfrm>
            <a:off x="0" y="-1270"/>
            <a:ext cx="12192000" cy="6858635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42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矩形: 剪去对角 21"/>
          <p:cNvSpPr/>
          <p:nvPr userDrawn="1"/>
        </p:nvSpPr>
        <p:spPr>
          <a:xfrm>
            <a:off x="2496186" y="1627425"/>
            <a:ext cx="7199628" cy="3231673"/>
          </a:xfrm>
          <a:prstGeom prst="snip2DiagRect">
            <a:avLst>
              <a:gd name="adj1" fmla="val 0"/>
              <a:gd name="adj2" fmla="val 6393"/>
            </a:avLst>
          </a:prstGeom>
          <a:gradFill flip="none" rotWithShape="1">
            <a:gsLst>
              <a:gs pos="0">
                <a:schemeClr val="bg1"/>
              </a:gs>
              <a:gs pos="29000">
                <a:schemeClr val="bg1">
                  <a:alpha val="50000"/>
                </a:schemeClr>
              </a:gs>
              <a:gs pos="6600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8100000" scaled="1"/>
            <a:tileRect/>
          </a:gradFill>
          <a:ln>
            <a:gradFill flip="none" rotWithShape="1">
              <a:gsLst>
                <a:gs pos="53000">
                  <a:srgbClr val="AA69D6"/>
                </a:gs>
                <a:gs pos="2419">
                  <a:srgbClr val="AC5FD4"/>
                </a:gs>
                <a:gs pos="26000">
                  <a:srgbClr val="AC5FD4"/>
                </a:gs>
                <a:gs pos="100000">
                  <a:srgbClr val="7030A0"/>
                </a:gs>
              </a:gsLst>
              <a:path path="circle">
                <a:fillToRect l="50000" t="50000" r="50000" b="50000"/>
              </a:path>
              <a:tileRect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2914015" y="2211408"/>
            <a:ext cx="6363970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575945" algn="just">
              <a:lnSpc>
                <a:spcPct val="150000"/>
              </a:lnSpc>
            </a:pP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本</a:t>
            </a:r>
            <a:r>
              <a:rPr lang="en-US" altLang="zh-CN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PPT</a:t>
            </a: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为高等教育出版社出版的</a:t>
            </a:r>
            <a:r>
              <a:rPr lang="en-US" altLang="zh-CN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《</a:t>
            </a: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高等数学</a:t>
            </a:r>
            <a:r>
              <a:rPr lang="en-US" altLang="zh-CN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》</a:t>
            </a: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（第八版）教材配套课件，仅供受赠老师本人用于“高等数学”课堂教学。未经许可，任何人不能进行任何其他方式的传播。</a:t>
            </a:r>
            <a:endParaRPr lang="zh-CN" altLang="en-US" sz="2200" kern="100" dirty="0">
              <a:solidFill>
                <a:prstClr val="black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方正大标宋简体" panose="02010601030101010101" charset="-122"/>
              <a:sym typeface="+mn-ea"/>
            </a:endParaRPr>
          </a:p>
        </p:txBody>
      </p:sp>
      <p:grpSp>
        <p:nvGrpSpPr>
          <p:cNvPr id="12" name="组合 11"/>
          <p:cNvGrpSpPr/>
          <p:nvPr userDrawn="1"/>
        </p:nvGrpSpPr>
        <p:grpSpPr>
          <a:xfrm>
            <a:off x="4981488" y="5711355"/>
            <a:ext cx="2229025" cy="475907"/>
            <a:chOff x="3928951" y="7786292"/>
            <a:chExt cx="2663761" cy="568726"/>
          </a:xfrm>
        </p:grpSpPr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41954" y="7786292"/>
              <a:ext cx="2050758" cy="472171"/>
            </a:xfrm>
            <a:prstGeom prst="rect">
              <a:avLst/>
            </a:prstGeom>
          </p:spPr>
        </p:pic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28951" y="7804037"/>
              <a:ext cx="551568" cy="550981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2023/7/5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2023/7/5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2023/7/5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2023/7/5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2023/7/5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2023/7/5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2023/7/5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2023/7/5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2023/7/5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67500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453706-F419-4023-A58A-D6EE144B71A3}" type="datetimeFigureOut">
              <a:rPr lang="zh-CN" altLang="en-US" smtClean="0"/>
              <a:t>2023/7/5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4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png"/><Relationship Id="rId13" Type="http://schemas.openxmlformats.org/officeDocument/2006/relationships/image" Target="../media/image16.png"/><Relationship Id="rId7" Type="http://schemas.openxmlformats.org/officeDocument/2006/relationships/image" Target="../media/image710.png"/><Relationship Id="rId12" Type="http://schemas.openxmlformats.org/officeDocument/2006/relationships/image" Target="../media/image1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11" Type="http://schemas.openxmlformats.org/officeDocument/2006/relationships/image" Target="../media/image14.png"/><Relationship Id="rId10" Type="http://schemas.openxmlformats.org/officeDocument/2006/relationships/image" Target="../media/image11.png"/><Relationship Id="rId9" Type="http://schemas.openxmlformats.org/officeDocument/2006/relationships/image" Target="../media/image12.png"/><Relationship Id="rId14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6.png"/><Relationship Id="rId3" Type="http://schemas.openxmlformats.org/officeDocument/2006/relationships/image" Target="../media/image17.png"/><Relationship Id="rId7" Type="http://schemas.openxmlformats.org/officeDocument/2006/relationships/image" Target="../media/image13.png"/><Relationship Id="rId12" Type="http://schemas.openxmlformats.org/officeDocument/2006/relationships/image" Target="../media/image25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11" Type="http://schemas.openxmlformats.org/officeDocument/2006/relationships/image" Target="../media/image24.png"/><Relationship Id="rId5" Type="http://schemas.openxmlformats.org/officeDocument/2006/relationships/image" Target="../media/image19.png"/><Relationship Id="rId10" Type="http://schemas.openxmlformats.org/officeDocument/2006/relationships/image" Target="../media/image21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Relationship Id="rId14" Type="http://schemas.openxmlformats.org/officeDocument/2006/relationships/image" Target="../media/image2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2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Relationship Id="rId9" Type="http://schemas.openxmlformats.org/officeDocument/2006/relationships/image" Target="../media/image43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49.png"/><Relationship Id="rId7" Type="http://schemas.openxmlformats.org/officeDocument/2006/relationships/image" Target="../media/image46.png"/><Relationship Id="rId12" Type="http://schemas.openxmlformats.org/officeDocument/2006/relationships/image" Target="../media/image58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2.png"/><Relationship Id="rId11" Type="http://schemas.openxmlformats.org/officeDocument/2006/relationships/image" Target="../media/image56.png"/><Relationship Id="rId5" Type="http://schemas.openxmlformats.org/officeDocument/2006/relationships/image" Target="../media/image51.png"/><Relationship Id="rId10" Type="http://schemas.openxmlformats.org/officeDocument/2006/relationships/image" Target="../media/image54.png"/><Relationship Id="rId4" Type="http://schemas.openxmlformats.org/officeDocument/2006/relationships/image" Target="../media/image50.png"/><Relationship Id="rId9" Type="http://schemas.openxmlformats.org/officeDocument/2006/relationships/image" Target="../media/image5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Relationship Id="rId11" Type="http://schemas.openxmlformats.org/officeDocument/2006/relationships/image" Target="../media/image7.png"/><Relationship Id="rId10" Type="http://schemas.openxmlformats.org/officeDocument/2006/relationships/image" Target="../media/image6.jpeg"/><Relationship Id="rId9" Type="http://schemas.openxmlformats.org/officeDocument/2006/relationships/image" Target="../media/image69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3" Type="http://schemas.openxmlformats.org/officeDocument/2006/relationships/image" Target="../media/image70.png"/><Relationship Id="rId7" Type="http://schemas.openxmlformats.org/officeDocument/2006/relationships/image" Target="../media/image7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4" Type="http://schemas.openxmlformats.org/officeDocument/2006/relationships/image" Target="../media/image71.png"/><Relationship Id="rId9" Type="http://schemas.openxmlformats.org/officeDocument/2006/relationships/image" Target="../media/image7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0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0.png"/><Relationship Id="rId5" Type="http://schemas.openxmlformats.org/officeDocument/2006/relationships/image" Target="../media/image79.png"/><Relationship Id="rId4" Type="http://schemas.openxmlformats.org/officeDocument/2006/relationships/image" Target="../media/image78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1"/>
            <a:ext cx="12192000" cy="6871855"/>
          </a:xfrm>
          <a:prstGeom prst="rect">
            <a:avLst/>
          </a:prstGeom>
        </p:spPr>
      </p:pic>
      <p:sp>
        <p:nvSpPr>
          <p:cNvPr id="9" name="图文框 8">
            <a:extLst>
              <a:ext uri="{FF2B5EF4-FFF2-40B4-BE49-F238E27FC236}">
                <a16:creationId xmlns:a16="http://schemas.microsoft.com/office/drawing/2014/main" id="{7E27F1AC-AD87-4217-935F-6A5D24FFC9D3}"/>
              </a:ext>
            </a:extLst>
          </p:cNvPr>
          <p:cNvSpPr/>
          <p:nvPr/>
        </p:nvSpPr>
        <p:spPr>
          <a:xfrm>
            <a:off x="0" y="-1"/>
            <a:ext cx="12192001" cy="6858001"/>
          </a:xfrm>
          <a:prstGeom prst="frame">
            <a:avLst>
              <a:gd name="adj1" fmla="val 50000"/>
            </a:avLst>
          </a:prstGeom>
          <a:gradFill flip="none" rotWithShape="1">
            <a:gsLst>
              <a:gs pos="74000">
                <a:srgbClr val="007434">
                  <a:alpha val="31000"/>
                </a:srgbClr>
              </a:gs>
              <a:gs pos="4000">
                <a:schemeClr val="bg1">
                  <a:alpha val="0"/>
                </a:schemeClr>
              </a:gs>
              <a:gs pos="100000">
                <a:schemeClr val="bg1">
                  <a:alpha val="64000"/>
                </a:schemeClr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latin typeface="字魂36号-正文宋楷" panose="02000000000000000000" pitchFamily="2" charset="-122"/>
              <a:ea typeface="字魂36号-正文宋楷" panose="02000000000000000000" pitchFamily="2" charset="-122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393397C8-B2D9-4E67-AF1E-E82D608FF52A}"/>
              </a:ext>
            </a:extLst>
          </p:cNvPr>
          <p:cNvSpPr/>
          <p:nvPr/>
        </p:nvSpPr>
        <p:spPr>
          <a:xfrm>
            <a:off x="0" y="1312540"/>
            <a:ext cx="11144250" cy="3564260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88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12">
            <a:extLst>
              <a:ext uri="{FF2B5EF4-FFF2-40B4-BE49-F238E27FC236}">
                <a16:creationId xmlns:a16="http://schemas.microsoft.com/office/drawing/2014/main" id="{A78A399D-A9FF-4852-908C-0BB3167A460B}"/>
              </a:ext>
            </a:extLst>
          </p:cNvPr>
          <p:cNvSpPr txBox="1"/>
          <p:nvPr/>
        </p:nvSpPr>
        <p:spPr>
          <a:xfrm>
            <a:off x="5524507" y="2152682"/>
            <a:ext cx="510909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18565"/>
            <a:r>
              <a:rPr lang="zh-CN" altLang="en-US" sz="9600" b="1">
                <a:solidFill>
                  <a:schemeClr val="bg1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高等数学</a:t>
            </a:r>
            <a:endParaRPr lang="en-US" altLang="zh-CN" sz="9600" b="1" dirty="0">
              <a:solidFill>
                <a:schemeClr val="bg1"/>
              </a:solidFill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Box 12">
            <a:extLst>
              <a:ext uri="{FF2B5EF4-FFF2-40B4-BE49-F238E27FC236}">
                <a16:creationId xmlns:a16="http://schemas.microsoft.com/office/drawing/2014/main" id="{0EBEB345-2912-4E4B-832E-6FF90E594A59}"/>
              </a:ext>
            </a:extLst>
          </p:cNvPr>
          <p:cNvSpPr txBox="1"/>
          <p:nvPr/>
        </p:nvSpPr>
        <p:spPr>
          <a:xfrm>
            <a:off x="9118170" y="3703526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18565"/>
            <a:r>
              <a:rPr lang="zh-CN" altLang="en-US" sz="3200" b="1" dirty="0">
                <a:solidFill>
                  <a:schemeClr val="bg1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第八版</a:t>
            </a:r>
            <a:endParaRPr lang="en-US" altLang="zh-CN" sz="3200" b="1" dirty="0">
              <a:solidFill>
                <a:schemeClr val="bg1"/>
              </a:solidFill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6533888-24AB-4B09-992C-9E7FBB903E1A}"/>
              </a:ext>
            </a:extLst>
          </p:cNvPr>
          <p:cNvSpPr txBox="1"/>
          <p:nvPr/>
        </p:nvSpPr>
        <p:spPr>
          <a:xfrm>
            <a:off x="6783949" y="5176128"/>
            <a:ext cx="367267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2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同济大学数学科学学院   编</a:t>
            </a:r>
          </a:p>
        </p:txBody>
      </p:sp>
    </p:spTree>
    <p:extLst>
      <p:ext uri="{BB962C8B-B14F-4D97-AF65-F5344CB8AC3E}">
        <p14:creationId xmlns:p14="http://schemas.microsoft.com/office/powerpoint/2010/main" val="1170592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/>
          <p:nvPr/>
        </p:nvSpPr>
        <p:spPr>
          <a:xfrm flipH="1">
            <a:off x="0" y="0"/>
            <a:ext cx="12192000" cy="6872990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88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789305" y="2369185"/>
            <a:ext cx="11083290" cy="4504055"/>
          </a:xfrm>
          <a:prstGeom prst="rect">
            <a:avLst/>
          </a:prstGeom>
          <a:solidFill>
            <a:schemeClr val="bg1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29285" y="2499995"/>
            <a:ext cx="10923270" cy="4373245"/>
          </a:xfrm>
          <a:prstGeom prst="rect">
            <a:avLst/>
          </a:prstGeom>
          <a:solidFill>
            <a:schemeClr val="bg1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487045" y="2640330"/>
            <a:ext cx="10746105" cy="4232910"/>
          </a:xfrm>
          <a:prstGeom prst="rect">
            <a:avLst/>
          </a:prstGeom>
          <a:solidFill>
            <a:schemeClr val="bg1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任意多边形 41"/>
          <p:cNvSpPr/>
          <p:nvPr/>
        </p:nvSpPr>
        <p:spPr>
          <a:xfrm flipH="1">
            <a:off x="4914237" y="3160432"/>
            <a:ext cx="1784904" cy="429397"/>
          </a:xfrm>
          <a:custGeom>
            <a:avLst/>
            <a:gdLst/>
            <a:ahLst/>
            <a:cxnLst/>
            <a:rect l="l" t="t" r="r" b="b"/>
            <a:pathLst>
              <a:path w="1784904" h="429397">
                <a:moveTo>
                  <a:pt x="326672" y="316347"/>
                </a:moveTo>
                <a:cubicBezTo>
                  <a:pt x="322782" y="316737"/>
                  <a:pt x="318710" y="321188"/>
                  <a:pt x="314454" y="329699"/>
                </a:cubicBezTo>
                <a:cubicBezTo>
                  <a:pt x="309673" y="355056"/>
                  <a:pt x="310417" y="375966"/>
                  <a:pt x="316687" y="392430"/>
                </a:cubicBezTo>
                <a:cubicBezTo>
                  <a:pt x="326956" y="411666"/>
                  <a:pt x="343187" y="421926"/>
                  <a:pt x="365381" y="423210"/>
                </a:cubicBezTo>
                <a:cubicBezTo>
                  <a:pt x="383985" y="421777"/>
                  <a:pt x="393287" y="411824"/>
                  <a:pt x="393287" y="393351"/>
                </a:cubicBezTo>
                <a:cubicBezTo>
                  <a:pt x="393287" y="384012"/>
                  <a:pt x="384450" y="374934"/>
                  <a:pt x="366777" y="366116"/>
                </a:cubicBezTo>
                <a:cubicBezTo>
                  <a:pt x="348062" y="355102"/>
                  <a:pt x="337634" y="344787"/>
                  <a:pt x="335495" y="335169"/>
                </a:cubicBezTo>
                <a:cubicBezTo>
                  <a:pt x="334286" y="325439"/>
                  <a:pt x="332621" y="319486"/>
                  <a:pt x="330500" y="317309"/>
                </a:cubicBezTo>
                <a:cubicBezTo>
                  <a:pt x="329244" y="316537"/>
                  <a:pt x="327968" y="316216"/>
                  <a:pt x="326672" y="316347"/>
                </a:cubicBezTo>
                <a:close/>
                <a:moveTo>
                  <a:pt x="90072" y="314517"/>
                </a:moveTo>
                <a:cubicBezTo>
                  <a:pt x="88181" y="314481"/>
                  <a:pt x="85529" y="315049"/>
                  <a:pt x="82115" y="316221"/>
                </a:cubicBezTo>
                <a:cubicBezTo>
                  <a:pt x="78822" y="316221"/>
                  <a:pt x="74432" y="316919"/>
                  <a:pt x="68944" y="318314"/>
                </a:cubicBezTo>
                <a:cubicBezTo>
                  <a:pt x="41001" y="328025"/>
                  <a:pt x="20240" y="340294"/>
                  <a:pt x="6659" y="355121"/>
                </a:cubicBezTo>
                <a:cubicBezTo>
                  <a:pt x="-7721" y="387658"/>
                  <a:pt x="1190" y="408606"/>
                  <a:pt x="33393" y="417964"/>
                </a:cubicBezTo>
                <a:cubicBezTo>
                  <a:pt x="52480" y="417964"/>
                  <a:pt x="62712" y="406969"/>
                  <a:pt x="64088" y="384980"/>
                </a:cubicBezTo>
                <a:cubicBezTo>
                  <a:pt x="65205" y="364051"/>
                  <a:pt x="72683" y="346107"/>
                  <a:pt x="86524" y="331150"/>
                </a:cubicBezTo>
                <a:cubicBezTo>
                  <a:pt x="94561" y="320170"/>
                  <a:pt x="95743" y="314625"/>
                  <a:pt x="90072" y="314517"/>
                </a:cubicBezTo>
                <a:close/>
                <a:moveTo>
                  <a:pt x="187597" y="314463"/>
                </a:moveTo>
                <a:cubicBezTo>
                  <a:pt x="184025" y="314463"/>
                  <a:pt x="177449" y="315663"/>
                  <a:pt x="167868" y="318063"/>
                </a:cubicBezTo>
                <a:cubicBezTo>
                  <a:pt x="140149" y="326881"/>
                  <a:pt x="121899" y="339420"/>
                  <a:pt x="113118" y="355679"/>
                </a:cubicBezTo>
                <a:cubicBezTo>
                  <a:pt x="103630" y="385742"/>
                  <a:pt x="112662" y="404169"/>
                  <a:pt x="140214" y="410959"/>
                </a:cubicBezTo>
                <a:cubicBezTo>
                  <a:pt x="159506" y="410959"/>
                  <a:pt x="169152" y="398086"/>
                  <a:pt x="169152" y="372338"/>
                </a:cubicBezTo>
                <a:cubicBezTo>
                  <a:pt x="169152" y="352712"/>
                  <a:pt x="173217" y="338322"/>
                  <a:pt x="181346" y="329169"/>
                </a:cubicBezTo>
                <a:cubicBezTo>
                  <a:pt x="188397" y="323941"/>
                  <a:pt x="190481" y="319039"/>
                  <a:pt x="187597" y="314463"/>
                </a:cubicBezTo>
                <a:close/>
                <a:moveTo>
                  <a:pt x="277968" y="311505"/>
                </a:moveTo>
                <a:cubicBezTo>
                  <a:pt x="274629" y="311868"/>
                  <a:pt x="269620" y="313003"/>
                  <a:pt x="262941" y="314909"/>
                </a:cubicBezTo>
                <a:cubicBezTo>
                  <a:pt x="234701" y="328434"/>
                  <a:pt x="216898" y="342564"/>
                  <a:pt x="209531" y="357298"/>
                </a:cubicBezTo>
                <a:cubicBezTo>
                  <a:pt x="198815" y="387528"/>
                  <a:pt x="209121" y="406002"/>
                  <a:pt x="240450" y="412717"/>
                </a:cubicBezTo>
                <a:cubicBezTo>
                  <a:pt x="260616" y="411285"/>
                  <a:pt x="269536" y="397118"/>
                  <a:pt x="267211" y="370218"/>
                </a:cubicBezTo>
                <a:cubicBezTo>
                  <a:pt x="264867" y="350610"/>
                  <a:pt x="266634" y="337485"/>
                  <a:pt x="272513" y="330843"/>
                </a:cubicBezTo>
                <a:cubicBezTo>
                  <a:pt x="280643" y="318770"/>
                  <a:pt x="284131" y="312733"/>
                  <a:pt x="282977" y="312733"/>
                </a:cubicBezTo>
                <a:cubicBezTo>
                  <a:pt x="282977" y="311551"/>
                  <a:pt x="281308" y="311142"/>
                  <a:pt x="277968" y="311505"/>
                </a:cubicBezTo>
                <a:close/>
                <a:moveTo>
                  <a:pt x="637411" y="288371"/>
                </a:moveTo>
                <a:lnTo>
                  <a:pt x="637411" y="330229"/>
                </a:lnTo>
                <a:lnTo>
                  <a:pt x="576578" y="330229"/>
                </a:lnTo>
                <a:lnTo>
                  <a:pt x="560588" y="304138"/>
                </a:lnTo>
                <a:cubicBezTo>
                  <a:pt x="576922" y="307635"/>
                  <a:pt x="584503" y="302380"/>
                  <a:pt x="583331" y="288371"/>
                </a:cubicBezTo>
                <a:close/>
                <a:moveTo>
                  <a:pt x="1182178" y="241100"/>
                </a:moveTo>
                <a:lnTo>
                  <a:pt x="1182178" y="272438"/>
                </a:lnTo>
                <a:lnTo>
                  <a:pt x="1049293" y="272438"/>
                </a:lnTo>
                <a:lnTo>
                  <a:pt x="1049293" y="241100"/>
                </a:lnTo>
                <a:close/>
                <a:moveTo>
                  <a:pt x="637411" y="225333"/>
                </a:moveTo>
                <a:lnTo>
                  <a:pt x="637411" y="270707"/>
                </a:lnTo>
                <a:lnTo>
                  <a:pt x="583331" y="270707"/>
                </a:lnTo>
                <a:lnTo>
                  <a:pt x="583331" y="225333"/>
                </a:lnTo>
                <a:close/>
                <a:moveTo>
                  <a:pt x="752995" y="225333"/>
                </a:moveTo>
                <a:lnTo>
                  <a:pt x="752995" y="268949"/>
                </a:lnTo>
                <a:lnTo>
                  <a:pt x="697157" y="268949"/>
                </a:lnTo>
                <a:lnTo>
                  <a:pt x="697157" y="225333"/>
                </a:lnTo>
                <a:close/>
                <a:moveTo>
                  <a:pt x="1170514" y="197317"/>
                </a:moveTo>
                <a:cubicBezTo>
                  <a:pt x="1180616" y="196163"/>
                  <a:pt x="1184504" y="199679"/>
                  <a:pt x="1182178" y="207865"/>
                </a:cubicBezTo>
                <a:lnTo>
                  <a:pt x="1182178" y="225166"/>
                </a:lnTo>
                <a:lnTo>
                  <a:pt x="1049293" y="225166"/>
                </a:lnTo>
                <a:lnTo>
                  <a:pt x="1049293" y="197317"/>
                </a:lnTo>
                <a:close/>
                <a:moveTo>
                  <a:pt x="1604553" y="188582"/>
                </a:moveTo>
                <a:cubicBezTo>
                  <a:pt x="1622710" y="230459"/>
                  <a:pt x="1648327" y="264252"/>
                  <a:pt x="1681404" y="289962"/>
                </a:cubicBezTo>
                <a:lnTo>
                  <a:pt x="1604553" y="289962"/>
                </a:lnTo>
                <a:close/>
                <a:moveTo>
                  <a:pt x="250830" y="181578"/>
                </a:moveTo>
                <a:cubicBezTo>
                  <a:pt x="259276" y="182415"/>
                  <a:pt x="263499" y="185299"/>
                  <a:pt x="263499" y="190229"/>
                </a:cubicBezTo>
                <a:lnTo>
                  <a:pt x="263499" y="261945"/>
                </a:lnTo>
                <a:lnTo>
                  <a:pt x="132373" y="261945"/>
                </a:lnTo>
                <a:lnTo>
                  <a:pt x="132373" y="181578"/>
                </a:lnTo>
                <a:close/>
                <a:moveTo>
                  <a:pt x="737759" y="165812"/>
                </a:moveTo>
                <a:cubicBezTo>
                  <a:pt x="750242" y="164639"/>
                  <a:pt x="755321" y="168156"/>
                  <a:pt x="752995" y="176360"/>
                </a:cubicBezTo>
                <a:lnTo>
                  <a:pt x="752995" y="209400"/>
                </a:lnTo>
                <a:lnTo>
                  <a:pt x="697157" y="209400"/>
                </a:lnTo>
                <a:lnTo>
                  <a:pt x="697157" y="165812"/>
                </a:lnTo>
                <a:close/>
                <a:moveTo>
                  <a:pt x="1229548" y="165184"/>
                </a:moveTo>
                <a:cubicBezTo>
                  <a:pt x="1224915" y="165677"/>
                  <a:pt x="1219311" y="167783"/>
                  <a:pt x="1212735" y="171504"/>
                </a:cubicBezTo>
                <a:cubicBezTo>
                  <a:pt x="1199340" y="177085"/>
                  <a:pt x="1189118" y="180378"/>
                  <a:pt x="1182067" y="181383"/>
                </a:cubicBezTo>
                <a:lnTo>
                  <a:pt x="1049991" y="181383"/>
                </a:lnTo>
                <a:cubicBezTo>
                  <a:pt x="1052707" y="181364"/>
                  <a:pt x="1054214" y="180611"/>
                  <a:pt x="1054512" y="179122"/>
                </a:cubicBezTo>
                <a:cubicBezTo>
                  <a:pt x="1050121" y="171793"/>
                  <a:pt x="1044559" y="167300"/>
                  <a:pt x="1037824" y="165644"/>
                </a:cubicBezTo>
                <a:cubicBezTo>
                  <a:pt x="1010607" y="166909"/>
                  <a:pt x="988683" y="177913"/>
                  <a:pt x="972052" y="198656"/>
                </a:cubicBezTo>
                <a:cubicBezTo>
                  <a:pt x="973745" y="204423"/>
                  <a:pt x="977075" y="209790"/>
                  <a:pt x="982042" y="214757"/>
                </a:cubicBezTo>
                <a:cubicBezTo>
                  <a:pt x="983549" y="217008"/>
                  <a:pt x="984302" y="218171"/>
                  <a:pt x="984302" y="218246"/>
                </a:cubicBezTo>
                <a:lnTo>
                  <a:pt x="984302" y="283962"/>
                </a:lnTo>
                <a:cubicBezTo>
                  <a:pt x="983130" y="303068"/>
                  <a:pt x="995790" y="313300"/>
                  <a:pt x="1022281" y="314658"/>
                </a:cubicBezTo>
                <a:cubicBezTo>
                  <a:pt x="1043787" y="318156"/>
                  <a:pt x="1052791" y="312119"/>
                  <a:pt x="1049293" y="296548"/>
                </a:cubicBezTo>
                <a:lnTo>
                  <a:pt x="1049293" y="290130"/>
                </a:lnTo>
                <a:lnTo>
                  <a:pt x="1080715" y="290130"/>
                </a:lnTo>
                <a:cubicBezTo>
                  <a:pt x="1086482" y="290130"/>
                  <a:pt x="1088193" y="293599"/>
                  <a:pt x="1085849" y="300538"/>
                </a:cubicBezTo>
                <a:lnTo>
                  <a:pt x="1085849" y="326741"/>
                </a:lnTo>
                <a:lnTo>
                  <a:pt x="998422" y="326741"/>
                </a:lnTo>
                <a:cubicBezTo>
                  <a:pt x="999538" y="326741"/>
                  <a:pt x="998320" y="324072"/>
                  <a:pt x="994766" y="318732"/>
                </a:cubicBezTo>
                <a:cubicBezTo>
                  <a:pt x="986916" y="303050"/>
                  <a:pt x="979102" y="295208"/>
                  <a:pt x="971326" y="295208"/>
                </a:cubicBezTo>
                <a:cubicBezTo>
                  <a:pt x="960517" y="297924"/>
                  <a:pt x="945263" y="307282"/>
                  <a:pt x="925561" y="323281"/>
                </a:cubicBezTo>
                <a:cubicBezTo>
                  <a:pt x="921524" y="329197"/>
                  <a:pt x="920092" y="333699"/>
                  <a:pt x="921264" y="336787"/>
                </a:cubicBezTo>
                <a:cubicBezTo>
                  <a:pt x="921264" y="343038"/>
                  <a:pt x="925719" y="345577"/>
                  <a:pt x="934631" y="344405"/>
                </a:cubicBezTo>
                <a:lnTo>
                  <a:pt x="1085849" y="344405"/>
                </a:lnTo>
                <a:lnTo>
                  <a:pt x="1085849" y="407192"/>
                </a:lnTo>
                <a:cubicBezTo>
                  <a:pt x="1083524" y="420029"/>
                  <a:pt x="1096639" y="427098"/>
                  <a:pt x="1125196" y="428400"/>
                </a:cubicBezTo>
                <a:cubicBezTo>
                  <a:pt x="1144636" y="431953"/>
                  <a:pt x="1153194" y="426010"/>
                  <a:pt x="1150869" y="410569"/>
                </a:cubicBezTo>
                <a:lnTo>
                  <a:pt x="1150869" y="344405"/>
                </a:lnTo>
                <a:lnTo>
                  <a:pt x="1299604" y="344405"/>
                </a:lnTo>
                <a:cubicBezTo>
                  <a:pt x="1307678" y="344405"/>
                  <a:pt x="1312794" y="342266"/>
                  <a:pt x="1314952" y="337987"/>
                </a:cubicBezTo>
                <a:cubicBezTo>
                  <a:pt x="1316459" y="332518"/>
                  <a:pt x="1312691" y="328769"/>
                  <a:pt x="1303650" y="326741"/>
                </a:cubicBezTo>
                <a:lnTo>
                  <a:pt x="1150869" y="326741"/>
                </a:lnTo>
                <a:lnTo>
                  <a:pt x="1150869" y="290130"/>
                </a:lnTo>
                <a:lnTo>
                  <a:pt x="1182178" y="290130"/>
                </a:lnTo>
                <a:lnTo>
                  <a:pt x="1182178" y="293785"/>
                </a:lnTo>
                <a:cubicBezTo>
                  <a:pt x="1183927" y="302622"/>
                  <a:pt x="1196559" y="308993"/>
                  <a:pt x="1220074" y="312900"/>
                </a:cubicBezTo>
                <a:cubicBezTo>
                  <a:pt x="1239310" y="316398"/>
                  <a:pt x="1248342" y="310435"/>
                  <a:pt x="1247170" y="295013"/>
                </a:cubicBezTo>
                <a:lnTo>
                  <a:pt x="1247170" y="194219"/>
                </a:lnTo>
                <a:cubicBezTo>
                  <a:pt x="1248342" y="179969"/>
                  <a:pt x="1246128" y="171411"/>
                  <a:pt x="1240528" y="168546"/>
                </a:cubicBezTo>
                <a:cubicBezTo>
                  <a:pt x="1237840" y="165812"/>
                  <a:pt x="1234180" y="164691"/>
                  <a:pt x="1229548" y="165184"/>
                </a:cubicBezTo>
                <a:close/>
                <a:moveTo>
                  <a:pt x="637411" y="164053"/>
                </a:moveTo>
                <a:lnTo>
                  <a:pt x="637411" y="209400"/>
                </a:lnTo>
                <a:lnTo>
                  <a:pt x="583331" y="209400"/>
                </a:lnTo>
                <a:lnTo>
                  <a:pt x="583331" y="164053"/>
                </a:lnTo>
                <a:close/>
                <a:moveTo>
                  <a:pt x="1539561" y="122028"/>
                </a:moveTo>
                <a:lnTo>
                  <a:pt x="1539561" y="289962"/>
                </a:lnTo>
                <a:lnTo>
                  <a:pt x="1537915" y="289962"/>
                </a:lnTo>
                <a:cubicBezTo>
                  <a:pt x="1537747" y="289962"/>
                  <a:pt x="1534696" y="286009"/>
                  <a:pt x="1528762" y="278102"/>
                </a:cubicBezTo>
                <a:cubicBezTo>
                  <a:pt x="1523795" y="269433"/>
                  <a:pt x="1519228" y="264047"/>
                  <a:pt x="1515060" y="261945"/>
                </a:cubicBezTo>
                <a:cubicBezTo>
                  <a:pt x="1508140" y="261945"/>
                  <a:pt x="1500615" y="264847"/>
                  <a:pt x="1492485" y="270652"/>
                </a:cubicBezTo>
                <a:cubicBezTo>
                  <a:pt x="1518102" y="240514"/>
                  <a:pt x="1533729" y="190973"/>
                  <a:pt x="1539366" y="122028"/>
                </a:cubicBezTo>
                <a:close/>
                <a:moveTo>
                  <a:pt x="1178662" y="78245"/>
                </a:moveTo>
                <a:cubicBezTo>
                  <a:pt x="1159798" y="81184"/>
                  <a:pt x="1145306" y="88970"/>
                  <a:pt x="1135186" y="101601"/>
                </a:cubicBezTo>
                <a:cubicBezTo>
                  <a:pt x="1129158" y="116019"/>
                  <a:pt x="1132563" y="128605"/>
                  <a:pt x="1145399" y="139357"/>
                </a:cubicBezTo>
                <a:lnTo>
                  <a:pt x="1103737" y="139357"/>
                </a:lnTo>
                <a:cubicBezTo>
                  <a:pt x="1089617" y="112252"/>
                  <a:pt x="1082556" y="91881"/>
                  <a:pt x="1082556" y="78245"/>
                </a:cubicBezTo>
                <a:close/>
                <a:moveTo>
                  <a:pt x="215553" y="11133"/>
                </a:moveTo>
                <a:cubicBezTo>
                  <a:pt x="212440" y="10891"/>
                  <a:pt x="208712" y="11077"/>
                  <a:pt x="204368" y="11691"/>
                </a:cubicBezTo>
                <a:cubicBezTo>
                  <a:pt x="201168" y="12751"/>
                  <a:pt x="199085" y="13281"/>
                  <a:pt x="198117" y="13281"/>
                </a:cubicBezTo>
                <a:cubicBezTo>
                  <a:pt x="168166" y="14714"/>
                  <a:pt x="154520" y="20155"/>
                  <a:pt x="157180" y="29606"/>
                </a:cubicBezTo>
                <a:cubicBezTo>
                  <a:pt x="158706" y="32620"/>
                  <a:pt x="160817" y="35494"/>
                  <a:pt x="163515" y="38229"/>
                </a:cubicBezTo>
                <a:cubicBezTo>
                  <a:pt x="167124" y="41838"/>
                  <a:pt x="168928" y="45224"/>
                  <a:pt x="168928" y="48386"/>
                </a:cubicBezTo>
                <a:lnTo>
                  <a:pt x="168928" y="81593"/>
                </a:lnTo>
                <a:lnTo>
                  <a:pt x="93752" y="81593"/>
                </a:lnTo>
                <a:cubicBezTo>
                  <a:pt x="93752" y="81593"/>
                  <a:pt x="91454" y="77984"/>
                  <a:pt x="86859" y="70766"/>
                </a:cubicBezTo>
                <a:cubicBezTo>
                  <a:pt x="77167" y="53446"/>
                  <a:pt x="67967" y="46135"/>
                  <a:pt x="59261" y="48833"/>
                </a:cubicBezTo>
                <a:cubicBezTo>
                  <a:pt x="48508" y="57223"/>
                  <a:pt x="35765" y="67548"/>
                  <a:pt x="21031" y="79807"/>
                </a:cubicBezTo>
                <a:cubicBezTo>
                  <a:pt x="16901" y="83919"/>
                  <a:pt x="14835" y="86868"/>
                  <a:pt x="14835" y="88653"/>
                </a:cubicBezTo>
                <a:cubicBezTo>
                  <a:pt x="14835" y="94569"/>
                  <a:pt x="17793" y="97527"/>
                  <a:pt x="23709" y="97527"/>
                </a:cubicBezTo>
                <a:lnTo>
                  <a:pt x="168928" y="97527"/>
                </a:lnTo>
                <a:lnTo>
                  <a:pt x="168928" y="163886"/>
                </a:lnTo>
                <a:lnTo>
                  <a:pt x="131312" y="163886"/>
                </a:lnTo>
                <a:cubicBezTo>
                  <a:pt x="133061" y="163867"/>
                  <a:pt x="133414" y="161942"/>
                  <a:pt x="132373" y="158110"/>
                </a:cubicBezTo>
                <a:cubicBezTo>
                  <a:pt x="126866" y="148492"/>
                  <a:pt x="120345" y="142232"/>
                  <a:pt x="112811" y="139329"/>
                </a:cubicBezTo>
                <a:cubicBezTo>
                  <a:pt x="89296" y="148185"/>
                  <a:pt x="70646" y="162770"/>
                  <a:pt x="56861" y="183085"/>
                </a:cubicBezTo>
                <a:cubicBezTo>
                  <a:pt x="58572" y="188778"/>
                  <a:pt x="63028" y="194507"/>
                  <a:pt x="70227" y="200275"/>
                </a:cubicBezTo>
                <a:cubicBezTo>
                  <a:pt x="71827" y="201335"/>
                  <a:pt x="72627" y="201484"/>
                  <a:pt x="72627" y="200721"/>
                </a:cubicBezTo>
                <a:lnTo>
                  <a:pt x="72627" y="282037"/>
                </a:lnTo>
                <a:cubicBezTo>
                  <a:pt x="76981" y="296604"/>
                  <a:pt x="88915" y="304538"/>
                  <a:pt x="108430" y="305840"/>
                </a:cubicBezTo>
                <a:cubicBezTo>
                  <a:pt x="127889" y="308203"/>
                  <a:pt x="135870" y="303385"/>
                  <a:pt x="132373" y="291385"/>
                </a:cubicBezTo>
                <a:lnTo>
                  <a:pt x="132373" y="277879"/>
                </a:lnTo>
                <a:lnTo>
                  <a:pt x="137535" y="277879"/>
                </a:lnTo>
                <a:lnTo>
                  <a:pt x="263499" y="277879"/>
                </a:lnTo>
                <a:lnTo>
                  <a:pt x="263499" y="291274"/>
                </a:lnTo>
                <a:cubicBezTo>
                  <a:pt x="269545" y="303347"/>
                  <a:pt x="282224" y="309384"/>
                  <a:pt x="301534" y="309384"/>
                </a:cubicBezTo>
                <a:cubicBezTo>
                  <a:pt x="314836" y="310556"/>
                  <a:pt x="320901" y="305077"/>
                  <a:pt x="319729" y="292948"/>
                </a:cubicBezTo>
                <a:lnTo>
                  <a:pt x="319729" y="153449"/>
                </a:lnTo>
                <a:cubicBezTo>
                  <a:pt x="319729" y="144036"/>
                  <a:pt x="307162" y="145357"/>
                  <a:pt x="282029" y="157412"/>
                </a:cubicBezTo>
                <a:cubicBezTo>
                  <a:pt x="270141" y="161728"/>
                  <a:pt x="262830" y="163886"/>
                  <a:pt x="260095" y="163886"/>
                </a:cubicBezTo>
                <a:lnTo>
                  <a:pt x="226943" y="163886"/>
                </a:lnTo>
                <a:lnTo>
                  <a:pt x="226943" y="148203"/>
                </a:lnTo>
                <a:lnTo>
                  <a:pt x="226943" y="24862"/>
                </a:lnTo>
                <a:cubicBezTo>
                  <a:pt x="228688" y="16435"/>
                  <a:pt x="224891" y="11858"/>
                  <a:pt x="215553" y="11133"/>
                </a:cubicBezTo>
                <a:close/>
                <a:moveTo>
                  <a:pt x="1149983" y="6033"/>
                </a:moveTo>
                <a:cubicBezTo>
                  <a:pt x="1146011" y="5638"/>
                  <a:pt x="1140930" y="5738"/>
                  <a:pt x="1134739" y="6333"/>
                </a:cubicBezTo>
                <a:cubicBezTo>
                  <a:pt x="1109643" y="7579"/>
                  <a:pt x="1093002" y="12305"/>
                  <a:pt x="1084817" y="20509"/>
                </a:cubicBezTo>
                <a:cubicBezTo>
                  <a:pt x="1072669" y="40061"/>
                  <a:pt x="1073013" y="53418"/>
                  <a:pt x="1085849" y="60581"/>
                </a:cubicBezTo>
                <a:lnTo>
                  <a:pt x="1022923" y="60581"/>
                </a:lnTo>
                <a:cubicBezTo>
                  <a:pt x="1024169" y="60581"/>
                  <a:pt x="1023035" y="57706"/>
                  <a:pt x="1019518" y="51958"/>
                </a:cubicBezTo>
                <a:cubicBezTo>
                  <a:pt x="1010589" y="34917"/>
                  <a:pt x="1002682" y="25532"/>
                  <a:pt x="995799" y="23802"/>
                </a:cubicBezTo>
                <a:cubicBezTo>
                  <a:pt x="985400" y="23802"/>
                  <a:pt x="968433" y="34340"/>
                  <a:pt x="944900" y="55418"/>
                </a:cubicBezTo>
                <a:cubicBezTo>
                  <a:pt x="939654" y="63027"/>
                  <a:pt x="938723" y="68971"/>
                  <a:pt x="942109" y="73250"/>
                </a:cubicBezTo>
                <a:cubicBezTo>
                  <a:pt x="945681" y="76580"/>
                  <a:pt x="953002" y="77668"/>
                  <a:pt x="964071" y="76515"/>
                </a:cubicBezTo>
                <a:lnTo>
                  <a:pt x="1035089" y="76515"/>
                </a:lnTo>
                <a:cubicBezTo>
                  <a:pt x="1002403" y="89295"/>
                  <a:pt x="997111" y="99695"/>
                  <a:pt x="1019211" y="107713"/>
                </a:cubicBezTo>
                <a:cubicBezTo>
                  <a:pt x="1024309" y="110261"/>
                  <a:pt x="1027406" y="111536"/>
                  <a:pt x="1028504" y="111536"/>
                </a:cubicBezTo>
                <a:cubicBezTo>
                  <a:pt x="1044466" y="121098"/>
                  <a:pt x="1057163" y="130372"/>
                  <a:pt x="1066595" y="139357"/>
                </a:cubicBezTo>
                <a:lnTo>
                  <a:pt x="991557" y="139357"/>
                </a:lnTo>
                <a:cubicBezTo>
                  <a:pt x="979074" y="117796"/>
                  <a:pt x="967652" y="105545"/>
                  <a:pt x="957290" y="102606"/>
                </a:cubicBezTo>
                <a:cubicBezTo>
                  <a:pt x="950369" y="102606"/>
                  <a:pt x="937189" y="111099"/>
                  <a:pt x="917748" y="128084"/>
                </a:cubicBezTo>
                <a:cubicBezTo>
                  <a:pt x="915255" y="130539"/>
                  <a:pt x="912716" y="132409"/>
                  <a:pt x="910130" y="133693"/>
                </a:cubicBezTo>
                <a:cubicBezTo>
                  <a:pt x="904716" y="142901"/>
                  <a:pt x="902586" y="148454"/>
                  <a:pt x="903739" y="150352"/>
                </a:cubicBezTo>
                <a:cubicBezTo>
                  <a:pt x="903739" y="154817"/>
                  <a:pt x="909879" y="156463"/>
                  <a:pt x="922157" y="155291"/>
                </a:cubicBezTo>
                <a:lnTo>
                  <a:pt x="1313612" y="155291"/>
                </a:lnTo>
                <a:cubicBezTo>
                  <a:pt x="1321686" y="155291"/>
                  <a:pt x="1326532" y="153691"/>
                  <a:pt x="1328151" y="150492"/>
                </a:cubicBezTo>
                <a:cubicBezTo>
                  <a:pt x="1331369" y="146027"/>
                  <a:pt x="1328458" y="142315"/>
                  <a:pt x="1319417" y="139357"/>
                </a:cubicBezTo>
                <a:lnTo>
                  <a:pt x="1191136" y="139357"/>
                </a:lnTo>
                <a:cubicBezTo>
                  <a:pt x="1198131" y="137367"/>
                  <a:pt x="1200466" y="129795"/>
                  <a:pt x="1198140" y="116642"/>
                </a:cubicBezTo>
                <a:cubicBezTo>
                  <a:pt x="1195796" y="100197"/>
                  <a:pt x="1198364" y="87398"/>
                  <a:pt x="1205842" y="78245"/>
                </a:cubicBezTo>
                <a:lnTo>
                  <a:pt x="1278591" y="78245"/>
                </a:lnTo>
                <a:cubicBezTo>
                  <a:pt x="1285977" y="78245"/>
                  <a:pt x="1291344" y="76580"/>
                  <a:pt x="1294693" y="73250"/>
                </a:cubicBezTo>
                <a:cubicBezTo>
                  <a:pt x="1298023" y="67129"/>
                  <a:pt x="1295176" y="62906"/>
                  <a:pt x="1286153" y="60581"/>
                </a:cubicBezTo>
                <a:lnTo>
                  <a:pt x="1136042" y="60581"/>
                </a:lnTo>
                <a:lnTo>
                  <a:pt x="1137551" y="59046"/>
                </a:lnTo>
                <a:cubicBezTo>
                  <a:pt x="1138718" y="56944"/>
                  <a:pt x="1139651" y="53251"/>
                  <a:pt x="1140348" y="47968"/>
                </a:cubicBezTo>
                <a:cubicBezTo>
                  <a:pt x="1142376" y="37494"/>
                  <a:pt x="1147520" y="29159"/>
                  <a:pt x="1155780" y="22964"/>
                </a:cubicBezTo>
                <a:cubicBezTo>
                  <a:pt x="1163831" y="12863"/>
                  <a:pt x="1161898" y="7219"/>
                  <a:pt x="1149983" y="6033"/>
                </a:cubicBezTo>
                <a:close/>
                <a:moveTo>
                  <a:pt x="582640" y="3654"/>
                </a:moveTo>
                <a:cubicBezTo>
                  <a:pt x="574534" y="4640"/>
                  <a:pt x="566448" y="8258"/>
                  <a:pt x="558384" y="14509"/>
                </a:cubicBezTo>
                <a:cubicBezTo>
                  <a:pt x="513010" y="48833"/>
                  <a:pt x="509922" y="64822"/>
                  <a:pt x="549119" y="62478"/>
                </a:cubicBezTo>
                <a:cubicBezTo>
                  <a:pt x="554719" y="61306"/>
                  <a:pt x="557686" y="60730"/>
                  <a:pt x="558021" y="60748"/>
                </a:cubicBezTo>
                <a:cubicBezTo>
                  <a:pt x="568420" y="63055"/>
                  <a:pt x="582550" y="64804"/>
                  <a:pt x="600409" y="65994"/>
                </a:cubicBezTo>
                <a:cubicBezTo>
                  <a:pt x="619013" y="67166"/>
                  <a:pt x="631347" y="67752"/>
                  <a:pt x="637411" y="67752"/>
                </a:cubicBezTo>
                <a:lnTo>
                  <a:pt x="637411" y="99090"/>
                </a:lnTo>
                <a:lnTo>
                  <a:pt x="530702" y="99090"/>
                </a:lnTo>
                <a:cubicBezTo>
                  <a:pt x="530683" y="99090"/>
                  <a:pt x="526907" y="93193"/>
                  <a:pt x="519372" y="81398"/>
                </a:cubicBezTo>
                <a:cubicBezTo>
                  <a:pt x="511094" y="69548"/>
                  <a:pt x="504917" y="62609"/>
                  <a:pt x="500843" y="60581"/>
                </a:cubicBezTo>
                <a:cubicBezTo>
                  <a:pt x="493439" y="60581"/>
                  <a:pt x="477942" y="71110"/>
                  <a:pt x="454353" y="92170"/>
                </a:cubicBezTo>
                <a:cubicBezTo>
                  <a:pt x="445646" y="107406"/>
                  <a:pt x="446586" y="115024"/>
                  <a:pt x="457171" y="115024"/>
                </a:cubicBezTo>
                <a:lnTo>
                  <a:pt x="637411" y="115024"/>
                </a:lnTo>
                <a:lnTo>
                  <a:pt x="637411" y="148120"/>
                </a:lnTo>
                <a:lnTo>
                  <a:pt x="588493" y="148120"/>
                </a:lnTo>
                <a:cubicBezTo>
                  <a:pt x="589182" y="148120"/>
                  <a:pt x="586661" y="145255"/>
                  <a:pt x="580931" y="139525"/>
                </a:cubicBezTo>
                <a:cubicBezTo>
                  <a:pt x="572969" y="128921"/>
                  <a:pt x="565667" y="123619"/>
                  <a:pt x="559025" y="123619"/>
                </a:cubicBezTo>
                <a:cubicBezTo>
                  <a:pt x="531232" y="136232"/>
                  <a:pt x="513587" y="152203"/>
                  <a:pt x="506089" y="171532"/>
                </a:cubicBezTo>
                <a:cubicBezTo>
                  <a:pt x="508303" y="176425"/>
                  <a:pt x="511615" y="179606"/>
                  <a:pt x="516023" y="181076"/>
                </a:cubicBezTo>
                <a:cubicBezTo>
                  <a:pt x="517568" y="182099"/>
                  <a:pt x="518340" y="182229"/>
                  <a:pt x="518340" y="181466"/>
                </a:cubicBezTo>
                <a:lnTo>
                  <a:pt x="518340" y="279526"/>
                </a:lnTo>
                <a:cubicBezTo>
                  <a:pt x="518340" y="290427"/>
                  <a:pt x="524758" y="297050"/>
                  <a:pt x="537594" y="299394"/>
                </a:cubicBezTo>
                <a:cubicBezTo>
                  <a:pt x="520925" y="306891"/>
                  <a:pt x="507140" y="316695"/>
                  <a:pt x="496239" y="328806"/>
                </a:cubicBezTo>
                <a:cubicBezTo>
                  <a:pt x="492295" y="338052"/>
                  <a:pt x="494146" y="343838"/>
                  <a:pt x="501792" y="346163"/>
                </a:cubicBezTo>
                <a:lnTo>
                  <a:pt x="637411" y="346163"/>
                </a:lnTo>
                <a:lnTo>
                  <a:pt x="637411" y="389779"/>
                </a:lnTo>
                <a:lnTo>
                  <a:pt x="547501" y="389779"/>
                </a:lnTo>
                <a:cubicBezTo>
                  <a:pt x="546589" y="388849"/>
                  <a:pt x="543929" y="383975"/>
                  <a:pt x="539520" y="375157"/>
                </a:cubicBezTo>
                <a:cubicBezTo>
                  <a:pt x="530106" y="360386"/>
                  <a:pt x="522497" y="353000"/>
                  <a:pt x="516693" y="353000"/>
                </a:cubicBezTo>
                <a:cubicBezTo>
                  <a:pt x="510554" y="353000"/>
                  <a:pt x="497727" y="360302"/>
                  <a:pt x="478212" y="374906"/>
                </a:cubicBezTo>
                <a:cubicBezTo>
                  <a:pt x="476835" y="376189"/>
                  <a:pt x="475459" y="377520"/>
                  <a:pt x="474082" y="378896"/>
                </a:cubicBezTo>
                <a:cubicBezTo>
                  <a:pt x="466585" y="383882"/>
                  <a:pt x="462073" y="388672"/>
                  <a:pt x="460548" y="393267"/>
                </a:cubicBezTo>
                <a:cubicBezTo>
                  <a:pt x="460548" y="399648"/>
                  <a:pt x="464371" y="403797"/>
                  <a:pt x="472017" y="405713"/>
                </a:cubicBezTo>
                <a:lnTo>
                  <a:pt x="845138" y="405713"/>
                </a:lnTo>
                <a:cubicBezTo>
                  <a:pt x="850999" y="404243"/>
                  <a:pt x="855956" y="401481"/>
                  <a:pt x="860012" y="397425"/>
                </a:cubicBezTo>
                <a:cubicBezTo>
                  <a:pt x="860012" y="392328"/>
                  <a:pt x="855891" y="389779"/>
                  <a:pt x="847650" y="389779"/>
                </a:cubicBezTo>
                <a:lnTo>
                  <a:pt x="697157" y="389779"/>
                </a:lnTo>
                <a:lnTo>
                  <a:pt x="697157" y="347921"/>
                </a:lnTo>
                <a:lnTo>
                  <a:pt x="819633" y="347921"/>
                </a:lnTo>
                <a:cubicBezTo>
                  <a:pt x="825865" y="347921"/>
                  <a:pt x="830842" y="346061"/>
                  <a:pt x="834562" y="342340"/>
                </a:cubicBezTo>
                <a:cubicBezTo>
                  <a:pt x="836348" y="336480"/>
                  <a:pt x="833418" y="332443"/>
                  <a:pt x="825772" y="330229"/>
                </a:cubicBezTo>
                <a:lnTo>
                  <a:pt x="697157" y="330229"/>
                </a:lnTo>
                <a:lnTo>
                  <a:pt x="697157" y="284883"/>
                </a:lnTo>
                <a:lnTo>
                  <a:pt x="751237" y="284883"/>
                </a:lnTo>
                <a:cubicBezTo>
                  <a:pt x="751237" y="299748"/>
                  <a:pt x="758409" y="307887"/>
                  <a:pt x="772752" y="309300"/>
                </a:cubicBezTo>
                <a:cubicBezTo>
                  <a:pt x="799411" y="316370"/>
                  <a:pt x="811568" y="310947"/>
                  <a:pt x="809224" y="293032"/>
                </a:cubicBezTo>
                <a:lnTo>
                  <a:pt x="809224" y="147115"/>
                </a:lnTo>
                <a:cubicBezTo>
                  <a:pt x="810396" y="139525"/>
                  <a:pt x="808024" y="134679"/>
                  <a:pt x="802109" y="132576"/>
                </a:cubicBezTo>
                <a:cubicBezTo>
                  <a:pt x="797067" y="130083"/>
                  <a:pt x="789942" y="131572"/>
                  <a:pt x="780733" y="137041"/>
                </a:cubicBezTo>
                <a:cubicBezTo>
                  <a:pt x="779580" y="138195"/>
                  <a:pt x="778231" y="139153"/>
                  <a:pt x="776687" y="139915"/>
                </a:cubicBezTo>
                <a:cubicBezTo>
                  <a:pt x="766008" y="145366"/>
                  <a:pt x="758325" y="148101"/>
                  <a:pt x="753637" y="148120"/>
                </a:cubicBezTo>
                <a:lnTo>
                  <a:pt x="697157" y="148120"/>
                </a:lnTo>
                <a:lnTo>
                  <a:pt x="697157" y="115024"/>
                </a:lnTo>
                <a:lnTo>
                  <a:pt x="863416" y="115024"/>
                </a:lnTo>
                <a:cubicBezTo>
                  <a:pt x="871490" y="115024"/>
                  <a:pt x="876337" y="113424"/>
                  <a:pt x="877955" y="110224"/>
                </a:cubicBezTo>
                <a:cubicBezTo>
                  <a:pt x="881173" y="105759"/>
                  <a:pt x="878262" y="102048"/>
                  <a:pt x="869221" y="99090"/>
                </a:cubicBezTo>
                <a:lnTo>
                  <a:pt x="697157" y="99090"/>
                </a:lnTo>
                <a:lnTo>
                  <a:pt x="697157" y="71241"/>
                </a:lnTo>
                <a:cubicBezTo>
                  <a:pt x="729490" y="73585"/>
                  <a:pt x="760976" y="74757"/>
                  <a:pt x="791616" y="74757"/>
                </a:cubicBezTo>
                <a:cubicBezTo>
                  <a:pt x="817363" y="74757"/>
                  <a:pt x="823595" y="70766"/>
                  <a:pt x="810313" y="62785"/>
                </a:cubicBezTo>
                <a:cubicBezTo>
                  <a:pt x="740921" y="49856"/>
                  <a:pt x="676339" y="32852"/>
                  <a:pt x="616566" y="11774"/>
                </a:cubicBezTo>
                <a:cubicBezTo>
                  <a:pt x="613031" y="10602"/>
                  <a:pt x="609850" y="9542"/>
                  <a:pt x="607023" y="8593"/>
                </a:cubicBezTo>
                <a:cubicBezTo>
                  <a:pt x="598874" y="4314"/>
                  <a:pt x="590747" y="2668"/>
                  <a:pt x="582640" y="3654"/>
                </a:cubicBezTo>
                <a:close/>
                <a:moveTo>
                  <a:pt x="1593345" y="363"/>
                </a:moveTo>
                <a:cubicBezTo>
                  <a:pt x="1590269" y="-308"/>
                  <a:pt x="1586582" y="-48"/>
                  <a:pt x="1582284" y="1143"/>
                </a:cubicBezTo>
                <a:cubicBezTo>
                  <a:pt x="1543291" y="5124"/>
                  <a:pt x="1525544" y="10974"/>
                  <a:pt x="1529041" y="18695"/>
                </a:cubicBezTo>
                <a:cubicBezTo>
                  <a:pt x="1529041" y="21318"/>
                  <a:pt x="1530846" y="24425"/>
                  <a:pt x="1534455" y="28015"/>
                </a:cubicBezTo>
                <a:cubicBezTo>
                  <a:pt x="1537859" y="32276"/>
                  <a:pt x="1539561" y="36145"/>
                  <a:pt x="1539561" y="39624"/>
                </a:cubicBezTo>
                <a:lnTo>
                  <a:pt x="1539561" y="106094"/>
                </a:lnTo>
                <a:lnTo>
                  <a:pt x="1462627" y="106094"/>
                </a:lnTo>
                <a:cubicBezTo>
                  <a:pt x="1463761" y="106094"/>
                  <a:pt x="1460627" y="100271"/>
                  <a:pt x="1453222" y="88626"/>
                </a:cubicBezTo>
                <a:cubicBezTo>
                  <a:pt x="1446023" y="76645"/>
                  <a:pt x="1440674" y="69789"/>
                  <a:pt x="1437177" y="68059"/>
                </a:cubicBezTo>
                <a:cubicBezTo>
                  <a:pt x="1426071" y="64208"/>
                  <a:pt x="1406918" y="75603"/>
                  <a:pt x="1379720" y="102243"/>
                </a:cubicBezTo>
                <a:cubicBezTo>
                  <a:pt x="1374213" y="109145"/>
                  <a:pt x="1371460" y="113368"/>
                  <a:pt x="1371460" y="114912"/>
                </a:cubicBezTo>
                <a:cubicBezTo>
                  <a:pt x="1371460" y="120828"/>
                  <a:pt x="1376399" y="123200"/>
                  <a:pt x="1386278" y="122028"/>
                </a:cubicBezTo>
                <a:lnTo>
                  <a:pt x="1520307" y="122028"/>
                </a:lnTo>
                <a:cubicBezTo>
                  <a:pt x="1506540" y="196386"/>
                  <a:pt x="1458134" y="248913"/>
                  <a:pt x="1375088" y="279609"/>
                </a:cubicBezTo>
                <a:cubicBezTo>
                  <a:pt x="1362158" y="287255"/>
                  <a:pt x="1362540" y="294678"/>
                  <a:pt x="1376232" y="301878"/>
                </a:cubicBezTo>
                <a:cubicBezTo>
                  <a:pt x="1380418" y="303980"/>
                  <a:pt x="1383050" y="305570"/>
                  <a:pt x="1384129" y="306649"/>
                </a:cubicBezTo>
                <a:cubicBezTo>
                  <a:pt x="1390733" y="311040"/>
                  <a:pt x="1397905" y="319337"/>
                  <a:pt x="1405644" y="331541"/>
                </a:cubicBezTo>
                <a:cubicBezTo>
                  <a:pt x="1411355" y="340117"/>
                  <a:pt x="1415253" y="344405"/>
                  <a:pt x="1417336" y="344405"/>
                </a:cubicBezTo>
                <a:cubicBezTo>
                  <a:pt x="1424833" y="347921"/>
                  <a:pt x="1442479" y="335671"/>
                  <a:pt x="1470273" y="307654"/>
                </a:cubicBezTo>
                <a:lnTo>
                  <a:pt x="1539561" y="307654"/>
                </a:lnTo>
                <a:lnTo>
                  <a:pt x="1539561" y="398430"/>
                </a:lnTo>
                <a:cubicBezTo>
                  <a:pt x="1536064" y="413443"/>
                  <a:pt x="1550798" y="422261"/>
                  <a:pt x="1583763" y="424884"/>
                </a:cubicBezTo>
                <a:cubicBezTo>
                  <a:pt x="1598795" y="426112"/>
                  <a:pt x="1605725" y="418410"/>
                  <a:pt x="1604553" y="401779"/>
                </a:cubicBezTo>
                <a:lnTo>
                  <a:pt x="1604553" y="307654"/>
                </a:lnTo>
                <a:lnTo>
                  <a:pt x="1693487" y="307654"/>
                </a:lnTo>
                <a:cubicBezTo>
                  <a:pt x="1703309" y="316398"/>
                  <a:pt x="1723885" y="328881"/>
                  <a:pt x="1755213" y="345103"/>
                </a:cubicBezTo>
                <a:cubicBezTo>
                  <a:pt x="1770803" y="353977"/>
                  <a:pt x="1780700" y="356832"/>
                  <a:pt x="1784904" y="353670"/>
                </a:cubicBezTo>
                <a:cubicBezTo>
                  <a:pt x="1784904" y="349019"/>
                  <a:pt x="1777147" y="340610"/>
                  <a:pt x="1761631" y="328443"/>
                </a:cubicBezTo>
                <a:cubicBezTo>
                  <a:pt x="1699961" y="279721"/>
                  <a:pt x="1659275" y="210916"/>
                  <a:pt x="1639574" y="122028"/>
                </a:cubicBezTo>
                <a:lnTo>
                  <a:pt x="1744526" y="122028"/>
                </a:lnTo>
                <a:cubicBezTo>
                  <a:pt x="1753381" y="122028"/>
                  <a:pt x="1760059" y="121275"/>
                  <a:pt x="1764562" y="119768"/>
                </a:cubicBezTo>
                <a:cubicBezTo>
                  <a:pt x="1769957" y="113126"/>
                  <a:pt x="1767594" y="108569"/>
                  <a:pt x="1757474" y="106094"/>
                </a:cubicBezTo>
                <a:lnTo>
                  <a:pt x="1604553" y="106094"/>
                </a:lnTo>
                <a:lnTo>
                  <a:pt x="1604553" y="31531"/>
                </a:lnTo>
                <a:cubicBezTo>
                  <a:pt x="1606311" y="12765"/>
                  <a:pt x="1602575" y="2376"/>
                  <a:pt x="1593345" y="363"/>
                </a:cubicBezTo>
                <a:close/>
              </a:path>
            </a:pathLst>
          </a:custGeom>
          <a:gradFill flip="none" rotWithShape="1">
            <a:gsLst>
              <a:gs pos="0">
                <a:srgbClr val="009E47">
                  <a:alpha val="88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7" name="直接连接符 46"/>
          <p:cNvCxnSpPr/>
          <p:nvPr/>
        </p:nvCxnSpPr>
        <p:spPr>
          <a:xfrm>
            <a:off x="1735983" y="3843270"/>
            <a:ext cx="8388000" cy="0"/>
          </a:xfrm>
          <a:prstGeom prst="line">
            <a:avLst/>
          </a:prstGeom>
          <a:ln w="12700">
            <a:solidFill>
              <a:srgbClr val="04926A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组合 17"/>
          <p:cNvGrpSpPr/>
          <p:nvPr/>
        </p:nvGrpSpPr>
        <p:grpSpPr>
          <a:xfrm>
            <a:off x="1604010" y="4450080"/>
            <a:ext cx="2087880" cy="1557020"/>
            <a:chOff x="3633" y="6990"/>
            <a:chExt cx="3288" cy="2452"/>
          </a:xfrm>
        </p:grpSpPr>
        <p:sp>
          <p:nvSpPr>
            <p:cNvPr id="51" name="矩形: 圆角 40"/>
            <p:cNvSpPr/>
            <p:nvPr/>
          </p:nvSpPr>
          <p:spPr>
            <a:xfrm rot="16200000" flipV="1">
              <a:off x="4265" y="6786"/>
              <a:ext cx="2023" cy="3288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63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50" name="矩形 49"/>
            <p:cNvSpPr/>
            <p:nvPr/>
          </p:nvSpPr>
          <p:spPr>
            <a:xfrm>
              <a:off x="4016" y="6990"/>
              <a:ext cx="2441" cy="725"/>
            </a:xfrm>
            <a:prstGeom prst="rect">
              <a:avLst/>
            </a:prstGeom>
            <a:gradFill>
              <a:gsLst>
                <a:gs pos="0">
                  <a:srgbClr val="009E47">
                    <a:alpha val="88000"/>
                  </a:srgbClr>
                </a:gs>
                <a:gs pos="55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lvl="0" algn="ctr"/>
              <a:r>
                <a:rPr lang="zh-CN" altLang="en-US" sz="2400" b="1" dirty="0">
                  <a:solidFill>
                    <a:schemeClr val="bg1"/>
                  </a:solidFill>
                  <a:sym typeface="+mn-ea"/>
                </a:rPr>
                <a:t>实际问题</a:t>
              </a:r>
              <a:endParaRPr lang="zh-CN" alt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52" name="矩形 51"/>
            <p:cNvSpPr/>
            <p:nvPr/>
          </p:nvSpPr>
          <p:spPr>
            <a:xfrm>
              <a:off x="4169" y="8068"/>
              <a:ext cx="2216" cy="72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l"/>
              <a:r>
                <a:rPr lang="zh-CN" altLang="en-US" sz="2400" b="1" dirty="0">
                  <a:sym typeface="+mn-ea"/>
                </a:rPr>
                <a:t>函数关系</a:t>
              </a:r>
              <a:endParaRPr lang="zh-CN" altLang="en-US" sz="2400" b="1" dirty="0"/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4137660" y="4450080"/>
            <a:ext cx="2795905" cy="1560474"/>
            <a:chOff x="7155" y="6949"/>
            <a:chExt cx="4403" cy="2457"/>
          </a:xfrm>
        </p:grpSpPr>
        <p:sp>
          <p:nvSpPr>
            <p:cNvPr id="2" name="矩形: 圆角 40"/>
            <p:cNvSpPr/>
            <p:nvPr/>
          </p:nvSpPr>
          <p:spPr>
            <a:xfrm rot="16200000" flipV="1">
              <a:off x="8336" y="6184"/>
              <a:ext cx="2041" cy="4403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63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3" name="矩形 2"/>
            <p:cNvSpPr/>
            <p:nvPr/>
          </p:nvSpPr>
          <p:spPr>
            <a:xfrm>
              <a:off x="8246" y="6949"/>
              <a:ext cx="2441" cy="725"/>
            </a:xfrm>
            <a:prstGeom prst="rect">
              <a:avLst/>
            </a:prstGeom>
            <a:gradFill>
              <a:gsLst>
                <a:gs pos="0">
                  <a:srgbClr val="009E47">
                    <a:alpha val="88000"/>
                  </a:srgbClr>
                </a:gs>
                <a:gs pos="55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lvl="0" algn="ctr"/>
              <a:r>
                <a:rPr lang="zh-CN" altLang="en-US" sz="2400" b="1" dirty="0">
                  <a:solidFill>
                    <a:schemeClr val="bg1"/>
                  </a:solidFill>
                  <a:sym typeface="+mn-ea"/>
                </a:rPr>
                <a:t>微分方程</a:t>
              </a:r>
            </a:p>
          </p:txBody>
        </p:sp>
        <p:sp>
          <p:nvSpPr>
            <p:cNvPr id="13" name="矩形 12"/>
            <p:cNvSpPr/>
            <p:nvPr/>
          </p:nvSpPr>
          <p:spPr>
            <a:xfrm>
              <a:off x="7285" y="7876"/>
              <a:ext cx="4144" cy="130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2400" b="1" dirty="0">
                  <a:sym typeface="+mn-ea"/>
                </a:rPr>
                <a:t>含有未知函数及其</a:t>
              </a:r>
            </a:p>
            <a:p>
              <a:pPr lvl="0" algn="ctr">
                <a:buClrTx/>
                <a:buSzTx/>
                <a:buFontTx/>
              </a:pPr>
              <a:r>
                <a:rPr lang="zh-CN" altLang="en-US" sz="2400" b="1" dirty="0">
                  <a:sym typeface="+mn-ea"/>
                </a:rPr>
                <a:t>导数的等式</a:t>
              </a:r>
              <a:endParaRPr lang="zh-CN" altLang="en-US" sz="2400" b="1" dirty="0"/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7378065" y="4450080"/>
            <a:ext cx="2771775" cy="1558568"/>
            <a:chOff x="7484" y="6949"/>
            <a:chExt cx="4365" cy="2454"/>
          </a:xfrm>
        </p:grpSpPr>
        <p:sp>
          <p:nvSpPr>
            <p:cNvPr id="21" name="矩形: 圆角 40"/>
            <p:cNvSpPr/>
            <p:nvPr/>
          </p:nvSpPr>
          <p:spPr>
            <a:xfrm rot="16200000" flipV="1">
              <a:off x="8646" y="6200"/>
              <a:ext cx="2041" cy="4365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63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8077" y="6949"/>
              <a:ext cx="3278" cy="725"/>
            </a:xfrm>
            <a:prstGeom prst="rect">
              <a:avLst/>
            </a:prstGeom>
            <a:gradFill>
              <a:gsLst>
                <a:gs pos="0">
                  <a:srgbClr val="009E47">
                    <a:alpha val="88000"/>
                  </a:srgbClr>
                </a:gs>
                <a:gs pos="55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lvl="0" algn="ctr"/>
              <a:r>
                <a:rPr lang="zh-CN" altLang="en-US" sz="2400" b="1" dirty="0">
                  <a:solidFill>
                    <a:schemeClr val="bg1"/>
                  </a:solidFill>
                  <a:sym typeface="+mn-ea"/>
                </a:rPr>
                <a:t>微分方程求解</a:t>
              </a:r>
            </a:p>
          </p:txBody>
        </p:sp>
        <p:sp>
          <p:nvSpPr>
            <p:cNvPr id="24" name="矩形 23"/>
            <p:cNvSpPr/>
            <p:nvPr/>
          </p:nvSpPr>
          <p:spPr>
            <a:xfrm>
              <a:off x="8135" y="8020"/>
              <a:ext cx="3180" cy="72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/>
              <a:r>
                <a:rPr lang="zh-CN" altLang="en-US" sz="2400" b="1" dirty="0">
                  <a:sym typeface="+mn-ea"/>
                </a:rPr>
                <a:t>找到未知函数</a:t>
              </a:r>
              <a:endParaRPr lang="zh-CN" altLang="en-US" sz="2400" b="1" dirty="0"/>
            </a:p>
          </p:txBody>
        </p:sp>
      </p:grpSp>
      <p:sp>
        <p:nvSpPr>
          <p:cNvPr id="26" name="矩形 25"/>
          <p:cNvSpPr/>
          <p:nvPr/>
        </p:nvSpPr>
        <p:spPr>
          <a:xfrm>
            <a:off x="3445510" y="884555"/>
            <a:ext cx="5933440" cy="7683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4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第七章</a:t>
            </a:r>
            <a:r>
              <a:rPr lang="en-US" altLang="zh-CN" sz="4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   </a:t>
            </a:r>
            <a:r>
              <a:rPr lang="zh-CN" altLang="en-US" sz="4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微分方程</a:t>
            </a:r>
            <a:endParaRPr kumimoji="1" lang="en-US" altLang="zh-CN" sz="4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</p:txBody>
      </p:sp>
      <p:sp>
        <p:nvSpPr>
          <p:cNvPr id="5" name="右箭头 4"/>
          <p:cNvSpPr/>
          <p:nvPr/>
        </p:nvSpPr>
        <p:spPr>
          <a:xfrm>
            <a:off x="3530600" y="4460240"/>
            <a:ext cx="936000" cy="250190"/>
          </a:xfrm>
          <a:prstGeom prst="rightArrow">
            <a:avLst/>
          </a:prstGeom>
          <a:gradFill flip="none" rotWithShape="1">
            <a:gsLst>
              <a:gs pos="100000">
                <a:srgbClr val="007434">
                  <a:alpha val="100000"/>
                </a:srgbClr>
              </a:gs>
              <a:gs pos="4000">
                <a:schemeClr val="bg1"/>
              </a:gs>
            </a:gsLst>
            <a:lin ang="3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  <p:sp>
        <p:nvSpPr>
          <p:cNvPr id="6" name="右箭头 5"/>
          <p:cNvSpPr/>
          <p:nvPr/>
        </p:nvSpPr>
        <p:spPr>
          <a:xfrm>
            <a:off x="6666865" y="4460240"/>
            <a:ext cx="936000" cy="250190"/>
          </a:xfrm>
          <a:prstGeom prst="rightArrow">
            <a:avLst/>
          </a:prstGeom>
          <a:gradFill flip="none" rotWithShape="1">
            <a:gsLst>
              <a:gs pos="100000">
                <a:srgbClr val="007434">
                  <a:alpha val="100000"/>
                </a:srgbClr>
              </a:gs>
              <a:gs pos="4000">
                <a:schemeClr val="bg1"/>
              </a:gs>
            </a:gsLst>
            <a:lin ang="3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图文框 19"/>
          <p:cNvSpPr/>
          <p:nvPr/>
        </p:nvSpPr>
        <p:spPr>
          <a:xfrm>
            <a:off x="0" y="11150"/>
            <a:ext cx="12192001" cy="6858001"/>
          </a:xfrm>
          <a:prstGeom prst="frame">
            <a:avLst>
              <a:gd name="adj1" fmla="val 50000"/>
            </a:avLst>
          </a:prstGeom>
          <a:gradFill flip="none" rotWithShape="1">
            <a:gsLst>
              <a:gs pos="74000">
                <a:srgbClr val="007434">
                  <a:alpha val="31000"/>
                </a:srgbClr>
              </a:gs>
              <a:gs pos="4000">
                <a:schemeClr val="bg1">
                  <a:alpha val="0"/>
                </a:schemeClr>
              </a:gs>
              <a:gs pos="100000">
                <a:schemeClr val="bg1">
                  <a:alpha val="64000"/>
                </a:schemeClr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03" r="7303" b="29466"/>
          <a:stretch>
            <a:fillRect/>
          </a:stretch>
        </p:blipFill>
        <p:spPr>
          <a:xfrm flipH="1">
            <a:off x="0" y="8611"/>
            <a:ext cx="6996430" cy="6860540"/>
          </a:xfrm>
          <a:prstGeom prst="rect">
            <a:avLst/>
          </a:prstGeom>
        </p:spPr>
      </p:pic>
      <p:sp>
        <p:nvSpPr>
          <p:cNvPr id="11" name="Rectangle 1"/>
          <p:cNvSpPr/>
          <p:nvPr/>
        </p:nvSpPr>
        <p:spPr>
          <a:xfrm>
            <a:off x="-6985" y="-47904"/>
            <a:ext cx="12289790" cy="6917055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42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PA-102232"/>
          <p:cNvSpPr/>
          <p:nvPr>
            <p:custDataLst>
              <p:tags r:id="rId1"/>
            </p:custDataLst>
          </p:nvPr>
        </p:nvSpPr>
        <p:spPr>
          <a:xfrm>
            <a:off x="378053" y="250074"/>
            <a:ext cx="11536045" cy="639762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93700" dist="88900" algn="ctr" rotWithShape="0">
              <a:schemeClr val="bg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6BB6"/>
              </a:solidFill>
              <a:cs typeface="+mn-ea"/>
              <a:sym typeface="+mn-lt"/>
            </a:endParaRPr>
          </a:p>
        </p:txBody>
      </p:sp>
      <p:sp>
        <p:nvSpPr>
          <p:cNvPr id="10" name="PA-文本框 8"/>
          <p:cNvSpPr txBox="1"/>
          <p:nvPr>
            <p:custDataLst>
              <p:tags r:id="rId2"/>
            </p:custDataLst>
          </p:nvPr>
        </p:nvSpPr>
        <p:spPr>
          <a:xfrm>
            <a:off x="876000" y="869721"/>
            <a:ext cx="30693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GB" altLang="zh-CN" sz="7200" b="1" dirty="0">
                <a:solidFill>
                  <a:srgbClr val="1D9D79"/>
                </a:solidFill>
                <a:effectLst/>
                <a:latin typeface="Calisto MT" panose="02040603050505030304" pitchFamily="18" charset="0"/>
                <a:cs typeface="+mn-ea"/>
                <a:sym typeface="+mn-lt"/>
              </a:rPr>
              <a:t>C</a:t>
            </a:r>
            <a:r>
              <a:rPr kumimoji="1" lang="en-GB" altLang="zh-CN" sz="3200" b="1" dirty="0">
                <a:solidFill>
                  <a:srgbClr val="1D9D79"/>
                </a:solidFill>
                <a:effectLst/>
                <a:latin typeface="Calisto MT" panose="02040603050505030304" pitchFamily="18" charset="0"/>
                <a:cs typeface="+mn-ea"/>
                <a:sym typeface="+mn-lt"/>
              </a:rPr>
              <a:t>ONTENTS</a:t>
            </a:r>
          </a:p>
        </p:txBody>
      </p:sp>
      <p:sp>
        <p:nvSpPr>
          <p:cNvPr id="2" name="矩形 1"/>
          <p:cNvSpPr/>
          <p:nvPr/>
        </p:nvSpPr>
        <p:spPr>
          <a:xfrm>
            <a:off x="1769401" y="747135"/>
            <a:ext cx="1515158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dist"/>
            <a:r>
              <a:rPr lang="zh-CN" altLang="en-US" sz="4000" b="1" dirty="0">
                <a:solidFill>
                  <a:srgbClr val="1D9D7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目  录</a:t>
            </a:r>
            <a:endParaRPr kumimoji="1" lang="zh-CN" altLang="en-US" sz="4000" b="1" dirty="0">
              <a:solidFill>
                <a:srgbClr val="1D9D7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5207356" y="922003"/>
            <a:ext cx="1877437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dist"/>
            <a:r>
              <a:rPr lang="zh-CN" altLang="en-US" sz="4400" b="1" dirty="0">
                <a:solidFill>
                  <a:srgbClr val="1D9D7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第七章</a:t>
            </a:r>
            <a:endParaRPr kumimoji="1" lang="zh-CN" altLang="en-US" sz="4400" b="1" dirty="0">
              <a:solidFill>
                <a:srgbClr val="1D9D7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cxnSp>
        <p:nvCxnSpPr>
          <p:cNvPr id="6" name="直接连接符 5"/>
          <p:cNvCxnSpPr/>
          <p:nvPr/>
        </p:nvCxnSpPr>
        <p:spPr>
          <a:xfrm rot="5400000" flipH="1">
            <a:off x="6082748" y="-2957934"/>
            <a:ext cx="26504" cy="10440000"/>
          </a:xfrm>
          <a:prstGeom prst="line">
            <a:avLst/>
          </a:prstGeom>
          <a:ln>
            <a:solidFill>
              <a:srgbClr val="007434"/>
            </a:solidFill>
            <a:prstDash val="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>
            <a:extLst>
              <a:ext uri="{FF2B5EF4-FFF2-40B4-BE49-F238E27FC236}">
                <a16:creationId xmlns:a16="http://schemas.microsoft.com/office/drawing/2014/main" id="{C7C089F8-CC2D-1861-5E21-18BBB5F858D0}"/>
              </a:ext>
            </a:extLst>
          </p:cNvPr>
          <p:cNvSpPr/>
          <p:nvPr/>
        </p:nvSpPr>
        <p:spPr>
          <a:xfrm>
            <a:off x="705485" y="2703195"/>
            <a:ext cx="431038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2400" b="1" dirty="0">
                <a:solidFill>
                  <a:srgbClr val="00743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第一节   微分方程的基本概念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E19E42B-419D-2F0A-4A66-E6FBAA7AC215}"/>
              </a:ext>
            </a:extLst>
          </p:cNvPr>
          <p:cNvSpPr/>
          <p:nvPr/>
        </p:nvSpPr>
        <p:spPr>
          <a:xfrm>
            <a:off x="705485" y="3399790"/>
            <a:ext cx="331343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第三节   齐次方程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78415B3-7AE5-8C08-DDD0-C706CBE57836}"/>
              </a:ext>
            </a:extLst>
          </p:cNvPr>
          <p:cNvSpPr/>
          <p:nvPr/>
        </p:nvSpPr>
        <p:spPr>
          <a:xfrm>
            <a:off x="5906135" y="2703195"/>
            <a:ext cx="530796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第二节   可分离变量的微分方程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3BF91A5-9B7A-4196-A369-3AF9980F63C4}"/>
              </a:ext>
            </a:extLst>
          </p:cNvPr>
          <p:cNvSpPr/>
          <p:nvPr/>
        </p:nvSpPr>
        <p:spPr>
          <a:xfrm>
            <a:off x="5906046" y="3397754"/>
            <a:ext cx="533463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第四节   一阶线性微分方程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85FB52C-0FA5-BA75-9D97-D89AFE822F96}"/>
              </a:ext>
            </a:extLst>
          </p:cNvPr>
          <p:cNvSpPr/>
          <p:nvPr/>
        </p:nvSpPr>
        <p:spPr>
          <a:xfrm>
            <a:off x="705172" y="4141974"/>
            <a:ext cx="520382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第五节  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可降解的高阶微分方程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85164A2-8DFC-0516-B44F-BC507E5D016F}"/>
              </a:ext>
            </a:extLst>
          </p:cNvPr>
          <p:cNvSpPr/>
          <p:nvPr/>
        </p:nvSpPr>
        <p:spPr>
          <a:xfrm>
            <a:off x="705485" y="4850130"/>
            <a:ext cx="516636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第七节   常系数齐次线性微分方程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B405AC9-3AE9-C8B8-E88A-9F06DB9030E3}"/>
              </a:ext>
            </a:extLst>
          </p:cNvPr>
          <p:cNvSpPr/>
          <p:nvPr/>
        </p:nvSpPr>
        <p:spPr>
          <a:xfrm>
            <a:off x="5906135" y="4142105"/>
            <a:ext cx="496697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第六节   高阶线性微分方程 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5EEB8BAB-CE62-50C6-9A12-0E5613FDBB6A}"/>
              </a:ext>
            </a:extLst>
          </p:cNvPr>
          <p:cNvSpPr/>
          <p:nvPr/>
        </p:nvSpPr>
        <p:spPr>
          <a:xfrm>
            <a:off x="5906135" y="4844415"/>
            <a:ext cx="560133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第八节  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常系数非齐次线性微分方程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448A421-A6B5-7F0E-D964-9CC10A098261}"/>
              </a:ext>
            </a:extLst>
          </p:cNvPr>
          <p:cNvSpPr/>
          <p:nvPr/>
        </p:nvSpPr>
        <p:spPr>
          <a:xfrm>
            <a:off x="579755" y="5603875"/>
            <a:ext cx="490601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*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第九节   欧拉方程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F7CE23B-A6EC-C2E3-19C2-76156EE39F30}"/>
              </a:ext>
            </a:extLst>
          </p:cNvPr>
          <p:cNvSpPr/>
          <p:nvPr/>
        </p:nvSpPr>
        <p:spPr>
          <a:xfrm>
            <a:off x="5768975" y="5603875"/>
            <a:ext cx="580326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*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第十节  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常系数线性微分方程组解法举例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>
            <a:extLst>
              <a:ext uri="{FF2B5EF4-FFF2-40B4-BE49-F238E27FC236}">
                <a16:creationId xmlns:a16="http://schemas.microsoft.com/office/drawing/2014/main" id="{F2A10CEB-5CA9-4551-5EE7-D195BAB94096}"/>
              </a:ext>
            </a:extLst>
          </p:cNvPr>
          <p:cNvGrpSpPr/>
          <p:nvPr/>
        </p:nvGrpSpPr>
        <p:grpSpPr>
          <a:xfrm>
            <a:off x="-6985" y="-47904"/>
            <a:ext cx="12289790" cy="6917055"/>
            <a:chOff x="-6985" y="-47904"/>
            <a:chExt cx="12289790" cy="6917055"/>
          </a:xfrm>
        </p:grpSpPr>
        <p:sp>
          <p:nvSpPr>
            <p:cNvPr id="7" name="图文框 6">
              <a:extLst>
                <a:ext uri="{FF2B5EF4-FFF2-40B4-BE49-F238E27FC236}">
                  <a16:creationId xmlns:a16="http://schemas.microsoft.com/office/drawing/2014/main" id="{3CA61783-234C-EFE9-EC35-35C4F7127CF9}"/>
                </a:ext>
              </a:extLst>
            </p:cNvPr>
            <p:cNvSpPr/>
            <p:nvPr/>
          </p:nvSpPr>
          <p:spPr>
            <a:xfrm>
              <a:off x="0" y="11150"/>
              <a:ext cx="12192001" cy="6858001"/>
            </a:xfrm>
            <a:prstGeom prst="frame">
              <a:avLst>
                <a:gd name="adj1" fmla="val 50000"/>
              </a:avLst>
            </a:prstGeom>
            <a:gradFill flip="none" rotWithShape="1">
              <a:gsLst>
                <a:gs pos="74000">
                  <a:srgbClr val="007434">
                    <a:alpha val="31000"/>
                  </a:srgbClr>
                </a:gs>
                <a:gs pos="4000">
                  <a:schemeClr val="bg1">
                    <a:alpha val="0"/>
                  </a:schemeClr>
                </a:gs>
                <a:gs pos="100000">
                  <a:schemeClr val="bg1">
                    <a:alpha val="64000"/>
                  </a:schemeClr>
                </a:gs>
              </a:gsLst>
              <a:lin ang="2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9949B233-E9E5-C6C4-356E-99FC6DEEA75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303" r="7303" b="29466"/>
            <a:stretch>
              <a:fillRect/>
            </a:stretch>
          </p:blipFill>
          <p:spPr>
            <a:xfrm flipH="1">
              <a:off x="0" y="8611"/>
              <a:ext cx="6996430" cy="6860540"/>
            </a:xfrm>
            <a:prstGeom prst="rect">
              <a:avLst/>
            </a:prstGeom>
          </p:spPr>
        </p:pic>
        <p:sp>
          <p:nvSpPr>
            <p:cNvPr id="14" name="Rectangle 1">
              <a:extLst>
                <a:ext uri="{FF2B5EF4-FFF2-40B4-BE49-F238E27FC236}">
                  <a16:creationId xmlns:a16="http://schemas.microsoft.com/office/drawing/2014/main" id="{85486088-4289-7ED4-3CCB-07E732450E04}"/>
                </a:ext>
              </a:extLst>
            </p:cNvPr>
            <p:cNvSpPr/>
            <p:nvPr/>
          </p:nvSpPr>
          <p:spPr>
            <a:xfrm>
              <a:off x="-6985" y="-47904"/>
              <a:ext cx="12289790" cy="6917055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42000"/>
                  </a:srgbClr>
                </a:gs>
                <a:gs pos="55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6" name="PA-102232">
            <a:extLst>
              <a:ext uri="{FF2B5EF4-FFF2-40B4-BE49-F238E27FC236}">
                <a16:creationId xmlns:a16="http://schemas.microsoft.com/office/drawing/2014/main" id="{FA395C5F-797D-7C0F-0C0A-391EC34DE262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69888" y="1807535"/>
            <a:ext cx="11536045" cy="38915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93700" dist="88900" algn="ctr" rotWithShape="0">
              <a:schemeClr val="bg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6BB6"/>
              </a:solidFill>
              <a:cs typeface="+mn-ea"/>
              <a:sym typeface="+mn-lt"/>
            </a:endParaRPr>
          </a:p>
        </p:txBody>
      </p:sp>
      <p:sp>
        <p:nvSpPr>
          <p:cNvPr id="6" name="Text Box 62"/>
          <p:cNvSpPr txBox="1">
            <a:spLocks noChangeArrowheads="1"/>
          </p:cNvSpPr>
          <p:nvPr/>
        </p:nvSpPr>
        <p:spPr bwMode="auto">
          <a:xfrm>
            <a:off x="3666721" y="705836"/>
            <a:ext cx="4942379" cy="5847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第一节  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微分方程基本概念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E94EF04B-613F-D018-B7A9-23C9FD7BCF92}"/>
              </a:ext>
            </a:extLst>
          </p:cNvPr>
          <p:cNvGrpSpPr/>
          <p:nvPr/>
        </p:nvGrpSpPr>
        <p:grpSpPr>
          <a:xfrm>
            <a:off x="4219893" y="2636463"/>
            <a:ext cx="3836035" cy="901065"/>
            <a:chOff x="5061" y="3172"/>
            <a:chExt cx="6041" cy="1419"/>
          </a:xfrm>
        </p:grpSpPr>
        <p:sp>
          <p:nvSpPr>
            <p:cNvPr id="8" name="矩形: 圆角 40">
              <a:extLst>
                <a:ext uri="{FF2B5EF4-FFF2-40B4-BE49-F238E27FC236}">
                  <a16:creationId xmlns:a16="http://schemas.microsoft.com/office/drawing/2014/main" id="{4F17D074-7FBE-B5B8-BA65-AD31854300E8}"/>
                </a:ext>
              </a:extLst>
            </p:cNvPr>
            <p:cNvSpPr/>
            <p:nvPr/>
          </p:nvSpPr>
          <p:spPr>
            <a:xfrm flipV="1">
              <a:off x="5061" y="3172"/>
              <a:ext cx="6041" cy="1419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190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63500" dist="38100" dir="2280000" algn="tl" rotWithShape="0">
                <a:prstClr val="black">
                  <a:alpha val="45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3617C37B-1329-71E7-F5B7-13B9CBAD8C10}"/>
                </a:ext>
              </a:extLst>
            </p:cNvPr>
            <p:cNvSpPr/>
            <p:nvPr/>
          </p:nvSpPr>
          <p:spPr>
            <a:xfrm>
              <a:off x="6108" y="3470"/>
              <a:ext cx="2722" cy="82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/>
              <a:r>
                <a:rPr lang="zh-CN" altLang="en-US" sz="2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一、引</a:t>
              </a:r>
              <a:r>
                <a:rPr lang="en-US" altLang="zh-CN" sz="2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zh-CN" altLang="en-US" sz="2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例</a:t>
              </a:r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6440839C-8650-9BA8-0849-A9C28B188094}"/>
              </a:ext>
            </a:extLst>
          </p:cNvPr>
          <p:cNvGrpSpPr/>
          <p:nvPr/>
        </p:nvGrpSpPr>
        <p:grpSpPr>
          <a:xfrm>
            <a:off x="4219893" y="4006247"/>
            <a:ext cx="3836035" cy="901065"/>
            <a:chOff x="5061" y="5187"/>
            <a:chExt cx="6041" cy="1419"/>
          </a:xfrm>
        </p:grpSpPr>
        <p:sp>
          <p:nvSpPr>
            <p:cNvPr id="12" name="矩形: 圆角 40">
              <a:extLst>
                <a:ext uri="{FF2B5EF4-FFF2-40B4-BE49-F238E27FC236}">
                  <a16:creationId xmlns:a16="http://schemas.microsoft.com/office/drawing/2014/main" id="{0E23C850-1E81-1882-C298-41BE7B747BF3}"/>
                </a:ext>
              </a:extLst>
            </p:cNvPr>
            <p:cNvSpPr/>
            <p:nvPr/>
          </p:nvSpPr>
          <p:spPr>
            <a:xfrm flipV="1">
              <a:off x="5061" y="5187"/>
              <a:ext cx="6041" cy="1419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190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63500" dist="38100" dir="2280000" algn="tl" rotWithShape="0">
                <a:prstClr val="black">
                  <a:alpha val="45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/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3D491C76-A6A9-F9C5-91AE-D01B8EC620E6}"/>
                </a:ext>
              </a:extLst>
            </p:cNvPr>
            <p:cNvSpPr/>
            <p:nvPr/>
          </p:nvSpPr>
          <p:spPr>
            <a:xfrm>
              <a:off x="6108" y="5485"/>
              <a:ext cx="3684" cy="82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/>
              <a:r>
                <a:rPr lang="zh-CN" altLang="en-US" sz="2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二、基本概念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/>
        </p:nvSpPr>
        <p:spPr>
          <a:xfrm>
            <a:off x="783453" y="1362348"/>
            <a:ext cx="1013460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76200">
                <a:solidFill>
                  <a:schemeClr val="accent2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例</a:t>
            </a:r>
            <a:r>
              <a:rPr lang="en-US" altLang="zh-CN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</a:t>
            </a:r>
            <a:endParaRPr lang="zh-CN" altLang="en-US" sz="2800" b="1" dirty="0">
              <a:solidFill>
                <a:srgbClr val="0492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</p:txBody>
      </p:sp>
      <p:sp>
        <p:nvSpPr>
          <p:cNvPr id="45061" name="Text Box 5"/>
          <p:cNvSpPr txBox="1">
            <a:spLocks noChangeArrowheads="1"/>
          </p:cNvSpPr>
          <p:nvPr/>
        </p:nvSpPr>
        <p:spPr bwMode="auto">
          <a:xfrm>
            <a:off x="813933" y="2636158"/>
            <a:ext cx="1154602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4926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解</a:t>
            </a:r>
          </a:p>
        </p:txBody>
      </p:sp>
      <p:sp>
        <p:nvSpPr>
          <p:cNvPr id="45063" name="Text Box 7"/>
          <p:cNvSpPr txBox="1">
            <a:spLocks noChangeArrowheads="1"/>
          </p:cNvSpPr>
          <p:nvPr/>
        </p:nvSpPr>
        <p:spPr bwMode="auto">
          <a:xfrm>
            <a:off x="4554877" y="3424930"/>
            <a:ext cx="685800" cy="429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①</a:t>
            </a:r>
          </a:p>
        </p:txBody>
      </p:sp>
      <p:sp>
        <p:nvSpPr>
          <p:cNvPr id="45066" name="Text Box 10"/>
          <p:cNvSpPr txBox="1">
            <a:spLocks noChangeArrowheads="1"/>
          </p:cNvSpPr>
          <p:nvPr/>
        </p:nvSpPr>
        <p:spPr bwMode="auto">
          <a:xfrm>
            <a:off x="5852023" y="5004708"/>
            <a:ext cx="2667000" cy="429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(</a:t>
            </a:r>
            <a:r>
              <a:rPr lang="en-US" altLang="zh-CN" sz="2200" b="0" i="1" u="none" strike="noStrike" kern="1200" cap="none" spc="0" normalizeH="0" baseline="0" dirty="0">
                <a:latin typeface="Cambria Math" panose="02040503050406030204" pitchFamily="18" charset="0"/>
                <a:cs typeface="Times New Roman" panose="02020603050405020304" pitchFamily="18" charset="0"/>
                <a:sym typeface="+mn-lt"/>
              </a:rPr>
              <a:t>C </a:t>
            </a: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为任意常数)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067" name="Text Box 11"/>
              <p:cNvSpPr txBox="1">
                <a:spLocks noChangeArrowheads="1"/>
              </p:cNvSpPr>
              <p:nvPr/>
            </p:nvSpPr>
            <p:spPr bwMode="auto">
              <a:xfrm>
                <a:off x="1726428" y="5593988"/>
                <a:ext cx="3037840" cy="5219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ea"/>
                    <a:sym typeface="+mn-lt"/>
                  </a:rPr>
                  <a:t>由 ② </a:t>
                </a:r>
                <a:r>
                  <a:rPr kumimoji="1" lang="zh-CN" altLang="en-US" sz="22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ea"/>
                    <a:sym typeface="+mn-lt"/>
                  </a:rPr>
                  <a:t>式</a:t>
                </a:r>
                <a:r>
                  <a:rPr kumimoji="1" lang="zh-CN" alt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ea"/>
                    <a:sym typeface="+mn-lt"/>
                  </a:rPr>
                  <a:t>得</a:t>
                </a: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ea"/>
                    <a:sym typeface="+mn-lt"/>
                  </a:rPr>
                  <a:t> </a:t>
                </a:r>
                <a:r>
                  <a:rPr lang="en-US" altLang="zh-CN" sz="2200" i="1" dirty="0">
                    <a:latin typeface="Cambria Math" panose="02040503050406030204" pitchFamily="18" charset="0"/>
                    <a:cs typeface="Times New Roman" panose="02020603050405020304" pitchFamily="18" charset="0"/>
                    <a:sym typeface="+mn-lt"/>
                  </a:rPr>
                  <a:t>C</a:t>
                </a:r>
                <a:r>
                  <a:rPr lang="en-US" altLang="zh-CN" sz="2200" dirty="0">
                    <a:latin typeface="Cambria Math" panose="02040503050406030204" pitchFamily="18" charset="0"/>
                    <a:cs typeface="Times New Roman" panose="02020603050405020304" pitchFamily="18" charset="0"/>
                    <a:sym typeface="+mn-lt"/>
                  </a:rPr>
                  <a:t> = 1</a:t>
                </a:r>
                <a14:m>
                  <m:oMath xmlns:m="http://schemas.openxmlformats.org/officeDocument/2006/math">
                    <m:r>
                      <a:rPr lang="en-US" altLang="zh-CN" sz="22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endParaRPr lang="en-US" altLang="zh-CN" sz="2200" dirty="0">
                  <a:latin typeface="Cambria Math" panose="02040503050406030204" pitchFamily="18" charset="0"/>
                  <a:cs typeface="Times New Roman" panose="02020603050405020304" pitchFamily="18" charset="0"/>
                  <a:sym typeface="+mn-lt"/>
                </a:endParaRPr>
              </a:p>
            </p:txBody>
          </p:sp>
        </mc:Choice>
        <mc:Fallback xmlns="">
          <p:sp>
            <p:nvSpPr>
              <p:cNvPr id="45067" name="Text 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26428" y="5593988"/>
                <a:ext cx="3037840" cy="521970"/>
              </a:xfrm>
              <a:prstGeom prst="rect">
                <a:avLst/>
              </a:prstGeom>
              <a:blipFill>
                <a:blip r:embed="rId2"/>
                <a:stretch>
                  <a:fillRect l="-2605" b="-2352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069" name="Text Box 13"/>
          <p:cNvSpPr txBox="1">
            <a:spLocks noChangeArrowheads="1"/>
          </p:cNvSpPr>
          <p:nvPr/>
        </p:nvSpPr>
        <p:spPr bwMode="auto">
          <a:xfrm>
            <a:off x="4039098" y="5667013"/>
            <a:ext cx="2934335" cy="429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因此所求曲线方程为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45071" name="AutoShape 15"/>
          <p:cNvSpPr/>
          <p:nvPr/>
        </p:nvSpPr>
        <p:spPr bwMode="auto">
          <a:xfrm>
            <a:off x="2670924" y="3372440"/>
            <a:ext cx="152400" cy="1225550"/>
          </a:xfrm>
          <a:prstGeom prst="leftBrace">
            <a:avLst>
              <a:gd name="adj1" fmla="val 67014"/>
              <a:gd name="adj2" fmla="val 50000"/>
            </a:avLst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45072" name="Text Box 16"/>
          <p:cNvSpPr txBox="1">
            <a:spLocks noChangeArrowheads="1"/>
          </p:cNvSpPr>
          <p:nvPr/>
        </p:nvSpPr>
        <p:spPr bwMode="auto">
          <a:xfrm>
            <a:off x="4567077" y="4271589"/>
            <a:ext cx="838200" cy="429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②</a:t>
            </a:r>
          </a:p>
        </p:txBody>
      </p:sp>
      <p:sp>
        <p:nvSpPr>
          <p:cNvPr id="45073" name="Text Box 17"/>
          <p:cNvSpPr txBox="1">
            <a:spLocks noChangeArrowheads="1"/>
          </p:cNvSpPr>
          <p:nvPr/>
        </p:nvSpPr>
        <p:spPr bwMode="auto">
          <a:xfrm>
            <a:off x="1726428" y="5029473"/>
            <a:ext cx="1813560" cy="429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由 ① 式得</a:t>
            </a:r>
          </a:p>
        </p:txBody>
      </p:sp>
      <p:sp>
        <p:nvSpPr>
          <p:cNvPr id="45074" name="Text Box 18"/>
          <p:cNvSpPr txBox="1">
            <a:spLocks noChangeArrowheads="1"/>
          </p:cNvSpPr>
          <p:nvPr/>
        </p:nvSpPr>
        <p:spPr bwMode="auto">
          <a:xfrm>
            <a:off x="1707787" y="1944961"/>
            <a:ext cx="356108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求该曲线的方程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.    </a:t>
            </a:r>
            <a:endParaRPr kumimoji="1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629DD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18" name="Text Box 3"/>
          <p:cNvSpPr txBox="1">
            <a:spLocks noChangeArrowheads="1"/>
          </p:cNvSpPr>
          <p:nvPr/>
        </p:nvSpPr>
        <p:spPr bwMode="auto">
          <a:xfrm>
            <a:off x="783453" y="595585"/>
            <a:ext cx="2486134" cy="583565"/>
          </a:xfrm>
          <a:prstGeom prst="rect">
            <a:avLst/>
          </a:prstGeom>
          <a:noFill/>
          <a:ln w="28575">
            <a:noFill/>
            <a:prstDash val="dashDot"/>
            <a:miter lim="800000"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2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一、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4926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引例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1704838" y="1385843"/>
            <a:ext cx="10102850" cy="581025"/>
            <a:chOff x="3257" y="2146"/>
            <a:chExt cx="15910" cy="91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对象 2"/>
                <p:cNvSpPr txBox="1"/>
                <p:nvPr/>
              </p:nvSpPr>
              <p:spPr>
                <a:xfrm>
                  <a:off x="3257" y="2146"/>
                  <a:ext cx="15910" cy="915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>
                    <a:tabLst>
                      <a:tab pos="7715250" algn="l"/>
                    </a:tabLst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80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ea"/>
                          </a:rPr>
                          <m:t>一曲线通</m:t>
                        </m:r>
                        <m:r>
                          <a:rPr kumimoji="1" lang="zh-CN" altLang="en-US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ea"/>
                          </a:rPr>
                          <m:t>过点</m:t>
                        </m:r>
                        <m:d>
                          <m:d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dPr>
                          <m:e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1,2</m:t>
                            </m:r>
                          </m:e>
                        </m:d>
                        <m:r>
                          <a:rPr kumimoji="1" lang="zh-CN" altLang="en-US" sz="280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ea"/>
                          </a:rPr>
                          <m:t>,</m:t>
                        </m:r>
                        <m:r>
                          <a:rPr kumimoji="1" lang="zh-CN" altLang="en-US" sz="280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ea"/>
                          </a:rPr>
                          <m:t>在该曲线上任意点</m:t>
                        </m:r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𝑥</m:t>
                        </m:r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,</m:t>
                        </m:r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𝑦</m:t>
                        </m:r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kumimoji="1" lang="zh-CN" altLang="en-US" sz="2800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ea"/>
                          </a:rPr>
                          <m:t>处的切线斜率为</m:t>
                        </m:r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kumimoji="1" lang="zh-CN" altLang="en-US" sz="2800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ea"/>
                          </a:rPr>
                          <m:t>,</m:t>
                        </m:r>
                      </m:oMath>
                    </m:oMathPara>
                  </a14:m>
                  <a:endParaRPr kumimoji="1" lang="zh-CN" altLang="en-US" sz="28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ea"/>
                  </a:endParaRPr>
                </a:p>
              </p:txBody>
            </p:sp>
          </mc:Choice>
          <mc:Fallback xmlns="">
            <p:sp>
              <p:nvSpPr>
                <p:cNvPr id="9" name="对象 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57" y="2146"/>
                  <a:ext cx="15910" cy="915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" name="矩形 1"/>
            <p:cNvSpPr/>
            <p:nvPr/>
          </p:nvSpPr>
          <p:spPr>
            <a:xfrm>
              <a:off x="17181" y="2350"/>
              <a:ext cx="950" cy="69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1685788" y="2694578"/>
            <a:ext cx="4745990" cy="444500"/>
            <a:chOff x="3257" y="4207"/>
            <a:chExt cx="7474" cy="7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对象 1"/>
                <p:cNvSpPr txBox="1"/>
                <p:nvPr/>
              </p:nvSpPr>
              <p:spPr>
                <a:xfrm>
                  <a:off x="3257" y="4207"/>
                  <a:ext cx="6707" cy="700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20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ea"/>
                          </a:rPr>
                          <m:t>设所求曲线方程为</m:t>
                        </m:r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𝑦</m:t>
                        </m:r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=</m:t>
                        </m:r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𝑦</m:t>
                        </m:r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(</m:t>
                        </m:r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𝑥</m:t>
                        </m:r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)</m:t>
                        </m:r>
                        <m:r>
                          <a:rPr kumimoji="1" lang="zh-CN" altLang="en-US" sz="220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ea"/>
                          </a:rPr>
                          <m:t>,</m:t>
                        </m:r>
                        <m:r>
                          <a:rPr kumimoji="1" lang="zh-CN" altLang="en-US" sz="220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ea"/>
                          </a:rPr>
                          <m:t>则有</m:t>
                        </m:r>
                      </m:oMath>
                    </m:oMathPara>
                  </a14:m>
                  <a:endParaRPr kumimoji="1" lang="zh-CN" altLang="en-US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ea"/>
                  </a:endParaRPr>
                </a:p>
              </p:txBody>
            </p:sp>
          </mc:Choice>
          <mc:Fallback xmlns="">
            <p:sp>
              <p:nvSpPr>
                <p:cNvPr id="4" name="对象 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57" y="4207"/>
                  <a:ext cx="6707" cy="700"/>
                </a:xfrm>
                <a:prstGeom prst="rect">
                  <a:avLst/>
                </a:prstGeom>
                <a:blipFill rotWithShape="1">
                  <a:blip r:embed="rId8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" name="矩形 4"/>
            <p:cNvSpPr/>
            <p:nvPr/>
          </p:nvSpPr>
          <p:spPr>
            <a:xfrm>
              <a:off x="10131" y="4375"/>
              <a:ext cx="600" cy="4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2977378" y="3238773"/>
            <a:ext cx="1743075" cy="914400"/>
            <a:chOff x="5261" y="5064"/>
            <a:chExt cx="2745" cy="144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062" name="Object 6"/>
                <p:cNvSpPr txBox="1"/>
                <p:nvPr/>
              </p:nvSpPr>
              <p:spPr bwMode="auto">
                <a:xfrm>
                  <a:off x="5261" y="5064"/>
                  <a:ext cx="2000" cy="144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US" altLang="zh-CN" sz="22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d</m:t>
                            </m:r>
                            <m:r>
                              <a:rPr lang="en-US" altLang="zh-CN" sz="22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​</m:t>
                            </m:r>
                            <m:r>
                              <a:rPr lang="en-US" altLang="zh-CN" sz="22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US" altLang="zh-CN" sz="22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d</m:t>
                            </m:r>
                            <m:r>
                              <a:rPr lang="en-US" altLang="zh-CN" sz="22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​</m:t>
                            </m:r>
                            <m:r>
                              <a:rPr lang="en-US" altLang="zh-CN" sz="22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den>
                        </m:f>
                        <m:r>
                          <a:rPr lang="en-US" altLang="zh-CN" sz="22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=2</m:t>
                        </m:r>
                        <m:r>
                          <a:rPr lang="en-US" altLang="zh-CN" sz="2200">
                            <a:latin typeface="Cambria Math" panose="02040503050406030204" charset="0"/>
                            <a:cs typeface="Cambria Math" panose="02040503050406030204" charset="0"/>
                          </a:rPr>
                          <m:t>𝑥</m:t>
                        </m:r>
                      </m:oMath>
                    </m:oMathPara>
                  </a14:m>
                  <a:endParaRPr kumimoji="1" lang="en-US" altLang="zh-CN" sz="22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5062" name="Object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261" y="5064"/>
                  <a:ext cx="2000" cy="144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矩形 6"/>
            <p:cNvSpPr/>
            <p:nvPr/>
          </p:nvSpPr>
          <p:spPr>
            <a:xfrm>
              <a:off x="7380" y="5575"/>
              <a:ext cx="626" cy="47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2977378" y="4185558"/>
            <a:ext cx="2025650" cy="709295"/>
            <a:chOff x="5261" y="6555"/>
            <a:chExt cx="3120" cy="111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对象 3"/>
                <p:cNvSpPr txBox="1"/>
                <p:nvPr/>
              </p:nvSpPr>
              <p:spPr>
                <a:xfrm>
                  <a:off x="5261" y="6555"/>
                  <a:ext cx="2807" cy="1117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zh-CN" sz="22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  <m:d>
                          <m:dPr>
                            <m:begChr m:val="|"/>
                            <m:endChr m:val=""/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plcHide m:val="on"/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kumimoji="1" lang="en-US" altLang="zh-CN" sz="2200" i="1" baseline="-15000" dirty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/>
                              </m:mr>
                              <m:mr>
                                <m:e>
                                  <m:r>
                                    <a:rPr kumimoji="1" lang="en-US" altLang="zh-CN" sz="2200" b="0" i="1" baseline="-15000" dirty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kumimoji="1" lang="en-US" altLang="zh-CN" sz="2200" i="1" baseline="-5000" dirty="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kumimoji="1" lang="en-US" altLang="zh-CN" sz="2200" b="0" i="1" baseline="-5000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</m:m>
                          </m:e>
                        </m:d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kumimoji="1" lang="en-US" altLang="zh-CN" sz="22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</a:rPr>
                          <m:t>,</m:t>
                        </m:r>
                      </m:oMath>
                    </m:oMathPara>
                  </a14:m>
                  <a:endParaRPr kumimoji="1" lang="en-US" altLang="zh-CN" sz="2200" i="1" dirty="0"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7" name="对象 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61" y="6555"/>
                  <a:ext cx="2807" cy="1117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矩形 9"/>
            <p:cNvSpPr/>
            <p:nvPr/>
          </p:nvSpPr>
          <p:spPr>
            <a:xfrm>
              <a:off x="7956" y="7174"/>
              <a:ext cx="425" cy="3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sp>
        <p:nvSpPr>
          <p:cNvPr id="12" name="矩形 11"/>
          <p:cNvSpPr/>
          <p:nvPr/>
        </p:nvSpPr>
        <p:spPr>
          <a:xfrm>
            <a:off x="5149713" y="4714513"/>
            <a:ext cx="603885" cy="3016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3339328" y="4609738"/>
            <a:ext cx="1663700" cy="991870"/>
            <a:chOff x="4946" y="7223"/>
            <a:chExt cx="2620" cy="156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064" name="Object 8"/>
                <p:cNvSpPr txBox="1"/>
                <p:nvPr/>
              </p:nvSpPr>
              <p:spPr bwMode="auto">
                <a:xfrm>
                  <a:off x="4946" y="7590"/>
                  <a:ext cx="2620" cy="119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zh-CN" sz="22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  <m:r>
                          <a:rPr lang="en-US" altLang="zh-CN" sz="22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nary>
                          <m:naryPr>
                            <m:subHide m:val="on"/>
                            <m:supHide m:val="on"/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a:rPr lang="en-US" altLang="zh-CN" sz="22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2​</m:t>
                            </m:r>
                            <m:r>
                              <a:rPr lang="en-US" altLang="zh-CN" sz="22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US" altLang="zh-CN" sz="22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d</m:t>
                            </m:r>
                            <m:r>
                              <a:rPr lang="en-US" altLang="zh-CN" sz="22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​</m:t>
                            </m:r>
                            <m:r>
                              <a:rPr lang="en-US" altLang="zh-CN" sz="22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</m:nary>
                      </m:oMath>
                    </m:oMathPara>
                  </a14:m>
                  <a:endParaRPr lang="en-US" altLang="zh-CN" sz="2200" dirty="0">
                    <a:latin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5064" name="Object 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946" y="7590"/>
                  <a:ext cx="2620" cy="1195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矩形 12"/>
            <p:cNvSpPr/>
            <p:nvPr/>
          </p:nvSpPr>
          <p:spPr>
            <a:xfrm>
              <a:off x="6310" y="7223"/>
              <a:ext cx="951" cy="47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6601958" y="5658123"/>
            <a:ext cx="2125980" cy="457200"/>
            <a:chOff x="10414" y="8875"/>
            <a:chExt cx="3348" cy="72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068" name="Object 12"/>
                <p:cNvSpPr txBox="1"/>
                <p:nvPr/>
              </p:nvSpPr>
              <p:spPr bwMode="auto">
                <a:xfrm>
                  <a:off x="10414" y="8875"/>
                  <a:ext cx="2746" cy="72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zh-CN" sz="22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  <m:r>
                          <a:rPr lang="en-US" altLang="zh-CN" sz="22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2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22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22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+1</m:t>
                        </m:r>
                      </m:oMath>
                    </m:oMathPara>
                  </a14:m>
                  <a:endParaRPr lang="en-US" altLang="zh-CN" sz="2200" dirty="0">
                    <a:latin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5068" name="Object 1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0414" y="8875"/>
                  <a:ext cx="2746" cy="720"/>
                </a:xfrm>
                <a:prstGeom prst="rect">
                  <a:avLst/>
                </a:prstGeom>
                <a:blipFill>
                  <a:blip r:embed="rId12"/>
                  <a:stretch>
                    <a:fillRect l="-350" b="-5333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矩形 14"/>
            <p:cNvSpPr/>
            <p:nvPr/>
          </p:nvSpPr>
          <p:spPr>
            <a:xfrm>
              <a:off x="12837" y="8934"/>
              <a:ext cx="925" cy="5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4763633" y="4682763"/>
            <a:ext cx="1282700" cy="699770"/>
            <a:chOff x="7189" y="7338"/>
            <a:chExt cx="2020" cy="110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065" name="Object 9"/>
                <p:cNvSpPr txBox="1"/>
                <p:nvPr/>
              </p:nvSpPr>
              <p:spPr bwMode="auto">
                <a:xfrm>
                  <a:off x="7189" y="7840"/>
                  <a:ext cx="2020" cy="6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zh-CN" sz="22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2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22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22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altLang="zh-CN" sz="22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</m:oMath>
                    </m:oMathPara>
                  </a14:m>
                  <a:endParaRPr lang="en-US" altLang="zh-CN" sz="2200" dirty="0">
                    <a:latin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5065" name="Object 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189" y="7840"/>
                  <a:ext cx="2020" cy="600"/>
                </a:xfrm>
                <a:prstGeom prst="rect">
                  <a:avLst/>
                </a:prstGeom>
                <a:blipFill>
                  <a:blip r:embed="rId13"/>
                  <a:stretch>
                    <a:fillRect b="-9524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" name="矩形 15"/>
            <p:cNvSpPr/>
            <p:nvPr/>
          </p:nvSpPr>
          <p:spPr>
            <a:xfrm>
              <a:off x="7956" y="7338"/>
              <a:ext cx="925" cy="5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pic>
        <p:nvPicPr>
          <p:cNvPr id="22" name="图片 21">
            <a:extLst>
              <a:ext uri="{FF2B5EF4-FFF2-40B4-BE49-F238E27FC236}">
                <a16:creationId xmlns:a16="http://schemas.microsoft.com/office/drawing/2014/main" id="{997B26F8-AAFC-8183-F333-C90D294FFBFC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4250" y="2693222"/>
            <a:ext cx="2827194" cy="290013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5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5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5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5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5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5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5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45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45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45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58" grpId="0"/>
      <p:bldP spid="45061" grpId="0"/>
      <p:bldP spid="45063" grpId="0"/>
      <p:bldP spid="45066" grpId="0"/>
      <p:bldP spid="45067" grpId="0"/>
      <p:bldP spid="45069" grpId="0"/>
      <p:bldP spid="45071" grpId="0" bldLvl="0" animBg="1"/>
      <p:bldP spid="45072" grpId="0"/>
      <p:bldP spid="45073" grpId="0"/>
      <p:bldP spid="45074" grpId="0" bldLvl="0" animBg="1"/>
      <p:bldP spid="1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/>
          <p:cNvGrpSpPr/>
          <p:nvPr/>
        </p:nvGrpSpPr>
        <p:grpSpPr>
          <a:xfrm>
            <a:off x="687070" y="511810"/>
            <a:ext cx="10817225" cy="5800090"/>
            <a:chOff x="1082" y="806"/>
            <a:chExt cx="17035" cy="9134"/>
          </a:xfrm>
        </p:grpSpPr>
        <p:sp>
          <p:nvSpPr>
            <p:cNvPr id="47" name="矩形 46"/>
            <p:cNvSpPr/>
            <p:nvPr/>
          </p:nvSpPr>
          <p:spPr>
            <a:xfrm>
              <a:off x="1082" y="806"/>
              <a:ext cx="17035" cy="913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9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半闭框 47"/>
            <p:cNvSpPr/>
            <p:nvPr/>
          </p:nvSpPr>
          <p:spPr>
            <a:xfrm>
              <a:off x="1082" y="806"/>
              <a:ext cx="1073" cy="116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9" name="半闭框 48"/>
            <p:cNvSpPr/>
            <p:nvPr/>
          </p:nvSpPr>
          <p:spPr>
            <a:xfrm flipH="1">
              <a:off x="17045" y="806"/>
              <a:ext cx="1073" cy="116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半闭框 39"/>
            <p:cNvSpPr/>
            <p:nvPr/>
          </p:nvSpPr>
          <p:spPr>
            <a:xfrm flipV="1">
              <a:off x="1082" y="8879"/>
              <a:ext cx="1073" cy="1061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1" name="半闭框 40"/>
            <p:cNvSpPr/>
            <p:nvPr/>
          </p:nvSpPr>
          <p:spPr>
            <a:xfrm flipH="1" flipV="1">
              <a:off x="17045" y="8847"/>
              <a:ext cx="1073" cy="1092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8194" name="Rectangle 2"/>
          <p:cNvSpPr>
            <a:spLocks noGrp="1" noChangeArrowheads="1"/>
          </p:cNvSpPr>
          <p:nvPr/>
        </p:nvSpPr>
        <p:spPr>
          <a:xfrm>
            <a:off x="1285240" y="827432"/>
            <a:ext cx="982723" cy="609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例2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96" name="Text Box 4"/>
              <p:cNvSpPr txBox="1">
                <a:spLocks noChangeArrowheads="1"/>
              </p:cNvSpPr>
              <p:nvPr/>
            </p:nvSpPr>
            <p:spPr bwMode="auto">
              <a:xfrm>
                <a:off x="6172200" y="834037"/>
                <a:ext cx="5356860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ea"/>
                    <a:sym typeface="+mn-lt"/>
                  </a:rPr>
                  <a:t>的速度行驶</a:t>
                </a:r>
                <a14:m>
                  <m:oMath xmlns:m="http://schemas.openxmlformats.org/officeDocument/2006/math">
                    <m:r>
                      <a:rPr kumimoji="1" lang="zh-CN" altLang="en-US" sz="2800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+mn-ea"/>
                      </a:rPr>
                      <m:t>,</m:t>
                    </m:r>
                  </m:oMath>
                </a14:m>
                <a:r>
                  <a:rPr kumimoji="1" lang="zh-CN" altLang="en-US" sz="28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ea"/>
                    <a:sym typeface="+mn-lt"/>
                  </a:rPr>
                  <a:t>制动时获得加速度</a:t>
                </a:r>
                <a:endParaRPr kumimoji="1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8196" name="Text 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72200" y="834037"/>
                <a:ext cx="5356860" cy="523220"/>
              </a:xfrm>
              <a:prstGeom prst="rect">
                <a:avLst/>
              </a:prstGeom>
              <a:blipFill>
                <a:blip r:embed="rId3"/>
                <a:stretch>
                  <a:fillRect l="-2392" t="-15116" b="-2907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99" name="Text Box 7"/>
          <p:cNvSpPr txBox="1">
            <a:spLocks noChangeArrowheads="1"/>
          </p:cNvSpPr>
          <p:nvPr/>
        </p:nvSpPr>
        <p:spPr bwMode="auto">
          <a:xfrm>
            <a:off x="4860474" y="1499679"/>
            <a:ext cx="4343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求制动后列车的运动规律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.</a:t>
            </a:r>
          </a:p>
        </p:txBody>
      </p:sp>
      <p:sp>
        <p:nvSpPr>
          <p:cNvPr id="8201" name="Text Box 9"/>
          <p:cNvSpPr txBox="1">
            <a:spLocks noChangeArrowheads="1"/>
          </p:cNvSpPr>
          <p:nvPr/>
        </p:nvSpPr>
        <p:spPr bwMode="auto">
          <a:xfrm>
            <a:off x="1294765" y="2141855"/>
            <a:ext cx="74295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800" b="1" i="0" u="none" strike="noStrike" kern="1200" cap="none" spc="0" normalizeH="0" baseline="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lt"/>
              </a:rPr>
              <a:t>解</a:t>
            </a:r>
          </a:p>
        </p:txBody>
      </p:sp>
      <p:sp>
        <p:nvSpPr>
          <p:cNvPr id="8203" name="Text Box 11"/>
          <p:cNvSpPr txBox="1">
            <a:spLocks noChangeArrowheads="1"/>
          </p:cNvSpPr>
          <p:nvPr/>
        </p:nvSpPr>
        <p:spPr bwMode="auto">
          <a:xfrm>
            <a:off x="2431806" y="3207850"/>
            <a:ext cx="1371600" cy="429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已知</a:t>
            </a:r>
          </a:p>
        </p:txBody>
      </p:sp>
      <p:sp>
        <p:nvSpPr>
          <p:cNvPr id="8209" name="Text Box 17"/>
          <p:cNvSpPr txBox="1">
            <a:spLocks noChangeArrowheads="1"/>
          </p:cNvSpPr>
          <p:nvPr/>
        </p:nvSpPr>
        <p:spPr bwMode="auto">
          <a:xfrm>
            <a:off x="2190134" y="4382673"/>
            <a:ext cx="1638300" cy="429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由①式得</a:t>
            </a:r>
          </a:p>
        </p:txBody>
      </p:sp>
      <p:sp>
        <p:nvSpPr>
          <p:cNvPr id="8214" name="Text Box 22"/>
          <p:cNvSpPr txBox="1">
            <a:spLocks noChangeArrowheads="1"/>
          </p:cNvSpPr>
          <p:nvPr/>
        </p:nvSpPr>
        <p:spPr bwMode="auto">
          <a:xfrm>
            <a:off x="2190134" y="4966335"/>
            <a:ext cx="3669030" cy="429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利用②</a:t>
            </a:r>
            <a:r>
              <a:rPr kumimoji="1" lang="zh-CN" altLang="en-US" sz="22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式</a:t>
            </a: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和③</a:t>
            </a:r>
            <a:r>
              <a:rPr kumimoji="1" lang="zh-CN" altLang="en-US" sz="22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式</a:t>
            </a: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可得</a:t>
            </a:r>
          </a:p>
        </p:txBody>
      </p:sp>
      <p:sp>
        <p:nvSpPr>
          <p:cNvPr id="8216" name="Text Box 24"/>
          <p:cNvSpPr txBox="1">
            <a:spLocks noChangeArrowheads="1"/>
          </p:cNvSpPr>
          <p:nvPr/>
        </p:nvSpPr>
        <p:spPr bwMode="auto">
          <a:xfrm>
            <a:off x="2190134" y="5516536"/>
            <a:ext cx="4572000" cy="429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因此所求运动规律为</a:t>
            </a:r>
          </a:p>
        </p:txBody>
      </p:sp>
      <p:sp>
        <p:nvSpPr>
          <p:cNvPr id="8223" name="AutoShape 31"/>
          <p:cNvSpPr/>
          <p:nvPr/>
        </p:nvSpPr>
        <p:spPr bwMode="auto">
          <a:xfrm>
            <a:off x="3188948" y="2869816"/>
            <a:ext cx="158178" cy="1126957"/>
          </a:xfrm>
          <a:prstGeom prst="leftBrace">
            <a:avLst>
              <a:gd name="adj1" fmla="val 50000"/>
              <a:gd name="adj2" fmla="val 50000"/>
            </a:avLst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3" name="Text Box 7"/>
          <p:cNvSpPr txBox="1">
            <a:spLocks noChangeArrowheads="1"/>
          </p:cNvSpPr>
          <p:nvPr/>
        </p:nvSpPr>
        <p:spPr bwMode="auto">
          <a:xfrm>
            <a:off x="6972039" y="2840009"/>
            <a:ext cx="685800" cy="429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algn="l" defTabSz="914400" rtl="0" eaLnBrk="1" latinLnBrk="0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1" lang="zh-CN" altLang="en-US" sz="2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①</a:t>
            </a:r>
          </a:p>
        </p:txBody>
      </p:sp>
      <p:sp>
        <p:nvSpPr>
          <p:cNvPr id="8" name="文本框 7"/>
          <p:cNvSpPr txBox="1"/>
          <p:nvPr/>
        </p:nvSpPr>
        <p:spPr bwMode="auto">
          <a:xfrm>
            <a:off x="6972039" y="3563439"/>
            <a:ext cx="462280" cy="429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2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</a:rPr>
              <a:t>②</a:t>
            </a:r>
          </a:p>
        </p:txBody>
      </p:sp>
      <p:grpSp>
        <p:nvGrpSpPr>
          <p:cNvPr id="21" name="组合 20"/>
          <p:cNvGrpSpPr/>
          <p:nvPr/>
        </p:nvGrpSpPr>
        <p:grpSpPr>
          <a:xfrm>
            <a:off x="3515547" y="4347210"/>
            <a:ext cx="3319780" cy="469900"/>
            <a:chOff x="4960" y="6986"/>
            <a:chExt cx="5228" cy="74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10" name="Object 18"/>
                <p:cNvSpPr txBox="1"/>
                <p:nvPr/>
              </p:nvSpPr>
              <p:spPr bwMode="auto">
                <a:xfrm>
                  <a:off x="4960" y="6986"/>
                  <a:ext cx="4940" cy="74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𝑠</m:t>
                        </m:r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=− 0.2​</m:t>
                        </m:r>
                        <m:sSup>
                          <m:s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sSupPr>
                          <m:e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𝑡</m:t>
                            </m:r>
                          </m:e>
                          <m:sup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2</m:t>
                            </m:r>
                          </m:sup>
                        </m:sSup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+</m:t>
                        </m:r>
                        <m:sSub>
                          <m:sSub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𝑡</m:t>
                        </m:r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+</m:t>
                        </m:r>
                        <m:sSub>
                          <m:sSub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en-US" altLang="zh-CN" sz="2200" i="1" dirty="0">
                    <a:latin typeface="Cambria Math" panose="02040503050406030204" pitchFamily="18" charset="0"/>
                    <a:ea typeface="宋体" panose="02010600030101010101" pitchFamily="2" charset="-122"/>
                  </a:endParaRPr>
                </a:p>
              </p:txBody>
            </p:sp>
          </mc:Choice>
          <mc:Fallback xmlns="">
            <p:sp>
              <p:nvSpPr>
                <p:cNvPr id="8210" name="Object 1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960" y="6986"/>
                  <a:ext cx="4940" cy="74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" name="矩形 1"/>
            <p:cNvSpPr/>
            <p:nvPr/>
          </p:nvSpPr>
          <p:spPr>
            <a:xfrm>
              <a:off x="9514" y="7167"/>
              <a:ext cx="675" cy="5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2173605" y="541020"/>
            <a:ext cx="4588510" cy="1218565"/>
            <a:chOff x="2770" y="992"/>
            <a:chExt cx="7226" cy="191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95" name="Object 3"/>
                <p:cNvSpPr txBox="1"/>
                <p:nvPr/>
              </p:nvSpPr>
              <p:spPr bwMode="auto">
                <a:xfrm>
                  <a:off x="2770" y="1453"/>
                  <a:ext cx="7226" cy="145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800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ea"/>
                          </a:rPr>
                          <m:t>列车在平直路上以</m:t>
                        </m:r>
                        <m:f>
                          <m:fPr>
                            <m:type m:val="lin"/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kumimoji="1" lang="en-US" altLang="zh-CN" sz="2800" b="0" i="0" dirty="0" smtClean="0">
                                <a:latin typeface="Cambria Math" panose="02040503050406030204" pitchFamily="18" charset="0"/>
                              </a:rPr>
                              <m:t>20</m:t>
                            </m:r>
                            <m:r>
                              <m:rPr>
                                <m:sty m:val="p"/>
                              </m:rPr>
                              <a:rPr kumimoji="1" lang="en-US" altLang="zh-CN" sz="2800" i="0" dirty="0">
                                <a:latin typeface="Cambria Math" panose="02040503050406030204" pitchFamily="18" charset="0"/>
                              </a:rPr>
                              <m:t>m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kumimoji="1" lang="en-US" altLang="zh-CN" sz="2800" b="0" i="0" dirty="0" smtClean="0">
                                <a:latin typeface="Cambria Math" panose="02040503050406030204" pitchFamily="18" charset="0"/>
                                <a:cs typeface="Cambria Math" panose="02040503050406030204" charset="0"/>
                              </a:rPr>
                              <m:t>s</m:t>
                            </m:r>
                          </m:den>
                        </m:f>
                      </m:oMath>
                    </m:oMathPara>
                  </a14:m>
                  <a:endParaRPr kumimoji="1" lang="en-US" altLang="zh-CN" sz="2800" dirty="0">
                    <a:solidFill>
                      <a:prstClr val="black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+mn-ea"/>
                  </a:endParaRPr>
                </a:p>
              </p:txBody>
            </p:sp>
          </mc:Choice>
          <mc:Fallback xmlns="">
            <p:sp>
              <p:nvSpPr>
                <p:cNvPr id="8195" name="Object 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770" y="1453"/>
                  <a:ext cx="7226" cy="1458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" name="矩形 3"/>
            <p:cNvSpPr/>
            <p:nvPr/>
          </p:nvSpPr>
          <p:spPr>
            <a:xfrm>
              <a:off x="6531" y="992"/>
              <a:ext cx="675" cy="5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2190115" y="1411605"/>
            <a:ext cx="2938429" cy="655320"/>
            <a:chOff x="2796" y="2403"/>
            <a:chExt cx="5305" cy="10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98" name="Object 6"/>
                <p:cNvSpPr txBox="1"/>
                <p:nvPr/>
              </p:nvSpPr>
              <p:spPr bwMode="auto">
                <a:xfrm>
                  <a:off x="2796" y="2566"/>
                  <a:ext cx="5305" cy="86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𝑎</m:t>
                        </m:r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=−0.4 </m:t>
                        </m:r>
                        <m:f>
                          <m:fPr>
                            <m:type m:val="lin"/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kumimoji="1" lang="en-US" altLang="zh-CN" sz="2800" i="0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m</m:t>
                            </m:r>
                          </m:num>
                          <m:den>
                            <m:sSup>
                              <m:sSupPr>
                                <m:ctrlP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Cambria Math" panose="02040503050406030204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kumimoji="1" lang="en-US" altLang="zh-CN" sz="2800" i="0" dirty="0">
                                    <a:latin typeface="Cambria Math" panose="02040503050406030204" charset="0"/>
                                    <a:ea typeface="宋体" panose="02010600030101010101" pitchFamily="2" charset="-122"/>
                                    <a:cs typeface="Cambria Math" panose="02040503050406030204" charset="0"/>
                                  </a:rPr>
                                  <m:t>s</m:t>
                                </m:r>
                              </m:e>
                              <m:sup>
                                <m:r>
                                  <a:rPr kumimoji="1" lang="en-US" altLang="zh-CN" sz="2800" i="1" dirty="0">
                                    <a:latin typeface="Cambria Math" panose="02040503050406030204" charset="0"/>
                                    <a:ea typeface="宋体" panose="02010600030101010101" pitchFamily="2" charset="-122"/>
                                    <a:cs typeface="Cambria Math" panose="02040503050406030204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a:rPr kumimoji="1" lang="zh-CN" altLang="en-US" sz="2800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ea"/>
                          </a:rPr>
                          <m:t>,</m:t>
                        </m:r>
                      </m:oMath>
                    </m:oMathPara>
                  </a14:m>
                  <a:endParaRPr kumimoji="1" lang="en-US" altLang="zh-CN" sz="2800" i="1" dirty="0">
                    <a:latin typeface="Cambria Math" panose="02040503050406030204" pitchFamily="18" charset="0"/>
                    <a:ea typeface="宋体" panose="02010600030101010101" pitchFamily="2" charset="-122"/>
                  </a:endParaRPr>
                </a:p>
              </p:txBody>
            </p:sp>
          </mc:Choice>
          <mc:Fallback xmlns="">
            <p:sp>
              <p:nvSpPr>
                <p:cNvPr id="8198" name="Object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796" y="2566"/>
                  <a:ext cx="5305" cy="869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矩形 5"/>
            <p:cNvSpPr/>
            <p:nvPr/>
          </p:nvSpPr>
          <p:spPr>
            <a:xfrm>
              <a:off x="4276" y="2403"/>
              <a:ext cx="675" cy="5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2190115" y="2186305"/>
            <a:ext cx="4265930" cy="487680"/>
            <a:chOff x="2796" y="3583"/>
            <a:chExt cx="6718" cy="76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对象 3"/>
                <p:cNvSpPr txBox="1"/>
                <p:nvPr/>
              </p:nvSpPr>
              <p:spPr>
                <a:xfrm>
                  <a:off x="2796" y="3583"/>
                  <a:ext cx="6271" cy="768"/>
                </a:xfrm>
                <a:prstGeom prst="rect">
                  <a:avLst/>
                </a:prstGeom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20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ea"/>
                          </a:rPr>
                          <m:t>设列车在制动后</m:t>
                        </m:r>
                        <m:r>
                          <a:rPr kumimoji="1" lang="en-US" altLang="zh-CN" sz="2200" b="0" i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ea"/>
                          </a:rPr>
                          <m:t> </m:t>
                        </m:r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𝑡</m:t>
                        </m:r>
                        <m:r>
                          <a:rPr kumimoji="1" lang="en-US" altLang="zh-CN" sz="2200" b="0" i="1" dirty="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kumimoji="1" lang="en-US" altLang="zh-CN" sz="2200" i="0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s</m:t>
                        </m:r>
                        <m:r>
                          <a:rPr kumimoji="1" lang="en-US" altLang="zh-CN" sz="2200" b="0" i="0" dirty="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 </m:t>
                        </m:r>
                        <m:r>
                          <a:rPr kumimoji="1" lang="zh-CN" altLang="en-US" sz="220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ea"/>
                          </a:rPr>
                          <m:t>行驶了</m:t>
                        </m:r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𝑠</m:t>
                        </m:r>
                        <m:r>
                          <a:rPr kumimoji="1" lang="en-US" altLang="zh-CN" sz="2200" b="0" i="0" dirty="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kumimoji="1" lang="en-US" altLang="zh-CN" sz="2200" i="0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m</m:t>
                        </m:r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,</m:t>
                        </m:r>
                      </m:oMath>
                    </m:oMathPara>
                  </a14:m>
                  <a:endParaRPr kumimoji="1" lang="en-US" altLang="zh-CN" sz="2200" i="1" dirty="0">
                    <a:latin typeface="Cambria Math" panose="02040503050406030204" pitchFamily="18" charset="0"/>
                    <a:ea typeface="宋体" panose="02010600030101010101" pitchFamily="2" charset="-122"/>
                  </a:endParaRPr>
                </a:p>
              </p:txBody>
            </p:sp>
          </mc:Choice>
          <mc:Fallback xmlns="">
            <p:sp>
              <p:nvSpPr>
                <p:cNvPr id="12" name="对象 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96" y="3583"/>
                  <a:ext cx="6271" cy="768"/>
                </a:xfrm>
                <a:prstGeom prst="rect">
                  <a:avLst/>
                </a:prstGeom>
                <a:blipFill>
                  <a:blip r:embed="rId7"/>
                  <a:stretch>
                    <a:fillRect l="-107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矩形 9"/>
            <p:cNvSpPr/>
            <p:nvPr/>
          </p:nvSpPr>
          <p:spPr>
            <a:xfrm>
              <a:off x="8839" y="3737"/>
              <a:ext cx="675" cy="5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5994068" y="2218663"/>
            <a:ext cx="2396490" cy="431800"/>
            <a:chOff x="10401" y="3610"/>
            <a:chExt cx="3774" cy="68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对象 4"/>
                <p:cNvSpPr txBox="1"/>
                <p:nvPr/>
              </p:nvSpPr>
              <p:spPr>
                <a:xfrm>
                  <a:off x="10401" y="3610"/>
                  <a:ext cx="3100" cy="680"/>
                </a:xfrm>
                <a:prstGeom prst="rect">
                  <a:avLst/>
                </a:prstGeom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20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ea"/>
                          </a:rPr>
                          <m:t>即求</m:t>
                        </m:r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𝑠</m:t>
                        </m:r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= </m:t>
                        </m:r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𝑠</m:t>
                        </m:r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(</m:t>
                        </m:r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𝑡</m:t>
                        </m:r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).</m:t>
                        </m:r>
                      </m:oMath>
                    </m:oMathPara>
                  </a14:m>
                  <a:endParaRPr kumimoji="1" lang="en-US" altLang="zh-CN" sz="2200" i="1" dirty="0">
                    <a:latin typeface="Cambria Math" panose="02040503050406030204" pitchFamily="18" charset="0"/>
                    <a:ea typeface="宋体" panose="02010600030101010101" pitchFamily="2" charset="-122"/>
                  </a:endParaRPr>
                </a:p>
              </p:txBody>
            </p:sp>
          </mc:Choice>
          <mc:Fallback xmlns="">
            <p:sp>
              <p:nvSpPr>
                <p:cNvPr id="32" name="对象 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01" y="3610"/>
                  <a:ext cx="3100" cy="680"/>
                </a:xfrm>
                <a:prstGeom prst="rect">
                  <a:avLst/>
                </a:prstGeom>
                <a:blipFill>
                  <a:blip r:embed="rId8"/>
                  <a:stretch>
                    <a:fillRect l="-2174" b="-1831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矩形 12"/>
            <p:cNvSpPr/>
            <p:nvPr/>
          </p:nvSpPr>
          <p:spPr>
            <a:xfrm>
              <a:off x="13501" y="3737"/>
              <a:ext cx="675" cy="5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3515547" y="2694940"/>
            <a:ext cx="1859915" cy="952500"/>
            <a:chOff x="4951" y="4384"/>
            <a:chExt cx="2929" cy="15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06" name="Object 14"/>
                <p:cNvSpPr txBox="1"/>
                <p:nvPr/>
              </p:nvSpPr>
              <p:spPr bwMode="auto">
                <a:xfrm>
                  <a:off x="4951" y="4384"/>
                  <a:ext cx="2540" cy="15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d</m:t>
                                </m:r>
                              </m:e>
                              <m:sup>
                                <m: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𝑠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d</m:t>
                            </m:r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​</m:t>
                            </m:r>
                            <m:sSup>
                              <m:sSup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</m:ctrlPr>
                              </m:sSupPr>
                              <m:e>
                                <m: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=−0.4</m:t>
                        </m:r>
                      </m:oMath>
                    </m:oMathPara>
                  </a14:m>
                  <a:endParaRPr kumimoji="1" lang="en-US" altLang="zh-CN" sz="2200" i="1" dirty="0">
                    <a:latin typeface="Cambria Math" panose="02040503050406030204" pitchFamily="18" charset="0"/>
                    <a:ea typeface="宋体" panose="02010600030101010101" pitchFamily="2" charset="-122"/>
                  </a:endParaRPr>
                </a:p>
              </p:txBody>
            </p:sp>
          </mc:Choice>
          <mc:Fallback xmlns="">
            <p:sp>
              <p:nvSpPr>
                <p:cNvPr id="8206" name="Object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951" y="4384"/>
                  <a:ext cx="2540" cy="150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矩形 14"/>
            <p:cNvSpPr/>
            <p:nvPr/>
          </p:nvSpPr>
          <p:spPr>
            <a:xfrm>
              <a:off x="7206" y="4817"/>
              <a:ext cx="675" cy="5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3479352" y="3373120"/>
            <a:ext cx="3896995" cy="770255"/>
            <a:chOff x="4894" y="5452"/>
            <a:chExt cx="6137" cy="121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07" name="Object 15"/>
                <p:cNvSpPr txBox="1"/>
                <p:nvPr/>
              </p:nvSpPr>
              <p:spPr bwMode="auto">
                <a:xfrm>
                  <a:off x="4894" y="5700"/>
                  <a:ext cx="2495" cy="78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kumimoji="1" lang="en-US" altLang="zh-CN" sz="2200" i="1" dirty="0">
                      <a:latin typeface="Cambria Math" panose="02040503050406030204" pitchFamily="18" charset="0"/>
                      <a:ea typeface="宋体" panose="02010600030101010101" pitchFamily="2" charset="-122"/>
                    </a:rPr>
                    <a:t>S </a:t>
                  </a:r>
                  <a14:m>
                    <m:oMath xmlns:m="http://schemas.openxmlformats.org/officeDocument/2006/math">
                      <m:d>
                        <m:dPr>
                          <m:begChr m:val="|"/>
                          <m:endChr m:val=""/>
                          <m:ctrlPr>
                            <a:rPr kumimoji="1" lang="en-US" altLang="zh-CN" sz="2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en-US" altLang="zh-CN" sz="2200" i="1" baseline="-15000" dirty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/>
                            </m:mr>
                            <m:mr>
                              <m:e>
                                <m:r>
                                  <a:rPr kumimoji="1" lang="en-US" altLang="zh-CN" sz="2200" i="1" baseline="-15000" dirty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kumimoji="1" lang="en-US" altLang="zh-CN" sz="2200" i="1" baseline="-5000" dirty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kumimoji="1" lang="en-US" altLang="zh-CN" sz="2200" i="1" baseline="-15000" dirty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kumimoji="1" lang="en-US" altLang="zh-CN" sz="2200" i="1" dirty="0">
                          <a:latin typeface="Cambria Math" panose="02040503050406030204" pitchFamily="18" charset="0"/>
                        </a:rPr>
                        <m:t>=0</m:t>
                      </m:r>
                      <m:r>
                        <a:rPr kumimoji="1" lang="en-US" altLang="zh-CN" sz="2200" b="0" i="1" dirty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a14:m>
                  <a:endParaRPr kumimoji="1" lang="en-US" altLang="zh-CN" sz="2200" i="1" dirty="0"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8207" name="Object 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894" y="5700"/>
                  <a:ext cx="2495" cy="780"/>
                </a:xfrm>
                <a:prstGeom prst="rect">
                  <a:avLst/>
                </a:prstGeom>
                <a:blipFill>
                  <a:blip r:embed="rId10"/>
                  <a:stretch>
                    <a:fillRect l="-5000" b="-27160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08" name="Object 16"/>
                <p:cNvSpPr txBox="1"/>
                <p:nvPr/>
              </p:nvSpPr>
              <p:spPr bwMode="auto">
                <a:xfrm>
                  <a:off x="7257" y="5452"/>
                  <a:ext cx="3060" cy="121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d</m:t>
                            </m:r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𝑠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d</m:t>
                            </m:r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​</m:t>
                            </m:r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𝑡</m:t>
                            </m:r>
                          </m:den>
                        </m:f>
                        <m:d>
                          <m:dPr>
                            <m:begChr m:val="|"/>
                            <m:endChr m:val=""/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dPr>
                          <m:e>
                            <m:m>
                              <m:mPr>
                                <m:plcHide m:val="on"/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kumimoji="1" lang="en-US" altLang="zh-CN" sz="2200" i="1" baseline="-15000" dirty="0" smtClean="0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</m:ctrlPr>
                              </m:mPr>
                              <m:mr>
                                <m:e/>
                              </m:mr>
                              <m:mr>
                                <m:e>
                                  <m:r>
                                    <a:rPr kumimoji="1" lang="en-US" altLang="zh-CN" sz="2200" i="1" baseline="-15000" dirty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𝑡</m:t>
                                  </m:r>
                                  <m:r>
                                    <a:rPr kumimoji="1" lang="en-US" altLang="zh-CN" sz="2200" i="1" baseline="-5000" dirty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=</m:t>
                                  </m:r>
                                  <m:r>
                                    <a:rPr kumimoji="1" lang="en-US" altLang="zh-CN" sz="2200" i="1" baseline="-15000" dirty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0</m:t>
                                  </m:r>
                                </m:e>
                              </m:mr>
                            </m:m>
                          </m:e>
                        </m:d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=20</m:t>
                        </m:r>
                      </m:oMath>
                    </m:oMathPara>
                  </a14:m>
                  <a:endParaRPr kumimoji="1" lang="en-US" altLang="zh-CN" sz="2200" i="1" dirty="0">
                    <a:latin typeface="Cambria Math" panose="02040503050406030204" pitchFamily="18" charset="0"/>
                    <a:ea typeface="宋体" panose="02010600030101010101" pitchFamily="2" charset="-122"/>
                  </a:endParaRPr>
                </a:p>
              </p:txBody>
            </p:sp>
          </mc:Choice>
          <mc:Fallback xmlns="">
            <p:sp>
              <p:nvSpPr>
                <p:cNvPr id="8208" name="Object 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257" y="5452"/>
                  <a:ext cx="3060" cy="1213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矩形 16"/>
            <p:cNvSpPr/>
            <p:nvPr/>
          </p:nvSpPr>
          <p:spPr>
            <a:xfrm>
              <a:off x="10356" y="5934"/>
              <a:ext cx="675" cy="5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6930503" y="4347210"/>
            <a:ext cx="1089025" cy="441960"/>
            <a:chOff x="11409" y="6719"/>
            <a:chExt cx="1715" cy="69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文本框 8"/>
                <p:cNvSpPr txBox="1"/>
                <p:nvPr/>
              </p:nvSpPr>
              <p:spPr bwMode="auto">
                <a:xfrm>
                  <a:off x="11409" y="6719"/>
                  <a:ext cx="934" cy="69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rtlCol="0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zh-CN" altLang="en-US" sz="220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ea"/>
                          </a:rPr>
                          <m:t>③</m:t>
                        </m:r>
                      </m:oMath>
                    </m:oMathPara>
                  </a14:m>
                  <a:endParaRPr kumimoji="1" lang="zh-CN" altLang="en-US" sz="22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ea"/>
                  </a:endParaRPr>
                </a:p>
              </p:txBody>
            </p:sp>
          </mc:Choice>
          <mc:Fallback xmlns="">
            <p:sp>
              <p:nvSpPr>
                <p:cNvPr id="9" name="文本框 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1409" y="6719"/>
                  <a:ext cx="934" cy="696"/>
                </a:xfrm>
                <a:prstGeom prst="rect">
                  <a:avLst/>
                </a:prstGeom>
                <a:blipFill rotWithShape="1">
                  <a:blip r:embed="rId12"/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" name="矩形 19"/>
            <p:cNvSpPr/>
            <p:nvPr/>
          </p:nvSpPr>
          <p:spPr>
            <a:xfrm>
              <a:off x="12554" y="6719"/>
              <a:ext cx="570" cy="67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4990465" y="4951095"/>
            <a:ext cx="3377565" cy="431800"/>
            <a:chOff x="7584" y="7742"/>
            <a:chExt cx="5319" cy="68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15" name="Object 23"/>
                <p:cNvSpPr txBox="1"/>
                <p:nvPr/>
              </p:nvSpPr>
              <p:spPr bwMode="auto">
                <a:xfrm>
                  <a:off x="7584" y="7742"/>
                  <a:ext cx="3941" cy="68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=20,  </m:t>
                        </m:r>
                        <m:sSub>
                          <m:sSub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2</m:t>
                            </m:r>
                          </m:sub>
                        </m:sSub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=0</m:t>
                        </m:r>
                      </m:oMath>
                    </m:oMathPara>
                  </a14:m>
                  <a:endParaRPr kumimoji="1" lang="en-US" altLang="zh-CN" sz="2200" i="1" dirty="0">
                    <a:latin typeface="Cambria Math" panose="02040503050406030204" pitchFamily="18" charset="0"/>
                    <a:ea typeface="宋体" panose="02010600030101010101" pitchFamily="2" charset="-122"/>
                  </a:endParaRPr>
                </a:p>
              </p:txBody>
            </p:sp>
          </mc:Choice>
          <mc:Fallback xmlns="">
            <p:sp>
              <p:nvSpPr>
                <p:cNvPr id="8215" name="Object 2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584" y="7742"/>
                  <a:ext cx="3941" cy="680"/>
                </a:xfrm>
                <a:prstGeom prst="rect">
                  <a:avLst/>
                </a:prstGeom>
                <a:blipFill>
                  <a:blip r:embed="rId13"/>
                  <a:stretch>
                    <a:fillRect l="-244" b="-2817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3" name="矩形 22"/>
            <p:cNvSpPr/>
            <p:nvPr/>
          </p:nvSpPr>
          <p:spPr>
            <a:xfrm>
              <a:off x="12199" y="7742"/>
              <a:ext cx="705" cy="59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4990465" y="5512539"/>
            <a:ext cx="3122295" cy="457200"/>
            <a:chOff x="7584" y="8581"/>
            <a:chExt cx="4917" cy="72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17" name="Object 25"/>
                <p:cNvSpPr txBox="1"/>
                <p:nvPr/>
              </p:nvSpPr>
              <p:spPr bwMode="auto">
                <a:xfrm>
                  <a:off x="7584" y="8581"/>
                  <a:ext cx="4048" cy="72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𝑠</m:t>
                        </m:r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=− 0.2​​</m:t>
                        </m:r>
                        <m:sSup>
                          <m:s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sSupPr>
                          <m:e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𝑡</m:t>
                            </m:r>
                          </m:e>
                          <m:sup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2</m:t>
                            </m:r>
                          </m:sup>
                        </m:sSup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+20​​</m:t>
                        </m:r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𝑡</m:t>
                        </m:r>
                      </m:oMath>
                    </m:oMathPara>
                  </a14:m>
                  <a:endParaRPr kumimoji="1" lang="en-US" altLang="zh-CN" sz="2200" i="1" dirty="0">
                    <a:latin typeface="Cambria Math" panose="02040503050406030204" pitchFamily="18" charset="0"/>
                    <a:ea typeface="宋体" panose="02010600030101010101" pitchFamily="2" charset="-122"/>
                  </a:endParaRPr>
                </a:p>
              </p:txBody>
            </p:sp>
          </mc:Choice>
          <mc:Fallback xmlns="">
            <p:sp>
              <p:nvSpPr>
                <p:cNvPr id="8217" name="Object 2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584" y="8581"/>
                  <a:ext cx="4048" cy="720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5" name="矩形 24"/>
            <p:cNvSpPr/>
            <p:nvPr/>
          </p:nvSpPr>
          <p:spPr>
            <a:xfrm>
              <a:off x="11823" y="8735"/>
              <a:ext cx="678" cy="51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8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8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8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8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8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4" grpId="0"/>
      <p:bldP spid="8196" grpId="0"/>
      <p:bldP spid="8199" grpId="0"/>
      <p:bldP spid="8201" grpId="0"/>
      <p:bldP spid="8203" grpId="0"/>
      <p:bldP spid="8209" grpId="0"/>
      <p:bldP spid="8214" grpId="0"/>
      <p:bldP spid="8216" grpId="0"/>
      <p:bldP spid="8223" grpId="0" bldLvl="0" animBg="1"/>
      <p:bldP spid="3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形标注 1"/>
          <p:cNvSpPr/>
          <p:nvPr/>
        </p:nvSpPr>
        <p:spPr>
          <a:xfrm>
            <a:off x="3533138" y="5439752"/>
            <a:ext cx="2228215" cy="672465"/>
          </a:xfrm>
          <a:prstGeom prst="wedgeEllipseCallout">
            <a:avLst>
              <a:gd name="adj1" fmla="val 162322"/>
              <a:gd name="adj2" fmla="val -189253"/>
            </a:avLst>
          </a:prstGeom>
          <a:solidFill>
            <a:srgbClr val="96D1C0"/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9227" name="Text Box 11"/>
          <p:cNvSpPr txBox="1">
            <a:spLocks noChangeArrowheads="1"/>
          </p:cNvSpPr>
          <p:nvPr/>
        </p:nvSpPr>
        <p:spPr bwMode="auto">
          <a:xfrm>
            <a:off x="3564106" y="4696700"/>
            <a:ext cx="213995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常微分方程</a:t>
            </a:r>
          </a:p>
        </p:txBody>
      </p:sp>
      <p:sp>
        <p:nvSpPr>
          <p:cNvPr id="9228" name="Text Box 12"/>
          <p:cNvSpPr txBox="1">
            <a:spLocks noChangeArrowheads="1"/>
          </p:cNvSpPr>
          <p:nvPr/>
        </p:nvSpPr>
        <p:spPr bwMode="auto">
          <a:xfrm>
            <a:off x="3606333" y="5486871"/>
            <a:ext cx="22098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偏微分方程</a:t>
            </a:r>
          </a:p>
        </p:txBody>
      </p:sp>
      <p:sp>
        <p:nvSpPr>
          <p:cNvPr id="9225" name="Text Box 9"/>
          <p:cNvSpPr txBox="1">
            <a:spLocks noChangeArrowheads="1"/>
          </p:cNvSpPr>
          <p:nvPr/>
        </p:nvSpPr>
        <p:spPr bwMode="auto">
          <a:xfrm>
            <a:off x="972183" y="1909582"/>
            <a:ext cx="10419080" cy="10577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fontAlgn="base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sym typeface="+mn-lt"/>
              </a:rPr>
              <a:t>含有未知</a:t>
            </a:r>
            <a:r>
              <a:rPr kumimoji="1" lang="zh-CN" altLang="en-US" sz="280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sym typeface="+mn-lt"/>
              </a:rPr>
              <a:t>函数、未知函数的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sym typeface="+mn-lt"/>
              </a:rPr>
              <a:t>导数与自变量之间的关系的方程叫做</a:t>
            </a:r>
            <a:r>
              <a:rPr kumimoji="1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04926A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sym typeface="+mn-lt"/>
              </a:rPr>
              <a:t>微分方程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.</a:t>
            </a:r>
          </a:p>
        </p:txBody>
      </p:sp>
      <p:sp>
        <p:nvSpPr>
          <p:cNvPr id="9231" name="Text Box 15"/>
          <p:cNvSpPr txBox="1">
            <a:spLocks noChangeArrowheads="1"/>
          </p:cNvSpPr>
          <p:nvPr/>
        </p:nvSpPr>
        <p:spPr bwMode="auto">
          <a:xfrm>
            <a:off x="5566261" y="4696700"/>
            <a:ext cx="19812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(本章内容)</a:t>
            </a:r>
          </a:p>
        </p:txBody>
      </p:sp>
      <p:sp>
        <p:nvSpPr>
          <p:cNvPr id="9256" name="AutoShape 40"/>
          <p:cNvSpPr/>
          <p:nvPr/>
        </p:nvSpPr>
        <p:spPr bwMode="auto">
          <a:xfrm>
            <a:off x="3216908" y="4863807"/>
            <a:ext cx="228600" cy="974725"/>
          </a:xfrm>
          <a:prstGeom prst="leftBrace">
            <a:avLst>
              <a:gd name="adj1" fmla="val 50000"/>
              <a:gd name="adj2" fmla="val 50000"/>
            </a:avLst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9259" name="Text Box 43"/>
          <p:cNvSpPr txBox="1">
            <a:spLocks noChangeArrowheads="1"/>
          </p:cNvSpPr>
          <p:nvPr/>
        </p:nvSpPr>
        <p:spPr bwMode="auto">
          <a:xfrm>
            <a:off x="2300872" y="5048027"/>
            <a:ext cx="89408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分类</a:t>
            </a:r>
          </a:p>
        </p:txBody>
      </p:sp>
      <p:sp>
        <p:nvSpPr>
          <p:cNvPr id="8" name="Text Box 3"/>
          <p:cNvSpPr txBox="1">
            <a:spLocks noChangeArrowheads="1"/>
          </p:cNvSpPr>
          <p:nvPr/>
        </p:nvSpPr>
        <p:spPr bwMode="auto">
          <a:xfrm>
            <a:off x="972183" y="674824"/>
            <a:ext cx="5867400" cy="583565"/>
          </a:xfrm>
          <a:prstGeom prst="rect">
            <a:avLst/>
          </a:prstGeom>
          <a:noFill/>
          <a:ln w="28575">
            <a:noFill/>
            <a:prstDash val="dashDot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 fontAlgn="base">
              <a:spcBef>
                <a:spcPct val="50000"/>
              </a:spcBef>
              <a:buClrTx/>
              <a:buSzTx/>
              <a:buFontTx/>
              <a:defRPr/>
            </a:pPr>
            <a:r>
              <a:rPr kumimoji="1" lang="zh-CN" altLang="en-US" sz="3200" b="1" i="0" u="none" strike="noStrike" kern="1200" cap="none" spc="0" normalizeH="0" baseline="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二、 </a:t>
            </a:r>
            <a:r>
              <a:rPr kumimoji="1" lang="zh-CN" altLang="en-US" sz="32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微分方程的基本概念</a:t>
            </a:r>
            <a:endParaRPr kumimoji="1" lang="zh-CN" altLang="en-US" sz="3200" b="1" i="0" u="none" strike="noStrike" kern="1200" cap="none" spc="0" normalizeH="0" baseline="0" dirty="0">
              <a:solidFill>
                <a:srgbClr val="0492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" name="Text Box 3"/>
          <p:cNvSpPr txBox="1">
            <a:spLocks noChangeArrowheads="1"/>
          </p:cNvSpPr>
          <p:nvPr/>
        </p:nvSpPr>
        <p:spPr bwMode="auto">
          <a:xfrm>
            <a:off x="995678" y="1400662"/>
            <a:ext cx="2341352" cy="521970"/>
          </a:xfrm>
          <a:prstGeom prst="rect">
            <a:avLst/>
          </a:prstGeom>
          <a:noFill/>
          <a:ln w="28575">
            <a:noFill/>
            <a:prstDash val="dashDot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zh-CN" altLang="en-US" sz="2800" b="1" i="0" u="none" strike="noStrike" kern="1200" cap="none" spc="0" normalizeH="0" baseline="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1. </a:t>
            </a:r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lt"/>
              </a:rPr>
              <a:t>微分方程</a:t>
            </a:r>
            <a:endParaRPr lang="zh-CN" altLang="en-US" sz="2800" b="1" i="0" u="none" strike="noStrike" kern="1200" cap="none" spc="0" normalizeH="0" baseline="0" dirty="0">
              <a:solidFill>
                <a:srgbClr val="0492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31" name="Text Box 57"/>
          <p:cNvSpPr txBox="1">
            <a:spLocks noChangeArrowheads="1"/>
          </p:cNvSpPr>
          <p:nvPr/>
        </p:nvSpPr>
        <p:spPr bwMode="auto">
          <a:xfrm>
            <a:off x="8882239" y="4025084"/>
            <a:ext cx="288036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80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</a:rPr>
              <a:t>都是微分方程.</a:t>
            </a:r>
          </a:p>
        </p:txBody>
      </p:sp>
      <p:sp>
        <p:nvSpPr>
          <p:cNvPr id="39" name="Text Box 59"/>
          <p:cNvSpPr txBox="1">
            <a:spLocks noChangeArrowheads="1"/>
          </p:cNvSpPr>
          <p:nvPr/>
        </p:nvSpPr>
        <p:spPr bwMode="auto">
          <a:xfrm>
            <a:off x="1071878" y="5048027"/>
            <a:ext cx="85725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注：</a:t>
            </a:r>
            <a:endParaRPr lang="zh-CN" altLang="en-US" sz="2800" b="1" dirty="0">
              <a:solidFill>
                <a:srgbClr val="0000FF"/>
              </a:solidFill>
            </a:endParaRPr>
          </a:p>
        </p:txBody>
      </p:sp>
      <p:grpSp>
        <p:nvGrpSpPr>
          <p:cNvPr id="57" name="组合 56"/>
          <p:cNvGrpSpPr/>
          <p:nvPr/>
        </p:nvGrpSpPr>
        <p:grpSpPr>
          <a:xfrm>
            <a:off x="1121408" y="3233239"/>
            <a:ext cx="970280" cy="449580"/>
            <a:chOff x="1553" y="3802"/>
            <a:chExt cx="1528" cy="708"/>
          </a:xfrm>
        </p:grpSpPr>
        <p:sp>
          <p:nvSpPr>
            <p:cNvPr id="58" name="圆角矩形 57"/>
            <p:cNvSpPr/>
            <p:nvPr/>
          </p:nvSpPr>
          <p:spPr>
            <a:xfrm>
              <a:off x="1553" y="3803"/>
              <a:ext cx="1474" cy="707"/>
            </a:xfrm>
            <a:prstGeom prst="roundRect">
              <a:avLst/>
            </a:prstGeom>
            <a:solidFill>
              <a:srgbClr val="0492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9" name="Text Box 28"/>
            <p:cNvSpPr txBox="1">
              <a:spLocks noChangeArrowheads="1"/>
            </p:cNvSpPr>
            <p:nvPr/>
          </p:nvSpPr>
          <p:spPr bwMode="auto">
            <a:xfrm>
              <a:off x="1643" y="3802"/>
              <a:ext cx="1438" cy="6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bIns="0">
              <a:spAutoFit/>
            </a:bodyPr>
            <a:lstStyle>
              <a:lvl1pPr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defRPr/>
              </a:pPr>
              <a:r>
                <a:rPr kumimoji="1" lang="zh-CN" altLang="en-US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例如</a:t>
              </a:r>
              <a:r>
                <a:rPr lang="en-US" altLang="zh-CN" i="0" u="none" strike="noStrike" kern="0" cap="none" spc="0" normalizeH="0" baseline="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:</a:t>
              </a:r>
              <a:endParaRPr kumimoji="1" lang="zh-CN" altLang="en-US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sp>
        <p:nvSpPr>
          <p:cNvPr id="4" name="矩形 3"/>
          <p:cNvSpPr/>
          <p:nvPr/>
        </p:nvSpPr>
        <p:spPr>
          <a:xfrm>
            <a:off x="8952228" y="3302454"/>
            <a:ext cx="619760" cy="2584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2344418" y="4007939"/>
            <a:ext cx="4926330" cy="655320"/>
            <a:chOff x="3532" y="6266"/>
            <a:chExt cx="7758" cy="10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对象 4"/>
                <p:cNvSpPr txBox="1"/>
                <p:nvPr/>
              </p:nvSpPr>
              <p:spPr>
                <a:xfrm>
                  <a:off x="3532" y="6266"/>
                  <a:ext cx="7758" cy="822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(2</m:t>
                        </m:r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𝑥</m:t>
                        </m:r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+</m:t>
                        </m:r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𝑦</m:t>
                        </m:r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kumimoji="1" lang="en-US" altLang="zh-CN" sz="28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d</m:t>
                        </m:r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𝑥</m:t>
                        </m:r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+(</m:t>
                        </m:r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𝑥</m:t>
                        </m:r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−2</m:t>
                        </m:r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𝑦</m:t>
                        </m:r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kumimoji="1" lang="en-US" altLang="zh-CN" sz="28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d</m:t>
                        </m:r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𝑦</m:t>
                        </m:r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=0,</m:t>
                        </m:r>
                      </m:oMath>
                    </m:oMathPara>
                  </a14:m>
                  <a:endParaRPr kumimoji="1" lang="en-US" altLang="zh-CN" sz="2800" i="1" dirty="0">
                    <a:latin typeface="Cambria Math" panose="02040503050406030204" pitchFamily="18" charset="0"/>
                    <a:ea typeface="宋体" panose="02010600030101010101" pitchFamily="2" charset="-122"/>
                  </a:endParaRPr>
                </a:p>
              </p:txBody>
            </p:sp>
          </mc:Choice>
          <mc:Fallback xmlns="">
            <p:sp>
              <p:nvSpPr>
                <p:cNvPr id="38" name="对象 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32" y="6266"/>
                  <a:ext cx="7758" cy="82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矩形 5"/>
            <p:cNvSpPr/>
            <p:nvPr/>
          </p:nvSpPr>
          <p:spPr>
            <a:xfrm>
              <a:off x="8894" y="6918"/>
              <a:ext cx="949" cy="38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7133563" y="3779339"/>
            <a:ext cx="2155190" cy="1038860"/>
            <a:chOff x="10427" y="5906"/>
            <a:chExt cx="3394" cy="163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对象 4"/>
                <p:cNvSpPr txBox="1"/>
                <p:nvPr/>
              </p:nvSpPr>
              <p:spPr>
                <a:xfrm>
                  <a:off x="10427" y="5906"/>
                  <a:ext cx="3394" cy="1149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kumimoji="1" lang="en-US" altLang="zh-CN" sz="2800" i="1" dirty="0">
                                <a:solidFill>
                                  <a:srgbClr val="04926A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Cambria Math" panose="02040503050406030204" charset="0"/>
                              </a:rPr>
                            </m:ctrlPr>
                          </m:fPr>
                          <m:num>
                            <m:r>
                              <a:rPr kumimoji="1" lang="en-US" altLang="zh-CN" sz="2800" i="1" dirty="0">
                                <a:solidFill>
                                  <a:srgbClr val="04926A"/>
                                </a:solidFill>
                                <a:latin typeface="Cambria Math" panose="02040503050406030204" charset="0"/>
                                <a:ea typeface="宋体" panose="02010600030101010101" pitchFamily="2" charset="-122"/>
                                <a:cs typeface="Cambria Math" panose="02040503050406030204" charset="0"/>
                              </a:rPr>
                              <m:t>𝜕</m:t>
                            </m:r>
                            <m:r>
                              <a:rPr kumimoji="1" lang="en-US" altLang="zh-CN" sz="2800" i="1" dirty="0">
                                <a:solidFill>
                                  <a:srgbClr val="04926A"/>
                                </a:solidFill>
                                <a:latin typeface="Cambria Math" panose="02040503050406030204" charset="0"/>
                                <a:ea typeface="宋体" panose="02010600030101010101" pitchFamily="2" charset="-122"/>
                                <a:cs typeface="Cambria Math" panose="02040503050406030204" charset="0"/>
                              </a:rPr>
                              <m:t>𝑧</m:t>
                            </m:r>
                          </m:num>
                          <m:den>
                            <m:r>
                              <a:rPr kumimoji="1" lang="en-US" altLang="zh-CN" sz="2800" i="1" dirty="0">
                                <a:solidFill>
                                  <a:srgbClr val="04926A"/>
                                </a:solidFill>
                                <a:latin typeface="Cambria Math" panose="02040503050406030204" charset="0"/>
                                <a:ea typeface="宋体" panose="02010600030101010101" pitchFamily="2" charset="-122"/>
                                <a:cs typeface="Cambria Math" panose="02040503050406030204" charset="0"/>
                              </a:rPr>
                              <m:t>𝜕</m:t>
                            </m:r>
                            <m:r>
                              <a:rPr kumimoji="1" lang="en-US" altLang="zh-CN" sz="2800" i="1" dirty="0">
                                <a:solidFill>
                                  <a:srgbClr val="04926A"/>
                                </a:solidFill>
                                <a:latin typeface="Cambria Math" panose="02040503050406030204" charset="0"/>
                                <a:ea typeface="宋体" panose="02010600030101010101" pitchFamily="2" charset="-122"/>
                                <a:cs typeface="Cambria Math" panose="02040503050406030204" charset="0"/>
                              </a:rPr>
                              <m:t>𝑥</m:t>
                            </m:r>
                          </m:den>
                        </m:f>
                        <m:r>
                          <a:rPr kumimoji="1" lang="en-US" altLang="zh-CN" sz="2800" i="1" dirty="0">
                            <a:solidFill>
                              <a:srgbClr val="04926A"/>
                            </a:solidFill>
                            <a:latin typeface="Cambria Math" panose="02040503050406030204" charset="0"/>
                            <a:ea typeface="宋体" panose="02010600030101010101" pitchFamily="2" charset="-122"/>
                            <a:cs typeface="Cambria Math" panose="02040503050406030204" charset="0"/>
                          </a:rPr>
                          <m:t>=</m:t>
                        </m:r>
                        <m:r>
                          <a:rPr kumimoji="1" lang="en-US" altLang="zh-CN" sz="2800" i="1" dirty="0">
                            <a:solidFill>
                              <a:srgbClr val="04926A"/>
                            </a:solidFill>
                            <a:latin typeface="Cambria Math" panose="02040503050406030204" charset="0"/>
                            <a:ea typeface="宋体" panose="02010600030101010101" pitchFamily="2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800" i="1" dirty="0">
                            <a:solidFill>
                              <a:srgbClr val="04926A"/>
                            </a:solidFill>
                            <a:latin typeface="Cambria Math" panose="02040503050406030204" charset="0"/>
                            <a:ea typeface="宋体" panose="02010600030101010101" pitchFamily="2" charset="-122"/>
                            <a:cs typeface="Cambria Math" panose="02040503050406030204" charset="0"/>
                          </a:rPr>
                          <m:t>+</m:t>
                        </m:r>
                        <m:r>
                          <a:rPr kumimoji="1" lang="en-US" altLang="zh-CN" sz="2800" i="1" dirty="0">
                            <a:solidFill>
                              <a:srgbClr val="04926A"/>
                            </a:solidFill>
                            <a:latin typeface="Cambria Math" panose="02040503050406030204" charset="0"/>
                            <a:ea typeface="宋体" panose="02010600030101010101" pitchFamily="2" charset="-122"/>
                            <a:cs typeface="Cambria Math" panose="02040503050406030204" charset="0"/>
                          </a:rPr>
                          <m:t>𝑦</m:t>
                        </m:r>
                      </m:oMath>
                    </m:oMathPara>
                  </a14:m>
                  <a:endParaRPr kumimoji="1" lang="en-US" altLang="zh-CN" sz="2800" i="1" dirty="0">
                    <a:solidFill>
                      <a:srgbClr val="04926A"/>
                    </a:solidFill>
                    <a:latin typeface="Cambria Math" panose="02040503050406030204" charset="0"/>
                    <a:ea typeface="宋体" panose="02010600030101010101" pitchFamily="2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3" name="对象 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27" y="5906"/>
                  <a:ext cx="3394" cy="1149"/>
                </a:xfrm>
                <a:prstGeom prst="rect">
                  <a:avLst/>
                </a:prstGeom>
                <a:blipFill>
                  <a:blip r:embed="rId3"/>
                  <a:stretch>
                    <a:fillRect b="-175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矩形 8"/>
            <p:cNvSpPr/>
            <p:nvPr/>
          </p:nvSpPr>
          <p:spPr>
            <a:xfrm>
              <a:off x="12962" y="7271"/>
              <a:ext cx="515" cy="27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2406013" y="2803344"/>
            <a:ext cx="3136900" cy="1020445"/>
            <a:chOff x="3629" y="4369"/>
            <a:chExt cx="4940" cy="1607"/>
          </a:xfrm>
        </p:grpSpPr>
        <p:sp>
          <p:nvSpPr>
            <p:cNvPr id="29" name="Text Box 51"/>
            <p:cNvSpPr txBox="1">
              <a:spLocks noChangeArrowheads="1"/>
            </p:cNvSpPr>
            <p:nvPr/>
          </p:nvSpPr>
          <p:spPr bwMode="auto">
            <a:xfrm>
              <a:off x="5929" y="4860"/>
              <a:ext cx="2640" cy="8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zh-CN" altLang="en-US" sz="2800" noProof="0" dirty="0">
                  <a:ln>
                    <a:noFill/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effectLst/>
                  <a:uLnTx/>
                  <a:uFillTx/>
                  <a:latin typeface="Cambria Math" panose="02040503050406030204" pitchFamily="18" charset="0"/>
                  <a:ea typeface="黑体" panose="02010609060101010101" pitchFamily="49" charset="-122"/>
                </a:rPr>
                <a:t>(例1),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对象 2"/>
                <p:cNvSpPr txBox="1"/>
                <p:nvPr/>
              </p:nvSpPr>
              <p:spPr>
                <a:xfrm>
                  <a:off x="3629" y="4536"/>
                  <a:ext cx="2637" cy="1440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kumimoji="1" lang="en-US" altLang="zh-CN" sz="2800" i="1" dirty="0" smtClean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kumimoji="1" lang="en-US" altLang="zh-CN" sz="2800" b="0" i="0" dirty="0" smtClean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d</m:t>
                            </m:r>
                            <m:r>
                              <a:rPr kumimoji="1" lang="en-US" altLang="zh-CN" sz="2800" b="0" i="1" dirty="0" smtClean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𝑦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kumimoji="1" lang="en-US" altLang="zh-CN" sz="2800" b="0" i="0" dirty="0" smtClean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d</m:t>
                            </m:r>
                            <m:r>
                              <a:rPr kumimoji="1" lang="en-US" altLang="zh-CN" sz="2800" b="0" i="1" dirty="0" smtClean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𝑥</m:t>
                            </m:r>
                          </m:den>
                        </m:f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=2</m:t>
                        </m:r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𝑥</m:t>
                        </m:r>
                      </m:oMath>
                    </m:oMathPara>
                  </a14:m>
                  <a:endParaRPr kumimoji="1" lang="en-US" altLang="zh-CN" sz="2800" i="1" dirty="0">
                    <a:latin typeface="Cambria Math" panose="02040503050406030204" pitchFamily="18" charset="0"/>
                    <a:ea typeface="宋体" panose="02010600030101010101" pitchFamily="2" charset="-122"/>
                  </a:endParaRPr>
                </a:p>
              </p:txBody>
            </p:sp>
          </mc:Choice>
          <mc:Fallback xmlns="">
            <p:sp>
              <p:nvSpPr>
                <p:cNvPr id="32" name="对象 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29" y="4536"/>
                  <a:ext cx="2637" cy="144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矩形 11"/>
            <p:cNvSpPr/>
            <p:nvPr/>
          </p:nvSpPr>
          <p:spPr>
            <a:xfrm>
              <a:off x="7430" y="4369"/>
              <a:ext cx="650" cy="46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5365113" y="2871289"/>
            <a:ext cx="4086860" cy="890270"/>
            <a:chOff x="8289" y="4476"/>
            <a:chExt cx="6436" cy="1402"/>
          </a:xfrm>
        </p:grpSpPr>
        <p:sp>
          <p:nvSpPr>
            <p:cNvPr id="30" name="Text Box 55"/>
            <p:cNvSpPr txBox="1">
              <a:spLocks noChangeArrowheads="1"/>
            </p:cNvSpPr>
            <p:nvPr/>
          </p:nvSpPr>
          <p:spPr bwMode="auto">
            <a:xfrm>
              <a:off x="11302" y="4870"/>
              <a:ext cx="2640" cy="8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zh-CN" altLang="en-US" sz="2800" noProof="0" dirty="0">
                  <a:ln>
                    <a:noFill/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effectLst/>
                  <a:uLnTx/>
                  <a:uFillTx/>
                  <a:latin typeface="Cambria Math" panose="02040503050406030204" pitchFamily="18" charset="0"/>
                  <a:ea typeface="黑体" panose="02010609060101010101" pitchFamily="49" charset="-122"/>
                </a:rPr>
                <a:t>(例2)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对象 3"/>
                <p:cNvSpPr txBox="1"/>
                <p:nvPr/>
              </p:nvSpPr>
              <p:spPr>
                <a:xfrm>
                  <a:off x="8289" y="4476"/>
                  <a:ext cx="3458" cy="1402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kumimoji="1" lang="en-US" altLang="zh-CN" sz="2800" i="1" dirty="0" smtClean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fPr>
                          <m:num>
                            <m:func>
                              <m:funcPr>
                                <m:ctrlP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</m:ctrlPr>
                              </m:funcPr>
                              <m:fName>
                                <m:sSup>
                                  <m:sSupPr>
                                    <m:ctrlPr>
                                      <a:rPr kumimoji="1" lang="en-US" altLang="zh-CN" sz="2800" i="1" dirty="0"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kumimoji="1" lang="en-US" altLang="zh-CN" sz="2800" i="1" dirty="0"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d</m:t>
                                    </m:r>
                                  </m:e>
                                  <m:sup>
                                    <m:r>
                                      <a:rPr kumimoji="1" lang="en-US" altLang="zh-CN" sz="2800" i="1" dirty="0"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𝑠</m:t>
                                </m:r>
                              </m:fName>
                              <m:e>
                                <m:r>
                                  <a:rPr kumimoji="1" lang="en-US" altLang="zh-CN" sz="2800" b="0" i="1" dirty="0" smtClean="0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 </m:t>
                                </m:r>
                              </m:e>
                            </m:func>
                          </m:num>
                          <m:den>
                            <m:sSup>
                              <m:sSupPr>
                                <m:ctrlP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d</m:t>
                                </m:r>
                                <m: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=−0.4</m:t>
                        </m:r>
                      </m:oMath>
                    </m:oMathPara>
                  </a14:m>
                  <a:endParaRPr kumimoji="1" lang="en-US" altLang="zh-CN" sz="2800" i="1" dirty="0">
                    <a:latin typeface="Cambria Math" panose="02040503050406030204" pitchFamily="18" charset="0"/>
                    <a:ea typeface="宋体" panose="02010600030101010101" pitchFamily="2" charset="-122"/>
                  </a:endParaRPr>
                </a:p>
              </p:txBody>
            </p:sp>
          </mc:Choice>
          <mc:Fallback xmlns="">
            <p:sp>
              <p:nvSpPr>
                <p:cNvPr id="37" name="对象 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89" y="4476"/>
                  <a:ext cx="3458" cy="1402"/>
                </a:xfrm>
                <a:prstGeom prst="rect">
                  <a:avLst/>
                </a:prstGeom>
                <a:blipFill>
                  <a:blip r:embed="rId5"/>
                  <a:stretch>
                    <a:fillRect b="-137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矩形 13"/>
            <p:cNvSpPr/>
            <p:nvPr/>
          </p:nvSpPr>
          <p:spPr>
            <a:xfrm>
              <a:off x="13857" y="5291"/>
              <a:ext cx="868" cy="46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9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9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9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9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9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9227" grpId="0"/>
      <p:bldP spid="9228" grpId="0"/>
      <p:bldP spid="9225" grpId="0"/>
      <p:bldP spid="9231" grpId="0"/>
      <p:bldP spid="9256" grpId="0" animBg="1"/>
      <p:bldP spid="9259" grpId="0" animBg="1"/>
      <p:bldP spid="8" grpId="0"/>
      <p:bldP spid="11" grpId="0"/>
      <p:bldP spid="31" grpId="0" animBg="1"/>
      <p:bldP spid="3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/>
          <p:cNvGrpSpPr/>
          <p:nvPr/>
        </p:nvGrpSpPr>
        <p:grpSpPr>
          <a:xfrm>
            <a:off x="687070" y="528955"/>
            <a:ext cx="10817225" cy="5800090"/>
            <a:chOff x="1082" y="806"/>
            <a:chExt cx="17035" cy="9134"/>
          </a:xfrm>
        </p:grpSpPr>
        <p:sp>
          <p:nvSpPr>
            <p:cNvPr id="47" name="矩形 46"/>
            <p:cNvSpPr/>
            <p:nvPr/>
          </p:nvSpPr>
          <p:spPr>
            <a:xfrm>
              <a:off x="1082" y="806"/>
              <a:ext cx="17035" cy="913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9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半闭框 47"/>
            <p:cNvSpPr/>
            <p:nvPr/>
          </p:nvSpPr>
          <p:spPr>
            <a:xfrm>
              <a:off x="1082" y="806"/>
              <a:ext cx="1073" cy="116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9" name="半闭框 48"/>
            <p:cNvSpPr/>
            <p:nvPr/>
          </p:nvSpPr>
          <p:spPr>
            <a:xfrm flipH="1">
              <a:off x="17045" y="806"/>
              <a:ext cx="1073" cy="116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半闭框 39"/>
            <p:cNvSpPr/>
            <p:nvPr/>
          </p:nvSpPr>
          <p:spPr>
            <a:xfrm flipV="1">
              <a:off x="1082" y="8879"/>
              <a:ext cx="1073" cy="1061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1" name="半闭框 40"/>
            <p:cNvSpPr/>
            <p:nvPr/>
          </p:nvSpPr>
          <p:spPr>
            <a:xfrm flipH="1" flipV="1">
              <a:off x="17045" y="8847"/>
              <a:ext cx="1073" cy="1092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" name="Text Box 9"/>
          <p:cNvSpPr txBox="1">
            <a:spLocks noChangeArrowheads="1"/>
          </p:cNvSpPr>
          <p:nvPr/>
        </p:nvSpPr>
        <p:spPr bwMode="auto">
          <a:xfrm>
            <a:off x="942135" y="1677516"/>
            <a:ext cx="10731391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zh-CN" altLang="en-US" sz="280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sym typeface="+mn-lt"/>
              </a:rPr>
              <a:t>方程中所出现的未知函数的最高阶导数的阶数</a:t>
            </a:r>
            <a:r>
              <a:rPr kumimoji="1" lang="en-US" altLang="zh-CN" sz="280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sym typeface="+mn-lt"/>
              </a:rPr>
              <a:t>,</a:t>
            </a:r>
            <a:r>
              <a:rPr kumimoji="1" lang="zh-CN" altLang="en-US" sz="280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sym typeface="+mn-lt"/>
              </a:rPr>
              <a:t>叫做微分方程的</a:t>
            </a:r>
            <a:r>
              <a:rPr kumimoji="1" lang="zh-CN" altLang="en-US" sz="2800" noProof="0" dirty="0">
                <a:ln>
                  <a:noFill/>
                </a:ln>
                <a:solidFill>
                  <a:srgbClr val="04926A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sym typeface="+mn-lt"/>
              </a:rPr>
              <a:t>阶</a:t>
            </a:r>
            <a:r>
              <a:rPr kumimoji="1" lang="zh-CN" altLang="en-US" sz="280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sym typeface="+mn-lt"/>
              </a:rPr>
              <a:t>.</a:t>
            </a:r>
            <a:endParaRPr kumimoji="1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17" name="Text Box 3"/>
          <p:cNvSpPr txBox="1">
            <a:spLocks noChangeArrowheads="1"/>
          </p:cNvSpPr>
          <p:nvPr/>
        </p:nvSpPr>
        <p:spPr bwMode="auto">
          <a:xfrm>
            <a:off x="985950" y="1120477"/>
            <a:ext cx="3151745" cy="521970"/>
          </a:xfrm>
          <a:prstGeom prst="rect">
            <a:avLst/>
          </a:prstGeom>
          <a:noFill/>
          <a:ln w="28575">
            <a:noFill/>
            <a:prstDash val="dashDot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 fontAlgn="base">
              <a:spcBef>
                <a:spcPct val="50000"/>
              </a:spcBef>
              <a:buClrTx/>
              <a:buSzTx/>
              <a:buFontTx/>
              <a:defRPr/>
            </a:pPr>
            <a:r>
              <a:rPr lang="zh-CN" altLang="en-US" sz="2800" b="1" i="0" u="none" strike="noStrike" kern="1200" cap="none" spc="0" normalizeH="0" baseline="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2. </a:t>
            </a:r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lt"/>
              </a:rPr>
              <a:t>微分方程的阶</a:t>
            </a:r>
            <a:endParaRPr lang="zh-CN" altLang="en-US" sz="2800" b="1" i="0" u="none" strike="noStrike" kern="1200" cap="none" spc="0" normalizeH="0" baseline="0" dirty="0">
              <a:solidFill>
                <a:srgbClr val="0492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23" name="Text Box 35"/>
          <p:cNvSpPr txBox="1">
            <a:spLocks noChangeArrowheads="1"/>
          </p:cNvSpPr>
          <p:nvPr/>
        </p:nvSpPr>
        <p:spPr bwMode="auto">
          <a:xfrm>
            <a:off x="6185722" y="2511687"/>
            <a:ext cx="128460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50000"/>
              </a:spcBef>
            </a:pPr>
            <a:r>
              <a:rPr kumimoji="1" lang="zh-CN" altLang="en-US" sz="2800" noProof="0" dirty="0">
                <a:ln>
                  <a:noFill/>
                </a:ln>
                <a:solidFill>
                  <a:srgbClr val="04926A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</a:rPr>
              <a:t>一阶</a:t>
            </a:r>
          </a:p>
        </p:txBody>
      </p:sp>
      <p:sp>
        <p:nvSpPr>
          <p:cNvPr id="25" name="Text Box 35"/>
          <p:cNvSpPr txBox="1">
            <a:spLocks noChangeArrowheads="1"/>
          </p:cNvSpPr>
          <p:nvPr/>
        </p:nvSpPr>
        <p:spPr bwMode="auto">
          <a:xfrm>
            <a:off x="6185722" y="3549912"/>
            <a:ext cx="128460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50000"/>
              </a:spcBef>
              <a:buClrTx/>
              <a:buSzTx/>
              <a:buFontTx/>
            </a:pPr>
            <a:r>
              <a:rPr kumimoji="1" lang="zh-CN" altLang="en-US" sz="2800" noProof="0" dirty="0">
                <a:ln>
                  <a:noFill/>
                </a:ln>
                <a:solidFill>
                  <a:srgbClr val="04926A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</a:rPr>
              <a:t>二阶</a:t>
            </a:r>
          </a:p>
        </p:txBody>
      </p:sp>
      <p:sp>
        <p:nvSpPr>
          <p:cNvPr id="26" name="Text Box 35"/>
          <p:cNvSpPr txBox="1">
            <a:spLocks noChangeArrowheads="1"/>
          </p:cNvSpPr>
          <p:nvPr/>
        </p:nvSpPr>
        <p:spPr bwMode="auto">
          <a:xfrm>
            <a:off x="6185722" y="4513842"/>
            <a:ext cx="128397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50000"/>
              </a:spcBef>
              <a:buClrTx/>
              <a:buSzTx/>
              <a:buFontTx/>
            </a:pPr>
            <a:r>
              <a:rPr kumimoji="1" lang="zh-CN" altLang="en-US" sz="2800" noProof="0" dirty="0">
                <a:ln>
                  <a:noFill/>
                </a:ln>
                <a:solidFill>
                  <a:srgbClr val="04926A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</a:rPr>
              <a:t>三阶</a:t>
            </a:r>
          </a:p>
        </p:txBody>
      </p:sp>
      <p:sp>
        <p:nvSpPr>
          <p:cNvPr id="27" name="Text Box 35"/>
          <p:cNvSpPr txBox="1">
            <a:spLocks noChangeArrowheads="1"/>
          </p:cNvSpPr>
          <p:nvPr/>
        </p:nvSpPr>
        <p:spPr bwMode="auto">
          <a:xfrm>
            <a:off x="8384785" y="5232662"/>
            <a:ext cx="128460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50000"/>
              </a:spcBef>
              <a:buClrTx/>
              <a:buSzTx/>
              <a:buFontTx/>
            </a:pPr>
            <a:r>
              <a:rPr kumimoji="1" lang="zh-CN" altLang="en-US" sz="2800" noProof="0" dirty="0">
                <a:ln>
                  <a:noFill/>
                </a:ln>
                <a:solidFill>
                  <a:srgbClr val="04926A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</a:rPr>
              <a:t>四阶</a:t>
            </a:r>
          </a:p>
        </p:txBody>
      </p:sp>
      <p:grpSp>
        <p:nvGrpSpPr>
          <p:cNvPr id="57" name="组合 56"/>
          <p:cNvGrpSpPr/>
          <p:nvPr/>
        </p:nvGrpSpPr>
        <p:grpSpPr>
          <a:xfrm>
            <a:off x="1085272" y="2574552"/>
            <a:ext cx="971550" cy="449580"/>
            <a:chOff x="1553" y="3802"/>
            <a:chExt cx="1530" cy="708"/>
          </a:xfrm>
        </p:grpSpPr>
        <p:sp>
          <p:nvSpPr>
            <p:cNvPr id="58" name="圆角矩形 57"/>
            <p:cNvSpPr/>
            <p:nvPr/>
          </p:nvSpPr>
          <p:spPr>
            <a:xfrm>
              <a:off x="1553" y="3803"/>
              <a:ext cx="1474" cy="707"/>
            </a:xfrm>
            <a:prstGeom prst="roundRect">
              <a:avLst/>
            </a:prstGeom>
            <a:solidFill>
              <a:srgbClr val="0492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9" name="Text Box 28"/>
            <p:cNvSpPr txBox="1">
              <a:spLocks noChangeArrowheads="1"/>
            </p:cNvSpPr>
            <p:nvPr/>
          </p:nvSpPr>
          <p:spPr bwMode="auto">
            <a:xfrm>
              <a:off x="1645" y="3802"/>
              <a:ext cx="1438" cy="6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bIns="0">
              <a:spAutoFit/>
            </a:bodyPr>
            <a:lstStyle>
              <a:lvl1pPr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defRPr/>
              </a:pPr>
              <a:r>
                <a:rPr kumimoji="1" lang="zh-CN" altLang="en-US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例如</a:t>
              </a:r>
              <a:r>
                <a:rPr kumimoji="1" lang="en-US" altLang="zh-CN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:</a:t>
              </a:r>
              <a:endParaRPr kumimoji="1" lang="zh-CN" altLang="en-US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pitchFamily="34" charset="-122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2374640" y="2283087"/>
            <a:ext cx="2261870" cy="914400"/>
            <a:chOff x="3613" y="3453"/>
            <a:chExt cx="3562" cy="144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对象 2"/>
                <p:cNvSpPr txBox="1"/>
                <p:nvPr/>
              </p:nvSpPr>
              <p:spPr>
                <a:xfrm>
                  <a:off x="3613" y="3453"/>
                  <a:ext cx="3007" cy="1440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kumimoji="1" lang="en-US" altLang="zh-CN" sz="2800" dirty="0">
                                <a:latin typeface="Cambria Math" panose="02040503050406030204" pitchFamily="18" charset="0"/>
                              </a:rPr>
                              <m:t>d</m:t>
                            </m:r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kumimoji="1" lang="en-US" altLang="zh-CN" sz="2800" dirty="0">
                                <a:latin typeface="Cambria Math" panose="02040503050406030204" pitchFamily="18" charset="0"/>
                              </a:rPr>
                              <m:t>d</m:t>
                            </m:r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</a:rPr>
                          <m:t>=2</m:t>
                        </m:r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kumimoji="1" lang="en-US" altLang="zh-CN" sz="2800" i="1" dirty="0">
                    <a:latin typeface="Cambria Math" panose="02040503050406030204" pitchFamily="18" charset="0"/>
                    <a:ea typeface="宋体" panose="02010600030101010101" pitchFamily="2" charset="-122"/>
                  </a:endParaRPr>
                </a:p>
              </p:txBody>
            </p:sp>
          </mc:Choice>
          <mc:Fallback xmlns="">
            <p:sp>
              <p:nvSpPr>
                <p:cNvPr id="4" name="对象 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13" y="3453"/>
                  <a:ext cx="3007" cy="1440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矩形 6"/>
            <p:cNvSpPr/>
            <p:nvPr/>
          </p:nvSpPr>
          <p:spPr>
            <a:xfrm>
              <a:off x="6389" y="4003"/>
              <a:ext cx="786" cy="35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2374640" y="3289562"/>
            <a:ext cx="2760980" cy="952500"/>
            <a:chOff x="3613" y="5038"/>
            <a:chExt cx="4348" cy="15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对象 3"/>
                <p:cNvSpPr txBox="1"/>
                <p:nvPr/>
              </p:nvSpPr>
              <p:spPr>
                <a:xfrm>
                  <a:off x="3613" y="5038"/>
                  <a:ext cx="3305" cy="1500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func>
                              <m:funcPr>
                                <m:ctrlPr>
                                  <a:rPr kumimoji="1" lang="en-US" altLang="zh-CN" sz="2800" i="1" dirty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sSup>
                                  <m:sSupPr>
                                    <m:ctrlPr>
                                      <a:rPr kumimoji="1" lang="en-US" altLang="zh-CN" sz="28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kumimoji="1" lang="en-US" altLang="zh-CN" sz="2800" i="1" dirty="0">
                                        <a:latin typeface="Cambria Math" panose="02040503050406030204" pitchFamily="18" charset="0"/>
                                      </a:rPr>
                                      <m:t>d</m:t>
                                    </m:r>
                                  </m:e>
                                  <m:sup>
                                    <m:r>
                                      <a:rPr kumimoji="1" lang="en-US" altLang="zh-CN" sz="2800" i="1" dirty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kumimoji="1" lang="en-US" altLang="zh-CN" sz="2800" i="1" dirty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fName>
                              <m:e>
                                <m:r>
                                  <a:rPr kumimoji="1" lang="en-US" altLang="zh-CN" sz="2800" i="1" dirty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</m:func>
                          </m:num>
                          <m:den>
                            <m:sSup>
                              <m:sSupPr>
                                <m:ctrlPr>
                                  <a:rPr kumimoji="1" lang="en-US" altLang="zh-CN" sz="2800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kumimoji="1" lang="en-US" altLang="zh-CN" sz="2800" i="1" dirty="0">
                                    <a:latin typeface="Cambria Math" panose="02040503050406030204" pitchFamily="18" charset="0"/>
                                  </a:rPr>
                                  <m:t>d</m:t>
                                </m:r>
                                <m:r>
                                  <a:rPr kumimoji="1" lang="en-US" altLang="zh-CN" sz="2800" i="1" dirty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kumimoji="1" lang="en-US" altLang="zh-CN" sz="2800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=−0.4</m:t>
                        </m:r>
                      </m:oMath>
                    </m:oMathPara>
                  </a14:m>
                  <a:endParaRPr kumimoji="1" lang="en-US" altLang="zh-CN" sz="2800" i="1" dirty="0">
                    <a:latin typeface="Cambria Math" panose="02040503050406030204" pitchFamily="18" charset="0"/>
                    <a:ea typeface="宋体" panose="02010600030101010101" pitchFamily="2" charset="-122"/>
                  </a:endParaRPr>
                </a:p>
              </p:txBody>
            </p:sp>
          </mc:Choice>
          <mc:Fallback xmlns="">
            <p:sp>
              <p:nvSpPr>
                <p:cNvPr id="5" name="对象 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13" y="5038"/>
                  <a:ext cx="3305" cy="150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矩形 7"/>
            <p:cNvSpPr/>
            <p:nvPr/>
          </p:nvSpPr>
          <p:spPr>
            <a:xfrm>
              <a:off x="7175" y="5844"/>
              <a:ext cx="786" cy="35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2374640" y="4500507"/>
            <a:ext cx="4420235" cy="457200"/>
            <a:chOff x="3613" y="6945"/>
            <a:chExt cx="6961" cy="72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对象 20"/>
                <p:cNvSpPr txBox="1"/>
                <p:nvPr/>
              </p:nvSpPr>
              <p:spPr>
                <a:xfrm>
                  <a:off x="3613" y="6945"/>
                  <a:ext cx="6961" cy="720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𝑥</m:t>
                        </m:r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sSupPr>
                          <m:e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𝑦</m:t>
                            </m:r>
                          </m:e>
                          <m:sup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‴</m:t>
                            </m:r>
                          </m:sup>
                        </m:sSup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+</m:t>
                        </m:r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sSupPr>
                          <m:e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𝑥</m:t>
                            </m:r>
                          </m:e>
                          <m:sup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2</m:t>
                            </m:r>
                          </m:sup>
                        </m:sSup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sSupPr>
                          <m:e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𝑦</m:t>
                            </m:r>
                          </m:e>
                          <m:sup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″</m:t>
                            </m:r>
                          </m:sup>
                        </m:sSup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−4</m:t>
                        </m:r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𝑥</m:t>
                        </m:r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sSupPr>
                          <m:e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𝑦</m:t>
                            </m:r>
                          </m:e>
                          <m:sup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′</m:t>
                            </m:r>
                          </m:sup>
                        </m:sSup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=3</m:t>
                        </m:r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sSupPr>
                          <m:e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𝑥</m:t>
                            </m:r>
                          </m:e>
                          <m:sup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kumimoji="1" lang="en-US" altLang="zh-CN" sz="2800" i="1" dirty="0">
                    <a:latin typeface="Cambria Math" panose="02040503050406030204" pitchFamily="18" charset="0"/>
                    <a:ea typeface="宋体" panose="02010600030101010101" pitchFamily="2" charset="-122"/>
                  </a:endParaRPr>
                </a:p>
              </p:txBody>
            </p:sp>
          </mc:Choice>
          <mc:Fallback xmlns="">
            <p:sp>
              <p:nvSpPr>
                <p:cNvPr id="21" name="对象 2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13" y="6945"/>
                  <a:ext cx="6961" cy="720"/>
                </a:xfrm>
                <a:prstGeom prst="rect">
                  <a:avLst/>
                </a:prstGeom>
                <a:blipFill>
                  <a:blip r:embed="rId4"/>
                  <a:stretch>
                    <a:fillRect b="-4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矩形 8"/>
            <p:cNvSpPr/>
            <p:nvPr/>
          </p:nvSpPr>
          <p:spPr>
            <a:xfrm>
              <a:off x="9788" y="7200"/>
              <a:ext cx="786" cy="35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2374640" y="5205357"/>
            <a:ext cx="6351270" cy="463550"/>
            <a:chOff x="3613" y="8055"/>
            <a:chExt cx="10002" cy="73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对象 1"/>
                <p:cNvSpPr txBox="1"/>
                <p:nvPr/>
              </p:nvSpPr>
              <p:spPr>
                <a:xfrm>
                  <a:off x="3613" y="8055"/>
                  <a:ext cx="10003" cy="720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sSupPr>
                          <m:e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𝑦</m:t>
                            </m:r>
                          </m:e>
                          <m:sup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(4)</m:t>
                            </m:r>
                          </m:sup>
                        </m:sSup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−4</m:t>
                        </m:r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sSupPr>
                          <m:e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𝑦</m:t>
                            </m:r>
                          </m:e>
                          <m:sup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‴</m:t>
                            </m:r>
                          </m:sup>
                        </m:sSup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+10</m:t>
                        </m:r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sSupPr>
                          <m:e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𝑦</m:t>
                            </m:r>
                          </m:e>
                          <m:sup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″</m:t>
                            </m:r>
                          </m:sup>
                        </m:sSup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−12</m:t>
                        </m:r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sSupPr>
                          <m:e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𝑦</m:t>
                            </m:r>
                          </m:e>
                          <m:sup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′</m:t>
                            </m:r>
                          </m:sup>
                        </m:sSup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+5</m:t>
                        </m:r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𝑦</m:t>
                        </m:r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=</m:t>
                        </m:r>
                        <m:r>
                          <m:rPr>
                            <m:nor/>
                          </m:rPr>
                          <a:rPr kumimoji="1" lang="en-US" altLang="zh-CN" sz="2800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sin</m:t>
                        </m:r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2</m:t>
                        </m:r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𝑥</m:t>
                        </m:r>
                      </m:oMath>
                    </m:oMathPara>
                  </a14:m>
                  <a:endParaRPr kumimoji="1" lang="en-US" altLang="zh-CN" sz="2800" i="1" dirty="0">
                    <a:latin typeface="Cambria Math" panose="02040503050406030204" pitchFamily="18" charset="0"/>
                    <a:ea typeface="宋体" panose="02010600030101010101" pitchFamily="2" charset="-122"/>
                  </a:endParaRPr>
                </a:p>
              </p:txBody>
            </p:sp>
          </mc:Choice>
          <mc:Fallback xmlns="">
            <p:sp>
              <p:nvSpPr>
                <p:cNvPr id="6" name="对象 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13" y="8055"/>
                  <a:ext cx="10003" cy="720"/>
                </a:xfrm>
                <a:prstGeom prst="rect">
                  <a:avLst/>
                </a:prstGeom>
                <a:blipFill>
                  <a:blip r:embed="rId5"/>
                  <a:stretch>
                    <a:fillRect b="-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矩形 9"/>
            <p:cNvSpPr/>
            <p:nvPr/>
          </p:nvSpPr>
          <p:spPr>
            <a:xfrm>
              <a:off x="12257" y="8433"/>
              <a:ext cx="786" cy="35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7" grpId="0"/>
      <p:bldP spid="23" grpId="0" bldLvl="0" animBg="1"/>
      <p:bldP spid="25" grpId="0" bldLvl="0" animBg="1"/>
      <p:bldP spid="26" grpId="0" animBg="1"/>
      <p:bldP spid="2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400685" y="720090"/>
            <a:ext cx="11149330" cy="5428615"/>
            <a:chOff x="838" y="1134"/>
            <a:chExt cx="17558" cy="8549"/>
          </a:xfrm>
        </p:grpSpPr>
        <p:sp>
          <p:nvSpPr>
            <p:cNvPr id="56" name="PA-102232"/>
            <p:cNvSpPr/>
            <p:nvPr>
              <p:custDataLst>
                <p:tags r:id="rId1"/>
              </p:custDataLst>
            </p:nvPr>
          </p:nvSpPr>
          <p:spPr>
            <a:xfrm>
              <a:off x="838" y="1134"/>
              <a:ext cx="17524" cy="853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393700" dist="88900" algn="ctr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6BB6"/>
                </a:solidFill>
                <a:cs typeface="+mn-ea"/>
                <a:sym typeface="+mn-lt"/>
              </a:endParaRPr>
            </a:p>
          </p:txBody>
        </p:sp>
        <p:sp>
          <p:nvSpPr>
            <p:cNvPr id="57" name="Rectangle 1"/>
            <p:cNvSpPr/>
            <p:nvPr/>
          </p:nvSpPr>
          <p:spPr>
            <a:xfrm>
              <a:off x="9602" y="9583"/>
              <a:ext cx="8794" cy="101"/>
            </a:xfrm>
            <a:prstGeom prst="rect">
              <a:avLst/>
            </a:prstGeom>
            <a:solidFill>
              <a:srgbClr val="04926A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9" name="Rectangle 1"/>
            <p:cNvSpPr/>
            <p:nvPr/>
          </p:nvSpPr>
          <p:spPr>
            <a:xfrm>
              <a:off x="5321" y="9583"/>
              <a:ext cx="4286" cy="83"/>
            </a:xfrm>
            <a:prstGeom prst="rect">
              <a:avLst/>
            </a:prstGeom>
            <a:solidFill>
              <a:schemeClr val="bg1"/>
            </a:solidFill>
            <a:ln w="3175" cap="flat" cmpd="sng" algn="ctr">
              <a:solidFill>
                <a:srgbClr val="04926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0" name="Rectangle 1"/>
            <p:cNvSpPr/>
            <p:nvPr/>
          </p:nvSpPr>
          <p:spPr>
            <a:xfrm>
              <a:off x="838" y="9583"/>
              <a:ext cx="4483" cy="83"/>
            </a:xfrm>
            <a:prstGeom prst="rect">
              <a:avLst/>
            </a:prstGeom>
            <a:solidFill>
              <a:srgbClr val="04926A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9260" name="Text Box 44"/>
          <p:cNvSpPr txBox="1">
            <a:spLocks noChangeArrowheads="1"/>
          </p:cNvSpPr>
          <p:nvPr/>
        </p:nvSpPr>
        <p:spPr bwMode="auto">
          <a:xfrm>
            <a:off x="1783080" y="2390482"/>
            <a:ext cx="649287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algn="l" defTabSz="914400" rtl="0" eaLnBrk="1" latinLnBrk="0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sym typeface="+mn-lt"/>
              </a:rPr>
              <a:t>或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225" name="Text Box 9"/>
              <p:cNvSpPr txBox="1">
                <a:spLocks noChangeArrowheads="1"/>
              </p:cNvSpPr>
              <p:nvPr/>
            </p:nvSpPr>
            <p:spPr bwMode="auto">
              <a:xfrm>
                <a:off x="6607492" y="2740978"/>
                <a:ext cx="4758055" cy="5219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 xmlns:m="http://schemas.openxmlformats.org/officeDocument/2006/math">
                    <m:r>
                      <a:rPr kumimoji="1" lang="en-US" altLang="zh-CN" sz="28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zh-CN" sz="2800" i="1" dirty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95000"/>
                        <a:lumOff val="5000"/>
                      </a:schemeClr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sym typeface="+mn-lt"/>
                  </a:rPr>
                  <a:t>阶</a:t>
                </a: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4926A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sym typeface="+mn-lt"/>
                  </a:rPr>
                  <a:t>显式</a:t>
                </a:r>
                <a:r>
                  <a:rPr kumimoji="1" lang="zh-CN" altLang="en-US" sz="280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95000"/>
                        <a:lumOff val="5000"/>
                      </a:schemeClr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sym typeface="+mn-lt"/>
                  </a:rPr>
                  <a:t>微分方程</a:t>
                </a:r>
                <a14:m>
                  <m:oMath xmlns:m="http://schemas.openxmlformats.org/officeDocument/2006/math">
                    <m:r>
                      <a:rPr kumimoji="1" lang="en-US" altLang="zh-CN" sz="28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kumimoji="1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effectLst/>
                  <a:uLnTx/>
                  <a:uFillTx/>
                  <a:latin typeface="Cambria Math" panose="02040503050406030204" pitchFamily="18" charset="0"/>
                  <a:ea typeface="黑体" panose="02010609060101010101" pitchFamily="49" charset="-122"/>
                  <a:sym typeface="+mn-lt"/>
                </a:endParaRPr>
              </a:p>
            </p:txBody>
          </p:sp>
        </mc:Choice>
        <mc:Fallback xmlns="">
          <p:sp>
            <p:nvSpPr>
              <p:cNvPr id="9225" name="Text 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607492" y="2740978"/>
                <a:ext cx="4758055" cy="521970"/>
              </a:xfrm>
              <a:prstGeom prst="rect">
                <a:avLst/>
              </a:prstGeom>
              <a:blipFill>
                <a:blip r:embed="rId3"/>
                <a:stretch>
                  <a:fillRect t="-16471" b="-2941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组合 9"/>
          <p:cNvGrpSpPr/>
          <p:nvPr/>
        </p:nvGrpSpPr>
        <p:grpSpPr>
          <a:xfrm>
            <a:off x="1783080" y="4785360"/>
            <a:ext cx="977900" cy="449580"/>
            <a:chOff x="1553" y="3802"/>
            <a:chExt cx="1540" cy="708"/>
          </a:xfrm>
        </p:grpSpPr>
        <p:sp>
          <p:nvSpPr>
            <p:cNvPr id="11" name="圆角矩形 10"/>
            <p:cNvSpPr/>
            <p:nvPr/>
          </p:nvSpPr>
          <p:spPr>
            <a:xfrm>
              <a:off x="1553" y="3803"/>
              <a:ext cx="1474" cy="707"/>
            </a:xfrm>
            <a:prstGeom prst="roundRect">
              <a:avLst/>
            </a:prstGeom>
            <a:solidFill>
              <a:srgbClr val="0492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Text Box 28"/>
            <p:cNvSpPr txBox="1">
              <a:spLocks noChangeArrowheads="1"/>
            </p:cNvSpPr>
            <p:nvPr/>
          </p:nvSpPr>
          <p:spPr bwMode="auto">
            <a:xfrm>
              <a:off x="1655" y="3802"/>
              <a:ext cx="1438" cy="6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bIns="0">
              <a:spAutoFit/>
            </a:bodyPr>
            <a:lstStyle>
              <a:lvl1pPr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defRPr/>
              </a:pPr>
              <a:r>
                <a:rPr kumimoji="1" lang="zh-CN" altLang="en-US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例如</a:t>
              </a:r>
              <a:r>
                <a:rPr kumimoji="1" lang="en-US" altLang="zh-CN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:</a:t>
              </a:r>
              <a:endParaRPr kumimoji="1" lang="zh-CN" altLang="en-US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pitchFamily="34" charset="-122"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1783080" y="3349625"/>
            <a:ext cx="612775" cy="612775"/>
            <a:chOff x="1601" y="872"/>
            <a:chExt cx="965" cy="965"/>
          </a:xfrm>
        </p:grpSpPr>
        <p:sp>
          <p:nvSpPr>
            <p:cNvPr id="14" name="椭圆 13"/>
            <p:cNvSpPr/>
            <p:nvPr/>
          </p:nvSpPr>
          <p:spPr>
            <a:xfrm>
              <a:off x="1663" y="934"/>
              <a:ext cx="841" cy="841"/>
            </a:xfrm>
            <a:prstGeom prst="ellipse">
              <a:avLst/>
            </a:prstGeom>
            <a:solidFill>
              <a:srgbClr val="0492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15" name="文本框 14"/>
            <p:cNvSpPr txBox="1"/>
            <p:nvPr/>
          </p:nvSpPr>
          <p:spPr bwMode="auto">
            <a:xfrm>
              <a:off x="1625" y="921"/>
              <a:ext cx="848" cy="8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rtlCol="0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注</a:t>
              </a:r>
            </a:p>
          </p:txBody>
        </p:sp>
        <p:sp>
          <p:nvSpPr>
            <p:cNvPr id="16" name="椭圆 15"/>
            <p:cNvSpPr/>
            <p:nvPr/>
          </p:nvSpPr>
          <p:spPr>
            <a:xfrm>
              <a:off x="1601" y="872"/>
              <a:ext cx="965" cy="965"/>
            </a:xfrm>
            <a:prstGeom prst="ellipse">
              <a:avLst/>
            </a:prstGeom>
            <a:noFill/>
            <a:ln>
              <a:solidFill>
                <a:srgbClr val="04926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1783080" y="1387475"/>
            <a:ext cx="6198870" cy="444500"/>
            <a:chOff x="2448" y="2085"/>
            <a:chExt cx="9762" cy="7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对象 1"/>
                <p:cNvSpPr txBox="1"/>
                <p:nvPr/>
              </p:nvSpPr>
              <p:spPr>
                <a:xfrm>
                  <a:off x="2448" y="2085"/>
                  <a:ext cx="9384" cy="700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800" noProof="0" dirty="0">
                            <a:ln>
                              <a:noFill/>
                            </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一般地</m:t>
                        </m:r>
                        <m:r>
                          <a:rPr kumimoji="1" lang="zh-CN" altLang="en-US" sz="2800" noProof="0" dirty="0">
                            <a:ln>
                              <a:noFill/>
                            </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,</m:t>
                        </m:r>
                        <m:r>
                          <a:rPr kumimoji="1" lang="zh-CN" altLang="en-US" sz="2800" noProof="0" dirty="0">
                            <a:ln>
                              <a:noFill/>
                            </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𝑛</m:t>
                        </m:r>
                        <m:r>
                          <a:rPr kumimoji="1" lang="zh-CN" altLang="en-US" sz="2800" noProof="0" dirty="0">
                            <a:ln>
                              <a:noFill/>
                            </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阶常微分方程的形式是</m:t>
                        </m:r>
                      </m:oMath>
                    </m:oMathPara>
                  </a14:m>
                  <a:endParaRPr kumimoji="1" lang="zh-CN" altLang="en-US" sz="2800" noProof="0" dirty="0">
                    <a:ln>
                      <a:noFill/>
                    </a:ln>
                    <a:solidFill>
                      <a:schemeClr val="tx1">
                        <a:lumMod val="95000"/>
                        <a:lumOff val="5000"/>
                      </a:schemeClr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9" name="对象 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48" y="2085"/>
                  <a:ext cx="9384" cy="70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" name="矩形 1"/>
            <p:cNvSpPr/>
            <p:nvPr/>
          </p:nvSpPr>
          <p:spPr>
            <a:xfrm>
              <a:off x="11614" y="2145"/>
              <a:ext cx="597" cy="43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2340292" y="2064385"/>
            <a:ext cx="4151630" cy="457200"/>
            <a:chOff x="4145" y="3151"/>
            <a:chExt cx="6538" cy="72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39" name="Object 23"/>
                <p:cNvSpPr txBox="1"/>
                <p:nvPr/>
              </p:nvSpPr>
              <p:spPr bwMode="auto">
                <a:xfrm>
                  <a:off x="4145" y="3151"/>
                  <a:ext cx="6538" cy="72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𝐹</m:t>
                        </m:r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(</m:t>
                        </m:r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𝑥</m:t>
                        </m:r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,</m:t>
                        </m:r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𝑦</m:t>
                        </m:r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,</m:t>
                        </m:r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sSupPr>
                          <m:e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𝑦</m:t>
                            </m:r>
                          </m:e>
                          <m:sup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′</m:t>
                            </m:r>
                          </m:sup>
                        </m:sSup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,⋯,</m:t>
                        </m:r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sSupPr>
                          <m:e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𝑦</m:t>
                            </m:r>
                          </m:e>
                          <m:sup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(</m:t>
                            </m:r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𝑛</m:t>
                            </m:r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)</m:t>
                            </m:r>
                          </m:sup>
                        </m:sSup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)=0</m:t>
                        </m:r>
                      </m:oMath>
                    </m:oMathPara>
                  </a14:m>
                  <a:endParaRPr kumimoji="1" lang="en-US" altLang="zh-CN" sz="2800" i="1" dirty="0">
                    <a:latin typeface="Cambria Math" panose="02040503050406030204" pitchFamily="18" charset="0"/>
                    <a:ea typeface="宋体" panose="02010600030101010101" pitchFamily="2" charset="-122"/>
                  </a:endParaRPr>
                </a:p>
              </p:txBody>
            </p:sp>
          </mc:Choice>
          <mc:Fallback xmlns="">
            <p:sp>
              <p:nvSpPr>
                <p:cNvPr id="9239" name="Object 2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5" y="3151"/>
                  <a:ext cx="6538" cy="720"/>
                </a:xfrm>
                <a:prstGeom prst="rect">
                  <a:avLst/>
                </a:prstGeom>
                <a:blipFill>
                  <a:blip r:embed="rId5"/>
                  <a:stretch>
                    <a:fillRect b="-6667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矩形 7"/>
            <p:cNvSpPr/>
            <p:nvPr/>
          </p:nvSpPr>
          <p:spPr>
            <a:xfrm>
              <a:off x="9961" y="3283"/>
              <a:ext cx="597" cy="54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2340292" y="2731135"/>
            <a:ext cx="4418330" cy="967740"/>
            <a:chOff x="4145" y="4201"/>
            <a:chExt cx="6958" cy="152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41" name="Object 25"/>
                <p:cNvSpPr txBox="1"/>
                <p:nvPr/>
              </p:nvSpPr>
              <p:spPr bwMode="auto">
                <a:xfrm>
                  <a:off x="4145" y="4201"/>
                  <a:ext cx="6958" cy="72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sSupPr>
                          <m:e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𝑦</m:t>
                            </m:r>
                          </m:e>
                          <m:sup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(</m:t>
                            </m:r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𝑛</m:t>
                            </m:r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)</m:t>
                            </m:r>
                          </m:sup>
                        </m:sSup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=</m:t>
                        </m:r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𝑓</m:t>
                        </m:r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(</m:t>
                        </m:r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𝑥</m:t>
                        </m:r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,</m:t>
                        </m:r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𝑦</m:t>
                        </m:r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,</m:t>
                        </m:r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sSupPr>
                          <m:e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𝑦</m:t>
                            </m:r>
                          </m:e>
                          <m:sup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′</m:t>
                            </m:r>
                          </m:sup>
                        </m:sSup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,⋯,</m:t>
                        </m:r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sSupPr>
                          <m:e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𝑦</m:t>
                            </m:r>
                          </m:e>
                          <m:sup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(</m:t>
                            </m:r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𝑛</m:t>
                            </m:r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−1)</m:t>
                            </m:r>
                          </m:sup>
                        </m:sSup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)</m:t>
                        </m:r>
                      </m:oMath>
                    </m:oMathPara>
                  </a14:m>
                  <a:endParaRPr kumimoji="1" lang="en-US" altLang="zh-CN" sz="2800" i="1" dirty="0">
                    <a:latin typeface="Cambria Math" panose="02040503050406030204" pitchFamily="18" charset="0"/>
                    <a:ea typeface="宋体" panose="02010600030101010101" pitchFamily="2" charset="-122"/>
                  </a:endParaRPr>
                </a:p>
              </p:txBody>
            </p:sp>
          </mc:Choice>
          <mc:Fallback xmlns="">
            <p:sp>
              <p:nvSpPr>
                <p:cNvPr id="9241" name="Object 2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5" y="4201"/>
                  <a:ext cx="6958" cy="720"/>
                </a:xfrm>
                <a:prstGeom prst="rect">
                  <a:avLst/>
                </a:prstGeom>
                <a:blipFill>
                  <a:blip r:embed="rId6"/>
                  <a:stretch>
                    <a:fillRect b="-8000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" name="矩形 17"/>
            <p:cNvSpPr/>
            <p:nvPr/>
          </p:nvSpPr>
          <p:spPr>
            <a:xfrm>
              <a:off x="9364" y="5183"/>
              <a:ext cx="597" cy="54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1783080" y="4087495"/>
            <a:ext cx="8816340" cy="965835"/>
            <a:chOff x="2448" y="6337"/>
            <a:chExt cx="13884" cy="152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对象 3"/>
                <p:cNvSpPr txBox="1"/>
                <p:nvPr/>
              </p:nvSpPr>
              <p:spPr>
                <a:xfrm>
                  <a:off x="2448" y="6337"/>
                  <a:ext cx="13885" cy="720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800" noProof="0" dirty="0">
                            <a:ln>
                              <a:noFill/>
                            </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上式中</m:t>
                        </m:r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sSupPr>
                          <m:e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𝑦</m:t>
                            </m:r>
                          </m:e>
                          <m:sup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(</m:t>
                            </m:r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𝑛</m:t>
                            </m:r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)</m:t>
                            </m:r>
                          </m:sup>
                        </m:sSup>
                        <m:r>
                          <a:rPr kumimoji="1" lang="zh-CN" altLang="en-US" sz="2800" noProof="0" dirty="0">
                            <a:ln>
                              <a:noFill/>
                            </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必须出现</m:t>
                        </m:r>
                        <m:r>
                          <a:rPr kumimoji="1" lang="zh-CN" altLang="en-US" sz="28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,</m:t>
                        </m:r>
                        <m:r>
                          <a:rPr kumimoji="1" lang="zh-CN" altLang="en-US" sz="2800" noProof="0" dirty="0">
                            <a:ln>
                              <a:noFill/>
                            </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而其</m:t>
                        </m:r>
                        <m:r>
                          <a:rPr kumimoji="1" lang="zh-CN" altLang="en-US" sz="2800" noProof="0" dirty="0">
                            <a:ln>
                              <a:noFill/>
                            </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他</m:t>
                        </m:r>
                        <m:r>
                          <a:rPr kumimoji="1" lang="zh-CN" altLang="en-US" sz="2800" noProof="0" dirty="0">
                            <a:ln>
                              <a:noFill/>
                            </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的变量则可以不出现</m:t>
                        </m:r>
                        <m:r>
                          <a:rPr kumimoji="1" lang="zh-CN" altLang="en-US" sz="2800" noProof="0" dirty="0">
                            <a:ln>
                              <a:noFill/>
                            </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.</m:t>
                        </m:r>
                      </m:oMath>
                    </m:oMathPara>
                  </a14:m>
                  <a:endParaRPr kumimoji="1" lang="zh-CN" altLang="en-US" sz="2800" noProof="0" dirty="0">
                    <a:ln>
                      <a:noFill/>
                    </a:ln>
                    <a:solidFill>
                      <a:schemeClr val="tx1">
                        <a:lumMod val="95000"/>
                        <a:lumOff val="5000"/>
                      </a:schemeClr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4" name="对象 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48" y="6337"/>
                  <a:ext cx="13885" cy="720"/>
                </a:xfrm>
                <a:prstGeom prst="rect">
                  <a:avLst/>
                </a:prstGeom>
                <a:blipFill>
                  <a:blip r:embed="rId7"/>
                  <a:stretch>
                    <a:fillRect b="-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" name="矩形 19"/>
            <p:cNvSpPr/>
            <p:nvPr/>
          </p:nvSpPr>
          <p:spPr>
            <a:xfrm>
              <a:off x="14616" y="7316"/>
              <a:ext cx="597" cy="54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2860675" y="4730750"/>
            <a:ext cx="1993900" cy="500380"/>
            <a:chOff x="4145" y="7350"/>
            <a:chExt cx="3140" cy="78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对象 4"/>
                <p:cNvSpPr txBox="1"/>
                <p:nvPr/>
              </p:nvSpPr>
              <p:spPr>
                <a:xfrm>
                  <a:off x="4145" y="7350"/>
                  <a:ext cx="3141" cy="720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sSupPr>
                          <m:e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𝑦</m:t>
                            </m:r>
                          </m:e>
                          <m:sup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(</m:t>
                            </m:r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𝑛</m:t>
                            </m:r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)</m:t>
                            </m:r>
                          </m:sup>
                        </m:sSup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= 1.</m:t>
                        </m:r>
                      </m:oMath>
                    </m:oMathPara>
                  </a14:m>
                  <a:endParaRPr kumimoji="1" lang="en-US" altLang="zh-CN" sz="2800" i="1" dirty="0">
                    <a:latin typeface="Cambria Math" panose="02040503050406030204" pitchFamily="18" charset="0"/>
                    <a:ea typeface="宋体" panose="02010600030101010101" pitchFamily="2" charset="-122"/>
                  </a:endParaRPr>
                </a:p>
              </p:txBody>
            </p:sp>
          </mc:Choice>
          <mc:Fallback xmlns="">
            <p:sp>
              <p:nvSpPr>
                <p:cNvPr id="5" name="对象 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45" y="7350"/>
                  <a:ext cx="3141" cy="720"/>
                </a:xfrm>
                <a:prstGeom prst="rect">
                  <a:avLst/>
                </a:prstGeom>
                <a:blipFill>
                  <a:blip r:embed="rId8"/>
                  <a:stretch>
                    <a:fillRect b="-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3" name="矩形 22"/>
            <p:cNvSpPr/>
            <p:nvPr/>
          </p:nvSpPr>
          <p:spPr>
            <a:xfrm>
              <a:off x="6689" y="7596"/>
              <a:ext cx="597" cy="54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60" grpId="0"/>
      <p:bldP spid="922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0" y="-17780"/>
            <a:ext cx="12192000" cy="6877685"/>
            <a:chOff x="0" y="-283"/>
            <a:chExt cx="19200" cy="10831"/>
          </a:xfrm>
        </p:grpSpPr>
        <p:sp>
          <p:nvSpPr>
            <p:cNvPr id="27" name="Rectangle 1"/>
            <p:cNvSpPr/>
            <p:nvPr/>
          </p:nvSpPr>
          <p:spPr>
            <a:xfrm>
              <a:off x="0" y="-283"/>
              <a:ext cx="19200" cy="10831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88000"/>
                  </a:srgbClr>
                </a:gs>
                <a:gs pos="55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" name="圆角矩形 27"/>
            <p:cNvSpPr/>
            <p:nvPr/>
          </p:nvSpPr>
          <p:spPr>
            <a:xfrm>
              <a:off x="354" y="796"/>
              <a:ext cx="18493" cy="8618"/>
            </a:xfrm>
            <a:prstGeom prst="roundRect">
              <a:avLst>
                <a:gd name="adj" fmla="val 3499"/>
              </a:avLst>
            </a:prstGeom>
            <a:solidFill>
              <a:schemeClr val="bg1"/>
            </a:solidFill>
            <a:ln>
              <a:solidFill>
                <a:srgbClr val="17908C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9225" name="Text Box 9"/>
          <p:cNvSpPr txBox="1">
            <a:spLocks noChangeArrowheads="1"/>
          </p:cNvSpPr>
          <p:nvPr/>
        </p:nvSpPr>
        <p:spPr bwMode="auto">
          <a:xfrm>
            <a:off x="1350327" y="2436038"/>
            <a:ext cx="10731391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zh-CN" altLang="en-US" sz="280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</a:rPr>
              <a:t>（1）使微分方程成为恒等式的函数叫做微分方程的</a:t>
            </a:r>
            <a:r>
              <a:rPr kumimoji="1" lang="zh-CN" altLang="en-US" sz="2800" noProof="0" dirty="0">
                <a:ln>
                  <a:noFill/>
                </a:ln>
                <a:solidFill>
                  <a:srgbClr val="037051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</a:rPr>
              <a:t>解</a:t>
            </a:r>
            <a:r>
              <a:rPr lang="en-US" altLang="zh-CN" sz="2800" dirty="0">
                <a:solidFill>
                  <a:srgbClr val="037051"/>
                </a:solidFill>
                <a:latin typeface="Cambria Math" panose="02040503050406030204" pitchFamily="18" charset="0"/>
                <a:sym typeface="+mn-ea"/>
              </a:rPr>
              <a:t>;</a:t>
            </a:r>
            <a:endParaRPr kumimoji="1" lang="zh-CN" altLang="en-US" sz="2800" noProof="0" dirty="0">
              <a:ln>
                <a:noFill/>
              </a:ln>
              <a:solidFill>
                <a:srgbClr val="037051"/>
              </a:solidFill>
              <a:effectLst/>
              <a:uLnTx/>
              <a:uFillTx/>
              <a:latin typeface="Cambria Math" panose="02040503050406030204" pitchFamily="18" charset="0"/>
              <a:ea typeface="黑体" panose="02010609060101010101" pitchFamily="49" charset="-122"/>
            </a:endParaRPr>
          </a:p>
        </p:txBody>
      </p:sp>
      <p:sp>
        <p:nvSpPr>
          <p:cNvPr id="17" name="Text Box 3"/>
          <p:cNvSpPr txBox="1">
            <a:spLocks noChangeArrowheads="1"/>
          </p:cNvSpPr>
          <p:nvPr/>
        </p:nvSpPr>
        <p:spPr bwMode="auto">
          <a:xfrm>
            <a:off x="1542300" y="1601504"/>
            <a:ext cx="5112749" cy="521970"/>
          </a:xfrm>
          <a:prstGeom prst="rect">
            <a:avLst/>
          </a:prstGeom>
          <a:noFill/>
          <a:ln w="28575">
            <a:noFill/>
            <a:prstDash val="dashDot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zh-CN" altLang="en-US" sz="2800" b="1" i="0" u="none" strike="noStrike" kern="1200" cap="none" spc="0" normalizeH="0" baseline="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3. </a:t>
            </a:r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lt"/>
              </a:rPr>
              <a:t>微分方程的解及解的分类</a:t>
            </a:r>
            <a:endParaRPr lang="zh-CN" altLang="en-US" sz="2800" b="1" i="0" u="none" strike="noStrike" kern="1200" cap="none" spc="0" normalizeH="0" baseline="0" dirty="0">
              <a:solidFill>
                <a:srgbClr val="0492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15" name="Text Box 10"/>
          <p:cNvSpPr txBox="1">
            <a:spLocks noChangeArrowheads="1"/>
          </p:cNvSpPr>
          <p:nvPr/>
        </p:nvSpPr>
        <p:spPr bwMode="auto">
          <a:xfrm>
            <a:off x="1350327" y="3192144"/>
            <a:ext cx="10257666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80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</a:rPr>
              <a:t>（2）若解中含有任意常数</a:t>
            </a:r>
            <a:r>
              <a:rPr kumimoji="1" lang="en-US" altLang="zh-CN" sz="280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</a:rPr>
              <a:t>,</a:t>
            </a:r>
            <a:r>
              <a:rPr kumimoji="1" lang="zh-CN" altLang="en-US" sz="280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</a:rPr>
              <a:t>且任意常数的个数与微分方程的</a:t>
            </a:r>
          </a:p>
        </p:txBody>
      </p:sp>
      <p:sp>
        <p:nvSpPr>
          <p:cNvPr id="16" name="Text Box 11"/>
          <p:cNvSpPr txBox="1">
            <a:spLocks noChangeArrowheads="1"/>
          </p:cNvSpPr>
          <p:nvPr/>
        </p:nvSpPr>
        <p:spPr bwMode="auto">
          <a:xfrm>
            <a:off x="2284379" y="3869855"/>
            <a:ext cx="670289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80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</a:rPr>
              <a:t>阶数相同</a:t>
            </a:r>
            <a:r>
              <a:rPr kumimoji="1" lang="en-US" altLang="zh-CN" sz="280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</a:rPr>
              <a:t>,</a:t>
            </a:r>
            <a:r>
              <a:rPr kumimoji="1" lang="zh-CN" altLang="en-US" sz="280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</a:rPr>
              <a:t>则称之为</a:t>
            </a:r>
            <a:r>
              <a:rPr kumimoji="1" lang="zh-CN" altLang="en-US" sz="2800" noProof="0" dirty="0">
                <a:ln>
                  <a:noFill/>
                </a:ln>
                <a:solidFill>
                  <a:srgbClr val="04926A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</a:rPr>
              <a:t>通解</a:t>
            </a:r>
            <a:r>
              <a:rPr lang="en-US" altLang="zh-CN" sz="2800" dirty="0">
                <a:solidFill>
                  <a:srgbClr val="037051"/>
                </a:solidFill>
                <a:latin typeface="Cambria Math" panose="02040503050406030204" pitchFamily="18" charset="0"/>
                <a:sym typeface="+mn-ea"/>
              </a:rPr>
              <a:t>;</a:t>
            </a:r>
            <a:endParaRPr kumimoji="1" lang="zh-CN" altLang="en-US" sz="2800" noProof="0" dirty="0">
              <a:ln>
                <a:noFill/>
              </a:ln>
              <a:solidFill>
                <a:srgbClr val="04926A"/>
              </a:solidFill>
              <a:effectLst/>
              <a:uLnTx/>
              <a:uFillTx/>
              <a:latin typeface="Cambria Math" panose="02040503050406030204" pitchFamily="18" charset="0"/>
              <a:ea typeface="黑体" panose="02010609060101010101" pitchFamily="49" charset="-122"/>
            </a:endParaRPr>
          </a:p>
        </p:txBody>
      </p:sp>
      <p:sp>
        <p:nvSpPr>
          <p:cNvPr id="19" name="Text Box 12"/>
          <p:cNvSpPr txBox="1">
            <a:spLocks noChangeArrowheads="1"/>
          </p:cNvSpPr>
          <p:nvPr/>
        </p:nvSpPr>
        <p:spPr bwMode="auto">
          <a:xfrm>
            <a:off x="1350327" y="4625961"/>
            <a:ext cx="9155939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80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</a:rPr>
              <a:t>（3）确定了通解中任意常数以后的解称之为</a:t>
            </a:r>
            <a:r>
              <a:rPr kumimoji="1" lang="zh-CN" altLang="en-US" sz="2800" noProof="0" dirty="0">
                <a:ln>
                  <a:noFill/>
                </a:ln>
                <a:solidFill>
                  <a:srgbClr val="04926A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</a:rPr>
              <a:t>特解.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5" grpId="0"/>
      <p:bldP spid="17" grpId="0"/>
      <p:bldP spid="15" grpId="0" animBg="1"/>
      <p:bldP spid="16" grpId="0" animBg="1"/>
      <p:bldP spid="1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2926" y="-3810"/>
            <a:ext cx="12192000" cy="6858000"/>
            <a:chOff x="0" y="0"/>
            <a:chExt cx="19200" cy="10800"/>
          </a:xfrm>
        </p:grpSpPr>
        <p:sp>
          <p:nvSpPr>
            <p:cNvPr id="16" name="Rectangle 1"/>
            <p:cNvSpPr/>
            <p:nvPr/>
          </p:nvSpPr>
          <p:spPr>
            <a:xfrm>
              <a:off x="0" y="0"/>
              <a:ext cx="19200" cy="10800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88000"/>
                  </a:srgbClr>
                </a:gs>
                <a:gs pos="55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圆角矩形 16"/>
            <p:cNvSpPr/>
            <p:nvPr/>
          </p:nvSpPr>
          <p:spPr>
            <a:xfrm>
              <a:off x="331" y="310"/>
              <a:ext cx="18493" cy="10167"/>
            </a:xfrm>
            <a:prstGeom prst="roundRect">
              <a:avLst>
                <a:gd name="adj" fmla="val 3499"/>
              </a:avLst>
            </a:prstGeom>
            <a:solidFill>
              <a:schemeClr val="bg1"/>
            </a:solidFill>
            <a:ln>
              <a:solidFill>
                <a:srgbClr val="17908C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12" name="椭圆形标注 11"/>
          <p:cNvSpPr/>
          <p:nvPr/>
        </p:nvSpPr>
        <p:spPr>
          <a:xfrm>
            <a:off x="3265660" y="4670243"/>
            <a:ext cx="5368290" cy="850900"/>
          </a:xfrm>
          <a:prstGeom prst="wedgeEllipseCallout">
            <a:avLst>
              <a:gd name="adj1" fmla="val 75094"/>
              <a:gd name="adj2" fmla="val -13421"/>
            </a:avLst>
          </a:prstGeom>
          <a:noFill/>
          <a:ln w="19050">
            <a:solidFill>
              <a:srgbClr val="04926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 bwMode="auto">
          <a:xfrm>
            <a:off x="10030707" y="4608613"/>
            <a:ext cx="894080" cy="521970"/>
          </a:xfrm>
          <a:prstGeom prst="rect">
            <a:avLst/>
          </a:prstGeom>
          <a:solidFill>
            <a:srgbClr val="04926A">
              <a:alpha val="42000"/>
            </a:srgbClr>
          </a:solidFill>
          <a:ln>
            <a:noFill/>
          </a:ln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通解</a:t>
            </a:r>
            <a:endParaRPr lang="zh-CN" altLang="en-US" sz="2800" dirty="0">
              <a:latin typeface="+mn-ea"/>
            </a:endParaRPr>
          </a:p>
        </p:txBody>
      </p:sp>
      <p:sp>
        <p:nvSpPr>
          <p:cNvPr id="14" name="文本框 13"/>
          <p:cNvSpPr txBox="1"/>
          <p:nvPr/>
        </p:nvSpPr>
        <p:spPr bwMode="auto">
          <a:xfrm>
            <a:off x="8752397" y="5618938"/>
            <a:ext cx="894080" cy="521970"/>
          </a:xfrm>
          <a:prstGeom prst="rect">
            <a:avLst/>
          </a:prstGeom>
          <a:solidFill>
            <a:srgbClr val="04926A">
              <a:alpha val="42000"/>
            </a:srgbClr>
          </a:solidFill>
          <a:ln>
            <a:noFill/>
          </a:ln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特解</a:t>
            </a:r>
            <a:endParaRPr lang="zh-CN" altLang="en-US" sz="2800" dirty="0">
              <a:latin typeface="+mn-ea"/>
            </a:endParaRPr>
          </a:p>
        </p:txBody>
      </p:sp>
      <p:sp>
        <p:nvSpPr>
          <p:cNvPr id="15" name="椭圆形标注 14"/>
          <p:cNvSpPr/>
          <p:nvPr/>
        </p:nvSpPr>
        <p:spPr>
          <a:xfrm>
            <a:off x="6684327" y="5594614"/>
            <a:ext cx="1576693" cy="557208"/>
          </a:xfrm>
          <a:prstGeom prst="wedgeEllipseCallout">
            <a:avLst>
              <a:gd name="adj1" fmla="val 73609"/>
              <a:gd name="adj2" fmla="val 18524"/>
            </a:avLst>
          </a:prstGeom>
          <a:noFill/>
          <a:ln w="19050">
            <a:solidFill>
              <a:srgbClr val="04926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8" name="Text Box 59"/>
          <p:cNvSpPr txBox="1">
            <a:spLocks noChangeArrowheads="1"/>
          </p:cNvSpPr>
          <p:nvPr/>
        </p:nvSpPr>
        <p:spPr bwMode="auto">
          <a:xfrm>
            <a:off x="1735202" y="580208"/>
            <a:ext cx="162179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在例1中</a:t>
            </a:r>
            <a:endParaRPr lang="zh-CN" altLang="en-US" sz="2800" b="1" dirty="0">
              <a:solidFill>
                <a:srgbClr val="0000FF"/>
              </a:solidFill>
              <a:latin typeface="+mn-ea"/>
            </a:endParaRPr>
          </a:p>
        </p:txBody>
      </p:sp>
      <p:grpSp>
        <p:nvGrpSpPr>
          <p:cNvPr id="57" name="组合 56"/>
          <p:cNvGrpSpPr/>
          <p:nvPr/>
        </p:nvGrpSpPr>
        <p:grpSpPr>
          <a:xfrm>
            <a:off x="674117" y="607513"/>
            <a:ext cx="988695" cy="459740"/>
            <a:chOff x="1553" y="3786"/>
            <a:chExt cx="1557" cy="724"/>
          </a:xfrm>
        </p:grpSpPr>
        <p:sp>
          <p:nvSpPr>
            <p:cNvPr id="58" name="圆角矩形 57"/>
            <p:cNvSpPr/>
            <p:nvPr/>
          </p:nvSpPr>
          <p:spPr>
            <a:xfrm>
              <a:off x="1553" y="3803"/>
              <a:ext cx="1474" cy="707"/>
            </a:xfrm>
            <a:prstGeom prst="roundRect">
              <a:avLst/>
            </a:prstGeom>
            <a:solidFill>
              <a:srgbClr val="0492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9" name="Text Box 28"/>
            <p:cNvSpPr txBox="1">
              <a:spLocks noChangeArrowheads="1"/>
            </p:cNvSpPr>
            <p:nvPr/>
          </p:nvSpPr>
          <p:spPr bwMode="auto">
            <a:xfrm>
              <a:off x="1672" y="3786"/>
              <a:ext cx="1438" cy="6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bIns="0">
              <a:spAutoFit/>
            </a:bodyPr>
            <a:lstStyle>
              <a:lvl1pPr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defRPr/>
              </a:pPr>
              <a:r>
                <a:rPr kumimoji="1" lang="zh-CN" altLang="en-US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例如</a:t>
              </a:r>
              <a:r>
                <a:rPr kumimoji="1" lang="en-US" altLang="zh-CN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:</a:t>
              </a:r>
              <a:endParaRPr kumimoji="1" lang="zh-CN" altLang="en-US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pitchFamily="34" charset="-122"/>
              </a:endParaRPr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893192" y="1140278"/>
            <a:ext cx="10759440" cy="4967605"/>
            <a:chOff x="1822" y="1750"/>
            <a:chExt cx="16944" cy="7823"/>
          </a:xfrm>
        </p:grpSpPr>
        <p:sp>
          <p:nvSpPr>
            <p:cNvPr id="45058" name="Rectangle 2"/>
            <p:cNvSpPr>
              <a:spLocks noGrp="1" noChangeArrowheads="1"/>
            </p:cNvSpPr>
            <p:nvPr/>
          </p:nvSpPr>
          <p:spPr>
            <a:xfrm>
              <a:off x="1822" y="1750"/>
              <a:ext cx="1920" cy="10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0033CC"/>
                  </a:solidFill>
                </a14:hiddenFill>
              </a:ext>
              <a:ext uri="{91240B29-F687-4F45-9708-019B960494DF}">
                <a14:hiddenLine xmlns:a14="http://schemas.microsoft.com/office/drawing/2010/main" w="76200">
                  <a:solidFill>
                    <a:schemeClr val="accent2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800" b="1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800" b="1" dirty="0">
                  <a:solidFill>
                    <a:srgbClr val="0492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lt"/>
                </a:rPr>
                <a:t>例1</a:t>
              </a:r>
              <a:endParaRPr lang="en-US" altLang="zh-CN" sz="2800" b="1"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5061" name="Text Box 5"/>
            <p:cNvSpPr txBox="1">
              <a:spLocks noChangeArrowheads="1"/>
            </p:cNvSpPr>
            <p:nvPr/>
          </p:nvSpPr>
          <p:spPr bwMode="auto">
            <a:xfrm>
              <a:off x="1822" y="3788"/>
              <a:ext cx="1818" cy="8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2800" b="1" i="0" u="none" strike="noStrike" kern="1200" cap="none" spc="0" normalizeH="0" baseline="0" dirty="0">
                  <a:solidFill>
                    <a:srgbClr val="0492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rPr>
                <a:t>解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062" name="Object 6"/>
                <p:cNvSpPr txBox="1"/>
                <p:nvPr/>
              </p:nvSpPr>
              <p:spPr bwMode="auto">
                <a:xfrm>
                  <a:off x="4782" y="4732"/>
                  <a:ext cx="2000" cy="144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d</m:t>
                            </m:r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​</m:t>
                            </m:r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𝑦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d</m:t>
                            </m:r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​</m:t>
                            </m:r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𝑥</m:t>
                            </m:r>
                          </m:den>
                        </m:f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=2</m:t>
                        </m:r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𝑥</m:t>
                        </m:r>
                      </m:oMath>
                    </m:oMathPara>
                  </a14:m>
                  <a:endParaRPr kumimoji="1" lang="en-US" altLang="zh-CN" sz="2200" i="1" dirty="0">
                    <a:latin typeface="Cambria Math" panose="02040503050406030204" pitchFamily="18" charset="0"/>
                    <a:ea typeface="宋体" panose="02010600030101010101" pitchFamily="2" charset="-122"/>
                  </a:endParaRPr>
                </a:p>
              </p:txBody>
            </p:sp>
          </mc:Choice>
          <mc:Fallback xmlns="">
            <p:sp>
              <p:nvSpPr>
                <p:cNvPr id="45062" name="Object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782" y="4732"/>
                  <a:ext cx="2000" cy="144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5063" name="Text Box 7"/>
            <p:cNvSpPr txBox="1">
              <a:spLocks noChangeArrowheads="1"/>
            </p:cNvSpPr>
            <p:nvPr/>
          </p:nvSpPr>
          <p:spPr bwMode="auto">
            <a:xfrm>
              <a:off x="7772" y="4926"/>
              <a:ext cx="1080" cy="6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ea"/>
                  <a:sym typeface="+mn-lt"/>
                </a:rPr>
                <a:t>①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064" name="Object 8"/>
                <p:cNvSpPr txBox="1"/>
                <p:nvPr/>
              </p:nvSpPr>
              <p:spPr bwMode="auto">
                <a:xfrm>
                  <a:off x="5934" y="7362"/>
                  <a:ext cx="2620" cy="94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𝑦</m:t>
                        </m:r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=</m:t>
                        </m:r>
                        <m:nary>
                          <m:naryPr>
                            <m:subHide m:val="on"/>
                            <m:supHide m:val="on"/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2​</m:t>
                            </m:r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d</m:t>
                            </m:r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​</m:t>
                            </m:r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𝑥</m:t>
                            </m:r>
                          </m:e>
                        </m:nary>
                      </m:oMath>
                    </m:oMathPara>
                  </a14:m>
                  <a:endParaRPr kumimoji="1" lang="en-US" altLang="zh-CN" sz="1600" i="1" dirty="0">
                    <a:latin typeface="Cambria Math" panose="02040503050406030204" pitchFamily="18" charset="0"/>
                    <a:ea typeface="宋体" panose="02010600030101010101" pitchFamily="2" charset="-122"/>
                  </a:endParaRPr>
                </a:p>
              </p:txBody>
            </p:sp>
          </mc:Choice>
          <mc:Fallback xmlns="">
            <p:sp>
              <p:nvSpPr>
                <p:cNvPr id="45064" name="Object 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934" y="7362"/>
                  <a:ext cx="2620" cy="940"/>
                </a:xfrm>
                <a:prstGeom prst="rect">
                  <a:avLst/>
                </a:prstGeom>
                <a:blipFill>
                  <a:blip r:embed="rId4"/>
                  <a:stretch>
                    <a:fillRect b="-14286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065" name="Object 9"/>
                <p:cNvSpPr txBox="1"/>
                <p:nvPr/>
              </p:nvSpPr>
              <p:spPr bwMode="auto">
                <a:xfrm>
                  <a:off x="8203" y="7616"/>
                  <a:ext cx="2020" cy="6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=</m:t>
                        </m:r>
                        <m:sSup>
                          <m:s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sSupPr>
                          <m:e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𝑥</m:t>
                            </m:r>
                          </m:e>
                          <m:sup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2</m:t>
                            </m:r>
                          </m:sup>
                        </m:sSup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+</m:t>
                        </m:r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𝐶</m:t>
                        </m:r>
                      </m:oMath>
                    </m:oMathPara>
                  </a14:m>
                  <a:endParaRPr kumimoji="1" lang="en-US" altLang="zh-CN" sz="1500" i="1" dirty="0">
                    <a:latin typeface="Cambria Math" panose="02040503050406030204" pitchFamily="18" charset="0"/>
                    <a:ea typeface="宋体" panose="02010600030101010101" pitchFamily="2" charset="-122"/>
                  </a:endParaRPr>
                </a:p>
              </p:txBody>
            </p:sp>
          </mc:Choice>
          <mc:Fallback xmlns="">
            <p:sp>
              <p:nvSpPr>
                <p:cNvPr id="45065" name="Object 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203" y="7616"/>
                  <a:ext cx="2020" cy="600"/>
                </a:xfrm>
                <a:prstGeom prst="rect">
                  <a:avLst/>
                </a:prstGeom>
                <a:blipFill>
                  <a:blip r:embed="rId5"/>
                  <a:stretch>
                    <a:fillRect b="-9524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5066" name="Text Box 10"/>
            <p:cNvSpPr txBox="1">
              <a:spLocks noChangeArrowheads="1"/>
            </p:cNvSpPr>
            <p:nvPr/>
          </p:nvSpPr>
          <p:spPr bwMode="auto">
            <a:xfrm>
              <a:off x="9924" y="7620"/>
              <a:ext cx="4200" cy="6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ea"/>
                  <a:sym typeface="+mn-lt"/>
                </a:rPr>
                <a:t>(</a:t>
              </a:r>
              <a:r>
                <a:rPr kumimoji="1" lang="en-US" altLang="zh-CN" sz="2200" b="0" i="1" u="none" strike="noStrike" kern="1200" cap="none" spc="0" normalizeH="0" baseline="0" dirty="0">
                  <a:latin typeface="Cambria Math" panose="02040503050406030204" pitchFamily="18" charset="0"/>
                  <a:ea typeface="宋体" panose="02010600030101010101" pitchFamily="2" charset="-122"/>
                  <a:sym typeface="+mn-lt"/>
                </a:rPr>
                <a:t>C </a:t>
              </a:r>
              <a:r>
                <a:rPr kumimoji="1" lang="zh-CN" altLang="en-US" sz="2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ea"/>
                  <a:sym typeface="+mn-lt"/>
                </a:rPr>
                <a:t>为任意常数)</a:t>
              </a:r>
            </a:p>
          </p:txBody>
        </p:sp>
        <p:sp>
          <p:nvSpPr>
            <p:cNvPr id="45067" name="Text Box 11"/>
            <p:cNvSpPr txBox="1">
              <a:spLocks noChangeArrowheads="1"/>
            </p:cNvSpPr>
            <p:nvPr/>
          </p:nvSpPr>
          <p:spPr bwMode="auto">
            <a:xfrm>
              <a:off x="3120" y="8751"/>
              <a:ext cx="3806" cy="8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ea"/>
                  <a:sym typeface="+mn-lt"/>
                </a:rPr>
                <a:t>由 ②</a:t>
              </a:r>
              <a:r>
                <a:rPr kumimoji="1" lang="zh-CN" altLang="en-US" sz="22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ea"/>
                  <a:sym typeface="+mn-lt"/>
                </a:rPr>
                <a:t>式</a:t>
              </a:r>
              <a:r>
                <a:rPr kumimoji="1" lang="zh-CN" altLang="en-US" sz="2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ea"/>
                  <a:sym typeface="+mn-lt"/>
                </a:rPr>
                <a:t>得</a:t>
              </a:r>
              <a:r>
                <a:rPr kumimoji="1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ea"/>
                  <a:sym typeface="+mn-lt"/>
                </a:rPr>
                <a:t> </a:t>
              </a:r>
              <a:r>
                <a:rPr kumimoji="1" lang="en-US" altLang="zh-CN" sz="2200" i="1" u="none" strike="noStrike" kern="1200" cap="none" spc="0" normalizeH="0" baseline="0" dirty="0">
                  <a:latin typeface="Cambria Math" panose="02040503050406030204" pitchFamily="18" charset="0"/>
                  <a:ea typeface="宋体" panose="02010600030101010101" pitchFamily="2" charset="-122"/>
                  <a:sym typeface="+mn-lt"/>
                </a:rPr>
                <a:t>C </a:t>
              </a:r>
              <a:r>
                <a:rPr kumimoji="1" lang="en-US" altLang="zh-CN" sz="2200" u="none" strike="noStrike" kern="1200" cap="none" spc="0" normalizeH="0" baseline="0" dirty="0">
                  <a:latin typeface="Cambria Math" panose="02040503050406030204" pitchFamily="18" charset="0"/>
                  <a:ea typeface="宋体" panose="02010600030101010101" pitchFamily="2" charset="-122"/>
                  <a:sym typeface="+mn-lt"/>
                </a:rPr>
                <a:t>= 1</a:t>
              </a:r>
              <a:r>
                <a:rPr kumimoji="1" lang="en-US" altLang="zh-CN" sz="2200" b="0" u="none" strike="noStrike" kern="1200" cap="none" spc="0" normalizeH="0" baseline="0" dirty="0">
                  <a:latin typeface="Cambria Math" panose="02040503050406030204" pitchFamily="18" charset="0"/>
                  <a:ea typeface="宋体" panose="02010600030101010101" pitchFamily="2" charset="-122"/>
                  <a:sym typeface="+mn-lt"/>
                </a:rPr>
                <a:t>,</a:t>
              </a:r>
              <a:endParaRPr kumimoji="1" lang="en-US" altLang="zh-CN" sz="2800" b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068" name="Object 12"/>
                <p:cNvSpPr txBox="1"/>
                <p:nvPr/>
              </p:nvSpPr>
              <p:spPr bwMode="auto">
                <a:xfrm>
                  <a:off x="11165" y="8832"/>
                  <a:ext cx="2260" cy="72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 fontScale="925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𝑦</m:t>
                        </m:r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=</m:t>
                        </m:r>
                        <m:sSup>
                          <m:s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sSupPr>
                          <m:e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𝑥</m:t>
                            </m:r>
                          </m:e>
                          <m:sup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2</m:t>
                            </m:r>
                          </m:sup>
                        </m:sSup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+1</m:t>
                        </m:r>
                      </m:oMath>
                    </m:oMathPara>
                  </a14:m>
                  <a:endParaRPr kumimoji="1" lang="en-US" altLang="zh-CN" sz="2200" i="1" dirty="0">
                    <a:latin typeface="Cambria Math" panose="02040503050406030204" pitchFamily="18" charset="0"/>
                    <a:ea typeface="宋体" panose="02010600030101010101" pitchFamily="2" charset="-122"/>
                  </a:endParaRPr>
                </a:p>
              </p:txBody>
            </p:sp>
          </mc:Choice>
          <mc:Fallback xmlns="">
            <p:sp>
              <p:nvSpPr>
                <p:cNvPr id="45068" name="Object 1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1165" y="8832"/>
                  <a:ext cx="2260" cy="72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5069" name="Text Box 13"/>
            <p:cNvSpPr txBox="1">
              <a:spLocks noChangeArrowheads="1"/>
            </p:cNvSpPr>
            <p:nvPr/>
          </p:nvSpPr>
          <p:spPr bwMode="auto">
            <a:xfrm>
              <a:off x="6549" y="8889"/>
              <a:ext cx="5620" cy="6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ea"/>
                  <a:sym typeface="+mn-lt"/>
                </a:rPr>
                <a:t>因此所求曲线方程为</a:t>
              </a:r>
              <a:endPara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endParaRPr>
            </a:p>
          </p:txBody>
        </p:sp>
        <p:sp>
          <p:nvSpPr>
            <p:cNvPr id="45071" name="AutoShape 15"/>
            <p:cNvSpPr/>
            <p:nvPr/>
          </p:nvSpPr>
          <p:spPr bwMode="auto">
            <a:xfrm>
              <a:off x="4506" y="4899"/>
              <a:ext cx="240" cy="1930"/>
            </a:xfrm>
            <a:prstGeom prst="leftBrace">
              <a:avLst>
                <a:gd name="adj1" fmla="val 67014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endParaRPr>
            </a:p>
          </p:txBody>
        </p:sp>
        <p:sp>
          <p:nvSpPr>
            <p:cNvPr id="45072" name="Text Box 16"/>
            <p:cNvSpPr txBox="1">
              <a:spLocks noChangeArrowheads="1"/>
            </p:cNvSpPr>
            <p:nvPr/>
          </p:nvSpPr>
          <p:spPr bwMode="auto">
            <a:xfrm>
              <a:off x="7772" y="6246"/>
              <a:ext cx="1320" cy="6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ea"/>
                  <a:sym typeface="+mn-lt"/>
                </a:rPr>
                <a:t>②</a:t>
              </a:r>
            </a:p>
          </p:txBody>
        </p:sp>
        <p:sp>
          <p:nvSpPr>
            <p:cNvPr id="45073" name="Text Box 17"/>
            <p:cNvSpPr txBox="1">
              <a:spLocks noChangeArrowheads="1"/>
            </p:cNvSpPr>
            <p:nvPr/>
          </p:nvSpPr>
          <p:spPr bwMode="auto">
            <a:xfrm>
              <a:off x="3120" y="7621"/>
              <a:ext cx="2582" cy="6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ea"/>
                  <a:sym typeface="+mn-lt"/>
                </a:rPr>
                <a:t>由 ①</a:t>
              </a:r>
              <a:r>
                <a:rPr kumimoji="1" lang="zh-CN" altLang="en-US" sz="22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ea"/>
                  <a:sym typeface="+mn-lt"/>
                </a:rPr>
                <a:t>式</a:t>
              </a:r>
              <a:r>
                <a:rPr kumimoji="1" lang="zh-CN" altLang="en-US" sz="2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ea"/>
                  <a:sym typeface="+mn-lt"/>
                </a:rPr>
                <a:t>得</a:t>
              </a:r>
            </a:p>
          </p:txBody>
        </p:sp>
        <p:sp>
          <p:nvSpPr>
            <p:cNvPr id="45074" name="Text Box 18"/>
            <p:cNvSpPr txBox="1">
              <a:spLocks noChangeArrowheads="1"/>
            </p:cNvSpPr>
            <p:nvPr/>
          </p:nvSpPr>
          <p:spPr bwMode="auto">
            <a:xfrm>
              <a:off x="3120" y="2827"/>
              <a:ext cx="5663" cy="8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ea"/>
                  <a:sym typeface="+mn-lt"/>
                </a:rPr>
                <a:t>求该曲线的方程</a:t>
              </a:r>
              <a:r>
                <a:rPr kumimoji="1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ea"/>
                  <a:sym typeface="+mn-lt"/>
                </a:rPr>
                <a:t>.    </a:t>
              </a:r>
              <a:endPara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629DD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对象 3"/>
                <p:cNvSpPr txBox="1"/>
                <p:nvPr/>
              </p:nvSpPr>
              <p:spPr>
                <a:xfrm>
                  <a:off x="4782" y="6294"/>
                  <a:ext cx="2639" cy="780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zh-CN" sz="22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  <m:d>
                          <m:dPr>
                            <m:begChr m:val="|"/>
                            <m:endChr m:val=""/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plcHide m:val="on"/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kumimoji="1" lang="en-US" altLang="zh-CN" sz="2200" i="1" baseline="-15000" dirty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/>
                              </m:mr>
                              <m:mr>
                                <m:e>
                                  <m:r>
                                    <a:rPr kumimoji="1" lang="en-US" altLang="zh-CN" sz="2200" i="1" baseline="-15000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kumimoji="1" lang="en-US" altLang="zh-CN" sz="2200" i="1" baseline="-5000" dirty="0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e>
                              </m:mr>
                            </m:m>
                          </m:e>
                        </m:d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</a:rPr>
                          <m:t>=2,</m:t>
                        </m:r>
                      </m:oMath>
                    </m:oMathPara>
                  </a14:m>
                  <a:endParaRPr kumimoji="1" lang="en-US" altLang="zh-CN" sz="2200" i="1" dirty="0"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1" name="对象 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82" y="6294"/>
                  <a:ext cx="2639" cy="780"/>
                </a:xfrm>
                <a:prstGeom prst="rect">
                  <a:avLst/>
                </a:prstGeom>
                <a:blipFill>
                  <a:blip r:embed="rId7"/>
                  <a:stretch>
                    <a:fillRect b="-1219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3" name="组合 2"/>
            <p:cNvGrpSpPr/>
            <p:nvPr/>
          </p:nvGrpSpPr>
          <p:grpSpPr>
            <a:xfrm>
              <a:off x="3176" y="1861"/>
              <a:ext cx="15590" cy="740"/>
              <a:chOff x="3176" y="1861"/>
              <a:chExt cx="15590" cy="74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" name="对象 2"/>
                  <p:cNvSpPr txBox="1"/>
                  <p:nvPr/>
                </p:nvSpPr>
                <p:spPr>
                  <a:xfrm>
                    <a:off x="3176" y="1861"/>
                    <a:ext cx="15590" cy="740"/>
                  </a:xfrm>
                  <a:prstGeom prst="rect">
                    <a:avLst/>
                  </a:prstGeom>
                </p:spPr>
                <p:txBody>
                  <a:bodyPr>
                    <a:no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kumimoji="1" lang="zh-CN" altLang="en-US" sz="2800" noProof="0" dirty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一曲线通过点</m:t>
                          </m:r>
                          <m:d>
                            <m:dPr>
                              <m:ctrlPr>
                                <a:rPr kumimoji="1" lang="en-US" altLang="zh-CN" sz="28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dPr>
                            <m:e>
                              <m:r>
                                <a:rPr kumimoji="1" lang="en-US" altLang="zh-CN" sz="28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1,2</m:t>
                              </m:r>
                            </m:e>
                          </m:d>
                          <m:r>
                            <a:rPr kumimoji="1" lang="zh-CN" altLang="en-US" sz="2800" noProof="0" dirty="0">
                              <a:ln>
                                <a:noFill/>
                              </a:ln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800" noProof="0" dirty="0">
                              <a:ln>
                                <a:noFill/>
                              </a:ln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在该曲线上任意点</m:t>
                          </m:r>
                          <m:d>
                            <m:dPr>
                              <m:ctrlPr>
                                <a:rPr kumimoji="1" lang="en-US" altLang="zh-CN" sz="28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CN" sz="28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kumimoji="1" lang="en-US" altLang="zh-CN" sz="2800" i="1" dirty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kumimoji="1" lang="en-US" altLang="zh-CN" sz="2800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  <m:r>
                            <a:rPr kumimoji="1" lang="zh-CN" altLang="en-US" sz="2800" noProof="0" dirty="0">
                              <a:ln>
                                <a:noFill/>
                              </a:ln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处的切线斜率为</m:t>
                          </m:r>
                          <m:r>
                            <a:rPr kumimoji="1" lang="en-US" altLang="zh-CN" sz="28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2</m:t>
                          </m:r>
                          <m:r>
                            <a:rPr kumimoji="1" lang="en-US" altLang="zh-CN" sz="28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𝑥</m:t>
                          </m:r>
                          <m:r>
                            <a:rPr kumimoji="1" lang="en-US" altLang="zh-CN" sz="28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,</m:t>
                          </m:r>
                        </m:oMath>
                      </m:oMathPara>
                    </a14:m>
                    <a:endParaRPr kumimoji="1" lang="en-US" altLang="zh-CN" sz="2800" i="1" dirty="0">
                      <a:latin typeface="Cambria Math" panose="02040503050406030204" pitchFamily="18" charset="0"/>
                      <a:ea typeface="宋体" panose="02010600030101010101" pitchFamily="2" charset="-122"/>
                    </a:endParaRPr>
                  </a:p>
                </p:txBody>
              </p:sp>
            </mc:Choice>
            <mc:Fallback xmlns="">
              <p:sp>
                <p:nvSpPr>
                  <p:cNvPr id="20" name="对象 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176" y="1861"/>
                    <a:ext cx="15590" cy="740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8" name="矩形 7"/>
              <p:cNvSpPr/>
              <p:nvPr/>
            </p:nvSpPr>
            <p:spPr>
              <a:xfrm>
                <a:off x="17897" y="2059"/>
                <a:ext cx="597" cy="54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字魂36号-正文宋楷" panose="00000500000000000000" pitchFamily="2" charset="-122"/>
                  <a:ea typeface="字魂36号-正文宋楷" panose="00000500000000000000" pitchFamily="2" charset="-122"/>
                </a:endParaRPr>
              </a:p>
            </p:txBody>
          </p:sp>
        </p:grpSp>
        <p:grpSp>
          <p:nvGrpSpPr>
            <p:cNvPr id="5" name="组合 4"/>
            <p:cNvGrpSpPr/>
            <p:nvPr/>
          </p:nvGrpSpPr>
          <p:grpSpPr>
            <a:xfrm>
              <a:off x="3120" y="3848"/>
              <a:ext cx="7840" cy="700"/>
              <a:chOff x="3120" y="3848"/>
              <a:chExt cx="7840" cy="70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对象 1"/>
                  <p:cNvSpPr txBox="1"/>
                  <p:nvPr/>
                </p:nvSpPr>
                <p:spPr>
                  <a:xfrm>
                    <a:off x="3120" y="3848"/>
                    <a:ext cx="7840" cy="700"/>
                  </a:xfrm>
                  <a:prstGeom prst="rect">
                    <a:avLst/>
                  </a:prstGeom>
                </p:spPr>
                <p:txBody>
                  <a:bodyPr>
                    <a:norm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kumimoji="1" lang="zh-CN" altLang="en-US" sz="220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ea"/>
                            </a:rPr>
                            <m:t>设所求曲线方程为</m:t>
                          </m:r>
                          <m:r>
                            <a:rPr kumimoji="1" lang="en-US" altLang="zh-CN" sz="22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𝑦</m:t>
                          </m:r>
                          <m:r>
                            <a:rPr kumimoji="1" lang="en-US" altLang="zh-CN" sz="22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=</m:t>
                          </m:r>
                          <m:r>
                            <a:rPr kumimoji="1" lang="en-US" altLang="zh-CN" sz="22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𝑦</m:t>
                          </m:r>
                          <m:r>
                            <a:rPr kumimoji="1" lang="en-US" altLang="zh-CN" sz="22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(</m:t>
                          </m:r>
                          <m:r>
                            <a:rPr kumimoji="1" lang="en-US" altLang="zh-CN" sz="22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𝑥</m:t>
                          </m:r>
                          <m:r>
                            <a:rPr kumimoji="1" lang="en-US" altLang="zh-CN" sz="22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),</m:t>
                          </m:r>
                          <m:r>
                            <a:rPr kumimoji="1" lang="zh-CN" altLang="en-US" sz="220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ea"/>
                            </a:rPr>
                            <m:t>则有</m:t>
                          </m:r>
                        </m:oMath>
                      </m:oMathPara>
                    </a14:m>
                    <a:endParaRPr kumimoji="1" lang="zh-CN" altLang="en-US" sz="220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黑体" panose="02010609060101010101" pitchFamily="49" charset="-122"/>
                      <a:ea typeface="黑体" panose="02010609060101010101" pitchFamily="49" charset="-122"/>
                      <a:cs typeface="+mn-ea"/>
                    </a:endParaRPr>
                  </a:p>
                </p:txBody>
              </p:sp>
            </mc:Choice>
            <mc:Fallback xmlns="">
              <p:sp>
                <p:nvSpPr>
                  <p:cNvPr id="19" name="对象 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120" y="3848"/>
                    <a:ext cx="7840" cy="700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857" b="-15068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4" name="矩形 3"/>
              <p:cNvSpPr/>
              <p:nvPr/>
            </p:nvSpPr>
            <p:spPr>
              <a:xfrm>
                <a:off x="9626" y="3850"/>
                <a:ext cx="597" cy="54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字魂36号-正文宋楷" panose="00000500000000000000" pitchFamily="2" charset="-122"/>
                  <a:ea typeface="字魂36号-正文宋楷" panose="00000500000000000000" pitchFamily="2" charset="-122"/>
                </a:endParaRPr>
              </a:p>
            </p:txBody>
          </p:sp>
        </p:grpSp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6C8BB988-205E-A3DE-6466-721C8AE0EB60}"/>
              </a:ext>
            </a:extLst>
          </p:cNvPr>
          <p:cNvGrpSpPr/>
          <p:nvPr/>
        </p:nvGrpSpPr>
        <p:grpSpPr>
          <a:xfrm>
            <a:off x="223285" y="282481"/>
            <a:ext cx="11733410" cy="6278873"/>
            <a:chOff x="223285" y="282481"/>
            <a:chExt cx="11733410" cy="6278873"/>
          </a:xfrm>
        </p:grpSpPr>
        <p:sp>
          <p:nvSpPr>
            <p:cNvPr id="50" name="Rectangle 1">
              <a:extLst>
                <a:ext uri="{FF2B5EF4-FFF2-40B4-BE49-F238E27FC236}">
                  <a16:creationId xmlns:a16="http://schemas.microsoft.com/office/drawing/2014/main" id="{CBE9A9CD-469C-71C4-AA4E-898352288BD7}"/>
                </a:ext>
              </a:extLst>
            </p:cNvPr>
            <p:cNvSpPr/>
            <p:nvPr/>
          </p:nvSpPr>
          <p:spPr>
            <a:xfrm>
              <a:off x="297498" y="6365572"/>
              <a:ext cx="82948" cy="81477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73000"/>
                  </a:srgbClr>
                </a:gs>
                <a:gs pos="61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" name="Rectangle 1">
              <a:extLst>
                <a:ext uri="{FF2B5EF4-FFF2-40B4-BE49-F238E27FC236}">
                  <a16:creationId xmlns:a16="http://schemas.microsoft.com/office/drawing/2014/main" id="{7B543F78-6091-7B38-DFA5-6040C657863D}"/>
                </a:ext>
              </a:extLst>
            </p:cNvPr>
            <p:cNvSpPr/>
            <p:nvPr/>
          </p:nvSpPr>
          <p:spPr>
            <a:xfrm rot="2659048">
              <a:off x="10101405" y="342262"/>
              <a:ext cx="147664" cy="140036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73000"/>
                  </a:srgbClr>
                </a:gs>
                <a:gs pos="61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16773587-97E9-5798-FB32-4B9E7E01F870}"/>
                </a:ext>
              </a:extLst>
            </p:cNvPr>
            <p:cNvSpPr/>
            <p:nvPr/>
          </p:nvSpPr>
          <p:spPr>
            <a:xfrm>
              <a:off x="564013" y="6254649"/>
              <a:ext cx="2421890" cy="30670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第一节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</a:t>
              </a:r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微分方程的基本概念</a:t>
              </a:r>
              <a:endParaRPr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3" name="矩形 52">
              <a:extLst>
                <a:ext uri="{FF2B5EF4-FFF2-40B4-BE49-F238E27FC236}">
                  <a16:creationId xmlns:a16="http://schemas.microsoft.com/office/drawing/2014/main" id="{8DD34552-1BBC-4AA0-4708-F39778986A07}"/>
                </a:ext>
              </a:extLst>
            </p:cNvPr>
            <p:cNvSpPr/>
            <p:nvPr/>
          </p:nvSpPr>
          <p:spPr>
            <a:xfrm>
              <a:off x="10356577" y="282481"/>
              <a:ext cx="1600118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l"/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第七章   </a:t>
              </a:r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微分方程</a:t>
              </a:r>
              <a:endPara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F5832BF8-0EC5-E469-6DA8-D141FE65FC32}"/>
                </a:ext>
              </a:extLst>
            </p:cNvPr>
            <p:cNvCxnSpPr/>
            <p:nvPr/>
          </p:nvCxnSpPr>
          <p:spPr>
            <a:xfrm>
              <a:off x="223285" y="425311"/>
              <a:ext cx="9648000" cy="0"/>
            </a:xfrm>
            <a:prstGeom prst="line">
              <a:avLst/>
            </a:prstGeom>
            <a:ln>
              <a:solidFill>
                <a:srgbClr val="0492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EA07266F-D75B-1403-0661-330814EADA8F}"/>
                </a:ext>
              </a:extLst>
            </p:cNvPr>
            <p:cNvCxnSpPr/>
            <p:nvPr/>
          </p:nvCxnSpPr>
          <p:spPr>
            <a:xfrm>
              <a:off x="3237164" y="6403508"/>
              <a:ext cx="8712000" cy="0"/>
            </a:xfrm>
            <a:prstGeom prst="line">
              <a:avLst/>
            </a:prstGeom>
            <a:ln>
              <a:solidFill>
                <a:srgbClr val="BBBBB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2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-4968" y="3810"/>
            <a:ext cx="12192000" cy="6858000"/>
            <a:chOff x="0" y="0"/>
            <a:chExt cx="19200" cy="10800"/>
          </a:xfrm>
        </p:grpSpPr>
        <p:sp>
          <p:nvSpPr>
            <p:cNvPr id="16" name="Rectangle 1"/>
            <p:cNvSpPr/>
            <p:nvPr/>
          </p:nvSpPr>
          <p:spPr>
            <a:xfrm>
              <a:off x="0" y="0"/>
              <a:ext cx="19200" cy="10800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88000"/>
                  </a:srgbClr>
                </a:gs>
                <a:gs pos="55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圆角矩形 16"/>
            <p:cNvSpPr/>
            <p:nvPr/>
          </p:nvSpPr>
          <p:spPr>
            <a:xfrm>
              <a:off x="354" y="310"/>
              <a:ext cx="18493" cy="10167"/>
            </a:xfrm>
            <a:prstGeom prst="roundRect">
              <a:avLst>
                <a:gd name="adj" fmla="val 3499"/>
              </a:avLst>
            </a:prstGeom>
            <a:solidFill>
              <a:schemeClr val="bg1"/>
            </a:solidFill>
            <a:ln>
              <a:solidFill>
                <a:srgbClr val="17908C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18" name="Text Box 59"/>
          <p:cNvSpPr txBox="1">
            <a:spLocks noChangeArrowheads="1"/>
          </p:cNvSpPr>
          <p:nvPr/>
        </p:nvSpPr>
        <p:spPr bwMode="auto">
          <a:xfrm>
            <a:off x="2265680" y="576580"/>
            <a:ext cx="162179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在例</a:t>
            </a:r>
            <a:r>
              <a:rPr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2</a:t>
            </a:r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中</a:t>
            </a:r>
            <a:endParaRPr lang="zh-CN" altLang="en-US" sz="2800" b="1" dirty="0">
              <a:solidFill>
                <a:srgbClr val="0000FF"/>
              </a:solidFill>
              <a:latin typeface="+mn-ea"/>
            </a:endParaRPr>
          </a:p>
        </p:txBody>
      </p:sp>
      <p:grpSp>
        <p:nvGrpSpPr>
          <p:cNvPr id="57" name="组合 56"/>
          <p:cNvGrpSpPr/>
          <p:nvPr/>
        </p:nvGrpSpPr>
        <p:grpSpPr>
          <a:xfrm>
            <a:off x="1204595" y="614045"/>
            <a:ext cx="990600" cy="449580"/>
            <a:chOff x="1553" y="3802"/>
            <a:chExt cx="1560" cy="708"/>
          </a:xfrm>
        </p:grpSpPr>
        <p:sp>
          <p:nvSpPr>
            <p:cNvPr id="58" name="圆角矩形 57"/>
            <p:cNvSpPr/>
            <p:nvPr/>
          </p:nvSpPr>
          <p:spPr>
            <a:xfrm>
              <a:off x="1553" y="3803"/>
              <a:ext cx="1474" cy="707"/>
            </a:xfrm>
            <a:prstGeom prst="roundRect">
              <a:avLst/>
            </a:prstGeom>
            <a:solidFill>
              <a:srgbClr val="0492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9" name="Text Box 28"/>
            <p:cNvSpPr txBox="1">
              <a:spLocks noChangeArrowheads="1"/>
            </p:cNvSpPr>
            <p:nvPr/>
          </p:nvSpPr>
          <p:spPr bwMode="auto">
            <a:xfrm>
              <a:off x="1675" y="3802"/>
              <a:ext cx="1438" cy="6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bIns="0">
              <a:spAutoFit/>
            </a:bodyPr>
            <a:lstStyle>
              <a:lvl1pPr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defRPr/>
              </a:pPr>
              <a:r>
                <a:rPr kumimoji="1" lang="zh-CN" altLang="en-US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例如</a:t>
              </a:r>
              <a:r>
                <a:rPr kumimoji="1" lang="en-US" altLang="zh-CN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:</a:t>
              </a:r>
              <a:endParaRPr kumimoji="1" lang="zh-CN" altLang="en-US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pitchFamily="34" charset="-122"/>
              </a:endParaRPr>
            </a:p>
          </p:txBody>
        </p:sp>
      </p:grpSp>
      <p:sp>
        <p:nvSpPr>
          <p:cNvPr id="36" name="椭圆形标注 35"/>
          <p:cNvSpPr/>
          <p:nvPr/>
        </p:nvSpPr>
        <p:spPr>
          <a:xfrm>
            <a:off x="4946650" y="5612130"/>
            <a:ext cx="2726690" cy="549910"/>
          </a:xfrm>
          <a:prstGeom prst="wedgeEllipseCallout">
            <a:avLst>
              <a:gd name="adj1" fmla="val 75094"/>
              <a:gd name="adj2" fmla="val -13421"/>
            </a:avLst>
          </a:prstGeom>
          <a:noFill/>
          <a:ln w="19050">
            <a:solidFill>
              <a:srgbClr val="04926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grpSp>
        <p:nvGrpSpPr>
          <p:cNvPr id="4" name="组合 3"/>
          <p:cNvGrpSpPr/>
          <p:nvPr/>
        </p:nvGrpSpPr>
        <p:grpSpPr>
          <a:xfrm>
            <a:off x="1423670" y="1174750"/>
            <a:ext cx="10511155" cy="4937125"/>
            <a:chOff x="1822" y="1810"/>
            <a:chExt cx="16553" cy="7775"/>
          </a:xfrm>
        </p:grpSpPr>
        <p:sp>
          <p:nvSpPr>
            <p:cNvPr id="9" name="Text Box 7"/>
            <p:cNvSpPr txBox="1">
              <a:spLocks noChangeArrowheads="1"/>
            </p:cNvSpPr>
            <p:nvPr/>
          </p:nvSpPr>
          <p:spPr bwMode="auto">
            <a:xfrm>
              <a:off x="11331" y="4787"/>
              <a:ext cx="1080" cy="6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algn="l" defTabSz="914400" rtl="0" eaLnBrk="1" latinLnBrk="0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zh-CN" altLang="en-US" sz="220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ea"/>
                  <a:sym typeface="+mn-lt"/>
                </a:rPr>
                <a:t>①</a:t>
              </a:r>
            </a:p>
          </p:txBody>
        </p:sp>
        <p:sp>
          <p:nvSpPr>
            <p:cNvPr id="10" name="文本框 9"/>
            <p:cNvSpPr txBox="1"/>
            <p:nvPr/>
          </p:nvSpPr>
          <p:spPr bwMode="auto">
            <a:xfrm>
              <a:off x="11331" y="5818"/>
              <a:ext cx="728" cy="6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2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ea"/>
                </a:rPr>
                <a:t>②</a:t>
              </a:r>
            </a:p>
          </p:txBody>
        </p:sp>
        <p:grpSp>
          <p:nvGrpSpPr>
            <p:cNvPr id="3" name="组合 2"/>
            <p:cNvGrpSpPr/>
            <p:nvPr/>
          </p:nvGrpSpPr>
          <p:grpSpPr>
            <a:xfrm>
              <a:off x="1822" y="1810"/>
              <a:ext cx="16553" cy="7775"/>
              <a:chOff x="1822" y="1810"/>
              <a:chExt cx="16553" cy="7775"/>
            </a:xfrm>
          </p:grpSpPr>
          <p:sp>
            <p:nvSpPr>
              <p:cNvPr id="45058" name="Rectangle 2"/>
              <p:cNvSpPr>
                <a:spLocks noGrp="1" noChangeArrowheads="1"/>
              </p:cNvSpPr>
              <p:nvPr/>
            </p:nvSpPr>
            <p:spPr>
              <a:xfrm>
                <a:off x="1822" y="1810"/>
                <a:ext cx="1920" cy="108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0033CC"/>
                    </a:solidFill>
                  </a14:hiddenFill>
                </a:ext>
                <a:ext uri="{91240B29-F687-4F45-9708-019B960494DF}">
                  <a14:hiddenLine xmlns:a14="http://schemas.microsoft.com/office/drawing/2010/main" w="76200">
                    <a:solidFill>
                      <a:schemeClr val="accent2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2800" b="1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l"/>
                <a:r>
                  <a:rPr lang="zh-CN" altLang="en-US" sz="2800" b="1" dirty="0">
                    <a:solidFill>
                      <a:srgbClr val="04926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+mn-lt"/>
                  </a:rPr>
                  <a:t>例</a:t>
                </a:r>
                <a:r>
                  <a:rPr lang="en-US" altLang="zh-CN" sz="2800" b="1" dirty="0">
                    <a:solidFill>
                      <a:srgbClr val="04926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+mn-lt"/>
                  </a:rPr>
                  <a:t>2</a:t>
                </a:r>
                <a:endParaRPr lang="en-US" altLang="zh-CN" sz="2800" b="1" dirty="0"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5074" name="Text Box 1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120" y="2860"/>
                    <a:ext cx="4250" cy="846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square">
                    <a:sp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14:m>
                      <m:oMath xmlns:m="http://schemas.openxmlformats.org/officeDocument/2006/math"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𝑎</m:t>
                        </m:r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=−0.4</m:t>
                        </m:r>
                        <m:f>
                          <m:fPr>
                            <m:type m:val="lin"/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kumimoji="1" lang="en-US" altLang="zh-CN" sz="2800" i="0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m</m:t>
                            </m:r>
                          </m:num>
                          <m:den>
                            <m:sSup>
                              <m:sSupPr>
                                <m:ctrlP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Cambria Math" panose="02040503050406030204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kumimoji="1" lang="en-US" altLang="zh-CN" sz="2800" i="0" dirty="0">
                                    <a:latin typeface="Cambria Math" panose="02040503050406030204" charset="0"/>
                                    <a:ea typeface="宋体" panose="02010600030101010101" pitchFamily="2" charset="-122"/>
                                    <a:cs typeface="Cambria Math" panose="02040503050406030204" charset="0"/>
                                  </a:rPr>
                                  <m:t>s</m:t>
                                </m:r>
                              </m:e>
                              <m:sup>
                                <m:r>
                                  <a:rPr kumimoji="1" lang="en-US" altLang="zh-CN" sz="2800" i="0" dirty="0">
                                    <a:latin typeface="Cambria Math" panose="02040503050406030204" charset="0"/>
                                    <a:ea typeface="宋体" panose="02010600030101010101" pitchFamily="2" charset="-122"/>
                                    <a:cs typeface="Cambria Math" panose="02040503050406030204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oMath>
                    </a14:m>
                    <a:r>
                      <a:rPr kumimoji="1" lang="en-US" altLang="zh-CN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黑体" panose="02010609060101010101" pitchFamily="49" charset="-122"/>
                        <a:ea typeface="黑体" panose="02010609060101010101" pitchFamily="49" charset="-122"/>
                        <a:cs typeface="+mn-ea"/>
                        <a:sym typeface="+mn-lt"/>
                      </a:rPr>
                      <a:t>    </a:t>
                    </a:r>
                    <a:endParaRPr kumimoji="1" lang="en-US" altLang="zh-CN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629DD1"/>
                      </a:solidFill>
                      <a:effectLst/>
                      <a:uLnTx/>
                      <a:uFillTx/>
                      <a:latin typeface="黑体" panose="02010609060101010101" pitchFamily="49" charset="-122"/>
                      <a:ea typeface="黑体" panose="02010609060101010101" pitchFamily="49" charset="-122"/>
                      <a:cs typeface="+mn-ea"/>
                      <a:sym typeface="+mn-lt"/>
                    </a:endParaRPr>
                  </a:p>
                </p:txBody>
              </p:sp>
            </mc:Choice>
            <mc:Fallback xmlns="">
              <p:sp>
                <p:nvSpPr>
                  <p:cNvPr id="45074" name="Text Box 1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3120" y="2860"/>
                    <a:ext cx="4250" cy="846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" name="对象 2"/>
                  <p:cNvSpPr txBox="1"/>
                  <p:nvPr/>
                </p:nvSpPr>
                <p:spPr>
                  <a:xfrm>
                    <a:off x="3176" y="1861"/>
                    <a:ext cx="15199" cy="740"/>
                  </a:xfrm>
                  <a:prstGeom prst="rect">
                    <a:avLst/>
                  </a:prstGeom>
                </p:spPr>
                <p:txBody>
                  <a:bodyPr>
                    <a:no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kumimoji="1" lang="zh-CN" altLang="en-US" sz="2800" noProof="0" dirty="0">
                              <a:ln>
                                <a:noFill/>
                              </a:ln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effectLst/>
                              <a:uLnTx/>
                              <a:uFillTx/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列车在平行线上以</m:t>
                          </m:r>
                          <m:r>
                            <a:rPr kumimoji="1" lang="en-US" altLang="zh-CN" sz="28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20</m:t>
                          </m:r>
                          <m:r>
                            <m:rPr>
                              <m:sty m:val="p"/>
                            </m:rPr>
                            <a:rPr kumimoji="1" lang="en-US" altLang="zh-CN" sz="2800" i="0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m</m:t>
                          </m:r>
                          <m:r>
                            <a:rPr kumimoji="1" lang="en-US" altLang="zh-CN" sz="2800" i="0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/</m:t>
                          </m:r>
                          <m:r>
                            <m:rPr>
                              <m:sty m:val="p"/>
                            </m:rPr>
                            <a:rPr kumimoji="1" lang="en-US" altLang="zh-CN" sz="2800" i="0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s</m:t>
                          </m:r>
                          <m:r>
                            <a:rPr kumimoji="1" lang="zh-CN" altLang="en-US" sz="2800" noProof="0" dirty="0">
                              <a:ln>
                                <a:noFill/>
                              </a:ln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effectLst/>
                              <a:uLnTx/>
                              <a:uFillTx/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的速度行驶</m:t>
                          </m:r>
                          <m:r>
                            <a:rPr kumimoji="1" lang="en-US" altLang="zh-CN" sz="28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kumimoji="1" lang="zh-CN" altLang="en-US" sz="2800" noProof="0" dirty="0">
                              <a:ln>
                                <a:noFill/>
                              </a:ln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effectLst/>
                              <a:uLnTx/>
                              <a:uFillTx/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制动时获得加速度</m:t>
                          </m:r>
                        </m:oMath>
                      </m:oMathPara>
                    </a14:m>
                    <a:endParaRPr kumimoji="1" lang="zh-CN" altLang="en-US" sz="2800" noProof="0" dirty="0">
                      <a:ln>
                        <a:noFill/>
                      </a:ln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effectLst/>
                      <a:uLnTx/>
                      <a:uFillTx/>
                      <a:latin typeface="Cambria Math" panose="02040503050406030204" charset="0"/>
                      <a:ea typeface="黑体" panose="02010609060101010101" pitchFamily="49" charset="-122"/>
                      <a:cs typeface="Cambria Math" panose="02040503050406030204" charset="0"/>
                    </a:endParaRPr>
                  </a:p>
                </p:txBody>
              </p:sp>
            </mc:Choice>
            <mc:Fallback xmlns="">
              <p:sp>
                <p:nvSpPr>
                  <p:cNvPr id="20" name="对象 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176" y="1861"/>
                    <a:ext cx="15199" cy="740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8199" name="Text Box 7"/>
              <p:cNvSpPr txBox="1">
                <a:spLocks noChangeArrowheads="1"/>
              </p:cNvSpPr>
              <p:nvPr/>
            </p:nvSpPr>
            <p:spPr bwMode="auto">
              <a:xfrm>
                <a:off x="6954" y="2868"/>
                <a:ext cx="6840" cy="8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ea"/>
                    <a:sym typeface="+mn-lt"/>
                  </a:rPr>
                  <a:t>求制动后列车的运动规律</a:t>
                </a:r>
                <a:r>
                  <a:rPr kumimoji="1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ea"/>
                    <a:sym typeface="+mn-lt"/>
                  </a:rPr>
                  <a:t>.</a:t>
                </a:r>
              </a:p>
            </p:txBody>
          </p:sp>
          <p:sp>
            <p:nvSpPr>
              <p:cNvPr id="8201" name="Text Box 9"/>
              <p:cNvSpPr txBox="1">
                <a:spLocks noChangeArrowheads="1"/>
              </p:cNvSpPr>
              <p:nvPr/>
            </p:nvSpPr>
            <p:spPr bwMode="auto">
              <a:xfrm>
                <a:off x="1822" y="3794"/>
                <a:ext cx="1170" cy="82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sz="2800" b="1" i="0" u="none" strike="noStrike" kern="1200" cap="none" spc="0" normalizeH="0" baseline="0" dirty="0">
                    <a:solidFill>
                      <a:srgbClr val="04926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j-cs"/>
                    <a:sym typeface="+mn-lt"/>
                  </a:rPr>
                  <a:t>解</a:t>
                </a:r>
              </a:p>
            </p:txBody>
          </p:sp>
          <p:sp>
            <p:nvSpPr>
              <p:cNvPr id="8203" name="Text Box 11"/>
              <p:cNvSpPr txBox="1">
                <a:spLocks noChangeArrowheads="1"/>
              </p:cNvSpPr>
              <p:nvPr/>
            </p:nvSpPr>
            <p:spPr bwMode="auto">
              <a:xfrm>
                <a:off x="3174" y="5273"/>
                <a:ext cx="2160" cy="6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zh-CN" alt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ea"/>
                    <a:sym typeface="+mn-lt"/>
                  </a:rPr>
                  <a:t>已知</a:t>
                </a:r>
                <a:endParaRPr kumimoji="1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ea"/>
                  <a:sym typeface="+mn-lt"/>
                </a:endParaRPr>
              </a:p>
            </p:txBody>
          </p:sp>
          <p:sp>
            <p:nvSpPr>
              <p:cNvPr id="8209" name="Text Box 17"/>
              <p:cNvSpPr txBox="1">
                <a:spLocks noChangeArrowheads="1"/>
              </p:cNvSpPr>
              <p:nvPr/>
            </p:nvSpPr>
            <p:spPr bwMode="auto">
              <a:xfrm>
                <a:off x="3174" y="7123"/>
                <a:ext cx="2580" cy="6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zh-CN" alt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ea"/>
                    <a:sym typeface="+mn-lt"/>
                  </a:rPr>
                  <a:t>由①式得</a:t>
                </a:r>
                <a:endParaRPr kumimoji="1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ea"/>
                  <a:sym typeface="+mn-lt"/>
                </a:endParaRPr>
              </a:p>
            </p:txBody>
          </p:sp>
          <p:sp>
            <p:nvSpPr>
              <p:cNvPr id="8214" name="Text Box 22"/>
              <p:cNvSpPr txBox="1">
                <a:spLocks noChangeArrowheads="1"/>
              </p:cNvSpPr>
              <p:nvPr/>
            </p:nvSpPr>
            <p:spPr bwMode="auto">
              <a:xfrm>
                <a:off x="3174" y="8042"/>
                <a:ext cx="5778" cy="6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zh-CN" alt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ea"/>
                    <a:sym typeface="+mn-lt"/>
                  </a:rPr>
                  <a:t>利用②</a:t>
                </a:r>
                <a:r>
                  <a:rPr kumimoji="1" lang="zh-CN" altLang="en-US" sz="22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ea"/>
                    <a:sym typeface="+mn-lt"/>
                  </a:rPr>
                  <a:t>式</a:t>
                </a:r>
                <a:r>
                  <a:rPr kumimoji="1" lang="zh-CN" alt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ea"/>
                    <a:sym typeface="+mn-lt"/>
                  </a:rPr>
                  <a:t>和③</a:t>
                </a:r>
                <a:r>
                  <a:rPr kumimoji="1" lang="zh-CN" altLang="en-US" sz="22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ea"/>
                    <a:sym typeface="+mn-lt"/>
                  </a:rPr>
                  <a:t>式</a:t>
                </a:r>
                <a:r>
                  <a:rPr kumimoji="1" lang="zh-CN" alt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ea"/>
                    <a:sym typeface="+mn-lt"/>
                  </a:rPr>
                  <a:t>可得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215" name="Object 23"/>
                  <p:cNvSpPr txBox="1"/>
                  <p:nvPr/>
                </p:nvSpPr>
                <p:spPr bwMode="auto">
                  <a:xfrm>
                    <a:off x="7584" y="8018"/>
                    <a:ext cx="3941" cy="68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txBody>
                  <a:bodyPr>
                    <a:norm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zh-CN" sz="22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2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𝐶</m:t>
                              </m:r>
                            </m:e>
                            <m:sub>
                              <m:r>
                                <a:rPr kumimoji="1" lang="en-US" altLang="zh-CN" sz="22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1</m:t>
                              </m:r>
                            </m:sub>
                          </m:sSub>
                          <m:r>
                            <a:rPr kumimoji="1" lang="en-US" altLang="zh-CN" sz="22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=20,  </m:t>
                          </m:r>
                          <m:sSub>
                            <m:sSubPr>
                              <m:ctrlPr>
                                <a:rPr kumimoji="1" lang="en-US" altLang="zh-CN" sz="22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2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𝐶</m:t>
                              </m:r>
                            </m:e>
                            <m:sub>
                              <m:r>
                                <a:rPr kumimoji="1" lang="en-US" altLang="zh-CN" sz="22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2</m:t>
                              </m:r>
                            </m:sub>
                          </m:sSub>
                          <m:r>
                            <a:rPr kumimoji="1" lang="en-US" altLang="zh-CN" sz="22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=0</m:t>
                          </m:r>
                        </m:oMath>
                      </m:oMathPara>
                    </a14:m>
                    <a:endParaRPr kumimoji="1" lang="en-US" altLang="zh-CN" sz="2200" i="1" dirty="0">
                      <a:latin typeface="Cambria Math" panose="02040503050406030204" pitchFamily="18" charset="0"/>
                      <a:ea typeface="宋体" panose="02010600030101010101" pitchFamily="2" charset="-122"/>
                    </a:endParaRPr>
                  </a:p>
                </p:txBody>
              </p:sp>
            </mc:Choice>
            <mc:Fallback xmlns="">
              <p:sp>
                <p:nvSpPr>
                  <p:cNvPr id="8215" name="Object 2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7584" y="8018"/>
                    <a:ext cx="3941" cy="680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244" b="-2817"/>
                    </a:stretch>
                  </a:blipFill>
                  <a:ln>
                    <a:noFill/>
                  </a:ln>
                  <a:effectLst/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8216" name="Text Box 24"/>
              <p:cNvSpPr txBox="1">
                <a:spLocks noChangeArrowheads="1"/>
              </p:cNvSpPr>
              <p:nvPr/>
            </p:nvSpPr>
            <p:spPr bwMode="auto">
              <a:xfrm>
                <a:off x="3174" y="8908"/>
                <a:ext cx="7200" cy="6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zh-CN" alt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ea"/>
                    <a:sym typeface="+mn-lt"/>
                  </a:rPr>
                  <a:t>因此所求运动规律为</a:t>
                </a:r>
                <a:endParaRPr kumimoji="1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ea"/>
                  <a:sym typeface="+mn-lt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217" name="Object 25"/>
                  <p:cNvSpPr txBox="1"/>
                  <p:nvPr/>
                </p:nvSpPr>
                <p:spPr bwMode="auto">
                  <a:xfrm>
                    <a:off x="7584" y="8857"/>
                    <a:ext cx="4048" cy="72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txBody>
                  <a:bodyPr>
                    <a:norm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kumimoji="1" lang="en-US" altLang="zh-CN" sz="22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𝑠</m:t>
                          </m:r>
                          <m:r>
                            <a:rPr kumimoji="1" lang="en-US" altLang="zh-CN" sz="22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=− 0.2​​</m:t>
                          </m:r>
                          <m:sSup>
                            <m:sSupPr>
                              <m:ctrlPr>
                                <a:rPr kumimoji="1" lang="en-US" altLang="zh-CN" sz="22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pPr>
                            <m:e>
                              <m:r>
                                <a:rPr kumimoji="1" lang="en-US" altLang="zh-CN" sz="22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𝑡</m:t>
                              </m:r>
                            </m:e>
                            <m:sup>
                              <m:r>
                                <a:rPr kumimoji="1" lang="en-US" altLang="zh-CN" sz="22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en-US" altLang="zh-CN" sz="22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+20​​</m:t>
                          </m:r>
                          <m:r>
                            <a:rPr kumimoji="1" lang="en-US" altLang="zh-CN" sz="22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𝑡</m:t>
                          </m:r>
                        </m:oMath>
                      </m:oMathPara>
                    </a14:m>
                    <a:endParaRPr kumimoji="1" lang="en-US" altLang="zh-CN" sz="2200" i="1" dirty="0">
                      <a:latin typeface="Cambria Math" panose="02040503050406030204" pitchFamily="18" charset="0"/>
                      <a:ea typeface="宋体" panose="02010600030101010101" pitchFamily="2" charset="-122"/>
                    </a:endParaRPr>
                  </a:p>
                </p:txBody>
              </p:sp>
            </mc:Choice>
            <mc:Fallback xmlns="">
              <p:sp>
                <p:nvSpPr>
                  <p:cNvPr id="8217" name="Object 2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7584" y="8857"/>
                    <a:ext cx="4048" cy="720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  <a:ln>
                    <a:noFill/>
                  </a:ln>
                  <a:effectLst/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8223" name="AutoShape 31"/>
              <p:cNvSpPr/>
              <p:nvPr/>
            </p:nvSpPr>
            <p:spPr bwMode="auto">
              <a:xfrm>
                <a:off x="4747" y="4740"/>
                <a:ext cx="249" cy="1775"/>
              </a:xfrm>
              <a:prstGeom prst="leftBrace">
                <a:avLst>
                  <a:gd name="adj1" fmla="val 50000"/>
                  <a:gd name="adj2" fmla="val 50000"/>
                </a:avLst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ea"/>
                  <a:sym typeface="+mn-lt"/>
                </a:endParaRPr>
              </a:p>
            </p:txBody>
          </p:sp>
          <p:grpSp>
            <p:nvGrpSpPr>
              <p:cNvPr id="23" name="组合 22"/>
              <p:cNvGrpSpPr/>
              <p:nvPr/>
            </p:nvGrpSpPr>
            <p:grpSpPr>
              <a:xfrm>
                <a:off x="5338" y="7067"/>
                <a:ext cx="5228" cy="740"/>
                <a:chOff x="4960" y="6986"/>
                <a:chExt cx="5228" cy="740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8210" name="Object 18"/>
                    <p:cNvSpPr txBox="1"/>
                    <p:nvPr/>
                  </p:nvSpPr>
                  <p:spPr bwMode="auto">
                    <a:xfrm>
                      <a:off x="4960" y="6986"/>
                      <a:ext cx="4940" cy="74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</p:spPr>
                  <p:txBody>
                    <a:bodyPr>
                      <a:normAutofit/>
                    </a:bodyPr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/>
                      <a14:m>
                        <m:oMathPara xmlns:m="http://schemas.openxmlformats.org/officeDocument/2006/math">
                          <m:oMathParaPr>
                            <m:jc m:val="left"/>
                          </m:oMathParaPr>
                          <m:oMath xmlns:m="http://schemas.openxmlformats.org/officeDocument/2006/math"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𝑠</m:t>
                            </m:r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=− 0.2​</m:t>
                            </m:r>
                            <m:sSup>
                              <m:sSup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</m:ctrlPr>
                              </m:sSupPr>
                              <m:e>
                                <m: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𝑡</m:t>
                            </m:r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kumimoji="1" lang="en-US" altLang="zh-CN" sz="2200" i="1" dirty="0">
                        <a:latin typeface="Cambria Math" panose="02040503050406030204" pitchFamily="18" charset="0"/>
                        <a:ea typeface="宋体" panose="02010600030101010101" pitchFamily="2" charset="-122"/>
                      </a:endParaRPr>
                    </a:p>
                  </p:txBody>
                </p:sp>
              </mc:Choice>
              <mc:Fallback xmlns="">
                <p:sp>
                  <p:nvSpPr>
                    <p:cNvPr id="8210" name="Object 18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 bwMode="auto">
                    <a:xfrm>
                      <a:off x="4960" y="6986"/>
                      <a:ext cx="4940" cy="740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/>
                      </a:stretch>
                    </a:blipFill>
                    <a:ln>
                      <a:noFill/>
                    </a:ln>
                    <a:effectLst/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24" name="矩形 23"/>
                <p:cNvSpPr/>
                <p:nvPr/>
              </p:nvSpPr>
              <p:spPr>
                <a:xfrm>
                  <a:off x="9514" y="7167"/>
                  <a:ext cx="675" cy="500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字魂36号-正文宋楷" panose="00000500000000000000" pitchFamily="2" charset="-122"/>
                    <a:ea typeface="字魂36号-正文宋楷" panose="00000500000000000000" pitchFamily="2" charset="-122"/>
                  </a:endParaRPr>
                </a:p>
              </p:txBody>
            </p:sp>
          </p:grpSp>
          <p:grpSp>
            <p:nvGrpSpPr>
              <p:cNvPr id="25" name="组合 24"/>
              <p:cNvGrpSpPr/>
              <p:nvPr/>
            </p:nvGrpSpPr>
            <p:grpSpPr>
              <a:xfrm>
                <a:off x="3120" y="3855"/>
                <a:ext cx="6718" cy="700"/>
                <a:chOff x="2796" y="3659"/>
                <a:chExt cx="6718" cy="700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6" name="对象 3"/>
                    <p:cNvSpPr txBox="1"/>
                    <p:nvPr/>
                  </p:nvSpPr>
                  <p:spPr>
                    <a:xfrm>
                      <a:off x="2796" y="3659"/>
                      <a:ext cx="5778" cy="700"/>
                    </a:xfrm>
                    <a:prstGeom prst="rect">
                      <a:avLst/>
                    </a:prstGeom>
                  </p:spPr>
                  <p:txBody>
                    <a:bodyPr>
                      <a:normAutofit/>
                    </a:bodyPr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/>
                      <a14:m>
                        <m:oMathPara xmlns:m="http://schemas.openxmlformats.org/officeDocument/2006/math">
                          <m:oMathParaPr>
                            <m:jc m:val="left"/>
                          </m:oMathParaPr>
                          <m:oMath xmlns:m="http://schemas.openxmlformats.org/officeDocument/2006/math">
                            <m:r>
                              <a:rPr kumimoji="1" lang="zh-CN" altLang="en-US" sz="2200" noProof="0" dirty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+mn-ea"/>
                              </a:rPr>
                              <m:t>设列车在制动后</m:t>
                            </m:r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kumimoji="1" lang="en-US" altLang="zh-CN" sz="2200" b="0" i="1" dirty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kumimoji="1" lang="en-US" altLang="zh-CN" sz="2200" i="1" dirty="0">
                                <a:latin typeface="Cambria Math" panose="02040503050406030204" pitchFamily="18" charset="0"/>
                              </a:rPr>
                              <m:t>s</m:t>
                            </m:r>
                            <m:r>
                              <a:rPr kumimoji="1" lang="zh-CN" altLang="en-US" sz="2200" noProof="0" dirty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+mn-ea"/>
                              </a:rPr>
                              <m:t>行驶了</m:t>
                            </m:r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𝑠</m:t>
                            </m:r>
                            <m:r>
                              <a:rPr kumimoji="1" lang="en-US" altLang="zh-CN" sz="2200" b="0" i="1" dirty="0" smtClean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m</m:t>
                            </m:r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,</m:t>
                            </m:r>
                          </m:oMath>
                        </m:oMathPara>
                      </a14:m>
                      <a:endParaRPr kumimoji="1" lang="en-US" altLang="zh-CN" sz="2200" i="1" dirty="0">
                        <a:latin typeface="Cambria Math" panose="02040503050406030204" pitchFamily="18" charset="0"/>
                        <a:ea typeface="宋体" panose="02010600030101010101" pitchFamily="2" charset="-122"/>
                      </a:endParaRPr>
                    </a:p>
                  </p:txBody>
                </p:sp>
              </mc:Choice>
              <mc:Fallback xmlns="">
                <p:sp>
                  <p:nvSpPr>
                    <p:cNvPr id="26" name="对象 3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796" y="3659"/>
                      <a:ext cx="5778" cy="700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 l="-1163" r="-997" b="-8219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27" name="矩形 26"/>
                <p:cNvSpPr/>
                <p:nvPr/>
              </p:nvSpPr>
              <p:spPr>
                <a:xfrm>
                  <a:off x="8839" y="3737"/>
                  <a:ext cx="675" cy="500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字魂36号-正文宋楷" panose="00000500000000000000" pitchFamily="2" charset="-122"/>
                    <a:ea typeface="字魂36号-正文宋楷" panose="00000500000000000000" pitchFamily="2" charset="-122"/>
                  </a:endParaRPr>
                </a:p>
              </p:txBody>
            </p:sp>
          </p:grpSp>
          <p:grpSp>
            <p:nvGrpSpPr>
              <p:cNvPr id="28" name="组合 27"/>
              <p:cNvGrpSpPr/>
              <p:nvPr/>
            </p:nvGrpSpPr>
            <p:grpSpPr>
              <a:xfrm>
                <a:off x="8860" y="3866"/>
                <a:ext cx="3659" cy="680"/>
                <a:chOff x="10517" y="3610"/>
                <a:chExt cx="3659" cy="680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2" name="对象 4"/>
                    <p:cNvSpPr txBox="1"/>
                    <p:nvPr/>
                  </p:nvSpPr>
                  <p:spPr>
                    <a:xfrm>
                      <a:off x="10517" y="3610"/>
                      <a:ext cx="3100" cy="680"/>
                    </a:xfrm>
                    <a:prstGeom prst="rect">
                      <a:avLst/>
                    </a:prstGeom>
                  </p:spPr>
                  <p:txBody>
                    <a:bodyPr>
                      <a:normAutofit/>
                    </a:bodyPr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/>
                      <a14:m>
                        <m:oMathPara xmlns:m="http://schemas.openxmlformats.org/officeDocument/2006/math">
                          <m:oMathParaPr>
                            <m:jc m:val="left"/>
                          </m:oMathParaPr>
                          <m:oMath xmlns:m="http://schemas.openxmlformats.org/officeDocument/2006/math">
                            <m:r>
                              <a:rPr kumimoji="1" lang="zh-CN" altLang="en-US" sz="2200" noProof="0" dirty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+mn-ea"/>
                              </a:rPr>
                              <m:t>即求</m:t>
                            </m:r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𝑠</m:t>
                            </m:r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= </m:t>
                            </m:r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𝑠</m:t>
                            </m:r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(</m:t>
                            </m:r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𝑡</m:t>
                            </m:r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).</m:t>
                            </m:r>
                          </m:oMath>
                        </m:oMathPara>
                      </a14:m>
                      <a:endParaRPr kumimoji="1" lang="en-US" altLang="zh-CN" sz="2200" i="1" dirty="0">
                        <a:latin typeface="Cambria Math" panose="02040503050406030204" pitchFamily="18" charset="0"/>
                        <a:ea typeface="宋体" panose="02010600030101010101" pitchFamily="2" charset="-122"/>
                      </a:endParaRPr>
                    </a:p>
                  </p:txBody>
                </p:sp>
              </mc:Choice>
              <mc:Fallback xmlns="">
                <p:sp>
                  <p:nvSpPr>
                    <p:cNvPr id="32" name="对象 4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0517" y="3610"/>
                      <a:ext cx="3100" cy="680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 l="-2167" b="-1831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29" name="矩形 28"/>
                <p:cNvSpPr/>
                <p:nvPr/>
              </p:nvSpPr>
              <p:spPr>
                <a:xfrm>
                  <a:off x="13501" y="3737"/>
                  <a:ext cx="675" cy="500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字魂36号-正文宋楷" panose="00000500000000000000" pitchFamily="2" charset="-122"/>
                    <a:ea typeface="字魂36号-正文宋楷" panose="00000500000000000000" pitchFamily="2" charset="-122"/>
                  </a:endParaRPr>
                </a:p>
              </p:txBody>
            </p:sp>
          </p:grpSp>
          <p:grpSp>
            <p:nvGrpSpPr>
              <p:cNvPr id="30" name="组合 29"/>
              <p:cNvGrpSpPr/>
              <p:nvPr/>
            </p:nvGrpSpPr>
            <p:grpSpPr>
              <a:xfrm>
                <a:off x="5329" y="4465"/>
                <a:ext cx="2929" cy="1500"/>
                <a:chOff x="4951" y="4384"/>
                <a:chExt cx="2929" cy="1500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8206" name="Object 14"/>
                    <p:cNvSpPr txBox="1"/>
                    <p:nvPr/>
                  </p:nvSpPr>
                  <p:spPr bwMode="auto">
                    <a:xfrm>
                      <a:off x="4951" y="4384"/>
                      <a:ext cx="2540" cy="15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</p:spPr>
                  <p:txBody>
                    <a:bodyPr>
                      <a:normAutofit/>
                    </a:bodyPr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/>
                      <a14:m>
                        <m:oMathPara xmlns:m="http://schemas.openxmlformats.org/officeDocument/2006/math">
                          <m:oMathParaPr>
                            <m:jc m:val="left"/>
                          </m:oMathParaPr>
                          <m:oMath xmlns:m="http://schemas.openxmlformats.org/officeDocument/2006/math">
                            <m:f>
                              <m:f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kumimoji="1" lang="en-US" altLang="zh-CN" sz="2200" i="1" dirty="0"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kumimoji="1" lang="en-US" altLang="zh-CN" sz="2200" i="1" dirty="0"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d</m:t>
                                    </m:r>
                                  </m:e>
                                  <m:sup>
                                    <m:r>
                                      <a:rPr kumimoji="1" lang="en-US" altLang="zh-CN" sz="2200" i="1" dirty="0"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𝑠</m:t>
                                </m:r>
                              </m:num>
                              <m:den>
                                <m:r>
                                  <m:rPr>
                                    <m:sty m:val="p"/>
                                  </m:r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d</m:t>
                                </m:r>
                                <m: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​</m:t>
                                </m:r>
                                <m:sSup>
                                  <m:sSupPr>
                                    <m:ctrlPr>
                                      <a:rPr kumimoji="1" lang="en-US" altLang="zh-CN" sz="2200" i="1" dirty="0"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1" lang="en-US" altLang="zh-CN" sz="2200" i="1" dirty="0"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𝑡</m:t>
                                    </m:r>
                                  </m:e>
                                  <m:sup>
                                    <m:r>
                                      <a:rPr kumimoji="1" lang="en-US" altLang="zh-CN" sz="2200" i="1" dirty="0"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=−0.4</m:t>
                            </m:r>
                          </m:oMath>
                        </m:oMathPara>
                      </a14:m>
                      <a:endParaRPr kumimoji="1" lang="en-US" altLang="zh-CN" sz="2200" i="1" dirty="0">
                        <a:latin typeface="Cambria Math" panose="02040503050406030204" pitchFamily="18" charset="0"/>
                        <a:ea typeface="宋体" panose="02010600030101010101" pitchFamily="2" charset="-122"/>
                      </a:endParaRPr>
                    </a:p>
                  </p:txBody>
                </p:sp>
              </mc:Choice>
              <mc:Fallback xmlns="">
                <p:sp>
                  <p:nvSpPr>
                    <p:cNvPr id="8206" name="Object 14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 bwMode="auto">
                    <a:xfrm>
                      <a:off x="4951" y="4384"/>
                      <a:ext cx="2540" cy="1500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/>
                      </a:stretch>
                    </a:blipFill>
                    <a:ln>
                      <a:noFill/>
                    </a:ln>
                    <a:effectLst/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31" name="矩形 30"/>
                <p:cNvSpPr/>
                <p:nvPr/>
              </p:nvSpPr>
              <p:spPr>
                <a:xfrm>
                  <a:off x="7206" y="4817"/>
                  <a:ext cx="675" cy="500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字魂36号-正文宋楷" panose="00000500000000000000" pitchFamily="2" charset="-122"/>
                    <a:ea typeface="字魂36号-正文宋楷" panose="00000500000000000000" pitchFamily="2" charset="-122"/>
                  </a:endParaRPr>
                </a:p>
              </p:txBody>
            </p:sp>
          </p:grpSp>
          <p:grpSp>
            <p:nvGrpSpPr>
              <p:cNvPr id="33" name="组合 32"/>
              <p:cNvGrpSpPr/>
              <p:nvPr/>
            </p:nvGrpSpPr>
            <p:grpSpPr>
              <a:xfrm>
                <a:off x="5329" y="5533"/>
                <a:ext cx="6080" cy="1213"/>
                <a:chOff x="4951" y="5452"/>
                <a:chExt cx="6080" cy="1213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8207" name="Object 15"/>
                    <p:cNvSpPr txBox="1"/>
                    <p:nvPr/>
                  </p:nvSpPr>
                  <p:spPr bwMode="auto">
                    <a:xfrm>
                      <a:off x="4951" y="5681"/>
                      <a:ext cx="2834" cy="78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</p:spPr>
                  <p:txBody>
                    <a:bodyPr>
                      <a:noAutofit/>
                    </a:bodyPr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/>
                      <a14:m>
                        <m:oMathPara xmlns:m="http://schemas.openxmlformats.org/officeDocument/2006/math">
                          <m:oMathParaPr>
                            <m:jc m:val="left"/>
                          </m:oMathParaPr>
                          <m:oMath xmlns:m="http://schemas.openxmlformats.org/officeDocument/2006/math">
                            <m:r>
                              <m:rPr>
                                <m:nor/>
                              </m:rPr>
                              <a:rPr kumimoji="1" lang="en-US" altLang="zh-CN" sz="2200" i="1" dirty="0">
                                <a:latin typeface="Cambria Math" panose="02040503050406030204" pitchFamily="18" charset="0"/>
                              </a:rPr>
                              <m:t>s</m:t>
                            </m:r>
                            <m:d>
                              <m:dPr>
                                <m:begChr m:val="|"/>
                                <m:endChr m:val=""/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m>
                                  <m:mPr>
                                    <m:plcHide m:val="on"/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kumimoji="1" lang="en-US" altLang="zh-CN" sz="2200" i="1" baseline="-15000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/>
                                  </m:mr>
                                  <m:mr>
                                    <m:e>
                                      <m:r>
                                        <a:rPr kumimoji="1" lang="en-US" altLang="zh-CN" sz="2200" i="1" baseline="-15000" dirty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kumimoji="1" lang="en-US" altLang="zh-CN" sz="2200" i="1" baseline="-5000" dirty="0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r>
                                        <a:rPr kumimoji="1" lang="en-US" altLang="zh-CN" sz="2200" i="1" baseline="-15000" dirty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</m:d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</a:rPr>
                              <m:t>=0,</m:t>
                            </m:r>
                          </m:oMath>
                        </m:oMathPara>
                      </a14:m>
                      <a:endParaRPr kumimoji="1" lang="en-US" altLang="zh-CN" sz="2200" i="1" dirty="0">
                        <a:latin typeface="Cambria Math" panose="02040503050406030204" pitchFamily="18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8207" name="Object 15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 bwMode="auto">
                    <a:xfrm>
                      <a:off x="4951" y="5681"/>
                      <a:ext cx="2834" cy="780"/>
                    </a:xfrm>
                    <a:prstGeom prst="rect">
                      <a:avLst/>
                    </a:prstGeom>
                    <a:blipFill>
                      <a:blip r:embed="rId10"/>
                      <a:stretch>
                        <a:fillRect b="-12195"/>
                      </a:stretch>
                    </a:blipFill>
                    <a:ln>
                      <a:noFill/>
                    </a:ln>
                    <a:effectLst/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8208" name="Object 16"/>
                    <p:cNvSpPr txBox="1"/>
                    <p:nvPr/>
                  </p:nvSpPr>
                  <p:spPr bwMode="auto">
                    <a:xfrm>
                      <a:off x="7374" y="5452"/>
                      <a:ext cx="3140" cy="1213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</p:spPr>
                  <p:txBody>
                    <a:bodyPr>
                      <a:normAutofit/>
                    </a:bodyPr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/>
                      <a14:m>
                        <m:oMathPara xmlns:m="http://schemas.openxmlformats.org/officeDocument/2006/math">
                          <m:oMathParaPr>
                            <m:jc m:val="left"/>
                          </m:oMathParaPr>
                          <m:oMath xmlns:m="http://schemas.openxmlformats.org/officeDocument/2006/math">
                            <m:f>
                              <m:f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kumimoji="1" lang="en-US" altLang="zh-CN" sz="2200" i="1" dirty="0">
                                    <a:latin typeface="Cambria Math" panose="02040503050406030204" pitchFamily="18" charset="0"/>
                                  </a:rPr>
                                  <m:t>d</m:t>
                                </m:r>
                                <m:r>
                                  <a:rPr kumimoji="1" lang="en-US" altLang="zh-CN" sz="2200" i="1" dirty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num>
                              <m:den>
                                <m:r>
                                  <m:rPr>
                                    <m:sty m:val="p"/>
                                  </m:rPr>
                                  <a:rPr kumimoji="1" lang="en-US" altLang="zh-CN" sz="2200" i="1" dirty="0">
                                    <a:latin typeface="Cambria Math" panose="02040503050406030204" pitchFamily="18" charset="0"/>
                                  </a:rPr>
                                  <m:t>d</m:t>
                                </m:r>
                                <m:r>
                                  <a:rPr kumimoji="1" lang="en-US" altLang="zh-CN" sz="2200" i="1" dirty="0">
                                    <a:latin typeface="Cambria Math" panose="02040503050406030204" pitchFamily="18" charset="0"/>
                                  </a:rPr>
                                  <m:t>​</m:t>
                                </m:r>
                                <m:r>
                                  <a:rPr kumimoji="1" lang="en-US" altLang="zh-CN" sz="2200" i="1" dirty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den>
                            </m:f>
                            <m:d>
                              <m:dPr>
                                <m:begChr m:val="|"/>
                                <m:endChr m:val=""/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m>
                                  <m:mPr>
                                    <m:plcHide m:val="on"/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kumimoji="1" lang="en-US" altLang="zh-CN" sz="2200" i="1" baseline="-15000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/>
                                  </m:mr>
                                  <m:mr>
                                    <m:e>
                                      <m:r>
                                        <a:rPr kumimoji="1" lang="en-US" altLang="zh-CN" sz="2200" i="1" baseline="-15000" dirty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kumimoji="1" lang="en-US" altLang="zh-CN" sz="2200" i="1" baseline="-5000" dirty="0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r>
                                        <a:rPr kumimoji="1" lang="en-US" altLang="zh-CN" sz="2200" i="1" baseline="-15000" dirty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</m:d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</a:rPr>
                              <m:t>=20</m:t>
                            </m:r>
                          </m:oMath>
                        </m:oMathPara>
                      </a14:m>
                      <a:endParaRPr kumimoji="1" lang="en-US" altLang="zh-CN" sz="2200" i="1" dirty="0">
                        <a:latin typeface="Cambria Math" panose="02040503050406030204" pitchFamily="18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8208" name="Object 16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 bwMode="auto">
                    <a:xfrm>
                      <a:off x="7374" y="5452"/>
                      <a:ext cx="3140" cy="1213"/>
                    </a:xfrm>
                    <a:prstGeom prst="rect">
                      <a:avLst/>
                    </a:prstGeom>
                    <a:blipFill>
                      <a:blip r:embed="rId11"/>
                      <a:stretch>
                        <a:fillRect/>
                      </a:stretch>
                    </a:blipFill>
                    <a:ln>
                      <a:noFill/>
                    </a:ln>
                    <a:effectLst/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34" name="矩形 33"/>
                <p:cNvSpPr/>
                <p:nvPr/>
              </p:nvSpPr>
              <p:spPr>
                <a:xfrm>
                  <a:off x="10356" y="5934"/>
                  <a:ext cx="675" cy="500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字魂36号-正文宋楷" panose="00000500000000000000" pitchFamily="2" charset="-122"/>
                    <a:ea typeface="字魂36号-正文宋楷" panose="00000500000000000000" pitchFamily="2" charset="-122"/>
                  </a:endParaRPr>
                </a:p>
              </p:txBody>
            </p:sp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文本框 21"/>
                <p:cNvSpPr txBox="1"/>
                <p:nvPr/>
              </p:nvSpPr>
              <p:spPr bwMode="auto">
                <a:xfrm>
                  <a:off x="11247" y="6995"/>
                  <a:ext cx="934" cy="69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rtlCol="0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zh-CN" altLang="en-US" sz="220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ea"/>
                          </a:rPr>
                          <m:t>③</m:t>
                        </m:r>
                      </m:oMath>
                    </m:oMathPara>
                  </a14:m>
                  <a:endParaRPr kumimoji="1" lang="zh-CN" altLang="en-US" sz="22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ea"/>
                  </a:endParaRPr>
                </a:p>
              </p:txBody>
            </p:sp>
          </mc:Choice>
          <mc:Fallback xmlns="">
            <p:sp>
              <p:nvSpPr>
                <p:cNvPr id="22" name="文本框 2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1247" y="6995"/>
                  <a:ext cx="934" cy="696"/>
                </a:xfrm>
                <a:prstGeom prst="rect">
                  <a:avLst/>
                </a:prstGeom>
                <a:blipFill>
                  <a:blip r:embed="rId12"/>
                  <a:stretch>
                    <a:fillRect b="-13889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8" name="椭圆形标注 37"/>
          <p:cNvSpPr/>
          <p:nvPr/>
        </p:nvSpPr>
        <p:spPr>
          <a:xfrm>
            <a:off x="3562350" y="4428490"/>
            <a:ext cx="3573145" cy="625475"/>
          </a:xfrm>
          <a:prstGeom prst="wedgeEllipseCallout">
            <a:avLst>
              <a:gd name="adj1" fmla="val 75094"/>
              <a:gd name="adj2" fmla="val -13421"/>
            </a:avLst>
          </a:prstGeom>
          <a:noFill/>
          <a:ln w="19050">
            <a:solidFill>
              <a:srgbClr val="04926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8497A9BF-2E12-E0AE-DF0B-50A27191FB29}"/>
              </a:ext>
            </a:extLst>
          </p:cNvPr>
          <p:cNvSpPr txBox="1"/>
          <p:nvPr/>
        </p:nvSpPr>
        <p:spPr bwMode="auto">
          <a:xfrm>
            <a:off x="8274685" y="4366895"/>
            <a:ext cx="894080" cy="521970"/>
          </a:xfrm>
          <a:prstGeom prst="rect">
            <a:avLst/>
          </a:prstGeom>
          <a:solidFill>
            <a:srgbClr val="04926A">
              <a:alpha val="42000"/>
            </a:srgbClr>
          </a:solidFill>
          <a:ln>
            <a:noFill/>
          </a:ln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通解</a:t>
            </a:r>
            <a:endParaRPr lang="zh-CN" altLang="en-US" sz="2800" dirty="0">
              <a:latin typeface="+mn-ea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6F7750DD-58AC-12C3-939E-DAD320847E38}"/>
              </a:ext>
            </a:extLst>
          </p:cNvPr>
          <p:cNvSpPr txBox="1"/>
          <p:nvPr/>
        </p:nvSpPr>
        <p:spPr bwMode="auto">
          <a:xfrm>
            <a:off x="8578850" y="5572174"/>
            <a:ext cx="894080" cy="521970"/>
          </a:xfrm>
          <a:prstGeom prst="rect">
            <a:avLst/>
          </a:prstGeom>
          <a:solidFill>
            <a:srgbClr val="04926A">
              <a:alpha val="42000"/>
            </a:srgbClr>
          </a:solidFill>
          <a:ln>
            <a:noFill/>
          </a:ln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特解</a:t>
            </a:r>
            <a:endParaRPr lang="zh-CN" altLang="en-US" sz="2800" dirty="0">
              <a:latin typeface="+mn-ea"/>
            </a:endParaRPr>
          </a:p>
        </p:txBody>
      </p: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B5311CAE-54DA-BDA0-3BB0-AFA425643A73}"/>
              </a:ext>
            </a:extLst>
          </p:cNvPr>
          <p:cNvGrpSpPr/>
          <p:nvPr/>
        </p:nvGrpSpPr>
        <p:grpSpPr>
          <a:xfrm>
            <a:off x="223285" y="282481"/>
            <a:ext cx="11733410" cy="6278873"/>
            <a:chOff x="223285" y="282481"/>
            <a:chExt cx="11733410" cy="6278873"/>
          </a:xfrm>
        </p:grpSpPr>
        <p:sp>
          <p:nvSpPr>
            <p:cNvPr id="56" name="Rectangle 1">
              <a:extLst>
                <a:ext uri="{FF2B5EF4-FFF2-40B4-BE49-F238E27FC236}">
                  <a16:creationId xmlns:a16="http://schemas.microsoft.com/office/drawing/2014/main" id="{841E49E0-32DE-502A-59C8-8BCBB4EDDC15}"/>
                </a:ext>
              </a:extLst>
            </p:cNvPr>
            <p:cNvSpPr/>
            <p:nvPr/>
          </p:nvSpPr>
          <p:spPr>
            <a:xfrm>
              <a:off x="297498" y="6365572"/>
              <a:ext cx="82948" cy="81477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73000"/>
                  </a:srgbClr>
                </a:gs>
                <a:gs pos="61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0" name="Rectangle 1">
              <a:extLst>
                <a:ext uri="{FF2B5EF4-FFF2-40B4-BE49-F238E27FC236}">
                  <a16:creationId xmlns:a16="http://schemas.microsoft.com/office/drawing/2014/main" id="{10584DE6-F673-CF4E-ECFD-77BD4E93A98B}"/>
                </a:ext>
              </a:extLst>
            </p:cNvPr>
            <p:cNvSpPr/>
            <p:nvPr/>
          </p:nvSpPr>
          <p:spPr>
            <a:xfrm rot="2659048">
              <a:off x="10101405" y="342262"/>
              <a:ext cx="147664" cy="140036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73000"/>
                  </a:srgbClr>
                </a:gs>
                <a:gs pos="61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1" name="矩形 60">
              <a:extLst>
                <a:ext uri="{FF2B5EF4-FFF2-40B4-BE49-F238E27FC236}">
                  <a16:creationId xmlns:a16="http://schemas.microsoft.com/office/drawing/2014/main" id="{53EE0FED-C011-0B6F-4EE5-25F89350D907}"/>
                </a:ext>
              </a:extLst>
            </p:cNvPr>
            <p:cNvSpPr/>
            <p:nvPr/>
          </p:nvSpPr>
          <p:spPr>
            <a:xfrm>
              <a:off x="564013" y="6254649"/>
              <a:ext cx="2421890" cy="30670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第一节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</a:t>
              </a:r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微分方程的基本概念</a:t>
              </a:r>
              <a:endParaRPr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2" name="矩形 61">
              <a:extLst>
                <a:ext uri="{FF2B5EF4-FFF2-40B4-BE49-F238E27FC236}">
                  <a16:creationId xmlns:a16="http://schemas.microsoft.com/office/drawing/2014/main" id="{FC7661C2-D524-59FE-E92F-224B0863A4DE}"/>
                </a:ext>
              </a:extLst>
            </p:cNvPr>
            <p:cNvSpPr/>
            <p:nvPr/>
          </p:nvSpPr>
          <p:spPr>
            <a:xfrm>
              <a:off x="10356577" y="282481"/>
              <a:ext cx="1600118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l"/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第七章   </a:t>
              </a:r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微分方程</a:t>
              </a:r>
              <a:endPara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63" name="直接连接符 62">
              <a:extLst>
                <a:ext uri="{FF2B5EF4-FFF2-40B4-BE49-F238E27FC236}">
                  <a16:creationId xmlns:a16="http://schemas.microsoft.com/office/drawing/2014/main" id="{D02F447D-072A-91A6-1FED-764539D80301}"/>
                </a:ext>
              </a:extLst>
            </p:cNvPr>
            <p:cNvCxnSpPr/>
            <p:nvPr/>
          </p:nvCxnSpPr>
          <p:spPr>
            <a:xfrm>
              <a:off x="223285" y="425311"/>
              <a:ext cx="9648000" cy="0"/>
            </a:xfrm>
            <a:prstGeom prst="line">
              <a:avLst/>
            </a:prstGeom>
            <a:ln>
              <a:solidFill>
                <a:srgbClr val="0492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>
              <a:extLst>
                <a:ext uri="{FF2B5EF4-FFF2-40B4-BE49-F238E27FC236}">
                  <a16:creationId xmlns:a16="http://schemas.microsoft.com/office/drawing/2014/main" id="{0DB7E60F-0F87-A12D-6E06-BB147384BD71}"/>
                </a:ext>
              </a:extLst>
            </p:cNvPr>
            <p:cNvCxnSpPr/>
            <p:nvPr/>
          </p:nvCxnSpPr>
          <p:spPr>
            <a:xfrm>
              <a:off x="3237164" y="6403508"/>
              <a:ext cx="8712000" cy="0"/>
            </a:xfrm>
            <a:prstGeom prst="line">
              <a:avLst/>
            </a:prstGeom>
            <a:ln>
              <a:solidFill>
                <a:srgbClr val="BBBBB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2" dur="2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36" grpId="0" animBg="1"/>
      <p:bldP spid="38" grpId="0" animBg="1"/>
      <p:bldP spid="49" grpId="0" animBg="1"/>
      <p:bldP spid="5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84" name="Text Box 24"/>
          <p:cNvSpPr txBox="1">
            <a:spLocks noChangeArrowheads="1"/>
          </p:cNvSpPr>
          <p:nvPr/>
        </p:nvSpPr>
        <p:spPr bwMode="auto">
          <a:xfrm>
            <a:off x="796625" y="2880839"/>
            <a:ext cx="10812828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80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Cambria Math" panose="02040503050406030204" charset="0"/>
                <a:ea typeface="黑体" panose="02010609060101010101" pitchFamily="49" charset="-122"/>
                <a:cs typeface="Cambria Math" panose="02040503050406030204" charset="0"/>
              </a:rPr>
              <a:t>（2）求微分方程满足初值条件的特解这样一个问题叫做</a:t>
            </a:r>
            <a:r>
              <a:rPr kumimoji="1" lang="zh-CN" altLang="en-US" sz="2800" noProof="0" dirty="0">
                <a:ln>
                  <a:noFill/>
                </a:ln>
                <a:solidFill>
                  <a:srgbClr val="04926A"/>
                </a:solidFill>
                <a:effectLst/>
                <a:uLnTx/>
                <a:uFillTx/>
                <a:latin typeface="Cambria Math" panose="02040503050406030204" charset="0"/>
                <a:ea typeface="黑体" panose="02010609060101010101" pitchFamily="49" charset="-122"/>
                <a:cs typeface="Cambria Math" panose="02040503050406030204" charset="0"/>
              </a:rPr>
              <a:t>初值问题</a:t>
            </a:r>
            <a:r>
              <a:rPr kumimoji="1" lang="zh-CN" altLang="en-US" sz="280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Cambria Math" panose="02040503050406030204" charset="0"/>
                <a:ea typeface="黑体" panose="02010609060101010101" pitchFamily="49" charset="-122"/>
                <a:cs typeface="Cambria Math" panose="02040503050406030204" charset="0"/>
              </a:rPr>
              <a:t>.</a:t>
            </a:r>
            <a:endParaRPr lang="zh-CN" altLang="en-US" sz="2800" dirty="0">
              <a:solidFill>
                <a:srgbClr val="0000FF"/>
              </a:solidFill>
              <a:latin typeface="+mn-ea"/>
            </a:endParaRPr>
          </a:p>
        </p:txBody>
      </p:sp>
      <p:sp>
        <p:nvSpPr>
          <p:cNvPr id="18" name="Text Box 3"/>
          <p:cNvSpPr txBox="1">
            <a:spLocks noChangeArrowheads="1"/>
          </p:cNvSpPr>
          <p:nvPr/>
        </p:nvSpPr>
        <p:spPr bwMode="auto">
          <a:xfrm>
            <a:off x="999670" y="526794"/>
            <a:ext cx="2360368" cy="521970"/>
          </a:xfrm>
          <a:prstGeom prst="rect">
            <a:avLst/>
          </a:prstGeom>
          <a:noFill/>
          <a:ln w="28575">
            <a:noFill/>
            <a:prstDash val="dashDot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zh-CN" altLang="en-US" sz="2800" b="1" i="0" u="none" strike="noStrike" kern="1200" cap="none" spc="0" normalizeH="0" baseline="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4. 初值问题</a:t>
            </a:r>
          </a:p>
        </p:txBody>
      </p:sp>
      <p:sp>
        <p:nvSpPr>
          <p:cNvPr id="19" name="Text Box 25"/>
          <p:cNvSpPr txBox="1">
            <a:spLocks noChangeArrowheads="1"/>
          </p:cNvSpPr>
          <p:nvPr/>
        </p:nvSpPr>
        <p:spPr bwMode="auto">
          <a:xfrm>
            <a:off x="796625" y="1191086"/>
            <a:ext cx="10300771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80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Cambria Math" panose="02040503050406030204" charset="0"/>
                <a:ea typeface="黑体" panose="02010609060101010101" pitchFamily="49" charset="-122"/>
                <a:cs typeface="Cambria Math" panose="02040503050406030204" charset="0"/>
              </a:rPr>
              <a:t>（1） 用来确定任意常数的条件称为</a:t>
            </a:r>
            <a:r>
              <a:rPr kumimoji="1" lang="zh-CN" altLang="en-US" sz="2800" noProof="0" dirty="0">
                <a:ln>
                  <a:noFill/>
                </a:ln>
                <a:solidFill>
                  <a:srgbClr val="04926A"/>
                </a:solidFill>
                <a:effectLst/>
                <a:uLnTx/>
                <a:uFillTx/>
                <a:latin typeface="Cambria Math" panose="02040503050406030204" charset="0"/>
                <a:ea typeface="黑体" panose="02010609060101010101" pitchFamily="49" charset="-122"/>
                <a:cs typeface="Cambria Math" panose="02040503050406030204" charset="0"/>
              </a:rPr>
              <a:t>初值条件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endParaRPr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对象 2"/>
              <p:cNvSpPr txBox="1"/>
              <p:nvPr/>
            </p:nvSpPr>
            <p:spPr>
              <a:xfrm>
                <a:off x="1805484" y="2224033"/>
                <a:ext cx="8986841" cy="578485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800" i="1" dirty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𝑦</m:t>
                      </m:r>
                      <m:r>
                        <a:rPr kumimoji="1" lang="en-US" altLang="zh-CN" sz="2800" i="1" dirty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(</m:t>
                      </m:r>
                      <m:sSub>
                        <m:sSubPr>
                          <m:ctrlPr>
                            <a:rPr kumimoji="1" lang="en-US" altLang="zh-CN" sz="28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kumimoji="1" lang="en-US" altLang="zh-CN" sz="28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CN" sz="28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0</m:t>
                          </m:r>
                        </m:sub>
                      </m:sSub>
                      <m:r>
                        <a:rPr kumimoji="1" lang="en-US" altLang="zh-CN" sz="2800" i="1" dirty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)=</m:t>
                      </m:r>
                      <m:sSub>
                        <m:sSubPr>
                          <m:ctrlPr>
                            <a:rPr kumimoji="1" lang="en-US" altLang="zh-CN" sz="28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kumimoji="1" lang="en-US" altLang="zh-CN" sz="28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zh-CN" sz="28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0</m:t>
                          </m:r>
                        </m:sub>
                      </m:sSub>
                      <m:r>
                        <a:rPr kumimoji="1" lang="en-US" altLang="zh-CN" sz="2800" i="1" dirty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, </m:t>
                      </m:r>
                      <m:sSup>
                        <m:sSupPr>
                          <m:ctrlPr>
                            <a:rPr kumimoji="1" lang="en-US" altLang="zh-CN" sz="28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pPr>
                        <m:e>
                          <m:r>
                            <a:rPr kumimoji="1" lang="en-US" altLang="zh-CN" sz="28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𝑦</m:t>
                          </m:r>
                        </m:e>
                        <m:sup>
                          <m:r>
                            <a:rPr kumimoji="1" lang="en-US" altLang="zh-CN" sz="28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′</m:t>
                          </m:r>
                        </m:sup>
                      </m:sSup>
                      <m:r>
                        <a:rPr kumimoji="1" lang="en-US" altLang="zh-CN" sz="2800" i="1" dirty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(</m:t>
                      </m:r>
                      <m:sSub>
                        <m:sSubPr>
                          <m:ctrlPr>
                            <a:rPr kumimoji="1" lang="en-US" altLang="zh-CN" sz="28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kumimoji="1" lang="en-US" altLang="zh-CN" sz="28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CN" sz="28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0</m:t>
                          </m:r>
                        </m:sub>
                      </m:sSub>
                      <m:r>
                        <a:rPr kumimoji="1" lang="en-US" altLang="zh-CN" sz="2800" i="1" dirty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)=</m:t>
                      </m:r>
                      <m:sSubSup>
                        <m:sSubSupPr>
                          <m:ctrlPr>
                            <a:rPr kumimoji="1" lang="en-US" altLang="zh-CN" sz="28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SupPr>
                        <m:e>
                          <m:r>
                            <a:rPr kumimoji="1" lang="en-US" altLang="zh-CN" sz="28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zh-CN" sz="28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0</m:t>
                          </m:r>
                        </m:sub>
                        <m:sup>
                          <m:r>
                            <a:rPr kumimoji="1" lang="en-US" altLang="zh-CN" sz="28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′</m:t>
                          </m:r>
                        </m:sup>
                      </m:sSubSup>
                      <m:r>
                        <a:rPr kumimoji="1" lang="en-US" altLang="zh-CN" sz="2800" i="1" dirty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, ⋯, </m:t>
                      </m:r>
                      <m:sSup>
                        <m:sSupPr>
                          <m:ctrlPr>
                            <a:rPr kumimoji="1" lang="en-US" altLang="zh-CN" sz="28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pPr>
                        <m:e>
                          <m:r>
                            <a:rPr kumimoji="1" lang="en-US" altLang="zh-CN" sz="28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𝑦</m:t>
                          </m:r>
                        </m:e>
                        <m:sup>
                          <m:r>
                            <a:rPr kumimoji="1" lang="en-US" altLang="zh-CN" sz="28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(</m:t>
                          </m:r>
                          <m:r>
                            <a:rPr kumimoji="1" lang="en-US" altLang="zh-CN" sz="28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𝑛</m:t>
                          </m:r>
                          <m:r>
                            <a:rPr kumimoji="1" lang="en-US" altLang="zh-CN" sz="28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−1)</m:t>
                          </m:r>
                        </m:sup>
                      </m:sSup>
                      <m:r>
                        <a:rPr kumimoji="1" lang="en-US" altLang="zh-CN" sz="2800" i="1" dirty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(</m:t>
                      </m:r>
                      <m:sSub>
                        <m:sSubPr>
                          <m:ctrlPr>
                            <a:rPr kumimoji="1" lang="en-US" altLang="zh-CN" sz="28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kumimoji="1" lang="en-US" altLang="zh-CN" sz="28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CN" sz="28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0</m:t>
                          </m:r>
                        </m:sub>
                      </m:sSub>
                      <m:r>
                        <a:rPr kumimoji="1" lang="en-US" altLang="zh-CN" sz="2800" i="1" dirty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)=</m:t>
                      </m:r>
                      <m:sSup>
                        <m:sSupPr>
                          <m:ctrlPr>
                            <a:rPr kumimoji="1" lang="en-US" altLang="zh-CN" sz="28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kumimoji="1" lang="en-US" altLang="zh-CN" sz="28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8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𝑦</m:t>
                              </m:r>
                            </m:e>
                            <m:sub>
                              <m:r>
                                <a:rPr kumimoji="1" lang="en-US" altLang="zh-CN" sz="28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0</m:t>
                              </m:r>
                            </m:sub>
                          </m:sSub>
                        </m:e>
                        <m:sup>
                          <m:r>
                            <a:rPr kumimoji="1" lang="en-US" altLang="zh-CN" sz="28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(</m:t>
                          </m:r>
                          <m:r>
                            <a:rPr kumimoji="1" lang="en-US" altLang="zh-CN" sz="28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𝑛</m:t>
                          </m:r>
                          <m:r>
                            <a:rPr kumimoji="1" lang="en-US" altLang="zh-CN" sz="28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−1)</m:t>
                          </m:r>
                        </m:sup>
                      </m:sSup>
                    </m:oMath>
                  </m:oMathPara>
                </a14:m>
                <a:endParaRPr kumimoji="1" lang="en-US" altLang="zh-CN" sz="2800" i="1" dirty="0">
                  <a:latin typeface="Cambria Math" panose="02040503050406030204" pitchFamily="18" charset="0"/>
                  <a:ea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10" name="对象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5484" y="2224033"/>
                <a:ext cx="8986841" cy="57848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对象 3"/>
              <p:cNvSpPr txBox="1"/>
              <p:nvPr/>
            </p:nvSpPr>
            <p:spPr>
              <a:xfrm>
                <a:off x="2155370" y="4141400"/>
                <a:ext cx="2672715" cy="2189805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800" i="1" dirty="0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    </m:t>
                      </m:r>
                      <m:d>
                        <m:dPr>
                          <m:begChr m:val="{"/>
                          <m:endChr m:val=""/>
                          <m:ctrlPr>
                            <a:rPr kumimoji="1" lang="en-US" altLang="zh-CN" sz="28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kumimoji="1" lang="en-US" altLang="zh-CN" sz="2800" i="1" dirty="0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eqArrPr>
                            <m:e>
                              <m:f>
                                <m:fPr>
                                  <m:ctrlPr>
                                    <a:rPr kumimoji="1" lang="en-US" altLang="zh-CN" sz="2800" i="1" dirty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kumimoji="1" lang="en-US" altLang="zh-CN" sz="2800" b="0" i="0" dirty="0" smtClean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d</m:t>
                                  </m:r>
                                  <m:r>
                                    <a:rPr kumimoji="1" lang="en-US" altLang="zh-CN" sz="2800" i="1" dirty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𝑦</m:t>
                                  </m:r>
                                </m:num>
                                <m:den>
                                  <m:r>
                                    <m:rPr>
                                      <m:sty m:val="p"/>
                                    </m:rPr>
                                    <a:rPr kumimoji="1" lang="en-US" altLang="zh-CN" sz="2800" dirty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  <m:r>
                                    <a:rPr kumimoji="1" lang="en-US" altLang="zh-CN" sz="2800" i="1" dirty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𝑥</m:t>
                                  </m:r>
                                </m:den>
                              </m:f>
                              <m:r>
                                <a:rPr kumimoji="1" lang="en-US" altLang="zh-CN" sz="28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=2</m:t>
                              </m:r>
                              <m:r>
                                <a:rPr kumimoji="1" lang="en-US" altLang="zh-CN" sz="28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𝑥</m:t>
                              </m:r>
                              <m:r>
                                <a:rPr kumimoji="1" lang="en-US" altLang="zh-CN" sz="28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,</m:t>
                              </m:r>
                            </m:e>
                            <m:e>
                              <m:r>
                                <a:rPr kumimoji="1" lang="en-US" altLang="zh-CN" sz="2800" b="0" i="1" dirty="0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 </m:t>
                              </m:r>
                            </m:e>
                            <m:e>
                              <m:r>
                                <a:rPr kumimoji="1" lang="en-US" altLang="zh-CN" sz="28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kumimoji="1" lang="en-US" altLang="zh-CN" sz="2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d>
                                    <m:dPr>
                                      <m:begChr m:val=""/>
                                      <m:endChr m:val="|"/>
                                      <m:ctrlPr>
                                        <a:rPr kumimoji="1" lang="en-US" altLang="zh-CN" sz="28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kumimoji="1" lang="en-US" altLang="zh-CN" sz="2800" b="0" i="1" dirty="0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d>
                                </m:e>
                                <m:sub>
                                  <m:r>
                                    <a:rPr kumimoji="1" lang="en-US" altLang="zh-CN" sz="2800" b="0" i="1" dirty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kumimoji="1" lang="en-US" altLang="zh-CN" sz="2800" i="1" dirty="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kumimoji="1" lang="en-US" altLang="zh-CN" sz="2800" b="0" i="1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kumimoji="1" lang="en-US" altLang="zh-CN" sz="2800" i="1" dirty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kumimoji="1" lang="en-US" altLang="zh-CN" sz="2800" b="0" i="1" dirty="0" smtClean="0">
                                  <a:latin typeface="Cambria Math" panose="02040503050406030204" pitchFamily="18" charset="0"/>
                                </a:rPr>
                                <m:t>2,</m:t>
                              </m:r>
                              <m:r>
                                <a:rPr kumimoji="1" lang="en-US" altLang="zh-CN" sz="2800" i="1" dirty="0">
                                  <a:latin typeface="Cambria Math" panose="02040503050406030204" pitchFamily="18" charset="0"/>
                                </a:rPr>
                                <m:t> 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kumimoji="1" lang="en-US" altLang="zh-CN" sz="2800" i="1" dirty="0">
                  <a:latin typeface="Cambria Math" panose="02040503050406030204" pitchFamily="18" charset="0"/>
                  <a:ea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12" name="对象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5370" y="4141400"/>
                <a:ext cx="2672715" cy="218980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 Box 35"/>
          <p:cNvSpPr txBox="1">
            <a:spLocks noChangeArrowheads="1"/>
          </p:cNvSpPr>
          <p:nvPr/>
        </p:nvSpPr>
        <p:spPr bwMode="auto">
          <a:xfrm>
            <a:off x="8798002" y="5405929"/>
            <a:ext cx="31242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80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Cambria Math" panose="02040503050406030204" charset="0"/>
                <a:ea typeface="黑体" panose="02010609060101010101" pitchFamily="49" charset="-122"/>
                <a:cs typeface="Cambria Math" panose="02040503050406030204" charset="0"/>
              </a:rPr>
              <a:t>都是初值问题.</a:t>
            </a:r>
          </a:p>
        </p:txBody>
      </p:sp>
      <p:sp>
        <p:nvSpPr>
          <p:cNvPr id="16" name="矩形 15"/>
          <p:cNvSpPr/>
          <p:nvPr/>
        </p:nvSpPr>
        <p:spPr>
          <a:xfrm>
            <a:off x="941250" y="4698113"/>
            <a:ext cx="1605280" cy="521970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80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Cambria Math" panose="02040503050406030204" charset="0"/>
                <a:ea typeface="黑体" panose="02010609060101010101" pitchFamily="49" charset="-122"/>
                <a:cs typeface="Cambria Math" panose="02040503050406030204" charset="0"/>
              </a:rPr>
              <a:t>两个</a:t>
            </a:r>
            <a:r>
              <a:rPr kumimoji="1" lang="zh-CN" altLang="en-US" sz="2800" noProof="0" dirty="0">
                <a:ln>
                  <a:noFill/>
                </a:ln>
                <a:solidFill>
                  <a:srgbClr val="04926A"/>
                </a:solidFill>
                <a:effectLst/>
                <a:uLnTx/>
                <a:uFillTx/>
                <a:latin typeface="Cambria Math" panose="02040503050406030204" charset="0"/>
                <a:ea typeface="黑体" panose="02010609060101010101" pitchFamily="49" charset="-122"/>
                <a:cs typeface="Cambria Math" panose="02040503050406030204" charset="0"/>
              </a:rPr>
              <a:t>引例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225" name="Text Box 9"/>
              <p:cNvSpPr txBox="1">
                <a:spLocks noChangeArrowheads="1"/>
              </p:cNvSpPr>
              <p:nvPr/>
            </p:nvSpPr>
            <p:spPr bwMode="auto">
              <a:xfrm>
                <a:off x="1805485" y="1677684"/>
                <a:ext cx="4758055" cy="5219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 xmlns:m="http://schemas.openxmlformats.org/officeDocument/2006/math">
                    <m:r>
                      <a:rPr kumimoji="1" lang="en-US" altLang="zh-CN" sz="2800" i="1" dirty="0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𝑛</m:t>
                    </m:r>
                  </m:oMath>
                </a14:m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95000"/>
                        <a:lumOff val="5000"/>
                      </a:schemeClr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sym typeface="+mn-lt"/>
                  </a:rPr>
                  <a:t>阶</a:t>
                </a:r>
                <a:r>
                  <a:rPr kumimoji="1" lang="zh-CN" altLang="en-US" sz="280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95000"/>
                        <a:lumOff val="5000"/>
                      </a:schemeClr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sym typeface="+mn-lt"/>
                  </a:rPr>
                  <a:t>方程的初值条件</a:t>
                </a:r>
                <a:r>
                  <a:rPr kumimoji="1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95000"/>
                        <a:lumOff val="5000"/>
                      </a:schemeClr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sym typeface="+mn-lt"/>
                  </a:rPr>
                  <a:t>:</a:t>
                </a:r>
                <a:endParaRPr kumimoji="1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effectLst/>
                  <a:uLnTx/>
                  <a:uFillTx/>
                  <a:latin typeface="Cambria Math" panose="02040503050406030204" pitchFamily="18" charset="0"/>
                  <a:ea typeface="黑体" panose="02010609060101010101" pitchFamily="49" charset="-122"/>
                  <a:sym typeface="+mn-lt"/>
                </a:endParaRPr>
              </a:p>
            </p:txBody>
          </p:sp>
        </mc:Choice>
        <mc:Fallback xmlns="">
          <p:sp>
            <p:nvSpPr>
              <p:cNvPr id="9225" name="Text 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05485" y="1677684"/>
                <a:ext cx="4758055" cy="521970"/>
              </a:xfrm>
              <a:prstGeom prst="rect">
                <a:avLst/>
              </a:prstGeom>
              <a:blipFill>
                <a:blip r:embed="rId4"/>
                <a:stretch>
                  <a:fillRect t="-15116" b="-3139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组合 1"/>
          <p:cNvGrpSpPr/>
          <p:nvPr/>
        </p:nvGrpSpPr>
        <p:grpSpPr>
          <a:xfrm>
            <a:off x="999670" y="3522492"/>
            <a:ext cx="974725" cy="449580"/>
            <a:chOff x="1553" y="3802"/>
            <a:chExt cx="1535" cy="708"/>
          </a:xfrm>
        </p:grpSpPr>
        <p:sp>
          <p:nvSpPr>
            <p:cNvPr id="22" name="圆角矩形 21"/>
            <p:cNvSpPr/>
            <p:nvPr/>
          </p:nvSpPr>
          <p:spPr>
            <a:xfrm>
              <a:off x="1553" y="3803"/>
              <a:ext cx="1474" cy="707"/>
            </a:xfrm>
            <a:prstGeom prst="roundRect">
              <a:avLst/>
            </a:prstGeom>
            <a:solidFill>
              <a:srgbClr val="0492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" name="Text Box 28"/>
            <p:cNvSpPr txBox="1">
              <a:spLocks noChangeArrowheads="1"/>
            </p:cNvSpPr>
            <p:nvPr/>
          </p:nvSpPr>
          <p:spPr bwMode="auto">
            <a:xfrm>
              <a:off x="1650" y="3802"/>
              <a:ext cx="1438" cy="6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bIns="0">
              <a:spAutoFit/>
            </a:bodyPr>
            <a:lstStyle>
              <a:lvl1pPr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defRPr/>
              </a:pPr>
              <a:r>
                <a:rPr kumimoji="1" lang="zh-CN" altLang="en-US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例如</a:t>
              </a:r>
              <a:r>
                <a:rPr kumimoji="1" lang="en-US" altLang="zh-CN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:</a:t>
              </a:r>
              <a:endParaRPr kumimoji="1" lang="zh-CN" altLang="en-US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pitchFamily="34" charset="-122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对象 4"/>
              <p:cNvSpPr txBox="1"/>
              <p:nvPr/>
            </p:nvSpPr>
            <p:spPr>
              <a:xfrm>
                <a:off x="4700081" y="3971438"/>
                <a:ext cx="4349750" cy="2381234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zh-CN" altLang="en-US" sz="2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kumimoji="1" lang="en-US" altLang="zh-CN" sz="2800" i="1" dirty="0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eqArrPr>
                            <m:e>
                              <m:f>
                                <m:fPr>
                                  <m:ctrlPr>
                                    <a:rPr kumimoji="1" lang="en-US" altLang="zh-CN" sz="2800" i="1" dirty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fPr>
                                <m:num>
                                  <m:func>
                                    <m:funcPr>
                                      <m:ctrlPr>
                                        <a:rPr kumimoji="1" lang="en-US" altLang="zh-CN" sz="2800" i="1" dirty="0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</m:ctrlPr>
                                    </m:funcPr>
                                    <m:fName>
                                      <m:sSup>
                                        <m:sSupPr>
                                          <m:ctrlPr>
                                            <a:rPr kumimoji="1" lang="en-US" altLang="zh-CN" sz="2800" i="1" dirty="0">
                                              <a:latin typeface="Cambria Math" panose="02040503050406030204" pitchFamily="18" charset="0"/>
                                              <a:ea typeface="宋体" panose="02010600030101010101" pitchFamily="2" charset="-122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kumimoji="1" lang="en-US" altLang="zh-CN" sz="2800" i="1" dirty="0">
                                              <a:latin typeface="Cambria Math" panose="02040503050406030204" pitchFamily="18" charset="0"/>
                                              <a:ea typeface="宋体" panose="02010600030101010101" pitchFamily="2" charset="-122"/>
                                            </a:rPr>
                                            <m:t>d</m:t>
                                          </m:r>
                                        </m:e>
                                        <m:sup>
                                          <m:r>
                                            <a:rPr kumimoji="1" lang="en-US" altLang="zh-CN" sz="2800" i="1" dirty="0">
                                              <a:latin typeface="Cambria Math" panose="02040503050406030204" pitchFamily="18" charset="0"/>
                                              <a:ea typeface="宋体" panose="02010600030101010101" pitchFamily="2" charset="-122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fName>
                                    <m:e>
                                      <m:r>
                                        <a:rPr kumimoji="1" lang="en-US" altLang="zh-CN" sz="2800" i="1" dirty="0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  <m:t>𝑠</m:t>
                                      </m:r>
                                    </m:e>
                                  </m:func>
                                </m:num>
                                <m:den>
                                  <m:func>
                                    <m:funcPr>
                                      <m:ctrlPr>
                                        <a:rPr kumimoji="1" lang="en-US" altLang="zh-CN" sz="2800" i="1" dirty="0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kumimoji="1" lang="en-US" altLang="zh-CN" sz="2800" i="1" dirty="0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  <m:t>d</m:t>
                                      </m:r>
                                    </m:fName>
                                    <m:e>
                                      <m:r>
                                        <a:rPr kumimoji="1" lang="en-US" altLang="zh-CN" sz="2800" i="1" dirty="0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  <m:t>​</m:t>
                                      </m:r>
                                    </m:e>
                                  </m:func>
                                  <m:sSup>
                                    <m:sSupPr>
                                      <m:ctrlPr>
                                        <a:rPr kumimoji="1" lang="en-US" altLang="zh-CN" sz="2800" i="1" dirty="0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kumimoji="1" lang="en-US" altLang="zh-CN" sz="2800" i="1" dirty="0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  <m:t>𝑡</m:t>
                                      </m:r>
                                    </m:e>
                                    <m:sup>
                                      <m:r>
                                        <a:rPr kumimoji="1" lang="en-US" altLang="zh-CN" sz="2800" i="1" dirty="0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  <m:r>
                                <a:rPr kumimoji="1" lang="en-US" altLang="zh-CN" sz="28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=−0.4 ,</m:t>
                              </m:r>
                            </m:e>
                            <m:e>
                              <m:r>
                                <a:rPr kumimoji="1" lang="en-US" altLang="zh-CN" sz="2800" b="0" i="1" dirty="0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 </m:t>
                              </m:r>
                            </m:e>
                            <m:e>
                              <m:r>
                                <a:rPr kumimoji="1" lang="en-US" altLang="zh-CN" sz="28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kumimoji="1" lang="en-US" altLang="zh-CN" sz="2800" i="1" dirty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d>
                                    <m:dPr>
                                      <m:begChr m:val=""/>
                                      <m:endChr m:val="|"/>
                                      <m:ctrlPr>
                                        <a:rPr kumimoji="1" lang="en-US" altLang="zh-CN" sz="2800" i="1" dirty="0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kumimoji="1" lang="en-US" altLang="zh-CN" sz="2800" i="1" dirty="0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  <m:t>𝑠</m:t>
                                      </m:r>
                                    </m:e>
                                  </m:d>
                                </m:e>
                                <m:sub>
                                  <m:r>
                                    <a:rPr kumimoji="1" lang="en-US" altLang="zh-CN" sz="2800" i="1" dirty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𝑡</m:t>
                                  </m:r>
                                  <m:r>
                                    <a:rPr kumimoji="1" lang="en-US" altLang="zh-CN" sz="2800" i="1" dirty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=0</m:t>
                                  </m:r>
                                </m:sub>
                              </m:sSub>
                              <m:r>
                                <a:rPr kumimoji="1" lang="en-US" altLang="zh-CN" sz="28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=0,</m:t>
                              </m:r>
                              <m:sSub>
                                <m:sSubPr>
                                  <m:ctrlPr>
                                    <a:rPr kumimoji="1" lang="en-US" altLang="zh-CN" sz="2800" i="1" dirty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d>
                                    <m:dPr>
                                      <m:begChr m:val=""/>
                                      <m:endChr m:val="|"/>
                                      <m:ctrlPr>
                                        <a:rPr kumimoji="1" lang="en-US" altLang="zh-CN" sz="2800" i="1" dirty="0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kumimoji="1" lang="en-US" altLang="zh-CN" sz="2800" i="1" dirty="0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  <m:t> </m:t>
                                      </m:r>
                                      <m:f>
                                        <m:fPr>
                                          <m:ctrlPr>
                                            <a:rPr kumimoji="1" lang="en-US" altLang="zh-CN" sz="2800" i="1" dirty="0">
                                              <a:latin typeface="Cambria Math" panose="02040503050406030204" pitchFamily="18" charset="0"/>
                                              <a:ea typeface="宋体" panose="02010600030101010101" pitchFamily="2" charset="-122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m:rPr>
                                              <m:sty m:val="p"/>
                                            </m:rPr>
                                            <a:rPr kumimoji="1" lang="en-US" altLang="zh-CN" sz="2800" dirty="0">
                                              <a:latin typeface="Cambria Math" panose="02040503050406030204" pitchFamily="18" charset="0"/>
                                            </a:rPr>
                                            <m:t>d</m:t>
                                          </m:r>
                                          <m:r>
                                            <a:rPr kumimoji="1" lang="en-US" altLang="zh-CN" sz="2800" b="0" i="1" dirty="0" smtClean="0">
                                              <a:latin typeface="Cambria Math" panose="02040503050406030204" pitchFamily="18" charset="0"/>
                                              <a:ea typeface="宋体" panose="02010600030101010101" pitchFamily="2" charset="-122"/>
                                            </a:rPr>
                                            <m:t>𝑠</m:t>
                                          </m:r>
                                        </m:num>
                                        <m:den>
                                          <m:r>
                                            <m:rPr>
                                              <m:sty m:val="p"/>
                                            </m:rPr>
                                            <a:rPr kumimoji="1" lang="en-US" altLang="zh-CN" sz="2800" dirty="0">
                                              <a:latin typeface="Cambria Math" panose="02040503050406030204" pitchFamily="18" charset="0"/>
                                            </a:rPr>
                                            <m:t>d</m:t>
                                          </m:r>
                                          <m:r>
                                            <a:rPr kumimoji="1" lang="en-US" altLang="zh-CN" sz="2800" i="1" dirty="0">
                                              <a:latin typeface="Cambria Math" panose="02040503050406030204" pitchFamily="18" charset="0"/>
                                              <a:ea typeface="宋体" panose="02010600030101010101" pitchFamily="2" charset="-122"/>
                                            </a:rPr>
                                            <m:t>𝑡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  <m:sub>
                                  <m:r>
                                    <a:rPr kumimoji="1" lang="en-US" altLang="zh-CN" sz="2800" i="1" dirty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𝑡</m:t>
                                  </m:r>
                                  <m:r>
                                    <a:rPr kumimoji="1" lang="en-US" altLang="zh-CN" sz="2800" i="1" dirty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=0</m:t>
                                  </m:r>
                                </m:sub>
                              </m:sSub>
                              <m:r>
                                <a:rPr kumimoji="1" lang="en-US" altLang="zh-CN" sz="28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=20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2800" i="1" dirty="0">
                  <a:solidFill>
                    <a:srgbClr val="000000"/>
                  </a:solidFill>
                  <a:latin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14" name="对象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0081" y="3971438"/>
                <a:ext cx="4349750" cy="238123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84" grpId="0" animBg="1"/>
      <p:bldP spid="18" grpId="0"/>
      <p:bldP spid="19" grpId="0"/>
      <p:bldP spid="10" grpId="0"/>
      <p:bldP spid="12" grpId="0"/>
      <p:bldP spid="15" grpId="0" animBg="1"/>
      <p:bldP spid="16" grpId="0"/>
      <p:bldP spid="9225" grpId="0"/>
      <p:bldP spid="1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8" name="Text Box 12"/>
          <p:cNvSpPr txBox="1">
            <a:spLocks noChangeArrowheads="1"/>
          </p:cNvSpPr>
          <p:nvPr/>
        </p:nvSpPr>
        <p:spPr bwMode="auto">
          <a:xfrm>
            <a:off x="5636209" y="2196874"/>
            <a:ext cx="34290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SzTx/>
              <a:buFontTx/>
            </a:pPr>
            <a:r>
              <a:rPr kumimoji="1" lang="zh-CN" altLang="en-US" sz="280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Cambria Math" panose="02040503050406030204" charset="0"/>
                <a:ea typeface="黑体" panose="02010609060101010101" pitchFamily="49" charset="-122"/>
                <a:cs typeface="Cambria Math" panose="02040503050406030204" charset="0"/>
              </a:rPr>
              <a:t>过定点的</a:t>
            </a:r>
            <a:r>
              <a:rPr kumimoji="1" lang="zh-CN" altLang="en-US" sz="2800" noProof="0" dirty="0">
                <a:ln>
                  <a:noFill/>
                </a:ln>
                <a:solidFill>
                  <a:srgbClr val="04926A"/>
                </a:solidFill>
                <a:effectLst/>
                <a:uLnTx/>
                <a:uFillTx/>
                <a:latin typeface="Cambria Math" panose="02040503050406030204" charset="0"/>
                <a:ea typeface="黑体" panose="02010609060101010101" pitchFamily="49" charset="-122"/>
                <a:cs typeface="Cambria Math" panose="02040503050406030204" charset="0"/>
              </a:rPr>
              <a:t>积分曲线;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2113915" y="1692049"/>
            <a:ext cx="3187700" cy="1678305"/>
            <a:chOff x="3289" y="3537"/>
            <a:chExt cx="5020" cy="264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467" name="Object 11"/>
                <p:cNvSpPr txBox="1"/>
                <p:nvPr/>
              </p:nvSpPr>
              <p:spPr bwMode="auto">
                <a:xfrm>
                  <a:off x="4969" y="3537"/>
                  <a:ext cx="3340" cy="264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d>
                          <m:dPr>
                            <m:begChr m:val="{"/>
                            <m:endChr m:val=""/>
                            <m:ctrlPr>
                              <a:rPr kumimoji="1" lang="en-US" altLang="zh-CN" sz="2800" i="1" dirty="0" smtClean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</m:ctrlPr>
                              </m:eqArrPr>
                              <m:e>
                                <m: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&amp;</m:t>
                                </m:r>
                                <m:sSup>
                                  <m:sSupPr>
                                    <m:ctrlPr>
                                      <a:rPr kumimoji="1" lang="en-US" altLang="zh-CN" sz="2800" i="1" dirty="0"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1" lang="en-US" altLang="zh-CN" sz="2800" i="1" dirty="0"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kumimoji="1" lang="en-US" altLang="zh-CN" sz="2800" i="1" dirty="0"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=</m:t>
                                </m:r>
                                <m: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𝑓</m:t>
                                </m:r>
                                <m: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(</m:t>
                                </m:r>
                                <m: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𝑥</m:t>
                                </m:r>
                                <m: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,</m:t>
                                </m:r>
                                <m: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𝑦</m:t>
                                </m:r>
                                <m: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)</m:t>
                                </m:r>
                              </m:e>
                              <m:e>
                                <m:r>
                                  <a:rPr kumimoji="1" lang="en-US" altLang="zh-CN" sz="2800" b="0" i="1" dirty="0" smtClean="0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 </m:t>
                                </m:r>
                              </m:e>
                              <m:e>
                                <m: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&amp;</m:t>
                                </m:r>
                                <m:sSub>
                                  <m:sSubPr>
                                    <m:ctrlPr>
                                      <a:rPr kumimoji="1" lang="en-US" altLang="zh-CN" sz="28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d>
                                      <m:dPr>
                                        <m:begChr m:val=""/>
                                        <m:endChr m:val="|"/>
                                        <m:ctrlPr>
                                          <a:rPr kumimoji="1" lang="en-US" altLang="zh-CN" sz="28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kumimoji="1" lang="en-US" altLang="zh-CN" sz="2800" i="1" dirty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d>
                                  </m:e>
                                  <m:sub>
                                    <m:r>
                                      <a:rPr kumimoji="1" lang="en-US" altLang="zh-CN" sz="2800" i="1" dirty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kumimoji="1" lang="en-US" altLang="zh-CN" sz="2800" i="1" dirty="0"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sSub>
                                      <m:sSubPr>
                                        <m:ctrlPr>
                                          <a:rPr kumimoji="1" lang="en-US" altLang="zh-CN" sz="28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en-US" altLang="zh-CN" sz="2800" i="1" dirty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kumimoji="1" lang="en-US" altLang="zh-CN" sz="2800" i="1" dirty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sub>
                                </m:sSub>
                                <m:r>
                                  <a:rPr kumimoji="1" lang="en-US" altLang="zh-CN" sz="2800" i="1" dirty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kumimoji="1" lang="en-US" altLang="zh-CN" sz="28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zh-CN" sz="2800" i="1" dirty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kumimoji="1" lang="en-US" altLang="zh-CN" sz="2800" i="1" dirty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eqArr>
                          </m:e>
                        </m:d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9467" name="Object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969" y="3537"/>
                  <a:ext cx="3340" cy="2643"/>
                </a:xfrm>
                <a:prstGeom prst="rect">
                  <a:avLst/>
                </a:prstGeom>
                <a:blipFill>
                  <a:blip r:embed="rId2"/>
                  <a:stretch>
                    <a:fillRect r="-287" b="-727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469" name="Text Box 13"/>
            <p:cNvSpPr txBox="1">
              <a:spLocks noChangeArrowheads="1"/>
            </p:cNvSpPr>
            <p:nvPr/>
          </p:nvSpPr>
          <p:spPr bwMode="auto">
            <a:xfrm>
              <a:off x="3289" y="4447"/>
              <a:ext cx="2040" cy="8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800" noProof="0" dirty="0">
                  <a:ln>
                    <a:noFill/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effectLst/>
                  <a:uLnTx/>
                  <a:uFillTx/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rPr>
                <a:t>一阶:</a:t>
              </a:r>
            </a:p>
          </p:txBody>
        </p:sp>
      </p:grpSp>
      <p:sp>
        <p:nvSpPr>
          <p:cNvPr id="19466" name="Text Box 10"/>
          <p:cNvSpPr txBox="1">
            <a:spLocks noChangeArrowheads="1"/>
          </p:cNvSpPr>
          <p:nvPr/>
        </p:nvSpPr>
        <p:spPr bwMode="auto">
          <a:xfrm>
            <a:off x="2113915" y="4399559"/>
            <a:ext cx="1295400" cy="5226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SzTx/>
              <a:buFontTx/>
            </a:pPr>
            <a:r>
              <a:rPr kumimoji="1" lang="zh-CN" altLang="en-US" sz="280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Cambria Math" panose="02040503050406030204" charset="0"/>
                <a:ea typeface="黑体" panose="02010609060101010101" pitchFamily="49" charset="-122"/>
                <a:cs typeface="Cambria Math" panose="02040503050406030204" charset="0"/>
              </a:rPr>
              <a:t>二阶:</a:t>
            </a:r>
          </a:p>
        </p:txBody>
      </p:sp>
      <p:sp>
        <p:nvSpPr>
          <p:cNvPr id="19471" name="Text Box 15"/>
          <p:cNvSpPr txBox="1">
            <a:spLocks noChangeArrowheads="1"/>
          </p:cNvSpPr>
          <p:nvPr/>
        </p:nvSpPr>
        <p:spPr bwMode="auto">
          <a:xfrm>
            <a:off x="2110274" y="5794206"/>
            <a:ext cx="82296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Cambria Math" panose="02040503050406030204" charset="0"/>
                <a:ea typeface="黑体" panose="02010609060101010101" pitchFamily="49" charset="-122"/>
                <a:cs typeface="Cambria Math" panose="02040503050406030204" charset="0"/>
              </a:rPr>
              <a:t>过定点且在定点的</a:t>
            </a:r>
            <a:r>
              <a:rPr kumimoji="1" lang="zh-CN" altLang="en-US" sz="2800" noProof="0" dirty="0">
                <a:ln>
                  <a:noFill/>
                </a:ln>
                <a:solidFill>
                  <a:srgbClr val="04926A"/>
                </a:solidFill>
                <a:effectLst/>
                <a:uLnTx/>
                <a:uFillTx/>
                <a:latin typeface="Cambria Math" panose="02040503050406030204" charset="0"/>
                <a:ea typeface="黑体" panose="02010609060101010101" pitchFamily="49" charset="-122"/>
                <a:cs typeface="Cambria Math" panose="02040503050406030204" charset="0"/>
              </a:rPr>
              <a:t>切线的斜率为定值的积分曲线.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 Box 28"/>
              <p:cNvSpPr txBox="1">
                <a:spLocks noChangeArrowheads="1"/>
              </p:cNvSpPr>
              <p:nvPr/>
            </p:nvSpPr>
            <p:spPr bwMode="auto">
              <a:xfrm>
                <a:off x="1049610" y="1085698"/>
                <a:ext cx="10348051" cy="52197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kumimoji="1" lang="zh-CN" altLang="en-US" sz="2800" noProof="0" dirty="0">
                    <a:ln>
                      <a:noFill/>
                    </a:ln>
                    <a:solidFill>
                      <a:schemeClr val="tx1">
                        <a:lumMod val="95000"/>
                        <a:lumOff val="5000"/>
                      </a:schemeClr>
                    </a:solidFill>
                    <a:effectLst/>
                    <a:uLnTx/>
                    <a:uFillTx/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rPr>
                  <a:t>(1)微分方程的解的图形是一条曲线</a:t>
                </a:r>
                <a14:m>
                  <m:oMath xmlns:m="http://schemas.openxmlformats.org/officeDocument/2006/math">
                    <m:r>
                      <a:rPr kumimoji="1" lang="en-US" altLang="zh-CN" sz="2800" i="1" dirty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kumimoji="1" lang="zh-CN" altLang="en-US" sz="2800" noProof="0" dirty="0">
                    <a:ln>
                      <a:noFill/>
                    </a:ln>
                    <a:solidFill>
                      <a:schemeClr val="tx1">
                        <a:lumMod val="95000"/>
                        <a:lumOff val="5000"/>
                      </a:schemeClr>
                    </a:solidFill>
                    <a:effectLst/>
                    <a:uLnTx/>
                    <a:uFillTx/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rPr>
                  <a:t>称之为微分方程的</a:t>
                </a:r>
                <a:r>
                  <a:rPr kumimoji="1" lang="zh-CN" altLang="en-US" sz="2800" noProof="0" dirty="0">
                    <a:ln>
                      <a:noFill/>
                    </a:ln>
                    <a:solidFill>
                      <a:srgbClr val="04926A"/>
                    </a:solidFill>
                    <a:effectLst/>
                    <a:uLnTx/>
                    <a:uFillTx/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rPr>
                  <a:t>积分曲线.</a:t>
                </a:r>
                <a:endParaRPr kumimoji="1" lang="zh-CN" altLang="en-US" sz="2800" b="1" noProof="0" dirty="0">
                  <a:ln>
                    <a:noFill/>
                  </a:ln>
                  <a:solidFill>
                    <a:srgbClr val="04926A"/>
                  </a:solidFill>
                  <a:effectLst/>
                  <a:uLnTx/>
                  <a:uFillTx/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27" name="Text 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49610" y="1085698"/>
                <a:ext cx="10348051" cy="521970"/>
              </a:xfrm>
              <a:prstGeom prst="rect">
                <a:avLst/>
              </a:prstGeom>
              <a:blipFill>
                <a:blip r:embed="rId3"/>
                <a:stretch>
                  <a:fillRect l="-1178" t="-15116" b="-3139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 Box 3"/>
          <p:cNvSpPr txBox="1">
            <a:spLocks noChangeArrowheads="1"/>
          </p:cNvSpPr>
          <p:nvPr/>
        </p:nvSpPr>
        <p:spPr bwMode="auto">
          <a:xfrm>
            <a:off x="1049610" y="528156"/>
            <a:ext cx="2360368" cy="521970"/>
          </a:xfrm>
          <a:prstGeom prst="rect">
            <a:avLst/>
          </a:prstGeom>
          <a:noFill/>
          <a:ln w="28575">
            <a:noFill/>
            <a:prstDash val="dashDot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 fontAlgn="base">
              <a:spcBef>
                <a:spcPct val="50000"/>
              </a:spcBef>
              <a:buClrTx/>
              <a:buSzTx/>
              <a:buFontTx/>
              <a:defRPr/>
            </a:pPr>
            <a:r>
              <a:rPr lang="zh-CN" altLang="en-US" sz="2800" b="1" i="0" u="none" strike="noStrike" kern="1200" cap="none" spc="0" normalizeH="0" baseline="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5. 积分曲线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156149" y="3800119"/>
            <a:ext cx="5302250" cy="1849755"/>
            <a:chOff x="5044" y="6004"/>
            <a:chExt cx="8350" cy="291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470" name="Object 14"/>
                <p:cNvSpPr txBox="1"/>
                <p:nvPr/>
              </p:nvSpPr>
              <p:spPr bwMode="auto">
                <a:xfrm>
                  <a:off x="5044" y="6004"/>
                  <a:ext cx="8350" cy="291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d>
                          <m:dPr>
                            <m:begChr m:val="{"/>
                            <m:endChr m:val=""/>
                            <m:ctrlPr>
                              <a:rPr kumimoji="1" lang="en-US" altLang="zh-CN" sz="2800" i="1" dirty="0" smtClean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</m:ctrlPr>
                              </m:eqArrPr>
                              <m:e>
                                <m: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&amp;</m:t>
                                </m:r>
                                <m:sSup>
                                  <m:sSupPr>
                                    <m:ctrlPr>
                                      <a:rPr kumimoji="1" lang="en-US" altLang="zh-CN" sz="2800" i="1" dirty="0"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1" lang="en-US" altLang="zh-CN" sz="2800" i="1" dirty="0"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kumimoji="1" lang="en-US" altLang="zh-CN" sz="2800" i="1" dirty="0"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″</m:t>
                                    </m:r>
                                  </m:sup>
                                </m:sSup>
                                <m: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=</m:t>
                                </m:r>
                                <m: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𝑓</m:t>
                                </m:r>
                                <m: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(</m:t>
                                </m:r>
                                <m: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𝑥</m:t>
                                </m:r>
                                <m: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,</m:t>
                                </m:r>
                                <m: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𝑦</m:t>
                                </m:r>
                                <m: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,</m:t>
                                </m:r>
                                <m:sSup>
                                  <m:sSupPr>
                                    <m:ctrlPr>
                                      <a:rPr kumimoji="1" lang="en-US" altLang="zh-CN" sz="2800" i="1" dirty="0"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1" lang="en-US" altLang="zh-CN" sz="2800" i="1" dirty="0"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kumimoji="1" lang="en-US" altLang="zh-CN" sz="2800" i="1" dirty="0"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)</m:t>
                                </m:r>
                              </m:e>
                              <m:e>
                                <m:r>
                                  <a:rPr kumimoji="1" lang="en-US" altLang="zh-CN" sz="2800" b="0" i="1" dirty="0" smtClean="0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 </m:t>
                                </m:r>
                              </m:e>
                              <m:e>
                                <m: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&amp;</m:t>
                                </m:r>
                                <m:sSub>
                                  <m:sSubPr>
                                    <m:ctrlPr>
                                      <a:rPr kumimoji="1" lang="en-US" altLang="zh-CN" sz="28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d>
                                      <m:dPr>
                                        <m:begChr m:val=""/>
                                        <m:endChr m:val="|"/>
                                        <m:ctrlPr>
                                          <a:rPr kumimoji="1" lang="en-US" altLang="zh-CN" sz="28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kumimoji="1" lang="en-US" altLang="zh-CN" sz="2800" i="1" dirty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d>
                                  </m:e>
                                  <m:sub>
                                    <m:r>
                                      <a:rPr kumimoji="1" lang="en-US" altLang="zh-CN" sz="2800" i="1" dirty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kumimoji="1" lang="en-US" altLang="zh-CN" sz="2800" i="1" dirty="0"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sSub>
                                      <m:sSubPr>
                                        <m:ctrlPr>
                                          <a:rPr kumimoji="1" lang="en-US" altLang="zh-CN" sz="28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en-US" altLang="zh-CN" sz="2800" i="1" dirty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kumimoji="1" lang="en-US" altLang="zh-CN" sz="2800" i="1" dirty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sub>
                                </m:sSub>
                                <m:r>
                                  <a:rPr kumimoji="1" lang="en-US" altLang="zh-CN" sz="2800" i="1" dirty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kumimoji="1" lang="en-US" altLang="zh-CN" sz="28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zh-CN" sz="2800" i="1" dirty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kumimoji="1" lang="en-US" altLang="zh-CN" sz="2800" i="1" dirty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kumimoji="1" lang="en-US" altLang="zh-CN" sz="28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d>
                                      <m:dPr>
                                        <m:begChr m:val=""/>
                                        <m:endChr m:val="|"/>
                                        <m:ctrlPr>
                                          <a:rPr kumimoji="1" lang="en-US" altLang="zh-CN" sz="280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kumimoji="1" lang="en-US" altLang="zh-CN" sz="2800" i="1" dirty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kumimoji="1" lang="en-US" altLang="zh-CN" sz="2800" i="1" dirty="0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  <m:sup>
                                            <m:r>
                                              <a:rPr kumimoji="1" lang="en-US" altLang="zh-CN" sz="2800" i="1" dirty="0">
                                                <a:latin typeface="Cambria Math" panose="02040503050406030204" pitchFamily="18" charset="0"/>
                                              </a:rPr>
                                              <m:t>′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</m:e>
                                  <m:sub>
                                    <m:r>
                                      <a:rPr kumimoji="1" lang="en-US" altLang="zh-CN" sz="2800" i="1" dirty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kumimoji="1" lang="en-US" altLang="zh-CN" sz="2800" i="1" dirty="0"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sSub>
                                      <m:sSubPr>
                                        <m:ctrlPr>
                                          <a:rPr kumimoji="1" lang="en-US" altLang="zh-CN" sz="28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en-US" altLang="zh-CN" sz="2800" i="1" dirty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kumimoji="1" lang="en-US" altLang="zh-CN" sz="2800" i="1" dirty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sub>
                                </m:sSub>
                                <m:r>
                                  <a:rPr kumimoji="1" lang="en-US" altLang="zh-CN" sz="2800" i="1" dirty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kumimoji="1" lang="en-US" altLang="zh-CN" sz="28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sSup>
                                      <m:sSupPr>
                                        <m:ctrlPr>
                                          <a:rPr kumimoji="1" lang="en-US" altLang="zh-CN" sz="28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kumimoji="1" lang="en-US" altLang="zh-CN" sz="2800" i="1" dirty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p>
                                        <m:r>
                                          <a:rPr kumimoji="1" lang="en-US" altLang="zh-CN" sz="2800" i="1" dirty="0"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</m:e>
                                  <m:sub>
                                    <m:r>
                                      <a:rPr kumimoji="1" lang="en-US" altLang="zh-CN" sz="2800" i="1" dirty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eqArr>
                          </m:e>
                        </m:d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9470" name="Object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044" y="6004"/>
                  <a:ext cx="8350" cy="2913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矩形 7"/>
            <p:cNvSpPr/>
            <p:nvPr/>
          </p:nvSpPr>
          <p:spPr>
            <a:xfrm>
              <a:off x="11389" y="6677"/>
              <a:ext cx="597" cy="54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9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9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9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68" grpId="0"/>
      <p:bldP spid="19466" grpId="0"/>
      <p:bldP spid="19471" grpId="0"/>
      <p:bldP spid="27" grpId="0" animBg="1"/>
      <p:bldP spid="2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532130" y="720090"/>
            <a:ext cx="11149330" cy="5428615"/>
            <a:chOff x="838" y="1134"/>
            <a:chExt cx="17558" cy="8549"/>
          </a:xfrm>
        </p:grpSpPr>
        <p:sp>
          <p:nvSpPr>
            <p:cNvPr id="56" name="PA-102232"/>
            <p:cNvSpPr/>
            <p:nvPr>
              <p:custDataLst>
                <p:tags r:id="rId1"/>
              </p:custDataLst>
            </p:nvPr>
          </p:nvSpPr>
          <p:spPr>
            <a:xfrm>
              <a:off x="838" y="1134"/>
              <a:ext cx="17524" cy="853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393700" dist="88900" algn="ctr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6BB6"/>
                </a:solidFill>
                <a:cs typeface="+mn-ea"/>
                <a:sym typeface="+mn-lt"/>
              </a:endParaRPr>
            </a:p>
          </p:txBody>
        </p:sp>
        <p:sp>
          <p:nvSpPr>
            <p:cNvPr id="57" name="Rectangle 1"/>
            <p:cNvSpPr/>
            <p:nvPr/>
          </p:nvSpPr>
          <p:spPr>
            <a:xfrm>
              <a:off x="9602" y="9583"/>
              <a:ext cx="8794" cy="101"/>
            </a:xfrm>
            <a:prstGeom prst="rect">
              <a:avLst/>
            </a:prstGeom>
            <a:solidFill>
              <a:srgbClr val="04926A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9" name="Rectangle 1"/>
            <p:cNvSpPr/>
            <p:nvPr/>
          </p:nvSpPr>
          <p:spPr>
            <a:xfrm>
              <a:off x="5321" y="9583"/>
              <a:ext cx="4286" cy="83"/>
            </a:xfrm>
            <a:prstGeom prst="rect">
              <a:avLst/>
            </a:prstGeom>
            <a:solidFill>
              <a:schemeClr val="bg1"/>
            </a:solidFill>
            <a:ln w="3175" cap="flat" cmpd="sng" algn="ctr">
              <a:solidFill>
                <a:srgbClr val="04926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0" name="Rectangle 1"/>
            <p:cNvSpPr/>
            <p:nvPr/>
          </p:nvSpPr>
          <p:spPr>
            <a:xfrm>
              <a:off x="838" y="9583"/>
              <a:ext cx="4483" cy="83"/>
            </a:xfrm>
            <a:prstGeom prst="rect">
              <a:avLst/>
            </a:prstGeom>
            <a:solidFill>
              <a:srgbClr val="04926A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6415" name="Text Box 31"/>
          <p:cNvSpPr txBox="1">
            <a:spLocks noChangeArrowheads="1"/>
          </p:cNvSpPr>
          <p:nvPr/>
        </p:nvSpPr>
        <p:spPr bwMode="auto">
          <a:xfrm>
            <a:off x="2374957" y="5226050"/>
            <a:ext cx="339280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800" noProof="0" dirty="0">
                <a:ln>
                  <a:noFill/>
                </a:ln>
                <a:solidFill>
                  <a:srgbClr val="04926A"/>
                </a:solidFill>
                <a:effectLst/>
                <a:uLnTx/>
                <a:uFillTx/>
                <a:latin typeface="Cambria Math" panose="02040503050406030204" charset="0"/>
                <a:ea typeface="黑体" panose="02010609060101010101" pitchFamily="49" charset="-122"/>
                <a:cs typeface="Cambria Math" panose="02040503050406030204" charset="0"/>
              </a:rPr>
              <a:t>例1的积分曲线</a:t>
            </a:r>
          </a:p>
        </p:txBody>
      </p:sp>
      <p:sp>
        <p:nvSpPr>
          <p:cNvPr id="16416" name="Text Box 32"/>
          <p:cNvSpPr txBox="1">
            <a:spLocks noChangeArrowheads="1"/>
          </p:cNvSpPr>
          <p:nvPr/>
        </p:nvSpPr>
        <p:spPr bwMode="auto">
          <a:xfrm>
            <a:off x="6752579" y="5226050"/>
            <a:ext cx="367855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800" noProof="0" dirty="0">
                <a:ln>
                  <a:noFill/>
                </a:ln>
                <a:solidFill>
                  <a:srgbClr val="04926A"/>
                </a:solidFill>
                <a:effectLst/>
                <a:uLnTx/>
                <a:uFillTx/>
                <a:latin typeface="Cambria Math" panose="02040503050406030204" charset="0"/>
                <a:ea typeface="黑体" panose="02010609060101010101" pitchFamily="49" charset="-122"/>
                <a:cs typeface="Cambria Math" panose="02040503050406030204" charset="0"/>
              </a:rPr>
              <a:t>例2的积分曲线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 Box 21"/>
              <p:cNvSpPr txBox="1">
                <a:spLocks noChangeArrowheads="1"/>
              </p:cNvSpPr>
              <p:nvPr/>
            </p:nvSpPr>
            <p:spPr bwMode="auto">
              <a:xfrm>
                <a:off x="1679881" y="1031429"/>
                <a:ext cx="10502288" cy="5219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kumimoji="1" lang="zh-CN" altLang="en-US" sz="2800" noProof="0" dirty="0">
                    <a:ln>
                      <a:noFill/>
                    </a:ln>
                    <a:solidFill>
                      <a:schemeClr val="tx1">
                        <a:lumMod val="95000"/>
                        <a:lumOff val="5000"/>
                      </a:schemeClr>
                    </a:solidFill>
                    <a:effectLst/>
                    <a:uLnTx/>
                    <a:uFillTx/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rPr>
                  <a:t>(2) 通解的图象是一族曲线</a:t>
                </a:r>
                <a14:m>
                  <m:oMath xmlns:m="http://schemas.openxmlformats.org/officeDocument/2006/math">
                    <m:r>
                      <a:rPr kumimoji="1" lang="en-US" altLang="zh-CN" sz="2800" i="1" dirty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kumimoji="1" lang="zh-CN" altLang="en-US" sz="2800" noProof="0" dirty="0">
                    <a:ln>
                      <a:noFill/>
                    </a:ln>
                    <a:solidFill>
                      <a:schemeClr val="tx1">
                        <a:lumMod val="95000"/>
                        <a:lumOff val="5000"/>
                      </a:schemeClr>
                    </a:solidFill>
                    <a:effectLst/>
                    <a:uLnTx/>
                    <a:uFillTx/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rPr>
                  <a:t> 称为微分方程的</a:t>
                </a:r>
                <a:r>
                  <a:rPr kumimoji="1" lang="zh-CN" altLang="en-US" sz="2800" noProof="0" dirty="0">
                    <a:ln>
                      <a:noFill/>
                    </a:ln>
                    <a:solidFill>
                      <a:srgbClr val="04926A"/>
                    </a:solidFill>
                    <a:effectLst/>
                    <a:uLnTx/>
                    <a:uFillTx/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rPr>
                  <a:t>积分曲线族</a:t>
                </a:r>
                <a:r>
                  <a:rPr kumimoji="1" lang="zh-CN" altLang="en-US" sz="2800" noProof="0" dirty="0">
                    <a:ln>
                      <a:noFill/>
                    </a:ln>
                    <a:solidFill>
                      <a:schemeClr val="tx1">
                        <a:lumMod val="95000"/>
                        <a:lumOff val="5000"/>
                      </a:schemeClr>
                    </a:solidFill>
                    <a:effectLst/>
                    <a:uLnTx/>
                    <a:uFillTx/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rPr>
                  <a:t>.</a:t>
                </a:r>
                <a:endParaRPr lang="en-US" altLang="zh-CN" sz="2800" b="1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2" name="Text 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79881" y="1031429"/>
                <a:ext cx="10502288" cy="521970"/>
              </a:xfrm>
              <a:prstGeom prst="rect">
                <a:avLst/>
              </a:prstGeom>
              <a:blipFill>
                <a:blip r:embed="rId9"/>
                <a:stretch>
                  <a:fillRect l="-1220" t="-15116" b="-3139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 descr="图示&#10;&#10;描述已自动生成">
            <a:extLst>
              <a:ext uri="{FF2B5EF4-FFF2-40B4-BE49-F238E27FC236}">
                <a16:creationId xmlns:a16="http://schemas.microsoft.com/office/drawing/2014/main" id="{512D7DFF-DFE1-0111-8646-857E709AA7C5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3082" y="2192292"/>
            <a:ext cx="2452803" cy="2516082"/>
          </a:xfrm>
          <a:prstGeom prst="rect">
            <a:avLst/>
          </a:prstGeom>
        </p:spPr>
      </p:pic>
      <p:pic>
        <p:nvPicPr>
          <p:cNvPr id="7" name="图片 6" descr="图示&#10;&#10;描述已自动生成">
            <a:extLst>
              <a:ext uri="{FF2B5EF4-FFF2-40B4-BE49-F238E27FC236}">
                <a16:creationId xmlns:a16="http://schemas.microsoft.com/office/drawing/2014/main" id="{BA832418-C455-1FD0-E94F-96134807A61E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6480" y="2052070"/>
            <a:ext cx="2806227" cy="27538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15" grpId="0" animBg="1"/>
      <p:bldP spid="16416" grpId="0" animBg="1"/>
      <p:bldP spid="2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/>
          <p:cNvSpPr/>
          <p:nvPr/>
        </p:nvSpPr>
        <p:spPr>
          <a:xfrm>
            <a:off x="687324" y="519089"/>
            <a:ext cx="10817352" cy="579989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半闭框 47"/>
          <p:cNvSpPr/>
          <p:nvPr/>
        </p:nvSpPr>
        <p:spPr>
          <a:xfrm>
            <a:off x="687324" y="519089"/>
            <a:ext cx="681355" cy="73917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9" name="半闭框 48"/>
          <p:cNvSpPr/>
          <p:nvPr/>
        </p:nvSpPr>
        <p:spPr>
          <a:xfrm flipH="1">
            <a:off x="10823530" y="519089"/>
            <a:ext cx="681146" cy="739134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0" name="半闭框 39"/>
          <p:cNvSpPr/>
          <p:nvPr/>
        </p:nvSpPr>
        <p:spPr>
          <a:xfrm flipV="1">
            <a:off x="687324" y="5665394"/>
            <a:ext cx="681355" cy="673517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1" name="半闭框 40"/>
          <p:cNvSpPr/>
          <p:nvPr/>
        </p:nvSpPr>
        <p:spPr>
          <a:xfrm flipH="1" flipV="1">
            <a:off x="10823530" y="5645528"/>
            <a:ext cx="681146" cy="69338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266" name="Rectangle 2"/>
          <p:cNvSpPr>
            <a:spLocks noGrp="1" noChangeArrowheads="1"/>
          </p:cNvSpPr>
          <p:nvPr/>
        </p:nvSpPr>
        <p:spPr>
          <a:xfrm>
            <a:off x="937022" y="705148"/>
            <a:ext cx="2667000" cy="6048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例</a:t>
            </a:r>
            <a:r>
              <a:rPr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3</a:t>
            </a:r>
            <a:endParaRPr lang="zh-CN" altLang="en-US" sz="2800" dirty="0">
              <a:solidFill>
                <a:schemeClr val="tx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268" name="Object 4"/>
              <p:cNvSpPr txBox="1"/>
              <p:nvPr/>
            </p:nvSpPr>
            <p:spPr bwMode="auto">
              <a:xfrm>
                <a:off x="1711325" y="740608"/>
                <a:ext cx="9950450" cy="90932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2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11200" noProof="0" dirty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验证函数</m:t>
                      </m:r>
                      <m:r>
                        <a:rPr kumimoji="1" lang="en-US" altLang="zh-CN" sz="11200" i="1" dirty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𝑥</m:t>
                      </m:r>
                      <m:r>
                        <a:rPr kumimoji="1" lang="en-US" altLang="zh-CN" sz="11200" i="1" dirty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=</m:t>
                      </m:r>
                      <m:sSub>
                        <m:sSubPr>
                          <m:ctrlPr>
                            <a:rPr kumimoji="1" lang="en-US" altLang="zh-CN" sz="112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kumimoji="1" lang="en-US" altLang="zh-CN" sz="112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𝐶</m:t>
                          </m:r>
                        </m:e>
                        <m:sub>
                          <m:r>
                            <a:rPr kumimoji="1" lang="en-US" altLang="zh-CN" sz="112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1</m:t>
                          </m:r>
                        </m:sub>
                      </m:sSub>
                      <m:func>
                        <m:funcPr>
                          <m:ctrlPr>
                            <a:rPr kumimoji="1" lang="en-US" altLang="zh-CN" sz="112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zh-CN" sz="112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cos</m:t>
                          </m:r>
                        </m:fName>
                        <m:e>
                          <m:r>
                            <a:rPr kumimoji="1" lang="en-US" altLang="zh-CN" sz="112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𝑘</m:t>
                          </m:r>
                        </m:e>
                      </m:func>
                      <m:r>
                        <a:rPr kumimoji="1" lang="en-US" altLang="zh-CN" sz="11200" i="1" dirty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​</m:t>
                      </m:r>
                      <m:r>
                        <a:rPr kumimoji="1" lang="en-US" altLang="zh-CN" sz="11200" i="1" dirty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𝑡</m:t>
                      </m:r>
                      <m:r>
                        <a:rPr kumimoji="1" lang="en-US" altLang="zh-CN" sz="11200" i="1" dirty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+</m:t>
                      </m:r>
                      <m:sSub>
                        <m:sSubPr>
                          <m:ctrlPr>
                            <a:rPr kumimoji="1" lang="en-US" altLang="zh-CN" sz="112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kumimoji="1" lang="en-US" altLang="zh-CN" sz="112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𝐶</m:t>
                          </m:r>
                        </m:e>
                        <m:sub>
                          <m:r>
                            <a:rPr kumimoji="1" lang="en-US" altLang="zh-CN" sz="112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2</m:t>
                          </m:r>
                        </m:sub>
                      </m:sSub>
                      <m:func>
                        <m:funcPr>
                          <m:ctrlPr>
                            <a:rPr kumimoji="1" lang="en-US" altLang="zh-CN" sz="112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zh-CN" sz="112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sin</m:t>
                          </m:r>
                        </m:fName>
                        <m:e>
                          <m:r>
                            <a:rPr kumimoji="1" lang="en-US" altLang="zh-CN" sz="112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𝑘</m:t>
                          </m:r>
                        </m:e>
                      </m:func>
                      <m:r>
                        <a:rPr kumimoji="1" lang="en-US" altLang="zh-CN" sz="11200" i="1" dirty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​</m:t>
                      </m:r>
                      <m:r>
                        <a:rPr kumimoji="1" lang="en-US" altLang="zh-CN" sz="11200" i="1" dirty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𝑡</m:t>
                      </m:r>
                      <m:r>
                        <a:rPr kumimoji="1" lang="en-US" altLang="zh-CN" sz="11200" i="1" dirty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 (</m:t>
                      </m:r>
                      <m:sSub>
                        <m:sSubPr>
                          <m:ctrlPr>
                            <a:rPr kumimoji="1" lang="en-US" altLang="zh-CN" sz="112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kumimoji="1" lang="en-US" altLang="zh-CN" sz="112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𝐶</m:t>
                          </m:r>
                        </m:e>
                        <m:sub>
                          <m:r>
                            <a:rPr kumimoji="1" lang="en-US" altLang="zh-CN" sz="112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1</m:t>
                          </m:r>
                        </m:sub>
                      </m:sSub>
                      <m:r>
                        <a:rPr kumimoji="1" lang="en-US" altLang="zh-CN" sz="11200" i="1" dirty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,</m:t>
                      </m:r>
                      <m:sSub>
                        <m:sSubPr>
                          <m:ctrlPr>
                            <a:rPr kumimoji="1" lang="en-US" altLang="zh-CN" sz="112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kumimoji="1" lang="en-US" altLang="zh-CN" sz="112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𝐶</m:t>
                          </m:r>
                        </m:e>
                        <m:sub>
                          <m:r>
                            <a:rPr kumimoji="1" lang="en-US" altLang="zh-CN" sz="112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2</m:t>
                          </m:r>
                        </m:sub>
                      </m:sSub>
                      <m:r>
                        <a:rPr kumimoji="1" lang="zh-CN" altLang="en-US" sz="11200" noProof="0" dirty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为常数</m:t>
                      </m:r>
                      <m:r>
                        <a:rPr kumimoji="1" lang="zh-CN" altLang="en-US" sz="11200" noProof="0" dirty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</m:t>
                      </m:r>
                      <m:r>
                        <a:rPr kumimoji="1" lang="zh-CN" altLang="en-US" sz="11200" noProof="0" dirty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是微分方程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1268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11325" y="740608"/>
                <a:ext cx="9950450" cy="9093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299" name="Object 35"/>
              <p:cNvSpPr txBox="1"/>
              <p:nvPr/>
            </p:nvSpPr>
            <p:spPr bwMode="auto">
              <a:xfrm>
                <a:off x="3762375" y="1285438"/>
                <a:ext cx="2806065" cy="952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2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en-US" altLang="zh-CN" sz="112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kumimoji="1" lang="en-US" altLang="zh-CN" sz="112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kumimoji="1" lang="en-US" altLang="zh-CN" sz="11200" i="1" dirty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kumimoji="1" lang="en-US" altLang="zh-CN" sz="11200" i="1" dirty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d</m:t>
                                  </m:r>
                                </m:e>
                                <m:sup>
                                  <m:r>
                                    <a:rPr kumimoji="1" lang="en-US" altLang="zh-CN" sz="11200" i="1" dirty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r>
                                <a:rPr kumimoji="1" lang="en-US" altLang="zh-CN" sz="112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𝑥</m:t>
                              </m:r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kumimoji="1" lang="en-US" altLang="zh-CN" sz="112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1" lang="en-US" altLang="zh-CN" sz="112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d</m:t>
                              </m:r>
                            </m:fName>
                            <m:e>
                              <m:r>
                                <a:rPr kumimoji="1" lang="en-US" altLang="zh-CN" sz="112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​</m:t>
                              </m:r>
                            </m:e>
                          </m:func>
                          <m:sSup>
                            <m:sSupPr>
                              <m:ctrlPr>
                                <a:rPr kumimoji="1" lang="en-US" altLang="zh-CN" sz="112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pPr>
                            <m:e>
                              <m:r>
                                <a:rPr kumimoji="1" lang="en-US" altLang="zh-CN" sz="112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𝑡</m:t>
                              </m:r>
                            </m:e>
                            <m:sup>
                              <m:r>
                                <a:rPr kumimoji="1" lang="en-US" altLang="zh-CN" sz="112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kumimoji="1" lang="en-US" altLang="zh-CN" sz="11200" i="1" dirty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+</m:t>
                      </m:r>
                      <m:sSup>
                        <m:sSupPr>
                          <m:ctrlPr>
                            <a:rPr kumimoji="1" lang="en-US" altLang="zh-CN" sz="112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pPr>
                        <m:e>
                          <m:r>
                            <a:rPr kumimoji="1" lang="en-US" altLang="zh-CN" sz="112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𝑘</m:t>
                          </m:r>
                        </m:e>
                        <m:sup>
                          <m:r>
                            <a:rPr kumimoji="1" lang="en-US" altLang="zh-CN" sz="112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2</m:t>
                          </m:r>
                        </m:sup>
                      </m:sSup>
                      <m:r>
                        <a:rPr kumimoji="1" lang="en-US" altLang="zh-CN" sz="11200" i="1" dirty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𝑥</m:t>
                      </m:r>
                      <m:r>
                        <a:rPr kumimoji="1" lang="en-US" altLang="zh-CN" sz="11200" i="1" dirty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=0</m:t>
                      </m:r>
                    </m:oMath>
                  </m:oMathPara>
                </a14:m>
                <a:endParaRPr kumimoji="1" lang="en-US" altLang="zh-CN" sz="11200" i="1" dirty="0">
                  <a:latin typeface="Cambria Math" panose="02040503050406030204" pitchFamily="18" charset="0"/>
                  <a:ea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11299" name="Object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762375" y="1285438"/>
                <a:ext cx="2806065" cy="9525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对象 1"/>
              <p:cNvSpPr txBox="1"/>
              <p:nvPr/>
            </p:nvSpPr>
            <p:spPr>
              <a:xfrm>
                <a:off x="1735455" y="2366843"/>
                <a:ext cx="1144270" cy="419100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noProof="0" dirty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的解</m:t>
                      </m:r>
                      <m:r>
                        <a:rPr kumimoji="1" lang="zh-CN" altLang="en-US" sz="2800" noProof="0" dirty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kumimoji="1" lang="zh-CN" altLang="en-US" sz="2800" noProof="0" dirty="0">
                  <a:ln>
                    <a:noFill/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effectLst/>
                  <a:uLnTx/>
                  <a:uFillTx/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3" name="对象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5455" y="2366843"/>
                <a:ext cx="1144270" cy="419100"/>
              </a:xfrm>
              <a:prstGeom prst="rect">
                <a:avLst/>
              </a:prstGeom>
              <a:blipFill>
                <a:blip r:embed="rId5"/>
                <a:stretch>
                  <a:fillRect b="-57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 Box 12"/>
          <p:cNvSpPr txBox="1">
            <a:spLocks noChangeArrowheads="1"/>
          </p:cNvSpPr>
          <p:nvPr/>
        </p:nvSpPr>
        <p:spPr bwMode="auto">
          <a:xfrm>
            <a:off x="960359" y="3365205"/>
            <a:ext cx="9906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2616835" y="2141418"/>
            <a:ext cx="9044940" cy="1117600"/>
            <a:chOff x="4261" y="3586"/>
            <a:chExt cx="14244" cy="176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272" name="Object 8"/>
                <p:cNvSpPr txBox="1"/>
                <p:nvPr/>
              </p:nvSpPr>
              <p:spPr bwMode="auto">
                <a:xfrm>
                  <a:off x="4261" y="3586"/>
                  <a:ext cx="14244" cy="176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800" noProof="0" dirty="0" smtClean="0">
                            <a:ln>
                              <a:noFill/>
                            </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并求满足初</m:t>
                        </m:r>
                        <m:r>
                          <a:rPr kumimoji="1" lang="zh-CN" altLang="en-US" sz="2800" noProof="0" dirty="0">
                            <a:ln>
                              <a:noFill/>
                            </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  <a:sym typeface="+mn-ea"/>
                          </a:rPr>
                          <m:t>值</m:t>
                        </m:r>
                        <m:r>
                          <a:rPr kumimoji="1" lang="zh-CN" altLang="en-US" sz="2800" noProof="0" dirty="0">
                            <a:ln>
                              <a:noFill/>
                            </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条件</m:t>
                        </m:r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"/>
                                <m:endChr m:val="|"/>
                                <m:ctrlPr>
                                  <a:rPr kumimoji="1" lang="en-US" altLang="zh-CN" sz="28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zh-CN" sz="2800" i="1" dirty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  <m:sub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</a:rPr>
                              <m:t>=0</m:t>
                            </m:r>
                          </m:sub>
                        </m:sSub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=</m:t>
                        </m:r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𝐴</m:t>
                        </m:r>
                        <m:r>
                          <a:rPr kumimoji="1" lang="en-US" altLang="zh-CN" sz="2800" b="0" i="1" dirty="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 </m:t>
                        </m:r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,</m:t>
                        </m:r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"/>
                                <m:endChr m:val="|"/>
                                <m:ctrlPr>
                                  <a:rPr kumimoji="1" lang="en-US" altLang="zh-CN" sz="28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zh-CN" sz="2800" i="1" dirty="0">
                                    <a:latin typeface="Cambria Math" panose="02040503050406030204" pitchFamily="18" charset="0"/>
                                  </a:rPr>
                                  <m:t> </m:t>
                                </m:r>
                                <m:f>
                                  <m:fPr>
                                    <m:ctrlPr>
                                      <a:rPr kumimoji="1" lang="en-US" altLang="zh-CN" sz="28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sty m:val="p"/>
                                      </m:rPr>
                                      <a:rPr kumimoji="1" lang="en-US" altLang="zh-CN" sz="2800" dirty="0">
                                        <a:latin typeface="Cambria Math" panose="02040503050406030204" pitchFamily="18" charset="0"/>
                                      </a:rPr>
                                      <m:t>d</m:t>
                                    </m:r>
                                    <m:r>
                                      <a:rPr kumimoji="1" lang="en-US" altLang="zh-CN" sz="2800" i="1" dirty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num>
                                  <m:den>
                                    <m:r>
                                      <m:rPr>
                                        <m:sty m:val="p"/>
                                      </m:rPr>
                                      <a:rPr kumimoji="1" lang="en-US" altLang="zh-CN" sz="2800" dirty="0">
                                        <a:latin typeface="Cambria Math" panose="02040503050406030204" pitchFamily="18" charset="0"/>
                                      </a:rPr>
                                      <m:t>d</m:t>
                                    </m:r>
                                    <m:r>
                                      <a:rPr kumimoji="1" lang="en-US" altLang="zh-CN" sz="2800" i="1" dirty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den>
                                </m:f>
                              </m:e>
                            </m:d>
                          </m:e>
                          <m:sub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</a:rPr>
                              <m:t>=0</m:t>
                            </m:r>
                          </m:sub>
                        </m:sSub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=0</m:t>
                        </m:r>
                        <m:r>
                          <a:rPr kumimoji="1" lang="zh-CN" altLang="en-US" sz="2800" noProof="0" dirty="0">
                            <a:ln>
                              <a:noFill/>
                            </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的特解</m:t>
                        </m:r>
                        <m:r>
                          <a:rPr kumimoji="1" lang="zh-CN" altLang="en-US" sz="2800" noProof="0" dirty="0">
                            <a:ln>
                              <a:noFill/>
                            </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. </m:t>
                        </m:r>
                      </m:oMath>
                    </m:oMathPara>
                  </a14:m>
                  <a:endParaRPr kumimoji="1" lang="zh-CN" altLang="en-US" sz="2800" noProof="0" dirty="0">
                    <a:ln>
                      <a:noFill/>
                    </a:ln>
                    <a:solidFill>
                      <a:schemeClr val="tx1">
                        <a:lumMod val="95000"/>
                        <a:lumOff val="5000"/>
                      </a:schemeClr>
                    </a:solidFill>
                    <a:effectLst/>
                    <a:uLnTx/>
                    <a:uFillTx/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11272" name="Object 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261" y="3586"/>
                  <a:ext cx="14244" cy="176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" name="矩形 1"/>
            <p:cNvSpPr/>
            <p:nvPr/>
          </p:nvSpPr>
          <p:spPr>
            <a:xfrm>
              <a:off x="16840" y="4059"/>
              <a:ext cx="597" cy="54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3B2BDCE4-6206-F356-2E77-88A9BC6BF9DA}"/>
                  </a:ext>
                </a:extLst>
              </p:cNvPr>
              <p:cNvSpPr txBox="1"/>
              <p:nvPr/>
            </p:nvSpPr>
            <p:spPr>
              <a:xfrm>
                <a:off x="2712820" y="5235621"/>
                <a:ext cx="6002724" cy="771686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将</m:t>
                      </m:r>
                      <m:f>
                        <m:fPr>
                          <m:ctrlPr>
                            <a:rPr kumimoji="1" lang="en-US" altLang="zh-CN" sz="2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kumimoji="1" lang="en-US" altLang="zh-CN" sz="22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kumimoji="1" lang="en-US" altLang="zh-CN" sz="2200" i="1" dirty="0"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e>
                            <m:sup>
                              <m:r>
                                <a:rPr kumimoji="1" lang="en-US" altLang="zh-CN" sz="22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en-US" altLang="zh-CN" sz="22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kumimoji="1" lang="en-US" altLang="zh-CN" sz="2200" i="1" dirty="0">
                              <a:latin typeface="Cambria Math" panose="02040503050406030204" pitchFamily="18" charset="0"/>
                            </a:rPr>
                            <m:t>d</m:t>
                          </m:r>
                          <m:sSup>
                            <m:sSupPr>
                              <m:ctrlPr>
                                <a:rPr kumimoji="1" lang="en-US" altLang="zh-CN" sz="22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zh-CN" sz="2200" i="1" dirty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kumimoji="1" lang="en-US" altLang="zh-CN" sz="22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kumimoji="1" lang="zh-CN" altLang="en-US" sz="2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和</m:t>
                      </m:r>
                      <m:r>
                        <a:rPr kumimoji="1" lang="en-US" altLang="zh-CN" sz="2200"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kumimoji="1" lang="zh-CN" altLang="en-US" sz="2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的表达式代入原方程</m:t>
                      </m:r>
                      <m:r>
                        <a:rPr kumimoji="1" lang="en-US" altLang="zh-CN" sz="2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 </m:t>
                      </m:r>
                      <m:r>
                        <a:rPr kumimoji="1" lang="zh-CN" altLang="en-US" sz="2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kumimoji="1" lang="en-US" altLang="zh-CN" sz="22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3B2BDCE4-6206-F356-2E77-88A9BC6BF9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2820" y="5235621"/>
                <a:ext cx="6002724" cy="77168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11BA8F03-616D-2120-64EB-7C22D76CFC28}"/>
                  </a:ext>
                </a:extLst>
              </p:cNvPr>
              <p:cNvSpPr txBox="1"/>
              <p:nvPr/>
            </p:nvSpPr>
            <p:spPr>
              <a:xfrm>
                <a:off x="2712820" y="3284851"/>
                <a:ext cx="4724901" cy="735266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200" i="1" dirty="0">
                          <a:latin typeface="Cambria Math" panose="02040503050406030204" pitchFamily="18" charset="0"/>
                        </a:rPr>
                        <m:t>∵</m:t>
                      </m:r>
                      <m:f>
                        <m:fPr>
                          <m:ctrlPr>
                            <a:rPr kumimoji="1" lang="en-US" altLang="zh-CN" sz="2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kumimoji="1" lang="en-US" altLang="zh-CN" sz="2200" i="1" dirty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kumimoji="1" lang="en-US" altLang="zh-CN" sz="22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kumimoji="1" lang="en-US" altLang="zh-CN" sz="2200" i="1" dirty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kumimoji="1" lang="en-US" altLang="zh-CN" sz="2200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kumimoji="1" lang="en-US" altLang="zh-CN" sz="2200" i="1" dirty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kumimoji="1" lang="en-US" altLang="zh-CN" sz="2200" i="1" dirty="0">
                          <a:latin typeface="Cambria Math" panose="02040503050406030204" pitchFamily="18" charset="0"/>
                        </a:rPr>
                        <m:t>𝑘</m:t>
                      </m:r>
                      <m:sSub>
                        <m:sSubPr>
                          <m:ctrlPr>
                            <a:rPr kumimoji="1" lang="en-US" altLang="zh-CN" sz="22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200" i="1" dirty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kumimoji="1" lang="en-US" altLang="zh-CN" sz="22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func>
                        <m:funcPr>
                          <m:ctrlPr>
                            <a:rPr kumimoji="1" lang="en-US" altLang="zh-CN" sz="2200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zh-CN" sz="2200" i="1" dirty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kumimoji="1" lang="en-US" altLang="zh-CN" sz="2200" i="1" dirty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func>
                      <m:r>
                        <a:rPr kumimoji="1" lang="en-US" altLang="zh-CN" sz="2200" i="1" dirty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kumimoji="1" lang="en-US" altLang="zh-CN" sz="2200" i="1" dirty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kumimoji="1" lang="en-US" altLang="zh-CN" sz="2200" i="1" dirty="0">
                          <a:latin typeface="Cambria Math" panose="02040503050406030204" pitchFamily="18" charset="0"/>
                        </a:rPr>
                        <m:t>𝑘</m:t>
                      </m:r>
                      <m:sSub>
                        <m:sSubPr>
                          <m:ctrlPr>
                            <a:rPr kumimoji="1" lang="en-US" altLang="zh-CN" sz="22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200" i="1" dirty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kumimoji="1" lang="en-US" altLang="zh-CN" sz="22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func>
                        <m:funcPr>
                          <m:ctrlPr>
                            <a:rPr kumimoji="1" lang="en-US" altLang="zh-CN" sz="2200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zh-CN" sz="2200" i="1" dirty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kumimoji="1" lang="en-US" altLang="zh-CN" sz="2200" i="1" dirty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func>
                      <m:r>
                        <a:rPr kumimoji="1" lang="en-US" altLang="zh-CN" sz="2200" i="1" dirty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kumimoji="1" lang="en-US" altLang="zh-CN" sz="2200" i="1" dirty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kumimoji="1" lang="en-US" altLang="zh-CN" sz="22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11BA8F03-616D-2120-64EB-7C22D76CFC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2820" y="3284851"/>
                <a:ext cx="4724901" cy="73526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1238A17C-FDD3-F482-9CC5-45B40CCEBC53}"/>
                  </a:ext>
                </a:extLst>
              </p:cNvPr>
              <p:cNvSpPr txBox="1"/>
              <p:nvPr/>
            </p:nvSpPr>
            <p:spPr>
              <a:xfrm>
                <a:off x="2712820" y="4218462"/>
                <a:ext cx="4724901" cy="771686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en-US" altLang="zh-CN" sz="2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kumimoji="1" lang="en-US" altLang="zh-CN" sz="22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kumimoji="1" lang="en-US" altLang="zh-CN" sz="2200" i="1" dirty="0"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e>
                            <m:sup>
                              <m:r>
                                <a:rPr kumimoji="1" lang="en-US" altLang="zh-CN" sz="22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en-US" altLang="zh-CN" sz="22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kumimoji="1" lang="en-US" altLang="zh-CN" sz="2200" i="1" dirty="0">
                              <a:latin typeface="Cambria Math" panose="02040503050406030204" pitchFamily="18" charset="0"/>
                            </a:rPr>
                            <m:t>d</m:t>
                          </m:r>
                          <m:sSup>
                            <m:sSupPr>
                              <m:ctrlPr>
                                <a:rPr kumimoji="1" lang="en-US" altLang="zh-CN" sz="22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zh-CN" sz="2200" i="1" dirty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kumimoji="1" lang="en-US" altLang="zh-CN" sz="22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kumimoji="1" lang="en-US" altLang="zh-CN" sz="2200" i="1" dirty="0">
                          <a:latin typeface="Cambria Math" panose="02040503050406030204" pitchFamily="18" charset="0"/>
                        </a:rPr>
                        <m:t>=−</m:t>
                      </m:r>
                      <m:sSup>
                        <m:sSupPr>
                          <m:ctrlPr>
                            <a:rPr kumimoji="1" lang="en-US" altLang="zh-CN" sz="22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sz="2200" i="1" dirty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kumimoji="1" lang="en-US" altLang="zh-CN" sz="22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kumimoji="1" lang="en-US" altLang="zh-CN" sz="22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200" i="1" dirty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kumimoji="1" lang="en-US" altLang="zh-CN" sz="22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func>
                        <m:funcPr>
                          <m:ctrlPr>
                            <a:rPr kumimoji="1" lang="en-US" altLang="zh-CN" sz="2200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zh-CN" sz="2200" i="1" dirty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kumimoji="1" lang="en-US" altLang="zh-CN" sz="2200" i="1" dirty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func>
                      <m:r>
                        <a:rPr kumimoji="1" lang="en-US" altLang="zh-CN" sz="2200" i="1" dirty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kumimoji="1" lang="en-US" altLang="zh-CN" sz="2200" i="1" dirty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kumimoji="1" lang="en-US" altLang="zh-CN" sz="22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sz="2200" i="1" dirty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kumimoji="1" lang="en-US" altLang="zh-CN" sz="22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kumimoji="1" lang="en-US" altLang="zh-CN" sz="22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200" i="1" dirty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kumimoji="1" lang="en-US" altLang="zh-CN" sz="22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func>
                        <m:funcPr>
                          <m:ctrlPr>
                            <a:rPr kumimoji="1" lang="en-US" altLang="zh-CN" sz="2200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zh-CN" sz="2200" i="1" dirty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kumimoji="1" lang="en-US" altLang="zh-CN" sz="2200" i="1" dirty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func>
                      <m:r>
                        <a:rPr kumimoji="1" lang="en-US" altLang="zh-CN" sz="2200" i="1" dirty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kumimoji="1" lang="en-US" altLang="zh-CN" sz="2200" i="1" dirty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kumimoji="1" lang="en-US" altLang="zh-CN" sz="22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1238A17C-FDD3-F482-9CC5-45B40CCEBC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2820" y="4218462"/>
                <a:ext cx="4724901" cy="77168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1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1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6" grpId="0"/>
      <p:bldP spid="11268" grpId="0"/>
      <p:bldP spid="11299" grpId="0"/>
      <p:bldP spid="3" grpId="0"/>
      <p:bldP spid="8" grpId="0"/>
      <p:bldP spid="24" grpId="0"/>
      <p:bldP spid="25" grpId="0"/>
      <p:bldP spid="2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/>
          <p:cNvSpPr/>
          <p:nvPr/>
        </p:nvSpPr>
        <p:spPr>
          <a:xfrm>
            <a:off x="1409700" y="1226566"/>
            <a:ext cx="9372600" cy="442569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半闭框 22"/>
          <p:cNvSpPr/>
          <p:nvPr/>
        </p:nvSpPr>
        <p:spPr>
          <a:xfrm>
            <a:off x="1409700" y="1230866"/>
            <a:ext cx="681355" cy="693420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4" name="半闭框 23"/>
          <p:cNvSpPr/>
          <p:nvPr/>
        </p:nvSpPr>
        <p:spPr>
          <a:xfrm flipH="1">
            <a:off x="10100945" y="1230866"/>
            <a:ext cx="681355" cy="693420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5" name="半闭框 24"/>
          <p:cNvSpPr/>
          <p:nvPr/>
        </p:nvSpPr>
        <p:spPr>
          <a:xfrm flipV="1">
            <a:off x="1409700" y="4956682"/>
            <a:ext cx="681355" cy="693420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6" name="半闭框 25"/>
          <p:cNvSpPr/>
          <p:nvPr/>
        </p:nvSpPr>
        <p:spPr>
          <a:xfrm flipH="1" flipV="1">
            <a:off x="10100945" y="4956682"/>
            <a:ext cx="681355" cy="693420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8686" name="Text Box 14"/>
          <p:cNvSpPr txBox="1">
            <a:spLocks noChangeArrowheads="1"/>
          </p:cNvSpPr>
          <p:nvPr/>
        </p:nvSpPr>
        <p:spPr bwMode="auto">
          <a:xfrm>
            <a:off x="2494915" y="4478179"/>
            <a:ext cx="4876800" cy="429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20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Cambria Math" panose="02040503050406030204" charset="0"/>
                <a:ea typeface="黑体" panose="02010609060101010101" pitchFamily="49" charset="-122"/>
                <a:cs typeface="Cambria Math" panose="02040503050406030204" charset="0"/>
              </a:rPr>
              <a:t>所求特解为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2494915" y="2036609"/>
            <a:ext cx="8207375" cy="471805"/>
            <a:chOff x="4209" y="3287"/>
            <a:chExt cx="12925" cy="74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682" name="Object 10"/>
                <p:cNvSpPr txBox="1"/>
                <p:nvPr/>
              </p:nvSpPr>
              <p:spPr bwMode="auto">
                <a:xfrm>
                  <a:off x="4209" y="3287"/>
                  <a:ext cx="12925" cy="74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 fontScale="300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7335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−</m:t>
                        </m:r>
                        <m:sSup>
                          <m:sSupPr>
                            <m:ctrlPr>
                              <a:rPr kumimoji="1" lang="en-US" altLang="zh-CN" sz="7335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sSupPr>
                          <m:e>
                            <m:r>
                              <a:rPr kumimoji="1" lang="en-US" altLang="zh-CN" sz="7335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𝑘</m:t>
                            </m:r>
                          </m:e>
                          <m:sup>
                            <m:r>
                              <a:rPr kumimoji="1" lang="en-US" altLang="zh-CN" sz="7335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2</m:t>
                            </m:r>
                          </m:sup>
                        </m:sSup>
                        <m:r>
                          <a:rPr kumimoji="1" lang="en-US" altLang="zh-CN" sz="7335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(</m:t>
                        </m:r>
                        <m:sSub>
                          <m:sSubPr>
                            <m:ctrlPr>
                              <a:rPr kumimoji="1" lang="en-US" altLang="zh-CN" sz="7335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7335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zh-CN" sz="7335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1</m:t>
                            </m:r>
                          </m:sub>
                        </m:sSub>
                        <m:func>
                          <m:funcPr>
                            <m:ctrlPr>
                              <a:rPr kumimoji="1" lang="en-US" altLang="zh-CN" sz="7335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en-US" altLang="zh-CN" sz="7335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cos</m:t>
                            </m:r>
                          </m:fName>
                          <m:e>
                            <m:r>
                              <a:rPr kumimoji="1" lang="en-US" altLang="zh-CN" sz="7335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𝑘</m:t>
                            </m:r>
                          </m:e>
                        </m:func>
                        <m:r>
                          <a:rPr kumimoji="1" lang="en-US" altLang="zh-CN" sz="7335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𝑡</m:t>
                        </m:r>
                        <m:r>
                          <a:rPr kumimoji="1" lang="en-US" altLang="zh-CN" sz="7335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+</m:t>
                        </m:r>
                        <m:sSub>
                          <m:sSubPr>
                            <m:ctrlPr>
                              <a:rPr kumimoji="1" lang="en-US" altLang="zh-CN" sz="7335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7335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zh-CN" sz="7335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2</m:t>
                            </m:r>
                          </m:sub>
                        </m:sSub>
                        <m:func>
                          <m:funcPr>
                            <m:ctrlPr>
                              <a:rPr kumimoji="1" lang="en-US" altLang="zh-CN" sz="7335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en-US" altLang="zh-CN" sz="7335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sin</m:t>
                            </m:r>
                          </m:fName>
                          <m:e>
                            <m:r>
                              <a:rPr kumimoji="1" lang="en-US" altLang="zh-CN" sz="7335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𝑘</m:t>
                            </m:r>
                          </m:e>
                        </m:func>
                        <m:r>
                          <a:rPr kumimoji="1" lang="en-US" altLang="zh-CN" sz="7335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𝑡</m:t>
                        </m:r>
                        <m:r>
                          <a:rPr kumimoji="1" lang="en-US" altLang="zh-CN" sz="7335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)+</m:t>
                        </m:r>
                        <m:sSup>
                          <m:sSupPr>
                            <m:ctrlPr>
                              <a:rPr kumimoji="1" lang="en-US" altLang="zh-CN" sz="7335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sSupPr>
                          <m:e>
                            <m:r>
                              <a:rPr kumimoji="1" lang="en-US" altLang="zh-CN" sz="7335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𝑘</m:t>
                            </m:r>
                          </m:e>
                          <m:sup>
                            <m:r>
                              <a:rPr kumimoji="1" lang="en-US" altLang="zh-CN" sz="7335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2</m:t>
                            </m:r>
                          </m:sup>
                        </m:sSup>
                        <m:r>
                          <a:rPr kumimoji="1" lang="en-US" altLang="zh-CN" sz="7335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(</m:t>
                        </m:r>
                        <m:sSub>
                          <m:sSubPr>
                            <m:ctrlPr>
                              <a:rPr kumimoji="1" lang="en-US" altLang="zh-CN" sz="7335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7335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zh-CN" sz="7335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1</m:t>
                            </m:r>
                          </m:sub>
                        </m:sSub>
                        <m:func>
                          <m:funcPr>
                            <m:ctrlPr>
                              <a:rPr kumimoji="1" lang="en-US" altLang="zh-CN" sz="7335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en-US" altLang="zh-CN" sz="7335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cos</m:t>
                            </m:r>
                          </m:fName>
                          <m:e>
                            <m:r>
                              <a:rPr kumimoji="1" lang="en-US" altLang="zh-CN" sz="7335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𝑘</m:t>
                            </m:r>
                          </m:e>
                        </m:func>
                        <m:r>
                          <a:rPr kumimoji="1" lang="en-US" altLang="zh-CN" sz="7335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𝑡</m:t>
                        </m:r>
                        <m:r>
                          <a:rPr kumimoji="1" lang="en-US" altLang="zh-CN" sz="7335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+</m:t>
                        </m:r>
                        <m:sSub>
                          <m:sSubPr>
                            <m:ctrlPr>
                              <a:rPr kumimoji="1" lang="en-US" altLang="zh-CN" sz="7335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7335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zh-CN" sz="7335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2</m:t>
                            </m:r>
                          </m:sub>
                        </m:sSub>
                        <m:func>
                          <m:funcPr>
                            <m:ctrlPr>
                              <a:rPr kumimoji="1" lang="en-US" altLang="zh-CN" sz="7335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en-US" altLang="zh-CN" sz="7335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sin</m:t>
                            </m:r>
                          </m:fName>
                          <m:e>
                            <m:r>
                              <a:rPr kumimoji="1" lang="en-US" altLang="zh-CN" sz="7335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𝑘</m:t>
                            </m:r>
                          </m:e>
                        </m:func>
                        <m:r>
                          <a:rPr kumimoji="1" lang="en-US" altLang="zh-CN" sz="7335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𝑡</m:t>
                        </m:r>
                        <m:r>
                          <a:rPr kumimoji="1" lang="en-US" altLang="zh-CN" sz="7335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)≡0.</m:t>
                        </m:r>
                      </m:oMath>
                    </m:oMathPara>
                  </a14:m>
                  <a:endParaRPr kumimoji="1" lang="en-US" altLang="zh-CN" sz="7335" i="1" dirty="0">
                    <a:latin typeface="Cambria Math" panose="02040503050406030204" pitchFamily="18" charset="0"/>
                    <a:ea typeface="宋体" panose="02010600030101010101" pitchFamily="2" charset="-122"/>
                  </a:endParaRPr>
                </a:p>
              </p:txBody>
            </p:sp>
          </mc:Choice>
          <mc:Fallback xmlns="">
            <p:sp>
              <p:nvSpPr>
                <p:cNvPr id="28682" name="Object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209" y="3287"/>
                  <a:ext cx="12925" cy="743"/>
                </a:xfrm>
                <a:prstGeom prst="rect">
                  <a:avLst/>
                </a:prstGeom>
                <a:blipFill>
                  <a:blip r:embed="rId2"/>
                  <a:stretch>
                    <a:fillRect b="-9091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矩形 9"/>
            <p:cNvSpPr/>
            <p:nvPr/>
          </p:nvSpPr>
          <p:spPr>
            <a:xfrm>
              <a:off x="15322" y="3374"/>
              <a:ext cx="1112" cy="56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2494914" y="2757805"/>
            <a:ext cx="7173651" cy="390525"/>
            <a:chOff x="4209" y="4423"/>
            <a:chExt cx="10722" cy="74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683" name="Object 11"/>
                <p:cNvSpPr txBox="1"/>
                <p:nvPr/>
              </p:nvSpPr>
              <p:spPr bwMode="auto">
                <a:xfrm>
                  <a:off x="4209" y="4423"/>
                  <a:ext cx="10723" cy="74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200" noProof="0" dirty="0">
                            <a:ln>
                              <a:noFill/>
                            </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故</m:t>
                        </m:r>
                        <m:r>
                          <a:rPr kumimoji="1" lang="zh-CN" altLang="en-US" sz="2200" noProof="0" dirty="0">
                            <a:ln>
                              <a:noFill/>
                            </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=</m:t>
                        </m:r>
                        <m:sSub>
                          <m:sSub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1</m:t>
                            </m:r>
                          </m:sub>
                        </m:sSub>
                        <m:func>
                          <m:func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cos</m:t>
                            </m:r>
                          </m:fName>
                          <m:e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𝑘</m:t>
                            </m:r>
                          </m:e>
                        </m:func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𝑡</m:t>
                        </m:r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+</m:t>
                        </m:r>
                        <m:sSub>
                          <m:sSub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2</m:t>
                            </m:r>
                          </m:sub>
                        </m:sSub>
                        <m:func>
                          <m:func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sin</m:t>
                            </m:r>
                          </m:fName>
                          <m:e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𝑘</m:t>
                            </m:r>
                          </m:e>
                        </m:func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𝑡</m:t>
                        </m:r>
                        <m:r>
                          <a:rPr kumimoji="1" lang="zh-CN" altLang="en-US" sz="2200" noProof="0" dirty="0">
                            <a:ln>
                              <a:noFill/>
                            </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是原方程的解</m:t>
                        </m:r>
                        <m:r>
                          <a:rPr kumimoji="1" lang="zh-CN" altLang="en-US" sz="2200" noProof="0" dirty="0">
                            <a:ln>
                              <a:noFill/>
                            </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. </m:t>
                        </m:r>
                      </m:oMath>
                    </m:oMathPara>
                  </a14:m>
                  <a:endParaRPr kumimoji="1" lang="zh-CN" altLang="en-US" sz="2200" noProof="0" dirty="0">
                    <a:ln>
                      <a:noFill/>
                    </a:ln>
                    <a:solidFill>
                      <a:schemeClr val="tx1">
                        <a:lumMod val="95000"/>
                        <a:lumOff val="5000"/>
                      </a:schemeClr>
                    </a:solidFill>
                    <a:effectLst/>
                    <a:uLnTx/>
                    <a:uFillTx/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28683" name="Object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209" y="4423"/>
                  <a:ext cx="10723" cy="740"/>
                </a:xfrm>
                <a:prstGeom prst="rect">
                  <a:avLst/>
                </a:prstGeom>
                <a:blipFill>
                  <a:blip r:embed="rId3"/>
                  <a:stretch>
                    <a:fillRect b="-6250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" name="矩形 2"/>
            <p:cNvSpPr/>
            <p:nvPr/>
          </p:nvSpPr>
          <p:spPr>
            <a:xfrm>
              <a:off x="13447" y="4478"/>
              <a:ext cx="1112" cy="56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2494915" y="3382010"/>
            <a:ext cx="3860800" cy="1001395"/>
            <a:chOff x="4209" y="5406"/>
            <a:chExt cx="6080" cy="157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684" name="Object 12"/>
                <p:cNvSpPr txBox="1"/>
                <p:nvPr/>
              </p:nvSpPr>
              <p:spPr bwMode="auto">
                <a:xfrm>
                  <a:off x="4209" y="5406"/>
                  <a:ext cx="6080" cy="156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 fontScale="300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7335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∵  </m:t>
                        </m:r>
                        <m:sSub>
                          <m:sSubPr>
                            <m:ctrlPr>
                              <a:rPr kumimoji="1" lang="en-US" altLang="zh-CN" sz="7335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sSubPr>
                          <m:e>
                            <m:d>
                              <m:dPr>
                                <m:begChr m:val=""/>
                                <m:endChr m:val="|"/>
                                <m:ctrlPr>
                                  <a:rPr kumimoji="1" lang="en-US" altLang="zh-CN" sz="7335" i="1" dirty="0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zh-CN" sz="7335" i="1" dirty="0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𝑥</m:t>
                                </m:r>
                              </m:e>
                            </m:d>
                          </m:e>
                          <m:sub>
                            <m:r>
                              <a:rPr kumimoji="1" lang="en-US" altLang="zh-CN" sz="7335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𝑡</m:t>
                            </m:r>
                            <m:r>
                              <a:rPr kumimoji="1" lang="en-US" altLang="zh-CN" sz="7335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=0</m:t>
                            </m:r>
                          </m:sub>
                        </m:sSub>
                        <m:r>
                          <a:rPr kumimoji="1" lang="en-US" altLang="zh-CN" sz="7335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=</m:t>
                        </m:r>
                        <m:r>
                          <a:rPr kumimoji="1" lang="en-US" altLang="zh-CN" sz="7335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𝐴</m:t>
                        </m:r>
                        <m:r>
                          <a:rPr kumimoji="1" lang="en-US" altLang="zh-CN" sz="7335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, </m:t>
                        </m:r>
                        <m:sSub>
                          <m:sSubPr>
                            <m:ctrlPr>
                              <a:rPr kumimoji="1" lang="en-US" altLang="zh-CN" sz="7335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sSubPr>
                          <m:e>
                            <m:d>
                              <m:dPr>
                                <m:begChr m:val=""/>
                                <m:endChr m:val="|"/>
                                <m:ctrlPr>
                                  <a:rPr kumimoji="1" lang="en-US" altLang="zh-CN" sz="7335" i="1" dirty="0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zh-CN" sz="7335" i="1" dirty="0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  </m:t>
                                </m:r>
                                <m:f>
                                  <m:fPr>
                                    <m:ctrlPr>
                                      <a:rPr kumimoji="1" lang="en-US" altLang="zh-CN" sz="7335" i="1" dirty="0"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sty m:val="p"/>
                                      </m:rPr>
                                      <a:rPr kumimoji="1" lang="en-US" altLang="zh-CN" sz="7335" i="1" dirty="0"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d</m:t>
                                    </m:r>
                                    <m:r>
                                      <a:rPr kumimoji="1" lang="en-US" altLang="zh-CN" sz="7335" i="1" dirty="0"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𝑥</m:t>
                                    </m:r>
                                  </m:num>
                                  <m:den>
                                    <m:r>
                                      <m:rPr>
                                        <m:sty m:val="p"/>
                                      </m:rPr>
                                      <a:rPr kumimoji="1" lang="en-US" altLang="zh-CN" sz="7335" i="1" dirty="0"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d</m:t>
                                    </m:r>
                                    <m:r>
                                      <a:rPr kumimoji="1" lang="en-US" altLang="zh-CN" sz="7335" i="1" dirty="0"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𝑡</m:t>
                                    </m:r>
                                  </m:den>
                                </m:f>
                              </m:e>
                            </m:d>
                          </m:e>
                          <m:sub>
                            <m:r>
                              <a:rPr kumimoji="1" lang="en-US" altLang="zh-CN" sz="7335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𝑡</m:t>
                            </m:r>
                            <m:r>
                              <a:rPr kumimoji="1" lang="en-US" altLang="zh-CN" sz="7335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=0</m:t>
                            </m:r>
                          </m:sub>
                        </m:sSub>
                        <m:r>
                          <a:rPr kumimoji="1" lang="en-US" altLang="zh-CN" sz="7335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=0,</m:t>
                        </m:r>
                      </m:oMath>
                    </m:oMathPara>
                  </a14:m>
                  <a:endParaRPr kumimoji="1" lang="en-US" altLang="zh-CN" sz="7335" i="1" dirty="0">
                    <a:latin typeface="Cambria Math" panose="02040503050406030204" pitchFamily="18" charset="0"/>
                    <a:ea typeface="宋体" panose="02010600030101010101" pitchFamily="2" charset="-122"/>
                  </a:endParaRPr>
                </a:p>
              </p:txBody>
            </p:sp>
          </mc:Choice>
          <mc:Fallback xmlns="">
            <p:sp>
              <p:nvSpPr>
                <p:cNvPr id="28684" name="Object 1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209" y="5406"/>
                  <a:ext cx="6080" cy="156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" name="矩形 4"/>
            <p:cNvSpPr/>
            <p:nvPr/>
          </p:nvSpPr>
          <p:spPr>
            <a:xfrm>
              <a:off x="8557" y="6414"/>
              <a:ext cx="1112" cy="56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6031865" y="3530189"/>
            <a:ext cx="3741420" cy="539750"/>
            <a:chOff x="9779" y="5671"/>
            <a:chExt cx="5892" cy="85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685" name="Object 13"/>
                <p:cNvSpPr txBox="1"/>
                <p:nvPr/>
              </p:nvSpPr>
              <p:spPr bwMode="auto">
                <a:xfrm>
                  <a:off x="9779" y="5694"/>
                  <a:ext cx="4780" cy="82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∴  </m:t>
                        </m:r>
                        <m:sSub>
                          <m:sSub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=</m:t>
                        </m:r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𝐴</m:t>
                        </m:r>
                        <m:r>
                          <a:rPr kumimoji="1" lang="en-US" altLang="zh-CN" sz="2200" i="0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,</m:t>
                        </m:r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 </m:t>
                        </m:r>
                        <m:sSub>
                          <m:sSub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2</m:t>
                            </m:r>
                          </m:sub>
                        </m:sSub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=0.</m:t>
                        </m:r>
                      </m:oMath>
                    </m:oMathPara>
                  </a14:m>
                  <a:endParaRPr kumimoji="1" lang="en-US" altLang="zh-CN" sz="2200" i="1" dirty="0">
                    <a:latin typeface="Cambria Math" panose="02040503050406030204" pitchFamily="18" charset="0"/>
                    <a:ea typeface="宋体" panose="02010600030101010101" pitchFamily="2" charset="-122"/>
                  </a:endParaRPr>
                </a:p>
              </p:txBody>
            </p:sp>
          </mc:Choice>
          <mc:Fallback xmlns="">
            <p:sp>
              <p:nvSpPr>
                <p:cNvPr id="28685" name="Object 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9779" y="5694"/>
                  <a:ext cx="4780" cy="827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矩形 6"/>
            <p:cNvSpPr/>
            <p:nvPr/>
          </p:nvSpPr>
          <p:spPr>
            <a:xfrm>
              <a:off x="14559" y="5671"/>
              <a:ext cx="1112" cy="56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4031615" y="4463004"/>
            <a:ext cx="2437130" cy="404495"/>
            <a:chOff x="6629" y="7140"/>
            <a:chExt cx="3838" cy="63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687" name="Object 15"/>
                <p:cNvSpPr txBox="1"/>
                <p:nvPr/>
              </p:nvSpPr>
              <p:spPr bwMode="auto">
                <a:xfrm>
                  <a:off x="6629" y="7140"/>
                  <a:ext cx="3040" cy="52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 fontScale="250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88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𝑥</m:t>
                        </m:r>
                        <m:r>
                          <a:rPr kumimoji="1" lang="en-US" altLang="zh-CN" sz="88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=</m:t>
                        </m:r>
                        <m:r>
                          <a:rPr kumimoji="1" lang="en-US" altLang="zh-CN" sz="88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𝐴</m:t>
                        </m:r>
                        <m:func>
                          <m:funcPr>
                            <m:ctrlPr>
                              <a:rPr kumimoji="1" lang="en-US" altLang="zh-CN" sz="8800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en-US" altLang="zh-CN" sz="8800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cos</m:t>
                            </m:r>
                          </m:fName>
                          <m:e>
                            <m:r>
                              <a:rPr kumimoji="1" lang="en-US" altLang="zh-CN" sz="8800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𝑘</m:t>
                            </m:r>
                          </m:e>
                        </m:func>
                        <m:r>
                          <a:rPr kumimoji="1" lang="en-US" altLang="zh-CN" sz="88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𝑡</m:t>
                        </m:r>
                        <m:r>
                          <a:rPr kumimoji="1" lang="en-US" altLang="zh-CN" sz="88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.</m:t>
                        </m:r>
                      </m:oMath>
                    </m:oMathPara>
                  </a14:m>
                  <a:endParaRPr kumimoji="1" lang="en-US" altLang="zh-CN" sz="8800" i="1" dirty="0">
                    <a:latin typeface="Cambria Math" panose="02040503050406030204" pitchFamily="18" charset="0"/>
                    <a:ea typeface="宋体" panose="02010600030101010101" pitchFamily="2" charset="-122"/>
                  </a:endParaRPr>
                </a:p>
              </p:txBody>
            </p:sp>
          </mc:Choice>
          <mc:Fallback xmlns="">
            <p:sp>
              <p:nvSpPr>
                <p:cNvPr id="28687" name="Object 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629" y="7140"/>
                  <a:ext cx="3040" cy="520"/>
                </a:xfrm>
                <a:prstGeom prst="rect">
                  <a:avLst/>
                </a:prstGeom>
                <a:blipFill>
                  <a:blip r:embed="rId6"/>
                  <a:stretch>
                    <a:fillRect b="-27778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矩形 8"/>
            <p:cNvSpPr/>
            <p:nvPr/>
          </p:nvSpPr>
          <p:spPr>
            <a:xfrm>
              <a:off x="9355" y="7209"/>
              <a:ext cx="1112" cy="56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8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8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zFjMGUwZjZjNTMwOWVkMThkMTA2ZTEzN2IwYjkyMjMifQ=="/>
  <p:tag name="KSO_WPP_MARK_KEY" val="6558ed2e-4496-4fa6-817a-5802035273ef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100000">
              <a:srgbClr val="007434">
                <a:alpha val="31000"/>
              </a:srgbClr>
            </a:gs>
            <a:gs pos="4000">
              <a:schemeClr val="bg1">
                <a:alpha val="0"/>
              </a:schemeClr>
            </a:gs>
          </a:gsLst>
          <a:lin ang="15600000" scaled="0"/>
          <a:tileRect/>
        </a:gradFill>
        <a:ln>
          <a:noFill/>
        </a:ln>
      </a:spPr>
      <a:bodyPr rtlCol="0" anchor="ctr"/>
      <a:lstStyle>
        <a:defPPr algn="ctr">
          <a:defRPr>
            <a:latin typeface="字魂36号-正文宋楷" panose="00000500000000000000" pitchFamily="2" charset="-122"/>
            <a:ea typeface="字魂36号-正文宋楷" panose="00000500000000000000" pitchFamily="2" charset="-122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566</TotalTime>
  <Words>1127</Words>
  <Application>Microsoft Office PowerPoint</Application>
  <PresentationFormat>宽屏</PresentationFormat>
  <Paragraphs>190</Paragraphs>
  <Slides>18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9" baseType="lpstr">
      <vt:lpstr>黑体</vt:lpstr>
      <vt:lpstr>华文中宋</vt:lpstr>
      <vt:lpstr>宋体</vt:lpstr>
      <vt:lpstr>微软雅黑</vt:lpstr>
      <vt:lpstr>字魂36号-正文宋楷</vt:lpstr>
      <vt:lpstr>Arial</vt:lpstr>
      <vt:lpstr>Calibri</vt:lpstr>
      <vt:lpstr>Calibri Light</vt:lpstr>
      <vt:lpstr>Calisto MT</vt:lpstr>
      <vt:lpstr>Cambria Math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HEP</dc:creator>
  <cp:lastModifiedBy>yang fan</cp:lastModifiedBy>
  <cp:revision>387</cp:revision>
  <cp:lastPrinted>2022-07-13T06:35:47Z</cp:lastPrinted>
  <dcterms:created xsi:type="dcterms:W3CDTF">2022-03-21T05:54:00Z</dcterms:created>
  <dcterms:modified xsi:type="dcterms:W3CDTF">2023-07-05T07:39:39Z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C93CED513F0B46FCBF998E52C285068F</vt:lpwstr>
  </property>
  <property fmtid="{D5CDD505-2E9C-101B-9397-08002B2CF9AE}" pid="3" name="KSOProductBuildVer">
    <vt:lpwstr>2052-11.1.0.11691</vt:lpwstr>
  </property>
</Properties>
</file>