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679" r:id="rId3"/>
    <p:sldId id="664" r:id="rId4"/>
    <p:sldId id="665" r:id="rId5"/>
    <p:sldId id="264" r:id="rId6"/>
    <p:sldId id="714" r:id="rId7"/>
    <p:sldId id="716" r:id="rId8"/>
    <p:sldId id="717" r:id="rId9"/>
    <p:sldId id="718" r:id="rId10"/>
    <p:sldId id="719" r:id="rId11"/>
    <p:sldId id="721" r:id="rId12"/>
    <p:sldId id="722" r:id="rId13"/>
    <p:sldId id="723" r:id="rId14"/>
    <p:sldId id="724" r:id="rId15"/>
    <p:sldId id="725" r:id="rId16"/>
    <p:sldId id="726" r:id="rId17"/>
    <p:sldId id="715" r:id="rId18"/>
    <p:sldId id="728" r:id="rId19"/>
    <p:sldId id="729" r:id="rId20"/>
    <p:sldId id="364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448" userDrawn="1">
          <p15:clr>
            <a:srgbClr val="A4A3A4"/>
          </p15:clr>
        </p15:guide>
        <p15:guide id="2" orient="horz" pos="24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FFFFFF"/>
    <a:srgbClr val="00A0E9"/>
    <a:srgbClr val="4A7BA7"/>
    <a:srgbClr val="4A7BA8"/>
    <a:srgbClr val="019B4E"/>
    <a:srgbClr val="A6D1BF"/>
    <a:srgbClr val="A9D18E"/>
    <a:srgbClr val="3333CC"/>
    <a:srgbClr val="335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74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216" y="68"/>
      </p:cViewPr>
      <p:guideLst>
        <p:guide pos="6448"/>
        <p:guide orient="horz" pos="24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63746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1011463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605790" y="6461760"/>
            <a:ext cx="23329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一阶线性微分方程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0387590" y="112357"/>
            <a:ext cx="15855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85BF0F4-7C82-E8ED-D84F-1723F18A3BD9}"/>
              </a:ext>
            </a:extLst>
          </p:cNvPr>
          <p:cNvCxnSpPr/>
          <p:nvPr userDrawn="1"/>
        </p:nvCxnSpPr>
        <p:spPr>
          <a:xfrm>
            <a:off x="-8389" y="243281"/>
            <a:ext cx="9798341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5B99597-C8D0-EBE2-5FD8-6DFA6C8DBB17}"/>
              </a:ext>
            </a:extLst>
          </p:cNvPr>
          <p:cNvCxnSpPr/>
          <p:nvPr userDrawn="1"/>
        </p:nvCxnSpPr>
        <p:spPr>
          <a:xfrm>
            <a:off x="3034296" y="6597382"/>
            <a:ext cx="9144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85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.jpeg"/><Relationship Id="rId7" Type="http://schemas.openxmlformats.org/officeDocument/2006/relationships/image" Target="../media/image4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15" Type="http://schemas.openxmlformats.org/officeDocument/2006/relationships/image" Target="../media/image54.png"/><Relationship Id="rId10" Type="http://schemas.openxmlformats.org/officeDocument/2006/relationships/image" Target="../media/image53.png"/><Relationship Id="rId9" Type="http://schemas.openxmlformats.org/officeDocument/2006/relationships/image" Target="../media/image58.png"/><Relationship Id="rId4" Type="http://schemas.openxmlformats.org/officeDocument/2006/relationships/image" Target="../media/image530.png"/><Relationship Id="rId14" Type="http://schemas.openxmlformats.org/officeDocument/2006/relationships/image" Target="../media/image51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30.png"/><Relationship Id="rId7" Type="http://schemas.openxmlformats.org/officeDocument/2006/relationships/image" Target="../media/image7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79.png"/><Relationship Id="rId5" Type="http://schemas.openxmlformats.org/officeDocument/2006/relationships/image" Target="../media/image75.png"/><Relationship Id="rId10" Type="http://schemas.openxmlformats.org/officeDocument/2006/relationships/image" Target="../media/image78.png"/><Relationship Id="rId4" Type="http://schemas.openxmlformats.org/officeDocument/2006/relationships/image" Target="../media/image74.png"/><Relationship Id="rId9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40.png"/><Relationship Id="rId7" Type="http://schemas.openxmlformats.org/officeDocument/2006/relationships/image" Target="../media/image90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90.png"/><Relationship Id="rId5" Type="http://schemas.openxmlformats.org/officeDocument/2006/relationships/image" Target="../media/image700.png"/><Relationship Id="rId4" Type="http://schemas.openxmlformats.org/officeDocument/2006/relationships/image" Target="../media/image8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0.png"/><Relationship Id="rId12" Type="http://schemas.openxmlformats.org/officeDocument/2006/relationships/image" Target="../media/image10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73.png"/><Relationship Id="rId15" Type="http://schemas.openxmlformats.org/officeDocument/2006/relationships/image" Target="../media/image102.png"/><Relationship Id="rId10" Type="http://schemas.openxmlformats.org/officeDocument/2006/relationships/image" Target="../media/image106.png"/><Relationship Id="rId9" Type="http://schemas.openxmlformats.org/officeDocument/2006/relationships/image" Target="../media/image105.png"/><Relationship Id="rId14" Type="http://schemas.openxmlformats.org/officeDocument/2006/relationships/image" Target="../media/image10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299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136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66721" y="705836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一阶线性微分方程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94EF04B-613F-D018-B7A9-23C9FD7BCF92}"/>
              </a:ext>
            </a:extLst>
          </p:cNvPr>
          <p:cNvGrpSpPr/>
          <p:nvPr/>
        </p:nvGrpSpPr>
        <p:grpSpPr>
          <a:xfrm>
            <a:off x="3746433" y="2636463"/>
            <a:ext cx="4782955" cy="901065"/>
            <a:chOff x="5061" y="3172"/>
            <a:chExt cx="6615" cy="1419"/>
          </a:xfrm>
        </p:grpSpPr>
        <p:sp>
          <p:nvSpPr>
            <p:cNvPr id="8" name="矩形: 圆角 40">
              <a:extLst>
                <a:ext uri="{FF2B5EF4-FFF2-40B4-BE49-F238E27FC236}">
                  <a16:creationId xmlns:a16="http://schemas.microsoft.com/office/drawing/2014/main" id="{4F17D074-7FBE-B5B8-BA65-AD31854300E8}"/>
                </a:ext>
              </a:extLst>
            </p:cNvPr>
            <p:cNvSpPr/>
            <p:nvPr/>
          </p:nvSpPr>
          <p:spPr>
            <a:xfrm flipV="1">
              <a:off x="5061" y="3172"/>
              <a:ext cx="6615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617C37B-1329-71E7-F5B7-13B9CBAD8C10}"/>
                </a:ext>
              </a:extLst>
            </p:cNvPr>
            <p:cNvSpPr/>
            <p:nvPr/>
          </p:nvSpPr>
          <p:spPr>
            <a:xfrm>
              <a:off x="6108" y="3470"/>
              <a:ext cx="3235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线性方程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40839C-8650-9BA8-0849-A9C28B188094}"/>
              </a:ext>
            </a:extLst>
          </p:cNvPr>
          <p:cNvGrpSpPr/>
          <p:nvPr/>
        </p:nvGrpSpPr>
        <p:grpSpPr>
          <a:xfrm>
            <a:off x="3746500" y="4006247"/>
            <a:ext cx="4782820" cy="901065"/>
            <a:chOff x="5061" y="5187"/>
            <a:chExt cx="7532" cy="1419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0E23C850-1E81-1882-C298-41BE7B747BF3}"/>
                </a:ext>
              </a:extLst>
            </p:cNvPr>
            <p:cNvSpPr/>
            <p:nvPr/>
          </p:nvSpPr>
          <p:spPr>
            <a:xfrm flipV="1">
              <a:off x="5061" y="5187"/>
              <a:ext cx="7532" cy="141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/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491C76-A6A9-F9C5-91AE-D01B8EC620E6}"/>
                </a:ext>
              </a:extLst>
            </p:cNvPr>
            <p:cNvSpPr/>
            <p:nvPr/>
          </p:nvSpPr>
          <p:spPr>
            <a:xfrm>
              <a:off x="6108" y="5485"/>
              <a:ext cx="4249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伯努利方程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"/>
          <p:cNvSpPr/>
          <p:nvPr/>
        </p:nvSpPr>
        <p:spPr>
          <a:xfrm>
            <a:off x="908321" y="1856741"/>
            <a:ext cx="10710896" cy="2139315"/>
          </a:xfrm>
          <a:prstGeom prst="rect">
            <a:avLst/>
          </a:prstGeom>
          <a:solidFill>
            <a:srgbClr val="03946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546371" y="2476501"/>
            <a:ext cx="1386205" cy="899795"/>
            <a:chOff x="13274" y="765768"/>
            <a:chExt cx="2018958" cy="900000"/>
          </a:xfrm>
        </p:grpSpPr>
        <p:sp>
          <p:nvSpPr>
            <p:cNvPr id="36" name="PA-102231"/>
            <p:cNvSpPr/>
            <p:nvPr>
              <p:custDataLst>
                <p:tags r:id="rId1"/>
              </p:custDataLst>
            </p:nvPr>
          </p:nvSpPr>
          <p:spPr>
            <a:xfrm>
              <a:off x="13274" y="765768"/>
              <a:ext cx="2018958" cy="900000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37" name="Rectangle 167"/>
            <p:cNvSpPr>
              <a:spLocks noChangeArrowheads="1"/>
            </p:cNvSpPr>
            <p:nvPr/>
          </p:nvSpPr>
          <p:spPr bwMode="auto">
            <a:xfrm>
              <a:off x="220855" y="990976"/>
              <a:ext cx="1574468" cy="43098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1.</a:t>
              </a: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定义</a:t>
              </a:r>
              <a:endPara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526614" y="1130423"/>
            <a:ext cx="5976936" cy="58356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一、线性方程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2076685" y="2773681"/>
                <a:ext cx="5669915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的方程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 称为</a:t>
                </a:r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一阶线性微分方程.</a:t>
                </a:r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685" y="2773681"/>
                <a:ext cx="5669915" cy="521970"/>
              </a:xfrm>
              <a:prstGeom prst="rect">
                <a:avLst/>
              </a:prstGeom>
              <a:blipFill>
                <a:blip r:embed="rId3"/>
                <a:stretch>
                  <a:fillRect l="-2258" t="-15116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/>
          <p:cNvGrpSpPr/>
          <p:nvPr/>
        </p:nvGrpSpPr>
        <p:grpSpPr>
          <a:xfrm>
            <a:off x="908321" y="4453891"/>
            <a:ext cx="983482" cy="459105"/>
            <a:chOff x="1553" y="3787"/>
            <a:chExt cx="1240" cy="723"/>
          </a:xfrm>
        </p:grpSpPr>
        <p:sp>
          <p:nvSpPr>
            <p:cNvPr id="48" name="圆角矩形 47"/>
            <p:cNvSpPr/>
            <p:nvPr/>
          </p:nvSpPr>
          <p:spPr>
            <a:xfrm>
              <a:off x="1553" y="3803"/>
              <a:ext cx="1180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Box 28"/>
            <p:cNvSpPr txBox="1">
              <a:spLocks noChangeArrowheads="1"/>
            </p:cNvSpPr>
            <p:nvPr/>
          </p:nvSpPr>
          <p:spPr bwMode="auto">
            <a:xfrm>
              <a:off x="1642" y="3787"/>
              <a:ext cx="1151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062751" y="1962151"/>
            <a:ext cx="737870" cy="577850"/>
            <a:chOff x="3157" y="2610"/>
            <a:chExt cx="1162" cy="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对象 1"/>
                <p:cNvSpPr txBox="1"/>
                <p:nvPr/>
              </p:nvSpPr>
              <p:spPr>
                <a:xfrm>
                  <a:off x="3179" y="2900"/>
                  <a:ext cx="1140" cy="6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形如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0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9" y="2900"/>
                  <a:ext cx="1140" cy="620"/>
                </a:xfrm>
                <a:prstGeom prst="rect">
                  <a:avLst/>
                </a:prstGeom>
                <a:blipFill>
                  <a:blip r:embed="rId4"/>
                  <a:stretch>
                    <a:fillRect r="-6780" b="-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矩形 49"/>
            <p:cNvSpPr/>
            <p:nvPr/>
          </p:nvSpPr>
          <p:spPr>
            <a:xfrm>
              <a:off x="3157" y="2610"/>
              <a:ext cx="375" cy="1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072401" y="1898651"/>
            <a:ext cx="3743960" cy="979927"/>
            <a:chOff x="4747" y="2510"/>
            <a:chExt cx="5610" cy="14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对象 6"/>
                <p:cNvSpPr txBox="1"/>
                <p:nvPr/>
              </p:nvSpPr>
              <p:spPr>
                <a:xfrm>
                  <a:off x="4747" y="2510"/>
                  <a:ext cx="5610" cy="1417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7" y="2510"/>
                  <a:ext cx="5610" cy="14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矩形 51"/>
            <p:cNvSpPr/>
            <p:nvPr/>
          </p:nvSpPr>
          <p:spPr>
            <a:xfrm>
              <a:off x="10027" y="3210"/>
              <a:ext cx="330" cy="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020206" y="3322321"/>
            <a:ext cx="4729480" cy="649605"/>
            <a:chOff x="3090" y="4752"/>
            <a:chExt cx="7448" cy="10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/>
                <p:cNvSpPr txBox="1"/>
                <p:nvPr/>
              </p:nvSpPr>
              <p:spPr>
                <a:xfrm>
                  <a:off x="3090" y="4752"/>
                  <a:ext cx="7448" cy="82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2800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≡0,</m:t>
                        </m:r>
                        <m:r>
                          <a:rPr kumimoji="1" lang="zh-CN" altLang="en-US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则称为齐次方程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6" name="文本框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0" y="4752"/>
                  <a:ext cx="7448" cy="8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矩形 53"/>
            <p:cNvSpPr/>
            <p:nvPr/>
          </p:nvSpPr>
          <p:spPr>
            <a:xfrm>
              <a:off x="6097" y="5550"/>
              <a:ext cx="480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181813" y="4382771"/>
            <a:ext cx="6982460" cy="444500"/>
            <a:chOff x="3191" y="6422"/>
            <a:chExt cx="10996" cy="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对象 25"/>
                <p:cNvSpPr txBox="1"/>
                <p:nvPr/>
              </p:nvSpPr>
              <p:spPr>
                <a:xfrm>
                  <a:off x="3191" y="6422"/>
                  <a:ext cx="10996" cy="700"/>
                </a:xfrm>
                <a:prstGeom prst="rect">
                  <a:avLst/>
                </a:prstGeom>
              </p:spPr>
              <p:txBody>
                <a:bodyPr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11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11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11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func>
                          <m:funcPr>
                            <m:ctrlPr>
                              <a:rPr kumimoji="1" lang="en-US" altLang="zh-CN" sz="11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11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11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</m:t>
                        </m:r>
                        <m:r>
                          <a:rPr kumimoji="1" lang="en-US" altLang="zh-CN" sz="11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1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为一阶齐次线性微分方程</m:t>
                        </m:r>
                        <m:r>
                          <a:rPr kumimoji="1" lang="zh-CN" altLang="en-US" sz="1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1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3" name="对象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1" y="6422"/>
                  <a:ext cx="10996" cy="700"/>
                </a:xfrm>
                <a:prstGeom prst="rect">
                  <a:avLst/>
                </a:prstGeom>
                <a:blipFill>
                  <a:blip r:embed="rId7"/>
                  <a:stretch>
                    <a:fillRect b="-54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矩形 57"/>
            <p:cNvSpPr/>
            <p:nvPr/>
          </p:nvSpPr>
          <p:spPr>
            <a:xfrm>
              <a:off x="13417" y="6675"/>
              <a:ext cx="225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181813" y="5160646"/>
            <a:ext cx="8045450" cy="623570"/>
            <a:chOff x="3191" y="7647"/>
            <a:chExt cx="12670" cy="9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对象 29"/>
                <p:cNvSpPr txBox="1"/>
                <p:nvPr/>
              </p:nvSpPr>
              <p:spPr>
                <a:xfrm>
                  <a:off x="3191" y="7647"/>
                  <a:ext cx="12670" cy="982"/>
                </a:xfrm>
                <a:prstGeom prst="rect">
                  <a:avLst/>
                </a:prstGeom>
              </p:spPr>
              <p:txBody>
                <a:bodyPr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11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11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11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func>
                          <m:funcPr>
                            <m:ctrlPr>
                              <a:rPr kumimoji="1" lang="en-US" altLang="zh-CN" sz="11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11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11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11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11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kumimoji="1" lang="en-US" altLang="zh-CN" sz="11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11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11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</m:sup>
                        </m:sSup>
                        <m:r>
                          <a:rPr kumimoji="1" lang="en-US" altLang="zh-CN" sz="11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1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为一阶非齐次线性微分方程</m:t>
                        </m:r>
                        <m:r>
                          <a:rPr kumimoji="1" lang="zh-CN" altLang="en-US" sz="112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1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4" name="对象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1" y="7647"/>
                  <a:ext cx="12670" cy="98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矩形 59"/>
            <p:cNvSpPr/>
            <p:nvPr/>
          </p:nvSpPr>
          <p:spPr>
            <a:xfrm>
              <a:off x="13822" y="8430"/>
              <a:ext cx="240" cy="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596016" y="3117851"/>
            <a:ext cx="5310505" cy="652145"/>
            <a:chOff x="10296" y="4430"/>
            <a:chExt cx="8363" cy="1027"/>
          </a:xfrm>
        </p:grpSpPr>
        <p:grpSp>
          <p:nvGrpSpPr>
            <p:cNvPr id="57" name="组合 56"/>
            <p:cNvGrpSpPr/>
            <p:nvPr/>
          </p:nvGrpSpPr>
          <p:grpSpPr>
            <a:xfrm>
              <a:off x="10296" y="4430"/>
              <a:ext cx="8363" cy="1027"/>
              <a:chOff x="10296" y="4440"/>
              <a:chExt cx="8363" cy="10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对象 3"/>
                  <p:cNvSpPr txBox="1"/>
                  <p:nvPr/>
                </p:nvSpPr>
                <p:spPr>
                  <a:xfrm>
                    <a:off x="10296" y="4767"/>
                    <a:ext cx="8363" cy="700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2700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若</m:t>
                          </m:r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𝑄</m:t>
                          </m:r>
                          <m:d>
                            <m:d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zh-CN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≡0,</m:t>
                          </m:r>
                          <m:r>
                            <a:rPr kumimoji="1" lang="zh-CN" altLang="en-US" sz="27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则称为非齐次方程</m:t>
                          </m:r>
                          <m:r>
                            <a:rPr kumimoji="1" lang="en-US" altLang="zh-CN" sz="27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.</m:t>
                          </m:r>
                        </m:oMath>
                      </m:oMathPara>
                    </a14:m>
                    <a:endParaRPr kumimoji="1" lang="zh-CN" altLang="en-US" sz="24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41" name="对象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96" y="4767"/>
                    <a:ext cx="8363" cy="7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3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" name="矩形 55"/>
              <p:cNvSpPr/>
              <p:nvPr/>
            </p:nvSpPr>
            <p:spPr>
              <a:xfrm>
                <a:off x="16282" y="4440"/>
                <a:ext cx="480" cy="1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36号-正文宋楷" panose="00000500000000000000" pitchFamily="2" charset="-122"/>
                  <a:ea typeface="字魂36号-正文宋楷" panose="00000500000000000000" pitchFamily="2" charset="-122"/>
                </a:endParaRPr>
              </a:p>
            </p:txBody>
          </p:sp>
        </p:grpSp>
        <p:cxnSp>
          <p:nvCxnSpPr>
            <p:cNvPr id="42" name="直接连接符 41"/>
            <p:cNvCxnSpPr/>
            <p:nvPr/>
          </p:nvCxnSpPr>
          <p:spPr>
            <a:xfrm flipH="1">
              <a:off x="12443" y="4946"/>
              <a:ext cx="180" cy="4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8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2329056" y="1413005"/>
            <a:ext cx="2445927" cy="52322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</a:p>
        </p:txBody>
      </p:sp>
      <p:sp>
        <p:nvSpPr>
          <p:cNvPr id="19" name="Text Box 46"/>
          <p:cNvSpPr txBox="1">
            <a:spLocks noChangeArrowheads="1"/>
          </p:cNvSpPr>
          <p:nvPr/>
        </p:nvSpPr>
        <p:spPr bwMode="auto">
          <a:xfrm>
            <a:off x="2329056" y="2083034"/>
            <a:ext cx="16376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3378835" y="2108931"/>
            <a:ext cx="2590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+mn-ea"/>
                <a:cs typeface="+mn-ea"/>
                <a:sym typeface="+mn-lt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解齐次方程</a:t>
            </a: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3500864" y="3113391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分离变量</a:t>
            </a:r>
          </a:p>
        </p:txBody>
      </p:sp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3509898" y="4013751"/>
            <a:ext cx="2438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两边积分得</a:t>
            </a: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3509898" y="4807230"/>
            <a:ext cx="2667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故通解为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531744" y="1867588"/>
            <a:ext cx="2926080" cy="956945"/>
            <a:chOff x="9371" y="2893"/>
            <a:chExt cx="4608" cy="15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6"/>
                <p:cNvSpPr txBox="1"/>
                <p:nvPr/>
              </p:nvSpPr>
              <p:spPr>
                <a:xfrm>
                  <a:off x="9371" y="2893"/>
                  <a:ext cx="4608" cy="1507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1" y="2893"/>
                  <a:ext cx="4608" cy="15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12208" y="3435"/>
              <a:ext cx="494" cy="3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529839" y="2906766"/>
            <a:ext cx="2438400" cy="1052830"/>
            <a:chOff x="9368" y="4137"/>
            <a:chExt cx="3840" cy="1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10"/>
                <p:cNvSpPr txBox="1"/>
                <p:nvPr/>
              </p:nvSpPr>
              <p:spPr>
                <a:xfrm>
                  <a:off x="9368" y="4137"/>
                  <a:ext cx="3840" cy="181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)​​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8" y="4137"/>
                  <a:ext cx="3840" cy="181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11090" y="4627"/>
              <a:ext cx="355" cy="2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555874" y="3835631"/>
            <a:ext cx="4641215" cy="1073785"/>
            <a:chOff x="9517" y="5219"/>
            <a:chExt cx="7309" cy="1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对象 14"/>
                <p:cNvSpPr txBox="1"/>
                <p:nvPr/>
              </p:nvSpPr>
              <p:spPr>
                <a:xfrm>
                  <a:off x="9517" y="5219"/>
                  <a:ext cx="7309" cy="169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𝑃</m:t>
                            </m:r>
                          </m:e>
                        </m:nary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)​​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​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对象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7" y="5219"/>
                  <a:ext cx="7309" cy="16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14087" y="5724"/>
              <a:ext cx="494" cy="4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621914" y="4813147"/>
            <a:ext cx="3146425" cy="939165"/>
            <a:chOff x="9513" y="6598"/>
            <a:chExt cx="4955" cy="14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对象 16"/>
                <p:cNvSpPr txBox="1"/>
                <p:nvPr/>
              </p:nvSpPr>
              <p:spPr>
                <a:xfrm>
                  <a:off x="9513" y="6598"/>
                  <a:ext cx="4955" cy="147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</m:e>
                            </m:nary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)​​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对象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3" y="6598"/>
                  <a:ext cx="4955" cy="147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1322" y="6805"/>
              <a:ext cx="710" cy="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9" grpId="0" animBg="1"/>
      <p:bldP spid="24" grpId="0"/>
      <p:bldP spid="25" grpId="0"/>
      <p:bldP spid="27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2130" y="720090"/>
            <a:ext cx="11149330" cy="5428615"/>
            <a:chOff x="838" y="1134"/>
            <a:chExt cx="17558" cy="8549"/>
          </a:xfrm>
        </p:grpSpPr>
        <p:sp>
          <p:nvSpPr>
            <p:cNvPr id="56" name="PA-102232"/>
            <p:cNvSpPr/>
            <p:nvPr>
              <p:custDataLst>
                <p:tags r:id="rId1"/>
              </p:custDataLst>
            </p:nvPr>
          </p:nvSpPr>
          <p:spPr>
            <a:xfrm>
              <a:off x="838" y="1134"/>
              <a:ext cx="17524" cy="85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sp>
          <p:nvSpPr>
            <p:cNvPr id="57" name="Rectangle 1"/>
            <p:cNvSpPr/>
            <p:nvPr/>
          </p:nvSpPr>
          <p:spPr>
            <a:xfrm>
              <a:off x="9602" y="9583"/>
              <a:ext cx="8794" cy="101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/>
            <p:cNvSpPr/>
            <p:nvPr/>
          </p:nvSpPr>
          <p:spPr>
            <a:xfrm>
              <a:off x="5321" y="9583"/>
              <a:ext cx="4286" cy="83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04926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/>
            <p:cNvSpPr/>
            <p:nvPr/>
          </p:nvSpPr>
          <p:spPr>
            <a:xfrm>
              <a:off x="838" y="9583"/>
              <a:ext cx="4483" cy="83"/>
            </a:xfrm>
            <a:prstGeom prst="rect">
              <a:avLst/>
            </a:prstGeom>
            <a:solidFill>
              <a:srgbClr val="0492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832637" y="2152535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常数变易法：</a:t>
            </a:r>
          </a:p>
        </p:txBody>
      </p:sp>
      <p:sp>
        <p:nvSpPr>
          <p:cNvPr id="7" name="矩形 6"/>
          <p:cNvSpPr/>
          <p:nvPr/>
        </p:nvSpPr>
        <p:spPr>
          <a:xfrm>
            <a:off x="2825669" y="134349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解非齐次方程</a:t>
            </a:r>
          </a:p>
        </p:txBody>
      </p:sp>
      <p:sp>
        <p:nvSpPr>
          <p:cNvPr id="12" name="下箭头 11"/>
          <p:cNvSpPr/>
          <p:nvPr/>
        </p:nvSpPr>
        <p:spPr>
          <a:xfrm>
            <a:off x="3776218" y="4365958"/>
            <a:ext cx="306325" cy="816678"/>
          </a:xfrm>
          <a:prstGeom prst="downArrow">
            <a:avLst>
              <a:gd name="adj1" fmla="val 23727"/>
              <a:gd name="adj2" fmla="val 69923"/>
            </a:avLst>
          </a:prstGeom>
          <a:solidFill>
            <a:srgbClr val="049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/>
          </a:p>
        </p:txBody>
      </p:sp>
      <p:sp>
        <p:nvSpPr>
          <p:cNvPr id="16" name="Text Box 46"/>
          <p:cNvSpPr txBox="1">
            <a:spLocks noChangeArrowheads="1"/>
          </p:cNvSpPr>
          <p:nvPr/>
        </p:nvSpPr>
        <p:spPr bwMode="auto">
          <a:xfrm>
            <a:off x="1832637" y="1330428"/>
            <a:ext cx="11735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lang="en-US" altLang="zh-CN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800" b="1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242433" y="1095523"/>
            <a:ext cx="3335020" cy="947820"/>
            <a:chOff x="8587" y="1169"/>
            <a:chExt cx="5252" cy="26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1"/>
                <p:cNvSpPr txBox="1"/>
                <p:nvPr/>
              </p:nvSpPr>
              <p:spPr>
                <a:xfrm>
                  <a:off x="8587" y="1169"/>
                  <a:ext cx="5252" cy="2641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7" y="1169"/>
                  <a:ext cx="5252" cy="26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11677" y="2310"/>
              <a:ext cx="495" cy="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11018" y="2651506"/>
            <a:ext cx="5324475" cy="918210"/>
            <a:chOff x="4758" y="3902"/>
            <a:chExt cx="8385" cy="14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4"/>
                <p:cNvSpPr txBox="1"/>
                <p:nvPr/>
              </p:nvSpPr>
              <p:spPr>
                <a:xfrm>
                  <a:off x="4758" y="3902"/>
                  <a:ext cx="8385" cy="144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将齐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次方程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" y="3902"/>
                  <a:ext cx="8385" cy="144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10462" y="4380"/>
              <a:ext cx="540" cy="2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811018" y="3733546"/>
            <a:ext cx="7688580" cy="1166495"/>
            <a:chOff x="4758" y="5606"/>
            <a:chExt cx="12108" cy="18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对象 12"/>
                <p:cNvSpPr txBox="1"/>
                <p:nvPr/>
              </p:nvSpPr>
              <p:spPr>
                <a:xfrm>
                  <a:off x="4758" y="5606"/>
                  <a:ext cx="12108" cy="183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通解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中的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换成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的函数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).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对象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" y="5606"/>
                  <a:ext cx="12108" cy="18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13177" y="5760"/>
              <a:ext cx="390" cy="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844673" y="5101971"/>
            <a:ext cx="4977130" cy="721360"/>
            <a:chOff x="4811" y="7761"/>
            <a:chExt cx="7838" cy="11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5"/>
                <p:cNvSpPr txBox="1"/>
                <p:nvPr/>
              </p:nvSpPr>
              <p:spPr>
                <a:xfrm>
                  <a:off x="4811" y="7761"/>
                  <a:ext cx="7839" cy="113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即做变换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1" y="7761"/>
                  <a:ext cx="7839" cy="113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9022" y="8520"/>
              <a:ext cx="270" cy="2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421118" y="5213096"/>
            <a:ext cx="2709545" cy="637540"/>
            <a:chOff x="12018" y="7936"/>
            <a:chExt cx="4267" cy="10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9"/>
                <p:cNvSpPr txBox="1"/>
                <p:nvPr/>
              </p:nvSpPr>
              <p:spPr>
                <a:xfrm>
                  <a:off x="12018" y="7936"/>
                  <a:ext cx="4267" cy="1004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从而待定出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18" y="7936"/>
                  <a:ext cx="4267" cy="10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14017" y="8010"/>
              <a:ext cx="270" cy="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12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45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15340" y="1166495"/>
            <a:ext cx="3906520" cy="749300"/>
            <a:chOff x="3868" y="1697"/>
            <a:chExt cx="6152" cy="11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"/>
                <p:cNvSpPr txBox="1"/>
                <p:nvPr/>
              </p:nvSpPr>
              <p:spPr>
                <a:xfrm>
                  <a:off x="3868" y="1697"/>
                  <a:ext cx="6152" cy="118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设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8" y="1697"/>
                  <a:ext cx="6152" cy="118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8857" y="2448"/>
              <a:ext cx="495" cy="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4417060" y="1220976"/>
            <a:ext cx="12501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于是</a:t>
            </a:r>
          </a:p>
        </p:txBody>
      </p:sp>
      <p:sp>
        <p:nvSpPr>
          <p:cNvPr id="59406" name="AutoShape 14"/>
          <p:cNvSpPr>
            <a:spLocks noChangeArrowheads="1"/>
          </p:cNvSpPr>
          <p:nvPr/>
        </p:nvSpPr>
        <p:spPr bwMode="auto">
          <a:xfrm>
            <a:off x="5518211" y="5176360"/>
            <a:ext cx="901577" cy="457200"/>
          </a:xfrm>
          <a:prstGeom prst="rightArrow">
            <a:avLst>
              <a:gd name="adj1" fmla="val 37500"/>
              <a:gd name="adj2" fmla="val 73827"/>
            </a:avLst>
          </a:prstGeom>
          <a:solidFill>
            <a:srgbClr val="04926A"/>
          </a:soli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/>
          </a:p>
        </p:txBody>
      </p:sp>
      <p:grpSp>
        <p:nvGrpSpPr>
          <p:cNvPr id="12" name="组合 11"/>
          <p:cNvGrpSpPr/>
          <p:nvPr/>
        </p:nvGrpSpPr>
        <p:grpSpPr>
          <a:xfrm>
            <a:off x="815340" y="1990650"/>
            <a:ext cx="7052945" cy="1066800"/>
            <a:chOff x="3868" y="2755"/>
            <a:chExt cx="11107" cy="1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2"/>
                <p:cNvSpPr txBox="1"/>
                <p:nvPr/>
              </p:nvSpPr>
              <p:spPr>
                <a:xfrm>
                  <a:off x="3868" y="2755"/>
                  <a:ext cx="11107" cy="1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8" y="2755"/>
                  <a:ext cx="11107" cy="168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7417" y="3738"/>
              <a:ext cx="465" cy="1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15340" y="2950845"/>
            <a:ext cx="7629525" cy="1130935"/>
            <a:chOff x="3868" y="4245"/>
            <a:chExt cx="12015" cy="17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6"/>
                <p:cNvSpPr txBox="1"/>
                <p:nvPr/>
              </p:nvSpPr>
              <p:spPr>
                <a:xfrm>
                  <a:off x="3868" y="4245"/>
                  <a:ext cx="12015" cy="178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代入非齐次方程</m:t>
                        </m:r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得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8" y="4245"/>
                  <a:ext cx="12015" cy="17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1812" y="4938"/>
              <a:ext cx="405" cy="3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15340" y="4082732"/>
            <a:ext cx="11025505" cy="900430"/>
            <a:chOff x="3868" y="6363"/>
            <a:chExt cx="17363" cy="14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3"/>
                <p:cNvSpPr txBox="1"/>
                <p:nvPr/>
              </p:nvSpPr>
              <p:spPr>
                <a:xfrm>
                  <a:off x="3868" y="6460"/>
                  <a:ext cx="17363" cy="132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8" y="6460"/>
                  <a:ext cx="17363" cy="13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15727" y="6363"/>
              <a:ext cx="195" cy="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15340" y="5001100"/>
            <a:ext cx="4607767" cy="855980"/>
            <a:chOff x="3868" y="7407"/>
            <a:chExt cx="9167" cy="13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4"/>
                <p:cNvSpPr txBox="1"/>
                <p:nvPr/>
              </p:nvSpPr>
              <p:spPr>
                <a:xfrm>
                  <a:off x="3868" y="7407"/>
                  <a:ext cx="9167" cy="134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即</m:t>
                        </m:r>
                        <m:r>
                          <a:rPr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8" y="7407"/>
                  <a:ext cx="9167" cy="134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7252" y="8253"/>
              <a:ext cx="330" cy="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659245" y="4992210"/>
            <a:ext cx="3678555" cy="619125"/>
            <a:chOff x="10687" y="7393"/>
            <a:chExt cx="5793" cy="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5"/>
                <p:cNvSpPr txBox="1"/>
                <p:nvPr/>
              </p:nvSpPr>
              <p:spPr>
                <a:xfrm>
                  <a:off x="10687" y="7393"/>
                  <a:ext cx="5793" cy="97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7" y="7393"/>
                  <a:ext cx="5793" cy="9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15187" y="7683"/>
              <a:ext cx="360" cy="4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 animBg="1"/>
      <p:bldP spid="5940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427968" y="4621060"/>
            <a:ext cx="7517765" cy="1071245"/>
            <a:chOff x="3755" y="6552"/>
            <a:chExt cx="11839" cy="16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5"/>
                <p:cNvSpPr txBox="1"/>
                <p:nvPr/>
              </p:nvSpPr>
              <p:spPr>
                <a:xfrm>
                  <a:off x="3755" y="6552"/>
                  <a:ext cx="11839" cy="1687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e</m:t>
                                </m:r>
                              </m:e>
                              <m:sup>
                                <m:nary>
                                  <m:naryPr>
                                    <m:subHide m:val="on"/>
                                    <m:supHide m:val="on"/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</m:nary>
                              </m:sup>
                            </m:sSup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.</m:t>
                            </m:r>
                          </m:e>
                        </m:nary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</m:oMath>
                    </m:oMathPara>
                  </a14:m>
                  <a:endParaRPr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" y="6552"/>
                  <a:ext cx="11839" cy="16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3417" y="7305"/>
              <a:ext cx="675" cy="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424" name="Text Box 8"/>
              <p:cNvSpPr txBox="1">
                <a:spLocks noChangeArrowheads="1"/>
              </p:cNvSpPr>
              <p:nvPr/>
            </p:nvSpPr>
            <p:spPr bwMode="auto">
              <a:xfrm>
                <a:off x="2439398" y="1170287"/>
                <a:ext cx="25527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spcBef>
                    <a:spcPct val="50000"/>
                  </a:spcBef>
                  <a:defRPr sz="2800"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</a:lstStyle>
              <a:p>
                <a:r>
                  <a:rPr lang="zh-CN" altLang="en-US" dirty="0"/>
                  <a:t>两边积分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得</a:t>
                </a:r>
              </a:p>
            </p:txBody>
          </p:sp>
        </mc:Choice>
        <mc:Fallback xmlns="">
          <p:sp>
            <p:nvSpPr>
              <p:cNvPr id="6042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9398" y="1170287"/>
                <a:ext cx="2552700" cy="523220"/>
              </a:xfrm>
              <a:prstGeom prst="rect">
                <a:avLst/>
              </a:prstGeom>
              <a:blipFill>
                <a:blip r:embed="rId3"/>
                <a:stretch>
                  <a:fillRect l="-4773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26" name="Text Box 10"/>
          <p:cNvSpPr txBox="1">
            <a:spLocks noChangeArrowheads="1"/>
          </p:cNvSpPr>
          <p:nvPr/>
        </p:nvSpPr>
        <p:spPr bwMode="auto">
          <a:xfrm>
            <a:off x="2439398" y="1980509"/>
            <a:ext cx="563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于是非齐次线性方程的通解为</a:t>
            </a:r>
          </a:p>
        </p:txBody>
      </p:sp>
      <p:sp>
        <p:nvSpPr>
          <p:cNvPr id="60430" name="AutoShape 14"/>
          <p:cNvSpPr>
            <a:spLocks noChangeArrowheads="1"/>
          </p:cNvSpPr>
          <p:nvPr/>
        </p:nvSpPr>
        <p:spPr bwMode="auto">
          <a:xfrm>
            <a:off x="5949043" y="3996295"/>
            <a:ext cx="381000" cy="665452"/>
          </a:xfrm>
          <a:prstGeom prst="downArrow">
            <a:avLst>
              <a:gd name="adj1" fmla="val 50000"/>
              <a:gd name="adj2" fmla="val 67281"/>
            </a:avLst>
          </a:prstGeom>
          <a:solidFill>
            <a:srgbClr val="A6D1BF">
              <a:alpha val="62000"/>
            </a:srgbClr>
          </a:solidFill>
          <a:ln w="9525">
            <a:noFill/>
            <a:miter lim="800000"/>
          </a:ln>
          <a:effectLst/>
        </p:spPr>
        <p:txBody>
          <a:bodyPr vert="eaVert"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>
              <a:latin typeface="+mn-ea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3128373" y="5617632"/>
            <a:ext cx="211010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齐次方程通解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6532710" y="5618145"/>
            <a:ext cx="313161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非齐次方程特解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3211198" y="5631663"/>
            <a:ext cx="168057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5350873" y="5631663"/>
            <a:ext cx="4408169" cy="0"/>
          </a:xfrm>
          <a:prstGeom prst="line">
            <a:avLst/>
          </a:prstGeom>
          <a:noFill/>
          <a:ln w="19050">
            <a:solidFill>
              <a:srgbClr val="1D9D7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7554957" y="2046552"/>
            <a:ext cx="1752600" cy="457200"/>
          </a:xfrm>
          <a:prstGeom prst="wedgeRectCallout">
            <a:avLst>
              <a:gd name="adj1" fmla="val -28053"/>
              <a:gd name="adj2" fmla="val 101468"/>
            </a:avLst>
          </a:prstGeom>
          <a:solidFill>
            <a:srgbClr val="04926A">
              <a:alpha val="24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 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通解公式</a:t>
            </a:r>
            <a:endParaRPr kumimoji="1" lang="zh-CN" altLang="en-US" sz="28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17473" y="955010"/>
            <a:ext cx="5232400" cy="996315"/>
            <a:chOff x="6195" y="1359"/>
            <a:chExt cx="8240" cy="15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6"/>
                <p:cNvSpPr txBox="1"/>
                <p:nvPr/>
              </p:nvSpPr>
              <p:spPr>
                <a:xfrm>
                  <a:off x="6195" y="1359"/>
                  <a:ext cx="8240" cy="156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𝑄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e</m:t>
                                </m:r>
                              </m:e>
                              <m:sup>
                                <m:nary>
                                  <m:naryPr>
                                    <m:subHide m:val="on"/>
                                    <m:supHide m:val="on"/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𝑃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(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)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d</m:t>
                                    </m:r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</m:nary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5" y="1359"/>
                  <a:ext cx="8240" cy="15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10672" y="1755"/>
              <a:ext cx="420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942318" y="2816134"/>
            <a:ext cx="6394450" cy="1071245"/>
            <a:chOff x="4552" y="4092"/>
            <a:chExt cx="10070" cy="16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4"/>
                <p:cNvSpPr txBox="1"/>
                <p:nvPr/>
              </p:nvSpPr>
              <p:spPr>
                <a:xfrm>
                  <a:off x="4552" y="4092"/>
                  <a:ext cx="10070" cy="1687"/>
                </a:xfrm>
                <a:prstGeom prst="rect">
                  <a:avLst/>
                </a:prstGeom>
                <a:solidFill>
                  <a:srgbClr val="A6D1BF">
                    <a:alpha val="48000"/>
                  </a:srgbClr>
                </a:solidFill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𝑄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e</m:t>
                                    </m:r>
                                  </m:e>
                                  <m:sup>
                                    <m:nary>
                                      <m:naryPr>
                                        <m:subHide m:val="on"/>
                                        <m:supHide m:val="on"/>
                                        <m:ctrlPr>
                                          <a:rPr kumimoji="1" lang="en-US" altLang="zh-CN" sz="28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𝑃</m:t>
                                        </m:r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(</m:t>
                                        </m:r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)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d</m:t>
                                        </m:r>
                                        <m:r>
                                          <a:rPr kumimoji="1" lang="en-US" altLang="zh-CN" sz="28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</m:e>
                                    </m:nary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2" y="4092"/>
                  <a:ext cx="10070" cy="16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12382" y="4755"/>
              <a:ext cx="585" cy="3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4" grpId="0" animBg="1"/>
      <p:bldP spid="60426" grpId="0" animBg="1"/>
      <p:bldP spid="60430" grpId="0" animBg="1"/>
      <p:bldP spid="20" grpId="0"/>
      <p:bldP spid="21" grpId="0"/>
      <p:bldP spid="1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070" y="1176020"/>
            <a:ext cx="10817225" cy="5110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1171575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117157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1967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59980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150020" y="612130"/>
            <a:ext cx="2322267" cy="521970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典型例题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>
          <a:xfrm>
            <a:off x="2150020" y="1600023"/>
            <a:ext cx="1022105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b="1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1</a:t>
            </a:r>
            <a:endParaRPr lang="zh-CN" altLang="en-US" sz="28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Text Box 5"/>
          <p:cNvSpPr txBox="1">
            <a:spLocks noChangeArrowheads="1"/>
          </p:cNvSpPr>
          <p:nvPr/>
        </p:nvSpPr>
        <p:spPr bwMode="auto">
          <a:xfrm>
            <a:off x="2161686" y="2464596"/>
            <a:ext cx="8402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5630692" y="2514464"/>
            <a:ext cx="1012469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即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864727" y="3238212"/>
            <a:ext cx="1752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积分得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7185012" y="3255418"/>
            <a:ext cx="611088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即</a:t>
            </a:r>
          </a:p>
        </p:txBody>
      </p:sp>
      <p:sp>
        <p:nvSpPr>
          <p:cNvPr id="51" name="Text Box 14"/>
          <p:cNvSpPr txBox="1">
            <a:spLocks noChangeArrowheads="1"/>
          </p:cNvSpPr>
          <p:nvPr/>
        </p:nvSpPr>
        <p:spPr bwMode="auto">
          <a:xfrm>
            <a:off x="2854545" y="3768090"/>
            <a:ext cx="289052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用</a:t>
            </a: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常数变易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法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 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5742381" y="4252595"/>
            <a:ext cx="990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</a:t>
            </a: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2847069" y="4885043"/>
            <a:ext cx="3200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代入非齐次方程得</a:t>
            </a:r>
          </a:p>
        </p:txBody>
      </p:sp>
      <p:sp>
        <p:nvSpPr>
          <p:cNvPr id="57" name="Text Box 21"/>
          <p:cNvSpPr txBox="1">
            <a:spLocks noChangeArrowheads="1"/>
          </p:cNvSpPr>
          <p:nvPr/>
        </p:nvSpPr>
        <p:spPr bwMode="auto">
          <a:xfrm>
            <a:off x="6928091" y="4890770"/>
            <a:ext cx="1385888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解得</a:t>
            </a:r>
          </a:p>
        </p:txBody>
      </p:sp>
      <p:sp>
        <p:nvSpPr>
          <p:cNvPr id="59" name="Text Box 23"/>
          <p:cNvSpPr txBox="1">
            <a:spLocks noChangeArrowheads="1"/>
          </p:cNvSpPr>
          <p:nvPr/>
        </p:nvSpPr>
        <p:spPr bwMode="auto">
          <a:xfrm>
            <a:off x="2843295" y="5509059"/>
            <a:ext cx="3548063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故原方程通解为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64727" y="2523789"/>
            <a:ext cx="906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先解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49894" y="4239260"/>
            <a:ext cx="47879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令</a:t>
            </a:r>
            <a:endParaRPr kumimoji="1" lang="zh-CN" altLang="en-US" sz="22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64499" y="1385570"/>
            <a:ext cx="6004560" cy="965200"/>
            <a:chOff x="4704" y="2288"/>
            <a:chExt cx="9456" cy="15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3"/>
                <p:cNvSpPr txBox="1"/>
                <p:nvPr/>
              </p:nvSpPr>
              <p:spPr bwMode="auto">
                <a:xfrm>
                  <a:off x="4704" y="2288"/>
                  <a:ext cx="9457" cy="1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解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方程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2​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+1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04" y="2288"/>
                  <a:ext cx="9457" cy="15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12247" y="2940"/>
              <a:ext cx="585" cy="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545854" y="2331085"/>
            <a:ext cx="2294890" cy="815975"/>
            <a:chOff x="5777" y="3777"/>
            <a:chExt cx="3614" cy="12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bject 6"/>
                <p:cNvSpPr txBox="1"/>
                <p:nvPr/>
              </p:nvSpPr>
              <p:spPr bwMode="auto">
                <a:xfrm>
                  <a:off x="5777" y="3777"/>
                  <a:ext cx="3614" cy="12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2​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+1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=0 ,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4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77" y="3777"/>
                  <a:ext cx="3614" cy="12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7957" y="4035"/>
              <a:ext cx="330" cy="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15634" y="2332355"/>
            <a:ext cx="2388870" cy="914400"/>
            <a:chOff x="9809" y="3779"/>
            <a:chExt cx="3762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8"/>
                <p:cNvSpPr txBox="1"/>
                <p:nvPr/>
              </p:nvSpPr>
              <p:spPr bwMode="auto">
                <a:xfrm>
                  <a:off x="9809" y="3779"/>
                  <a:ext cx="3762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+1</m:t>
                            </m:r>
                          </m:den>
                        </m:f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6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09" y="3779"/>
                  <a:ext cx="3762" cy="14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圆角矩形 12"/>
            <p:cNvSpPr/>
            <p:nvPr/>
          </p:nvSpPr>
          <p:spPr>
            <a:xfrm>
              <a:off x="12547" y="4320"/>
              <a:ext cx="315" cy="22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801759" y="3235325"/>
            <a:ext cx="3519170" cy="469900"/>
            <a:chOff x="6180" y="5201"/>
            <a:chExt cx="5542" cy="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11"/>
                <p:cNvSpPr txBox="1"/>
                <p:nvPr/>
              </p:nvSpPr>
              <p:spPr bwMode="auto">
                <a:xfrm>
                  <a:off x="6180" y="5201"/>
                  <a:ext cx="5542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=2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80" y="5201"/>
                  <a:ext cx="5542" cy="740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11377" y="5790"/>
              <a:ext cx="345" cy="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555244" y="3209290"/>
            <a:ext cx="1917700" cy="457200"/>
            <a:chOff x="12091" y="5160"/>
            <a:chExt cx="3020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bject 13"/>
                <p:cNvSpPr txBox="1"/>
                <p:nvPr/>
              </p:nvSpPr>
              <p:spPr bwMode="auto">
                <a:xfrm>
                  <a:off x="12091" y="5160"/>
                  <a:ext cx="3020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0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91" y="5160"/>
                  <a:ext cx="3020" cy="720"/>
                </a:xfrm>
                <a:prstGeom prst="rect">
                  <a:avLst/>
                </a:prstGeom>
                <a:blipFill>
                  <a:blip r:embed="rId7"/>
                  <a:stretch>
                    <a:fillRect l="-317" b="-1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4707" y="5475"/>
              <a:ext cx="300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96604" y="4076065"/>
            <a:ext cx="2682875" cy="702945"/>
            <a:chOff x="5227" y="6525"/>
            <a:chExt cx="4225" cy="1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15"/>
                <p:cNvSpPr txBox="1"/>
                <p:nvPr/>
              </p:nvSpPr>
              <p:spPr bwMode="auto">
                <a:xfrm>
                  <a:off x="5227" y="6803"/>
                  <a:ext cx="4225" cy="8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)⋅(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2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27" y="6803"/>
                  <a:ext cx="4225" cy="829"/>
                </a:xfrm>
                <a:prstGeom prst="rect">
                  <a:avLst/>
                </a:prstGeom>
                <a:blipFill>
                  <a:blip r:embed="rId8"/>
                  <a:stretch>
                    <a:fillRect l="-22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8137" y="6525"/>
              <a:ext cx="360" cy="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157259" y="4249420"/>
            <a:ext cx="4088130" cy="457200"/>
            <a:chOff x="9748" y="6718"/>
            <a:chExt cx="6438" cy="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bject 17"/>
                <p:cNvSpPr txBox="1"/>
                <p:nvPr/>
              </p:nvSpPr>
              <p:spPr bwMode="auto">
                <a:xfrm>
                  <a:off x="9748" y="6718"/>
                  <a:ext cx="6438" cy="7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+2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4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48" y="6718"/>
                  <a:ext cx="6438" cy="720"/>
                </a:xfrm>
                <a:prstGeom prst="rect">
                  <a:avLst/>
                </a:prstGeom>
                <a:blipFill>
                  <a:blip r:embed="rId9"/>
                  <a:stretch>
                    <a:fillRect l="-149" b="-12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15412" y="6975"/>
              <a:ext cx="450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168914" y="4733180"/>
            <a:ext cx="1854200" cy="571500"/>
            <a:chOff x="8333" y="7410"/>
            <a:chExt cx="2920" cy="9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bject 20"/>
                <p:cNvSpPr txBox="1"/>
                <p:nvPr/>
              </p:nvSpPr>
              <p:spPr bwMode="auto">
                <a:xfrm>
                  <a:off x="8333" y="7410"/>
                  <a:ext cx="2920" cy="9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6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33" y="7410"/>
                  <a:ext cx="2920" cy="9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/>
            <p:cNvSpPr/>
            <p:nvPr/>
          </p:nvSpPr>
          <p:spPr>
            <a:xfrm>
              <a:off x="10837" y="7995"/>
              <a:ext cx="270" cy="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520182" y="4715400"/>
            <a:ext cx="2665730" cy="838200"/>
            <a:chOff x="12134" y="7322"/>
            <a:chExt cx="4198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bject 22"/>
                <p:cNvSpPr txBox="1"/>
                <p:nvPr/>
              </p:nvSpPr>
              <p:spPr bwMode="auto">
                <a:xfrm>
                  <a:off x="12134" y="7322"/>
                  <a:ext cx="4198" cy="1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8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134" y="7322"/>
                  <a:ext cx="4198" cy="13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15457" y="7830"/>
              <a:ext cx="270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923169" y="5334000"/>
            <a:ext cx="4227195" cy="1003300"/>
            <a:chOff x="7946" y="8238"/>
            <a:chExt cx="6657" cy="1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24"/>
                <p:cNvSpPr txBox="1"/>
                <p:nvPr/>
              </p:nvSpPr>
              <p:spPr bwMode="auto">
                <a:xfrm>
                  <a:off x="7946" y="8238"/>
                  <a:ext cx="6657" cy="15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+1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lang="zh-CN" altLang="en-US" sz="2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46" y="8238"/>
                  <a:ext cx="6657" cy="158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/>
            <p:cNvSpPr/>
            <p:nvPr/>
          </p:nvSpPr>
          <p:spPr>
            <a:xfrm>
              <a:off x="13357" y="8640"/>
              <a:ext cx="285" cy="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43" grpId="0"/>
      <p:bldP spid="45" grpId="0"/>
      <p:bldP spid="8" grpId="0"/>
      <p:bldP spid="10" grpId="0"/>
      <p:bldP spid="51" grpId="0"/>
      <p:bldP spid="53" grpId="0"/>
      <p:bldP spid="55" grpId="0"/>
      <p:bldP spid="57" grpId="0"/>
      <p:bldP spid="59" grpId="0"/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90499" y="52864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5502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3515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421" name="Rectangle 37"/>
          <p:cNvSpPr>
            <a:spLocks noChangeArrowheads="1"/>
          </p:cNvSpPr>
          <p:nvPr/>
        </p:nvSpPr>
        <p:spPr bwMode="auto">
          <a:xfrm>
            <a:off x="2328836" y="3295607"/>
            <a:ext cx="5216028" cy="465113"/>
          </a:xfrm>
          <a:prstGeom prst="rect">
            <a:avLst/>
          </a:prstGeom>
          <a:solidFill>
            <a:srgbClr val="A6D1BF">
              <a:alpha val="48000"/>
            </a:srgbClr>
          </a:solidFill>
          <a:ln>
            <a:noFill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在闭合回路中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所有支路上的电压降为 </a:t>
            </a:r>
            <a:r>
              <a:rPr kumimoji="1" lang="en-US" altLang="zh-CN" sz="2200" b="0" i="0" u="none" strike="noStrike" kern="1200" cap="none" spc="0" normalizeH="0" baseline="0" dirty="0"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0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1340804" y="2146984"/>
            <a:ext cx="3177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  <a:r>
              <a:rPr kumimoji="1" lang="zh-CN" altLang="en-US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（</a:t>
            </a:r>
            <a:r>
              <a:rPr kumimoji="1" lang="en-US" altLang="zh-CN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1</a:t>
            </a:r>
            <a:r>
              <a:rPr kumimoji="1" lang="zh-CN" altLang="en-US" sz="22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）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列方程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.</a:t>
            </a:r>
          </a:p>
        </p:txBody>
      </p:sp>
      <p:sp>
        <p:nvSpPr>
          <p:cNvPr id="16426" name="Text Box 42"/>
          <p:cNvSpPr txBox="1">
            <a:spLocks noChangeArrowheads="1"/>
          </p:cNvSpPr>
          <p:nvPr/>
        </p:nvSpPr>
        <p:spPr bwMode="auto">
          <a:xfrm>
            <a:off x="2226927" y="4620312"/>
            <a:ext cx="1752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因此有</a:t>
            </a:r>
          </a:p>
        </p:txBody>
      </p:sp>
      <p:sp>
        <p:nvSpPr>
          <p:cNvPr id="16428" name="Text Box 44"/>
          <p:cNvSpPr txBox="1">
            <a:spLocks noChangeArrowheads="1"/>
          </p:cNvSpPr>
          <p:nvPr/>
        </p:nvSpPr>
        <p:spPr bwMode="auto">
          <a:xfrm>
            <a:off x="5471561" y="4626391"/>
            <a:ext cx="914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即</a:t>
            </a:r>
          </a:p>
        </p:txBody>
      </p:sp>
      <p:sp>
        <p:nvSpPr>
          <p:cNvPr id="16433" name="Text Box 49"/>
          <p:cNvSpPr txBox="1">
            <a:spLocks noChangeArrowheads="1"/>
          </p:cNvSpPr>
          <p:nvPr/>
        </p:nvSpPr>
        <p:spPr bwMode="auto">
          <a:xfrm>
            <a:off x="5941030" y="5403965"/>
            <a:ext cx="1981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初值条件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 </a:t>
            </a:r>
          </a:p>
        </p:txBody>
      </p:sp>
      <p:sp>
        <p:nvSpPr>
          <p:cNvPr id="16449" name="Text Box 65"/>
          <p:cNvSpPr txBox="1">
            <a:spLocks noChangeArrowheads="1"/>
          </p:cNvSpPr>
          <p:nvPr/>
        </p:nvSpPr>
        <p:spPr bwMode="auto">
          <a:xfrm>
            <a:off x="2220707" y="2721860"/>
            <a:ext cx="3048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由回路电压定律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: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04925" y="936674"/>
            <a:ext cx="914400" cy="638810"/>
            <a:chOff x="2155" y="1454"/>
            <a:chExt cx="1440" cy="1006"/>
          </a:xfrm>
        </p:grpSpPr>
        <p:sp>
          <p:nvSpPr>
            <p:cNvPr id="16386" name="Rectangle 2"/>
            <p:cNvSpPr>
              <a:spLocks noGrp="1" noChangeArrowheads="1"/>
            </p:cNvSpPr>
            <p:nvPr/>
          </p:nvSpPr>
          <p:spPr>
            <a:xfrm>
              <a:off x="2155" y="1454"/>
              <a:ext cx="1440" cy="84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例</a:t>
              </a:r>
              <a:r>
                <a:rPr lang="zh-CN" altLang="en-US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2</a:t>
              </a:r>
              <a:endParaRPr lang="en-US" altLang="zh-CN" sz="2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2407" y="2175"/>
              <a:ext cx="240" cy="2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197735" y="737284"/>
            <a:ext cx="3282950" cy="690245"/>
            <a:chOff x="3561" y="1140"/>
            <a:chExt cx="5170" cy="10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4"/>
                <p:cNvSpPr txBox="1"/>
                <p:nvPr/>
              </p:nvSpPr>
              <p:spPr>
                <a:xfrm>
                  <a:off x="3561" y="1427"/>
                  <a:ext cx="5170" cy="80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有一电路如图所示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1" y="1427"/>
                  <a:ext cx="5170" cy="80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5272" y="1140"/>
              <a:ext cx="435" cy="3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243830" y="851584"/>
            <a:ext cx="6137275" cy="556260"/>
            <a:chOff x="8358" y="1320"/>
            <a:chExt cx="9665" cy="8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3"/>
                <p:cNvSpPr txBox="1"/>
                <p:nvPr/>
              </p:nvSpPr>
              <p:spPr>
                <a:xfrm>
                  <a:off x="8358" y="1430"/>
                  <a:ext cx="9665" cy="76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其中电源电动势为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𝑚</m:t>
                            </m:r>
                          </m:sub>
                        </m:sSub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" y="1430"/>
                  <a:ext cx="9665" cy="76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"/>
            <p:cNvSpPr/>
            <p:nvPr/>
          </p:nvSpPr>
          <p:spPr>
            <a:xfrm>
              <a:off x="9802" y="1320"/>
              <a:ext cx="480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200910" y="1492299"/>
            <a:ext cx="4041140" cy="542290"/>
            <a:chOff x="3566" y="2329"/>
            <a:chExt cx="6364" cy="8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5"/>
                <p:cNvSpPr txBox="1"/>
                <p:nvPr/>
              </p:nvSpPr>
              <p:spPr>
                <a:xfrm>
                  <a:off x="3566" y="2329"/>
                  <a:ext cx="6364" cy="85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电阻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和电感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都是常量</m:t>
                        </m:r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6" y="2329"/>
                  <a:ext cx="6364" cy="855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9442" y="2715"/>
              <a:ext cx="21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88685" y="1485949"/>
            <a:ext cx="2149475" cy="791845"/>
            <a:chOff x="9531" y="2319"/>
            <a:chExt cx="3385" cy="12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9" name="Object 5"/>
                <p:cNvSpPr txBox="1"/>
                <p:nvPr/>
              </p:nvSpPr>
              <p:spPr bwMode="auto">
                <a:xfrm>
                  <a:off x="9531" y="2319"/>
                  <a:ext cx="3385" cy="12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求电流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) .</m:t>
                        </m:r>
                      </m:oMath>
                    </m:oMathPara>
                  </a14:m>
                  <a:endPara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389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531" y="2319"/>
                  <a:ext cx="3385" cy="124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1872" y="3225"/>
              <a:ext cx="255" cy="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210435" y="3916930"/>
            <a:ext cx="4686300" cy="523240"/>
            <a:chOff x="3581" y="6151"/>
            <a:chExt cx="7380" cy="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2"/>
                <p:cNvSpPr txBox="1"/>
                <p:nvPr/>
              </p:nvSpPr>
              <p:spPr>
                <a:xfrm>
                  <a:off x="3581" y="6255"/>
                  <a:ext cx="738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已知经过电阻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的电压降为</m:t>
                        </m:r>
                        <m:sSub>
                          <m:sSub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" y="6255"/>
                  <a:ext cx="7380" cy="72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8482" y="6151"/>
              <a:ext cx="57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871845" y="3821680"/>
            <a:ext cx="3543300" cy="914400"/>
            <a:chOff x="9347" y="6001"/>
            <a:chExt cx="558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25" name="Object 41"/>
                <p:cNvSpPr txBox="1"/>
                <p:nvPr/>
              </p:nvSpPr>
              <p:spPr bwMode="auto">
                <a:xfrm>
                  <a:off x="9347" y="6001"/>
                  <a:ext cx="5580" cy="1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经过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的电压降为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den>
                        </m:f>
                        <m:r>
                          <a:rPr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425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47" y="6001"/>
                  <a:ext cx="5580" cy="14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14242" y="6555"/>
              <a:ext cx="255" cy="2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154045" y="4475134"/>
            <a:ext cx="2530475" cy="795020"/>
            <a:chOff x="5067" y="7015"/>
            <a:chExt cx="3985" cy="12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6"/>
                <p:cNvSpPr txBox="1"/>
                <p:nvPr/>
              </p:nvSpPr>
              <p:spPr>
                <a:xfrm>
                  <a:off x="5067" y="7015"/>
                  <a:ext cx="3985" cy="125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𝑅𝑖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=0 ,</m:t>
                        </m:r>
                      </m:oMath>
                    </m:oMathPara>
                  </a14:m>
                  <a:endParaRPr kumimoji="1" lang="zh-CN" altLang="en-US" sz="22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2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7" y="7015"/>
                  <a:ext cx="3985" cy="125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/>
            <p:cNvSpPr/>
            <p:nvPr/>
          </p:nvSpPr>
          <p:spPr>
            <a:xfrm>
              <a:off x="7762" y="7830"/>
              <a:ext cx="420" cy="3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48965" y="5232330"/>
            <a:ext cx="3086100" cy="914400"/>
            <a:chOff x="5059" y="8240"/>
            <a:chExt cx="486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对象 7"/>
                <p:cNvSpPr txBox="1"/>
                <p:nvPr/>
              </p:nvSpPr>
              <p:spPr>
                <a:xfrm>
                  <a:off x="5059" y="8240"/>
                  <a:ext cx="4860" cy="14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</m:func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den>
                        </m:f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对象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" y="8240"/>
                  <a:ext cx="4860" cy="144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8542" y="9225"/>
              <a:ext cx="210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249160" y="5379650"/>
            <a:ext cx="1793240" cy="596900"/>
            <a:chOff x="11562" y="8517"/>
            <a:chExt cx="2824" cy="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8"/>
                <p:cNvSpPr txBox="1"/>
                <p:nvPr/>
              </p:nvSpPr>
              <p:spPr>
                <a:xfrm>
                  <a:off x="11562" y="8517"/>
                  <a:ext cx="2824" cy="9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sSub>
                          <m:sSub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2" y="8517"/>
                  <a:ext cx="2824" cy="94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/>
            <p:cNvSpPr/>
            <p:nvPr/>
          </p:nvSpPr>
          <p:spPr>
            <a:xfrm>
              <a:off x="13807" y="8745"/>
              <a:ext cx="360" cy="3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262D0F3B-C50D-6E1D-B8D5-E405CA7502E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465" y="1759634"/>
            <a:ext cx="2513427" cy="2012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21" grpId="0" animBg="1"/>
      <p:bldP spid="16419" grpId="0"/>
      <p:bldP spid="16426" grpId="0"/>
      <p:bldP spid="16428" grpId="0"/>
      <p:bldP spid="16433" grpId="0"/>
      <p:bldP spid="164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959" y="52864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28045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27431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658995" y="5132124"/>
            <a:ext cx="1770380" cy="755015"/>
            <a:chOff x="7052" y="8381"/>
            <a:chExt cx="2788" cy="1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19" name="Object 75"/>
                <p:cNvSpPr txBox="1"/>
                <p:nvPr/>
              </p:nvSpPr>
              <p:spPr bwMode="auto">
                <a:xfrm>
                  <a:off x="7052" y="8381"/>
                  <a:ext cx="2788" cy="7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sSub>
                          <m:sSub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819" name="Object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52" y="8381"/>
                  <a:ext cx="2788" cy="740"/>
                </a:xfrm>
                <a:prstGeom prst="rect">
                  <a:avLst/>
                </a:prstGeom>
                <a:blipFill>
                  <a:blip r:embed="rId3"/>
                  <a:stretch>
                    <a:fillRect b="-909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矩形 18"/>
            <p:cNvSpPr/>
            <p:nvPr/>
          </p:nvSpPr>
          <p:spPr>
            <a:xfrm>
              <a:off x="7724" y="9285"/>
              <a:ext cx="585" cy="2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31797" name="Text Box 53"/>
          <p:cNvSpPr txBox="1">
            <a:spLocks noChangeArrowheads="1"/>
          </p:cNvSpPr>
          <p:nvPr/>
        </p:nvSpPr>
        <p:spPr bwMode="auto">
          <a:xfrm>
            <a:off x="1342729" y="2942204"/>
            <a:ext cx="2514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（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2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）解方程</a:t>
            </a:r>
          </a:p>
        </p:txBody>
      </p:sp>
      <p:sp>
        <p:nvSpPr>
          <p:cNvPr id="31818" name="Text Box 74"/>
          <p:cNvSpPr txBox="1">
            <a:spLocks noChangeArrowheads="1"/>
          </p:cNvSpPr>
          <p:nvPr/>
        </p:nvSpPr>
        <p:spPr bwMode="auto">
          <a:xfrm>
            <a:off x="3050107" y="5150516"/>
            <a:ext cx="1737886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由初值条件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 </a:t>
            </a:r>
          </a:p>
        </p:txBody>
      </p:sp>
      <p:sp>
        <p:nvSpPr>
          <p:cNvPr id="31820" name="Text Box 76"/>
          <p:cNvSpPr txBox="1">
            <a:spLocks noChangeArrowheads="1"/>
          </p:cNvSpPr>
          <p:nvPr/>
        </p:nvSpPr>
        <p:spPr bwMode="auto">
          <a:xfrm>
            <a:off x="5869346" y="5147487"/>
            <a:ext cx="8382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得</a:t>
            </a:r>
          </a:p>
        </p:txBody>
      </p:sp>
      <p:sp>
        <p:nvSpPr>
          <p:cNvPr id="31823" name="Text Box 79"/>
          <p:cNvSpPr txBox="1">
            <a:spLocks noChangeArrowheads="1"/>
          </p:cNvSpPr>
          <p:nvPr/>
        </p:nvSpPr>
        <p:spPr bwMode="auto">
          <a:xfrm>
            <a:off x="2992509" y="2943172"/>
            <a:ext cx="5334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利用一阶线性方程解的公式可得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627441" y="1980852"/>
            <a:ext cx="4919345" cy="868680"/>
            <a:chOff x="9763" y="3033"/>
            <a:chExt cx="7747" cy="13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9763" y="3033"/>
                  <a:ext cx="7747" cy="1368"/>
                </a:xfrm>
                <a:prstGeom prst="rect">
                  <a:avLst/>
                </a:prstGeom>
                <a:solidFill>
                  <a:srgbClr val="1D9D79">
                    <a:alpha val="23000"/>
                  </a:srgbClr>
                </a:solidFill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</m:sup>
                        </m:sSup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𝑄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e</m:t>
                                    </m:r>
                                  </m:e>
                                  <m:sup>
                                    <m:nary>
                                      <m:naryPr>
                                        <m:subHide m:val="on"/>
                                        <m:supHide m:val="on"/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kumimoji="1" lang="en-US" altLang="zh-CN" sz="22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𝑃</m:t>
                                        </m:r>
                                        <m:r>
                                          <a:rPr kumimoji="1" lang="en-US" altLang="zh-CN" sz="22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(</m:t>
                                        </m:r>
                                        <m:r>
                                          <a:rPr kumimoji="1" lang="en-US" altLang="zh-CN" sz="22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sz="22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)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200" i="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d</m:t>
                                        </m:r>
                                        <m:r>
                                          <a:rPr kumimoji="1" lang="en-US" altLang="zh-CN" sz="220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</m:e>
                                    </m:nary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nary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3" y="3033"/>
                  <a:ext cx="7747" cy="13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6597" y="3120"/>
              <a:ext cx="420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21330" y="3705585"/>
            <a:ext cx="1055370" cy="863600"/>
            <a:chOff x="4473" y="5892"/>
            <a:chExt cx="1662" cy="13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98" name="Object 54"/>
                <p:cNvSpPr txBox="1"/>
                <p:nvPr/>
              </p:nvSpPr>
              <p:spPr bwMode="auto">
                <a:xfrm>
                  <a:off x="4473" y="5892"/>
                  <a:ext cx="1662" cy="1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)=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798" name="Object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73" y="5892"/>
                  <a:ext cx="1662" cy="1360"/>
                </a:xfrm>
                <a:prstGeom prst="rect">
                  <a:avLst/>
                </a:prstGeom>
                <a:blipFill>
                  <a:blip r:embed="rId7"/>
                  <a:stretch>
                    <a:fillRect l="-57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4957" y="6765"/>
              <a:ext cx="315" cy="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799840" y="3522705"/>
            <a:ext cx="6966585" cy="1170940"/>
            <a:chOff x="5699" y="5604"/>
            <a:chExt cx="10971" cy="18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99" name="Object 55"/>
                <p:cNvSpPr txBox="1"/>
                <p:nvPr/>
              </p:nvSpPr>
              <p:spPr bwMode="auto">
                <a:xfrm>
                  <a:off x="5699" y="5617"/>
                  <a:ext cx="10971" cy="18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𝑅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nary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       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             </m:t>
                            </m:r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200" i="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                              </m:t>
                                  </m:r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1799" name="Object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99" y="5617"/>
                  <a:ext cx="10971" cy="18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00" name="Object 56"/>
                <p:cNvSpPr txBox="1"/>
                <p:nvPr/>
              </p:nvSpPr>
              <p:spPr bwMode="auto">
                <a:xfrm>
                  <a:off x="7392" y="5604"/>
                  <a:ext cx="5593" cy="16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</m:func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</m:nary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800" name="Object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92" y="5604"/>
                  <a:ext cx="5593" cy="161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14" name="Object 70"/>
                <p:cNvSpPr txBox="1"/>
                <p:nvPr/>
              </p:nvSpPr>
              <p:spPr bwMode="auto">
                <a:xfrm>
                  <a:off x="9762" y="5624"/>
                  <a:ext cx="2372" cy="10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f>
                                  <m:f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𝑅</m:t>
                                    </m:r>
                                  </m:num>
                                  <m:den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nary>
                            <m:r>
                              <m:rPr>
                                <m:sty m:val="p"/>
                              </m:rPr>
                              <a:rPr kumimoji="1" lang="en-US" altLang="zh-CN" sz="2200" b="0" i="0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814" name="Object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62" y="5624"/>
                  <a:ext cx="2372" cy="102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15" name="Object 71"/>
                <p:cNvSpPr txBox="1"/>
                <p:nvPr/>
              </p:nvSpPr>
              <p:spPr bwMode="auto">
                <a:xfrm>
                  <a:off x="11369" y="5855"/>
                  <a:ext cx="1444" cy="69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815" name="Object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69" y="5855"/>
                  <a:ext cx="1444" cy="6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13447" y="6120"/>
              <a:ext cx="315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542284" y="4230424"/>
            <a:ext cx="6612890" cy="1028700"/>
            <a:chOff x="5207" y="6821"/>
            <a:chExt cx="10414" cy="1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01" name="Object 57"/>
                <p:cNvSpPr txBox="1"/>
                <p:nvPr/>
              </p:nvSpPr>
              <p:spPr bwMode="auto">
                <a:xfrm>
                  <a:off x="5207" y="6821"/>
                  <a:ext cx="10415" cy="16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)+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801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07" y="6821"/>
                  <a:ext cx="10415" cy="16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>
              <a:off x="13259" y="7365"/>
              <a:ext cx="450" cy="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343650" y="4986074"/>
            <a:ext cx="2311400" cy="927100"/>
            <a:chOff x="9872" y="8115"/>
            <a:chExt cx="3640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21" name="Object 77"/>
                <p:cNvSpPr txBox="1"/>
                <p:nvPr/>
              </p:nvSpPr>
              <p:spPr bwMode="auto">
                <a:xfrm>
                  <a:off x="9872" y="8115"/>
                  <a:ext cx="3640" cy="14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1821" name="Object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72" y="8115"/>
                  <a:ext cx="3640" cy="14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13049" y="8655"/>
              <a:ext cx="165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8D7683D-74D5-147D-B8A3-8D4E5A9953EB}"/>
              </a:ext>
            </a:extLst>
          </p:cNvPr>
          <p:cNvGrpSpPr/>
          <p:nvPr/>
        </p:nvGrpSpPr>
        <p:grpSpPr>
          <a:xfrm>
            <a:off x="1488169" y="1111899"/>
            <a:ext cx="6384427" cy="1621305"/>
            <a:chOff x="1354819" y="1073799"/>
            <a:chExt cx="6384427" cy="1621305"/>
          </a:xfrm>
        </p:grpSpPr>
        <p:grpSp>
          <p:nvGrpSpPr>
            <p:cNvPr id="6" name="组合 5"/>
            <p:cNvGrpSpPr/>
            <p:nvPr/>
          </p:nvGrpSpPr>
          <p:grpSpPr>
            <a:xfrm>
              <a:off x="1354819" y="1352550"/>
              <a:ext cx="2369185" cy="753110"/>
              <a:chOff x="1925" y="1950"/>
              <a:chExt cx="4384" cy="11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对象 1"/>
                  <p:cNvSpPr txBox="1"/>
                  <p:nvPr/>
                </p:nvSpPr>
                <p:spPr>
                  <a:xfrm>
                    <a:off x="1925" y="2318"/>
                    <a:ext cx="4385" cy="818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zh-CN" altLang="en-US" sz="220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ea"/>
                            </a:rPr>
                            <m:t>即得到初值问题</m:t>
                          </m:r>
                        </m:oMath>
                      </m:oMathPara>
                    </a14:m>
                    <a:endPara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" name="对象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5" y="2318"/>
                    <a:ext cx="4385" cy="818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矩形 4"/>
              <p:cNvSpPr/>
              <p:nvPr/>
            </p:nvSpPr>
            <p:spPr>
              <a:xfrm>
                <a:off x="4492" y="1950"/>
                <a:ext cx="270" cy="2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latin typeface="字魂36号-正文宋楷" panose="00000500000000000000" pitchFamily="2" charset="-122"/>
                  <a:ea typeface="字魂36号-正文宋楷" panose="00000500000000000000" pitchFamily="2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440968" y="1113954"/>
              <a:ext cx="2913380" cy="1581150"/>
              <a:chOff x="5085" y="1386"/>
              <a:chExt cx="4588" cy="24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对象 2"/>
                  <p:cNvSpPr txBox="1"/>
                  <p:nvPr/>
                </p:nvSpPr>
                <p:spPr>
                  <a:xfrm>
                    <a:off x="5085" y="1386"/>
                    <a:ext cx="4589" cy="2491"/>
                  </a:xfrm>
                  <a:prstGeom prst="rect">
                    <a:avLst/>
                  </a:prstGeom>
                </p:spPr>
                <p:txBody>
                  <a:bodyPr>
                    <a:normAutofit fontScale="925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sz="22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 </m:t>
                                  </m:r>
                                </m:e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3" name="对象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5" y="1386"/>
                    <a:ext cx="4589" cy="249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矩形 6"/>
              <p:cNvSpPr/>
              <p:nvPr/>
            </p:nvSpPr>
            <p:spPr>
              <a:xfrm>
                <a:off x="8842" y="2940"/>
                <a:ext cx="300" cy="1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latin typeface="字魂36号-正文宋楷" panose="00000500000000000000" pitchFamily="2" charset="-122"/>
                  <a:ea typeface="字魂36号-正文宋楷" panose="00000500000000000000" pitchFamily="2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B6223F8-5032-1C87-DB91-1D194ED05662}"/>
                    </a:ext>
                  </a:extLst>
                </p:cNvPr>
                <p:cNvSpPr txBox="1"/>
                <p:nvPr/>
              </p:nvSpPr>
              <p:spPr>
                <a:xfrm>
                  <a:off x="3752753" y="2131285"/>
                  <a:ext cx="1893575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𝑖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</m:sSub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a14:m>
                  <a:r>
                    <a:rPr lang="en-US" altLang="zh-CN" sz="2200" dirty="0"/>
                    <a:t> 0</a:t>
                  </a:r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B6223F8-5032-1C87-DB91-1D194ED05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2753" y="2131285"/>
                  <a:ext cx="1893575" cy="430887"/>
                </a:xfrm>
                <a:prstGeom prst="rect">
                  <a:avLst/>
                </a:prstGeom>
                <a:blipFill>
                  <a:blip r:embed="rId15"/>
                  <a:stretch>
                    <a:fillRect t="-9859" b="-267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C6FF8CD-55F0-CE5A-FBE2-A1930D51B271}"/>
                    </a:ext>
                  </a:extLst>
                </p:cNvPr>
                <p:cNvSpPr txBox="1"/>
                <p:nvPr/>
              </p:nvSpPr>
              <p:spPr>
                <a:xfrm>
                  <a:off x="3772243" y="1073799"/>
                  <a:ext cx="3967003" cy="7352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</m:func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den>
                        </m:f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C6FF8CD-55F0-CE5A-FBE2-A1930D51B2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243" y="1073799"/>
                  <a:ext cx="3967003" cy="73526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7" grpId="0"/>
      <p:bldP spid="31818" grpId="0"/>
      <p:bldP spid="31820" grpId="0"/>
      <p:bldP spid="318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26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grpSp>
        <p:nvGrpSpPr>
          <p:cNvPr id="17474" name="Group 66"/>
          <p:cNvGrpSpPr/>
          <p:nvPr/>
        </p:nvGrpSpPr>
        <p:grpSpPr bwMode="auto">
          <a:xfrm>
            <a:off x="2635193" y="5151008"/>
            <a:ext cx="1920875" cy="500062"/>
            <a:chOff x="1296" y="3417"/>
            <a:chExt cx="1210" cy="315"/>
          </a:xfrm>
        </p:grpSpPr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1296" y="3417"/>
              <a:ext cx="1152" cy="0"/>
            </a:xfrm>
            <a:prstGeom prst="line">
              <a:avLst/>
            </a:prstGeom>
            <a:noFill/>
            <a:ln w="19050">
              <a:solidFill>
                <a:srgbClr val="04926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7424" name="Text Box 16"/>
            <p:cNvSpPr txBox="1">
              <a:spLocks noChangeArrowheads="1"/>
            </p:cNvSpPr>
            <p:nvPr/>
          </p:nvSpPr>
          <p:spPr bwMode="auto">
            <a:xfrm>
              <a:off x="1354" y="3461"/>
              <a:ext cx="115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 暂态电流</a:t>
              </a:r>
            </a:p>
          </p:txBody>
        </p:sp>
      </p:grpSp>
      <p:grpSp>
        <p:nvGrpSpPr>
          <p:cNvPr id="17475" name="Group 67"/>
          <p:cNvGrpSpPr/>
          <p:nvPr/>
        </p:nvGrpSpPr>
        <p:grpSpPr bwMode="auto">
          <a:xfrm>
            <a:off x="4812886" y="5159758"/>
            <a:ext cx="3007190" cy="506413"/>
            <a:chOff x="2580" y="3408"/>
            <a:chExt cx="2973" cy="319"/>
          </a:xfrm>
        </p:grpSpPr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2580" y="3408"/>
              <a:ext cx="2973" cy="0"/>
            </a:xfrm>
            <a:prstGeom prst="line">
              <a:avLst/>
            </a:prstGeom>
            <a:noFill/>
            <a:ln w="19050">
              <a:solidFill>
                <a:srgbClr val="1D9D7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7426" name="Text Box 18"/>
            <p:cNvSpPr txBox="1">
              <a:spLocks noChangeArrowheads="1"/>
            </p:cNvSpPr>
            <p:nvPr/>
          </p:nvSpPr>
          <p:spPr bwMode="auto">
            <a:xfrm>
              <a:off x="3378" y="3456"/>
              <a:ext cx="164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稳态电流</a:t>
              </a:r>
            </a:p>
          </p:txBody>
        </p:sp>
      </p:grpSp>
      <p:sp>
        <p:nvSpPr>
          <p:cNvPr id="17462" name="Rectangle 54"/>
          <p:cNvSpPr>
            <a:spLocks noGrp="1" noChangeArrowheads="1"/>
          </p:cNvSpPr>
          <p:nvPr/>
        </p:nvSpPr>
        <p:spPr>
          <a:xfrm>
            <a:off x="1796358" y="1072707"/>
            <a:ext cx="39624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200" b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因此所求电流函数为</a:t>
            </a:r>
          </a:p>
        </p:txBody>
      </p:sp>
      <p:sp>
        <p:nvSpPr>
          <p:cNvPr id="17463" name="Text Box 55"/>
          <p:cNvSpPr txBox="1">
            <a:spLocks noChangeArrowheads="1"/>
          </p:cNvSpPr>
          <p:nvPr/>
        </p:nvSpPr>
        <p:spPr bwMode="auto">
          <a:xfrm>
            <a:off x="1780925" y="2856514"/>
            <a:ext cx="16049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解的意义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31340" y="1685290"/>
            <a:ext cx="8229600" cy="889000"/>
            <a:chOff x="2884" y="2574"/>
            <a:chExt cx="12960" cy="1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1"/>
                <p:cNvSpPr txBox="1"/>
                <p:nvPr/>
              </p:nvSpPr>
              <p:spPr>
                <a:xfrm>
                  <a:off x="2884" y="2574"/>
                  <a:ext cx="12960" cy="140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4" y="2574"/>
                  <a:ext cx="12960" cy="140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3229" y="2850"/>
              <a:ext cx="285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794510" y="3400191"/>
            <a:ext cx="4348480" cy="838200"/>
            <a:chOff x="4025" y="4785"/>
            <a:chExt cx="6848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"/>
                <p:cNvSpPr txBox="1"/>
                <p:nvPr/>
              </p:nvSpPr>
              <p:spPr>
                <a:xfrm>
                  <a:off x="4025" y="4785"/>
                  <a:ext cx="6848" cy="13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令</m:t>
                        </m:r>
                        <m:r>
                          <a:rPr lang="zh-CN" altLang="en-US" sz="22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arctan</m:t>
                            </m:r>
                          </m:fName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den>
                            </m:f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</m:oMath>
                    </m:oMathPara>
                  </a14:m>
                  <a:endParaRPr kumimoji="1" lang="zh-CN" altLang="en-US" sz="22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6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5" y="4785"/>
                  <a:ext cx="6848" cy="13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8129" y="5175"/>
              <a:ext cx="285" cy="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765300" y="4251091"/>
            <a:ext cx="8390890" cy="838200"/>
            <a:chOff x="3979" y="6125"/>
            <a:chExt cx="13214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3"/>
                <p:cNvSpPr txBox="1"/>
                <p:nvPr/>
              </p:nvSpPr>
              <p:spPr>
                <a:xfrm>
                  <a:off x="3979" y="6125"/>
                  <a:ext cx="13214" cy="13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kumimoji="1" lang="en-US" altLang="zh-CN" sz="22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9" y="6125"/>
                  <a:ext cx="13214" cy="13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12824" y="6750"/>
              <a:ext cx="225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8C0F59C4-438B-7FF7-306D-CA34C73B82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076" y="2429892"/>
            <a:ext cx="2513427" cy="2012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62" grpId="0"/>
      <p:bldP spid="1746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357" name="Rectangle 93"/>
          <p:cNvSpPr>
            <a:spLocks noChangeArrowheads="1"/>
          </p:cNvSpPr>
          <p:nvPr/>
        </p:nvSpPr>
        <p:spPr bwMode="auto">
          <a:xfrm>
            <a:off x="2237692" y="1533683"/>
            <a:ext cx="2667000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zh-CN" altLang="en-US" sz="2800" dirty="0"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254384" y="2647594"/>
            <a:ext cx="75001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 bwMode="auto">
          <a:xfrm>
            <a:off x="3034522" y="2695351"/>
            <a:ext cx="342914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方法1. 变成一阶线性方程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45"/>
              <p:cNvSpPr txBox="1">
                <a:spLocks noChangeArrowheads="1"/>
              </p:cNvSpPr>
              <p:nvPr/>
            </p:nvSpPr>
            <p:spPr bwMode="auto">
              <a:xfrm>
                <a:off x="3019642" y="3399692"/>
                <a:ext cx="2686371" cy="4451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方程变形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得</a:t>
                </a:r>
              </a:p>
            </p:txBody>
          </p:sp>
        </mc:Choice>
        <mc:Fallback xmlns="">
          <p:sp>
            <p:nvSpPr>
              <p:cNvPr id="11" name="Text Box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9642" y="3399692"/>
                <a:ext cx="2686371" cy="445130"/>
              </a:xfrm>
              <a:prstGeom prst="rect">
                <a:avLst/>
              </a:prstGeom>
              <a:blipFill>
                <a:blip r:embed="rId3"/>
                <a:stretch>
                  <a:fillRect l="-2948" t="-13699" b="-191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utoShape 247"/>
          <p:cNvSpPr>
            <a:spLocks noChangeArrowheads="1"/>
          </p:cNvSpPr>
          <p:nvPr/>
        </p:nvSpPr>
        <p:spPr bwMode="auto">
          <a:xfrm>
            <a:off x="6937465" y="3410763"/>
            <a:ext cx="574675" cy="431800"/>
          </a:xfrm>
          <a:prstGeom prst="rightArrow">
            <a:avLst>
              <a:gd name="adj1" fmla="val 50000"/>
              <a:gd name="adj2" fmla="val 33272"/>
            </a:avLst>
          </a:prstGeom>
          <a:solidFill>
            <a:srgbClr val="04926A"/>
          </a:soli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49"/>
              <p:cNvSpPr txBox="1">
                <a:spLocks noChangeArrowheads="1"/>
              </p:cNvSpPr>
              <p:nvPr/>
            </p:nvSpPr>
            <p:spPr bwMode="auto">
              <a:xfrm>
                <a:off x="3034522" y="4148822"/>
                <a:ext cx="8785225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这是一个以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</a:t>
                </a:r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为自变量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以 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</a:t>
                </a:r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为函数的一阶线性方程</a:t>
                </a:r>
                <a14:m>
                  <m:oMath xmlns:m="http://schemas.openxmlformats.org/officeDocument/2006/math"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endParaRPr>
              </a:p>
            </p:txBody>
          </p:sp>
        </mc:Choice>
        <mc:Fallback xmlns="">
          <p:sp>
            <p:nvSpPr>
              <p:cNvPr id="4" name="Text Box 2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4522" y="4148822"/>
                <a:ext cx="8785225" cy="429895"/>
              </a:xfrm>
              <a:prstGeom prst="rect">
                <a:avLst/>
              </a:prstGeom>
              <a:blipFill>
                <a:blip r:embed="rId4"/>
                <a:stretch>
                  <a:fillRect l="-902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250"/>
              <p:cNvSpPr txBox="1">
                <a:spLocks noChangeArrowheads="1"/>
              </p:cNvSpPr>
              <p:nvPr/>
            </p:nvSpPr>
            <p:spPr bwMode="auto">
              <a:xfrm>
                <a:off x="3029903" y="4920041"/>
                <a:ext cx="28797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由通解公式</a:t>
                </a:r>
                <a14:m>
                  <m:oMath xmlns:m="http://schemas.openxmlformats.org/officeDocument/2006/math"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得</a:t>
                </a:r>
              </a:p>
            </p:txBody>
          </p:sp>
        </mc:Choice>
        <mc:Fallback xmlns="">
          <p:sp>
            <p:nvSpPr>
              <p:cNvPr id="16" name="Text Box 2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9903" y="4920041"/>
                <a:ext cx="2879725" cy="430887"/>
              </a:xfrm>
              <a:prstGeom prst="rect">
                <a:avLst/>
              </a:prstGeom>
              <a:blipFill>
                <a:blip r:embed="rId5"/>
                <a:stretch>
                  <a:fillRect l="-2754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3013710" y="1450340"/>
            <a:ext cx="4381500" cy="1182370"/>
            <a:chOff x="4686" y="2304"/>
            <a:chExt cx="6900" cy="18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4686" y="2304"/>
                  <a:ext cx="6901" cy="186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解方程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den>
                        </m:f>
                        <m:r>
                          <a:rPr lang="en-US" altLang="zh-CN" sz="2800" b="1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" y="2304"/>
                  <a:ext cx="6901" cy="186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9779" y="2865"/>
              <a:ext cx="345" cy="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115560" y="3209936"/>
            <a:ext cx="1778000" cy="914400"/>
            <a:chOff x="7687" y="4935"/>
            <a:chExt cx="280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3"/>
                <p:cNvSpPr txBox="1"/>
                <p:nvPr/>
              </p:nvSpPr>
              <p:spPr>
                <a:xfrm>
                  <a:off x="7687" y="4935"/>
                  <a:ext cx="2800" cy="14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8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7" y="4935"/>
                  <a:ext cx="2800" cy="14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9914" y="5085"/>
              <a:ext cx="240" cy="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708355" y="3209936"/>
            <a:ext cx="1778000" cy="914400"/>
            <a:chOff x="11950" y="4935"/>
            <a:chExt cx="280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4"/>
                <p:cNvSpPr txBox="1"/>
                <p:nvPr/>
              </p:nvSpPr>
              <p:spPr>
                <a:xfrm>
                  <a:off x="11950" y="4935"/>
                  <a:ext cx="2800" cy="14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fName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​</m:t>
                                </m:r>
                              </m:e>
                            </m:func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50" y="4935"/>
                  <a:ext cx="2800" cy="144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/>
            <p:cNvSpPr/>
            <p:nvPr/>
          </p:nvSpPr>
          <p:spPr>
            <a:xfrm>
              <a:off x="14144" y="5925"/>
              <a:ext cx="330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098415" y="4700927"/>
            <a:ext cx="5054600" cy="850900"/>
            <a:chOff x="7969" y="7276"/>
            <a:chExt cx="7960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5"/>
                <p:cNvSpPr txBox="1"/>
                <p:nvPr/>
              </p:nvSpPr>
              <p:spPr>
                <a:xfrm>
                  <a:off x="7969" y="7276"/>
                  <a:ext cx="7960" cy="13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nary>
                          </m:sup>
                        </m:sSup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𝑄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e</m:t>
                                    </m:r>
                                  </m:e>
                                  <m:sup>
                                    <m:nary>
                                      <m:naryPr>
                                        <m:subHide m:val="on"/>
                                        <m:supHide m:val="on"/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𝑃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(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)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200" i="0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d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𝑦</m:t>
                                        </m:r>
                                      </m:e>
                                    </m:nary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kumimoji="1" lang="en-US" altLang="zh-CN" sz="2200" i="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nary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i="1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2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9" y="7276"/>
                  <a:ext cx="7960" cy="13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5059" y="7695"/>
              <a:ext cx="465" cy="3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7" grpId="0"/>
      <p:bldP spid="9" grpId="0"/>
      <p:bldP spid="3" grpId="0"/>
      <p:bldP spid="11" grpId="0" animBg="1"/>
      <p:bldP spid="13" grpId="0" animBg="1"/>
      <p:bldP spid="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5375" name="Group 15"/>
          <p:cNvGrpSpPr/>
          <p:nvPr/>
        </p:nvGrpSpPr>
        <p:grpSpPr bwMode="auto">
          <a:xfrm>
            <a:off x="6547485" y="2752486"/>
            <a:ext cx="3432810" cy="2568328"/>
            <a:chOff x="2880" y="1912"/>
            <a:chExt cx="2755" cy="1977"/>
          </a:xfrm>
        </p:grpSpPr>
        <p:pic>
          <p:nvPicPr>
            <p:cNvPr id="3082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4" r="2885" b="17647"/>
            <a:stretch>
              <a:fillRect/>
            </a:stretch>
          </p:blipFill>
          <p:spPr bwMode="auto">
            <a:xfrm>
              <a:off x="2880" y="1978"/>
              <a:ext cx="2721" cy="1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8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209" y="1912"/>
                  <a:ext cx="227" cy="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083" name="Text 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9" y="1912"/>
                  <a:ext cx="227" cy="332"/>
                </a:xfrm>
                <a:prstGeom prst="rect">
                  <a:avLst/>
                </a:prstGeom>
                <a:blipFill>
                  <a:blip r:embed="rId4"/>
                  <a:stretch>
                    <a:fillRect l="-4348" r="-23913" b="-1285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8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5363" y="3162"/>
                  <a:ext cx="272" cy="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 eaLnBrk="1" hangingPunct="1">
                    <a:spcBef>
                      <a:spcPct val="50000"/>
                    </a:spcBef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200" i="1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084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63" y="3162"/>
                  <a:ext cx="272" cy="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85" name="Text Box 14"/>
            <p:cNvSpPr txBox="1">
              <a:spLocks noChangeArrowheads="1"/>
            </p:cNvSpPr>
            <p:nvPr/>
          </p:nvSpPr>
          <p:spPr bwMode="auto">
            <a:xfrm>
              <a:off x="3889" y="3103"/>
              <a:ext cx="272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200" b="0" i="1" dirty="0">
                  <a:latin typeface="Cambria Math" panose="02040503050406030204" pitchFamily="18" charset="0"/>
                  <a:ea typeface="黑体" panose="02010609060101010101" pitchFamily="49" charset="-122"/>
                </a:rPr>
                <a:t>O</a:t>
              </a:r>
              <a:endParaRPr lang="en-US" altLang="zh-CN" sz="2400" b="0" i="1" dirty="0"/>
            </a:p>
          </p:txBody>
        </p:sp>
      </p:grpSp>
      <p:sp>
        <p:nvSpPr>
          <p:cNvPr id="3077" name="Line 6"/>
          <p:cNvSpPr>
            <a:spLocks noChangeShapeType="1"/>
          </p:cNvSpPr>
          <p:nvPr/>
        </p:nvSpPr>
        <p:spPr bwMode="auto">
          <a:xfrm>
            <a:off x="1731169" y="1732113"/>
            <a:ext cx="8785225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/>
              <p:cNvSpPr txBox="1"/>
              <p:nvPr/>
            </p:nvSpPr>
            <p:spPr>
              <a:xfrm>
                <a:off x="4892766" y="832137"/>
                <a:ext cx="17780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fName>
                            <m:e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fName>
                            <m:e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766" y="832137"/>
                <a:ext cx="17780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2138680" y="1937162"/>
            <a:ext cx="5054600" cy="850900"/>
            <a:chOff x="4208" y="2829"/>
            <a:chExt cx="7960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1"/>
                <p:cNvSpPr txBox="1"/>
                <p:nvPr/>
              </p:nvSpPr>
              <p:spPr>
                <a:xfrm>
                  <a:off x="4208" y="2829"/>
                  <a:ext cx="7960" cy="13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nary>
                          </m:sup>
                        </m:sSup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𝑄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e</m:t>
                                    </m:r>
                                  </m:e>
                                  <m:sup>
                                    <m:nary>
                                      <m:naryPr>
                                        <m:subHide m:val="on"/>
                                        <m:supHide m:val="on"/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𝑃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(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)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d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𝑦</m:t>
                                        </m:r>
                                      </m:e>
                                    </m:nary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nary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8" y="2829"/>
                  <a:ext cx="7960" cy="13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11174" y="3360"/>
              <a:ext cx="390" cy="1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362200" y="2838227"/>
            <a:ext cx="4925060" cy="1080770"/>
            <a:chOff x="4560" y="4248"/>
            <a:chExt cx="7756" cy="1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2"/>
                <p:cNvSpPr txBox="1"/>
                <p:nvPr/>
              </p:nvSpPr>
              <p:spPr>
                <a:xfrm>
                  <a:off x="4560" y="4248"/>
                  <a:ext cx="7756" cy="170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(−1)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nary>
                          </m:sup>
                        </m:sSup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e</m:t>
                                    </m:r>
                                  </m:e>
                                  <m:sup>
                                    <m:nary>
                                      <m:naryPr>
                                        <m:subHide m:val="on"/>
                                        <m:supHide m:val="on"/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(−1)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d</m:t>
                                        </m:r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𝑦</m:t>
                                        </m:r>
                                      </m:e>
                                    </m:nary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nary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" y="4248"/>
                  <a:ext cx="7756" cy="170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10649" y="4830"/>
              <a:ext cx="315" cy="2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372360" y="3649122"/>
            <a:ext cx="2860040" cy="873125"/>
            <a:chOff x="4576" y="5525"/>
            <a:chExt cx="4504" cy="13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3"/>
                <p:cNvSpPr txBox="1"/>
                <p:nvPr/>
              </p:nvSpPr>
              <p:spPr>
                <a:xfrm>
                  <a:off x="4576" y="5525"/>
                  <a:ext cx="4504" cy="133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</m:nary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6" y="5525"/>
                  <a:ext cx="4504" cy="133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/>
            <p:cNvSpPr/>
            <p:nvPr/>
          </p:nvSpPr>
          <p:spPr>
            <a:xfrm>
              <a:off x="7574" y="6675"/>
              <a:ext cx="480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357755" y="4625752"/>
            <a:ext cx="3432810" cy="620395"/>
            <a:chOff x="4553" y="7063"/>
            <a:chExt cx="5406" cy="9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对象 4"/>
                <p:cNvSpPr txBox="1"/>
                <p:nvPr/>
              </p:nvSpPr>
              <p:spPr>
                <a:xfrm>
                  <a:off x="4553" y="7063"/>
                  <a:ext cx="5406" cy="855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sup>
                        </m:sSup>
                        <m:d>
                          <m:d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2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5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3" y="7063"/>
                  <a:ext cx="5406" cy="85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8084" y="7815"/>
              <a:ext cx="675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357755" y="5328062"/>
            <a:ext cx="2244090" cy="542290"/>
            <a:chOff x="4553" y="8169"/>
            <a:chExt cx="3534" cy="8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对象 5"/>
                <p:cNvSpPr txBox="1"/>
                <p:nvPr/>
              </p:nvSpPr>
              <p:spPr>
                <a:xfrm>
                  <a:off x="4553" y="8169"/>
                  <a:ext cx="3534" cy="85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3" y="8169"/>
                  <a:ext cx="3534" cy="85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7664" y="8460"/>
              <a:ext cx="165" cy="2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02" name="Text Box 254"/>
          <p:cNvSpPr txBox="1">
            <a:spLocks noChangeArrowheads="1"/>
          </p:cNvSpPr>
          <p:nvPr/>
        </p:nvSpPr>
        <p:spPr bwMode="auto">
          <a:xfrm>
            <a:off x="7977979" y="1739481"/>
            <a:ext cx="2555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于是方程变为</a:t>
            </a:r>
          </a:p>
        </p:txBody>
      </p:sp>
      <p:sp>
        <p:nvSpPr>
          <p:cNvPr id="2304" name="AutoShape 256"/>
          <p:cNvSpPr>
            <a:spLocks noChangeArrowheads="1"/>
          </p:cNvSpPr>
          <p:nvPr/>
        </p:nvSpPr>
        <p:spPr bwMode="auto">
          <a:xfrm>
            <a:off x="4294232" y="2893325"/>
            <a:ext cx="723791" cy="431800"/>
          </a:xfrm>
          <a:prstGeom prst="rightArrow">
            <a:avLst>
              <a:gd name="adj1" fmla="val 42941"/>
              <a:gd name="adj2" fmla="val 33316"/>
            </a:avLst>
          </a:prstGeom>
          <a:solidFill>
            <a:srgbClr val="04926A"/>
          </a:solidFill>
          <a:ln w="9525">
            <a:solidFill>
              <a:srgbClr val="04926A"/>
            </a:solidFill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6" name="Text Box 258"/>
              <p:cNvSpPr txBox="1">
                <a:spLocks noChangeArrowheads="1"/>
              </p:cNvSpPr>
              <p:nvPr/>
            </p:nvSpPr>
            <p:spPr bwMode="auto">
              <a:xfrm>
                <a:off x="1511056" y="3816802"/>
                <a:ext cx="233353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分离变量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得</a:t>
                </a:r>
              </a:p>
            </p:txBody>
          </p:sp>
        </mc:Choice>
        <mc:Fallback xmlns="">
          <p:sp>
            <p:nvSpPr>
              <p:cNvPr id="2306" name="Text Box 2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1056" y="3816802"/>
                <a:ext cx="2333536" cy="523220"/>
              </a:xfrm>
              <a:prstGeom prst="rect">
                <a:avLst/>
              </a:prstGeom>
              <a:blipFill>
                <a:blip r:embed="rId4"/>
                <a:stretch>
                  <a:fillRect l="-5483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8" name="Text Box 260"/>
              <p:cNvSpPr txBox="1">
                <a:spLocks noChangeArrowheads="1"/>
              </p:cNvSpPr>
              <p:nvPr/>
            </p:nvSpPr>
            <p:spPr bwMode="auto">
              <a:xfrm>
                <a:off x="1508200" y="4705338"/>
                <a:ext cx="233353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两边积分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rPr>
                  <a:t> 得</a:t>
                </a:r>
              </a:p>
            </p:txBody>
          </p:sp>
        </mc:Choice>
        <mc:Fallback xmlns="">
          <p:sp>
            <p:nvSpPr>
              <p:cNvPr id="2308" name="Text Box 2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8200" y="4705338"/>
                <a:ext cx="2333536" cy="523220"/>
              </a:xfrm>
              <a:prstGeom prst="rect">
                <a:avLst/>
              </a:prstGeom>
              <a:blipFill>
                <a:blip r:embed="rId5"/>
                <a:stretch>
                  <a:fillRect l="-5222" t="-15116" r="-261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0" name="Text Box 262"/>
          <p:cNvSpPr txBox="1">
            <a:spLocks noChangeArrowheads="1"/>
          </p:cNvSpPr>
          <p:nvPr/>
        </p:nvSpPr>
        <p:spPr bwMode="auto">
          <a:xfrm>
            <a:off x="1519979" y="5411697"/>
            <a:ext cx="4927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代回原变量并化简得通解为</a:t>
            </a:r>
          </a:p>
        </p:txBody>
      </p:sp>
      <p:sp>
        <p:nvSpPr>
          <p:cNvPr id="23" name="文本框 22"/>
          <p:cNvSpPr txBox="1"/>
          <p:nvPr/>
        </p:nvSpPr>
        <p:spPr bwMode="auto">
          <a:xfrm>
            <a:off x="1494610" y="912293"/>
            <a:ext cx="38093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方法2. 作变量替换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542415" y="1766925"/>
            <a:ext cx="2403475" cy="582295"/>
            <a:chOff x="2049" y="3106"/>
            <a:chExt cx="3785" cy="9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2049" y="3106"/>
                  <a:ext cx="3785" cy="91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令</m:t>
                        </m:r>
                        <m: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9" y="3106"/>
                  <a:ext cx="3785" cy="9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4199" y="3735"/>
              <a:ext cx="255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660140" y="1780895"/>
            <a:ext cx="2170430" cy="553720"/>
            <a:chOff x="5384" y="3128"/>
            <a:chExt cx="3418" cy="8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2"/>
                <p:cNvSpPr txBox="1"/>
                <p:nvPr/>
              </p:nvSpPr>
              <p:spPr>
                <a:xfrm>
                  <a:off x="5429" y="3128"/>
                  <a:ext cx="3373" cy="87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–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9" y="3128"/>
                  <a:ext cx="3373" cy="8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5384" y="3150"/>
              <a:ext cx="39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662295" y="1550390"/>
            <a:ext cx="2522220" cy="914400"/>
            <a:chOff x="8537" y="2750"/>
            <a:chExt cx="3972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8537" y="2750"/>
                  <a:ext cx="3972" cy="14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= 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−1 ,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7" y="2750"/>
                  <a:ext cx="3972" cy="144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9134" y="2970"/>
              <a:ext cx="300" cy="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125980" y="2587345"/>
            <a:ext cx="2151380" cy="1144270"/>
            <a:chOff x="2313" y="4082"/>
            <a:chExt cx="3388" cy="18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4"/>
                <p:cNvSpPr txBox="1"/>
                <p:nvPr/>
              </p:nvSpPr>
              <p:spPr>
                <a:xfrm>
                  <a:off x="2313" y="4082"/>
                  <a:ext cx="3388" cy="180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−1 =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den>
                        </m:f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8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" y="4082"/>
                  <a:ext cx="3388" cy="180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3509" y="5415"/>
              <a:ext cx="570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964430" y="2587345"/>
            <a:ext cx="2366010" cy="1198880"/>
            <a:chOff x="6783" y="4082"/>
            <a:chExt cx="3726" cy="18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5"/>
                <p:cNvSpPr txBox="1"/>
                <p:nvPr/>
              </p:nvSpPr>
              <p:spPr>
                <a:xfrm>
                  <a:off x="6783" y="4082"/>
                  <a:ext cx="3726" cy="1888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 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+1</m:t>
                            </m:r>
                          </m:num>
                          <m:den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3" y="4082"/>
                  <a:ext cx="3726" cy="188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9119" y="5505"/>
              <a:ext cx="570" cy="2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927033" y="3676967"/>
            <a:ext cx="2642235" cy="920750"/>
            <a:chOff x="6149" y="5667"/>
            <a:chExt cx="4161" cy="14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6"/>
                <p:cNvSpPr txBox="1"/>
                <p:nvPr/>
              </p:nvSpPr>
              <p:spPr>
                <a:xfrm>
                  <a:off x="6149" y="5667"/>
                  <a:ext cx="4161" cy="145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 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​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</m:num>
                          <m:den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𝑢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0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9" y="5667"/>
                  <a:ext cx="4161" cy="145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7589" y="6585"/>
              <a:ext cx="360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568065" y="4697727"/>
            <a:ext cx="4194810" cy="825500"/>
            <a:chOff x="5239" y="6957"/>
            <a:chExt cx="6606" cy="13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7"/>
                <p:cNvSpPr txBox="1"/>
                <p:nvPr/>
              </p:nvSpPr>
              <p:spPr>
                <a:xfrm>
                  <a:off x="5239" y="6957"/>
                  <a:ext cx="6606" cy="13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 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 −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</m:func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𝑢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+1|=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800" b="1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b="1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9" y="6957"/>
                  <a:ext cx="6606" cy="13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/>
            <p:cNvSpPr/>
            <p:nvPr/>
          </p:nvSpPr>
          <p:spPr>
            <a:xfrm>
              <a:off x="9179" y="7365"/>
              <a:ext cx="300" cy="3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899415" y="5426024"/>
            <a:ext cx="3081655" cy="720090"/>
            <a:chOff x="8159" y="7692"/>
            <a:chExt cx="4853" cy="11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8"/>
                <p:cNvSpPr txBox="1"/>
                <p:nvPr/>
              </p:nvSpPr>
              <p:spPr>
                <a:xfrm>
                  <a:off x="8159" y="7692"/>
                  <a:ext cx="4853" cy="1134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−1.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9" y="7692"/>
                  <a:ext cx="4853" cy="113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/>
            <p:cNvSpPr/>
            <p:nvPr/>
          </p:nvSpPr>
          <p:spPr>
            <a:xfrm>
              <a:off x="9974" y="8655"/>
              <a:ext cx="420" cy="1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58615302-E8B1-A272-2C46-5EF74A2B04D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664" y="2970960"/>
            <a:ext cx="2752903" cy="1940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2" grpId="0" animBg="1"/>
      <p:bldP spid="2304" grpId="0" animBg="1"/>
      <p:bldP spid="2306" grpId="0" animBg="1"/>
      <p:bldP spid="2308" grpId="0" animBg="1"/>
      <p:bldP spid="2310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106790" y="5331919"/>
            <a:ext cx="5507990" cy="849630"/>
            <a:chOff x="3427" y="7262"/>
            <a:chExt cx="8674" cy="13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对象 2"/>
                <p:cNvSpPr txBox="1"/>
                <p:nvPr/>
              </p:nvSpPr>
              <p:spPr>
                <a:xfrm>
                  <a:off x="3427" y="7262"/>
                  <a:ext cx="8674" cy="133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−[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(1+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)]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" y="7262"/>
                  <a:ext cx="8674" cy="133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矩形 25"/>
            <p:cNvSpPr/>
            <p:nvPr/>
          </p:nvSpPr>
          <p:spPr>
            <a:xfrm>
              <a:off x="6749" y="8235"/>
              <a:ext cx="480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12038" y="1780267"/>
            <a:ext cx="10367452" cy="1767840"/>
            <a:chOff x="1111" y="8181"/>
            <a:chExt cx="15031" cy="2784"/>
          </a:xfrm>
        </p:grpSpPr>
        <p:sp>
          <p:nvSpPr>
            <p:cNvPr id="15" name="Rectangle 1"/>
            <p:cNvSpPr/>
            <p:nvPr/>
          </p:nvSpPr>
          <p:spPr>
            <a:xfrm>
              <a:off x="1660" y="8181"/>
              <a:ext cx="14482" cy="2784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111" y="8865"/>
              <a:ext cx="1962" cy="1417"/>
              <a:chOff x="13276" y="1063965"/>
              <a:chExt cx="1882603" cy="900000"/>
            </a:xfrm>
          </p:grpSpPr>
          <p:sp>
            <p:nvSpPr>
              <p:cNvPr id="17" name="PA-102231"/>
              <p:cNvSpPr/>
              <p:nvPr>
                <p:custDataLst>
                  <p:tags r:id="rId1"/>
                </p:custDataLst>
              </p:nvPr>
            </p:nvSpPr>
            <p:spPr>
              <a:xfrm>
                <a:off x="13276" y="1063965"/>
                <a:ext cx="1882603" cy="90000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19" name="Rectangle 167"/>
              <p:cNvSpPr>
                <a:spLocks noChangeArrowheads="1"/>
              </p:cNvSpPr>
              <p:nvPr/>
            </p:nvSpPr>
            <p:spPr bwMode="auto">
              <a:xfrm>
                <a:off x="216037" y="1295823"/>
                <a:ext cx="1574468" cy="43062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1.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</p:grp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805835" y="946745"/>
            <a:ext cx="5976936" cy="584775"/>
          </a:xfrm>
          <a:prstGeom prst="rect">
            <a:avLst/>
          </a:prstGeom>
          <a:noFill/>
          <a:ln w="28575">
            <a:noFill/>
            <a:prstDash val="dashDot"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二、伯努利方程</a:t>
            </a:r>
          </a:p>
        </p:txBody>
      </p:sp>
      <p:sp>
        <p:nvSpPr>
          <p:cNvPr id="13" name="AutoShape 256"/>
          <p:cNvSpPr>
            <a:spLocks noChangeArrowheads="1"/>
          </p:cNvSpPr>
          <p:nvPr/>
        </p:nvSpPr>
        <p:spPr bwMode="auto">
          <a:xfrm>
            <a:off x="6500480" y="5389800"/>
            <a:ext cx="723791" cy="431800"/>
          </a:xfrm>
          <a:prstGeom prst="rightArrow">
            <a:avLst>
              <a:gd name="adj1" fmla="val 50000"/>
              <a:gd name="adj2" fmla="val 33316"/>
            </a:avLst>
          </a:prstGeom>
          <a:solidFill>
            <a:srgbClr val="04926A"/>
          </a:solidFill>
          <a:ln w="9525">
            <a:solidFill>
              <a:srgbClr val="04926A"/>
            </a:solidFill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1227031" y="3908884"/>
            <a:ext cx="986155" cy="450850"/>
            <a:chOff x="1553" y="3800"/>
            <a:chExt cx="1553" cy="710"/>
          </a:xfrm>
        </p:grpSpPr>
        <p:sp>
          <p:nvSpPr>
            <p:cNvPr id="21" name="圆角矩形 20"/>
            <p:cNvSpPr/>
            <p:nvPr/>
          </p:nvSpPr>
          <p:spPr>
            <a:xfrm>
              <a:off x="1553" y="3803"/>
              <a:ext cx="147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1668" y="3800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622728" y="1936946"/>
            <a:ext cx="1170940" cy="715010"/>
            <a:chOff x="3338" y="3420"/>
            <a:chExt cx="1844" cy="11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对象 1"/>
                <p:cNvSpPr txBox="1"/>
                <p:nvPr/>
              </p:nvSpPr>
              <p:spPr>
                <a:xfrm>
                  <a:off x="3338" y="3676"/>
                  <a:ext cx="1845" cy="87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形如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8" y="3676"/>
                  <a:ext cx="1845" cy="87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3629" y="3420"/>
              <a:ext cx="255" cy="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516173" y="1834076"/>
            <a:ext cx="5507990" cy="1373505"/>
            <a:chOff x="4745" y="3258"/>
            <a:chExt cx="8674" cy="2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6"/>
                <p:cNvSpPr txBox="1"/>
                <p:nvPr/>
              </p:nvSpPr>
              <p:spPr>
                <a:xfrm>
                  <a:off x="4745" y="3258"/>
                  <a:ext cx="8674" cy="2163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   (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≠0,1)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5" y="3258"/>
                  <a:ext cx="8674" cy="21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>
            <a:xfrm>
              <a:off x="5984" y="4575"/>
              <a:ext cx="465" cy="3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615885" y="2671641"/>
            <a:ext cx="3872230" cy="754380"/>
            <a:chOff x="12252" y="3390"/>
            <a:chExt cx="6098" cy="11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1"/>
                <p:cNvSpPr txBox="1"/>
                <p:nvPr/>
              </p:nvSpPr>
              <p:spPr>
                <a:xfrm>
                  <a:off x="12252" y="3708"/>
                  <a:ext cx="6098" cy="87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0"/>
                    </a:spcBef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的方程</m:t>
                        </m:r>
                        <m:r>
                          <a:rPr lang="zh-CN" altLang="en-US" sz="28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称</m:t>
                        </m:r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为</m:t>
                        </m:r>
                        <m:r>
                          <a:rPr lang="zh-CN" altLang="en-US" sz="2800" b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伯努</m:t>
                        </m:r>
                        <m:r>
                          <a:rPr lang="zh-CN" altLang="en-US" sz="2800" b="1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利</m:t>
                        </m:r>
                        <m:r>
                          <a:rPr lang="zh-CN" altLang="en-US" sz="2800" b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方程</m:t>
                        </m:r>
                        <m:r>
                          <a:rPr lang="en-US" altLang="zh-CN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lang="zh-CN" altLang="en-US" sz="2800" b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2" y="3708"/>
                  <a:ext cx="6098" cy="87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3484" y="3390"/>
              <a:ext cx="795" cy="1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16315" y="4588286"/>
            <a:ext cx="3109595" cy="883285"/>
            <a:chOff x="3442" y="6302"/>
            <a:chExt cx="4897" cy="1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10"/>
                <p:cNvSpPr txBox="1"/>
                <p:nvPr/>
              </p:nvSpPr>
              <p:spPr>
                <a:xfrm>
                  <a:off x="3442" y="6302"/>
                  <a:ext cx="4897" cy="1391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−3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2" y="6302"/>
                  <a:ext cx="4897" cy="139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 23"/>
            <p:cNvSpPr/>
            <p:nvPr/>
          </p:nvSpPr>
          <p:spPr>
            <a:xfrm>
              <a:off x="6929" y="6600"/>
              <a:ext cx="465" cy="2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463194" y="5105224"/>
            <a:ext cx="4297680" cy="1373505"/>
            <a:chOff x="12679" y="6905"/>
            <a:chExt cx="6768" cy="2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13"/>
                <p:cNvSpPr txBox="1"/>
                <p:nvPr/>
              </p:nvSpPr>
              <p:spPr>
                <a:xfrm>
                  <a:off x="12679" y="6905"/>
                  <a:ext cx="6768" cy="2163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(1+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对象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79" y="6905"/>
                  <a:ext cx="6768" cy="216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/>
            <p:cNvSpPr/>
            <p:nvPr/>
          </p:nvSpPr>
          <p:spPr>
            <a:xfrm>
              <a:off x="14984" y="8265"/>
              <a:ext cx="510" cy="3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sp>
          <p:nvSpPr>
            <p:cNvPr id="16" name="Rectangle 1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54" y="310"/>
              <a:ext cx="18493" cy="10167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7908C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711325" y="1501168"/>
            <a:ext cx="4787265" cy="514350"/>
            <a:chOff x="5015" y="2778"/>
            <a:chExt cx="7539" cy="8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2"/>
                <p:cNvSpPr txBox="1"/>
                <p:nvPr/>
              </p:nvSpPr>
              <p:spPr>
                <a:xfrm>
                  <a:off x="5015" y="2778"/>
                  <a:ext cx="6378" cy="81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以</m:t>
                        </m:r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除方程两边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" y="2778"/>
                  <a:ext cx="6378" cy="81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矩形 2"/>
            <p:cNvSpPr/>
            <p:nvPr/>
          </p:nvSpPr>
          <p:spPr>
            <a:xfrm>
              <a:off x="12284" y="3045"/>
              <a:ext cx="270" cy="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24" name="Rectangle 167"/>
          <p:cNvSpPr>
            <a:spLocks noChangeArrowheads="1"/>
          </p:cNvSpPr>
          <p:nvPr/>
        </p:nvSpPr>
        <p:spPr bwMode="auto">
          <a:xfrm>
            <a:off x="1813242" y="866461"/>
            <a:ext cx="1149354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解法</a:t>
            </a:r>
            <a:endParaRPr kumimoji="1"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AutoShape 58"/>
          <p:cNvSpPr>
            <a:spLocks noChangeArrowheads="1"/>
          </p:cNvSpPr>
          <p:nvPr/>
        </p:nvSpPr>
        <p:spPr bwMode="auto">
          <a:xfrm>
            <a:off x="7621849" y="4582287"/>
            <a:ext cx="1752600" cy="533400"/>
          </a:xfrm>
          <a:prstGeom prst="wedgeRectCallout">
            <a:avLst>
              <a:gd name="adj1" fmla="val -68449"/>
              <a:gd name="adj2" fmla="val 19626"/>
            </a:avLst>
          </a:prstGeom>
          <a:solidFill>
            <a:srgbClr val="04926A">
              <a:alpha val="42000"/>
            </a:srgbClr>
          </a:solidFill>
          <a:ln w="9525">
            <a:noFill/>
            <a:miter lim="800000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线性方程</a:t>
            </a:r>
          </a:p>
        </p:txBody>
      </p:sp>
      <p:sp>
        <p:nvSpPr>
          <p:cNvPr id="31" name="下箭头 30"/>
          <p:cNvSpPr/>
          <p:nvPr/>
        </p:nvSpPr>
        <p:spPr>
          <a:xfrm>
            <a:off x="2004695" y="3194545"/>
            <a:ext cx="205388" cy="1056918"/>
          </a:xfrm>
          <a:prstGeom prst="downArrow">
            <a:avLst>
              <a:gd name="adj1" fmla="val 50000"/>
              <a:gd name="adj2" fmla="val 151822"/>
            </a:avLst>
          </a:prstGeom>
          <a:solidFill>
            <a:srgbClr val="04926A"/>
          </a:solidFill>
          <a:ln>
            <a:solidFill>
              <a:srgbClr val="04926A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55258" y="5480431"/>
                <a:ext cx="340125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sym typeface="+mn-lt"/>
                  </a:rPr>
                  <a:t>求出此方程通解后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ea"/>
                      </a:rPr>
                      <m:t>,</m:t>
                    </m:r>
                  </m:oMath>
                </a14:m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258" y="5480431"/>
                <a:ext cx="3401254" cy="523220"/>
              </a:xfrm>
              <a:prstGeom prst="rect">
                <a:avLst/>
              </a:prstGeom>
              <a:blipFill>
                <a:blip r:embed="rId3"/>
                <a:stretch>
                  <a:fillRect l="-3763" t="-13953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4856431" y="5471287"/>
            <a:ext cx="5750292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换回原变量即得伯努利方程的通解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lt"/>
              </a:rPr>
              <a:t>.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09020" y="1501168"/>
            <a:ext cx="2286000" cy="627380"/>
            <a:chOff x="8521" y="2778"/>
            <a:chExt cx="3600" cy="9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对象 31"/>
                <p:cNvSpPr txBox="1"/>
                <p:nvPr/>
              </p:nvSpPr>
              <p:spPr>
                <a:xfrm>
                  <a:off x="8521" y="2778"/>
                  <a:ext cx="3600" cy="98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则原方程化为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2" name="对象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1" y="2778"/>
                  <a:ext cx="3600" cy="98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11459" y="3015"/>
              <a:ext cx="255" cy="2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737995" y="2201862"/>
            <a:ext cx="4886325" cy="909955"/>
            <a:chOff x="5057" y="3590"/>
            <a:chExt cx="7695" cy="14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1"/>
                <p:cNvSpPr txBox="1"/>
                <p:nvPr/>
              </p:nvSpPr>
              <p:spPr>
                <a:xfrm>
                  <a:off x="5057" y="3590"/>
                  <a:ext cx="7695" cy="1433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1−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)​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7" y="3590"/>
                  <a:ext cx="7695" cy="143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10394" y="4110"/>
              <a:ext cx="630" cy="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228850" y="3421379"/>
            <a:ext cx="4394200" cy="751840"/>
            <a:chOff x="5615" y="5281"/>
            <a:chExt cx="6920" cy="11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对象 21"/>
                <p:cNvSpPr txBox="1"/>
                <p:nvPr/>
              </p:nvSpPr>
              <p:spPr>
                <a:xfrm>
                  <a:off x="5615" y="5281"/>
                  <a:ext cx="6921" cy="1184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作变量代换</m:t>
                        </m:r>
                        <m:r>
                          <a:rPr lang="zh-CN" altLang="en-US" sz="28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1−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对象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5" y="5281"/>
                  <a:ext cx="6921" cy="118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6329" y="6030"/>
              <a:ext cx="975" cy="3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762625" y="3202304"/>
            <a:ext cx="4601210" cy="1136015"/>
            <a:chOff x="11180" y="4936"/>
            <a:chExt cx="7246" cy="17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3"/>
                <p:cNvSpPr txBox="1"/>
                <p:nvPr/>
              </p:nvSpPr>
              <p:spPr>
                <a:xfrm>
                  <a:off x="11180" y="4936"/>
                  <a:ext cx="7246" cy="178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则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=(1−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0" y="4936"/>
                  <a:ext cx="7246" cy="178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矩形 17"/>
            <p:cNvSpPr/>
            <p:nvPr/>
          </p:nvSpPr>
          <p:spPr>
            <a:xfrm>
              <a:off x="14999" y="5490"/>
              <a:ext cx="435" cy="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755140" y="4334192"/>
            <a:ext cx="5568950" cy="998220"/>
            <a:chOff x="5084" y="6948"/>
            <a:chExt cx="8770" cy="21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对象 26"/>
                <p:cNvSpPr txBox="1"/>
                <p:nvPr/>
              </p:nvSpPr>
              <p:spPr>
                <a:xfrm>
                  <a:off x="5084" y="6948"/>
                  <a:ext cx="8771" cy="2102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1−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</m:d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1−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</m:e>
                        </m:d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𝑄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</m:oMath>
                    </m:oMathPara>
                  </a14:m>
                  <a:endPara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对象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4" y="6948"/>
                  <a:ext cx="8771" cy="210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/>
            <p:cNvSpPr/>
            <p:nvPr/>
          </p:nvSpPr>
          <p:spPr>
            <a:xfrm>
              <a:off x="8039" y="7890"/>
              <a:ext cx="705" cy="4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31" grpId="0" animBg="1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4688840" y="2020692"/>
            <a:ext cx="26670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则方程变形为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3147238" y="3671949"/>
            <a:ext cx="20574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其通解为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3181956" y="5413735"/>
            <a:ext cx="685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将</a:t>
            </a:r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4471162" y="5413558"/>
            <a:ext cx="286639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代入</a:t>
            </a:r>
            <a:r>
              <a:rPr kumimoji="1" lang="en-US" altLang="zh-CN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r>
              <a:rPr kumimoji="1"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得原方程通解</a:t>
            </a:r>
            <a:r>
              <a:rPr kumimoji="1" lang="en-US" altLang="zh-CN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: </a:t>
            </a:r>
            <a:endParaRPr kumimoji="1" lang="en-US" altLang="zh-CN" sz="2200" i="1" dirty="0">
              <a:latin typeface="Cambria Math" panose="02040503050406030204" pitchFamily="18" charset="0"/>
              <a:ea typeface="黑体" panose="02010609060101010101" pitchFamily="49" charset="-122"/>
              <a:sym typeface="+mn-lt"/>
            </a:endParaRPr>
          </a:p>
        </p:txBody>
      </p:sp>
      <p:sp>
        <p:nvSpPr>
          <p:cNvPr id="24" name="Rectangle 93"/>
          <p:cNvSpPr>
            <a:spLocks noChangeArrowheads="1"/>
          </p:cNvSpPr>
          <p:nvPr/>
        </p:nvSpPr>
        <p:spPr bwMode="auto">
          <a:xfrm>
            <a:off x="2246839" y="1035876"/>
            <a:ext cx="908476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dirty="0"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263531" y="1972766"/>
            <a:ext cx="75001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55315" y="859316"/>
            <a:ext cx="6091555" cy="914400"/>
            <a:chOff x="4469" y="2273"/>
            <a:chExt cx="9593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1"/>
                <p:cNvSpPr txBox="1"/>
                <p:nvPr/>
              </p:nvSpPr>
              <p:spPr>
                <a:xfrm>
                  <a:off x="4469" y="2273"/>
                  <a:ext cx="9593" cy="14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求方程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b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en-US" altLang="zh-CN" sz="2800" b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b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b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r>
                          <a:rPr kumimoji="1" lang="en-US" altLang="zh-CN" sz="2800" b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b="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800" b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b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)​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b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的通解</m:t>
                        </m:r>
                        <m:r>
                          <a:rPr lang="zh-CN" altLang="en-US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lang="zh-CN" altLang="en-US" sz="2800" i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9" y="2273"/>
                  <a:ext cx="9593" cy="144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矩形 1"/>
            <p:cNvSpPr/>
            <p:nvPr/>
          </p:nvSpPr>
          <p:spPr>
            <a:xfrm>
              <a:off x="5039" y="2415"/>
              <a:ext cx="600" cy="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31568" y="2026769"/>
            <a:ext cx="1767840" cy="744220"/>
            <a:chOff x="4498" y="4122"/>
            <a:chExt cx="2784" cy="11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0" name="Object 6"/>
                <p:cNvSpPr txBox="1"/>
                <p:nvPr/>
              </p:nvSpPr>
              <p:spPr bwMode="auto">
                <a:xfrm>
                  <a:off x="4498" y="4122"/>
                  <a:ext cx="2784" cy="11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−1</m:t>
                            </m:r>
                          </m:sup>
                        </m:sSup>
                        <m: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i="1" dirty="0">
                    <a:latin typeface="黑体" panose="02010609060101010101" pitchFamily="49" charset="-122"/>
                    <a:ea typeface="黑体" panose="02010609060101010101" pitchFamily="49" charset="-122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2151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98" y="4122"/>
                  <a:ext cx="2784" cy="11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5009" y="4830"/>
              <a:ext cx="390" cy="2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411980" y="2570996"/>
            <a:ext cx="2831465" cy="965200"/>
            <a:chOff x="12614" y="3794"/>
            <a:chExt cx="4459" cy="15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2" name="Object 8"/>
                <p:cNvSpPr txBox="1"/>
                <p:nvPr/>
              </p:nvSpPr>
              <p:spPr bwMode="auto">
                <a:xfrm>
                  <a:off x="12873" y="3794"/>
                  <a:ext cx="4200" cy="1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=−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512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873" y="3794"/>
                  <a:ext cx="4200" cy="15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12614" y="4365"/>
              <a:ext cx="405" cy="3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576445" y="4487487"/>
            <a:ext cx="3542030" cy="688340"/>
            <a:chOff x="6720" y="6325"/>
            <a:chExt cx="5578" cy="10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2" name="Object 28"/>
                <p:cNvSpPr txBox="1"/>
                <p:nvPr/>
              </p:nvSpPr>
              <p:spPr bwMode="auto">
                <a:xfrm>
                  <a:off x="6720" y="6325"/>
                  <a:ext cx="5578" cy="10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1532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0" y="6325"/>
                  <a:ext cx="5578" cy="108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0319" y="6810"/>
              <a:ext cx="345" cy="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525012" y="5409875"/>
            <a:ext cx="1545590" cy="551180"/>
            <a:chOff x="5080" y="7456"/>
            <a:chExt cx="2434" cy="8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6" name="Object 12"/>
                <p:cNvSpPr txBox="1"/>
                <p:nvPr/>
              </p:nvSpPr>
              <p:spPr bwMode="auto">
                <a:xfrm>
                  <a:off x="5080" y="7456"/>
                  <a:ext cx="2435" cy="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51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80" y="7456"/>
                  <a:ext cx="2435" cy="80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5594" y="8100"/>
              <a:ext cx="120" cy="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216267" y="5264714"/>
            <a:ext cx="3200400" cy="850900"/>
            <a:chOff x="10893" y="7285"/>
            <a:chExt cx="5040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7" name="Object 13"/>
                <p:cNvSpPr txBox="1"/>
                <p:nvPr/>
              </p:nvSpPr>
              <p:spPr bwMode="auto">
                <a:xfrm>
                  <a:off x="10893" y="7285"/>
                  <a:ext cx="5040" cy="13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51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893" y="7285"/>
                  <a:ext cx="5040" cy="134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15059" y="7755"/>
              <a:ext cx="360" cy="3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</p:grpSp>
      <p:sp>
        <p:nvSpPr>
          <p:cNvPr id="37" name="Text Box 5">
            <a:extLst>
              <a:ext uri="{FF2B5EF4-FFF2-40B4-BE49-F238E27FC236}">
                <a16:creationId xmlns:a16="http://schemas.microsoft.com/office/drawing/2014/main" id="{99051983-513A-63D9-631F-B400FDED4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073" y="2019700"/>
            <a:ext cx="75001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令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6D899B1-29C6-4240-32ED-CC734EC44D2A}"/>
              </a:ext>
            </a:extLst>
          </p:cNvPr>
          <p:cNvGrpSpPr/>
          <p:nvPr/>
        </p:nvGrpSpPr>
        <p:grpSpPr>
          <a:xfrm>
            <a:off x="4576445" y="3517683"/>
            <a:ext cx="4351828" cy="753411"/>
            <a:chOff x="6867195" y="2409971"/>
            <a:chExt cx="4351828" cy="7534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AF56B04-3764-FA6E-B32B-374FCD0BF8CF}"/>
                    </a:ext>
                  </a:extLst>
                </p:cNvPr>
                <p:cNvSpPr txBox="1"/>
                <p:nvPr/>
              </p:nvSpPr>
              <p:spPr>
                <a:xfrm>
                  <a:off x="6867195" y="2409971"/>
                  <a:ext cx="4351828" cy="7534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e</m:t>
                        </m:r>
                        <m: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 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subHide m:val="on"/>
                                <m:sup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d>
                                  <m:d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  <m:func>
                                      <m:funcPr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e</m:t>
                                </m:r>
                                <m:r>
                                  <a:rPr kumimoji="1" lang="en-US" altLang="zh-CN" sz="22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d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𝐶</m:t>
                                </m:r>
                              </m:e>
                            </m:nary>
                          </m:e>
                        </m:d>
                      </m:oMath>
                    </m:oMathPara>
                  </a14:m>
                  <a:endParaRPr lang="zh-CN" altLang="en-US" sz="2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AF56B04-3764-FA6E-B32B-374FCD0BF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7195" y="2409971"/>
                  <a:ext cx="4351828" cy="75341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26">
                  <a:extLst>
                    <a:ext uri="{FF2B5EF4-FFF2-40B4-BE49-F238E27FC236}">
                      <a16:creationId xmlns:a16="http://schemas.microsoft.com/office/drawing/2014/main" id="{5B779426-F915-5731-0FF3-212D2C320701}"/>
                    </a:ext>
                  </a:extLst>
                </p:cNvPr>
                <p:cNvSpPr txBox="1"/>
                <p:nvPr/>
              </p:nvSpPr>
              <p:spPr bwMode="auto">
                <a:xfrm>
                  <a:off x="9560657" y="2429580"/>
                  <a:ext cx="652840" cy="3590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1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10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10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10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10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10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10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10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9" name="Object 26">
                  <a:extLst>
                    <a:ext uri="{FF2B5EF4-FFF2-40B4-BE49-F238E27FC236}">
                      <a16:creationId xmlns:a16="http://schemas.microsoft.com/office/drawing/2014/main" id="{5B779426-F915-5731-0FF3-212D2C3207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560657" y="2429580"/>
                  <a:ext cx="652840" cy="359032"/>
                </a:xfrm>
                <a:prstGeom prst="rect">
                  <a:avLst/>
                </a:prstGeom>
                <a:blipFill>
                  <a:blip r:embed="rId15"/>
                  <a:stretch>
                    <a:fillRect l="-55140" t="-176271" r="-70093" b="-27118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bject 26">
                  <a:extLst>
                    <a:ext uri="{FF2B5EF4-FFF2-40B4-BE49-F238E27FC236}">
                      <a16:creationId xmlns:a16="http://schemas.microsoft.com/office/drawing/2014/main" id="{63343024-333E-E297-90CC-22734140338C}"/>
                    </a:ext>
                  </a:extLst>
                </p:cNvPr>
                <p:cNvSpPr txBox="1"/>
                <p:nvPr/>
              </p:nvSpPr>
              <p:spPr bwMode="auto">
                <a:xfrm>
                  <a:off x="7491688" y="2429580"/>
                  <a:ext cx="652840" cy="3590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1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10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10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10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10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10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10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10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2" name="Object 26">
                  <a:extLst>
                    <a:ext uri="{FF2B5EF4-FFF2-40B4-BE49-F238E27FC236}">
                      <a16:creationId xmlns:a16="http://schemas.microsoft.com/office/drawing/2014/main" id="{63343024-333E-E297-90CC-227341403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491688" y="2429580"/>
                  <a:ext cx="652840" cy="359032"/>
                </a:xfrm>
                <a:prstGeom prst="rect">
                  <a:avLst/>
                </a:prstGeom>
                <a:blipFill>
                  <a:blip r:embed="rId16"/>
                  <a:stretch>
                    <a:fillRect l="-54206" t="-176271" r="-71028" b="-27118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  <p:bldP spid="21513" grpId="0"/>
      <p:bldP spid="21515" grpId="0"/>
      <p:bldP spid="21535" grpId="0" animBg="1"/>
      <p:bldP spid="26" grpId="0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FjMGUwZjZjNTMwOWVkMThkMTA2ZTEzN2IwYjkyMjMifQ=="/>
  <p:tag name="KSO_WPP_MARK_KEY" val="9b106a7b-c2c7-46a5-b243-3395419bd9c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1166</Words>
  <Application>Microsoft Office PowerPoint</Application>
  <PresentationFormat>宽屏</PresentationFormat>
  <Paragraphs>200</Paragraphs>
  <Slides>20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382</cp:revision>
  <dcterms:created xsi:type="dcterms:W3CDTF">2022-03-21T05:54:00Z</dcterms:created>
  <dcterms:modified xsi:type="dcterms:W3CDTF">2023-07-05T08:04:40Z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2052-11.1.0.11691</vt:lpwstr>
  </property>
</Properties>
</file>