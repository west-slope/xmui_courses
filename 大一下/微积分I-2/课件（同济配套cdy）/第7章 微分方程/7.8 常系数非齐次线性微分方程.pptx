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7" r:id="rId2"/>
    <p:sldId id="679" r:id="rId3"/>
    <p:sldId id="664" r:id="rId4"/>
    <p:sldId id="665" r:id="rId5"/>
    <p:sldId id="264" r:id="rId6"/>
    <p:sldId id="717" r:id="rId7"/>
    <p:sldId id="718" r:id="rId8"/>
    <p:sldId id="719" r:id="rId9"/>
    <p:sldId id="721" r:id="rId10"/>
    <p:sldId id="722" r:id="rId11"/>
    <p:sldId id="723" r:id="rId12"/>
    <p:sldId id="720" r:id="rId13"/>
    <p:sldId id="724" r:id="rId14"/>
    <p:sldId id="726" r:id="rId15"/>
    <p:sldId id="727" r:id="rId16"/>
    <p:sldId id="728" r:id="rId17"/>
    <p:sldId id="725" r:id="rId18"/>
    <p:sldId id="729" r:id="rId19"/>
    <p:sldId id="731" r:id="rId20"/>
    <p:sldId id="732" r:id="rId21"/>
    <p:sldId id="733" r:id="rId22"/>
    <p:sldId id="734" r:id="rId23"/>
    <p:sldId id="735" r:id="rId24"/>
    <p:sldId id="736" r:id="rId25"/>
    <p:sldId id="730" r:id="rId26"/>
    <p:sldId id="364" r:id="rId27"/>
  </p:sldIdLst>
  <p:sldSz cx="12192000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1708" userDrawn="1">
          <p15:clr>
            <a:srgbClr val="A4A3A4"/>
          </p15:clr>
        </p15:guide>
        <p15:guide id="2" orient="horz" pos="12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926A"/>
    <a:srgbClr val="9CA16A"/>
    <a:srgbClr val="78B28F"/>
    <a:srgbClr val="FFFFC2"/>
    <a:srgbClr val="96D1C0"/>
    <a:srgbClr val="3333CC"/>
    <a:srgbClr val="335AE6"/>
    <a:srgbClr val="4A7BA8"/>
    <a:srgbClr val="EEF9FE"/>
    <a:srgbClr val="019B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03" autoAdjust="0"/>
    <p:restoredTop sz="97078" autoAdjust="0"/>
  </p:normalViewPr>
  <p:slideViewPr>
    <p:cSldViewPr snapToGrid="0" showGuides="1">
      <p:cViewPr varScale="1">
        <p:scale>
          <a:sx n="77" d="100"/>
          <a:sy n="77" d="100"/>
        </p:scale>
        <p:origin x="324" y="68"/>
      </p:cViewPr>
      <p:guideLst>
        <p:guide pos="1708"/>
        <p:guide orient="horz" pos="12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/>
          <p:nvPr userDrawn="1"/>
        </p:nvSpPr>
        <p:spPr>
          <a:xfrm>
            <a:off x="297498" y="6546328"/>
            <a:ext cx="82948" cy="81477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"/>
          <p:cNvSpPr/>
          <p:nvPr userDrawn="1"/>
        </p:nvSpPr>
        <p:spPr>
          <a:xfrm rot="2659048">
            <a:off x="10114638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76885" y="6435090"/>
            <a:ext cx="4024630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第八节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常系数非齐次线性微分方程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连接符 9"/>
          <p:cNvCxnSpPr/>
          <p:nvPr userDrawn="1"/>
        </p:nvCxnSpPr>
        <p:spPr>
          <a:xfrm flipV="1">
            <a:off x="3500054" y="6575400"/>
            <a:ext cx="8712000" cy="124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 userDrawn="1"/>
        </p:nvCxnSpPr>
        <p:spPr>
          <a:xfrm>
            <a:off x="0" y="217369"/>
            <a:ext cx="9900000" cy="28338"/>
          </a:xfrm>
          <a:prstGeom prst="line">
            <a:avLst/>
          </a:prstGeom>
          <a:ln w="0"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0387590" y="112357"/>
            <a:ext cx="1585595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第七章  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微分方程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>
          <a:xfrm rot="2659048">
            <a:off x="9774913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0" y="217369"/>
            <a:ext cx="9508067" cy="28338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0030085" y="112357"/>
            <a:ext cx="17796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   函数与极限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/>
          <p:cNvSpPr/>
          <p:nvPr userDrawn="1"/>
        </p:nvSpPr>
        <p:spPr>
          <a:xfrm rot="2659048">
            <a:off x="9774913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0" y="217369"/>
            <a:ext cx="9508067" cy="28338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 userDrawn="1"/>
        </p:nvSpPr>
        <p:spPr>
          <a:xfrm>
            <a:off x="10030085" y="112357"/>
            <a:ext cx="17796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   函数与极限</a:t>
            </a:r>
          </a:p>
        </p:txBody>
      </p:sp>
      <p:sp>
        <p:nvSpPr>
          <p:cNvPr id="5" name="Rectangle 1"/>
          <p:cNvSpPr/>
          <p:nvPr userDrawn="1"/>
        </p:nvSpPr>
        <p:spPr>
          <a:xfrm>
            <a:off x="6096000" y="6338672"/>
            <a:ext cx="6100032" cy="516885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16200000" rotWithShape="0">
              <a:schemeClr val="bg1">
                <a:lumMod val="50000"/>
                <a:alpha val="55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1"/>
          <p:cNvSpPr/>
          <p:nvPr userDrawn="1"/>
        </p:nvSpPr>
        <p:spPr>
          <a:xfrm>
            <a:off x="0" y="6335487"/>
            <a:ext cx="3095897" cy="522514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16200000" rotWithShape="0">
              <a:schemeClr val="bg1">
                <a:lumMod val="50000"/>
                <a:alpha val="55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1"/>
          <p:cNvSpPr/>
          <p:nvPr userDrawn="1"/>
        </p:nvSpPr>
        <p:spPr>
          <a:xfrm>
            <a:off x="3095897" y="6335487"/>
            <a:ext cx="3000104" cy="52251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04926A"/>
            </a:solidFill>
            <a:prstDash val="solid"/>
            <a:miter lim="800000"/>
          </a:ln>
          <a:effectLst>
            <a:outerShdw blurRad="50800" dist="38100" dir="16200000" rotWithShape="0">
              <a:schemeClr val="bg1">
                <a:lumMod val="50000"/>
                <a:alpha val="55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1"/>
          <p:cNvSpPr/>
          <p:nvPr userDrawn="1"/>
        </p:nvSpPr>
        <p:spPr>
          <a:xfrm>
            <a:off x="6091968" y="7110185"/>
            <a:ext cx="6100032" cy="224344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1"/>
          <p:cNvSpPr/>
          <p:nvPr userDrawn="1"/>
        </p:nvSpPr>
        <p:spPr>
          <a:xfrm>
            <a:off x="-4032" y="7110186"/>
            <a:ext cx="3099929" cy="224344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"/>
          <p:cNvSpPr/>
          <p:nvPr userDrawn="1"/>
        </p:nvSpPr>
        <p:spPr>
          <a:xfrm>
            <a:off x="3095897" y="7110186"/>
            <a:ext cx="2996071" cy="22434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0492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文框 6"/>
          <p:cNvSpPr/>
          <p:nvPr userDrawn="1"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-1905"/>
            <a:ext cx="6996430" cy="6859905"/>
          </a:xfrm>
          <a:prstGeom prst="rect">
            <a:avLst/>
          </a:prstGeom>
        </p:spPr>
      </p:pic>
      <p:sp>
        <p:nvSpPr>
          <p:cNvPr id="9" name="Rectangle 1"/>
          <p:cNvSpPr/>
          <p:nvPr userDrawn="1"/>
        </p:nvSpPr>
        <p:spPr>
          <a:xfrm>
            <a:off x="0" y="-1270"/>
            <a:ext cx="12192000" cy="685863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矩形: 剪去对角 21"/>
          <p:cNvSpPr/>
          <p:nvPr userDrawn="1"/>
        </p:nvSpPr>
        <p:spPr>
          <a:xfrm>
            <a:off x="2496186" y="1627425"/>
            <a:ext cx="7199628" cy="3231673"/>
          </a:xfrm>
          <a:prstGeom prst="snip2DiagRect">
            <a:avLst>
              <a:gd name="adj1" fmla="val 0"/>
              <a:gd name="adj2" fmla="val 6393"/>
            </a:avLst>
          </a:prstGeom>
          <a:gradFill flip="none" rotWithShape="1">
            <a:gsLst>
              <a:gs pos="0">
                <a:schemeClr val="bg1"/>
              </a:gs>
              <a:gs pos="29000">
                <a:schemeClr val="bg1">
                  <a:alpha val="50000"/>
                </a:schemeClr>
              </a:gs>
              <a:gs pos="66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8100000" scaled="1"/>
            <a:tileRect/>
          </a:gradFill>
          <a:ln>
            <a:gradFill flip="none" rotWithShape="1">
              <a:gsLst>
                <a:gs pos="53000">
                  <a:srgbClr val="AA69D6"/>
                </a:gs>
                <a:gs pos="2419">
                  <a:srgbClr val="AC5FD4"/>
                </a:gs>
                <a:gs pos="26000">
                  <a:srgbClr val="AC5FD4"/>
                </a:gs>
                <a:gs pos="100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914015" y="2211408"/>
            <a:ext cx="636397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575945" algn="just">
              <a:lnSpc>
                <a:spcPct val="150000"/>
              </a:lnSpc>
            </a:pP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本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PPT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为高等教育出版社出版的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《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高等数学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》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（第八版）教材配套课件，仅供受赠老师本人用于“高等数学”课堂教学。未经许可，任何人不能进行任何其他方式的传播。</a:t>
            </a:r>
            <a:endParaRPr lang="zh-CN" altLang="en-US" sz="2200" kern="100" dirty="0">
              <a:solidFill>
                <a:prstClr val="black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方正大标宋简体" panose="02010601030101010101" charset="-122"/>
              <a:sym typeface="+mn-ea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4981488" y="5711355"/>
            <a:ext cx="2229025" cy="475907"/>
            <a:chOff x="3928951" y="7786292"/>
            <a:chExt cx="2663761" cy="568726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1954" y="7786292"/>
              <a:ext cx="2050758" cy="472171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8951" y="7804037"/>
              <a:ext cx="551568" cy="550981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4511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61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1.png"/><Relationship Id="rId11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9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10.png"/><Relationship Id="rId7" Type="http://schemas.openxmlformats.org/officeDocument/2006/relationships/image" Target="../media/image18.png"/><Relationship Id="rId2" Type="http://schemas.openxmlformats.org/officeDocument/2006/relationships/image" Target="../media/image13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1.png"/><Relationship Id="rId5" Type="http://schemas.openxmlformats.org/officeDocument/2006/relationships/image" Target="../media/image26.png"/><Relationship Id="rId10" Type="http://schemas.openxmlformats.org/officeDocument/2006/relationships/image" Target="../media/image290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3.png"/><Relationship Id="rId7" Type="http://schemas.openxmlformats.org/officeDocument/2006/relationships/image" Target="../media/image33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320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5.png"/><Relationship Id="rId7" Type="http://schemas.openxmlformats.org/officeDocument/2006/relationships/image" Target="../media/image3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50.png"/><Relationship Id="rId10" Type="http://schemas.openxmlformats.org/officeDocument/2006/relationships/image" Target="../media/image41.png"/><Relationship Id="rId4" Type="http://schemas.openxmlformats.org/officeDocument/2006/relationships/image" Target="../media/image36.png"/><Relationship Id="rId9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460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11" Type="http://schemas.openxmlformats.org/officeDocument/2006/relationships/image" Target="../media/image49.png"/><Relationship Id="rId5" Type="http://schemas.openxmlformats.org/officeDocument/2006/relationships/oleObject" Target="../embeddings/oleObject1.bin"/><Relationship Id="rId15" Type="http://schemas.openxmlformats.org/officeDocument/2006/relationships/image" Target="../media/image480.png"/><Relationship Id="rId10" Type="http://schemas.openxmlformats.org/officeDocument/2006/relationships/image" Target="../media/image48.png"/><Relationship Id="rId4" Type="http://schemas.openxmlformats.org/officeDocument/2006/relationships/image" Target="../media/image43.png"/><Relationship Id="rId9" Type="http://schemas.openxmlformats.org/officeDocument/2006/relationships/image" Target="../media/image47.png"/><Relationship Id="rId14" Type="http://schemas.openxmlformats.org/officeDocument/2006/relationships/image" Target="../media/image47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570.png"/><Relationship Id="rId18" Type="http://schemas.openxmlformats.org/officeDocument/2006/relationships/image" Target="../media/image510.png"/><Relationship Id="rId7" Type="http://schemas.openxmlformats.org/officeDocument/2006/relationships/image" Target="../media/image6.emf"/><Relationship Id="rId12" Type="http://schemas.openxmlformats.org/officeDocument/2006/relationships/image" Target="../media/image57.png"/><Relationship Id="rId17" Type="http://schemas.openxmlformats.org/officeDocument/2006/relationships/image" Target="../media/image61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56.png"/><Relationship Id="rId5" Type="http://schemas.openxmlformats.org/officeDocument/2006/relationships/image" Target="../media/image53.png"/><Relationship Id="rId15" Type="http://schemas.openxmlformats.org/officeDocument/2006/relationships/image" Target="../media/image59.png"/><Relationship Id="rId10" Type="http://schemas.openxmlformats.org/officeDocument/2006/relationships/image" Target="../media/image54.png"/><Relationship Id="rId19" Type="http://schemas.openxmlformats.org/officeDocument/2006/relationships/image" Target="../media/image62.png"/><Relationship Id="rId4" Type="http://schemas.openxmlformats.org/officeDocument/2006/relationships/image" Target="../media/image52.png"/><Relationship Id="rId9" Type="http://schemas.openxmlformats.org/officeDocument/2006/relationships/image" Target="../media/image530.png"/><Relationship Id="rId14" Type="http://schemas.openxmlformats.org/officeDocument/2006/relationships/image" Target="../media/image5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44.png"/><Relationship Id="rId7" Type="http://schemas.openxmlformats.org/officeDocument/2006/relationships/image" Target="../media/image63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610.png"/><Relationship Id="rId4" Type="http://schemas.openxmlformats.org/officeDocument/2006/relationships/image" Target="../media/image640.png"/><Relationship Id="rId9" Type="http://schemas.openxmlformats.org/officeDocument/2006/relationships/image" Target="../media/image67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9.png"/><Relationship Id="rId18" Type="http://schemas.openxmlformats.org/officeDocument/2006/relationships/image" Target="../media/image73.png"/><Relationship Id="rId7" Type="http://schemas.openxmlformats.org/officeDocument/2006/relationships/image" Target="../media/image440.png"/><Relationship Id="rId12" Type="http://schemas.openxmlformats.org/officeDocument/2006/relationships/image" Target="../media/image78.png"/><Relationship Id="rId17" Type="http://schemas.openxmlformats.org/officeDocument/2006/relationships/image" Target="../media/image690.png"/><Relationship Id="rId2" Type="http://schemas.openxmlformats.org/officeDocument/2006/relationships/image" Target="../media/image68.png"/><Relationship Id="rId16" Type="http://schemas.openxmlformats.org/officeDocument/2006/relationships/image" Target="../media/image8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11" Type="http://schemas.openxmlformats.org/officeDocument/2006/relationships/image" Target="../media/image77.png"/><Relationship Id="rId5" Type="http://schemas.openxmlformats.org/officeDocument/2006/relationships/image" Target="../media/image71.png"/><Relationship Id="rId15" Type="http://schemas.openxmlformats.org/officeDocument/2006/relationships/image" Target="../media/image81.png"/><Relationship Id="rId10" Type="http://schemas.openxmlformats.org/officeDocument/2006/relationships/image" Target="../media/image69.png"/><Relationship Id="rId19" Type="http://schemas.openxmlformats.org/officeDocument/2006/relationships/image" Target="../media/image74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Relationship Id="rId14" Type="http://schemas.openxmlformats.org/officeDocument/2006/relationships/image" Target="../media/image8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730.png"/><Relationship Id="rId7" Type="http://schemas.openxmlformats.org/officeDocument/2006/relationships/image" Target="../media/image8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0.png"/><Relationship Id="rId11" Type="http://schemas.openxmlformats.org/officeDocument/2006/relationships/image" Target="../media/image87.png"/><Relationship Id="rId5" Type="http://schemas.openxmlformats.org/officeDocument/2006/relationships/image" Target="../media/image780.png"/><Relationship Id="rId10" Type="http://schemas.openxmlformats.org/officeDocument/2006/relationships/image" Target="../media/image86.png"/><Relationship Id="rId4" Type="http://schemas.openxmlformats.org/officeDocument/2006/relationships/image" Target="../media/image76.png"/><Relationship Id="rId9" Type="http://schemas.openxmlformats.org/officeDocument/2006/relationships/image" Target="../media/image8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3" Type="http://schemas.openxmlformats.org/officeDocument/2006/relationships/image" Target="../media/image860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0.png"/><Relationship Id="rId11" Type="http://schemas.openxmlformats.org/officeDocument/2006/relationships/image" Target="../media/image92.png"/><Relationship Id="rId5" Type="http://schemas.openxmlformats.org/officeDocument/2006/relationships/image" Target="../media/image89.png"/><Relationship Id="rId15" Type="http://schemas.openxmlformats.org/officeDocument/2006/relationships/image" Target="../media/image102.png"/><Relationship Id="rId10" Type="http://schemas.openxmlformats.org/officeDocument/2006/relationships/image" Target="../media/image93.png"/><Relationship Id="rId4" Type="http://schemas.openxmlformats.org/officeDocument/2006/relationships/image" Target="../media/image88.png"/><Relationship Id="rId9" Type="http://schemas.openxmlformats.org/officeDocument/2006/relationships/image" Target="../media/image900.png"/><Relationship Id="rId14" Type="http://schemas.openxmlformats.org/officeDocument/2006/relationships/image" Target="../media/image9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3" Type="http://schemas.openxmlformats.org/officeDocument/2006/relationships/image" Target="../media/image98.png"/><Relationship Id="rId7" Type="http://schemas.openxmlformats.org/officeDocument/2006/relationships/image" Target="../media/image105.png"/><Relationship Id="rId12" Type="http://schemas.openxmlformats.org/officeDocument/2006/relationships/image" Target="../media/image99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1.png"/><Relationship Id="rId11" Type="http://schemas.openxmlformats.org/officeDocument/2006/relationships/image" Target="../media/image103.png"/><Relationship Id="rId5" Type="http://schemas.openxmlformats.org/officeDocument/2006/relationships/image" Target="../media/image100.png"/><Relationship Id="rId10" Type="http://schemas.openxmlformats.org/officeDocument/2006/relationships/image" Target="../media/image94.png"/><Relationship Id="rId4" Type="http://schemas.openxmlformats.org/officeDocument/2006/relationships/image" Target="../media/image99.png"/><Relationship Id="rId9" Type="http://schemas.openxmlformats.org/officeDocument/2006/relationships/image" Target="../media/image10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7" Type="http://schemas.openxmlformats.org/officeDocument/2006/relationships/image" Target="../media/image113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2.png"/><Relationship Id="rId5" Type="http://schemas.openxmlformats.org/officeDocument/2006/relationships/image" Target="../media/image108.png"/><Relationship Id="rId4" Type="http://schemas.openxmlformats.org/officeDocument/2006/relationships/image" Target="../media/image10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13" Type="http://schemas.openxmlformats.org/officeDocument/2006/relationships/image" Target="../media/image124.png"/><Relationship Id="rId18" Type="http://schemas.openxmlformats.org/officeDocument/2006/relationships/image" Target="../media/image1180.png"/><Relationship Id="rId3" Type="http://schemas.openxmlformats.org/officeDocument/2006/relationships/image" Target="../media/image110.png"/><Relationship Id="rId7" Type="http://schemas.openxmlformats.org/officeDocument/2006/relationships/image" Target="../media/image1150.png"/><Relationship Id="rId12" Type="http://schemas.openxmlformats.org/officeDocument/2006/relationships/image" Target="../media/image115.png"/><Relationship Id="rId17" Type="http://schemas.openxmlformats.org/officeDocument/2006/relationships/image" Target="../media/image123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7.png"/><Relationship Id="rId11" Type="http://schemas.openxmlformats.org/officeDocument/2006/relationships/image" Target="../media/image114.png"/><Relationship Id="rId5" Type="http://schemas.openxmlformats.org/officeDocument/2006/relationships/image" Target="../media/image116.png"/><Relationship Id="rId15" Type="http://schemas.openxmlformats.org/officeDocument/2006/relationships/image" Target="../media/image126.png"/><Relationship Id="rId10" Type="http://schemas.openxmlformats.org/officeDocument/2006/relationships/image" Target="../media/image121.png"/><Relationship Id="rId4" Type="http://schemas.openxmlformats.org/officeDocument/2006/relationships/image" Target="../media/image1100.png"/><Relationship Id="rId9" Type="http://schemas.openxmlformats.org/officeDocument/2006/relationships/image" Target="../media/image120.png"/><Relationship Id="rId14" Type="http://schemas.openxmlformats.org/officeDocument/2006/relationships/image" Target="../media/image12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13" Type="http://schemas.openxmlformats.org/officeDocument/2006/relationships/image" Target="../media/image129.png"/><Relationship Id="rId3" Type="http://schemas.openxmlformats.org/officeDocument/2006/relationships/image" Target="../media/image127.png"/><Relationship Id="rId7" Type="http://schemas.openxmlformats.org/officeDocument/2006/relationships/image" Target="../media/image125.png"/><Relationship Id="rId12" Type="http://schemas.openxmlformats.org/officeDocument/2006/relationships/image" Target="../media/image1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0.png"/><Relationship Id="rId11" Type="http://schemas.openxmlformats.org/officeDocument/2006/relationships/image" Target="../media/image137.png"/><Relationship Id="rId5" Type="http://schemas.openxmlformats.org/officeDocument/2006/relationships/image" Target="../media/image132.png"/><Relationship Id="rId10" Type="http://schemas.openxmlformats.org/officeDocument/2006/relationships/image" Target="../media/image136.png"/><Relationship Id="rId4" Type="http://schemas.openxmlformats.org/officeDocument/2006/relationships/image" Target="../media/image131.png"/><Relationship Id="rId9" Type="http://schemas.openxmlformats.org/officeDocument/2006/relationships/image" Target="../media/image1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7" Type="http://schemas.openxmlformats.org/officeDocument/2006/relationships/image" Target="../media/image13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0.png"/><Relationship Id="rId5" Type="http://schemas.openxmlformats.org/officeDocument/2006/relationships/image" Target="../media/image133.png"/><Relationship Id="rId4" Type="http://schemas.openxmlformats.org/officeDocument/2006/relationships/image" Target="../media/image13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0.png"/><Relationship Id="rId3" Type="http://schemas.openxmlformats.org/officeDocument/2006/relationships/image" Target="../media/image141.png"/><Relationship Id="rId7" Type="http://schemas.openxmlformats.org/officeDocument/2006/relationships/image" Target="../media/image1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4.png"/><Relationship Id="rId5" Type="http://schemas.openxmlformats.org/officeDocument/2006/relationships/image" Target="../media/image143.png"/><Relationship Id="rId10" Type="http://schemas.openxmlformats.org/officeDocument/2006/relationships/image" Target="../media/image146.png"/><Relationship Id="rId4" Type="http://schemas.openxmlformats.org/officeDocument/2006/relationships/image" Target="../media/image142.png"/><Relationship Id="rId9" Type="http://schemas.openxmlformats.org/officeDocument/2006/relationships/image" Target="../media/image14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3" Type="http://schemas.openxmlformats.org/officeDocument/2006/relationships/image" Target="../media/image148.png"/><Relationship Id="rId7" Type="http://schemas.openxmlformats.org/officeDocument/2006/relationships/image" Target="../media/image15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1.png"/><Relationship Id="rId5" Type="http://schemas.openxmlformats.org/officeDocument/2006/relationships/image" Target="../media/image150.png"/><Relationship Id="rId4" Type="http://schemas.openxmlformats.org/officeDocument/2006/relationships/image" Target="../media/image149.png"/><Relationship Id="rId9" Type="http://schemas.openxmlformats.org/officeDocument/2006/relationships/image" Target="../media/image15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jpeg"/><Relationship Id="rId3" Type="http://schemas.openxmlformats.org/officeDocument/2006/relationships/image" Target="../media/image155.png"/><Relationship Id="rId7" Type="http://schemas.openxmlformats.org/officeDocument/2006/relationships/image" Target="../media/image15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7.png"/><Relationship Id="rId5" Type="http://schemas.openxmlformats.org/officeDocument/2006/relationships/image" Target="../media/image157.png"/><Relationship Id="rId4" Type="http://schemas.openxmlformats.org/officeDocument/2006/relationships/image" Target="../media/image15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png"/><Relationship Id="rId3" Type="http://schemas.openxmlformats.org/officeDocument/2006/relationships/image" Target="../media/image1610.png"/><Relationship Id="rId7" Type="http://schemas.openxmlformats.org/officeDocument/2006/relationships/image" Target="../media/image16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4.png"/><Relationship Id="rId5" Type="http://schemas.openxmlformats.org/officeDocument/2006/relationships/image" Target="../media/image163.png"/><Relationship Id="rId4" Type="http://schemas.openxmlformats.org/officeDocument/2006/relationships/image" Target="../media/image162.png"/><Relationship Id="rId9" Type="http://schemas.openxmlformats.org/officeDocument/2006/relationships/image" Target="../media/image16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0.png"/><Relationship Id="rId3" Type="http://schemas.openxmlformats.org/officeDocument/2006/relationships/image" Target="../media/image16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0.png"/><Relationship Id="rId4" Type="http://schemas.openxmlformats.org/officeDocument/2006/relationships/image" Target="../media/image169.png"/><Relationship Id="rId9" Type="http://schemas.openxmlformats.org/officeDocument/2006/relationships/image" Target="../media/image65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"/>
            <a:ext cx="12192000" cy="6871855"/>
          </a:xfrm>
          <a:prstGeom prst="rect">
            <a:avLst/>
          </a:prstGeom>
        </p:spPr>
      </p:pic>
      <p:sp>
        <p:nvSpPr>
          <p:cNvPr id="9" name="图文框 8">
            <a:extLst>
              <a:ext uri="{FF2B5EF4-FFF2-40B4-BE49-F238E27FC236}">
                <a16:creationId xmlns:a16="http://schemas.microsoft.com/office/drawing/2014/main" id="{7E27F1AC-AD87-4217-935F-6A5D24FFC9D3}"/>
              </a:ext>
            </a:extLst>
          </p:cNvPr>
          <p:cNvSpPr/>
          <p:nvPr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93397C8-B2D9-4E67-AF1E-E82D608FF52A}"/>
              </a:ext>
            </a:extLst>
          </p:cNvPr>
          <p:cNvSpPr/>
          <p:nvPr/>
        </p:nvSpPr>
        <p:spPr>
          <a:xfrm>
            <a:off x="0" y="1312540"/>
            <a:ext cx="11144250" cy="356426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12">
            <a:extLst>
              <a:ext uri="{FF2B5EF4-FFF2-40B4-BE49-F238E27FC236}">
                <a16:creationId xmlns:a16="http://schemas.microsoft.com/office/drawing/2014/main" id="{A78A399D-A9FF-4852-908C-0BB3167A460B}"/>
              </a:ext>
            </a:extLst>
          </p:cNvPr>
          <p:cNvSpPr txBox="1"/>
          <p:nvPr/>
        </p:nvSpPr>
        <p:spPr>
          <a:xfrm>
            <a:off x="5524507" y="2152682"/>
            <a:ext cx="51090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9600" b="1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高等数学</a:t>
            </a:r>
            <a:endParaRPr lang="en-US" altLang="zh-CN" sz="96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2">
            <a:extLst>
              <a:ext uri="{FF2B5EF4-FFF2-40B4-BE49-F238E27FC236}">
                <a16:creationId xmlns:a16="http://schemas.microsoft.com/office/drawing/2014/main" id="{0EBEB345-2912-4E4B-832E-6FF90E594A59}"/>
              </a:ext>
            </a:extLst>
          </p:cNvPr>
          <p:cNvSpPr txBox="1"/>
          <p:nvPr/>
        </p:nvSpPr>
        <p:spPr>
          <a:xfrm>
            <a:off x="9118170" y="370352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3200" b="1" dirty="0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第八版</a:t>
            </a:r>
            <a:endParaRPr lang="en-US" altLang="zh-CN" sz="32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6533888-24AB-4B09-992C-9E7FBB903E1A}"/>
              </a:ext>
            </a:extLst>
          </p:cNvPr>
          <p:cNvSpPr txBox="1"/>
          <p:nvPr/>
        </p:nvSpPr>
        <p:spPr>
          <a:xfrm>
            <a:off x="6783949" y="5176128"/>
            <a:ext cx="36726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同济大学数学科学学院   编</a:t>
            </a:r>
          </a:p>
        </p:txBody>
      </p:sp>
    </p:spTree>
    <p:extLst>
      <p:ext uri="{BB962C8B-B14F-4D97-AF65-F5344CB8AC3E}">
        <p14:creationId xmlns:p14="http://schemas.microsoft.com/office/powerpoint/2010/main" val="1170592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/>
          <p:nvPr/>
        </p:nvSpPr>
        <p:spPr>
          <a:xfrm flipH="1">
            <a:off x="0" y="0"/>
            <a:ext cx="12192000" cy="687299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89305" y="2369185"/>
            <a:ext cx="11083290" cy="450405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29285" y="2499995"/>
            <a:ext cx="10923270" cy="437324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87045" y="2640330"/>
            <a:ext cx="10746105" cy="4232910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/>
        </p:nvSpPr>
        <p:spPr>
          <a:xfrm flipH="1">
            <a:off x="4914237" y="3160432"/>
            <a:ext cx="1784904" cy="429397"/>
          </a:xfrm>
          <a:custGeom>
            <a:avLst/>
            <a:gdLst/>
            <a:ahLst/>
            <a:cxnLst/>
            <a:rect l="l" t="t" r="r" b="b"/>
            <a:pathLst>
              <a:path w="1784904" h="429397">
                <a:moveTo>
                  <a:pt x="326672" y="316347"/>
                </a:moveTo>
                <a:cubicBezTo>
                  <a:pt x="322782" y="316737"/>
                  <a:pt x="318710" y="321188"/>
                  <a:pt x="314454" y="329699"/>
                </a:cubicBezTo>
                <a:cubicBezTo>
                  <a:pt x="309673" y="355056"/>
                  <a:pt x="310417" y="375966"/>
                  <a:pt x="316687" y="392430"/>
                </a:cubicBezTo>
                <a:cubicBezTo>
                  <a:pt x="326956" y="411666"/>
                  <a:pt x="343187" y="421926"/>
                  <a:pt x="365381" y="423210"/>
                </a:cubicBezTo>
                <a:cubicBezTo>
                  <a:pt x="383985" y="421777"/>
                  <a:pt x="393287" y="411824"/>
                  <a:pt x="393287" y="393351"/>
                </a:cubicBezTo>
                <a:cubicBezTo>
                  <a:pt x="393287" y="384012"/>
                  <a:pt x="384450" y="374934"/>
                  <a:pt x="366777" y="366116"/>
                </a:cubicBezTo>
                <a:cubicBezTo>
                  <a:pt x="348062" y="355102"/>
                  <a:pt x="337634" y="344787"/>
                  <a:pt x="335495" y="335169"/>
                </a:cubicBezTo>
                <a:cubicBezTo>
                  <a:pt x="334286" y="325439"/>
                  <a:pt x="332621" y="319486"/>
                  <a:pt x="330500" y="317309"/>
                </a:cubicBezTo>
                <a:cubicBezTo>
                  <a:pt x="329244" y="316537"/>
                  <a:pt x="327968" y="316216"/>
                  <a:pt x="326672" y="316347"/>
                </a:cubicBezTo>
                <a:close/>
                <a:moveTo>
                  <a:pt x="90072" y="314517"/>
                </a:moveTo>
                <a:cubicBezTo>
                  <a:pt x="88181" y="314481"/>
                  <a:pt x="85529" y="315049"/>
                  <a:pt x="82115" y="316221"/>
                </a:cubicBezTo>
                <a:cubicBezTo>
                  <a:pt x="78822" y="316221"/>
                  <a:pt x="74432" y="316919"/>
                  <a:pt x="68944" y="318314"/>
                </a:cubicBezTo>
                <a:cubicBezTo>
                  <a:pt x="41001" y="328025"/>
                  <a:pt x="20240" y="340294"/>
                  <a:pt x="6659" y="355121"/>
                </a:cubicBezTo>
                <a:cubicBezTo>
                  <a:pt x="-7721" y="387658"/>
                  <a:pt x="1190" y="408606"/>
                  <a:pt x="33393" y="417964"/>
                </a:cubicBezTo>
                <a:cubicBezTo>
                  <a:pt x="52480" y="417964"/>
                  <a:pt x="62712" y="406969"/>
                  <a:pt x="64088" y="384980"/>
                </a:cubicBezTo>
                <a:cubicBezTo>
                  <a:pt x="65205" y="364051"/>
                  <a:pt x="72683" y="346107"/>
                  <a:pt x="86524" y="331150"/>
                </a:cubicBezTo>
                <a:cubicBezTo>
                  <a:pt x="94561" y="320170"/>
                  <a:pt x="95743" y="314625"/>
                  <a:pt x="90072" y="314517"/>
                </a:cubicBezTo>
                <a:close/>
                <a:moveTo>
                  <a:pt x="187597" y="314463"/>
                </a:moveTo>
                <a:cubicBezTo>
                  <a:pt x="184025" y="314463"/>
                  <a:pt x="177449" y="315663"/>
                  <a:pt x="167868" y="318063"/>
                </a:cubicBezTo>
                <a:cubicBezTo>
                  <a:pt x="140149" y="326881"/>
                  <a:pt x="121899" y="339420"/>
                  <a:pt x="113118" y="355679"/>
                </a:cubicBezTo>
                <a:cubicBezTo>
                  <a:pt x="103630" y="385742"/>
                  <a:pt x="112662" y="404169"/>
                  <a:pt x="140214" y="410959"/>
                </a:cubicBezTo>
                <a:cubicBezTo>
                  <a:pt x="159506" y="410959"/>
                  <a:pt x="169152" y="398086"/>
                  <a:pt x="169152" y="372338"/>
                </a:cubicBezTo>
                <a:cubicBezTo>
                  <a:pt x="169152" y="352712"/>
                  <a:pt x="173217" y="338322"/>
                  <a:pt x="181346" y="329169"/>
                </a:cubicBezTo>
                <a:cubicBezTo>
                  <a:pt x="188397" y="323941"/>
                  <a:pt x="190481" y="319039"/>
                  <a:pt x="187597" y="314463"/>
                </a:cubicBezTo>
                <a:close/>
                <a:moveTo>
                  <a:pt x="277968" y="311505"/>
                </a:moveTo>
                <a:cubicBezTo>
                  <a:pt x="274629" y="311868"/>
                  <a:pt x="269620" y="313003"/>
                  <a:pt x="262941" y="314909"/>
                </a:cubicBezTo>
                <a:cubicBezTo>
                  <a:pt x="234701" y="328434"/>
                  <a:pt x="216898" y="342564"/>
                  <a:pt x="209531" y="357298"/>
                </a:cubicBezTo>
                <a:cubicBezTo>
                  <a:pt x="198815" y="387528"/>
                  <a:pt x="209121" y="406002"/>
                  <a:pt x="240450" y="412717"/>
                </a:cubicBezTo>
                <a:cubicBezTo>
                  <a:pt x="260616" y="411285"/>
                  <a:pt x="269536" y="397118"/>
                  <a:pt x="267211" y="370218"/>
                </a:cubicBezTo>
                <a:cubicBezTo>
                  <a:pt x="264867" y="350610"/>
                  <a:pt x="266634" y="337485"/>
                  <a:pt x="272513" y="330843"/>
                </a:cubicBezTo>
                <a:cubicBezTo>
                  <a:pt x="280643" y="318770"/>
                  <a:pt x="284131" y="312733"/>
                  <a:pt x="282977" y="312733"/>
                </a:cubicBezTo>
                <a:cubicBezTo>
                  <a:pt x="282977" y="311551"/>
                  <a:pt x="281308" y="311142"/>
                  <a:pt x="277968" y="311505"/>
                </a:cubicBezTo>
                <a:close/>
                <a:moveTo>
                  <a:pt x="637411" y="288371"/>
                </a:moveTo>
                <a:lnTo>
                  <a:pt x="637411" y="330229"/>
                </a:lnTo>
                <a:lnTo>
                  <a:pt x="576578" y="330229"/>
                </a:lnTo>
                <a:lnTo>
                  <a:pt x="560588" y="304138"/>
                </a:lnTo>
                <a:cubicBezTo>
                  <a:pt x="576922" y="307635"/>
                  <a:pt x="584503" y="302380"/>
                  <a:pt x="583331" y="288371"/>
                </a:cubicBezTo>
                <a:close/>
                <a:moveTo>
                  <a:pt x="1182178" y="241100"/>
                </a:moveTo>
                <a:lnTo>
                  <a:pt x="1182178" y="272438"/>
                </a:lnTo>
                <a:lnTo>
                  <a:pt x="1049293" y="272438"/>
                </a:lnTo>
                <a:lnTo>
                  <a:pt x="1049293" y="241100"/>
                </a:lnTo>
                <a:close/>
                <a:moveTo>
                  <a:pt x="637411" y="225333"/>
                </a:moveTo>
                <a:lnTo>
                  <a:pt x="637411" y="270707"/>
                </a:lnTo>
                <a:lnTo>
                  <a:pt x="583331" y="270707"/>
                </a:lnTo>
                <a:lnTo>
                  <a:pt x="583331" y="225333"/>
                </a:lnTo>
                <a:close/>
                <a:moveTo>
                  <a:pt x="752995" y="225333"/>
                </a:moveTo>
                <a:lnTo>
                  <a:pt x="752995" y="268949"/>
                </a:lnTo>
                <a:lnTo>
                  <a:pt x="697157" y="268949"/>
                </a:lnTo>
                <a:lnTo>
                  <a:pt x="697157" y="225333"/>
                </a:lnTo>
                <a:close/>
                <a:moveTo>
                  <a:pt x="1170514" y="197317"/>
                </a:moveTo>
                <a:cubicBezTo>
                  <a:pt x="1180616" y="196163"/>
                  <a:pt x="1184504" y="199679"/>
                  <a:pt x="1182178" y="207865"/>
                </a:cubicBezTo>
                <a:lnTo>
                  <a:pt x="1182178" y="225166"/>
                </a:lnTo>
                <a:lnTo>
                  <a:pt x="1049293" y="225166"/>
                </a:lnTo>
                <a:lnTo>
                  <a:pt x="1049293" y="197317"/>
                </a:lnTo>
                <a:close/>
                <a:moveTo>
                  <a:pt x="1604553" y="188582"/>
                </a:moveTo>
                <a:cubicBezTo>
                  <a:pt x="1622710" y="230459"/>
                  <a:pt x="1648327" y="264252"/>
                  <a:pt x="1681404" y="289962"/>
                </a:cubicBezTo>
                <a:lnTo>
                  <a:pt x="1604553" y="289962"/>
                </a:lnTo>
                <a:close/>
                <a:moveTo>
                  <a:pt x="250830" y="181578"/>
                </a:moveTo>
                <a:cubicBezTo>
                  <a:pt x="259276" y="182415"/>
                  <a:pt x="263499" y="185299"/>
                  <a:pt x="263499" y="190229"/>
                </a:cubicBezTo>
                <a:lnTo>
                  <a:pt x="263499" y="261945"/>
                </a:lnTo>
                <a:lnTo>
                  <a:pt x="132373" y="261945"/>
                </a:lnTo>
                <a:lnTo>
                  <a:pt x="132373" y="181578"/>
                </a:lnTo>
                <a:close/>
                <a:moveTo>
                  <a:pt x="737759" y="165812"/>
                </a:moveTo>
                <a:cubicBezTo>
                  <a:pt x="750242" y="164639"/>
                  <a:pt x="755321" y="168156"/>
                  <a:pt x="752995" y="176360"/>
                </a:cubicBezTo>
                <a:lnTo>
                  <a:pt x="752995" y="209400"/>
                </a:lnTo>
                <a:lnTo>
                  <a:pt x="697157" y="209400"/>
                </a:lnTo>
                <a:lnTo>
                  <a:pt x="697157" y="165812"/>
                </a:lnTo>
                <a:close/>
                <a:moveTo>
                  <a:pt x="1229548" y="165184"/>
                </a:moveTo>
                <a:cubicBezTo>
                  <a:pt x="1224915" y="165677"/>
                  <a:pt x="1219311" y="167783"/>
                  <a:pt x="1212735" y="171504"/>
                </a:cubicBezTo>
                <a:cubicBezTo>
                  <a:pt x="1199340" y="177085"/>
                  <a:pt x="1189118" y="180378"/>
                  <a:pt x="1182067" y="181383"/>
                </a:cubicBezTo>
                <a:lnTo>
                  <a:pt x="1049991" y="181383"/>
                </a:lnTo>
                <a:cubicBezTo>
                  <a:pt x="1052707" y="181364"/>
                  <a:pt x="1054214" y="180611"/>
                  <a:pt x="1054512" y="179122"/>
                </a:cubicBezTo>
                <a:cubicBezTo>
                  <a:pt x="1050121" y="171793"/>
                  <a:pt x="1044559" y="167300"/>
                  <a:pt x="1037824" y="165644"/>
                </a:cubicBezTo>
                <a:cubicBezTo>
                  <a:pt x="1010607" y="166909"/>
                  <a:pt x="988683" y="177913"/>
                  <a:pt x="972052" y="198656"/>
                </a:cubicBezTo>
                <a:cubicBezTo>
                  <a:pt x="973745" y="204423"/>
                  <a:pt x="977075" y="209790"/>
                  <a:pt x="982042" y="214757"/>
                </a:cubicBezTo>
                <a:cubicBezTo>
                  <a:pt x="983549" y="217008"/>
                  <a:pt x="984302" y="218171"/>
                  <a:pt x="984302" y="218246"/>
                </a:cubicBezTo>
                <a:lnTo>
                  <a:pt x="984302" y="283962"/>
                </a:lnTo>
                <a:cubicBezTo>
                  <a:pt x="983130" y="303068"/>
                  <a:pt x="995790" y="313300"/>
                  <a:pt x="1022281" y="314658"/>
                </a:cubicBezTo>
                <a:cubicBezTo>
                  <a:pt x="1043787" y="318156"/>
                  <a:pt x="1052791" y="312119"/>
                  <a:pt x="1049293" y="296548"/>
                </a:cubicBezTo>
                <a:lnTo>
                  <a:pt x="1049293" y="290130"/>
                </a:lnTo>
                <a:lnTo>
                  <a:pt x="1080715" y="290130"/>
                </a:lnTo>
                <a:cubicBezTo>
                  <a:pt x="1086482" y="290130"/>
                  <a:pt x="1088193" y="293599"/>
                  <a:pt x="1085849" y="300538"/>
                </a:cubicBezTo>
                <a:lnTo>
                  <a:pt x="1085849" y="326741"/>
                </a:lnTo>
                <a:lnTo>
                  <a:pt x="998422" y="326741"/>
                </a:lnTo>
                <a:cubicBezTo>
                  <a:pt x="999538" y="326741"/>
                  <a:pt x="998320" y="324072"/>
                  <a:pt x="994766" y="318732"/>
                </a:cubicBezTo>
                <a:cubicBezTo>
                  <a:pt x="986916" y="303050"/>
                  <a:pt x="979102" y="295208"/>
                  <a:pt x="971326" y="295208"/>
                </a:cubicBezTo>
                <a:cubicBezTo>
                  <a:pt x="960517" y="297924"/>
                  <a:pt x="945263" y="307282"/>
                  <a:pt x="925561" y="323281"/>
                </a:cubicBezTo>
                <a:cubicBezTo>
                  <a:pt x="921524" y="329197"/>
                  <a:pt x="920092" y="333699"/>
                  <a:pt x="921264" y="336787"/>
                </a:cubicBezTo>
                <a:cubicBezTo>
                  <a:pt x="921264" y="343038"/>
                  <a:pt x="925719" y="345577"/>
                  <a:pt x="934631" y="344405"/>
                </a:cubicBezTo>
                <a:lnTo>
                  <a:pt x="1085849" y="344405"/>
                </a:lnTo>
                <a:lnTo>
                  <a:pt x="1085849" y="407192"/>
                </a:lnTo>
                <a:cubicBezTo>
                  <a:pt x="1083524" y="420029"/>
                  <a:pt x="1096639" y="427098"/>
                  <a:pt x="1125196" y="428400"/>
                </a:cubicBezTo>
                <a:cubicBezTo>
                  <a:pt x="1144636" y="431953"/>
                  <a:pt x="1153194" y="426010"/>
                  <a:pt x="1150869" y="410569"/>
                </a:cubicBezTo>
                <a:lnTo>
                  <a:pt x="1150869" y="344405"/>
                </a:lnTo>
                <a:lnTo>
                  <a:pt x="1299604" y="344405"/>
                </a:lnTo>
                <a:cubicBezTo>
                  <a:pt x="1307678" y="344405"/>
                  <a:pt x="1312794" y="342266"/>
                  <a:pt x="1314952" y="337987"/>
                </a:cubicBezTo>
                <a:cubicBezTo>
                  <a:pt x="1316459" y="332518"/>
                  <a:pt x="1312691" y="328769"/>
                  <a:pt x="1303650" y="326741"/>
                </a:cubicBezTo>
                <a:lnTo>
                  <a:pt x="1150869" y="326741"/>
                </a:lnTo>
                <a:lnTo>
                  <a:pt x="1150869" y="290130"/>
                </a:lnTo>
                <a:lnTo>
                  <a:pt x="1182178" y="290130"/>
                </a:lnTo>
                <a:lnTo>
                  <a:pt x="1182178" y="293785"/>
                </a:lnTo>
                <a:cubicBezTo>
                  <a:pt x="1183927" y="302622"/>
                  <a:pt x="1196559" y="308993"/>
                  <a:pt x="1220074" y="312900"/>
                </a:cubicBezTo>
                <a:cubicBezTo>
                  <a:pt x="1239310" y="316398"/>
                  <a:pt x="1248342" y="310435"/>
                  <a:pt x="1247170" y="295013"/>
                </a:cubicBezTo>
                <a:lnTo>
                  <a:pt x="1247170" y="194219"/>
                </a:lnTo>
                <a:cubicBezTo>
                  <a:pt x="1248342" y="179969"/>
                  <a:pt x="1246128" y="171411"/>
                  <a:pt x="1240528" y="168546"/>
                </a:cubicBezTo>
                <a:cubicBezTo>
                  <a:pt x="1237840" y="165812"/>
                  <a:pt x="1234180" y="164691"/>
                  <a:pt x="1229548" y="165184"/>
                </a:cubicBezTo>
                <a:close/>
                <a:moveTo>
                  <a:pt x="637411" y="164053"/>
                </a:moveTo>
                <a:lnTo>
                  <a:pt x="637411" y="209400"/>
                </a:lnTo>
                <a:lnTo>
                  <a:pt x="583331" y="209400"/>
                </a:lnTo>
                <a:lnTo>
                  <a:pt x="583331" y="164053"/>
                </a:lnTo>
                <a:close/>
                <a:moveTo>
                  <a:pt x="1539561" y="122028"/>
                </a:moveTo>
                <a:lnTo>
                  <a:pt x="1539561" y="289962"/>
                </a:lnTo>
                <a:lnTo>
                  <a:pt x="1537915" y="289962"/>
                </a:lnTo>
                <a:cubicBezTo>
                  <a:pt x="1537747" y="289962"/>
                  <a:pt x="1534696" y="286009"/>
                  <a:pt x="1528762" y="278102"/>
                </a:cubicBezTo>
                <a:cubicBezTo>
                  <a:pt x="1523795" y="269433"/>
                  <a:pt x="1519228" y="264047"/>
                  <a:pt x="1515060" y="261945"/>
                </a:cubicBezTo>
                <a:cubicBezTo>
                  <a:pt x="1508140" y="261945"/>
                  <a:pt x="1500615" y="264847"/>
                  <a:pt x="1492485" y="270652"/>
                </a:cubicBezTo>
                <a:cubicBezTo>
                  <a:pt x="1518102" y="240514"/>
                  <a:pt x="1533729" y="190973"/>
                  <a:pt x="1539366" y="122028"/>
                </a:cubicBezTo>
                <a:close/>
                <a:moveTo>
                  <a:pt x="1178662" y="78245"/>
                </a:moveTo>
                <a:cubicBezTo>
                  <a:pt x="1159798" y="81184"/>
                  <a:pt x="1145306" y="88970"/>
                  <a:pt x="1135186" y="101601"/>
                </a:cubicBezTo>
                <a:cubicBezTo>
                  <a:pt x="1129158" y="116019"/>
                  <a:pt x="1132563" y="128605"/>
                  <a:pt x="1145399" y="139357"/>
                </a:cubicBezTo>
                <a:lnTo>
                  <a:pt x="1103737" y="139357"/>
                </a:lnTo>
                <a:cubicBezTo>
                  <a:pt x="1089617" y="112252"/>
                  <a:pt x="1082556" y="91881"/>
                  <a:pt x="1082556" y="78245"/>
                </a:cubicBezTo>
                <a:close/>
                <a:moveTo>
                  <a:pt x="215553" y="11133"/>
                </a:moveTo>
                <a:cubicBezTo>
                  <a:pt x="212440" y="10891"/>
                  <a:pt x="208712" y="11077"/>
                  <a:pt x="204368" y="11691"/>
                </a:cubicBezTo>
                <a:cubicBezTo>
                  <a:pt x="201168" y="12751"/>
                  <a:pt x="199085" y="13281"/>
                  <a:pt x="198117" y="13281"/>
                </a:cubicBezTo>
                <a:cubicBezTo>
                  <a:pt x="168166" y="14714"/>
                  <a:pt x="154520" y="20155"/>
                  <a:pt x="157180" y="29606"/>
                </a:cubicBezTo>
                <a:cubicBezTo>
                  <a:pt x="158706" y="32620"/>
                  <a:pt x="160817" y="35494"/>
                  <a:pt x="163515" y="38229"/>
                </a:cubicBezTo>
                <a:cubicBezTo>
                  <a:pt x="167124" y="41838"/>
                  <a:pt x="168928" y="45224"/>
                  <a:pt x="168928" y="48386"/>
                </a:cubicBezTo>
                <a:lnTo>
                  <a:pt x="168928" y="81593"/>
                </a:lnTo>
                <a:lnTo>
                  <a:pt x="93752" y="81593"/>
                </a:lnTo>
                <a:cubicBezTo>
                  <a:pt x="93752" y="81593"/>
                  <a:pt x="91454" y="77984"/>
                  <a:pt x="86859" y="70766"/>
                </a:cubicBezTo>
                <a:cubicBezTo>
                  <a:pt x="77167" y="53446"/>
                  <a:pt x="67967" y="46135"/>
                  <a:pt x="59261" y="48833"/>
                </a:cubicBezTo>
                <a:cubicBezTo>
                  <a:pt x="48508" y="57223"/>
                  <a:pt x="35765" y="67548"/>
                  <a:pt x="21031" y="79807"/>
                </a:cubicBezTo>
                <a:cubicBezTo>
                  <a:pt x="16901" y="83919"/>
                  <a:pt x="14835" y="86868"/>
                  <a:pt x="14835" y="88653"/>
                </a:cubicBezTo>
                <a:cubicBezTo>
                  <a:pt x="14835" y="94569"/>
                  <a:pt x="17793" y="97527"/>
                  <a:pt x="23709" y="97527"/>
                </a:cubicBezTo>
                <a:lnTo>
                  <a:pt x="168928" y="97527"/>
                </a:lnTo>
                <a:lnTo>
                  <a:pt x="168928" y="163886"/>
                </a:lnTo>
                <a:lnTo>
                  <a:pt x="131312" y="163886"/>
                </a:lnTo>
                <a:cubicBezTo>
                  <a:pt x="133061" y="163867"/>
                  <a:pt x="133414" y="161942"/>
                  <a:pt x="132373" y="158110"/>
                </a:cubicBezTo>
                <a:cubicBezTo>
                  <a:pt x="126866" y="148492"/>
                  <a:pt x="120345" y="142232"/>
                  <a:pt x="112811" y="139329"/>
                </a:cubicBezTo>
                <a:cubicBezTo>
                  <a:pt x="89296" y="148185"/>
                  <a:pt x="70646" y="162770"/>
                  <a:pt x="56861" y="183085"/>
                </a:cubicBezTo>
                <a:cubicBezTo>
                  <a:pt x="58572" y="188778"/>
                  <a:pt x="63028" y="194507"/>
                  <a:pt x="70227" y="200275"/>
                </a:cubicBezTo>
                <a:cubicBezTo>
                  <a:pt x="71827" y="201335"/>
                  <a:pt x="72627" y="201484"/>
                  <a:pt x="72627" y="200721"/>
                </a:cubicBezTo>
                <a:lnTo>
                  <a:pt x="72627" y="282037"/>
                </a:lnTo>
                <a:cubicBezTo>
                  <a:pt x="76981" y="296604"/>
                  <a:pt x="88915" y="304538"/>
                  <a:pt x="108430" y="305840"/>
                </a:cubicBezTo>
                <a:cubicBezTo>
                  <a:pt x="127889" y="308203"/>
                  <a:pt x="135870" y="303385"/>
                  <a:pt x="132373" y="291385"/>
                </a:cubicBezTo>
                <a:lnTo>
                  <a:pt x="132373" y="277879"/>
                </a:lnTo>
                <a:lnTo>
                  <a:pt x="137535" y="277879"/>
                </a:lnTo>
                <a:lnTo>
                  <a:pt x="263499" y="277879"/>
                </a:lnTo>
                <a:lnTo>
                  <a:pt x="263499" y="291274"/>
                </a:lnTo>
                <a:cubicBezTo>
                  <a:pt x="269545" y="303347"/>
                  <a:pt x="282224" y="309384"/>
                  <a:pt x="301534" y="309384"/>
                </a:cubicBezTo>
                <a:cubicBezTo>
                  <a:pt x="314836" y="310556"/>
                  <a:pt x="320901" y="305077"/>
                  <a:pt x="319729" y="292948"/>
                </a:cubicBezTo>
                <a:lnTo>
                  <a:pt x="319729" y="153449"/>
                </a:lnTo>
                <a:cubicBezTo>
                  <a:pt x="319729" y="144036"/>
                  <a:pt x="307162" y="145357"/>
                  <a:pt x="282029" y="157412"/>
                </a:cubicBezTo>
                <a:cubicBezTo>
                  <a:pt x="270141" y="161728"/>
                  <a:pt x="262830" y="163886"/>
                  <a:pt x="260095" y="163886"/>
                </a:cubicBezTo>
                <a:lnTo>
                  <a:pt x="226943" y="163886"/>
                </a:lnTo>
                <a:lnTo>
                  <a:pt x="226943" y="148203"/>
                </a:lnTo>
                <a:lnTo>
                  <a:pt x="226943" y="24862"/>
                </a:lnTo>
                <a:cubicBezTo>
                  <a:pt x="228688" y="16435"/>
                  <a:pt x="224891" y="11858"/>
                  <a:pt x="215553" y="11133"/>
                </a:cubicBezTo>
                <a:close/>
                <a:moveTo>
                  <a:pt x="1149983" y="6033"/>
                </a:moveTo>
                <a:cubicBezTo>
                  <a:pt x="1146011" y="5638"/>
                  <a:pt x="1140930" y="5738"/>
                  <a:pt x="1134739" y="6333"/>
                </a:cubicBezTo>
                <a:cubicBezTo>
                  <a:pt x="1109643" y="7579"/>
                  <a:pt x="1093002" y="12305"/>
                  <a:pt x="1084817" y="20509"/>
                </a:cubicBezTo>
                <a:cubicBezTo>
                  <a:pt x="1072669" y="40061"/>
                  <a:pt x="1073013" y="53418"/>
                  <a:pt x="1085849" y="60581"/>
                </a:cubicBezTo>
                <a:lnTo>
                  <a:pt x="1022923" y="60581"/>
                </a:lnTo>
                <a:cubicBezTo>
                  <a:pt x="1024169" y="60581"/>
                  <a:pt x="1023035" y="57706"/>
                  <a:pt x="1019518" y="51958"/>
                </a:cubicBezTo>
                <a:cubicBezTo>
                  <a:pt x="1010589" y="34917"/>
                  <a:pt x="1002682" y="25532"/>
                  <a:pt x="995799" y="23802"/>
                </a:cubicBezTo>
                <a:cubicBezTo>
                  <a:pt x="985400" y="23802"/>
                  <a:pt x="968433" y="34340"/>
                  <a:pt x="944900" y="55418"/>
                </a:cubicBezTo>
                <a:cubicBezTo>
                  <a:pt x="939654" y="63027"/>
                  <a:pt x="938723" y="68971"/>
                  <a:pt x="942109" y="73250"/>
                </a:cubicBezTo>
                <a:cubicBezTo>
                  <a:pt x="945681" y="76580"/>
                  <a:pt x="953002" y="77668"/>
                  <a:pt x="964071" y="76515"/>
                </a:cubicBezTo>
                <a:lnTo>
                  <a:pt x="1035089" y="76515"/>
                </a:lnTo>
                <a:cubicBezTo>
                  <a:pt x="1002403" y="89295"/>
                  <a:pt x="997111" y="99695"/>
                  <a:pt x="1019211" y="107713"/>
                </a:cubicBezTo>
                <a:cubicBezTo>
                  <a:pt x="1024309" y="110261"/>
                  <a:pt x="1027406" y="111536"/>
                  <a:pt x="1028504" y="111536"/>
                </a:cubicBezTo>
                <a:cubicBezTo>
                  <a:pt x="1044466" y="121098"/>
                  <a:pt x="1057163" y="130372"/>
                  <a:pt x="1066595" y="139357"/>
                </a:cubicBezTo>
                <a:lnTo>
                  <a:pt x="991557" y="139357"/>
                </a:lnTo>
                <a:cubicBezTo>
                  <a:pt x="979074" y="117796"/>
                  <a:pt x="967652" y="105545"/>
                  <a:pt x="957290" y="102606"/>
                </a:cubicBezTo>
                <a:cubicBezTo>
                  <a:pt x="950369" y="102606"/>
                  <a:pt x="937189" y="111099"/>
                  <a:pt x="917748" y="128084"/>
                </a:cubicBezTo>
                <a:cubicBezTo>
                  <a:pt x="915255" y="130539"/>
                  <a:pt x="912716" y="132409"/>
                  <a:pt x="910130" y="133693"/>
                </a:cubicBezTo>
                <a:cubicBezTo>
                  <a:pt x="904716" y="142901"/>
                  <a:pt x="902586" y="148454"/>
                  <a:pt x="903739" y="150352"/>
                </a:cubicBezTo>
                <a:cubicBezTo>
                  <a:pt x="903739" y="154817"/>
                  <a:pt x="909879" y="156463"/>
                  <a:pt x="922157" y="155291"/>
                </a:cubicBezTo>
                <a:lnTo>
                  <a:pt x="1313612" y="155291"/>
                </a:lnTo>
                <a:cubicBezTo>
                  <a:pt x="1321686" y="155291"/>
                  <a:pt x="1326532" y="153691"/>
                  <a:pt x="1328151" y="150492"/>
                </a:cubicBezTo>
                <a:cubicBezTo>
                  <a:pt x="1331369" y="146027"/>
                  <a:pt x="1328458" y="142315"/>
                  <a:pt x="1319417" y="139357"/>
                </a:cubicBezTo>
                <a:lnTo>
                  <a:pt x="1191136" y="139357"/>
                </a:lnTo>
                <a:cubicBezTo>
                  <a:pt x="1198131" y="137367"/>
                  <a:pt x="1200466" y="129795"/>
                  <a:pt x="1198140" y="116642"/>
                </a:cubicBezTo>
                <a:cubicBezTo>
                  <a:pt x="1195796" y="100197"/>
                  <a:pt x="1198364" y="87398"/>
                  <a:pt x="1205842" y="78245"/>
                </a:cubicBezTo>
                <a:lnTo>
                  <a:pt x="1278591" y="78245"/>
                </a:lnTo>
                <a:cubicBezTo>
                  <a:pt x="1285977" y="78245"/>
                  <a:pt x="1291344" y="76580"/>
                  <a:pt x="1294693" y="73250"/>
                </a:cubicBezTo>
                <a:cubicBezTo>
                  <a:pt x="1298023" y="67129"/>
                  <a:pt x="1295176" y="62906"/>
                  <a:pt x="1286153" y="60581"/>
                </a:cubicBezTo>
                <a:lnTo>
                  <a:pt x="1136042" y="60581"/>
                </a:lnTo>
                <a:lnTo>
                  <a:pt x="1137551" y="59046"/>
                </a:lnTo>
                <a:cubicBezTo>
                  <a:pt x="1138718" y="56944"/>
                  <a:pt x="1139651" y="53251"/>
                  <a:pt x="1140348" y="47968"/>
                </a:cubicBezTo>
                <a:cubicBezTo>
                  <a:pt x="1142376" y="37494"/>
                  <a:pt x="1147520" y="29159"/>
                  <a:pt x="1155780" y="22964"/>
                </a:cubicBezTo>
                <a:cubicBezTo>
                  <a:pt x="1163831" y="12863"/>
                  <a:pt x="1161898" y="7219"/>
                  <a:pt x="1149983" y="6033"/>
                </a:cubicBezTo>
                <a:close/>
                <a:moveTo>
                  <a:pt x="582640" y="3654"/>
                </a:moveTo>
                <a:cubicBezTo>
                  <a:pt x="574534" y="4640"/>
                  <a:pt x="566448" y="8258"/>
                  <a:pt x="558384" y="14509"/>
                </a:cubicBezTo>
                <a:cubicBezTo>
                  <a:pt x="513010" y="48833"/>
                  <a:pt x="509922" y="64822"/>
                  <a:pt x="549119" y="62478"/>
                </a:cubicBezTo>
                <a:cubicBezTo>
                  <a:pt x="554719" y="61306"/>
                  <a:pt x="557686" y="60730"/>
                  <a:pt x="558021" y="60748"/>
                </a:cubicBezTo>
                <a:cubicBezTo>
                  <a:pt x="568420" y="63055"/>
                  <a:pt x="582550" y="64804"/>
                  <a:pt x="600409" y="65994"/>
                </a:cubicBezTo>
                <a:cubicBezTo>
                  <a:pt x="619013" y="67166"/>
                  <a:pt x="631347" y="67752"/>
                  <a:pt x="637411" y="67752"/>
                </a:cubicBezTo>
                <a:lnTo>
                  <a:pt x="637411" y="99090"/>
                </a:lnTo>
                <a:lnTo>
                  <a:pt x="530702" y="99090"/>
                </a:lnTo>
                <a:cubicBezTo>
                  <a:pt x="530683" y="99090"/>
                  <a:pt x="526907" y="93193"/>
                  <a:pt x="519372" y="81398"/>
                </a:cubicBezTo>
                <a:cubicBezTo>
                  <a:pt x="511094" y="69548"/>
                  <a:pt x="504917" y="62609"/>
                  <a:pt x="500843" y="60581"/>
                </a:cubicBezTo>
                <a:cubicBezTo>
                  <a:pt x="493439" y="60581"/>
                  <a:pt x="477942" y="71110"/>
                  <a:pt x="454353" y="92170"/>
                </a:cubicBezTo>
                <a:cubicBezTo>
                  <a:pt x="445646" y="107406"/>
                  <a:pt x="446586" y="115024"/>
                  <a:pt x="457171" y="115024"/>
                </a:cubicBezTo>
                <a:lnTo>
                  <a:pt x="637411" y="115024"/>
                </a:lnTo>
                <a:lnTo>
                  <a:pt x="637411" y="148120"/>
                </a:lnTo>
                <a:lnTo>
                  <a:pt x="588493" y="148120"/>
                </a:lnTo>
                <a:cubicBezTo>
                  <a:pt x="589182" y="148120"/>
                  <a:pt x="586661" y="145255"/>
                  <a:pt x="580931" y="139525"/>
                </a:cubicBezTo>
                <a:cubicBezTo>
                  <a:pt x="572969" y="128921"/>
                  <a:pt x="565667" y="123619"/>
                  <a:pt x="559025" y="123619"/>
                </a:cubicBezTo>
                <a:cubicBezTo>
                  <a:pt x="531232" y="136232"/>
                  <a:pt x="513587" y="152203"/>
                  <a:pt x="506089" y="171532"/>
                </a:cubicBezTo>
                <a:cubicBezTo>
                  <a:pt x="508303" y="176425"/>
                  <a:pt x="511615" y="179606"/>
                  <a:pt x="516023" y="181076"/>
                </a:cubicBezTo>
                <a:cubicBezTo>
                  <a:pt x="517568" y="182099"/>
                  <a:pt x="518340" y="182229"/>
                  <a:pt x="518340" y="181466"/>
                </a:cubicBezTo>
                <a:lnTo>
                  <a:pt x="518340" y="279526"/>
                </a:lnTo>
                <a:cubicBezTo>
                  <a:pt x="518340" y="290427"/>
                  <a:pt x="524758" y="297050"/>
                  <a:pt x="537594" y="299394"/>
                </a:cubicBezTo>
                <a:cubicBezTo>
                  <a:pt x="520925" y="306891"/>
                  <a:pt x="507140" y="316695"/>
                  <a:pt x="496239" y="328806"/>
                </a:cubicBezTo>
                <a:cubicBezTo>
                  <a:pt x="492295" y="338052"/>
                  <a:pt x="494146" y="343838"/>
                  <a:pt x="501792" y="346163"/>
                </a:cubicBezTo>
                <a:lnTo>
                  <a:pt x="637411" y="346163"/>
                </a:lnTo>
                <a:lnTo>
                  <a:pt x="637411" y="389779"/>
                </a:lnTo>
                <a:lnTo>
                  <a:pt x="547501" y="389779"/>
                </a:lnTo>
                <a:cubicBezTo>
                  <a:pt x="546589" y="388849"/>
                  <a:pt x="543929" y="383975"/>
                  <a:pt x="539520" y="375157"/>
                </a:cubicBezTo>
                <a:cubicBezTo>
                  <a:pt x="530106" y="360386"/>
                  <a:pt x="522497" y="353000"/>
                  <a:pt x="516693" y="353000"/>
                </a:cubicBezTo>
                <a:cubicBezTo>
                  <a:pt x="510554" y="353000"/>
                  <a:pt x="497727" y="360302"/>
                  <a:pt x="478212" y="374906"/>
                </a:cubicBezTo>
                <a:cubicBezTo>
                  <a:pt x="476835" y="376189"/>
                  <a:pt x="475459" y="377520"/>
                  <a:pt x="474082" y="378896"/>
                </a:cubicBezTo>
                <a:cubicBezTo>
                  <a:pt x="466585" y="383882"/>
                  <a:pt x="462073" y="388672"/>
                  <a:pt x="460548" y="393267"/>
                </a:cubicBezTo>
                <a:cubicBezTo>
                  <a:pt x="460548" y="399648"/>
                  <a:pt x="464371" y="403797"/>
                  <a:pt x="472017" y="405713"/>
                </a:cubicBezTo>
                <a:lnTo>
                  <a:pt x="845138" y="405713"/>
                </a:lnTo>
                <a:cubicBezTo>
                  <a:pt x="850999" y="404243"/>
                  <a:pt x="855956" y="401481"/>
                  <a:pt x="860012" y="397425"/>
                </a:cubicBezTo>
                <a:cubicBezTo>
                  <a:pt x="860012" y="392328"/>
                  <a:pt x="855891" y="389779"/>
                  <a:pt x="847650" y="389779"/>
                </a:cubicBezTo>
                <a:lnTo>
                  <a:pt x="697157" y="389779"/>
                </a:lnTo>
                <a:lnTo>
                  <a:pt x="697157" y="347921"/>
                </a:lnTo>
                <a:lnTo>
                  <a:pt x="819633" y="347921"/>
                </a:lnTo>
                <a:cubicBezTo>
                  <a:pt x="825865" y="347921"/>
                  <a:pt x="830842" y="346061"/>
                  <a:pt x="834562" y="342340"/>
                </a:cubicBezTo>
                <a:cubicBezTo>
                  <a:pt x="836348" y="336480"/>
                  <a:pt x="833418" y="332443"/>
                  <a:pt x="825772" y="330229"/>
                </a:cubicBezTo>
                <a:lnTo>
                  <a:pt x="697157" y="330229"/>
                </a:lnTo>
                <a:lnTo>
                  <a:pt x="697157" y="284883"/>
                </a:lnTo>
                <a:lnTo>
                  <a:pt x="751237" y="284883"/>
                </a:lnTo>
                <a:cubicBezTo>
                  <a:pt x="751237" y="299748"/>
                  <a:pt x="758409" y="307887"/>
                  <a:pt x="772752" y="309300"/>
                </a:cubicBezTo>
                <a:cubicBezTo>
                  <a:pt x="799411" y="316370"/>
                  <a:pt x="811568" y="310947"/>
                  <a:pt x="809224" y="293032"/>
                </a:cubicBezTo>
                <a:lnTo>
                  <a:pt x="809224" y="147115"/>
                </a:lnTo>
                <a:cubicBezTo>
                  <a:pt x="810396" y="139525"/>
                  <a:pt x="808024" y="134679"/>
                  <a:pt x="802109" y="132576"/>
                </a:cubicBezTo>
                <a:cubicBezTo>
                  <a:pt x="797067" y="130083"/>
                  <a:pt x="789942" y="131572"/>
                  <a:pt x="780733" y="137041"/>
                </a:cubicBezTo>
                <a:cubicBezTo>
                  <a:pt x="779580" y="138195"/>
                  <a:pt x="778231" y="139153"/>
                  <a:pt x="776687" y="139915"/>
                </a:cubicBezTo>
                <a:cubicBezTo>
                  <a:pt x="766008" y="145366"/>
                  <a:pt x="758325" y="148101"/>
                  <a:pt x="753637" y="148120"/>
                </a:cubicBezTo>
                <a:lnTo>
                  <a:pt x="697157" y="148120"/>
                </a:lnTo>
                <a:lnTo>
                  <a:pt x="697157" y="115024"/>
                </a:lnTo>
                <a:lnTo>
                  <a:pt x="863416" y="115024"/>
                </a:lnTo>
                <a:cubicBezTo>
                  <a:pt x="871490" y="115024"/>
                  <a:pt x="876337" y="113424"/>
                  <a:pt x="877955" y="110224"/>
                </a:cubicBezTo>
                <a:cubicBezTo>
                  <a:pt x="881173" y="105759"/>
                  <a:pt x="878262" y="102048"/>
                  <a:pt x="869221" y="99090"/>
                </a:cubicBezTo>
                <a:lnTo>
                  <a:pt x="697157" y="99090"/>
                </a:lnTo>
                <a:lnTo>
                  <a:pt x="697157" y="71241"/>
                </a:lnTo>
                <a:cubicBezTo>
                  <a:pt x="729490" y="73585"/>
                  <a:pt x="760976" y="74757"/>
                  <a:pt x="791616" y="74757"/>
                </a:cubicBezTo>
                <a:cubicBezTo>
                  <a:pt x="817363" y="74757"/>
                  <a:pt x="823595" y="70766"/>
                  <a:pt x="810313" y="62785"/>
                </a:cubicBezTo>
                <a:cubicBezTo>
                  <a:pt x="740921" y="49856"/>
                  <a:pt x="676339" y="32852"/>
                  <a:pt x="616566" y="11774"/>
                </a:cubicBezTo>
                <a:cubicBezTo>
                  <a:pt x="613031" y="10602"/>
                  <a:pt x="609850" y="9542"/>
                  <a:pt x="607023" y="8593"/>
                </a:cubicBezTo>
                <a:cubicBezTo>
                  <a:pt x="598874" y="4314"/>
                  <a:pt x="590747" y="2668"/>
                  <a:pt x="582640" y="3654"/>
                </a:cubicBezTo>
                <a:close/>
                <a:moveTo>
                  <a:pt x="1593345" y="363"/>
                </a:moveTo>
                <a:cubicBezTo>
                  <a:pt x="1590269" y="-308"/>
                  <a:pt x="1586582" y="-48"/>
                  <a:pt x="1582284" y="1143"/>
                </a:cubicBezTo>
                <a:cubicBezTo>
                  <a:pt x="1543291" y="5124"/>
                  <a:pt x="1525544" y="10974"/>
                  <a:pt x="1529041" y="18695"/>
                </a:cubicBezTo>
                <a:cubicBezTo>
                  <a:pt x="1529041" y="21318"/>
                  <a:pt x="1530846" y="24425"/>
                  <a:pt x="1534455" y="28015"/>
                </a:cubicBezTo>
                <a:cubicBezTo>
                  <a:pt x="1537859" y="32276"/>
                  <a:pt x="1539561" y="36145"/>
                  <a:pt x="1539561" y="39624"/>
                </a:cubicBezTo>
                <a:lnTo>
                  <a:pt x="1539561" y="106094"/>
                </a:lnTo>
                <a:lnTo>
                  <a:pt x="1462627" y="106094"/>
                </a:lnTo>
                <a:cubicBezTo>
                  <a:pt x="1463761" y="106094"/>
                  <a:pt x="1460627" y="100271"/>
                  <a:pt x="1453222" y="88626"/>
                </a:cubicBezTo>
                <a:cubicBezTo>
                  <a:pt x="1446023" y="76645"/>
                  <a:pt x="1440674" y="69789"/>
                  <a:pt x="1437177" y="68059"/>
                </a:cubicBezTo>
                <a:cubicBezTo>
                  <a:pt x="1426071" y="64208"/>
                  <a:pt x="1406918" y="75603"/>
                  <a:pt x="1379720" y="102243"/>
                </a:cubicBezTo>
                <a:cubicBezTo>
                  <a:pt x="1374213" y="109145"/>
                  <a:pt x="1371460" y="113368"/>
                  <a:pt x="1371460" y="114912"/>
                </a:cubicBezTo>
                <a:cubicBezTo>
                  <a:pt x="1371460" y="120828"/>
                  <a:pt x="1376399" y="123200"/>
                  <a:pt x="1386278" y="122028"/>
                </a:cubicBezTo>
                <a:lnTo>
                  <a:pt x="1520307" y="122028"/>
                </a:lnTo>
                <a:cubicBezTo>
                  <a:pt x="1506540" y="196386"/>
                  <a:pt x="1458134" y="248913"/>
                  <a:pt x="1375088" y="279609"/>
                </a:cubicBezTo>
                <a:cubicBezTo>
                  <a:pt x="1362158" y="287255"/>
                  <a:pt x="1362540" y="294678"/>
                  <a:pt x="1376232" y="301878"/>
                </a:cubicBezTo>
                <a:cubicBezTo>
                  <a:pt x="1380418" y="303980"/>
                  <a:pt x="1383050" y="305570"/>
                  <a:pt x="1384129" y="306649"/>
                </a:cubicBezTo>
                <a:cubicBezTo>
                  <a:pt x="1390733" y="311040"/>
                  <a:pt x="1397905" y="319337"/>
                  <a:pt x="1405644" y="331541"/>
                </a:cubicBezTo>
                <a:cubicBezTo>
                  <a:pt x="1411355" y="340117"/>
                  <a:pt x="1415253" y="344405"/>
                  <a:pt x="1417336" y="344405"/>
                </a:cubicBezTo>
                <a:cubicBezTo>
                  <a:pt x="1424833" y="347921"/>
                  <a:pt x="1442479" y="335671"/>
                  <a:pt x="1470273" y="307654"/>
                </a:cubicBezTo>
                <a:lnTo>
                  <a:pt x="1539561" y="307654"/>
                </a:lnTo>
                <a:lnTo>
                  <a:pt x="1539561" y="398430"/>
                </a:lnTo>
                <a:cubicBezTo>
                  <a:pt x="1536064" y="413443"/>
                  <a:pt x="1550798" y="422261"/>
                  <a:pt x="1583763" y="424884"/>
                </a:cubicBezTo>
                <a:cubicBezTo>
                  <a:pt x="1598795" y="426112"/>
                  <a:pt x="1605725" y="418410"/>
                  <a:pt x="1604553" y="401779"/>
                </a:cubicBezTo>
                <a:lnTo>
                  <a:pt x="1604553" y="307654"/>
                </a:lnTo>
                <a:lnTo>
                  <a:pt x="1693487" y="307654"/>
                </a:lnTo>
                <a:cubicBezTo>
                  <a:pt x="1703309" y="316398"/>
                  <a:pt x="1723885" y="328881"/>
                  <a:pt x="1755213" y="345103"/>
                </a:cubicBezTo>
                <a:cubicBezTo>
                  <a:pt x="1770803" y="353977"/>
                  <a:pt x="1780700" y="356832"/>
                  <a:pt x="1784904" y="353670"/>
                </a:cubicBezTo>
                <a:cubicBezTo>
                  <a:pt x="1784904" y="349019"/>
                  <a:pt x="1777147" y="340610"/>
                  <a:pt x="1761631" y="328443"/>
                </a:cubicBezTo>
                <a:cubicBezTo>
                  <a:pt x="1699961" y="279721"/>
                  <a:pt x="1659275" y="210916"/>
                  <a:pt x="1639574" y="122028"/>
                </a:cubicBezTo>
                <a:lnTo>
                  <a:pt x="1744526" y="122028"/>
                </a:lnTo>
                <a:cubicBezTo>
                  <a:pt x="1753381" y="122028"/>
                  <a:pt x="1760059" y="121275"/>
                  <a:pt x="1764562" y="119768"/>
                </a:cubicBezTo>
                <a:cubicBezTo>
                  <a:pt x="1769957" y="113126"/>
                  <a:pt x="1767594" y="108569"/>
                  <a:pt x="1757474" y="106094"/>
                </a:cubicBezTo>
                <a:lnTo>
                  <a:pt x="1604553" y="106094"/>
                </a:lnTo>
                <a:lnTo>
                  <a:pt x="1604553" y="31531"/>
                </a:lnTo>
                <a:cubicBezTo>
                  <a:pt x="1606311" y="12765"/>
                  <a:pt x="1602575" y="2376"/>
                  <a:pt x="1593345" y="363"/>
                </a:cubicBezTo>
                <a:close/>
              </a:path>
            </a:pathLst>
          </a:cu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1735983" y="3843270"/>
            <a:ext cx="8388000" cy="0"/>
          </a:xfrm>
          <a:prstGeom prst="line">
            <a:avLst/>
          </a:prstGeom>
          <a:ln w="12700">
            <a:solidFill>
              <a:srgbClr val="04926A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1604010" y="4450080"/>
            <a:ext cx="2087880" cy="1557020"/>
            <a:chOff x="3633" y="6990"/>
            <a:chExt cx="3288" cy="2452"/>
          </a:xfrm>
        </p:grpSpPr>
        <p:sp>
          <p:nvSpPr>
            <p:cNvPr id="51" name="矩形: 圆角 40"/>
            <p:cNvSpPr/>
            <p:nvPr/>
          </p:nvSpPr>
          <p:spPr>
            <a:xfrm rot="16200000" flipV="1">
              <a:off x="4265" y="6786"/>
              <a:ext cx="2023" cy="3288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4016" y="6990"/>
              <a:ext cx="2441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sym typeface="+mn-ea"/>
                </a:rPr>
                <a:t>实际问题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4169" y="8068"/>
              <a:ext cx="2216" cy="7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l"/>
              <a:r>
                <a:rPr lang="zh-CN" altLang="en-US" sz="2400" b="1" dirty="0">
                  <a:sym typeface="+mn-ea"/>
                </a:rPr>
                <a:t>函数关系</a:t>
              </a:r>
              <a:endParaRPr lang="zh-CN" altLang="en-US" sz="2400" b="1" dirty="0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4137660" y="4450080"/>
            <a:ext cx="2795905" cy="1560474"/>
            <a:chOff x="7155" y="6949"/>
            <a:chExt cx="4403" cy="2457"/>
          </a:xfrm>
        </p:grpSpPr>
        <p:sp>
          <p:nvSpPr>
            <p:cNvPr id="2" name="矩形: 圆角 40"/>
            <p:cNvSpPr/>
            <p:nvPr/>
          </p:nvSpPr>
          <p:spPr>
            <a:xfrm rot="16200000" flipV="1">
              <a:off x="8336" y="6184"/>
              <a:ext cx="2041" cy="4403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8246" y="6949"/>
              <a:ext cx="2441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sym typeface="+mn-ea"/>
                </a:rPr>
                <a:t>微分方程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7285" y="7876"/>
              <a:ext cx="4144" cy="130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2400" b="1" dirty="0">
                  <a:sym typeface="+mn-ea"/>
                </a:rPr>
                <a:t>含有未知函数及其</a:t>
              </a:r>
            </a:p>
            <a:p>
              <a:pPr lvl="0" algn="ctr">
                <a:buClrTx/>
                <a:buSzTx/>
                <a:buFontTx/>
              </a:pPr>
              <a:r>
                <a:rPr lang="zh-CN" altLang="en-US" sz="2400" b="1" dirty="0">
                  <a:sym typeface="+mn-ea"/>
                </a:rPr>
                <a:t>导数的等式</a:t>
              </a:r>
              <a:endParaRPr lang="zh-CN" altLang="en-US" sz="2400" b="1" dirty="0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7378065" y="4450080"/>
            <a:ext cx="2771775" cy="1558568"/>
            <a:chOff x="7484" y="6949"/>
            <a:chExt cx="4365" cy="2454"/>
          </a:xfrm>
        </p:grpSpPr>
        <p:sp>
          <p:nvSpPr>
            <p:cNvPr id="21" name="矩形: 圆角 40"/>
            <p:cNvSpPr/>
            <p:nvPr/>
          </p:nvSpPr>
          <p:spPr>
            <a:xfrm rot="16200000" flipV="1">
              <a:off x="8646" y="6200"/>
              <a:ext cx="2041" cy="43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8077" y="6949"/>
              <a:ext cx="3337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sym typeface="+mn-ea"/>
                </a:rPr>
                <a:t>微分方程求解</a:t>
              </a:r>
            </a:p>
          </p:txBody>
        </p:sp>
        <p:sp>
          <p:nvSpPr>
            <p:cNvPr id="24" name="矩形 23"/>
            <p:cNvSpPr/>
            <p:nvPr/>
          </p:nvSpPr>
          <p:spPr>
            <a:xfrm>
              <a:off x="8077" y="8020"/>
              <a:ext cx="3180" cy="7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zh-CN" altLang="en-US" sz="2400" b="1" dirty="0">
                  <a:sym typeface="+mn-ea"/>
                </a:rPr>
                <a:t>找到未知函数</a:t>
              </a:r>
              <a:endParaRPr lang="zh-CN" altLang="en-US" sz="2400" b="1" dirty="0"/>
            </a:p>
          </p:txBody>
        </p:sp>
      </p:grpSp>
      <p:sp>
        <p:nvSpPr>
          <p:cNvPr id="26" name="矩形 25"/>
          <p:cNvSpPr/>
          <p:nvPr/>
        </p:nvSpPr>
        <p:spPr>
          <a:xfrm>
            <a:off x="3445510" y="884555"/>
            <a:ext cx="5933440" cy="768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第七章</a:t>
            </a:r>
            <a:r>
              <a:rPr lang="en-US" altLang="zh-CN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  </a:t>
            </a:r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微分方程</a:t>
            </a:r>
            <a:endParaRPr kumimoji="1" lang="en-US" altLang="zh-CN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5" name="右箭头 4"/>
          <p:cNvSpPr/>
          <p:nvPr/>
        </p:nvSpPr>
        <p:spPr>
          <a:xfrm>
            <a:off x="3530600" y="4460240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6" name="右箭头 5"/>
          <p:cNvSpPr/>
          <p:nvPr/>
        </p:nvSpPr>
        <p:spPr>
          <a:xfrm>
            <a:off x="6666865" y="4460240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图文框 19"/>
          <p:cNvSpPr/>
          <p:nvPr/>
        </p:nvSpPr>
        <p:spPr>
          <a:xfrm>
            <a:off x="0" y="11150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8611"/>
            <a:ext cx="6996430" cy="6860540"/>
          </a:xfrm>
          <a:prstGeom prst="rect">
            <a:avLst/>
          </a:prstGeom>
        </p:spPr>
      </p:pic>
      <p:sp>
        <p:nvSpPr>
          <p:cNvPr id="11" name="Rectangle 1"/>
          <p:cNvSpPr/>
          <p:nvPr/>
        </p:nvSpPr>
        <p:spPr>
          <a:xfrm>
            <a:off x="-6985" y="-47904"/>
            <a:ext cx="12289790" cy="691705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A-102232"/>
          <p:cNvSpPr/>
          <p:nvPr>
            <p:custDataLst>
              <p:tags r:id="rId1"/>
            </p:custDataLst>
          </p:nvPr>
        </p:nvSpPr>
        <p:spPr>
          <a:xfrm>
            <a:off x="378053" y="250074"/>
            <a:ext cx="11536045" cy="63976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6BB6"/>
              </a:solidFill>
              <a:cs typeface="+mn-ea"/>
              <a:sym typeface="+mn-lt"/>
            </a:endParaRPr>
          </a:p>
        </p:txBody>
      </p:sp>
      <p:sp>
        <p:nvSpPr>
          <p:cNvPr id="10" name="PA-文本框 8"/>
          <p:cNvSpPr txBox="1"/>
          <p:nvPr>
            <p:custDataLst>
              <p:tags r:id="rId2"/>
            </p:custDataLst>
          </p:nvPr>
        </p:nvSpPr>
        <p:spPr>
          <a:xfrm>
            <a:off x="876000" y="869721"/>
            <a:ext cx="30693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altLang="zh-CN" sz="7200" b="1" dirty="0">
                <a:solidFill>
                  <a:srgbClr val="1D9D79"/>
                </a:solidFill>
                <a:effectLst/>
                <a:latin typeface="Calisto MT" panose="02040603050505030304" pitchFamily="18" charset="0"/>
                <a:cs typeface="+mn-ea"/>
                <a:sym typeface="+mn-lt"/>
              </a:rPr>
              <a:t>C</a:t>
            </a:r>
            <a:r>
              <a:rPr kumimoji="1" lang="en-GB" altLang="zh-CN" sz="3200" b="1" dirty="0">
                <a:solidFill>
                  <a:srgbClr val="1D9D79"/>
                </a:solidFill>
                <a:effectLst/>
                <a:latin typeface="Calisto MT" panose="02040603050505030304" pitchFamily="18" charset="0"/>
                <a:cs typeface="+mn-ea"/>
                <a:sym typeface="+mn-lt"/>
              </a:rPr>
              <a:t>ONTENTS</a:t>
            </a:r>
          </a:p>
        </p:txBody>
      </p:sp>
      <p:sp>
        <p:nvSpPr>
          <p:cNvPr id="2" name="矩形 1"/>
          <p:cNvSpPr/>
          <p:nvPr/>
        </p:nvSpPr>
        <p:spPr>
          <a:xfrm>
            <a:off x="1769401" y="747135"/>
            <a:ext cx="151515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4000" b="1" dirty="0">
                <a:solidFill>
                  <a:srgbClr val="1D9D7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目  录</a:t>
            </a:r>
            <a:endParaRPr kumimoji="1" lang="zh-CN" altLang="en-US" sz="4000" b="1" dirty="0">
              <a:solidFill>
                <a:srgbClr val="1D9D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207356" y="922003"/>
            <a:ext cx="187743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4400" b="1" dirty="0">
                <a:solidFill>
                  <a:srgbClr val="1D9D7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第七章</a:t>
            </a:r>
            <a:endParaRPr kumimoji="1" lang="zh-CN" altLang="en-US" sz="4400" b="1" dirty="0">
              <a:solidFill>
                <a:srgbClr val="1D9D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 rot="5400000" flipH="1">
            <a:off x="6082748" y="-2957934"/>
            <a:ext cx="26504" cy="10440000"/>
          </a:xfrm>
          <a:prstGeom prst="line">
            <a:avLst/>
          </a:prstGeom>
          <a:ln>
            <a:solidFill>
              <a:srgbClr val="007434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C7C089F8-CC2D-1861-5E21-18BBB5F858D0}"/>
              </a:ext>
            </a:extLst>
          </p:cNvPr>
          <p:cNvSpPr/>
          <p:nvPr/>
        </p:nvSpPr>
        <p:spPr>
          <a:xfrm>
            <a:off x="705485" y="2703195"/>
            <a:ext cx="431038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第一节   微分方程的基本概念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19E42B-419D-2F0A-4A66-E6FBAA7AC215}"/>
              </a:ext>
            </a:extLst>
          </p:cNvPr>
          <p:cNvSpPr/>
          <p:nvPr/>
        </p:nvSpPr>
        <p:spPr>
          <a:xfrm>
            <a:off x="705485" y="3399790"/>
            <a:ext cx="331343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第三节   齐次方程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78415B3-7AE5-8C08-DDD0-C706CBE57836}"/>
              </a:ext>
            </a:extLst>
          </p:cNvPr>
          <p:cNvSpPr/>
          <p:nvPr/>
        </p:nvSpPr>
        <p:spPr>
          <a:xfrm>
            <a:off x="5906135" y="2703195"/>
            <a:ext cx="530796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第二节   可分离变量的微分方程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3BF91A5-9B7A-4196-A369-3AF9980F63C4}"/>
              </a:ext>
            </a:extLst>
          </p:cNvPr>
          <p:cNvSpPr/>
          <p:nvPr/>
        </p:nvSpPr>
        <p:spPr>
          <a:xfrm>
            <a:off x="5906046" y="3397754"/>
            <a:ext cx="533463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第四节   一阶线性微分方程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85FB52C-0FA5-BA75-9D97-D89AFE822F96}"/>
              </a:ext>
            </a:extLst>
          </p:cNvPr>
          <p:cNvSpPr/>
          <p:nvPr/>
        </p:nvSpPr>
        <p:spPr>
          <a:xfrm>
            <a:off x="705172" y="4141974"/>
            <a:ext cx="520382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第五节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可降解的高阶微分方程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85164A2-8DFC-0516-B44F-BC507E5D016F}"/>
              </a:ext>
            </a:extLst>
          </p:cNvPr>
          <p:cNvSpPr/>
          <p:nvPr/>
        </p:nvSpPr>
        <p:spPr>
          <a:xfrm>
            <a:off x="705485" y="4850130"/>
            <a:ext cx="516636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第七节   常系数齐次线性微分方程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B405AC9-3AE9-C8B8-E88A-9F06DB9030E3}"/>
              </a:ext>
            </a:extLst>
          </p:cNvPr>
          <p:cNvSpPr/>
          <p:nvPr/>
        </p:nvSpPr>
        <p:spPr>
          <a:xfrm>
            <a:off x="5906135" y="4142105"/>
            <a:ext cx="496697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第六节   高阶线性微分方程 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EEB8BAB-CE62-50C6-9A12-0E5613FDBB6A}"/>
              </a:ext>
            </a:extLst>
          </p:cNvPr>
          <p:cNvSpPr/>
          <p:nvPr/>
        </p:nvSpPr>
        <p:spPr>
          <a:xfrm>
            <a:off x="5906135" y="4844415"/>
            <a:ext cx="560133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74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第八节   </a:t>
            </a:r>
            <a:r>
              <a:rPr lang="zh-CN" altLang="en-US" sz="2400" b="1" dirty="0">
                <a:solidFill>
                  <a:srgbClr val="00743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常系数非齐次线性微分方程</a:t>
            </a:r>
            <a:endParaRPr lang="zh-CN" altLang="en-US" sz="2400" b="1" dirty="0">
              <a:solidFill>
                <a:srgbClr val="00743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448A421-A6B5-7F0E-D964-9CC10A098261}"/>
              </a:ext>
            </a:extLst>
          </p:cNvPr>
          <p:cNvSpPr/>
          <p:nvPr/>
        </p:nvSpPr>
        <p:spPr>
          <a:xfrm>
            <a:off x="579755" y="5603875"/>
            <a:ext cx="490601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第九节   欧拉方程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F7CE23B-A6EC-C2E3-19C2-76156EE39F30}"/>
              </a:ext>
            </a:extLst>
          </p:cNvPr>
          <p:cNvSpPr/>
          <p:nvPr/>
        </p:nvSpPr>
        <p:spPr>
          <a:xfrm>
            <a:off x="5768975" y="5603875"/>
            <a:ext cx="580326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第十节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常系数线性微分方程组解法举例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F2A10CEB-5CA9-4551-5EE7-D195BAB94096}"/>
              </a:ext>
            </a:extLst>
          </p:cNvPr>
          <p:cNvGrpSpPr/>
          <p:nvPr/>
        </p:nvGrpSpPr>
        <p:grpSpPr>
          <a:xfrm>
            <a:off x="-6985" y="-47904"/>
            <a:ext cx="12289790" cy="6917055"/>
            <a:chOff x="-6985" y="-47904"/>
            <a:chExt cx="12289790" cy="6917055"/>
          </a:xfrm>
        </p:grpSpPr>
        <p:sp>
          <p:nvSpPr>
            <p:cNvPr id="7" name="图文框 6">
              <a:extLst>
                <a:ext uri="{FF2B5EF4-FFF2-40B4-BE49-F238E27FC236}">
                  <a16:creationId xmlns:a16="http://schemas.microsoft.com/office/drawing/2014/main" id="{3CA61783-234C-EFE9-EC35-35C4F7127CF9}"/>
                </a:ext>
              </a:extLst>
            </p:cNvPr>
            <p:cNvSpPr/>
            <p:nvPr/>
          </p:nvSpPr>
          <p:spPr>
            <a:xfrm>
              <a:off x="0" y="11150"/>
              <a:ext cx="12192001" cy="6858001"/>
            </a:xfrm>
            <a:prstGeom prst="frame">
              <a:avLst>
                <a:gd name="adj1" fmla="val 50000"/>
              </a:avLst>
            </a:prstGeom>
            <a:gradFill flip="none" rotWithShape="1">
              <a:gsLst>
                <a:gs pos="74000">
                  <a:srgbClr val="007434">
                    <a:alpha val="31000"/>
                  </a:srgbClr>
                </a:gs>
                <a:gs pos="4000">
                  <a:schemeClr val="bg1">
                    <a:alpha val="0"/>
                  </a:schemeClr>
                </a:gs>
                <a:gs pos="100000">
                  <a:schemeClr val="bg1">
                    <a:alpha val="64000"/>
                  </a:schemeClr>
                </a:gs>
              </a:gsLst>
              <a:lin ang="2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9949B233-E9E5-C6C4-356E-99FC6DEEA7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303" r="7303" b="29466"/>
            <a:stretch>
              <a:fillRect/>
            </a:stretch>
          </p:blipFill>
          <p:spPr>
            <a:xfrm flipH="1">
              <a:off x="0" y="8611"/>
              <a:ext cx="6996430" cy="6860540"/>
            </a:xfrm>
            <a:prstGeom prst="rect">
              <a:avLst/>
            </a:prstGeom>
          </p:spPr>
        </p:pic>
        <p:sp>
          <p:nvSpPr>
            <p:cNvPr id="14" name="Rectangle 1">
              <a:extLst>
                <a:ext uri="{FF2B5EF4-FFF2-40B4-BE49-F238E27FC236}">
                  <a16:creationId xmlns:a16="http://schemas.microsoft.com/office/drawing/2014/main" id="{85486088-4289-7ED4-3CCB-07E732450E04}"/>
                </a:ext>
              </a:extLst>
            </p:cNvPr>
            <p:cNvSpPr/>
            <p:nvPr/>
          </p:nvSpPr>
          <p:spPr>
            <a:xfrm>
              <a:off x="-6985" y="-47904"/>
              <a:ext cx="12289790" cy="6917055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42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PA-102232">
            <a:extLst>
              <a:ext uri="{FF2B5EF4-FFF2-40B4-BE49-F238E27FC236}">
                <a16:creationId xmlns:a16="http://schemas.microsoft.com/office/drawing/2014/main" id="{FA395C5F-797D-7C0F-0C0A-391EC34DE26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69888" y="1807535"/>
            <a:ext cx="11536045" cy="38915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6BB6"/>
              </a:solidFill>
              <a:cs typeface="+mn-ea"/>
              <a:sym typeface="+mn-lt"/>
            </a:endParaRPr>
          </a:p>
        </p:txBody>
      </p:sp>
      <p:sp>
        <p:nvSpPr>
          <p:cNvPr id="6" name="Text Box 62"/>
          <p:cNvSpPr txBox="1">
            <a:spLocks noChangeArrowheads="1"/>
          </p:cNvSpPr>
          <p:nvPr/>
        </p:nvSpPr>
        <p:spPr bwMode="auto">
          <a:xfrm>
            <a:off x="2845983" y="705836"/>
            <a:ext cx="6583854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第八节  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常系数非齐次线性微分方程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94EF04B-613F-D018-B7A9-23C9FD7BCF92}"/>
              </a:ext>
            </a:extLst>
          </p:cNvPr>
          <p:cNvGrpSpPr/>
          <p:nvPr/>
        </p:nvGrpSpPr>
        <p:grpSpPr>
          <a:xfrm>
            <a:off x="1718628" y="2137697"/>
            <a:ext cx="8838565" cy="901065"/>
            <a:chOff x="5061" y="3172"/>
            <a:chExt cx="13919" cy="1419"/>
          </a:xfrm>
        </p:grpSpPr>
        <p:sp>
          <p:nvSpPr>
            <p:cNvPr id="8" name="矩形: 圆角 40">
              <a:extLst>
                <a:ext uri="{FF2B5EF4-FFF2-40B4-BE49-F238E27FC236}">
                  <a16:creationId xmlns:a16="http://schemas.microsoft.com/office/drawing/2014/main" id="{4F17D074-7FBE-B5B8-BA65-AD31854300E8}"/>
                </a:ext>
              </a:extLst>
            </p:cNvPr>
            <p:cNvSpPr/>
            <p:nvPr/>
          </p:nvSpPr>
          <p:spPr>
            <a:xfrm flipV="1">
              <a:off x="5061" y="3172"/>
              <a:ext cx="13919" cy="1419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3617C37B-1329-71E7-F5B7-13B9CBAD8C10}"/>
                </a:ext>
              </a:extLst>
            </p:cNvPr>
            <p:cNvSpPr/>
            <p:nvPr/>
          </p:nvSpPr>
          <p:spPr>
            <a:xfrm>
              <a:off x="6108" y="3470"/>
              <a:ext cx="2722" cy="8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l"/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一、</a:t>
              </a:r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定</a:t>
              </a:r>
              <a:r>
                <a:rPr lang="en-US" altLang="zh-CN" sz="28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</a:t>
              </a:r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义</a:t>
              </a:r>
              <a:endPara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440839C-8650-9BA8-0849-A9C28B188094}"/>
              </a:ext>
            </a:extLst>
          </p:cNvPr>
          <p:cNvGrpSpPr/>
          <p:nvPr/>
        </p:nvGrpSpPr>
        <p:grpSpPr>
          <a:xfrm>
            <a:off x="1718628" y="3319749"/>
            <a:ext cx="8838565" cy="901065"/>
            <a:chOff x="5061" y="5187"/>
            <a:chExt cx="13919" cy="1419"/>
          </a:xfrm>
        </p:grpSpPr>
        <p:sp>
          <p:nvSpPr>
            <p:cNvPr id="12" name="矩形: 圆角 40">
              <a:extLst>
                <a:ext uri="{FF2B5EF4-FFF2-40B4-BE49-F238E27FC236}">
                  <a16:creationId xmlns:a16="http://schemas.microsoft.com/office/drawing/2014/main" id="{0E23C850-1E81-1882-C298-41BE7B747BF3}"/>
                </a:ext>
              </a:extLst>
            </p:cNvPr>
            <p:cNvSpPr/>
            <p:nvPr/>
          </p:nvSpPr>
          <p:spPr>
            <a:xfrm flipV="1">
              <a:off x="5061" y="5187"/>
              <a:ext cx="13919" cy="1419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/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3D491C76-A6A9-F9C5-91AE-D01B8EC620E6}"/>
                    </a:ext>
                  </a:extLst>
                </p:cNvPr>
                <p:cNvSpPr/>
                <p:nvPr/>
              </p:nvSpPr>
              <p:spPr>
                <a:xfrm>
                  <a:off x="6108" y="5485"/>
                  <a:ext cx="6089" cy="85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lvl="0"/>
                  <a:r>
                    <a:rPr lang="zh-CN" altLang="en-US" sz="28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二、</a:t>
                  </a:r>
                  <a14:m>
                    <m:oMath xmlns:m="http://schemas.openxmlformats.org/officeDocument/2006/math">
                      <m:r>
                        <a:rPr kumimoji="1" lang="en-US" altLang="zh-CN" sz="2800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𝑓</m:t>
                      </m:r>
                      <m:r>
                        <a:rPr kumimoji="1" lang="en-US" altLang="zh-CN" sz="2800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</m:t>
                      </m:r>
                      <m:r>
                        <a:rPr kumimoji="1" lang="en-US" altLang="zh-CN" sz="2800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𝑥</m:t>
                      </m:r>
                      <m:r>
                        <a:rPr kumimoji="1" lang="en-US" altLang="zh-CN" sz="2800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)=</m:t>
                      </m:r>
                      <m:sSup>
                        <m:sSup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e</m:t>
                          </m:r>
                        </m:e>
                        <m:sup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𝜆</m:t>
                          </m:r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</m:sup>
                      </m:sSup>
                      <m:sSub>
                        <m:sSub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𝑃</m:t>
                          </m:r>
                        </m:e>
                        <m:sub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𝑚</m:t>
                          </m:r>
                        </m:sub>
                      </m:sSub>
                      <m:r>
                        <a:rPr kumimoji="1" lang="en-US" altLang="zh-CN" sz="2800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</m:t>
                      </m:r>
                      <m:r>
                        <a:rPr kumimoji="1" lang="en-US" altLang="zh-CN" sz="2800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𝑥</m:t>
                      </m:r>
                      <m:r>
                        <a:rPr kumimoji="1" lang="en-US" altLang="zh-CN" sz="2800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)</m:t>
                      </m:r>
                    </m:oMath>
                  </a14:m>
                  <a:r>
                    <a:rPr lang="zh-CN" altLang="en-US" sz="28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型</a:t>
                  </a:r>
                </a:p>
              </p:txBody>
            </p:sp>
          </mc:Choice>
          <mc:Fallback xmlns=""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3D491C76-A6A9-F9C5-91AE-D01B8EC620E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08" y="5485"/>
                  <a:ext cx="6089" cy="856"/>
                </a:xfrm>
                <a:prstGeom prst="rect">
                  <a:avLst/>
                </a:prstGeom>
                <a:blipFill>
                  <a:blip r:embed="rId4"/>
                  <a:stretch>
                    <a:fillRect l="-3312" t="-7865" r="-2050" b="-3146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F6E76D0-D478-725D-4AA7-2680CD194BF1}"/>
              </a:ext>
            </a:extLst>
          </p:cNvPr>
          <p:cNvGrpSpPr/>
          <p:nvPr/>
        </p:nvGrpSpPr>
        <p:grpSpPr>
          <a:xfrm>
            <a:off x="1718628" y="4501802"/>
            <a:ext cx="8838565" cy="901065"/>
            <a:chOff x="5061" y="7419"/>
            <a:chExt cx="13919" cy="1419"/>
          </a:xfrm>
        </p:grpSpPr>
        <p:sp>
          <p:nvSpPr>
            <p:cNvPr id="19" name="矩形: 圆角 40">
              <a:extLst>
                <a:ext uri="{FF2B5EF4-FFF2-40B4-BE49-F238E27FC236}">
                  <a16:creationId xmlns:a16="http://schemas.microsoft.com/office/drawing/2014/main" id="{5252B57A-4EF3-1A46-F730-1211071CEF09}"/>
                </a:ext>
              </a:extLst>
            </p:cNvPr>
            <p:cNvSpPr/>
            <p:nvPr/>
          </p:nvSpPr>
          <p:spPr>
            <a:xfrm flipV="1">
              <a:off x="5061" y="7419"/>
              <a:ext cx="13919" cy="1419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/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EFCF56F8-DC8E-18F7-605B-4F2FC4AC1C84}"/>
                    </a:ext>
                  </a:extLst>
                </p:cNvPr>
                <p:cNvSpPr/>
                <p:nvPr/>
              </p:nvSpPr>
              <p:spPr>
                <a:xfrm>
                  <a:off x="6108" y="7717"/>
                  <a:ext cx="11976" cy="85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lvl="0"/>
                  <a:r>
                    <a:rPr lang="zh-CN" altLang="en-US" sz="28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三、</a:t>
                  </a:r>
                  <a14:m>
                    <m:oMath xmlns:m="http://schemas.openxmlformats.org/officeDocument/2006/math">
                      <m:r>
                        <a:rPr kumimoji="1" lang="en-US" altLang="zh-CN" sz="2800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𝑓</m:t>
                      </m:r>
                      <m:r>
                        <a:rPr kumimoji="1" lang="en-US" altLang="zh-CN" sz="2800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</m:t>
                      </m:r>
                      <m:r>
                        <a:rPr kumimoji="1" lang="en-US" altLang="zh-CN" sz="2800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𝑥</m:t>
                      </m:r>
                      <m:r>
                        <a:rPr kumimoji="1" lang="en-US" altLang="zh-CN" sz="2800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)=</m:t>
                      </m:r>
                      <m:sSup>
                        <m:sSup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e</m:t>
                          </m:r>
                        </m:e>
                        <m:sup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𝜆</m:t>
                          </m:r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</m:sup>
                      </m:sSup>
                      <m:r>
                        <a:rPr kumimoji="1" lang="en-US" altLang="zh-CN" sz="2800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[</m:t>
                      </m:r>
                      <m:sSub>
                        <m:sSub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𝑃</m:t>
                          </m:r>
                        </m:e>
                        <m:sub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𝑙</m:t>
                          </m:r>
                        </m:sub>
                      </m:sSub>
                      <m:r>
                        <a:rPr kumimoji="1" lang="en-US" altLang="zh-CN" sz="2800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</m:t>
                      </m:r>
                      <m:r>
                        <a:rPr kumimoji="1" lang="en-US" altLang="zh-CN" sz="2800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𝑥</m:t>
                      </m:r>
                      <m:r>
                        <a:rPr kumimoji="1" lang="en-US" altLang="zh-CN" sz="2800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)</m:t>
                      </m:r>
                      <m:func>
                        <m:func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𝜔</m:t>
                          </m:r>
                        </m:e>
                      </m:func>
                      <m:r>
                        <a:rPr kumimoji="1" lang="en-US" altLang="zh-CN" sz="2800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𝑥</m:t>
                      </m:r>
                      <m:r>
                        <a:rPr kumimoji="1" lang="en-US" altLang="zh-CN" sz="2800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𝑄</m:t>
                          </m:r>
                        </m:e>
                        <m:sub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𝑛</m:t>
                          </m:r>
                        </m:sub>
                      </m:sSub>
                      <m:r>
                        <a:rPr kumimoji="1" lang="en-US" altLang="zh-CN" sz="2800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</m:t>
                      </m:r>
                      <m:r>
                        <a:rPr kumimoji="1" lang="en-US" altLang="zh-CN" sz="2800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𝑥</m:t>
                      </m:r>
                      <m:r>
                        <a:rPr kumimoji="1" lang="en-US" altLang="zh-CN" sz="2800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)</m:t>
                      </m:r>
                      <m:func>
                        <m:func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sin</m:t>
                          </m:r>
                        </m:fName>
                        <m:e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𝜔</m:t>
                          </m:r>
                        </m:e>
                      </m:func>
                      <m:r>
                        <a:rPr kumimoji="1" lang="en-US" altLang="zh-CN" sz="2800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𝑥</m:t>
                      </m:r>
                      <m:r>
                        <a:rPr kumimoji="1" lang="en-US" altLang="zh-CN" sz="2800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]</m:t>
                      </m:r>
                    </m:oMath>
                  </a14:m>
                  <a:r>
                    <a:rPr lang="zh-CN" altLang="en-US" sz="2800" b="1" dirty="0"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型</a:t>
                  </a:r>
                  <a:endParaRPr lang="zh-CN" altLang="en-US" sz="28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EFCF56F8-DC8E-18F7-605B-4F2FC4AC1C8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08" y="7717"/>
                  <a:ext cx="11976" cy="857"/>
                </a:xfrm>
                <a:prstGeom prst="rect">
                  <a:avLst/>
                </a:prstGeom>
                <a:blipFill>
                  <a:blip r:embed="rId5"/>
                  <a:stretch>
                    <a:fillRect l="-1684" t="-7865" r="-561" b="-3146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1"/>
          <p:cNvSpPr/>
          <p:nvPr/>
        </p:nvSpPr>
        <p:spPr>
          <a:xfrm>
            <a:off x="880110" y="1177290"/>
            <a:ext cx="10466070" cy="1373505"/>
          </a:xfrm>
          <a:prstGeom prst="rect">
            <a:avLst/>
          </a:prstGeom>
          <a:solidFill>
            <a:srgbClr val="039462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矩形标注 3"/>
          <p:cNvSpPr/>
          <p:nvPr/>
        </p:nvSpPr>
        <p:spPr>
          <a:xfrm>
            <a:off x="5142866" y="3437255"/>
            <a:ext cx="2265045" cy="480695"/>
          </a:xfrm>
          <a:prstGeom prst="wedgeRectCallout">
            <a:avLst>
              <a:gd name="adj1" fmla="val -22595"/>
              <a:gd name="adj2" fmla="val -77708"/>
            </a:avLst>
          </a:prstGeom>
          <a:solidFill>
            <a:srgbClr val="04926A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pitchFamily="18" charset="0"/>
                <a:ea typeface="黑体" panose="02010609060101010101" pitchFamily="49" charset="-122"/>
              </a:rPr>
              <a:t>第7节已解决</a:t>
            </a:r>
          </a:p>
        </p:txBody>
      </p:sp>
      <p:sp>
        <p:nvSpPr>
          <p:cNvPr id="17" name="标题 1"/>
          <p:cNvSpPr>
            <a:spLocks noGrp="1"/>
          </p:cNvSpPr>
          <p:nvPr/>
        </p:nvSpPr>
        <p:spPr>
          <a:xfrm>
            <a:off x="880110" y="574040"/>
            <a:ext cx="2867025" cy="603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zh-CN" altLang="en-US" sz="32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一、 定义</a:t>
            </a:r>
          </a:p>
        </p:txBody>
      </p:sp>
      <p:sp>
        <p:nvSpPr>
          <p:cNvPr id="18" name="Text Box 130"/>
          <p:cNvSpPr txBox="1">
            <a:spLocks noChangeArrowheads="1"/>
          </p:cNvSpPr>
          <p:nvPr/>
        </p:nvSpPr>
        <p:spPr bwMode="auto">
          <a:xfrm>
            <a:off x="7284321" y="1376350"/>
            <a:ext cx="4309739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的方程称为二阶常系数</a:t>
            </a:r>
          </a:p>
        </p:txBody>
      </p:sp>
      <p:sp>
        <p:nvSpPr>
          <p:cNvPr id="22" name="Text Box 15"/>
          <p:cNvSpPr txBox="1">
            <a:spLocks noChangeArrowheads="1"/>
          </p:cNvSpPr>
          <p:nvPr/>
        </p:nvSpPr>
        <p:spPr bwMode="auto">
          <a:xfrm>
            <a:off x="880110" y="4148626"/>
            <a:ext cx="350134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难点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pitchFamily="18" charset="0"/>
                <a:ea typeface="黑体" panose="02010609060101010101" pitchFamily="49" charset="-122"/>
              </a:rPr>
              <a:t>如何求特解？</a:t>
            </a:r>
          </a:p>
        </p:txBody>
      </p:sp>
      <p:sp>
        <p:nvSpPr>
          <p:cNvPr id="23" name="Text Box 16"/>
          <p:cNvSpPr txBox="1">
            <a:spLocks noChangeArrowheads="1"/>
          </p:cNvSpPr>
          <p:nvPr/>
        </p:nvSpPr>
        <p:spPr bwMode="auto">
          <a:xfrm>
            <a:off x="880110" y="4885885"/>
            <a:ext cx="350134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pitchFamily="18" charset="0"/>
                <a:ea typeface="黑体" panose="02010609060101010101" pitchFamily="49" charset="-122"/>
              </a:rPr>
              <a:t>待定系数法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25" name="矩形 24"/>
          <p:cNvSpPr/>
          <p:nvPr/>
        </p:nvSpPr>
        <p:spPr>
          <a:xfrm>
            <a:off x="1128395" y="1844434"/>
            <a:ext cx="3472180" cy="52197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非齐次线性微分方程.</a:t>
            </a:r>
          </a:p>
        </p:txBody>
      </p:sp>
      <p:sp>
        <p:nvSpPr>
          <p:cNvPr id="31" name="矩形标注 30"/>
          <p:cNvSpPr/>
          <p:nvPr/>
        </p:nvSpPr>
        <p:spPr>
          <a:xfrm>
            <a:off x="7608570" y="3437255"/>
            <a:ext cx="1948815" cy="472440"/>
          </a:xfrm>
          <a:prstGeom prst="wedgeRectCallout">
            <a:avLst>
              <a:gd name="adj1" fmla="val -22595"/>
              <a:gd name="adj2" fmla="val -77708"/>
            </a:avLst>
          </a:prstGeom>
          <a:solidFill>
            <a:srgbClr val="04926A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pitchFamily="18" charset="0"/>
                <a:ea typeface="黑体" panose="02010609060101010101" pitchFamily="49" charset="-122"/>
              </a:rPr>
              <a:t>难点问题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80110" y="2750185"/>
            <a:ext cx="215786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通解的结构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:</a:t>
            </a:r>
            <a:endParaRPr lang="zh-CN" altLang="en-US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128395" y="1180465"/>
            <a:ext cx="6360160" cy="718185"/>
            <a:chOff x="1717" y="1754"/>
            <a:chExt cx="10016" cy="11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对象 16"/>
                <p:cNvSpPr txBox="1"/>
                <p:nvPr/>
              </p:nvSpPr>
              <p:spPr>
                <a:xfrm>
                  <a:off x="1717" y="1993"/>
                  <a:ext cx="10016" cy="892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spcBef>
                      <a:spcPct val="50000"/>
                    </a:spcBef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形如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 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″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𝑝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𝑞𝑦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𝑓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) (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𝑝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𝑞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是常数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</m:t>
                        </m:r>
                      </m:oMath>
                    </m:oMathPara>
                  </a14:m>
                  <a:endPara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9" name="对象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7" y="1993"/>
                  <a:ext cx="10016" cy="89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矩形 2"/>
            <p:cNvSpPr/>
            <p:nvPr/>
          </p:nvSpPr>
          <p:spPr>
            <a:xfrm>
              <a:off x="2625" y="1754"/>
              <a:ext cx="525" cy="18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sp>
        <p:nvSpPr>
          <p:cNvPr id="28" name="矩形标注 30">
            <a:extLst>
              <a:ext uri="{FF2B5EF4-FFF2-40B4-BE49-F238E27FC236}">
                <a16:creationId xmlns:a16="http://schemas.microsoft.com/office/drawing/2014/main" id="{368ECF77-A1FE-2736-E0A3-61B94F9CCFD8}"/>
              </a:ext>
            </a:extLst>
          </p:cNvPr>
          <p:cNvSpPr/>
          <p:nvPr/>
        </p:nvSpPr>
        <p:spPr>
          <a:xfrm>
            <a:off x="5142866" y="4270651"/>
            <a:ext cx="4414519" cy="1929303"/>
          </a:xfrm>
          <a:prstGeom prst="wedgeRectCallout">
            <a:avLst>
              <a:gd name="adj1" fmla="val -69265"/>
              <a:gd name="adj2" fmla="val -26140"/>
            </a:avLst>
          </a:prstGeom>
          <a:solidFill>
            <a:srgbClr val="96D1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28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2DF3D618-B1D4-EB22-4DF8-B6B743B96C98}"/>
              </a:ext>
            </a:extLst>
          </p:cNvPr>
          <p:cNvGrpSpPr/>
          <p:nvPr/>
        </p:nvGrpSpPr>
        <p:grpSpPr>
          <a:xfrm>
            <a:off x="5232949" y="4379409"/>
            <a:ext cx="3917950" cy="577850"/>
            <a:chOff x="9510" y="7035"/>
            <a:chExt cx="6170" cy="9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对象 32">
                  <a:extLst>
                    <a:ext uri="{FF2B5EF4-FFF2-40B4-BE49-F238E27FC236}">
                      <a16:creationId xmlns:a16="http://schemas.microsoft.com/office/drawing/2014/main" id="{C7F1A5A2-CBDA-F3F6-900A-B54528777D77}"/>
                    </a:ext>
                  </a:extLst>
                </p:cNvPr>
                <p:cNvSpPr txBox="1"/>
                <p:nvPr/>
              </p:nvSpPr>
              <p:spPr>
                <a:xfrm>
                  <a:off x="9510" y="7035"/>
                  <a:ext cx="6171" cy="911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针对</m:t>
                        </m:r>
                        <m:r>
                          <a:rPr kumimoji="1" lang="zh-CN" altLang="en-US" sz="28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𝑓</m:t>
                        </m:r>
                        <m:r>
                          <a:rPr kumimoji="1" lang="zh-CN" altLang="en-US" sz="28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zh-CN" altLang="en-US" sz="28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zh-CN" altLang="en-US" sz="28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</m:t>
                        </m:r>
                        <m:r>
                          <a:rPr kumimoji="1" lang="zh-CN" altLang="en-US" sz="28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的特殊形式</m:t>
                        </m:r>
                        <m:r>
                          <a:rPr kumimoji="1" lang="zh-CN" altLang="en-US" sz="28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</m:oMath>
                    </m:oMathPara>
                  </a14:m>
                  <a:endPara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0" name="对象 32">
                  <a:extLst>
                    <a:ext uri="{FF2B5EF4-FFF2-40B4-BE49-F238E27FC236}">
                      <a16:creationId xmlns:a16="http://schemas.microsoft.com/office/drawing/2014/main" id="{C7F1A5A2-CBDA-F3F6-900A-B54528777D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10" y="7035"/>
                  <a:ext cx="6171" cy="91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FBD005AA-B21F-9290-A6A3-62B60948C439}"/>
                </a:ext>
              </a:extLst>
            </p:cNvPr>
            <p:cNvSpPr/>
            <p:nvPr/>
          </p:nvSpPr>
          <p:spPr>
            <a:xfrm>
              <a:off x="13669" y="7315"/>
              <a:ext cx="170" cy="1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057E9856-D830-CC29-F75A-C52FDEBE7066}"/>
              </a:ext>
            </a:extLst>
          </p:cNvPr>
          <p:cNvGrpSpPr/>
          <p:nvPr/>
        </p:nvGrpSpPr>
        <p:grpSpPr>
          <a:xfrm>
            <a:off x="5232949" y="4959164"/>
            <a:ext cx="4104005" cy="582295"/>
            <a:chOff x="9510" y="7948"/>
            <a:chExt cx="6463" cy="91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对象 33">
                  <a:extLst>
                    <a:ext uri="{FF2B5EF4-FFF2-40B4-BE49-F238E27FC236}">
                      <a16:creationId xmlns:a16="http://schemas.microsoft.com/office/drawing/2014/main" id="{0B7BF8BD-3210-FE78-8BA6-67DB15FAA484}"/>
                    </a:ext>
                  </a:extLst>
                </p:cNvPr>
                <p:cNvSpPr txBox="1"/>
                <p:nvPr/>
              </p:nvSpPr>
              <p:spPr>
                <a:xfrm>
                  <a:off x="9510" y="7995"/>
                  <a:ext cx="6463" cy="87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给出特解</m:t>
                        </m:r>
                        <m:sSubSup>
                          <m:sSubSupPr>
                            <m:ctrlPr>
                              <a:rPr kumimoji="1" lang="zh-CN" altLang="en-US" sz="2800" i="1" dirty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SupPr>
                          <m:e>
                            <m:r>
                              <a:rPr kumimoji="1" lang="en-US" altLang="zh-CN" sz="2800" b="0" i="0" dirty="0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 </m:t>
                            </m:r>
                            <m:r>
                              <a:rPr kumimoji="1" lang="zh-CN" altLang="en-US" sz="2800" dirty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   </m:t>
                            </m:r>
                          </m:sub>
                          <m:sup>
                            <m:r>
                              <a:rPr kumimoji="1" lang="zh-CN" altLang="en-US" sz="2800" dirty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∗</m:t>
                            </m:r>
                          </m:sup>
                        </m:sSubSup>
                        <m:r>
                          <a:rPr kumimoji="1" lang="en-US" altLang="zh-CN" sz="2800" b="0" i="0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</m:t>
                        </m:r>
                        <m:r>
                          <a:rPr kumimoji="1" lang="zh-CN" altLang="en-US" sz="28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的待定式</m:t>
                        </m:r>
                        <m:r>
                          <a:rPr kumimoji="1" lang="zh-CN" altLang="en-US" sz="28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</m:oMath>
                    </m:oMathPara>
                  </a14:m>
                  <a:endPara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6" name="对象 33">
                  <a:extLst>
                    <a:ext uri="{FF2B5EF4-FFF2-40B4-BE49-F238E27FC236}">
                      <a16:creationId xmlns:a16="http://schemas.microsoft.com/office/drawing/2014/main" id="{0B7BF8BD-3210-FE78-8BA6-67DB15FAA4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10" y="7995"/>
                  <a:ext cx="6463" cy="87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36E6CB51-ACC7-582E-5A8E-15EE93046E8B}"/>
                </a:ext>
              </a:extLst>
            </p:cNvPr>
            <p:cNvSpPr/>
            <p:nvPr/>
          </p:nvSpPr>
          <p:spPr>
            <a:xfrm>
              <a:off x="14009" y="7948"/>
              <a:ext cx="201" cy="1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866DE62B-FCE8-92EB-9093-A7E3EBC62E42}"/>
              </a:ext>
            </a:extLst>
          </p:cNvPr>
          <p:cNvGrpSpPr/>
          <p:nvPr/>
        </p:nvGrpSpPr>
        <p:grpSpPr>
          <a:xfrm>
            <a:off x="5232949" y="5380804"/>
            <a:ext cx="4695825" cy="819150"/>
            <a:chOff x="9510" y="8612"/>
            <a:chExt cx="7395" cy="129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对象 9">
                  <a:extLst>
                    <a:ext uri="{FF2B5EF4-FFF2-40B4-BE49-F238E27FC236}">
                      <a16:creationId xmlns:a16="http://schemas.microsoft.com/office/drawing/2014/main" id="{BE8E3583-941F-6E7E-E6FD-939F5EA4490D}"/>
                    </a:ext>
                  </a:extLst>
                </p:cNvPr>
                <p:cNvSpPr txBox="1"/>
                <p:nvPr/>
              </p:nvSpPr>
              <p:spPr>
                <a:xfrm>
                  <a:off x="9510" y="8900"/>
                  <a:ext cx="7395" cy="1002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代入原方程确定待定系数</m:t>
                        </m:r>
                        <m:r>
                          <a:rPr kumimoji="1" lang="zh-CN" altLang="en-US" sz="28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.</m:t>
                        </m:r>
                      </m:oMath>
                    </m:oMathPara>
                  </a14:m>
                  <a:endPara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9" name="对象 9">
                  <a:extLst>
                    <a:ext uri="{FF2B5EF4-FFF2-40B4-BE49-F238E27FC236}">
                      <a16:creationId xmlns:a16="http://schemas.microsoft.com/office/drawing/2014/main" id="{BE8E3583-941F-6E7E-E6FD-939F5EA449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10" y="8900"/>
                  <a:ext cx="7395" cy="100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7E8ECE3-6596-E2E1-D98F-A67E32A84CDE}"/>
                </a:ext>
              </a:extLst>
            </p:cNvPr>
            <p:cNvSpPr/>
            <p:nvPr/>
          </p:nvSpPr>
          <p:spPr>
            <a:xfrm>
              <a:off x="14874" y="8612"/>
              <a:ext cx="232" cy="29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22E937BA-9C36-7527-3094-B7B32513AD4D}"/>
              </a:ext>
            </a:extLst>
          </p:cNvPr>
          <p:cNvGrpSpPr/>
          <p:nvPr/>
        </p:nvGrpSpPr>
        <p:grpSpPr>
          <a:xfrm>
            <a:off x="4179801" y="2622550"/>
            <a:ext cx="6024880" cy="739775"/>
            <a:chOff x="3016885" y="2599690"/>
            <a:chExt cx="6024880" cy="7397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对象 3">
                  <a:extLst>
                    <a:ext uri="{FF2B5EF4-FFF2-40B4-BE49-F238E27FC236}">
                      <a16:creationId xmlns:a16="http://schemas.microsoft.com/office/drawing/2014/main" id="{B47524DC-9549-C1DA-91C5-2AB993F5BDF8}"/>
                    </a:ext>
                  </a:extLst>
                </p:cNvPr>
                <p:cNvSpPr txBox="1"/>
                <p:nvPr/>
              </p:nvSpPr>
              <p:spPr>
                <a:xfrm>
                  <a:off x="3218534" y="2896770"/>
                  <a:ext cx="1291273" cy="364126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16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非</m:t>
                        </m:r>
                        <m:r>
                          <a:rPr kumimoji="1" lang="zh-CN" altLang="en-US" sz="16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齐次通解</m:t>
                        </m:r>
                      </m:oMath>
                    </m:oMathPara>
                  </a14:m>
                  <a:endParaRPr kumimoji="1" lang="zh-CN" altLang="en-US" sz="16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4" name="对象 3">
                  <a:extLst>
                    <a:ext uri="{FF2B5EF4-FFF2-40B4-BE49-F238E27FC236}">
                      <a16:creationId xmlns:a16="http://schemas.microsoft.com/office/drawing/2014/main" id="{B47524DC-9549-C1DA-91C5-2AB993F5BD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8534" y="2896770"/>
                  <a:ext cx="1291273" cy="364126"/>
                </a:xfrm>
                <a:prstGeom prst="rect">
                  <a:avLst/>
                </a:prstGeom>
                <a:blipFill>
                  <a:blip r:embed="rId8"/>
                  <a:stretch>
                    <a:fillRect l="-47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47D5A3F1-2E62-5ABB-9E58-C4596165E23C}"/>
                </a:ext>
              </a:extLst>
            </p:cNvPr>
            <p:cNvGrpSpPr/>
            <p:nvPr/>
          </p:nvGrpSpPr>
          <p:grpSpPr>
            <a:xfrm>
              <a:off x="3016885" y="2599690"/>
              <a:ext cx="6024880" cy="739775"/>
              <a:chOff x="3016885" y="2599690"/>
              <a:chExt cx="6024880" cy="739775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3016885" y="2599690"/>
                <a:ext cx="6024880" cy="739775"/>
                <a:chOff x="4691" y="3989"/>
                <a:chExt cx="9488" cy="1165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对象 3"/>
                    <p:cNvSpPr txBox="1"/>
                    <p:nvPr/>
                  </p:nvSpPr>
                  <p:spPr>
                    <a:xfrm>
                      <a:off x="4691" y="3989"/>
                      <a:ext cx="8581" cy="1165"/>
                    </a:xfrm>
                    <a:prstGeom prst="rect">
                      <a:avLst/>
                    </a:prstGeom>
                  </p:spPr>
                  <p:txBody>
                    <a:bodyPr>
                      <a:normAutofit/>
                    </a:bodyPr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kumimoji="1" lang="en-US" altLang="zh-CN" sz="2800" i="1" dirty="0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8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kumimoji="1" lang="en-US" altLang="zh-CN" sz="2800" b="0" i="0" dirty="0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                  </m:t>
                                </m:r>
                              </m:sub>
                            </m:s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8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kumimoji="1" lang="en-US" altLang="zh-CN" sz="2800" b="0" i="1" dirty="0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         </m:t>
                                </m:r>
                                <m:r>
                                  <a:rPr kumimoji="1" lang="en-US" altLang="zh-CN" sz="2800" b="0" i="0" dirty="0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          </m:t>
                                </m:r>
                              </m:sub>
                            </m:s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kumimoji="1" lang="zh-CN" altLang="en-US" sz="2800" i="1" noProof="0" dirty="0">
                                    <a:ln>
                                      <a:noFill/>
                                    </a:ln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bSupPr>
                              <m:e>
                                <m:r>
                                  <a:rPr kumimoji="1" lang="zh-CN" altLang="en-US" sz="2800" noProof="0" dirty="0">
                                    <a:ln>
                                      <a:noFill/>
                                    </a:ln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kumimoji="1" lang="en-US" altLang="zh-CN" sz="2800" b="0" i="0" noProof="0" dirty="0" smtClean="0">
                                    <a:ln>
                                      <a:noFill/>
                                    </a:ln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                         </m:t>
                                </m:r>
                              </m:sub>
                              <m:sup>
                                <m:r>
                                  <a:rPr kumimoji="1" lang="zh-CN" altLang="en-US" sz="2800" noProof="0" dirty="0">
                                    <a:ln>
                                      <a:noFill/>
                                    </a:ln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∗</m:t>
                                </m:r>
                              </m:sup>
                            </m:sSubSup>
                          </m:oMath>
                        </m:oMathPara>
                      </a14:m>
                      <a:endParaRPr kumimoji="1" lang="zh-CN" altLang="en-US" sz="2800" noProof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21" name="对象 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691" y="3989"/>
                      <a:ext cx="8581" cy="1165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6" name="矩形 5"/>
                <p:cNvSpPr/>
                <p:nvPr/>
              </p:nvSpPr>
              <p:spPr>
                <a:xfrm>
                  <a:off x="13978" y="4488"/>
                  <a:ext cx="201" cy="34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字魂36号-正文宋楷" panose="00000500000000000000" pitchFamily="2" charset="-122"/>
                    <a:ea typeface="字魂36号-正文宋楷" panose="00000500000000000000" pitchFamily="2" charset="-122"/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对象 3">
                    <a:extLst>
                      <a:ext uri="{FF2B5EF4-FFF2-40B4-BE49-F238E27FC236}">
                        <a16:creationId xmlns:a16="http://schemas.microsoft.com/office/drawing/2014/main" id="{ECF23499-63D4-250A-A7A3-ECA3D8E4BD41}"/>
                      </a:ext>
                    </a:extLst>
                  </p:cNvPr>
                  <p:cNvSpPr txBox="1"/>
                  <p:nvPr/>
                </p:nvSpPr>
                <p:spPr>
                  <a:xfrm>
                    <a:off x="4898332" y="2896770"/>
                    <a:ext cx="1291273" cy="364126"/>
                  </a:xfrm>
                  <a:prstGeom prst="rect">
                    <a:avLst/>
                  </a:prstGeom>
                </p:spPr>
                <p:txBody>
                  <a:bodyPr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kumimoji="1" lang="zh-CN" altLang="en-US" sz="1600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齐次通解</m:t>
                          </m:r>
                        </m:oMath>
                      </m:oMathPara>
                    </a14:m>
                    <a:endParaRPr kumimoji="1" lang="zh-CN" altLang="en-US" sz="1600" noProof="0" dirty="0">
                      <a:ln>
                        <a:noFill/>
                      </a:ln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黑体" panose="02010609060101010101" pitchFamily="49" charset="-122"/>
                    </a:endParaRPr>
                  </a:p>
                </p:txBody>
              </p:sp>
            </mc:Choice>
            <mc:Fallback xmlns="">
              <p:sp>
                <p:nvSpPr>
                  <p:cNvPr id="42" name="对象 3">
                    <a:extLst>
                      <a:ext uri="{FF2B5EF4-FFF2-40B4-BE49-F238E27FC236}">
                        <a16:creationId xmlns:a16="http://schemas.microsoft.com/office/drawing/2014/main" id="{ECF23499-63D4-250A-A7A3-ECA3D8E4BD4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98332" y="2896770"/>
                    <a:ext cx="1291273" cy="364126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47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对象 3">
                    <a:extLst>
                      <a:ext uri="{FF2B5EF4-FFF2-40B4-BE49-F238E27FC236}">
                        <a16:creationId xmlns:a16="http://schemas.microsoft.com/office/drawing/2014/main" id="{805B2373-627C-2435-D124-180D95009C3D}"/>
                      </a:ext>
                    </a:extLst>
                  </p:cNvPr>
                  <p:cNvSpPr txBox="1"/>
                  <p:nvPr/>
                </p:nvSpPr>
                <p:spPr>
                  <a:xfrm>
                    <a:off x="6598627" y="2896770"/>
                    <a:ext cx="1291273" cy="364126"/>
                  </a:xfrm>
                  <a:prstGeom prst="rect">
                    <a:avLst/>
                  </a:prstGeom>
                </p:spPr>
                <p:txBody>
                  <a:bodyPr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kumimoji="1" lang="en-US" altLang="zh-CN" sz="16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非</m:t>
                          </m:r>
                          <m:r>
                            <a:rPr kumimoji="1" lang="zh-CN" altLang="en-US" sz="1600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齐次</m:t>
                          </m:r>
                          <m:r>
                            <a:rPr kumimoji="1" lang="zh-CN" altLang="en-US" sz="1600" i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特</m:t>
                          </m:r>
                          <m:r>
                            <a:rPr kumimoji="1" lang="zh-CN" altLang="en-US" sz="1600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解</m:t>
                          </m:r>
                        </m:oMath>
                      </m:oMathPara>
                    </a14:m>
                    <a:endParaRPr kumimoji="1" lang="zh-CN" altLang="en-US" sz="1600" noProof="0" dirty="0">
                      <a:ln>
                        <a:noFill/>
                      </a:ln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黑体" panose="02010609060101010101" pitchFamily="49" charset="-122"/>
                    </a:endParaRPr>
                  </a:p>
                </p:txBody>
              </p:sp>
            </mc:Choice>
            <mc:Fallback xmlns="">
              <p:sp>
                <p:nvSpPr>
                  <p:cNvPr id="43" name="对象 3">
                    <a:extLst>
                      <a:ext uri="{FF2B5EF4-FFF2-40B4-BE49-F238E27FC236}">
                        <a16:creationId xmlns:a16="http://schemas.microsoft.com/office/drawing/2014/main" id="{805B2373-627C-2435-D124-180D95009C3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98627" y="2896770"/>
                    <a:ext cx="1291273" cy="364126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4" grpId="0" animBg="1"/>
      <p:bldP spid="17" grpId="0"/>
      <p:bldP spid="18" grpId="0" animBg="1"/>
      <p:bldP spid="22" grpId="0" animBg="1"/>
      <p:bldP spid="23" grpId="0"/>
      <p:bldP spid="25" grpId="0"/>
      <p:bldP spid="31" grpId="0" animBg="1"/>
      <p:bldP spid="2" grpId="0"/>
      <p:bldP spid="2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1580877" y="526415"/>
            <a:ext cx="2091055" cy="1325880"/>
            <a:chOff x="1320" y="829"/>
            <a:chExt cx="3293" cy="2088"/>
          </a:xfrm>
        </p:grpSpPr>
        <p:sp>
          <p:nvSpPr>
            <p:cNvPr id="2" name="标题 1"/>
            <p:cNvSpPr>
              <a:spLocks noGrp="1"/>
            </p:cNvSpPr>
            <p:nvPr/>
          </p:nvSpPr>
          <p:spPr>
            <a:xfrm>
              <a:off x="1320" y="829"/>
              <a:ext cx="3293" cy="208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dirty="0">
                  <a:solidFill>
                    <a:srgbClr val="0492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二、</a:t>
              </a:r>
              <a:endParaRPr lang="zh-CN" altLang="en-US" dirty="0">
                <a:solidFill>
                  <a:srgbClr val="0000FF"/>
                </a:solidFill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2502" y="1013"/>
              <a:ext cx="139" cy="37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2230482" y="840740"/>
            <a:ext cx="5768340" cy="697230"/>
            <a:chOff x="2343" y="1324"/>
            <a:chExt cx="9084" cy="109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对象 3"/>
                <p:cNvSpPr txBox="1"/>
                <p:nvPr/>
              </p:nvSpPr>
              <p:spPr>
                <a:xfrm>
                  <a:off x="2343" y="1324"/>
                  <a:ext cx="9084" cy="1098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14:m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 </m:t>
                      </m:r>
                      <m:r>
                        <a:rPr kumimoji="1" lang="en-US" altLang="zh-CN" sz="2800" b="0" i="1" dirty="0">
                          <a:solidFill>
                            <a:srgbClr val="04926A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𝑓</m:t>
                      </m:r>
                      <m:r>
                        <a:rPr kumimoji="1" lang="en-US" altLang="zh-CN" sz="2800" b="0" i="1" dirty="0">
                          <a:solidFill>
                            <a:srgbClr val="04926A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en-US" altLang="zh-CN" sz="2800" b="0" i="1" dirty="0">
                          <a:solidFill>
                            <a:srgbClr val="04926A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en-US" altLang="zh-CN" sz="2800" b="0" i="1" dirty="0">
                          <a:solidFill>
                            <a:srgbClr val="04926A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)=</m:t>
                      </m:r>
                      <m:sSup>
                        <m:sSupPr>
                          <m:ctrlPr>
                            <a:rPr kumimoji="1" lang="en-US" altLang="zh-CN" sz="2800" i="1" dirty="0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zh-CN" sz="2800" b="0" i="0" dirty="0">
                              <a:solidFill>
                                <a:srgbClr val="04926A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e</m:t>
                          </m:r>
                        </m:e>
                        <m:sup>
                          <m:r>
                            <a:rPr kumimoji="1" lang="en-US" altLang="zh-CN" sz="2800" b="0" i="1" dirty="0">
                              <a:solidFill>
                                <a:srgbClr val="04926A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𝜆</m:t>
                          </m:r>
                          <m:r>
                            <a:rPr kumimoji="1" lang="en-US" altLang="zh-CN" sz="2800" b="0" i="1" dirty="0">
                              <a:solidFill>
                                <a:srgbClr val="04926A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sup>
                      </m:sSup>
                      <m:sSub>
                        <m:sSubPr>
                          <m:ctrlPr>
                            <a:rPr kumimoji="1" lang="en-US" altLang="zh-CN" sz="2800" i="1" dirty="0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dirty="0">
                              <a:solidFill>
                                <a:srgbClr val="04926A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𝑃</m:t>
                          </m:r>
                        </m:e>
                        <m:sub>
                          <m:r>
                            <a:rPr kumimoji="1" lang="en-US" altLang="zh-CN" sz="2800" b="0" i="1" dirty="0">
                              <a:solidFill>
                                <a:srgbClr val="04926A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𝑚</m:t>
                          </m:r>
                        </m:sub>
                      </m:sSub>
                      <m:r>
                        <a:rPr kumimoji="1" lang="en-US" altLang="zh-CN" sz="2800" b="0" i="1" dirty="0">
                          <a:solidFill>
                            <a:srgbClr val="04926A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en-US" altLang="zh-CN" sz="2800" b="0" i="1" dirty="0">
                          <a:solidFill>
                            <a:srgbClr val="04926A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en-US" altLang="zh-CN" sz="2800" b="0" i="1" dirty="0">
                          <a:solidFill>
                            <a:srgbClr val="04926A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</m:oMath>
                  </a14:m>
                  <a:r>
                    <a:rPr lang="zh-CN" altLang="en-US" sz="2800" b="1" dirty="0">
                      <a:solidFill>
                        <a:srgbClr val="04926A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型</a:t>
                  </a:r>
                </a:p>
              </p:txBody>
            </p:sp>
          </mc:Choice>
          <mc:Fallback xmlns="">
            <p:sp>
              <p:nvSpPr>
                <p:cNvPr id="6" name="对象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3" y="1324"/>
                  <a:ext cx="9084" cy="1098"/>
                </a:xfrm>
                <a:prstGeom prst="rect">
                  <a:avLst/>
                </a:prstGeom>
                <a:blipFill>
                  <a:blip r:embed="rId2"/>
                  <a:stretch>
                    <a:fillRect t="-6140" b="-26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矩形 6"/>
            <p:cNvSpPr/>
            <p:nvPr/>
          </p:nvSpPr>
          <p:spPr>
            <a:xfrm>
              <a:off x="8510" y="1677"/>
              <a:ext cx="278" cy="27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121772" y="1604645"/>
            <a:ext cx="5260975" cy="469900"/>
            <a:chOff x="1698" y="2527"/>
            <a:chExt cx="8285" cy="7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对象 3"/>
                <p:cNvSpPr txBox="1"/>
                <p:nvPr/>
              </p:nvSpPr>
              <p:spPr>
                <a:xfrm>
                  <a:off x="2297" y="2527"/>
                  <a:ext cx="7687" cy="74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 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″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𝑝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𝑞𝑦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8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𝜆</m:t>
                            </m:r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𝑃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𝑚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altLang="zh-CN" sz="28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+mn-ea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4" name="对象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7" y="2527"/>
                  <a:ext cx="7687" cy="740"/>
                </a:xfrm>
                <a:prstGeom prst="rect">
                  <a:avLst/>
                </a:prstGeom>
                <a:blipFill>
                  <a:blip r:embed="rId3"/>
                  <a:stretch>
                    <a:fillRect b="-519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矩形 9"/>
            <p:cNvSpPr/>
            <p:nvPr/>
          </p:nvSpPr>
          <p:spPr>
            <a:xfrm>
              <a:off x="1698" y="2897"/>
              <a:ext cx="479" cy="2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5947772" y="1619250"/>
            <a:ext cx="5135245" cy="680085"/>
            <a:chOff x="9298" y="2550"/>
            <a:chExt cx="8087" cy="107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对象 12"/>
                <p:cNvSpPr txBox="1"/>
                <p:nvPr/>
              </p:nvSpPr>
              <p:spPr>
                <a:xfrm>
                  <a:off x="9298" y="2550"/>
                  <a:ext cx="8087" cy="1071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𝜆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是实数</m:t>
                        </m:r>
                        <m:r>
                          <m:rPr>
                            <m:nor/>
                          </m:rPr>
                          <a:rPr lang="en-US" altLang="zh-CN" sz="28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+mn-ea"/>
                          </a:rPr>
                          <m:t>,</m:t>
                        </m:r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+mn-ea"/>
                          </a:rPr>
                          <m:t>    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𝑃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𝑚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是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𝑚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次多项式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.</m:t>
                        </m:r>
                      </m:oMath>
                    </m:oMathPara>
                  </a14:m>
                  <a:endPara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8" name="对象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98" y="2550"/>
                  <a:ext cx="8087" cy="107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矩形 11"/>
            <p:cNvSpPr/>
            <p:nvPr/>
          </p:nvSpPr>
          <p:spPr>
            <a:xfrm>
              <a:off x="17052" y="2866"/>
              <a:ext cx="232" cy="18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386567" y="2306320"/>
            <a:ext cx="5942330" cy="844550"/>
            <a:chOff x="2115" y="3632"/>
            <a:chExt cx="9358" cy="13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对象 11"/>
                <p:cNvSpPr txBox="1"/>
                <p:nvPr/>
              </p:nvSpPr>
              <p:spPr>
                <a:xfrm>
                  <a:off x="2389" y="3632"/>
                  <a:ext cx="9084" cy="133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noProof="0" dirty="0" smtClean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设方程的特解为</m:t>
                        </m:r>
                        <m:r>
                          <a:rPr kumimoji="1" lang="en-US" altLang="zh-CN" sz="2800" b="0" i="1" noProof="0" dirty="0" smtClean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∗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𝑅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8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𝜆</m:t>
                            </m:r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altLang="zh-CN" sz="28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+mn-ea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7" name="对象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89" y="3632"/>
                  <a:ext cx="9084" cy="133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矩形 13"/>
            <p:cNvSpPr/>
            <p:nvPr/>
          </p:nvSpPr>
          <p:spPr>
            <a:xfrm>
              <a:off x="2115" y="3824"/>
              <a:ext cx="371" cy="34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488157" y="2364740"/>
            <a:ext cx="3792855" cy="494030"/>
            <a:chOff x="10149" y="3724"/>
            <a:chExt cx="5973" cy="7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对象 18"/>
                <p:cNvSpPr txBox="1"/>
                <p:nvPr/>
              </p:nvSpPr>
              <p:spPr>
                <a:xfrm>
                  <a:off x="10149" y="3724"/>
                  <a:ext cx="5973" cy="778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𝑅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是待定的多项式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.</m:t>
                        </m:r>
                      </m:oMath>
                    </m:oMathPara>
                  </a14:m>
                  <a:endPara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3" name="对象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49" y="3724"/>
                  <a:ext cx="5973" cy="77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矩形 15"/>
            <p:cNvSpPr/>
            <p:nvPr/>
          </p:nvSpPr>
          <p:spPr>
            <a:xfrm>
              <a:off x="15399" y="3963"/>
              <a:ext cx="325" cy="18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1106532" y="2848610"/>
            <a:ext cx="4802505" cy="821055"/>
            <a:chOff x="1714" y="4486"/>
            <a:chExt cx="7563" cy="129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对象 13"/>
                <p:cNvSpPr txBox="1"/>
                <p:nvPr/>
              </p:nvSpPr>
              <p:spPr>
                <a:xfrm>
                  <a:off x="2471" y="4486"/>
                  <a:ext cx="6806" cy="1293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∵  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∗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𝑅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8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𝜆</m:t>
                            </m:r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9" name="对象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71" y="4486"/>
                  <a:ext cx="6806" cy="129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矩形 24"/>
            <p:cNvSpPr/>
            <p:nvPr/>
          </p:nvSpPr>
          <p:spPr>
            <a:xfrm>
              <a:off x="1714" y="4843"/>
              <a:ext cx="324" cy="1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2120627" y="3393440"/>
            <a:ext cx="5046980" cy="554990"/>
            <a:chOff x="3271" y="5344"/>
            <a:chExt cx="7948" cy="87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对象 15"/>
                <p:cNvSpPr txBox="1"/>
                <p:nvPr/>
              </p:nvSpPr>
              <p:spPr>
                <a:xfrm>
                  <a:off x="3271" y="5344"/>
                  <a:ext cx="7948" cy="874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∗′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8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𝜆</m:t>
                            </m:r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[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𝜆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 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𝑅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)+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𝑅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)]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20" name="对象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1" y="5344"/>
                  <a:ext cx="7948" cy="87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矩形 26"/>
            <p:cNvSpPr/>
            <p:nvPr/>
          </p:nvSpPr>
          <p:spPr>
            <a:xfrm>
              <a:off x="9870" y="5677"/>
              <a:ext cx="231" cy="15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2126977" y="3948430"/>
            <a:ext cx="7102475" cy="733425"/>
            <a:chOff x="3281" y="6218"/>
            <a:chExt cx="11185" cy="11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对象 16"/>
                <p:cNvSpPr txBox="1"/>
                <p:nvPr/>
              </p:nvSpPr>
              <p:spPr>
                <a:xfrm>
                  <a:off x="3281" y="6218"/>
                  <a:ext cx="11185" cy="1155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∗″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8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𝜆</m:t>
                            </m:r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[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𝜆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 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𝑅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)+2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𝜆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 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𝑅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)+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𝑅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″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)]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21" name="对象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1" y="6218"/>
                  <a:ext cx="11185" cy="115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矩形 28"/>
            <p:cNvSpPr/>
            <p:nvPr/>
          </p:nvSpPr>
          <p:spPr>
            <a:xfrm>
              <a:off x="13083" y="6542"/>
              <a:ext cx="216" cy="24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1229722" y="4716780"/>
            <a:ext cx="4902835" cy="562610"/>
            <a:chOff x="1868" y="7428"/>
            <a:chExt cx="7721" cy="8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 Box 123"/>
                <p:cNvSpPr txBox="1">
                  <a:spLocks noChangeArrowheads="1"/>
                </p:cNvSpPr>
                <p:nvPr/>
              </p:nvSpPr>
              <p:spPr bwMode="auto">
                <a:xfrm>
                  <a:off x="2389" y="7428"/>
                  <a:ext cx="7200" cy="88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kumimoji="1" lang="zh-CN" altLang="en-US" sz="2800" noProof="0" dirty="0">
                      <a:ln>
                        <a:noFill/>
                      </a:ln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黑体" panose="02010609060101010101" pitchFamily="49" charset="-122"/>
                    </a:rPr>
                    <a:t>代入方程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2800" dirty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+mn-ea"/>
                        </a:rPr>
                        <m:t>,</m:t>
                      </m:r>
                    </m:oMath>
                  </a14:m>
                  <a:r>
                    <a:rPr kumimoji="1" lang="zh-CN" altLang="en-US" sz="2800" noProof="0" dirty="0">
                      <a:ln>
                        <a:noFill/>
                      </a:ln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黑体" panose="02010609060101010101" pitchFamily="49" charset="-122"/>
                    </a:rPr>
                    <a:t> 并消去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zh-CN" sz="2800" i="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e</m:t>
                          </m:r>
                        </m:e>
                        <m:sup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𝜆</m:t>
                          </m:r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sup>
                      </m:sSup>
                    </m:oMath>
                  </a14:m>
                  <a:r>
                    <a:rPr kumimoji="1" lang="zh-CN" altLang="en-US" sz="2800" noProof="0" dirty="0">
                      <a:ln>
                        <a:noFill/>
                      </a:ln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黑体" panose="02010609060101010101" pitchFamily="49" charset="-122"/>
                    </a:rPr>
                    <a:t> 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2800" dirty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+mn-ea"/>
                        </a:rPr>
                        <m:t>,</m:t>
                      </m:r>
                    </m:oMath>
                  </a14:m>
                  <a:r>
                    <a:rPr kumimoji="1" lang="zh-CN" altLang="en-US" sz="2800" noProof="0" dirty="0">
                      <a:ln>
                        <a:noFill/>
                      </a:ln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黑体" panose="02010609060101010101" pitchFamily="49" charset="-122"/>
                    </a:rPr>
                    <a:t> 得</a:t>
                  </a:r>
                </a:p>
              </p:txBody>
            </p:sp>
          </mc:Choice>
          <mc:Fallback xmlns="">
            <p:sp>
              <p:nvSpPr>
                <p:cNvPr id="9" name="Text Box 1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389" y="7428"/>
                  <a:ext cx="7200" cy="887"/>
                </a:xfrm>
                <a:prstGeom prst="rect">
                  <a:avLst/>
                </a:prstGeom>
                <a:blipFill>
                  <a:blip r:embed="rId10"/>
                  <a:stretch>
                    <a:fillRect l="-2800" t="-11957" b="-22826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矩形 30"/>
            <p:cNvSpPr/>
            <p:nvPr/>
          </p:nvSpPr>
          <p:spPr>
            <a:xfrm>
              <a:off x="1868" y="7763"/>
              <a:ext cx="541" cy="23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1572463" y="5450205"/>
            <a:ext cx="9207577" cy="469900"/>
            <a:chOff x="2413" y="8583"/>
            <a:chExt cx="13803" cy="7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对象 17"/>
                <p:cNvSpPr txBox="1"/>
                <p:nvPr/>
              </p:nvSpPr>
              <p:spPr>
                <a:xfrm>
                  <a:off x="2413" y="8583"/>
                  <a:ext cx="13803" cy="74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𝑅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″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 + (2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𝜆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𝑝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𝑅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 + (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𝜆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𝑝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𝜆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𝑞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𝑅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 =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𝑃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𝑚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).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22" name="对象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3" y="8583"/>
                  <a:ext cx="13803" cy="740"/>
                </a:xfrm>
                <a:prstGeom prst="rect">
                  <a:avLst/>
                </a:prstGeom>
                <a:blipFill>
                  <a:blip r:embed="rId11"/>
                  <a:stretch>
                    <a:fillRect b="-129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矩形 32"/>
            <p:cNvSpPr/>
            <p:nvPr/>
          </p:nvSpPr>
          <p:spPr>
            <a:xfrm>
              <a:off x="2517" y="8628"/>
              <a:ext cx="324" cy="17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6142990" y="3596640"/>
            <a:ext cx="3209925" cy="457200"/>
            <a:chOff x="9444" y="5640"/>
            <a:chExt cx="5055" cy="7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对象 19"/>
                <p:cNvSpPr txBox="1"/>
                <p:nvPr/>
              </p:nvSpPr>
              <p:spPr>
                <a:xfrm>
                  <a:off x="9444" y="5640"/>
                  <a:ext cx="4577" cy="72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𝜆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𝑝</m:t>
                        </m:r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𝜆</m:t>
                        </m:r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𝑞</m:t>
                        </m:r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=0</m:t>
                        </m:r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6" name="对象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44" y="5640"/>
                  <a:ext cx="4577" cy="720"/>
                </a:xfrm>
                <a:prstGeom prst="rect">
                  <a:avLst/>
                </a:prstGeom>
                <a:blipFill>
                  <a:blip r:embed="rId2"/>
                  <a:stretch>
                    <a:fillRect b="-2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矩形 13"/>
            <p:cNvSpPr/>
            <p:nvPr/>
          </p:nvSpPr>
          <p:spPr>
            <a:xfrm>
              <a:off x="14380" y="5940"/>
              <a:ext cx="119" cy="2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sp>
        <p:nvSpPr>
          <p:cNvPr id="55339" name="Line 43"/>
          <p:cNvSpPr>
            <a:spLocks noChangeShapeType="1"/>
          </p:cNvSpPr>
          <p:nvPr/>
        </p:nvSpPr>
        <p:spPr bwMode="auto">
          <a:xfrm>
            <a:off x="1879600" y="1454252"/>
            <a:ext cx="8763000" cy="0"/>
          </a:xfrm>
          <a:prstGeom prst="line">
            <a:avLst/>
          </a:prstGeom>
          <a:noFill/>
          <a:ln w="9525">
            <a:solidFill>
              <a:srgbClr val="1D9D7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352" name="Text Box 56"/>
              <p:cNvSpPr txBox="1">
                <a:spLocks noChangeArrowheads="1"/>
              </p:cNvSpPr>
              <p:nvPr/>
            </p:nvSpPr>
            <p:spPr bwMode="auto">
              <a:xfrm>
                <a:off x="1555115" y="1682852"/>
                <a:ext cx="3886200" cy="5219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1. 当 </a:t>
                </a:r>
                <a:r>
                  <a:rPr kumimoji="1" lang="en-US" altLang="zh-CN" sz="2800" i="1" dirty="0">
                    <a:solidFill>
                      <a:srgbClr val="04926A"/>
                    </a:solidFill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  <a:sym typeface="Symbol" panose="05050102010706020507" pitchFamily="18" charset="2"/>
                  </a:rPr>
                  <a:t></a:t>
                </a:r>
                <a:r>
                  <a:rPr lang="zh-CN" altLang="en-US" sz="2800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Symbol" panose="05050102010706020507" pitchFamily="18" charset="2"/>
                  </a:rPr>
                  <a:t> </a:t>
                </a:r>
                <a:r>
                  <a:rPr lang="zh-CN" altLang="en-US" sz="2800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不是特征根时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800" dirty="0" smtClean="0">
                        <a:solidFill>
                          <a:srgbClr val="04926A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+mn-ea"/>
                      </a:rPr>
                      <m:t>,</m:t>
                    </m:r>
                  </m:oMath>
                </a14:m>
                <a:endParaRPr lang="zh-CN" altLang="en-US" sz="2800" dirty="0">
                  <a:solidFill>
                    <a:srgbClr val="0000FF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5352" name="Text 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55115" y="1682852"/>
                <a:ext cx="3886200" cy="521970"/>
              </a:xfrm>
              <a:prstGeom prst="rect">
                <a:avLst/>
              </a:prstGeom>
              <a:blipFill>
                <a:blip r:embed="rId3"/>
                <a:stretch>
                  <a:fillRect l="-3135" t="-12791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355" name="Text Box 59"/>
          <p:cNvSpPr txBox="1">
            <a:spLocks noChangeArrowheads="1"/>
          </p:cNvSpPr>
          <p:nvPr/>
        </p:nvSpPr>
        <p:spPr bwMode="auto">
          <a:xfrm>
            <a:off x="7889630" y="1679678"/>
            <a:ext cx="23526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使上式成立</a:t>
            </a:r>
          </a:p>
        </p:txBody>
      </p:sp>
      <p:sp>
        <p:nvSpPr>
          <p:cNvPr id="55357" name="Text Box 61"/>
          <p:cNvSpPr txBox="1">
            <a:spLocks noChangeArrowheads="1"/>
          </p:cNvSpPr>
          <p:nvPr/>
        </p:nvSpPr>
        <p:spPr bwMode="auto">
          <a:xfrm>
            <a:off x="5467962" y="2362427"/>
            <a:ext cx="3048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故特解的形式为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359" name="Text Box 63"/>
              <p:cNvSpPr txBox="1">
                <a:spLocks noChangeArrowheads="1"/>
              </p:cNvSpPr>
              <p:nvPr/>
            </p:nvSpPr>
            <p:spPr bwMode="auto">
              <a:xfrm>
                <a:off x="1555115" y="3601505"/>
                <a:ext cx="5029200" cy="5219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2800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sz="2800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 当 </a:t>
                </a:r>
                <a:r>
                  <a:rPr kumimoji="1" lang="en-US" altLang="zh-CN" sz="2800" i="1" dirty="0">
                    <a:solidFill>
                      <a:srgbClr val="04926A"/>
                    </a:solidFill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  <a:sym typeface="Symbol" panose="05050102010706020507" pitchFamily="18" charset="2"/>
                  </a:rPr>
                  <a:t> </a:t>
                </a:r>
                <a:r>
                  <a:rPr lang="zh-CN" altLang="en-US" sz="2800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是特征方程的单根时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800" dirty="0" smtClean="0">
                        <a:solidFill>
                          <a:srgbClr val="04926A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+mn-ea"/>
                      </a:rPr>
                      <m:t>,</m:t>
                    </m:r>
                  </m:oMath>
                </a14:m>
                <a:endParaRPr lang="zh-CN" altLang="en-US" sz="2800" dirty="0">
                  <a:solidFill>
                    <a:srgbClr val="0000FF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5359" name="Text 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55115" y="3601505"/>
                <a:ext cx="5029200" cy="521970"/>
              </a:xfrm>
              <a:prstGeom prst="rect">
                <a:avLst/>
              </a:prstGeom>
              <a:blipFill>
                <a:blip r:embed="rId4"/>
                <a:stretch>
                  <a:fillRect l="-2424" t="-14118" b="-3294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361" name="Text Box 65"/>
          <p:cNvSpPr txBox="1">
            <a:spLocks noChangeArrowheads="1"/>
          </p:cNvSpPr>
          <p:nvPr/>
        </p:nvSpPr>
        <p:spPr bwMode="auto">
          <a:xfrm>
            <a:off x="8857932" y="3595472"/>
            <a:ext cx="914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363" name="Text Box 67"/>
              <p:cNvSpPr txBox="1">
                <a:spLocks noChangeArrowheads="1"/>
              </p:cNvSpPr>
              <p:nvPr/>
            </p:nvSpPr>
            <p:spPr bwMode="auto">
              <a:xfrm>
                <a:off x="3757418" y="4284345"/>
                <a:ext cx="6323085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使上式成立</a:t>
                </a:r>
                <a:r>
                  <a:rPr kumimoji="1" lang="en-US" altLang="zh-CN" sz="28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rPr>
                  <a:t>R</a:t>
                </a:r>
                <a:r>
                  <a:rPr kumimoji="1" lang="en-US" altLang="zh-CN" sz="2800" dirty="0">
                    <a:ea typeface="黑体" panose="02010609060101010101" pitchFamily="49" charset="-122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(</m:t>
                    </m:r>
                    <m:r>
                      <a:rPr kumimoji="1" lang="en-US" altLang="zh-CN" sz="2800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𝑥</m:t>
                    </m:r>
                    <m:r>
                      <a:rPr kumimoji="1" lang="en-US" altLang="zh-CN" sz="2800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应是</a:t>
                </a:r>
                <a:r>
                  <a:rPr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rPr>
                  <a:t>+1</a:t>
                </a:r>
                <a:r>
                  <a: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次多项式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800" dirty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+mn-ea"/>
                      </a:rPr>
                      <m:t>,</m:t>
                    </m:r>
                  </m:oMath>
                </a14:m>
                <a:endParaRPr lang="zh-CN" altLang="en-US" sz="28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5363" name="Text 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57418" y="4284345"/>
                <a:ext cx="6323085" cy="523220"/>
              </a:xfrm>
              <a:prstGeom prst="rect">
                <a:avLst/>
              </a:prstGeom>
              <a:blipFill>
                <a:blip r:embed="rId5"/>
                <a:stretch>
                  <a:fillRect l="-1927" t="-17442" b="-3023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364" name="Text Box 68"/>
          <p:cNvSpPr txBox="1">
            <a:spLocks noChangeArrowheads="1"/>
          </p:cNvSpPr>
          <p:nvPr/>
        </p:nvSpPr>
        <p:spPr bwMode="auto">
          <a:xfrm>
            <a:off x="9548495" y="4269187"/>
            <a:ext cx="1143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故特</a:t>
            </a:r>
          </a:p>
        </p:txBody>
      </p:sp>
      <p:sp>
        <p:nvSpPr>
          <p:cNvPr id="55365" name="Text Box 69"/>
          <p:cNvSpPr txBox="1">
            <a:spLocks noChangeArrowheads="1"/>
          </p:cNvSpPr>
          <p:nvPr/>
        </p:nvSpPr>
        <p:spPr bwMode="auto">
          <a:xfrm>
            <a:off x="1866900" y="4898390"/>
            <a:ext cx="300736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解的形式为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对象 17"/>
              <p:cNvSpPr txBox="1"/>
              <p:nvPr/>
            </p:nvSpPr>
            <p:spPr>
              <a:xfrm>
                <a:off x="1913367" y="872490"/>
                <a:ext cx="9171940" cy="46990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80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𝑅</m:t>
                          </m:r>
                        </m:e>
                        <m:sup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″</m:t>
                          </m:r>
                        </m:sup>
                      </m:sSup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 + (2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𝜆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𝑝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  <m:sSup>
                        <m:sSup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𝑅</m:t>
                          </m:r>
                        </m:e>
                        <m:sup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 + (</m:t>
                      </m:r>
                      <m:sSup>
                        <m:sSup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𝜆</m:t>
                          </m:r>
                        </m:e>
                        <m:sup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𝑝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𝜆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𝑞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𝑅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 =</m:t>
                      </m:r>
                      <m:sSub>
                        <m:sSub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𝑃</m:t>
                          </m:r>
                        </m:e>
                        <m:sub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</m:d>
                      <m:r>
                        <a:rPr kumimoji="1" lang="en-US" altLang="zh-CN" sz="2800" b="0" i="0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en-US" altLang="zh-CN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" name="对象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367" y="872490"/>
                <a:ext cx="9171940" cy="469900"/>
              </a:xfrm>
              <a:prstGeom prst="rect">
                <a:avLst/>
              </a:prstGeom>
              <a:blipFill>
                <a:blip r:embed="rId6"/>
                <a:stretch>
                  <a:fillRect b="-12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5107867" y="1661401"/>
            <a:ext cx="2800350" cy="597535"/>
            <a:chOff x="7762" y="2643"/>
            <a:chExt cx="4410" cy="94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对象 1"/>
                <p:cNvSpPr txBox="1"/>
                <p:nvPr/>
              </p:nvSpPr>
              <p:spPr>
                <a:xfrm>
                  <a:off x="7762" y="2643"/>
                  <a:ext cx="4410" cy="941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𝜆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𝑝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𝜆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𝑞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≠0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5" name="对象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2" y="2643"/>
                  <a:ext cx="4410" cy="94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矩形 1"/>
            <p:cNvSpPr/>
            <p:nvPr/>
          </p:nvSpPr>
          <p:spPr>
            <a:xfrm>
              <a:off x="8742" y="2681"/>
              <a:ext cx="386" cy="1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761490" y="2370455"/>
            <a:ext cx="4389120" cy="523240"/>
            <a:chOff x="2394" y="3733"/>
            <a:chExt cx="6912" cy="8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356" name="Text Box 60"/>
                <p:cNvSpPr txBox="1">
                  <a:spLocks noChangeArrowheads="1"/>
                </p:cNvSpPr>
                <p:nvPr/>
              </p:nvSpPr>
              <p:spPr bwMode="auto">
                <a:xfrm>
                  <a:off x="2626" y="3733"/>
                  <a:ext cx="6680" cy="82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kumimoji="1" lang="en-US" altLang="zh-CN" sz="2800" i="1" dirty="0">
                      <a:latin typeface="Cambria Math" panose="02040503050406030204" charset="0"/>
                      <a:ea typeface="黑体" panose="02010609060101010101" pitchFamily="49" charset="-122"/>
                      <a:cs typeface="Cambria Math" panose="02040503050406030204" charset="0"/>
                    </a:rPr>
                    <a:t>R</a:t>
                  </a:r>
                  <a14:m>
                    <m:oMath xmlns:m="http://schemas.openxmlformats.org/officeDocument/2006/math">
                      <m:r>
                        <a:rPr kumimoji="1" lang="en-US" altLang="zh-CN" sz="2800" i="1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en-US" altLang="zh-CN" sz="2800" i="1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en-US" altLang="zh-CN" sz="2800" i="1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</m:oMath>
                  </a14:m>
                  <a:r>
                    <a:rPr kumimoji="1" lang="zh-CN" altLang="en-US" sz="2800" noProof="0" dirty="0">
                      <a:ln>
                        <a:noFill/>
                      </a:ln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黑体" panose="02010609060101010101" pitchFamily="49" charset="-122"/>
                    </a:rPr>
                    <a:t>应是</a:t>
                  </a:r>
                  <a:r>
                    <a:rPr lang="zh-CN" altLang="en-US" sz="2800" dirty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𝑚</m:t>
                      </m:r>
                    </m:oMath>
                  </a14:m>
                  <a:r>
                    <a:rPr kumimoji="1" lang="en-US" altLang="zh-CN" sz="2800" i="1" dirty="0">
                      <a:latin typeface="Cambria Math" panose="02040503050406030204" charset="0"/>
                      <a:ea typeface="黑体" panose="02010609060101010101" pitchFamily="49" charset="-122"/>
                      <a:cs typeface="Cambria Math" panose="02040503050406030204" charset="0"/>
                    </a:rPr>
                    <a:t> </a:t>
                  </a:r>
                  <a:r>
                    <a:rPr kumimoji="1" lang="zh-CN" altLang="en-US" sz="2800" noProof="0" dirty="0">
                      <a:ln>
                        <a:noFill/>
                      </a:ln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黑体" panose="02010609060101010101" pitchFamily="49" charset="-122"/>
                    </a:rPr>
                    <a:t>次多项式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2800" dirty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+mn-ea"/>
                        </a:rPr>
                        <m:t>,</m:t>
                      </m:r>
                    </m:oMath>
                  </a14:m>
                  <a:endPara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55356" name="Text Box 6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626" y="3733"/>
                  <a:ext cx="6680" cy="824"/>
                </a:xfrm>
                <a:prstGeom prst="rect">
                  <a:avLst/>
                </a:prstGeom>
                <a:blipFill>
                  <a:blip r:embed="rId8"/>
                  <a:stretch>
                    <a:fillRect l="-2874" t="-16279" b="-31395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矩形 8"/>
            <p:cNvSpPr/>
            <p:nvPr/>
          </p:nvSpPr>
          <p:spPr>
            <a:xfrm>
              <a:off x="2394" y="3947"/>
              <a:ext cx="278" cy="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4056380" y="2879090"/>
            <a:ext cx="4270375" cy="662940"/>
            <a:chOff x="6008" y="4534"/>
            <a:chExt cx="6725" cy="10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对象 2"/>
                <p:cNvSpPr txBox="1"/>
                <p:nvPr/>
              </p:nvSpPr>
              <p:spPr>
                <a:xfrm>
                  <a:off x="6349" y="4534"/>
                  <a:ext cx="6385" cy="1045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∗</m:t>
                            </m:r>
                          </m:sup>
                        </m:sSup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𝑅</m:t>
                            </m:r>
                          </m:e>
                          <m:sub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𝑚</m:t>
                            </m:r>
                          </m:sub>
                        </m:sSub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𝜆</m:t>
                            </m:r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8" name="对象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49" y="4534"/>
                  <a:ext cx="6385" cy="104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矩形 11"/>
            <p:cNvSpPr/>
            <p:nvPr/>
          </p:nvSpPr>
          <p:spPr>
            <a:xfrm>
              <a:off x="6008" y="4936"/>
              <a:ext cx="355" cy="24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594485" y="4300220"/>
            <a:ext cx="2378075" cy="393700"/>
            <a:chOff x="2131" y="6772"/>
            <a:chExt cx="3745" cy="6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对象 20"/>
                <p:cNvSpPr txBox="1"/>
                <p:nvPr/>
              </p:nvSpPr>
              <p:spPr>
                <a:xfrm>
                  <a:off x="2626" y="6772"/>
                  <a:ext cx="3251" cy="62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2</m:t>
                        </m:r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𝜆</m:t>
                        </m:r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𝑝</m:t>
                        </m:r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≠0</m:t>
                        </m:r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7" name="对象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26" y="6772"/>
                  <a:ext cx="3251" cy="620"/>
                </a:xfrm>
                <a:prstGeom prst="rect">
                  <a:avLst/>
                </a:prstGeom>
                <a:blipFill rotWithShape="1">
                  <a:blip r:embed="rId1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矩形 15"/>
            <p:cNvSpPr/>
            <p:nvPr/>
          </p:nvSpPr>
          <p:spPr>
            <a:xfrm>
              <a:off x="2131" y="7021"/>
              <a:ext cx="263" cy="12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4272915" y="5386705"/>
            <a:ext cx="3474720" cy="695960"/>
            <a:chOff x="6349" y="8483"/>
            <a:chExt cx="5472" cy="10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对象 3"/>
                <p:cNvSpPr txBox="1"/>
                <p:nvPr/>
              </p:nvSpPr>
              <p:spPr>
                <a:xfrm>
                  <a:off x="6349" y="8483"/>
                  <a:ext cx="5472" cy="1096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∗</m:t>
                            </m:r>
                          </m:sup>
                        </m:sSup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𝑅</m:t>
                            </m:r>
                          </m:e>
                          <m:sub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𝑚</m:t>
                            </m:r>
                          </m:sub>
                        </m:sSub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𝜆</m:t>
                            </m:r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0" name="对象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49" y="8483"/>
                  <a:ext cx="5472" cy="1096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矩形 17"/>
            <p:cNvSpPr/>
            <p:nvPr/>
          </p:nvSpPr>
          <p:spPr>
            <a:xfrm>
              <a:off x="10379" y="8736"/>
              <a:ext cx="618" cy="2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5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5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5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5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52" grpId="0"/>
      <p:bldP spid="55355" grpId="0" animBg="1"/>
      <p:bldP spid="55357" grpId="0" animBg="1"/>
      <p:bldP spid="55359" grpId="0"/>
      <p:bldP spid="55361" grpId="0" animBg="1"/>
      <p:bldP spid="55363" grpId="0" animBg="1"/>
      <p:bldP spid="55364" grpId="0" animBg="1"/>
      <p:bldP spid="5536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532130" y="720090"/>
            <a:ext cx="11149330" cy="5428615"/>
            <a:chOff x="838" y="1134"/>
            <a:chExt cx="17558" cy="8549"/>
          </a:xfrm>
        </p:grpSpPr>
        <p:sp>
          <p:nvSpPr>
            <p:cNvPr id="56" name="PA-102232"/>
            <p:cNvSpPr/>
            <p:nvPr>
              <p:custDataLst>
                <p:tags r:id="rId1"/>
              </p:custDataLst>
            </p:nvPr>
          </p:nvSpPr>
          <p:spPr>
            <a:xfrm>
              <a:off x="838" y="1134"/>
              <a:ext cx="17524" cy="85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sp>
          <p:nvSpPr>
            <p:cNvPr id="57" name="Rectangle 1"/>
            <p:cNvSpPr/>
            <p:nvPr/>
          </p:nvSpPr>
          <p:spPr>
            <a:xfrm>
              <a:off x="9602" y="9583"/>
              <a:ext cx="8794" cy="101"/>
            </a:xfrm>
            <a:prstGeom prst="rect">
              <a:avLst/>
            </a:prstGeom>
            <a:solidFill>
              <a:srgbClr val="04926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Rectangle 1"/>
            <p:cNvSpPr/>
            <p:nvPr/>
          </p:nvSpPr>
          <p:spPr>
            <a:xfrm>
              <a:off x="5321" y="9583"/>
              <a:ext cx="4286" cy="83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rgbClr val="04926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Rectangle 1"/>
            <p:cNvSpPr/>
            <p:nvPr/>
          </p:nvSpPr>
          <p:spPr>
            <a:xfrm>
              <a:off x="838" y="9583"/>
              <a:ext cx="4483" cy="83"/>
            </a:xfrm>
            <a:prstGeom prst="rect">
              <a:avLst/>
            </a:prstGeom>
            <a:solidFill>
              <a:srgbClr val="04926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463" name="Text Box 175"/>
              <p:cNvSpPr txBox="1">
                <a:spLocks noChangeArrowheads="1"/>
              </p:cNvSpPr>
              <p:nvPr/>
            </p:nvSpPr>
            <p:spPr bwMode="auto">
              <a:xfrm>
                <a:off x="1666875" y="2237425"/>
                <a:ext cx="5029200" cy="5219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Symbol" panose="05050102010706020507" pitchFamily="18" charset="2"/>
                  </a:rPr>
                  <a:t>3. </a:t>
                </a:r>
                <a:r>
                  <a:rPr lang="zh-CN" altLang="en-US" sz="2800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 </a:t>
                </a:r>
                <a:r>
                  <a:rPr lang="zh-CN" altLang="en-US" sz="2800" i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Symbol" panose="05050102010706020507" pitchFamily="18" charset="2"/>
                  </a:rPr>
                  <a:t></a:t>
                </a:r>
                <a:r>
                  <a:rPr lang="zh-CN" altLang="en-US" sz="2800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Symbol" panose="05050102010706020507" pitchFamily="18" charset="2"/>
                  </a:rPr>
                  <a:t> </a:t>
                </a:r>
                <a:r>
                  <a:rPr lang="zh-CN" altLang="en-US" sz="2800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是特征方程的重根时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800" dirty="0">
                        <a:solidFill>
                          <a:srgbClr val="04926A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+mn-ea"/>
                      </a:rPr>
                      <m:t>,</m:t>
                    </m:r>
                  </m:oMath>
                </a14:m>
                <a:endParaRPr lang="zh-CN" altLang="en-US" sz="2800" dirty="0">
                  <a:solidFill>
                    <a:srgbClr val="0492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2463" name="Text Box 1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66875" y="2237425"/>
                <a:ext cx="5029200" cy="521970"/>
              </a:xfrm>
              <a:prstGeom prst="rect">
                <a:avLst/>
              </a:prstGeom>
              <a:blipFill>
                <a:blip r:embed="rId3"/>
                <a:stretch>
                  <a:fillRect l="-2424" t="-12791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465" name="Text Box 177"/>
          <p:cNvSpPr txBox="1">
            <a:spLocks noChangeArrowheads="1"/>
          </p:cNvSpPr>
          <p:nvPr/>
        </p:nvSpPr>
        <p:spPr bwMode="auto">
          <a:xfrm>
            <a:off x="4269740" y="2889625"/>
            <a:ext cx="914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67" name="Text Box 179"/>
              <p:cNvSpPr txBox="1">
                <a:spLocks noChangeArrowheads="1"/>
              </p:cNvSpPr>
              <p:nvPr/>
            </p:nvSpPr>
            <p:spPr bwMode="auto">
              <a:xfrm>
                <a:off x="3648075" y="3580770"/>
                <a:ext cx="67818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使上式成立</a:t>
                </a:r>
                <a:r>
                  <a:rPr kumimoji="1" lang="en-US" altLang="zh-CN" sz="28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rPr>
                  <a:t>R</a:t>
                </a:r>
                <a:r>
                  <a:rPr kumimoji="1" lang="en-US" altLang="zh-CN" sz="2800" dirty="0">
                    <a:ea typeface="黑体" panose="02010609060101010101" pitchFamily="49" charset="-122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(</m:t>
                    </m:r>
                    <m:r>
                      <a:rPr kumimoji="1" lang="en-US" altLang="zh-CN" sz="2800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𝑥</m:t>
                    </m:r>
                    <m:r>
                      <a:rPr kumimoji="1" lang="en-US" altLang="zh-CN" sz="2800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应是</a:t>
                </a:r>
                <a:r>
                  <a:rPr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rPr>
                  <a:t>+ 2</a:t>
                </a:r>
                <a:r>
                  <a:rPr lang="en-US" altLang="zh-CN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次多项式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800" dirty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+mn-ea"/>
                      </a:rPr>
                      <m:t>,</m:t>
                    </m:r>
                  </m:oMath>
                </a14:m>
                <a:endParaRPr lang="zh-CN" altLang="en-US" sz="28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467" name="Text Box 1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48075" y="3580770"/>
                <a:ext cx="6781800" cy="523220"/>
              </a:xfrm>
              <a:prstGeom prst="rect">
                <a:avLst/>
              </a:prstGeom>
              <a:blipFill>
                <a:blip r:embed="rId4"/>
                <a:stretch>
                  <a:fillRect l="-1797" t="-16279" b="-3023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468" name="Text Box 180"/>
          <p:cNvSpPr txBox="1">
            <a:spLocks noChangeArrowheads="1"/>
          </p:cNvSpPr>
          <p:nvPr/>
        </p:nvSpPr>
        <p:spPr bwMode="auto">
          <a:xfrm>
            <a:off x="9641840" y="3558777"/>
            <a:ext cx="1143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故特</a:t>
            </a:r>
          </a:p>
        </p:txBody>
      </p:sp>
      <p:sp>
        <p:nvSpPr>
          <p:cNvPr id="12469" name="Text Box 181"/>
          <p:cNvSpPr txBox="1">
            <a:spLocks noChangeArrowheads="1"/>
          </p:cNvSpPr>
          <p:nvPr/>
        </p:nvSpPr>
        <p:spPr bwMode="auto">
          <a:xfrm>
            <a:off x="1654175" y="4255139"/>
            <a:ext cx="311340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解的形式为</a:t>
            </a:r>
          </a:p>
        </p:txBody>
      </p:sp>
      <p:sp>
        <p:nvSpPr>
          <p:cNvPr id="12471" name="Line 183"/>
          <p:cNvSpPr>
            <a:spLocks noChangeShapeType="1"/>
          </p:cNvSpPr>
          <p:nvPr/>
        </p:nvSpPr>
        <p:spPr bwMode="auto">
          <a:xfrm>
            <a:off x="1666875" y="2085025"/>
            <a:ext cx="8763000" cy="0"/>
          </a:xfrm>
          <a:prstGeom prst="line">
            <a:avLst/>
          </a:prstGeom>
          <a:noFill/>
          <a:ln w="9525">
            <a:solidFill>
              <a:srgbClr val="1D9D7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对象 11"/>
              <p:cNvSpPr txBox="1"/>
              <p:nvPr/>
            </p:nvSpPr>
            <p:spPr>
              <a:xfrm>
                <a:off x="1697034" y="1480820"/>
                <a:ext cx="8979726" cy="46990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𝑅</m:t>
                          </m:r>
                        </m:e>
                        <m:sup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″</m:t>
                          </m:r>
                        </m:sup>
                      </m:sSup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 + (2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𝜆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𝑝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  <m:sSup>
                        <m:sSup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𝑅</m:t>
                          </m:r>
                        </m:e>
                        <m:sup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 + (</m:t>
                      </m:r>
                      <m:sSup>
                        <m:sSup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𝜆</m:t>
                          </m:r>
                        </m:e>
                        <m:sup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𝑝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𝜆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𝑞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𝑅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 =</m:t>
                      </m:r>
                      <m:sSub>
                        <m:sSub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𝑃</m:t>
                          </m:r>
                        </m:e>
                        <m:sub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𝑚</m:t>
                          </m:r>
                        </m:sub>
                      </m:sSub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 .</m:t>
                      </m:r>
                    </m:oMath>
                  </m:oMathPara>
                </a14:m>
                <a:endParaRPr kumimoji="1" lang="en-US" altLang="zh-CN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2" name="对象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7034" y="1480820"/>
                <a:ext cx="8979726" cy="469900"/>
              </a:xfrm>
              <a:prstGeom prst="rect">
                <a:avLst/>
              </a:prstGeom>
              <a:blipFill>
                <a:blip r:embed="rId5"/>
                <a:stretch>
                  <a:fillRect b="-12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/>
          <p:cNvGrpSpPr/>
          <p:nvPr/>
        </p:nvGrpSpPr>
        <p:grpSpPr>
          <a:xfrm>
            <a:off x="1697355" y="2894068"/>
            <a:ext cx="2824480" cy="621030"/>
            <a:chOff x="9390" y="3870"/>
            <a:chExt cx="4448" cy="9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对象 1"/>
                <p:cNvSpPr txBox="1"/>
                <p:nvPr/>
              </p:nvSpPr>
              <p:spPr>
                <a:xfrm>
                  <a:off x="9390" y="3870"/>
                  <a:ext cx="4448" cy="979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𝜆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𝑝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𝜆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𝑞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=0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2" name="对象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0" y="3870"/>
                  <a:ext cx="4448" cy="979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矩形 5"/>
            <p:cNvSpPr/>
            <p:nvPr/>
          </p:nvSpPr>
          <p:spPr>
            <a:xfrm>
              <a:off x="10487" y="4550"/>
              <a:ext cx="279" cy="1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1499235" y="3592433"/>
            <a:ext cx="2273300" cy="684530"/>
            <a:chOff x="2316" y="4932"/>
            <a:chExt cx="3580" cy="10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对象 2"/>
                <p:cNvSpPr txBox="1"/>
                <p:nvPr/>
              </p:nvSpPr>
              <p:spPr>
                <a:xfrm>
                  <a:off x="2628" y="4932"/>
                  <a:ext cx="3269" cy="1078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2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𝜆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𝑝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=0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3" name="对象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28" y="4932"/>
                  <a:ext cx="3269" cy="1078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矩形 7"/>
            <p:cNvSpPr/>
            <p:nvPr/>
          </p:nvSpPr>
          <p:spPr>
            <a:xfrm>
              <a:off x="2316" y="5199"/>
              <a:ext cx="247" cy="18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4728210" y="4746312"/>
            <a:ext cx="3702685" cy="771525"/>
            <a:chOff x="7401" y="6633"/>
            <a:chExt cx="5831" cy="12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对象 3"/>
                <p:cNvSpPr txBox="1"/>
                <p:nvPr/>
              </p:nvSpPr>
              <p:spPr>
                <a:xfrm>
                  <a:off x="7401" y="6633"/>
                  <a:ext cx="5831" cy="1215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∗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𝑅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𝑚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8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𝜆</m:t>
                            </m:r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4" name="对象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01" y="6633"/>
                  <a:ext cx="5831" cy="121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矩形 9"/>
            <p:cNvSpPr/>
            <p:nvPr/>
          </p:nvSpPr>
          <p:spPr>
            <a:xfrm>
              <a:off x="10364" y="7176"/>
              <a:ext cx="324" cy="17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63" grpId="0" animBg="1"/>
      <p:bldP spid="12465" grpId="0" animBg="1"/>
      <p:bldP spid="12467" grpId="0" animBg="1"/>
      <p:bldP spid="12468" grpId="0" animBg="1"/>
      <p:bldP spid="1246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532130" y="720725"/>
            <a:ext cx="11149330" cy="5428615"/>
            <a:chOff x="838" y="1134"/>
            <a:chExt cx="17558" cy="8549"/>
          </a:xfrm>
        </p:grpSpPr>
        <p:sp>
          <p:nvSpPr>
            <p:cNvPr id="56" name="PA-102232"/>
            <p:cNvSpPr/>
            <p:nvPr>
              <p:custDataLst>
                <p:tags r:id="rId1"/>
              </p:custDataLst>
            </p:nvPr>
          </p:nvSpPr>
          <p:spPr>
            <a:xfrm>
              <a:off x="838" y="1134"/>
              <a:ext cx="17524" cy="85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sp>
          <p:nvSpPr>
            <p:cNvPr id="57" name="Rectangle 1"/>
            <p:cNvSpPr/>
            <p:nvPr/>
          </p:nvSpPr>
          <p:spPr>
            <a:xfrm>
              <a:off x="9602" y="9583"/>
              <a:ext cx="8794" cy="101"/>
            </a:xfrm>
            <a:prstGeom prst="rect">
              <a:avLst/>
            </a:prstGeom>
            <a:solidFill>
              <a:srgbClr val="04926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Rectangle 1"/>
            <p:cNvSpPr/>
            <p:nvPr/>
          </p:nvSpPr>
          <p:spPr>
            <a:xfrm>
              <a:off x="5321" y="9583"/>
              <a:ext cx="4286" cy="83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rgbClr val="04926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Rectangle 1"/>
            <p:cNvSpPr/>
            <p:nvPr/>
          </p:nvSpPr>
          <p:spPr>
            <a:xfrm>
              <a:off x="838" y="9583"/>
              <a:ext cx="4483" cy="83"/>
            </a:xfrm>
            <a:prstGeom prst="rect">
              <a:avLst/>
            </a:prstGeom>
            <a:solidFill>
              <a:srgbClr val="04926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480" name="Text Box 144"/>
              <p:cNvSpPr txBox="1">
                <a:spLocks noChangeArrowheads="1"/>
              </p:cNvSpPr>
              <p:nvPr/>
            </p:nvSpPr>
            <p:spPr bwMode="auto">
              <a:xfrm>
                <a:off x="1813313" y="1371042"/>
                <a:ext cx="57150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综上所述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800" dirty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+mn-ea"/>
                      </a:rPr>
                      <m:t>,</m:t>
                    </m:r>
                  </m:oMath>
                </a14:m>
                <a:r>
                  <a: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  有以下结论</a:t>
                </a:r>
                <a:r>
                  <a:rPr kumimoji="1" lang="en-US" altLang="zh-CN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:</a:t>
                </a:r>
                <a:endParaRPr kumimoji="1" lang="zh-CN" altLang="en-US" sz="2800" noProof="0" dirty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480" name="Text Box 1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13313" y="1371042"/>
                <a:ext cx="5715000" cy="523220"/>
              </a:xfrm>
              <a:prstGeom prst="rect">
                <a:avLst/>
              </a:prstGeom>
              <a:blipFill>
                <a:blip r:embed="rId3"/>
                <a:stretch>
                  <a:fillRect l="-2132" t="-16279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482" name="Text Box 146"/>
          <p:cNvSpPr txBox="1">
            <a:spLocks noChangeArrowheads="1"/>
          </p:cNvSpPr>
          <p:nvPr/>
        </p:nvSpPr>
        <p:spPr bwMode="auto">
          <a:xfrm>
            <a:off x="1813313" y="2091098"/>
            <a:ext cx="990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方程</a:t>
            </a:r>
          </a:p>
        </p:txBody>
      </p:sp>
      <p:sp>
        <p:nvSpPr>
          <p:cNvPr id="14484" name="Text Box 148"/>
          <p:cNvSpPr txBox="1">
            <a:spLocks noChangeArrowheads="1"/>
          </p:cNvSpPr>
          <p:nvPr/>
        </p:nvSpPr>
        <p:spPr bwMode="auto">
          <a:xfrm>
            <a:off x="7030806" y="2086920"/>
            <a:ext cx="187640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pitchFamily="18" charset="0"/>
                <a:ea typeface="黑体" panose="02010609060101010101" pitchFamily="49" charset="-122"/>
              </a:rPr>
              <a:t>具有形如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486" name="Text Box 150"/>
              <p:cNvSpPr txBox="1">
                <a:spLocks noChangeArrowheads="1"/>
              </p:cNvSpPr>
              <p:nvPr/>
            </p:nvSpPr>
            <p:spPr bwMode="auto">
              <a:xfrm>
                <a:off x="1804283" y="4289896"/>
                <a:ext cx="17526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的特解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800" dirty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+mn-ea"/>
                      </a:rPr>
                      <m:t>,</m:t>
                    </m:r>
                  </m:oMath>
                </a14:m>
                <a:endParaRPr lang="zh-CN" altLang="en-US" sz="2800" b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486" name="Text Box 1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04283" y="4289896"/>
                <a:ext cx="1752600" cy="523220"/>
              </a:xfrm>
              <a:prstGeom prst="rect">
                <a:avLst/>
              </a:prstGeom>
              <a:blipFill>
                <a:blip r:embed="rId4"/>
                <a:stretch>
                  <a:fillRect l="-7317" t="-16279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组合 18"/>
          <p:cNvGrpSpPr/>
          <p:nvPr/>
        </p:nvGrpSpPr>
        <p:grpSpPr>
          <a:xfrm>
            <a:off x="3134680" y="3665855"/>
            <a:ext cx="4269105" cy="1804670"/>
            <a:chOff x="4370" y="5573"/>
            <a:chExt cx="6723" cy="2842"/>
          </a:xfrm>
        </p:grpSpPr>
        <p:grpSp>
          <p:nvGrpSpPr>
            <p:cNvPr id="15" name="组合 14"/>
            <p:cNvGrpSpPr/>
            <p:nvPr/>
          </p:nvGrpSpPr>
          <p:grpSpPr>
            <a:xfrm>
              <a:off x="5617" y="5573"/>
              <a:ext cx="5476" cy="2842"/>
              <a:chOff x="12919" y="2276"/>
              <a:chExt cx="5476" cy="2842"/>
            </a:xfrm>
          </p:grpSpPr>
          <p:sp>
            <p:nvSpPr>
              <p:cNvPr id="42" name="AutoShape 19"/>
              <p:cNvSpPr/>
              <p:nvPr/>
            </p:nvSpPr>
            <p:spPr bwMode="auto">
              <a:xfrm rot="10800000">
                <a:off x="14331" y="2368"/>
                <a:ext cx="330" cy="2591"/>
              </a:xfrm>
              <a:prstGeom prst="rightBrace">
                <a:avLst>
                  <a:gd name="adj1" fmla="val 166667"/>
                  <a:gd name="adj2" fmla="val 50000"/>
                </a:avLst>
              </a:prstGeom>
              <a:noFill/>
              <a:ln w="9525">
                <a:solidFill>
                  <a:srgbClr val="1D9D79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 b="1">
                  <a:latin typeface="+mn-ea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" name="对象 3"/>
                  <p:cNvSpPr txBox="1"/>
                  <p:nvPr/>
                </p:nvSpPr>
                <p:spPr>
                  <a:xfrm>
                    <a:off x="12919" y="3259"/>
                    <a:ext cx="1742" cy="827"/>
                  </a:xfrm>
                  <a:prstGeom prst="rect">
                    <a:avLst/>
                  </a:prstGeom>
                </p:spPr>
                <p:txBody>
                  <a:bodyPr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kumimoji="1" lang="en-US" altLang="zh-CN" sz="2800" i="1" dirty="0">
                              <a:solidFill>
                                <a:srgbClr val="04926A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𝑘</m:t>
                          </m:r>
                          <m:r>
                            <a:rPr kumimoji="1" lang="en-US" altLang="zh-CN" sz="2800" dirty="0">
                              <a:solidFill>
                                <a:srgbClr val="04926A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=</m:t>
                          </m:r>
                        </m:oMath>
                      </m:oMathPara>
                    </a14:m>
                    <a:endParaRPr kumimoji="1" lang="en-US" altLang="zh-CN" sz="2800" dirty="0">
                      <a:solidFill>
                        <a:srgbClr val="04926A"/>
                      </a:solidFill>
                      <a:latin typeface="Cambria Math" panose="02040503050406030204" charset="0"/>
                      <a:ea typeface="黑体" panose="02010609060101010101" pitchFamily="49" charset="-122"/>
                      <a:cs typeface="Cambria Math" panose="02040503050406030204" charset="0"/>
                    </a:endParaRPr>
                  </a:p>
                </p:txBody>
              </p:sp>
            </mc:Choice>
            <mc:Fallback xmlns="">
              <p:sp>
                <p:nvSpPr>
                  <p:cNvPr id="3" name="对象 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919" y="3259"/>
                    <a:ext cx="1742" cy="827"/>
                  </a:xfrm>
                  <a:prstGeom prst="rect">
                    <a:avLst/>
                  </a:prstGeom>
                  <a:blipFill rotWithShape="1">
                    <a:blip r:embed="rId5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文本框 9"/>
                  <p:cNvSpPr txBox="1"/>
                  <p:nvPr/>
                </p:nvSpPr>
                <p:spPr>
                  <a:xfrm flipH="1">
                    <a:off x="14671" y="2276"/>
                    <a:ext cx="3725" cy="822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t">
                    <a:spAutoFit/>
                  </a:bodyPr>
                  <a:lstStyle/>
                  <a:p>
                    <a:r>
                      <a:rPr kumimoji="1" lang="en-US" altLang="zh-CN" sz="2800" dirty="0">
                        <a:solidFill>
                          <a:srgbClr val="04926A"/>
                        </a:solidFill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  <a:sym typeface="Symbol" panose="05050102010706020507" pitchFamily="18" charset="2"/>
                      </a:rPr>
                      <a:t>0,</a:t>
                    </a:r>
                    <a:r>
                      <a:rPr kumimoji="1" lang="en-US" altLang="zh-CN" sz="2800" i="1" dirty="0">
                        <a:solidFill>
                          <a:srgbClr val="04926A"/>
                        </a:solidFill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  <a:sym typeface="Symbol" panose="05050102010706020507" pitchFamily="18" charset="2"/>
                      </a:rPr>
                      <a:t>  </a:t>
                    </a:r>
                    <a:r>
                      <a:rPr kumimoji="1" lang="zh-CN" altLang="en-US" sz="2800" noProof="0" dirty="0">
                        <a:ln>
                          <a:noFill/>
                        </a:ln>
                        <a:solidFill>
                          <a:srgbClr val="04926A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sym typeface="Symbol" panose="05050102010706020507" pitchFamily="18" charset="2"/>
                      </a:rPr>
                      <a:t>不是根</a:t>
                    </a:r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CN" sz="2800" dirty="0" smtClean="0">
                            <a:solidFill>
                              <a:srgbClr val="04926A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+mn-ea"/>
                          </a:rPr>
                          <m:t>,</m:t>
                        </m:r>
                      </m:oMath>
                    </a14:m>
                    <a:endParaRPr kumimoji="1" lang="zh-CN" altLang="en-US" sz="2800" b="1" noProof="0" dirty="0">
                      <a:ln>
                        <a:noFill/>
                      </a:ln>
                      <a:solidFill>
                        <a:srgbClr val="04926A"/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黑体" panose="02010609060101010101" pitchFamily="49" charset="-122"/>
                      <a:sym typeface="Symbol" panose="05050102010706020507" pitchFamily="18" charset="2"/>
                    </a:endParaRPr>
                  </a:p>
                </p:txBody>
              </p:sp>
            </mc:Choice>
            <mc:Fallback xmlns="">
              <p:sp>
                <p:nvSpPr>
                  <p:cNvPr id="10" name="文本框 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14671" y="2276"/>
                    <a:ext cx="3725" cy="82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5412" t="-15116" b="-31395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文本框 10"/>
                  <p:cNvSpPr txBox="1"/>
                  <p:nvPr/>
                </p:nvSpPr>
                <p:spPr>
                  <a:xfrm flipH="1">
                    <a:off x="14671" y="3286"/>
                    <a:ext cx="3725" cy="822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t">
                    <a:spAutoFit/>
                  </a:bodyPr>
                  <a:lstStyle/>
                  <a:p>
                    <a:r>
                      <a:rPr kumimoji="1" lang="en-US" altLang="zh-CN" sz="2800" dirty="0">
                        <a:solidFill>
                          <a:srgbClr val="04926A"/>
                        </a:solidFill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  <a:sym typeface="Symbol" panose="05050102010706020507" pitchFamily="18" charset="2"/>
                      </a:rPr>
                      <a:t>1,</a:t>
                    </a:r>
                    <a:r>
                      <a:rPr kumimoji="1" lang="en-US" altLang="zh-CN" sz="2800" i="1" dirty="0">
                        <a:solidFill>
                          <a:srgbClr val="04926A"/>
                        </a:solidFill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  <a:sym typeface="Symbol" panose="05050102010706020507" pitchFamily="18" charset="2"/>
                      </a:rPr>
                      <a:t>  </a:t>
                    </a:r>
                    <a:r>
                      <a:rPr kumimoji="1" lang="zh-CN" altLang="en-US" sz="2800" noProof="0" dirty="0">
                        <a:ln>
                          <a:noFill/>
                        </a:ln>
                        <a:solidFill>
                          <a:srgbClr val="04926A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sym typeface="Symbol" panose="05050102010706020507" pitchFamily="18" charset="2"/>
                      </a:rPr>
                      <a:t>是单根</a:t>
                    </a:r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CN" sz="2800" dirty="0" smtClean="0">
                            <a:solidFill>
                              <a:srgbClr val="04926A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+mn-ea"/>
                          </a:rPr>
                          <m:t>,</m:t>
                        </m:r>
                      </m:oMath>
                    </a14:m>
                    <a:endParaRPr kumimoji="1" lang="zh-CN" altLang="en-US" sz="2800" b="1" noProof="0" dirty="0">
                      <a:ln>
                        <a:noFill/>
                      </a:ln>
                      <a:solidFill>
                        <a:srgbClr val="04926A"/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黑体" panose="02010609060101010101" pitchFamily="49" charset="-122"/>
                      <a:sym typeface="Symbol" panose="05050102010706020507" pitchFamily="18" charset="2"/>
                    </a:endParaRPr>
                  </a:p>
                </p:txBody>
              </p:sp>
            </mc:Choice>
            <mc:Fallback xmlns="">
              <p:sp>
                <p:nvSpPr>
                  <p:cNvPr id="11" name="文本框 1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14671" y="3286"/>
                    <a:ext cx="3725" cy="82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5412" t="-16471" b="-3294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文本框 11"/>
                  <p:cNvSpPr txBox="1"/>
                  <p:nvPr/>
                </p:nvSpPr>
                <p:spPr>
                  <a:xfrm flipH="1">
                    <a:off x="14671" y="4296"/>
                    <a:ext cx="3725" cy="822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t">
                    <a:spAutoFit/>
                  </a:bodyPr>
                  <a:lstStyle/>
                  <a:p>
                    <a:r>
                      <a:rPr kumimoji="1" lang="en-US" altLang="zh-CN" sz="2800" dirty="0">
                        <a:solidFill>
                          <a:srgbClr val="04926A"/>
                        </a:solidFill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  <a:sym typeface="Symbol" panose="05050102010706020507" pitchFamily="18" charset="2"/>
                      </a:rPr>
                      <a:t>2,</a:t>
                    </a:r>
                    <a:r>
                      <a:rPr kumimoji="1" lang="en-US" altLang="zh-CN" sz="2800" i="1" dirty="0">
                        <a:solidFill>
                          <a:srgbClr val="04926A"/>
                        </a:solidFill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  <a:sym typeface="Symbol" panose="05050102010706020507" pitchFamily="18" charset="2"/>
                      </a:rPr>
                      <a:t>  </a:t>
                    </a:r>
                    <a:r>
                      <a:rPr kumimoji="1" lang="zh-CN" altLang="en-US" sz="2800" noProof="0" dirty="0">
                        <a:ln>
                          <a:noFill/>
                        </a:ln>
                        <a:solidFill>
                          <a:srgbClr val="04926A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sym typeface="Symbol" panose="05050102010706020507" pitchFamily="18" charset="2"/>
                      </a:rPr>
                      <a:t>是重根</a:t>
                    </a:r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CN" sz="2800" dirty="0" smtClean="0">
                            <a:solidFill>
                              <a:srgbClr val="04926A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+mn-ea"/>
                          </a:rPr>
                          <m:t>,</m:t>
                        </m:r>
                      </m:oMath>
                    </a14:m>
                    <a:endParaRPr kumimoji="1" lang="zh-CN" altLang="en-US" sz="2800" b="1" noProof="0" dirty="0">
                      <a:ln>
                        <a:noFill/>
                      </a:ln>
                      <a:solidFill>
                        <a:srgbClr val="04926A"/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黑体" panose="02010609060101010101" pitchFamily="49" charset="-122"/>
                      <a:sym typeface="Symbol" panose="05050102010706020507" pitchFamily="18" charset="2"/>
                    </a:endParaRPr>
                  </a:p>
                </p:txBody>
              </p:sp>
            </mc:Choice>
            <mc:Fallback xmlns="">
              <p:sp>
                <p:nvSpPr>
                  <p:cNvPr id="12" name="文本框 1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14671" y="4296"/>
                    <a:ext cx="3725" cy="82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5412" t="-16471" b="-3294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4" name="Text Box 150"/>
            <p:cNvSpPr txBox="1">
              <a:spLocks noChangeArrowheads="1"/>
            </p:cNvSpPr>
            <p:nvPr/>
          </p:nvSpPr>
          <p:spPr bwMode="auto">
            <a:xfrm>
              <a:off x="4370" y="6559"/>
              <a:ext cx="1834" cy="8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sz="2800" noProof="0" dirty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</a:rPr>
                <a:t>其中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2797446" y="2039620"/>
            <a:ext cx="4319905" cy="635635"/>
            <a:chOff x="3574" y="3012"/>
            <a:chExt cx="6803" cy="100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对象 1"/>
                <p:cNvSpPr txBox="1"/>
                <p:nvPr/>
              </p:nvSpPr>
              <p:spPr>
                <a:xfrm>
                  <a:off x="3574" y="3012"/>
                  <a:ext cx="6803" cy="1001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″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𝑝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𝑞𝑦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8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𝜆</m:t>
                            </m:r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𝑃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𝑚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6" name="对象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74" y="3012"/>
                  <a:ext cx="6803" cy="100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矩形 1"/>
            <p:cNvSpPr/>
            <p:nvPr/>
          </p:nvSpPr>
          <p:spPr>
            <a:xfrm>
              <a:off x="8788" y="3113"/>
              <a:ext cx="572" cy="1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2469786" y="2870200"/>
            <a:ext cx="4008755" cy="771525"/>
            <a:chOff x="3058" y="4320"/>
            <a:chExt cx="6313" cy="12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对象 3"/>
                <p:cNvSpPr txBox="1"/>
                <p:nvPr/>
              </p:nvSpPr>
              <p:spPr>
                <a:xfrm>
                  <a:off x="3540" y="4320"/>
                  <a:ext cx="5831" cy="1215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 smtClean="0">
                                <a:solidFill>
                                  <a:srgbClr val="04926A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solidFill>
                                  <a:srgbClr val="04926A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solidFill>
                                  <a:srgbClr val="04926A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∗</m:t>
                            </m:r>
                          </m:sup>
                        </m:sSup>
                        <m:r>
                          <a:rPr kumimoji="1" lang="en-US" altLang="zh-CN" sz="2800" dirty="0">
                            <a:solidFill>
                              <a:srgbClr val="04926A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solidFill>
                                  <a:srgbClr val="04926A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 dirty="0">
                                <a:solidFill>
                                  <a:srgbClr val="04926A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solidFill>
                                  <a:srgbClr val="04926A"/>
                                </a:solidFill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</a:rPr>
                              <m:t>𝑘</m:t>
                            </m:r>
                          </m:sup>
                        </m:sSup>
                        <m:sSub>
                          <m:sSubPr>
                            <m:ctrlPr>
                              <a:rPr kumimoji="1" lang="en-US" altLang="zh-CN" sz="2800" i="1" dirty="0">
                                <a:solidFill>
                                  <a:srgbClr val="04926A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solidFill>
                                  <a:srgbClr val="04926A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𝑅</m:t>
                            </m:r>
                          </m:e>
                          <m:sub>
                            <m:r>
                              <a:rPr kumimoji="1" lang="en-US" altLang="zh-CN" sz="2800" dirty="0">
                                <a:solidFill>
                                  <a:srgbClr val="04926A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𝑚</m:t>
                            </m:r>
                          </m:sub>
                        </m:sSub>
                        <m:r>
                          <a:rPr kumimoji="1" lang="en-US" altLang="zh-CN" sz="2800" dirty="0">
                            <a:solidFill>
                              <a:srgbClr val="04926A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solidFill>
                              <a:srgbClr val="04926A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solidFill>
                              <a:srgbClr val="04926A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solidFill>
                                  <a:srgbClr val="04926A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800" i="0" dirty="0">
                                <a:solidFill>
                                  <a:srgbClr val="04926A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800" dirty="0">
                                <a:solidFill>
                                  <a:srgbClr val="04926A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𝜆</m:t>
                            </m:r>
                            <m:r>
                              <a:rPr kumimoji="1" lang="en-US" altLang="zh-CN" sz="2800" dirty="0">
                                <a:solidFill>
                                  <a:srgbClr val="04926A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</m:oMath>
                    </m:oMathPara>
                  </a14:m>
                  <a:endParaRPr kumimoji="1" lang="en-US" altLang="zh-CN" sz="2800" dirty="0">
                    <a:solidFill>
                      <a:srgbClr val="04926A"/>
                    </a:solidFill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4" name="对象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0" y="4320"/>
                  <a:ext cx="5831" cy="121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 12"/>
            <p:cNvSpPr/>
            <p:nvPr/>
          </p:nvSpPr>
          <p:spPr>
            <a:xfrm>
              <a:off x="3058" y="4766"/>
              <a:ext cx="170" cy="2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sp>
        <p:nvSpPr>
          <p:cNvPr id="38" name="矩形标注 30">
            <a:extLst>
              <a:ext uri="{FF2B5EF4-FFF2-40B4-BE49-F238E27FC236}">
                <a16:creationId xmlns:a16="http://schemas.microsoft.com/office/drawing/2014/main" id="{823E59FD-7717-B29B-6207-1464EAE46B69}"/>
              </a:ext>
            </a:extLst>
          </p:cNvPr>
          <p:cNvSpPr/>
          <p:nvPr/>
        </p:nvSpPr>
        <p:spPr>
          <a:xfrm>
            <a:off x="7442276" y="4105722"/>
            <a:ext cx="2809142" cy="1160093"/>
          </a:xfrm>
          <a:prstGeom prst="wedgeRectCallout">
            <a:avLst>
              <a:gd name="adj1" fmla="val -63857"/>
              <a:gd name="adj2" fmla="val -23763"/>
            </a:avLst>
          </a:prstGeom>
          <a:solidFill>
            <a:srgbClr val="96D1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28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</a:endParaRP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B94C9719-C377-EA1E-7347-2A1EA8015162}"/>
              </a:ext>
            </a:extLst>
          </p:cNvPr>
          <p:cNvGrpSpPr/>
          <p:nvPr/>
        </p:nvGrpSpPr>
        <p:grpSpPr>
          <a:xfrm>
            <a:off x="7509612" y="4210445"/>
            <a:ext cx="2672080" cy="1144270"/>
            <a:chOff x="11711" y="6188"/>
            <a:chExt cx="4208" cy="18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对象 5">
                  <a:extLst>
                    <a:ext uri="{FF2B5EF4-FFF2-40B4-BE49-F238E27FC236}">
                      <a16:creationId xmlns:a16="http://schemas.microsoft.com/office/drawing/2014/main" id="{6DEF7F8C-6EE1-185F-162F-51E7FBC58460}"/>
                    </a:ext>
                  </a:extLst>
                </p:cNvPr>
                <p:cNvSpPr txBox="1"/>
                <p:nvPr/>
              </p:nvSpPr>
              <p:spPr>
                <a:xfrm>
                  <a:off x="11711" y="6188"/>
                  <a:ext cx="4208" cy="1802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spcBef>
                      <a:spcPct val="50000"/>
                    </a:spcBef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特征方程</m:t>
                        </m:r>
                      </m:oMath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𝜆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𝑝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𝜆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𝑞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=0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40" name="对象 5">
                  <a:extLst>
                    <a:ext uri="{FF2B5EF4-FFF2-40B4-BE49-F238E27FC236}">
                      <a16:creationId xmlns:a16="http://schemas.microsoft.com/office/drawing/2014/main" id="{6DEF7F8C-6EE1-185F-162F-51E7FBC584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11" y="6188"/>
                  <a:ext cx="4208" cy="180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675F6551-1740-9CC0-2B51-A663BEC18356}"/>
                </a:ext>
              </a:extLst>
            </p:cNvPr>
            <p:cNvSpPr/>
            <p:nvPr/>
          </p:nvSpPr>
          <p:spPr>
            <a:xfrm>
              <a:off x="14596" y="6511"/>
              <a:ext cx="155" cy="17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80" grpId="0" animBg="1"/>
      <p:bldP spid="14482" grpId="0" animBg="1"/>
      <p:bldP spid="14484" grpId="0" animBg="1"/>
      <p:bldP spid="14486" grpId="0" animBg="1"/>
      <p:bldP spid="3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687324" y="536260"/>
            <a:ext cx="10817352" cy="5799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552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10242" name="Rectangle 2"/>
          <p:cNvSpPr>
            <a:spLocks noGrp="1" noChangeArrowheads="1"/>
          </p:cNvSpPr>
          <p:nvPr/>
        </p:nvSpPr>
        <p:spPr>
          <a:xfrm>
            <a:off x="1925558" y="912772"/>
            <a:ext cx="9144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例1 </a:t>
            </a:r>
            <a:endParaRPr lang="en-US" altLang="zh-CN" sz="2800" dirty="0">
              <a:solidFill>
                <a:srgbClr val="0000FF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925558" y="1548566"/>
            <a:ext cx="1676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i="0" u="none" strike="noStrike" kern="1200" cap="none" spc="0" normalizeH="0" baseline="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解 </a:t>
            </a:r>
            <a:r>
              <a:rPr lang="en-US" altLang="zh-CN" sz="2800" b="1" i="0" u="none" strike="noStrike" kern="1200" cap="none" spc="0" normalizeH="0" baseline="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   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本题</a:t>
            </a:r>
          </a:p>
        </p:txBody>
      </p:sp>
      <p:sp>
        <p:nvSpPr>
          <p:cNvPr id="10249" name="Text Box 9"/>
          <p:cNvSpPr txBox="1">
            <a:spLocks noChangeArrowheads="1"/>
          </p:cNvSpPr>
          <p:nvPr/>
        </p:nvSpPr>
        <p:spPr bwMode="auto">
          <a:xfrm>
            <a:off x="4636050" y="1603741"/>
            <a:ext cx="25146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而特征方程为</a:t>
            </a:r>
          </a:p>
        </p:txBody>
      </p:sp>
      <p:sp>
        <p:nvSpPr>
          <p:cNvPr id="10252" name="Text Box 12"/>
          <p:cNvSpPr txBox="1">
            <a:spLocks noChangeArrowheads="1"/>
          </p:cNvSpPr>
          <p:nvPr/>
        </p:nvSpPr>
        <p:spPr bwMode="auto">
          <a:xfrm>
            <a:off x="4642628" y="2088220"/>
            <a:ext cx="32766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不是特征方程的根.</a:t>
            </a:r>
          </a:p>
        </p:txBody>
      </p:sp>
      <p:sp>
        <p:nvSpPr>
          <p:cNvPr id="10253" name="Text Box 13"/>
          <p:cNvSpPr txBox="1">
            <a:spLocks noChangeArrowheads="1"/>
          </p:cNvSpPr>
          <p:nvPr/>
        </p:nvSpPr>
        <p:spPr bwMode="auto">
          <a:xfrm>
            <a:off x="2819728" y="2633289"/>
            <a:ext cx="27432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设所求特解为</a:t>
            </a:r>
          </a:p>
        </p:txBody>
      </p:sp>
      <p:sp>
        <p:nvSpPr>
          <p:cNvPr id="10255" name="Text Box 15"/>
          <p:cNvSpPr txBox="1">
            <a:spLocks noChangeArrowheads="1"/>
          </p:cNvSpPr>
          <p:nvPr/>
        </p:nvSpPr>
        <p:spPr bwMode="auto">
          <a:xfrm>
            <a:off x="6673304" y="2633289"/>
            <a:ext cx="22098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代入方程: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57" name="Text Box 17"/>
              <p:cNvSpPr txBox="1">
                <a:spLocks noChangeArrowheads="1"/>
              </p:cNvSpPr>
              <p:nvPr/>
            </p:nvSpPr>
            <p:spPr bwMode="auto">
              <a:xfrm>
                <a:off x="2819728" y="3779146"/>
                <a:ext cx="2514600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rPr>
                  <a:t>比较系数</a:t>
                </a:r>
                <a14:m>
                  <m:oMath xmlns:m="http://schemas.openxmlformats.org/officeDocument/2006/math">
                    <m:r>
                      <a:rPr kumimoji="1" lang="en-US" altLang="zh-CN" sz="2200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rPr>
                  <a:t> 得</a:t>
                </a:r>
              </a:p>
            </p:txBody>
          </p:sp>
        </mc:Choice>
        <mc:Fallback xmlns="">
          <p:sp>
            <p:nvSpPr>
              <p:cNvPr id="10257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9728" y="3779146"/>
                <a:ext cx="2514600" cy="430887"/>
              </a:xfrm>
              <a:prstGeom prst="rect">
                <a:avLst/>
              </a:prstGeom>
              <a:blipFill>
                <a:blip r:embed="rId4"/>
                <a:stretch>
                  <a:fillRect l="-3155" t="-14085" b="-2253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63" name="Text Box 23"/>
          <p:cNvSpPr txBox="1">
            <a:spLocks noChangeArrowheads="1"/>
          </p:cNvSpPr>
          <p:nvPr/>
        </p:nvSpPr>
        <p:spPr bwMode="auto">
          <a:xfrm>
            <a:off x="2823429" y="5402304"/>
            <a:ext cx="30480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于是所求特解为</a:t>
            </a:r>
          </a:p>
        </p:txBody>
      </p:sp>
      <p:sp>
        <p:nvSpPr>
          <p:cNvPr id="10267" name="AutoShape 27"/>
          <p:cNvSpPr>
            <a:spLocks noChangeArrowheads="1"/>
          </p:cNvSpPr>
          <p:nvPr/>
        </p:nvSpPr>
        <p:spPr bwMode="auto">
          <a:xfrm>
            <a:off x="6214671" y="4675277"/>
            <a:ext cx="990600" cy="152400"/>
          </a:xfrm>
          <a:prstGeom prst="rightArrow">
            <a:avLst>
              <a:gd name="adj1" fmla="val 50000"/>
              <a:gd name="adj2" fmla="val 162500"/>
            </a:avLst>
          </a:prstGeom>
          <a:solidFill>
            <a:srgbClr val="04926A"/>
          </a:solidFill>
          <a:ln w="9525">
            <a:noFill/>
            <a:miter lim="800000"/>
          </a:ln>
          <a:effectLst/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graphicFrame>
        <p:nvGraphicFramePr>
          <p:cNvPr id="2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515696"/>
              </p:ext>
            </p:extLst>
          </p:nvPr>
        </p:nvGraphicFramePr>
        <p:xfrm>
          <a:off x="3795713" y="4271609"/>
          <a:ext cx="43815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54000" imgH="571500" progId="Equation.3">
                  <p:embed/>
                </p:oleObj>
              </mc:Choice>
              <mc:Fallback>
                <p:oleObj name="公式" r:id="rId5" imgW="254000" imgH="5715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biLevel thresh="50000"/>
                        <a:lum bright="-100000" contras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5713" y="4271609"/>
                        <a:ext cx="43815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2820035" y="767715"/>
            <a:ext cx="8260715" cy="805180"/>
            <a:chOff x="4201" y="1229"/>
            <a:chExt cx="13009" cy="126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46" name="Object 6"/>
                <p:cNvSpPr txBox="1"/>
                <p:nvPr/>
              </p:nvSpPr>
              <p:spPr bwMode="auto">
                <a:xfrm>
                  <a:off x="4201" y="1494"/>
                  <a:ext cx="13009" cy="100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975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9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求微分方程</m:t>
                        </m:r>
                        <m:sSup>
                          <m:sSupPr>
                            <m:ctrlPr>
                              <a:rPr kumimoji="1" lang="en-US" altLang="zh-CN" sz="29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9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9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″</m:t>
                            </m:r>
                          </m:sup>
                        </m:sSup>
                        <m:r>
                          <a:rPr kumimoji="1" lang="en-US" altLang="zh-CN" sz="29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−2</m:t>
                        </m:r>
                        <m:sSup>
                          <m:sSupPr>
                            <m:ctrlPr>
                              <a:rPr kumimoji="1" lang="en-US" altLang="zh-CN" sz="29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9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9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9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−3</m:t>
                        </m:r>
                        <m:r>
                          <a:rPr kumimoji="1" lang="en-US" altLang="zh-CN" sz="29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9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=3</m:t>
                        </m:r>
                        <m:r>
                          <a:rPr kumimoji="1" lang="en-US" altLang="zh-CN" sz="29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9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+1</m:t>
                        </m:r>
                        <m:r>
                          <a:rPr kumimoji="1" lang="zh-CN" altLang="en-US" sz="29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的一个特解</m:t>
                        </m:r>
                        <m:r>
                          <a:rPr kumimoji="1" lang="zh-CN" altLang="en-US" sz="29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.</m:t>
                        </m:r>
                      </m:oMath>
                    </m:oMathPara>
                  </a14:m>
                  <a:endParaRPr kumimoji="1" lang="zh-CN" altLang="en-US" sz="2900" i="1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0246" name="Object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01" y="1494"/>
                  <a:ext cx="13009" cy="100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矩形 2"/>
            <p:cNvSpPr/>
            <p:nvPr/>
          </p:nvSpPr>
          <p:spPr>
            <a:xfrm>
              <a:off x="5220" y="1229"/>
              <a:ext cx="417" cy="1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3599497" y="1562100"/>
            <a:ext cx="1162050" cy="461645"/>
            <a:chOff x="5525" y="2480"/>
            <a:chExt cx="1830" cy="7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66" name="Object 26"/>
                <p:cNvSpPr txBox="1"/>
                <p:nvPr/>
              </p:nvSpPr>
              <p:spPr bwMode="auto">
                <a:xfrm>
                  <a:off x="5525" y="2562"/>
                  <a:ext cx="1830" cy="64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𝜆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=0 ,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0266" name="Object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525" y="2562"/>
                  <a:ext cx="1830" cy="645"/>
                </a:xfrm>
                <a:prstGeom prst="rect">
                  <a:avLst/>
                </a:prstGeom>
                <a:blipFill>
                  <a:blip r:embed="rId8"/>
                  <a:stretch>
                    <a:fillRect l="-524" b="-298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矩形 4"/>
            <p:cNvSpPr/>
            <p:nvPr/>
          </p:nvSpPr>
          <p:spPr>
            <a:xfrm>
              <a:off x="5776" y="2480"/>
              <a:ext cx="278" cy="1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6531938" y="1609725"/>
            <a:ext cx="2321560" cy="508000"/>
            <a:chOff x="10047" y="2515"/>
            <a:chExt cx="3656" cy="8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50" name="Object 10"/>
                <p:cNvSpPr txBox="1"/>
                <p:nvPr/>
              </p:nvSpPr>
              <p:spPr bwMode="auto">
                <a:xfrm>
                  <a:off x="10047" y="2515"/>
                  <a:ext cx="3657" cy="8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𝑟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−2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𝑟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−3=0 ,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0250" name="Object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047" y="2515"/>
                  <a:ext cx="3657" cy="80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矩形 6"/>
            <p:cNvSpPr/>
            <p:nvPr/>
          </p:nvSpPr>
          <p:spPr>
            <a:xfrm>
              <a:off x="13376" y="2696"/>
              <a:ext cx="247" cy="3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3376612" y="2103120"/>
            <a:ext cx="1276985" cy="436880"/>
            <a:chOff x="5174" y="3332"/>
            <a:chExt cx="2011" cy="68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65" name="Object 25"/>
                <p:cNvSpPr txBox="1"/>
                <p:nvPr/>
              </p:nvSpPr>
              <p:spPr bwMode="auto">
                <a:xfrm>
                  <a:off x="5523" y="3332"/>
                  <a:ext cx="1662" cy="6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𝜆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=0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0265" name="Object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523" y="3332"/>
                  <a:ext cx="1662" cy="688"/>
                </a:xfrm>
                <a:prstGeom prst="rect">
                  <a:avLst/>
                </a:prstGeom>
                <a:blipFill>
                  <a:blip r:embed="rId10"/>
                  <a:stretch>
                    <a:fillRect l="-578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矩形 8"/>
            <p:cNvSpPr/>
            <p:nvPr/>
          </p:nvSpPr>
          <p:spPr>
            <a:xfrm>
              <a:off x="5174" y="3577"/>
              <a:ext cx="324" cy="1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686628" y="2611755"/>
            <a:ext cx="2209800" cy="467360"/>
            <a:chOff x="7071" y="4133"/>
            <a:chExt cx="3480" cy="73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54" name="Object 14"/>
                <p:cNvSpPr txBox="1"/>
                <p:nvPr/>
              </p:nvSpPr>
              <p:spPr bwMode="auto">
                <a:xfrm>
                  <a:off x="7071" y="4169"/>
                  <a:ext cx="3480" cy="7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975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3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3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3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∗</m:t>
                            </m:r>
                          </m:sup>
                        </m:sSup>
                        <m:r>
                          <a:rPr kumimoji="1" lang="en-US" altLang="zh-CN" sz="23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3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3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zh-CN" sz="23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0</m:t>
                            </m:r>
                          </m:sub>
                        </m:sSub>
                        <m:r>
                          <a:rPr kumimoji="1" lang="en-US" altLang="zh-CN" sz="23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3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3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3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zh-CN" sz="23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300" b="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 </m:t>
                        </m:r>
                        <m:r>
                          <a:rPr lang="zh-CN" altLang="en-US" sz="23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 sz="2300" dirty="0"/>
                </a:p>
              </p:txBody>
            </p:sp>
          </mc:Choice>
          <mc:Fallback xmlns="">
            <p:sp>
              <p:nvSpPr>
                <p:cNvPr id="10254" name="Object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071" y="4169"/>
                  <a:ext cx="3480" cy="700"/>
                </a:xfrm>
                <a:prstGeom prst="rect">
                  <a:avLst/>
                </a:prstGeom>
                <a:blipFill>
                  <a:blip r:embed="rId11"/>
                  <a:stretch>
                    <a:fillRect l="-552" b="-5479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矩形 10"/>
            <p:cNvSpPr/>
            <p:nvPr/>
          </p:nvSpPr>
          <p:spPr>
            <a:xfrm>
              <a:off x="7769" y="4133"/>
              <a:ext cx="263" cy="1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3702685" y="3192780"/>
            <a:ext cx="5100320" cy="431800"/>
            <a:chOff x="5591" y="5118"/>
            <a:chExt cx="8032" cy="6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56" name="Object 16"/>
                <p:cNvSpPr txBox="1"/>
                <p:nvPr/>
              </p:nvSpPr>
              <p:spPr bwMode="auto">
                <a:xfrm>
                  <a:off x="6128" y="5118"/>
                  <a:ext cx="7495" cy="6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−3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0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−3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−2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0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=3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+1.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0256" name="Object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128" y="5118"/>
                  <a:ext cx="7495" cy="680"/>
                </a:xfrm>
                <a:prstGeom prst="rect">
                  <a:avLst/>
                </a:prstGeom>
                <a:blipFill>
                  <a:blip r:embed="rId12"/>
                  <a:stretch>
                    <a:fillRect b="-281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 12"/>
            <p:cNvSpPr/>
            <p:nvPr/>
          </p:nvSpPr>
          <p:spPr>
            <a:xfrm>
              <a:off x="5591" y="5322"/>
              <a:ext cx="432" cy="18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4028440" y="4232275"/>
            <a:ext cx="2239010" cy="431800"/>
            <a:chOff x="6104" y="6835"/>
            <a:chExt cx="3526" cy="6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60" name="Object 20"/>
                <p:cNvSpPr txBox="1"/>
                <p:nvPr/>
              </p:nvSpPr>
              <p:spPr bwMode="auto">
                <a:xfrm>
                  <a:off x="6104" y="6835"/>
                  <a:ext cx="3527" cy="6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−3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0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=3,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0260" name="Object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104" y="6835"/>
                  <a:ext cx="3527" cy="680"/>
                </a:xfrm>
                <a:prstGeom prst="rect">
                  <a:avLst/>
                </a:prstGeom>
                <a:blipFill rotWithShape="1">
                  <a:blip r:embed="rId13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矩形 14"/>
            <p:cNvSpPr/>
            <p:nvPr/>
          </p:nvSpPr>
          <p:spPr>
            <a:xfrm>
              <a:off x="8109" y="7098"/>
              <a:ext cx="370" cy="12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028440" y="4834255"/>
            <a:ext cx="2438400" cy="431800"/>
            <a:chOff x="6104" y="7633"/>
            <a:chExt cx="3840" cy="6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61" name="Object 21"/>
                <p:cNvSpPr txBox="1"/>
                <p:nvPr/>
              </p:nvSpPr>
              <p:spPr bwMode="auto">
                <a:xfrm>
                  <a:off x="6104" y="7633"/>
                  <a:ext cx="3841" cy="6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−2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0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−3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=1.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0261" name="Object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104" y="7633"/>
                  <a:ext cx="3841" cy="680"/>
                </a:xfrm>
                <a:prstGeom prst="rect">
                  <a:avLst/>
                </a:prstGeom>
                <a:blipFill rotWithShape="1">
                  <a:blip r:embed="rId14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矩形 16"/>
            <p:cNvSpPr/>
            <p:nvPr/>
          </p:nvSpPr>
          <p:spPr>
            <a:xfrm>
              <a:off x="9499" y="7871"/>
              <a:ext cx="232" cy="17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7393686" y="4358005"/>
            <a:ext cx="3086100" cy="838200"/>
            <a:chOff x="11249" y="6733"/>
            <a:chExt cx="4860" cy="13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62" name="Object 22"/>
                <p:cNvSpPr txBox="1"/>
                <p:nvPr/>
              </p:nvSpPr>
              <p:spPr bwMode="auto">
                <a:xfrm>
                  <a:off x="11249" y="6733"/>
                  <a:ext cx="4861" cy="13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0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=−1 ,  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3</m:t>
                            </m:r>
                          </m:den>
                        </m:f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0262" name="Object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249" y="6733"/>
                  <a:ext cx="4861" cy="1320"/>
                </a:xfrm>
                <a:prstGeom prst="rect">
                  <a:avLst/>
                </a:prstGeom>
                <a:blipFill rotWithShape="1">
                  <a:blip r:embed="rId15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矩形 18"/>
            <p:cNvSpPr/>
            <p:nvPr/>
          </p:nvSpPr>
          <p:spPr>
            <a:xfrm>
              <a:off x="15245" y="7268"/>
              <a:ext cx="263" cy="3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5002530" y="5223448"/>
            <a:ext cx="2658110" cy="850900"/>
            <a:chOff x="7895" y="8176"/>
            <a:chExt cx="4186" cy="13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64" name="Object 24"/>
                <p:cNvSpPr txBox="1"/>
                <p:nvPr/>
              </p:nvSpPr>
              <p:spPr bwMode="auto">
                <a:xfrm>
                  <a:off x="7895" y="8176"/>
                  <a:ext cx="4187" cy="13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∗</m:t>
                            </m:r>
                          </m:sup>
                        </m:sSup>
                        <m:r>
                          <a:rPr kumimoji="1" lang="en-US" altLang="zh-CN" sz="22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=−</m:t>
                        </m:r>
                        <m:r>
                          <a:rPr kumimoji="1" lang="en-US" altLang="zh-CN" sz="22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3</m:t>
                            </m:r>
                          </m:den>
                        </m:f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 </m:t>
                        </m:r>
                        <m:r>
                          <a:rPr kumimoji="1" lang="en-US" altLang="zh-CN" sz="2200" b="0" i="0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0264" name="Object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895" y="8176"/>
                  <a:ext cx="4187" cy="134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矩形 20"/>
            <p:cNvSpPr/>
            <p:nvPr/>
          </p:nvSpPr>
          <p:spPr>
            <a:xfrm>
              <a:off x="10796" y="8659"/>
              <a:ext cx="387" cy="47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0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0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0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/>
      <p:bldP spid="10248" grpId="0"/>
      <p:bldP spid="10249" grpId="0"/>
      <p:bldP spid="10252" grpId="0"/>
      <p:bldP spid="10253" grpId="0"/>
      <p:bldP spid="10255" grpId="0"/>
      <p:bldP spid="10257" grpId="0"/>
      <p:bldP spid="10263" grpId="0"/>
      <p:bldP spid="1026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687324" y="536895"/>
            <a:ext cx="10817352" cy="5799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552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14338" name="Rectangle 2"/>
          <p:cNvSpPr>
            <a:spLocks noGrp="1" noChangeArrowheads="1"/>
          </p:cNvSpPr>
          <p:nvPr/>
        </p:nvSpPr>
        <p:spPr>
          <a:xfrm>
            <a:off x="1546225" y="689902"/>
            <a:ext cx="990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例2 </a:t>
            </a:r>
            <a:r>
              <a:rPr lang="zh-CN" altLang="en-US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 </a:t>
            </a:r>
            <a:endParaRPr lang="en-US" altLang="zh-CN" sz="2800" dirty="0"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39" name="Object 3"/>
              <p:cNvSpPr txBox="1"/>
              <p:nvPr/>
            </p:nvSpPr>
            <p:spPr bwMode="auto">
              <a:xfrm>
                <a:off x="2304560" y="742607"/>
                <a:ext cx="4812030" cy="74803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311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ea"/>
                        </a:rPr>
                        <m:t>求方程</m:t>
                      </m:r>
                      <m:r>
                        <a:rPr lang="zh-CN" altLang="en-US" sz="3110" i="1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 </m:t>
                      </m:r>
                      <m:sSup>
                        <m:sSupPr>
                          <m:ctrlPr>
                            <a:rPr kumimoji="1" lang="en-US" altLang="zh-CN" sz="311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en-US" altLang="zh-CN" sz="311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p>
                          <m:r>
                            <a:rPr kumimoji="1" lang="en-US" altLang="zh-CN" sz="311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″</m:t>
                          </m:r>
                        </m:sup>
                      </m:sSup>
                      <m:r>
                        <a:rPr kumimoji="1" lang="en-US" altLang="zh-CN" sz="311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−5</m:t>
                      </m:r>
                      <m:sSup>
                        <m:sSupPr>
                          <m:ctrlPr>
                            <a:rPr kumimoji="1" lang="en-US" altLang="zh-CN" sz="311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en-US" altLang="zh-CN" sz="311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p>
                          <m:r>
                            <a:rPr kumimoji="1" lang="en-US" altLang="zh-CN" sz="311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en-US" altLang="zh-CN" sz="311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+6</m:t>
                      </m:r>
                      <m:r>
                        <a:rPr kumimoji="1" lang="en-US" altLang="zh-CN" sz="311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en-US" altLang="zh-CN" sz="311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en-US" altLang="zh-CN" sz="311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sSup>
                        <m:sSupPr>
                          <m:ctrlPr>
                            <a:rPr kumimoji="1" lang="en-US" altLang="zh-CN" sz="311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zh-CN" sz="3110" i="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e</m:t>
                          </m:r>
                        </m:e>
                        <m:sup>
                          <m:r>
                            <a:rPr kumimoji="1" lang="en-US" altLang="zh-CN" sz="311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  <m:r>
                            <a:rPr kumimoji="1" lang="en-US" altLang="zh-CN" sz="311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kumimoji="1" lang="en-US" altLang="zh-CN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4339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04560" y="742607"/>
                <a:ext cx="4812030" cy="7480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6935787" y="701088"/>
            <a:ext cx="3124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的通解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.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629DD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 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14341" name="Text Box 5"/>
          <p:cNvSpPr txBox="1">
            <a:spLocks noChangeArrowheads="1"/>
          </p:cNvSpPr>
          <p:nvPr/>
        </p:nvSpPr>
        <p:spPr bwMode="auto">
          <a:xfrm>
            <a:off x="1548003" y="1361732"/>
            <a:ext cx="194691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i="0" u="none" strike="noStrike" kern="1200" cap="none" spc="0" normalizeH="0" baseline="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解</a:t>
            </a:r>
            <a:r>
              <a:rPr lang="en-US" altLang="zh-CN" sz="2800" b="1" i="0" u="none" strike="noStrike" kern="1200" cap="none" spc="0" normalizeH="0" baseline="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</a:t>
            </a:r>
            <a:r>
              <a:rPr lang="zh-CN" altLang="en-US" sz="2800" b="1" i="0" u="none" strike="noStrike" kern="1200" cap="none" spc="0" normalizeH="0" baseline="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24285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 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本题</a:t>
            </a:r>
          </a:p>
        </p:txBody>
      </p:sp>
      <p:sp>
        <p:nvSpPr>
          <p:cNvPr id="14342" name="Text Box 6"/>
          <p:cNvSpPr txBox="1">
            <a:spLocks noChangeArrowheads="1"/>
          </p:cNvSpPr>
          <p:nvPr/>
        </p:nvSpPr>
        <p:spPr bwMode="auto">
          <a:xfrm>
            <a:off x="3851528" y="1422447"/>
            <a:ext cx="25146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特征方程为</a:t>
            </a:r>
          </a:p>
        </p:txBody>
      </p:sp>
      <p:sp>
        <p:nvSpPr>
          <p:cNvPr id="14344" name="Text Box 8"/>
          <p:cNvSpPr txBox="1">
            <a:spLocks noChangeArrowheads="1"/>
          </p:cNvSpPr>
          <p:nvPr/>
        </p:nvSpPr>
        <p:spPr bwMode="auto">
          <a:xfrm>
            <a:off x="7595870" y="1418587"/>
            <a:ext cx="12954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其根为</a:t>
            </a:r>
          </a:p>
        </p:txBody>
      </p:sp>
      <p:sp>
        <p:nvSpPr>
          <p:cNvPr id="14345" name="Text Box 9"/>
          <p:cNvSpPr txBox="1">
            <a:spLocks noChangeArrowheads="1"/>
          </p:cNvSpPr>
          <p:nvPr/>
        </p:nvSpPr>
        <p:spPr bwMode="auto">
          <a:xfrm>
            <a:off x="2304560" y="1935773"/>
            <a:ext cx="38862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对应齐次方程的通解为</a:t>
            </a:r>
          </a:p>
        </p:txBody>
      </p:sp>
      <p:sp>
        <p:nvSpPr>
          <p:cNvPr id="14347" name="Text Box 11"/>
          <p:cNvSpPr txBox="1">
            <a:spLocks noChangeArrowheads="1"/>
          </p:cNvSpPr>
          <p:nvPr/>
        </p:nvSpPr>
        <p:spPr bwMode="auto">
          <a:xfrm>
            <a:off x="2304560" y="2501558"/>
            <a:ext cx="38862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设非齐次方程特解为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49" name="Text Box 13"/>
              <p:cNvSpPr txBox="1">
                <a:spLocks noChangeArrowheads="1"/>
              </p:cNvSpPr>
              <p:nvPr/>
            </p:nvSpPr>
            <p:spPr bwMode="auto">
              <a:xfrm>
                <a:off x="2304560" y="3817045"/>
                <a:ext cx="2514600" cy="4298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fontAlgn="base">
                  <a:spcBef>
                    <a:spcPct val="50000"/>
                  </a:spcBef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rPr>
                  <a:t>比较系数</a:t>
                </a:r>
                <a14:m>
                  <m:oMath xmlns:m="http://schemas.openxmlformats.org/officeDocument/2006/math">
                    <m:r>
                      <a:rPr kumimoji="1" lang="en-US" altLang="zh-CN" sz="2200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rPr>
                  <a:t>  得</a:t>
                </a:r>
              </a:p>
            </p:txBody>
          </p:sp>
        </mc:Choice>
        <mc:Fallback xmlns="">
          <p:sp>
            <p:nvSpPr>
              <p:cNvPr id="14349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04560" y="3817045"/>
                <a:ext cx="2514600" cy="429895"/>
              </a:xfrm>
              <a:prstGeom prst="rect">
                <a:avLst/>
              </a:prstGeom>
              <a:blipFill>
                <a:blip r:embed="rId5"/>
                <a:stretch>
                  <a:fillRect l="-3148" t="-14085" b="-2394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54" name="Text Box 18"/>
          <p:cNvSpPr txBox="1">
            <a:spLocks noChangeArrowheads="1"/>
          </p:cNvSpPr>
          <p:nvPr/>
        </p:nvSpPr>
        <p:spPr bwMode="auto">
          <a:xfrm>
            <a:off x="2304560" y="4671162"/>
            <a:ext cx="20574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因此特解为</a:t>
            </a:r>
          </a:p>
        </p:txBody>
      </p:sp>
      <p:sp>
        <p:nvSpPr>
          <p:cNvPr id="14357" name="Text Box 21"/>
          <p:cNvSpPr txBox="1">
            <a:spLocks noChangeArrowheads="1"/>
          </p:cNvSpPr>
          <p:nvPr/>
        </p:nvSpPr>
        <p:spPr bwMode="auto">
          <a:xfrm>
            <a:off x="2304560" y="3096553"/>
            <a:ext cx="21336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代入方程得</a:t>
            </a:r>
          </a:p>
        </p:txBody>
      </p:sp>
      <p:sp>
        <p:nvSpPr>
          <p:cNvPr id="14359" name="Text Box 23"/>
          <p:cNvSpPr txBox="1">
            <a:spLocks noChangeArrowheads="1"/>
          </p:cNvSpPr>
          <p:nvPr/>
        </p:nvSpPr>
        <p:spPr bwMode="auto">
          <a:xfrm>
            <a:off x="2304560" y="5428717"/>
            <a:ext cx="24384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所求通解为</a:t>
            </a:r>
          </a:p>
        </p:txBody>
      </p:sp>
      <p:sp>
        <p:nvSpPr>
          <p:cNvPr id="14366" name="AutoShape 30"/>
          <p:cNvSpPr>
            <a:spLocks noChangeArrowheads="1"/>
          </p:cNvSpPr>
          <p:nvPr/>
        </p:nvSpPr>
        <p:spPr bwMode="auto">
          <a:xfrm>
            <a:off x="6260851" y="3968407"/>
            <a:ext cx="990600" cy="152400"/>
          </a:xfrm>
          <a:prstGeom prst="rightArrow">
            <a:avLst>
              <a:gd name="adj1" fmla="val 50000"/>
              <a:gd name="adj2" fmla="val 162500"/>
            </a:avLst>
          </a:prstGeom>
          <a:solidFill>
            <a:srgbClr val="1D9D79"/>
          </a:solidFill>
          <a:ln w="9525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graphicFrame>
        <p:nvGraphicFramePr>
          <p:cNvPr id="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9252703"/>
              </p:ext>
            </p:extLst>
          </p:nvPr>
        </p:nvGraphicFramePr>
        <p:xfrm>
          <a:off x="4096634" y="3555531"/>
          <a:ext cx="4048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54000" imgH="571500" progId="Equation.3">
                  <p:embed/>
                </p:oleObj>
              </mc:Choice>
              <mc:Fallback>
                <p:oleObj name="公式" r:id="rId6" imgW="254000" imgH="5715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biLevel thresh="50000"/>
                        <a:lum bright="-100000" contras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6634" y="3555531"/>
                        <a:ext cx="40481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2999740" y="1411262"/>
            <a:ext cx="1096645" cy="414655"/>
            <a:chOff x="4559" y="2573"/>
            <a:chExt cx="1727" cy="65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65" name="Object 29"/>
                <p:cNvSpPr txBox="1"/>
                <p:nvPr/>
              </p:nvSpPr>
              <p:spPr bwMode="auto">
                <a:xfrm>
                  <a:off x="4559" y="2606"/>
                  <a:ext cx="1727" cy="6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𝜆</m:t>
                        </m:r>
                        <m:r>
                          <a:rPr kumimoji="1" lang="en-US" altLang="zh-CN" sz="22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=2,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4365" name="Object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59" y="2606"/>
                  <a:ext cx="1727" cy="620"/>
                </a:xfrm>
                <a:prstGeom prst="rect">
                  <a:avLst/>
                </a:prstGeom>
                <a:blipFill>
                  <a:blip r:embed="rId8"/>
                  <a:stretch>
                    <a:fillRect l="-556" b="-781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矩形 2"/>
            <p:cNvSpPr/>
            <p:nvPr/>
          </p:nvSpPr>
          <p:spPr>
            <a:xfrm>
              <a:off x="4819" y="2573"/>
              <a:ext cx="185" cy="1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5401274" y="1433170"/>
            <a:ext cx="2324100" cy="508000"/>
            <a:chOff x="8374" y="2523"/>
            <a:chExt cx="3660" cy="8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43" name="Object 7"/>
                <p:cNvSpPr txBox="1"/>
                <p:nvPr/>
              </p:nvSpPr>
              <p:spPr bwMode="auto">
                <a:xfrm>
                  <a:off x="8374" y="2523"/>
                  <a:ext cx="3660" cy="8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𝑟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−5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𝑟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+6=0 ,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4343" name="Object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374" y="2523"/>
                  <a:ext cx="3660" cy="800"/>
                </a:xfrm>
                <a:prstGeom prst="rect">
                  <a:avLst/>
                </a:prstGeom>
                <a:blipFill rotWithShape="1">
                  <a:blip r:embed="rId9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矩形 4"/>
            <p:cNvSpPr/>
            <p:nvPr/>
          </p:nvSpPr>
          <p:spPr>
            <a:xfrm>
              <a:off x="9144" y="2557"/>
              <a:ext cx="262" cy="1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8603170" y="1391491"/>
            <a:ext cx="2799080" cy="431800"/>
            <a:chOff x="13226" y="2518"/>
            <a:chExt cx="4408" cy="6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56" name="Object 20"/>
                <p:cNvSpPr txBox="1"/>
                <p:nvPr/>
              </p:nvSpPr>
              <p:spPr bwMode="auto">
                <a:xfrm>
                  <a:off x="13226" y="2518"/>
                  <a:ext cx="4408" cy="6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𝑟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=2, 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𝑟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=3.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4356" name="Object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226" y="2518"/>
                  <a:ext cx="4408" cy="680"/>
                </a:xfrm>
                <a:prstGeom prst="rect">
                  <a:avLst/>
                </a:prstGeom>
                <a:blipFill rotWithShape="1">
                  <a:blip r:embed="rId10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矩形 6"/>
            <p:cNvSpPr/>
            <p:nvPr/>
          </p:nvSpPr>
          <p:spPr>
            <a:xfrm>
              <a:off x="16728" y="2727"/>
              <a:ext cx="463" cy="2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5243195" y="1934502"/>
            <a:ext cx="2776220" cy="469900"/>
            <a:chOff x="8092" y="3417"/>
            <a:chExt cx="4372" cy="7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46" name="Object 10"/>
                <p:cNvSpPr txBox="1"/>
                <p:nvPr/>
              </p:nvSpPr>
              <p:spPr bwMode="auto">
                <a:xfrm>
                  <a:off x="8092" y="3417"/>
                  <a:ext cx="4040" cy="7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𝑌</m:t>
                        </m:r>
                        <m:r>
                          <a:rPr kumimoji="1" lang="en-US" altLang="zh-CN" sz="22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2​</m:t>
                            </m:r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3​</m:t>
                            </m:r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  <m:r>
                          <a:rPr kumimoji="1" lang="en-US" altLang="zh-CN" sz="2200" b="0" i="0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4346" name="Object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092" y="3417"/>
                  <a:ext cx="4040" cy="740"/>
                </a:xfrm>
                <a:prstGeom prst="rect">
                  <a:avLst/>
                </a:prstGeom>
                <a:blipFill>
                  <a:blip r:embed="rId11"/>
                  <a:stretch>
                    <a:fillRect l="-238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矩形 8"/>
            <p:cNvSpPr/>
            <p:nvPr/>
          </p:nvSpPr>
          <p:spPr>
            <a:xfrm>
              <a:off x="12202" y="3654"/>
              <a:ext cx="263" cy="32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5050155" y="2498382"/>
            <a:ext cx="3009900" cy="469900"/>
            <a:chOff x="7788" y="4249"/>
            <a:chExt cx="4740" cy="7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48" name="Object 12"/>
                <p:cNvSpPr txBox="1"/>
                <p:nvPr/>
              </p:nvSpPr>
              <p:spPr bwMode="auto">
                <a:xfrm>
                  <a:off x="7788" y="4249"/>
                  <a:ext cx="4740" cy="7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∗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0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2​</m:t>
                            </m:r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4348" name="Object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788" y="4249"/>
                  <a:ext cx="4740" cy="740"/>
                </a:xfrm>
                <a:prstGeom prst="rect">
                  <a:avLst/>
                </a:prstGeom>
                <a:blipFill>
                  <a:blip r:embed="rId12"/>
                  <a:stretch>
                    <a:fillRect l="-202" b="-9091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矩形 10"/>
            <p:cNvSpPr/>
            <p:nvPr/>
          </p:nvSpPr>
          <p:spPr>
            <a:xfrm>
              <a:off x="12032" y="4519"/>
              <a:ext cx="402" cy="18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3947795" y="3094012"/>
            <a:ext cx="3286760" cy="431800"/>
            <a:chOff x="6052" y="5207"/>
            <a:chExt cx="5176" cy="6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58" name="Object 22"/>
                <p:cNvSpPr txBox="1"/>
                <p:nvPr/>
              </p:nvSpPr>
              <p:spPr bwMode="auto">
                <a:xfrm>
                  <a:off x="6052" y="5207"/>
                  <a:ext cx="4820" cy="6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−2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0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+2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0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4358" name="Object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052" y="5207"/>
                  <a:ext cx="4820" cy="680"/>
                </a:xfrm>
                <a:prstGeom prst="rect">
                  <a:avLst/>
                </a:prstGeom>
                <a:blipFill rotWithShape="1">
                  <a:blip r:embed="rId13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 12"/>
            <p:cNvSpPr/>
            <p:nvPr/>
          </p:nvSpPr>
          <p:spPr>
            <a:xfrm>
              <a:off x="10766" y="5477"/>
              <a:ext cx="463" cy="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4364355" y="3548037"/>
            <a:ext cx="1582420" cy="495300"/>
            <a:chOff x="6708" y="5878"/>
            <a:chExt cx="2492" cy="7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51" name="Object 15"/>
                <p:cNvSpPr txBox="1"/>
                <p:nvPr/>
              </p:nvSpPr>
              <p:spPr bwMode="auto">
                <a:xfrm>
                  <a:off x="6708" y="5878"/>
                  <a:ext cx="2492" cy="7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−2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0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=1,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4351" name="Object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708" y="5878"/>
                  <a:ext cx="2492" cy="78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矩形 14"/>
            <p:cNvSpPr/>
            <p:nvPr/>
          </p:nvSpPr>
          <p:spPr>
            <a:xfrm>
              <a:off x="8696" y="6156"/>
              <a:ext cx="262" cy="2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380865" y="4076992"/>
            <a:ext cx="2171700" cy="431800"/>
            <a:chOff x="6734" y="6711"/>
            <a:chExt cx="3420" cy="6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52" name="Object 16"/>
                <p:cNvSpPr txBox="1"/>
                <p:nvPr/>
              </p:nvSpPr>
              <p:spPr bwMode="auto">
                <a:xfrm>
                  <a:off x="6734" y="6711"/>
                  <a:ext cx="3420" cy="6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2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0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=0.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4352" name="Object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734" y="6711"/>
                  <a:ext cx="3420" cy="680"/>
                </a:xfrm>
                <a:prstGeom prst="rect">
                  <a:avLst/>
                </a:prstGeom>
                <a:blipFill rotWithShape="1">
                  <a:blip r:embed="rId15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矩形 16"/>
            <p:cNvSpPr/>
            <p:nvPr/>
          </p:nvSpPr>
          <p:spPr>
            <a:xfrm>
              <a:off x="9468" y="7021"/>
              <a:ext cx="185" cy="1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7360140" y="3634397"/>
            <a:ext cx="3369310" cy="825500"/>
            <a:chOff x="11244" y="6014"/>
            <a:chExt cx="5306" cy="13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53" name="Object 17"/>
                <p:cNvSpPr txBox="1"/>
                <p:nvPr/>
              </p:nvSpPr>
              <p:spPr bwMode="auto">
                <a:xfrm>
                  <a:off x="11244" y="6014"/>
                  <a:ext cx="5307" cy="13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0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=−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den>
                        </m:f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 , 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=−1,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4353" name="Object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244" y="6014"/>
                  <a:ext cx="5307" cy="1300"/>
                </a:xfrm>
                <a:prstGeom prst="rect">
                  <a:avLst/>
                </a:prstGeom>
                <a:blipFill rotWithShape="1">
                  <a:blip r:embed="rId16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矩形 18"/>
            <p:cNvSpPr/>
            <p:nvPr/>
          </p:nvSpPr>
          <p:spPr>
            <a:xfrm>
              <a:off x="15137" y="6527"/>
              <a:ext cx="371" cy="18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3939540" y="4489869"/>
            <a:ext cx="4600575" cy="854710"/>
            <a:chOff x="5937" y="7238"/>
            <a:chExt cx="7245" cy="134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55" name="Object 19"/>
                <p:cNvSpPr txBox="1"/>
                <p:nvPr/>
              </p:nvSpPr>
              <p:spPr bwMode="auto">
                <a:xfrm>
                  <a:off x="5937" y="7238"/>
                  <a:ext cx="7245" cy="134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∗</m:t>
                            </m:r>
                          </m:sup>
                        </m:sSup>
                        <m:r>
                          <a:rPr kumimoji="1" lang="en-US" altLang="zh-CN" sz="22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r>
                          <a:rPr kumimoji="1" lang="en-US" altLang="zh-CN" sz="22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−1</m:t>
                            </m:r>
                          </m:e>
                        </m:d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  <m:r>
                          <a:rPr kumimoji="1" lang="en-US" altLang="zh-CN" sz="22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4355" name="Object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37" y="7238"/>
                  <a:ext cx="7245" cy="1346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矩形 20"/>
            <p:cNvSpPr/>
            <p:nvPr/>
          </p:nvSpPr>
          <p:spPr>
            <a:xfrm>
              <a:off x="10426" y="7685"/>
              <a:ext cx="247" cy="38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939540" y="5415381"/>
            <a:ext cx="2590800" cy="688975"/>
            <a:chOff x="5959" y="8469"/>
            <a:chExt cx="4080" cy="108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60" name="Object 24"/>
                <p:cNvSpPr txBox="1"/>
                <p:nvPr/>
              </p:nvSpPr>
              <p:spPr bwMode="auto">
                <a:xfrm>
                  <a:off x="5959" y="8469"/>
                  <a:ext cx="4080" cy="8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3</m:t>
                            </m:r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4360" name="Object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59" y="8469"/>
                  <a:ext cx="4080" cy="820"/>
                </a:xfrm>
                <a:prstGeom prst="rect">
                  <a:avLst/>
                </a:prstGeom>
                <a:blipFill>
                  <a:blip r:embed="rId18"/>
                  <a:stretch>
                    <a:fillRect l="-471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矩形 22"/>
            <p:cNvSpPr/>
            <p:nvPr/>
          </p:nvSpPr>
          <p:spPr>
            <a:xfrm>
              <a:off x="7367" y="9184"/>
              <a:ext cx="587" cy="37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6190760" y="5214086"/>
            <a:ext cx="2903220" cy="871220"/>
            <a:chOff x="6641" y="8152"/>
            <a:chExt cx="4572" cy="13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61" name="Object 25"/>
                <p:cNvSpPr txBox="1"/>
                <p:nvPr/>
              </p:nvSpPr>
              <p:spPr bwMode="auto">
                <a:xfrm>
                  <a:off x="6641" y="8152"/>
                  <a:ext cx="4281" cy="13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</m:t>
                        </m:r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+</m:t>
                            </m:r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</m:d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4361" name="Object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641" y="8152"/>
                  <a:ext cx="4281" cy="130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矩形 24"/>
            <p:cNvSpPr/>
            <p:nvPr/>
          </p:nvSpPr>
          <p:spPr>
            <a:xfrm>
              <a:off x="10966" y="9369"/>
              <a:ext cx="247" cy="15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4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4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4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4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4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4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1" grpId="0"/>
      <p:bldP spid="14342" grpId="0"/>
      <p:bldP spid="14344" grpId="0"/>
      <p:bldP spid="14345" grpId="0"/>
      <p:bldP spid="14347" grpId="0"/>
      <p:bldP spid="14349" grpId="0"/>
      <p:bldP spid="14354" grpId="0"/>
      <p:bldP spid="14357" grpId="0"/>
      <p:bldP spid="14359" grpId="0"/>
      <p:bldP spid="1436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/>
        </p:nvSpPr>
        <p:spPr>
          <a:xfrm>
            <a:off x="1016000" y="387350"/>
            <a:ext cx="10515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11284" name="Text Box 20"/>
          <p:cNvSpPr txBox="1">
            <a:spLocks noChangeArrowheads="1"/>
          </p:cNvSpPr>
          <p:nvPr/>
        </p:nvSpPr>
        <p:spPr bwMode="auto">
          <a:xfrm>
            <a:off x="2568134" y="3298721"/>
            <a:ext cx="621085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步骤2</a:t>
            </a:r>
            <a:r>
              <a:rPr kumimoji="1" lang="en-US" altLang="zh-CN" sz="2800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.</a:t>
            </a:r>
            <a:r>
              <a:rPr lang="zh-CN" altLang="en-US" sz="2800" i="0" u="none" strike="noStrike" kern="1200" cap="none" spc="0" normalizeH="0" baseline="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</a:t>
            </a: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求出如下两个方程的特解</a:t>
            </a:r>
          </a:p>
        </p:txBody>
      </p:sp>
      <p:sp>
        <p:nvSpPr>
          <p:cNvPr id="11295" name="Text Box 31"/>
          <p:cNvSpPr txBox="1">
            <a:spLocks noChangeArrowheads="1"/>
          </p:cNvSpPr>
          <p:nvPr/>
        </p:nvSpPr>
        <p:spPr bwMode="auto">
          <a:xfrm>
            <a:off x="2582739" y="1465352"/>
            <a:ext cx="1905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zh-CN" altLang="en-US" sz="2800" i="0" u="none" strike="noStrike" kern="1200" cap="none" spc="0" normalizeH="0" baseline="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分析思路</a:t>
            </a:r>
            <a:r>
              <a:rPr lang="en-US" altLang="zh-CN" sz="2800" i="0" u="none" strike="noStrike" kern="1200" cap="none" spc="0" normalizeH="0" baseline="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:</a:t>
            </a:r>
            <a:endParaRPr lang="zh-CN" altLang="en-US" sz="2800" i="0" u="none" strike="noStrike" kern="1200" cap="none" spc="0" normalizeH="0" baseline="0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96" name="Text Box 32"/>
              <p:cNvSpPr txBox="1">
                <a:spLocks noChangeArrowheads="1"/>
              </p:cNvSpPr>
              <p:nvPr/>
            </p:nvSpPr>
            <p:spPr bwMode="auto">
              <a:xfrm>
                <a:off x="2568134" y="2065234"/>
                <a:ext cx="4876800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srgbClr val="04926A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rPr>
                  <a:t>步骤1</a:t>
                </a:r>
                <a:r>
                  <a:rPr kumimoji="1" lang="en-US" altLang="zh-CN" sz="2800" dirty="0">
                    <a:solidFill>
                      <a:srgbClr val="04926A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rPr>
                  <a:t>.</a:t>
                </a:r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 </a:t>
                </a:r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Times New Roman" panose="02020603050405020304" pitchFamily="18" charset="0"/>
                    <a:sym typeface="+mn-lt"/>
                  </a:rPr>
                  <a:t>将 </a:t>
                </a:r>
                <a14:m>
                  <m:oMath xmlns:m="http://schemas.openxmlformats.org/officeDocument/2006/math">
                    <m:r>
                      <a:rPr kumimoji="1" lang="en-US" altLang="zh-CN" sz="2800" b="0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r>
                      <a:rPr kumimoji="1" lang="en-US" altLang="zh-CN" sz="2800" b="0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(</m:t>
                    </m:r>
                    <m:r>
                      <a:rPr kumimoji="1" lang="en-US" altLang="zh-CN" sz="2800" b="0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𝑥</m:t>
                    </m:r>
                    <m:r>
                      <a:rPr kumimoji="1" lang="en-US" altLang="zh-CN" sz="2800" b="0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Times New Roman" panose="02020603050405020304" pitchFamily="18" charset="0"/>
                    <a:sym typeface="+mn-lt"/>
                  </a:rPr>
                  <a:t>转化为</a:t>
                </a:r>
              </a:p>
            </p:txBody>
          </p:sp>
        </mc:Choice>
        <mc:Fallback xmlns="">
          <p:sp>
            <p:nvSpPr>
              <p:cNvPr id="11296" name="Text 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68134" y="2065234"/>
                <a:ext cx="4876800" cy="523220"/>
              </a:xfrm>
              <a:prstGeom prst="rect">
                <a:avLst/>
              </a:prstGeom>
              <a:blipFill>
                <a:blip r:embed="rId2"/>
                <a:stretch>
                  <a:fillRect l="-2500" t="-16279" b="-2790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98" name="Text Box 34"/>
              <p:cNvSpPr txBox="1">
                <a:spLocks noChangeArrowheads="1"/>
              </p:cNvSpPr>
              <p:nvPr/>
            </p:nvSpPr>
            <p:spPr bwMode="auto">
              <a:xfrm>
                <a:off x="2568134" y="4990679"/>
                <a:ext cx="6934200" cy="5219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srgbClr val="04926A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rPr>
                  <a:t>步骤3</a:t>
                </a:r>
                <a:r>
                  <a:rPr kumimoji="1" lang="en-US" altLang="zh-CN" sz="2800" dirty="0">
                    <a:solidFill>
                      <a:srgbClr val="04926A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rPr>
                  <a:t>.</a:t>
                </a:r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 </a:t>
                </a:r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rPr>
                  <a:t>利用叠加原理求出原方程的特解</a:t>
                </a:r>
                <a14:m>
                  <m:oMath xmlns:m="http://schemas.openxmlformats.org/officeDocument/2006/math">
                    <m:r>
                      <a:rPr kumimoji="1" lang="en-US" altLang="zh-CN" sz="2800" b="0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;</m:t>
                    </m:r>
                  </m:oMath>
                </a14:m>
                <a:endParaRPr kumimoji="1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11298" name="Text 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68134" y="4990679"/>
                <a:ext cx="6934200" cy="521970"/>
              </a:xfrm>
              <a:prstGeom prst="rect">
                <a:avLst/>
              </a:prstGeom>
              <a:blipFill>
                <a:blip r:embed="rId3"/>
                <a:stretch>
                  <a:fillRect l="-1757" t="-16471" b="-2941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99" name="Text Box 35"/>
          <p:cNvSpPr txBox="1">
            <a:spLocks noChangeArrowheads="1"/>
          </p:cNvSpPr>
          <p:nvPr/>
        </p:nvSpPr>
        <p:spPr bwMode="auto">
          <a:xfrm>
            <a:off x="2568134" y="5600279"/>
            <a:ext cx="5562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步骤4</a:t>
            </a:r>
            <a:r>
              <a:rPr kumimoji="1" lang="en-US" altLang="zh-CN" sz="2800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.</a:t>
            </a:r>
            <a:r>
              <a:rPr kumimoji="1" lang="zh-CN" altLang="en-US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分析原方程特解的特点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.</a:t>
            </a:r>
            <a:endParaRPr kumimoji="1" lang="zh-CN" altLang="en-US" sz="2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1943480" y="314325"/>
            <a:ext cx="1068070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二、</a:t>
            </a:r>
            <a:endParaRPr lang="zh-CN" altLang="en-US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3"/>
              <p:cNvSpPr txBox="1"/>
              <p:nvPr/>
            </p:nvSpPr>
            <p:spPr>
              <a:xfrm>
                <a:off x="2415038" y="657225"/>
                <a:ext cx="8277860" cy="72707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charset="0"/>
                      </a:rPr>
                      <m:t> </m:t>
                    </m:r>
                    <m:r>
                      <a:rPr kumimoji="1" lang="en-US" altLang="zh-CN" sz="2800" b="0" i="1" dirty="0">
                        <a:solidFill>
                          <a:srgbClr val="04926A"/>
                        </a:solidFill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r>
                      <a:rPr kumimoji="1" lang="en-US" altLang="zh-CN" sz="2800" b="0" i="1" dirty="0">
                        <a:solidFill>
                          <a:srgbClr val="04926A"/>
                        </a:solidFill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(</m:t>
                    </m:r>
                    <m:r>
                      <a:rPr kumimoji="1" lang="en-US" altLang="zh-CN" sz="2800" b="0" i="1" dirty="0">
                        <a:solidFill>
                          <a:srgbClr val="04926A"/>
                        </a:solidFill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𝑥</m:t>
                    </m:r>
                    <m:r>
                      <a:rPr kumimoji="1" lang="en-US" altLang="zh-CN" sz="2800" b="0" i="1" dirty="0">
                        <a:solidFill>
                          <a:srgbClr val="04926A"/>
                        </a:solidFill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)=</m:t>
                    </m:r>
                    <m:sSup>
                      <m:sSupPr>
                        <m:ctrlPr>
                          <a:rPr kumimoji="1" lang="en-US" altLang="zh-CN" sz="2800" i="1" dirty="0">
                            <a:solidFill>
                              <a:srgbClr val="04926A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1" lang="en-US" altLang="zh-CN" sz="2800" b="0" i="0" dirty="0">
                            <a:solidFill>
                              <a:srgbClr val="04926A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e</m:t>
                        </m:r>
                      </m:e>
                      <m:sup>
                        <m:r>
                          <a:rPr kumimoji="1" lang="en-US" altLang="zh-CN" sz="2800" b="0" i="1" dirty="0">
                            <a:solidFill>
                              <a:srgbClr val="04926A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𝜆</m:t>
                        </m:r>
                        <m:r>
                          <a:rPr kumimoji="1" lang="en-US" altLang="zh-CN" sz="2800" b="0" i="1" dirty="0">
                            <a:solidFill>
                              <a:srgbClr val="04926A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kumimoji="1" lang="en-US" altLang="zh-CN" sz="2800" i="1" dirty="0">
                            <a:solidFill>
                              <a:srgbClr val="04926A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2800" i="1" dirty="0">
                                <a:solidFill>
                                  <a:srgbClr val="04926A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dirty="0">
                                <a:solidFill>
                                  <a:srgbClr val="04926A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𝑃</m:t>
                            </m:r>
                          </m:e>
                          <m:sub>
                            <m:r>
                              <a:rPr kumimoji="1" lang="en-US" altLang="zh-CN" sz="2800" b="0" i="1" dirty="0">
                                <a:solidFill>
                                  <a:srgbClr val="04926A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𝑙</m:t>
                            </m:r>
                          </m:sub>
                        </m:sSub>
                        <m:r>
                          <a:rPr kumimoji="1" lang="en-US" altLang="zh-CN" sz="2800" b="0" i="1" dirty="0">
                            <a:solidFill>
                              <a:srgbClr val="04926A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b="0" i="1" dirty="0">
                            <a:solidFill>
                              <a:srgbClr val="04926A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b="0" i="1" dirty="0">
                            <a:solidFill>
                              <a:srgbClr val="04926A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func>
                          <m:funcPr>
                            <m:ctrlPr>
                              <a:rPr kumimoji="1" lang="en-US" altLang="zh-CN" sz="2800" i="1" dirty="0">
                                <a:solidFill>
                                  <a:srgbClr val="04926A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800" b="0" i="0" dirty="0">
                                <a:solidFill>
                                  <a:srgbClr val="04926A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cos</m:t>
                            </m:r>
                          </m:fName>
                          <m:e>
                            <m:r>
                              <a:rPr kumimoji="1" lang="en-US" altLang="zh-CN" sz="2800" b="0" i="1" dirty="0">
                                <a:solidFill>
                                  <a:srgbClr val="04926A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𝜔</m:t>
                            </m:r>
                          </m:e>
                        </m:func>
                        <m:r>
                          <a:rPr kumimoji="1" lang="en-US" altLang="zh-CN" sz="2800" b="0" i="1" dirty="0">
                            <a:solidFill>
                              <a:srgbClr val="04926A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b="0" i="1" dirty="0">
                            <a:solidFill>
                              <a:srgbClr val="04926A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solidFill>
                                  <a:srgbClr val="04926A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dirty="0">
                                <a:solidFill>
                                  <a:srgbClr val="04926A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𝑄</m:t>
                            </m:r>
                          </m:e>
                          <m:sub>
                            <m:r>
                              <a:rPr kumimoji="1" lang="en-US" altLang="zh-CN" sz="2800" b="0" i="1" dirty="0">
                                <a:solidFill>
                                  <a:srgbClr val="04926A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𝑛</m:t>
                            </m:r>
                          </m:sub>
                        </m:sSub>
                        <m:r>
                          <a:rPr kumimoji="1" lang="en-US" altLang="zh-CN" sz="2800" b="0" i="1" dirty="0">
                            <a:solidFill>
                              <a:srgbClr val="04926A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b="0" i="1" dirty="0">
                            <a:solidFill>
                              <a:srgbClr val="04926A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b="0" i="1" dirty="0">
                            <a:solidFill>
                              <a:srgbClr val="04926A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func>
                          <m:funcPr>
                            <m:ctrlPr>
                              <a:rPr kumimoji="1" lang="en-US" altLang="zh-CN" sz="2800" i="1" dirty="0">
                                <a:solidFill>
                                  <a:srgbClr val="04926A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800" b="0" i="0" dirty="0">
                                <a:solidFill>
                                  <a:srgbClr val="04926A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sin</m:t>
                            </m:r>
                          </m:fName>
                          <m:e>
                            <m:r>
                              <a:rPr kumimoji="1" lang="en-US" altLang="zh-CN" sz="2800" b="0" i="1" dirty="0">
                                <a:solidFill>
                                  <a:srgbClr val="04926A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𝜔</m:t>
                            </m:r>
                          </m:e>
                        </m:func>
                        <m:r>
                          <a:rPr kumimoji="1" lang="en-US" altLang="zh-CN" sz="2800" b="0" i="1" dirty="0">
                            <a:solidFill>
                              <a:srgbClr val="04926A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型</a:t>
                </a:r>
              </a:p>
            </p:txBody>
          </p:sp>
        </mc:Choice>
        <mc:Fallback xmlns="">
          <p:sp>
            <p:nvSpPr>
              <p:cNvPr id="6" name="对象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5038" y="657225"/>
                <a:ext cx="8277860" cy="727075"/>
              </a:xfrm>
              <a:prstGeom prst="rect">
                <a:avLst/>
              </a:prstGeom>
              <a:blipFill>
                <a:blip r:embed="rId4"/>
                <a:stretch>
                  <a:fillRect t="-58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3882390" y="2651760"/>
            <a:ext cx="4247515" cy="469900"/>
            <a:chOff x="5684" y="4236"/>
            <a:chExt cx="6689" cy="7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81" name="Object 17"/>
                <p:cNvSpPr txBox="1"/>
                <p:nvPr/>
              </p:nvSpPr>
              <p:spPr bwMode="auto">
                <a:xfrm>
                  <a:off x="6255" y="4236"/>
                  <a:ext cx="6118" cy="7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𝑓</m:t>
                        </m:r>
                        <m:r>
                          <a:rPr kumimoji="1" lang="en-US" altLang="zh-CN" sz="28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)=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𝑃</m:t>
                            </m:r>
                          </m:e>
                          <m:sub>
                            <m:r>
                              <a:rPr kumimoji="1" lang="en-US" altLang="zh-CN" sz="28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𝑚</m:t>
                            </m:r>
                          </m:sub>
                        </m:sSub>
                        <m:r>
                          <a:rPr kumimoji="1" lang="en-US" altLang="zh-CN" sz="28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800" b="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8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kumimoji="1" lang="en-US" altLang="zh-CN" sz="28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𝜆</m:t>
                            </m:r>
                            <m:r>
                              <a:rPr kumimoji="1" lang="en-US" altLang="zh-CN" sz="28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800" b="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i</m:t>
                            </m:r>
                            <m:r>
                              <a:rPr kumimoji="1" lang="en-US" altLang="zh-CN" sz="28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𝜔</m:t>
                            </m:r>
                            <m:r>
                              <a:rPr kumimoji="1" lang="en-US" altLang="zh-CN" sz="28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)</m:t>
                            </m:r>
                            <m:r>
                              <a:rPr kumimoji="1" lang="en-US" altLang="zh-CN" sz="28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  <m:r>
                          <a:rPr kumimoji="1" lang="en-US" altLang="zh-CN" sz="28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1281" name="Object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255" y="4236"/>
                  <a:ext cx="6118" cy="740"/>
                </a:xfrm>
                <a:prstGeom prst="rect">
                  <a:avLst/>
                </a:prstGeom>
                <a:blipFill>
                  <a:blip r:embed="rId5"/>
                  <a:stretch>
                    <a:fillRect b="-259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矩形 1"/>
            <p:cNvSpPr/>
            <p:nvPr/>
          </p:nvSpPr>
          <p:spPr>
            <a:xfrm>
              <a:off x="5684" y="4550"/>
              <a:ext cx="293" cy="2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7909560" y="2552700"/>
            <a:ext cx="2485390" cy="533400"/>
            <a:chOff x="12026" y="4080"/>
            <a:chExt cx="3914" cy="84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282" name="Object 18"/>
                <p:cNvSpPr txBox="1"/>
                <p:nvPr/>
              </p:nvSpPr>
              <p:spPr bwMode="auto">
                <a:xfrm>
                  <a:off x="12026" y="4080"/>
                  <a:ext cx="3380" cy="8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bar>
                          <m:barPr>
                            <m:pos m:val="top"/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800" b="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kumimoji="1" lang="en-US" altLang="zh-CN" sz="2800" b="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kumimoji="1" lang="en-US" altLang="zh-CN" sz="28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kumimoji="1" lang="en-US" altLang="zh-CN" sz="28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  <m:r>
                              <a:rPr kumimoji="1" lang="en-US" altLang="zh-CN" sz="28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)</m:t>
                            </m:r>
                            <m:sSup>
                              <m:sSup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800" b="0" i="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a:rPr kumimoji="1" lang="en-US" altLang="zh-CN" sz="2800" b="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kumimoji="1" lang="en-US" altLang="zh-CN" sz="2800" b="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𝜆</m:t>
                                </m:r>
                                <m:r>
                                  <a:rPr kumimoji="1" lang="en-US" altLang="zh-CN" sz="2800" b="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kumimoji="1" lang="en-US" altLang="zh-CN" sz="2800" b="0" i="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i</m:t>
                                </m:r>
                                <m:r>
                                  <a:rPr kumimoji="1" lang="en-US" altLang="zh-CN" sz="2800" b="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𝜔</m:t>
                                </m:r>
                                <m:r>
                                  <a:rPr kumimoji="1" lang="en-US" altLang="zh-CN" sz="2800" b="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)</m:t>
                                </m:r>
                                <m:r>
                                  <a:rPr kumimoji="1" lang="en-US" altLang="zh-CN" sz="2800" b="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</m:sup>
                            </m:sSup>
                          </m:e>
                        </m:bar>
                        <m:r>
                          <a:rPr kumimoji="1" lang="en-US" altLang="zh-CN" sz="28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;</m:t>
                        </m:r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11282" name="Object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026" y="4080"/>
                  <a:ext cx="3380" cy="840"/>
                </a:xfrm>
                <a:prstGeom prst="rect">
                  <a:avLst/>
                </a:prstGeom>
                <a:blipFill>
                  <a:blip r:embed="rId6"/>
                  <a:stretch>
                    <a:fillRect r="-5966" b="-919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矩形 6"/>
            <p:cNvSpPr/>
            <p:nvPr/>
          </p:nvSpPr>
          <p:spPr>
            <a:xfrm>
              <a:off x="15600" y="4658"/>
              <a:ext cx="340" cy="18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3891915" y="3796665"/>
            <a:ext cx="6102985" cy="469900"/>
            <a:chOff x="5699" y="6039"/>
            <a:chExt cx="9611" cy="7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85" name="Object 21"/>
                <p:cNvSpPr txBox="1"/>
                <p:nvPr/>
              </p:nvSpPr>
              <p:spPr bwMode="auto">
                <a:xfrm>
                  <a:off x="6198" y="6039"/>
                  <a:ext cx="9112" cy="7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″</m:t>
                            </m:r>
                          </m:sup>
                        </m:sSup>
                        <m:r>
                          <a:rPr kumimoji="1" lang="en-US" altLang="zh-CN" sz="28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𝑝</m:t>
                        </m:r>
                        <m:r>
                          <a:rPr kumimoji="1" lang="en-US" altLang="zh-CN" sz="28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​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8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𝑞</m:t>
                        </m:r>
                        <m:r>
                          <a:rPr kumimoji="1" lang="en-US" altLang="zh-CN" sz="28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​</m:t>
                        </m:r>
                        <m:r>
                          <a:rPr kumimoji="1" lang="en-US" altLang="zh-CN" sz="28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8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𝑃</m:t>
                            </m:r>
                          </m:e>
                          <m:sub>
                            <m:r>
                              <a:rPr kumimoji="1" lang="en-US" altLang="zh-CN" sz="28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𝑚</m:t>
                            </m:r>
                          </m:sub>
                        </m:sSub>
                        <m:r>
                          <a:rPr kumimoji="1" lang="en-US" altLang="zh-CN" sz="28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800" b="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8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kumimoji="1" lang="en-US" altLang="zh-CN" sz="28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𝜆</m:t>
                            </m:r>
                            <m:r>
                              <a:rPr kumimoji="1" lang="en-US" altLang="zh-CN" sz="28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800" b="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i</m:t>
                            </m:r>
                            <m:r>
                              <a:rPr kumimoji="1" lang="en-US" altLang="zh-CN" sz="28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𝜔</m:t>
                            </m:r>
                            <m:r>
                              <a:rPr kumimoji="1" lang="en-US" altLang="zh-CN" sz="28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)</m:t>
                            </m:r>
                            <m:r>
                              <a:rPr kumimoji="1" lang="en-US" altLang="zh-CN" sz="28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  <m:r>
                          <a:rPr kumimoji="1" lang="en-US" altLang="zh-CN" sz="28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1285" name="Object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198" y="6039"/>
                  <a:ext cx="9112" cy="740"/>
                </a:xfrm>
                <a:prstGeom prst="rect">
                  <a:avLst/>
                </a:prstGeom>
                <a:blipFill>
                  <a:blip r:embed="rId7"/>
                  <a:stretch>
                    <a:fillRect b="-1299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矩形 8"/>
            <p:cNvSpPr/>
            <p:nvPr/>
          </p:nvSpPr>
          <p:spPr>
            <a:xfrm>
              <a:off x="5699" y="6264"/>
              <a:ext cx="294" cy="3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3872230" y="4384357"/>
            <a:ext cx="3140710" cy="440690"/>
            <a:chOff x="5668" y="6852"/>
            <a:chExt cx="4946" cy="6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86" name="Object 22"/>
                <p:cNvSpPr txBox="1"/>
                <p:nvPr/>
              </p:nvSpPr>
              <p:spPr bwMode="auto">
                <a:xfrm>
                  <a:off x="6190" y="6852"/>
                  <a:ext cx="4424" cy="6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″</m:t>
                            </m:r>
                          </m:sup>
                        </m:sSup>
                        <m:r>
                          <a:rPr kumimoji="1" lang="en-US" altLang="zh-CN" sz="28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𝑝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8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𝑞𝑦</m:t>
                        </m:r>
                        <m:r>
                          <a:rPr kumimoji="1" lang="en-US" altLang="zh-CN" sz="28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1286" name="Object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190" y="6852"/>
                  <a:ext cx="4424" cy="660"/>
                </a:xfrm>
                <a:prstGeom prst="rect">
                  <a:avLst/>
                </a:prstGeom>
                <a:blipFill>
                  <a:blip r:embed="rId8"/>
                  <a:stretch>
                    <a:fillRect b="-1304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矩形 10"/>
            <p:cNvSpPr/>
            <p:nvPr/>
          </p:nvSpPr>
          <p:spPr>
            <a:xfrm>
              <a:off x="5668" y="7237"/>
              <a:ext cx="247" cy="3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6813550" y="4293870"/>
            <a:ext cx="2433955" cy="533400"/>
            <a:chOff x="10300" y="6822"/>
            <a:chExt cx="3833" cy="8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00" name="Object 36"/>
                <p:cNvSpPr txBox="1"/>
                <p:nvPr/>
              </p:nvSpPr>
              <p:spPr bwMode="auto">
                <a:xfrm>
                  <a:off x="10300" y="6822"/>
                  <a:ext cx="3380" cy="8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bar>
                          <m:barPr>
                            <m:pos m:val="top"/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800" b="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kumimoji="1" lang="en-US" altLang="zh-CN" sz="2800" b="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kumimoji="1" lang="en-US" altLang="zh-CN" sz="28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kumimoji="1" lang="en-US" altLang="zh-CN" sz="28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  <m:r>
                              <a:rPr kumimoji="1" lang="en-US" altLang="zh-CN" sz="28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)</m:t>
                            </m:r>
                            <m:sSup>
                              <m:sSup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800" b="0" i="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a:rPr kumimoji="1" lang="en-US" altLang="zh-CN" sz="2800" b="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kumimoji="1" lang="en-US" altLang="zh-CN" sz="2800" b="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𝜆</m:t>
                                </m:r>
                                <m:r>
                                  <a:rPr kumimoji="1" lang="en-US" altLang="zh-CN" sz="2800" b="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kumimoji="1" lang="en-US" altLang="zh-CN" sz="2800" b="0" i="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i</m:t>
                                </m:r>
                                <m:r>
                                  <a:rPr kumimoji="1" lang="en-US" altLang="zh-CN" sz="2800" b="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𝜔</m:t>
                                </m:r>
                                <m:r>
                                  <a:rPr kumimoji="1" lang="en-US" altLang="zh-CN" sz="2800" b="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)</m:t>
                                </m:r>
                                <m:r>
                                  <a:rPr kumimoji="1" lang="en-US" altLang="zh-CN" sz="2800" b="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</m:sup>
                            </m:sSup>
                          </m:e>
                        </m:bar>
                        <m:r>
                          <a:rPr kumimoji="1" lang="en-US" altLang="zh-CN" sz="28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;</m:t>
                        </m:r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1300" name="Object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300" y="6822"/>
                  <a:ext cx="3380" cy="840"/>
                </a:xfrm>
                <a:prstGeom prst="rect">
                  <a:avLst/>
                </a:prstGeom>
                <a:blipFill>
                  <a:blip r:embed="rId9"/>
                  <a:stretch>
                    <a:fillRect r="-5966" b="-795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 12"/>
            <p:cNvSpPr/>
            <p:nvPr/>
          </p:nvSpPr>
          <p:spPr>
            <a:xfrm>
              <a:off x="13716" y="7253"/>
              <a:ext cx="417" cy="1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1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1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84" grpId="0"/>
      <p:bldP spid="11295" grpId="0"/>
      <p:bldP spid="11296" grpId="0"/>
      <p:bldP spid="11298" grpId="0"/>
      <p:bldP spid="11299" grpId="0"/>
      <p:bldP spid="3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/>
        </p:nvSpPr>
        <p:spPr>
          <a:xfrm>
            <a:off x="1518577" y="907845"/>
            <a:ext cx="14478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b="0" dirty="0">
                <a:solidFill>
                  <a:srgbClr val="04926A"/>
                </a:solidFill>
                <a:latin typeface="Cambria Math" panose="020405030504060302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lt"/>
              </a:rPr>
              <a:t>步骤1</a:t>
            </a:r>
            <a:r>
              <a:rPr kumimoji="1" lang="en-US" altLang="zh-CN" b="0" dirty="0">
                <a:solidFill>
                  <a:srgbClr val="04926A"/>
                </a:solidFill>
                <a:latin typeface="Cambria Math" panose="020405030504060302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lt"/>
              </a:rPr>
              <a:t>.</a:t>
            </a:r>
            <a:endParaRPr kumimoji="1" lang="zh-CN" altLang="en-US" b="0" dirty="0">
              <a:solidFill>
                <a:srgbClr val="04926A"/>
              </a:solidFill>
              <a:latin typeface="Cambria Math" panose="020405030504060302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14" name="Text Box 6"/>
              <p:cNvSpPr txBox="1">
                <a:spLocks noChangeArrowheads="1"/>
              </p:cNvSpPr>
              <p:nvPr/>
            </p:nvSpPr>
            <p:spPr bwMode="auto">
              <a:xfrm>
                <a:off x="2649939" y="858228"/>
                <a:ext cx="5078896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Times New Roman" panose="02020603050405020304" pitchFamily="18" charset="0"/>
                    <a:sym typeface="+mn-lt"/>
                  </a:rPr>
                  <a:t>利用欧拉公式将 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r>
                      <a:rPr kumimoji="1" lang="en-US" altLang="zh-CN" sz="2800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(</m:t>
                    </m:r>
                    <m:r>
                      <a:rPr kumimoji="1" lang="en-US" altLang="zh-CN" sz="2800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𝑥</m:t>
                    </m:r>
                    <m:r>
                      <a:rPr kumimoji="1" lang="en-US" altLang="zh-CN" sz="2800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Times New Roman" panose="02020603050405020304" pitchFamily="18" charset="0"/>
                    <a:sym typeface="+mn-lt"/>
                  </a:rPr>
                  <a:t>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Times New Roman" panose="02020603050405020304" pitchFamily="18" charset="0"/>
                    <a:sym typeface="+mn-lt"/>
                  </a:rPr>
                  <a:t>变形</a:t>
                </a:r>
              </a:p>
            </p:txBody>
          </p:sp>
        </mc:Choice>
        <mc:Fallback xmlns="">
          <p:sp>
            <p:nvSpPr>
              <p:cNvPr id="17414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49939" y="858228"/>
                <a:ext cx="5078896" cy="523220"/>
              </a:xfrm>
              <a:prstGeom prst="rect">
                <a:avLst/>
              </a:prstGeom>
              <a:blipFill>
                <a:blip r:embed="rId2"/>
                <a:stretch>
                  <a:fillRect l="-2521" t="-16279" b="-2790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组合 4"/>
          <p:cNvGrpSpPr/>
          <p:nvPr/>
        </p:nvGrpSpPr>
        <p:grpSpPr>
          <a:xfrm>
            <a:off x="3548305" y="1700518"/>
            <a:ext cx="943610" cy="726440"/>
            <a:chOff x="5504" y="2664"/>
            <a:chExt cx="1486" cy="11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31" name="Object 23"/>
                <p:cNvSpPr txBox="1"/>
                <p:nvPr/>
              </p:nvSpPr>
              <p:spPr bwMode="auto">
                <a:xfrm>
                  <a:off x="5504" y="2664"/>
                  <a:ext cx="1487" cy="94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975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9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9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𝑃</m:t>
                            </m:r>
                          </m:e>
                          <m:sub>
                            <m:r>
                              <a:rPr kumimoji="1" lang="en-US" altLang="zh-CN" sz="29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𝑙</m:t>
                            </m:r>
                          </m:sub>
                        </m:sSub>
                        <m:r>
                          <a:rPr kumimoji="1" lang="en-US" altLang="zh-CN" sz="29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9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9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kumimoji="1" lang="en-US" altLang="zh-CN" sz="29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7431" name="Object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504" y="2664"/>
                  <a:ext cx="1487" cy="94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矩形 3"/>
            <p:cNvSpPr/>
            <p:nvPr/>
          </p:nvSpPr>
          <p:spPr>
            <a:xfrm>
              <a:off x="6441" y="3546"/>
              <a:ext cx="262" cy="2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4187813" y="1513229"/>
            <a:ext cx="2323465" cy="1016000"/>
            <a:chOff x="9082" y="2411"/>
            <a:chExt cx="3659" cy="16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32" name="Object 24"/>
                <p:cNvSpPr txBox="1"/>
                <p:nvPr/>
              </p:nvSpPr>
              <p:spPr bwMode="auto">
                <a:xfrm>
                  <a:off x="9456" y="2411"/>
                  <a:ext cx="3285" cy="16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i</m:t>
                                </m:r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𝜔</m:t>
                                </m:r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i</m:t>
                                </m:r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𝜔</m:t>
                                </m:r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</m:sup>
                            </m:sSup>
                          </m:num>
                          <m:den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7432" name="Object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456" y="2411"/>
                  <a:ext cx="3285" cy="16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矩形 5"/>
            <p:cNvSpPr/>
            <p:nvPr/>
          </p:nvSpPr>
          <p:spPr>
            <a:xfrm>
              <a:off x="9082" y="3175"/>
              <a:ext cx="123" cy="17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6434931" y="1495413"/>
            <a:ext cx="1238250" cy="852805"/>
            <a:chOff x="9952" y="2341"/>
            <a:chExt cx="1950" cy="13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33" name="Object 25"/>
                <p:cNvSpPr txBox="1"/>
                <p:nvPr/>
              </p:nvSpPr>
              <p:spPr bwMode="auto">
                <a:xfrm>
                  <a:off x="9952" y="2664"/>
                  <a:ext cx="1950" cy="10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𝑄</m:t>
                            </m:r>
                          </m:e>
                          <m:sub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𝑛</m:t>
                            </m:r>
                          </m:sub>
                        </m:sSub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7433" name="Object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952" y="2664"/>
                  <a:ext cx="1950" cy="10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矩形 7"/>
            <p:cNvSpPr/>
            <p:nvPr/>
          </p:nvSpPr>
          <p:spPr>
            <a:xfrm>
              <a:off x="11183" y="2341"/>
              <a:ext cx="119" cy="2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2133735" y="2646069"/>
            <a:ext cx="3225800" cy="1132840"/>
            <a:chOff x="3166" y="4305"/>
            <a:chExt cx="5080" cy="178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16" name="Object 8"/>
                <p:cNvSpPr txBox="1"/>
                <p:nvPr/>
              </p:nvSpPr>
              <p:spPr bwMode="auto">
                <a:xfrm>
                  <a:off x="3523" y="4305"/>
                  <a:ext cx="4723" cy="17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800" i="1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kumimoji="1" lang="en-US" altLang="zh-CN" sz="2800" i="1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𝑙</m:t>
                                    </m:r>
                                  </m:sub>
                                </m:sSub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800" i="1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kumimoji="1" lang="en-US" altLang="zh-CN" sz="2800" i="1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i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7416" name="Object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23" y="4305"/>
                  <a:ext cx="4723" cy="178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矩形 11"/>
            <p:cNvSpPr/>
            <p:nvPr/>
          </p:nvSpPr>
          <p:spPr>
            <a:xfrm>
              <a:off x="3166" y="4951"/>
              <a:ext cx="309" cy="37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5183116" y="2911372"/>
            <a:ext cx="1586230" cy="797560"/>
            <a:chOff x="7923" y="4668"/>
            <a:chExt cx="2498" cy="125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17" name="Object 9"/>
                <p:cNvSpPr txBox="1"/>
                <p:nvPr/>
              </p:nvSpPr>
              <p:spPr bwMode="auto">
                <a:xfrm>
                  <a:off x="7923" y="4668"/>
                  <a:ext cx="2498" cy="106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𝜆</m:t>
                            </m:r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i</m:t>
                            </m:r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𝜔</m:t>
                            </m:r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)</m:t>
                            </m:r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7417" name="Object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923" y="4668"/>
                  <a:ext cx="2498" cy="1061"/>
                </a:xfrm>
                <a:prstGeom prst="rect">
                  <a:avLst/>
                </a:prstGeom>
                <a:blipFill rotWithShape="1">
                  <a:blip r:embed="rId9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矩形 13"/>
            <p:cNvSpPr/>
            <p:nvPr/>
          </p:nvSpPr>
          <p:spPr>
            <a:xfrm>
              <a:off x="8618" y="5708"/>
              <a:ext cx="309" cy="21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6434931" y="2644895"/>
            <a:ext cx="3266440" cy="1016000"/>
            <a:chOff x="10009" y="4305"/>
            <a:chExt cx="5144" cy="16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18" name="Object 10"/>
                <p:cNvSpPr txBox="1"/>
                <p:nvPr/>
              </p:nvSpPr>
              <p:spPr bwMode="auto">
                <a:xfrm>
                  <a:off x="10009" y="4305"/>
                  <a:ext cx="5145" cy="16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d>
                          <m:dPr>
                            <m:begChr m:val="["/>
                            <m:endChr m:val="]"/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800" i="1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kumimoji="1" lang="en-US" altLang="zh-CN" sz="2800" i="1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𝑙</m:t>
                                    </m:r>
                                  </m:sub>
                                </m:sSub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800" i="1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kumimoji="1" lang="en-US" altLang="zh-CN" sz="2800" i="1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i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7418" name="Object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009" y="4305"/>
                  <a:ext cx="5145" cy="160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矩形 15"/>
            <p:cNvSpPr/>
            <p:nvPr/>
          </p:nvSpPr>
          <p:spPr>
            <a:xfrm>
              <a:off x="12063" y="5477"/>
              <a:ext cx="278" cy="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9235009" y="2903268"/>
            <a:ext cx="1550670" cy="723900"/>
            <a:chOff x="14502" y="4628"/>
            <a:chExt cx="2442" cy="11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19" name="Object 11"/>
                <p:cNvSpPr txBox="1"/>
                <p:nvPr/>
              </p:nvSpPr>
              <p:spPr bwMode="auto">
                <a:xfrm>
                  <a:off x="14502" y="4628"/>
                  <a:ext cx="2443" cy="114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𝜆</m:t>
                            </m:r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i</m:t>
                            </m:r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𝜔</m:t>
                            </m:r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)</m:t>
                            </m:r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7419" name="Object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4502" y="4628"/>
                  <a:ext cx="2443" cy="1141"/>
                </a:xfrm>
                <a:prstGeom prst="rect">
                  <a:avLst/>
                </a:prstGeom>
                <a:blipFill rotWithShape="1">
                  <a:blip r:embed="rId11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矩形 17"/>
            <p:cNvSpPr/>
            <p:nvPr/>
          </p:nvSpPr>
          <p:spPr>
            <a:xfrm>
              <a:off x="16604" y="5060"/>
              <a:ext cx="170" cy="2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489063" y="3902099"/>
            <a:ext cx="4893310" cy="557530"/>
            <a:chOff x="2331" y="6173"/>
            <a:chExt cx="7706" cy="8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24" name="Object 16"/>
                <p:cNvSpPr txBox="1"/>
                <p:nvPr/>
              </p:nvSpPr>
              <p:spPr bwMode="auto">
                <a:xfrm>
                  <a:off x="2331" y="6173"/>
                  <a:ext cx="7706" cy="87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令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 </m:t>
                        </m:r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𝑚</m:t>
                        </m:r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func>
                          <m:func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𝑛</m:t>
                                </m:r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, </m:t>
                                </m:r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𝑙</m:t>
                                </m:r>
                              </m:e>
                            </m:d>
                          </m:e>
                        </m:func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则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 </m:t>
                        </m:r>
                      </m:oMath>
                    </m:oMathPara>
                  </a14:m>
                  <a:endParaRPr kumimoji="1" lang="zh-CN" altLang="en-US" sz="28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424" name="Object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331" y="6173"/>
                  <a:ext cx="7706" cy="878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矩形 19"/>
            <p:cNvSpPr/>
            <p:nvPr/>
          </p:nvSpPr>
          <p:spPr>
            <a:xfrm>
              <a:off x="7784" y="6434"/>
              <a:ext cx="248" cy="2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2313293" y="4537195"/>
            <a:ext cx="4540885" cy="469900"/>
            <a:chOff x="3629" y="7135"/>
            <a:chExt cx="7151" cy="7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20" name="Object 12"/>
                <p:cNvSpPr txBox="1"/>
                <p:nvPr/>
              </p:nvSpPr>
              <p:spPr bwMode="auto">
                <a:xfrm>
                  <a:off x="4122" y="7135"/>
                  <a:ext cx="6658" cy="7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𝑓</m:t>
                        </m:r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)=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𝑃</m:t>
                            </m:r>
                          </m:e>
                          <m:sub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𝑚</m:t>
                            </m:r>
                          </m:sub>
                        </m:sSub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𝜆</m:t>
                            </m:r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i</m:t>
                            </m:r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𝜔</m:t>
                            </m:r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)</m:t>
                            </m:r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7420" name="Object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22" y="7135"/>
                  <a:ext cx="6658" cy="740"/>
                </a:xfrm>
                <a:prstGeom prst="rect">
                  <a:avLst/>
                </a:prstGeom>
                <a:blipFill rotWithShape="1">
                  <a:blip r:embed="rId13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矩形 21"/>
            <p:cNvSpPr/>
            <p:nvPr/>
          </p:nvSpPr>
          <p:spPr>
            <a:xfrm>
              <a:off x="3629" y="7423"/>
              <a:ext cx="309" cy="2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6511278" y="4537195"/>
            <a:ext cx="2726690" cy="495300"/>
            <a:chOff x="10240" y="7135"/>
            <a:chExt cx="4294" cy="7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21" name="Object 13"/>
                <p:cNvSpPr txBox="1"/>
                <p:nvPr/>
              </p:nvSpPr>
              <p:spPr bwMode="auto">
                <a:xfrm>
                  <a:off x="10240" y="7135"/>
                  <a:ext cx="3100" cy="7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bar>
                          <m:barPr>
                            <m:pos m:val="top"/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)</m:t>
                            </m:r>
                          </m:e>
                        </m:ba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𝜆</m:t>
                            </m:r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i</m:t>
                            </m:r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𝜔</m:t>
                            </m:r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)</m:t>
                            </m:r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7421" name="Object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240" y="7135"/>
                  <a:ext cx="3100" cy="780"/>
                </a:xfrm>
                <a:prstGeom prst="rect">
                  <a:avLst/>
                </a:prstGeom>
                <a:blipFill rotWithShape="1">
                  <a:blip r:embed="rId14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矩形 23"/>
            <p:cNvSpPr/>
            <p:nvPr/>
          </p:nvSpPr>
          <p:spPr>
            <a:xfrm>
              <a:off x="14318" y="7438"/>
              <a:ext cx="216" cy="15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3210548" y="5402604"/>
            <a:ext cx="3467100" cy="745490"/>
            <a:chOff x="4958" y="8190"/>
            <a:chExt cx="5460" cy="117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22" name="Object 14"/>
                <p:cNvSpPr txBox="1"/>
                <p:nvPr/>
              </p:nvSpPr>
              <p:spPr bwMode="auto">
                <a:xfrm>
                  <a:off x="5304" y="8190"/>
                  <a:ext cx="5114" cy="11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𝑃</m:t>
                            </m:r>
                          </m:e>
                          <m:sub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𝑚</m:t>
                            </m:r>
                          </m:sub>
                        </m:sSub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𝜆</m:t>
                            </m:r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i</m:t>
                            </m:r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𝜔</m:t>
                            </m:r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)</m:t>
                            </m:r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7422" name="Object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304" y="8190"/>
                  <a:ext cx="5114" cy="1174"/>
                </a:xfrm>
                <a:prstGeom prst="rect">
                  <a:avLst/>
                </a:prstGeom>
                <a:blipFill rotWithShape="1">
                  <a:blip r:embed="rId15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矩形 25"/>
            <p:cNvSpPr/>
            <p:nvPr/>
          </p:nvSpPr>
          <p:spPr>
            <a:xfrm>
              <a:off x="4958" y="8535"/>
              <a:ext cx="324" cy="29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6511278" y="5303544"/>
            <a:ext cx="2373630" cy="551815"/>
            <a:chOff x="10240" y="8236"/>
            <a:chExt cx="3738" cy="8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23" name="Object 15"/>
                <p:cNvSpPr txBox="1"/>
                <p:nvPr/>
              </p:nvSpPr>
              <p:spPr bwMode="auto">
                <a:xfrm>
                  <a:off x="10240" y="8236"/>
                  <a:ext cx="3738" cy="86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bar>
                          <m:barPr>
                            <m:pos m:val="top"/>
                            <m:ctrlPr>
                              <a:rPr kumimoji="1" lang="en-US" altLang="zh-CN" sz="28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)</m:t>
                            </m:r>
                            <m:sSup>
                              <m:sSup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𝜆</m:t>
                                </m:r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i</m:t>
                                </m:r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𝜔</m:t>
                                </m:r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)</m:t>
                                </m:r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</m:sup>
                            </m:sSup>
                          </m:e>
                        </m:bar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7423" name="Object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240" y="8236"/>
                  <a:ext cx="3738" cy="869"/>
                </a:xfrm>
                <a:prstGeom prst="rect">
                  <a:avLst/>
                </a:prstGeom>
                <a:blipFill>
                  <a:blip r:embed="rId16"/>
                  <a:stretch>
                    <a:fillRect b="-4396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矩形 27"/>
            <p:cNvSpPr/>
            <p:nvPr/>
          </p:nvSpPr>
          <p:spPr>
            <a:xfrm>
              <a:off x="13592" y="8442"/>
              <a:ext cx="386" cy="3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BDF00230-00F0-9539-CB80-E24ED19EA0B4}"/>
                  </a:ext>
                </a:extLst>
              </p:cNvPr>
              <p:cNvSpPr txBox="1"/>
              <p:nvPr/>
            </p:nvSpPr>
            <p:spPr>
              <a:xfrm>
                <a:off x="7748250" y="1495352"/>
                <a:ext cx="2273315" cy="9873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tabLst>
                    <a:tab pos="715963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]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e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i</m:t>
                                  </m:r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𝜔</m:t>
                                  </m:r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kumimoji="1" lang="en-US" altLang="zh-CN" sz="2800" i="1" dirty="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kumimoji="1" lang="en-US" altLang="zh-CN" sz="2800" i="1" dirty="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e</m:t>
                                      </m:r>
                                    </m:e>
                                    <m:sup>
                                      <m:r>
                                        <a:rPr kumimoji="1" lang="en-US" altLang="zh-CN" sz="2800" i="1" dirty="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kumimoji="1" lang="en-US" altLang="zh-CN" sz="2800" i="1" dirty="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i</m:t>
                                      </m:r>
                                      <m:r>
                                        <a:rPr kumimoji="1" lang="en-US" altLang="zh-CN" sz="2800" i="1" dirty="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𝜔</m:t>
                                      </m:r>
                                      <m:r>
                                        <a:rPr kumimoji="1" lang="en-US" altLang="zh-CN" sz="2800" i="1" dirty="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𝑥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 </m:t>
                                  </m:r>
                                </m:e>
                              </m:func>
                            </m:num>
                            <m:den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i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BDF00230-00F0-9539-CB80-E24ED19EA0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8250" y="1495352"/>
                <a:ext cx="2273315" cy="98732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组合 31">
            <a:extLst>
              <a:ext uri="{FF2B5EF4-FFF2-40B4-BE49-F238E27FC236}">
                <a16:creationId xmlns:a16="http://schemas.microsoft.com/office/drawing/2014/main" id="{AC93B583-F02C-E0D0-A8CC-39A706B4EA61}"/>
              </a:ext>
            </a:extLst>
          </p:cNvPr>
          <p:cNvGrpSpPr/>
          <p:nvPr/>
        </p:nvGrpSpPr>
        <p:grpSpPr>
          <a:xfrm>
            <a:off x="1565451" y="1526606"/>
            <a:ext cx="2137020" cy="957891"/>
            <a:chOff x="1651304" y="1526606"/>
            <a:chExt cx="2137020" cy="9578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15" name="Object 7"/>
                <p:cNvSpPr txBox="1"/>
                <p:nvPr/>
              </p:nvSpPr>
              <p:spPr bwMode="auto">
                <a:xfrm>
                  <a:off x="1651304" y="1674408"/>
                  <a:ext cx="2137020" cy="59388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𝑓</m:t>
                        </m:r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)=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𝜆</m:t>
                            </m:r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7415" name="Object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651304" y="1674408"/>
                  <a:ext cx="2137020" cy="593887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0DBCD276-D66A-8148-F847-CC1FDE896904}"/>
                    </a:ext>
                  </a:extLst>
                </p:cNvPr>
                <p:cNvSpPr txBox="1"/>
                <p:nvPr/>
              </p:nvSpPr>
              <p:spPr>
                <a:xfrm>
                  <a:off x="3367929" y="1526606"/>
                  <a:ext cx="259045" cy="95789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"/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0DBCD276-D66A-8148-F847-CC1FDE8969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7929" y="1526606"/>
                  <a:ext cx="259045" cy="957891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/>
      <p:bldP spid="17414" grpId="0"/>
      <p:bldP spid="3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687324" y="536895"/>
            <a:ext cx="10817352" cy="5799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2441575" y="1838960"/>
            <a:ext cx="6042660" cy="708660"/>
            <a:chOff x="3815" y="2956"/>
            <a:chExt cx="9516" cy="11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06" name="Object 18"/>
                <p:cNvSpPr txBox="1"/>
                <p:nvPr/>
              </p:nvSpPr>
              <p:spPr bwMode="auto">
                <a:xfrm>
                  <a:off x="4261" y="2956"/>
                  <a:ext cx="9070" cy="111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″</m:t>
                            </m:r>
                          </m:sup>
                        </m:sSup>
                        <m:r>
                          <a:rPr kumimoji="1" lang="en-US" altLang="zh-CN" sz="28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𝑝</m:t>
                        </m:r>
                        <m:r>
                          <a:rPr kumimoji="1" lang="en-US" altLang="zh-CN" sz="28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​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8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𝑞</m:t>
                        </m:r>
                        <m:r>
                          <a:rPr kumimoji="1" lang="en-US" altLang="zh-CN" sz="28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​</m:t>
                        </m:r>
                        <m:r>
                          <a:rPr kumimoji="1" lang="en-US" altLang="zh-CN" sz="28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8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bar>
                          <m:barPr>
                            <m:pos m:val="top"/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800" b="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kumimoji="1" lang="en-US" altLang="zh-CN" sz="2800" b="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kumimoji="1" lang="en-US" altLang="zh-CN" sz="28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kumimoji="1" lang="en-US" altLang="zh-CN" sz="28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  <m:r>
                              <a:rPr kumimoji="1" lang="en-US" altLang="zh-CN" sz="28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)</m:t>
                            </m:r>
                            <m:sSup>
                              <m:sSup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800" b="0" i="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a:rPr kumimoji="1" lang="en-US" altLang="zh-CN" sz="2800" b="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kumimoji="1" lang="en-US" altLang="zh-CN" sz="2800" b="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𝜆</m:t>
                                </m:r>
                                <m:r>
                                  <a:rPr kumimoji="1" lang="en-US" altLang="zh-CN" sz="2800" b="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kumimoji="1" lang="en-US" altLang="zh-CN" sz="2800" b="0" i="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i</m:t>
                                </m:r>
                                <m:r>
                                  <a:rPr kumimoji="1" lang="en-US" altLang="zh-CN" sz="2800" b="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𝜔</m:t>
                                </m:r>
                                <m:r>
                                  <a:rPr kumimoji="1" lang="en-US" altLang="zh-CN" sz="2800" b="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)</m:t>
                                </m:r>
                                <m:r>
                                  <a:rPr kumimoji="1" lang="en-US" altLang="zh-CN" sz="2800" b="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</m:sup>
                            </m:sSup>
                          </m:e>
                        </m:bar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2306" name="Object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61" y="2956"/>
                  <a:ext cx="9070" cy="111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矩形 3"/>
            <p:cNvSpPr/>
            <p:nvPr/>
          </p:nvSpPr>
          <p:spPr>
            <a:xfrm>
              <a:off x="3815" y="3407"/>
              <a:ext cx="170" cy="34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552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290" name="Rectangle 2"/>
          <p:cNvSpPr>
            <a:spLocks noGrp="1" noChangeArrowheads="1"/>
          </p:cNvSpPr>
          <p:nvPr/>
        </p:nvSpPr>
        <p:spPr>
          <a:xfrm>
            <a:off x="1359176" y="871379"/>
            <a:ext cx="50292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步骤2</a:t>
            </a:r>
            <a:r>
              <a:rPr lang="en-US" altLang="zh-CN" b="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.</a:t>
            </a:r>
            <a:r>
              <a:rPr lang="zh-CN" altLang="en-US" b="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 </a:t>
            </a:r>
            <a:r>
              <a:rPr lang="en-US" altLang="zh-CN" b="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  </a:t>
            </a:r>
            <a:r>
              <a:rPr kumimoji="1" lang="zh-CN" altLang="en-US" b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lt"/>
              </a:rPr>
              <a:t>求如下两方程的特解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93" name="Text Box 5"/>
              <p:cNvSpPr txBox="1">
                <a:spLocks noChangeArrowheads="1"/>
              </p:cNvSpPr>
              <p:nvPr/>
            </p:nvSpPr>
            <p:spPr bwMode="auto">
              <a:xfrm>
                <a:off x="4321810" y="2539304"/>
                <a:ext cx="5377815" cy="5219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Times New Roman" panose="02020603050405020304" pitchFamily="18" charset="0"/>
                    <a:sym typeface="+mn-lt"/>
                  </a:rPr>
                  <a:t>是特征方程的</a:t>
                </a:r>
                <a:r>
                  <a:rPr kumimoji="1" lang="zh-CN" altLang="en-US" sz="280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Times New Roman" panose="02020603050405020304" pitchFamily="18" charset="0"/>
                    <a:sym typeface="+mn-lt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80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  <a:sym typeface="+mn-lt"/>
                      </a:rPr>
                      <m:t>𝑘</m:t>
                    </m:r>
                    <m:r>
                      <a:rPr kumimoji="1" lang="en-US" altLang="zh-CN" sz="280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  <a:sym typeface="+mn-lt"/>
                      </a:rPr>
                      <m:t> </m:t>
                    </m:r>
                  </m:oMath>
                </a14:m>
                <a:r>
                  <a:rPr kumimoji="1" lang="zh-CN" altLang="zh-CN" sz="28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Times New Roman" panose="02020603050405020304" pitchFamily="18" charset="0"/>
                    <a:sym typeface="+mn-lt"/>
                  </a:rPr>
                  <a:t>重根 (</a:t>
                </a:r>
                <a:r>
                  <a:rPr kumimoji="1" lang="en-US" altLang="zh-CN" sz="280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Times New Roman" panose="02020603050405020304" pitchFamily="18" charset="0"/>
                    <a:sym typeface="+mn-lt"/>
                  </a:rPr>
                  <a:t>k</a:t>
                </a:r>
                <a:r>
                  <a:rPr kumimoji="1" lang="en-US" altLang="zh-CN" sz="28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Times New Roman" panose="02020603050405020304" pitchFamily="18" charset="0"/>
                    <a:sym typeface="+mn-lt"/>
                  </a:rPr>
                  <a:t>  = 0,1), </a:t>
                </a:r>
              </a:p>
            </p:txBody>
          </p:sp>
        </mc:Choice>
        <mc:Fallback xmlns="">
          <p:sp>
            <p:nvSpPr>
              <p:cNvPr id="12293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21810" y="2539304"/>
                <a:ext cx="5377815" cy="521970"/>
              </a:xfrm>
              <a:prstGeom prst="rect">
                <a:avLst/>
              </a:prstGeom>
              <a:blipFill>
                <a:blip r:embed="rId4"/>
                <a:stretch>
                  <a:fillRect l="-2381" t="-16471" b="-3294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98" name="Text Box 10"/>
          <p:cNvSpPr txBox="1">
            <a:spLocks noChangeArrowheads="1"/>
          </p:cNvSpPr>
          <p:nvPr/>
        </p:nvSpPr>
        <p:spPr bwMode="auto">
          <a:xfrm>
            <a:off x="2714901" y="3789522"/>
            <a:ext cx="7620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zh-CN" sz="2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lt"/>
              </a:rPr>
              <a:t>故</a:t>
            </a:r>
          </a:p>
        </p:txBody>
      </p:sp>
      <p:sp>
        <p:nvSpPr>
          <p:cNvPr id="12300" name="Text Box 12"/>
          <p:cNvSpPr txBox="1">
            <a:spLocks noChangeArrowheads="1"/>
          </p:cNvSpPr>
          <p:nvPr/>
        </p:nvSpPr>
        <p:spPr bwMode="auto">
          <a:xfrm>
            <a:off x="2714901" y="4310857"/>
            <a:ext cx="30480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2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lt"/>
              </a:rPr>
              <a:t>等式两边取共轭:</a:t>
            </a:r>
          </a:p>
        </p:txBody>
      </p:sp>
      <p:sp>
        <p:nvSpPr>
          <p:cNvPr id="12304" name="Text Box 16"/>
          <p:cNvSpPr txBox="1">
            <a:spLocks noChangeArrowheads="1"/>
          </p:cNvSpPr>
          <p:nvPr/>
        </p:nvSpPr>
        <p:spPr bwMode="auto">
          <a:xfrm>
            <a:off x="4118886" y="5477987"/>
            <a:ext cx="4012096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zh-CN" sz="2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lt"/>
              </a:rPr>
              <a:t>为方程 ② 的特解.</a:t>
            </a:r>
          </a:p>
        </p:txBody>
      </p:sp>
      <p:sp>
        <p:nvSpPr>
          <p:cNvPr id="12307" name="Text Box 19"/>
          <p:cNvSpPr txBox="1">
            <a:spLocks noChangeArrowheads="1"/>
          </p:cNvSpPr>
          <p:nvPr/>
        </p:nvSpPr>
        <p:spPr bwMode="auto">
          <a:xfrm>
            <a:off x="7868920" y="1276607"/>
            <a:ext cx="1066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lt"/>
              </a:rPr>
              <a:t>①</a:t>
            </a:r>
          </a:p>
        </p:txBody>
      </p:sp>
      <p:sp>
        <p:nvSpPr>
          <p:cNvPr id="12308" name="Text Box 20"/>
          <p:cNvSpPr txBox="1">
            <a:spLocks noChangeArrowheads="1"/>
          </p:cNvSpPr>
          <p:nvPr/>
        </p:nvSpPr>
        <p:spPr bwMode="auto">
          <a:xfrm>
            <a:off x="7868920" y="1862474"/>
            <a:ext cx="1143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lt"/>
              </a:rPr>
              <a:t>②</a:t>
            </a:r>
          </a:p>
        </p:txBody>
      </p:sp>
      <p:sp>
        <p:nvSpPr>
          <p:cNvPr id="12324" name="Text Box 36"/>
          <p:cNvSpPr txBox="1">
            <a:spLocks noChangeArrowheads="1"/>
          </p:cNvSpPr>
          <p:nvPr/>
        </p:nvSpPr>
        <p:spPr bwMode="auto">
          <a:xfrm>
            <a:off x="2689225" y="2510740"/>
            <a:ext cx="685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设</a:t>
            </a:r>
          </a:p>
        </p:txBody>
      </p:sp>
      <p:sp>
        <p:nvSpPr>
          <p:cNvPr id="12325" name="Text Box 37"/>
          <p:cNvSpPr txBox="1">
            <a:spLocks noChangeArrowheads="1"/>
          </p:cNvSpPr>
          <p:nvPr/>
        </p:nvSpPr>
        <p:spPr bwMode="auto">
          <a:xfrm>
            <a:off x="9263678" y="2521239"/>
            <a:ext cx="242514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则</a:t>
            </a:r>
            <a:r>
              <a:rPr kumimoji="1" lang="en-US" altLang="zh-CN" sz="28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 </a:t>
            </a:r>
            <a:r>
              <a:rPr kumimoji="1" lang="en-US" altLang="zh-CN" sz="2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① </a:t>
            </a:r>
            <a:r>
              <a:rPr kumimoji="1" lang="zh-CN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有</a:t>
            </a:r>
            <a:endParaRPr kumimoji="1" lang="zh-CN" altLang="en-US" sz="2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12329" name="Text Box 41"/>
          <p:cNvSpPr txBox="1">
            <a:spLocks noChangeArrowheads="1"/>
          </p:cNvSpPr>
          <p:nvPr/>
        </p:nvSpPr>
        <p:spPr bwMode="auto">
          <a:xfrm>
            <a:off x="1359176" y="3145914"/>
            <a:ext cx="1066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i="0" u="none" strike="noStrike" kern="1200" cap="none" spc="0" normalizeH="0" baseline="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特解</a:t>
            </a:r>
            <a:r>
              <a:rPr lang="en-US" altLang="zh-CN" sz="2800" i="0" u="none" strike="noStrike" kern="1200" cap="none" spc="0" normalizeH="0" baseline="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:</a:t>
            </a:r>
            <a:endParaRPr lang="zh-CN" altLang="en-US" sz="2800" i="0" u="none" strike="noStrike" kern="1200" cap="none" spc="0" normalizeH="0" baseline="0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364740" y="1343660"/>
            <a:ext cx="5313680" cy="469900"/>
            <a:chOff x="3799" y="2176"/>
            <a:chExt cx="8368" cy="7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91" name="Object 3"/>
                <p:cNvSpPr txBox="1"/>
                <p:nvPr/>
              </p:nvSpPr>
              <p:spPr bwMode="auto">
                <a:xfrm>
                  <a:off x="4349" y="2176"/>
                  <a:ext cx="7818" cy="7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″</m:t>
                            </m:r>
                          </m:sup>
                        </m:sSup>
                        <m:r>
                          <a:rPr kumimoji="1" lang="en-US" altLang="zh-CN" sz="28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𝑝</m:t>
                        </m:r>
                        <m:r>
                          <a:rPr kumimoji="1" lang="en-US" altLang="zh-CN" sz="28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​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8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𝑞</m:t>
                        </m:r>
                        <m:r>
                          <a:rPr kumimoji="1" lang="en-US" altLang="zh-CN" sz="28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​</m:t>
                        </m:r>
                        <m:r>
                          <a:rPr kumimoji="1" lang="en-US" altLang="zh-CN" sz="28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8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𝑃</m:t>
                            </m:r>
                          </m:e>
                          <m:sub>
                            <m:r>
                              <a:rPr kumimoji="1" lang="en-US" altLang="zh-CN" sz="28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𝑚</m:t>
                            </m:r>
                          </m:sub>
                        </m:sSub>
                        <m:r>
                          <a:rPr kumimoji="1" lang="en-US" altLang="zh-CN" sz="28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800" b="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8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kumimoji="1" lang="en-US" altLang="zh-CN" sz="28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𝜆</m:t>
                            </m:r>
                            <m:r>
                              <a:rPr kumimoji="1" lang="en-US" altLang="zh-CN" sz="28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800" b="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i</m:t>
                            </m:r>
                            <m:r>
                              <a:rPr kumimoji="1" lang="en-US" altLang="zh-CN" sz="28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𝜔</m:t>
                            </m:r>
                            <m:r>
                              <a:rPr kumimoji="1" lang="en-US" altLang="zh-CN" sz="28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)</m:t>
                            </m:r>
                            <m:r>
                              <a:rPr kumimoji="1" lang="en-US" altLang="zh-CN" sz="28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2291" name="Object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49" y="2176"/>
                  <a:ext cx="7818" cy="740"/>
                </a:xfrm>
                <a:prstGeom prst="rect">
                  <a:avLst/>
                </a:prstGeom>
                <a:blipFill>
                  <a:blip r:embed="rId5"/>
                  <a:stretch>
                    <a:fillRect b="-3896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矩形 1"/>
            <p:cNvSpPr/>
            <p:nvPr/>
          </p:nvSpPr>
          <p:spPr>
            <a:xfrm>
              <a:off x="3799" y="2465"/>
              <a:ext cx="355" cy="24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3238500" y="2574864"/>
            <a:ext cx="1424940" cy="526415"/>
            <a:chOff x="5070" y="4045"/>
            <a:chExt cx="2244" cy="8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92" name="Object 4"/>
                <p:cNvSpPr txBox="1"/>
                <p:nvPr/>
              </p:nvSpPr>
              <p:spPr bwMode="auto">
                <a:xfrm>
                  <a:off x="5070" y="4045"/>
                  <a:ext cx="2244" cy="6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𝜆</m:t>
                        </m:r>
                        <m:r>
                          <a:rPr kumimoji="1" lang="en-US" altLang="zh-CN" sz="28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kumimoji="1" lang="en-US" altLang="zh-CN" sz="2800" b="0" i="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i</m:t>
                        </m:r>
                        <m:r>
                          <a:rPr kumimoji="1" lang="en-US" altLang="zh-CN" sz="28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𝜔</m:t>
                        </m:r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2292" name="Object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070" y="4045"/>
                  <a:ext cx="2244" cy="6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矩形 5"/>
            <p:cNvSpPr/>
            <p:nvPr/>
          </p:nvSpPr>
          <p:spPr>
            <a:xfrm>
              <a:off x="5545" y="4642"/>
              <a:ext cx="170" cy="2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529840" y="3156585"/>
            <a:ext cx="3230245" cy="469900"/>
            <a:chOff x="3954" y="5031"/>
            <a:chExt cx="5087" cy="7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94" name="Object 6"/>
                <p:cNvSpPr txBox="1"/>
                <p:nvPr/>
              </p:nvSpPr>
              <p:spPr bwMode="auto">
                <a:xfrm>
                  <a:off x="4261" y="5031"/>
                  <a:ext cx="4780" cy="7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95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kumimoji="1" lang="en-US" altLang="zh-CN" sz="23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3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3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en-US" altLang="zh-CN" sz="23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∗</m:t>
                            </m:r>
                          </m:sup>
                        </m:sSubSup>
                        <m:r>
                          <a:rPr kumimoji="1" lang="en-US" altLang="zh-CN" sz="23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p>
                          <m:sSupPr>
                            <m:ctrlPr>
                              <a:rPr kumimoji="1" lang="en-US" altLang="zh-CN" sz="23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3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p>
                            <m:r>
                              <a:rPr kumimoji="1" lang="en-US" altLang="zh-CN" sz="23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𝑘</m:t>
                            </m:r>
                          </m:sup>
                        </m:sSup>
                        <m:sSub>
                          <m:sSubPr>
                            <m:ctrlPr>
                              <a:rPr kumimoji="1" lang="en-US" altLang="zh-CN" sz="23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3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𝑅</m:t>
                            </m:r>
                          </m:e>
                          <m:sub>
                            <m:r>
                              <a:rPr kumimoji="1" lang="en-US" altLang="zh-CN" sz="23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𝑚</m:t>
                            </m:r>
                          </m:sub>
                        </m:sSub>
                        <m:r>
                          <a:rPr kumimoji="1" lang="en-US" altLang="zh-CN" sz="23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3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3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sSup>
                          <m:sSupPr>
                            <m:ctrlPr>
                              <a:rPr kumimoji="1" lang="en-US" altLang="zh-CN" sz="23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300" b="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3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kumimoji="1" lang="en-US" altLang="zh-CN" sz="23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𝜆</m:t>
                            </m:r>
                            <m:r>
                              <a:rPr kumimoji="1" lang="en-US" altLang="zh-CN" sz="23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300" b="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i</m:t>
                            </m:r>
                            <m:r>
                              <a:rPr kumimoji="1" lang="en-US" altLang="zh-CN" sz="23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𝜔</m:t>
                            </m:r>
                            <m:r>
                              <a:rPr kumimoji="1" lang="en-US" altLang="zh-CN" sz="23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)</m:t>
                            </m:r>
                            <m:r>
                              <a:rPr kumimoji="1" lang="en-US" altLang="zh-CN" sz="23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</m:oMath>
                    </m:oMathPara>
                  </a14:m>
                  <a:endParaRPr kumimoji="1" lang="en-US" altLang="zh-CN" sz="23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2294" name="Object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61" y="5031"/>
                  <a:ext cx="4780" cy="740"/>
                </a:xfrm>
                <a:prstGeom prst="rect">
                  <a:avLst/>
                </a:prstGeom>
                <a:blipFill>
                  <a:blip r:embed="rId7"/>
                  <a:stretch>
                    <a:fillRect l="-402" b="-11688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矩形 7"/>
            <p:cNvSpPr/>
            <p:nvPr/>
          </p:nvSpPr>
          <p:spPr>
            <a:xfrm>
              <a:off x="3954" y="5307"/>
              <a:ext cx="139" cy="17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5541010" y="3171825"/>
            <a:ext cx="3394710" cy="444500"/>
            <a:chOff x="8750" y="5031"/>
            <a:chExt cx="5346" cy="7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95" name="Object 7"/>
                <p:cNvSpPr txBox="1"/>
                <p:nvPr/>
              </p:nvSpPr>
              <p:spPr bwMode="auto">
                <a:xfrm>
                  <a:off x="8750" y="5031"/>
                  <a:ext cx="5347" cy="7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975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3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sSub>
                          <m:sSubPr>
                            <m:ctrlPr>
                              <a:rPr kumimoji="1" lang="en-US" altLang="zh-CN" sz="23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3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𝑅</m:t>
                            </m:r>
                          </m:e>
                          <m:sub>
                            <m:r>
                              <a:rPr kumimoji="1" lang="en-US" altLang="zh-CN" sz="23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𝑚</m:t>
                            </m:r>
                          </m:sub>
                        </m:sSub>
                        <m:r>
                          <a:rPr kumimoji="1" lang="en-US" altLang="zh-CN" sz="23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3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3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r>
                          <a:rPr kumimoji="1" lang="zh-CN" altLang="zh-CN" sz="2300" b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为</m:t>
                        </m:r>
                        <m:r>
                          <a:rPr kumimoji="1" lang="en-US" altLang="zh-CN" sz="23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𝑚</m:t>
                        </m:r>
                        <m:r>
                          <a:rPr kumimoji="1" lang="zh-CN" altLang="zh-CN" sz="2300" b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次多项式</m:t>
                        </m:r>
                        <m:r>
                          <a:rPr kumimoji="1" lang="zh-CN" altLang="zh-CN" sz="2300" b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zh-CN" altLang="zh-CN" sz="23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295" name="Object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750" y="5031"/>
                  <a:ext cx="5347" cy="700"/>
                </a:xfrm>
                <a:prstGeom prst="rect">
                  <a:avLst/>
                </a:prstGeom>
                <a:blipFill>
                  <a:blip r:embed="rId8"/>
                  <a:stretch>
                    <a:fillRect l="-1257" b="-15068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矩形 9"/>
            <p:cNvSpPr/>
            <p:nvPr/>
          </p:nvSpPr>
          <p:spPr>
            <a:xfrm>
              <a:off x="13144" y="5368"/>
              <a:ext cx="278" cy="17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3119120" y="3738245"/>
            <a:ext cx="5600700" cy="533400"/>
            <a:chOff x="4882" y="5947"/>
            <a:chExt cx="8820" cy="8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99" name="Object 11"/>
                <p:cNvSpPr txBox="1"/>
                <p:nvPr/>
              </p:nvSpPr>
              <p:spPr bwMode="auto">
                <a:xfrm>
                  <a:off x="4882" y="5947"/>
                  <a:ext cx="8820" cy="8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sSubSup>
                          <m:sSub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2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2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en-US" altLang="zh-CN" sz="22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∗</m:t>
                            </m:r>
                          </m:sup>
                        </m:sSubSup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2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)</m:t>
                            </m:r>
                          </m:e>
                          <m:sup>
                            <m:r>
                              <a:rPr kumimoji="1" lang="en-US" altLang="zh-CN" sz="22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″</m:t>
                            </m:r>
                          </m:sup>
                        </m:sSup>
                        <m:r>
                          <a:rPr kumimoji="1" lang="en-US" altLang="zh-CN" sz="22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2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𝑝</m:t>
                        </m:r>
                        <m:r>
                          <a:rPr kumimoji="1" lang="en-US" altLang="zh-CN" sz="22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sSubSup>
                          <m:sSub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2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2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en-US" altLang="zh-CN" sz="22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∗</m:t>
                            </m:r>
                          </m:sup>
                        </m:sSubSup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2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)</m:t>
                            </m:r>
                          </m:e>
                          <m:sup>
                            <m:r>
                              <a:rPr kumimoji="1" lang="en-US" altLang="zh-CN" sz="22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2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2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𝑞</m:t>
                        </m:r>
                        <m:sSubSup>
                          <m:sSub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2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2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en-US" altLang="zh-CN" sz="22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∗</m:t>
                            </m:r>
                          </m:sup>
                        </m:sSubSup>
                        <m:r>
                          <a:rPr kumimoji="1" lang="en-US" altLang="zh-CN" sz="22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≡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𝑃</m:t>
                            </m:r>
                          </m:e>
                          <m:sub>
                            <m:r>
                              <a:rPr kumimoji="1" lang="en-US" altLang="zh-CN" sz="22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𝑚</m:t>
                            </m:r>
                          </m:sub>
                        </m:sSub>
                        <m:r>
                          <a:rPr kumimoji="1" lang="en-US" altLang="zh-CN" sz="22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2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b="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2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kumimoji="1" lang="en-US" altLang="zh-CN" sz="22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𝜆</m:t>
                            </m:r>
                            <m:r>
                              <a:rPr kumimoji="1" lang="en-US" altLang="zh-CN" sz="22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200" b="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i</m:t>
                            </m:r>
                            <m:r>
                              <a:rPr kumimoji="1" lang="en-US" altLang="zh-CN" sz="22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𝜔</m:t>
                            </m:r>
                            <m:r>
                              <a:rPr kumimoji="1" lang="en-US" altLang="zh-CN" sz="22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)</m:t>
                            </m:r>
                            <m:r>
                              <a:rPr kumimoji="1" lang="en-US" altLang="zh-CN" sz="22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2299" name="Object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82" y="5947"/>
                  <a:ext cx="8820" cy="840"/>
                </a:xfrm>
                <a:prstGeom prst="rect">
                  <a:avLst/>
                </a:prstGeom>
                <a:blipFill>
                  <a:blip r:embed="rId9"/>
                  <a:stretch>
                    <a:fillRect l="-76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矩形 11"/>
            <p:cNvSpPr/>
            <p:nvPr/>
          </p:nvSpPr>
          <p:spPr>
            <a:xfrm>
              <a:off x="12326" y="6342"/>
              <a:ext cx="324" cy="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2411730" y="4788535"/>
            <a:ext cx="5535295" cy="698500"/>
            <a:chOff x="3768" y="7601"/>
            <a:chExt cx="8717" cy="11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01" name="Object 13"/>
                <p:cNvSpPr txBox="1"/>
                <p:nvPr/>
              </p:nvSpPr>
              <p:spPr bwMode="auto">
                <a:xfrm>
                  <a:off x="4245" y="7601"/>
                  <a:ext cx="8240" cy="1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bar>
                              <m:barPr>
                                <m:pos m:val="top"/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barPr>
                              <m:e>
                                <m:sSubSup>
                                  <m:sSubSup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zh-CN" sz="2200" b="0" i="1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1" lang="en-US" altLang="zh-CN" sz="2200" b="0" i="1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kumimoji="1" lang="en-US" altLang="zh-CN" sz="2200" b="0" i="1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∗</m:t>
                                    </m:r>
                                  </m:sup>
                                </m:sSubSup>
                              </m:e>
                            </m:bar>
                          </m:e>
                          <m:sup>
                            <m:r>
                              <a:rPr kumimoji="1" lang="en-US" altLang="zh-CN" sz="22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″</m:t>
                            </m:r>
                          </m:sup>
                        </m:sSup>
                        <m:r>
                          <a:rPr kumimoji="1" lang="en-US" altLang="zh-CN" sz="22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2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𝑝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bar>
                              <m:barPr>
                                <m:pos m:val="top"/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barPr>
                              <m:e>
                                <m:sSubSup>
                                  <m:sSubSup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zh-CN" sz="2200" b="0" i="1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1" lang="en-US" altLang="zh-CN" sz="2200" b="0" i="1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kumimoji="1" lang="en-US" altLang="zh-CN" sz="2200" b="0" i="1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∗</m:t>
                                    </m:r>
                                  </m:sup>
                                </m:sSubSup>
                              </m:e>
                            </m:bar>
                          </m:e>
                          <m:sup>
                            <m:r>
                              <a:rPr kumimoji="1" lang="en-US" altLang="zh-CN" sz="22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2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2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𝑞</m:t>
                        </m:r>
                        <m:bar>
                          <m:barPr>
                            <m:pos m:val="top"/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barPr>
                          <m:e>
                            <m:sSubSup>
                              <m:sSub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zh-CN" sz="2200" b="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kumimoji="1" lang="en-US" altLang="zh-CN" sz="2200" b="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kumimoji="1" lang="en-US" altLang="zh-CN" sz="2200" b="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</m:bar>
                        <m:r>
                          <a:rPr kumimoji="1" lang="en-US" altLang="zh-CN" sz="2200" b="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≡</m:t>
                        </m:r>
                        <m:bar>
                          <m:barPr>
                            <m:pos m:val="top"/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200" b="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kumimoji="1" lang="en-US" altLang="zh-CN" sz="2200" b="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kumimoji="1" lang="en-US" altLang="zh-CN" sz="22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kumimoji="1" lang="en-US" altLang="zh-CN" sz="22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  <m:r>
                              <a:rPr kumimoji="1" lang="en-US" altLang="zh-CN" sz="2200" b="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)</m:t>
                            </m:r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200" b="0" i="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a:rPr kumimoji="1" lang="en-US" altLang="zh-CN" sz="2200" b="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kumimoji="1" lang="en-US" altLang="zh-CN" sz="2200" b="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𝜆</m:t>
                                </m:r>
                                <m:r>
                                  <a:rPr kumimoji="1" lang="en-US" altLang="zh-CN" sz="2200" b="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kumimoji="1" lang="en-US" altLang="zh-CN" sz="2200" b="0" i="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i</m:t>
                                </m:r>
                                <m:r>
                                  <a:rPr kumimoji="1" lang="en-US" altLang="zh-CN" sz="2200" b="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𝜔</m:t>
                                </m:r>
                                <m:r>
                                  <a:rPr kumimoji="1" lang="en-US" altLang="zh-CN" sz="2200" b="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)</m:t>
                                </m:r>
                                <m:r>
                                  <a:rPr kumimoji="1" lang="en-US" altLang="zh-CN" sz="2200" b="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</m:sup>
                            </m:sSup>
                          </m:e>
                        </m:ba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2301" name="Object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45" y="7601"/>
                  <a:ext cx="8240" cy="110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矩形 13"/>
            <p:cNvSpPr/>
            <p:nvPr/>
          </p:nvSpPr>
          <p:spPr>
            <a:xfrm>
              <a:off x="3768" y="7979"/>
              <a:ext cx="278" cy="2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2274570" y="5434330"/>
            <a:ext cx="2012315" cy="560070"/>
            <a:chOff x="3552" y="8618"/>
            <a:chExt cx="3169" cy="88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03" name="Object 15"/>
                <p:cNvSpPr txBox="1"/>
                <p:nvPr/>
              </p:nvSpPr>
              <p:spPr bwMode="auto">
                <a:xfrm>
                  <a:off x="4245" y="8618"/>
                  <a:ext cx="2477" cy="88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zh-CN" sz="2200" b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这说明</m:t>
                        </m:r>
                        <m:r>
                          <a:rPr lang="zh-CN" altLang="en-US" sz="2200" b="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 </m:t>
                        </m:r>
                        <m:bar>
                          <m:barPr>
                            <m:pos m:val="top"/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barPr>
                          <m:e>
                            <m:sSubSup>
                              <m:sSub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zh-CN" sz="2200" b="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kumimoji="1" lang="en-US" altLang="zh-CN" sz="2200" b="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kumimoji="1" lang="en-US" altLang="zh-CN" sz="2200" b="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</m:ba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2303" name="Object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45" y="8618"/>
                  <a:ext cx="2477" cy="883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矩形 15"/>
            <p:cNvSpPr/>
            <p:nvPr/>
          </p:nvSpPr>
          <p:spPr>
            <a:xfrm>
              <a:off x="3552" y="9029"/>
              <a:ext cx="216" cy="2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2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/>
      <p:bldP spid="12293" grpId="0"/>
      <p:bldP spid="12298" grpId="0"/>
      <p:bldP spid="12300" grpId="0"/>
      <p:bldP spid="12304" grpId="0"/>
      <p:bldP spid="12307" grpId="0"/>
      <p:bldP spid="12308" grpId="0"/>
      <p:bldP spid="12324" grpId="0"/>
      <p:bldP spid="12325" grpId="0"/>
      <p:bldP spid="1232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687324" y="536895"/>
            <a:ext cx="10817352" cy="5799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grpSp>
        <p:nvGrpSpPr>
          <p:cNvPr id="5" name="组合 4"/>
          <p:cNvGrpSpPr/>
          <p:nvPr/>
        </p:nvGrpSpPr>
        <p:grpSpPr>
          <a:xfrm>
            <a:off x="2820670" y="1350645"/>
            <a:ext cx="3237230" cy="481330"/>
            <a:chOff x="4502" y="2202"/>
            <a:chExt cx="5098" cy="7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68" name="Object 36"/>
                <p:cNvSpPr txBox="1"/>
                <p:nvPr/>
              </p:nvSpPr>
              <p:spPr bwMode="auto">
                <a:xfrm>
                  <a:off x="4502" y="2232"/>
                  <a:ext cx="5098" cy="72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″</m:t>
                            </m:r>
                          </m:sup>
                        </m:sSup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𝑝</m:t>
                        </m:r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​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𝑞</m:t>
                        </m:r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​</m:t>
                        </m:r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8468" name="Object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02" y="2232"/>
                  <a:ext cx="5098" cy="728"/>
                </a:xfrm>
                <a:prstGeom prst="rect">
                  <a:avLst/>
                </a:prstGeom>
                <a:blipFill>
                  <a:blip r:embed="rId3"/>
                  <a:stretch>
                    <a:fillRect b="-266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矩形 3"/>
            <p:cNvSpPr/>
            <p:nvPr/>
          </p:nvSpPr>
          <p:spPr>
            <a:xfrm>
              <a:off x="6271" y="2202"/>
              <a:ext cx="119" cy="12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3028398" y="4801870"/>
            <a:ext cx="6151245" cy="508000"/>
            <a:chOff x="4850" y="7637"/>
            <a:chExt cx="9687" cy="8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96" name="Object 64"/>
                <p:cNvSpPr txBox="1"/>
                <p:nvPr/>
              </p:nvSpPr>
              <p:spPr bwMode="auto">
                <a:xfrm>
                  <a:off x="5289" y="7637"/>
                  <a:ext cx="9248" cy="8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𝑘</m:t>
                            </m:r>
                          </m:sup>
                        </m:sSup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8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𝜆</m:t>
                            </m:r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  <m:d>
                          <m:dPr>
                            <m:begChr m:val="["/>
                            <m:endChr m:val="]"/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      </m:t>
                            </m:r>
                            <m:r>
                              <m:rPr>
                                <m:nor/>
                              </m:rPr>
                              <a:rPr kumimoji="1" lang="en-US" altLang="zh-CN" sz="2800" b="0" i="1" dirty="0" smtClean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  </m:t>
                            </m:r>
                            <m:r>
                              <m:rPr>
                                <m:nor/>
                              </m:rP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                                             </m:t>
                            </m:r>
                          </m:e>
                        </m:d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8496" name="Object 6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289" y="7637"/>
                  <a:ext cx="9248" cy="8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矩形 19"/>
            <p:cNvSpPr/>
            <p:nvPr/>
          </p:nvSpPr>
          <p:spPr>
            <a:xfrm>
              <a:off x="4850" y="7809"/>
              <a:ext cx="293" cy="3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552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18434" name="Rectangle 2"/>
          <p:cNvSpPr>
            <a:spLocks noGrp="1" noChangeArrowheads="1"/>
          </p:cNvSpPr>
          <p:nvPr/>
        </p:nvSpPr>
        <p:spPr>
          <a:xfrm>
            <a:off x="1648460" y="824875"/>
            <a:ext cx="41910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b="0" dirty="0">
                <a:solidFill>
                  <a:srgbClr val="04926A"/>
                </a:solidFill>
                <a:latin typeface="Cambria Math" panose="020405030504060302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lt"/>
              </a:rPr>
              <a:t>步骤3</a:t>
            </a:r>
            <a:r>
              <a:rPr kumimoji="1" lang="en-US" altLang="zh-CN" b="0" dirty="0">
                <a:solidFill>
                  <a:srgbClr val="04926A"/>
                </a:solidFill>
                <a:latin typeface="Cambria Math" panose="020405030504060302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lt"/>
              </a:rPr>
              <a:t>.</a:t>
            </a:r>
            <a:r>
              <a:rPr kumimoji="1" lang="zh-CN" altLang="en-US" b="0" dirty="0">
                <a:solidFill>
                  <a:srgbClr val="04926A"/>
                </a:solidFill>
                <a:latin typeface="Cambria Math" panose="020405030504060302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lt"/>
              </a:rPr>
              <a:t>  </a:t>
            </a:r>
            <a:r>
              <a:rPr kumimoji="1" lang="zh-CN" altLang="en-US" b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lt"/>
              </a:rPr>
              <a:t>求原方程的特解 </a:t>
            </a:r>
          </a:p>
        </p:txBody>
      </p:sp>
      <p:sp>
        <p:nvSpPr>
          <p:cNvPr id="18455" name="Text Box 23"/>
          <p:cNvSpPr txBox="1">
            <a:spLocks noChangeArrowheads="1"/>
          </p:cNvSpPr>
          <p:nvPr/>
        </p:nvSpPr>
        <p:spPr bwMode="auto">
          <a:xfrm>
            <a:off x="1648294" y="1986945"/>
            <a:ext cx="8615846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利用步骤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2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的结果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,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根据叠加原理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,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原方程有特解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:</a:t>
            </a:r>
          </a:p>
        </p:txBody>
      </p:sp>
      <p:sp>
        <p:nvSpPr>
          <p:cNvPr id="18467" name="Text Box 35"/>
          <p:cNvSpPr txBox="1">
            <a:spLocks noChangeArrowheads="1"/>
          </p:cNvSpPr>
          <p:nvPr/>
        </p:nvSpPr>
        <p:spPr bwMode="auto">
          <a:xfrm>
            <a:off x="1650365" y="1341109"/>
            <a:ext cx="175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原方程</a:t>
            </a:r>
          </a:p>
        </p:txBody>
      </p:sp>
      <p:sp>
        <p:nvSpPr>
          <p:cNvPr id="18474" name="Text Box 42"/>
          <p:cNvSpPr txBox="1">
            <a:spLocks noChangeArrowheads="1"/>
          </p:cNvSpPr>
          <p:nvPr/>
        </p:nvSpPr>
        <p:spPr bwMode="auto">
          <a:xfrm>
            <a:off x="7470775" y="1677659"/>
            <a:ext cx="1930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500" name="Text Box 68"/>
              <p:cNvSpPr txBox="1">
                <a:spLocks noChangeArrowheads="1"/>
              </p:cNvSpPr>
              <p:nvPr/>
            </p:nvSpPr>
            <p:spPr bwMode="auto">
              <a:xfrm>
                <a:off x="3996690" y="5517187"/>
                <a:ext cx="3124200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rPr>
                  <a:t>均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Times New Roman" panose="02020603050405020304" pitchFamily="18" charset="0"/>
                    <a:sym typeface="+mn-lt"/>
                  </a:rPr>
                  <a:t>为</a:t>
                </a:r>
                <a:r>
                  <a:rPr kumimoji="1" lang="zh-CN" altLang="en-US" sz="28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Times New Roman" panose="02020603050405020304" pitchFamily="18" charset="0"/>
                    <a:sym typeface="+mn-lt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  <a:sym typeface="+mn-lt"/>
                      </a:rPr>
                      <m:t>𝑚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rPr>
                  <a:t>次多项式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rPr>
                  <a:t>.</a:t>
                </a:r>
              </a:p>
            </p:txBody>
          </p:sp>
        </mc:Choice>
        <mc:Fallback xmlns="">
          <p:sp>
            <p:nvSpPr>
              <p:cNvPr id="18500" name="Text 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96690" y="5517187"/>
                <a:ext cx="3124200" cy="523220"/>
              </a:xfrm>
              <a:prstGeom prst="rect">
                <a:avLst/>
              </a:prstGeom>
              <a:blipFill>
                <a:blip r:embed="rId5"/>
                <a:stretch>
                  <a:fillRect l="-4102" t="-15116" b="-2790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/>
          <p:cNvGrpSpPr/>
          <p:nvPr/>
        </p:nvGrpSpPr>
        <p:grpSpPr>
          <a:xfrm>
            <a:off x="5331460" y="1306830"/>
            <a:ext cx="5566410" cy="676910"/>
            <a:chOff x="8456" y="2133"/>
            <a:chExt cx="8766" cy="10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84" name="Object 52"/>
                <p:cNvSpPr txBox="1"/>
                <p:nvPr/>
              </p:nvSpPr>
              <p:spPr bwMode="auto">
                <a:xfrm>
                  <a:off x="8456" y="2133"/>
                  <a:ext cx="8767" cy="10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8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𝜆</m:t>
                            </m:r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  <m:d>
                          <m:dPr>
                            <m:begChr m:val="["/>
                            <m:endChr m:val="]"/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𝑙</m:t>
                                </m:r>
                              </m:sub>
                            </m:sSub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)</m:t>
                            </m:r>
                            <m:func>
                              <m:func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𝜔</m:t>
                                </m:r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</m:e>
                            </m:func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)</m:t>
                            </m:r>
                            <m:func>
                              <m:func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𝜔</m:t>
                                </m:r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</m:e>
                            </m:func>
                          </m:e>
                        </m:d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8484" name="Object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456" y="2133"/>
                  <a:ext cx="8767" cy="106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矩形 1"/>
            <p:cNvSpPr/>
            <p:nvPr/>
          </p:nvSpPr>
          <p:spPr>
            <a:xfrm>
              <a:off x="16558" y="2465"/>
              <a:ext cx="185" cy="27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2433320" y="2428240"/>
            <a:ext cx="2848610" cy="596900"/>
            <a:chOff x="3892" y="3899"/>
            <a:chExt cx="4486" cy="9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56" name="Object 24"/>
                <p:cNvSpPr txBox="1"/>
                <p:nvPr/>
              </p:nvSpPr>
              <p:spPr bwMode="auto">
                <a:xfrm>
                  <a:off x="4516" y="3899"/>
                  <a:ext cx="3863" cy="9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∗</m:t>
                            </m:r>
                          </m:sup>
                        </m:sSup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bSup>
                          <m:sSub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∗</m:t>
                            </m:r>
                          </m:sup>
                        </m:sSubSup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bar>
                          <m:barPr>
                            <m:pos m:val="top"/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barPr>
                          <m:e>
                            <m:sSubSup>
                              <m:sSubSup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</m:bar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8456" name="Object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16" y="3899"/>
                  <a:ext cx="3863" cy="94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矩形 5"/>
            <p:cNvSpPr/>
            <p:nvPr/>
          </p:nvSpPr>
          <p:spPr>
            <a:xfrm>
              <a:off x="3892" y="4179"/>
              <a:ext cx="201" cy="34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4766310" y="2905007"/>
            <a:ext cx="3295650" cy="681990"/>
            <a:chOff x="7566" y="4720"/>
            <a:chExt cx="5190" cy="107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63" name="Object 31"/>
                <p:cNvSpPr txBox="1"/>
                <p:nvPr/>
              </p:nvSpPr>
              <p:spPr bwMode="auto">
                <a:xfrm>
                  <a:off x="7566" y="5014"/>
                  <a:ext cx="5190" cy="7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𝑅</m:t>
                            </m:r>
                          </m:e>
                          <m:sub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𝑚</m:t>
                            </m:r>
                          </m:sub>
                        </m:sSub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8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kumimoji="1" lang="en-US" altLang="zh-CN" sz="28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i</m:t>
                            </m:r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𝜔</m:t>
                            </m:r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bar>
                          <m:barPr>
                            <m:pos m:val="top"/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ba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8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8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i</m:t>
                            </m:r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𝜔</m:t>
                            </m:r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8463" name="Object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566" y="5014"/>
                  <a:ext cx="5190" cy="78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矩形 11"/>
            <p:cNvSpPr/>
            <p:nvPr/>
          </p:nvSpPr>
          <p:spPr>
            <a:xfrm>
              <a:off x="8897" y="4720"/>
              <a:ext cx="417" cy="18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3295899" y="3092420"/>
            <a:ext cx="6170295" cy="1052830"/>
            <a:chOff x="2176" y="4158"/>
            <a:chExt cx="9717" cy="1658"/>
          </a:xfrm>
        </p:grpSpPr>
        <p:grpSp>
          <p:nvGrpSpPr>
            <p:cNvPr id="9" name="组合 8"/>
            <p:cNvGrpSpPr/>
            <p:nvPr/>
          </p:nvGrpSpPr>
          <p:grpSpPr>
            <a:xfrm>
              <a:off x="2176" y="4158"/>
              <a:ext cx="9263" cy="1658"/>
              <a:chOff x="2176" y="4158"/>
              <a:chExt cx="9263" cy="165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457" name="Object 25"/>
                  <p:cNvSpPr txBox="1"/>
                  <p:nvPr/>
                </p:nvSpPr>
                <p:spPr bwMode="auto">
                  <a:xfrm>
                    <a:off x="2176" y="4158"/>
                    <a:ext cx="9263" cy="82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kumimoji="1" lang="en-US" altLang="zh-CN" sz="28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800" i="1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en-US" altLang="zh-CN" sz="2800" i="1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2800" i="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kumimoji="1" lang="en-US" altLang="zh-CN" sz="2800" i="1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𝜆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sup>
                          </m:sSup>
                          <m:d>
                            <m:dPr>
                              <m:begChr m:val="["/>
                              <m:endChr m:val="]"/>
                              <m:ctrl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i="1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                     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CN" sz="2800" i="1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                   </m:t>
                              </m:r>
                            </m:e>
                          </m:d>
                        </m:oMath>
                      </m:oMathPara>
                    </a14:m>
                    <a:endParaRPr kumimoji="1" lang="en-US" altLang="zh-CN" sz="2800" i="1" dirty="0">
                      <a:latin typeface="Cambria Math" panose="02040503050406030204" charset="0"/>
                      <a:ea typeface="黑体" panose="02010609060101010101" pitchFamily="49" charset="-122"/>
                      <a:cs typeface="Cambria Math" panose="02040503050406030204" charset="0"/>
                    </a:endParaRPr>
                  </a:p>
                </p:txBody>
              </p:sp>
            </mc:Choice>
            <mc:Fallback xmlns="">
              <p:sp>
                <p:nvSpPr>
                  <p:cNvPr id="18457" name="Object 2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176" y="4158"/>
                    <a:ext cx="9263" cy="82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" name="矩形 7"/>
              <p:cNvSpPr/>
              <p:nvPr/>
            </p:nvSpPr>
            <p:spPr>
              <a:xfrm>
                <a:off x="4726" y="5276"/>
                <a:ext cx="510" cy="54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800">
                  <a:latin typeface="字魂36号-正文宋楷" panose="00000500000000000000" pitchFamily="2" charset="-122"/>
                  <a:ea typeface="字魂36号-正文宋楷" panose="00000500000000000000" pitchFamily="2" charset="-122"/>
                </a:endParaRPr>
              </a:p>
            </p:txBody>
          </p:sp>
        </p:grpSp>
        <p:sp>
          <p:nvSpPr>
            <p:cNvPr id="10" name="矩形 9"/>
            <p:cNvSpPr/>
            <p:nvPr/>
          </p:nvSpPr>
          <p:spPr>
            <a:xfrm>
              <a:off x="11461" y="5446"/>
              <a:ext cx="432" cy="18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3145873" y="3759835"/>
            <a:ext cx="1535430" cy="508000"/>
            <a:chOff x="5035" y="5996"/>
            <a:chExt cx="2418" cy="8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85" name="Object 53"/>
                <p:cNvSpPr txBox="1"/>
                <p:nvPr/>
              </p:nvSpPr>
              <p:spPr bwMode="auto">
                <a:xfrm>
                  <a:off x="5273" y="5996"/>
                  <a:ext cx="2180" cy="8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𝑘</m:t>
                            </m:r>
                          </m:sup>
                        </m:sSup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8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𝜆</m:t>
                            </m:r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[</m:t>
                        </m:r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8485" name="Object 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273" y="5996"/>
                  <a:ext cx="2180" cy="800"/>
                </a:xfrm>
                <a:prstGeom prst="rect">
                  <a:avLst/>
                </a:prstGeom>
                <a:blipFill>
                  <a:blip r:embed="rId10"/>
                  <a:stretch>
                    <a:fillRect r="-6608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矩形 13"/>
            <p:cNvSpPr/>
            <p:nvPr/>
          </p:nvSpPr>
          <p:spPr>
            <a:xfrm>
              <a:off x="5035" y="6342"/>
              <a:ext cx="154" cy="18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4732020" y="3813175"/>
            <a:ext cx="4459605" cy="431800"/>
            <a:chOff x="7512" y="5960"/>
            <a:chExt cx="7023" cy="6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86" name="Object 54"/>
                <p:cNvSpPr txBox="1"/>
                <p:nvPr/>
              </p:nvSpPr>
              <p:spPr bwMode="auto">
                <a:xfrm>
                  <a:off x="7512" y="5960"/>
                  <a:ext cx="7023" cy="6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𝑅</m:t>
                            </m:r>
                          </m:e>
                          <m:sub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𝑚</m:t>
                            </m:r>
                          </m:sub>
                        </m:sSub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func>
                          <m:func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cos</m:t>
                            </m:r>
                          </m:fName>
                          <m:e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𝜔</m:t>
                            </m:r>
                          </m:e>
                        </m:func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kumimoji="1" lang="en-US" altLang="zh-CN" sz="2800" i="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i</m:t>
                        </m:r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 </m:t>
                        </m:r>
                        <m:func>
                          <m:func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8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sin</m:t>
                            </m:r>
                          </m:fName>
                          <m:e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𝜔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</m:func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8486" name="Object 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512" y="5960"/>
                  <a:ext cx="7023" cy="680"/>
                </a:xfrm>
                <a:prstGeom prst="rect">
                  <a:avLst/>
                </a:prstGeom>
                <a:blipFill>
                  <a:blip r:embed="rId11"/>
                  <a:stretch>
                    <a:fillRect b="-100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矩形 15"/>
            <p:cNvSpPr/>
            <p:nvPr/>
          </p:nvSpPr>
          <p:spPr>
            <a:xfrm>
              <a:off x="12187" y="6110"/>
              <a:ext cx="231" cy="12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5611495" y="4235414"/>
            <a:ext cx="5053965" cy="520700"/>
            <a:chOff x="8897" y="6703"/>
            <a:chExt cx="7959" cy="8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94" name="Object 62"/>
                <p:cNvSpPr txBox="1"/>
                <p:nvPr/>
              </p:nvSpPr>
              <p:spPr bwMode="auto">
                <a:xfrm>
                  <a:off x="9436" y="6703"/>
                  <a:ext cx="7420" cy="8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bar>
                          <m:barPr>
                            <m:pos m:val="top"/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bar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func>
                          <m:func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cos</m:t>
                            </m:r>
                          </m:fName>
                          <m:e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𝜔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</m:func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kumimoji="1" lang="en-US" altLang="zh-CN" sz="2800" i="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i</m:t>
                        </m:r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 </m:t>
                        </m:r>
                        <m:func>
                          <m:func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sin</m:t>
                            </m:r>
                          </m:fName>
                          <m:e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𝜔</m:t>
                            </m:r>
                          </m:e>
                        </m:func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)]</m:t>
                        </m:r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8494" name="Object 6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436" y="6703"/>
                  <a:ext cx="7420" cy="82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矩形 17"/>
            <p:cNvSpPr/>
            <p:nvPr/>
          </p:nvSpPr>
          <p:spPr>
            <a:xfrm>
              <a:off x="8897" y="7021"/>
              <a:ext cx="200" cy="2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4775835" y="4741545"/>
            <a:ext cx="1862455" cy="620395"/>
            <a:chOff x="7566" y="7617"/>
            <a:chExt cx="2933" cy="9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97" name="Object 65"/>
                <p:cNvSpPr txBox="1"/>
                <p:nvPr/>
              </p:nvSpPr>
              <p:spPr bwMode="auto">
                <a:xfrm>
                  <a:off x="7566" y="7617"/>
                  <a:ext cx="2933" cy="97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𝑅</m:t>
                            </m:r>
                          </m:e>
                          <m:sub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𝑚</m:t>
                            </m:r>
                          </m:sub>
                          <m:sup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(1)</m:t>
                            </m:r>
                          </m:sup>
                        </m:sSubSup>
                        <m:func>
                          <m:func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cos</m:t>
                            </m:r>
                          </m:fName>
                          <m:e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𝜔</m:t>
                            </m:r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</m:func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8497" name="Object 6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566" y="7617"/>
                  <a:ext cx="2933" cy="97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矩形 21"/>
            <p:cNvSpPr/>
            <p:nvPr/>
          </p:nvSpPr>
          <p:spPr>
            <a:xfrm>
              <a:off x="7954" y="7624"/>
              <a:ext cx="217" cy="1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6638290" y="4746625"/>
            <a:ext cx="2324735" cy="803910"/>
            <a:chOff x="10499" y="7625"/>
            <a:chExt cx="3661" cy="12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98" name="Object 66"/>
                <p:cNvSpPr txBox="1"/>
                <p:nvPr/>
              </p:nvSpPr>
              <p:spPr bwMode="auto">
                <a:xfrm>
                  <a:off x="10499" y="7625"/>
                  <a:ext cx="3661" cy="12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Sup>
                          <m:sSub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𝑅</m:t>
                            </m:r>
                          </m:e>
                          <m:sub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𝑚</m:t>
                            </m:r>
                          </m:sub>
                          <m:sup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(2)</m:t>
                            </m:r>
                          </m:sup>
                        </m:sSubSup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 </m:t>
                        </m:r>
                        <m:func>
                          <m:funcPr>
                            <m:ctrlPr>
                              <a:rPr kumimoji="1" lang="en-US" altLang="zh-CN" sz="28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sin</m:t>
                            </m:r>
                          </m:fName>
                          <m:e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𝜔</m:t>
                            </m:r>
                          </m:e>
                        </m:func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8498" name="Object 6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499" y="7625"/>
                  <a:ext cx="3661" cy="1266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矩形 23"/>
            <p:cNvSpPr/>
            <p:nvPr/>
          </p:nvSpPr>
          <p:spPr>
            <a:xfrm>
              <a:off x="12496" y="7747"/>
              <a:ext cx="185" cy="1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1374140" y="5409565"/>
            <a:ext cx="3098800" cy="877570"/>
            <a:chOff x="2224" y="8594"/>
            <a:chExt cx="4880" cy="138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99" name="Object 67"/>
                <p:cNvSpPr txBox="1"/>
                <p:nvPr/>
              </p:nvSpPr>
              <p:spPr bwMode="auto">
                <a:xfrm>
                  <a:off x="2656" y="8594"/>
                  <a:ext cx="4449" cy="138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其中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 </m:t>
                        </m:r>
                        <m:sSubSup>
                          <m:sSub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𝑅</m:t>
                            </m:r>
                          </m:e>
                          <m:sub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𝑚</m:t>
                            </m:r>
                          </m:sub>
                          <m:sup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(1)</m:t>
                            </m:r>
                          </m:sup>
                        </m:sSubSup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  <m:sSubSup>
                          <m:sSub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𝑅</m:t>
                            </m:r>
                          </m:e>
                          <m:sub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𝑚</m:t>
                            </m:r>
                          </m:sub>
                          <m:sup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(2)</m:t>
                            </m:r>
                          </m:sup>
                        </m:sSubSup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8499" name="Object 6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656" y="8594"/>
                  <a:ext cx="4449" cy="1382"/>
                </a:xfrm>
                <a:prstGeom prst="rect">
                  <a:avLst/>
                </a:prstGeom>
                <a:blipFill rotWithShape="1">
                  <a:blip r:embed="rId15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矩形 25"/>
            <p:cNvSpPr/>
            <p:nvPr/>
          </p:nvSpPr>
          <p:spPr>
            <a:xfrm>
              <a:off x="2224" y="8906"/>
              <a:ext cx="278" cy="2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8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/>
      <p:bldP spid="18455" grpId="0"/>
      <p:bldP spid="18467" grpId="0"/>
      <p:bldP spid="1850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687324" y="538800"/>
            <a:ext cx="10817352" cy="5799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552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328" name="Rectangle 16"/>
          <p:cNvSpPr>
            <a:spLocks noGrp="1" noChangeArrowheads="1"/>
          </p:cNvSpPr>
          <p:nvPr/>
        </p:nvSpPr>
        <p:spPr>
          <a:xfrm>
            <a:off x="1836270" y="1050890"/>
            <a:ext cx="168275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b="0" dirty="0">
                <a:solidFill>
                  <a:srgbClr val="04926A"/>
                </a:solidFill>
                <a:latin typeface="Cambria Math" panose="020405030504060302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lt"/>
              </a:rPr>
              <a:t>步骤4</a:t>
            </a:r>
            <a:r>
              <a:rPr kumimoji="1" lang="en-US" altLang="zh-CN" b="0" dirty="0">
                <a:solidFill>
                  <a:srgbClr val="04926A"/>
                </a:solidFill>
                <a:latin typeface="Cambria Math" panose="020405030504060302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lt"/>
              </a:rPr>
              <a:t>.</a:t>
            </a:r>
            <a:r>
              <a:rPr kumimoji="1" lang="zh-CN" altLang="en-US" b="0" dirty="0">
                <a:solidFill>
                  <a:srgbClr val="04926A"/>
                </a:solidFill>
                <a:latin typeface="Cambria Math" panose="020405030504060302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lt"/>
              </a:rPr>
              <a:t> </a:t>
            </a:r>
          </a:p>
        </p:txBody>
      </p:sp>
      <p:sp>
        <p:nvSpPr>
          <p:cNvPr id="13340" name="Text Box 28"/>
          <p:cNvSpPr txBox="1">
            <a:spLocks noChangeArrowheads="1"/>
          </p:cNvSpPr>
          <p:nvPr/>
        </p:nvSpPr>
        <p:spPr bwMode="auto">
          <a:xfrm>
            <a:off x="1843890" y="2618078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52" name="Text Box 40"/>
              <p:cNvSpPr txBox="1">
                <a:spLocks noChangeArrowheads="1"/>
              </p:cNvSpPr>
              <p:nvPr/>
            </p:nvSpPr>
            <p:spPr bwMode="auto">
              <a:xfrm>
                <a:off x="8094195" y="4685310"/>
                <a:ext cx="2209800" cy="5219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rPr>
                  <a:t>均为</a:t>
                </a:r>
                <a:r>
                  <a:rPr kumimoji="1" lang="zh-CN" altLang="en-US" sz="28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𝑚</m:t>
                    </m:r>
                  </m:oMath>
                </a14:m>
                <a:r>
                  <a:rPr kumimoji="1" lang="en-US" altLang="zh-CN" sz="2800" b="0" i="1" u="none" strike="noStrike" kern="1200" cap="none" spc="0" normalizeH="0" baseline="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  <a:sym typeface="+mn-lt"/>
                  </a:rPr>
                  <a:t>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rPr>
                  <a:t>次实</a:t>
                </a:r>
              </a:p>
            </p:txBody>
          </p:sp>
        </mc:Choice>
        <mc:Fallback xmlns="">
          <p:sp>
            <p:nvSpPr>
              <p:cNvPr id="13352" name="Text 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94195" y="4685310"/>
                <a:ext cx="2209800" cy="521970"/>
              </a:xfrm>
              <a:prstGeom prst="rect">
                <a:avLst/>
              </a:prstGeom>
              <a:blipFill>
                <a:blip r:embed="rId3"/>
                <a:stretch>
                  <a:fillRect l="-5801" t="-16471" r="-3591" b="-2941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53" name="Text Box 41"/>
          <p:cNvSpPr txBox="1">
            <a:spLocks noChangeArrowheads="1"/>
          </p:cNvSpPr>
          <p:nvPr/>
        </p:nvSpPr>
        <p:spPr bwMode="auto">
          <a:xfrm>
            <a:off x="1834365" y="5260553"/>
            <a:ext cx="152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多项式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56" name="Text Box 44"/>
              <p:cNvSpPr txBox="1">
                <a:spLocks noChangeArrowheads="1"/>
              </p:cNvSpPr>
              <p:nvPr/>
            </p:nvSpPr>
            <p:spPr bwMode="auto">
              <a:xfrm>
                <a:off x="3080553" y="4669445"/>
                <a:ext cx="2971800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rPr>
                  <a:t>本质上为实函数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endPara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13356" name="Text 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80553" y="4669445"/>
                <a:ext cx="2971800" cy="523220"/>
              </a:xfrm>
              <a:prstGeom prst="rect">
                <a:avLst/>
              </a:prstGeom>
              <a:blipFill>
                <a:blip r:embed="rId4"/>
                <a:stretch>
                  <a:fillRect l="-4098" t="-15116" b="-2907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28"/>
              <p:cNvSpPr txBox="1">
                <a:spLocks noChangeArrowheads="1"/>
              </p:cNvSpPr>
              <p:nvPr/>
            </p:nvSpPr>
            <p:spPr bwMode="auto">
              <a:xfrm>
                <a:off x="2875765" y="1035685"/>
                <a:ext cx="2809240" cy="5321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4926A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rPr>
                  <a:t>分析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2800" i="1" dirty="0">
                            <a:solidFill>
                              <a:srgbClr val="04926A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kumimoji="1" lang="en-US" altLang="zh-CN" sz="2800" i="1" dirty="0">
                            <a:solidFill>
                              <a:srgbClr val="04926A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</m:e>
                      <m:sup>
                        <m:r>
                          <a:rPr kumimoji="1" lang="en-US" altLang="zh-CN" sz="2800" i="1" dirty="0">
                            <a:solidFill>
                              <a:srgbClr val="04926A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∗</m:t>
                        </m:r>
                      </m:sup>
                    </m:sSup>
                    <m:r>
                      <a:rPr kumimoji="1" lang="zh-CN" altLang="en-US" sz="2800" noProof="0">
                        <a:ln>
                          <a:noFill/>
                        </a:ln>
                        <a:solidFill>
                          <a:srgbClr val="04926A"/>
                        </a:solidFill>
                        <a:effectLst/>
                        <a:uLnTx/>
                        <a:uFillTx/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  <a:sym typeface="+mn-lt"/>
                      </a:rPr>
                      <m:t>的特点</m:t>
                    </m:r>
                  </m:oMath>
                </a14:m>
                <a:endParaRPr kumimoji="1" lang="zh-CN" altLang="en-US" sz="2800" noProof="0" dirty="0">
                  <a:ln>
                    <a:noFill/>
                  </a:ln>
                  <a:solidFill>
                    <a:srgbClr val="04926A"/>
                  </a:solidFill>
                  <a:effectLst/>
                  <a:uLnTx/>
                  <a:uFillTx/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  <a:sym typeface="+mn-lt"/>
                </a:endParaRPr>
              </a:p>
            </p:txBody>
          </p:sp>
        </mc:Choice>
        <mc:Fallback xmlns="">
          <p:sp>
            <p:nvSpPr>
              <p:cNvPr id="3" name="Text 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75765" y="1035685"/>
                <a:ext cx="2809240" cy="532130"/>
              </a:xfrm>
              <a:prstGeom prst="rect">
                <a:avLst/>
              </a:prstGeom>
              <a:blipFill>
                <a:blip r:embed="rId5"/>
                <a:stretch>
                  <a:fillRect l="-4555" t="-16092" b="-2643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1512420" y="1582420"/>
            <a:ext cx="8790940" cy="609600"/>
            <a:chOff x="3228" y="2572"/>
            <a:chExt cx="13844" cy="9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33" name="Object 21"/>
                <p:cNvSpPr txBox="1"/>
                <p:nvPr/>
              </p:nvSpPr>
              <p:spPr bwMode="auto">
                <a:xfrm>
                  <a:off x="3790" y="2572"/>
                  <a:ext cx="13283" cy="9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∗</m:t>
                            </m:r>
                          </m:sup>
                        </m:sSup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bSup>
                          <m:sSub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∗</m:t>
                            </m:r>
                          </m:sup>
                        </m:sSubSup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bar>
                          <m:barPr>
                            <m:pos m:val="top"/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barPr>
                          <m:e>
                            <m:sSubSup>
                              <m:sSubSup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</m:bar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 =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𝑘</m:t>
                            </m:r>
                          </m:sup>
                        </m:sSup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8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𝜆</m:t>
                            </m:r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  <m:d>
                          <m:dPr>
                            <m:begChr m:val="["/>
                            <m:endChr m:val="]"/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 </m:t>
                            </m:r>
                            <m:sSubSup>
                              <m:sSubSup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(1)</m:t>
                                </m:r>
                              </m:sup>
                            </m:sSubSup>
                            <m:func>
                              <m:func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𝜔</m:t>
                                </m:r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</m:e>
                            </m:func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(2)</m:t>
                                </m:r>
                              </m:sup>
                            </m:sSubSup>
                            <m:func>
                              <m:func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𝜔</m:t>
                                </m:r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</m:e>
                            </m:func>
                          </m:e>
                        </m:d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3333" name="Object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90" y="2572"/>
                  <a:ext cx="13283" cy="960"/>
                </a:xfrm>
                <a:prstGeom prst="rect">
                  <a:avLst/>
                </a:prstGeom>
                <a:blipFill>
                  <a:blip r:embed="rId6"/>
                  <a:stretch>
                    <a:fillRect b="-120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矩形 1"/>
            <p:cNvSpPr/>
            <p:nvPr/>
          </p:nvSpPr>
          <p:spPr>
            <a:xfrm>
              <a:off x="3228" y="3113"/>
              <a:ext cx="278" cy="27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2599540" y="2589530"/>
            <a:ext cx="2339975" cy="533400"/>
            <a:chOff x="4940" y="4158"/>
            <a:chExt cx="3685" cy="840"/>
          </a:xfrm>
        </p:grpSpPr>
        <p:grpSp>
          <p:nvGrpSpPr>
            <p:cNvPr id="13359" name="Group 47"/>
            <p:cNvGrpSpPr/>
            <p:nvPr/>
          </p:nvGrpSpPr>
          <p:grpSpPr bwMode="auto">
            <a:xfrm>
              <a:off x="4940" y="4158"/>
              <a:ext cx="3685" cy="840"/>
              <a:chOff x="1484" y="1720"/>
              <a:chExt cx="1474" cy="33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341" name="Object 29"/>
                  <p:cNvSpPr txBox="1"/>
                  <p:nvPr/>
                </p:nvSpPr>
                <p:spPr bwMode="auto">
                  <a:xfrm>
                    <a:off x="1484" y="1720"/>
                    <a:ext cx="1474" cy="336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800" i="1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en-US" altLang="zh-CN" sz="2800" i="1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kumimoji="1" lang="en-US" altLang="zh-CN" sz="28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sz="2800" i="1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en-US" altLang="zh-CN" sz="2800" i="1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kumimoji="1" lang="en-US" altLang="zh-CN" sz="2800" i="1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kumimoji="1" lang="en-US" altLang="zh-CN" sz="28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barPr>
                            <m:e>
                              <m:sSubSup>
                                <m:sSubSupPr>
                                  <m:ctrl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zh-CN" sz="2800" i="1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zh-CN" sz="2800" i="1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kumimoji="1" lang="en-US" altLang="zh-CN" sz="2800" i="1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∗</m:t>
                                  </m:r>
                                </m:sup>
                              </m:sSubSup>
                            </m:e>
                          </m:bar>
                        </m:oMath>
                      </m:oMathPara>
                    </a14:m>
                    <a:endParaRPr kumimoji="1" lang="en-US" altLang="zh-CN" sz="2800" i="1" dirty="0">
                      <a:latin typeface="Cambria Math" panose="02040503050406030204" charset="0"/>
                      <a:ea typeface="黑体" panose="02010609060101010101" pitchFamily="49" charset="-122"/>
                      <a:cs typeface="Cambria Math" panose="02040503050406030204" charset="0"/>
                    </a:endParaRPr>
                  </a:p>
                </p:txBody>
              </p:sp>
            </mc:Choice>
            <mc:Fallback xmlns="">
              <p:sp>
                <p:nvSpPr>
                  <p:cNvPr id="13341" name="Object 2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484" y="1720"/>
                    <a:ext cx="1474" cy="336"/>
                  </a:xfrm>
                  <a:prstGeom prst="rect">
                    <a:avLst/>
                  </a:prstGeom>
                  <a:blipFill rotWithShape="1">
                    <a:blip r:embed="rId7"/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3354" name="Line 42"/>
              <p:cNvSpPr>
                <a:spLocks noChangeShapeType="1"/>
              </p:cNvSpPr>
              <p:nvPr/>
            </p:nvSpPr>
            <p:spPr bwMode="auto">
              <a:xfrm>
                <a:off x="1510" y="1819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endParaRPr>
              </a:p>
            </p:txBody>
          </p:sp>
          <p:sp>
            <p:nvSpPr>
              <p:cNvPr id="13355" name="Line 43"/>
              <p:cNvSpPr>
                <a:spLocks noChangeShapeType="1"/>
              </p:cNvSpPr>
              <p:nvPr/>
            </p:nvSpPr>
            <p:spPr bwMode="auto">
              <a:xfrm>
                <a:off x="2050" y="1757"/>
                <a:ext cx="7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5" name="矩形 4"/>
            <p:cNvSpPr/>
            <p:nvPr/>
          </p:nvSpPr>
          <p:spPr>
            <a:xfrm>
              <a:off x="8294" y="4442"/>
              <a:ext cx="119" cy="1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641065" y="2587134"/>
            <a:ext cx="2235200" cy="533400"/>
            <a:chOff x="8537" y="4198"/>
            <a:chExt cx="3520" cy="840"/>
          </a:xfrm>
        </p:grpSpPr>
        <p:grpSp>
          <p:nvGrpSpPr>
            <p:cNvPr id="13361" name="Group 49"/>
            <p:cNvGrpSpPr/>
            <p:nvPr/>
          </p:nvGrpSpPr>
          <p:grpSpPr bwMode="auto">
            <a:xfrm>
              <a:off x="8537" y="4198"/>
              <a:ext cx="3520" cy="840"/>
              <a:chOff x="2768" y="1712"/>
              <a:chExt cx="1408" cy="33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342" name="Object 30"/>
                  <p:cNvSpPr txBox="1"/>
                  <p:nvPr/>
                </p:nvSpPr>
                <p:spPr bwMode="auto">
                  <a:xfrm>
                    <a:off x="2768" y="1712"/>
                    <a:ext cx="1408" cy="336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l">
                      <a:buClrTx/>
                      <a:buSzTx/>
                      <a:buFontTx/>
                    </a:pPr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kumimoji="1" lang="en-US" altLang="zh-CN" sz="28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=</m:t>
                          </m:r>
                          <m:bar>
                            <m:barPr>
                              <m:pos m:val="top"/>
                              <m:ctrl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barPr>
                            <m:e>
                              <m:sSubSup>
                                <m:sSubSupPr>
                                  <m:ctrl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zh-CN" sz="2800" i="1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zh-CN" sz="2800" i="1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kumimoji="1" lang="en-US" altLang="zh-CN" sz="2800" i="1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∗</m:t>
                                  </m:r>
                                </m:sup>
                              </m:sSubSup>
                            </m:e>
                          </m:bar>
                          <m:r>
                            <a:rPr kumimoji="1" lang="en-US" altLang="zh-CN" sz="28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barPr>
                            <m:e>
                              <m:sSubSup>
                                <m:sSubSupPr>
                                  <m:ctrl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zh-CN" sz="2800" i="1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zh-CN" sz="2800" i="1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kumimoji="1" lang="en-US" altLang="zh-CN" sz="2800" i="1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∗</m:t>
                                  </m:r>
                                </m:sup>
                              </m:sSubSup>
                            </m:e>
                          </m:bar>
                        </m:oMath>
                      </m:oMathPara>
                    </a14:m>
                    <a:endParaRPr kumimoji="1" lang="en-US" altLang="zh-CN" sz="2800" i="1" dirty="0">
                      <a:latin typeface="Cambria Math" panose="02040503050406030204" charset="0"/>
                      <a:ea typeface="黑体" panose="02010609060101010101" pitchFamily="49" charset="-122"/>
                      <a:cs typeface="Cambria Math" panose="02040503050406030204" charset="0"/>
                    </a:endParaRPr>
                  </a:p>
                </p:txBody>
              </p:sp>
            </mc:Choice>
            <mc:Fallback xmlns="">
              <p:sp>
                <p:nvSpPr>
                  <p:cNvPr id="13342" name="Object 3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768" y="1712"/>
                    <a:ext cx="1408" cy="336"/>
                  </a:xfrm>
                  <a:prstGeom prst="rect">
                    <a:avLst/>
                  </a:prstGeom>
                  <a:blipFill rotWithShape="1">
                    <a:blip r:embed="rId8"/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3360" name="Line 48"/>
              <p:cNvSpPr>
                <a:spLocks noChangeShapeType="1"/>
              </p:cNvSpPr>
              <p:nvPr/>
            </p:nvSpPr>
            <p:spPr bwMode="auto">
              <a:xfrm>
                <a:off x="3537" y="1754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7" name="矩形 6"/>
            <p:cNvSpPr/>
            <p:nvPr/>
          </p:nvSpPr>
          <p:spPr>
            <a:xfrm>
              <a:off x="11213" y="4627"/>
              <a:ext cx="217" cy="2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2610970" y="3326130"/>
            <a:ext cx="2265680" cy="558800"/>
            <a:chOff x="4958" y="5318"/>
            <a:chExt cx="3568" cy="8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43" name="Object 31"/>
                <p:cNvSpPr txBox="1"/>
                <p:nvPr/>
              </p:nvSpPr>
              <p:spPr bwMode="auto">
                <a:xfrm>
                  <a:off x="5638" y="5318"/>
                  <a:ext cx="2888" cy="8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bar>
                          <m:barPr>
                            <m:pos m:val="top"/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barPr>
                          <m:e>
                            <m:sSubSup>
                              <m:sSubSup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</m:bar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Sup>
                          <m:sSub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∗</m:t>
                            </m:r>
                          </m:sup>
                        </m:sSubSup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3343" name="Object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638" y="5318"/>
                  <a:ext cx="2888" cy="880"/>
                </a:xfrm>
                <a:prstGeom prst="rect">
                  <a:avLst/>
                </a:prstGeom>
                <a:blipFill rotWithShape="1">
                  <a:blip r:embed="rId9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矩形 8"/>
            <p:cNvSpPr/>
            <p:nvPr/>
          </p:nvSpPr>
          <p:spPr>
            <a:xfrm>
              <a:off x="4958" y="5646"/>
              <a:ext cx="231" cy="21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2807185" y="4091305"/>
            <a:ext cx="1589405" cy="406400"/>
            <a:chOff x="5267" y="6523"/>
            <a:chExt cx="2503" cy="6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45" name="Object 33"/>
                <p:cNvSpPr txBox="1"/>
                <p:nvPr/>
              </p:nvSpPr>
              <p:spPr bwMode="auto">
                <a:xfrm>
                  <a:off x="5638" y="6523"/>
                  <a:ext cx="2133" cy="6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3345" name="Object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638" y="6523"/>
                  <a:ext cx="2133" cy="640"/>
                </a:xfrm>
                <a:prstGeom prst="rect">
                  <a:avLst/>
                </a:prstGeom>
                <a:blipFill>
                  <a:blip r:embed="rId10"/>
                  <a:stretch>
                    <a:fillRect b="-1492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矩形 10"/>
            <p:cNvSpPr/>
            <p:nvPr/>
          </p:nvSpPr>
          <p:spPr>
            <a:xfrm>
              <a:off x="5267" y="6666"/>
              <a:ext cx="200" cy="3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1365227" y="4677340"/>
            <a:ext cx="2499105" cy="608313"/>
            <a:chOff x="3228" y="7397"/>
            <a:chExt cx="2721" cy="67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47" name="Object 35"/>
                <p:cNvSpPr txBox="1"/>
                <p:nvPr/>
              </p:nvSpPr>
              <p:spPr bwMode="auto">
                <a:xfrm>
                  <a:off x="3750" y="7397"/>
                  <a:ext cx="2199" cy="67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975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90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所以</m:t>
                        </m:r>
                        <m:r>
                          <a:rPr lang="zh-CN" altLang="en-US" sz="29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 </m:t>
                        </m:r>
                        <m:sSup>
                          <m:sSupPr>
                            <m:ctrlPr>
                              <a:rPr kumimoji="1" lang="en-US" altLang="zh-CN" sz="29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9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9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kumimoji="1" lang="en-US" altLang="zh-CN" sz="29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3347" name="Object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50" y="7397"/>
                  <a:ext cx="2199" cy="673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 12"/>
            <p:cNvSpPr/>
            <p:nvPr/>
          </p:nvSpPr>
          <p:spPr>
            <a:xfrm>
              <a:off x="3228" y="7670"/>
              <a:ext cx="262" cy="2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5804705" y="4603721"/>
            <a:ext cx="2481580" cy="930275"/>
            <a:chOff x="9929" y="7163"/>
            <a:chExt cx="3908" cy="14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50" name="Object 38"/>
                <p:cNvSpPr txBox="1"/>
                <p:nvPr/>
              </p:nvSpPr>
              <p:spPr bwMode="auto">
                <a:xfrm>
                  <a:off x="9929" y="7163"/>
                  <a:ext cx="3908" cy="136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9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311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因此</m:t>
                        </m:r>
                        <m:r>
                          <a:rPr lang="zh-CN" altLang="en-US" sz="311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 </m:t>
                        </m:r>
                        <m:sSubSup>
                          <m:sSubSupPr>
                            <m:ctrlPr>
                              <a:rPr kumimoji="1" lang="en-US" altLang="zh-CN" sz="311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311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𝑅</m:t>
                            </m:r>
                          </m:e>
                          <m:sub>
                            <m:r>
                              <a:rPr kumimoji="1" lang="en-US" altLang="zh-CN" sz="311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𝑚</m:t>
                            </m:r>
                          </m:sub>
                          <m:sup>
                            <m:r>
                              <a:rPr kumimoji="1" lang="en-US" altLang="zh-CN" sz="311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(1)</m:t>
                            </m:r>
                          </m:sup>
                        </m:sSubSup>
                        <m:r>
                          <a:rPr kumimoji="1" lang="en-US" altLang="zh-CN" sz="311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  <m:sSubSup>
                          <m:sSubSupPr>
                            <m:ctrlPr>
                              <a:rPr kumimoji="1" lang="en-US" altLang="zh-CN" sz="311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311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𝑅</m:t>
                            </m:r>
                          </m:e>
                          <m:sub>
                            <m:r>
                              <a:rPr kumimoji="1" lang="en-US" altLang="zh-CN" sz="311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𝑚</m:t>
                            </m:r>
                          </m:sub>
                          <m:sup>
                            <m:r>
                              <a:rPr kumimoji="1" lang="en-US" altLang="zh-CN" sz="311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(2)</m:t>
                            </m:r>
                          </m:sup>
                        </m:sSubSup>
                      </m:oMath>
                    </m:oMathPara>
                  </a14:m>
                  <a:endParaRPr kumimoji="1" lang="en-US" altLang="zh-CN" sz="311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3350" name="Object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929" y="7163"/>
                  <a:ext cx="3908" cy="1368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矩形 14"/>
            <p:cNvSpPr/>
            <p:nvPr/>
          </p:nvSpPr>
          <p:spPr>
            <a:xfrm>
              <a:off x="10796" y="8303"/>
              <a:ext cx="139" cy="3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3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3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28" grpId="0"/>
      <p:bldP spid="13340" grpId="0"/>
      <p:bldP spid="13352" grpId="0"/>
      <p:bldP spid="13353" grpId="0"/>
      <p:bldP spid="13356" grpId="0"/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1776937" y="1532417"/>
            <a:ext cx="2590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algn="l" defTabSz="914400" rtl="0" eaLnBrk="1" latinLnBrk="0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对非齐次方程</a:t>
            </a:r>
          </a:p>
        </p:txBody>
      </p:sp>
      <p:sp>
        <p:nvSpPr>
          <p:cNvPr id="20496" name="Text Box 16"/>
          <p:cNvSpPr txBox="1">
            <a:spLocks noChangeArrowheads="1"/>
          </p:cNvSpPr>
          <p:nvPr/>
        </p:nvSpPr>
        <p:spPr bwMode="auto">
          <a:xfrm>
            <a:off x="1776937" y="2922046"/>
            <a:ext cx="2057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可设特解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:</a:t>
            </a:r>
          </a:p>
        </p:txBody>
      </p:sp>
      <p:sp>
        <p:nvSpPr>
          <p:cNvPr id="20497" name="Text Box 17"/>
          <p:cNvSpPr txBox="1">
            <a:spLocks noChangeArrowheads="1"/>
          </p:cNvSpPr>
          <p:nvPr/>
        </p:nvSpPr>
        <p:spPr bwMode="auto">
          <a:xfrm>
            <a:off x="2565400" y="4491245"/>
            <a:ext cx="1295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其中 </a:t>
            </a:r>
          </a:p>
        </p:txBody>
      </p:sp>
      <p:sp>
        <p:nvSpPr>
          <p:cNvPr id="20503" name="Text Box 23"/>
          <p:cNvSpPr txBox="1">
            <a:spLocks noChangeArrowheads="1"/>
          </p:cNvSpPr>
          <p:nvPr/>
        </p:nvSpPr>
        <p:spPr bwMode="auto">
          <a:xfrm>
            <a:off x="1776937" y="5298010"/>
            <a:ext cx="6172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上述结论也可推广到高阶方程的情形.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144"/>
              <p:cNvSpPr txBox="1">
                <a:spLocks noChangeArrowheads="1"/>
              </p:cNvSpPr>
              <p:nvPr/>
            </p:nvSpPr>
            <p:spPr bwMode="auto">
              <a:xfrm>
                <a:off x="1776937" y="934725"/>
                <a:ext cx="57150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sz="28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综上所述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kumimoji="1" lang="zh-CN" altLang="en-US" sz="28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 有以下结论</a:t>
                </a:r>
                <a:r>
                  <a:rPr kumimoji="1" lang="en-US" altLang="zh-CN" sz="28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rPr>
                  <a:t>:</a:t>
                </a:r>
                <a:endParaRPr kumimoji="1" lang="zh-CN" altLang="en-US" sz="28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15" name="Text Box 1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76937" y="934725"/>
                <a:ext cx="5715000" cy="523220"/>
              </a:xfrm>
              <a:prstGeom prst="rect">
                <a:avLst/>
              </a:prstGeom>
              <a:blipFill>
                <a:blip r:embed="rId2"/>
                <a:stretch>
                  <a:fillRect l="-2132" t="-13953" b="-290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2329815" y="2165350"/>
            <a:ext cx="2889885" cy="405130"/>
            <a:chOff x="3969" y="3430"/>
            <a:chExt cx="4551" cy="63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488" name="Object 8"/>
                <p:cNvSpPr txBox="1"/>
                <p:nvPr/>
              </p:nvSpPr>
              <p:spPr bwMode="auto">
                <a:xfrm>
                  <a:off x="4340" y="3430"/>
                  <a:ext cx="4181" cy="6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″</m:t>
                            </m:r>
                          </m:sup>
                        </m:sSup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𝑝</m:t>
                        </m:r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​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𝑞</m:t>
                        </m:r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​</m:t>
                        </m:r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20488" name="Object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40" y="3430"/>
                  <a:ext cx="4181" cy="638"/>
                </a:xfrm>
                <a:prstGeom prst="rect">
                  <a:avLst/>
                </a:prstGeom>
                <a:blipFill rotWithShape="1">
                  <a:blip r:embed="rId3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矩形 1"/>
            <p:cNvSpPr/>
            <p:nvPr/>
          </p:nvSpPr>
          <p:spPr>
            <a:xfrm>
              <a:off x="3969" y="3731"/>
              <a:ext cx="294" cy="2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4809490" y="2137499"/>
            <a:ext cx="6062980" cy="495300"/>
            <a:chOff x="7815" y="3461"/>
            <a:chExt cx="9548" cy="7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484" name="Object 4"/>
                <p:cNvSpPr txBox="1"/>
                <p:nvPr/>
              </p:nvSpPr>
              <p:spPr bwMode="auto">
                <a:xfrm>
                  <a:off x="7815" y="3461"/>
                  <a:ext cx="9548" cy="7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tabLst>
                      <a:tab pos="1339850" algn="l"/>
                    </a:tabLst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8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𝜆</m:t>
                            </m:r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  <m:d>
                          <m:dPr>
                            <m:begChr m:val="["/>
                            <m:endChr m:val="]"/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𝑙</m:t>
                                </m:r>
                              </m:sub>
                            </m:sSub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)</m:t>
                            </m:r>
                            <m:func>
                              <m:func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𝜔</m:t>
                                </m:r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</m:e>
                            </m:func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)</m:t>
                            </m:r>
                            <m:func>
                              <m:func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𝜔</m:t>
                                </m:r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</m:e>
                            </m:func>
                          </m:e>
                        </m:d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20484" name="Object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815" y="3461"/>
                  <a:ext cx="9548" cy="78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矩形 4"/>
            <p:cNvSpPr/>
            <p:nvPr/>
          </p:nvSpPr>
          <p:spPr>
            <a:xfrm>
              <a:off x="16125" y="3824"/>
              <a:ext cx="510" cy="2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2089951" y="3433114"/>
            <a:ext cx="7186295" cy="798195"/>
            <a:chOff x="3645" y="5573"/>
            <a:chExt cx="11317" cy="12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493" name="Object 13"/>
                <p:cNvSpPr txBox="1"/>
                <p:nvPr/>
              </p:nvSpPr>
              <p:spPr bwMode="auto">
                <a:xfrm>
                  <a:off x="4398" y="5573"/>
                  <a:ext cx="10564" cy="125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∗</m:t>
                            </m:r>
                          </m:sup>
                        </m:sSup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𝑘</m:t>
                            </m:r>
                          </m:sup>
                        </m:sSup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𝜆</m:t>
                            </m:r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  <m:d>
                          <m:dPr>
                            <m:begChr m:val="["/>
                            <m:endChr m:val="]"/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(1)</m:t>
                                </m:r>
                              </m:sup>
                            </m:sSubSup>
                            <m:func>
                              <m:func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𝜔</m:t>
                                </m:r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</m:e>
                            </m:func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(2)</m:t>
                                </m:r>
                              </m:sup>
                            </m:sSubSup>
                            <m:func>
                              <m:func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𝜔</m:t>
                                </m:r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</m:e>
                            </m:func>
                          </m:e>
                        </m:d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20493" name="Object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98" y="5573"/>
                  <a:ext cx="10564" cy="125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矩形 6"/>
            <p:cNvSpPr/>
            <p:nvPr/>
          </p:nvSpPr>
          <p:spPr>
            <a:xfrm>
              <a:off x="3645" y="5832"/>
              <a:ext cx="324" cy="5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3440747" y="4476750"/>
            <a:ext cx="2737485" cy="711200"/>
            <a:chOff x="5867" y="7030"/>
            <a:chExt cx="4311" cy="11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02" name="Object 22"/>
                <p:cNvSpPr txBox="1"/>
                <p:nvPr/>
              </p:nvSpPr>
              <p:spPr bwMode="auto">
                <a:xfrm>
                  <a:off x="5867" y="7030"/>
                  <a:ext cx="4311" cy="11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𝑚</m:t>
                        </m:r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func>
                          <m:func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𝑛</m:t>
                                </m:r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, </m:t>
                                </m:r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𝑙</m:t>
                                </m:r>
                              </m:e>
                            </m:d>
                          </m:e>
                        </m:func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20502" name="Object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867" y="7030"/>
                  <a:ext cx="4311" cy="11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矩形 8"/>
            <p:cNvSpPr/>
            <p:nvPr/>
          </p:nvSpPr>
          <p:spPr>
            <a:xfrm>
              <a:off x="6363" y="7871"/>
              <a:ext cx="402" cy="12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5983924" y="4220782"/>
            <a:ext cx="3932555" cy="1138555"/>
            <a:chOff x="9236" y="6839"/>
            <a:chExt cx="6193" cy="179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对象 2"/>
                <p:cNvSpPr txBox="1"/>
                <p:nvPr/>
              </p:nvSpPr>
              <p:spPr>
                <a:xfrm>
                  <a:off x="9236" y="6839"/>
                  <a:ext cx="6193" cy="1793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𝑘</m:t>
                        </m:r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"/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kumimoji="1" lang="en-US" altLang="zh-CN" sz="2800" i="1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0,</m:t>
                                  </m:r>
                                </m:e>
                                <m:e>
                                  <m:r>
                                    <a:rPr kumimoji="1" lang="en-US" altLang="zh-CN" sz="2800" i="1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𝜆</m:t>
                                  </m:r>
                                  <m:r>
                                    <a:rPr kumimoji="1" lang="en-US" altLang="zh-CN" sz="2800" i="1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±</m:t>
                                  </m:r>
                                  <m:r>
                                    <m:rPr>
                                      <m:sty m:val="p"/>
                                    </m:rPr>
                                    <a:rPr kumimoji="1" lang="en-US" altLang="zh-CN" sz="2800" i="1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i</m:t>
                                  </m:r>
                                  <m:r>
                                    <a:rPr kumimoji="1" lang="en-US" altLang="zh-CN" sz="2800" i="1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𝜔</m:t>
                                  </m:r>
                                  <m:r>
                                    <a:rPr kumimoji="1" lang="zh-CN" altLang="en-US" sz="2800" i="1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不是根</m:t>
                                  </m:r>
                                  <m:r>
                                    <a:rPr kumimoji="1" lang="en-US" altLang="zh-CN" sz="2800" i="1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kumimoji="1" lang="en-US" altLang="zh-CN" sz="2800" i="1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1,</m:t>
                                  </m:r>
                                </m:e>
                                <m:e>
                                  <m:r>
                                    <a:rPr kumimoji="1" lang="en-US" altLang="zh-CN" sz="2800" i="1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𝜆</m:t>
                                  </m:r>
                                  <m:r>
                                    <a:rPr kumimoji="1" lang="en-US" altLang="zh-CN" sz="2800" i="1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±</m:t>
                                  </m:r>
                                  <m:r>
                                    <m:rPr>
                                      <m:sty m:val="p"/>
                                    </m:rPr>
                                    <a:rPr kumimoji="1" lang="en-US" altLang="zh-CN" sz="2800" i="1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i</m:t>
                                  </m:r>
                                  <m:r>
                                    <a:rPr kumimoji="1" lang="en-US" altLang="zh-CN" sz="2800" i="1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𝜔</m:t>
                                  </m:r>
                                  <m:r>
                                    <a:rPr kumimoji="1" lang="zh-CN" altLang="en-US" sz="2800" i="1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是单根</m:t>
                                  </m:r>
                                  <m:r>
                                    <a:rPr kumimoji="1" lang="zh-CN" altLang="en-US" sz="2800" i="1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.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kumimoji="1" lang="zh-CN" altLang="en-US" sz="28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3" name="对象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36" y="6839"/>
                  <a:ext cx="6193" cy="179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矩形 10"/>
            <p:cNvSpPr/>
            <p:nvPr/>
          </p:nvSpPr>
          <p:spPr>
            <a:xfrm>
              <a:off x="14102" y="7407"/>
              <a:ext cx="216" cy="29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0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0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0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7" grpId="0"/>
      <p:bldP spid="20496" grpId="0"/>
      <p:bldP spid="20497" grpId="0"/>
      <p:bldP spid="20503" grpId="0"/>
      <p:bldP spid="1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687324" y="536895"/>
            <a:ext cx="10817352" cy="5799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2257331" y="3349534"/>
            <a:ext cx="8862695" cy="393700"/>
            <a:chOff x="3212" y="5252"/>
            <a:chExt cx="13957" cy="6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26" name="Object 22"/>
                <p:cNvSpPr txBox="1"/>
                <p:nvPr/>
              </p:nvSpPr>
              <p:spPr bwMode="auto">
                <a:xfrm>
                  <a:off x="3697" y="5252"/>
                  <a:ext cx="13472" cy="6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(−3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𝑎𝑥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−3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𝑏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+4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𝑐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cos</m:t>
                            </m:r>
                          </m:fName>
                          <m:e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e>
                        </m:func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−(3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𝑐𝑥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+3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𝑑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+4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𝑎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sin</m:t>
                            </m:r>
                          </m:fName>
                          <m:e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e>
                        </m:func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cos</m:t>
                            </m:r>
                          </m:fName>
                          <m:e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e>
                        </m:func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21526" name="Object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697" y="5252"/>
                  <a:ext cx="13472" cy="620"/>
                </a:xfrm>
                <a:prstGeom prst="rect">
                  <a:avLst/>
                </a:prstGeom>
                <a:blipFill>
                  <a:blip r:embed="rId3"/>
                  <a:stretch>
                    <a:fillRect l="-499" b="-29231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矩形 13"/>
            <p:cNvSpPr/>
            <p:nvPr/>
          </p:nvSpPr>
          <p:spPr>
            <a:xfrm>
              <a:off x="3212" y="5368"/>
              <a:ext cx="278" cy="29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552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506" name="Rectangle 2"/>
          <p:cNvSpPr>
            <a:spLocks noGrp="1" noChangeArrowheads="1"/>
          </p:cNvSpPr>
          <p:nvPr/>
        </p:nvSpPr>
        <p:spPr>
          <a:xfrm>
            <a:off x="1669956" y="830478"/>
            <a:ext cx="9144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例3 </a:t>
            </a:r>
            <a:r>
              <a:rPr lang="en-US" altLang="zh-CN" sz="2800" dirty="0">
                <a:latin typeface="+mn-lt"/>
                <a:ea typeface="+mn-ea"/>
                <a:cs typeface="+mn-ea"/>
                <a:sym typeface="+mn-lt"/>
              </a:rPr>
              <a:t> </a:t>
            </a:r>
            <a:endParaRPr lang="en-US" altLang="zh-CN" sz="280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07" name="Object 3"/>
              <p:cNvSpPr txBox="1"/>
              <p:nvPr/>
            </p:nvSpPr>
            <p:spPr bwMode="auto">
              <a:xfrm>
                <a:off x="2565306" y="817677"/>
                <a:ext cx="4275455" cy="63246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75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kumimoji="1" lang="zh-CN" altLang="en-US" sz="311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ea"/>
                      </a:rPr>
                      <m:t>求方程</m:t>
                    </m:r>
                    <m:r>
                      <a:rPr lang="zh-CN" altLang="en-US" sz="3110" i="1">
                        <a:solidFill>
                          <a:srgbClr val="000000"/>
                        </a:solidFill>
                        <a:latin typeface="Cambria Math" panose="02040503050406030204" charset="0"/>
                      </a:rPr>
                      <m:t> </m:t>
                    </m:r>
                    <m:sSup>
                      <m:sSupPr>
                        <m:ctrlPr>
                          <a:rPr kumimoji="1" lang="en-US" altLang="zh-CN" sz="311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kumimoji="1" lang="en-US" altLang="zh-CN" sz="311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</m:e>
                      <m:sup>
                        <m:r>
                          <a:rPr kumimoji="1" lang="en-US" altLang="zh-CN" sz="311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kumimoji="1" lang="en-US" altLang="zh-CN" sz="311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rPr>
                  <a:t> +𝑦=𝑥</a:t>
                </a:r>
                <a:r>
                  <a:rPr kumimoji="1" lang="en-US" altLang="zh-CN" sz="3110" dirty="0">
                    <a:latin typeface="Cambria Math" panose="02040503050406030204" charset="0"/>
                    <a:ea typeface="黑体" panose="02010609060101010101" pitchFamily="49" charset="-122"/>
                  </a:rPr>
                  <a:t> </a:t>
                </a:r>
                <a:r>
                  <a:rPr kumimoji="1" lang="en-US" altLang="zh-CN" sz="311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rPr>
                  <a:t>cos</a:t>
                </a:r>
                <a:r>
                  <a:rPr kumimoji="1" lang="en-US" altLang="zh-CN" sz="3110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rPr>
                  <a:t>⁡</a:t>
                </a:r>
                <a:r>
                  <a:rPr kumimoji="1" lang="en-US" altLang="zh-CN" sz="311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rPr>
                  <a:t>2𝑥</a:t>
                </a:r>
                <a:endParaRPr kumimoji="1" lang="en-US" altLang="zh-CN" sz="311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1507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65306" y="817677"/>
                <a:ext cx="4275455" cy="632460"/>
              </a:xfrm>
              <a:prstGeom prst="rect">
                <a:avLst/>
              </a:prstGeom>
              <a:blipFill>
                <a:blip r:embed="rId4"/>
                <a:stretch>
                  <a:fillRect t="-12500" b="-1634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6395849" y="833644"/>
            <a:ext cx="3657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的一个特解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.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21509" name="Text Box 5"/>
          <p:cNvSpPr txBox="1">
            <a:spLocks noChangeArrowheads="1"/>
          </p:cNvSpPr>
          <p:nvPr/>
        </p:nvSpPr>
        <p:spPr bwMode="auto">
          <a:xfrm>
            <a:off x="1669956" y="1374280"/>
            <a:ext cx="1676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i="0" u="none" strike="noStrike" kern="1200" cap="none" spc="0" normalizeH="0" baseline="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解 </a:t>
            </a:r>
            <a:r>
              <a:rPr lang="en-US" altLang="zh-CN" sz="2800" b="1" i="0" u="none" strike="noStrike" kern="1200" cap="none" spc="0" normalizeH="0" baseline="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   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本题 </a:t>
            </a:r>
          </a:p>
        </p:txBody>
      </p:sp>
      <p:sp>
        <p:nvSpPr>
          <p:cNvPr id="21510" name="Text Box 6"/>
          <p:cNvSpPr txBox="1">
            <a:spLocks noChangeArrowheads="1"/>
          </p:cNvSpPr>
          <p:nvPr/>
        </p:nvSpPr>
        <p:spPr bwMode="auto">
          <a:xfrm>
            <a:off x="7871366" y="1422243"/>
            <a:ext cx="19050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特征方程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21515" name="Text Box 11"/>
          <p:cNvSpPr txBox="1">
            <a:spLocks noChangeArrowheads="1"/>
          </p:cNvSpPr>
          <p:nvPr/>
        </p:nvSpPr>
        <p:spPr bwMode="auto">
          <a:xfrm>
            <a:off x="6765831" y="1955074"/>
            <a:ext cx="20574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故设特解为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12" name="Text Box 8"/>
              <p:cNvSpPr txBox="1">
                <a:spLocks noChangeArrowheads="1"/>
              </p:cNvSpPr>
              <p:nvPr/>
            </p:nvSpPr>
            <p:spPr bwMode="auto">
              <a:xfrm>
                <a:off x="4303384" y="1955074"/>
                <a:ext cx="2561795" cy="4298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rPr>
                  <a:t>不是特征方程的根</a:t>
                </a:r>
                <a14:m>
                  <m:oMath xmlns:m="http://schemas.openxmlformats.org/officeDocument/2006/math">
                    <m:r>
                      <a:rPr kumimoji="1" lang="en-US" altLang="zh-CN" sz="2200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endParaRPr kumimoji="1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21512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03384" y="1955074"/>
                <a:ext cx="2561795" cy="429895"/>
              </a:xfrm>
              <a:prstGeom prst="rect">
                <a:avLst/>
              </a:prstGeom>
              <a:blipFill>
                <a:blip r:embed="rId5"/>
                <a:stretch>
                  <a:fillRect l="-3095" t="-14286" b="-2428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525" name="Text Box 21"/>
          <p:cNvSpPr txBox="1">
            <a:spLocks noChangeArrowheads="1"/>
          </p:cNvSpPr>
          <p:nvPr/>
        </p:nvSpPr>
        <p:spPr bwMode="auto">
          <a:xfrm>
            <a:off x="2565306" y="2865956"/>
            <a:ext cx="21336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代入方程得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17" name="Text Box 13"/>
              <p:cNvSpPr txBox="1">
                <a:spLocks noChangeArrowheads="1"/>
              </p:cNvSpPr>
              <p:nvPr/>
            </p:nvSpPr>
            <p:spPr bwMode="auto">
              <a:xfrm>
                <a:off x="2565306" y="4411597"/>
                <a:ext cx="2514600" cy="4298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rPr>
                  <a:t>比较系数</a:t>
                </a:r>
                <a14:m>
                  <m:oMath xmlns:m="http://schemas.openxmlformats.org/officeDocument/2006/math">
                    <m:r>
                      <a:rPr kumimoji="1" lang="en-US" altLang="zh-CN" sz="2200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rPr>
                  <a:t> 得</a:t>
                </a:r>
              </a:p>
            </p:txBody>
          </p:sp>
        </mc:Choice>
        <mc:Fallback xmlns="">
          <p:sp>
            <p:nvSpPr>
              <p:cNvPr id="21517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65306" y="4411597"/>
                <a:ext cx="2514600" cy="429895"/>
              </a:xfrm>
              <a:prstGeom prst="rect">
                <a:avLst/>
              </a:prstGeom>
              <a:blipFill>
                <a:blip r:embed="rId6"/>
                <a:stretch>
                  <a:fillRect l="-3155" t="-14286" b="-2428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522" name="Text Box 18"/>
          <p:cNvSpPr txBox="1">
            <a:spLocks noChangeArrowheads="1"/>
          </p:cNvSpPr>
          <p:nvPr/>
        </p:nvSpPr>
        <p:spPr bwMode="auto">
          <a:xfrm>
            <a:off x="2565306" y="5544729"/>
            <a:ext cx="296291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于是求得一个特解</a:t>
            </a:r>
          </a:p>
        </p:txBody>
      </p:sp>
      <p:sp>
        <p:nvSpPr>
          <p:cNvPr id="21564" name="Line 60"/>
          <p:cNvSpPr>
            <a:spLocks noChangeShapeType="1"/>
          </p:cNvSpPr>
          <p:nvPr/>
        </p:nvSpPr>
        <p:spPr bwMode="auto">
          <a:xfrm>
            <a:off x="2676749" y="3751625"/>
            <a:ext cx="7620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21565" name="Line 61"/>
          <p:cNvSpPr>
            <a:spLocks noChangeShapeType="1"/>
          </p:cNvSpPr>
          <p:nvPr/>
        </p:nvSpPr>
        <p:spPr bwMode="auto">
          <a:xfrm>
            <a:off x="9148047" y="3732580"/>
            <a:ext cx="3810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21566" name="Line 62"/>
          <p:cNvSpPr>
            <a:spLocks noChangeShapeType="1"/>
          </p:cNvSpPr>
          <p:nvPr/>
        </p:nvSpPr>
        <p:spPr bwMode="auto">
          <a:xfrm>
            <a:off x="3510821" y="3746384"/>
            <a:ext cx="1295400" cy="0"/>
          </a:xfrm>
          <a:prstGeom prst="line">
            <a:avLst/>
          </a:prstGeom>
          <a:noFill/>
          <a:ln w="28575">
            <a:solidFill>
              <a:srgbClr val="1D9D7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21567" name="Line 63"/>
          <p:cNvSpPr>
            <a:spLocks noChangeShapeType="1"/>
          </p:cNvSpPr>
          <p:nvPr/>
        </p:nvSpPr>
        <p:spPr bwMode="auto">
          <a:xfrm flipV="1">
            <a:off x="6179091" y="3732775"/>
            <a:ext cx="1651000" cy="13071"/>
          </a:xfrm>
          <a:prstGeom prst="line">
            <a:avLst/>
          </a:prstGeom>
          <a:noFill/>
          <a:ln w="28575">
            <a:solidFill>
              <a:srgbClr val="1D9D7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21570" name="AutoShape 66"/>
          <p:cNvSpPr/>
          <p:nvPr/>
        </p:nvSpPr>
        <p:spPr bwMode="auto">
          <a:xfrm>
            <a:off x="4518567" y="3901959"/>
            <a:ext cx="193675" cy="1447800"/>
          </a:xfrm>
          <a:prstGeom prst="leftBrace">
            <a:avLst>
              <a:gd name="adj1" fmla="val 62295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31421" y="1434262"/>
            <a:ext cx="1927860" cy="530225"/>
            <a:chOff x="4746" y="2108"/>
            <a:chExt cx="3036" cy="8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11" name="Object 7"/>
                <p:cNvSpPr txBox="1"/>
                <p:nvPr/>
              </p:nvSpPr>
              <p:spPr bwMode="auto">
                <a:xfrm>
                  <a:off x="4746" y="2108"/>
                  <a:ext cx="3036" cy="6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𝜆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=0, 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𝜔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=2,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21511" name="Object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746" y="2108"/>
                  <a:ext cx="3036" cy="620"/>
                </a:xfrm>
                <a:prstGeom prst="rect">
                  <a:avLst/>
                </a:prstGeom>
                <a:blipFill>
                  <a:blip r:embed="rId7"/>
                  <a:stretch>
                    <a:fillRect l="-315" b="-6154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矩形 1"/>
            <p:cNvSpPr/>
            <p:nvPr/>
          </p:nvSpPr>
          <p:spPr>
            <a:xfrm>
              <a:off x="6394" y="2727"/>
              <a:ext cx="386" cy="2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5093241" y="1355854"/>
            <a:ext cx="1473200" cy="510540"/>
            <a:chOff x="7678" y="2032"/>
            <a:chExt cx="2320" cy="80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32" name="Object 28"/>
                <p:cNvSpPr txBox="1"/>
                <p:nvPr/>
              </p:nvSpPr>
              <p:spPr bwMode="auto">
                <a:xfrm>
                  <a:off x="7678" y="2156"/>
                  <a:ext cx="2320" cy="6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𝑃</m:t>
                            </m:r>
                          </m:e>
                          <m:sub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𝑙</m:t>
                            </m:r>
                          </m:sub>
                        </m:sSub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)=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21532" name="Object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678" y="2156"/>
                  <a:ext cx="2320" cy="680"/>
                </a:xfrm>
                <a:prstGeom prst="rect">
                  <a:avLst/>
                </a:prstGeom>
                <a:blipFill rotWithShape="1">
                  <a:blip r:embed="rId8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矩形 3"/>
            <p:cNvSpPr/>
            <p:nvPr/>
          </p:nvSpPr>
          <p:spPr>
            <a:xfrm>
              <a:off x="9468" y="2032"/>
              <a:ext cx="154" cy="2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6464206" y="1336169"/>
            <a:ext cx="1511300" cy="530225"/>
            <a:chOff x="9837" y="2001"/>
            <a:chExt cx="2380" cy="8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33" name="Object 29"/>
                <p:cNvSpPr txBox="1"/>
                <p:nvPr/>
              </p:nvSpPr>
              <p:spPr bwMode="auto">
                <a:xfrm>
                  <a:off x="9837" y="2156"/>
                  <a:ext cx="2380" cy="6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𝑄</m:t>
                            </m:r>
                          </m:e>
                          <m:sub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𝑛</m:t>
                            </m:r>
                          </m:sub>
                        </m:sSub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)=0,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21533" name="Object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837" y="2156"/>
                  <a:ext cx="2380" cy="680"/>
                </a:xfrm>
                <a:prstGeom prst="rect">
                  <a:avLst/>
                </a:prstGeom>
                <a:blipFill rotWithShape="1">
                  <a:blip r:embed="rId9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矩形 5"/>
            <p:cNvSpPr/>
            <p:nvPr/>
          </p:nvSpPr>
          <p:spPr>
            <a:xfrm>
              <a:off x="11322" y="2001"/>
              <a:ext cx="185" cy="17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9100726" y="1432726"/>
            <a:ext cx="1689735" cy="431800"/>
            <a:chOff x="13989" y="2068"/>
            <a:chExt cx="2661" cy="6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30" name="Object 26"/>
                <p:cNvSpPr txBox="1"/>
                <p:nvPr/>
              </p:nvSpPr>
              <p:spPr bwMode="auto">
                <a:xfrm>
                  <a:off x="13989" y="2068"/>
                  <a:ext cx="2604" cy="6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𝑟</m:t>
                            </m:r>
                          </m:e>
                          <m:sup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+1=0,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21530" name="Object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989" y="2068"/>
                  <a:ext cx="2604" cy="680"/>
                </a:xfrm>
                <a:prstGeom prst="rect">
                  <a:avLst/>
                </a:prstGeom>
                <a:blipFill rotWithShape="1">
                  <a:blip r:embed="rId10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矩形 7"/>
            <p:cNvSpPr/>
            <p:nvPr/>
          </p:nvSpPr>
          <p:spPr>
            <a:xfrm>
              <a:off x="16326" y="2295"/>
              <a:ext cx="325" cy="29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2306226" y="1965869"/>
            <a:ext cx="2853055" cy="390525"/>
            <a:chOff x="3289" y="3073"/>
            <a:chExt cx="4493" cy="6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24" name="Object 20"/>
                <p:cNvSpPr txBox="1"/>
                <p:nvPr/>
              </p:nvSpPr>
              <p:spPr bwMode="auto">
                <a:xfrm>
                  <a:off x="4215" y="3073"/>
                  <a:ext cx="3567" cy="61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𝜆</m:t>
                        </m:r>
                        <m:r>
                          <a:rPr kumimoji="1" lang="en-US" altLang="zh-CN" sz="2200" b="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kumimoji="1" lang="en-US" altLang="zh-CN" sz="2200" i="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i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𝜔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=2</m:t>
                        </m:r>
                        <m:r>
                          <m:rPr>
                            <m:sty m:val="p"/>
                          </m:rPr>
                          <a:rPr kumimoji="1" lang="en-US" altLang="zh-CN" sz="2200" i="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i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21524" name="Object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15" y="3073"/>
                  <a:ext cx="3567" cy="615"/>
                </a:xfrm>
                <a:prstGeom prst="rect">
                  <a:avLst/>
                </a:prstGeom>
                <a:blipFill>
                  <a:blip r:embed="rId11"/>
                  <a:stretch>
                    <a:fillRect l="-539" b="-6154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矩形 9"/>
            <p:cNvSpPr/>
            <p:nvPr/>
          </p:nvSpPr>
          <p:spPr>
            <a:xfrm>
              <a:off x="3289" y="3252"/>
              <a:ext cx="201" cy="37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2718341" y="2378911"/>
            <a:ext cx="5875655" cy="421640"/>
            <a:chOff x="4077" y="3711"/>
            <a:chExt cx="9253" cy="6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16" name="Object 12"/>
                <p:cNvSpPr txBox="1"/>
                <p:nvPr/>
              </p:nvSpPr>
              <p:spPr bwMode="auto">
                <a:xfrm>
                  <a:off x="4602" y="3711"/>
                  <a:ext cx="8728" cy="66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∗</m:t>
                            </m:r>
                          </m:sup>
                        </m:sSup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=(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𝑎𝑥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𝑏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cos</m:t>
                            </m:r>
                          </m:fName>
                          <m:e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e>
                        </m:func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+(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𝑐𝑥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𝑑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sin</m:t>
                            </m:r>
                          </m:fName>
                          <m:e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e>
                        </m:func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21516" name="Object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02" y="3711"/>
                  <a:ext cx="8728" cy="664"/>
                </a:xfrm>
                <a:prstGeom prst="rect">
                  <a:avLst/>
                </a:prstGeom>
                <a:blipFill>
                  <a:blip r:embed="rId12"/>
                  <a:stretch>
                    <a:fillRect l="-220" b="-21739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矩形 11"/>
            <p:cNvSpPr/>
            <p:nvPr/>
          </p:nvSpPr>
          <p:spPr>
            <a:xfrm>
              <a:off x="4077" y="3963"/>
              <a:ext cx="309" cy="2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4762406" y="3787684"/>
            <a:ext cx="2270760" cy="393700"/>
            <a:chOff x="7313" y="6002"/>
            <a:chExt cx="3576" cy="6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19" name="Object 15"/>
                <p:cNvSpPr txBox="1"/>
                <p:nvPr/>
              </p:nvSpPr>
              <p:spPr bwMode="auto">
                <a:xfrm>
                  <a:off x="7313" y="6002"/>
                  <a:ext cx="2600" cy="6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−3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𝑎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=1,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21519" name="Object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313" y="6002"/>
                  <a:ext cx="2600" cy="620"/>
                </a:xfrm>
                <a:prstGeom prst="rect">
                  <a:avLst/>
                </a:prstGeom>
                <a:blipFill rotWithShape="1">
                  <a:blip r:embed="rId13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矩形 15"/>
            <p:cNvSpPr/>
            <p:nvPr/>
          </p:nvSpPr>
          <p:spPr>
            <a:xfrm>
              <a:off x="10719" y="6249"/>
              <a:ext cx="170" cy="2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4762406" y="4091849"/>
            <a:ext cx="2074545" cy="542290"/>
            <a:chOff x="7313" y="6481"/>
            <a:chExt cx="3267" cy="8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20" name="Object 16"/>
                <p:cNvSpPr txBox="1"/>
                <p:nvPr/>
              </p:nvSpPr>
              <p:spPr bwMode="auto">
                <a:xfrm>
                  <a:off x="7313" y="6715"/>
                  <a:ext cx="3267" cy="6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−3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𝑏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+4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𝑐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=0,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21520" name="Object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313" y="6715"/>
                  <a:ext cx="3267" cy="620"/>
                </a:xfrm>
                <a:prstGeom prst="rect">
                  <a:avLst/>
                </a:prstGeom>
                <a:blipFill>
                  <a:blip r:embed="rId14"/>
                  <a:stretch>
                    <a:fillRect b="-781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矩形 17"/>
            <p:cNvSpPr/>
            <p:nvPr/>
          </p:nvSpPr>
          <p:spPr>
            <a:xfrm>
              <a:off x="9839" y="6481"/>
              <a:ext cx="231" cy="1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4762406" y="4616359"/>
            <a:ext cx="1893570" cy="393700"/>
            <a:chOff x="7313" y="7307"/>
            <a:chExt cx="2982" cy="6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38" name="Object 34"/>
                <p:cNvSpPr txBox="1"/>
                <p:nvPr/>
              </p:nvSpPr>
              <p:spPr bwMode="auto">
                <a:xfrm>
                  <a:off x="7313" y="7307"/>
                  <a:ext cx="2983" cy="6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−3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𝑐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=0,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21538" name="Object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313" y="7307"/>
                  <a:ext cx="2983" cy="620"/>
                </a:xfrm>
                <a:prstGeom prst="rect">
                  <a:avLst/>
                </a:prstGeom>
                <a:blipFill rotWithShape="1">
                  <a:blip r:embed="rId15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矩形 19"/>
            <p:cNvSpPr/>
            <p:nvPr/>
          </p:nvSpPr>
          <p:spPr>
            <a:xfrm>
              <a:off x="9298" y="7516"/>
              <a:ext cx="216" cy="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4762406" y="4991009"/>
            <a:ext cx="2074545" cy="393700"/>
            <a:chOff x="7313" y="7897"/>
            <a:chExt cx="3267" cy="6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39" name="Object 35"/>
                <p:cNvSpPr txBox="1"/>
                <p:nvPr/>
              </p:nvSpPr>
              <p:spPr bwMode="auto">
                <a:xfrm>
                  <a:off x="7313" y="7897"/>
                  <a:ext cx="3100" cy="6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−3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𝑑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−4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𝑎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=0,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21539" name="Object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313" y="7897"/>
                  <a:ext cx="3100" cy="620"/>
                </a:xfrm>
                <a:prstGeom prst="rect">
                  <a:avLst/>
                </a:prstGeom>
                <a:blipFill>
                  <a:blip r:embed="rId16"/>
                  <a:stretch>
                    <a:fillRect b="-781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矩形 21"/>
            <p:cNvSpPr/>
            <p:nvPr/>
          </p:nvSpPr>
          <p:spPr>
            <a:xfrm>
              <a:off x="10364" y="8041"/>
              <a:ext cx="216" cy="18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6600427" y="4072276"/>
            <a:ext cx="3810000" cy="788670"/>
            <a:chOff x="10771" y="6638"/>
            <a:chExt cx="6000" cy="124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21" name="Object 17"/>
                <p:cNvSpPr txBox="1"/>
                <p:nvPr/>
              </p:nvSpPr>
              <p:spPr bwMode="auto">
                <a:xfrm>
                  <a:off x="10771" y="6638"/>
                  <a:ext cx="6000" cy="124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∴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𝑎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−1</m:t>
                            </m:r>
                          </m:num>
                          <m:den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3</m:t>
                            </m:r>
                          </m:den>
                        </m:f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𝑏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=0,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𝑐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=0,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𝑑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4</m:t>
                            </m:r>
                          </m:num>
                          <m:den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9</m:t>
                            </m:r>
                          </m:den>
                        </m:f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21521" name="Object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771" y="6638"/>
                  <a:ext cx="6000" cy="124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矩形 23"/>
            <p:cNvSpPr/>
            <p:nvPr/>
          </p:nvSpPr>
          <p:spPr>
            <a:xfrm>
              <a:off x="14380" y="7562"/>
              <a:ext cx="355" cy="2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4924331" y="5389154"/>
            <a:ext cx="3919220" cy="596900"/>
            <a:chOff x="7412" y="8464"/>
            <a:chExt cx="6172" cy="9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23" name="Object 19"/>
                <p:cNvSpPr txBox="1"/>
                <p:nvPr/>
              </p:nvSpPr>
              <p:spPr bwMode="auto">
                <a:xfrm>
                  <a:off x="7412" y="8464"/>
                  <a:ext cx="6172" cy="9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∗</m:t>
                            </m:r>
                          </m:sup>
                        </m:sSup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−1</m:t>
                            </m:r>
                          </m:num>
                          <m:den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3</m:t>
                            </m:r>
                          </m:den>
                        </m:f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cos</m:t>
                            </m:r>
                          </m:fName>
                          <m:e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e>
                        </m:func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4</m:t>
                            </m:r>
                          </m:num>
                          <m:den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9</m:t>
                            </m:r>
                          </m:den>
                        </m:f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sin</m:t>
                            </m:r>
                          </m:fName>
                          <m:e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e>
                        </m:func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21523" name="Object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412" y="8464"/>
                  <a:ext cx="6172" cy="940"/>
                </a:xfrm>
                <a:prstGeom prst="rect">
                  <a:avLst/>
                </a:prstGeom>
                <a:blipFill>
                  <a:blip r:embed="rId18"/>
                  <a:stretch>
                    <a:fillRect b="-1326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矩形 25"/>
            <p:cNvSpPr/>
            <p:nvPr/>
          </p:nvSpPr>
          <p:spPr>
            <a:xfrm>
              <a:off x="13052" y="8937"/>
              <a:ext cx="278" cy="37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1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1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1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1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1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1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2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/>
      <p:bldP spid="21507" grpId="0"/>
      <p:bldP spid="21508" grpId="0"/>
      <p:bldP spid="21509" grpId="0"/>
      <p:bldP spid="21510" grpId="0"/>
      <p:bldP spid="21515" grpId="0"/>
      <p:bldP spid="21512" grpId="0"/>
      <p:bldP spid="21525" grpId="0"/>
      <p:bldP spid="21517" grpId="0"/>
      <p:bldP spid="21522" grpId="0"/>
      <p:bldP spid="2157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687324" y="536895"/>
            <a:ext cx="10817352" cy="5799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552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/>
        </p:nvSpPr>
        <p:spPr>
          <a:xfrm>
            <a:off x="2082800" y="934640"/>
            <a:ext cx="9144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例4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 </a:t>
            </a:r>
            <a:endParaRPr lang="en-US" altLang="zh-CN" sz="280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6958965" y="945067"/>
            <a:ext cx="220726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89225" algn="l"/>
              </a:tabLst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的一个特解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24285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.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082800" y="1557734"/>
            <a:ext cx="1676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i="0" u="none" strike="noStrike" kern="1200" cap="none" spc="0" normalizeH="0" baseline="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解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24285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   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本题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 </a:t>
            </a:r>
          </a:p>
        </p:txBody>
      </p:sp>
      <p:sp>
        <p:nvSpPr>
          <p:cNvPr id="7" name="Text Box 11"/>
          <p:cNvSpPr txBox="1">
            <a:spLocks noChangeArrowheads="1"/>
          </p:cNvSpPr>
          <p:nvPr/>
        </p:nvSpPr>
        <p:spPr bwMode="auto">
          <a:xfrm>
            <a:off x="8583930" y="2220573"/>
            <a:ext cx="20574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故设特解为</a:t>
            </a:r>
          </a:p>
        </p:txBody>
      </p:sp>
      <p:sp>
        <p:nvSpPr>
          <p:cNvPr id="10" name="Text Box 21"/>
          <p:cNvSpPr txBox="1">
            <a:spLocks noChangeArrowheads="1"/>
          </p:cNvSpPr>
          <p:nvPr/>
        </p:nvSpPr>
        <p:spPr bwMode="auto">
          <a:xfrm>
            <a:off x="2996565" y="3347442"/>
            <a:ext cx="2786429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代入方程得</a:t>
            </a: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2996565" y="4677195"/>
            <a:ext cx="25146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比较系数, 得</a:t>
            </a:r>
          </a:p>
        </p:txBody>
      </p:sp>
      <p:sp>
        <p:nvSpPr>
          <p:cNvPr id="18" name="Text Box 18"/>
          <p:cNvSpPr txBox="1">
            <a:spLocks noChangeArrowheads="1"/>
          </p:cNvSpPr>
          <p:nvPr/>
        </p:nvSpPr>
        <p:spPr bwMode="auto">
          <a:xfrm>
            <a:off x="2996565" y="5443257"/>
            <a:ext cx="28575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于是求得一个特解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3001596" y="789297"/>
            <a:ext cx="4591050" cy="815340"/>
            <a:chOff x="4119" y="1121"/>
            <a:chExt cx="7230" cy="128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Object 3"/>
                <p:cNvSpPr txBox="1"/>
                <p:nvPr/>
              </p:nvSpPr>
              <p:spPr bwMode="auto">
                <a:xfrm>
                  <a:off x="4119" y="1381"/>
                  <a:ext cx="7230" cy="102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975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求方程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 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″</m:t>
                            </m:r>
                          </m:sup>
                        </m:sSup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</m:t>
                        </m:r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  <m:func>
                          <m:func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cos</m:t>
                            </m:r>
                          </m:fName>
                          <m:e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e>
                        </m:func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3" name="Object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19" y="1381"/>
                  <a:ext cx="7230" cy="102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矩形 19"/>
            <p:cNvSpPr/>
            <p:nvPr/>
          </p:nvSpPr>
          <p:spPr>
            <a:xfrm>
              <a:off x="5452" y="1121"/>
              <a:ext cx="602" cy="41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3642995" y="1620520"/>
            <a:ext cx="2406650" cy="476250"/>
            <a:chOff x="5137" y="2512"/>
            <a:chExt cx="3790" cy="75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bject 7"/>
                <p:cNvSpPr txBox="1"/>
                <p:nvPr/>
              </p:nvSpPr>
              <p:spPr bwMode="auto">
                <a:xfrm>
                  <a:off x="5137" y="2512"/>
                  <a:ext cx="3790" cy="6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𝜆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=1, 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𝜔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=2,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6" name="Object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137" y="2512"/>
                  <a:ext cx="3790" cy="620"/>
                </a:xfrm>
                <a:prstGeom prst="rect">
                  <a:avLst/>
                </a:prstGeom>
                <a:blipFill rotWithShape="1">
                  <a:blip r:embed="rId4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矩形 21"/>
            <p:cNvSpPr/>
            <p:nvPr/>
          </p:nvSpPr>
          <p:spPr>
            <a:xfrm>
              <a:off x="6441" y="3144"/>
              <a:ext cx="370" cy="1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5454650" y="1619914"/>
            <a:ext cx="2155190" cy="431800"/>
            <a:chOff x="8076" y="2548"/>
            <a:chExt cx="3394" cy="6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Object 28"/>
                <p:cNvSpPr txBox="1"/>
                <p:nvPr/>
              </p:nvSpPr>
              <p:spPr bwMode="auto">
                <a:xfrm>
                  <a:off x="8076" y="2548"/>
                  <a:ext cx="3395" cy="6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𝑃</m:t>
                            </m:r>
                          </m:e>
                          <m:sub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𝑙</m:t>
                            </m:r>
                          </m:sub>
                        </m:sSub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)=1,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3" name="Object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076" y="2548"/>
                  <a:ext cx="3395" cy="680"/>
                </a:xfrm>
                <a:prstGeom prst="rect">
                  <a:avLst/>
                </a:prstGeom>
                <a:blipFill rotWithShape="1">
                  <a:blip r:embed="rId5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矩形 23"/>
            <p:cNvSpPr/>
            <p:nvPr/>
          </p:nvSpPr>
          <p:spPr>
            <a:xfrm>
              <a:off x="10209" y="2743"/>
              <a:ext cx="263" cy="1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6784530" y="1614407"/>
            <a:ext cx="1511300" cy="431800"/>
            <a:chOff x="10672" y="2479"/>
            <a:chExt cx="2380" cy="6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Object 29"/>
                <p:cNvSpPr txBox="1"/>
                <p:nvPr/>
              </p:nvSpPr>
              <p:spPr bwMode="auto">
                <a:xfrm>
                  <a:off x="10672" y="2479"/>
                  <a:ext cx="2380" cy="6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𝑄</m:t>
                            </m:r>
                          </m:e>
                          <m:sub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𝑛</m:t>
                            </m:r>
                          </m:sub>
                        </m:sSub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)=0,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4" name="Object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672" y="2479"/>
                  <a:ext cx="2380" cy="680"/>
                </a:xfrm>
                <a:prstGeom prst="rect">
                  <a:avLst/>
                </a:prstGeom>
                <a:blipFill rotWithShape="1">
                  <a:blip r:embed="rId6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矩形 25"/>
            <p:cNvSpPr/>
            <p:nvPr/>
          </p:nvSpPr>
          <p:spPr>
            <a:xfrm>
              <a:off x="12804" y="2604"/>
              <a:ext cx="232" cy="1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2715260" y="2227291"/>
            <a:ext cx="3067685" cy="389890"/>
            <a:chOff x="3676" y="3550"/>
            <a:chExt cx="4831" cy="6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Object 20"/>
                <p:cNvSpPr txBox="1"/>
                <p:nvPr/>
              </p:nvSpPr>
              <p:spPr bwMode="auto">
                <a:xfrm>
                  <a:off x="4119" y="3550"/>
                  <a:ext cx="4388" cy="61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𝜆</m:t>
                        </m:r>
                        <m:r>
                          <a:rPr kumimoji="1" lang="en-US" altLang="zh-CN" sz="2200" b="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kumimoji="1" lang="en-US" altLang="zh-CN" sz="2200" i="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i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𝜔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=1+2</m:t>
                        </m:r>
                        <m:r>
                          <m:rPr>
                            <m:sty m:val="p"/>
                          </m:rPr>
                          <a:rPr kumimoji="1" lang="en-US" altLang="zh-CN" sz="2200" i="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i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9" name="Object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19" y="3550"/>
                  <a:ext cx="4388" cy="615"/>
                </a:xfrm>
                <a:prstGeom prst="rect">
                  <a:avLst/>
                </a:prstGeom>
                <a:blipFill>
                  <a:blip r:embed="rId7"/>
                  <a:stretch>
                    <a:fillRect l="-438" b="-781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矩形 27"/>
            <p:cNvSpPr/>
            <p:nvPr/>
          </p:nvSpPr>
          <p:spPr>
            <a:xfrm>
              <a:off x="3676" y="3685"/>
              <a:ext cx="293" cy="27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4911725" y="2120265"/>
            <a:ext cx="4254500" cy="567055"/>
            <a:chOff x="7566" y="3314"/>
            <a:chExt cx="6700" cy="89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Object 26"/>
                <p:cNvSpPr txBox="1"/>
                <p:nvPr/>
              </p:nvSpPr>
              <p:spPr bwMode="auto">
                <a:xfrm>
                  <a:off x="7566" y="3487"/>
                  <a:ext cx="6700" cy="7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不是特征方程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𝑟</m:t>
                            </m:r>
                          </m:e>
                          <m:sup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−1=0</m:t>
                        </m:r>
                        <m:r>
                          <a:rPr kumimoji="1" lang="zh-CN" altLang="en-US" sz="22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的根</m:t>
                        </m:r>
                        <m:r>
                          <a:rPr kumimoji="1" lang="zh-CN" altLang="en-US" sz="22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,</m:t>
                        </m:r>
                      </m:oMath>
                    </m:oMathPara>
                  </a14:m>
                  <a:endParaRPr kumimoji="1" lang="zh-CN" altLang="en-US" sz="22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12" name="Object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566" y="3487"/>
                  <a:ext cx="6700" cy="720"/>
                </a:xfrm>
                <a:prstGeom prst="rect">
                  <a:avLst/>
                </a:prstGeom>
                <a:blipFill rotWithShape="1">
                  <a:blip r:embed="rId8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矩形 29"/>
            <p:cNvSpPr/>
            <p:nvPr/>
          </p:nvSpPr>
          <p:spPr>
            <a:xfrm>
              <a:off x="10487" y="3314"/>
              <a:ext cx="325" cy="17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3627120" y="2818130"/>
            <a:ext cx="4208780" cy="457200"/>
            <a:chOff x="5112" y="4398"/>
            <a:chExt cx="6628" cy="7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Object 12"/>
                <p:cNvSpPr txBox="1"/>
                <p:nvPr/>
              </p:nvSpPr>
              <p:spPr bwMode="auto">
                <a:xfrm>
                  <a:off x="5505" y="4398"/>
                  <a:ext cx="6235" cy="7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∗</m:t>
                            </m:r>
                          </m:sup>
                        </m:sSup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𝑎</m:t>
                        </m:r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cos</m:t>
                            </m:r>
                          </m:fName>
                          <m:e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e>
                        </m:func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𝑏</m:t>
                        </m:r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sin</m:t>
                            </m:r>
                          </m:fName>
                          <m:e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e>
                        </m:func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).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8" name="Object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505" y="4398"/>
                  <a:ext cx="6235" cy="720"/>
                </a:xfrm>
                <a:prstGeom prst="rect">
                  <a:avLst/>
                </a:prstGeom>
                <a:blipFill>
                  <a:blip r:embed="rId9"/>
                  <a:stretch>
                    <a:fillRect l="-308" b="-120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矩形 31"/>
            <p:cNvSpPr/>
            <p:nvPr/>
          </p:nvSpPr>
          <p:spPr>
            <a:xfrm>
              <a:off x="5112" y="4658"/>
              <a:ext cx="263" cy="2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3676015" y="3827780"/>
            <a:ext cx="6877050" cy="457200"/>
            <a:chOff x="5189" y="5988"/>
            <a:chExt cx="10830" cy="7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Object 22"/>
                <p:cNvSpPr txBox="1"/>
                <p:nvPr/>
              </p:nvSpPr>
              <p:spPr bwMode="auto">
                <a:xfrm>
                  <a:off x="5505" y="5988"/>
                  <a:ext cx="10515" cy="7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4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[(−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𝑎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𝑏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cos</m:t>
                            </m:r>
                          </m:fName>
                          <m:e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e>
                        </m:func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−(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𝑎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𝑏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sin</m:t>
                            </m:r>
                          </m:fName>
                          <m:e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e>
                        </m:func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]=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cos</m:t>
                            </m:r>
                          </m:fName>
                          <m:e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e>
                        </m:func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1" name="Object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505" y="5988"/>
                  <a:ext cx="10515" cy="720"/>
                </a:xfrm>
                <a:prstGeom prst="rect">
                  <a:avLst/>
                </a:prstGeom>
                <a:blipFill rotWithShape="1">
                  <a:blip r:embed="rId10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矩形 33"/>
            <p:cNvSpPr/>
            <p:nvPr/>
          </p:nvSpPr>
          <p:spPr>
            <a:xfrm>
              <a:off x="5189" y="6249"/>
              <a:ext cx="119" cy="24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4864100" y="4434205"/>
            <a:ext cx="2095500" cy="1016000"/>
            <a:chOff x="7060" y="6943"/>
            <a:chExt cx="3300" cy="16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对象 1"/>
                <p:cNvSpPr txBox="1"/>
                <p:nvPr/>
              </p:nvSpPr>
              <p:spPr>
                <a:xfrm>
                  <a:off x="7060" y="6943"/>
                  <a:ext cx="3300" cy="160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"/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eqArrPr>
                              <m:e>
                                <m: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&amp; 4(−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𝑎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𝑏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)=1,</m:t>
                                </m:r>
                              </m:e>
                              <m:e>
                                <m: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&amp;4(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𝑎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𝑏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)=0,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9" name="对象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0" y="6943"/>
                  <a:ext cx="3300" cy="1600"/>
                </a:xfrm>
                <a:prstGeom prst="rect">
                  <a:avLst/>
                </a:prstGeom>
                <a:blipFill rotWithShape="1">
                  <a:blip r:embed="rId1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矩形 35"/>
            <p:cNvSpPr/>
            <p:nvPr/>
          </p:nvSpPr>
          <p:spPr>
            <a:xfrm>
              <a:off x="10240" y="7516"/>
              <a:ext cx="119" cy="1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7030720" y="4473043"/>
            <a:ext cx="2748915" cy="742950"/>
            <a:chOff x="10823" y="7200"/>
            <a:chExt cx="4329" cy="117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Object 17"/>
                <p:cNvSpPr txBox="1"/>
                <p:nvPr/>
              </p:nvSpPr>
              <p:spPr bwMode="auto">
                <a:xfrm>
                  <a:off x="10823" y="7200"/>
                  <a:ext cx="4258" cy="117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∴  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𝑎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−1</m:t>
                            </m:r>
                          </m:num>
                          <m:den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8</m:t>
                            </m:r>
                          </m:den>
                        </m:f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,  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𝑏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8</m:t>
                            </m:r>
                          </m:den>
                        </m:f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6" name="Object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823" y="7200"/>
                  <a:ext cx="4258" cy="117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矩形 37"/>
            <p:cNvSpPr/>
            <p:nvPr/>
          </p:nvSpPr>
          <p:spPr>
            <a:xfrm>
              <a:off x="14952" y="7516"/>
              <a:ext cx="200" cy="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5523230" y="5263515"/>
            <a:ext cx="3728720" cy="779780"/>
            <a:chOff x="8098" y="8249"/>
            <a:chExt cx="5872" cy="12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Object 19"/>
                <p:cNvSpPr txBox="1"/>
                <p:nvPr/>
              </p:nvSpPr>
              <p:spPr bwMode="auto">
                <a:xfrm>
                  <a:off x="8098" y="8249"/>
                  <a:ext cx="5872" cy="117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∗</m:t>
                            </m:r>
                          </m:sup>
                        </m:sSup>
                        <m:r>
                          <a:rPr kumimoji="1" lang="en-US" altLang="zh-CN" sz="2200" i="1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8</m:t>
                            </m:r>
                          </m:den>
                        </m:f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sin</m:t>
                            </m:r>
                          </m:fName>
                          <m:e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  <m:r>
                              <a:rPr kumimoji="1" lang="en-US" altLang="zh-CN" sz="2200" b="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</m:func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</m:t>
                        </m:r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cos</m:t>
                            </m:r>
                          </m:fName>
                          <m:e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  <m:r>
                              <a:rPr kumimoji="1" lang="en-US" altLang="zh-CN" sz="2200" b="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</m:func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) .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7" name="Object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098" y="8249"/>
                  <a:ext cx="5872" cy="117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矩形 41"/>
            <p:cNvSpPr/>
            <p:nvPr/>
          </p:nvSpPr>
          <p:spPr>
            <a:xfrm>
              <a:off x="12171" y="9338"/>
              <a:ext cx="494" cy="1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7" grpId="0"/>
      <p:bldP spid="10" grpId="0"/>
      <p:bldP spid="15" grpId="0"/>
      <p:bldP spid="1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687324" y="535820"/>
            <a:ext cx="10817352" cy="5799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552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96" name="Rectangle 148"/>
          <p:cNvSpPr>
            <a:spLocks noChangeArrowheads="1"/>
          </p:cNvSpPr>
          <p:nvPr/>
        </p:nvSpPr>
        <p:spPr bwMode="auto">
          <a:xfrm>
            <a:off x="2389523" y="2241496"/>
            <a:ext cx="53848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  <p:sp>
        <p:nvSpPr>
          <p:cNvPr id="2388" name="Text Box 340"/>
          <p:cNvSpPr txBox="1">
            <a:spLocks noChangeArrowheads="1"/>
          </p:cNvSpPr>
          <p:nvPr/>
        </p:nvSpPr>
        <p:spPr bwMode="auto">
          <a:xfrm>
            <a:off x="2298989" y="892304"/>
            <a:ext cx="2489171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例5  </a:t>
            </a:r>
            <a:r>
              <a:rPr lang="en-US" altLang="zh-CN" sz="2800" b="1" dirty="0">
                <a:latin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在第六节</a:t>
            </a:r>
            <a:endParaRPr lang="zh-CN" altLang="en-US" sz="2800" dirty="0">
              <a:latin typeface="Cambria Math" panose="020405030504060302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91" name="Text Box 343"/>
              <p:cNvSpPr txBox="1">
                <a:spLocks noChangeArrowheads="1"/>
              </p:cNvSpPr>
              <p:nvPr/>
            </p:nvSpPr>
            <p:spPr bwMode="auto">
              <a:xfrm>
                <a:off x="5453164" y="913894"/>
                <a:ext cx="665004" cy="5219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sz="28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中</a:t>
                </a:r>
                <a14:m>
                  <m:oMath xmlns:m="http://schemas.openxmlformats.org/officeDocument/2006/math">
                    <m:r>
                      <a:rPr kumimoji="1" lang="en-US" altLang="zh-CN" sz="2800" i="1" dirty="0" smtClean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endParaRPr lang="zh-CN" altLang="en-US" sz="28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91" name="Text Box 3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53164" y="913894"/>
                <a:ext cx="665004" cy="521970"/>
              </a:xfrm>
              <a:prstGeom prst="rect">
                <a:avLst/>
              </a:prstGeom>
              <a:blipFill>
                <a:blip r:embed="rId3"/>
                <a:stretch>
                  <a:fillRect l="-19266" t="-16279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92" name="Text Box 344"/>
              <p:cNvSpPr txBox="1">
                <a:spLocks noChangeArrowheads="1"/>
              </p:cNvSpPr>
              <p:nvPr/>
            </p:nvSpPr>
            <p:spPr bwMode="auto">
              <a:xfrm>
                <a:off x="5978362" y="912644"/>
                <a:ext cx="446933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sz="28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设物体受弹性恢复力</a:t>
                </a:r>
                <a14:m>
                  <m:oMath xmlns:m="http://schemas.openxmlformats.org/officeDocument/2006/math">
                    <m:r>
                      <a:rPr kumimoji="1" lang="en-US" altLang="zh-CN" sz="2800" b="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</m:oMath>
                </a14:m>
                <a:r>
                  <a:rPr kumimoji="1" lang="zh-CN" altLang="en-US" sz="28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和</a:t>
                </a:r>
              </a:p>
            </p:txBody>
          </p:sp>
        </mc:Choice>
        <mc:Fallback xmlns="">
          <p:sp>
            <p:nvSpPr>
              <p:cNvPr id="2392" name="Text Box 3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78362" y="912644"/>
                <a:ext cx="4469330" cy="523220"/>
              </a:xfrm>
              <a:prstGeom prst="rect">
                <a:avLst/>
              </a:prstGeom>
              <a:blipFill>
                <a:blip r:embed="rId4"/>
                <a:stretch>
                  <a:fillRect l="-2865" t="-15116" b="-290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93" name="Text Box 345"/>
          <p:cNvSpPr txBox="1">
            <a:spLocks noChangeArrowheads="1"/>
          </p:cNvSpPr>
          <p:nvPr/>
        </p:nvSpPr>
        <p:spPr bwMode="auto">
          <a:xfrm>
            <a:off x="3186719" y="1579528"/>
            <a:ext cx="706179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铅直干扰力</a:t>
            </a:r>
            <a:r>
              <a:rPr kumimoji="1" lang="en-US" altLang="zh-CN" sz="2800" i="1" dirty="0"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</a:rPr>
              <a:t>F </a:t>
            </a:r>
            <a:r>
              <a:rPr kumimoji="1" lang="zh-CN" altLang="en-US" sz="2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的作用.试求物体的运动规律.</a:t>
            </a:r>
            <a:endParaRPr kumimoji="1" lang="zh-CN" altLang="en-US" sz="311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</a:endParaRPr>
          </a:p>
        </p:txBody>
      </p:sp>
      <p:sp>
        <p:nvSpPr>
          <p:cNvPr id="2394" name="Text Box 346"/>
          <p:cNvSpPr txBox="1">
            <a:spLocks noChangeArrowheads="1"/>
          </p:cNvSpPr>
          <p:nvPr/>
        </p:nvSpPr>
        <p:spPr bwMode="auto">
          <a:xfrm>
            <a:off x="3186719" y="2287534"/>
            <a:ext cx="6264275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2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这里需要求出无阻尼强迫振动方程</a:t>
            </a:r>
          </a:p>
        </p:txBody>
      </p:sp>
      <p:sp>
        <p:nvSpPr>
          <p:cNvPr id="2396" name="Text Box 348"/>
          <p:cNvSpPr txBox="1">
            <a:spLocks noChangeArrowheads="1"/>
          </p:cNvSpPr>
          <p:nvPr/>
        </p:nvSpPr>
        <p:spPr bwMode="auto">
          <a:xfrm>
            <a:off x="3186719" y="3642027"/>
            <a:ext cx="2016125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2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的通解.</a:t>
            </a:r>
          </a:p>
        </p:txBody>
      </p:sp>
      <p:sp>
        <p:nvSpPr>
          <p:cNvPr id="2397" name="Text Box 349"/>
          <p:cNvSpPr txBox="1">
            <a:spLocks noChangeArrowheads="1"/>
          </p:cNvSpPr>
          <p:nvPr/>
        </p:nvSpPr>
        <p:spPr bwMode="auto">
          <a:xfrm>
            <a:off x="3177470" y="4181701"/>
            <a:ext cx="5837060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2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对应的齐次方程(即无阻尼自由振动方程)为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99" name="Text Box 351"/>
              <p:cNvSpPr txBox="1">
                <a:spLocks noChangeArrowheads="1"/>
              </p:cNvSpPr>
              <p:nvPr/>
            </p:nvSpPr>
            <p:spPr bwMode="auto">
              <a:xfrm>
                <a:off x="3186719" y="5549181"/>
                <a:ext cx="4032250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sz="22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它的特征根为</a:t>
                </a:r>
                <a:r>
                  <a:rPr lang="zh-CN" altLang="en-US" sz="22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20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𝑟</m:t>
                    </m:r>
                  </m:oMath>
                </a14:m>
                <a:r>
                  <a: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rPr>
                  <a:t> </a:t>
                </a:r>
                <a:r>
                  <a: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rPr>
                  <a:t>= </a:t>
                </a:r>
                <a:r>
                  <a: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  <a:sym typeface="Symbol" panose="05050102010706020507" pitchFamily="18" charset="2"/>
                  </a:rPr>
                  <a:t> i</a:t>
                </a:r>
                <a14:m>
                  <m:oMath xmlns:m="http://schemas.openxmlformats.org/officeDocument/2006/math">
                    <m:r>
                      <a:rPr kumimoji="1" lang="en-US" altLang="zh-CN" sz="2200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𝑘</m:t>
                    </m:r>
                  </m:oMath>
                </a14:m>
                <a:r>
                  <a: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rPr>
                  <a:t> .</a:t>
                </a:r>
              </a:p>
            </p:txBody>
          </p:sp>
        </mc:Choice>
        <mc:Fallback xmlns="">
          <p:sp>
            <p:nvSpPr>
              <p:cNvPr id="2399" name="Text Box 3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86719" y="5549181"/>
                <a:ext cx="4032250" cy="430887"/>
              </a:xfrm>
              <a:prstGeom prst="rect">
                <a:avLst/>
              </a:prstGeom>
              <a:blipFill>
                <a:blip r:embed="rId5"/>
                <a:stretch>
                  <a:fillRect l="-1967" t="-12676" b="-2816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/>
          <p:cNvGrpSpPr/>
          <p:nvPr/>
        </p:nvGrpSpPr>
        <p:grpSpPr>
          <a:xfrm>
            <a:off x="4888360" y="2865120"/>
            <a:ext cx="2841625" cy="917575"/>
            <a:chOff x="6800" y="4512"/>
            <a:chExt cx="4475" cy="144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95" name="Object 347"/>
                <p:cNvSpPr txBox="1"/>
                <p:nvPr/>
              </p:nvSpPr>
              <p:spPr bwMode="auto">
                <a:xfrm>
                  <a:off x="6800" y="4512"/>
                  <a:ext cx="4282" cy="144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d</m:t>
                                </m:r>
                              </m:e>
                              <m:sup>
                                <m: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𝑘</m:t>
                            </m:r>
                          </m:e>
                          <m:sup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r>
                          <a:rPr kumimoji="1" lang="en-US" altLang="zh-CN" sz="2200" i="1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h</m:t>
                        </m:r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sin</m:t>
                            </m:r>
                          </m:fName>
                          <m:e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𝑝</m:t>
                            </m:r>
                            <m:r>
                              <a:rPr kumimoji="1" lang="en-US" altLang="zh-CN" sz="2200" b="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𝑡</m:t>
                            </m:r>
                          </m:e>
                        </m:func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2395" name="Object 3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800" y="4512"/>
                  <a:ext cx="4282" cy="144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矩形 1"/>
            <p:cNvSpPr/>
            <p:nvPr/>
          </p:nvSpPr>
          <p:spPr>
            <a:xfrm>
              <a:off x="11059" y="4982"/>
              <a:ext cx="216" cy="2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4276590" y="4709533"/>
            <a:ext cx="3705530" cy="1070156"/>
            <a:chOff x="6070" y="7593"/>
            <a:chExt cx="4556" cy="17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98" name="Object 350"/>
                <p:cNvSpPr txBox="1"/>
                <p:nvPr/>
              </p:nvSpPr>
              <p:spPr bwMode="auto">
                <a:xfrm>
                  <a:off x="6908" y="7613"/>
                  <a:ext cx="3718" cy="17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d</m:t>
                                </m:r>
                              </m:e>
                              <m:sup>
                                <m: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𝑘</m:t>
                            </m:r>
                          </m:e>
                          <m:sup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=0 ,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2398" name="Object 3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908" y="7613"/>
                  <a:ext cx="3718" cy="175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矩形 3"/>
            <p:cNvSpPr/>
            <p:nvPr/>
          </p:nvSpPr>
          <p:spPr>
            <a:xfrm>
              <a:off x="6070" y="7593"/>
              <a:ext cx="309" cy="2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0C3918A-F650-EC5D-3433-2F7511EF4E26}"/>
              </a:ext>
            </a:extLst>
          </p:cNvPr>
          <p:cNvGrpSpPr/>
          <p:nvPr/>
        </p:nvGrpSpPr>
        <p:grpSpPr>
          <a:xfrm>
            <a:off x="4762553" y="931701"/>
            <a:ext cx="761365" cy="448945"/>
            <a:chOff x="1731" y="3803"/>
            <a:chExt cx="1199" cy="707"/>
          </a:xfrm>
        </p:grpSpPr>
        <p:sp>
          <p:nvSpPr>
            <p:cNvPr id="26" name="圆角矩形 21">
              <a:extLst>
                <a:ext uri="{FF2B5EF4-FFF2-40B4-BE49-F238E27FC236}">
                  <a16:creationId xmlns:a16="http://schemas.microsoft.com/office/drawing/2014/main" id="{D37D594B-7D78-2E9C-3C04-F5749C629491}"/>
                </a:ext>
              </a:extLst>
            </p:cNvPr>
            <p:cNvSpPr/>
            <p:nvPr/>
          </p:nvSpPr>
          <p:spPr>
            <a:xfrm>
              <a:off x="1731" y="3803"/>
              <a:ext cx="1126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Text Box 28">
              <a:extLst>
                <a:ext uri="{FF2B5EF4-FFF2-40B4-BE49-F238E27FC236}">
                  <a16:creationId xmlns:a16="http://schemas.microsoft.com/office/drawing/2014/main" id="{1175DE7C-831E-7BA0-6C41-DD85BFAB87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1" y="3815"/>
              <a:ext cx="1049" cy="6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例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4" grpId="0" animBg="1"/>
      <p:bldP spid="2396" grpId="0" animBg="1"/>
      <p:bldP spid="2397" grpId="0" animBg="1"/>
      <p:bldP spid="239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687070" y="566152"/>
            <a:ext cx="10817225" cy="55435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2549633" y="2322830"/>
            <a:ext cx="4420235" cy="471170"/>
            <a:chOff x="3907" y="3658"/>
            <a:chExt cx="6961" cy="74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99" name="Object 39"/>
                <p:cNvSpPr txBox="1"/>
                <p:nvPr/>
              </p:nvSpPr>
              <p:spPr bwMode="auto">
                <a:xfrm>
                  <a:off x="4696" y="3658"/>
                  <a:ext cx="6172" cy="74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𝑋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cos</m:t>
                            </m:r>
                          </m:fName>
                          <m:e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𝑘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𝑡</m:t>
                            </m:r>
                          </m:e>
                        </m:func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sin</m:t>
                            </m:r>
                          </m:fName>
                          <m:e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𝑘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𝑡</m:t>
                            </m:r>
                          </m:e>
                        </m:func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5399" name="Object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96" y="3658"/>
                  <a:ext cx="6172" cy="743"/>
                </a:xfrm>
                <a:prstGeom prst="rect">
                  <a:avLst/>
                </a:prstGeom>
                <a:blipFill>
                  <a:blip r:embed="rId3"/>
                  <a:stretch>
                    <a:fillRect l="-156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矩形 2"/>
            <p:cNvSpPr/>
            <p:nvPr/>
          </p:nvSpPr>
          <p:spPr>
            <a:xfrm>
              <a:off x="3907" y="3901"/>
              <a:ext cx="433" cy="2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sp>
        <p:nvSpPr>
          <p:cNvPr id="48" name="半闭框 47"/>
          <p:cNvSpPr/>
          <p:nvPr/>
        </p:nvSpPr>
        <p:spPr>
          <a:xfrm>
            <a:off x="687324" y="553212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52598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43171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41184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15398" name="Text Box 38"/>
          <p:cNvSpPr txBox="1">
            <a:spLocks noChangeArrowheads="1"/>
          </p:cNvSpPr>
          <p:nvPr/>
        </p:nvSpPr>
        <p:spPr bwMode="auto">
          <a:xfrm>
            <a:off x="2305951" y="1800393"/>
            <a:ext cx="3816350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2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故齐次方程的通解为</a:t>
            </a:r>
          </a:p>
        </p:txBody>
      </p:sp>
      <p:sp>
        <p:nvSpPr>
          <p:cNvPr id="15402" name="AutoShape 42"/>
          <p:cNvSpPr>
            <a:spLocks noChangeArrowheads="1"/>
          </p:cNvSpPr>
          <p:nvPr/>
        </p:nvSpPr>
        <p:spPr bwMode="auto">
          <a:xfrm>
            <a:off x="6417257" y="2378244"/>
            <a:ext cx="951586" cy="391626"/>
          </a:xfrm>
          <a:prstGeom prst="rightArrow">
            <a:avLst>
              <a:gd name="adj1" fmla="val 50000"/>
              <a:gd name="adj2" fmla="val 69224"/>
            </a:avLst>
          </a:prstGeom>
          <a:solidFill>
            <a:srgbClr val="04926A"/>
          </a:solidFill>
          <a:ln w="9525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2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03" name="Text Box 43"/>
          <p:cNvSpPr txBox="1">
            <a:spLocks noChangeArrowheads="1"/>
          </p:cNvSpPr>
          <p:nvPr/>
        </p:nvSpPr>
        <p:spPr bwMode="auto">
          <a:xfrm>
            <a:off x="2305951" y="2922756"/>
            <a:ext cx="4321175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2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其中 </a:t>
            </a:r>
            <a:r>
              <a:rPr kumimoji="1" lang="en-US" altLang="zh-CN" sz="2200" i="1" dirty="0"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</a:rPr>
              <a:t>A </a:t>
            </a:r>
            <a:r>
              <a:rPr kumimoji="1" lang="en-US" altLang="zh-CN" sz="2200" dirty="0"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</a:rPr>
              <a:t>, </a:t>
            </a:r>
            <a:r>
              <a:rPr kumimoji="1" lang="en-US" altLang="zh-CN" sz="2200" i="1" dirty="0"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  <a:sym typeface="Symbol" panose="05050102010706020507" pitchFamily="18" charset="2"/>
              </a:rPr>
              <a:t> </a:t>
            </a:r>
            <a:r>
              <a:rPr kumimoji="1" lang="zh-CN" altLang="en-US" sz="22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Symbol" panose="05050102010706020507" pitchFamily="18" charset="2"/>
              </a:rPr>
              <a:t>为任意常数.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404" name="Object 44"/>
              <p:cNvSpPr txBox="1"/>
              <p:nvPr/>
            </p:nvSpPr>
            <p:spPr bwMode="auto">
              <a:xfrm>
                <a:off x="4736411" y="835512"/>
                <a:ext cx="2719387" cy="9175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2200" i="1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kumimoji="1" lang="en-US" altLang="zh-CN" sz="2200" i="1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zh-CN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en-US" altLang="zh-CN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200" i="1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kumimoji="1" lang="en-US" altLang="zh-CN" sz="2200" i="1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en-US" altLang="zh-CN" sz="2200" i="1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sSup>
                        <m:sSup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en-US" altLang="zh-CN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𝑘</m:t>
                          </m:r>
                        </m:e>
                        <m:sup>
                          <m:r>
                            <a:rPr kumimoji="1" lang="en-US" altLang="zh-CN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zh-CN" sz="2200" i="1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en-US" altLang="zh-CN" sz="2200" i="1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en-US" altLang="zh-CN" sz="2200" i="1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h</m:t>
                      </m:r>
                      <m:func>
                        <m:func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sin</m:t>
                          </m:r>
                        </m:fName>
                        <m:e>
                          <m:r>
                            <a:rPr kumimoji="1" lang="en-US" altLang="zh-CN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𝑝</m:t>
                          </m:r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e>
                      </m:func>
                    </m:oMath>
                  </m:oMathPara>
                </a14:m>
                <a:endParaRPr kumimoji="1" lang="en-US" altLang="zh-CN" sz="22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5404" name="Object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36411" y="835512"/>
                <a:ext cx="2719387" cy="9175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405" name="Line 45"/>
          <p:cNvSpPr>
            <a:spLocks noChangeShapeType="1"/>
          </p:cNvSpPr>
          <p:nvPr/>
        </p:nvSpPr>
        <p:spPr bwMode="auto">
          <a:xfrm>
            <a:off x="1676722" y="1713716"/>
            <a:ext cx="8856663" cy="0"/>
          </a:xfrm>
          <a:prstGeom prst="line">
            <a:avLst/>
          </a:prstGeom>
          <a:noFill/>
          <a:ln w="9525">
            <a:solidFill>
              <a:srgbClr val="1D9D7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2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406" name="Text Box 46"/>
              <p:cNvSpPr txBox="1">
                <a:spLocks noChangeArrowheads="1"/>
              </p:cNvSpPr>
              <p:nvPr/>
            </p:nvSpPr>
            <p:spPr bwMode="auto">
              <a:xfrm>
                <a:off x="2305951" y="3528581"/>
                <a:ext cx="7273925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sz="22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上述非齐次方程右边的函数</a:t>
                </a:r>
                <a14:m>
                  <m:oMath xmlns:m="http://schemas.openxmlformats.org/officeDocument/2006/math">
                    <m:r>
                      <a:rPr kumimoji="1" lang="en-US" altLang="zh-CN" sz="2200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</m:oMath>
                </a14:m>
                <a:r>
                  <a: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rPr>
                  <a:t>(</a:t>
                </a:r>
                <a:r>
                  <a: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rPr>
                  <a:t>t </a:t>
                </a:r>
                <a:r>
                  <a: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rPr>
                  <a:t>)</a:t>
                </a:r>
                <a:r>
                  <a: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rPr>
                  <a:t> = </a:t>
                </a:r>
                <a14:m>
                  <m:oMath xmlns:m="http://schemas.openxmlformats.org/officeDocument/2006/math">
                    <m:r>
                      <a:rPr kumimoji="1" lang="en-US" altLang="zh-CN" sz="2200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h</m:t>
                    </m:r>
                  </m:oMath>
                </a14:m>
                <a:r>
                  <a:rPr kumimoji="1" lang="en-US" altLang="zh-CN" sz="2200" dirty="0">
                    <a:ea typeface="黑体" panose="02010609060101010101" pitchFamily="49" charset="-122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sin</m:t>
                        </m:r>
                      </m:fName>
                      <m:e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𝑝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𝑡</m:t>
                        </m:r>
                      </m:e>
                    </m:func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与</a:t>
                </a:r>
              </a:p>
            </p:txBody>
          </p:sp>
        </mc:Choice>
        <mc:Fallback xmlns="">
          <p:sp>
            <p:nvSpPr>
              <p:cNvPr id="15406" name="Text 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05951" y="3528581"/>
                <a:ext cx="7273925" cy="430887"/>
              </a:xfrm>
              <a:prstGeom prst="rect">
                <a:avLst/>
              </a:prstGeom>
              <a:blipFill>
                <a:blip r:embed="rId5"/>
                <a:stretch>
                  <a:fillRect l="-1089" t="-15493" b="-2535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09" name="Text Box 49"/>
              <p:cNvSpPr txBox="1">
                <a:spLocks noChangeArrowheads="1"/>
              </p:cNvSpPr>
              <p:nvPr/>
            </p:nvSpPr>
            <p:spPr bwMode="auto">
              <a:xfrm>
                <a:off x="2305951" y="4712260"/>
                <a:ext cx="2160587" cy="42989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sz="22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相比较</a:t>
                </a:r>
                <a14:m>
                  <m:oMath xmlns:m="http://schemas.openxmlformats.org/officeDocument/2006/math">
                    <m:r>
                      <a:rPr kumimoji="1" lang="en-US" altLang="zh-CN" sz="2200" b="0" i="0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  <m:r>
                      <a:rPr kumimoji="1" lang="en-US" altLang="zh-CN" sz="2200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  <m:r>
                      <a:rPr kumimoji="1" lang="en-US" altLang="zh-CN" sz="2200" b="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kumimoji="1" lang="zh-CN" altLang="en-US" sz="22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得</a:t>
                </a:r>
                <a:endParaRPr lang="zh-CN" altLang="en-US" sz="22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409" name="Text 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05951" y="4712260"/>
                <a:ext cx="2160587" cy="429895"/>
              </a:xfrm>
              <a:prstGeom prst="rect">
                <a:avLst/>
              </a:prstGeom>
              <a:blipFill>
                <a:blip r:embed="rId6"/>
                <a:stretch>
                  <a:fillRect l="-3662" t="-14085" b="-239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11" name="Text Box 51"/>
              <p:cNvSpPr txBox="1">
                <a:spLocks noChangeArrowheads="1"/>
              </p:cNvSpPr>
              <p:nvPr/>
            </p:nvSpPr>
            <p:spPr bwMode="auto">
              <a:xfrm>
                <a:off x="2305951" y="5328632"/>
                <a:ext cx="7848600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sz="22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现在分别就</a:t>
                </a:r>
                <a:r>
                  <a:rPr lang="zh-CN" altLang="en-US" sz="22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20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𝑝</m:t>
                    </m:r>
                    <m:r>
                      <a:rPr kumimoji="1" lang="en-US" altLang="zh-CN" sz="220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  <a:sym typeface="Symbol" panose="05050102010706020507" pitchFamily="18" charset="2"/>
                  </a:rPr>
                  <a:t></a:t>
                </a:r>
                <a:r>
                  <a: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200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𝑘</m:t>
                    </m:r>
                  </m:oMath>
                </a14:m>
                <a:r>
                  <a: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  <a:sym typeface="Symbol" panose="05050102010706020507" pitchFamily="18" charset="2"/>
                  </a:rPr>
                  <a:t> 和 </a:t>
                </a:r>
                <a14:m>
                  <m:oMath xmlns:m="http://schemas.openxmlformats.org/officeDocument/2006/math">
                    <m:r>
                      <a:rPr kumimoji="1" lang="en-US" altLang="zh-CN" sz="2200" i="1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𝑝</m:t>
                    </m:r>
                  </m:oMath>
                </a14:m>
                <a:r>
                  <a: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  <a:sym typeface="Symbol" panose="05050102010706020507" pitchFamily="18" charset="2"/>
                  </a:rPr>
                  <a:t> </a:t>
                </a:r>
                <a:r>
                  <a: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  <a:sym typeface="Symbol" panose="05050102010706020507" pitchFamily="18" charset="2"/>
                  </a:rPr>
                  <a:t>=</a:t>
                </a:r>
                <a:r>
                  <a: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200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𝑘</m:t>
                    </m:r>
                  </m:oMath>
                </a14:m>
                <a:r>
                  <a:rPr lang="en-US" altLang="zh-CN" sz="2200" dirty="0">
                    <a:latin typeface="Cambria Math" panose="020405030504060302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kumimoji="1" lang="zh-CN" altLang="en-US" sz="22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Symbol" panose="05050102010706020507" pitchFamily="18" charset="2"/>
                  </a:rPr>
                  <a:t>两种情形进行讨论.</a:t>
                </a:r>
              </a:p>
            </p:txBody>
          </p:sp>
        </mc:Choice>
        <mc:Fallback xmlns="">
          <p:sp>
            <p:nvSpPr>
              <p:cNvPr id="15411" name="Text 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05951" y="5328632"/>
                <a:ext cx="7848600" cy="430887"/>
              </a:xfrm>
              <a:prstGeom prst="rect">
                <a:avLst/>
              </a:prstGeom>
              <a:blipFill>
                <a:blip r:embed="rId7"/>
                <a:stretch>
                  <a:fillRect l="-1009" t="-14085" b="-2816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01" name="Object 41"/>
              <p:cNvSpPr txBox="1"/>
              <p:nvPr/>
            </p:nvSpPr>
            <p:spPr bwMode="auto">
              <a:xfrm>
                <a:off x="7464533" y="2325370"/>
                <a:ext cx="3324225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200" i="1" dirty="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𝑋</m:t>
                      </m:r>
                      <m:r>
                        <a:rPr kumimoji="1" lang="en-US" altLang="zh-CN" sz="2200" i="1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en-US" altLang="zh-CN" sz="2200" i="1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𝐴</m:t>
                      </m:r>
                      <m:func>
                        <m:func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sin</m:t>
                          </m:r>
                        </m:fName>
                        <m:e>
                          <m:r>
                            <a:rPr kumimoji="1" lang="en-US" altLang="zh-CN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</m:e>
                      </m:func>
                      <m:r>
                        <a:rPr kumimoji="1" lang="en-US" altLang="zh-CN" sz="2200" i="1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𝑘𝑡</m:t>
                      </m:r>
                      <m:r>
                        <a:rPr kumimoji="1" lang="en-US" altLang="zh-CN" sz="2200" i="1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sz="2200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𝜑</m:t>
                      </m:r>
                      <m:r>
                        <a:rPr kumimoji="1" lang="en-US" altLang="zh-CN" sz="2200" i="1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),</m:t>
                      </m:r>
                    </m:oMath>
                  </m:oMathPara>
                </a14:m>
                <a:endParaRPr kumimoji="1" lang="en-US" altLang="zh-CN" sz="22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5401" name="Object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64533" y="2325370"/>
                <a:ext cx="3324225" cy="444500"/>
              </a:xfrm>
              <a:prstGeom prst="rect">
                <a:avLst/>
              </a:prstGeom>
              <a:blipFill>
                <a:blip r:embed="rId8"/>
                <a:stretch>
                  <a:fillRect l="-183" b="-1506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组合 7"/>
          <p:cNvGrpSpPr/>
          <p:nvPr/>
        </p:nvGrpSpPr>
        <p:grpSpPr>
          <a:xfrm>
            <a:off x="2756008" y="4104005"/>
            <a:ext cx="5476240" cy="469900"/>
            <a:chOff x="4232" y="6391"/>
            <a:chExt cx="8624" cy="7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对象 1"/>
                <p:cNvSpPr txBox="1"/>
                <p:nvPr/>
              </p:nvSpPr>
              <p:spPr>
                <a:xfrm>
                  <a:off x="4696" y="6391"/>
                  <a:ext cx="8160" cy="74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𝑓</m:t>
                        </m:r>
                        <m:r>
                          <a:rPr kumimoji="1" lang="en-US" altLang="zh-CN" sz="2200" i="1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200" i="1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𝑡</m:t>
                        </m:r>
                        <m:r>
                          <a:rPr kumimoji="1" lang="en-US" altLang="zh-CN" sz="2200" i="1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)=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𝜆</m:t>
                            </m:r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𝑡</m:t>
                            </m:r>
                          </m:sup>
                        </m:sSup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[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𝑃</m:t>
                            </m:r>
                          </m:e>
                          <m:sub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𝑙</m:t>
                            </m:r>
                          </m:sub>
                        </m:sSub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𝑡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cos</m:t>
                            </m:r>
                          </m:fName>
                          <m:e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𝜔</m:t>
                            </m:r>
                          </m:e>
                        </m:func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𝑡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b="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𝑄</m:t>
                            </m:r>
                          </m:e>
                          <m:sub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𝑛</m:t>
                            </m:r>
                          </m:sub>
                        </m:sSub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𝑡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sin</m:t>
                            </m:r>
                          </m:fName>
                          <m:e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𝜔</m:t>
                            </m:r>
                          </m:e>
                        </m:func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𝑡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]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2" name="对象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6" y="6391"/>
                  <a:ext cx="8160" cy="740"/>
                </a:xfrm>
                <a:prstGeom prst="rect">
                  <a:avLst/>
                </a:prstGeom>
                <a:blipFill>
                  <a:blip r:embed="rId9"/>
                  <a:stretch>
                    <a:fillRect l="-706" b="-1168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矩形 6"/>
            <p:cNvSpPr/>
            <p:nvPr/>
          </p:nvSpPr>
          <p:spPr>
            <a:xfrm>
              <a:off x="4232" y="6620"/>
              <a:ext cx="170" cy="2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3707873" y="4705742"/>
            <a:ext cx="5472430" cy="429895"/>
            <a:chOff x="5731" y="7415"/>
            <a:chExt cx="8618" cy="6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10" name="Text Box 50"/>
                <p:cNvSpPr txBox="1">
                  <a:spLocks noChangeArrowheads="1"/>
                </p:cNvSpPr>
                <p:nvPr/>
              </p:nvSpPr>
              <p:spPr bwMode="auto">
                <a:xfrm>
                  <a:off x="5731" y="7415"/>
                  <a:ext cx="8618" cy="67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kumimoji="1" lang="en-US" altLang="zh-CN" sz="2200" i="1" dirty="0">
                      <a:latin typeface="Cambria Math" panose="02040503050406030204" charset="0"/>
                      <a:ea typeface="黑体" panose="02010609060101010101" pitchFamily="49" charset="-122"/>
                      <a:cs typeface="Cambria Math" panose="02040503050406030204" charset="0"/>
                      <a:sym typeface="Symbol" panose="05050102010706020507" pitchFamily="18" charset="2"/>
                    </a:rPr>
                    <a:t> </a:t>
                  </a:r>
                  <a:r>
                    <a:rPr kumimoji="1" lang="en-US" altLang="zh-CN" sz="2200" dirty="0">
                      <a:latin typeface="Cambria Math" panose="02040503050406030204" charset="0"/>
                      <a:ea typeface="黑体" panose="02010609060101010101" pitchFamily="49" charset="-122"/>
                      <a:cs typeface="Cambria Math" panose="02040503050406030204" charset="0"/>
                    </a:rPr>
                    <a:t>= 0 , </a:t>
                  </a:r>
                  <a:r>
                    <a:rPr kumimoji="1" lang="en-US" altLang="zh-CN" sz="2200" i="1" dirty="0">
                      <a:latin typeface="Cambria Math" panose="02040503050406030204" charset="0"/>
                      <a:ea typeface="黑体" panose="02010609060101010101" pitchFamily="49" charset="-122"/>
                      <a:cs typeface="Cambria Math" panose="02040503050406030204" charset="0"/>
                      <a:sym typeface="Symbol" panose="05050102010706020507" pitchFamily="18" charset="2"/>
                    </a:rPr>
                    <a:t> </a:t>
                  </a:r>
                  <a:r>
                    <a:rPr kumimoji="1" lang="en-US" altLang="zh-CN" sz="2200" dirty="0">
                      <a:latin typeface="Cambria Math" panose="02040503050406030204" charset="0"/>
                      <a:ea typeface="黑体" panose="02010609060101010101" pitchFamily="49" charset="-122"/>
                      <a:cs typeface="Cambria Math" panose="02040503050406030204" charset="0"/>
                      <a:sym typeface="Symbol" panose="05050102010706020507" pitchFamily="18" charset="2"/>
                    </a:rPr>
                    <a:t>=</a:t>
                  </a:r>
                  <a:r>
                    <a:rPr kumimoji="1" lang="en-US" altLang="zh-CN" sz="2200" i="1" dirty="0">
                      <a:latin typeface="Cambria Math" panose="02040503050406030204" charset="0"/>
                      <a:ea typeface="黑体" panose="02010609060101010101" pitchFamily="49" charset="-122"/>
                      <a:cs typeface="Cambria Math" panose="02040503050406030204" charset="0"/>
                      <a:sym typeface="Symbol" panose="05050102010706020507" pitchFamily="18" charset="2"/>
                    </a:rPr>
                    <a:t> p </a:t>
                  </a:r>
                  <a14:m>
                    <m:oMath xmlns:m="http://schemas.openxmlformats.org/officeDocument/2006/math">
                      <m:r>
                        <a:rPr kumimoji="1" lang="en-US" altLang="zh-CN" sz="2200" i="1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a14:m>
                  <a:r>
                    <a:rPr kumimoji="1" lang="en-US" altLang="zh-CN" sz="2200" i="1" dirty="0">
                      <a:latin typeface="Cambria Math" panose="02040503050406030204" charset="0"/>
                      <a:ea typeface="黑体" panose="02010609060101010101" pitchFamily="49" charset="-122"/>
                      <a:cs typeface="Cambria Math" panose="02040503050406030204" charset="0"/>
                      <a:sym typeface="Symbol" panose="05050102010706020507" pitchFamily="18" charset="2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𝑃</m:t>
                          </m:r>
                        </m:e>
                        <m:sub>
                          <m:r>
                            <a:rPr kumimoji="1" lang="en-US" altLang="zh-CN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𝑙</m:t>
                          </m:r>
                        </m:sub>
                      </m:sSub>
                      <m:r>
                        <a:rPr kumimoji="1" lang="en-US" altLang="zh-CN" sz="2200" i="1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en-US" altLang="zh-CN" sz="2200" i="1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kumimoji="1" lang="en-US" altLang="zh-CN" sz="2200" i="1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</m:oMath>
                  </a14:m>
                  <a:r>
                    <a:rPr kumimoji="1" lang="en-US" altLang="zh-CN" sz="2200" i="1" dirty="0">
                      <a:latin typeface="Cambria Math" panose="02040503050406030204" charset="0"/>
                      <a:ea typeface="黑体" panose="02010609060101010101" pitchFamily="49" charset="-122"/>
                      <a:cs typeface="Cambria Math" panose="02040503050406030204" charset="0"/>
                      <a:sym typeface="Symbol" panose="05050102010706020507" pitchFamily="18" charset="2"/>
                    </a:rPr>
                    <a:t> </a:t>
                  </a:r>
                  <a:r>
                    <a:rPr kumimoji="1" lang="en-US" altLang="zh-CN" sz="2200" dirty="0">
                      <a:latin typeface="Cambria Math" panose="02040503050406030204" charset="0"/>
                      <a:ea typeface="黑体" panose="02010609060101010101" pitchFamily="49" charset="-122"/>
                      <a:cs typeface="Cambria Math" panose="02040503050406030204" charset="0"/>
                      <a:sym typeface="Symbol" panose="05050102010706020507" pitchFamily="18" charset="2"/>
                    </a:rPr>
                    <a:t>=</a:t>
                  </a:r>
                  <a:r>
                    <a:rPr kumimoji="1" lang="en-US" altLang="zh-CN" sz="2200" i="1" dirty="0">
                      <a:latin typeface="Cambria Math" panose="02040503050406030204" charset="0"/>
                      <a:ea typeface="黑体" panose="02010609060101010101" pitchFamily="49" charset="-122"/>
                      <a:cs typeface="Cambria Math" panose="02040503050406030204" charset="0"/>
                      <a:sym typeface="Symbol" panose="05050102010706020507" pitchFamily="18" charset="2"/>
                    </a:rPr>
                    <a:t> </a:t>
                  </a:r>
                  <a:r>
                    <a:rPr kumimoji="1" lang="en-US" altLang="zh-CN" sz="2200" dirty="0">
                      <a:latin typeface="Cambria Math" panose="02040503050406030204" charset="0"/>
                      <a:ea typeface="黑体" panose="02010609060101010101" pitchFamily="49" charset="-122"/>
                      <a:cs typeface="Cambria Math" panose="02040503050406030204" charset="0"/>
                      <a:sym typeface="Symbol" panose="05050102010706020507" pitchFamily="18" charset="2"/>
                    </a:rPr>
                    <a:t>0</a:t>
                  </a:r>
                  <a:r>
                    <a:rPr kumimoji="1" lang="en-US" altLang="zh-CN" sz="2200" i="1" dirty="0">
                      <a:latin typeface="Cambria Math" panose="02040503050406030204" charset="0"/>
                      <a:ea typeface="黑体" panose="02010609060101010101" pitchFamily="49" charset="-122"/>
                      <a:cs typeface="Cambria Math" panose="02040503050406030204" charset="0"/>
                      <a:sym typeface="Symbol" panose="05050102010706020507" pitchFamily="18" charset="2"/>
                    </a:rPr>
                    <a:t> </a:t>
                  </a:r>
                  <a14:m>
                    <m:oMath xmlns:m="http://schemas.openxmlformats.org/officeDocument/2006/math">
                      <m:r>
                        <a:rPr kumimoji="1" lang="en-US" altLang="zh-CN" sz="2200" i="1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a14:m>
                  <a:r>
                    <a:rPr kumimoji="1" lang="en-US" altLang="zh-CN" sz="2200" i="1" dirty="0">
                      <a:latin typeface="Cambria Math" panose="02040503050406030204" charset="0"/>
                      <a:ea typeface="黑体" panose="02010609060101010101" pitchFamily="49" charset="-122"/>
                      <a:cs typeface="Cambria Math" panose="02040503050406030204" charset="0"/>
                      <a:sym typeface="Symbol" panose="05050102010706020507" pitchFamily="18" charset="2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200" b="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𝑄</m:t>
                          </m:r>
                        </m:e>
                        <m:sub>
                          <m:r>
                            <a:rPr kumimoji="1" lang="en-US" altLang="zh-CN" sz="2200" b="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𝑛</m:t>
                          </m:r>
                        </m:sub>
                      </m:sSub>
                      <m:r>
                        <a:rPr kumimoji="1" lang="en-US" altLang="zh-CN" sz="2200" i="1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en-US" altLang="zh-CN" sz="2200" i="1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kumimoji="1" lang="en-US" altLang="zh-CN" sz="2200" i="1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 </m:t>
                      </m:r>
                    </m:oMath>
                  </a14:m>
                  <a:r>
                    <a:rPr kumimoji="1" lang="en-US" altLang="zh-CN" sz="2200" dirty="0">
                      <a:latin typeface="Cambria Math" panose="02040503050406030204" charset="0"/>
                      <a:ea typeface="黑体" panose="02010609060101010101" pitchFamily="49" charset="-122"/>
                      <a:cs typeface="Cambria Math" panose="02040503050406030204" charset="0"/>
                      <a:sym typeface="Symbol" panose="05050102010706020507" pitchFamily="18" charset="2"/>
                    </a:rPr>
                    <a:t>=</a:t>
                  </a:r>
                  <a14:m>
                    <m:oMath xmlns:m="http://schemas.openxmlformats.org/officeDocument/2006/math">
                      <m:r>
                        <a:rPr kumimoji="1" lang="en-US" altLang="zh-CN" sz="2200" i="1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h</m:t>
                      </m:r>
                    </m:oMath>
                  </a14:m>
                  <a:r>
                    <a:rPr kumimoji="1" lang="en-US" altLang="zh-CN" sz="2200" i="1" dirty="0">
                      <a:latin typeface="Cambria Math" panose="02040503050406030204" charset="0"/>
                      <a:ea typeface="黑体" panose="02010609060101010101" pitchFamily="49" charset="-122"/>
                      <a:cs typeface="Cambria Math" panose="02040503050406030204" charset="0"/>
                      <a:sym typeface="Symbol" panose="05050102010706020507" pitchFamily="18" charset="2"/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15410" name="Text Box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731" y="7415"/>
                  <a:ext cx="8618" cy="677"/>
                </a:xfrm>
                <a:prstGeom prst="rect">
                  <a:avLst/>
                </a:prstGeom>
                <a:blipFill>
                  <a:blip r:embed="rId10"/>
                  <a:stretch>
                    <a:fillRect l="-1448" t="-10000" b="-28571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矩形 8"/>
            <p:cNvSpPr/>
            <p:nvPr/>
          </p:nvSpPr>
          <p:spPr>
            <a:xfrm>
              <a:off x="12959" y="7794"/>
              <a:ext cx="340" cy="1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98" grpId="0" animBg="1"/>
      <p:bldP spid="15402" grpId="0" animBg="1"/>
      <p:bldP spid="15403" grpId="0" animBg="1"/>
      <p:bldP spid="15406" grpId="0" animBg="1"/>
      <p:bldP spid="15409" grpId="0" animBg="1"/>
      <p:bldP spid="15411" grpId="0" animBg="1"/>
      <p:bldP spid="1540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687070" y="537210"/>
            <a:ext cx="10817225" cy="55594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43171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41184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397" name="Object 13"/>
              <p:cNvSpPr txBox="1"/>
              <p:nvPr/>
            </p:nvSpPr>
            <p:spPr bwMode="auto">
              <a:xfrm>
                <a:off x="4384040" y="848699"/>
                <a:ext cx="2719387" cy="9175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2200" i="1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kumimoji="1" lang="en-US" altLang="zh-CN" sz="2200" i="1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zh-CN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en-US" altLang="zh-CN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200" i="1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kumimoji="1" lang="en-US" altLang="zh-CN" sz="2200" i="1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en-US" altLang="zh-CN" sz="2200" i="1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sSup>
                        <m:sSup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en-US" altLang="zh-CN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𝑘</m:t>
                          </m:r>
                        </m:e>
                        <m:sup>
                          <m:r>
                            <a:rPr kumimoji="1" lang="en-US" altLang="zh-CN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zh-CN" sz="2200" i="1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en-US" altLang="zh-CN" sz="2200" i="1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en-US" altLang="zh-CN" sz="2200" i="1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h</m:t>
                      </m:r>
                      <m:func>
                        <m:func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sin</m:t>
                          </m:r>
                        </m:fName>
                        <m:e>
                          <m:r>
                            <a:rPr kumimoji="1" lang="en-US" altLang="zh-CN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𝑝</m:t>
                          </m:r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e>
                      </m:func>
                    </m:oMath>
                  </m:oMathPara>
                </a14:m>
                <a:endParaRPr kumimoji="1" lang="en-US" altLang="zh-CN" sz="22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6397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84040" y="848699"/>
                <a:ext cx="2719387" cy="9175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98" name="Line 14"/>
          <p:cNvSpPr>
            <a:spLocks noChangeShapeType="1"/>
          </p:cNvSpPr>
          <p:nvPr/>
        </p:nvSpPr>
        <p:spPr bwMode="auto">
          <a:xfrm>
            <a:off x="1667669" y="1696243"/>
            <a:ext cx="8856663" cy="0"/>
          </a:xfrm>
          <a:prstGeom prst="line">
            <a:avLst/>
          </a:prstGeom>
          <a:noFill/>
          <a:ln w="9525">
            <a:solidFill>
              <a:srgbClr val="019B4E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2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00" name="Text Box 16"/>
              <p:cNvSpPr txBox="1">
                <a:spLocks noChangeArrowheads="1"/>
              </p:cNvSpPr>
              <p:nvPr/>
            </p:nvSpPr>
            <p:spPr bwMode="auto">
              <a:xfrm>
                <a:off x="4285615" y="1853268"/>
                <a:ext cx="5184775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sz="22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此时</a:t>
                </a:r>
                <a:r>
                  <a:rPr lang="zh-CN" altLang="en-US" sz="22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  <a:sym typeface="Symbol" panose="05050102010706020507" pitchFamily="18" charset="2"/>
                  </a:rPr>
                  <a:t> </a:t>
                </a:r>
                <a:r>
                  <a: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  <a:sym typeface="Symbol" panose="05050102010706020507" pitchFamily="18" charset="2"/>
                  </a:rPr>
                  <a:t></a:t>
                </a:r>
                <a:r>
                  <a: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  <a:sym typeface="Symbol" panose="05050102010706020507" pitchFamily="18" charset="2"/>
                  </a:rPr>
                  <a:t> </a:t>
                </a:r>
                <a:r>
                  <a: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  <a:sym typeface="Symbol" panose="05050102010706020507" pitchFamily="18" charset="2"/>
                  </a:rPr>
                  <a:t>i</a:t>
                </a:r>
                <a:r>
                  <a: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  <a:sym typeface="Symbol" panose="05050102010706020507" pitchFamily="18" charset="2"/>
                  </a:rPr>
                  <a:t> </a:t>
                </a:r>
                <a:r>
                  <a: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  <a:sym typeface="Symbol" panose="05050102010706020507" pitchFamily="18" charset="2"/>
                  </a:rPr>
                  <a:t>=  i</a:t>
                </a:r>
                <a14:m>
                  <m:oMath xmlns:m="http://schemas.openxmlformats.org/officeDocument/2006/math">
                    <m:r>
                      <a:rPr kumimoji="1" lang="en-US" altLang="zh-CN" sz="2200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𝑝</m:t>
                    </m:r>
                  </m:oMath>
                </a14:m>
                <a:r>
                  <a:rPr lang="en-US" altLang="zh-CN" sz="2200" dirty="0">
                    <a:latin typeface="Cambria Math" panose="020405030504060302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kumimoji="1" lang="zh-CN" altLang="en-US" sz="22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Symbol" panose="05050102010706020507" pitchFamily="18" charset="2"/>
                  </a:rPr>
                  <a:t>不是特征根</a:t>
                </a:r>
                <a14:m>
                  <m:oMath xmlns:m="http://schemas.openxmlformats.org/officeDocument/2006/math">
                    <m:r>
                      <a:rPr kumimoji="1" lang="en-US" altLang="zh-CN" sz="2200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endParaRPr kumimoji="1" lang="zh-CN" altLang="en-US" sz="22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16400" name="Text 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85615" y="1853268"/>
                <a:ext cx="5184775" cy="430887"/>
              </a:xfrm>
              <a:prstGeom prst="rect">
                <a:avLst/>
              </a:prstGeom>
              <a:blipFill>
                <a:blip r:embed="rId4"/>
                <a:stretch>
                  <a:fillRect l="-1528" t="-14085" b="-2816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401" name="Text Box 17"/>
          <p:cNvSpPr txBox="1">
            <a:spLocks noChangeArrowheads="1"/>
          </p:cNvSpPr>
          <p:nvPr/>
        </p:nvSpPr>
        <p:spPr bwMode="auto">
          <a:xfrm>
            <a:off x="8025449" y="1864489"/>
            <a:ext cx="1728787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2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故设特解</a:t>
            </a:r>
          </a:p>
        </p:txBody>
      </p:sp>
      <p:sp>
        <p:nvSpPr>
          <p:cNvPr id="16402" name="Text Box 18"/>
          <p:cNvSpPr txBox="1">
            <a:spLocks noChangeArrowheads="1"/>
          </p:cNvSpPr>
          <p:nvPr/>
        </p:nvSpPr>
        <p:spPr bwMode="auto">
          <a:xfrm>
            <a:off x="3113722" y="2605108"/>
            <a:ext cx="576263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2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为</a:t>
            </a:r>
          </a:p>
        </p:txBody>
      </p:sp>
      <p:sp>
        <p:nvSpPr>
          <p:cNvPr id="16404" name="Text Box 20"/>
          <p:cNvSpPr txBox="1">
            <a:spLocks noChangeArrowheads="1"/>
          </p:cNvSpPr>
          <p:nvPr/>
        </p:nvSpPr>
        <p:spPr bwMode="auto">
          <a:xfrm>
            <a:off x="3113722" y="3292495"/>
            <a:ext cx="3240088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2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代入上述方程求得</a:t>
            </a:r>
            <a:endParaRPr lang="zh-CN" altLang="en-US" sz="22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06" name="Text Box 22"/>
          <p:cNvSpPr txBox="1">
            <a:spLocks noChangeArrowheads="1"/>
          </p:cNvSpPr>
          <p:nvPr/>
        </p:nvSpPr>
        <p:spPr bwMode="auto">
          <a:xfrm>
            <a:off x="3110865" y="4100215"/>
            <a:ext cx="1223962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2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于是</a:t>
            </a:r>
          </a:p>
        </p:txBody>
      </p:sp>
      <p:sp>
        <p:nvSpPr>
          <p:cNvPr id="16408" name="Text Box 24"/>
          <p:cNvSpPr txBox="1">
            <a:spLocks noChangeArrowheads="1"/>
          </p:cNvSpPr>
          <p:nvPr/>
        </p:nvSpPr>
        <p:spPr bwMode="auto">
          <a:xfrm>
            <a:off x="3110865" y="4947623"/>
            <a:ext cx="3455987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2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此时方程的通解为</a:t>
            </a:r>
            <a:endParaRPr lang="zh-CN" altLang="en-US" sz="22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891472" y="1845151"/>
            <a:ext cx="2157730" cy="429895"/>
            <a:chOff x="3861" y="2959"/>
            <a:chExt cx="3398" cy="6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99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4211" y="2959"/>
                  <a:ext cx="3048" cy="67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kumimoji="1" lang="en-US" altLang="zh-CN" sz="2200" dirty="0">
                      <a:solidFill>
                        <a:srgbClr val="04926A"/>
                      </a:solidFill>
                      <a:latin typeface="Cambria Math" panose="02040503050406030204" charset="0"/>
                      <a:ea typeface="黑体" panose="02010609060101010101" pitchFamily="49" charset="-122"/>
                      <a:cs typeface="Cambria Math" panose="02040503050406030204" charset="0"/>
                    </a:rPr>
                    <a:t>(1) </a:t>
                  </a:r>
                  <a14:m>
                    <m:oMath xmlns:m="http://schemas.openxmlformats.org/officeDocument/2006/math">
                      <m:r>
                        <a:rPr kumimoji="1" lang="en-US" altLang="zh-CN" sz="2200" b="0" i="1" dirty="0" smtClean="0">
                          <a:solidFill>
                            <a:srgbClr val="04926A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𝑝</m:t>
                      </m:r>
                    </m:oMath>
                  </a14:m>
                  <a:r>
                    <a:rPr kumimoji="1" lang="en-US" altLang="zh-CN" sz="2200" dirty="0">
                      <a:solidFill>
                        <a:srgbClr val="04926A"/>
                      </a:solidFill>
                      <a:latin typeface="Cambria Math" panose="02040503050406030204" charset="0"/>
                      <a:ea typeface="黑体" panose="02010609060101010101" pitchFamily="49" charset="-122"/>
                      <a:cs typeface="Cambria Math" panose="02040503050406030204" charset="0"/>
                      <a:sym typeface="Symbol" panose="05050102010706020507" pitchFamily="18" charset="2"/>
                    </a:rPr>
                    <a:t></a:t>
                  </a:r>
                  <a14:m>
                    <m:oMath xmlns:m="http://schemas.openxmlformats.org/officeDocument/2006/math">
                      <m:r>
                        <a:rPr kumimoji="1" lang="en-US" altLang="zh-CN" sz="2200" b="0" i="1" dirty="0" smtClean="0">
                          <a:solidFill>
                            <a:srgbClr val="04926A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𝑘</m:t>
                      </m:r>
                    </m:oMath>
                  </a14:m>
                  <a:r>
                    <a:rPr kumimoji="1" lang="en-US" altLang="zh-CN" sz="2200" i="1" dirty="0">
                      <a:solidFill>
                        <a:srgbClr val="04926A"/>
                      </a:solidFill>
                      <a:latin typeface="Cambria Math" panose="02040503050406030204" charset="0"/>
                      <a:ea typeface="黑体" panose="02010609060101010101" pitchFamily="49" charset="-122"/>
                      <a:cs typeface="Cambria Math" panose="02040503050406030204" charset="0"/>
                      <a:sym typeface="Symbol" panose="05050102010706020507" pitchFamily="18" charset="2"/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16399" name="Text 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11" y="2959"/>
                  <a:ext cx="3048" cy="677"/>
                </a:xfrm>
                <a:prstGeom prst="rect">
                  <a:avLst/>
                </a:prstGeom>
                <a:blipFill>
                  <a:blip r:embed="rId5"/>
                  <a:stretch>
                    <a:fillRect l="-4101" t="-10000" b="-28571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矩形 1"/>
            <p:cNvSpPr/>
            <p:nvPr/>
          </p:nvSpPr>
          <p:spPr>
            <a:xfrm>
              <a:off x="3861" y="3221"/>
              <a:ext cx="201" cy="2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4285615" y="2596072"/>
            <a:ext cx="3766185" cy="431165"/>
            <a:chOff x="6749" y="4031"/>
            <a:chExt cx="5931" cy="6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03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7010" y="4031"/>
                  <a:ext cx="5670" cy="6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14:m>
                    <m:oMath xmlns:m="http://schemas.openxmlformats.org/officeDocument/2006/math">
                      <m:r>
                        <a:rPr kumimoji="1" lang="en-US" altLang="zh-CN" sz="2200" i="1" dirty="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 </m:t>
                      </m:r>
                      <m:sSup>
                        <m:sSupPr>
                          <m:ctrlPr>
                            <a:rPr kumimoji="1" lang="en-US" altLang="zh-CN" sz="220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en-US" altLang="zh-CN" sz="2200" b="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en-US" altLang="zh-CN" sz="2200" b="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∗</m:t>
                          </m:r>
                        </m:sup>
                      </m:sSup>
                    </m:oMath>
                  </a14:m>
                  <a:r>
                    <a:rPr kumimoji="1" lang="en-US" altLang="zh-CN" sz="2200" dirty="0">
                      <a:latin typeface="Cambria Math" panose="02040503050406030204" charset="0"/>
                      <a:ea typeface="黑体" panose="02010609060101010101" pitchFamily="49" charset="-122"/>
                      <a:cs typeface="Cambria Math" panose="02040503050406030204" charset="0"/>
                    </a:rPr>
                    <a:t>=</a:t>
                  </a:r>
                  <a:r>
                    <a:rPr kumimoji="1" lang="en-US" altLang="zh-CN" sz="2200" i="1" dirty="0">
                      <a:latin typeface="Cambria Math" panose="02040503050406030204" charset="0"/>
                      <a:ea typeface="黑体" panose="02010609060101010101" pitchFamily="49" charset="-122"/>
                      <a:cs typeface="Cambria Math" panose="0204050305040603020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kumimoji="1" lang="en-US" altLang="zh-CN" sz="2200" i="1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𝑎</m:t>
                      </m:r>
                      <m:func>
                        <m:func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200" b="0" i="0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cos</m:t>
                          </m:r>
                        </m:fName>
                        <m:e>
                          <m:r>
                            <a:rPr kumimoji="1" lang="en-US" altLang="zh-CN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𝑝</m:t>
                          </m:r>
                        </m:e>
                      </m:func>
                      <m:r>
                        <a:rPr kumimoji="1" lang="en-US" altLang="zh-CN" sz="2200" i="1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</m:oMath>
                  </a14:m>
                  <a:r>
                    <a:rPr kumimoji="1" lang="en-US" altLang="zh-CN" sz="2200" dirty="0">
                      <a:latin typeface="Cambria Math" panose="02040503050406030204" charset="0"/>
                      <a:ea typeface="黑体" panose="02010609060101010101" pitchFamily="49" charset="-122"/>
                      <a:cs typeface="Cambria Math" panose="02040503050406030204" charset="0"/>
                    </a:rPr>
                    <a:t>+</a:t>
                  </a:r>
                  <a:r>
                    <a:rPr kumimoji="1" lang="en-US" altLang="zh-CN" sz="2200" i="1" dirty="0">
                      <a:latin typeface="Cambria Math" panose="02040503050406030204" charset="0"/>
                      <a:ea typeface="黑体" panose="02010609060101010101" pitchFamily="49" charset="-122"/>
                      <a:cs typeface="Cambria Math" panose="02040503050406030204" charset="0"/>
                    </a:rPr>
                    <a:t>b </a:t>
                  </a:r>
                  <a14:m>
                    <m:oMath xmlns:m="http://schemas.openxmlformats.org/officeDocument/2006/math">
                      <m:func>
                        <m:func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sin</m:t>
                          </m:r>
                        </m:fName>
                        <m:e>
                          <m:r>
                            <a:rPr kumimoji="1" lang="en-US" altLang="zh-CN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𝑝</m:t>
                          </m:r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e>
                      </m:func>
                    </m:oMath>
                  </a14:m>
                  <a:r>
                    <a:rPr kumimoji="1" lang="en-US" altLang="zh-CN" sz="2200" i="1" dirty="0">
                      <a:latin typeface="Cambria Math" panose="02040503050406030204" charset="0"/>
                      <a:ea typeface="黑体" panose="02010609060101010101" pitchFamily="49" charset="-122"/>
                      <a:cs typeface="Cambria Math" panose="02040503050406030204" charset="0"/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16403" name="Text 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010" y="4031"/>
                  <a:ext cx="5670" cy="679"/>
                </a:xfrm>
                <a:prstGeom prst="rect">
                  <a:avLst/>
                </a:prstGeom>
                <a:blipFill>
                  <a:blip r:embed="rId6"/>
                  <a:stretch>
                    <a:fillRect t="-9859" b="-26761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矩形 3"/>
            <p:cNvSpPr/>
            <p:nvPr/>
          </p:nvSpPr>
          <p:spPr>
            <a:xfrm>
              <a:off x="6749" y="4225"/>
              <a:ext cx="155" cy="21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5506145" y="3095328"/>
            <a:ext cx="3644265" cy="917575"/>
            <a:chOff x="8079" y="4840"/>
            <a:chExt cx="5739" cy="144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05" name="Object 21"/>
                <p:cNvSpPr txBox="1"/>
                <p:nvPr/>
              </p:nvSpPr>
              <p:spPr bwMode="auto">
                <a:xfrm>
                  <a:off x="8079" y="4840"/>
                  <a:ext cx="5739" cy="144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𝑎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=0, 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𝑏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h</m:t>
                            </m:r>
                          </m:num>
                          <m:den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6405" name="Object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079" y="4840"/>
                  <a:ext cx="5739" cy="144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矩形 5"/>
            <p:cNvSpPr/>
            <p:nvPr/>
          </p:nvSpPr>
          <p:spPr>
            <a:xfrm>
              <a:off x="12665" y="5507"/>
              <a:ext cx="201" cy="1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816002" y="3879395"/>
            <a:ext cx="3512185" cy="917575"/>
            <a:chOff x="5961" y="6158"/>
            <a:chExt cx="5531" cy="144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07" name="Object 23"/>
                <p:cNvSpPr txBox="1"/>
                <p:nvPr/>
              </p:nvSpPr>
              <p:spPr bwMode="auto">
                <a:xfrm>
                  <a:off x="5961" y="6158"/>
                  <a:ext cx="4237" cy="144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p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∗</m:t>
                            </m:r>
                          </m:sup>
                        </m:sSup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h</m:t>
                            </m:r>
                          </m:num>
                          <m:den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sin</m:t>
                            </m:r>
                          </m:fName>
                          <m:e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𝑝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𝑡</m:t>
                            </m:r>
                          </m:e>
                        </m:func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6407" name="Object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61" y="6158"/>
                  <a:ext cx="4237" cy="144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矩形 7"/>
            <p:cNvSpPr/>
            <p:nvPr/>
          </p:nvSpPr>
          <p:spPr>
            <a:xfrm>
              <a:off x="11105" y="6697"/>
              <a:ext cx="387" cy="2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5394325" y="4748075"/>
            <a:ext cx="4577080" cy="917575"/>
            <a:chOff x="8495" y="7406"/>
            <a:chExt cx="7208" cy="144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09" name="Object 25"/>
                <p:cNvSpPr txBox="1"/>
                <p:nvPr/>
              </p:nvSpPr>
              <p:spPr bwMode="auto">
                <a:xfrm>
                  <a:off x="8495" y="7406"/>
                  <a:ext cx="7208" cy="144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𝐴</m:t>
                        </m:r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sin</m:t>
                            </m:r>
                          </m:fName>
                          <m:e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(</m:t>
                            </m:r>
                          </m:e>
                        </m:func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𝑘𝑡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𝜑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)+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h</m:t>
                            </m:r>
                          </m:num>
                          <m:den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sin</m:t>
                            </m:r>
                          </m:fName>
                          <m:e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𝑝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𝑡</m:t>
                            </m:r>
                          </m:e>
                        </m:func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6409" name="Object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495" y="7406"/>
                  <a:ext cx="7208" cy="144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矩形 9"/>
            <p:cNvSpPr/>
            <p:nvPr/>
          </p:nvSpPr>
          <p:spPr>
            <a:xfrm>
              <a:off x="9731" y="8319"/>
              <a:ext cx="278" cy="49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6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00" grpId="0" animBg="1"/>
      <p:bldP spid="16401" grpId="0" animBg="1"/>
      <p:bldP spid="16402" grpId="0" animBg="1"/>
      <p:bldP spid="16404" grpId="0" animBg="1"/>
      <p:bldP spid="16406" grpId="0" animBg="1"/>
      <p:bldP spid="1640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87070" y="726440"/>
            <a:ext cx="10817860" cy="5514340"/>
            <a:chOff x="1082" y="844"/>
            <a:chExt cx="17036" cy="8684"/>
          </a:xfrm>
        </p:grpSpPr>
        <p:sp>
          <p:nvSpPr>
            <p:cNvPr id="47" name="矩形 46"/>
            <p:cNvSpPr/>
            <p:nvPr/>
          </p:nvSpPr>
          <p:spPr>
            <a:xfrm>
              <a:off x="1082" y="846"/>
              <a:ext cx="17035" cy="86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半闭框 47"/>
            <p:cNvSpPr/>
            <p:nvPr/>
          </p:nvSpPr>
          <p:spPr>
            <a:xfrm>
              <a:off x="1082" y="845"/>
              <a:ext cx="1073" cy="116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半闭框 48"/>
            <p:cNvSpPr/>
            <p:nvPr/>
          </p:nvSpPr>
          <p:spPr>
            <a:xfrm flipH="1">
              <a:off x="17045" y="844"/>
              <a:ext cx="1073" cy="116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半闭框 39"/>
            <p:cNvSpPr/>
            <p:nvPr/>
          </p:nvSpPr>
          <p:spPr>
            <a:xfrm flipV="1">
              <a:off x="1082" y="8462"/>
              <a:ext cx="1073" cy="1061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半闭框 40"/>
            <p:cNvSpPr/>
            <p:nvPr/>
          </p:nvSpPr>
          <p:spPr>
            <a:xfrm flipH="1" flipV="1">
              <a:off x="17045" y="8431"/>
              <a:ext cx="1073" cy="1092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7429" name="Line 21"/>
          <p:cNvSpPr>
            <a:spLocks noChangeShapeType="1"/>
          </p:cNvSpPr>
          <p:nvPr/>
        </p:nvSpPr>
        <p:spPr bwMode="auto">
          <a:xfrm>
            <a:off x="1752600" y="1875656"/>
            <a:ext cx="8693151" cy="0"/>
          </a:xfrm>
          <a:prstGeom prst="line">
            <a:avLst/>
          </a:prstGeom>
          <a:noFill/>
          <a:ln w="9525">
            <a:solidFill>
              <a:srgbClr val="04926A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8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30" name="Object 22"/>
              <p:cNvSpPr txBox="1"/>
              <p:nvPr/>
            </p:nvSpPr>
            <p:spPr bwMode="auto">
              <a:xfrm>
                <a:off x="3487650" y="996631"/>
                <a:ext cx="4465638" cy="9175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200" i="1" dirty="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en-US" altLang="zh-CN" sz="2200" i="1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en-US" altLang="zh-CN" sz="2200" i="1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𝐴</m:t>
                      </m:r>
                      <m:func>
                        <m:func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sin</m:t>
                          </m:r>
                        </m:fName>
                        <m:e>
                          <m:r>
                            <a:rPr kumimoji="1" lang="en-US" altLang="zh-CN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</m:e>
                      </m:func>
                      <m:r>
                        <a:rPr kumimoji="1" lang="en-US" altLang="zh-CN" sz="2200" i="1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𝑝𝑡</m:t>
                      </m:r>
                      <m:r>
                        <a:rPr kumimoji="1" lang="en-US" altLang="zh-CN" sz="2200" i="1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r>
                        <a:rPr kumimoji="1" lang="en-US" altLang="zh-CN" sz="2200" i="1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𝜔</m:t>
                      </m:r>
                      <m:r>
                        <a:rPr kumimoji="1" lang="en-US" altLang="zh-CN" sz="2200" i="1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)+</m:t>
                      </m:r>
                      <m:f>
                        <m:f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en-US" altLang="zh-CN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h</m:t>
                          </m:r>
                        </m:num>
                        <m:den>
                          <m:sSup>
                            <m:sSupPr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200" i="1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kumimoji="1" lang="en-US" altLang="zh-CN" sz="2200" i="1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zh-CN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200" i="1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kumimoji="1" lang="en-US" altLang="zh-CN" sz="2200" i="1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func>
                        <m:func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sin</m:t>
                          </m:r>
                        </m:fName>
                        <m:e>
                          <m:r>
                            <a:rPr kumimoji="1" lang="en-US" altLang="zh-CN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𝑝</m:t>
                          </m:r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e>
                      </m:func>
                    </m:oMath>
                  </m:oMathPara>
                </a14:m>
                <a:endParaRPr kumimoji="1" lang="en-US" altLang="zh-CN" sz="22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7430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87650" y="996631"/>
                <a:ext cx="4465638" cy="9175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31" name="Text Box 23"/>
              <p:cNvSpPr txBox="1">
                <a:spLocks noChangeArrowheads="1"/>
              </p:cNvSpPr>
              <p:nvPr/>
            </p:nvSpPr>
            <p:spPr bwMode="auto">
              <a:xfrm>
                <a:off x="2532256" y="2037238"/>
                <a:ext cx="6109725" cy="42989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sz="22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通解的表达式表示</a:t>
                </a:r>
                <a14:m>
                  <m:oMath xmlns:m="http://schemas.openxmlformats.org/officeDocument/2006/math">
                    <m:r>
                      <a:rPr kumimoji="1" lang="en-US" altLang="zh-CN" sz="2200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kumimoji="1" lang="zh-CN" altLang="en-US" sz="22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 物体的运动由两部分组成.</a:t>
                </a:r>
              </a:p>
            </p:txBody>
          </p:sp>
        </mc:Choice>
        <mc:Fallback xmlns="">
          <p:sp>
            <p:nvSpPr>
              <p:cNvPr id="17431" name="Text 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32256" y="2037238"/>
                <a:ext cx="6109725" cy="429895"/>
              </a:xfrm>
              <a:prstGeom prst="rect">
                <a:avLst/>
              </a:prstGeom>
              <a:blipFill>
                <a:blip r:embed="rId4"/>
                <a:stretch>
                  <a:fillRect l="-1296" t="-14085" b="-239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34" name="Text Box 26"/>
          <p:cNvSpPr txBox="1">
            <a:spLocks noChangeArrowheads="1"/>
          </p:cNvSpPr>
          <p:nvPr/>
        </p:nvSpPr>
        <p:spPr bwMode="auto">
          <a:xfrm>
            <a:off x="8169859" y="2017076"/>
            <a:ext cx="863600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2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第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35" name="Text Box 27"/>
              <p:cNvSpPr txBox="1">
                <a:spLocks noChangeArrowheads="1"/>
              </p:cNvSpPr>
              <p:nvPr/>
            </p:nvSpPr>
            <p:spPr bwMode="auto">
              <a:xfrm>
                <a:off x="1973969" y="2590165"/>
                <a:ext cx="3600450" cy="42989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sz="22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一部分为</a:t>
                </a:r>
                <a:r>
                  <a:rPr kumimoji="1" lang="zh-CN" altLang="en-US" sz="2200" noProof="0" dirty="0">
                    <a:ln>
                      <a:noFill/>
                    </a:ln>
                    <a:solidFill>
                      <a:srgbClr val="04926A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自由振动</a:t>
                </a:r>
                <a14:m>
                  <m:oMath xmlns:m="http://schemas.openxmlformats.org/officeDocument/2006/math">
                    <m:r>
                      <a:rPr kumimoji="1" lang="en-US" altLang="zh-CN" sz="2200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endParaRPr lang="zh-CN" altLang="en-US" sz="28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435" name="Text 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73969" y="2590165"/>
                <a:ext cx="3600450" cy="429895"/>
              </a:xfrm>
              <a:prstGeom prst="rect">
                <a:avLst/>
              </a:prstGeom>
              <a:blipFill>
                <a:blip r:embed="rId5"/>
                <a:stretch>
                  <a:fillRect l="-2203" t="-14286" b="-2428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36" name="Text Box 28"/>
          <p:cNvSpPr txBox="1">
            <a:spLocks noChangeArrowheads="1"/>
          </p:cNvSpPr>
          <p:nvPr/>
        </p:nvSpPr>
        <p:spPr bwMode="auto">
          <a:xfrm>
            <a:off x="4409902" y="2590165"/>
            <a:ext cx="3673475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2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第二部分为</a:t>
            </a:r>
            <a:r>
              <a:rPr kumimoji="1" lang="zh-CN" altLang="en-US" sz="220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强迫振动</a:t>
            </a:r>
            <a:r>
              <a:rPr kumimoji="1" lang="zh-CN" altLang="en-US" sz="22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.</a:t>
            </a:r>
          </a:p>
        </p:txBody>
      </p:sp>
      <p:sp>
        <p:nvSpPr>
          <p:cNvPr id="17437" name="Text Box 29"/>
          <p:cNvSpPr txBox="1">
            <a:spLocks noChangeArrowheads="1"/>
          </p:cNvSpPr>
          <p:nvPr/>
        </p:nvSpPr>
        <p:spPr bwMode="auto">
          <a:xfrm>
            <a:off x="7039595" y="2590165"/>
            <a:ext cx="2087563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2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强迫振动是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38" name="Text Box 30"/>
              <p:cNvSpPr txBox="1">
                <a:spLocks noChangeArrowheads="1"/>
              </p:cNvSpPr>
              <p:nvPr/>
            </p:nvSpPr>
            <p:spPr bwMode="auto">
              <a:xfrm>
                <a:off x="1973969" y="3152616"/>
                <a:ext cx="4321175" cy="42989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sz="22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干扰</a:t>
                </a:r>
                <a:r>
                  <a:rPr kumimoji="1" lang="zh-CN" altLang="en-US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力</a:t>
                </a:r>
                <a:r>
                  <a:rPr kumimoji="1" lang="zh-CN" altLang="en-US" sz="22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引起的</a:t>
                </a:r>
                <a14:m>
                  <m:oMath xmlns:m="http://schemas.openxmlformats.org/officeDocument/2006/math">
                    <m:r>
                      <a:rPr kumimoji="1" lang="en-US" altLang="zh-CN" sz="2200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kumimoji="1" lang="zh-CN" altLang="en-US" sz="22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 它的角频率</a:t>
                </a:r>
              </a:p>
            </p:txBody>
          </p:sp>
        </mc:Choice>
        <mc:Fallback xmlns="">
          <p:sp>
            <p:nvSpPr>
              <p:cNvPr id="17438" name="Text 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73969" y="3152616"/>
                <a:ext cx="4321175" cy="429895"/>
              </a:xfrm>
              <a:prstGeom prst="rect">
                <a:avLst/>
              </a:prstGeom>
              <a:blipFill>
                <a:blip r:embed="rId6"/>
                <a:stretch>
                  <a:fillRect l="-1834" t="-14085" b="-239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39" name="Text Box 31"/>
          <p:cNvSpPr txBox="1">
            <a:spLocks noChangeArrowheads="1"/>
          </p:cNvSpPr>
          <p:nvPr/>
        </p:nvSpPr>
        <p:spPr bwMode="auto">
          <a:xfrm>
            <a:off x="1973969" y="3771946"/>
            <a:ext cx="360045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2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为干扰力的角频率</a:t>
            </a:r>
            <a:r>
              <a:rPr kumimoji="1" lang="en-US" altLang="zh-CN" sz="2200" i="1" dirty="0"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</a:rPr>
              <a:t>p .</a:t>
            </a:r>
          </a:p>
        </p:txBody>
      </p:sp>
      <p:sp>
        <p:nvSpPr>
          <p:cNvPr id="17440" name="Text Box 32"/>
          <p:cNvSpPr txBox="1">
            <a:spLocks noChangeArrowheads="1"/>
          </p:cNvSpPr>
          <p:nvPr/>
        </p:nvSpPr>
        <p:spPr bwMode="auto">
          <a:xfrm>
            <a:off x="4593979" y="3795553"/>
            <a:ext cx="1079500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2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当干</a:t>
            </a:r>
            <a:endParaRPr lang="zh-CN" altLang="en-US" sz="28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41" name="Rectangle 33"/>
          <p:cNvSpPr>
            <a:spLocks noChangeArrowheads="1"/>
          </p:cNvSpPr>
          <p:nvPr/>
        </p:nvSpPr>
        <p:spPr bwMode="auto">
          <a:xfrm>
            <a:off x="1973969" y="4380071"/>
            <a:ext cx="4403725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2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扰力的角频率与系统的固</a:t>
            </a:r>
            <a:endParaRPr lang="zh-CN" altLang="en-US" sz="28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42" name="Text Box 34"/>
              <p:cNvSpPr txBox="1">
                <a:spLocks noChangeArrowheads="1"/>
              </p:cNvSpPr>
              <p:nvPr/>
            </p:nvSpPr>
            <p:spPr bwMode="auto">
              <a:xfrm>
                <a:off x="1973652" y="4912360"/>
                <a:ext cx="2766060" cy="42989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sz="22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有频率相差很小时</a:t>
                </a:r>
                <a14:m>
                  <m:oMath xmlns:m="http://schemas.openxmlformats.org/officeDocument/2006/math">
                    <m:r>
                      <a:rPr kumimoji="1" lang="en-US" altLang="zh-CN" sz="2200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endParaRPr kumimoji="1" lang="zh-CN" altLang="en-US" sz="22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17442" name="Text 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73652" y="4912360"/>
                <a:ext cx="2766060" cy="429895"/>
              </a:xfrm>
              <a:prstGeom prst="rect">
                <a:avLst/>
              </a:prstGeom>
              <a:blipFill>
                <a:blip r:embed="rId7"/>
                <a:stretch>
                  <a:fillRect l="-2863" t="-14286" b="-2428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43" name="Text Box 35"/>
          <p:cNvSpPr txBox="1">
            <a:spLocks noChangeArrowheads="1"/>
          </p:cNvSpPr>
          <p:nvPr/>
        </p:nvSpPr>
        <p:spPr bwMode="auto">
          <a:xfrm>
            <a:off x="4452692" y="4912201"/>
            <a:ext cx="1223962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2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振幅</a:t>
            </a:r>
          </a:p>
        </p:txBody>
      </p:sp>
      <p:sp>
        <p:nvSpPr>
          <p:cNvPr id="17444" name="Text Box 36"/>
          <p:cNvSpPr txBox="1">
            <a:spLocks noChangeArrowheads="1"/>
          </p:cNvSpPr>
          <p:nvPr/>
        </p:nvSpPr>
        <p:spPr bwMode="auto">
          <a:xfrm>
            <a:off x="1973969" y="5410358"/>
            <a:ext cx="2089150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2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可以很大.</a:t>
            </a:r>
          </a:p>
        </p:txBody>
      </p:sp>
      <p:pic>
        <p:nvPicPr>
          <p:cNvPr id="4" name="图片 3" descr="图示, 直方图&#10;&#10;描述已自动生成">
            <a:extLst>
              <a:ext uri="{FF2B5EF4-FFF2-40B4-BE49-F238E27FC236}">
                <a16:creationId xmlns:a16="http://schemas.microsoft.com/office/drawing/2014/main" id="{FAE063A1-9A8E-AD75-3CE6-3321D8A933C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9988" y="3334669"/>
            <a:ext cx="3272651" cy="262395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7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7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7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31" grpId="0" animBg="1"/>
      <p:bldP spid="17434" grpId="0" animBg="1"/>
      <p:bldP spid="17435" grpId="0" animBg="1"/>
      <p:bldP spid="17436" grpId="0" animBg="1"/>
      <p:bldP spid="17437" grpId="0" animBg="1"/>
      <p:bldP spid="17438" grpId="0" animBg="1"/>
      <p:bldP spid="17439" grpId="0" animBg="1"/>
      <p:bldP spid="17440" grpId="0" animBg="1"/>
      <p:bldP spid="17441" grpId="0" animBg="1"/>
      <p:bldP spid="17442" grpId="0" animBg="1"/>
      <p:bldP spid="17443" grpId="0" animBg="1"/>
      <p:bldP spid="1744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87387" y="441483"/>
            <a:ext cx="10817225" cy="5511165"/>
            <a:chOff x="1082" y="844"/>
            <a:chExt cx="17035" cy="8679"/>
          </a:xfrm>
        </p:grpSpPr>
        <p:sp>
          <p:nvSpPr>
            <p:cNvPr id="3" name="矩形 2"/>
            <p:cNvSpPr/>
            <p:nvPr/>
          </p:nvSpPr>
          <p:spPr>
            <a:xfrm>
              <a:off x="1082" y="846"/>
              <a:ext cx="17035" cy="86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半闭框 3"/>
            <p:cNvSpPr/>
            <p:nvPr/>
          </p:nvSpPr>
          <p:spPr>
            <a:xfrm>
              <a:off x="1082" y="845"/>
              <a:ext cx="1073" cy="116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" name="半闭框 4"/>
            <p:cNvSpPr/>
            <p:nvPr/>
          </p:nvSpPr>
          <p:spPr>
            <a:xfrm flipH="1">
              <a:off x="17045" y="844"/>
              <a:ext cx="1073" cy="116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半闭框 5"/>
            <p:cNvSpPr/>
            <p:nvPr/>
          </p:nvSpPr>
          <p:spPr>
            <a:xfrm flipV="1">
              <a:off x="1082" y="8462"/>
              <a:ext cx="1073" cy="1061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半闭框 6"/>
            <p:cNvSpPr/>
            <p:nvPr/>
          </p:nvSpPr>
          <p:spPr>
            <a:xfrm flipH="1" flipV="1">
              <a:off x="17045" y="8431"/>
              <a:ext cx="1073" cy="1092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4143921" y="2062480"/>
            <a:ext cx="5184775" cy="431165"/>
            <a:chOff x="5813" y="3248"/>
            <a:chExt cx="8165" cy="6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48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5813" y="3248"/>
                  <a:ext cx="8165" cy="6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kumimoji="1" lang="zh-CN" altLang="en-US" sz="22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黑体" panose="02010609060101010101" pitchFamily="49" charset="-122"/>
                      <a:ea typeface="黑体" panose="02010609060101010101" pitchFamily="49" charset="-122"/>
                      <a:cs typeface="+mn-ea"/>
                    </a:rPr>
                    <a:t>此时</a:t>
                  </a:r>
                  <a:r>
                    <a:rPr lang="zh-CN" altLang="en-US" sz="2200" dirty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kumimoji="1" lang="en-US" altLang="zh-CN" sz="2200" i="1" dirty="0">
                      <a:latin typeface="Cambria Math" panose="02040503050406030204" charset="0"/>
                      <a:ea typeface="黑体" panose="02010609060101010101" pitchFamily="49" charset="-122"/>
                      <a:cs typeface="Cambria Math" panose="02040503050406030204" charset="0"/>
                      <a:sym typeface="Symbol" panose="05050102010706020507" pitchFamily="18" charset="2"/>
                    </a:rPr>
                    <a:t> </a:t>
                  </a:r>
                  <a:r>
                    <a:rPr kumimoji="1" lang="en-US" altLang="zh-CN" sz="2200" dirty="0">
                      <a:latin typeface="Cambria Math" panose="02040503050406030204" charset="0"/>
                      <a:ea typeface="黑体" panose="02010609060101010101" pitchFamily="49" charset="-122"/>
                      <a:cs typeface="Cambria Math" panose="02040503050406030204" charset="0"/>
                      <a:sym typeface="Symbol" panose="05050102010706020507" pitchFamily="18" charset="2"/>
                    </a:rPr>
                    <a:t></a:t>
                  </a:r>
                  <a:r>
                    <a:rPr kumimoji="1" lang="en-US" altLang="zh-CN" sz="2200" i="1" dirty="0">
                      <a:latin typeface="Cambria Math" panose="02040503050406030204" charset="0"/>
                      <a:ea typeface="黑体" panose="02010609060101010101" pitchFamily="49" charset="-122"/>
                      <a:cs typeface="Cambria Math" panose="02040503050406030204" charset="0"/>
                      <a:sym typeface="Symbol" panose="05050102010706020507" pitchFamily="18" charset="2"/>
                    </a:rPr>
                    <a:t> </a:t>
                  </a:r>
                  <a:r>
                    <a:rPr kumimoji="1" lang="en-US" altLang="zh-CN" sz="2200" dirty="0">
                      <a:latin typeface="Cambria Math" panose="02040503050406030204" charset="0"/>
                      <a:ea typeface="黑体" panose="02010609060101010101" pitchFamily="49" charset="-122"/>
                      <a:cs typeface="Cambria Math" panose="02040503050406030204" charset="0"/>
                      <a:sym typeface="Symbol" panose="05050102010706020507" pitchFamily="18" charset="2"/>
                    </a:rPr>
                    <a:t>i</a:t>
                  </a:r>
                  <a:r>
                    <a:rPr kumimoji="1" lang="en-US" altLang="zh-CN" sz="2200" i="1" dirty="0">
                      <a:latin typeface="Cambria Math" panose="02040503050406030204" charset="0"/>
                      <a:ea typeface="黑体" panose="02010609060101010101" pitchFamily="49" charset="-122"/>
                      <a:cs typeface="Cambria Math" panose="02040503050406030204" charset="0"/>
                      <a:sym typeface="Symbol" panose="05050102010706020507" pitchFamily="18" charset="2"/>
                    </a:rPr>
                    <a:t> </a:t>
                  </a:r>
                  <a:r>
                    <a:rPr kumimoji="1" lang="en-US" altLang="zh-CN" sz="2200" dirty="0">
                      <a:latin typeface="Cambria Math" panose="02040503050406030204" charset="0"/>
                      <a:ea typeface="黑体" panose="02010609060101010101" pitchFamily="49" charset="-122"/>
                      <a:cs typeface="Cambria Math" panose="02040503050406030204" charset="0"/>
                      <a:sym typeface="Symbol" panose="05050102010706020507" pitchFamily="18" charset="2"/>
                    </a:rPr>
                    <a:t>=  i</a:t>
                  </a:r>
                  <a14:m>
                    <m:oMath xmlns:m="http://schemas.openxmlformats.org/officeDocument/2006/math">
                      <m:r>
                        <a:rPr kumimoji="1" lang="en-US" altLang="zh-CN" sz="2200" i="1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𝑝</m:t>
                      </m:r>
                    </m:oMath>
                  </a14:m>
                  <a:r>
                    <a:rPr kumimoji="1" lang="zh-CN" altLang="en-US" sz="22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黑体" panose="02010609060101010101" pitchFamily="49" charset="-122"/>
                      <a:ea typeface="黑体" panose="02010609060101010101" pitchFamily="49" charset="-122"/>
                      <a:cs typeface="+mn-ea"/>
                      <a:sym typeface="Symbol" panose="05050102010706020507" pitchFamily="18" charset="2"/>
                    </a:rPr>
                    <a:t>是特征根</a:t>
                  </a:r>
                  <a14:m>
                    <m:oMath xmlns:m="http://schemas.openxmlformats.org/officeDocument/2006/math">
                      <m:r>
                        <a:rPr kumimoji="1" lang="en-US" altLang="zh-CN" sz="2200" i="1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a14:m>
                  <a:endParaRPr kumimoji="1" lang="zh-CN" altLang="en-US" sz="22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Symbol" panose="05050102010706020507" pitchFamily="18" charset="2"/>
                  </a:endParaRPr>
                </a:p>
              </p:txBody>
            </p:sp>
          </mc:Choice>
          <mc:Fallback xmlns="">
            <p:sp>
              <p:nvSpPr>
                <p:cNvPr id="18448" name="Text 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813" y="3248"/>
                  <a:ext cx="8165" cy="679"/>
                </a:xfrm>
                <a:prstGeom prst="rect">
                  <a:avLst/>
                </a:prstGeom>
                <a:blipFill>
                  <a:blip r:embed="rId3"/>
                  <a:stretch>
                    <a:fillRect l="-1529" t="-12676" b="-28169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矩形 9"/>
            <p:cNvSpPr/>
            <p:nvPr/>
          </p:nvSpPr>
          <p:spPr>
            <a:xfrm>
              <a:off x="7506" y="3283"/>
              <a:ext cx="119" cy="1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445" name="Object 13"/>
              <p:cNvSpPr txBox="1"/>
              <p:nvPr/>
            </p:nvSpPr>
            <p:spPr bwMode="auto">
              <a:xfrm>
                <a:off x="4709637" y="905352"/>
                <a:ext cx="2719387" cy="9175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220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2200" i="1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kumimoji="1" lang="en-US" altLang="zh-CN" sz="2200" i="1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zh-CN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en-US" altLang="zh-CN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200" i="1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kumimoji="1" lang="en-US" altLang="zh-CN" sz="2200" i="1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en-US" altLang="zh-CN" sz="2200" i="1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sSup>
                        <m:sSup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en-US" altLang="zh-CN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𝑘</m:t>
                          </m:r>
                        </m:e>
                        <m:sup>
                          <m:r>
                            <a:rPr kumimoji="1" lang="en-US" altLang="zh-CN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zh-CN" sz="2200" i="1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en-US" altLang="zh-CN" sz="2200" i="1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en-US" altLang="zh-CN" sz="2200" i="1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h</m:t>
                      </m:r>
                      <m:func>
                        <m:func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sin</m:t>
                          </m:r>
                        </m:fName>
                        <m:e>
                          <m:r>
                            <a:rPr kumimoji="1" lang="en-US" altLang="zh-CN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𝑝</m:t>
                          </m:r>
                          <m:r>
                            <a:rPr kumimoji="1" lang="en-US" altLang="zh-CN" sz="2200" b="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e>
                      </m:func>
                    </m:oMath>
                  </m:oMathPara>
                </a14:m>
                <a:endParaRPr kumimoji="1" lang="en-US" altLang="zh-CN" sz="22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8445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09637" y="905352"/>
                <a:ext cx="2719387" cy="9175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46" name="Line 14"/>
          <p:cNvSpPr>
            <a:spLocks noChangeShapeType="1"/>
          </p:cNvSpPr>
          <p:nvPr/>
        </p:nvSpPr>
        <p:spPr bwMode="auto">
          <a:xfrm>
            <a:off x="2120335" y="1841976"/>
            <a:ext cx="8856663" cy="0"/>
          </a:xfrm>
          <a:prstGeom prst="line">
            <a:avLst/>
          </a:prstGeom>
          <a:noFill/>
          <a:ln w="9525">
            <a:solidFill>
              <a:srgbClr val="04926A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2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49" name="Text Box 17"/>
          <p:cNvSpPr txBox="1">
            <a:spLocks noChangeArrowheads="1"/>
          </p:cNvSpPr>
          <p:nvPr/>
        </p:nvSpPr>
        <p:spPr bwMode="auto">
          <a:xfrm>
            <a:off x="7563396" y="2038853"/>
            <a:ext cx="2160588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2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故设特解为</a:t>
            </a:r>
          </a:p>
        </p:txBody>
      </p:sp>
      <p:sp>
        <p:nvSpPr>
          <p:cNvPr id="18452" name="Text Box 20"/>
          <p:cNvSpPr txBox="1">
            <a:spLocks noChangeArrowheads="1"/>
          </p:cNvSpPr>
          <p:nvPr/>
        </p:nvSpPr>
        <p:spPr bwMode="auto">
          <a:xfrm>
            <a:off x="3366100" y="3323748"/>
            <a:ext cx="3240088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2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代入上述方程求得</a:t>
            </a:r>
            <a:endParaRPr lang="zh-CN" altLang="en-US" sz="22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54" name="Text Box 22"/>
          <p:cNvSpPr txBox="1">
            <a:spLocks noChangeArrowheads="1"/>
          </p:cNvSpPr>
          <p:nvPr/>
        </p:nvSpPr>
        <p:spPr bwMode="auto">
          <a:xfrm>
            <a:off x="3316138" y="4152582"/>
            <a:ext cx="1223962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2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于是</a:t>
            </a:r>
          </a:p>
        </p:txBody>
      </p:sp>
      <p:sp>
        <p:nvSpPr>
          <p:cNvPr id="18456" name="Text Box 24"/>
          <p:cNvSpPr txBox="1">
            <a:spLocks noChangeArrowheads="1"/>
          </p:cNvSpPr>
          <p:nvPr/>
        </p:nvSpPr>
        <p:spPr bwMode="auto">
          <a:xfrm>
            <a:off x="3314452" y="4963795"/>
            <a:ext cx="3455987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2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此时方程的通解为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2786926" y="2038398"/>
            <a:ext cx="2085340" cy="429895"/>
            <a:chOff x="3676" y="3266"/>
            <a:chExt cx="3284" cy="6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47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3912" y="3266"/>
                  <a:ext cx="3048" cy="67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kumimoji="1" lang="en-US" altLang="zh-CN" sz="2200" dirty="0">
                      <a:solidFill>
                        <a:srgbClr val="04926A"/>
                      </a:solidFill>
                      <a:latin typeface="Cambria Math" panose="02040503050406030204" charset="0"/>
                      <a:ea typeface="黑体" panose="02010609060101010101" pitchFamily="49" charset="-122"/>
                      <a:cs typeface="Cambria Math" panose="02040503050406030204" charset="0"/>
                    </a:rPr>
                    <a:t>(2) </a:t>
                  </a:r>
                  <a14:m>
                    <m:oMath xmlns:m="http://schemas.openxmlformats.org/officeDocument/2006/math">
                      <m:r>
                        <a:rPr kumimoji="1" lang="en-US" altLang="zh-CN" sz="2200" b="0" i="1" dirty="0" smtClean="0">
                          <a:solidFill>
                            <a:srgbClr val="04926A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𝑝</m:t>
                      </m:r>
                    </m:oMath>
                  </a14:m>
                  <a:r>
                    <a:rPr kumimoji="1" lang="en-US" altLang="zh-CN" sz="2200" dirty="0">
                      <a:solidFill>
                        <a:srgbClr val="04926A"/>
                      </a:solidFill>
                      <a:latin typeface="Cambria Math" panose="02040503050406030204" charset="0"/>
                      <a:ea typeface="黑体" panose="02010609060101010101" pitchFamily="49" charset="-122"/>
                      <a:cs typeface="Cambria Math" panose="02040503050406030204" charset="0"/>
                      <a:sym typeface="Symbol" panose="05050102010706020507" pitchFamily="18" charset="2"/>
                    </a:rPr>
                    <a:t>=</a:t>
                  </a:r>
                  <a14:m>
                    <m:oMath xmlns:m="http://schemas.openxmlformats.org/officeDocument/2006/math">
                      <m:r>
                        <a:rPr kumimoji="1" lang="en-US" altLang="zh-CN" sz="2200" i="1" dirty="0">
                          <a:solidFill>
                            <a:srgbClr val="04926A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𝑘</m:t>
                      </m:r>
                    </m:oMath>
                  </a14:m>
                  <a:r>
                    <a:rPr kumimoji="1" lang="en-US" altLang="zh-CN" sz="2200" dirty="0">
                      <a:solidFill>
                        <a:srgbClr val="04926A"/>
                      </a:solidFill>
                      <a:latin typeface="Cambria Math" panose="02040503050406030204" charset="0"/>
                      <a:ea typeface="黑体" panose="02010609060101010101" pitchFamily="49" charset="-122"/>
                      <a:cs typeface="Cambria Math" panose="02040503050406030204" charset="0"/>
                      <a:sym typeface="Symbol" panose="05050102010706020507" pitchFamily="18" charset="2"/>
                    </a:rPr>
                    <a:t> .</a:t>
                  </a:r>
                  <a:endParaRPr lang="en-US" altLang="zh-CN" sz="2200" dirty="0">
                    <a:solidFill>
                      <a:srgbClr val="0000FF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  <a:sym typeface="Symbol" panose="05050102010706020507" pitchFamily="18" charset="2"/>
                  </a:endParaRPr>
                </a:p>
              </p:txBody>
            </p:sp>
          </mc:Choice>
          <mc:Fallback xmlns="">
            <p:sp>
              <p:nvSpPr>
                <p:cNvPr id="18447" name="Text 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912" y="3266"/>
                  <a:ext cx="3048" cy="677"/>
                </a:xfrm>
                <a:prstGeom prst="rect">
                  <a:avLst/>
                </a:prstGeom>
                <a:blipFill>
                  <a:blip r:embed="rId5"/>
                  <a:stretch>
                    <a:fillRect l="-4101" t="-8451" b="-28169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矩形 7"/>
            <p:cNvSpPr/>
            <p:nvPr/>
          </p:nvSpPr>
          <p:spPr>
            <a:xfrm>
              <a:off x="3676" y="3530"/>
              <a:ext cx="119" cy="12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4465218" y="2632710"/>
            <a:ext cx="3525533" cy="431165"/>
            <a:chOff x="6966" y="4146"/>
            <a:chExt cx="8392" cy="6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51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7148" y="4146"/>
                  <a:ext cx="8210" cy="6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14:m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20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∗</m:t>
                          </m:r>
                        </m:sup>
                      </m:sSup>
                    </m:oMath>
                  </a14:m>
                  <a:r>
                    <a:rPr kumimoji="1" lang="en-US" altLang="zh-CN" sz="2200" dirty="0">
                      <a:latin typeface="Cambria Math" panose="02040503050406030204" charset="0"/>
                      <a:ea typeface="黑体" panose="02010609060101010101" pitchFamily="49" charset="-122"/>
                      <a:cs typeface="Cambria Math" panose="02040503050406030204" charset="0"/>
                    </a:rPr>
                    <a:t>= </a:t>
                  </a:r>
                  <a:r>
                    <a:rPr kumimoji="1" lang="en-US" altLang="zh-CN" sz="2200" i="1" dirty="0">
                      <a:latin typeface="Cambria Math" panose="02040503050406030204" charset="0"/>
                      <a:ea typeface="黑体" panose="02010609060101010101" pitchFamily="49" charset="-122"/>
                      <a:cs typeface="Cambria Math" panose="02040503050406030204" charset="0"/>
                    </a:rPr>
                    <a:t>t </a:t>
                  </a:r>
                  <a:r>
                    <a:rPr kumimoji="1" lang="en-US" altLang="zh-CN" sz="2200" dirty="0">
                      <a:latin typeface="Cambria Math" panose="02040503050406030204" charset="0"/>
                      <a:ea typeface="黑体" panose="02010609060101010101" pitchFamily="49" charset="-122"/>
                      <a:cs typeface="Cambria Math" panose="02040503050406030204" charset="0"/>
                    </a:rPr>
                    <a:t>(</a:t>
                  </a:r>
                  <a14:m>
                    <m:oMath xmlns:m="http://schemas.openxmlformats.org/officeDocument/2006/math">
                      <m:r>
                        <a:rPr kumimoji="1" lang="en-US" altLang="zh-CN" sz="2200" i="1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𝑎</m:t>
                      </m:r>
                      <m:r>
                        <a:rPr kumimoji="1" lang="en-US" altLang="zh-CN" sz="2200" i="1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 </m:t>
                      </m:r>
                      <m:func>
                        <m:func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cos</m:t>
                          </m:r>
                        </m:fName>
                        <m:e>
                          <m:r>
                            <a:rPr kumimoji="1" lang="en-US" altLang="zh-CN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𝑘</m:t>
                          </m:r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e>
                      </m:func>
                      <m:r>
                        <a:rPr kumimoji="1" lang="en-US" altLang="zh-CN" sz="2200" b="0" i="0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r>
                        <a:rPr kumimoji="1" lang="en-US" altLang="zh-CN" sz="2200" b="0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𝑏</m:t>
                      </m:r>
                    </m:oMath>
                  </a14:m>
                  <a:r>
                    <a:rPr kumimoji="1" lang="en-US" altLang="zh-CN" sz="2200" dirty="0">
                      <a:latin typeface="Cambria Math" panose="02040503050406030204" charset="0"/>
                      <a:ea typeface="黑体" panose="02010609060101010101" pitchFamily="49" charset="-122"/>
                      <a:cs typeface="Cambria Math" panose="02040503050406030204" charset="0"/>
                    </a:rPr>
                    <a:t> sin</a:t>
                  </a:r>
                  <a:r>
                    <a:rPr kumimoji="1" lang="en-US" altLang="zh-CN" sz="2200" dirty="0">
                      <a:ea typeface="黑体" panose="02010609060101010101" pitchFamily="49" charset="-122"/>
                      <a:cs typeface="Cambria Math" panose="0204050305040603020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kumimoji="1" lang="en-US" altLang="zh-CN" sz="2200" b="0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𝑘𝑡</m:t>
                      </m:r>
                    </m:oMath>
                  </a14:m>
                  <a:r>
                    <a:rPr kumimoji="1" lang="en-US" altLang="zh-CN" sz="2200" dirty="0">
                      <a:latin typeface="Cambria Math" panose="02040503050406030204" charset="0"/>
                      <a:ea typeface="黑体" panose="02010609060101010101" pitchFamily="49" charset="-122"/>
                      <a:cs typeface="Cambria Math" panose="02040503050406030204" charset="0"/>
                    </a:rPr>
                    <a:t>).</a:t>
                  </a:r>
                  <a:r>
                    <a:rPr kumimoji="1" lang="en-US" altLang="zh-CN" sz="2200" dirty="0">
                      <a:ea typeface="黑体" panose="02010609060101010101" pitchFamily="49" charset="-122"/>
                    </a:rPr>
                    <a:t> </a:t>
                  </a:r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8451" name="Text 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148" y="4146"/>
                  <a:ext cx="8210" cy="679"/>
                </a:xfrm>
                <a:prstGeom prst="rect">
                  <a:avLst/>
                </a:prstGeom>
                <a:blipFill>
                  <a:blip r:embed="rId6"/>
                  <a:stretch>
                    <a:fillRect t="-12676" r="-530" b="-23944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矩形 11"/>
            <p:cNvSpPr/>
            <p:nvPr/>
          </p:nvSpPr>
          <p:spPr>
            <a:xfrm>
              <a:off x="6966" y="4349"/>
              <a:ext cx="262" cy="1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5652046" y="3098165"/>
            <a:ext cx="3633470" cy="861695"/>
            <a:chOff x="8188" y="4843"/>
            <a:chExt cx="5722" cy="13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53" name="Object 21"/>
                <p:cNvSpPr txBox="1"/>
                <p:nvPr/>
              </p:nvSpPr>
              <p:spPr bwMode="auto">
                <a:xfrm>
                  <a:off x="8188" y="4843"/>
                  <a:ext cx="5722" cy="135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spcBef>
                      <a:spcPct val="50000"/>
                    </a:spcBef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𝑎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=−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h</m:t>
                            </m:r>
                          </m:num>
                          <m:den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𝑘</m:t>
                            </m:r>
                          </m:den>
                        </m:f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𝑏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=0.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8453" name="Object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188" y="4843"/>
                  <a:ext cx="5722" cy="135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矩形 13"/>
            <p:cNvSpPr/>
            <p:nvPr/>
          </p:nvSpPr>
          <p:spPr>
            <a:xfrm>
              <a:off x="11522" y="5368"/>
              <a:ext cx="248" cy="2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4776171" y="3953510"/>
            <a:ext cx="4047233" cy="862330"/>
            <a:chOff x="7228" y="6238"/>
            <a:chExt cx="4693" cy="13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55" name="Object 23"/>
                <p:cNvSpPr txBox="1"/>
                <p:nvPr/>
              </p:nvSpPr>
              <p:spPr bwMode="auto">
                <a:xfrm>
                  <a:off x="8121" y="6238"/>
                  <a:ext cx="3800" cy="135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spcBef>
                      <a:spcPct val="50000"/>
                    </a:spcBef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p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∗</m:t>
                            </m:r>
                          </m:sup>
                        </m:sSup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=−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h</m:t>
                            </m:r>
                          </m:num>
                          <m:den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𝑘</m:t>
                            </m:r>
                          </m:den>
                        </m:f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𝑡</m:t>
                        </m:r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cos</m:t>
                            </m:r>
                          </m:fName>
                          <m:e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𝑘</m:t>
                            </m:r>
                            <m:r>
                              <a:rPr kumimoji="1" lang="en-US" altLang="zh-CN" sz="2200" b="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𝑡</m:t>
                            </m:r>
                          </m:e>
                        </m:func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8455" name="Object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121" y="6238"/>
                  <a:ext cx="3800" cy="135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矩形 15"/>
            <p:cNvSpPr/>
            <p:nvPr/>
          </p:nvSpPr>
          <p:spPr>
            <a:xfrm>
              <a:off x="7228" y="6465"/>
              <a:ext cx="232" cy="2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5652046" y="4765040"/>
            <a:ext cx="4677410" cy="861695"/>
            <a:chOff x="8188" y="7612"/>
            <a:chExt cx="7366" cy="13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57" name="Object 25"/>
                <p:cNvSpPr txBox="1"/>
                <p:nvPr/>
              </p:nvSpPr>
              <p:spPr bwMode="auto">
                <a:xfrm>
                  <a:off x="8188" y="7612"/>
                  <a:ext cx="7366" cy="135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spcBef>
                      <a:spcPct val="50000"/>
                    </a:spcBef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i="1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r>
                          <a:rPr kumimoji="1" lang="en-US" altLang="zh-CN" sz="2200" i="1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𝐴</m:t>
                        </m:r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sin</m:t>
                            </m:r>
                          </m:fName>
                          <m:e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(</m:t>
                            </m:r>
                          </m:e>
                        </m:func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𝑘𝑡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𝜔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)−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h</m:t>
                            </m:r>
                          </m:num>
                          <m:den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𝑘</m:t>
                            </m:r>
                          </m:den>
                        </m:f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𝑡</m:t>
                        </m:r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cos</m:t>
                            </m:r>
                          </m:fName>
                          <m:e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𝑘</m:t>
                            </m:r>
                            <m:r>
                              <a:rPr kumimoji="1" lang="en-US" altLang="zh-CN" sz="2200" b="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𝑡</m:t>
                            </m:r>
                          </m:e>
                        </m:func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8457" name="Object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188" y="7612"/>
                  <a:ext cx="7366" cy="135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矩形 17"/>
            <p:cNvSpPr/>
            <p:nvPr/>
          </p:nvSpPr>
          <p:spPr>
            <a:xfrm>
              <a:off x="11105" y="8566"/>
              <a:ext cx="186" cy="1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49" grpId="0" animBg="1"/>
      <p:bldP spid="18452" grpId="0" animBg="1"/>
      <p:bldP spid="18454" grpId="0" animBg="1"/>
      <p:bldP spid="1845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87070" y="535940"/>
            <a:ext cx="10817225" cy="5511165"/>
            <a:chOff x="1082" y="844"/>
            <a:chExt cx="17035" cy="8679"/>
          </a:xfrm>
        </p:grpSpPr>
        <p:sp>
          <p:nvSpPr>
            <p:cNvPr id="47" name="矩形 46"/>
            <p:cNvSpPr/>
            <p:nvPr/>
          </p:nvSpPr>
          <p:spPr>
            <a:xfrm>
              <a:off x="1082" y="846"/>
              <a:ext cx="17035" cy="86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半闭框 47"/>
            <p:cNvSpPr/>
            <p:nvPr/>
          </p:nvSpPr>
          <p:spPr>
            <a:xfrm>
              <a:off x="1082" y="845"/>
              <a:ext cx="1073" cy="116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半闭框 48"/>
            <p:cNvSpPr/>
            <p:nvPr/>
          </p:nvSpPr>
          <p:spPr>
            <a:xfrm flipH="1">
              <a:off x="17045" y="844"/>
              <a:ext cx="1073" cy="116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半闭框 39"/>
            <p:cNvSpPr/>
            <p:nvPr/>
          </p:nvSpPr>
          <p:spPr>
            <a:xfrm flipV="1">
              <a:off x="1082" y="8462"/>
              <a:ext cx="1073" cy="1061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半闭框 40"/>
            <p:cNvSpPr/>
            <p:nvPr/>
          </p:nvSpPr>
          <p:spPr>
            <a:xfrm flipH="1" flipV="1">
              <a:off x="17045" y="8431"/>
              <a:ext cx="1073" cy="1092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9460" name="Line 4"/>
          <p:cNvSpPr>
            <a:spLocks noChangeShapeType="1"/>
          </p:cNvSpPr>
          <p:nvPr/>
        </p:nvSpPr>
        <p:spPr bwMode="auto">
          <a:xfrm>
            <a:off x="1667669" y="1656008"/>
            <a:ext cx="8856663" cy="0"/>
          </a:xfrm>
          <a:prstGeom prst="line">
            <a:avLst/>
          </a:prstGeom>
          <a:noFill/>
          <a:ln w="9525">
            <a:solidFill>
              <a:srgbClr val="04926A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8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61" name="Object 5"/>
              <p:cNvSpPr txBox="1"/>
              <p:nvPr/>
            </p:nvSpPr>
            <p:spPr bwMode="auto">
              <a:xfrm>
                <a:off x="4132431" y="806439"/>
                <a:ext cx="4051429" cy="86233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buClrTx/>
                  <a:buSzTx/>
                  <a:buFontTx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200" i="1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en-US" altLang="zh-CN" sz="2200" i="1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en-US" altLang="zh-CN" sz="2200" i="1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𝐴</m:t>
                      </m:r>
                      <m:func>
                        <m:func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sin</m:t>
                          </m:r>
                        </m:fName>
                        <m:e>
                          <m:r>
                            <a:rPr kumimoji="1" lang="en-US" altLang="zh-CN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</m:e>
                      </m:func>
                      <m:r>
                        <a:rPr kumimoji="1" lang="en-US" altLang="zh-CN" sz="2200" i="1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𝑘𝑡</m:t>
                      </m:r>
                      <m:r>
                        <a:rPr kumimoji="1" lang="en-US" altLang="zh-CN" sz="2200" i="1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r>
                        <a:rPr kumimoji="1" lang="en-US" altLang="zh-CN" sz="2200" i="1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𝜔</m:t>
                      </m:r>
                      <m:r>
                        <a:rPr kumimoji="1" lang="en-US" altLang="zh-CN" sz="2200" i="1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)−</m:t>
                      </m:r>
                      <m:f>
                        <m:f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en-US" altLang="zh-CN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h</m:t>
                          </m:r>
                        </m:num>
                        <m:den>
                          <m:r>
                            <a:rPr kumimoji="1" lang="en-US" altLang="zh-CN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  <m:r>
                            <a:rPr kumimoji="1" lang="en-US" altLang="zh-CN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𝑘</m:t>
                          </m:r>
                        </m:den>
                      </m:f>
                      <m:r>
                        <a:rPr kumimoji="1" lang="en-US" altLang="zh-CN" sz="2200" i="1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  <m:func>
                        <m:func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cos</m:t>
                          </m:r>
                        </m:fName>
                        <m:e>
                          <m:r>
                            <a:rPr kumimoji="1" lang="en-US" altLang="zh-CN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𝑘</m:t>
                          </m:r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e>
                      </m:func>
                    </m:oMath>
                  </m:oMathPara>
                </a14:m>
                <a:endParaRPr kumimoji="1" lang="en-US" altLang="zh-CN" sz="22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9461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32431" y="806439"/>
                <a:ext cx="4051429" cy="862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462" name="Text Box 6"/>
              <p:cNvSpPr txBox="1">
                <a:spLocks noChangeArrowheads="1"/>
              </p:cNvSpPr>
              <p:nvPr/>
            </p:nvSpPr>
            <p:spPr bwMode="auto">
              <a:xfrm>
                <a:off x="2962764" y="1958499"/>
                <a:ext cx="5688013" cy="42989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sz="22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上式第二项表明</a:t>
                </a:r>
                <a14:m>
                  <m:oMath xmlns:m="http://schemas.openxmlformats.org/officeDocument/2006/math">
                    <m:r>
                      <a:rPr kumimoji="1" lang="en-US" altLang="zh-CN" sz="2200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kumimoji="1" lang="zh-CN" altLang="en-US" sz="22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 强迫振动的振幅</a:t>
                </a:r>
              </a:p>
            </p:txBody>
          </p:sp>
        </mc:Choice>
        <mc:Fallback xmlns="">
          <p:sp>
            <p:nvSpPr>
              <p:cNvPr id="19462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62764" y="1958499"/>
                <a:ext cx="5688013" cy="429895"/>
              </a:xfrm>
              <a:prstGeom prst="rect">
                <a:avLst/>
              </a:prstGeom>
              <a:blipFill>
                <a:blip r:embed="rId4"/>
                <a:stretch>
                  <a:fillRect l="-1393" t="-12676" b="-239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465" name="Text Box 9"/>
              <p:cNvSpPr txBox="1">
                <a:spLocks noChangeArrowheads="1"/>
              </p:cNvSpPr>
              <p:nvPr/>
            </p:nvSpPr>
            <p:spPr bwMode="auto">
              <a:xfrm>
                <a:off x="7764462" y="1968342"/>
                <a:ext cx="2087563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sz="22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随时间</a:t>
                </a:r>
                <a14:m>
                  <m:oMath xmlns:m="http://schemas.openxmlformats.org/officeDocument/2006/math">
                    <m:r>
                      <a:rPr kumimoji="1" lang="en-US" altLang="zh-CN" sz="2200" b="0" i="0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  <m:r>
                      <a:rPr kumimoji="1" lang="en-US" altLang="zh-CN" sz="2200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𝑡</m:t>
                    </m:r>
                  </m:oMath>
                </a14:m>
                <a:r>
                  <a:rPr kumimoji="1" lang="zh-CN" altLang="en-US" sz="22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的</a:t>
                </a:r>
              </a:p>
            </p:txBody>
          </p:sp>
        </mc:Choice>
        <mc:Fallback xmlns="">
          <p:sp>
            <p:nvSpPr>
              <p:cNvPr id="19465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64462" y="1968342"/>
                <a:ext cx="2087563" cy="430887"/>
              </a:xfrm>
              <a:prstGeom prst="rect">
                <a:avLst/>
              </a:prstGeom>
              <a:blipFill>
                <a:blip r:embed="rId5"/>
                <a:stretch>
                  <a:fillRect l="-3801" t="-14085" b="-225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466" name="Text Box 10"/>
          <p:cNvSpPr txBox="1">
            <a:spLocks noChangeArrowheads="1"/>
          </p:cNvSpPr>
          <p:nvPr/>
        </p:nvSpPr>
        <p:spPr bwMode="auto">
          <a:xfrm>
            <a:off x="2981655" y="2489199"/>
            <a:ext cx="3024188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2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增大而无限增大.</a:t>
            </a:r>
          </a:p>
        </p:txBody>
      </p:sp>
      <p:sp>
        <p:nvSpPr>
          <p:cNvPr id="19467" name="Text Box 11"/>
          <p:cNvSpPr txBox="1">
            <a:spLocks noChangeArrowheads="1"/>
          </p:cNvSpPr>
          <p:nvPr/>
        </p:nvSpPr>
        <p:spPr bwMode="auto">
          <a:xfrm>
            <a:off x="5066519" y="2481579"/>
            <a:ext cx="4105275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2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这就发生所谓</a:t>
            </a:r>
            <a:r>
              <a:rPr kumimoji="1" lang="zh-CN" altLang="en-US" sz="220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共振现象.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7176307" y="1742440"/>
            <a:ext cx="666750" cy="862330"/>
            <a:chOff x="11172" y="2744"/>
            <a:chExt cx="1050" cy="13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464" name="Object 8"/>
                <p:cNvSpPr txBox="1"/>
                <p:nvPr/>
              </p:nvSpPr>
              <p:spPr bwMode="auto">
                <a:xfrm>
                  <a:off x="11172" y="2744"/>
                  <a:ext cx="1050" cy="135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h</m:t>
                            </m:r>
                          </m:num>
                          <m:den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𝑘</m:t>
                            </m:r>
                          </m:den>
                        </m:f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𝑡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9464" name="Object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172" y="2744"/>
                  <a:ext cx="1050" cy="135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矩形 2"/>
            <p:cNvSpPr/>
            <p:nvPr/>
          </p:nvSpPr>
          <p:spPr>
            <a:xfrm>
              <a:off x="11553" y="3221"/>
              <a:ext cx="356" cy="27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pic>
        <p:nvPicPr>
          <p:cNvPr id="6" name="图片 5" descr="图表, 折线图&#10;&#10;描述已自动生成">
            <a:extLst>
              <a:ext uri="{FF2B5EF4-FFF2-40B4-BE49-F238E27FC236}">
                <a16:creationId xmlns:a16="http://schemas.microsoft.com/office/drawing/2014/main" id="{7B23266D-6DF0-B7AF-7D06-AFC65DCD76E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4595" y="3019899"/>
            <a:ext cx="2455087" cy="25974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9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2" grpId="0" bldLvl="0" animBg="1"/>
      <p:bldP spid="19465" grpId="0" bldLvl="0" animBg="1"/>
      <p:bldP spid="19466" grpId="0" animBg="1"/>
      <p:bldP spid="1946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WUwODVlNWViNTUwZGNmYjJiN2I2OTY5OTc2YzYwN2IifQ=="/>
  <p:tag name="KSO_WPP_MARK_KEY" val="181bc904-b883-4bfd-a95d-73c44af88f6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00000">
              <a:srgbClr val="007434">
                <a:alpha val="31000"/>
              </a:srgbClr>
            </a:gs>
            <a:gs pos="4000">
              <a:schemeClr val="bg1">
                <a:alpha val="0"/>
              </a:schemeClr>
            </a:gs>
          </a:gsLst>
          <a:lin ang="15600000" scaled="0"/>
          <a:tileRect/>
        </a:gradFill>
        <a:ln>
          <a:noFill/>
        </a:ln>
      </a:spPr>
      <a:bodyPr rtlCol="0" anchor="ctr"/>
      <a:lstStyle>
        <a:defPPr algn="ctr">
          <a:defRPr>
            <a:latin typeface="字魂36号-正文宋楷" panose="00000500000000000000" pitchFamily="2" charset="-122"/>
            <a:ea typeface="字魂36号-正文宋楷" panose="00000500000000000000" pitchFamily="2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493</TotalTime>
  <Words>2144</Words>
  <Application>Microsoft Office PowerPoint</Application>
  <PresentationFormat>宽屏</PresentationFormat>
  <Paragraphs>325</Paragraphs>
  <Slides>26</Slides>
  <Notes>14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8" baseType="lpstr">
      <vt:lpstr>黑体</vt:lpstr>
      <vt:lpstr>华文中宋</vt:lpstr>
      <vt:lpstr>宋体</vt:lpstr>
      <vt:lpstr>微软雅黑</vt:lpstr>
      <vt:lpstr>字魂36号-正文宋楷</vt:lpstr>
      <vt:lpstr>Arial</vt:lpstr>
      <vt:lpstr>Calibri</vt:lpstr>
      <vt:lpstr>Calibri Light</vt:lpstr>
      <vt:lpstr>Calisto MT</vt:lpstr>
      <vt:lpstr>Cambria Math</vt:lpstr>
      <vt:lpstr>Office 主题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HEP</dc:creator>
  <cp:lastModifiedBy>yang fan</cp:lastModifiedBy>
  <cp:revision>408</cp:revision>
  <dcterms:created xsi:type="dcterms:W3CDTF">2022-03-21T05:54:00Z</dcterms:created>
  <dcterms:modified xsi:type="dcterms:W3CDTF">2023-07-05T08:37:43Z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C93CED513F0B46FCBF998E52C285068F</vt:lpwstr>
  </property>
  <property fmtid="{D5CDD505-2E9C-101B-9397-08002B2CF9AE}" pid="3" name="KSOProductBuildVer">
    <vt:lpwstr>2052-11.1.0.11830</vt:lpwstr>
  </property>
</Properties>
</file>