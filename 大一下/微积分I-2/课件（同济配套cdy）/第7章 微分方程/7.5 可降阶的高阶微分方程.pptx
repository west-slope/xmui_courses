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679" r:id="rId3"/>
    <p:sldId id="664" r:id="rId4"/>
    <p:sldId id="665" r:id="rId5"/>
    <p:sldId id="264" r:id="rId6"/>
    <p:sldId id="783" r:id="rId7"/>
    <p:sldId id="784" r:id="rId8"/>
    <p:sldId id="785" r:id="rId9"/>
    <p:sldId id="786" r:id="rId10"/>
    <p:sldId id="787" r:id="rId11"/>
    <p:sldId id="788" r:id="rId12"/>
    <p:sldId id="789" r:id="rId13"/>
    <p:sldId id="790" r:id="rId14"/>
    <p:sldId id="791" r:id="rId15"/>
    <p:sldId id="792" r:id="rId16"/>
    <p:sldId id="793" r:id="rId17"/>
    <p:sldId id="794" r:id="rId18"/>
    <p:sldId id="795" r:id="rId19"/>
    <p:sldId id="796" r:id="rId20"/>
    <p:sldId id="797" r:id="rId21"/>
    <p:sldId id="364" r:id="rId22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527" userDrawn="1">
          <p15:clr>
            <a:srgbClr val="A4A3A4"/>
          </p15:clr>
        </p15:guide>
        <p15:guide id="2" orient="horz" pos="24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FF0000"/>
    <a:srgbClr val="4A7BA8"/>
    <a:srgbClr val="3333CC"/>
    <a:srgbClr val="335AE6"/>
    <a:srgbClr val="EEF9FE"/>
    <a:srgbClr val="019B4E"/>
    <a:srgbClr val="1D9D79"/>
    <a:srgbClr val="BBBBBB"/>
    <a:srgbClr val="E3F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960" autoAdjust="0"/>
    <p:restoredTop sz="97078" autoAdjust="0"/>
  </p:normalViewPr>
  <p:slideViewPr>
    <p:cSldViewPr snapToGrid="0" showGuides="1">
      <p:cViewPr varScale="1">
        <p:scale>
          <a:sx n="73" d="100"/>
          <a:sy n="73" d="100"/>
        </p:scale>
        <p:origin x="60" y="144"/>
      </p:cViewPr>
      <p:guideLst>
        <p:guide pos="1527"/>
        <p:guide orient="horz" pos="24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1011463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05790" y="6461760"/>
            <a:ext cx="287020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可降阶的高阶微分方程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3376864" y="6615405"/>
            <a:ext cx="8820000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387590" y="112357"/>
            <a:ext cx="15855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第七章 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0D07E45-A9AA-253A-2286-9B92E5644ED0}"/>
              </a:ext>
            </a:extLst>
          </p:cNvPr>
          <p:cNvCxnSpPr/>
          <p:nvPr userDrawn="1"/>
        </p:nvCxnSpPr>
        <p:spPr>
          <a:xfrm>
            <a:off x="-10633" y="255183"/>
            <a:ext cx="9828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,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仅供受赠老师本人用于“高等数学”课堂教学。未经许可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,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48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5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8.png"/><Relationship Id="rId10" Type="http://schemas.openxmlformats.org/officeDocument/2006/relationships/image" Target="../media/image16.png"/><Relationship Id="rId4" Type="http://schemas.openxmlformats.org/officeDocument/2006/relationships/image" Target="../media/image7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0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90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10" Type="http://schemas.openxmlformats.org/officeDocument/2006/relationships/image" Target="../media/image5.jpe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0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65.png"/><Relationship Id="rId5" Type="http://schemas.openxmlformats.org/officeDocument/2006/relationships/image" Target="../media/image31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8.png"/><Relationship Id="rId7" Type="http://schemas.openxmlformats.org/officeDocument/2006/relationships/image" Target="../media/image69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73.png"/><Relationship Id="rId5" Type="http://schemas.openxmlformats.org/officeDocument/2006/relationships/image" Target="../media/image59.png"/><Relationship Id="rId15" Type="http://schemas.openxmlformats.org/officeDocument/2006/relationships/image" Target="../media/image6.jpeg"/><Relationship Id="rId10" Type="http://schemas.openxmlformats.org/officeDocument/2006/relationships/image" Target="../media/image72.png"/><Relationship Id="rId4" Type="http://schemas.openxmlformats.org/officeDocument/2006/relationships/image" Target="../media/image43.png"/><Relationship Id="rId9" Type="http://schemas.openxmlformats.org/officeDocument/2006/relationships/image" Target="../media/image71.png"/><Relationship Id="rId1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20.png"/><Relationship Id="rId7" Type="http://schemas.openxmlformats.org/officeDocument/2006/relationships/image" Target="../media/image98.png"/><Relationship Id="rId2" Type="http://schemas.openxmlformats.org/officeDocument/2006/relationships/image" Target="../media/image9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0.png"/><Relationship Id="rId9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1.png"/><Relationship Id="rId3" Type="http://schemas.openxmlformats.org/officeDocument/2006/relationships/image" Target="../media/image115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20.png"/><Relationship Id="rId4" Type="http://schemas.openxmlformats.org/officeDocument/2006/relationships/image" Target="../media/image116.png"/><Relationship Id="rId9" Type="http://schemas.openxmlformats.org/officeDocument/2006/relationships/image" Target="../media/image69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2.png"/><Relationship Id="rId11" Type="http://schemas.openxmlformats.org/officeDocument/2006/relationships/image" Target="../media/image135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>
            <a:extLst>
              <a:ext uri="{FF2B5EF4-FFF2-40B4-BE49-F238E27FC236}">
                <a16:creationId xmlns:a16="http://schemas.microsoft.com/office/drawing/2014/main" id="{7E27F1AC-AD87-4217-935F-6A5D24FFC9D3}"/>
              </a:ext>
            </a:extLst>
          </p:cNvPr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2000000000000000000" pitchFamily="2" charset="-122"/>
              <a:ea typeface="字魂36号-正文宋楷" panose="02000000000000000000" pitchFamily="2" charset="-122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93397C8-B2D9-4E67-AF1E-E82D608FF52A}"/>
              </a:ext>
            </a:extLst>
          </p:cNvPr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A78A399D-A9FF-4852-908C-0BB3167A460B}"/>
              </a:ext>
            </a:extLst>
          </p:cNvPr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0EBEB345-2912-4E4B-832E-6FF90E594A59}"/>
              </a:ext>
            </a:extLst>
          </p:cNvPr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533888-24AB-4B09-992C-9E7FBB903E1A}"/>
              </a:ext>
            </a:extLst>
          </p:cNvPr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  <p:extLst>
      <p:ext uri="{BB962C8B-B14F-4D97-AF65-F5344CB8AC3E}">
        <p14:creationId xmlns:p14="http://schemas.microsoft.com/office/powerpoint/2010/main" val="117059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14237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1735983" y="3843270"/>
            <a:ext cx="8388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604010" y="4450080"/>
            <a:ext cx="2087880" cy="1557020"/>
            <a:chOff x="3633" y="6990"/>
            <a:chExt cx="3288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4265" y="6786"/>
              <a:ext cx="2023" cy="3288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4016" y="6990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实际问题</a:t>
              </a:r>
              <a:endParaRPr lang="zh-CN" alt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4169" y="8068"/>
              <a:ext cx="2216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400" b="1" dirty="0">
                  <a:sym typeface="+mn-ea"/>
                </a:rPr>
                <a:t>函数关系</a:t>
              </a:r>
              <a:endParaRPr lang="zh-CN" altLang="en-US" sz="2400" b="1" dirty="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137660" y="4450080"/>
            <a:ext cx="2795905" cy="1560474"/>
            <a:chOff x="7155" y="6949"/>
            <a:chExt cx="4403" cy="2457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36" y="6184"/>
              <a:ext cx="2041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8246" y="6949"/>
              <a:ext cx="244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285" y="7876"/>
              <a:ext cx="4144" cy="13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含有未知函数及其</a:t>
              </a:r>
            </a:p>
            <a:p>
              <a:pPr lvl="0" algn="ctr">
                <a:buClrTx/>
                <a:buSzTx/>
                <a:buFontTx/>
              </a:pPr>
              <a:r>
                <a:rPr lang="zh-CN" altLang="en-US" sz="2400" b="1" dirty="0">
                  <a:sym typeface="+mn-ea"/>
                </a:rPr>
                <a:t>导数的等式</a:t>
              </a:r>
              <a:endParaRPr lang="zh-CN" altLang="en-US" sz="2400" b="1" dirty="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378065" y="4450080"/>
            <a:ext cx="2771775" cy="1558568"/>
            <a:chOff x="7484" y="6949"/>
            <a:chExt cx="4365" cy="2454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6" y="6200"/>
              <a:ext cx="2041" cy="43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077" y="6949"/>
              <a:ext cx="3278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sym typeface="+mn-ea"/>
                </a:rPr>
                <a:t>微分方程求解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077" y="8020"/>
              <a:ext cx="3180" cy="7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zh-CN" altLang="en-US" sz="2400" b="1" dirty="0">
                  <a:sym typeface="+mn-ea"/>
                </a:rPr>
                <a:t>找到未知函数</a:t>
              </a:r>
              <a:endParaRPr lang="zh-CN" altLang="en-US" sz="2400" b="1" dirty="0"/>
            </a:p>
          </p:txBody>
        </p:sp>
      </p:grpSp>
      <p:sp>
        <p:nvSpPr>
          <p:cNvPr id="26" name="矩形 25"/>
          <p:cNvSpPr/>
          <p:nvPr/>
        </p:nvSpPr>
        <p:spPr>
          <a:xfrm>
            <a:off x="3445510" y="884555"/>
            <a:ext cx="59334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微分方程</a:t>
            </a:r>
            <a:endParaRPr kumimoji="1" lang="en-US" altLang="zh-CN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530600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6666865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869721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7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C</a:t>
            </a:r>
            <a:r>
              <a:rPr kumimoji="1" lang="en-GB" altLang="zh-CN" sz="3200" b="1" dirty="0">
                <a:solidFill>
                  <a:srgbClr val="1D9D79"/>
                </a:solidFill>
                <a:effectLst/>
                <a:latin typeface="Calisto MT" panose="02040603050505030304" pitchFamily="18" charset="0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747135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0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目  录</a:t>
            </a:r>
            <a:endParaRPr kumimoji="1" lang="zh-CN" altLang="en-US" sz="40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207356" y="922003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第七章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295793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C7C089F8-CC2D-1861-5E21-18BBB5F858D0}"/>
              </a:ext>
            </a:extLst>
          </p:cNvPr>
          <p:cNvSpPr/>
          <p:nvPr/>
        </p:nvSpPr>
        <p:spPr>
          <a:xfrm>
            <a:off x="705485" y="2703195"/>
            <a:ext cx="431038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微分方程的基本概念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19E42B-419D-2F0A-4A66-E6FBAA7AC215}"/>
              </a:ext>
            </a:extLst>
          </p:cNvPr>
          <p:cNvSpPr/>
          <p:nvPr/>
        </p:nvSpPr>
        <p:spPr>
          <a:xfrm>
            <a:off x="705485" y="3399790"/>
            <a:ext cx="331343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齐次方程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415B3-7AE5-8C08-DDD0-C706CBE57836}"/>
              </a:ext>
            </a:extLst>
          </p:cNvPr>
          <p:cNvSpPr/>
          <p:nvPr/>
        </p:nvSpPr>
        <p:spPr>
          <a:xfrm>
            <a:off x="5906135" y="2703195"/>
            <a:ext cx="53079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可分离变量的微分方程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3BF91A5-9B7A-4196-A369-3AF9980F63C4}"/>
              </a:ext>
            </a:extLst>
          </p:cNvPr>
          <p:cNvSpPr/>
          <p:nvPr/>
        </p:nvSpPr>
        <p:spPr>
          <a:xfrm>
            <a:off x="5906046" y="3397754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一阶线性微分方程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85FB52C-0FA5-BA75-9D97-D89AFE822F96}"/>
              </a:ext>
            </a:extLst>
          </p:cNvPr>
          <p:cNvSpPr/>
          <p:nvPr/>
        </p:nvSpPr>
        <p:spPr>
          <a:xfrm>
            <a:off x="705172" y="4141974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 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5164A2-8DFC-0516-B44F-BC507E5D016F}"/>
              </a:ext>
            </a:extLst>
          </p:cNvPr>
          <p:cNvSpPr/>
          <p:nvPr/>
        </p:nvSpPr>
        <p:spPr>
          <a:xfrm>
            <a:off x="705485" y="4850130"/>
            <a:ext cx="516636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常系数齐次线性微分方程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B405AC9-3AE9-C8B8-E88A-9F06DB9030E3}"/>
              </a:ext>
            </a:extLst>
          </p:cNvPr>
          <p:cNvSpPr/>
          <p:nvPr/>
        </p:nvSpPr>
        <p:spPr>
          <a:xfrm>
            <a:off x="5906135" y="4142105"/>
            <a:ext cx="49669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高阶线性微分方程 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EB8BAB-CE62-50C6-9A12-0E5613FDBB6A}"/>
              </a:ext>
            </a:extLst>
          </p:cNvPr>
          <p:cNvSpPr/>
          <p:nvPr/>
        </p:nvSpPr>
        <p:spPr>
          <a:xfrm>
            <a:off x="5906135" y="4844415"/>
            <a:ext cx="56013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常系数非齐次线性微分方程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448A421-A6B5-7F0E-D964-9CC10A098261}"/>
              </a:ext>
            </a:extLst>
          </p:cNvPr>
          <p:cNvSpPr/>
          <p:nvPr/>
        </p:nvSpPr>
        <p:spPr>
          <a:xfrm>
            <a:off x="579755" y="5603875"/>
            <a:ext cx="490601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第九节   欧拉方程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F7CE23B-A6EC-C2E3-19C2-76156EE39F30}"/>
              </a:ext>
            </a:extLst>
          </p:cNvPr>
          <p:cNvSpPr/>
          <p:nvPr/>
        </p:nvSpPr>
        <p:spPr>
          <a:xfrm>
            <a:off x="5768975" y="5603875"/>
            <a:ext cx="580326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*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第十节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常系数线性微分方程组解法举例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807535"/>
            <a:ext cx="11536045" cy="3891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256352" y="705836"/>
            <a:ext cx="5763116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第五节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可降解的高阶微分方程</a:t>
            </a:r>
          </a:p>
        </p:txBody>
      </p:sp>
      <p:sp>
        <p:nvSpPr>
          <p:cNvPr id="2" name="矩形: 圆角 40">
            <a:extLst>
              <a:ext uri="{FF2B5EF4-FFF2-40B4-BE49-F238E27FC236}">
                <a16:creationId xmlns:a16="http://schemas.microsoft.com/office/drawing/2014/main" id="{12D29056-72D0-CD60-55EF-492371DC2A18}"/>
              </a:ext>
            </a:extLst>
          </p:cNvPr>
          <p:cNvSpPr/>
          <p:nvPr/>
        </p:nvSpPr>
        <p:spPr>
          <a:xfrm flipV="1">
            <a:off x="3213652" y="2120750"/>
            <a:ext cx="5764696" cy="901348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>
              <a:defRPr/>
            </a:pPr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4EBFAA8-E8A0-B393-6E86-0D12737F62B2}"/>
                  </a:ext>
                </a:extLst>
              </p:cNvPr>
              <p:cNvSpPr/>
              <p:nvPr/>
            </p:nvSpPr>
            <p:spPr>
              <a:xfrm>
                <a:off x="3878580" y="2310070"/>
                <a:ext cx="4625975" cy="541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l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zh-C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p>
                    </m:sSup>
                    <m:r>
                      <a:rPr lang="en-US" altLang="zh-C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sz="28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型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4EBFAA8-E8A0-B393-6E86-0D12737F62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580" y="2310070"/>
                <a:ext cx="4625975" cy="541110"/>
              </a:xfrm>
              <a:prstGeom prst="rect">
                <a:avLst/>
              </a:prstGeom>
              <a:blipFill>
                <a:blip r:embed="rId4"/>
                <a:stretch>
                  <a:fillRect l="-2635" t="-8989" b="-303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圆角 40">
            <a:extLst>
              <a:ext uri="{FF2B5EF4-FFF2-40B4-BE49-F238E27FC236}">
                <a16:creationId xmlns:a16="http://schemas.microsoft.com/office/drawing/2014/main" id="{3C3E8D78-9829-2885-FA71-875BDD3FDE16}"/>
              </a:ext>
            </a:extLst>
          </p:cNvPr>
          <p:cNvSpPr/>
          <p:nvPr/>
        </p:nvSpPr>
        <p:spPr>
          <a:xfrm flipV="1">
            <a:off x="3213652" y="3320317"/>
            <a:ext cx="5764696" cy="901348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/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3685141-0EAD-DB70-90C9-D45B944B1CEA}"/>
                  </a:ext>
                </a:extLst>
              </p:cNvPr>
              <p:cNvSpPr/>
              <p:nvPr/>
            </p:nvSpPr>
            <p:spPr>
              <a:xfrm>
                <a:off x="3878580" y="3509585"/>
                <a:ext cx="368236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二、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″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=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,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′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型</a:t>
                </a:r>
                <a:endPara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3685141-0EAD-DB70-90C9-D45B944B1C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580" y="3509585"/>
                <a:ext cx="3682365" cy="521970"/>
              </a:xfrm>
              <a:prstGeom prst="rect">
                <a:avLst/>
              </a:prstGeom>
              <a:blipFill>
                <a:blip r:embed="rId5"/>
                <a:stretch>
                  <a:fillRect l="-3311"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40">
            <a:extLst>
              <a:ext uri="{FF2B5EF4-FFF2-40B4-BE49-F238E27FC236}">
                <a16:creationId xmlns:a16="http://schemas.microsoft.com/office/drawing/2014/main" id="{935B5381-F887-57D9-FE29-74D7C9BC2030}"/>
              </a:ext>
            </a:extLst>
          </p:cNvPr>
          <p:cNvSpPr/>
          <p:nvPr/>
        </p:nvSpPr>
        <p:spPr>
          <a:xfrm flipV="1">
            <a:off x="3213652" y="4510863"/>
            <a:ext cx="5764696" cy="901348"/>
          </a:xfrm>
          <a:prstGeom prst="roundRect">
            <a:avLst>
              <a:gd name="adj" fmla="val 6487"/>
            </a:avLst>
          </a:prstGeom>
          <a:solidFill>
            <a:srgbClr val="FFFFFF"/>
          </a:solidFill>
          <a:ln w="19050" cap="flat" cmpd="sng" algn="ctr">
            <a:gradFill flip="none" rotWithShape="1">
              <a:gsLst>
                <a:gs pos="0">
                  <a:srgbClr val="058C79"/>
                </a:gs>
                <a:gs pos="100000">
                  <a:schemeClr val="bg1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63500" dist="38100" dir="2280000" algn="tl" rotWithShape="0">
              <a:prstClr val="black">
                <a:alpha val="45000"/>
              </a:prstClr>
            </a:outerShdw>
          </a:effectLst>
        </p:spPr>
        <p:txBody>
          <a:bodyPr lIns="68580" tIns="34290" rIns="68580" bIns="34290" rtlCol="0" anchor="ctr"/>
          <a:lstStyle/>
          <a:p>
            <a:pPr algn="ctr" defTabSz="342900"/>
            <a:endParaRPr lang="zh-CN" altLang="en-US" kern="0" dirty="0">
              <a:solidFill>
                <a:srgbClr val="FFFFFF"/>
              </a:solidFill>
              <a:latin typeface="Calibri" panose="020F0502020204030204"/>
              <a:ea typeface="微软雅黑 Light" panose="020B0502040204020203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417A72E-F04D-0CD3-2E77-C854434BEC6F}"/>
                  </a:ext>
                </a:extLst>
              </p:cNvPr>
              <p:cNvSpPr/>
              <p:nvPr/>
            </p:nvSpPr>
            <p:spPr>
              <a:xfrm>
                <a:off x="3878580" y="4700210"/>
                <a:ext cx="3354705" cy="5219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sz="2800" b="1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三、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″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=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𝑓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,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′</m:t>
                        </m:r>
                      </m:sup>
                    </m:sSup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</m:oMath>
                </a14:m>
                <a:r>
                  <a:rPr lang="zh-CN" altLang="en-US" sz="2800" b="1" dirty="0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型</a:t>
                </a:r>
                <a:endPara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417A72E-F04D-0CD3-2E77-C854434BE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580" y="4700210"/>
                <a:ext cx="3354705" cy="521970"/>
              </a:xfrm>
              <a:prstGeom prst="rect">
                <a:avLst/>
              </a:prstGeom>
              <a:blipFill>
                <a:blip r:embed="rId6"/>
                <a:stretch>
                  <a:fillRect l="-3630" t="-11628" r="-544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组合 32"/>
          <p:cNvGrpSpPr/>
          <p:nvPr/>
        </p:nvGrpSpPr>
        <p:grpSpPr>
          <a:xfrm>
            <a:off x="1702435" y="2198908"/>
            <a:ext cx="1310640" cy="560705"/>
            <a:chOff x="1613" y="4304"/>
            <a:chExt cx="2064" cy="883"/>
          </a:xfrm>
        </p:grpSpPr>
        <p:sp>
          <p:nvSpPr>
            <p:cNvPr id="28" name="剪去对角的矩形 27"/>
            <p:cNvSpPr/>
            <p:nvPr/>
          </p:nvSpPr>
          <p:spPr>
            <a:xfrm>
              <a:off x="1613" y="4304"/>
              <a:ext cx="1701" cy="883"/>
            </a:xfrm>
            <a:prstGeom prst="snip2Diag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709" y="4334"/>
              <a:ext cx="1968" cy="822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解法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702435" y="1337828"/>
            <a:ext cx="1310640" cy="560705"/>
            <a:chOff x="1613" y="3127"/>
            <a:chExt cx="2064" cy="883"/>
          </a:xfrm>
        </p:grpSpPr>
        <p:sp>
          <p:nvSpPr>
            <p:cNvPr id="31" name="剪去对角的矩形 30"/>
            <p:cNvSpPr/>
            <p:nvPr/>
          </p:nvSpPr>
          <p:spPr>
            <a:xfrm>
              <a:off x="1613" y="3127"/>
              <a:ext cx="1701" cy="883"/>
            </a:xfrm>
            <a:prstGeom prst="snip2Diag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1709" y="3157"/>
              <a:ext cx="1968" cy="822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特点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1406525" y="324734"/>
            <a:ext cx="1055370" cy="918210"/>
            <a:chOff x="1315" y="912"/>
            <a:chExt cx="1662" cy="1446"/>
          </a:xfrm>
        </p:grpSpPr>
        <p:sp>
          <p:nvSpPr>
            <p:cNvPr id="30" name="Rectangle 2"/>
            <p:cNvSpPr>
              <a:spLocks noGrp="1" noChangeArrowheads="1"/>
            </p:cNvSpPr>
            <p:nvPr/>
          </p:nvSpPr>
          <p:spPr>
            <a:xfrm>
              <a:off x="1613" y="912"/>
              <a:ext cx="1364" cy="144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lnSpc>
                  <a:spcPct val="100000"/>
                </a:lnSpc>
              </a:pPr>
              <a:r>
                <a:rPr lang="zh-CN" altLang="en-US" sz="32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一、 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315" y="1346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400300" y="324734"/>
            <a:ext cx="5621020" cy="918210"/>
            <a:chOff x="2880" y="912"/>
            <a:chExt cx="8852" cy="1446"/>
          </a:xfrm>
        </p:grpSpPr>
        <p:grpSp>
          <p:nvGrpSpPr>
            <p:cNvPr id="41" name="组合 40"/>
            <p:cNvGrpSpPr/>
            <p:nvPr/>
          </p:nvGrpSpPr>
          <p:grpSpPr>
            <a:xfrm>
              <a:off x="2880" y="912"/>
              <a:ext cx="8852" cy="1446"/>
              <a:chOff x="2880" y="912"/>
              <a:chExt cx="8852" cy="14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2"/>
                  <p:cNvSpPr>
                    <a:spLocks noGrp="1" noChangeArrowheads="1"/>
                  </p:cNvSpPr>
                  <p:nvPr/>
                </p:nvSpPr>
                <p:spPr>
                  <a:xfrm>
                    <a:off x="2880" y="912"/>
                    <a:ext cx="8852" cy="1447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 anchor="ctr">
                    <a:noAutofit/>
                  </a:bodyPr>
                  <a:lstStyle>
                    <a:lvl1pPr algn="l" defTabSz="914400" rtl="0" eaLnBrk="1" latinLnBrk="0" hangingPunct="1">
                      <a:lnSpc>
                        <a:spcPct val="90000"/>
                      </a:lnSpc>
                      <a:spcBef>
                        <a:spcPct val="0"/>
                      </a:spcBef>
                      <a:buNone/>
                      <a:defRPr sz="28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defRPr>
                    </a:lvl1pPr>
                  </a:lstStyle>
                  <a:p>
                    <a:pPr algn="l">
                      <a:lnSpc>
                        <a:spcPct val="100000"/>
                      </a:lnSpc>
                    </a:pPr>
                    <a14:m>
                      <m:oMath xmlns:m="http://schemas.openxmlformats.org/officeDocument/2006/math">
                        <m:r>
                          <a:rPr lang="zh-CN" altLang="en-US" sz="3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lang="zh-CN" altLang="en-US" sz="3200" i="1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lang="zh-CN" altLang="en-US" sz="3200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𝑦</m:t>
                            </m:r>
                          </m:e>
                          <m:sup>
                            <m:r>
                              <a:rPr lang="zh-CN" altLang="en-US" sz="3200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(</m:t>
                            </m:r>
                            <m:r>
                              <a:rPr lang="zh-CN" altLang="en-US" sz="3200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𝑛</m:t>
                            </m:r>
                            <m:r>
                              <a:rPr lang="zh-CN" altLang="en-US" sz="3200" dirty="0">
                                <a:solidFill>
                                  <a:srgbClr val="04926A"/>
                                </a:solidFill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  <a:cs typeface="+mn-cs"/>
                              </a:rPr>
                              <m:t>)</m:t>
                            </m:r>
                          </m:sup>
                        </m:sSup>
                        <m:r>
                          <a:rPr lang="zh-CN" altLang="en-US" sz="3200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=</m:t>
                        </m:r>
                        <m:r>
                          <a:rPr lang="zh-CN" altLang="en-US" sz="3200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𝑓</m:t>
                        </m:r>
                        <m:r>
                          <a:rPr lang="zh-CN" altLang="en-US" sz="3200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(</m:t>
                        </m:r>
                        <m:r>
                          <a:rPr lang="zh-CN" altLang="en-US" sz="3200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𝑥</m:t>
                        </m:r>
                        <m:r>
                          <a:rPr lang="zh-CN" altLang="en-US" sz="3200" dirty="0">
                            <a:solidFill>
                              <a:srgbClr val="04926A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+mn-cs"/>
                          </a:rPr>
                          <m:t>)</m:t>
                        </m:r>
                      </m:oMath>
                    </a14:m>
                    <a:r>
                      <a:rPr lang="zh-CN" altLang="en-US" sz="3200" dirty="0">
                        <a:solidFill>
                          <a:srgbClr val="04926A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+mn-ea"/>
                      </a:rPr>
                      <a:t>型的微分方程 </a:t>
                    </a:r>
                  </a:p>
                </p:txBody>
              </p:sp>
            </mc:Choice>
            <mc:Fallback xmlns="">
              <p:sp>
                <p:nvSpPr>
                  <p:cNvPr id="51" name="Rectangle 2"/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0" y="912"/>
                    <a:ext cx="8852" cy="14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463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0" name="文本框 39"/>
              <p:cNvSpPr txBox="1"/>
              <p:nvPr/>
            </p:nvSpPr>
            <p:spPr>
              <a:xfrm>
                <a:off x="9596" y="1317"/>
                <a:ext cx="864" cy="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" name="文本框 6"/>
            <p:cNvSpPr txBox="1"/>
            <p:nvPr/>
          </p:nvSpPr>
          <p:spPr>
            <a:xfrm>
              <a:off x="4033" y="1498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169285" y="1335288"/>
            <a:ext cx="5772150" cy="633095"/>
            <a:chOff x="5030" y="3109"/>
            <a:chExt cx="8300" cy="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对象 34"/>
                <p:cNvSpPr txBox="1"/>
                <p:nvPr/>
              </p:nvSpPr>
              <p:spPr>
                <a:xfrm>
                  <a:off x="5030" y="3109"/>
                  <a:ext cx="8300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方程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sup>
                        </m:sSup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右端仅含自变量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3" name="对象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0" y="3109"/>
                  <a:ext cx="8300" cy="720"/>
                </a:xfrm>
                <a:prstGeom prst="rect">
                  <a:avLst/>
                </a:prstGeom>
                <a:blipFill>
                  <a:blip r:embed="rId4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6465" y="3282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145654" y="2207163"/>
            <a:ext cx="3171825" cy="634365"/>
            <a:chOff x="5508" y="4317"/>
            <a:chExt cx="4995" cy="9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对象 9"/>
                <p:cNvSpPr txBox="1"/>
                <p:nvPr/>
              </p:nvSpPr>
              <p:spPr>
                <a:xfrm>
                  <a:off x="5508" y="4317"/>
                  <a:ext cx="4995" cy="6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方程两端积分</m:t>
                        </m:r>
                        <m:r>
                          <a:rPr kumimoji="1" lang="en-US" altLang="zh-CN" sz="2800" i="1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0" i="0" noProof="0" dirty="0" smtClean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得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1" name="对象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" y="4317"/>
                  <a:ext cx="4995" cy="640"/>
                </a:xfrm>
                <a:prstGeom prst="rect">
                  <a:avLst/>
                </a:prstGeom>
                <a:blipFill>
                  <a:blip r:embed="rId5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6283" y="4492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231754" y="1986818"/>
            <a:ext cx="4140835" cy="838200"/>
            <a:chOff x="10368" y="3970"/>
            <a:chExt cx="6521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对象 10"/>
                <p:cNvSpPr txBox="1"/>
                <p:nvPr/>
              </p:nvSpPr>
              <p:spPr>
                <a:xfrm>
                  <a:off x="10368" y="3970"/>
                  <a:ext cx="6521" cy="112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kumimoji="1" lang="en-US" altLang="zh-CN" sz="2800" i="1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800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en-US" altLang="zh-CN" sz="2800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(</m:t>
                                </m:r>
                                <m:r>
                                  <a:rPr kumimoji="1" lang="en-US" altLang="zh-CN" sz="2800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kumimoji="1" lang="en-US" altLang="zh-CN" sz="2800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)</m:t>
                                </m:r>
                              </m:sup>
                            </m:sSup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)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2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8" y="3970"/>
                  <a:ext cx="6521" cy="1121"/>
                </a:xfrm>
                <a:prstGeom prst="rect">
                  <a:avLst/>
                </a:prstGeom>
                <a:blipFill>
                  <a:blip r:embed="rId6"/>
                  <a:stretch>
                    <a:fillRect b="-213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0601" y="4466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494779" y="3099455"/>
            <a:ext cx="1398270" cy="457200"/>
            <a:chOff x="4483" y="5419"/>
            <a:chExt cx="2202" cy="720"/>
          </a:xfrm>
        </p:grpSpPr>
        <p:grpSp>
          <p:nvGrpSpPr>
            <p:cNvPr id="49" name="组合 48"/>
            <p:cNvGrpSpPr/>
            <p:nvPr/>
          </p:nvGrpSpPr>
          <p:grpSpPr>
            <a:xfrm>
              <a:off x="4483" y="5419"/>
              <a:ext cx="2203" cy="720"/>
              <a:chOff x="2977" y="5401"/>
              <a:chExt cx="2203" cy="720"/>
            </a:xfrm>
          </p:grpSpPr>
          <p:sp>
            <p:nvSpPr>
              <p:cNvPr id="14" name="Text Box 11"/>
              <p:cNvSpPr txBox="1">
                <a:spLocks noChangeArrowheads="1"/>
              </p:cNvSpPr>
              <p:nvPr/>
            </p:nvSpPr>
            <p:spPr bwMode="auto">
              <a:xfrm>
                <a:off x="3978" y="5401"/>
                <a:ext cx="1203" cy="67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即</a:t>
                </a: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2977" y="5541"/>
                <a:ext cx="864" cy="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4644" y="5497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81469" y="3972263"/>
            <a:ext cx="2199766" cy="694055"/>
            <a:chOff x="4483" y="6527"/>
            <a:chExt cx="5161" cy="1093"/>
          </a:xfrm>
        </p:grpSpPr>
        <p:grpSp>
          <p:nvGrpSpPr>
            <p:cNvPr id="52" name="组合 51"/>
            <p:cNvGrpSpPr/>
            <p:nvPr/>
          </p:nvGrpSpPr>
          <p:grpSpPr>
            <a:xfrm>
              <a:off x="4483" y="6583"/>
              <a:ext cx="5161" cy="1037"/>
              <a:chOff x="2977" y="6475"/>
              <a:chExt cx="5161" cy="1037"/>
            </a:xfrm>
          </p:grpSpPr>
          <p:sp>
            <p:nvSpPr>
              <p:cNvPr id="16" name="Text Box 13"/>
              <p:cNvSpPr txBox="1">
                <a:spLocks noChangeArrowheads="1"/>
              </p:cNvSpPr>
              <p:nvPr/>
            </p:nvSpPr>
            <p:spPr bwMode="auto">
              <a:xfrm>
                <a:off x="3978" y="6600"/>
                <a:ext cx="4160" cy="91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sym typeface="+mn-lt"/>
                  </a:rPr>
                  <a:t>同理可得</a:t>
                </a: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2977" y="6475"/>
                <a:ext cx="864" cy="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endParaRPr lang="zh-CN" altLang="en-US" sz="2800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5347" y="6527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4642349" y="4038600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/>
          </a:p>
        </p:txBody>
      </p:sp>
      <p:sp>
        <p:nvSpPr>
          <p:cNvPr id="24" name="文本框 23"/>
          <p:cNvSpPr txBox="1"/>
          <p:nvPr/>
        </p:nvSpPr>
        <p:spPr>
          <a:xfrm>
            <a:off x="4801734" y="3982085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/>
          </a:p>
        </p:txBody>
      </p:sp>
      <p:sp>
        <p:nvSpPr>
          <p:cNvPr id="27" name="文本框 26"/>
          <p:cNvSpPr txBox="1"/>
          <p:nvPr/>
        </p:nvSpPr>
        <p:spPr>
          <a:xfrm>
            <a:off x="4804909" y="3215005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/>
          </a:p>
        </p:txBody>
      </p:sp>
      <p:grpSp>
        <p:nvGrpSpPr>
          <p:cNvPr id="36" name="组合 35"/>
          <p:cNvGrpSpPr/>
          <p:nvPr/>
        </p:nvGrpSpPr>
        <p:grpSpPr>
          <a:xfrm>
            <a:off x="4938259" y="3877965"/>
            <a:ext cx="6077585" cy="958215"/>
            <a:chOff x="7744" y="6364"/>
            <a:chExt cx="9571" cy="15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14"/>
                <p:cNvSpPr txBox="1"/>
                <p:nvPr/>
              </p:nvSpPr>
              <p:spPr bwMode="auto">
                <a:xfrm>
                  <a:off x="7744" y="6364"/>
                  <a:ext cx="9571" cy="150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𝑛</m:t>
                            </m:r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−2)</m:t>
                            </m:r>
                          </m:sup>
                        </m:sSup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[</m:t>
                            </m:r>
                          </m:e>
                        </m:nary>
                        <m:r>
                          <m:rPr>
                            <m:nor/>
                          </m:rPr>
                          <a:rPr kumimoji="1" lang="en-US" altLang="zh-CN" sz="280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                      </m:t>
                        </m:r>
                        <m:r>
                          <m:rPr>
                            <m:nor/>
                          </m:rPr>
                          <a:rPr kumimoji="1" lang="en-US" altLang="zh-CN" sz="2800" b="0" i="0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  </m:t>
                        </m:r>
                        <m:r>
                          <m:rPr>
                            <m:nor/>
                          </m:rPr>
                          <a:rPr kumimoji="1" lang="en-US" altLang="zh-CN" sz="280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5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44" y="6364"/>
                  <a:ext cx="9571" cy="150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/>
            <p:cNvSpPr txBox="1"/>
            <p:nvPr/>
          </p:nvSpPr>
          <p:spPr>
            <a:xfrm>
              <a:off x="16226" y="6709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785474" y="3773190"/>
            <a:ext cx="2591435" cy="692150"/>
            <a:chOff x="13952" y="4392"/>
            <a:chExt cx="4081" cy="109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bject 15"/>
                <p:cNvSpPr txBox="1"/>
                <p:nvPr/>
              </p:nvSpPr>
              <p:spPr bwMode="auto">
                <a:xfrm>
                  <a:off x="13952" y="4562"/>
                  <a:ext cx="4081" cy="9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</m:e>
                        </m:nary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func>
                          <m:func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800" i="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</m:fName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6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952" y="4562"/>
                  <a:ext cx="4081" cy="920"/>
                </a:xfrm>
                <a:prstGeom prst="rect">
                  <a:avLst/>
                </a:prstGeom>
                <a:blipFill>
                  <a:blip r:embed="rId8"/>
                  <a:stretch>
                    <a:fillRect b="-479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文本框 36"/>
            <p:cNvSpPr txBox="1"/>
            <p:nvPr/>
          </p:nvSpPr>
          <p:spPr>
            <a:xfrm>
              <a:off x="16640" y="4392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6785474" y="4863734"/>
            <a:ext cx="2153285" cy="2049780"/>
            <a:chOff x="11073" y="9450"/>
            <a:chExt cx="3391" cy="32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Object 17"/>
                <p:cNvSpPr txBox="1"/>
                <p:nvPr/>
              </p:nvSpPr>
              <p:spPr bwMode="auto">
                <a:xfrm>
                  <a:off x="11073" y="9450"/>
                  <a:ext cx="3391" cy="82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𝑓</m:t>
                            </m:r>
                          </m:e>
                        </m:nary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(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lang="zh-CN" altLang="en-US" sz="2800" i="1" dirty="0">
                    <a:solidFill>
                      <a:srgbClr val="000000"/>
                    </a:solidFill>
                    <a:latin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78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073" y="9450"/>
                  <a:ext cx="3391" cy="829"/>
                </a:xfrm>
                <a:prstGeom prst="rect">
                  <a:avLst/>
                </a:prstGeom>
                <a:blipFill>
                  <a:blip r:embed="rId9"/>
                  <a:stretch>
                    <a:fillRect b="-6511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/>
            <p:cNvSpPr txBox="1"/>
            <p:nvPr/>
          </p:nvSpPr>
          <p:spPr>
            <a:xfrm>
              <a:off x="12415" y="11854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996958" y="4863734"/>
            <a:ext cx="4606925" cy="728980"/>
            <a:chOff x="8116" y="7528"/>
            <a:chExt cx="7255" cy="11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Object 16"/>
                <p:cNvSpPr txBox="1"/>
                <p:nvPr/>
              </p:nvSpPr>
              <p:spPr bwMode="auto">
                <a:xfrm>
                  <a:off x="8116" y="7528"/>
                  <a:ext cx="5728" cy="11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[</m:t>
                            </m:r>
                          </m:e>
                        </m:nary>
                        <m:r>
                          <m:rPr>
                            <m:nor/>
                          </m:rPr>
                          <a:rPr kumimoji="1" lang="en-US" altLang="zh-CN" sz="280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                 </m:t>
                        </m:r>
                        <m:r>
                          <a:rPr kumimoji="1" lang="en-US" altLang="zh-CN" sz="280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]</m:t>
                        </m:r>
                        <m:r>
                          <m:rPr>
                            <m:sty m:val="p"/>
                          </m:rPr>
                          <a:rPr kumimoji="1" lang="en-US" altLang="zh-CN" sz="2800" i="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oMath>
                    </m:oMathPara>
                  </a14:m>
                  <a:endPara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7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116" y="7528"/>
                  <a:ext cx="5728" cy="1148"/>
                </a:xfrm>
                <a:prstGeom prst="rect">
                  <a:avLst/>
                </a:prstGeom>
                <a:blipFill>
                  <a:blip r:embed="rId10"/>
                  <a:stretch>
                    <a:fillRect b="-1932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本框 43"/>
            <p:cNvSpPr txBox="1"/>
            <p:nvPr/>
          </p:nvSpPr>
          <p:spPr>
            <a:xfrm>
              <a:off x="14507" y="7827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9115135" y="5203411"/>
            <a:ext cx="54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/>
          </a:p>
        </p:txBody>
      </p:sp>
      <p:grpSp>
        <p:nvGrpSpPr>
          <p:cNvPr id="53" name="组合 52"/>
          <p:cNvGrpSpPr/>
          <p:nvPr/>
        </p:nvGrpSpPr>
        <p:grpSpPr>
          <a:xfrm>
            <a:off x="8879704" y="5022764"/>
            <a:ext cx="2436495" cy="523240"/>
            <a:chOff x="12980" y="7812"/>
            <a:chExt cx="3837" cy="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bject 20"/>
                <p:cNvSpPr txBox="1"/>
                <p:nvPr/>
              </p:nvSpPr>
              <p:spPr bwMode="auto">
                <a:xfrm>
                  <a:off x="12980" y="7880"/>
                  <a:ext cx="3837" cy="7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980" y="7880"/>
                  <a:ext cx="3837" cy="700"/>
                </a:xfrm>
                <a:prstGeom prst="rect">
                  <a:avLst/>
                </a:prstGeom>
                <a:blipFill>
                  <a:blip r:embed="rId11"/>
                  <a:stretch>
                    <a:fillRect b="-54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文本框 46"/>
            <p:cNvSpPr txBox="1"/>
            <p:nvPr/>
          </p:nvSpPr>
          <p:spPr>
            <a:xfrm>
              <a:off x="12980" y="7812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120254" y="5846734"/>
            <a:ext cx="7870190" cy="523240"/>
            <a:chOff x="5508" y="8993"/>
            <a:chExt cx="12394" cy="8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对象 8"/>
                <p:cNvSpPr txBox="1"/>
                <p:nvPr/>
              </p:nvSpPr>
              <p:spPr>
                <a:xfrm>
                  <a:off x="5508" y="8993"/>
                  <a:ext cx="12394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依次通过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次积分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可得含</m:t>
                        </m:r>
                        <m:r>
                          <a:rPr kumimoji="1" lang="en-US" altLang="zh-CN" sz="2800" dirty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𝑛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个任意常数的通解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0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" y="8993"/>
                  <a:ext cx="12394" cy="7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文本框 53"/>
            <p:cNvSpPr txBox="1"/>
            <p:nvPr/>
          </p:nvSpPr>
          <p:spPr>
            <a:xfrm>
              <a:off x="13281" y="8993"/>
              <a:ext cx="8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557259" y="2872760"/>
            <a:ext cx="5014595" cy="878840"/>
            <a:chOff x="7731" y="5062"/>
            <a:chExt cx="7897" cy="1384"/>
          </a:xfrm>
        </p:grpSpPr>
        <p:grpSp>
          <p:nvGrpSpPr>
            <p:cNvPr id="20" name="组合 19"/>
            <p:cNvGrpSpPr/>
            <p:nvPr/>
          </p:nvGrpSpPr>
          <p:grpSpPr>
            <a:xfrm>
              <a:off x="8121" y="5062"/>
              <a:ext cx="7507" cy="1384"/>
              <a:chOff x="8121" y="5062"/>
              <a:chExt cx="7507" cy="13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Object 12"/>
                  <p:cNvSpPr txBox="1"/>
                  <p:nvPr/>
                </p:nvSpPr>
                <p:spPr bwMode="auto">
                  <a:xfrm>
                    <a:off x="8331" y="5062"/>
                    <a:ext cx="7297" cy="138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−1)</m:t>
                              </m:r>
                            </m:sup>
                          </m:sSup>
                          <m:r>
                            <a:rPr kumimoji="1" lang="en-US" altLang="zh-CN" sz="28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nary>
                            <m:naryPr>
                              <m:subHide m:val="on"/>
                              <m:supHide m:val="on"/>
                              <m:ctrl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𝑓</m:t>
                              </m:r>
                            </m:e>
                          </m:nary>
                          <m:r>
                            <a:rPr kumimoji="1" lang="en-US" altLang="zh-CN" sz="28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en-US" altLang="zh-CN" sz="28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en-US" altLang="zh-CN" sz="28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  <m:func>
                            <m:funcPr>
                              <m:ctrl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800" i="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</m:func>
                          <m:r>
                            <a:rPr kumimoji="1" lang="en-US" altLang="zh-CN" sz="2800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8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800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 i="1" dirty="0">
                      <a:solidFill>
                        <a:srgbClr val="000000"/>
                      </a:solidFill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 xmlns="">
              <p:sp>
                <p:nvSpPr>
                  <p:cNvPr id="74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331" y="5062"/>
                    <a:ext cx="7297" cy="138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" name="文本框 18"/>
              <p:cNvSpPr txBox="1"/>
              <p:nvPr/>
            </p:nvSpPr>
            <p:spPr>
              <a:xfrm>
                <a:off x="8121" y="5423"/>
                <a:ext cx="864" cy="8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zh-CN" altLang="en-US" sz="2800"/>
              </a:p>
            </p:txBody>
          </p:sp>
        </p:grpSp>
        <p:sp>
          <p:nvSpPr>
            <p:cNvPr id="57" name="文本框 56"/>
            <p:cNvSpPr txBox="1"/>
            <p:nvPr/>
          </p:nvSpPr>
          <p:spPr>
            <a:xfrm>
              <a:off x="7731" y="5614"/>
              <a:ext cx="1200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 bwMode="auto">
          <a:xfrm>
            <a:off x="703199" y="528640"/>
            <a:ext cx="10817352" cy="5799897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2200" i="1">
              <a:solidFill>
                <a:srgbClr val="000000"/>
              </a:solidFill>
              <a:latin typeface="Cambria Math" panose="02040503050406030204" charset="0"/>
              <a:sym typeface="+mn-ea"/>
            </a:endParaRPr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Text Box 44"/>
          <p:cNvSpPr txBox="1">
            <a:spLocks noChangeArrowheads="1"/>
          </p:cNvSpPr>
          <p:nvPr/>
        </p:nvSpPr>
        <p:spPr bwMode="auto">
          <a:xfrm>
            <a:off x="3598291" y="1205934"/>
            <a:ext cx="85915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en-US" altLang="zh-CN" sz="28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94126" y="2080964"/>
            <a:ext cx="864235" cy="521970"/>
            <a:chOff x="3552" y="3386"/>
            <a:chExt cx="1361" cy="822"/>
          </a:xfrm>
        </p:grpSpPr>
        <p:sp>
          <p:nvSpPr>
            <p:cNvPr id="45" name="Text Box 3"/>
            <p:cNvSpPr txBox="1">
              <a:spLocks noChangeArrowheads="1"/>
            </p:cNvSpPr>
            <p:nvPr/>
          </p:nvSpPr>
          <p:spPr bwMode="auto">
            <a:xfrm>
              <a:off x="4031" y="3386"/>
              <a:ext cx="883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fontAlgn="base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解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552" y="3628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 bwMode="auto">
              <a:xfrm>
                <a:off x="4411726" y="1205934"/>
                <a:ext cx="3948503" cy="731520"/>
              </a:xfrm>
              <a:prstGeom prst="rect">
                <a:avLst/>
              </a:prstGeom>
            </p:spPr>
            <p:txBody>
              <a:bodyPr wrap="square" rtlCol="0" anchor="t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求解</m:t>
                      </m:r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 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sSupPr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‴</m:t>
                          </m:r>
                        </m:sup>
                      </m:sSup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1" lang="en-US" altLang="zh-CN" sz="28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e</m:t>
                          </m:r>
                        </m:e>
                        <m:sup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2</m:t>
                          </m:r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𝑥</m:t>
                          </m:r>
                        </m:sup>
                      </m:sSup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−</m:t>
                      </m:r>
                      <m:func>
                        <m:funcPr>
                          <m:ctrlP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8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8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𝑥</m:t>
                          </m:r>
                        </m:e>
                      </m:func>
                      <m:r>
                        <a:rPr kumimoji="1" lang="en-US" altLang="zh-CN" sz="28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.</m:t>
                      </m:r>
                    </m:oMath>
                  </m:oMathPara>
                </a14:m>
                <a:endParaRPr kumimoji="1" lang="en-US" altLang="zh-CN" sz="28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1726" y="1205934"/>
                <a:ext cx="3948503" cy="7315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4094861" y="1945074"/>
            <a:ext cx="7393940" cy="748030"/>
            <a:chOff x="5593" y="3172"/>
            <a:chExt cx="11644" cy="1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86" name="Object 6"/>
                <p:cNvSpPr txBox="1"/>
                <p:nvPr/>
              </p:nvSpPr>
              <p:spPr bwMode="auto">
                <a:xfrm>
                  <a:off x="6160" y="3172"/>
                  <a:ext cx="11077" cy="1178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e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kumimoji="1" lang="en-US" altLang="zh-CN" sz="2200" i="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𝑥</m:t>
                                    </m:r>
                                  </m:e>
                                </m:func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8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60" y="3172"/>
                  <a:ext cx="11077" cy="11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5593" y="3586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43501" y="2676594"/>
            <a:ext cx="5097780" cy="788670"/>
            <a:chOff x="6457" y="4324"/>
            <a:chExt cx="8028" cy="12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87" name="Object 7"/>
                <p:cNvSpPr txBox="1"/>
                <p:nvPr/>
              </p:nvSpPr>
              <p:spPr bwMode="auto">
                <a:xfrm>
                  <a:off x="6756" y="4324"/>
                  <a:ext cx="7729" cy="1242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−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87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56" y="4324"/>
                  <a:ext cx="7729" cy="124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6457" y="4786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456811" y="3473519"/>
            <a:ext cx="2510155" cy="850900"/>
            <a:chOff x="3745" y="5739"/>
            <a:chExt cx="3953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88" name="Object 8"/>
                <p:cNvSpPr txBox="1"/>
                <p:nvPr/>
              </p:nvSpPr>
              <p:spPr bwMode="auto">
                <a:xfrm>
                  <a:off x="3745" y="5739"/>
                  <a:ext cx="3953" cy="1340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8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45" y="5739"/>
                  <a:ext cx="3953" cy="134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5892" y="6119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711888" y="3630999"/>
            <a:ext cx="1937385" cy="473075"/>
            <a:chOff x="9254" y="-776"/>
            <a:chExt cx="3051" cy="7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96" name="Object 16"/>
                <p:cNvSpPr txBox="1"/>
                <p:nvPr/>
              </p:nvSpPr>
              <p:spPr bwMode="auto">
                <a:xfrm>
                  <a:off x="9420" y="-776"/>
                  <a:ext cx="2885" cy="66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sym typeface="+mn-ea"/>
                          </a:rPr>
                          <m:t>+</m:t>
                        </m:r>
                        <m:func>
                          <m:func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zh-CN" altLang="en-US" sz="2200" i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sym typeface="+mn-ea"/>
                              </a:rPr>
                              <m:t>cos</m:t>
                            </m:r>
                          </m:fName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sym typeface="+mn-ea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9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420" y="-776"/>
                  <a:ext cx="2885" cy="66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9254" y="-710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752653" y="3631634"/>
            <a:ext cx="2781935" cy="659765"/>
            <a:chOff x="9840" y="5952"/>
            <a:chExt cx="4381" cy="10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97" name="Object 17"/>
                <p:cNvSpPr txBox="1"/>
                <p:nvPr/>
              </p:nvSpPr>
              <p:spPr bwMode="auto">
                <a:xfrm>
                  <a:off x="9840" y="5952"/>
                  <a:ext cx="4381" cy="700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97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840" y="5952"/>
                  <a:ext cx="4381" cy="7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9840" y="6312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469511" y="4247584"/>
            <a:ext cx="2329180" cy="850900"/>
            <a:chOff x="3837" y="7480"/>
            <a:chExt cx="3668" cy="1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89" name="Object 9"/>
                <p:cNvSpPr txBox="1"/>
                <p:nvPr/>
              </p:nvSpPr>
              <p:spPr bwMode="auto">
                <a:xfrm>
                  <a:off x="3837" y="7480"/>
                  <a:ext cx="3668" cy="1340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8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8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37" y="7480"/>
                  <a:ext cx="3668" cy="13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3837" y="7570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7508621" y="4410462"/>
            <a:ext cx="2827020" cy="478155"/>
            <a:chOff x="13116" y="7516"/>
            <a:chExt cx="4452" cy="7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95" name="Object 15"/>
                <p:cNvSpPr txBox="1"/>
                <p:nvPr/>
              </p:nvSpPr>
              <p:spPr bwMode="auto">
                <a:xfrm>
                  <a:off x="13116" y="7516"/>
                  <a:ext cx="4452" cy="700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95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116" y="7516"/>
                  <a:ext cx="4452" cy="700"/>
                </a:xfrm>
                <a:prstGeom prst="rect">
                  <a:avLst/>
                </a:prstGeom>
                <a:blipFill>
                  <a:blip r:embed="rId10"/>
                  <a:stretch>
                    <a:fillRect b="-13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15426" y="7590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469001" y="4407604"/>
            <a:ext cx="2005965" cy="520065"/>
            <a:chOff x="7321" y="7640"/>
            <a:chExt cx="3159" cy="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93" name="Object 13"/>
                <p:cNvSpPr txBox="1"/>
                <p:nvPr/>
              </p:nvSpPr>
              <p:spPr bwMode="auto">
                <a:xfrm>
                  <a:off x="7738" y="7640"/>
                  <a:ext cx="2742" cy="520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sin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e>
                        </m:func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93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38" y="7640"/>
                  <a:ext cx="2742" cy="520"/>
                </a:xfrm>
                <a:prstGeom prst="rect">
                  <a:avLst/>
                </a:prstGeom>
                <a:blipFill>
                  <a:blip r:embed="rId11"/>
                  <a:stretch>
                    <a:fillRect b="-2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文本框 24"/>
            <p:cNvSpPr txBox="1"/>
            <p:nvPr/>
          </p:nvSpPr>
          <p:spPr>
            <a:xfrm>
              <a:off x="7321" y="7780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679946" y="4405064"/>
            <a:ext cx="2673985" cy="662305"/>
            <a:chOff x="7366" y="7206"/>
            <a:chExt cx="4211" cy="10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94" name="Object 14"/>
                <p:cNvSpPr txBox="1"/>
                <p:nvPr/>
              </p:nvSpPr>
              <p:spPr bwMode="auto">
                <a:xfrm>
                  <a:off x="7366" y="7206"/>
                  <a:ext cx="1649" cy="8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sym typeface="+mn-ea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sym typeface="+mn-ea"/>
                              </a:rPr>
                              <m:t>𝑥</m:t>
                            </m:r>
                          </m:e>
                          <m:sup>
                            <m:r>
                              <a:rPr lang="zh-CN" altLang="en-US" sz="22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  <a:sym typeface="+mn-ea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sz="2200" i="1" dirty="0">
                    <a:solidFill>
                      <a:srgbClr val="000000"/>
                    </a:solidFill>
                    <a:latin typeface="Cambria Math" panose="02040503050406030204" charset="0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94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66" y="7206"/>
                  <a:ext cx="1649" cy="8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本框 26"/>
            <p:cNvSpPr txBox="1"/>
            <p:nvPr/>
          </p:nvSpPr>
          <p:spPr>
            <a:xfrm flipV="1">
              <a:off x="10713" y="7570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852541" y="4882584"/>
            <a:ext cx="4579620" cy="1131570"/>
            <a:chOff x="5868" y="7958"/>
            <a:chExt cx="7212" cy="17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092" name="Object 12"/>
                <p:cNvSpPr txBox="1"/>
                <p:nvPr/>
              </p:nvSpPr>
              <p:spPr bwMode="auto">
                <a:xfrm>
                  <a:off x="5868" y="7958"/>
                  <a:ext cx="7212" cy="1335"/>
                </a:xfrm>
                <a:prstGeom prst="rect">
                  <a:avLst/>
                </a:prstGeom>
              </p:spPr>
              <p:txBody>
                <a:bodyPr wrap="square" rtlCol="0" anchor="t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此处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den>
                        </m:f>
                        <m:sSubSup>
                          <m:sSub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b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46092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68" y="7958"/>
                  <a:ext cx="7212" cy="133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7738" y="9061"/>
              <a:ext cx="8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709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285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Rectangle 148"/>
          <p:cNvSpPr>
            <a:spLocks noChangeArrowheads="1"/>
          </p:cNvSpPr>
          <p:nvPr/>
        </p:nvSpPr>
        <p:spPr bwMode="auto">
          <a:xfrm>
            <a:off x="2023586" y="4232307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86"/>
              <p:cNvSpPr>
                <a:spLocks noChangeArrowheads="1"/>
              </p:cNvSpPr>
              <p:nvPr/>
            </p:nvSpPr>
            <p:spPr bwMode="auto">
              <a:xfrm>
                <a:off x="2023586" y="921619"/>
                <a:ext cx="83820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例2</a:t>
                </a:r>
                <a:r>
                  <a:rPr lang="zh-CN" altLang="en-US" sz="2800" b="1" dirty="0">
                    <a:solidFill>
                      <a:srgbClr val="04926A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质量为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𝑚</m:t>
                    </m:r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的质点受力</a:t>
                </a:r>
                <a:r>
                  <a:rPr kumimoji="1" lang="en-US" altLang="zh-CN" sz="28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F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的作用沿</a:t>
                </a:r>
                <a:r>
                  <a:rPr kumimoji="1" lang="en-US" altLang="zh-CN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𝑂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轴作直线</a:t>
                </a:r>
                <a:endParaRPr lang="zh-CN" altLang="en-US" sz="2800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2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3586" y="921619"/>
                <a:ext cx="8382000" cy="609600"/>
              </a:xfrm>
              <a:prstGeom prst="rect">
                <a:avLst/>
              </a:prstGeom>
              <a:blipFill>
                <a:blip r:embed="rId3"/>
                <a:stretch>
                  <a:fillRect l="-1527" t="-6000" b="-22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287"/>
              <p:cNvSpPr txBox="1">
                <a:spLocks noChangeArrowheads="1"/>
              </p:cNvSpPr>
              <p:nvPr/>
            </p:nvSpPr>
            <p:spPr bwMode="auto">
              <a:xfrm>
                <a:off x="2023586" y="1545740"/>
                <a:ext cx="88138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运动</a:t>
                </a:r>
                <a:r>
                  <a:rPr kumimoji="1" lang="en-US" altLang="zh-CN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设力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F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仅是时间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 的函数:</a:t>
                </a:r>
                <a:r>
                  <a:rPr kumimoji="1" lang="en-US" altLang="zh-CN" sz="2800" noProof="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𝐹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𝐹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.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在开始时刻</a:t>
                </a:r>
              </a:p>
            </p:txBody>
          </p:sp>
        </mc:Choice>
        <mc:Fallback xmlns="">
          <p:sp>
            <p:nvSpPr>
              <p:cNvPr id="5" name="Text Box 2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3586" y="1545740"/>
                <a:ext cx="8813800" cy="521970"/>
              </a:xfrm>
              <a:prstGeom prst="rect">
                <a:avLst/>
              </a:prstGeom>
              <a:blipFill>
                <a:blip r:embed="rId4"/>
                <a:stretch>
                  <a:fillRect l="-1452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88"/>
              <p:cNvSpPr txBox="1">
                <a:spLocks noChangeArrowheads="1"/>
              </p:cNvSpPr>
              <p:nvPr/>
            </p:nvSpPr>
            <p:spPr bwMode="auto">
              <a:xfrm>
                <a:off x="2023586" y="2137227"/>
                <a:ext cx="88138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=0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𝐹</m:t>
                    </m:r>
                    <m:r>
                      <a:rPr kumimoji="1" lang="en-US" altLang="zh-CN" sz="280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en-US" altLang="zh-CN" sz="280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随着时间的增大</a:t>
                </a:r>
                <a:r>
                  <a:rPr kumimoji="1" lang="en-US" altLang="zh-CN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此力</a:t>
                </a:r>
                <a:r>
                  <a:rPr kumimoji="1" lang="zh-CN" altLang="en-US" sz="2800" dirty="0">
                    <a:solidFill>
                      <a:schemeClr val="tx2"/>
                    </a:solidFill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𝐹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均匀地减</a:t>
                </a:r>
              </a:p>
            </p:txBody>
          </p:sp>
        </mc:Choice>
        <mc:Fallback xmlns="">
          <p:sp>
            <p:nvSpPr>
              <p:cNvPr id="6" name="Text Box 2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3586" y="2137227"/>
                <a:ext cx="8813800" cy="521970"/>
              </a:xfrm>
              <a:prstGeom prst="rect">
                <a:avLst/>
              </a:prstGeom>
              <a:blipFill>
                <a:blip r:embed="rId5"/>
                <a:stretch>
                  <a:fillRect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289"/>
              <p:cNvSpPr txBox="1">
                <a:spLocks noChangeArrowheads="1"/>
              </p:cNvSpPr>
              <p:nvPr/>
            </p:nvSpPr>
            <p:spPr bwMode="auto">
              <a:xfrm>
                <a:off x="2023586" y="2763284"/>
                <a:ext cx="88138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小</a:t>
                </a:r>
                <a:r>
                  <a:rPr kumimoji="1" lang="en-US" altLang="zh-CN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直到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= </a:t>
                </a:r>
                <a:r>
                  <a: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T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时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𝐹</m:t>
                    </m:r>
                    <m:r>
                      <a:rPr kumimoji="1" lang="en-US" altLang="zh-CN" sz="280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𝑇</m:t>
                    </m:r>
                    <m:r>
                      <a:rPr kumimoji="1" lang="en-US" altLang="zh-CN" sz="280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.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如果开始时质点在原点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:r>
                  <a: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且</a:t>
                </a:r>
              </a:p>
            </p:txBody>
          </p:sp>
        </mc:Choice>
        <mc:Fallback xmlns="">
          <p:sp>
            <p:nvSpPr>
              <p:cNvPr id="7" name="Text Box 2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3586" y="2763284"/>
                <a:ext cx="8813800" cy="521970"/>
              </a:xfrm>
              <a:prstGeom prst="rect">
                <a:avLst/>
              </a:prstGeom>
              <a:blipFill>
                <a:blip r:embed="rId6"/>
                <a:stretch>
                  <a:fillRect l="-1452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Box 290"/>
          <p:cNvSpPr txBox="1">
            <a:spLocks noChangeArrowheads="1"/>
          </p:cNvSpPr>
          <p:nvPr/>
        </p:nvSpPr>
        <p:spPr bwMode="auto">
          <a:xfrm>
            <a:off x="2023586" y="3338872"/>
            <a:ext cx="6451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初速度为</a:t>
            </a:r>
            <a:r>
              <a:rPr kumimoji="1" lang="en-US" altLang="zh-CN" sz="2800" dirty="0">
                <a:latin typeface="Cambria Math" panose="02040503050406030204" pitchFamily="18" charset="0"/>
                <a:ea typeface="黑体" panose="02010609060101010101" pitchFamily="49" charset="-122"/>
              </a:rPr>
              <a:t>0</a:t>
            </a:r>
            <a:r>
              <a:rPr kumimoji="1"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求质点的运动规律.</a:t>
            </a:r>
            <a:r>
              <a:rPr kumimoji="1" lang="en-US" altLang="zh-CN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291"/>
              <p:cNvSpPr txBox="1">
                <a:spLocks noChangeArrowheads="1"/>
              </p:cNvSpPr>
              <p:nvPr/>
            </p:nvSpPr>
            <p:spPr bwMode="auto">
              <a:xfrm>
                <a:off x="2872900" y="4284218"/>
                <a:ext cx="41036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设运动规律为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= 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) .</a:t>
                </a:r>
              </a:p>
            </p:txBody>
          </p:sp>
        </mc:Choice>
        <mc:Fallback xmlns="">
          <p:sp>
            <p:nvSpPr>
              <p:cNvPr id="9" name="Text Box 2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72900" y="4284218"/>
                <a:ext cx="4103687" cy="430887"/>
              </a:xfrm>
              <a:prstGeom prst="rect">
                <a:avLst/>
              </a:prstGeom>
              <a:blipFill>
                <a:blip r:embed="rId7"/>
                <a:stretch>
                  <a:fillRect l="-1932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302"/>
          <p:cNvSpPr txBox="1">
            <a:spLocks noChangeArrowheads="1"/>
          </p:cNvSpPr>
          <p:nvPr/>
        </p:nvSpPr>
        <p:spPr bwMode="auto">
          <a:xfrm>
            <a:off x="2872900" y="4977277"/>
            <a:ext cx="590550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</a:rPr>
              <a:t>根据牛顿第二定律</a:t>
            </a:r>
            <a:r>
              <a:rPr kumimoji="1" lang="en-US" altLang="zh-CN" sz="2200" dirty="0">
                <a:latin typeface="Cambria Math" panose="020405030504060302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dirty="0">
                <a:latin typeface="Cambria Math" panose="02040503050406030204" pitchFamily="18" charset="0"/>
                <a:ea typeface="黑体" panose="02010609060101010101" pitchFamily="49" charset="-122"/>
              </a:rPr>
              <a:t>可得初值问题</a:t>
            </a:r>
          </a:p>
        </p:txBody>
      </p:sp>
      <p:sp>
        <p:nvSpPr>
          <p:cNvPr id="21" name="半闭框 20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半闭框 1"/>
          <p:cNvSpPr/>
          <p:nvPr/>
        </p:nvSpPr>
        <p:spPr>
          <a:xfrm flipH="1" flipV="1">
            <a:off x="10715625" y="5662930"/>
            <a:ext cx="796290" cy="673735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3" name="图片 22" descr="图示&#10;&#10;描述已自动生成">
            <a:extLst>
              <a:ext uri="{FF2B5EF4-FFF2-40B4-BE49-F238E27FC236}">
                <a16:creationId xmlns:a16="http://schemas.microsoft.com/office/drawing/2014/main" id="{71353DC1-99EF-F9BB-2569-5C8A9EF88E2D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788" y="3567733"/>
            <a:ext cx="1631312" cy="2294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41" name="Object 81"/>
              <p:cNvSpPr txBox="1"/>
              <p:nvPr/>
            </p:nvSpPr>
            <p:spPr bwMode="auto">
              <a:xfrm>
                <a:off x="2701098" y="762174"/>
                <a:ext cx="3404982" cy="1815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kumimoji="1" lang="zh-CN" altLang="en-US" sz="22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d</m:t>
                                        </m:r>
                                      </m:e>
                                      <m:sup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d</m:t>
                                    </m:r>
                                    <m:sSup>
                                      <m:sSupPr>
                                        <m:ctrlPr>
                                          <a:rPr kumimoji="1" lang="zh-CN" altLang="en-US" sz="22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kumimoji="1" lang="zh-CN" altLang="en-US" sz="22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𝑚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1−</m:t>
                                    </m:r>
                                    <m:f>
                                      <m:fPr>
                                        <m:ctrlPr>
                                          <a:rPr kumimoji="1" lang="zh-CN" altLang="en-US" sz="22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𝑡</m:t>
                                        </m:r>
                                      </m:num>
                                      <m:den>
                                        <m:r>
                                          <a:rPr kumimoji="1" lang="zh-CN" altLang="en-US" sz="220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  <m:t>𝑇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, 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  <m:sSub>
                                  <m:sSub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|</m:t>
                                    </m:r>
                                  </m:e>
                                  <m:sub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𝑡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=0</m:t>
                                    </m:r>
                                  </m:sub>
                                </m:sSub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=0, </m:t>
                                </m:r>
                                <m:sSub>
                                  <m:sSubPr>
                                    <m:ctrlPr>
                                      <a:rPr kumimoji="1" lang="zh-CN" altLang="en-US" sz="2200" i="1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1" lang="zh-CN" altLang="en-US" sz="2200" i="1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kumimoji="1" lang="zh-CN" altLang="en-US" sz="2200" i="1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1" lang="zh-CN" altLang="en-US" sz="2200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  <m:t>d</m:t>
                                            </m:r>
                                            <m:r>
                                              <a:rPr kumimoji="1" lang="zh-CN" altLang="en-US" sz="2200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  <m:t>𝑥</m:t>
                                            </m:r>
                                          </m:num>
                                          <m:den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kumimoji="1" lang="zh-CN" altLang="en-US" sz="2200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  <m:t>d</m:t>
                                            </m:r>
                                            <m:r>
                                              <a:rPr kumimoji="1" lang="zh-CN" altLang="en-US" sz="2200">
                                                <a:latin typeface="Cambria Math" panose="02040503050406030204" pitchFamily="18" charset="0"/>
                                                <a:ea typeface="黑体" panose="02010609060101010101" pitchFamily="49" charset="-122"/>
                                              </a:rPr>
                                              <m:t>𝑡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𝑡</m:t>
                                    </m:r>
                                    <m:r>
                                      <a:rPr kumimoji="1" lang="zh-CN" altLang="en-US" sz="220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=0</m:t>
                                    </m:r>
                                  </m:sub>
                                </m:sSub>
                                <m:r>
                                  <a:rPr kumimoji="1" lang="zh-CN" altLang="en-US" sz="220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=0.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441" name="Object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1098" y="762174"/>
                <a:ext cx="3404982" cy="18154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42" name="Text Box 82"/>
          <p:cNvSpPr txBox="1">
            <a:spLocks noChangeArrowheads="1"/>
          </p:cNvSpPr>
          <p:nvPr/>
        </p:nvSpPr>
        <p:spPr bwMode="auto">
          <a:xfrm>
            <a:off x="2038260" y="2650605"/>
            <a:ext cx="403225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对方程两边积分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43" name="Object 83"/>
              <p:cNvSpPr txBox="1"/>
              <p:nvPr/>
            </p:nvSpPr>
            <p:spPr bwMode="auto">
              <a:xfrm>
                <a:off x="3911675" y="3255351"/>
                <a:ext cx="3607435" cy="12561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443" name="Object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1675" y="3255351"/>
                <a:ext cx="3607435" cy="1256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44" name="Text Box 84"/>
          <p:cNvSpPr txBox="1">
            <a:spLocks noChangeArrowheads="1"/>
          </p:cNvSpPr>
          <p:nvPr/>
        </p:nvSpPr>
        <p:spPr bwMode="auto">
          <a:xfrm>
            <a:off x="2038260" y="4393026"/>
            <a:ext cx="2590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利用初值条件</a:t>
            </a:r>
            <a:endParaRPr kumimoji="1" lang="zh-CN" altLang="en-US" sz="2200" dirty="0">
              <a:latin typeface="+mn-ea"/>
            </a:endParaRPr>
          </a:p>
        </p:txBody>
      </p:sp>
      <p:sp>
        <p:nvSpPr>
          <p:cNvPr id="15446" name="Text Box 86"/>
          <p:cNvSpPr txBox="1">
            <a:spLocks noChangeArrowheads="1"/>
          </p:cNvSpPr>
          <p:nvPr/>
        </p:nvSpPr>
        <p:spPr bwMode="auto">
          <a:xfrm>
            <a:off x="6478248" y="4423940"/>
            <a:ext cx="10668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于是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47" name="Object 87"/>
              <p:cNvSpPr txBox="1"/>
              <p:nvPr/>
            </p:nvSpPr>
            <p:spPr bwMode="auto">
              <a:xfrm>
                <a:off x="3911675" y="5131749"/>
                <a:ext cx="2654300" cy="10966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en-US" altLang="zh-CN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447" name="Object 8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1675" y="5131749"/>
                <a:ext cx="2654300" cy="10966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48" name="Object 88"/>
              <p:cNvSpPr txBox="1"/>
              <p:nvPr/>
            </p:nvSpPr>
            <p:spPr bwMode="auto">
              <a:xfrm>
                <a:off x="3911675" y="4247094"/>
                <a:ext cx="2283187" cy="9264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d</m:t>
                                  </m:r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d</m:t>
                                  </m:r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=0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=0 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448" name="Object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11675" y="4247094"/>
                <a:ext cx="2283187" cy="9264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/>
          <p:cNvGrpSpPr/>
          <p:nvPr/>
        </p:nvGrpSpPr>
        <p:grpSpPr>
          <a:xfrm>
            <a:off x="5344104" y="4423940"/>
            <a:ext cx="2465070" cy="528320"/>
            <a:chOff x="7842" y="7002"/>
            <a:chExt cx="3882" cy="8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 Box 86"/>
                <p:cNvSpPr txBox="1">
                  <a:spLocks noChangeArrowheads="1"/>
                </p:cNvSpPr>
                <p:nvPr/>
              </p:nvSpPr>
              <p:spPr bwMode="auto">
                <a:xfrm>
                  <a:off x="7842" y="7002"/>
                  <a:ext cx="2340" cy="67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 得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sSubPr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=0,</a:t>
                  </a:r>
                </a:p>
              </p:txBody>
            </p:sp>
          </mc:Choice>
          <mc:Fallback xmlns="">
            <p:sp>
              <p:nvSpPr>
                <p:cNvPr id="5" name="Text Box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842" y="7002"/>
                  <a:ext cx="2340" cy="679"/>
                </a:xfrm>
                <a:prstGeom prst="rect">
                  <a:avLst/>
                </a:prstGeom>
                <a:blipFill>
                  <a:blip r:embed="rId9"/>
                  <a:stretch>
                    <a:fillRect l="-1230" t="-14286" b="-28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10572" y="7155"/>
              <a:ext cx="1152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356F6FC7-BF1C-ED93-CB88-46004CFD847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9590" y="1669906"/>
            <a:ext cx="1631312" cy="22947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41" grpId="0"/>
      <p:bldP spid="15442" grpId="0"/>
      <p:bldP spid="15443" grpId="0"/>
      <p:bldP spid="15444" grpId="0"/>
      <p:bldP spid="15446" grpId="0"/>
      <p:bldP spid="15447" grpId="0"/>
      <p:bldP spid="154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27" name="Object 43"/>
              <p:cNvSpPr txBox="1"/>
              <p:nvPr/>
            </p:nvSpPr>
            <p:spPr bwMode="auto">
              <a:xfrm>
                <a:off x="4558064" y="1039813"/>
                <a:ext cx="2624137" cy="10007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d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func>
                            <m:func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d</m:t>
                              </m:r>
                            </m:fNam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𝑡</m:t>
                              </m:r>
                            </m:e>
                          </m:func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𝑡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427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8064" y="1039813"/>
                <a:ext cx="2624137" cy="1000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29" name="Text Box 45"/>
          <p:cNvSpPr txBox="1">
            <a:spLocks noChangeArrowheads="1"/>
          </p:cNvSpPr>
          <p:nvPr/>
        </p:nvSpPr>
        <p:spPr bwMode="auto">
          <a:xfrm>
            <a:off x="2664001" y="2613978"/>
            <a:ext cx="4249737" cy="429895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上述方程两边积分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30" name="Object 46"/>
              <p:cNvSpPr txBox="1"/>
              <p:nvPr/>
            </p:nvSpPr>
            <p:spPr bwMode="auto">
              <a:xfrm>
                <a:off x="4568882" y="3175000"/>
                <a:ext cx="3070226" cy="10017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</m:den>
                      </m:f>
                      <m:d>
                        <m:d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den>
                          </m:f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6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𝑇</m:t>
                              </m:r>
                            </m:den>
                          </m:f>
                        </m:e>
                      </m:d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 .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430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8882" y="3175000"/>
                <a:ext cx="3070226" cy="10017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31" name="Text Box 47"/>
          <p:cNvSpPr txBox="1">
            <a:spLocks noChangeArrowheads="1"/>
          </p:cNvSpPr>
          <p:nvPr/>
        </p:nvSpPr>
        <p:spPr bwMode="auto">
          <a:xfrm>
            <a:off x="2664001" y="4332158"/>
            <a:ext cx="208915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由初值条件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32" name="Object 48"/>
              <p:cNvSpPr txBox="1"/>
              <p:nvPr/>
            </p:nvSpPr>
            <p:spPr bwMode="auto">
              <a:xfrm>
                <a:off x="4204488" y="4307840"/>
                <a:ext cx="1433512" cy="5939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sSub>
                        <m:sSubPr>
                          <m:ctrlP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=0</m:t>
                          </m:r>
                        </m:sub>
                      </m:sSub>
                      <m:r>
                        <a:rPr lang="zh-CN" altLang="en-US" sz="2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2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432" name="Object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4488" y="4307840"/>
                <a:ext cx="1433512" cy="5939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33" name="Text Box 49"/>
          <p:cNvSpPr txBox="1">
            <a:spLocks noChangeArrowheads="1"/>
          </p:cNvSpPr>
          <p:nvPr/>
        </p:nvSpPr>
        <p:spPr bwMode="auto">
          <a:xfrm>
            <a:off x="5481749" y="4332158"/>
            <a:ext cx="223202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得</a:t>
            </a:r>
            <a:r>
              <a: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i="1" dirty="0">
                <a:latin typeface="Cambria Math" panose="020405030504060302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200" baseline="-25000" dirty="0">
                <a:latin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0,</a:t>
            </a:r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34" name="Text Box 50"/>
          <p:cNvSpPr txBox="1">
            <a:spLocks noChangeArrowheads="1"/>
          </p:cNvSpPr>
          <p:nvPr/>
        </p:nvSpPr>
        <p:spPr bwMode="auto">
          <a:xfrm>
            <a:off x="6785326" y="4341683"/>
            <a:ext cx="3887788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于是所求运动规律为</a:t>
            </a:r>
          </a:p>
        </p:txBody>
      </p:sp>
      <p:sp>
        <p:nvSpPr>
          <p:cNvPr id="72" name="Rectangle 1"/>
          <p:cNvSpPr/>
          <p:nvPr/>
        </p:nvSpPr>
        <p:spPr>
          <a:xfrm flipV="1">
            <a:off x="1703705" y="2197100"/>
            <a:ext cx="8711565" cy="76200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558064" y="4998403"/>
            <a:ext cx="4124325" cy="1245235"/>
            <a:chOff x="6353" y="7937"/>
            <a:chExt cx="6495" cy="19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Object 51"/>
                <p:cNvSpPr txBox="1"/>
                <p:nvPr/>
              </p:nvSpPr>
              <p:spPr bwMode="auto">
                <a:xfrm>
                  <a:off x="6353" y="7937"/>
                  <a:ext cx="6495" cy="172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den>
                        </m:f>
                        <m:d>
                          <m:dPr>
                            <m:ctrlP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zh-CN" altLang="en-US" sz="22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6</m:t>
                                </m:r>
                                <m:r>
                                  <a:rPr lang="zh-CN" altLang="en-US" sz="22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  <m:r>
                          <a:rPr lang="zh-CN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,  0</m:t>
                        </m:r>
                        <m:r>
                          <m:rPr>
                            <m:nor/>
                          </m:rPr>
                          <a:rPr lang="en-US" altLang="zh-CN" sz="2200" dirty="0">
                            <a:latin typeface="宋体" panose="02010600030101010101" pitchFamily="2" charset="-122"/>
                          </a:rPr>
                          <m:t>≤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US" altLang="zh-CN" sz="2200" dirty="0">
                            <a:latin typeface="宋体" panose="02010600030101010101" pitchFamily="2" charset="-122"/>
                          </a:rPr>
                          <m:t>≤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zh-CN" altLang="en-US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 .</m:t>
                        </m:r>
                      </m:oMath>
                    </m:oMathPara>
                  </a14:m>
                  <a:endParaRPr lang="zh-CN" altLang="en-US" sz="2200" i="1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" name="Object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53" y="7937"/>
                  <a:ext cx="6495" cy="172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" name="文本框 2"/>
            <p:cNvSpPr txBox="1"/>
            <p:nvPr/>
          </p:nvSpPr>
          <p:spPr>
            <a:xfrm>
              <a:off x="11255" y="9219"/>
              <a:ext cx="720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29" grpId="0"/>
      <p:bldP spid="16430" grpId="0"/>
      <p:bldP spid="16431" grpId="0"/>
      <p:bldP spid="16432" grpId="0"/>
      <p:bldP spid="16433" grpId="0"/>
      <p:bldP spid="164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2710180" y="2684780"/>
            <a:ext cx="838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</a:t>
            </a:r>
          </a:p>
        </p:txBody>
      </p:sp>
      <p:sp>
        <p:nvSpPr>
          <p:cNvPr id="11273" name="Text Box 9"/>
          <p:cNvSpPr txBox="1">
            <a:spLocks noChangeArrowheads="1"/>
          </p:cNvSpPr>
          <p:nvPr/>
        </p:nvSpPr>
        <p:spPr bwMode="auto">
          <a:xfrm>
            <a:off x="2710180" y="3351530"/>
            <a:ext cx="235187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故方程化为</a:t>
            </a:r>
          </a:p>
        </p:txBody>
      </p:sp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2710180" y="4018280"/>
            <a:ext cx="2286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设其通解为</a:t>
            </a:r>
          </a:p>
        </p:txBody>
      </p:sp>
      <p:sp>
        <p:nvSpPr>
          <p:cNvPr id="11279" name="Text Box 15"/>
          <p:cNvSpPr txBox="1">
            <a:spLocks noChangeArrowheads="1"/>
          </p:cNvSpPr>
          <p:nvPr/>
        </p:nvSpPr>
        <p:spPr bwMode="auto">
          <a:xfrm>
            <a:off x="2710180" y="4685030"/>
            <a:ext cx="1143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则得</a:t>
            </a:r>
          </a:p>
        </p:txBody>
      </p:sp>
      <p:sp>
        <p:nvSpPr>
          <p:cNvPr id="11281" name="Text Box 17"/>
          <p:cNvSpPr txBox="1">
            <a:spLocks noChangeArrowheads="1"/>
          </p:cNvSpPr>
          <p:nvPr/>
        </p:nvSpPr>
        <p:spPr bwMode="auto">
          <a:xfrm>
            <a:off x="2710180" y="5351145"/>
            <a:ext cx="49418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再一次积分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得原方程的通解</a:t>
            </a:r>
          </a:p>
        </p:txBody>
      </p:sp>
      <p:sp>
        <p:nvSpPr>
          <p:cNvPr id="30" name="Rectangle 2"/>
          <p:cNvSpPr>
            <a:spLocks noGrp="1" noChangeArrowheads="1"/>
          </p:cNvSpPr>
          <p:nvPr/>
        </p:nvSpPr>
        <p:spPr>
          <a:xfrm>
            <a:off x="816293" y="842040"/>
            <a:ext cx="866140" cy="918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lang="zh-CN" altLang="zh-CN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二</a:t>
            </a: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 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620838" y="842040"/>
            <a:ext cx="5712460" cy="918845"/>
            <a:chOff x="2880" y="912"/>
            <a:chExt cx="8996" cy="14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2"/>
                <p:cNvSpPr>
                  <a:spLocks noGrp="1" noChangeArrowheads="1"/>
                </p:cNvSpPr>
                <p:nvPr/>
              </p:nvSpPr>
              <p:spPr>
                <a:xfrm>
                  <a:off x="2880" y="912"/>
                  <a:ext cx="8852" cy="144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1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>
                    <a:lnSpc>
                      <a:spcPct val="100000"/>
                    </a:lnSpc>
                  </a:pPr>
                  <a14:m>
                    <m:oMath xmlns:m="http://schemas.openxmlformats.org/officeDocument/2006/math">
                      <m:r>
                        <a:rPr lang="zh-CN" altLang="en-US" sz="32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 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 </m:t>
                      </m:r>
                      <m:sSup>
                        <m:sSupPr>
                          <m:ctrlPr>
                            <a:rPr lang="zh-CN" altLang="en-US" sz="3200" i="1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″</m:t>
                          </m:r>
                        </m:sup>
                      </m:sSup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𝑓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(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𝑥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)</m:t>
                      </m:r>
                    </m:oMath>
                  </a14:m>
                  <a:r>
                    <a:rPr lang="zh-CN" altLang="en-US" sz="3200" dirty="0">
                      <a:solidFill>
                        <a:srgbClr val="04926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型的微分方程 </a:t>
                  </a:r>
                </a:p>
              </p:txBody>
            </p:sp>
          </mc:Choice>
          <mc:Fallback xmlns="">
            <p:sp>
              <p:nvSpPr>
                <p:cNvPr id="51" name="Rectangle 2"/>
                <p:cNvSpPr>
                  <a:spLocks noGrp="1"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" y="912"/>
                  <a:ext cx="8852" cy="1447"/>
                </a:xfrm>
                <a:prstGeom prst="rect">
                  <a:avLst/>
                </a:prstGeom>
                <a:blipFill>
                  <a:blip r:embed="rId3"/>
                  <a:stretch>
                    <a:fillRect b="-33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/>
            <p:cNvSpPr txBox="1"/>
            <p:nvPr/>
          </p:nvSpPr>
          <p:spPr>
            <a:xfrm>
              <a:off x="11012" y="1345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1169035" y="2669540"/>
            <a:ext cx="1080135" cy="560705"/>
            <a:chOff x="1613" y="4304"/>
            <a:chExt cx="1701" cy="883"/>
          </a:xfrm>
        </p:grpSpPr>
        <p:sp>
          <p:nvSpPr>
            <p:cNvPr id="28" name="剪去对角的矩形 27"/>
            <p:cNvSpPr/>
            <p:nvPr/>
          </p:nvSpPr>
          <p:spPr>
            <a:xfrm>
              <a:off x="1613" y="4304"/>
              <a:ext cx="1701" cy="883"/>
            </a:xfrm>
            <a:prstGeom prst="snip2Diag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4" name="矩形 3"/>
            <p:cNvSpPr/>
            <p:nvPr/>
          </p:nvSpPr>
          <p:spPr>
            <a:xfrm>
              <a:off x="1709" y="4334"/>
              <a:ext cx="1583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解法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169035" y="1903095"/>
            <a:ext cx="1080135" cy="560705"/>
            <a:chOff x="1613" y="3127"/>
            <a:chExt cx="1701" cy="883"/>
          </a:xfrm>
        </p:grpSpPr>
        <p:sp>
          <p:nvSpPr>
            <p:cNvPr id="31" name="剪去对角的矩形 30"/>
            <p:cNvSpPr/>
            <p:nvPr/>
          </p:nvSpPr>
          <p:spPr>
            <a:xfrm>
              <a:off x="1613" y="3127"/>
              <a:ext cx="1701" cy="883"/>
            </a:xfrm>
            <a:prstGeom prst="snip2Diag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34" name="矩形 33"/>
            <p:cNvSpPr/>
            <p:nvPr/>
          </p:nvSpPr>
          <p:spPr>
            <a:xfrm>
              <a:off x="1709" y="3157"/>
              <a:ext cx="1583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特点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2710180" y="1939290"/>
            <a:ext cx="6869430" cy="597535"/>
            <a:chOff x="5288" y="3154"/>
            <a:chExt cx="10818" cy="9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对象 3"/>
                <p:cNvSpPr txBox="1"/>
                <p:nvPr/>
              </p:nvSpPr>
              <p:spPr>
                <a:xfrm>
                  <a:off x="5288" y="3154"/>
                  <a:ext cx="10818" cy="94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方程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右端不显含未知函数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zh-CN" altLang="en-US" sz="28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8" y="3154"/>
                  <a:ext cx="10818" cy="94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6715" y="3252"/>
              <a:ext cx="74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426268" y="2475250"/>
            <a:ext cx="3225800" cy="958850"/>
            <a:chOff x="8509" y="4264"/>
            <a:chExt cx="5080" cy="15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2" name="Object 8"/>
                <p:cNvSpPr txBox="1"/>
                <p:nvPr/>
              </p:nvSpPr>
              <p:spPr bwMode="auto">
                <a:xfrm>
                  <a:off x="8509" y="4264"/>
                  <a:ext cx="5080" cy="15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</a:rPr>
                          <m:t>则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272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09" y="4264"/>
                  <a:ext cx="5080" cy="15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9279" y="4611"/>
              <a:ext cx="74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4775200" y="3324860"/>
            <a:ext cx="2200275" cy="758825"/>
            <a:chOff x="8540" y="5336"/>
            <a:chExt cx="3465" cy="11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4" name="Object 10"/>
                <p:cNvSpPr txBox="1"/>
                <p:nvPr/>
              </p:nvSpPr>
              <p:spPr bwMode="auto">
                <a:xfrm>
                  <a:off x="8540" y="5336"/>
                  <a:ext cx="3465" cy="100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27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40" y="5336"/>
                  <a:ext cx="3465" cy="100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8678" y="5707"/>
              <a:ext cx="74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883150" y="3985895"/>
            <a:ext cx="2190115" cy="670560"/>
            <a:chOff x="8710" y="6377"/>
            <a:chExt cx="3449" cy="10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8" name="Object 14"/>
                <p:cNvSpPr txBox="1"/>
                <p:nvPr/>
              </p:nvSpPr>
              <p:spPr bwMode="auto">
                <a:xfrm>
                  <a:off x="8710" y="6377"/>
                  <a:ext cx="3449" cy="105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278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710" y="6377"/>
                  <a:ext cx="3449" cy="10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8992" y="6608"/>
              <a:ext cx="74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761230" y="4667250"/>
            <a:ext cx="2387600" cy="760095"/>
            <a:chOff x="8518" y="7450"/>
            <a:chExt cx="3760" cy="11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0" name="Object 16"/>
                <p:cNvSpPr txBox="1"/>
                <p:nvPr/>
              </p:nvSpPr>
              <p:spPr bwMode="auto">
                <a:xfrm>
                  <a:off x="8518" y="7450"/>
                  <a:ext cx="3760" cy="11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𝜑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280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518" y="7450"/>
                  <a:ext cx="3760" cy="119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8888" y="7601"/>
              <a:ext cx="74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7063105" y="5101590"/>
            <a:ext cx="4826635" cy="903605"/>
            <a:chOff x="12143" y="8134"/>
            <a:chExt cx="7601" cy="14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82" name="Object 18"/>
                <p:cNvSpPr txBox="1"/>
                <p:nvPr/>
              </p:nvSpPr>
              <p:spPr bwMode="auto">
                <a:xfrm>
                  <a:off x="12889" y="8134"/>
                  <a:ext cx="6855" cy="14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𝜑</m:t>
                            </m:r>
                          </m:e>
                        </m:nary>
                        <m:d>
                          <m:d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m:rPr>
                            <m:sty m:val="p"/>
                          </m:rPr>
                          <a:rPr kumimoji="1" lang="en-US" altLang="zh-CN" sz="28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128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889" y="8134"/>
                  <a:ext cx="6855" cy="142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12143" y="8575"/>
              <a:ext cx="746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3234924" y="2683349"/>
            <a:ext cx="1429385" cy="685800"/>
            <a:chOff x="6258" y="4505"/>
            <a:chExt cx="2251" cy="10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70" name="Object 6"/>
                <p:cNvSpPr txBox="1"/>
                <p:nvPr/>
              </p:nvSpPr>
              <p:spPr bwMode="auto">
                <a:xfrm>
                  <a:off x="6258" y="4505"/>
                  <a:ext cx="2251" cy="94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270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258" y="4505"/>
                  <a:ext cx="2251" cy="94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7245" y="4761"/>
              <a:ext cx="448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11273" grpId="0"/>
      <p:bldP spid="11275" grpId="0"/>
      <p:bldP spid="11279" grpId="0"/>
      <p:bldP spid="11281" grpId="0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786064" y="525025"/>
            <a:ext cx="718611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12290" name="Rectangle 2"/>
          <p:cNvSpPr>
            <a:spLocks noGrp="1" noChangeArrowheads="1"/>
          </p:cNvSpPr>
          <p:nvPr/>
        </p:nvSpPr>
        <p:spPr>
          <a:xfrm>
            <a:off x="1533525" y="808355"/>
            <a:ext cx="945515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zh-CN" altLang="en-US" sz="2800" b="1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0" name="Rectangle 148"/>
          <p:cNvSpPr>
            <a:spLocks noChangeArrowheads="1"/>
          </p:cNvSpPr>
          <p:nvPr/>
        </p:nvSpPr>
        <p:spPr bwMode="auto">
          <a:xfrm>
            <a:off x="1533645" y="2288539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33" name="Text Box 256"/>
          <p:cNvSpPr txBox="1">
            <a:spLocks noChangeArrowheads="1"/>
          </p:cNvSpPr>
          <p:nvPr/>
        </p:nvSpPr>
        <p:spPr bwMode="auto">
          <a:xfrm>
            <a:off x="5042249" y="2311911"/>
            <a:ext cx="3024187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原方程变形为</a:t>
            </a:r>
          </a:p>
        </p:txBody>
      </p:sp>
      <p:sp>
        <p:nvSpPr>
          <p:cNvPr id="35" name="AutoShape 258"/>
          <p:cNvSpPr>
            <a:spLocks noChangeArrowheads="1"/>
          </p:cNvSpPr>
          <p:nvPr/>
        </p:nvSpPr>
        <p:spPr bwMode="auto">
          <a:xfrm>
            <a:off x="4950243" y="2991327"/>
            <a:ext cx="576580" cy="328930"/>
          </a:xfrm>
          <a:prstGeom prst="rightArrow">
            <a:avLst>
              <a:gd name="adj1" fmla="val 50000"/>
              <a:gd name="adj2" fmla="val 28628"/>
            </a:avLst>
          </a:prstGeom>
          <a:solidFill>
            <a:srgbClr val="04926A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260"/>
          <p:cNvSpPr txBox="1">
            <a:spLocks noChangeArrowheads="1"/>
          </p:cNvSpPr>
          <p:nvPr/>
        </p:nvSpPr>
        <p:spPr bwMode="auto">
          <a:xfrm>
            <a:off x="2362511" y="3664854"/>
            <a:ext cx="273685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分离变量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得</a:t>
            </a:r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262"/>
          <p:cNvSpPr txBox="1">
            <a:spLocks noChangeArrowheads="1"/>
          </p:cNvSpPr>
          <p:nvPr/>
        </p:nvSpPr>
        <p:spPr bwMode="auto">
          <a:xfrm>
            <a:off x="2362511" y="4332498"/>
            <a:ext cx="2520950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两边积分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得</a:t>
            </a:r>
          </a:p>
        </p:txBody>
      </p:sp>
      <p:sp>
        <p:nvSpPr>
          <p:cNvPr id="43" name="Text Box 266"/>
          <p:cNvSpPr txBox="1">
            <a:spLocks noChangeArrowheads="1"/>
          </p:cNvSpPr>
          <p:nvPr/>
        </p:nvSpPr>
        <p:spPr bwMode="auto">
          <a:xfrm>
            <a:off x="2362511" y="4953993"/>
            <a:ext cx="3744912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上式再两边积分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得</a:t>
            </a:r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Box 268"/>
          <p:cNvSpPr txBox="1">
            <a:spLocks noChangeArrowheads="1"/>
          </p:cNvSpPr>
          <p:nvPr/>
        </p:nvSpPr>
        <p:spPr bwMode="auto">
          <a:xfrm>
            <a:off x="2362511" y="5577392"/>
            <a:ext cx="4392612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由初值条件可求得特解为</a:t>
            </a:r>
          </a:p>
        </p:txBody>
      </p:sp>
      <p:sp>
        <p:nvSpPr>
          <p:cNvPr id="56" name="Rectangle 66"/>
          <p:cNvSpPr>
            <a:spLocks noChangeArrowheads="1"/>
          </p:cNvSpPr>
          <p:nvPr/>
        </p:nvSpPr>
        <p:spPr bwMode="auto">
          <a:xfrm>
            <a:off x="1533525" y="793750"/>
            <a:ext cx="2931160" cy="66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例3</a:t>
            </a: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lt"/>
              </a:rPr>
              <a:t> </a:t>
            </a:r>
            <a:r>
              <a:rPr lang="en-US" altLang="zh-CN" sz="2800" b="1" dirty="0">
                <a:cs typeface="+mn-ea"/>
                <a:sym typeface="+mn-lt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+mn-lt"/>
                <a:ea typeface="黑体" panose="02010609060101010101" pitchFamily="49" charset="-122"/>
              </a:rPr>
              <a:t>求微分方程</a:t>
            </a:r>
            <a:r>
              <a:rPr lang="zh-CN" altLang="en-US" sz="2800" dirty="0">
                <a:latin typeface="+mn-lt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8" name="Text Box 68"/>
          <p:cNvSpPr>
            <a:spLocks noChangeArrowheads="1"/>
          </p:cNvSpPr>
          <p:nvPr/>
        </p:nvSpPr>
        <p:spPr bwMode="auto">
          <a:xfrm>
            <a:off x="7112028" y="853954"/>
            <a:ext cx="3276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满足初值条件</a:t>
            </a:r>
          </a:p>
        </p:txBody>
      </p:sp>
      <p:sp>
        <p:nvSpPr>
          <p:cNvPr id="60" name="Text Box 70"/>
          <p:cNvSpPr>
            <a:spLocks noChangeArrowheads="1"/>
          </p:cNvSpPr>
          <p:nvPr/>
        </p:nvSpPr>
        <p:spPr bwMode="auto">
          <a:xfrm>
            <a:off x="5940570" y="1488570"/>
            <a:ext cx="1828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的特解.</a:t>
            </a:r>
          </a:p>
        </p:txBody>
      </p:sp>
      <p:sp>
        <p:nvSpPr>
          <p:cNvPr id="18" name="AutoShape 258"/>
          <p:cNvSpPr>
            <a:spLocks noChangeArrowheads="1"/>
          </p:cNvSpPr>
          <p:nvPr/>
        </p:nvSpPr>
        <p:spPr bwMode="auto">
          <a:xfrm>
            <a:off x="7383708" y="4391311"/>
            <a:ext cx="576580" cy="328930"/>
          </a:xfrm>
          <a:prstGeom prst="rightArrow">
            <a:avLst>
              <a:gd name="adj1" fmla="val 50000"/>
              <a:gd name="adj2" fmla="val 28628"/>
            </a:avLst>
          </a:prstGeom>
          <a:solidFill>
            <a:srgbClr val="04926A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171243" y="822884"/>
            <a:ext cx="3212465" cy="482600"/>
            <a:chOff x="7204" y="1275"/>
            <a:chExt cx="5059" cy="7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对象 10"/>
                <p:cNvSpPr txBox="1"/>
                <p:nvPr/>
              </p:nvSpPr>
              <p:spPr>
                <a:xfrm>
                  <a:off x="7204" y="1275"/>
                  <a:ext cx="5059" cy="7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(1+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3" name="对象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" y="1275"/>
                  <a:ext cx="5059" cy="720"/>
                </a:xfrm>
                <a:prstGeom prst="rect">
                  <a:avLst/>
                </a:prstGeom>
                <a:blipFill>
                  <a:blip r:embed="rId3"/>
                  <a:stretch>
                    <a:fillRect b="-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7597" y="1455"/>
              <a:ext cx="69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376805" y="1469390"/>
            <a:ext cx="3779520" cy="640080"/>
            <a:chOff x="4163" y="2214"/>
            <a:chExt cx="5952" cy="10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对象 11"/>
                <p:cNvSpPr txBox="1"/>
                <p:nvPr/>
              </p:nvSpPr>
              <p:spPr>
                <a:xfrm>
                  <a:off x="4163" y="2214"/>
                  <a:ext cx="5952" cy="1009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=1, 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8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8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=3</m:t>
                        </m:r>
                      </m:oMath>
                    </m:oMathPara>
                  </a14:m>
                  <a:endPara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对象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3" y="2214"/>
                  <a:ext cx="5952" cy="10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4324" y="2429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2590165" y="2442210"/>
            <a:ext cx="47371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1"/>
              <p:cNvSpPr txBox="1"/>
              <p:nvPr/>
            </p:nvSpPr>
            <p:spPr>
              <a:xfrm>
                <a:off x="2376805" y="2326005"/>
                <a:ext cx="1457325" cy="496570"/>
              </a:xfrm>
              <a:prstGeom prst="rect">
                <a:avLst/>
              </a:prstGeom>
            </p:spPr>
            <p:txBody>
              <a:bodyPr>
                <a:normAutofit fontScale="975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3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令</m:t>
                      </m:r>
                      <m:sSup>
                        <m:sSupPr>
                          <m:ctrlP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3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3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r>
                        <a:rPr kumimoji="1" lang="en-US" altLang="zh-CN" sz="23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𝑝</m:t>
                      </m:r>
                      <m:r>
                        <a:rPr kumimoji="1" lang="en-US" altLang="zh-CN" sz="23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lang="zh-CN" altLang="en-US" sz="2300" i="1" dirty="0"/>
              </a:p>
            </p:txBody>
          </p:sp>
        </mc:Choice>
        <mc:Fallback xmlns="">
          <p:sp>
            <p:nvSpPr>
              <p:cNvPr id="4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805" y="2326005"/>
                <a:ext cx="1457325" cy="496570"/>
              </a:xfrm>
              <a:prstGeom prst="rect">
                <a:avLst/>
              </a:prstGeom>
              <a:blipFill>
                <a:blip r:embed="rId5"/>
                <a:stretch>
                  <a:fillRect l="-33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2"/>
              <p:cNvSpPr txBox="1"/>
              <p:nvPr/>
            </p:nvSpPr>
            <p:spPr>
              <a:xfrm>
                <a:off x="3595257" y="2308860"/>
                <a:ext cx="1498600" cy="4318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noProof="0" dirty="0">
                          <a:ln>
                            <a:noFill/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则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𝑝</m:t>
                          </m:r>
                        </m:e>
                        <m:sup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2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57" y="2308860"/>
                <a:ext cx="1498600" cy="431800"/>
              </a:xfrm>
              <a:prstGeom prst="rect">
                <a:avLst/>
              </a:prstGeom>
              <a:blipFill>
                <a:blip r:embed="rId6"/>
                <a:stretch>
                  <a:fillRect l="-2846" b="-112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2369185" y="917575"/>
            <a:ext cx="473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2338488" y="2923382"/>
            <a:ext cx="2514600" cy="460375"/>
            <a:chOff x="8150" y="4481"/>
            <a:chExt cx="3960" cy="7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对象 3"/>
                <p:cNvSpPr txBox="1"/>
                <p:nvPr/>
              </p:nvSpPr>
              <p:spPr>
                <a:xfrm>
                  <a:off x="8150" y="4481"/>
                  <a:ext cx="396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=2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𝑥𝑝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" y="4481"/>
                  <a:ext cx="3960" cy="720"/>
                </a:xfrm>
                <a:prstGeom prst="rect">
                  <a:avLst/>
                </a:prstGeom>
                <a:blipFill>
                  <a:blip r:embed="rId7"/>
                  <a:stretch>
                    <a:fillRect l="-1699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本框 28"/>
            <p:cNvSpPr txBox="1"/>
            <p:nvPr/>
          </p:nvSpPr>
          <p:spPr>
            <a:xfrm>
              <a:off x="8591" y="4527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642393" y="2746740"/>
            <a:ext cx="2120900" cy="838200"/>
            <a:chOff x="13353" y="4187"/>
            <a:chExt cx="3340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对象 4"/>
                <p:cNvSpPr txBox="1"/>
                <p:nvPr/>
              </p:nvSpPr>
              <p:spPr>
                <a:xfrm>
                  <a:off x="13353" y="4187"/>
                  <a:ext cx="3340" cy="13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" name="对象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53" y="4187"/>
                  <a:ext cx="3340" cy="13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2" name="文本框 31"/>
            <p:cNvSpPr txBox="1"/>
            <p:nvPr/>
          </p:nvSpPr>
          <p:spPr>
            <a:xfrm>
              <a:off x="13583" y="4481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102358" y="3463925"/>
            <a:ext cx="2235200" cy="914400"/>
            <a:chOff x="7204" y="5417"/>
            <a:chExt cx="352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对象 5"/>
                <p:cNvSpPr txBox="1"/>
                <p:nvPr/>
              </p:nvSpPr>
              <p:spPr>
                <a:xfrm>
                  <a:off x="7204" y="5417"/>
                  <a:ext cx="3520" cy="14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d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𝑝</m:t>
                            </m:r>
                          </m:den>
                        </m:f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CN" sz="2200" i="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d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对象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4" y="5417"/>
                  <a:ext cx="3520" cy="14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/>
            <p:cNvSpPr txBox="1"/>
            <p:nvPr/>
          </p:nvSpPr>
          <p:spPr>
            <a:xfrm>
              <a:off x="7204" y="5744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4070133" y="4327176"/>
            <a:ext cx="3187700" cy="575310"/>
            <a:chOff x="7376" y="6735"/>
            <a:chExt cx="5020" cy="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对象 6"/>
                <p:cNvSpPr txBox="1"/>
                <p:nvPr/>
              </p:nvSpPr>
              <p:spPr>
                <a:xfrm>
                  <a:off x="7376" y="6735"/>
                  <a:ext cx="502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|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|=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) +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𝐶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" name="对象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6" y="6735"/>
                  <a:ext cx="5020" cy="720"/>
                </a:xfrm>
                <a:prstGeom prst="rect">
                  <a:avLst/>
                </a:prstGeom>
                <a:blipFill>
                  <a:blip r:embed="rId10"/>
                  <a:stretch>
                    <a:fillRect l="-382" b="-1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文本框 41"/>
            <p:cNvSpPr txBox="1"/>
            <p:nvPr/>
          </p:nvSpPr>
          <p:spPr>
            <a:xfrm>
              <a:off x="8293" y="6962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8047773" y="4321407"/>
            <a:ext cx="2832100" cy="527685"/>
            <a:chOff x="13446" y="6705"/>
            <a:chExt cx="4460" cy="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对象 7"/>
                <p:cNvSpPr txBox="1"/>
                <p:nvPr/>
              </p:nvSpPr>
              <p:spPr>
                <a:xfrm>
                  <a:off x="13446" y="6705"/>
                  <a:ext cx="4460" cy="74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𝑝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(1+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) .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" name="对象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46" y="6705"/>
                  <a:ext cx="4460" cy="740"/>
                </a:xfrm>
                <a:prstGeom prst="rect">
                  <a:avLst/>
                </a:prstGeom>
                <a:blipFill>
                  <a:blip r:embed="rId11"/>
                  <a:stretch>
                    <a:fillRect l="-215" b="-90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文本框 45"/>
            <p:cNvSpPr txBox="1"/>
            <p:nvPr/>
          </p:nvSpPr>
          <p:spPr>
            <a:xfrm>
              <a:off x="13851" y="6857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4883461" y="4754657"/>
            <a:ext cx="3213100" cy="838200"/>
            <a:chOff x="8293" y="7647"/>
            <a:chExt cx="5060" cy="13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对象 8"/>
                <p:cNvSpPr txBox="1"/>
                <p:nvPr/>
              </p:nvSpPr>
              <p:spPr>
                <a:xfrm>
                  <a:off x="8293" y="7647"/>
                  <a:ext cx="5060" cy="13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1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93" y="7647"/>
                  <a:ext cx="5060" cy="132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文本框 50"/>
            <p:cNvSpPr txBox="1"/>
            <p:nvPr/>
          </p:nvSpPr>
          <p:spPr>
            <a:xfrm>
              <a:off x="9039" y="8058"/>
              <a:ext cx="267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642393" y="5534389"/>
            <a:ext cx="2235200" cy="572135"/>
            <a:chOff x="8876" y="9016"/>
            <a:chExt cx="3520" cy="9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对象 9"/>
                <p:cNvSpPr txBox="1"/>
                <p:nvPr/>
              </p:nvSpPr>
              <p:spPr>
                <a:xfrm>
                  <a:off x="8876" y="9016"/>
                  <a:ext cx="3520" cy="720"/>
                </a:xfrm>
                <a:prstGeom prst="rect">
                  <a:avLst/>
                </a:prstGeom>
              </p:spPr>
              <p:txBody>
                <a:bodyPr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zh-CN" sz="220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3</m:t>
                            </m:r>
                          </m:sup>
                        </m:sSup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+3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  <m:r>
                          <a:rPr kumimoji="1" lang="en-US" altLang="zh-CN" sz="2200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+1.</m:t>
                        </m:r>
                      </m:oMath>
                    </m:oMathPara>
                  </a14:m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对象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76" y="9016"/>
                  <a:ext cx="3520" cy="720"/>
                </a:xfrm>
                <a:prstGeom prst="rect">
                  <a:avLst/>
                </a:prstGeom>
                <a:blipFill>
                  <a:blip r:embed="rId13"/>
                  <a:stretch>
                    <a:fillRect l="-546" b="-5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9227" y="9238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3" grpId="0"/>
      <p:bldP spid="35" grpId="0" animBg="1"/>
      <p:bldP spid="37" grpId="0"/>
      <p:bldP spid="39" grpId="0"/>
      <p:bldP spid="43" grpId="0"/>
      <p:bldP spid="45" grpId="0"/>
      <p:bldP spid="56" grpId="0"/>
      <p:bldP spid="58" grpId="0"/>
      <p:bldP spid="60" grpId="0"/>
      <p:bldP spid="18" grpId="0" animBg="1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1675238" y="2946636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318" name="Rectangle 270"/>
          <p:cNvSpPr>
            <a:spLocks noChangeArrowheads="1"/>
          </p:cNvSpPr>
          <p:nvPr/>
        </p:nvSpPr>
        <p:spPr bwMode="auto">
          <a:xfrm>
            <a:off x="1675238" y="850543"/>
            <a:ext cx="8329612" cy="661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例4</a:t>
            </a:r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设有一均匀、柔软的绳索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两端固定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绳索仅</a:t>
            </a:r>
            <a:r>
              <a:rPr lang="zh-CN" altLang="en-US" sz="2800" dirty="0"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2329" name="Text Box 281"/>
          <p:cNvSpPr txBox="1">
            <a:spLocks noChangeArrowheads="1"/>
          </p:cNvSpPr>
          <p:nvPr/>
        </p:nvSpPr>
        <p:spPr bwMode="auto">
          <a:xfrm>
            <a:off x="2645835" y="1595080"/>
            <a:ext cx="585946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受重力的作用而下垂</a:t>
            </a:r>
            <a:r>
              <a:rPr lang="en-US" altLang="zh-CN" sz="2800" dirty="0">
                <a:ea typeface="黑体" panose="02010609060101010101" pitchFamily="49" charset="-122"/>
              </a:rPr>
              <a:t>,</a:t>
            </a:r>
            <a:r>
              <a:rPr lang="zh-CN" altLang="en-US" sz="2800" dirty="0">
                <a:ea typeface="黑体" panose="02010609060101010101" pitchFamily="49" charset="-122"/>
              </a:rPr>
              <a:t>试问该绳索</a:t>
            </a:r>
          </a:p>
        </p:txBody>
      </p:sp>
      <p:sp>
        <p:nvSpPr>
          <p:cNvPr id="2330" name="Text Box 282"/>
          <p:cNvSpPr txBox="1">
            <a:spLocks noChangeArrowheads="1"/>
          </p:cNvSpPr>
          <p:nvPr/>
        </p:nvSpPr>
        <p:spPr bwMode="auto">
          <a:xfrm>
            <a:off x="2645835" y="2199600"/>
            <a:ext cx="53562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在平衡状态时是怎样的曲线？</a:t>
            </a:r>
          </a:p>
        </p:txBody>
      </p:sp>
      <p:sp>
        <p:nvSpPr>
          <p:cNvPr id="2353" name="Text Box 305"/>
          <p:cNvSpPr txBox="1">
            <a:spLocks noChangeArrowheads="1"/>
          </p:cNvSpPr>
          <p:nvPr/>
        </p:nvSpPr>
        <p:spPr bwMode="auto">
          <a:xfrm>
            <a:off x="2750073" y="3029384"/>
            <a:ext cx="239395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取坐标系如图.</a:t>
            </a:r>
          </a:p>
        </p:txBody>
      </p:sp>
      <p:sp>
        <p:nvSpPr>
          <p:cNvPr id="2354" name="Text Box 306"/>
          <p:cNvSpPr txBox="1">
            <a:spLocks noChangeArrowheads="1"/>
          </p:cNvSpPr>
          <p:nvPr/>
        </p:nvSpPr>
        <p:spPr bwMode="auto">
          <a:xfrm>
            <a:off x="4564587" y="3024193"/>
            <a:ext cx="250348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考察最低点</a:t>
            </a:r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55" name="Text Box 307"/>
              <p:cNvSpPr txBox="1">
                <a:spLocks noChangeArrowheads="1"/>
              </p:cNvSpPr>
              <p:nvPr/>
            </p:nvSpPr>
            <p:spPr bwMode="auto">
              <a:xfrm>
                <a:off x="2750073" y="3579682"/>
                <a:ext cx="4864100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hangingPunct="0"/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到任意点</a:t>
                </a: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M 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)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弧段的受力情况:</a:t>
                </a:r>
                <a:r>
                  <a:rPr kumimoji="1"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355" name="Text Box 3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0073" y="3579682"/>
                <a:ext cx="4864100" cy="453137"/>
              </a:xfrm>
              <a:prstGeom prst="rect">
                <a:avLst/>
              </a:prstGeom>
              <a:blipFill>
                <a:blip r:embed="rId2"/>
                <a:stretch>
                  <a:fillRect l="-1629" t="-9333" b="-25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8" name="Text Box 310"/>
          <p:cNvSpPr txBox="1">
            <a:spLocks noChangeArrowheads="1"/>
          </p:cNvSpPr>
          <p:nvPr/>
        </p:nvSpPr>
        <p:spPr bwMode="auto">
          <a:xfrm>
            <a:off x="2749975" y="5454132"/>
            <a:ext cx="70342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弧段重力大小</a:t>
            </a:r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</a:t>
            </a:r>
            <a:r>
              <a:rPr kumimoji="1" lang="en-US" altLang="zh-CN" sz="2200" i="1" dirty="0" err="1">
                <a:latin typeface="Cambria Math" panose="02040503050406030204" pitchFamily="18" charset="0"/>
                <a:ea typeface="黑体" panose="02010609060101010101" pitchFamily="49" charset="-122"/>
              </a:rPr>
              <a:t>gs</a:t>
            </a:r>
            <a:r>
              <a:rPr kumimoji="1" lang="en-US" altLang="zh-CN" sz="2200" i="1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CN" sz="2200" i="1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 </a:t>
            </a:r>
            <a:r>
              <a:rPr kumimoji="1" lang="en-US" altLang="zh-CN" sz="2200" dirty="0"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: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密度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s </a:t>
            </a:r>
            <a:r>
              <a:rPr kumimoji="1" lang="en-US" altLang="zh-CN" sz="2200" dirty="0">
                <a:latin typeface="Cambria Math" panose="020405030504060302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: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弧长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．</a:t>
            </a:r>
            <a:endParaRPr kumimoji="1" lang="zh-CN" altLang="en-US" sz="2200" i="1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0" name="Text Box 312"/>
          <p:cNvSpPr txBox="1">
            <a:spLocks noChangeArrowheads="1"/>
          </p:cNvSpPr>
          <p:nvPr/>
        </p:nvSpPr>
        <p:spPr bwMode="auto">
          <a:xfrm>
            <a:off x="2749974" y="4204452"/>
            <a:ext cx="42291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</a:rPr>
              <a:t>A</a:t>
            </a:r>
            <a:r>
              <a:rPr kumimoji="1" lang="en-US" altLang="zh-CN" sz="2200" i="1" dirty="0">
                <a:solidFill>
                  <a:schemeClr val="tx2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点受水平张力</a:t>
            </a:r>
            <a:r>
              <a: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</a:rPr>
              <a:t>H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,</a:t>
            </a:r>
            <a:endParaRPr kumimoji="1"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63" name="Text Box 315"/>
          <p:cNvSpPr txBox="1">
            <a:spLocks noChangeArrowheads="1"/>
          </p:cNvSpPr>
          <p:nvPr/>
        </p:nvSpPr>
        <p:spPr bwMode="auto">
          <a:xfrm>
            <a:off x="2749975" y="4829292"/>
            <a:ext cx="415766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</a:rPr>
              <a:t>M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点受切向张力</a:t>
            </a:r>
            <a:r>
              <a:rPr kumimoji="1" lang="en-US" altLang="zh-CN" sz="2200" i="1" dirty="0">
                <a:latin typeface="Cambria Math" panose="02040503050406030204" pitchFamily="18" charset="0"/>
                <a:ea typeface="黑体" panose="02010609060101010101" pitchFamily="49" charset="-122"/>
              </a:rPr>
              <a:t>T</a:t>
            </a:r>
            <a:r>
              <a:rPr kumimoji="1" lang="en-US" altLang="zh-CN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,</a:t>
            </a:r>
            <a:endParaRPr kumimoji="1"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35082E15-A182-532E-F5E2-3DD328F4F1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524" y="3191111"/>
            <a:ext cx="2312416" cy="22609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6" grpId="0"/>
      <p:bldP spid="2318" grpId="0"/>
      <p:bldP spid="2329" grpId="0"/>
      <p:bldP spid="2330" grpId="0"/>
      <p:bldP spid="2353" grpId="0"/>
      <p:bldP spid="2354" grpId="0"/>
      <p:bldP spid="2355" grpId="0"/>
      <p:bldP spid="2358" grpId="0"/>
      <p:bldP spid="2360" grpId="0"/>
      <p:bldP spid="23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959" y="53626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5369" name="Text Box 9"/>
          <p:cNvSpPr txBox="1">
            <a:spLocks noChangeArrowheads="1"/>
          </p:cNvSpPr>
          <p:nvPr/>
        </p:nvSpPr>
        <p:spPr bwMode="auto">
          <a:xfrm>
            <a:off x="1669058" y="1107917"/>
            <a:ext cx="32766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按静力平衡条件, 有</a:t>
            </a:r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1668740" y="3020378"/>
            <a:ext cx="767083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故有</a:t>
            </a:r>
          </a:p>
        </p:txBody>
      </p:sp>
      <p:sp>
        <p:nvSpPr>
          <p:cNvPr id="15386" name="Text Box 26"/>
          <p:cNvSpPr txBox="1">
            <a:spLocks noChangeArrowheads="1"/>
          </p:cNvSpPr>
          <p:nvPr/>
        </p:nvSpPr>
        <p:spPr bwMode="auto">
          <a:xfrm>
            <a:off x="1678265" y="1963579"/>
            <a:ext cx="1688336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两式相除得</a:t>
            </a:r>
            <a:endParaRPr kumimoji="1"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AutoShape 258"/>
          <p:cNvSpPr>
            <a:spLocks noChangeArrowheads="1"/>
          </p:cNvSpPr>
          <p:nvPr/>
        </p:nvSpPr>
        <p:spPr bwMode="auto">
          <a:xfrm>
            <a:off x="5740154" y="3070860"/>
            <a:ext cx="576580" cy="328930"/>
          </a:xfrm>
          <a:prstGeom prst="rightArrow">
            <a:avLst>
              <a:gd name="adj1" fmla="val 50000"/>
              <a:gd name="adj2" fmla="val 28628"/>
            </a:avLst>
          </a:prstGeom>
          <a:solidFill>
            <a:srgbClr val="04926A"/>
          </a:solidFill>
          <a:ln w="9525">
            <a:noFill/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0" name="Object 10"/>
              <p:cNvSpPr txBox="1"/>
              <p:nvPr/>
            </p:nvSpPr>
            <p:spPr bwMode="auto">
              <a:xfrm>
                <a:off x="4067577" y="1102359"/>
                <a:ext cx="1859179" cy="3683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𝑇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𝜃</m:t>
                          </m:r>
                        </m:e>
                      </m:func>
                      <m:r>
                        <a:rPr kumimoji="1" lang="en-US" altLang="zh-CN" sz="2200" i="0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𝐻</m:t>
                      </m:r>
                      <m:r>
                        <a:rPr kumimoji="1" lang="en-US" altLang="zh-CN" sz="2200" i="0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,</m:t>
                      </m:r>
                    </m:oMath>
                  </m:oMathPara>
                </a14:m>
                <a:endParaRPr kumimoji="1" lang="en-US" altLang="zh-CN" sz="2200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577" y="1102359"/>
                <a:ext cx="1859179" cy="368300"/>
              </a:xfrm>
              <a:prstGeom prst="rect">
                <a:avLst/>
              </a:prstGeom>
              <a:blipFill>
                <a:blip r:embed="rId4"/>
                <a:stretch>
                  <a:fillRect l="-32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3" name="Object 13"/>
              <p:cNvSpPr txBox="1"/>
              <p:nvPr/>
            </p:nvSpPr>
            <p:spPr bwMode="auto">
              <a:xfrm>
                <a:off x="5593865" y="1111249"/>
                <a:ext cx="1959460" cy="46482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𝑇</m:t>
                      </m:r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𝜃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𝜌</m:t>
                      </m:r>
                      <m:r>
                        <m:rPr>
                          <m:nor/>
                        </m:rPr>
                        <a:rPr kumimoji="1" lang="en-US" altLang="zh-CN" sz="220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g</m:t>
                      </m:r>
                      <m:r>
                        <a:rPr kumimoji="1" lang="en-US" altLang="zh-CN" sz="2200" b="0" i="1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 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𝑠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3865" y="1111249"/>
                <a:ext cx="1959460" cy="464820"/>
              </a:xfrm>
              <a:prstGeom prst="rect">
                <a:avLst/>
              </a:prstGeom>
              <a:blipFill>
                <a:blip r:embed="rId5"/>
                <a:stretch>
                  <a:fillRect l="-312" b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1" name="Object 11"/>
              <p:cNvSpPr txBox="1"/>
              <p:nvPr/>
            </p:nvSpPr>
            <p:spPr bwMode="auto">
              <a:xfrm>
                <a:off x="3415814" y="1783715"/>
                <a:ext cx="1562100" cy="8509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tan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𝜃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𝑠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5814" y="1783715"/>
                <a:ext cx="1562100" cy="8509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2" name="Object 12"/>
              <p:cNvSpPr txBox="1"/>
              <p:nvPr/>
            </p:nvSpPr>
            <p:spPr bwMode="auto">
              <a:xfrm>
                <a:off x="4817576" y="1750377"/>
                <a:ext cx="1590994" cy="95377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d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𝐻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𝜌</m:t>
                              </m:r>
                              <m:r>
                                <m:rPr>
                                  <m:nor/>
                                </m:rPr>
                                <a:rPr kumimoji="1" lang="en-US" altLang="zh-CN" sz="2200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g</m:t>
                              </m:r>
                            </m:den>
                          </m:f>
                        </m:e>
                      </m:d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.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7576" y="1750377"/>
                <a:ext cx="1590994" cy="9537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5" name="Object 15"/>
              <p:cNvSpPr txBox="1"/>
              <p:nvPr/>
            </p:nvSpPr>
            <p:spPr bwMode="auto">
              <a:xfrm>
                <a:off x="2690075" y="2834640"/>
                <a:ext cx="1071816" cy="8509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′</m:t>
                          </m:r>
                        </m:sup>
                      </m:sSup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0075" y="2834640"/>
                <a:ext cx="1071816" cy="850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4" name="Object 14"/>
              <p:cNvSpPr txBox="1"/>
              <p:nvPr/>
            </p:nvSpPr>
            <p:spPr bwMode="auto">
              <a:xfrm>
                <a:off x="3661877" y="2809875"/>
                <a:ext cx="2044700" cy="7747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naryPr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𝑥</m:t>
                          </m:r>
                        </m:sup>
                        <m:e>
                          <m:rad>
                            <m:radPr>
                              <m:degHide m:val="on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′2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d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4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1877" y="2809875"/>
                <a:ext cx="2044700" cy="7747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7" name="Object 17"/>
              <p:cNvSpPr txBox="1"/>
              <p:nvPr/>
            </p:nvSpPr>
            <p:spPr bwMode="auto">
              <a:xfrm>
                <a:off x="6408570" y="2827655"/>
                <a:ext cx="2371090" cy="8509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sSup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</m:e>
                        <m: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″</m:t>
                          </m:r>
                        </m:sup>
                      </m:sSup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′2</m:t>
                              </m:r>
                            </m:sup>
                          </m:sSup>
                        </m:e>
                      </m:rad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 .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537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8570" y="2827655"/>
                <a:ext cx="2371090" cy="850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1" name="Text Box 51"/>
              <p:cNvSpPr txBox="1">
                <a:spLocks noChangeArrowheads="1"/>
              </p:cNvSpPr>
              <p:nvPr/>
            </p:nvSpPr>
            <p:spPr bwMode="auto">
              <a:xfrm>
                <a:off x="1668929" y="3948430"/>
                <a:ext cx="4679950" cy="4311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设</a:t>
                </a: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|</a:t>
                </a: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OA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| = </a:t>
                </a:r>
                <a14:m>
                  <m:oMath xmlns:m="http://schemas.openxmlformats.org/officeDocument/2006/math">
                    <m:r>
                      <a:rPr kumimoji="1" lang="en-US" altLang="zh-CN" sz="22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sym typeface="+mn-ea"/>
                      </a:rPr>
                      <m:t>𝑎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  </a:t>
                </a:r>
                <a:r>
                  <a:rPr kumimoji="1" lang="zh-CN" altLang="en-US" sz="2200" noProof="0" dirty="0">
                    <a:ln>
                      <a:noFill/>
                    </a:ln>
                    <a:solidFill>
                      <a:schemeClr val="tx1">
                        <a:lumMod val="95000"/>
                        <a:lumOff val="5000"/>
                      </a:schemeClr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</a:rPr>
                  <a:t>则得定解问题: </a:t>
                </a:r>
              </a:p>
            </p:txBody>
          </p:sp>
        </mc:Choice>
        <mc:Fallback xmlns="">
          <p:sp>
            <p:nvSpPr>
              <p:cNvPr id="15411" name="Text 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8929" y="3948430"/>
                <a:ext cx="4679950" cy="431165"/>
              </a:xfrm>
              <a:prstGeom prst="rect">
                <a:avLst/>
              </a:prstGeom>
              <a:blipFill>
                <a:blip r:embed="rId11"/>
                <a:stretch>
                  <a:fillRect l="-1695"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/>
          <p:cNvGrpSpPr/>
          <p:nvPr/>
        </p:nvGrpSpPr>
        <p:grpSpPr>
          <a:xfrm>
            <a:off x="3415814" y="4470400"/>
            <a:ext cx="3418205" cy="1330325"/>
            <a:chOff x="5490" y="7040"/>
            <a:chExt cx="5383" cy="2095"/>
          </a:xfrm>
        </p:grpSpPr>
        <p:grpSp>
          <p:nvGrpSpPr>
            <p:cNvPr id="15417" name="Group 57"/>
            <p:cNvGrpSpPr/>
            <p:nvPr/>
          </p:nvGrpSpPr>
          <p:grpSpPr bwMode="auto">
            <a:xfrm>
              <a:off x="5490" y="7040"/>
              <a:ext cx="5383" cy="2095"/>
              <a:chOff x="1669" y="3203"/>
              <a:chExt cx="2153" cy="8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09" name="Object 49"/>
                  <p:cNvSpPr txBox="1"/>
                  <p:nvPr/>
                </p:nvSpPr>
                <p:spPr bwMode="auto">
                  <a:xfrm>
                    <a:off x="1791" y="3203"/>
                    <a:ext cx="1522" cy="576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l">
                      <a:buClrTx/>
                      <a:buSzTx/>
                      <a:buFontTx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″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𝑎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′2</m:t>
                                  </m:r>
                                </m:sup>
                              </m:sSup>
                            </m:e>
                          </m:rad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 ,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5409" name="Object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91" y="3203"/>
                    <a:ext cx="1522" cy="576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12" name="Object 52"/>
                  <p:cNvSpPr txBox="1"/>
                  <p:nvPr/>
                </p:nvSpPr>
                <p:spPr bwMode="auto">
                  <a:xfrm>
                    <a:off x="1824" y="3719"/>
                    <a:ext cx="965" cy="322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5412" name="Object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24" y="3719"/>
                    <a:ext cx="965" cy="32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79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413" name="Object 53"/>
                  <p:cNvSpPr txBox="1"/>
                  <p:nvPr/>
                </p:nvSpPr>
                <p:spPr bwMode="auto">
                  <a:xfrm>
                    <a:off x="2789" y="3716"/>
                    <a:ext cx="1033" cy="321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0.</m:t>
                          </m:r>
                        </m:oMath>
                      </m:oMathPara>
                    </a14:m>
                    <a:endPara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5413" name="Object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789" y="3716"/>
                    <a:ext cx="1033" cy="3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37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414" name="AutoShape 54"/>
              <p:cNvSpPr/>
              <p:nvPr/>
            </p:nvSpPr>
            <p:spPr bwMode="auto">
              <a:xfrm>
                <a:off x="1669" y="3402"/>
                <a:ext cx="96" cy="576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190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文本框 19"/>
            <p:cNvSpPr txBox="1"/>
            <p:nvPr/>
          </p:nvSpPr>
          <p:spPr>
            <a:xfrm>
              <a:off x="7543" y="7373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pic>
        <p:nvPicPr>
          <p:cNvPr id="2" name="图片 1" descr="图示&#10;&#10;描述已自动生成">
            <a:extLst>
              <a:ext uri="{FF2B5EF4-FFF2-40B4-BE49-F238E27FC236}">
                <a16:creationId xmlns:a16="http://schemas.microsoft.com/office/drawing/2014/main" id="{097EA829-D12F-E5B4-B6C4-A5E881414F21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4473" y="3533474"/>
            <a:ext cx="2312416" cy="22609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9" grpId="0"/>
      <p:bldP spid="15376" grpId="0"/>
      <p:bldP spid="15386" grpId="0"/>
      <p:bldP spid="35" grpId="0" animBg="1"/>
      <p:bldP spid="15370" grpId="0"/>
      <p:bldP spid="15373" grpId="0"/>
      <p:bldP spid="15371" grpId="0"/>
      <p:bldP spid="15372" grpId="0"/>
      <p:bldP spid="15375" grpId="0"/>
      <p:bldP spid="15374" grpId="0"/>
      <p:bldP spid="15377" grpId="0"/>
      <p:bldP spid="154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872283" y="2482042"/>
            <a:ext cx="6477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设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4419302" y="2475215"/>
            <a:ext cx="647700" cy="76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则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6162506" y="2483504"/>
            <a:ext cx="439261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代入方程并分离变量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得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2872283" y="4235683"/>
            <a:ext cx="26638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两边积分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得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2916733" y="4882648"/>
            <a:ext cx="2160587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由初值条件</a:t>
            </a:r>
          </a:p>
        </p:txBody>
      </p:sp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7668437" y="4903920"/>
            <a:ext cx="1439862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于是</a:t>
            </a:r>
          </a:p>
        </p:txBody>
      </p:sp>
      <p:sp>
        <p:nvSpPr>
          <p:cNvPr id="72" name="Rectangle 1"/>
          <p:cNvSpPr/>
          <p:nvPr/>
        </p:nvSpPr>
        <p:spPr>
          <a:xfrm flipV="1">
            <a:off x="1740535" y="2143125"/>
            <a:ext cx="8711565" cy="76200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469783" y="755015"/>
            <a:ext cx="4373880" cy="1320800"/>
            <a:chOff x="5187" y="769"/>
            <a:chExt cx="6888" cy="2080"/>
          </a:xfrm>
        </p:grpSpPr>
        <p:grpSp>
          <p:nvGrpSpPr>
            <p:cNvPr id="16388" name="Group 4"/>
            <p:cNvGrpSpPr/>
            <p:nvPr/>
          </p:nvGrpSpPr>
          <p:grpSpPr bwMode="auto">
            <a:xfrm>
              <a:off x="5187" y="769"/>
              <a:ext cx="6888" cy="2080"/>
              <a:chOff x="740" y="3134"/>
              <a:chExt cx="1602" cy="8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89" name="Object 5"/>
                  <p:cNvSpPr txBox="1"/>
                  <p:nvPr/>
                </p:nvSpPr>
                <p:spPr bwMode="auto">
                  <a:xfrm>
                    <a:off x="888" y="3134"/>
                    <a:ext cx="944" cy="466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l">
                      <a:buClrTx/>
                      <a:buSzTx/>
                      <a:buFontTx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″</m:t>
                              </m:r>
                            </m:sup>
                          </m:sSup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</m:t>
                          </m:r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𝑎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′2</m:t>
                                  </m:r>
                                </m:sup>
                              </m:sSup>
                            </m:e>
                          </m:rad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6389" name="Object 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88" y="3134"/>
                    <a:ext cx="944" cy="466"/>
                  </a:xfrm>
                  <a:prstGeom prst="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90" name="Object 6"/>
                  <p:cNvSpPr txBox="1"/>
                  <p:nvPr/>
                </p:nvSpPr>
                <p:spPr bwMode="auto">
                  <a:xfrm>
                    <a:off x="850" y="3670"/>
                    <a:ext cx="944" cy="296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  <m:sSub>
                            <m:sSubPr>
                              <m:ctrlP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a:rPr kumimoji="1" lang="en-US" altLang="zh-CN" sz="2200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=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6390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50" y="3670"/>
                    <a:ext cx="944" cy="29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36" b="-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391" name="Object 7"/>
                  <p:cNvSpPr txBox="1"/>
                  <p:nvPr/>
                </p:nvSpPr>
                <p:spPr bwMode="auto">
                  <a:xfrm>
                    <a:off x="1422" y="3669"/>
                    <a:ext cx="920" cy="296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zh-CN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𝑥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=0</m:t>
                              </m:r>
                            </m:sub>
                          </m:s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=0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6391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422" y="3669"/>
                    <a:ext cx="920" cy="29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85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392" name="AutoShape 8"/>
              <p:cNvSpPr txBox="1"/>
              <p:nvPr/>
            </p:nvSpPr>
            <p:spPr bwMode="auto">
              <a:xfrm>
                <a:off x="740" y="3390"/>
                <a:ext cx="96" cy="576"/>
              </a:xfrm>
              <a:prstGeom prst="leftBrace">
                <a:avLst>
                  <a:gd name="adj1" fmla="val 50000"/>
                  <a:gd name="adj2" fmla="val 50000"/>
                </a:avLst>
              </a:prstGeom>
            </p:spPr>
            <p:txBody>
              <a:bodyPr wrap="square" anchor="t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p:grpSp>
        <p:sp>
          <p:nvSpPr>
            <p:cNvPr id="2" name="文本框 1"/>
            <p:cNvSpPr txBox="1"/>
            <p:nvPr/>
          </p:nvSpPr>
          <p:spPr>
            <a:xfrm>
              <a:off x="5560" y="1824"/>
              <a:ext cx="64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3319163" y="2475215"/>
            <a:ext cx="1437640" cy="805180"/>
            <a:chOff x="3375" y="3889"/>
            <a:chExt cx="2264" cy="12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5" name="Object 11"/>
                <p:cNvSpPr txBox="1"/>
                <p:nvPr/>
              </p:nvSpPr>
              <p:spPr bwMode="auto">
                <a:xfrm>
                  <a:off x="3375" y="3889"/>
                  <a:ext cx="2264" cy="68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95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375" y="3889"/>
                  <a:ext cx="2264" cy="687"/>
                </a:xfrm>
                <a:prstGeom prst="rect">
                  <a:avLst/>
                </a:prstGeom>
                <a:blipFill>
                  <a:blip r:embed="rId5"/>
                  <a:stretch>
                    <a:fillRect l="-424" b="-97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3691" y="4577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92693" y="2305035"/>
            <a:ext cx="1597025" cy="844550"/>
            <a:chOff x="5853" y="3621"/>
            <a:chExt cx="2515" cy="13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7" name="Object 13"/>
                <p:cNvSpPr txBox="1"/>
                <p:nvPr/>
              </p:nvSpPr>
              <p:spPr bwMode="auto">
                <a:xfrm>
                  <a:off x="5853" y="3621"/>
                  <a:ext cx="2515" cy="133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97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53" y="3621"/>
                  <a:ext cx="2515" cy="133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6144" y="4371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025598" y="3124716"/>
            <a:ext cx="2386965" cy="954405"/>
            <a:chOff x="10636" y="4392"/>
            <a:chExt cx="3759" cy="150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9" name="Object 15"/>
                <p:cNvSpPr txBox="1"/>
                <p:nvPr/>
              </p:nvSpPr>
              <p:spPr bwMode="auto">
                <a:xfrm>
                  <a:off x="10636" y="4392"/>
                  <a:ext cx="3759" cy="150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𝑎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99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36" y="4392"/>
                  <a:ext cx="3759" cy="150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/>
            <p:cNvSpPr txBox="1"/>
            <p:nvPr/>
          </p:nvSpPr>
          <p:spPr>
            <a:xfrm>
              <a:off x="10999" y="5122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3811923" y="1120775"/>
            <a:ext cx="473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4817128" y="4113511"/>
            <a:ext cx="3816985" cy="845820"/>
            <a:chOff x="5734" y="6103"/>
            <a:chExt cx="6011" cy="1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1" name="Object 17"/>
                <p:cNvSpPr txBox="1"/>
                <p:nvPr/>
              </p:nvSpPr>
              <p:spPr bwMode="auto">
                <a:xfrm>
                  <a:off x="5734" y="6103"/>
                  <a:ext cx="6011" cy="133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𝑎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34" y="6103"/>
                  <a:ext cx="6011" cy="1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5998" y="6501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22183" y="4882489"/>
            <a:ext cx="1909604" cy="529590"/>
            <a:chOff x="5427" y="7583"/>
            <a:chExt cx="1970" cy="8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3" name="Object 19"/>
                <p:cNvSpPr txBox="1"/>
                <p:nvPr/>
              </p:nvSpPr>
              <p:spPr bwMode="auto">
                <a:xfrm>
                  <a:off x="5427" y="7583"/>
                  <a:ext cx="1970" cy="77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=0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3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27" y="7583"/>
                  <a:ext cx="1970" cy="772"/>
                </a:xfrm>
                <a:prstGeom prst="rect">
                  <a:avLst/>
                </a:prstGeom>
                <a:blipFill>
                  <a:blip r:embed="rId9"/>
                  <a:stretch>
                    <a:fillRect l="-319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5515" y="7837"/>
              <a:ext cx="62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009396" y="4881854"/>
            <a:ext cx="1841288" cy="521970"/>
            <a:chOff x="7994" y="7679"/>
            <a:chExt cx="4270" cy="822"/>
          </a:xfrm>
        </p:grpSpPr>
        <p:sp>
          <p:nvSpPr>
            <p:cNvPr id="16404" name="Text Box 20"/>
            <p:cNvSpPr txBox="1">
              <a:spLocks noChangeArrowheads="1"/>
            </p:cNvSpPr>
            <p:nvPr/>
          </p:nvSpPr>
          <p:spPr bwMode="auto">
            <a:xfrm>
              <a:off x="8181" y="7679"/>
              <a:ext cx="4083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</a:rPr>
                <a:t>可得</a:t>
              </a:r>
              <a:r>
                <a:rPr lang="zh-CN" altLang="en-US" sz="22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200" i="1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200" baseline="-250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200" dirty="0">
                  <a:latin typeface="Cambria Math" panose="02040503050406030204" pitchFamily="18" charset="0"/>
                  <a:cs typeface="Times New Roman" panose="02020603050405020304" pitchFamily="18" charset="0"/>
                </a:rPr>
                <a:t> = 0,</a:t>
              </a:r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7994" y="7763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0938" y="5481294"/>
            <a:ext cx="3108960" cy="846455"/>
            <a:chOff x="5740" y="8526"/>
            <a:chExt cx="4896" cy="13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6" name="Object 22"/>
                <p:cNvSpPr txBox="1"/>
                <p:nvPr/>
              </p:nvSpPr>
              <p:spPr bwMode="auto">
                <a:xfrm>
                  <a:off x="5740" y="8526"/>
                  <a:ext cx="4722" cy="133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(</m:t>
                            </m:r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𝑎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740" y="8526"/>
                  <a:ext cx="4722" cy="133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文本框 16"/>
            <p:cNvSpPr txBox="1"/>
            <p:nvPr/>
          </p:nvSpPr>
          <p:spPr>
            <a:xfrm>
              <a:off x="9890" y="8964"/>
              <a:ext cx="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45" name="AutoShape 309">
            <a:extLst>
              <a:ext uri="{FF2B5EF4-FFF2-40B4-BE49-F238E27FC236}">
                <a16:creationId xmlns:a16="http://schemas.microsoft.com/office/drawing/2014/main" id="{A2401B1A-F5F0-3465-FFB1-3087B3E2C78E}"/>
              </a:ext>
            </a:extLst>
          </p:cNvPr>
          <p:cNvSpPr/>
          <p:nvPr/>
        </p:nvSpPr>
        <p:spPr bwMode="auto">
          <a:xfrm>
            <a:off x="4579540" y="958999"/>
            <a:ext cx="152400" cy="1054100"/>
          </a:xfrm>
          <a:prstGeom prst="leftBrace">
            <a:avLst>
              <a:gd name="adj1" fmla="val 38542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28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/>
      <p:bldP spid="16396" grpId="0"/>
      <p:bldP spid="16398" grpId="0"/>
      <p:bldP spid="16400" grpId="0"/>
      <p:bldP spid="16402" grpId="0"/>
      <p:bldP spid="1640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298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3" name="Object 5"/>
              <p:cNvSpPr txBox="1"/>
              <p:nvPr/>
            </p:nvSpPr>
            <p:spPr bwMode="auto">
              <a:xfrm>
                <a:off x="4564559" y="785347"/>
                <a:ext cx="3309939" cy="84613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ln</m:t>
                          </m:r>
                        </m:fName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(</m:t>
                          </m:r>
                        </m:e>
                      </m:func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𝑝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radPr>
                        <m:deg/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𝑝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)=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𝑥</m:t>
                          </m:r>
                        </m:num>
                        <m:den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741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4559" y="785347"/>
                <a:ext cx="3309939" cy="8461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735602" y="2037883"/>
            <a:ext cx="13684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解得</a:t>
            </a:r>
          </a:p>
        </p:txBody>
      </p:sp>
      <p:sp>
        <p:nvSpPr>
          <p:cNvPr id="17416" name="Text Box 8"/>
          <p:cNvSpPr txBox="1">
            <a:spLocks noChangeArrowheads="1"/>
          </p:cNvSpPr>
          <p:nvPr/>
        </p:nvSpPr>
        <p:spPr bwMode="auto">
          <a:xfrm>
            <a:off x="2735602" y="2842111"/>
            <a:ext cx="9366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即</a:t>
            </a:r>
          </a:p>
        </p:txBody>
      </p:sp>
      <p:sp>
        <p:nvSpPr>
          <p:cNvPr id="17418" name="Text Box 10"/>
          <p:cNvSpPr txBox="1">
            <a:spLocks noChangeArrowheads="1"/>
          </p:cNvSpPr>
          <p:nvPr/>
        </p:nvSpPr>
        <p:spPr bwMode="auto">
          <a:xfrm>
            <a:off x="2735602" y="3646824"/>
            <a:ext cx="3455987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上式两边积分</a:t>
            </a:r>
            <a:r>
              <a:rPr kumimoji="1" lang="en-US" altLang="zh-CN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, </a:t>
            </a: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得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2735602" y="4298503"/>
            <a:ext cx="2160587" cy="42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</a:rPr>
              <a:t>由初值条件</a:t>
            </a: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7439111" y="4298820"/>
            <a:ext cx="3489325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于是所求方程为</a:t>
            </a:r>
          </a:p>
        </p:txBody>
      </p:sp>
      <p:sp>
        <p:nvSpPr>
          <p:cNvPr id="72" name="Rectangle 1"/>
          <p:cNvSpPr/>
          <p:nvPr/>
        </p:nvSpPr>
        <p:spPr>
          <a:xfrm flipV="1">
            <a:off x="1770380" y="1555115"/>
            <a:ext cx="8638540" cy="10731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2726235" y="5500346"/>
            <a:ext cx="2908300" cy="429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kumimoji="1" lang="zh-CN" altLang="en-US" sz="22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该曲线叫做</a:t>
            </a:r>
            <a:r>
              <a:rPr kumimoji="1" lang="zh-CN" altLang="en-US" sz="22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悬链线</a:t>
            </a:r>
            <a:r>
              <a:rPr kumimoji="1" lang="en-US" altLang="zh-CN" sz="2200" b="1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ea"/>
              </a:rPr>
              <a:t>.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672227" y="1809601"/>
            <a:ext cx="4592955" cy="899795"/>
            <a:chOff x="7699" y="2911"/>
            <a:chExt cx="7233" cy="14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5" name="Object 7"/>
                <p:cNvSpPr txBox="1"/>
                <p:nvPr/>
              </p:nvSpPr>
              <p:spPr bwMode="auto">
                <a:xfrm>
                  <a:off x="9567" y="2911"/>
                  <a:ext cx="5365" cy="141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7415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567" y="2911"/>
                  <a:ext cx="5365" cy="141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7699" y="3354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37427" y="2632878"/>
            <a:ext cx="3286760" cy="899795"/>
            <a:chOff x="6953" y="4170"/>
            <a:chExt cx="5176" cy="14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7" name="Object 9"/>
                <p:cNvSpPr txBox="1"/>
                <p:nvPr/>
              </p:nvSpPr>
              <p:spPr bwMode="auto">
                <a:xfrm>
                  <a:off x="7153" y="4170"/>
                  <a:ext cx="4976" cy="141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7417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3" y="4170"/>
                  <a:ext cx="4976" cy="14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文本框 3"/>
            <p:cNvSpPr txBox="1"/>
            <p:nvPr/>
          </p:nvSpPr>
          <p:spPr>
            <a:xfrm>
              <a:off x="6953" y="4588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896031" y="3461871"/>
            <a:ext cx="3614420" cy="899795"/>
            <a:chOff x="7712" y="5532"/>
            <a:chExt cx="5692" cy="14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19" name="Object 11"/>
                <p:cNvSpPr txBox="1"/>
                <p:nvPr/>
              </p:nvSpPr>
              <p:spPr bwMode="auto">
                <a:xfrm>
                  <a:off x="7712" y="5532"/>
                  <a:ext cx="5692" cy="141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𝑎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741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712" y="5532"/>
                  <a:ext cx="5692" cy="14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/>
            <p:cNvSpPr txBox="1"/>
            <p:nvPr/>
          </p:nvSpPr>
          <p:spPr>
            <a:xfrm>
              <a:off x="8445" y="5931"/>
              <a:ext cx="680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399937" y="4258647"/>
            <a:ext cx="1506855" cy="621030"/>
            <a:chOff x="6825" y="6783"/>
            <a:chExt cx="2373" cy="9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1" name="Object 13"/>
                <p:cNvSpPr txBox="1"/>
                <p:nvPr/>
              </p:nvSpPr>
              <p:spPr bwMode="auto">
                <a:xfrm>
                  <a:off x="6825" y="6783"/>
                  <a:ext cx="2373" cy="77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𝑎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7421" name="Object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25" y="6783"/>
                  <a:ext cx="2373" cy="772"/>
                </a:xfrm>
                <a:prstGeom prst="rect">
                  <a:avLst/>
                </a:prstGeom>
                <a:blipFill>
                  <a:blip r:embed="rId6"/>
                  <a:stretch>
                    <a:fillRect l="-810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文本框 8"/>
            <p:cNvSpPr txBox="1"/>
            <p:nvPr/>
          </p:nvSpPr>
          <p:spPr>
            <a:xfrm>
              <a:off x="6953" y="7082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592329" y="4814439"/>
            <a:ext cx="2902585" cy="899795"/>
            <a:chOff x="12030" y="7821"/>
            <a:chExt cx="4571" cy="14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24" name="Object 16"/>
                <p:cNvSpPr txBox="1"/>
                <p:nvPr/>
              </p:nvSpPr>
              <p:spPr bwMode="auto">
                <a:xfrm>
                  <a:off x="12518" y="7821"/>
                  <a:ext cx="4083" cy="141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𝑎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𝑎</m:t>
                                </m:r>
                              </m:den>
                            </m:f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) .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7424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18" y="7821"/>
                  <a:ext cx="4083" cy="14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文本框 11"/>
            <p:cNvSpPr txBox="1"/>
            <p:nvPr/>
          </p:nvSpPr>
          <p:spPr>
            <a:xfrm>
              <a:off x="12030" y="7995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720102" y="4230072"/>
            <a:ext cx="2592705" cy="726440"/>
            <a:chOff x="12651" y="4760"/>
            <a:chExt cx="4083" cy="1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12651" y="4760"/>
                  <a:ext cx="4083" cy="6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2200" noProof="0" dirty="0">
                      <a:ln>
                        <a:noFill/>
                      </a:ln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可得</a:t>
                  </a:r>
                  <a:r>
                    <a:rPr lang="zh-CN" altLang="en-US" sz="2200" dirty="0">
                      <a:latin typeface="Cambria Math" panose="02040503050406030204" pitchFamily="18" charset="0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sSubPr>
                        <m:e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𝐶</m:t>
                          </m:r>
                        </m:e>
                        <m: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2</m:t>
                          </m:r>
                        </m:sub>
                      </m:sSub>
                    </m:oMath>
                  </a14:m>
                  <a:r>
                    <a: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</a:rPr>
                    <a:t> = 0,</a:t>
                  </a:r>
                  <a:endPara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Text 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651" y="4760"/>
                  <a:ext cx="4083" cy="679"/>
                </a:xfrm>
                <a:prstGeom prst="rect">
                  <a:avLst/>
                </a:prstGeom>
                <a:blipFill>
                  <a:blip r:embed="rId8"/>
                  <a:stretch>
                    <a:fillRect l="-3052" t="-14085" b="-26761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文本框 18"/>
            <p:cNvSpPr txBox="1"/>
            <p:nvPr/>
          </p:nvSpPr>
          <p:spPr>
            <a:xfrm>
              <a:off x="14182" y="5225"/>
              <a:ext cx="746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/>
      <p:bldP spid="17416" grpId="0"/>
      <p:bldP spid="17418" grpId="0"/>
      <p:bldP spid="17420" grpId="0"/>
      <p:bldP spid="17423" grpId="0"/>
      <p:bldP spid="174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3420169" y="2199927"/>
            <a:ext cx="3049147" cy="71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令</a:t>
            </a:r>
          </a:p>
        </p:txBody>
      </p:sp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3427663" y="3149627"/>
            <a:ext cx="2590800" cy="51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故方程化为</a:t>
            </a:r>
          </a:p>
        </p:txBody>
      </p:sp>
      <p:sp>
        <p:nvSpPr>
          <p:cNvPr id="29" name="Text Box 16"/>
          <p:cNvSpPr txBox="1">
            <a:spLocks noChangeArrowheads="1"/>
          </p:cNvSpPr>
          <p:nvPr/>
        </p:nvSpPr>
        <p:spPr bwMode="auto">
          <a:xfrm>
            <a:off x="3427663" y="3927417"/>
            <a:ext cx="2057400" cy="51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80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设其通解为</a:t>
            </a: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3427663" y="4645708"/>
            <a:ext cx="5715000" cy="51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sym typeface="+mn-lt"/>
              </a:rPr>
              <a:t>分离变量后积分, 得原方程的通解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>
          <a:xfrm>
            <a:off x="1515927" y="336006"/>
            <a:ext cx="866140" cy="9188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zh-CN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</a:t>
            </a:r>
            <a:r>
              <a:rPr lang="zh-CN" altLang="zh-CN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 三</a:t>
            </a:r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、 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2320472" y="336006"/>
            <a:ext cx="5712460" cy="918845"/>
            <a:chOff x="2880" y="912"/>
            <a:chExt cx="8996" cy="14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2"/>
                <p:cNvSpPr>
                  <a:spLocks noGrp="1" noChangeArrowheads="1"/>
                </p:cNvSpPr>
                <p:nvPr/>
              </p:nvSpPr>
              <p:spPr>
                <a:xfrm>
                  <a:off x="2880" y="912"/>
                  <a:ext cx="8852" cy="144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 anchor="ctr">
                  <a:noAutofit/>
                </a:bodyPr>
                <a:lstStyle>
                  <a:lvl1pPr algn="l" defTabSz="914400" rtl="0" eaLnBrk="1" latinLnBrk="0" hangingPunct="1">
                    <a:lnSpc>
                      <a:spcPct val="90000"/>
                    </a:lnSpc>
                    <a:spcBef>
                      <a:spcPct val="0"/>
                    </a:spcBef>
                    <a:buNone/>
                    <a:defRPr sz="2800" b="1" kern="1200">
                      <a:solidFill>
                        <a:schemeClr val="tx1"/>
                      </a:solidFill>
                      <a:latin typeface="+mj-lt"/>
                      <a:ea typeface="+mj-ea"/>
                      <a:cs typeface="+mj-cs"/>
                    </a:defRPr>
                  </a:lvl1pPr>
                </a:lstStyle>
                <a:p>
                  <a:pPr algn="l">
                    <a:lnSpc>
                      <a:spcPct val="100000"/>
                    </a:lnSpc>
                  </a:pPr>
                  <a14:m>
                    <m:oMath xmlns:m="http://schemas.openxmlformats.org/officeDocument/2006/math"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 </m:t>
                      </m:r>
                      <m:sSup>
                        <m:sSupPr>
                          <m:ctrlPr>
                            <a:rPr lang="zh-CN" altLang="en-US" sz="3200" i="1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″</m:t>
                          </m:r>
                        </m:sup>
                      </m:sSup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=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𝑓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(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𝑦</m:t>
                      </m:r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,</m:t>
                      </m:r>
                      <m:sSup>
                        <m:sSupPr>
                          <m:ctrlPr>
                            <a:rPr lang="zh-CN" altLang="en-US" sz="3200" i="1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</m:ctrlPr>
                        </m:sSupPr>
                        <m:e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3200" dirty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微软雅黑" panose="020B0503020204020204" pitchFamily="34" charset="-122"/>
                              <a:cs typeface="+mn-cs"/>
                            </a:rPr>
                            <m:t>′</m:t>
                          </m:r>
                        </m:sup>
                      </m:sSup>
                      <m:r>
                        <a:rPr lang="zh-CN" altLang="en-US" sz="3200" dirty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微软雅黑" panose="020B0503020204020204" pitchFamily="34" charset="-122"/>
                          <a:cs typeface="+mn-cs"/>
                        </a:rPr>
                        <m:t>)</m:t>
                      </m:r>
                    </m:oMath>
                  </a14:m>
                  <a:r>
                    <a:rPr lang="zh-CN" altLang="en-US" sz="3200" dirty="0">
                      <a:solidFill>
                        <a:srgbClr val="04926A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  <a:sym typeface="+mn-ea"/>
                    </a:rPr>
                    <a:t>型的微分方程 </a:t>
                  </a:r>
                </a:p>
              </p:txBody>
            </p:sp>
          </mc:Choice>
          <mc:Fallback xmlns="">
            <p:sp>
              <p:nvSpPr>
                <p:cNvPr id="51" name="Rectangle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0" y="912"/>
                  <a:ext cx="8852" cy="1447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/>
            <p:cNvSpPr txBox="1"/>
            <p:nvPr/>
          </p:nvSpPr>
          <p:spPr>
            <a:xfrm>
              <a:off x="11012" y="1345"/>
              <a:ext cx="8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842681" y="2231109"/>
            <a:ext cx="1080135" cy="560705"/>
            <a:chOff x="1613" y="4304"/>
            <a:chExt cx="1701" cy="883"/>
          </a:xfrm>
        </p:grpSpPr>
        <p:sp>
          <p:nvSpPr>
            <p:cNvPr id="6" name="剪去对角的矩形 5"/>
            <p:cNvSpPr/>
            <p:nvPr/>
          </p:nvSpPr>
          <p:spPr>
            <a:xfrm>
              <a:off x="1613" y="4304"/>
              <a:ext cx="1701" cy="883"/>
            </a:xfrm>
            <a:prstGeom prst="snip2Diag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7" name="矩形 6"/>
            <p:cNvSpPr/>
            <p:nvPr/>
          </p:nvSpPr>
          <p:spPr>
            <a:xfrm>
              <a:off x="1709" y="4334"/>
              <a:ext cx="1583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解法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842681" y="1331805"/>
            <a:ext cx="1080135" cy="560705"/>
            <a:chOff x="1613" y="3127"/>
            <a:chExt cx="1701" cy="883"/>
          </a:xfrm>
        </p:grpSpPr>
        <p:sp>
          <p:nvSpPr>
            <p:cNvPr id="9" name="剪去对角的矩形 8"/>
            <p:cNvSpPr/>
            <p:nvPr/>
          </p:nvSpPr>
          <p:spPr>
            <a:xfrm>
              <a:off x="1613" y="3127"/>
              <a:ext cx="1701" cy="883"/>
            </a:xfrm>
            <a:prstGeom prst="snip2Diag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10" name="矩形 9"/>
            <p:cNvSpPr/>
            <p:nvPr/>
          </p:nvSpPr>
          <p:spPr>
            <a:xfrm>
              <a:off x="1709" y="3157"/>
              <a:ext cx="1583" cy="8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特点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427641" y="1351191"/>
            <a:ext cx="6204585" cy="593090"/>
            <a:chOff x="5357" y="3175"/>
            <a:chExt cx="9771" cy="9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对象 3"/>
                <p:cNvSpPr txBox="1"/>
                <p:nvPr/>
              </p:nvSpPr>
              <p:spPr>
                <a:xfrm>
                  <a:off x="5357" y="3175"/>
                  <a:ext cx="9771" cy="74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方程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)</m:t>
                        </m:r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右端不显含自变量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𝑥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.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" name="对象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7" y="3175"/>
                  <a:ext cx="9771" cy="74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7213" y="3285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4709179" y="1477704"/>
            <a:ext cx="358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/>
          </a:p>
        </p:txBody>
      </p:sp>
      <p:grpSp>
        <p:nvGrpSpPr>
          <p:cNvPr id="25" name="组合 24"/>
          <p:cNvGrpSpPr/>
          <p:nvPr/>
        </p:nvGrpSpPr>
        <p:grpSpPr>
          <a:xfrm>
            <a:off x="3828267" y="2208135"/>
            <a:ext cx="1878330" cy="800735"/>
            <a:chOff x="6519" y="4521"/>
            <a:chExt cx="2958" cy="12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bject 7"/>
                <p:cNvSpPr txBox="1"/>
                <p:nvPr/>
              </p:nvSpPr>
              <p:spPr bwMode="auto">
                <a:xfrm>
                  <a:off x="6523" y="4521"/>
                  <a:ext cx="2954" cy="88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2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523" y="4521"/>
                  <a:ext cx="2954" cy="8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文本框 23"/>
            <p:cNvSpPr txBox="1"/>
            <p:nvPr/>
          </p:nvSpPr>
          <p:spPr>
            <a:xfrm>
              <a:off x="6519" y="4958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974398" y="2020175"/>
            <a:ext cx="2031365" cy="927735"/>
            <a:chOff x="7974" y="4225"/>
            <a:chExt cx="3199" cy="14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10"/>
                <p:cNvSpPr txBox="1"/>
                <p:nvPr/>
              </p:nvSpPr>
              <p:spPr bwMode="auto">
                <a:xfrm>
                  <a:off x="7974" y="4225"/>
                  <a:ext cx="3199" cy="145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 noProof="0" dirty="0">
                            <a:ln>
                              <a:noFill/>
                            </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则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5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74" y="4225"/>
                  <a:ext cx="3199" cy="145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文本框 25"/>
            <p:cNvSpPr txBox="1"/>
            <p:nvPr/>
          </p:nvSpPr>
          <p:spPr>
            <a:xfrm>
              <a:off x="8602" y="4862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6731995" y="2027795"/>
            <a:ext cx="1767840" cy="981075"/>
            <a:chOff x="10355" y="4237"/>
            <a:chExt cx="2160" cy="1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bject 11"/>
                <p:cNvSpPr txBox="1"/>
                <p:nvPr/>
              </p:nvSpPr>
              <p:spPr bwMode="auto">
                <a:xfrm>
                  <a:off x="10355" y="4237"/>
                  <a:ext cx="2160" cy="14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⋅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6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55" y="4237"/>
                  <a:ext cx="2160" cy="146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文本框 38"/>
            <p:cNvSpPr txBox="1"/>
            <p:nvPr/>
          </p:nvSpPr>
          <p:spPr>
            <a:xfrm>
              <a:off x="11386" y="4958"/>
              <a:ext cx="153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236211" y="2027160"/>
            <a:ext cx="1093470" cy="981710"/>
            <a:chOff x="12373" y="4236"/>
            <a:chExt cx="1722" cy="1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Object 12"/>
                <p:cNvSpPr txBox="1"/>
                <p:nvPr/>
              </p:nvSpPr>
              <p:spPr bwMode="auto">
                <a:xfrm>
                  <a:off x="12373" y="4236"/>
                  <a:ext cx="1660" cy="14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7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373" y="4236"/>
                  <a:ext cx="1660" cy="1460"/>
                </a:xfrm>
                <a:prstGeom prst="rect">
                  <a:avLst/>
                </a:prstGeom>
                <a:blipFill>
                  <a:blip r:embed="rId7"/>
                  <a:stretch>
                    <a:fillRect r="-69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/>
          </p:nvSpPr>
          <p:spPr>
            <a:xfrm>
              <a:off x="13531" y="4958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399316" y="2899120"/>
            <a:ext cx="3206750" cy="927100"/>
            <a:chOff x="8462" y="5373"/>
            <a:chExt cx="5050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Object 15"/>
                <p:cNvSpPr txBox="1"/>
                <p:nvPr/>
              </p:nvSpPr>
              <p:spPr bwMode="auto">
                <a:xfrm>
                  <a:off x="8462" y="5373"/>
                  <a:ext cx="5050" cy="14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f>
                          <m:f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𝑓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8" name="Object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62" y="5373"/>
                  <a:ext cx="5050" cy="14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文本框 44"/>
            <p:cNvSpPr txBox="1"/>
            <p:nvPr/>
          </p:nvSpPr>
          <p:spPr>
            <a:xfrm>
              <a:off x="8597" y="5841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5454561" y="3924106"/>
            <a:ext cx="4254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800"/>
          </a:p>
        </p:txBody>
      </p:sp>
      <p:grpSp>
        <p:nvGrpSpPr>
          <p:cNvPr id="49" name="组合 48"/>
          <p:cNvGrpSpPr/>
          <p:nvPr/>
        </p:nvGrpSpPr>
        <p:grpSpPr>
          <a:xfrm>
            <a:off x="5167859" y="3915216"/>
            <a:ext cx="2684145" cy="575310"/>
            <a:chOff x="8873" y="7002"/>
            <a:chExt cx="4227" cy="9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bject 17"/>
                <p:cNvSpPr txBox="1"/>
                <p:nvPr/>
              </p:nvSpPr>
              <p:spPr bwMode="auto">
                <a:xfrm>
                  <a:off x="9058" y="7002"/>
                  <a:ext cx="4042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),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0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58" y="7002"/>
                  <a:ext cx="4042" cy="700"/>
                </a:xfrm>
                <a:prstGeom prst="rect">
                  <a:avLst/>
                </a:prstGeom>
                <a:blipFill>
                  <a:blip r:embed="rId9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文本框 47"/>
            <p:cNvSpPr txBox="1"/>
            <p:nvPr/>
          </p:nvSpPr>
          <p:spPr>
            <a:xfrm>
              <a:off x="8873" y="7084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7407160" y="3908231"/>
            <a:ext cx="3326130" cy="633095"/>
            <a:chOff x="11217" y="6991"/>
            <a:chExt cx="5238" cy="997"/>
          </a:xfrm>
        </p:grpSpPr>
        <p:sp>
          <p:nvSpPr>
            <p:cNvPr id="31" name="Text Box 18"/>
            <p:cNvSpPr txBox="1">
              <a:spLocks noChangeArrowheads="1"/>
            </p:cNvSpPr>
            <p:nvPr/>
          </p:nvSpPr>
          <p:spPr bwMode="auto">
            <a:xfrm>
              <a:off x="11217" y="7043"/>
              <a:ext cx="2400" cy="8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fontAlgn="base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800" noProof="0" dirty="0">
                  <a:ln>
                    <a:noFill/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sym typeface="+mn-lt"/>
                </a:rPr>
                <a:t>即得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19"/>
                <p:cNvSpPr txBox="1"/>
                <p:nvPr/>
              </p:nvSpPr>
              <p:spPr bwMode="auto">
                <a:xfrm>
                  <a:off x="12550" y="6991"/>
                  <a:ext cx="3905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lang="en-US" altLang="zh-CN" sz="28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(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)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2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550" y="6991"/>
                  <a:ext cx="3905" cy="700"/>
                </a:xfrm>
                <a:prstGeom prst="rect">
                  <a:avLst/>
                </a:prstGeom>
                <a:blipFill>
                  <a:blip r:embed="rId10"/>
                  <a:stretch>
                    <a:fillRect b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文本框 49"/>
            <p:cNvSpPr txBox="1"/>
            <p:nvPr/>
          </p:nvSpPr>
          <p:spPr>
            <a:xfrm>
              <a:off x="13939" y="7164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862741" y="5268159"/>
            <a:ext cx="3629660" cy="993140"/>
            <a:chOff x="7617" y="8786"/>
            <a:chExt cx="4480" cy="1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21"/>
                <p:cNvSpPr txBox="1"/>
                <p:nvPr/>
              </p:nvSpPr>
              <p:spPr bwMode="auto">
                <a:xfrm>
                  <a:off x="7617" y="8786"/>
                  <a:ext cx="4480" cy="14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subHide m:val="on"/>
                            <m:supHide m:val="on"/>
                            <m:ctrlPr>
                              <a:rPr kumimoji="1" lang="en-US" altLang="zh-CN" sz="28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naryPr>
                          <m:sub/>
                          <m:sup/>
                          <m:e>
                            <m:f>
                              <m:fPr>
                                <m:ctrl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d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𝜑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 (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kumimoji="1" lang="en-US" altLang="zh-CN" sz="28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zh-CN" sz="28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)</m:t>
                                </m:r>
                              </m:den>
                            </m:f>
                          </m:e>
                        </m:nary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34" name="Object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617" y="8786"/>
                  <a:ext cx="4480" cy="148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9437" y="9526"/>
              <a:ext cx="564" cy="8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7" grpId="0"/>
      <p:bldP spid="29" grpId="0"/>
      <p:bldP spid="33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2419032" y="1013460"/>
            <a:ext cx="5476875" cy="657225"/>
            <a:chOff x="2772" y="1496"/>
            <a:chExt cx="8625" cy="1035"/>
          </a:xfrm>
        </p:grpSpPr>
        <p:sp>
          <p:nvSpPr>
            <p:cNvPr id="16386" name="Rectangle 2"/>
            <p:cNvSpPr>
              <a:spLocks noGrp="1" noChangeArrowheads="1"/>
            </p:cNvSpPr>
            <p:nvPr/>
          </p:nvSpPr>
          <p:spPr>
            <a:xfrm>
              <a:off x="2772" y="1571"/>
              <a:ext cx="2880" cy="96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28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例5   </a:t>
              </a:r>
              <a:r>
                <a:rPr lang="zh-CN" altLang="en-US" sz="2800" b="0" dirty="0">
                  <a:solidFill>
                    <a:schemeClr val="tx1"/>
                  </a:solidFill>
                  <a:latin typeface="+mn-lt"/>
                  <a:ea typeface="黑体" panose="02010609060101010101" pitchFamily="49" charset="-122"/>
                  <a:cs typeface="+mn-cs"/>
                  <a:sym typeface="+mn-lt"/>
                </a:rPr>
                <a:t>求解</a:t>
              </a:r>
              <a:endParaRPr lang="zh-CN" altLang="en-US" sz="2800" dirty="0">
                <a:latin typeface="+mn-lt"/>
                <a:ea typeface="+mn-ea"/>
                <a:cs typeface="+mn-ea"/>
                <a:sym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7" name="Object 3"/>
                <p:cNvSpPr txBox="1"/>
                <p:nvPr/>
              </p:nvSpPr>
              <p:spPr bwMode="auto">
                <a:xfrm>
                  <a:off x="5597" y="1496"/>
                  <a:ext cx="5800" cy="8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𝑦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8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′2</m:t>
                            </m:r>
                          </m:sup>
                        </m:sSup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=0 .</m:t>
                        </m:r>
                      </m:oMath>
                    </m:oMathPara>
                  </a14:m>
                  <a:endParaRPr kumimoji="1" lang="en-US" altLang="zh-CN" sz="2800" i="1" dirty="0">
                    <a:latin typeface="Cambria Math" panose="02040503050406030204" pitchFamily="18" charset="0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8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97" y="1496"/>
                  <a:ext cx="5800" cy="8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404" name="Text Box 20"/>
          <p:cNvSpPr txBox="1">
            <a:spLocks noChangeArrowheads="1"/>
          </p:cNvSpPr>
          <p:nvPr/>
        </p:nvSpPr>
        <p:spPr bwMode="auto">
          <a:xfrm>
            <a:off x="3367087" y="3866198"/>
            <a:ext cx="220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fontAlgn="base">
              <a:spcBef>
                <a:spcPct val="50000"/>
              </a:spcBef>
              <a:buClrTx/>
              <a:buSzTx/>
              <a:buFontTx/>
              <a:defRPr/>
            </a:pPr>
            <a:r>
              <a:rPr kumimoji="1" lang="zh-CN" altLang="en-US" sz="22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rPr>
              <a:t>两端积分得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5207952" y="4613910"/>
            <a:ext cx="5144770" cy="548005"/>
            <a:chOff x="7164" y="7166"/>
            <a:chExt cx="8102" cy="86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9" name="Object 25"/>
                <p:cNvSpPr txBox="1"/>
                <p:nvPr/>
              </p:nvSpPr>
              <p:spPr bwMode="auto">
                <a:xfrm>
                  <a:off x="7164" y="7166"/>
                  <a:ext cx="3620" cy="70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∴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    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9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64" y="7166"/>
                  <a:ext cx="3620" cy="700"/>
                </a:xfrm>
                <a:prstGeom prst="rect">
                  <a:avLst/>
                </a:prstGeom>
                <a:blipFill>
                  <a:blip r:embed="rId3"/>
                  <a:stretch>
                    <a:fillRect b="-82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410" name="Text Box 26"/>
            <p:cNvSpPr txBox="1">
              <a:spLocks noChangeArrowheads="1"/>
            </p:cNvSpPr>
            <p:nvPr/>
          </p:nvSpPr>
          <p:spPr bwMode="auto">
            <a:xfrm>
              <a:off x="9986" y="7207"/>
              <a:ext cx="5280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fontAlgn="base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(一阶线性齐次方程)</a:t>
              </a: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362007" y="5287010"/>
            <a:ext cx="3479165" cy="540385"/>
            <a:chOff x="4212" y="8226"/>
            <a:chExt cx="5479" cy="851"/>
          </a:xfrm>
        </p:grpSpPr>
        <p:sp>
          <p:nvSpPr>
            <p:cNvPr id="16412" name="Text Box 28"/>
            <p:cNvSpPr txBox="1">
              <a:spLocks noChangeArrowheads="1"/>
            </p:cNvSpPr>
            <p:nvPr/>
          </p:nvSpPr>
          <p:spPr bwMode="auto">
            <a:xfrm>
              <a:off x="4212" y="8260"/>
              <a:ext cx="4920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 fontAlgn="base">
                <a:spcBef>
                  <a:spcPct val="50000"/>
                </a:spcBef>
                <a:buClrTx/>
                <a:buSzTx/>
                <a:buFontTx/>
                <a:defRPr/>
              </a:pPr>
              <a:r>
                <a:rPr kumimoji="1" lang="zh-CN" altLang="en-US" sz="22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故所求通解为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13" name="Object 29"/>
                <p:cNvSpPr txBox="1"/>
                <p:nvPr/>
              </p:nvSpPr>
              <p:spPr bwMode="auto">
                <a:xfrm>
                  <a:off x="7111" y="8226"/>
                  <a:ext cx="2580" cy="82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e</m:t>
                            </m:r>
                          </m:e>
                          <m:sup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13" name="Object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11" y="8226"/>
                  <a:ext cx="2580" cy="820"/>
                </a:xfrm>
                <a:prstGeom prst="rect">
                  <a:avLst/>
                </a:prstGeom>
                <a:blipFill>
                  <a:blip r:embed="rId4"/>
                  <a:stretch>
                    <a:fillRect l="-3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2419032" y="2088515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解</a:t>
            </a:r>
          </a:p>
        </p:txBody>
      </p:sp>
      <p:grpSp>
        <p:nvGrpSpPr>
          <p:cNvPr id="22" name="组合 21"/>
          <p:cNvGrpSpPr/>
          <p:nvPr/>
        </p:nvGrpSpPr>
        <p:grpSpPr>
          <a:xfrm>
            <a:off x="7858953" y="3877310"/>
            <a:ext cx="1969135" cy="431800"/>
            <a:chOff x="11828" y="6036"/>
            <a:chExt cx="3101" cy="68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8" name="Object 24"/>
                <p:cNvSpPr txBox="1"/>
                <p:nvPr/>
              </p:nvSpPr>
              <p:spPr bwMode="auto">
                <a:xfrm>
                  <a:off x="12789" y="6036"/>
                  <a:ext cx="2140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8" name="Object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89" y="6036"/>
                  <a:ext cx="2140" cy="680"/>
                </a:xfrm>
                <a:prstGeom prst="rect">
                  <a:avLst/>
                </a:prstGeom>
                <a:blipFill>
                  <a:blip r:embed="rId5"/>
                  <a:stretch>
                    <a:fillRect b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AutoShape 258"/>
            <p:cNvSpPr>
              <a:spLocks noChangeArrowheads="1"/>
            </p:cNvSpPr>
            <p:nvPr/>
          </p:nvSpPr>
          <p:spPr bwMode="auto">
            <a:xfrm>
              <a:off x="11828" y="6163"/>
              <a:ext cx="908" cy="518"/>
            </a:xfrm>
            <a:prstGeom prst="rightArrow">
              <a:avLst>
                <a:gd name="adj1" fmla="val 50000"/>
                <a:gd name="adj2" fmla="val 28628"/>
              </a:avLst>
            </a:prstGeom>
            <a:solidFill>
              <a:srgbClr val="04926A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3338512" y="2133600"/>
            <a:ext cx="1473200" cy="520700"/>
            <a:chOff x="4220" y="3260"/>
            <a:chExt cx="2320" cy="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16" name="Object 32"/>
                <p:cNvSpPr txBox="1"/>
                <p:nvPr/>
              </p:nvSpPr>
              <p:spPr bwMode="auto">
                <a:xfrm>
                  <a:off x="4220" y="3260"/>
                  <a:ext cx="2320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设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16" name="Object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20" y="3260"/>
                  <a:ext cx="2320" cy="680"/>
                </a:xfrm>
                <a:prstGeom prst="rect">
                  <a:avLst/>
                </a:prstGeom>
                <a:blipFill>
                  <a:blip r:embed="rId6"/>
                  <a:stretch>
                    <a:fillRect l="-2905" b="-1126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4220" y="3401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734242" y="1964055"/>
            <a:ext cx="2192020" cy="927100"/>
            <a:chOff x="7124" y="3038"/>
            <a:chExt cx="3452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18" name="Object 34"/>
                <p:cNvSpPr txBox="1"/>
                <p:nvPr/>
              </p:nvSpPr>
              <p:spPr bwMode="auto">
                <a:xfrm>
                  <a:off x="7124" y="3038"/>
                  <a:ext cx="3452" cy="14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+mn-ea"/>
                            <a:sym typeface="+mn-ea"/>
                          </a:rPr>
                          <m:t>则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18" name="Object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24" y="3038"/>
                  <a:ext cx="3452" cy="146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文本框 5"/>
            <p:cNvSpPr txBox="1"/>
            <p:nvPr/>
          </p:nvSpPr>
          <p:spPr>
            <a:xfrm>
              <a:off x="7213" y="3285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149022" y="1964055"/>
            <a:ext cx="1315085" cy="927100"/>
            <a:chOff x="9352" y="3038"/>
            <a:chExt cx="2071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19" name="Object 35"/>
                <p:cNvSpPr txBox="1"/>
                <p:nvPr/>
              </p:nvSpPr>
              <p:spPr bwMode="auto">
                <a:xfrm>
                  <a:off x="9352" y="3038"/>
                  <a:ext cx="2071" cy="14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19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52" y="3038"/>
                  <a:ext cx="2071" cy="146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本框 7"/>
            <p:cNvSpPr txBox="1"/>
            <p:nvPr/>
          </p:nvSpPr>
          <p:spPr>
            <a:xfrm>
              <a:off x="10206" y="3589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 dirty="0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192962" y="1962785"/>
            <a:ext cx="1332230" cy="914400"/>
            <a:chOff x="11759" y="3048"/>
            <a:chExt cx="2098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21" name="Object 37"/>
                <p:cNvSpPr txBox="1"/>
                <p:nvPr/>
              </p:nvSpPr>
              <p:spPr bwMode="auto">
                <a:xfrm>
                  <a:off x="11759" y="3048"/>
                  <a:ext cx="2098" cy="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𝑝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0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21" name="Object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759" y="3048"/>
                  <a:ext cx="2098" cy="14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11944" y="3431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3338512" y="3087370"/>
            <a:ext cx="2209800" cy="518795"/>
            <a:chOff x="4220" y="4762"/>
            <a:chExt cx="3480" cy="817"/>
          </a:xfrm>
        </p:grpSpPr>
        <p:sp>
          <p:nvSpPr>
            <p:cNvPr id="16399" name="Text Box 15"/>
            <p:cNvSpPr txBox="1">
              <a:spLocks noChangeArrowheads="1"/>
            </p:cNvSpPr>
            <p:nvPr/>
          </p:nvSpPr>
          <p:spPr bwMode="auto">
            <a:xfrm>
              <a:off x="4220" y="4762"/>
              <a:ext cx="3480" cy="8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ea"/>
                  <a:sym typeface="+mn-lt"/>
                </a:rPr>
                <a:t>代入方程得</a:t>
              </a: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784" y="4829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917632" y="2863215"/>
            <a:ext cx="2082165" cy="927100"/>
            <a:chOff x="7196" y="4409"/>
            <a:chExt cx="3800" cy="14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1" name="Object 17"/>
                <p:cNvSpPr txBox="1"/>
                <p:nvPr/>
              </p:nvSpPr>
              <p:spPr bwMode="auto">
                <a:xfrm>
                  <a:off x="7196" y="4409"/>
                  <a:ext cx="3800" cy="14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𝑦𝑝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−</m:t>
                        </m:r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96" y="4409"/>
                  <a:ext cx="3800" cy="146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文本框 14"/>
            <p:cNvSpPr txBox="1"/>
            <p:nvPr/>
          </p:nvSpPr>
          <p:spPr>
            <a:xfrm>
              <a:off x="8082" y="4977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7049452" y="2876868"/>
            <a:ext cx="2406650" cy="914400"/>
            <a:chOff x="11704" y="4282"/>
            <a:chExt cx="3790" cy="14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3" name="Object 19"/>
                <p:cNvSpPr txBox="1"/>
                <p:nvPr/>
              </p:nvSpPr>
              <p:spPr bwMode="auto">
                <a:xfrm>
                  <a:off x="12715" y="4282"/>
                  <a:ext cx="2779" cy="14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𝑝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3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715" y="4282"/>
                  <a:ext cx="2779" cy="144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AutoShape 258"/>
            <p:cNvSpPr>
              <a:spLocks noChangeArrowheads="1"/>
            </p:cNvSpPr>
            <p:nvPr/>
          </p:nvSpPr>
          <p:spPr bwMode="auto">
            <a:xfrm>
              <a:off x="11704" y="4666"/>
              <a:ext cx="908" cy="518"/>
            </a:xfrm>
            <a:prstGeom prst="rightArrow">
              <a:avLst>
                <a:gd name="adj1" fmla="val 50000"/>
                <a:gd name="adj2" fmla="val 28628"/>
              </a:avLst>
            </a:prstGeom>
            <a:solidFill>
              <a:srgbClr val="04926A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917632" y="3877310"/>
            <a:ext cx="2931161" cy="552450"/>
            <a:chOff x="7196" y="6036"/>
            <a:chExt cx="4620" cy="8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6" name="Object 22"/>
                <p:cNvSpPr txBox="1"/>
                <p:nvPr/>
              </p:nvSpPr>
              <p:spPr bwMode="auto">
                <a:xfrm>
                  <a:off x="7196" y="6036"/>
                  <a:ext cx="4620" cy="74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𝑝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unc>
                          <m:func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e>
                            </m:d>
                          </m:e>
                        </m:func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ln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40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96" y="6036"/>
                  <a:ext cx="4620" cy="740"/>
                </a:xfrm>
                <a:prstGeom prst="rect">
                  <a:avLst/>
                </a:prstGeom>
                <a:blipFill>
                  <a:blip r:embed="rId12"/>
                  <a:stretch>
                    <a:fillRect l="-416" b="-25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本框 22"/>
            <p:cNvSpPr txBox="1"/>
            <p:nvPr/>
          </p:nvSpPr>
          <p:spPr>
            <a:xfrm>
              <a:off x="7700" y="6227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4" grpId="0"/>
      <p:bldP spid="1641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552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96" name="Rectangle 148"/>
          <p:cNvSpPr>
            <a:spLocks noChangeArrowheads="1"/>
          </p:cNvSpPr>
          <p:nvPr/>
        </p:nvSpPr>
        <p:spPr bwMode="auto">
          <a:xfrm>
            <a:off x="1469780" y="2531669"/>
            <a:ext cx="543739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38" name="Text Box 290"/>
              <p:cNvSpPr txBox="1">
                <a:spLocks noChangeArrowheads="1"/>
              </p:cNvSpPr>
              <p:nvPr/>
            </p:nvSpPr>
            <p:spPr bwMode="auto">
              <a:xfrm>
                <a:off x="7054594" y="3294198"/>
                <a:ext cx="1809115" cy="93726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spcBef>
                    <a:spcPct val="50000"/>
                  </a:spcBef>
                  <a:buClrTx/>
                  <a:buSzTx/>
                  <a:buFontTx/>
                </a:pP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M</a:t>
                </a:r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 : </a:t>
                </a:r>
                <a:r>
                  <a:rPr lang="zh-CN" altLang="en-US" sz="2200" dirty="0">
                    <a:ea typeface="黑体" panose="02010609060101010101" pitchFamily="49" charset="-122"/>
                    <a:sym typeface="+mn-ea"/>
                  </a:rPr>
                  <a:t>地球质量</a:t>
                </a:r>
                <a:endParaRPr lang="zh-CN" altLang="en-US" sz="2800" dirty="0">
                  <a:ea typeface="黑体" panose="02010609060101010101" pitchFamily="49" charset="-122"/>
                  <a:sym typeface="+mn-ea"/>
                </a:endParaRPr>
              </a:p>
              <a:p>
                <a:pPr lvl="0"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+mn-ea"/>
                      </a:rPr>
                      <m:t>𝑚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 : </a:t>
                </a:r>
                <a:r>
                  <a:rPr lang="zh-CN" altLang="en-US" sz="2200" dirty="0">
                    <a:ea typeface="黑体" panose="02010609060101010101" pitchFamily="49" charset="-122"/>
                    <a:sym typeface="+mn-ea"/>
                  </a:rPr>
                  <a:t>物体质量</a:t>
                </a:r>
              </a:p>
            </p:txBody>
          </p:sp>
        </mc:Choice>
        <mc:Fallback xmlns="">
          <p:sp>
            <p:nvSpPr>
              <p:cNvPr id="2338" name="Text Box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54594" y="3294198"/>
                <a:ext cx="1809115" cy="937260"/>
              </a:xfrm>
              <a:prstGeom prst="rect">
                <a:avLst/>
              </a:prstGeom>
              <a:blipFill>
                <a:blip r:embed="rId2"/>
                <a:stretch>
                  <a:fillRect l="-4377" t="-6494" r="-337" b="-116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39" name="Rectangle 291"/>
          <p:cNvSpPr>
            <a:spLocks noChangeArrowheads="1"/>
          </p:cNvSpPr>
          <p:nvPr/>
        </p:nvSpPr>
        <p:spPr bwMode="auto">
          <a:xfrm>
            <a:off x="1098623" y="739901"/>
            <a:ext cx="914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2340" name="Text Box 292"/>
          <p:cNvSpPr txBox="1">
            <a:spLocks noChangeArrowheads="1"/>
          </p:cNvSpPr>
          <p:nvPr/>
        </p:nvSpPr>
        <p:spPr bwMode="auto">
          <a:xfrm>
            <a:off x="1431998" y="1230776"/>
            <a:ext cx="3124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静止开始落向地面, </a:t>
            </a:r>
          </a:p>
        </p:txBody>
      </p:sp>
      <p:sp>
        <p:nvSpPr>
          <p:cNvPr id="2341" name="Text Box 293"/>
          <p:cNvSpPr txBox="1">
            <a:spLocks noChangeArrowheads="1"/>
          </p:cNvSpPr>
          <p:nvPr/>
        </p:nvSpPr>
        <p:spPr bwMode="auto">
          <a:xfrm>
            <a:off x="1431998" y="1764176"/>
            <a:ext cx="46482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(不计空气阻力).   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2166618" y="2576013"/>
            <a:ext cx="4343400" cy="521970"/>
            <a:chOff x="3252" y="4011"/>
            <a:chExt cx="6840" cy="822"/>
          </a:xfrm>
        </p:grpSpPr>
        <p:sp>
          <p:nvSpPr>
            <p:cNvPr id="2342" name="Text Box 294"/>
            <p:cNvSpPr txBox="1">
              <a:spLocks noChangeArrowheads="1"/>
            </p:cNvSpPr>
            <p:nvPr/>
          </p:nvSpPr>
          <p:spPr bwMode="auto">
            <a:xfrm>
              <a:off x="3252" y="4025"/>
              <a:ext cx="6840" cy="6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建立如图所示的坐标系.</a:t>
              </a:r>
            </a:p>
          </p:txBody>
        </p:sp>
        <p:sp>
          <p:nvSpPr>
            <p:cNvPr id="2343" name="Text Box 295"/>
            <p:cNvSpPr txBox="1">
              <a:spLocks noChangeArrowheads="1"/>
            </p:cNvSpPr>
            <p:nvPr/>
          </p:nvSpPr>
          <p:spPr bwMode="auto">
            <a:xfrm>
              <a:off x="7902" y="4011"/>
              <a:ext cx="1545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则有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182493" y="5401464"/>
            <a:ext cx="3892550" cy="852805"/>
            <a:chOff x="3277" y="8508"/>
            <a:chExt cx="6130" cy="1343"/>
          </a:xfrm>
        </p:grpSpPr>
        <p:sp>
          <p:nvSpPr>
            <p:cNvPr id="2352" name="Text Box 304"/>
            <p:cNvSpPr txBox="1">
              <a:spLocks noChangeArrowheads="1"/>
            </p:cNvSpPr>
            <p:nvPr/>
          </p:nvSpPr>
          <p:spPr bwMode="auto">
            <a:xfrm>
              <a:off x="3277" y="8825"/>
              <a:ext cx="3960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代入方程得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3" name="Object 305"/>
                <p:cNvSpPr txBox="1"/>
                <p:nvPr/>
              </p:nvSpPr>
              <p:spPr bwMode="auto">
                <a:xfrm>
                  <a:off x="5596" y="8508"/>
                  <a:ext cx="3811" cy="134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𝐺𝑀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53" name="Object 3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96" y="8508"/>
                  <a:ext cx="3811" cy="134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组合 6"/>
          <p:cNvGrpSpPr/>
          <p:nvPr/>
        </p:nvGrpSpPr>
        <p:grpSpPr>
          <a:xfrm>
            <a:off x="5748716" y="5401464"/>
            <a:ext cx="3131185" cy="852805"/>
            <a:chOff x="9130" y="8508"/>
            <a:chExt cx="4931" cy="1343"/>
          </a:xfrm>
        </p:grpSpPr>
        <p:sp>
          <p:nvSpPr>
            <p:cNvPr id="2354" name="Text Box 306"/>
            <p:cNvSpPr txBox="1">
              <a:spLocks noChangeArrowheads="1"/>
            </p:cNvSpPr>
            <p:nvPr/>
          </p:nvSpPr>
          <p:spPr bwMode="auto">
            <a:xfrm>
              <a:off x="9130" y="8804"/>
              <a:ext cx="2520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积分得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5" name="Object 307"/>
                <p:cNvSpPr txBox="1"/>
                <p:nvPr/>
              </p:nvSpPr>
              <p:spPr bwMode="auto">
                <a:xfrm>
                  <a:off x="10524" y="8508"/>
                  <a:ext cx="3537" cy="134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𝑣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𝐺𝑀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55" name="Object 3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524" y="8508"/>
                  <a:ext cx="3537" cy="134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56" name="Text Box 308"/>
          <p:cNvSpPr txBox="1">
            <a:spLocks noChangeArrowheads="1"/>
          </p:cNvSpPr>
          <p:nvPr/>
        </p:nvSpPr>
        <p:spPr bwMode="auto">
          <a:xfrm>
            <a:off x="1416683" y="682443"/>
            <a:ext cx="847407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例6 </a:t>
            </a: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一个离地面很高的物体, 受地球引力的作用由 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287903" y="3099253"/>
            <a:ext cx="3641090" cy="1385570"/>
            <a:chOff x="3443" y="4835"/>
            <a:chExt cx="5734" cy="21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4" name="Object 296"/>
                <p:cNvSpPr txBox="1"/>
                <p:nvPr/>
              </p:nvSpPr>
              <p:spPr bwMode="auto">
                <a:xfrm>
                  <a:off x="3775" y="4835"/>
                  <a:ext cx="1943" cy="140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𝑚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44" name="Object 2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75" y="4835"/>
                  <a:ext cx="1943" cy="140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5" name="Object 297"/>
                <p:cNvSpPr txBox="1"/>
                <p:nvPr/>
              </p:nvSpPr>
              <p:spPr bwMode="auto">
                <a:xfrm>
                  <a:off x="5530" y="4888"/>
                  <a:ext cx="2283" cy="132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𝐺𝑚𝑀</m:t>
                            </m:r>
                          </m:num>
                          <m:den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45" name="Object 2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530" y="4888"/>
                  <a:ext cx="2283" cy="132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6" name="Object 298"/>
                <p:cNvSpPr txBox="1"/>
                <p:nvPr/>
              </p:nvSpPr>
              <p:spPr bwMode="auto">
                <a:xfrm>
                  <a:off x="3758" y="6222"/>
                  <a:ext cx="2526" cy="61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𝑡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zh-CN" altLang="en-US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𝑙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46" name="Object 2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58" y="6222"/>
                  <a:ext cx="2526" cy="610"/>
                </a:xfrm>
                <a:prstGeom prst="rect">
                  <a:avLst/>
                </a:prstGeom>
                <a:blipFill>
                  <a:blip r:embed="rId7"/>
                  <a:stretch>
                    <a:fillRect l="-380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7" name="Object 299"/>
                <p:cNvSpPr txBox="1"/>
                <p:nvPr/>
              </p:nvSpPr>
              <p:spPr bwMode="auto">
                <a:xfrm>
                  <a:off x="5826" y="6219"/>
                  <a:ext cx="3351" cy="798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′</m:t>
                            </m:r>
                          </m:sup>
                        </m:sSup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𝑡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=0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=0,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47" name="Object 2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26" y="6219"/>
                  <a:ext cx="3351" cy="798"/>
                </a:xfrm>
                <a:prstGeom prst="rect">
                  <a:avLst/>
                </a:prstGeom>
                <a:blipFill>
                  <a:blip r:embed="rId8"/>
                  <a:stretch>
                    <a:fillRect l="-573" b="-12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57" name="AutoShape 309"/>
            <p:cNvSpPr/>
            <p:nvPr/>
          </p:nvSpPr>
          <p:spPr bwMode="auto">
            <a:xfrm>
              <a:off x="3443" y="5172"/>
              <a:ext cx="240" cy="1660"/>
            </a:xfrm>
            <a:prstGeom prst="leftBrace">
              <a:avLst>
                <a:gd name="adj1" fmla="val 38542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800" dirty="0">
                <a:latin typeface="+mn-ea"/>
              </a:endParaRPr>
            </a:p>
          </p:txBody>
        </p:sp>
      </p:grpSp>
      <p:sp>
        <p:nvSpPr>
          <p:cNvPr id="2358" name="Text Box 310"/>
          <p:cNvSpPr txBox="1">
            <a:spLocks noChangeArrowheads="1"/>
          </p:cNvSpPr>
          <p:nvPr/>
        </p:nvSpPr>
        <p:spPr bwMode="auto">
          <a:xfrm>
            <a:off x="4485370" y="1243158"/>
            <a:ext cx="5570756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lang="zh-CN" altLang="en-US" sz="2800" dirty="0">
                <a:ea typeface="黑体" panose="02010609060101010101" pitchFamily="49" charset="-122"/>
                <a:sym typeface="+mn-ea"/>
              </a:rPr>
              <a:t>求它落到地面时的速度和所需时间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66618" y="4562928"/>
            <a:ext cx="1775460" cy="715010"/>
            <a:chOff x="3252" y="7075"/>
            <a:chExt cx="2796" cy="11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8" name="Object 300"/>
                <p:cNvSpPr txBox="1"/>
                <p:nvPr/>
              </p:nvSpPr>
              <p:spPr bwMode="auto">
                <a:xfrm>
                  <a:off x="3727" y="7075"/>
                  <a:ext cx="2321" cy="112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48" name="Object 3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27" y="7075"/>
                  <a:ext cx="2321" cy="112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59" name="Text Box 311"/>
            <p:cNvSpPr txBox="1">
              <a:spLocks noChangeArrowheads="1"/>
            </p:cNvSpPr>
            <p:nvPr/>
          </p:nvSpPr>
          <p:spPr bwMode="auto">
            <a:xfrm>
              <a:off x="3252" y="7362"/>
              <a:ext cx="840" cy="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设</a:t>
              </a:r>
            </a:p>
          </p:txBody>
        </p:sp>
      </p:grpSp>
      <p:sp>
        <p:nvSpPr>
          <p:cNvPr id="2360" name="Text Box 312"/>
          <p:cNvSpPr txBox="1">
            <a:spLocks noChangeArrowheads="1"/>
          </p:cNvSpPr>
          <p:nvPr/>
        </p:nvSpPr>
        <p:spPr bwMode="auto">
          <a:xfrm>
            <a:off x="3638929" y="4758381"/>
            <a:ext cx="5334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50000"/>
              </a:spcBef>
              <a:buClrTx/>
              <a:buSzTx/>
              <a:buFontTx/>
            </a:pPr>
            <a:r>
              <a:rPr lang="zh-CN" altLang="en-US" sz="2200" dirty="0">
                <a:ea typeface="黑体" panose="02010609060101010101" pitchFamily="49" charset="-122"/>
                <a:sym typeface="+mn-ea"/>
              </a:rPr>
              <a:t>则</a:t>
            </a:r>
          </a:p>
        </p:txBody>
      </p:sp>
      <p:pic>
        <p:nvPicPr>
          <p:cNvPr id="3" name="图片 2" descr="7-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3709" y="1973109"/>
            <a:ext cx="1847850" cy="351218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3988447" y="4521018"/>
            <a:ext cx="2044700" cy="930275"/>
            <a:chOff x="6400" y="7009"/>
            <a:chExt cx="3220" cy="14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9" name="Object 301"/>
                <p:cNvSpPr txBox="1"/>
                <p:nvPr/>
              </p:nvSpPr>
              <p:spPr bwMode="auto">
                <a:xfrm>
                  <a:off x="6400" y="7009"/>
                  <a:ext cx="3220" cy="146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d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49" name="Object 3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0" y="7009"/>
                  <a:ext cx="3220" cy="14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6564" y="7553"/>
              <a:ext cx="5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5315597" y="4554038"/>
            <a:ext cx="1624330" cy="878840"/>
            <a:chOff x="8490" y="7061"/>
            <a:chExt cx="2558" cy="13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0" name="Object 302"/>
                <p:cNvSpPr txBox="1"/>
                <p:nvPr/>
              </p:nvSpPr>
              <p:spPr bwMode="auto">
                <a:xfrm>
                  <a:off x="8490" y="7061"/>
                  <a:ext cx="2559" cy="138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⋅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50" name="Object 3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90" y="7061"/>
                  <a:ext cx="2559" cy="138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8987" y="7488"/>
              <a:ext cx="5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547497" y="4554038"/>
            <a:ext cx="1035050" cy="879475"/>
            <a:chOff x="10700" y="7061"/>
            <a:chExt cx="1630" cy="13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51" name="Object 303"/>
                <p:cNvSpPr txBox="1"/>
                <p:nvPr/>
              </p:nvSpPr>
              <p:spPr bwMode="auto">
                <a:xfrm>
                  <a:off x="10700" y="7061"/>
                  <a:ext cx="1630" cy="138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𝑣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den>
                        </m:f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2351" name="Object 3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00" y="7061"/>
                  <a:ext cx="1630" cy="138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文本框 12"/>
            <p:cNvSpPr txBox="1"/>
            <p:nvPr/>
          </p:nvSpPr>
          <p:spPr>
            <a:xfrm>
              <a:off x="10828" y="7488"/>
              <a:ext cx="56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8" grpId="0" bldLvl="0" animBg="1"/>
      <p:bldP spid="23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959" y="536260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7572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47706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2178046" y="3514363"/>
            <a:ext cx="3430270" cy="981075"/>
            <a:chOff x="2630" y="5603"/>
            <a:chExt cx="5402" cy="1545"/>
          </a:xfrm>
        </p:grpSpPr>
        <p:sp>
          <p:nvSpPr>
            <p:cNvPr id="15371" name="Text Box 11"/>
            <p:cNvSpPr txBox="1">
              <a:spLocks noChangeArrowheads="1"/>
            </p:cNvSpPr>
            <p:nvPr/>
          </p:nvSpPr>
          <p:spPr bwMode="auto">
            <a:xfrm>
              <a:off x="2630" y="6235"/>
              <a:ext cx="3360" cy="6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两端积分得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72" name="Object 12"/>
                <p:cNvSpPr txBox="1"/>
                <p:nvPr/>
              </p:nvSpPr>
              <p:spPr bwMode="auto">
                <a:xfrm>
                  <a:off x="5187" y="5603"/>
                  <a:ext cx="2845" cy="154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𝑡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𝐺𝑀</m:t>
                                </m:r>
                              </m:den>
                            </m:f>
                          </m:e>
                        </m:rad>
                        <m:d>
                          <m:dPr>
                            <m:begChr m:val="["/>
                            <m:endChr m:val="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mPr>
                              <m:mr>
                                <m:e/>
                              </m:mr>
                              <m:mr>
                                <m:e/>
                              </m:mr>
                            </m:m>
                          </m:e>
                        </m:d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5372" name="Object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87" y="5603"/>
                  <a:ext cx="2845" cy="1545"/>
                </a:xfrm>
                <a:prstGeom prst="rect">
                  <a:avLst/>
                </a:prstGeom>
                <a:blipFill>
                  <a:blip r:embed="rId2"/>
                  <a:stretch>
                    <a:fillRect b="-5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75" name="Text Box 15"/>
              <p:cNvSpPr txBox="1">
                <a:spLocks noChangeArrowheads="1"/>
              </p:cNvSpPr>
              <p:nvPr/>
            </p:nvSpPr>
            <p:spPr bwMode="auto">
              <a:xfrm>
                <a:off x="5067613" y="4754359"/>
                <a:ext cx="3311525" cy="42989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>
                  <a:spcBef>
                    <a:spcPct val="50000"/>
                  </a:spcBef>
                </a:pPr>
                <a:r>
                  <a:rPr lang="zh-CN" altLang="en-US" sz="2200" dirty="0">
                    <a:ea typeface="黑体" panose="02010609060101010101" pitchFamily="49" charset="-122"/>
                    <a:sym typeface="+mn-ea"/>
                  </a:rPr>
                  <a:t>得</a:t>
                </a:r>
                <a:r>
                  <a: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</m:ctrlPr>
                      </m:sSubPr>
                      <m:e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𝐶</m:t>
                        </m:r>
                      </m:e>
                      <m: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 = 0</a:t>
                </a:r>
                <a:r>
                  <a:rPr kumimoji="1" lang="en-US" altLang="zh-CN" sz="2200" dirty="0">
                    <a:ea typeface="黑体" panose="02010609060101010101" pitchFamily="49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+mn-ea"/>
                      </a:rPr>
                      <m:t>,</m:t>
                    </m:r>
                  </m:oMath>
                </a14:m>
                <a:r>
                  <a:rPr lang="zh-CN" altLang="en-US" sz="2200" dirty="0">
                    <a:ea typeface="黑体" panose="02010609060101010101" pitchFamily="49" charset="-122"/>
                    <a:sym typeface="+mn-ea"/>
                  </a:rPr>
                  <a:t> 因此有</a:t>
                </a:r>
              </a:p>
            </p:txBody>
          </p:sp>
        </mc:Choice>
        <mc:Fallback xmlns="">
          <p:sp>
            <p:nvSpPr>
              <p:cNvPr id="15375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67613" y="4754359"/>
                <a:ext cx="3311525" cy="429895"/>
              </a:xfrm>
              <a:prstGeom prst="rect">
                <a:avLst/>
              </a:prstGeom>
              <a:blipFill>
                <a:blip r:embed="rId3"/>
                <a:stretch>
                  <a:fillRect l="-2390" t="-15714" b="-2714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7359011" y="644163"/>
            <a:ext cx="2785397" cy="801370"/>
            <a:chOff x="11457" y="1083"/>
            <a:chExt cx="3600" cy="12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80" name="Object 20"/>
                <p:cNvSpPr txBox="1"/>
                <p:nvPr/>
              </p:nvSpPr>
              <p:spPr bwMode="auto">
                <a:xfrm>
                  <a:off x="12330" y="1083"/>
                  <a:ext cx="2727" cy="126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=−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𝐺𝑀</m:t>
                            </m:r>
                          </m:num>
                          <m:den>
                            <m:r>
                              <a:rPr kumimoji="1" lang="zh-CN" altLang="en-US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𝑙</m:t>
                            </m:r>
                          </m:den>
                        </m:f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5380" name="Object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330" y="1083"/>
                  <a:ext cx="2727" cy="126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84" name="Text Box 24"/>
            <p:cNvSpPr txBox="1">
              <a:spLocks noChangeArrowheads="1"/>
            </p:cNvSpPr>
            <p:nvPr/>
          </p:nvSpPr>
          <p:spPr bwMode="auto">
            <a:xfrm>
              <a:off x="11457" y="1348"/>
              <a:ext cx="1700" cy="6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解得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178046" y="1564913"/>
            <a:ext cx="3849370" cy="928370"/>
            <a:chOff x="2630" y="2533"/>
            <a:chExt cx="6062" cy="146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66" name="Object 6"/>
                <p:cNvSpPr txBox="1"/>
                <p:nvPr/>
              </p:nvSpPr>
              <p:spPr bwMode="auto">
                <a:xfrm>
                  <a:off x="3877" y="2533"/>
                  <a:ext cx="4815" cy="146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𝑣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=2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𝐺𝑀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den>
                            </m:f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 −</m:t>
                            </m:r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zh-CN" altLang="en-US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den>
                            </m:f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5366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877" y="2533"/>
                  <a:ext cx="4815" cy="146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385" name="Text Box 25"/>
            <p:cNvSpPr txBox="1">
              <a:spLocks noChangeArrowheads="1"/>
            </p:cNvSpPr>
            <p:nvPr/>
          </p:nvSpPr>
          <p:spPr bwMode="auto">
            <a:xfrm>
              <a:off x="2630" y="2859"/>
              <a:ext cx="1757" cy="6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spcBef>
                  <a:spcPct val="50000"/>
                </a:spcBef>
                <a:buClrTx/>
                <a:buSzTx/>
                <a:buFontTx/>
              </a:pPr>
              <a:r>
                <a:rPr lang="zh-CN" altLang="en-US" sz="2200" dirty="0">
                  <a:ea typeface="黑体" panose="02010609060101010101" pitchFamily="49" charset="-122"/>
                  <a:sym typeface="+mn-ea"/>
                </a:rPr>
                <a:t>于是</a:t>
              </a: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5886739" y="1381398"/>
            <a:ext cx="3708400" cy="955675"/>
            <a:chOff x="8692" y="2244"/>
            <a:chExt cx="5840" cy="15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68" name="Object 8"/>
                <p:cNvSpPr txBox="1"/>
                <p:nvPr/>
              </p:nvSpPr>
              <p:spPr bwMode="auto">
                <a:xfrm>
                  <a:off x="9717" y="2244"/>
                  <a:ext cx="4815" cy="150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=−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𝐺𝑀</m:t>
                                </m:r>
                              </m:num>
                              <m:den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den>
                            </m:f>
                          </m:e>
                        </m:rad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−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den>
                            </m:f>
                          </m:e>
                        </m:rad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5368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17" y="2244"/>
                  <a:ext cx="4815" cy="1505"/>
                </a:xfrm>
                <a:prstGeom prst="rect">
                  <a:avLst/>
                </a:prstGeom>
                <a:blipFill>
                  <a:blip r:embed="rId6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AutoShape 258"/>
            <p:cNvSpPr>
              <a:spLocks noChangeArrowheads="1"/>
            </p:cNvSpPr>
            <p:nvPr/>
          </p:nvSpPr>
          <p:spPr bwMode="auto">
            <a:xfrm>
              <a:off x="8692" y="2933"/>
              <a:ext cx="908" cy="518"/>
            </a:xfrm>
            <a:prstGeom prst="rightArrow">
              <a:avLst>
                <a:gd name="adj1" fmla="val 50000"/>
                <a:gd name="adj2" fmla="val 28628"/>
              </a:avLst>
            </a:prstGeom>
            <a:solidFill>
              <a:srgbClr val="04926A"/>
            </a:solidFill>
            <a:ln w="9525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269611" y="2654573"/>
            <a:ext cx="1915160" cy="879475"/>
            <a:chOff x="4349" y="4249"/>
            <a:chExt cx="3016" cy="138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67" name="Object 7"/>
                <p:cNvSpPr txBox="1"/>
                <p:nvPr/>
              </p:nvSpPr>
              <p:spPr bwMode="auto">
                <a:xfrm>
                  <a:off x="4349" y="4249"/>
                  <a:ext cx="3016" cy="138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∵  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d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𝑡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5367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49" y="4249"/>
                  <a:ext cx="3016" cy="138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4511" y="4658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113651" y="3728358"/>
            <a:ext cx="4754880" cy="1017270"/>
            <a:chOff x="7253" y="5940"/>
            <a:chExt cx="7488" cy="1602"/>
          </a:xfrm>
        </p:grpSpPr>
        <p:grpSp>
          <p:nvGrpSpPr>
            <p:cNvPr id="7" name="组合 6"/>
            <p:cNvGrpSpPr/>
            <p:nvPr/>
          </p:nvGrpSpPr>
          <p:grpSpPr>
            <a:xfrm>
              <a:off x="7253" y="5940"/>
              <a:ext cx="7488" cy="1602"/>
              <a:chOff x="7253" y="5940"/>
              <a:chExt cx="7488" cy="160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77" name="Object 17"/>
                  <p:cNvSpPr txBox="1"/>
                  <p:nvPr/>
                </p:nvSpPr>
                <p:spPr bwMode="auto">
                  <a:xfrm>
                    <a:off x="7452" y="5940"/>
                    <a:ext cx="4672" cy="1422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 algn="l">
                      <a:buClrTx/>
                      <a:buSzTx/>
                      <a:buFontTx/>
                    </a:pPr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𝑙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+</m:t>
                          </m:r>
                          <m:r>
                            <a:rPr kumimoji="1" lang="zh-CN" altLang="en-US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𝑙</m:t>
                          </m:r>
                          <m:func>
                            <m:func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arccos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 i="1" dirty="0" smtClean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func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5377" name="Object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452" y="5940"/>
                    <a:ext cx="4672" cy="142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78" name="Object 18"/>
                  <p:cNvSpPr txBox="1"/>
                  <p:nvPr/>
                </p:nvSpPr>
                <p:spPr bwMode="auto">
                  <a:xfrm>
                    <a:off x="7253" y="6079"/>
                    <a:ext cx="7488" cy="1463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d>
                            <m:dPr>
                              <m:begChr m:val=""/>
                              <m:endChr m:val="]"/>
                              <m:ctrlPr>
                                <a:rPr kumimoji="1" lang="en-US" altLang="zh-CN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["/>
                                  <m:endChr m:val=""/>
                                  <m:ctrlPr>
                                    <a:rPr kumimoji="1" lang="en-US" altLang="zh-CN" sz="2200" i="1" dirty="0" smtClean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plcHide m:val="on"/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</m:ctrlPr>
                                    </m:mPr>
                                    <m:mr>
                                      <m:e/>
                                    </m:mr>
                                    <m:mr>
                                      <m:e/>
                                    </m:mr>
                                  </m:m>
                                </m:e>
                              </m:d>
                              <m:r>
                                <a:rPr kumimoji="1" lang="en-US" altLang="zh-CN" sz="2200" b="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                                             </m:t>
                              </m:r>
                            </m:e>
                          </m:d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.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5378" name="Object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253" y="6079"/>
                    <a:ext cx="7488" cy="1463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文本框 11"/>
            <p:cNvSpPr txBox="1"/>
            <p:nvPr/>
          </p:nvSpPr>
          <p:spPr>
            <a:xfrm>
              <a:off x="9833" y="6382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380101" y="4732293"/>
            <a:ext cx="2062480" cy="517525"/>
            <a:chOff x="4523" y="7521"/>
            <a:chExt cx="3248" cy="815"/>
          </a:xfrm>
        </p:grpSpPr>
        <p:grpSp>
          <p:nvGrpSpPr>
            <p:cNvPr id="8" name="组合 7"/>
            <p:cNvGrpSpPr/>
            <p:nvPr/>
          </p:nvGrpSpPr>
          <p:grpSpPr>
            <a:xfrm>
              <a:off x="4523" y="7521"/>
              <a:ext cx="3248" cy="815"/>
              <a:chOff x="4523" y="7521"/>
              <a:chExt cx="3248" cy="8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73" name="Object 13"/>
                  <p:cNvSpPr txBox="1"/>
                  <p:nvPr/>
                </p:nvSpPr>
                <p:spPr bwMode="auto">
                  <a:xfrm>
                    <a:off x="5075" y="7521"/>
                    <a:ext cx="2696" cy="815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𝑡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=0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en-US" altLang="zh-CN" sz="2200" dirty="0">
                              <a:ea typeface="黑体" panose="02010609060101010101" pitchFamily="49" charset="-122"/>
                              <a:sym typeface="+mn-ea"/>
                            </a:rPr>
                            <m:t> 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</m:t>
                          </m:r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𝑙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5373" name="Object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5075" y="7521"/>
                    <a:ext cx="2696" cy="81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71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387" name="Text Box 27"/>
              <p:cNvSpPr txBox="1">
                <a:spLocks noChangeArrowheads="1"/>
              </p:cNvSpPr>
              <p:nvPr/>
            </p:nvSpPr>
            <p:spPr bwMode="auto">
              <a:xfrm>
                <a:off x="4523" y="7557"/>
                <a:ext cx="552" cy="6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spcBef>
                    <a:spcPct val="50000"/>
                  </a:spcBef>
                  <a:buClrTx/>
                  <a:buSzTx/>
                  <a:buFontTx/>
                </a:pPr>
                <a:r>
                  <a:rPr lang="zh-CN" altLang="en-US" sz="2200" dirty="0">
                    <a:ea typeface="黑体" panose="02010609060101010101" pitchFamily="49" charset="-122"/>
                    <a:sym typeface="+mn-ea"/>
                  </a:rPr>
                  <a:t>由</a:t>
                </a:r>
              </a:p>
            </p:txBody>
          </p:sp>
        </p:grpSp>
        <p:sp>
          <p:nvSpPr>
            <p:cNvPr id="14" name="文本框 13"/>
            <p:cNvSpPr txBox="1"/>
            <p:nvPr/>
          </p:nvSpPr>
          <p:spPr>
            <a:xfrm>
              <a:off x="5893" y="7656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793486" y="5145678"/>
            <a:ext cx="4989195" cy="981075"/>
            <a:chOff x="5174" y="8172"/>
            <a:chExt cx="7857" cy="15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76" name="Object 16"/>
                <p:cNvSpPr txBox="1"/>
                <p:nvPr/>
              </p:nvSpPr>
              <p:spPr bwMode="auto">
                <a:xfrm>
                  <a:off x="5174" y="8172"/>
                  <a:ext cx="7857" cy="1545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𝑡</m:t>
                        </m:r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𝐺𝑀</m:t>
                                </m:r>
                              </m:den>
                            </m:f>
                          </m:e>
                        </m:rad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zh-CN" altLang="en-US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+</m:t>
                            </m:r>
                            <m:r>
                              <a:rPr kumimoji="1" lang="zh-CN" altLang="en-US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𝑙</m:t>
                            </m:r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arccos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sym typeface="+mn-ea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sym typeface="+mn-ea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kumimoji="1" lang="zh-CN" altLang="en-US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sym typeface="+mn-ea"/>
                                          </a:rPr>
                                          <m:t>𝑙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func>
                            <m:r>
                              <a:rPr kumimoji="1" lang="en-US" altLang="zh-CN" sz="2200" b="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 </m:t>
                            </m:r>
                          </m:e>
                        </m:d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5376" name="Object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74" y="8172"/>
                  <a:ext cx="7857" cy="1545"/>
                </a:xfrm>
                <a:prstGeom prst="rect">
                  <a:avLst/>
                </a:prstGeom>
                <a:blipFill>
                  <a:blip r:embed="rId11"/>
                  <a:stretch>
                    <a:fillRect b="-6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文本框 15"/>
            <p:cNvSpPr txBox="1"/>
            <p:nvPr/>
          </p:nvSpPr>
          <p:spPr>
            <a:xfrm>
              <a:off x="8620" y="8804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158996" y="803548"/>
            <a:ext cx="5800090" cy="567055"/>
            <a:chOff x="2600" y="1334"/>
            <a:chExt cx="9134" cy="893"/>
          </a:xfrm>
        </p:grpSpPr>
        <p:grpSp>
          <p:nvGrpSpPr>
            <p:cNvPr id="2" name="组合 1"/>
            <p:cNvGrpSpPr/>
            <p:nvPr/>
          </p:nvGrpSpPr>
          <p:grpSpPr>
            <a:xfrm>
              <a:off x="2600" y="1334"/>
              <a:ext cx="9134" cy="893"/>
              <a:chOff x="2600" y="1334"/>
              <a:chExt cx="9134" cy="89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79" name="Object 19"/>
                  <p:cNvSpPr txBox="1"/>
                  <p:nvPr/>
                </p:nvSpPr>
                <p:spPr bwMode="auto">
                  <a:xfrm>
                    <a:off x="4310" y="1334"/>
                    <a:ext cx="7424" cy="893"/>
                  </a:xfrm>
                  <a:prstGeom prst="rect">
                    <a:avLst/>
                  </a:prstGeom>
                </p:spPr>
                <p:txBody>
                  <a:bodyPr>
                    <a:no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lvl="0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𝑣</m:t>
                          </m:r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𝑡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=0</m:t>
                              </m:r>
                            </m:sub>
                          </m:sSub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′</m:t>
                              </m:r>
                            </m:sup>
                          </m:sSup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𝑡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=0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en-US" altLang="zh-CN" sz="2200" dirty="0">
                              <a:ea typeface="黑体" panose="02010609060101010101" pitchFamily="49" charset="-122"/>
                              <a:sym typeface="+mn-ea"/>
                            </a:rPr>
                            <m:t> 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=0, 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𝑦</m:t>
                          </m:r>
                          <m:sSub>
                            <m:sSub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|</m:t>
                              </m:r>
                            </m:e>
                            <m:sub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𝑡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=0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kumimoji="1" lang="en-US" altLang="zh-CN" sz="2200" dirty="0">
                              <a:ea typeface="黑体" panose="02010609060101010101" pitchFamily="49" charset="-122"/>
                              <a:sym typeface="+mn-ea"/>
                            </a:rPr>
                            <m:t> 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=</m:t>
                          </m:r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𝑙</m:t>
                          </m:r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,</m:t>
                          </m:r>
                        </m:oMath>
                      </m:oMathPara>
                    </a14:m>
                    <a:endPara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endParaRPr>
                  </a:p>
                </p:txBody>
              </p:sp>
            </mc:Choice>
            <mc:Fallback xmlns="">
              <p:sp>
                <p:nvSpPr>
                  <p:cNvPr id="15379" name="Object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310" y="1334"/>
                    <a:ext cx="7424" cy="893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382" name="Text Box 22"/>
              <p:cNvSpPr txBox="1">
                <a:spLocks noChangeArrowheads="1"/>
              </p:cNvSpPr>
              <p:nvPr/>
            </p:nvSpPr>
            <p:spPr bwMode="auto">
              <a:xfrm>
                <a:off x="2600" y="1360"/>
                <a:ext cx="1632" cy="67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spcBef>
                    <a:spcPct val="50000"/>
                  </a:spcBef>
                  <a:buClrTx/>
                  <a:buSzTx/>
                  <a:buFontTx/>
                </a:pPr>
                <a:r>
                  <a:rPr lang="zh-CN" altLang="en-US" sz="2200" dirty="0">
                    <a:ea typeface="黑体" panose="02010609060101010101" pitchFamily="49" charset="-122"/>
                    <a:sym typeface="+mn-ea"/>
                  </a:rPr>
                  <a:t>由条件</a:t>
                </a:r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5075" y="1537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892671" y="2452008"/>
            <a:ext cx="3924935" cy="1124585"/>
            <a:chOff x="6905" y="3930"/>
            <a:chExt cx="6181" cy="177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69" name="Object 9"/>
                <p:cNvSpPr txBox="1"/>
                <p:nvPr/>
              </p:nvSpPr>
              <p:spPr bwMode="auto">
                <a:xfrm>
                  <a:off x="6905" y="4541"/>
                  <a:ext cx="2053" cy="6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 smtClean="0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∴  </m:t>
                        </m:r>
                        <m:r>
                          <m:rPr>
                            <m:sty m:val="p"/>
                          </m:rPr>
                          <a:rPr lang="en-US" altLang="zh-CN" sz="22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=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536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05" y="4541"/>
                  <a:ext cx="2053" cy="65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70" name="Object 10"/>
                <p:cNvSpPr txBox="1"/>
                <p:nvPr/>
              </p:nvSpPr>
              <p:spPr bwMode="auto">
                <a:xfrm>
                  <a:off x="8604" y="3930"/>
                  <a:ext cx="4482" cy="1771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 algn="l">
                    <a:buClrTx/>
                    <a:buSzTx/>
                    <a:buFontTx/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𝐺𝑀</m:t>
                                </m:r>
                              </m:den>
                            </m:f>
                          </m:e>
                        </m:rad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num>
                              <m:den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−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𝑦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kumimoji="1" lang="en-US" altLang="zh-CN" sz="2200" b="0" i="0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d</m:t>
                        </m:r>
                        <m:r>
                          <a:rPr kumimoji="1" lang="en-US" altLang="zh-CN" sz="22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𝑦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5370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04" y="3930"/>
                  <a:ext cx="4482" cy="177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文本框 20"/>
            <p:cNvSpPr txBox="1"/>
            <p:nvPr/>
          </p:nvSpPr>
          <p:spPr>
            <a:xfrm>
              <a:off x="9356" y="4805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687324" y="536895"/>
            <a:ext cx="10817352" cy="57998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半闭框 47"/>
          <p:cNvSpPr/>
          <p:nvPr/>
        </p:nvSpPr>
        <p:spPr>
          <a:xfrm>
            <a:off x="687324" y="536434"/>
            <a:ext cx="681355" cy="73917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半闭框 48"/>
          <p:cNvSpPr/>
          <p:nvPr/>
        </p:nvSpPr>
        <p:spPr>
          <a:xfrm flipH="1">
            <a:off x="10823530" y="535820"/>
            <a:ext cx="681146" cy="739134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sp>
        <p:nvSpPr>
          <p:cNvPr id="40" name="半闭框 39"/>
          <p:cNvSpPr/>
          <p:nvPr/>
        </p:nvSpPr>
        <p:spPr>
          <a:xfrm flipV="1">
            <a:off x="687324" y="5665394"/>
            <a:ext cx="681355" cy="673517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半闭框 40"/>
          <p:cNvSpPr/>
          <p:nvPr/>
        </p:nvSpPr>
        <p:spPr>
          <a:xfrm flipH="1" flipV="1">
            <a:off x="10823530" y="5660768"/>
            <a:ext cx="681146" cy="693383"/>
          </a:xfrm>
          <a:prstGeom prst="halfFrame">
            <a:avLst>
              <a:gd name="adj1" fmla="val 7739"/>
              <a:gd name="adj2" fmla="val 6987"/>
            </a:avLst>
          </a:prstGeom>
          <a:gradFill flip="none" rotWithShape="1">
            <a:gsLst>
              <a:gs pos="0">
                <a:schemeClr val="bg1"/>
              </a:gs>
              <a:gs pos="46000">
                <a:srgbClr val="039463"/>
              </a:gs>
              <a:gs pos="100000">
                <a:schemeClr val="bg1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 sz="2200">
              <a:solidFill>
                <a:schemeClr val="tx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084070" y="2931160"/>
            <a:ext cx="3290570" cy="477520"/>
            <a:chOff x="2682" y="4616"/>
            <a:chExt cx="5182" cy="7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8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682" y="4691"/>
                  <a:ext cx="2952" cy="677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:r>
                    <a:rPr lang="zh-CN" altLang="en-US" sz="2200" dirty="0">
                      <a:ea typeface="黑体" panose="02010609060101010101" pitchFamily="49" charset="-122"/>
                      <a:sym typeface="+mn-ea"/>
                    </a:rPr>
                    <a:t>由于</a:t>
                  </a:r>
                  <a:r>
                    <a: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𝑦</m:t>
                      </m:r>
                      <m:r>
                        <a:rPr kumimoji="1" lang="en-US" altLang="zh-CN" sz="22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 </m:t>
                      </m:r>
                    </m:oMath>
                  </a14:m>
                  <a:r>
                    <a:rPr kumimoji="1" lang="en-US" altLang="zh-CN" sz="2200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rPr>
                    <a:t>= </a:t>
                  </a:r>
                  <a14:m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𝑅</m:t>
                      </m:r>
                    </m:oMath>
                  </a14:m>
                  <a:r>
                    <a:rPr kumimoji="1" lang="en-US" altLang="zh-CN" sz="2200" i="1" dirty="0">
                      <a:latin typeface="Cambria Math" panose="02040503050406030204" pitchFamily="18" charset="0"/>
                      <a:ea typeface="黑体" panose="02010609060101010101" pitchFamily="49" charset="-122"/>
                      <a:sym typeface="+mn-ea"/>
                    </a:rPr>
                    <a:t> </a:t>
                  </a:r>
                  <a:r>
                    <a:rPr lang="zh-CN" altLang="en-US" sz="2200" dirty="0">
                      <a:ea typeface="黑体" panose="02010609060101010101" pitchFamily="49" charset="-122"/>
                      <a:sym typeface="+mn-ea"/>
                    </a:rPr>
                    <a:t>时</a:t>
                  </a:r>
                  <a:endPara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88" name="Text 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82" y="4691"/>
                  <a:ext cx="2952" cy="677"/>
                </a:xfrm>
                <a:prstGeom prst="rect">
                  <a:avLst/>
                </a:prstGeom>
                <a:blipFill>
                  <a:blip r:embed="rId2"/>
                  <a:stretch>
                    <a:fillRect l="-4235" t="-14286" r="-1629" b="-2857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9" name="Object 5"/>
                <p:cNvSpPr txBox="1"/>
                <p:nvPr/>
              </p:nvSpPr>
              <p:spPr bwMode="auto">
                <a:xfrm>
                  <a:off x="5634" y="4616"/>
                  <a:ext cx="2230" cy="66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kumimoji="1" lang="en-US" altLang="zh-CN" sz="2200" i="1" dirty="0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</m:e>
                          <m:sup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″</m:t>
                            </m:r>
                          </m:sup>
                        </m:sSup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=−</m:t>
                        </m:r>
                        <m:r>
                          <m:rPr>
                            <m:nor/>
                          </m:rPr>
                          <a:rPr kumimoji="1" lang="en-US" altLang="zh-CN" sz="220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g</m:t>
                        </m:r>
                        <m:r>
                          <m:rPr>
                            <m:nor/>
                          </m:rPr>
                          <a:rPr kumimoji="1" lang="en-US" altLang="zh-CN" sz="2200" b="0" i="1" dirty="0" smtClean="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 </m:t>
                        </m:r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89" name="Object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34" y="4616"/>
                  <a:ext cx="2230" cy="660"/>
                </a:xfrm>
                <a:prstGeom prst="rect">
                  <a:avLst/>
                </a:prstGeom>
                <a:blipFill>
                  <a:blip r:embed="rId3"/>
                  <a:stretch>
                    <a:fillRect l="-429" b="-1449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" name="组合 2"/>
          <p:cNvGrpSpPr/>
          <p:nvPr/>
        </p:nvGrpSpPr>
        <p:grpSpPr>
          <a:xfrm>
            <a:off x="5140325" y="2768600"/>
            <a:ext cx="3293110" cy="831850"/>
            <a:chOff x="7495" y="4360"/>
            <a:chExt cx="5186" cy="1310"/>
          </a:xfrm>
        </p:grpSpPr>
        <p:sp>
          <p:nvSpPr>
            <p:cNvPr id="16390" name="Text Box 6"/>
            <p:cNvSpPr txBox="1">
              <a:spLocks noChangeArrowheads="1"/>
            </p:cNvSpPr>
            <p:nvPr/>
          </p:nvSpPr>
          <p:spPr bwMode="auto">
            <a:xfrm>
              <a:off x="7495" y="4691"/>
              <a:ext cx="3056" cy="8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2200" dirty="0">
                  <a:ea typeface="黑体" panose="02010609060101010101" pitchFamily="49" charset="-122"/>
                </a:rPr>
                <a:t>由原方程可得</a:t>
              </a:r>
              <a:endParaRPr kumimoji="1" lang="zh-CN" altLang="en-US" sz="2200" dirty="0">
                <a:latin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1" name="Object 7"/>
                <p:cNvSpPr txBox="1"/>
                <p:nvPr/>
              </p:nvSpPr>
              <p:spPr bwMode="auto">
                <a:xfrm>
                  <a:off x="10256" y="4360"/>
                  <a:ext cx="2425" cy="131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𝑘</m:t>
                        </m:r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kumimoji="1" lang="en-US" altLang="zh-CN" sz="2200" i="1" dirty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g</m:t>
                            </m:r>
                            <m:r>
                              <a:rPr kumimoji="1" lang="en-US" altLang="zh-CN" sz="2200" b="0" i="1" dirty="0" smtClean="0">
                                <a:solidFill>
                                  <a:schemeClr val="tx1">
                                    <a:lumMod val="95000"/>
                                    <a:lumOff val="5000"/>
                                  </a:schemeClr>
                                </a:solidFill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𝑀</m:t>
                            </m:r>
                          </m:den>
                        </m:f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91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56" y="4360"/>
                  <a:ext cx="2425" cy="13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Text Box 8"/>
              <p:cNvSpPr txBox="1">
                <a:spLocks noChangeArrowheads="1"/>
              </p:cNvSpPr>
              <p:nvPr/>
            </p:nvSpPr>
            <p:spPr bwMode="auto">
              <a:xfrm>
                <a:off x="2084387" y="3498355"/>
                <a:ext cx="7924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ea typeface="黑体" panose="02010609060101010101" pitchFamily="49" charset="-122"/>
                  </a:rPr>
                  <a:t>因此落到地面</a:t>
                </a:r>
                <a:r>
                  <a:rPr kumimoji="1"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+mn-ea"/>
                      </a:rPr>
                      <m:t>𝑦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+mn-ea"/>
                      </a:rPr>
                      <m:t> 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rPr>
                  <a:t>=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sym typeface="+mn-ea"/>
                      </a:rPr>
                      <m:t>𝑅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200" dirty="0">
                    <a:ea typeface="黑体" panose="02010609060101010101" pitchFamily="49" charset="-122"/>
                  </a:rPr>
                  <a:t>时的速度和所需时间分别为</a:t>
                </a:r>
              </a:p>
            </p:txBody>
          </p:sp>
        </mc:Choice>
        <mc:Fallback xmlns="">
          <p:sp>
            <p:nvSpPr>
              <p:cNvPr id="1639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4387" y="3498355"/>
                <a:ext cx="7924800" cy="523220"/>
              </a:xfrm>
              <a:prstGeom prst="rect">
                <a:avLst/>
              </a:prstGeom>
              <a:blipFill>
                <a:blip r:embed="rId5"/>
                <a:stretch>
                  <a:fillRect l="-1000" t="-12791" b="-34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5" name="Object 11"/>
              <p:cNvSpPr txBox="1"/>
              <p:nvPr/>
            </p:nvSpPr>
            <p:spPr bwMode="auto">
              <a:xfrm>
                <a:off x="3477532" y="751999"/>
                <a:ext cx="1295400" cy="10541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  <a:tabLst>
                    <a:tab pos="622300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𝑚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zh-CN" sz="2200" i="0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d</m:t>
                                  </m:r>
                                </m:e>
                                <m:sup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</m:func>
                        </m:num>
                        <m:den>
                          <m:r>
                            <m:rPr>
                              <m:sty m:val="p"/>
                            </m:rPr>
                            <a:rPr kumimoji="1" lang="en-US" altLang="zh-CN" sz="220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d</m:t>
                          </m:r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𝑡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639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7532" y="751999"/>
                <a:ext cx="1295400" cy="1054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6" name="Object 12"/>
              <p:cNvSpPr txBox="1"/>
              <p:nvPr/>
            </p:nvSpPr>
            <p:spPr bwMode="auto">
              <a:xfrm>
                <a:off x="4623073" y="795179"/>
                <a:ext cx="1384300" cy="9525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−</m:t>
                      </m:r>
                      <m:f>
                        <m:fPr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fPr>
                        <m:num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𝐺𝑚𝑀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e>
                            <m:sup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,</m:t>
                      </m:r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639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3073" y="795179"/>
                <a:ext cx="1384300" cy="9525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7" name="Object 13"/>
              <p:cNvSpPr txBox="1"/>
              <p:nvPr/>
            </p:nvSpPr>
            <p:spPr bwMode="auto">
              <a:xfrm>
                <a:off x="5736864" y="584756"/>
                <a:ext cx="2832100" cy="97790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l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𝑣</m:t>
                      </m:r>
                      <m:r>
                        <a:rPr kumimoji="1" lang="en-US" altLang="zh-CN" sz="2200" i="1" dirty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2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𝐺𝑀</m:t>
                              </m:r>
                            </m:num>
                            <m:den>
                              <m:r>
                                <a:rPr kumimoji="1" lang="zh-CN" altLang="en-US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𝑙</m:t>
                              </m:r>
                            </m:den>
                          </m:f>
                        </m:e>
                      </m:rad>
                      <m:rad>
                        <m:radPr>
                          <m:degHide m:val="on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𝑙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−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639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864" y="584756"/>
                <a:ext cx="2832100" cy="977900"/>
              </a:xfrm>
              <a:prstGeom prst="rect">
                <a:avLst/>
              </a:prstGeom>
              <a:blipFill>
                <a:blip r:embed="rId8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9" name="Object 15"/>
              <p:cNvSpPr txBox="1"/>
              <p:nvPr/>
            </p:nvSpPr>
            <p:spPr bwMode="auto">
              <a:xfrm>
                <a:off x="3455716" y="1500901"/>
                <a:ext cx="5457825" cy="1115933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𝑡</m:t>
                      </m:r>
                      <m:r>
                        <a:rPr kumimoji="1" lang="en-US" altLang="zh-CN" sz="22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sym typeface="+mn-ea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 dirty="0" smtClean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𝑙</m:t>
                              </m:r>
                            </m:num>
                            <m:den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2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𝐺𝑀</m:t>
                              </m:r>
                            </m:den>
                          </m:f>
                        </m:e>
                      </m:rad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𝑙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𝑦</m:t>
                              </m:r>
                              <m: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kumimoji="1" lang="en-US" altLang="zh-CN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+</m:t>
                          </m:r>
                          <m:r>
                            <a:rPr kumimoji="1" lang="zh-CN" altLang="en-US" sz="2200" i="1" dirty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𝑙</m:t>
                          </m:r>
                          <m:func>
                            <m:funcPr>
                              <m:ctrlPr>
                                <a:rPr kumimoji="1" lang="en-US" altLang="zh-CN" sz="2200" i="1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sym typeface="+mn-ea"/>
                                </a:rPr>
                                <m:t>arccos</m:t>
                              </m:r>
                            </m:fName>
                            <m:e>
                              <m:rad>
                                <m:radPr>
                                  <m:degHide m:val="on"/>
                                  <m:ctrlPr>
                                    <a:rPr kumimoji="1" lang="en-US" altLang="zh-CN" sz="2200" i="1" dirty="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sym typeface="+mn-ea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1" lang="en-US" altLang="zh-CN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  <m:t>𝑦</m:t>
                                      </m:r>
                                    </m:num>
                                    <m:den>
                                      <m:r>
                                        <a:rPr kumimoji="1" lang="zh-CN" altLang="en-US" sz="2200" i="1" dirty="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sym typeface="+mn-ea"/>
                                        </a:rPr>
                                        <m:t>𝑙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func>
                          <m:r>
                            <a:rPr kumimoji="1" lang="en-US" altLang="zh-CN" sz="22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+mn-ea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kumimoji="1" lang="en-US" altLang="zh-CN" sz="2200" i="1" dirty="0">
                  <a:latin typeface="Cambria Math" panose="02040503050406030204" pitchFamily="18" charset="0"/>
                  <a:ea typeface="黑体" panose="02010609060101010101" pitchFamily="49" charset="-122"/>
                  <a:sym typeface="+mn-ea"/>
                </a:endParaRPr>
              </a:p>
            </p:txBody>
          </p:sp>
        </mc:Choice>
        <mc:Fallback xmlns="">
          <p:sp>
            <p:nvSpPr>
              <p:cNvPr id="16399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5716" y="1500901"/>
                <a:ext cx="5457825" cy="111593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Rectangle 1"/>
          <p:cNvSpPr/>
          <p:nvPr/>
        </p:nvSpPr>
        <p:spPr>
          <a:xfrm flipV="1">
            <a:off x="2121536" y="2668270"/>
            <a:ext cx="7924800" cy="69318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477839" y="4059374"/>
            <a:ext cx="3772535" cy="1197610"/>
            <a:chOff x="6313" y="6189"/>
            <a:chExt cx="5941" cy="188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4" name="Object 10"/>
                <p:cNvSpPr txBox="1"/>
                <p:nvPr/>
              </p:nvSpPr>
              <p:spPr bwMode="auto">
                <a:xfrm>
                  <a:off x="6313" y="6189"/>
                  <a:ext cx="5941" cy="1886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lvl="0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𝑣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 = 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=−</m:t>
                        </m:r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 sz="2200" i="1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g</m:t>
                                </m:r>
                                <m:r>
                                  <a:rPr kumimoji="1" lang="en-US" altLang="zh-CN" sz="2200" b="0" i="1" dirty="0" smtClean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 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𝑅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(</m:t>
                                </m:r>
                                <m:r>
                                  <a:rPr kumimoji="1" lang="zh-CN" altLang="en-US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−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𝑅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kumimoji="1" lang="en-US" altLang="zh-CN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den>
                            </m:f>
                          </m:e>
                        </m:ra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 ,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94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13" y="6189"/>
                  <a:ext cx="5941" cy="188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本框 10"/>
            <p:cNvSpPr txBox="1"/>
            <p:nvPr/>
          </p:nvSpPr>
          <p:spPr>
            <a:xfrm>
              <a:off x="6985" y="6333"/>
              <a:ext cx="1067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521971" y="5096202"/>
            <a:ext cx="5935345" cy="1316355"/>
            <a:chOff x="6817" y="7710"/>
            <a:chExt cx="9347" cy="20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93" name="Object 9"/>
                <p:cNvSpPr txBox="1"/>
                <p:nvPr/>
              </p:nvSpPr>
              <p:spPr bwMode="auto">
                <a:xfrm>
                  <a:off x="6817" y="7710"/>
                  <a:ext cx="9347" cy="2073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𝑡</m:t>
                        </m:r>
                        <m:sSub>
                          <m:sSub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sSubPr>
                          <m:e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|</m:t>
                            </m:r>
                          </m:e>
                          <m:sub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𝑦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 = </m:t>
                            </m:r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=</m:t>
                        </m:r>
                        <m:f>
                          <m:fPr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fPr>
                          <m:num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𝑅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zh-CN" sz="2200" i="1" dirty="0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</m:num>
                              <m:den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kumimoji="1" lang="en-US" altLang="zh-CN" sz="2200" i="1" dirty="0">
                                    <a:solidFill>
                                      <a:schemeClr val="tx1">
                                        <a:lumMod val="95000"/>
                                        <a:lumOff val="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g</m:t>
                                </m:r>
                              </m:den>
                            </m:f>
                          </m:e>
                        </m:rad>
                        <m:d>
                          <m:dPr>
                            <m:begChr m:val="["/>
                            <m:endChr m:val="]"/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kumimoji="1" lang="zh-CN" altLang="en-US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𝑙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𝑅</m:t>
                                </m:r>
                                <m: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kumimoji="1" lang="en-US" altLang="zh-CN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+</m:t>
                            </m:r>
                            <m:r>
                              <a:rPr kumimoji="1" lang="zh-CN" altLang="en-US" sz="2200" i="1" dirty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sym typeface="+mn-ea"/>
                              </a:rPr>
                              <m:t>𝑙</m:t>
                            </m:r>
                            <m:func>
                              <m:funcPr>
                                <m:ctrl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kumimoji="1" lang="en-US" altLang="zh-CN" sz="2200" i="1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  <a:sym typeface="+mn-ea"/>
                                  </a:rPr>
                                  <m:t>arccos</m:t>
                                </m:r>
                              </m:fName>
                              <m:e>
                                <m:rad>
                                  <m:radPr>
                                    <m:degHide m:val="on"/>
                                    <m:ctrlPr>
                                      <a:rPr kumimoji="1" lang="en-US" altLang="zh-CN" sz="2200" i="1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  <a:sym typeface="+mn-ea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sym typeface="+mn-ea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1" lang="en-US" altLang="zh-CN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sym typeface="+mn-ea"/>
                                          </a:rPr>
                                          <m:t>𝑅</m:t>
                                        </m:r>
                                      </m:num>
                                      <m:den>
                                        <m:r>
                                          <a:rPr kumimoji="1" lang="zh-CN" altLang="en-US" sz="2200" i="1" dirty="0">
                                            <a:latin typeface="Cambria Math" panose="02040503050406030204" pitchFamily="18" charset="0"/>
                                            <a:ea typeface="黑体" panose="02010609060101010101" pitchFamily="49" charset="-122"/>
                                            <a:sym typeface="+mn-ea"/>
                                          </a:rPr>
                                          <m:t>𝑙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func>
                          </m:e>
                        </m:d>
                        <m:r>
                          <a:rPr kumimoji="1" lang="en-US" altLang="zh-CN" sz="22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sym typeface="+mn-ea"/>
                          </a:rPr>
                          <m:t>.</m:t>
                        </m:r>
                      </m:oMath>
                    </m:oMathPara>
                  </a14:m>
                  <a:endParaRPr kumimoji="1" lang="en-US" altLang="zh-CN" sz="2200" i="1" dirty="0">
                    <a:latin typeface="Cambria Math" panose="02040503050406030204" pitchFamily="18" charset="0"/>
                    <a:ea typeface="黑体" panose="02010609060101010101" pitchFamily="49" charset="-122"/>
                    <a:sym typeface="+mn-ea"/>
                  </a:endParaRPr>
                </a:p>
              </p:txBody>
            </p:sp>
          </mc:Choice>
          <mc:Fallback xmlns="">
            <p:sp>
              <p:nvSpPr>
                <p:cNvPr id="16393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817" y="7710"/>
                  <a:ext cx="9347" cy="2073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文本框 4"/>
            <p:cNvSpPr txBox="1"/>
            <p:nvPr/>
          </p:nvSpPr>
          <p:spPr>
            <a:xfrm>
              <a:off x="8280" y="8906"/>
              <a:ext cx="564" cy="6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QxOTAzMDA0MDE2MDZmODIxZGJjN2YzMTM4MTRjNWMifQ=="/>
  <p:tag name="KSO_WPP_MARK_KEY" val="ad30aad8-3fb9-4028-9ae5-9feb100392a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1437</Words>
  <Application>Microsoft Office PowerPoint</Application>
  <PresentationFormat>宽屏</PresentationFormat>
  <Paragraphs>258</Paragraphs>
  <Slides>21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Calisto MT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HEP</dc:creator>
  <cp:lastModifiedBy>yang fan</cp:lastModifiedBy>
  <cp:revision>365</cp:revision>
  <dcterms:created xsi:type="dcterms:W3CDTF">2022-03-21T05:54:00Z</dcterms:created>
  <dcterms:modified xsi:type="dcterms:W3CDTF">2023-07-05T08:25:38Z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05DDB25683624C01A39EF487126834EB</vt:lpwstr>
  </property>
  <property fmtid="{D5CDD505-2E9C-101B-9397-08002B2CF9AE}" pid="3" name="KSOProductBuildVer">
    <vt:lpwstr>2052-11.1.0.11830</vt:lpwstr>
  </property>
</Properties>
</file>