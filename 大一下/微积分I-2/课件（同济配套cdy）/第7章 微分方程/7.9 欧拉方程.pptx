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2"/>
    <p:sldId id="679" r:id="rId3"/>
    <p:sldId id="664" r:id="rId4"/>
    <p:sldId id="665" r:id="rId5"/>
    <p:sldId id="264" r:id="rId6"/>
    <p:sldId id="717" r:id="rId7"/>
    <p:sldId id="740" r:id="rId8"/>
    <p:sldId id="741" r:id="rId9"/>
    <p:sldId id="742" r:id="rId10"/>
    <p:sldId id="743" r:id="rId11"/>
    <p:sldId id="364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7">
          <p15:clr>
            <a:srgbClr val="A4A3A4"/>
          </p15:clr>
        </p15:guide>
        <p15:guide id="2" orient="horz" pos="23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D1C0"/>
    <a:srgbClr val="3333CC"/>
    <a:srgbClr val="335AE6"/>
    <a:srgbClr val="4A7BA8"/>
    <a:srgbClr val="EEF9FE"/>
    <a:srgbClr val="04926A"/>
    <a:srgbClr val="019B4E"/>
    <a:srgbClr val="1D9D79"/>
    <a:srgbClr val="BBBBBB"/>
    <a:srgbClr val="E3F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960" autoAdjust="0"/>
    <p:restoredTop sz="97078" autoAdjust="0"/>
  </p:normalViewPr>
  <p:slideViewPr>
    <p:cSldViewPr snapToGrid="0" showGuides="1">
      <p:cViewPr>
        <p:scale>
          <a:sx n="100" d="100"/>
          <a:sy n="100" d="100"/>
        </p:scale>
        <p:origin x="474" y="336"/>
      </p:cViewPr>
      <p:guideLst>
        <p:guide pos="3847"/>
        <p:guide orient="horz" pos="23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10114638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85" y="6435090"/>
            <a:ext cx="183451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欧拉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 flipV="1">
            <a:off x="2139249" y="6575400"/>
            <a:ext cx="10116000" cy="12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0" y="217369"/>
            <a:ext cx="9900000" cy="28338"/>
          </a:xfrm>
          <a:prstGeom prst="line">
            <a:avLst/>
          </a:prstGeom>
          <a:ln w="0"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387590" y="112357"/>
            <a:ext cx="158559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第七章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456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2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20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3.png"/><Relationship Id="rId5" Type="http://schemas.openxmlformats.org/officeDocument/2006/relationships/image" Target="../media/image36.png"/><Relationship Id="rId10" Type="http://schemas.openxmlformats.org/officeDocument/2006/relationships/image" Target="../media/image42.png"/><Relationship Id="rId4" Type="http://schemas.openxmlformats.org/officeDocument/2006/relationships/image" Target="../media/image34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>
            <a:extLst>
              <a:ext uri="{FF2B5EF4-FFF2-40B4-BE49-F238E27FC236}">
                <a16:creationId xmlns:a16="http://schemas.microsoft.com/office/drawing/2014/main" id="{7E27F1AC-AD87-4217-935F-6A5D24FFC9D3}"/>
              </a:ext>
            </a:extLst>
          </p:cNvPr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3397C8-B2D9-4E67-AF1E-E82D608FF52A}"/>
              </a:ext>
            </a:extLst>
          </p:cNvPr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A78A399D-A9FF-4852-908C-0BB3167A460B}"/>
              </a:ext>
            </a:extLst>
          </p:cNvPr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0EBEB345-2912-4E4B-832E-6FF90E594A59}"/>
              </a:ext>
            </a:extLst>
          </p:cNvPr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533888-24AB-4B09-992C-9E7FBB903E1A}"/>
              </a:ext>
            </a:extLst>
          </p:cNvPr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  <p:extLst>
      <p:ext uri="{BB962C8B-B14F-4D97-AF65-F5344CB8AC3E}">
        <p14:creationId xmlns:p14="http://schemas.microsoft.com/office/powerpoint/2010/main" val="117059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604010" y="4450080"/>
            <a:ext cx="2087880" cy="1557020"/>
            <a:chOff x="3633" y="6990"/>
            <a:chExt cx="3288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1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实际问题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169" y="8068"/>
              <a:ext cx="2216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400" b="1" dirty="0">
                  <a:sym typeface="+mn-ea"/>
                </a:rPr>
                <a:t>函数关系</a:t>
              </a:r>
              <a:endParaRPr lang="zh-CN" altLang="en-US" sz="2400" b="1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137660" y="4450080"/>
            <a:ext cx="2795905" cy="1560474"/>
            <a:chOff x="7155" y="6949"/>
            <a:chExt cx="4403" cy="2457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36" y="6184"/>
              <a:ext cx="2041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8246" y="6949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285" y="7876"/>
              <a:ext cx="4144" cy="13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含有未知函数及其</a:t>
              </a:r>
            </a:p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导数的等式</a:t>
              </a:r>
              <a:endParaRPr lang="zh-CN" altLang="en-US" sz="2400" b="1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378065" y="4450080"/>
            <a:ext cx="2771775" cy="1558568"/>
            <a:chOff x="7484" y="6949"/>
            <a:chExt cx="4365" cy="2454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6" y="6200"/>
              <a:ext cx="2041" cy="43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077" y="6949"/>
              <a:ext cx="3399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微分方程求解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077" y="8020"/>
              <a:ext cx="3180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400" b="1" dirty="0">
                  <a:sym typeface="+mn-ea"/>
                </a:rPr>
                <a:t>找到未知函数</a:t>
              </a:r>
              <a:endParaRPr lang="zh-CN" altLang="en-US" sz="2400" b="1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3445510" y="884555"/>
            <a:ext cx="59334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kumimoji="1"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53060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66686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869721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7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C</a:t>
            </a:r>
            <a:r>
              <a:rPr kumimoji="1" lang="en-GB" altLang="zh-CN" sz="3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747135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目  录</a:t>
            </a:r>
            <a:endParaRPr kumimoji="1" lang="zh-CN" altLang="en-US" sz="40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07356" y="922003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295793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C7C089F8-CC2D-1861-5E21-18BBB5F858D0}"/>
              </a:ext>
            </a:extLst>
          </p:cNvPr>
          <p:cNvSpPr/>
          <p:nvPr/>
        </p:nvSpPr>
        <p:spPr>
          <a:xfrm>
            <a:off x="705485" y="2703195"/>
            <a:ext cx="43103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微分方程的基本概念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19E42B-419D-2F0A-4A66-E6FBAA7AC215}"/>
              </a:ext>
            </a:extLst>
          </p:cNvPr>
          <p:cNvSpPr/>
          <p:nvPr/>
        </p:nvSpPr>
        <p:spPr>
          <a:xfrm>
            <a:off x="705485" y="3399790"/>
            <a:ext cx="33134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齐次方程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8415B3-7AE5-8C08-DDD0-C706CBE57836}"/>
              </a:ext>
            </a:extLst>
          </p:cNvPr>
          <p:cNvSpPr/>
          <p:nvPr/>
        </p:nvSpPr>
        <p:spPr>
          <a:xfrm>
            <a:off x="5906135" y="2703195"/>
            <a:ext cx="53079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可分离变量的微分方程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BF91A5-9B7A-4196-A369-3AF9980F63C4}"/>
              </a:ext>
            </a:extLst>
          </p:cNvPr>
          <p:cNvSpPr/>
          <p:nvPr/>
        </p:nvSpPr>
        <p:spPr>
          <a:xfrm>
            <a:off x="5906046" y="3397754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一阶线性微分方程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5FB52C-0FA5-BA75-9D97-D89AFE822F96}"/>
              </a:ext>
            </a:extLst>
          </p:cNvPr>
          <p:cNvSpPr/>
          <p:nvPr/>
        </p:nvSpPr>
        <p:spPr>
          <a:xfrm>
            <a:off x="705172" y="414197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可降解的高阶微分方程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5164A2-8DFC-0516-B44F-BC507E5D016F}"/>
              </a:ext>
            </a:extLst>
          </p:cNvPr>
          <p:cNvSpPr/>
          <p:nvPr/>
        </p:nvSpPr>
        <p:spPr>
          <a:xfrm>
            <a:off x="705485" y="4850130"/>
            <a:ext cx="51663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常系数齐次线性微分方程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405AC9-3AE9-C8B8-E88A-9F06DB9030E3}"/>
              </a:ext>
            </a:extLst>
          </p:cNvPr>
          <p:cNvSpPr/>
          <p:nvPr/>
        </p:nvSpPr>
        <p:spPr>
          <a:xfrm>
            <a:off x="5906135" y="4142105"/>
            <a:ext cx="49669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高阶线性微分方程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EB8BAB-CE62-50C6-9A12-0E5613FDBB6A}"/>
              </a:ext>
            </a:extLst>
          </p:cNvPr>
          <p:cNvSpPr/>
          <p:nvPr/>
        </p:nvSpPr>
        <p:spPr>
          <a:xfrm>
            <a:off x="5906135" y="4844415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常系数非齐次线性微分方程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48A421-A6B5-7F0E-D964-9CC10A098261}"/>
              </a:ext>
            </a:extLst>
          </p:cNvPr>
          <p:cNvSpPr/>
          <p:nvPr/>
        </p:nvSpPr>
        <p:spPr>
          <a:xfrm>
            <a:off x="579755" y="5603875"/>
            <a:ext cx="49060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第九节   欧拉方程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F7CE23B-A6EC-C2E3-19C2-76156EE39F30}"/>
              </a:ext>
            </a:extLst>
          </p:cNvPr>
          <p:cNvSpPr/>
          <p:nvPr/>
        </p:nvSpPr>
        <p:spPr>
          <a:xfrm>
            <a:off x="5768975" y="5603875"/>
            <a:ext cx="58032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常系数线性微分方程组解法举例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807535"/>
            <a:ext cx="11536045" cy="3891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4387270" y="705836"/>
            <a:ext cx="3501280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第九节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欧拉方程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94EF04B-613F-D018-B7A9-23C9FD7BCF92}"/>
              </a:ext>
            </a:extLst>
          </p:cNvPr>
          <p:cNvGrpSpPr/>
          <p:nvPr/>
        </p:nvGrpSpPr>
        <p:grpSpPr>
          <a:xfrm>
            <a:off x="3949383" y="2527935"/>
            <a:ext cx="4377055" cy="901065"/>
            <a:chOff x="5061" y="3172"/>
            <a:chExt cx="6893" cy="1419"/>
          </a:xfrm>
        </p:grpSpPr>
        <p:sp>
          <p:nvSpPr>
            <p:cNvPr id="8" name="矩形: 圆角 40">
              <a:extLst>
                <a:ext uri="{FF2B5EF4-FFF2-40B4-BE49-F238E27FC236}">
                  <a16:creationId xmlns:a16="http://schemas.microsoft.com/office/drawing/2014/main" id="{4F17D074-7FBE-B5B8-BA65-AD31854300E8}"/>
                </a:ext>
              </a:extLst>
            </p:cNvPr>
            <p:cNvSpPr/>
            <p:nvPr/>
          </p:nvSpPr>
          <p:spPr>
            <a:xfrm flipV="1">
              <a:off x="5061" y="3172"/>
              <a:ext cx="6893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617C37B-1329-71E7-F5B7-13B9CBAD8C10}"/>
                </a:ext>
              </a:extLst>
            </p:cNvPr>
            <p:cNvSpPr/>
            <p:nvPr/>
          </p:nvSpPr>
          <p:spPr>
            <a:xfrm>
              <a:off x="6108" y="3470"/>
              <a:ext cx="2722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定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义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440839C-8650-9BA8-0849-A9C28B188094}"/>
              </a:ext>
            </a:extLst>
          </p:cNvPr>
          <p:cNvGrpSpPr/>
          <p:nvPr/>
        </p:nvGrpSpPr>
        <p:grpSpPr>
          <a:xfrm>
            <a:off x="3949383" y="4067038"/>
            <a:ext cx="4377055" cy="901065"/>
            <a:chOff x="5061" y="5187"/>
            <a:chExt cx="6893" cy="1419"/>
          </a:xfrm>
        </p:grpSpPr>
        <p:sp>
          <p:nvSpPr>
            <p:cNvPr id="12" name="矩形: 圆角 40">
              <a:extLst>
                <a:ext uri="{FF2B5EF4-FFF2-40B4-BE49-F238E27FC236}">
                  <a16:creationId xmlns:a16="http://schemas.microsoft.com/office/drawing/2014/main" id="{0E23C850-1E81-1882-C298-41BE7B747BF3}"/>
                </a:ext>
              </a:extLst>
            </p:cNvPr>
            <p:cNvSpPr/>
            <p:nvPr/>
          </p:nvSpPr>
          <p:spPr>
            <a:xfrm flipV="1">
              <a:off x="5061" y="5187"/>
              <a:ext cx="6893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/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D491C76-A6A9-F9C5-91AE-D01B8EC620E6}"/>
                </a:ext>
              </a:extLst>
            </p:cNvPr>
            <p:cNvSpPr/>
            <p:nvPr/>
          </p:nvSpPr>
          <p:spPr>
            <a:xfrm>
              <a:off x="6108" y="5485"/>
              <a:ext cx="4249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lang="zh-CN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解法和举例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1"/>
          <p:cNvSpPr/>
          <p:nvPr/>
        </p:nvSpPr>
        <p:spPr>
          <a:xfrm>
            <a:off x="1211580" y="1460500"/>
            <a:ext cx="10104120" cy="1846580"/>
          </a:xfrm>
          <a:prstGeom prst="rect">
            <a:avLst/>
          </a:prstGeom>
          <a:solidFill>
            <a:srgbClr val="03946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862965" y="610996"/>
            <a:ext cx="2413635" cy="772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 定义</a:t>
            </a:r>
          </a:p>
        </p:txBody>
      </p:sp>
      <p:sp>
        <p:nvSpPr>
          <p:cNvPr id="5" name="Text Box 130"/>
          <p:cNvSpPr txBox="1">
            <a:spLocks noChangeArrowheads="1"/>
          </p:cNvSpPr>
          <p:nvPr/>
        </p:nvSpPr>
        <p:spPr bwMode="auto">
          <a:xfrm>
            <a:off x="2318888" y="2702804"/>
            <a:ext cx="3936634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的方程称为欧拉方程</a:t>
            </a:r>
          </a:p>
        </p:txBody>
      </p:sp>
      <p:sp>
        <p:nvSpPr>
          <p:cNvPr id="10" name="AutoShape 135"/>
          <p:cNvSpPr>
            <a:spLocks noChangeArrowheads="1"/>
          </p:cNvSpPr>
          <p:nvPr/>
        </p:nvSpPr>
        <p:spPr bwMode="auto">
          <a:xfrm>
            <a:off x="6805297" y="4368653"/>
            <a:ext cx="2466432" cy="533400"/>
          </a:xfrm>
          <a:prstGeom prst="wedgeRectCallout">
            <a:avLst>
              <a:gd name="adj1" fmla="val -97014"/>
              <a:gd name="adj2" fmla="val 24060"/>
            </a:avLst>
          </a:prstGeom>
          <a:solidFill>
            <a:srgbClr val="96D1C0"/>
          </a:solidFill>
          <a:ln w="9525">
            <a:noFill/>
            <a:miter lim="800000"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二阶欧拉方程</a:t>
            </a:r>
          </a:p>
        </p:txBody>
      </p:sp>
      <p:sp>
        <p:nvSpPr>
          <p:cNvPr id="12" name="AutoShape 137"/>
          <p:cNvSpPr>
            <a:spLocks noChangeArrowheads="1"/>
          </p:cNvSpPr>
          <p:nvPr/>
        </p:nvSpPr>
        <p:spPr bwMode="auto">
          <a:xfrm>
            <a:off x="8350341" y="5338377"/>
            <a:ext cx="2561663" cy="533400"/>
          </a:xfrm>
          <a:prstGeom prst="wedgeRectCallout">
            <a:avLst>
              <a:gd name="adj1" fmla="val -81058"/>
              <a:gd name="adj2" fmla="val -17149"/>
            </a:avLst>
          </a:prstGeom>
          <a:solidFill>
            <a:srgbClr val="96D1C0"/>
          </a:solidFill>
          <a:ln w="9525">
            <a:noFill/>
            <a:miter lim="800000"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三阶欧拉方程</a:t>
            </a:r>
          </a:p>
        </p:txBody>
      </p:sp>
      <p:sp>
        <p:nvSpPr>
          <p:cNvPr id="16" name="矩形 15"/>
          <p:cNvSpPr/>
          <p:nvPr/>
        </p:nvSpPr>
        <p:spPr>
          <a:xfrm>
            <a:off x="2309056" y="1526110"/>
            <a:ext cx="894080" cy="52197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形如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862965" y="1858645"/>
            <a:ext cx="1035050" cy="899160"/>
            <a:chOff x="1359" y="3287"/>
            <a:chExt cx="1630" cy="1416"/>
          </a:xfrm>
        </p:grpSpPr>
        <p:sp>
          <p:nvSpPr>
            <p:cNvPr id="57" name="PA-102231"/>
            <p:cNvSpPr/>
            <p:nvPr>
              <p:custDataLst>
                <p:tags r:id="rId1"/>
              </p:custDataLst>
            </p:nvPr>
          </p:nvSpPr>
          <p:spPr>
            <a:xfrm>
              <a:off x="1359" y="3287"/>
              <a:ext cx="1631" cy="1417"/>
            </a:xfrm>
            <a:prstGeom prst="rect">
              <a:avLst/>
            </a:prstGeom>
            <a:solidFill>
              <a:schemeClr val="bg1"/>
            </a:solidFill>
            <a:ln w="19050">
              <a:gradFill>
                <a:gsLst>
                  <a:gs pos="5000">
                    <a:srgbClr val="17A45E"/>
                  </a:gs>
                  <a:gs pos="56000">
                    <a:srgbClr val="039267"/>
                  </a:gs>
                  <a:gs pos="100000">
                    <a:srgbClr val="068983"/>
                  </a:gs>
                </a:gsLst>
                <a:lin ang="10800000" scaled="0"/>
              </a:gradFill>
            </a:ln>
            <a:effectLst>
              <a:outerShdw blurRad="203200" dist="63500" dir="3000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n>
                  <a:solidFill>
                    <a:schemeClr val="bg1">
                      <a:lumMod val="95000"/>
                    </a:schemeClr>
                  </a:solidFill>
                </a:ln>
                <a:cs typeface="+mn-ea"/>
                <a:sym typeface="+mn-lt"/>
              </a:endParaRPr>
            </a:p>
          </p:txBody>
        </p:sp>
        <p:sp>
          <p:nvSpPr>
            <p:cNvPr id="58" name="Rectangle 167"/>
            <p:cNvSpPr>
              <a:spLocks noChangeArrowheads="1"/>
            </p:cNvSpPr>
            <p:nvPr/>
          </p:nvSpPr>
          <p:spPr bwMode="auto">
            <a:xfrm>
              <a:off x="1621" y="3657"/>
              <a:ext cx="1120" cy="67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定义</a:t>
              </a:r>
              <a:endPara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08860" y="2090420"/>
            <a:ext cx="8441690" cy="650093"/>
            <a:chOff x="3336" y="3652"/>
            <a:chExt cx="13294" cy="11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16"/>
                <p:cNvSpPr txBox="1"/>
                <p:nvPr/>
              </p:nvSpPr>
              <p:spPr>
                <a:xfrm>
                  <a:off x="3336" y="3652"/>
                  <a:ext cx="13294" cy="119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−1)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+⋯+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6" name="对象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6" y="3652"/>
                  <a:ext cx="13294" cy="119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15847" y="3824"/>
              <a:ext cx="356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683557" y="2669149"/>
            <a:ext cx="4970780" cy="706120"/>
            <a:chOff x="8635" y="4455"/>
            <a:chExt cx="7828" cy="11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3"/>
                <p:cNvSpPr txBox="1"/>
                <p:nvPr/>
              </p:nvSpPr>
              <p:spPr>
                <a:xfrm>
                  <a:off x="8635" y="4455"/>
                  <a:ext cx="7829" cy="1112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其中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…</m:t>
                        </m:r>
                        <m:r>
                          <a:rPr kumimoji="1" lang="en-US" altLang="zh-CN" sz="28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为常数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5" y="4455"/>
                  <a:ext cx="7829" cy="111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15461" y="4828"/>
              <a:ext cx="386" cy="3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308860" y="4375559"/>
            <a:ext cx="3458210" cy="626745"/>
            <a:chOff x="3336" y="6266"/>
            <a:chExt cx="5446" cy="9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对象 13"/>
                <p:cNvSpPr txBox="1"/>
                <p:nvPr/>
              </p:nvSpPr>
              <p:spPr>
                <a:xfrm>
                  <a:off x="3336" y="6266"/>
                  <a:ext cx="5447" cy="7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=0,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" name="对象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6" y="6266"/>
                  <a:ext cx="5447" cy="720"/>
                </a:xfrm>
                <a:prstGeom prst="rect">
                  <a:avLst/>
                </a:prstGeom>
                <a:blipFill>
                  <a:blip r:embed="rId5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/>
            <p:cNvSpPr/>
            <p:nvPr/>
          </p:nvSpPr>
          <p:spPr>
            <a:xfrm>
              <a:off x="5081" y="7129"/>
              <a:ext cx="309" cy="1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808480" y="5291229"/>
            <a:ext cx="5961380" cy="457200"/>
            <a:chOff x="2548" y="7708"/>
            <a:chExt cx="9388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对象 14"/>
                <p:cNvSpPr txBox="1"/>
                <p:nvPr/>
              </p:nvSpPr>
              <p:spPr>
                <a:xfrm>
                  <a:off x="3336" y="7708"/>
                  <a:ext cx="8601" cy="7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‴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+2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−2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+3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dirty="0">
                    <a:latin typeface="Cambria" panose="02040503050406030204" charset="0"/>
                    <a:ea typeface="黑体" panose="02010609060101010101" pitchFamily="49" charset="-122"/>
                    <a:cs typeface="Cambria" panose="02040503050406030204" charset="0"/>
                  </a:endParaRPr>
                </a:p>
              </p:txBody>
            </p:sp>
          </mc:Choice>
          <mc:Fallback xmlns="">
            <p:sp>
              <p:nvSpPr>
                <p:cNvPr id="15" name="对象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6" y="7708"/>
                  <a:ext cx="8601" cy="72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矩形 18"/>
            <p:cNvSpPr/>
            <p:nvPr/>
          </p:nvSpPr>
          <p:spPr>
            <a:xfrm>
              <a:off x="2548" y="7964"/>
              <a:ext cx="263" cy="3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9BBB16B-C659-F2D8-DD24-4D3E298E5050}"/>
              </a:ext>
            </a:extLst>
          </p:cNvPr>
          <p:cNvGrpSpPr/>
          <p:nvPr/>
        </p:nvGrpSpPr>
        <p:grpSpPr>
          <a:xfrm>
            <a:off x="909133" y="3750310"/>
            <a:ext cx="974725" cy="449580"/>
            <a:chOff x="1553" y="3802"/>
            <a:chExt cx="1535" cy="708"/>
          </a:xfrm>
        </p:grpSpPr>
        <p:sp>
          <p:nvSpPr>
            <p:cNvPr id="25" name="圆角矩形 57">
              <a:extLst>
                <a:ext uri="{FF2B5EF4-FFF2-40B4-BE49-F238E27FC236}">
                  <a16:creationId xmlns:a16="http://schemas.microsoft.com/office/drawing/2014/main" id="{039652F1-516A-D6EA-BC2C-37A77E15EB44}"/>
                </a:ext>
              </a:extLst>
            </p:cNvPr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Text Box 28">
              <a:extLst>
                <a:ext uri="{FF2B5EF4-FFF2-40B4-BE49-F238E27FC236}">
                  <a16:creationId xmlns:a16="http://schemas.microsoft.com/office/drawing/2014/main" id="{F4B0459C-65EF-C831-2A1D-1DA311021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" grpId="0"/>
      <p:bldP spid="10" grpId="0" animBg="1"/>
      <p:bldP spid="12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32130" y="720725"/>
            <a:ext cx="11149330" cy="5428615"/>
            <a:chOff x="838" y="1134"/>
            <a:chExt cx="17558" cy="8549"/>
          </a:xfrm>
        </p:grpSpPr>
        <p:sp>
          <p:nvSpPr>
            <p:cNvPr id="56" name="PA-102232"/>
            <p:cNvSpPr/>
            <p:nvPr>
              <p:custDataLst>
                <p:tags r:id="rId1"/>
              </p:custDataLst>
            </p:nvPr>
          </p:nvSpPr>
          <p:spPr>
            <a:xfrm>
              <a:off x="838" y="1134"/>
              <a:ext cx="17524" cy="85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sp>
          <p:nvSpPr>
            <p:cNvPr id="57" name="Rectangle 1"/>
            <p:cNvSpPr/>
            <p:nvPr/>
          </p:nvSpPr>
          <p:spPr>
            <a:xfrm>
              <a:off x="9602" y="9583"/>
              <a:ext cx="8794" cy="101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/>
            <p:cNvSpPr/>
            <p:nvPr/>
          </p:nvSpPr>
          <p:spPr>
            <a:xfrm>
              <a:off x="5321" y="9583"/>
              <a:ext cx="4286" cy="83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0492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/>
            <p:cNvSpPr/>
            <p:nvPr/>
          </p:nvSpPr>
          <p:spPr>
            <a:xfrm>
              <a:off x="838" y="9583"/>
              <a:ext cx="4483" cy="83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Text Box 80"/>
          <p:cNvSpPr txBox="1">
            <a:spLocks noChangeArrowheads="1"/>
          </p:cNvSpPr>
          <p:nvPr/>
        </p:nvSpPr>
        <p:spPr bwMode="auto">
          <a:xfrm>
            <a:off x="4789805" y="1706826"/>
            <a:ext cx="1219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</a:p>
        </p:txBody>
      </p:sp>
      <p:sp>
        <p:nvSpPr>
          <p:cNvPr id="6" name="Text Box 83"/>
          <p:cNvSpPr txBox="1">
            <a:spLocks noChangeArrowheads="1"/>
          </p:cNvSpPr>
          <p:nvPr/>
        </p:nvSpPr>
        <p:spPr bwMode="auto">
          <a:xfrm>
            <a:off x="2676547" y="3827328"/>
            <a:ext cx="2133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类似地可得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4237E24-B608-0C70-9737-D9573E90B636}"/>
              </a:ext>
            </a:extLst>
          </p:cNvPr>
          <p:cNvGrpSpPr/>
          <p:nvPr/>
        </p:nvGrpSpPr>
        <p:grpSpPr>
          <a:xfrm>
            <a:off x="2646654" y="1516326"/>
            <a:ext cx="2474717" cy="637191"/>
            <a:chOff x="1833854" y="1516326"/>
            <a:chExt cx="2474717" cy="637191"/>
          </a:xfrm>
        </p:grpSpPr>
        <p:sp>
          <p:nvSpPr>
            <p:cNvPr id="13" name="Text Box 74"/>
            <p:cNvSpPr txBox="1">
              <a:spLocks noChangeArrowheads="1"/>
            </p:cNvSpPr>
            <p:nvPr/>
          </p:nvSpPr>
          <p:spPr bwMode="auto">
            <a:xfrm>
              <a:off x="1833854" y="1722630"/>
              <a:ext cx="1313424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2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作变换</a:t>
              </a: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2921096" y="1516326"/>
              <a:ext cx="1387475" cy="634365"/>
              <a:chOff x="4736" y="1600"/>
              <a:chExt cx="2185" cy="9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对象 1"/>
                  <p:cNvSpPr txBox="1"/>
                  <p:nvPr/>
                </p:nvSpPr>
                <p:spPr>
                  <a:xfrm>
                    <a:off x="4736" y="1919"/>
                    <a:ext cx="2185" cy="680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,</m:t>
                          </m:r>
                        </m:oMath>
                      </m:oMathPara>
                    </a14:m>
                    <a:endParaRPr kumimoji="1" lang="en-US" altLang="zh-CN" sz="2200" dirty="0">
                      <a:latin typeface="Cambria Math" panose="02040503050406030204" charset="0"/>
                      <a:ea typeface="MS Mincho" panose="02020609040205080304" charset="-128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10" name="对象 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36" y="1919"/>
                    <a:ext cx="2185" cy="68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" name="矩形 1"/>
              <p:cNvSpPr/>
              <p:nvPr/>
            </p:nvSpPr>
            <p:spPr>
              <a:xfrm>
                <a:off x="5498" y="1600"/>
                <a:ext cx="356" cy="1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>
                  <a:latin typeface="字魂36号-正文宋楷" panose="00000500000000000000" pitchFamily="2" charset="-122"/>
                  <a:ea typeface="字魂36号-正文宋楷" panose="00000500000000000000" pitchFamily="2" charset="-122"/>
                </a:endParaRP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4521931" y="2350081"/>
            <a:ext cx="1449070" cy="1140460"/>
            <a:chOff x="5977" y="2913"/>
            <a:chExt cx="2282" cy="17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75"/>
                <p:cNvSpPr txBox="1"/>
                <p:nvPr/>
              </p:nvSpPr>
              <p:spPr bwMode="auto">
                <a:xfrm>
                  <a:off x="6955" y="2913"/>
                  <a:ext cx="1305" cy="17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" name="Object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55" y="2913"/>
                  <a:ext cx="1305" cy="17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5977" y="3685"/>
              <a:ext cx="494" cy="1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558347" y="2104336"/>
            <a:ext cx="1775460" cy="1430020"/>
            <a:chOff x="7956" y="2526"/>
            <a:chExt cx="2796" cy="22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81"/>
                <p:cNvSpPr txBox="1"/>
                <p:nvPr/>
              </p:nvSpPr>
              <p:spPr bwMode="auto">
                <a:xfrm>
                  <a:off x="7956" y="2922"/>
                  <a:ext cx="2796" cy="185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⋅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6" name="Object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956" y="2922"/>
                  <a:ext cx="2796" cy="185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8835" y="2526"/>
              <a:ext cx="324" cy="2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794057" y="2356414"/>
            <a:ext cx="2652395" cy="777690"/>
            <a:chOff x="9902" y="2932"/>
            <a:chExt cx="4177" cy="19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bject 82"/>
                <p:cNvSpPr txBox="1"/>
                <p:nvPr/>
              </p:nvSpPr>
              <p:spPr bwMode="auto">
                <a:xfrm>
                  <a:off x="9902" y="2932"/>
                  <a:ext cx="4177" cy="19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den>
                        </m:f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5" name="Object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02" y="2932"/>
                  <a:ext cx="4177" cy="196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12943" y="3469"/>
              <a:ext cx="371" cy="3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142961" y="3602301"/>
            <a:ext cx="5137785" cy="1087120"/>
            <a:chOff x="6955" y="4885"/>
            <a:chExt cx="8091" cy="17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84"/>
                <p:cNvSpPr txBox="1"/>
                <p:nvPr/>
              </p:nvSpPr>
              <p:spPr bwMode="auto">
                <a:xfrm>
                  <a:off x="6955" y="4885"/>
                  <a:ext cx="8091" cy="17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d>
                          <m:d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</m:e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" name="Object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55" y="4885"/>
                  <a:ext cx="8091" cy="171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12959" y="5492"/>
              <a:ext cx="494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588510" y="4703445"/>
            <a:ext cx="7009765" cy="972820"/>
            <a:chOff x="5946" y="7407"/>
            <a:chExt cx="11039" cy="15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bject 85"/>
                <p:cNvSpPr txBox="1"/>
                <p:nvPr/>
              </p:nvSpPr>
              <p:spPr bwMode="auto">
                <a:xfrm>
                  <a:off x="6769" y="7675"/>
                  <a:ext cx="10216" cy="12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b="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b="0" i="0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d>
                          <m:d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</m:e>
                                  <m:sup>
                                    <m:r>
                                      <a:rPr kumimoji="1" lang="en-US" altLang="zh-CN" sz="2200" b="0" i="1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kumimoji="1" lang="en-US" altLang="zh-CN" sz="2200" b="0" i="0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−3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</m:e>
                                  <m:sup>
                                    <m:r>
                                      <a:rPr kumimoji="1" lang="en-US" altLang="zh-CN" sz="2200" b="0" i="1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+2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" name="Object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69" y="7675"/>
                  <a:ext cx="10216" cy="1264"/>
                </a:xfrm>
                <a:prstGeom prst="rect">
                  <a:avLst/>
                </a:prstGeom>
                <a:blipFill>
                  <a:blip r:embed="rId8"/>
                  <a:stretch>
                    <a:fillRect b="-75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矩形 21"/>
            <p:cNvSpPr/>
            <p:nvPr/>
          </p:nvSpPr>
          <p:spPr>
            <a:xfrm>
              <a:off x="5946" y="7407"/>
              <a:ext cx="634" cy="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29" name="标题 1">
            <a:extLst>
              <a:ext uri="{FF2B5EF4-FFF2-40B4-BE49-F238E27FC236}">
                <a16:creationId xmlns:a16="http://schemas.microsoft.com/office/drawing/2014/main" id="{F7679BC4-E6A5-EC97-AB99-775A275F1250}"/>
              </a:ext>
            </a:extLst>
          </p:cNvPr>
          <p:cNvSpPr>
            <a:spLocks noGrp="1"/>
          </p:cNvSpPr>
          <p:nvPr/>
        </p:nvSpPr>
        <p:spPr>
          <a:xfrm>
            <a:off x="1675765" y="902044"/>
            <a:ext cx="3159856" cy="6022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 解法和举例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4445"/>
            <a:ext cx="12192000" cy="6858000"/>
            <a:chOff x="0" y="0"/>
            <a:chExt cx="19200" cy="10800"/>
          </a:xfrm>
        </p:grpSpPr>
        <p:sp>
          <p:nvSpPr>
            <p:cNvPr id="16" name="Rectangle 1"/>
            <p:cNvSpPr/>
            <p:nvPr/>
          </p:nvSpPr>
          <p:spPr>
            <a:xfrm>
              <a:off x="0" y="0"/>
              <a:ext cx="19200" cy="108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54" y="310"/>
              <a:ext cx="18493" cy="10167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cs typeface="+mn-ea"/>
                <a:sym typeface="+mn-lt"/>
              </a:endParaRPr>
            </a:p>
          </p:txBody>
        </p:sp>
      </p:grpSp>
      <p:sp>
        <p:nvSpPr>
          <p:cNvPr id="10330" name="Text Box 90"/>
          <p:cNvSpPr txBox="1">
            <a:spLocks noChangeArrowheads="1"/>
          </p:cNvSpPr>
          <p:nvPr/>
        </p:nvSpPr>
        <p:spPr bwMode="auto">
          <a:xfrm>
            <a:off x="1699593" y="1189346"/>
            <a:ext cx="5943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如果采用记号</a:t>
            </a:r>
            <a:r>
              <a:rPr kumimoji="1" lang="en-US" altLang="zh-CN" sz="22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D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表示对</a:t>
            </a:r>
            <a:r>
              <a:rPr kumimoji="1" lang="en-US" altLang="zh-CN" sz="2200" i="1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t 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求导的运算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32" name="Object 92"/>
              <p:cNvSpPr txBox="1"/>
              <p:nvPr/>
            </p:nvSpPr>
            <p:spPr bwMode="auto">
              <a:xfrm>
                <a:off x="6107339" y="978535"/>
                <a:ext cx="842010" cy="84621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332" name="Object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7339" y="978535"/>
                <a:ext cx="842010" cy="8462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34" name="Text Box 94"/>
          <p:cNvSpPr txBox="1">
            <a:spLocks noChangeArrowheads="1"/>
          </p:cNvSpPr>
          <p:nvPr/>
        </p:nvSpPr>
        <p:spPr bwMode="auto">
          <a:xfrm>
            <a:off x="1699593" y="1929587"/>
            <a:ext cx="3352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计算结果可以写成</a:t>
            </a:r>
          </a:p>
        </p:txBody>
      </p:sp>
      <p:sp>
        <p:nvSpPr>
          <p:cNvPr id="10343" name="AutoShape 103"/>
          <p:cNvSpPr>
            <a:spLocks noChangeArrowheads="1"/>
          </p:cNvSpPr>
          <p:nvPr/>
        </p:nvSpPr>
        <p:spPr bwMode="auto">
          <a:xfrm>
            <a:off x="6170188" y="2785567"/>
            <a:ext cx="842010" cy="533400"/>
          </a:xfrm>
          <a:prstGeom prst="rightArrow">
            <a:avLst>
              <a:gd name="adj1" fmla="val 50000"/>
              <a:gd name="adj2" fmla="val 67857"/>
            </a:avLst>
          </a:prstGeom>
          <a:solidFill>
            <a:srgbClr val="1D9D79"/>
          </a:solidFill>
          <a:ln w="9525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103"/>
          <p:cNvSpPr>
            <a:spLocks noChangeArrowheads="1"/>
          </p:cNvSpPr>
          <p:nvPr/>
        </p:nvSpPr>
        <p:spPr bwMode="auto">
          <a:xfrm>
            <a:off x="6170188" y="3886657"/>
            <a:ext cx="842010" cy="533400"/>
          </a:xfrm>
          <a:prstGeom prst="rightArrow">
            <a:avLst>
              <a:gd name="adj1" fmla="val 50000"/>
              <a:gd name="adj2" fmla="val 66071"/>
            </a:avLst>
          </a:prstGeom>
          <a:solidFill>
            <a:srgbClr val="1D9D79"/>
          </a:solidFill>
          <a:ln w="9525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103"/>
          <p:cNvSpPr>
            <a:spLocks noChangeArrowheads="1"/>
          </p:cNvSpPr>
          <p:nvPr/>
        </p:nvSpPr>
        <p:spPr bwMode="auto">
          <a:xfrm>
            <a:off x="6170188" y="5131257"/>
            <a:ext cx="842010" cy="5334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1D9D79"/>
          </a:solidFill>
          <a:ln w="9525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651006" y="918845"/>
            <a:ext cx="2524125" cy="701675"/>
            <a:chOff x="9247" y="1047"/>
            <a:chExt cx="3975" cy="1105"/>
          </a:xfrm>
        </p:grpSpPr>
        <p:sp>
          <p:nvSpPr>
            <p:cNvPr id="10333" name="Text Box 93"/>
            <p:cNvSpPr txBox="1">
              <a:spLocks noChangeArrowheads="1"/>
            </p:cNvSpPr>
            <p:nvPr/>
          </p:nvSpPr>
          <p:spPr bwMode="auto">
            <a:xfrm>
              <a:off x="9247" y="1473"/>
              <a:ext cx="2880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2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rPr>
                <a:t>那么上述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12665" y="1047"/>
              <a:ext cx="557" cy="3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444451" y="2564765"/>
            <a:ext cx="2642235" cy="974090"/>
            <a:chOff x="5081" y="3639"/>
            <a:chExt cx="4161" cy="1534"/>
          </a:xfrm>
        </p:grpSpPr>
        <p:grpSp>
          <p:nvGrpSpPr>
            <p:cNvPr id="10342" name="Group 102"/>
            <p:cNvGrpSpPr/>
            <p:nvPr/>
          </p:nvGrpSpPr>
          <p:grpSpPr bwMode="auto">
            <a:xfrm>
              <a:off x="6100" y="3639"/>
              <a:ext cx="3143" cy="1535"/>
              <a:chOff x="269" y="2736"/>
              <a:chExt cx="1257" cy="6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35" name="Object 95"/>
                  <p:cNvSpPr txBox="1"/>
                  <p:nvPr/>
                </p:nvSpPr>
                <p:spPr bwMode="auto">
                  <a:xfrm>
                    <a:off x="269" y="2736"/>
                    <a:ext cx="410" cy="61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en-US" altLang="zh-CN" sz="2200" i="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oMath>
                      </m:oMathPara>
                    </a14:m>
                    <a:endParaRPr kumimoji="1" lang="en-US" altLang="zh-CN" sz="2200" i="1" dirty="0">
                      <a:latin typeface="Cambria Math" panose="02040503050406030204" pitchFamily="18" charset="0"/>
                      <a:ea typeface="黑体" panose="02010609060101010101" pitchFamily="49" charset="-122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10335" name="Object 9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69" y="2736"/>
                    <a:ext cx="410" cy="61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37" name="Object 97"/>
                  <p:cNvSpPr txBox="1"/>
                  <p:nvPr/>
                </p:nvSpPr>
                <p:spPr bwMode="auto">
                  <a:xfrm>
                    <a:off x="664" y="2736"/>
                    <a:ext cx="862" cy="61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zh-CN" sz="220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f>
                            <m:f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  <m:f>
                            <m:f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den>
                          </m:f>
                          <m:r>
                            <a:rPr kumimoji="1" lang="en-US" altLang="zh-CN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</m:oMath>
                      </m:oMathPara>
                    </a14:m>
                    <a:endParaRPr kumimoji="1" lang="en-US" altLang="zh-CN" sz="2200" i="1" dirty="0">
                      <a:latin typeface="Cambria Math" panose="02040503050406030204" charset="0"/>
                      <a:ea typeface="黑体" panose="02010609060101010101" pitchFamily="49" charset="-122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10337" name="Object 9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64" y="2736"/>
                    <a:ext cx="862" cy="61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圆角矩形 6"/>
            <p:cNvSpPr/>
            <p:nvPr/>
          </p:nvSpPr>
          <p:spPr>
            <a:xfrm>
              <a:off x="5081" y="4089"/>
              <a:ext cx="634" cy="54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169361" y="2792095"/>
            <a:ext cx="2023110" cy="716915"/>
            <a:chOff x="10947" y="3997"/>
            <a:chExt cx="3186" cy="11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44" name="Object 104"/>
                <p:cNvSpPr txBox="1"/>
                <p:nvPr/>
              </p:nvSpPr>
              <p:spPr bwMode="auto">
                <a:xfrm>
                  <a:off x="10947" y="3997"/>
                  <a:ext cx="2967" cy="11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sSup>
                          <m:sSup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D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i="1" dirty="0">
                    <a:solidFill>
                      <a:srgbClr val="000000"/>
                    </a:solidFill>
                    <a:latin typeface="Cambria" panose="02040503050406030204" charset="0"/>
                    <a:cs typeface="Cambria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344" name="Object 1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947" y="3997"/>
                  <a:ext cx="2967" cy="112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13530" y="4167"/>
              <a:ext cx="603" cy="2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189056" y="3652520"/>
            <a:ext cx="3906886" cy="1087120"/>
            <a:chOff x="3104" y="5352"/>
            <a:chExt cx="11824" cy="17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38" name="Object 98"/>
                <p:cNvSpPr txBox="1"/>
                <p:nvPr/>
              </p:nvSpPr>
              <p:spPr bwMode="auto">
                <a:xfrm>
                  <a:off x="5170" y="5352"/>
                  <a:ext cx="9758" cy="17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b="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  <a:ea typeface="MS Mincho" panose="02020609040205080304" charset="-128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d>
                          <m:d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</m:e>
                                  <m:sup>
                                    <m:r>
                                      <a:rPr kumimoji="1" lang="en-US" altLang="zh-CN" sz="2200" b="0" i="1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en-US" sz="22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i="1" dirty="0">
                    <a:solidFill>
                      <a:srgbClr val="000000"/>
                    </a:solidFill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338" name="Object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70" y="5352"/>
                  <a:ext cx="9758" cy="171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3104" y="5912"/>
              <a:ext cx="355" cy="4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169361" y="3571875"/>
            <a:ext cx="4175125" cy="1028700"/>
            <a:chOff x="10947" y="5225"/>
            <a:chExt cx="6575" cy="16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46" name="Object 106"/>
                <p:cNvSpPr txBox="1"/>
                <p:nvPr/>
              </p:nvSpPr>
              <p:spPr bwMode="auto">
                <a:xfrm>
                  <a:off x="10947" y="5225"/>
                  <a:ext cx="6575" cy="1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sz="2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″</m:t>
                            </m:r>
                          </m:sup>
                        </m:sSup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=(</m:t>
                        </m:r>
                        <m:sSup>
                          <m:sSup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CN" altLang="en-US" sz="2200" i="0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zh-CN" altLang="en-US" sz="2200" i="0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D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 </m:t>
                        </m:r>
                      </m:oMath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      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  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altLang="en-US" sz="2200" i="0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D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zh-CN" altLang="en-US" sz="2200" i="0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D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−1)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i="1" dirty="0">
                    <a:solidFill>
                      <a:srgbClr val="000000"/>
                    </a:solidFill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346" name="Object 1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947" y="5225"/>
                  <a:ext cx="6575" cy="16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15847" y="6036"/>
              <a:ext cx="665" cy="2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703192" y="4973320"/>
            <a:ext cx="4630844" cy="974725"/>
            <a:chOff x="2795" y="7432"/>
            <a:chExt cx="10211" cy="21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39" name="Object 99"/>
                <p:cNvSpPr txBox="1"/>
                <p:nvPr/>
              </p:nvSpPr>
              <p:spPr bwMode="auto">
                <a:xfrm>
                  <a:off x="2795" y="7432"/>
                  <a:ext cx="10211" cy="2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b="0" i="0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  <a:ea typeface="MS Mincho" panose="02020609040205080304" charset="-128"/>
                                    <a:cs typeface="Cambria Math" panose="02040503050406030204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d>
                          <m:d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</m:e>
                                  <m:sup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kumimoji="1" lang="en-US" altLang="zh-CN" sz="2200" b="0" i="0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−3</m:t>
                            </m:r>
                            <m:f>
                              <m:fPr>
                                <m:ctrlP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d</m:t>
                                    </m:r>
                                  </m:e>
                                  <m:sup>
                                    <m:r>
                                      <a:rPr kumimoji="1" lang="en-US" altLang="zh-CN" sz="2200" b="0" i="1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+2</m:t>
                            </m:r>
                            <m:f>
                              <m:fPr>
                                <m:ctrlPr>
                                  <a:rPr lang="zh-CN" altLang="en-US" sz="22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i="1" dirty="0">
                    <a:solidFill>
                      <a:srgbClr val="000000"/>
                    </a:solidFill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339" name="Object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95" y="7432"/>
                  <a:ext cx="10211" cy="219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4236" y="9372"/>
              <a:ext cx="119" cy="1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110369" y="4822825"/>
            <a:ext cx="4551045" cy="1074972"/>
            <a:chOff x="10947" y="7195"/>
            <a:chExt cx="7167" cy="24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48" name="Object 108"/>
                <p:cNvSpPr txBox="1"/>
                <p:nvPr/>
              </p:nvSpPr>
              <p:spPr bwMode="auto">
                <a:xfrm>
                  <a:off x="10947" y="7195"/>
                  <a:ext cx="7167" cy="1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‴</m:t>
                            </m:r>
                          </m:sup>
                        </m:sSup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=(</m:t>
                        </m:r>
                        <m:sSup>
                          <m:sSup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</m:e>
                          <m:sup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p>
                        </m:sSup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−3</m:t>
                        </m:r>
                        <m:sSup>
                          <m:sSup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D</m:t>
                            </m:r>
                          </m:e>
                          <m:sup>
                            <m: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</m:t>
                        </m:r>
                      </m:oMath>
                      <m:oMath xmlns:m="http://schemas.openxmlformats.org/officeDocument/2006/math"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       </m:t>
                        </m:r>
                        <m:r>
                          <a:rPr kumimoji="1"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−1)(</m:t>
                        </m:r>
                        <m:r>
                          <m:rPr>
                            <m:sty m:val="p"/>
                          </m:rP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−2)</m:t>
                        </m:r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348" name="Object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947" y="7195"/>
                  <a:ext cx="7167" cy="1620"/>
                </a:xfrm>
                <a:prstGeom prst="rect">
                  <a:avLst/>
                </a:prstGeom>
                <a:blipFill>
                  <a:blip r:embed="rId9"/>
                  <a:stretch>
                    <a:fillRect b="-3728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矩形 18"/>
            <p:cNvSpPr/>
            <p:nvPr/>
          </p:nvSpPr>
          <p:spPr>
            <a:xfrm>
              <a:off x="12758" y="9496"/>
              <a:ext cx="618" cy="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627D355B-EF9F-0526-B124-8F9EFB99D609}"/>
              </a:ext>
            </a:extLst>
          </p:cNvPr>
          <p:cNvGrpSpPr/>
          <p:nvPr/>
        </p:nvGrpSpPr>
        <p:grpSpPr>
          <a:xfrm>
            <a:off x="177247" y="226657"/>
            <a:ext cx="11795938" cy="6400838"/>
            <a:chOff x="177247" y="226657"/>
            <a:chExt cx="11795938" cy="6400838"/>
          </a:xfrm>
        </p:grpSpPr>
        <p:sp>
          <p:nvSpPr>
            <p:cNvPr id="35" name="Rectangle 1">
              <a:extLst>
                <a:ext uri="{FF2B5EF4-FFF2-40B4-BE49-F238E27FC236}">
                  <a16:creationId xmlns:a16="http://schemas.microsoft.com/office/drawing/2014/main" id="{93E48C4D-FE53-5FFF-7CB3-E1606483F92C}"/>
                </a:ext>
              </a:extLst>
            </p:cNvPr>
            <p:cNvSpPr/>
            <p:nvPr/>
          </p:nvSpPr>
          <p:spPr>
            <a:xfrm>
              <a:off x="297498" y="6432028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1">
              <a:extLst>
                <a:ext uri="{FF2B5EF4-FFF2-40B4-BE49-F238E27FC236}">
                  <a16:creationId xmlns:a16="http://schemas.microsoft.com/office/drawing/2014/main" id="{79CF4541-D809-4012-8603-2B784C46E140}"/>
                </a:ext>
              </a:extLst>
            </p:cNvPr>
            <p:cNvSpPr/>
            <p:nvPr/>
          </p:nvSpPr>
          <p:spPr>
            <a:xfrm rot="2659048">
              <a:off x="10114638" y="286438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ED36044-CEFB-BE6C-A873-1BBB3DE382E9}"/>
                </a:ext>
              </a:extLst>
            </p:cNvPr>
            <p:cNvSpPr/>
            <p:nvPr/>
          </p:nvSpPr>
          <p:spPr>
            <a:xfrm>
              <a:off x="476885" y="6320790"/>
              <a:ext cx="1834515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第九节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欧拉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方程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01A7B236-BEC7-5EAE-4BB3-BF7EE40617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9249" y="6461453"/>
              <a:ext cx="9827961" cy="1204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FE3560E9-5046-267F-1FF5-617683A9020D}"/>
                </a:ext>
              </a:extLst>
            </p:cNvPr>
            <p:cNvCxnSpPr>
              <a:cxnSpLocks/>
            </p:cNvCxnSpPr>
            <p:nvPr/>
          </p:nvCxnSpPr>
          <p:spPr>
            <a:xfrm>
              <a:off x="177247" y="332176"/>
              <a:ext cx="9722753" cy="27831"/>
            </a:xfrm>
            <a:prstGeom prst="line">
              <a:avLst/>
            </a:prstGeom>
            <a:ln w="0"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7F8E6E7-54E6-385C-6507-6E6D8E92BF01}"/>
                </a:ext>
              </a:extLst>
            </p:cNvPr>
            <p:cNvSpPr/>
            <p:nvPr/>
          </p:nvSpPr>
          <p:spPr>
            <a:xfrm>
              <a:off x="10387590" y="226657"/>
              <a:ext cx="1585595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第七章 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微分方程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0" grpId="0" animBg="1"/>
      <p:bldP spid="10332" grpId="0"/>
      <p:bldP spid="10334" grpId="0" animBg="1"/>
      <p:bldP spid="10343" grpId="0" animBg="1"/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32130" y="720090"/>
            <a:ext cx="11149330" cy="5428615"/>
            <a:chOff x="838" y="1134"/>
            <a:chExt cx="17558" cy="8549"/>
          </a:xfrm>
        </p:grpSpPr>
        <p:sp>
          <p:nvSpPr>
            <p:cNvPr id="56" name="PA-102232"/>
            <p:cNvSpPr/>
            <p:nvPr>
              <p:custDataLst>
                <p:tags r:id="rId1"/>
              </p:custDataLst>
            </p:nvPr>
          </p:nvSpPr>
          <p:spPr>
            <a:xfrm>
              <a:off x="838" y="1134"/>
              <a:ext cx="17524" cy="85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sp>
          <p:nvSpPr>
            <p:cNvPr id="57" name="Rectangle 1"/>
            <p:cNvSpPr/>
            <p:nvPr/>
          </p:nvSpPr>
          <p:spPr>
            <a:xfrm>
              <a:off x="9602" y="9583"/>
              <a:ext cx="8794" cy="101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/>
            <p:cNvSpPr/>
            <p:nvPr/>
          </p:nvSpPr>
          <p:spPr>
            <a:xfrm>
              <a:off x="5321" y="9583"/>
              <a:ext cx="4286" cy="83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0492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/>
            <p:cNvSpPr/>
            <p:nvPr/>
          </p:nvSpPr>
          <p:spPr>
            <a:xfrm>
              <a:off x="838" y="9583"/>
              <a:ext cx="4483" cy="83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408" name="Text Box 16"/>
              <p:cNvSpPr txBox="1">
                <a:spLocks noChangeArrowheads="1"/>
              </p:cNvSpPr>
              <p:nvPr/>
            </p:nvSpPr>
            <p:spPr bwMode="auto">
              <a:xfrm>
                <a:off x="1905000" y="1465903"/>
                <a:ext cx="2355850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</a:rPr>
                  <a:t>一般地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</a:rPr>
                  <a:t> 有</a:t>
                </a:r>
              </a:p>
            </p:txBody>
          </p:sp>
        </mc:Choice>
        <mc:Fallback xmlns="">
          <p:sp>
            <p:nvSpPr>
              <p:cNvPr id="59408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1465903"/>
                <a:ext cx="2355850" cy="521970"/>
              </a:xfrm>
              <a:prstGeom prst="rect">
                <a:avLst/>
              </a:prstGeom>
              <a:blipFill>
                <a:blip r:embed="rId3"/>
                <a:stretch>
                  <a:fillRect l="-5440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410" name="Text Box 18"/>
              <p:cNvSpPr txBox="1">
                <a:spLocks noChangeArrowheads="1"/>
              </p:cNvSpPr>
              <p:nvPr/>
            </p:nvSpPr>
            <p:spPr bwMode="auto">
              <a:xfrm>
                <a:off x="1905000" y="3180090"/>
                <a:ext cx="8839200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</a:rPr>
                  <a:t>把它代入欧拉方程</a:t>
                </a:r>
                <a14:m>
                  <m:oMath xmlns:m="http://schemas.openxmlformats.org/officeDocument/2006/math">
                    <m:r>
                      <a:rPr kumimoji="1" lang="en-US" altLang="zh-CN" sz="28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便得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</a:rPr>
                  <a:t>一个以</a:t>
                </a:r>
                <a:r>
                  <a: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t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</a:rPr>
                  <a:t>为自变量的常系数线</a:t>
                </a:r>
              </a:p>
            </p:txBody>
          </p:sp>
        </mc:Choice>
        <mc:Fallback xmlns="">
          <p:sp>
            <p:nvSpPr>
              <p:cNvPr id="5941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3180090"/>
                <a:ext cx="8839200" cy="521970"/>
              </a:xfrm>
              <a:prstGeom prst="rect">
                <a:avLst/>
              </a:prstGeom>
              <a:blipFill>
                <a:blip r:embed="rId4"/>
                <a:stretch>
                  <a:fillRect l="-1448" t="-1647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11" name="Text Box 19"/>
          <p:cNvSpPr txBox="1">
            <a:spLocks noChangeArrowheads="1"/>
          </p:cNvSpPr>
          <p:nvPr/>
        </p:nvSpPr>
        <p:spPr bwMode="auto">
          <a:xfrm>
            <a:off x="1905000" y="4050685"/>
            <a:ext cx="2743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性微分方程.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412" name="Text Box 20"/>
              <p:cNvSpPr txBox="1">
                <a:spLocks noChangeArrowheads="1"/>
              </p:cNvSpPr>
              <p:nvPr/>
            </p:nvSpPr>
            <p:spPr bwMode="auto">
              <a:xfrm>
                <a:off x="4038600" y="4050685"/>
                <a:ext cx="6858000" cy="5219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</a:rPr>
                  <a:t>在求出解后</a:t>
                </a:r>
                <a14:m>
                  <m:oMath xmlns:m="http://schemas.openxmlformats.org/officeDocument/2006/math">
                    <m:r>
                      <a:rPr kumimoji="1" lang="en-US" altLang="zh-CN" sz="28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</a:rPr>
                  <a:t>把</a:t>
                </a:r>
                <a:r>
                  <a:rPr kumimoji="1" lang="en-US" altLang="zh-CN" sz="2800" i="1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t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</a:rPr>
                  <a:t>换成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panose="02040503050406030204" charset="0"/>
                  </a:rPr>
                  <a:t>ln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</a:rPr>
                  <a:t>即可得到原方</a:t>
                </a:r>
              </a:p>
            </p:txBody>
          </p:sp>
        </mc:Choice>
        <mc:Fallback xmlns="">
          <p:sp>
            <p:nvSpPr>
              <p:cNvPr id="59412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8600" y="4050685"/>
                <a:ext cx="6858000" cy="521970"/>
              </a:xfrm>
              <a:prstGeom prst="rect">
                <a:avLst/>
              </a:prstGeom>
              <a:blipFill>
                <a:blip r:embed="rId5"/>
                <a:stretch>
                  <a:fillRect l="-1867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13" name="Text Box 21"/>
          <p:cNvSpPr txBox="1">
            <a:spLocks noChangeArrowheads="1"/>
          </p:cNvSpPr>
          <p:nvPr/>
        </p:nvSpPr>
        <p:spPr bwMode="auto">
          <a:xfrm>
            <a:off x="1905000" y="4870127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程的解.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677792" y="2270760"/>
            <a:ext cx="6181340" cy="569595"/>
            <a:chOff x="3737" y="3576"/>
            <a:chExt cx="8708" cy="8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409" name="Object 17"/>
                <p:cNvSpPr txBox="1"/>
                <p:nvPr/>
              </p:nvSpPr>
              <p:spPr bwMode="auto">
                <a:xfrm>
                  <a:off x="4347" y="3576"/>
                  <a:ext cx="8098" cy="883"/>
                </a:xfrm>
                <a:prstGeom prst="rect">
                  <a:avLst/>
                </a:prstGeom>
                <a:solidFill>
                  <a:srgbClr val="96D1C0"/>
                </a:solidFill>
                <a:ln w="9525">
                  <a:noFill/>
                  <a:miter lim="800000"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sSup>
                          <m:sSupPr>
                            <m:ctrl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𝑘</m:t>
                            </m:r>
                            <m: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p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−1)⋯(</m:t>
                        </m:r>
                        <m:r>
                          <m:rPr>
                            <m:sty m:val="p"/>
                          </m:r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D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𝑘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+1)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 .</m:t>
                        </m:r>
                      </m:oMath>
                    </m:oMathPara>
                  </a14:m>
                  <a:endParaRPr kumimoji="1" lang="zh-CN" altLang="en-US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59409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47" y="3576"/>
                  <a:ext cx="8098" cy="88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3737" y="4056"/>
              <a:ext cx="325" cy="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8" grpId="0" animBg="1"/>
      <p:bldP spid="59410" grpId="0"/>
      <p:bldP spid="59411" grpId="0"/>
      <p:bldP spid="59412" grpId="0"/>
      <p:bldP spid="594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196" name="Rectangle 148"/>
          <p:cNvSpPr>
            <a:spLocks noChangeArrowheads="1"/>
          </p:cNvSpPr>
          <p:nvPr/>
        </p:nvSpPr>
        <p:spPr bwMode="auto">
          <a:xfrm>
            <a:off x="1531049" y="1787519"/>
            <a:ext cx="5384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2294" name="Rectangle 246"/>
          <p:cNvSpPr>
            <a:spLocks noChangeArrowheads="1"/>
          </p:cNvSpPr>
          <p:nvPr/>
        </p:nvSpPr>
        <p:spPr bwMode="auto">
          <a:xfrm>
            <a:off x="1531049" y="874766"/>
            <a:ext cx="292197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例1  </a:t>
            </a:r>
          </a:p>
        </p:txBody>
      </p:sp>
      <p:sp>
        <p:nvSpPr>
          <p:cNvPr id="2296" name="Text Box 248"/>
          <p:cNvSpPr txBox="1">
            <a:spLocks noChangeArrowheads="1"/>
          </p:cNvSpPr>
          <p:nvPr/>
        </p:nvSpPr>
        <p:spPr bwMode="auto">
          <a:xfrm>
            <a:off x="5192226" y="1861150"/>
            <a:ext cx="3501979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则原方程化为</a:t>
            </a:r>
          </a:p>
        </p:txBody>
      </p:sp>
      <p:sp>
        <p:nvSpPr>
          <p:cNvPr id="2298" name="Text Box 250"/>
          <p:cNvSpPr txBox="1">
            <a:spLocks noChangeArrowheads="1"/>
          </p:cNvSpPr>
          <p:nvPr/>
        </p:nvSpPr>
        <p:spPr bwMode="auto">
          <a:xfrm>
            <a:off x="2304414" y="3850361"/>
            <a:ext cx="1216637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或</a:t>
            </a:r>
          </a:p>
        </p:txBody>
      </p:sp>
      <p:sp>
        <p:nvSpPr>
          <p:cNvPr id="2300" name="Text Box 252"/>
          <p:cNvSpPr txBox="1">
            <a:spLocks noChangeArrowheads="1"/>
          </p:cNvSpPr>
          <p:nvPr/>
        </p:nvSpPr>
        <p:spPr bwMode="auto">
          <a:xfrm>
            <a:off x="6325551" y="5563553"/>
            <a:ext cx="2368654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特征根为</a:t>
            </a:r>
            <a:endParaRPr kumimoji="1"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2" name="Text Box 254"/>
          <p:cNvSpPr txBox="1">
            <a:spLocks noChangeArrowheads="1"/>
          </p:cNvSpPr>
          <p:nvPr/>
        </p:nvSpPr>
        <p:spPr bwMode="auto">
          <a:xfrm>
            <a:off x="2304415" y="5536565"/>
            <a:ext cx="4185285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特征方程为</a:t>
            </a:r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zh-CN" altLang="en-US" sz="220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306" name="Text Box 258"/>
          <p:cNvSpPr txBox="1">
            <a:spLocks noChangeArrowheads="1"/>
          </p:cNvSpPr>
          <p:nvPr/>
        </p:nvSpPr>
        <p:spPr bwMode="auto">
          <a:xfrm>
            <a:off x="2304415" y="3120626"/>
            <a:ext cx="869026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304415" y="966661"/>
                <a:ext cx="7562850" cy="61658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求欧拉方程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‴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−4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=3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的通解</m:t>
                      </m:r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415" y="966661"/>
                <a:ext cx="7562850" cy="6165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304415" y="1833451"/>
                <a:ext cx="3983036" cy="512815"/>
              </a:xfrm>
              <a:prstGeom prst="rect">
                <a:avLst/>
              </a:prstGeom>
            </p:spPr>
            <p:txBody>
              <a:bodyPr>
                <a:normAutofit fontScale="97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3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作变换</m:t>
                      </m:r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sup>
                      </m:sSup>
                      <m:r>
                        <a:rPr kumimoji="1" lang="zh-CN" altLang="en-US" sz="23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或</m:t>
                      </m:r>
                      <m:r>
                        <a:rPr lang="zh-CN" altLang="en-US" sz="23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𝑡</m:t>
                      </m:r>
                      <m:r>
                        <a:rPr lang="zh-CN" altLang="en-US" sz="23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300" i="0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ln</m:t>
                      </m:r>
                      <m:r>
                        <a:rPr lang="zh-CN" altLang="en-US" sz="23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𝑥</m:t>
                      </m:r>
                      <m:r>
                        <a:rPr lang="zh-CN" altLang="en-US" sz="23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415" y="1833451"/>
                <a:ext cx="3983036" cy="512815"/>
              </a:xfrm>
              <a:prstGeom prst="rect">
                <a:avLst/>
              </a:prstGeom>
              <a:blipFill>
                <a:blip r:embed="rId4"/>
                <a:stretch>
                  <a:fillRect l="-10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2304414" y="2450408"/>
                <a:ext cx="6966693" cy="462129"/>
              </a:xfrm>
              <a:prstGeom prst="rect">
                <a:avLst/>
              </a:prstGeom>
            </p:spPr>
            <p:txBody>
              <a:bodyPr>
                <a:normAutofit fontScale="97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3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fName>
                        <m:e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</m:e>
                      </m:func>
                      <m:func>
                        <m:func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3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fName>
                        <m:e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</m:e>
                      </m:func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1)(</m:t>
                      </m:r>
                      <m:func>
                        <m:func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3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fName>
                        <m:e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</m:e>
                      </m:func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2)</m:t>
                      </m:r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unc>
                        <m:func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3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fName>
                        <m:e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</m:e>
                      </m:func>
                      <m:func>
                        <m:func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3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fName>
                        <m:e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</m:e>
                      </m:func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1)</m:t>
                      </m:r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−4</m:t>
                      </m:r>
                      <m:func>
                        <m:func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3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fName>
                        <m:e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func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=3</m:t>
                      </m:r>
                      <m:sSup>
                        <m:sSup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en-US" altLang="zh-CN" sz="23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414" y="2450408"/>
                <a:ext cx="6966693" cy="462129"/>
              </a:xfrm>
              <a:prstGeom prst="rect">
                <a:avLst/>
              </a:prstGeom>
              <a:blipFill>
                <a:blip r:embed="rId5"/>
                <a:stretch>
                  <a:fillRect l="-87"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2696468" y="3092031"/>
                <a:ext cx="4504452" cy="456263"/>
              </a:xfrm>
              <a:prstGeom prst="rect">
                <a:avLst/>
              </a:prstGeom>
            </p:spPr>
            <p:txBody>
              <a:bodyPr>
                <a:normAutofit fontScale="97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en-US" altLang="zh-CN" sz="23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300" i="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3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func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−2</m:t>
                      </m:r>
                      <m:func>
                        <m:func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en-US" altLang="zh-CN" sz="23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300" i="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3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func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−3</m:t>
                      </m:r>
                      <m:func>
                        <m:func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3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fName>
                        <m:e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func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=3</m:t>
                      </m:r>
                      <m:sSup>
                        <m:sSup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en-US" altLang="zh-CN" sz="23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468" y="3092031"/>
                <a:ext cx="4504452" cy="456263"/>
              </a:xfrm>
              <a:prstGeom prst="rect">
                <a:avLst/>
              </a:prstGeom>
              <a:blipFill>
                <a:blip r:embed="rId6"/>
                <a:stretch>
                  <a:fillRect l="-135"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2738928" y="3696232"/>
                <a:ext cx="4403066" cy="797509"/>
              </a:xfrm>
              <a:prstGeom prst="rect">
                <a:avLst/>
              </a:prstGeom>
            </p:spPr>
            <p:txBody>
              <a:bodyPr>
                <a:normAutofit fontScale="97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3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en-US" altLang="zh-CN" sz="23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3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en-US" altLang="zh-CN" sz="2300" b="0" i="0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−2</m:t>
                      </m:r>
                      <m:f>
                        <m:f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en-US" altLang="zh-CN" sz="23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3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en-US" altLang="zh-CN" sz="23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−3</m:t>
                      </m:r>
                      <m:f>
                        <m:f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=3</m:t>
                      </m:r>
                      <m:sSup>
                        <m:sSup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en-US" altLang="zh-CN" sz="23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928" y="3696232"/>
                <a:ext cx="4403066" cy="7975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对象 20"/>
              <p:cNvSpPr txBox="1"/>
              <p:nvPr/>
            </p:nvSpPr>
            <p:spPr>
              <a:xfrm>
                <a:off x="3839210" y="5581015"/>
                <a:ext cx="3098802" cy="538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p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−2</m:t>
                      </m:r>
                      <m:sSup>
                        <m:sSup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p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−3</m:t>
                      </m:r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𝑟</m:t>
                      </m:r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=0 ,</m:t>
                      </m:r>
                    </m:oMath>
                  </m:oMathPara>
                </a14:m>
                <a:endParaRPr kumimoji="1" lang="en-US" altLang="zh-CN" sz="23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1" name="对象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210" y="5581015"/>
                <a:ext cx="3098802" cy="5389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7509878" y="5563553"/>
                <a:ext cx="4081526" cy="61182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200" b="0" i="0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=−1,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=3.</m:t>
                      </m:r>
                    </m:oMath>
                  </m:oMathPara>
                </a14:m>
                <a:endParaRPr kumimoji="1" lang="en-US" altLang="zh-CN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878" y="5563553"/>
                <a:ext cx="4081526" cy="61182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250"/>
          <p:cNvSpPr txBox="1">
            <a:spLocks noChangeArrowheads="1"/>
          </p:cNvSpPr>
          <p:nvPr/>
        </p:nvSpPr>
        <p:spPr bwMode="auto">
          <a:xfrm>
            <a:off x="2304415" y="4812108"/>
            <a:ext cx="3753247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对应的齐次方程</a:t>
            </a:r>
            <a:endParaRPr kumimoji="1"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对象 24"/>
              <p:cNvSpPr txBox="1"/>
              <p:nvPr/>
            </p:nvSpPr>
            <p:spPr>
              <a:xfrm>
                <a:off x="4397057" y="4629218"/>
                <a:ext cx="3925101" cy="770220"/>
              </a:xfrm>
              <a:prstGeom prst="rect">
                <a:avLst/>
              </a:prstGeom>
            </p:spPr>
            <p:txBody>
              <a:bodyPr>
                <a:normAutofit fontScale="97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3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en-US" altLang="zh-CN" sz="23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3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en-US" altLang="zh-CN" sz="2300" b="0" i="0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−2</m:t>
                      </m:r>
                      <m:f>
                        <m:f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en-US" altLang="zh-CN" sz="23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3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en-US" altLang="zh-CN" sz="23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−3</m:t>
                      </m:r>
                      <m:f>
                        <m:f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=0,</m:t>
                      </m:r>
                    </m:oMath>
                  </m:oMathPara>
                </a14:m>
                <a:endParaRPr kumimoji="1" lang="en-US" altLang="zh-CN" sz="23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5" name="对象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057" y="4629218"/>
                <a:ext cx="3925101" cy="770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6" grpId="0"/>
      <p:bldP spid="2294" grpId="0"/>
      <p:bldP spid="2296" grpId="0" animBg="1"/>
      <p:bldP spid="2298" grpId="0" animBg="1"/>
      <p:bldP spid="2300" grpId="0" animBg="1"/>
      <p:bldP spid="2302" grpId="0" animBg="1"/>
      <p:bldP spid="2306" grpId="0" animBg="1"/>
      <p:bldP spid="2" grpId="0"/>
      <p:bldP spid="3" grpId="0"/>
      <p:bldP spid="4" grpId="0"/>
      <p:bldP spid="5" grpId="0"/>
      <p:bldP spid="6" grpId="0"/>
      <p:bldP spid="21" grpId="0"/>
      <p:bldP spid="7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5339" name="Line 43"/>
          <p:cNvSpPr>
            <a:spLocks noChangeShapeType="1"/>
          </p:cNvSpPr>
          <p:nvPr/>
        </p:nvSpPr>
        <p:spPr bwMode="auto">
          <a:xfrm>
            <a:off x="2008823" y="2052320"/>
            <a:ext cx="8174355" cy="4445"/>
          </a:xfrm>
          <a:prstGeom prst="line">
            <a:avLst/>
          </a:prstGeom>
          <a:noFill/>
          <a:ln w="9525">
            <a:solidFill>
              <a:srgbClr val="1D9D7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6"/>
              <p:cNvSpPr txBox="1"/>
              <p:nvPr/>
            </p:nvSpPr>
            <p:spPr>
              <a:xfrm>
                <a:off x="2520413" y="1120183"/>
                <a:ext cx="3886200" cy="889000"/>
              </a:xfrm>
              <a:prstGeom prst="rect">
                <a:avLst/>
              </a:prstGeom>
            </p:spPr>
            <p:txBody>
              <a:bodyPr>
                <a:normAutofit fontScale="97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3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en-US" altLang="zh-CN" sz="23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3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en-US" altLang="zh-CN" sz="2300" b="0" i="0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−2</m:t>
                      </m:r>
                      <m:f>
                        <m:f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en-US" altLang="zh-CN" sz="23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3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en-US" altLang="zh-CN" sz="23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−3</m:t>
                      </m:r>
                      <m:f>
                        <m:f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=3</m:t>
                      </m:r>
                      <m:sSup>
                        <m:sSup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en-US" altLang="zh-CN" sz="23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3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en-US" altLang="zh-CN" sz="23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对象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413" y="1120183"/>
                <a:ext cx="3886200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253"/>
          <p:cNvSpPr txBox="1">
            <a:spLocks noChangeArrowheads="1"/>
          </p:cNvSpPr>
          <p:nvPr/>
        </p:nvSpPr>
        <p:spPr bwMode="auto">
          <a:xfrm>
            <a:off x="2520413" y="2253338"/>
            <a:ext cx="50292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则对应的齐次方程的通解为</a:t>
            </a:r>
            <a:endParaRPr kumimoji="1" lang="zh-CN" altLang="en-US" sz="220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6"/>
              <p:cNvSpPr txBox="1"/>
              <p:nvPr/>
            </p:nvSpPr>
            <p:spPr>
              <a:xfrm>
                <a:off x="6039058" y="1346539"/>
                <a:ext cx="3406775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200" b="0" i="0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=−1, 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=3.</m:t>
                      </m:r>
                    </m:oMath>
                  </m:oMathPara>
                </a14:m>
                <a:endParaRPr kumimoji="1" lang="en-US" altLang="zh-CN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058" y="1346539"/>
                <a:ext cx="3406775" cy="431800"/>
              </a:xfrm>
              <a:prstGeom prst="rect">
                <a:avLst/>
              </a:prstGeom>
              <a:blipFill>
                <a:blip r:embed="rId4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253"/>
          <p:cNvSpPr txBox="1">
            <a:spLocks noChangeArrowheads="1"/>
          </p:cNvSpPr>
          <p:nvPr/>
        </p:nvSpPr>
        <p:spPr bwMode="auto">
          <a:xfrm>
            <a:off x="2520413" y="5430034"/>
            <a:ext cx="50292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故所求欧拉方程的通解为</a:t>
            </a:r>
            <a:endParaRPr kumimoji="1"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127885" y="2782570"/>
            <a:ext cx="6132830" cy="838200"/>
            <a:chOff x="3351" y="4382"/>
            <a:chExt cx="9658" cy="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对象 15"/>
                <p:cNvSpPr txBox="1"/>
                <p:nvPr/>
              </p:nvSpPr>
              <p:spPr>
                <a:xfrm>
                  <a:off x="3969" y="4382"/>
                  <a:ext cx="9040" cy="1320"/>
                </a:xfrm>
                <a:prstGeom prst="rect">
                  <a:avLst/>
                </a:prstGeom>
              </p:spPr>
              <p:txBody>
                <a:bodyPr>
                  <a:normAutofit fontScale="97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3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𝑌</m:t>
                        </m:r>
                        <m:r>
                          <a:rPr kumimoji="1" lang="en-US" altLang="zh-CN" sz="23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zh-CN" sz="23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300" i="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3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kumimoji="1" lang="en-US" altLang="zh-CN" sz="23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𝑡</m:t>
                                </m:r>
                              </m:sup>
                            </m:sSup>
                          </m:fName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+</m:t>
                            </m:r>
                          </m:e>
                        </m:func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3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3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3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3</m:t>
                            </m:r>
                            <m:r>
                              <a:rPr kumimoji="1" lang="en-US" altLang="zh-CN" sz="23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sup>
                        </m:sSup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3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3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3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p>
                        </m:sSup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3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6" name="对象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9" y="4382"/>
                  <a:ext cx="9040" cy="13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3351" y="4782"/>
              <a:ext cx="402" cy="3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186940" y="3701415"/>
            <a:ext cx="4359275" cy="406400"/>
            <a:chOff x="3444" y="5829"/>
            <a:chExt cx="6865" cy="6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7"/>
                <p:cNvSpPr txBox="1"/>
                <p:nvPr/>
              </p:nvSpPr>
              <p:spPr>
                <a:xfrm>
                  <a:off x="3969" y="5829"/>
                  <a:ext cx="6340" cy="6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∵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𝜆</m:t>
                        </m:r>
                        <m:r>
                          <a:rPr kumimoji="1" lang="en-US" altLang="zh-CN" sz="22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=2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不是特征方程的根</m:t>
                        </m:r>
                        <m:r>
                          <a:rPr kumimoji="1" lang="en-US" altLang="zh-CN" sz="2200" b="0" i="0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对象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9" y="5829"/>
                  <a:ext cx="6340" cy="640"/>
                </a:xfrm>
                <a:prstGeom prst="rect">
                  <a:avLst/>
                </a:prstGeom>
                <a:blipFill>
                  <a:blip r:embed="rId6"/>
                  <a:stretch>
                    <a:fillRect b="-179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3444" y="6079"/>
              <a:ext cx="479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885180" y="3701415"/>
            <a:ext cx="4000500" cy="457200"/>
            <a:chOff x="9268" y="5829"/>
            <a:chExt cx="6300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8"/>
                <p:cNvSpPr txBox="1"/>
                <p:nvPr/>
              </p:nvSpPr>
              <p:spPr>
                <a:xfrm>
                  <a:off x="9268" y="5829"/>
                  <a:ext cx="6300" cy="72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∴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可设特解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𝑏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𝑡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𝑏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0" name="对象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8" y="5829"/>
                  <a:ext cx="6300" cy="72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圆角矩形 5"/>
            <p:cNvSpPr/>
            <p:nvPr/>
          </p:nvSpPr>
          <p:spPr>
            <a:xfrm>
              <a:off x="14905" y="6033"/>
              <a:ext cx="278" cy="23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157730" y="4493895"/>
            <a:ext cx="2635885" cy="406400"/>
            <a:chOff x="3398" y="6882"/>
            <a:chExt cx="4151" cy="6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9"/>
                <p:cNvSpPr txBox="1"/>
                <p:nvPr/>
              </p:nvSpPr>
              <p:spPr>
                <a:xfrm>
                  <a:off x="3969" y="6882"/>
                  <a:ext cx="3580" cy="6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代入原方程得</m:t>
                        </m:r>
                        <m:r>
                          <a:rPr kumimoji="1" lang="en-US" altLang="zh-CN" sz="2200" b="0" i="0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对象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9" y="6882"/>
                  <a:ext cx="3580" cy="640"/>
                </a:xfrm>
                <a:prstGeom prst="rect">
                  <a:avLst/>
                </a:prstGeom>
                <a:blipFill>
                  <a:blip r:embed="rId8"/>
                  <a:stretch>
                    <a:fillRect l="-1877" b="-179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3398" y="7176"/>
              <a:ext cx="417" cy="1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344669" y="4312285"/>
            <a:ext cx="1904999" cy="825500"/>
            <a:chOff x="7579" y="6596"/>
            <a:chExt cx="1820" cy="13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对象 10"/>
                <p:cNvSpPr txBox="1"/>
                <p:nvPr/>
              </p:nvSpPr>
              <p:spPr>
                <a:xfrm>
                  <a:off x="7579" y="6596"/>
                  <a:ext cx="1820" cy="13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𝑏</m:t>
                        </m:r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" name="对象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9" y="6596"/>
                  <a:ext cx="1820" cy="13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7862" y="7407"/>
              <a:ext cx="309" cy="2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548458" y="4284345"/>
            <a:ext cx="3051347" cy="825500"/>
            <a:chOff x="9557" y="6552"/>
            <a:chExt cx="3448" cy="13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对象 21"/>
                <p:cNvSpPr txBox="1"/>
                <p:nvPr/>
              </p:nvSpPr>
              <p:spPr>
                <a:xfrm>
                  <a:off x="9557" y="6552"/>
                  <a:ext cx="3000" cy="13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∴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2" name="对象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7" y="6552"/>
                  <a:ext cx="3000" cy="13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矩形 22"/>
            <p:cNvSpPr/>
            <p:nvPr/>
          </p:nvSpPr>
          <p:spPr>
            <a:xfrm>
              <a:off x="12557" y="7083"/>
              <a:ext cx="448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885180" y="5225605"/>
            <a:ext cx="3746500" cy="953770"/>
            <a:chOff x="9268" y="7697"/>
            <a:chExt cx="5900" cy="15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对象 24"/>
                <p:cNvSpPr txBox="1"/>
                <p:nvPr/>
              </p:nvSpPr>
              <p:spPr>
                <a:xfrm>
                  <a:off x="9268" y="7697"/>
                  <a:ext cx="5900" cy="1320"/>
                </a:xfrm>
                <a:prstGeom prst="rect">
                  <a:avLst/>
                </a:prstGeom>
              </p:spPr>
              <p:txBody>
                <a:bodyPr>
                  <a:normAutofit fontScale="975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3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3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300" dirty="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3</m:t>
                            </m:r>
                          </m:sup>
                        </m:sSup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zh-CN" sz="23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300" dirty="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3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3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4" name="对象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8" y="7697"/>
                  <a:ext cx="5900" cy="13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矩形 24"/>
            <p:cNvSpPr/>
            <p:nvPr/>
          </p:nvSpPr>
          <p:spPr>
            <a:xfrm>
              <a:off x="11121" y="8921"/>
              <a:ext cx="417" cy="2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097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IzN2E2NzY3MWMzY2Y1YTlhOGJlNGUzMTViZjU1YTAifQ=="/>
  <p:tag name="KSO_WPP_MARK_KEY" val="e58b63a2-ef8f-4b51-b975-e74a8b5b31f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601</Words>
  <Application>Microsoft Office PowerPoint</Application>
  <PresentationFormat>宽屏</PresentationFormat>
  <Paragraphs>94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黑体</vt:lpstr>
      <vt:lpstr>华文中宋</vt:lpstr>
      <vt:lpstr>微软雅黑</vt:lpstr>
      <vt:lpstr>字魂36号-正文宋楷</vt:lpstr>
      <vt:lpstr>Arial</vt:lpstr>
      <vt:lpstr>Calibri</vt:lpstr>
      <vt:lpstr>Calibri Light</vt:lpstr>
      <vt:lpstr>Calisto MT</vt:lpstr>
      <vt:lpstr>Cambria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纳 兰</cp:lastModifiedBy>
  <cp:revision>379</cp:revision>
  <dcterms:created xsi:type="dcterms:W3CDTF">2022-03-21T05:54:00Z</dcterms:created>
  <dcterms:modified xsi:type="dcterms:W3CDTF">2023-06-20T14:27:07Z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2052-11.1.0.11744</vt:lpwstr>
  </property>
</Properties>
</file>