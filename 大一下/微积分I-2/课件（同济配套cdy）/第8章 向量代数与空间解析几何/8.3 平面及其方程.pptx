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6"/>
  </p:notesMasterIdLst>
  <p:sldIdLst>
    <p:sldId id="257" r:id="rId3"/>
    <p:sldId id="813" r:id="rId4"/>
    <p:sldId id="774" r:id="rId5"/>
    <p:sldId id="817" r:id="rId6"/>
    <p:sldId id="357" r:id="rId7"/>
    <p:sldId id="358" r:id="rId8"/>
    <p:sldId id="333" r:id="rId9"/>
    <p:sldId id="334" r:id="rId10"/>
    <p:sldId id="360" r:id="rId11"/>
    <p:sldId id="335" r:id="rId12"/>
    <p:sldId id="337" r:id="rId13"/>
    <p:sldId id="338" r:id="rId14"/>
    <p:sldId id="362" r:id="rId15"/>
    <p:sldId id="340" r:id="rId16"/>
    <p:sldId id="341" r:id="rId17"/>
    <p:sldId id="344" r:id="rId18"/>
    <p:sldId id="345" r:id="rId19"/>
    <p:sldId id="346" r:id="rId20"/>
    <p:sldId id="347" r:id="rId21"/>
    <p:sldId id="366" r:id="rId22"/>
    <p:sldId id="348" r:id="rId23"/>
    <p:sldId id="349" r:id="rId24"/>
    <p:sldId id="364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CC6600"/>
    <a:srgbClr val="A9D18E"/>
    <a:srgbClr val="BBBBBB"/>
    <a:srgbClr val="FFFFFF"/>
    <a:srgbClr val="3333FF"/>
    <a:srgbClr val="FF00FF"/>
    <a:srgbClr val="00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73" d="100"/>
          <a:sy n="73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49F9BA-A594-44D4-9CB5-8218BFD8658D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6C812-4E90-4981-A68F-2B969601E6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9616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6C812-4E90-4981-A68F-2B969601E6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162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9A6C812-4E90-4981-A68F-2B969601E6C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4157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8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70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212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动作按钮: 后退或前一项 5">
            <a:hlinkClick r:id="" action="ppaction://hlinkshowjump?jump=previousslide" highlightClick="1"/>
          </p:cNvPr>
          <p:cNvSpPr/>
          <p:nvPr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动作按钮: 前进或下一项 6">
            <a:hlinkClick r:id="" action="ppaction://hlinkshowjump?jump=nextslide" highlightClick="1"/>
          </p:cNvPr>
          <p:cNvSpPr/>
          <p:nvPr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动作按钮: 第一张 7">
            <a:hlinkClick r:id="" action="ppaction://hlinkshowjump?jump=firstslide" highlightClick="1"/>
          </p:cNvPr>
          <p:cNvSpPr/>
          <p:nvPr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动作按钮: 后退或前一项 8">
            <a:hlinkClick r:id="" action="ppaction://hlinkshowjump?jump=previousslide" highlightClick="1"/>
          </p:cNvPr>
          <p:cNvSpPr/>
          <p:nvPr userDrawn="1"/>
        </p:nvSpPr>
        <p:spPr>
          <a:xfrm>
            <a:off x="10566200" y="6366510"/>
            <a:ext cx="360000" cy="360000"/>
          </a:xfrm>
          <a:prstGeom prst="actionButtonBackPrevious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动作按钮: 前进或下一项 9">
            <a:hlinkClick r:id="" action="ppaction://hlinkshowjump?jump=nextslide" highlightClick="1"/>
          </p:cNvPr>
          <p:cNvSpPr/>
          <p:nvPr userDrawn="1"/>
        </p:nvSpPr>
        <p:spPr>
          <a:xfrm>
            <a:off x="11013440" y="6366510"/>
            <a:ext cx="360000" cy="360000"/>
          </a:xfrm>
          <a:prstGeom prst="actionButtonForwardNex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动作按钮: 第一张 10">
            <a:hlinkClick r:id="" action="ppaction://hlinkshowjump?jump=firstslide" highlightClick="1"/>
          </p:cNvPr>
          <p:cNvSpPr/>
          <p:nvPr userDrawn="1"/>
        </p:nvSpPr>
        <p:spPr>
          <a:xfrm>
            <a:off x="11462820" y="6366510"/>
            <a:ext cx="360000" cy="360000"/>
          </a:xfrm>
          <a:prstGeom prst="actionButtonHome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9505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4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663602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5328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导数概念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2511359" y="6615405"/>
            <a:ext cx="9680641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633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 导数与积分</a:t>
            </a:r>
          </a:p>
        </p:txBody>
      </p:sp>
    </p:spTree>
    <p:extLst>
      <p:ext uri="{BB962C8B-B14F-4D97-AF65-F5344CB8AC3E}">
        <p14:creationId xmlns:p14="http://schemas.microsoft.com/office/powerpoint/2010/main" val="5867663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  <p:extLst>
      <p:ext uri="{BB962C8B-B14F-4D97-AF65-F5344CB8AC3E}">
        <p14:creationId xmlns:p14="http://schemas.microsoft.com/office/powerpoint/2010/main" val="42604673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920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91494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0674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78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4252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183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4745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3039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9395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181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66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659303-4202-EF62-73CC-5F34B32651F0}"/>
              </a:ext>
            </a:extLst>
          </p:cNvPr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ACA296F-ECDC-ABB4-A12E-8994B9152796}"/>
              </a:ext>
            </a:extLst>
          </p:cNvPr>
          <p:cNvSpPr/>
          <p:nvPr userDrawn="1"/>
        </p:nvSpPr>
        <p:spPr>
          <a:xfrm rot="2659048">
            <a:off x="88224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CC9996-9EAB-9B49-BB6A-BBCD0C91F52D}"/>
              </a:ext>
            </a:extLst>
          </p:cNvPr>
          <p:cNvSpPr/>
          <p:nvPr userDrawn="1"/>
        </p:nvSpPr>
        <p:spPr>
          <a:xfrm>
            <a:off x="9144001" y="112357"/>
            <a:ext cx="30142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第八章  </a:t>
            </a:r>
            <a:r>
              <a:rPr lang="zh-CN" altLang="en-US" sz="1400" kern="12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向量代数与空间解析几何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8411B4-C7D3-7575-6831-3AE3C792FBC4}"/>
              </a:ext>
            </a:extLst>
          </p:cNvPr>
          <p:cNvSpPr/>
          <p:nvPr userDrawn="1"/>
        </p:nvSpPr>
        <p:spPr>
          <a:xfrm>
            <a:off x="476828" y="6454455"/>
            <a:ext cx="19062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平面及其方程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7B9ACE04-61C8-13A9-B4FF-DB6704D57F45}"/>
              </a:ext>
            </a:extLst>
          </p:cNvPr>
          <p:cNvCxnSpPr/>
          <p:nvPr userDrawn="1"/>
        </p:nvCxnSpPr>
        <p:spPr>
          <a:xfrm>
            <a:off x="0" y="235728"/>
            <a:ext cx="85344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8609F80-DCDE-3CE8-DC8E-07EE84F1C63E}"/>
              </a:ext>
            </a:extLst>
          </p:cNvPr>
          <p:cNvCxnSpPr/>
          <p:nvPr userDrawn="1"/>
        </p:nvCxnSpPr>
        <p:spPr>
          <a:xfrm>
            <a:off x="2330220" y="6619875"/>
            <a:ext cx="986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2166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0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.jpeg"/><Relationship Id="rId1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11" Type="http://schemas.openxmlformats.org/officeDocument/2006/relationships/image" Target="../media/image19.png"/><Relationship Id="rId10" Type="http://schemas.openxmlformats.org/officeDocument/2006/relationships/image" Target="../media/image18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9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8.png"/><Relationship Id="rId7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10" Type="http://schemas.openxmlformats.org/officeDocument/2006/relationships/image" Target="../media/image8.jpeg"/><Relationship Id="rId4" Type="http://schemas.openxmlformats.org/officeDocument/2006/relationships/image" Target="../media/image69.png"/><Relationship Id="rId9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0.png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2" Type="http://schemas.openxmlformats.org/officeDocument/2006/relationships/image" Target="../media/image9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11" Type="http://schemas.openxmlformats.org/officeDocument/2006/relationships/image" Target="../media/image73.png"/><Relationship Id="rId10" Type="http://schemas.openxmlformats.org/officeDocument/2006/relationships/image" Target="../media/image65.png"/><Relationship Id="rId9" Type="http://schemas.openxmlformats.org/officeDocument/2006/relationships/image" Target="../media/image8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7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0.png"/><Relationship Id="rId7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10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13" Type="http://schemas.openxmlformats.org/officeDocument/2006/relationships/image" Target="../media/image107.png"/><Relationship Id="rId3" Type="http://schemas.openxmlformats.org/officeDocument/2006/relationships/image" Target="../media/image112.png"/><Relationship Id="rId7" Type="http://schemas.openxmlformats.org/officeDocument/2006/relationships/image" Target="../media/image116.png"/><Relationship Id="rId12" Type="http://schemas.openxmlformats.org/officeDocument/2006/relationships/image" Target="../media/image121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2.png"/><Relationship Id="rId5" Type="http://schemas.openxmlformats.org/officeDocument/2006/relationships/image" Target="../media/image90.png"/><Relationship Id="rId10" Type="http://schemas.openxmlformats.org/officeDocument/2006/relationships/image" Target="../media/image119.png"/><Relationship Id="rId4" Type="http://schemas.openxmlformats.org/officeDocument/2006/relationships/image" Target="../media/image113.png"/><Relationship Id="rId9" Type="http://schemas.openxmlformats.org/officeDocument/2006/relationships/image" Target="../media/image118.png"/><Relationship Id="rId14" Type="http://schemas.openxmlformats.org/officeDocument/2006/relationships/image" Target="../media/image1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2" Type="http://schemas.openxmlformats.org/officeDocument/2006/relationships/image" Target="../media/image10.jpe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31.png"/><Relationship Id="rId10" Type="http://schemas.openxmlformats.org/officeDocument/2006/relationships/image" Target="../media/image130.png"/><Relationship Id="rId4" Type="http://schemas.openxmlformats.org/officeDocument/2006/relationships/image" Target="../media/image11.png"/><Relationship Id="rId9" Type="http://schemas.openxmlformats.org/officeDocument/2006/relationships/image" Target="../media/image1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6.png"/><Relationship Id="rId5" Type="http://schemas.openxmlformats.org/officeDocument/2006/relationships/image" Target="../media/image135.png"/><Relationship Id="rId4" Type="http://schemas.openxmlformats.org/officeDocument/2006/relationships/image" Target="../media/image1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53210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cxnSpLocks/>
          </p:cNvCxnSpPr>
          <p:nvPr/>
        </p:nvCxnSpPr>
        <p:spPr>
          <a:xfrm>
            <a:off x="1399662" y="3843270"/>
            <a:ext cx="8892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399663" y="4450080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平面解析几何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一元函数微积分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450080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空间解析几何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399" y="8109"/>
              <a:ext cx="3916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多元函数微积分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450080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空间形式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547" y="7978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数量关系</a:t>
              </a:r>
            </a:p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基本方法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第八章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向量代数与空间解析几何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472305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CE2B425-399F-554D-45F0-E467133D88B7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1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2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9" name="PA-矩形 6"/>
          <p:cNvSpPr/>
          <p:nvPr>
            <p:custDataLst>
              <p:tags r:id="rId3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第八章</a:t>
            </a:r>
          </a:p>
        </p:txBody>
      </p:sp>
      <p:sp>
        <p:nvSpPr>
          <p:cNvPr id="3" name="矩形 2"/>
          <p:cNvSpPr/>
          <p:nvPr/>
        </p:nvSpPr>
        <p:spPr>
          <a:xfrm>
            <a:off x="5748849" y="1544187"/>
            <a:ext cx="42069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向量及其线性运算</a:t>
            </a:r>
          </a:p>
        </p:txBody>
      </p:sp>
      <p:sp>
        <p:nvSpPr>
          <p:cNvPr id="24" name="矩形 23"/>
          <p:cNvSpPr/>
          <p:nvPr/>
        </p:nvSpPr>
        <p:spPr>
          <a:xfrm>
            <a:off x="5748849" y="2226710"/>
            <a:ext cx="433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数量积 向量积 混合积</a:t>
            </a:r>
          </a:p>
        </p:txBody>
      </p:sp>
      <p:sp>
        <p:nvSpPr>
          <p:cNvPr id="28" name="矩形 27"/>
          <p:cNvSpPr/>
          <p:nvPr/>
        </p:nvSpPr>
        <p:spPr>
          <a:xfrm>
            <a:off x="5748849" y="2909233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平面及其方程</a:t>
            </a:r>
          </a:p>
        </p:txBody>
      </p:sp>
      <p:sp>
        <p:nvSpPr>
          <p:cNvPr id="29" name="矩形 28"/>
          <p:cNvSpPr/>
          <p:nvPr/>
        </p:nvSpPr>
        <p:spPr>
          <a:xfrm>
            <a:off x="5749162" y="3591756"/>
            <a:ext cx="4914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空间直线及其方程</a:t>
            </a:r>
          </a:p>
        </p:txBody>
      </p:sp>
      <p:sp>
        <p:nvSpPr>
          <p:cNvPr id="32" name="矩形 31"/>
          <p:cNvSpPr/>
          <p:nvPr/>
        </p:nvSpPr>
        <p:spPr>
          <a:xfrm>
            <a:off x="5749162" y="4274279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曲面及其方程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D88A371-A813-7284-EA0D-B8C63B93E271}"/>
              </a:ext>
            </a:extLst>
          </p:cNvPr>
          <p:cNvSpPr/>
          <p:nvPr/>
        </p:nvSpPr>
        <p:spPr>
          <a:xfrm>
            <a:off x="5737415" y="4956800"/>
            <a:ext cx="3994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第六节   空间曲线及其方程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36号-正文宋楷" panose="00000500000000000000" pitchFamily="2" charset="-122"/>
                <a:ea typeface="字魂36号-正文宋楷" panose="00000500000000000000" pitchFamily="2" charset="-122"/>
                <a:cs typeface="+mn-cs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972359"/>
            <a:ext cx="11536045" cy="54900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6BB6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974266" y="204099"/>
            <a:ext cx="424346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平面及其方程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EF0EE7-BB9D-0C44-95EA-52D143109EFD}"/>
              </a:ext>
            </a:extLst>
          </p:cNvPr>
          <p:cNvGrpSpPr/>
          <p:nvPr/>
        </p:nvGrpSpPr>
        <p:grpSpPr>
          <a:xfrm>
            <a:off x="2865683" y="1359356"/>
            <a:ext cx="7021836" cy="901065"/>
            <a:chOff x="2865683" y="1027775"/>
            <a:chExt cx="7021836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2865683" y="1027775"/>
              <a:ext cx="646063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3126403" y="1217006"/>
              <a:ext cx="676111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曲面方程与空间曲线方程的概念</a:t>
              </a:r>
              <a:endParaRPr lang="zh-CN" altLang="en-US" sz="2800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90D58494-531F-084E-A2D6-B52C255E3253}"/>
              </a:ext>
            </a:extLst>
          </p:cNvPr>
          <p:cNvGrpSpPr/>
          <p:nvPr/>
        </p:nvGrpSpPr>
        <p:grpSpPr>
          <a:xfrm>
            <a:off x="2865682" y="3901912"/>
            <a:ext cx="6460633" cy="901065"/>
            <a:chOff x="2865682" y="3623138"/>
            <a:chExt cx="6460633" cy="901065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1912BAEB-AC37-E423-F6CB-E1B0732FDB96}"/>
                </a:ext>
              </a:extLst>
            </p:cNvPr>
            <p:cNvSpPr/>
            <p:nvPr/>
          </p:nvSpPr>
          <p:spPr>
            <a:xfrm flipV="1">
              <a:off x="2865682" y="3623138"/>
              <a:ext cx="6460633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F98919C-5025-83DC-C0D5-365276AA3669}"/>
                </a:ext>
              </a:extLst>
            </p:cNvPr>
            <p:cNvSpPr/>
            <p:nvPr/>
          </p:nvSpPr>
          <p:spPr>
            <a:xfrm>
              <a:off x="3126403" y="3812369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三、平面的一般方程</a:t>
              </a:r>
              <a:endParaRPr lang="zh-CN" altLang="en-US" sz="2800" dirty="0"/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21397861-AD29-8046-B9D4-6BD378F7F992}"/>
              </a:ext>
            </a:extLst>
          </p:cNvPr>
          <p:cNvGrpSpPr/>
          <p:nvPr/>
        </p:nvGrpSpPr>
        <p:grpSpPr>
          <a:xfrm>
            <a:off x="2865683" y="2630634"/>
            <a:ext cx="6460634" cy="901065"/>
            <a:chOff x="2865683" y="2310084"/>
            <a:chExt cx="6460634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2865683" y="2310084"/>
              <a:ext cx="646063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3126403" y="2499315"/>
              <a:ext cx="377539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二、平面的点法式方程</a:t>
              </a:r>
              <a:endParaRPr lang="zh-CN" altLang="en-US" sz="2800" dirty="0"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92FF7E9E-2FFC-8B41-95F1-629140319316}"/>
              </a:ext>
            </a:extLst>
          </p:cNvPr>
          <p:cNvGrpSpPr/>
          <p:nvPr/>
        </p:nvGrpSpPr>
        <p:grpSpPr>
          <a:xfrm>
            <a:off x="2865683" y="5173190"/>
            <a:ext cx="6460632" cy="901065"/>
            <a:chOff x="2865683" y="4841609"/>
            <a:chExt cx="6460632" cy="901065"/>
          </a:xfrm>
        </p:grpSpPr>
        <p:sp>
          <p:nvSpPr>
            <p:cNvPr id="25" name="矩形: 圆角 40">
              <a:extLst>
                <a:ext uri="{FF2B5EF4-FFF2-40B4-BE49-F238E27FC236}">
                  <a16:creationId xmlns:a16="http://schemas.microsoft.com/office/drawing/2014/main" id="{44CBD125-8AD6-B216-239D-7580D93E4279}"/>
                </a:ext>
              </a:extLst>
            </p:cNvPr>
            <p:cNvSpPr/>
            <p:nvPr/>
          </p:nvSpPr>
          <p:spPr>
            <a:xfrm flipV="1">
              <a:off x="2865683" y="4841609"/>
              <a:ext cx="6460632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marL="0" marR="0" lvl="0" indent="0" algn="ctr" defTabSz="3429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微软雅黑 Light" panose="020B0502040204020203" charset="-122"/>
                <a:cs typeface="+mn-cs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5042539-EA59-0168-576C-46B998111EF3}"/>
                </a:ext>
              </a:extLst>
            </p:cNvPr>
            <p:cNvSpPr/>
            <p:nvPr/>
          </p:nvSpPr>
          <p:spPr>
            <a:xfrm>
              <a:off x="3126403" y="5030840"/>
              <a:ext cx="3057247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四、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两平面的夹角</a:t>
              </a:r>
              <a:endParaRPr lang="zh-CN" altLang="en-US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4139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9E3CC14-4545-E7BD-24E8-35D407D73DC8}"/>
              </a:ext>
            </a:extLst>
          </p:cNvPr>
          <p:cNvGrpSpPr/>
          <p:nvPr/>
        </p:nvGrpSpPr>
        <p:grpSpPr>
          <a:xfrm>
            <a:off x="654792" y="3104797"/>
            <a:ext cx="8156269" cy="3172178"/>
            <a:chOff x="1007217" y="3095272"/>
            <a:chExt cx="8156269" cy="31721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1384943-2C24-9DF2-AC3A-90536E45BFF7}"/>
                </a:ext>
              </a:extLst>
            </p:cNvPr>
            <p:cNvSpPr/>
            <p:nvPr/>
          </p:nvSpPr>
          <p:spPr>
            <a:xfrm>
              <a:off x="1495425" y="3095272"/>
              <a:ext cx="7668061" cy="3172178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</a:t>
              </a: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8EADB87B-FCAB-A89A-354C-6BD038C7B6E9}"/>
                </a:ext>
              </a:extLst>
            </p:cNvPr>
            <p:cNvGrpSpPr/>
            <p:nvPr/>
          </p:nvGrpSpPr>
          <p:grpSpPr>
            <a:xfrm>
              <a:off x="1007217" y="4494738"/>
              <a:ext cx="983508" cy="655388"/>
              <a:chOff x="1007217" y="4494738"/>
              <a:chExt cx="983508" cy="655388"/>
            </a:xfrm>
          </p:grpSpPr>
          <p:sp>
            <p:nvSpPr>
              <p:cNvPr id="6" name="PA-102231">
                <a:extLst>
                  <a:ext uri="{FF2B5EF4-FFF2-40B4-BE49-F238E27FC236}">
                    <a16:creationId xmlns:a16="http://schemas.microsoft.com/office/drawing/2014/main" id="{123F781B-3B6A-2BE8-1C0D-8AC4D3D4BD9A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1007217" y="4494738"/>
                <a:ext cx="983508" cy="655388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7" name="Rectangle 167">
                <a:extLst>
                  <a:ext uri="{FF2B5EF4-FFF2-40B4-BE49-F238E27FC236}">
                    <a16:creationId xmlns:a16="http://schemas.microsoft.com/office/drawing/2014/main" id="{5061D82E-0D2E-DC9C-8A15-9C49D6F4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4589" y="4595006"/>
                <a:ext cx="718145" cy="4308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p:grpSp>
      </p:grp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3161320" y="1145572"/>
            <a:ext cx="523020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水桶的表面、台灯的罩子面等．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1029136" y="1714336"/>
            <a:ext cx="77819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曲面在空间解析几何中被看成是点的几何轨迹．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979659" y="2453998"/>
            <a:ext cx="324944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曲面方程的定义：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1029136" y="1135476"/>
            <a:ext cx="23391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</a:rPr>
              <a:t>曲面的实例：</a:t>
            </a:r>
          </a:p>
        </p:txBody>
      </p:sp>
      <p:sp>
        <p:nvSpPr>
          <p:cNvPr id="8203" name="Rectangle 11"/>
          <p:cNvSpPr>
            <a:spLocks noGrp="1" noChangeArrowheads="1"/>
          </p:cNvSpPr>
          <p:nvPr>
            <p:ph type="title" idx="4294967295"/>
          </p:nvPr>
        </p:nvSpPr>
        <p:spPr>
          <a:xfrm>
            <a:off x="1029136" y="453982"/>
            <a:ext cx="6914275" cy="58787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一、曲面方程与空间曲线方程的概念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62FAF90-9DCF-15D2-94EA-C6E09A60C6D4}"/>
                  </a:ext>
                </a:extLst>
              </p:cNvPr>
              <p:cNvSpPr txBox="1"/>
              <p:nvPr/>
            </p:nvSpPr>
            <p:spPr bwMode="auto">
              <a:xfrm>
                <a:off x="1613727" y="3394161"/>
                <a:ext cx="6777798" cy="820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如果曲面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与三元方程</a:t>
                </a:r>
                <a14:m>
                  <m:oMath xmlns:m="http://schemas.openxmlformats.org/officeDocument/2006/math"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𝐹</m:t>
                    </m:r>
                    <m:d>
                      <m:dPr>
                        <m:ctrlP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𝑧</m:t>
                        </m:r>
                      </m:e>
                    </m:d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有下述</a:t>
                </a:r>
                <a:endParaRPr lang="en-US" altLang="zh-CN" sz="2800" dirty="0">
                  <a:latin typeface="+mn-ea"/>
                </a:endParaRPr>
              </a:p>
              <a:p>
                <a:pPr>
                  <a:lnSpc>
                    <a:spcPts val="2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关系：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D62FAF90-9DCF-15D2-94EA-C6E09A60C6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3727" y="3394161"/>
                <a:ext cx="6777798" cy="820738"/>
              </a:xfrm>
              <a:prstGeom prst="rect">
                <a:avLst/>
              </a:prstGeom>
              <a:blipFill>
                <a:blip r:embed="rId4"/>
                <a:stretch>
                  <a:fillRect l="-1888" t="-29851" r="-270" b="-201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7499A7F-E5F9-7298-651E-7A3C69FC3016}"/>
                  </a:ext>
                </a:extLst>
              </p:cNvPr>
              <p:cNvSpPr txBox="1"/>
              <p:nvPr/>
            </p:nvSpPr>
            <p:spPr bwMode="auto">
              <a:xfrm>
                <a:off x="1411078" y="4379380"/>
                <a:ext cx="6980448" cy="8329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（</a:t>
                </a:r>
                <a:r>
                  <a:rPr lang="en-US" altLang="zh-CN" sz="2800" dirty="0">
                    <a:latin typeface="+mn-ea"/>
                  </a:rPr>
                  <a:t>1</a:t>
                </a:r>
                <a:r>
                  <a:rPr lang="zh-CN" altLang="en-US" sz="2800" dirty="0">
                    <a:latin typeface="+mn-ea"/>
                  </a:rPr>
                  <a:t>）曲面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上任一点的坐标都满足方程；</a:t>
                </a:r>
                <a:endParaRPr lang="en-US" altLang="zh-CN" sz="2800" dirty="0">
                  <a:latin typeface="+mn-ea"/>
                </a:endParaRPr>
              </a:p>
              <a:p>
                <a:pPr>
                  <a:lnSpc>
                    <a:spcPts val="2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（</a:t>
                </a:r>
                <a:r>
                  <a:rPr lang="en-US" altLang="zh-CN" sz="2800" dirty="0">
                    <a:latin typeface="+mn-ea"/>
                  </a:rPr>
                  <a:t>2</a:t>
                </a:r>
                <a:r>
                  <a:rPr lang="zh-CN" altLang="en-US" sz="2800" dirty="0">
                    <a:latin typeface="+mn-ea"/>
                  </a:rPr>
                  <a:t>）不在曲面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上的点的坐标都不满足方程；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F7499A7F-E5F9-7298-651E-7A3C69FC3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1078" y="4379380"/>
                <a:ext cx="6980448" cy="832985"/>
              </a:xfrm>
              <a:prstGeom prst="rect">
                <a:avLst/>
              </a:prstGeom>
              <a:blipFill>
                <a:blip r:embed="rId5"/>
                <a:stretch>
                  <a:fillRect l="-1745" t="-28467" r="-6894" b="-175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E5CEAF2-A38C-0739-F783-55A780DE5B43}"/>
                  </a:ext>
                </a:extLst>
              </p:cNvPr>
              <p:cNvSpPr txBox="1"/>
              <p:nvPr/>
            </p:nvSpPr>
            <p:spPr bwMode="auto">
              <a:xfrm>
                <a:off x="1613727" y="5334421"/>
                <a:ext cx="7781925" cy="8344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那么，方程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𝐹</m:t>
                    </m:r>
                    <m:d>
                      <m:dPr>
                        <m:ctrlP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</m:ctrlPr>
                      </m:d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𝑦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,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</a:rPr>
                          <m:t>𝑧</m:t>
                        </m:r>
                      </m:e>
                    </m:d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=0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就叫做曲面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的方程，</a:t>
                </a:r>
                <a:endParaRPr lang="en-US" altLang="zh-CN" sz="2800" dirty="0">
                  <a:latin typeface="+mn-ea"/>
                </a:endParaRPr>
              </a:p>
              <a:p>
                <a:pPr>
                  <a:lnSpc>
                    <a:spcPts val="2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latin typeface="+mn-ea"/>
                  </a:rPr>
                  <a:t>而曲面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宋体" panose="02010600030101010101" pitchFamily="2" charset="-122"/>
                      </a:rPr>
                      <m:t>𝑆</m:t>
                    </m:r>
                  </m:oMath>
                </a14:m>
                <a:r>
                  <a:rPr lang="zh-CN" altLang="en-US" sz="2800" dirty="0">
                    <a:latin typeface="+mn-ea"/>
                  </a:rPr>
                  <a:t>就叫做方程的图形</a:t>
                </a:r>
                <a:r>
                  <a:rPr lang="en-US" altLang="zh-CN" sz="2800" dirty="0">
                    <a:latin typeface="+mn-ea"/>
                  </a:rPr>
                  <a:t>.</a:t>
                </a:r>
                <a:endParaRPr lang="zh-CN" altLang="en-US" sz="2800" dirty="0">
                  <a:latin typeface="+mn-ea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E5CEAF2-A38C-0739-F783-55A780DE5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13727" y="5334421"/>
                <a:ext cx="7781925" cy="834459"/>
              </a:xfrm>
              <a:prstGeom prst="rect">
                <a:avLst/>
              </a:prstGeom>
              <a:blipFill>
                <a:blip r:embed="rId6"/>
                <a:stretch>
                  <a:fillRect l="-1646" t="-28467" b="-1751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 descr="地图的伞&#10;&#10;中度可信度描述已自动生成">
            <a:extLst>
              <a:ext uri="{FF2B5EF4-FFF2-40B4-BE49-F238E27FC236}">
                <a16:creationId xmlns:a16="http://schemas.microsoft.com/office/drawing/2014/main" id="{87E2FADA-EB2A-2707-2466-A731C7509A7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9139" y="3042398"/>
            <a:ext cx="2690469" cy="267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2771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 animBg="1"/>
      <p:bldP spid="8196" grpId="0" autoUpdateAnimBg="0"/>
      <p:bldP spid="8197" grpId="0" autoUpdateAnimBg="0"/>
      <p:bldP spid="8198" grpId="0" autoUpdateAnimBg="0"/>
      <p:bldP spid="8202" grpId="0" autoUpdateAnimBg="0"/>
      <p:bldP spid="8203" grpId="0"/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Text Box 4"/>
          <p:cNvSpPr txBox="1">
            <a:spLocks noChangeArrowheads="1"/>
          </p:cNvSpPr>
          <p:nvPr/>
        </p:nvSpPr>
        <p:spPr bwMode="auto">
          <a:xfrm>
            <a:off x="1386154" y="845700"/>
            <a:ext cx="40621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空间曲线方程的定义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565" name="Text Box 5"/>
              <p:cNvSpPr txBox="1">
                <a:spLocks noChangeArrowheads="1"/>
              </p:cNvSpPr>
              <p:nvPr/>
            </p:nvSpPr>
            <p:spPr bwMode="auto">
              <a:xfrm>
                <a:off x="1910969" y="1591488"/>
                <a:ext cx="5029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设曲面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lang="zh-CN" altLang="en-US" sz="2800" b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𝑆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的方程分别为</a:t>
                </a:r>
              </a:p>
            </p:txBody>
          </p:sp>
        </mc:Choice>
        <mc:Fallback xmlns="">
          <p:sp>
            <p:nvSpPr>
              <p:cNvPr id="66565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0969" y="1591488"/>
                <a:ext cx="5029200" cy="523220"/>
              </a:xfrm>
              <a:prstGeom prst="rect">
                <a:avLst/>
              </a:prstGeom>
              <a:blipFill>
                <a:blip r:embed="rId2"/>
                <a:stretch>
                  <a:fillRect l="-2424" t="-15116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66" name="Object 6"/>
              <p:cNvSpPr txBox="1"/>
              <p:nvPr/>
            </p:nvSpPr>
            <p:spPr bwMode="auto">
              <a:xfrm>
                <a:off x="2971836" y="4172355"/>
                <a:ext cx="2904979" cy="11731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  <a:cs typeface="Cambria Math" panose="0204050305040603020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𝐹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)=0,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𝐺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,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latin typeface="Cambria Math" panose="02040503050406030204" pitchFamily="18" charset="0"/>
                                    <a:cs typeface="Cambria Math" panose="02040503050406030204" charset="0"/>
                                  </a:rPr>
                                  <m:t>)=0,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656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1836" y="4172355"/>
                <a:ext cx="2904979" cy="11731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575" name="Object 15"/>
              <p:cNvSpPr txBox="1"/>
              <p:nvPr/>
            </p:nvSpPr>
            <p:spPr bwMode="auto">
              <a:xfrm>
                <a:off x="2971836" y="2234535"/>
                <a:ext cx="2904979" cy="11755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)=0,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: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𝐺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)=0,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66575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71836" y="2234535"/>
                <a:ext cx="2904979" cy="11755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76" name="Text Box 16"/>
          <p:cNvSpPr txBox="1">
            <a:spLocks noChangeArrowheads="1"/>
          </p:cNvSpPr>
          <p:nvPr/>
        </p:nvSpPr>
        <p:spPr bwMode="auto">
          <a:xfrm>
            <a:off x="1910969" y="3474667"/>
            <a:ext cx="353733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则它们的交线方程为</a:t>
            </a:r>
          </a:p>
        </p:txBody>
      </p:sp>
      <p:sp>
        <p:nvSpPr>
          <p:cNvPr id="66577" name="Text Box 17"/>
          <p:cNvSpPr txBox="1">
            <a:spLocks noChangeArrowheads="1"/>
          </p:cNvSpPr>
          <p:nvPr/>
        </p:nvSpPr>
        <p:spPr bwMode="auto">
          <a:xfrm>
            <a:off x="1910969" y="5391311"/>
            <a:ext cx="49279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称之为</a:t>
            </a:r>
            <a:r>
              <a:rPr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空间曲线的一般方程</a:t>
            </a:r>
            <a:r>
              <a:rPr lang="en-US" altLang="zh-CN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图片 3" descr="图示&#10;&#10;描述已自动生成">
            <a:extLst>
              <a:ext uri="{FF2B5EF4-FFF2-40B4-BE49-F238E27FC236}">
                <a16:creationId xmlns:a16="http://schemas.microsoft.com/office/drawing/2014/main" id="{09D5C93C-012A-7AAD-EF68-6C82052A8F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8950" y="2097029"/>
            <a:ext cx="3353367" cy="316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1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6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/>
      <p:bldP spid="66565" grpId="0" build="p" autoUpdateAnimBg="0"/>
      <p:bldP spid="66566" grpId="0"/>
      <p:bldP spid="66575" grpId="0"/>
      <p:bldP spid="66576" grpId="0"/>
      <p:bldP spid="665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4" name="Text Box 22"/>
          <p:cNvSpPr txBox="1">
            <a:spLocks noChangeArrowheads="1"/>
          </p:cNvSpPr>
          <p:nvPr/>
        </p:nvSpPr>
        <p:spPr bwMode="auto">
          <a:xfrm>
            <a:off x="1673582" y="1486946"/>
            <a:ext cx="434340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如果一非零向量垂直于一平面，这向量就叫做该平面的</a:t>
            </a: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法线向量</a:t>
            </a:r>
            <a:r>
              <a:rPr lang="zh-CN" altLang="en-US" sz="2800" dirty="0">
                <a:ea typeface="黑体" panose="02010609060101010101" pitchFamily="49" charset="-122"/>
              </a:rPr>
              <a:t>．</a:t>
            </a:r>
            <a:endParaRPr lang="zh-CN" altLang="en-US" sz="2800" dirty="0"/>
          </a:p>
        </p:txBody>
      </p:sp>
      <p:sp>
        <p:nvSpPr>
          <p:cNvPr id="8215" name="Text Box 23"/>
          <p:cNvSpPr txBox="1">
            <a:spLocks noChangeArrowheads="1"/>
          </p:cNvSpPr>
          <p:nvPr/>
        </p:nvSpPr>
        <p:spPr bwMode="auto">
          <a:xfrm>
            <a:off x="1673582" y="3265488"/>
            <a:ext cx="293373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法线向量的</a:t>
            </a: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特征</a:t>
            </a:r>
            <a:r>
              <a:rPr lang="zh-CN" altLang="en-US" sz="2800" dirty="0"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8216" name="Rectangle 24"/>
          <p:cNvSpPr>
            <a:spLocks noChangeArrowheads="1"/>
          </p:cNvSpPr>
          <p:nvPr/>
        </p:nvSpPr>
        <p:spPr bwMode="auto">
          <a:xfrm>
            <a:off x="4452083" y="3260752"/>
            <a:ext cx="4481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/>
              <a:t>垂直于平面内的任一向量．</a:t>
            </a:r>
          </a:p>
        </p:txBody>
      </p:sp>
      <p:sp>
        <p:nvSpPr>
          <p:cNvPr id="8217" name="Text Box 25"/>
          <p:cNvSpPr txBox="1">
            <a:spLocks noChangeArrowheads="1"/>
          </p:cNvSpPr>
          <p:nvPr/>
        </p:nvSpPr>
        <p:spPr bwMode="auto">
          <a:xfrm>
            <a:off x="1673582" y="3957193"/>
            <a:ext cx="93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已知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18" name="Object 26"/>
              <p:cNvSpPr txBox="1"/>
              <p:nvPr/>
            </p:nvSpPr>
            <p:spPr bwMode="auto">
              <a:xfrm>
                <a:off x="2477026" y="3961832"/>
                <a:ext cx="2225002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zh-CN" altLang="en-US" sz="2800" b="1">
                          <a:latin typeface="Cambria Math" panose="02040503050406030204" charset="0"/>
                          <a:ea typeface="MS Mincho" panose="02020609040205080304" charset="-128"/>
                        </a:rPr>
                        <m:t>={</m:t>
                      </m:r>
                      <m:r>
                        <a:rPr lang="zh-CN" altLang="en-US" sz="2800" b="1">
                          <a:latin typeface="Cambria Math" panose="02040503050406030204" charset="0"/>
                          <a:ea typeface="MS Mincho" panose="02020609040205080304" charset="-128"/>
                        </a:rPr>
                        <m:t>𝐴</m:t>
                      </m:r>
                      <m:r>
                        <a:rPr lang="zh-CN" altLang="en-US" sz="2800" b="1">
                          <a:latin typeface="Cambria Math" panose="02040503050406030204" charset="0"/>
                          <a:ea typeface="MS Mincho" panose="02020609040205080304" charset="-128"/>
                        </a:rPr>
                        <m:t>,</m:t>
                      </m:r>
                      <m:r>
                        <a:rPr lang="zh-CN" altLang="en-US" sz="2800" b="1">
                          <a:latin typeface="Cambria Math" panose="02040503050406030204" charset="0"/>
                          <a:ea typeface="MS Mincho" panose="02020609040205080304" charset="-128"/>
                        </a:rPr>
                        <m:t>𝐵</m:t>
                      </m:r>
                      <m:r>
                        <a:rPr lang="zh-CN" altLang="en-US" sz="2800" b="1">
                          <a:latin typeface="Cambria Math" panose="02040503050406030204" charset="0"/>
                          <a:ea typeface="MS Mincho" panose="02020609040205080304" charset="-128"/>
                        </a:rPr>
                        <m:t>,</m:t>
                      </m:r>
                      <m:r>
                        <a:rPr lang="zh-CN" altLang="en-US" sz="2800" b="1">
                          <a:latin typeface="Cambria Math" panose="02040503050406030204" charset="0"/>
                          <a:ea typeface="MS Mincho" panose="02020609040205080304" charset="-128"/>
                        </a:rPr>
                        <m:t>𝐶</m:t>
                      </m:r>
                      <m:r>
                        <a:rPr lang="zh-CN" altLang="en-US" sz="2800" b="1">
                          <a:latin typeface="Cambria Math" panose="02040503050406030204" charset="0"/>
                          <a:ea typeface="MS Mincho" panose="02020609040205080304" charset="-128"/>
                        </a:rPr>
                        <m:t>},</m:t>
                      </m:r>
                    </m:oMath>
                  </m:oMathPara>
                </a14:m>
                <a:endParaRPr lang="zh-CN" altLang="en-US" sz="2800" b="1" dirty="0">
                  <a:latin typeface="Cambria Math" panose="02040503050406030204" charset="0"/>
                  <a:ea typeface="MS Mincho" panose="02020609040205080304" charset="-128"/>
                </a:endParaRPr>
              </a:p>
            </p:txBody>
          </p:sp>
        </mc:Choice>
        <mc:Fallback xmlns="">
          <p:sp>
            <p:nvSpPr>
              <p:cNvPr id="8218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7026" y="3961832"/>
                <a:ext cx="2225002" cy="51911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20" name="Object 28"/>
              <p:cNvSpPr txBox="1"/>
              <p:nvPr/>
            </p:nvSpPr>
            <p:spPr bwMode="auto">
              <a:xfrm>
                <a:off x="4628763" y="3963027"/>
                <a:ext cx="2362587" cy="6088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),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220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8763" y="3963027"/>
                <a:ext cx="2362587" cy="60889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23" name="Group 31"/>
          <p:cNvGrpSpPr>
            <a:grpSpLocks/>
          </p:cNvGrpSpPr>
          <p:nvPr/>
        </p:nvGrpSpPr>
        <p:grpSpPr bwMode="auto">
          <a:xfrm>
            <a:off x="1673582" y="4618973"/>
            <a:ext cx="5180013" cy="590551"/>
            <a:chOff x="672" y="2880"/>
            <a:chExt cx="3263" cy="372"/>
          </a:xfrm>
        </p:grpSpPr>
        <p:sp>
          <p:nvSpPr>
            <p:cNvPr id="8221" name="Text Box 29"/>
            <p:cNvSpPr txBox="1">
              <a:spLocks noChangeArrowheads="1"/>
            </p:cNvSpPr>
            <p:nvPr/>
          </p:nvSpPr>
          <p:spPr bwMode="auto">
            <a:xfrm>
              <a:off x="672" y="2880"/>
              <a:ext cx="25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设平面上的任一点为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22" name="Object 30"/>
                <p:cNvSpPr txBox="1"/>
                <p:nvPr/>
              </p:nvSpPr>
              <p:spPr bwMode="auto">
                <a:xfrm>
                  <a:off x="2694" y="2898"/>
                  <a:ext cx="1241" cy="3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𝑀</m:t>
                        </m:r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(</m:t>
                        </m:r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𝑥</m:t>
                        </m:r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, </m:t>
                        </m:r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𝑦</m:t>
                        </m:r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, </m:t>
                        </m:r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𝑧</m:t>
                        </m:r>
                        <m:r>
                          <a:rPr lang="zh-CN" altLang="en-US" sz="2800">
                            <a:latin typeface="Cambria Math" panose="02040503050406030204" charset="0"/>
                            <a:ea typeface="MS Mincho" panose="02020609040205080304" charset="-128"/>
                            <a:cs typeface="Cambria Math" panose="02040503050406030204" charset="0"/>
                          </a:rPr>
                          <m:t>)</m:t>
                        </m:r>
                        <m: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>
                    <a:latin typeface="Cambria Math" panose="02040503050406030204" charset="0"/>
                    <a:ea typeface="MS Mincho" panose="02020609040205080304" charset="-128"/>
                    <a:cs typeface="Cambria Math" panose="02040503050406030204" charset="0"/>
                  </a:endParaRPr>
                </a:p>
              </p:txBody>
            </p:sp>
          </mc:Choice>
          <mc:Fallback xmlns="">
            <p:sp>
              <p:nvSpPr>
                <p:cNvPr id="8222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94" y="2898"/>
                  <a:ext cx="1241" cy="3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224" name="Object 32"/>
              <p:cNvSpPr txBox="1"/>
              <p:nvPr/>
            </p:nvSpPr>
            <p:spPr bwMode="auto">
              <a:xfrm>
                <a:off x="2476069" y="5367569"/>
                <a:ext cx="2131243" cy="6152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</m:ac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⊥​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𝒏</m:t>
                      </m:r>
                      <m:r>
                        <a:rPr lang="en-US" altLang="zh-CN" sz="2800" i="1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zh-CN" altLang="en-US" sz="2800" dirty="0">
                  <a:solidFill>
                    <a:srgbClr val="04926A"/>
                  </a:solidFill>
                  <a:latin typeface="Cambria Math" panose="02040503050406030204" charset="0"/>
                  <a:ea typeface="MS Mincho" panose="02020609040205080304" charset="-128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822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76069" y="5367569"/>
                <a:ext cx="2131243" cy="61524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27" name="Text Box 35"/>
          <p:cNvSpPr txBox="1">
            <a:spLocks noChangeArrowheads="1"/>
          </p:cNvSpPr>
          <p:nvPr/>
        </p:nvSpPr>
        <p:spPr bwMode="auto">
          <a:xfrm>
            <a:off x="1673582" y="5375682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必有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30" name="Object 38"/>
              <p:cNvSpPr txBox="1"/>
              <p:nvPr/>
            </p:nvSpPr>
            <p:spPr bwMode="auto">
              <a:xfrm>
                <a:off x="4329522" y="5366157"/>
                <a:ext cx="2201810" cy="6152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</m:acc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⋅​</m:t>
                      </m:r>
                      <m:r>
                        <a:rPr kumimoji="1" lang="zh-CN" altLang="en-US" sz="28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230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9522" y="5366157"/>
                <a:ext cx="2201810" cy="61524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35" name="Rectangle 43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05685"/>
            <a:ext cx="4781550" cy="61457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二、平面的点法式方程</a:t>
            </a:r>
          </a:p>
        </p:txBody>
      </p:sp>
      <p:pic>
        <p:nvPicPr>
          <p:cNvPr id="3" name="图片 2" descr="图示&#10;&#10;描述已自动生成">
            <a:extLst>
              <a:ext uri="{FF2B5EF4-FFF2-40B4-BE49-F238E27FC236}">
                <a16:creationId xmlns:a16="http://schemas.microsoft.com/office/drawing/2014/main" id="{64424EA3-98F0-44D7-D12C-7548C1190B95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594" y="602053"/>
            <a:ext cx="2595205" cy="265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48765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8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75"/>
                                        <p:tgtEl>
                                          <p:spTgt spid="8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8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8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14" grpId="0" autoUpdateAnimBg="0"/>
      <p:bldP spid="8215" grpId="0" autoUpdateAnimBg="0"/>
      <p:bldP spid="8216" grpId="0" autoUpdateAnimBg="0"/>
      <p:bldP spid="8217" grpId="0" autoUpdateAnimBg="0"/>
      <p:bldP spid="8218" grpId="0"/>
      <p:bldP spid="8220" grpId="0"/>
      <p:bldP spid="8224" grpId="0"/>
      <p:bldP spid="8227" grpId="0" autoUpdateAnimBg="0"/>
      <p:bldP spid="8230" grpId="0"/>
      <p:bldP spid="82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E107A438-24D0-C4F1-07A3-53232A2A91A3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>
              <a:extLst>
                <a:ext uri="{FF2B5EF4-FFF2-40B4-BE49-F238E27FC236}">
                  <a16:creationId xmlns:a16="http://schemas.microsoft.com/office/drawing/2014/main" id="{E1FB019E-E260-34DD-4928-06ECF86B89C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1DD1ED6-ECD6-1C55-4AC7-C0536C144461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9258C094-F590-AF50-5F03-8A5A927FEC9B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8A826785-D479-4664-DB45-D352FE99D8E6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66BCC373-B384-E3C6-5DEB-733A04CC7CFD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19" name="Object 3"/>
              <p:cNvSpPr txBox="1"/>
              <p:nvPr/>
            </p:nvSpPr>
            <p:spPr bwMode="auto">
              <a:xfrm>
                <a:off x="1779146" y="1258472"/>
                <a:ext cx="5687830" cy="6095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∵ 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</m:acc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={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}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21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9146" y="1258472"/>
                <a:ext cx="5687830" cy="60958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Object 7"/>
              <p:cNvSpPr txBox="1"/>
              <p:nvPr/>
            </p:nvSpPr>
            <p:spPr bwMode="auto">
              <a:xfrm>
                <a:off x="1779146" y="2074386"/>
                <a:ext cx="6961187" cy="5715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∴ 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𝐴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𝑥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𝐵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𝑦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𝑧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)=0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2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79146" y="2074386"/>
                <a:ext cx="6961187" cy="5715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578998" y="2852219"/>
            <a:ext cx="316133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平面的点法式方程</a:t>
            </a:r>
          </a:p>
        </p:txBody>
      </p:sp>
      <p:sp>
        <p:nvSpPr>
          <p:cNvPr id="9228" name="Text Box 12"/>
          <p:cNvSpPr txBox="1">
            <a:spLocks noChangeArrowheads="1"/>
          </p:cNvSpPr>
          <p:nvPr/>
        </p:nvSpPr>
        <p:spPr bwMode="auto">
          <a:xfrm>
            <a:off x="1779146" y="4206458"/>
            <a:ext cx="8815754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平面上的点都满足方程，不在平面上的点都不满足方程，方程称为平面的方程，平面称为方程的图形．</a:t>
            </a:r>
          </a:p>
        </p:txBody>
      </p:sp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1779146" y="3573245"/>
            <a:ext cx="196417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其中法向量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0" name="Object 14"/>
              <p:cNvSpPr txBox="1"/>
              <p:nvPr/>
            </p:nvSpPr>
            <p:spPr bwMode="auto">
              <a:xfrm>
                <a:off x="3608838" y="3577664"/>
                <a:ext cx="2390642" cy="5448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1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𝒏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={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𝐴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𝐵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𝐶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},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230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08838" y="3577664"/>
                <a:ext cx="2390642" cy="54486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31" name="Text Box 15"/>
          <p:cNvSpPr txBox="1">
            <a:spLocks noChangeArrowheads="1"/>
          </p:cNvSpPr>
          <p:nvPr/>
        </p:nvSpPr>
        <p:spPr bwMode="auto">
          <a:xfrm>
            <a:off x="5727829" y="3572925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已知点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32" name="Object 16"/>
              <p:cNvSpPr txBox="1"/>
              <p:nvPr/>
            </p:nvSpPr>
            <p:spPr bwMode="auto">
              <a:xfrm>
                <a:off x="6820033" y="3542435"/>
                <a:ext cx="1971236" cy="5800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𝑦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800" i="1">
                              <a:latin typeface="Cambria Math" panose="02040503050406030204" pitchFamily="18" charset="0"/>
                              <a:cs typeface="Cambria Math" panose="02040503050406030204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i="1">
                          <a:latin typeface="Cambria Math" panose="02040503050406030204" pitchFamily="18" charset="0"/>
                          <a:cs typeface="Cambria Math" panose="02040503050406030204" charset="0"/>
                        </a:rPr>
                        <m:t>).</m:t>
                      </m:r>
                    </m:oMath>
                  </m:oMathPara>
                </a14:m>
                <a:endParaRPr lang="zh-CN" altLang="en-US" sz="2800" i="1" dirty="0">
                  <a:latin typeface="Cambria Math" panose="02040503050406030204" pitchFamily="18" charset="0"/>
                  <a:cs typeface="Cambria Math" panose="02040503050406030204" charset="0"/>
                </a:endParaRPr>
              </a:p>
            </p:txBody>
          </p:sp>
        </mc:Choice>
        <mc:Fallback xmlns="">
          <p:sp>
            <p:nvSpPr>
              <p:cNvPr id="9232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20033" y="3542435"/>
                <a:ext cx="1971236" cy="5800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199117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7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875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1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9" grpId="0"/>
      <p:bldP spid="9223" grpId="0"/>
      <p:bldP spid="9226" grpId="0" autoUpdateAnimBg="0"/>
      <p:bldP spid="9228" grpId="0" autoUpdateAnimBg="0"/>
      <p:bldP spid="9229" grpId="0" autoUpdateAnimBg="0"/>
      <p:bldP spid="9230" grpId="0"/>
      <p:bldP spid="9231" grpId="0" autoUpdateAnimBg="0"/>
      <p:bldP spid="92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>
            <a:extLst>
              <a:ext uri="{FF2B5EF4-FFF2-40B4-BE49-F238E27FC236}">
                <a16:creationId xmlns:a16="http://schemas.microsoft.com/office/drawing/2014/main" id="{D4D1C1FA-3022-474A-ECC5-38DAA670B852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E098B8A-EC3A-9651-5C3B-5EE547DA1895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id="{1393DE78-3830-D62A-9802-39454571B990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id="{50C80272-2018-5052-062A-41BCF16433DE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id="{8A4DEDF7-8894-0AC4-95EF-5439E7F90589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id="{47F3A04B-B836-61ED-6ABE-0C7A56D83B9B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16" name="Text Box 168"/>
              <p:cNvSpPr txBox="1">
                <a:spLocks noChangeArrowheads="1"/>
              </p:cNvSpPr>
              <p:nvPr/>
            </p:nvSpPr>
            <p:spPr bwMode="auto">
              <a:xfrm>
                <a:off x="1228937" y="1251189"/>
                <a:ext cx="923538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dirty="0">
                    <a:solidFill>
                      <a:srgbClr val="33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求过点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(2,−3, 0)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且以 </a:t>
                </a:r>
                <a14:m>
                  <m:oMath xmlns:m="http://schemas.openxmlformats.org/officeDocument/2006/math">
                    <m:r>
                      <a:rPr kumimoji="1" lang="en-US" altLang="zh-CN" sz="28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,−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3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为法向量的平</a:t>
                </a:r>
              </a:p>
            </p:txBody>
          </p:sp>
        </mc:Choice>
        <mc:Fallback xmlns="">
          <p:sp>
            <p:nvSpPr>
              <p:cNvPr id="2216" name="Text Box 1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8937" y="1251189"/>
                <a:ext cx="9235389" cy="523220"/>
              </a:xfrm>
              <a:prstGeom prst="rect">
                <a:avLst/>
              </a:prstGeom>
              <a:blipFill>
                <a:blip r:embed="rId3"/>
                <a:stretch>
                  <a:fillRect l="-1386" t="-15116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17" name="Text Box 169"/>
          <p:cNvSpPr txBox="1">
            <a:spLocks noChangeArrowheads="1"/>
          </p:cNvSpPr>
          <p:nvPr/>
        </p:nvSpPr>
        <p:spPr bwMode="auto">
          <a:xfrm>
            <a:off x="2220938" y="1918833"/>
            <a:ext cx="17526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面方程．</a:t>
            </a:r>
          </a:p>
        </p:txBody>
      </p:sp>
      <p:sp>
        <p:nvSpPr>
          <p:cNvPr id="2218" name="Rectangle 170"/>
          <p:cNvSpPr>
            <a:spLocks noChangeArrowheads="1"/>
          </p:cNvSpPr>
          <p:nvPr/>
        </p:nvSpPr>
        <p:spPr bwMode="auto">
          <a:xfrm>
            <a:off x="1228938" y="2802368"/>
            <a:ext cx="8991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219" name="Text Box 171"/>
          <p:cNvSpPr txBox="1">
            <a:spLocks noChangeArrowheads="1"/>
          </p:cNvSpPr>
          <p:nvPr/>
        </p:nvSpPr>
        <p:spPr bwMode="auto">
          <a:xfrm>
            <a:off x="2220939" y="2835847"/>
            <a:ext cx="48239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由点法式方程，得所求平面的方程为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20" name="Text Box 172"/>
              <p:cNvSpPr txBox="1">
                <a:spLocks noChangeArrowheads="1"/>
              </p:cNvSpPr>
              <p:nvPr/>
            </p:nvSpPr>
            <p:spPr bwMode="auto">
              <a:xfrm>
                <a:off x="2220938" y="3345942"/>
                <a:ext cx="489058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𝑥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−2</m:t>
                          </m:r>
                        </m:e>
                      </m:d>
                      <m:r>
                        <a:rPr kumimoji="1" lang="en-US" altLang="zh-CN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</m:t>
                      </m:r>
                      <m:d>
                        <m:dPr>
                          <m:ctrlP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𝑦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+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</m:t>
                          </m:r>
                        </m:e>
                      </m:d>
                      <m:r>
                        <a:rPr kumimoji="1" lang="en-US" altLang="zh-CN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+3</m:t>
                      </m:r>
                      <m:d>
                        <m:dPr>
                          <m:ctrlP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𝑧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−0</m:t>
                          </m:r>
                        </m:e>
                      </m:d>
                      <m:r>
                        <a:rPr kumimoji="1" lang="en-US" altLang="zh-CN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20" name="Text Box 1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0938" y="3345942"/>
                <a:ext cx="4890589" cy="430887"/>
              </a:xfrm>
              <a:prstGeom prst="rect">
                <a:avLst/>
              </a:prstGeom>
              <a:blipFill>
                <a:blip r:embed="rId8"/>
                <a:stretch>
                  <a:fillRect l="-125" b="-1126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21" name="Text Box 173"/>
              <p:cNvSpPr txBox="1">
                <a:spLocks noChangeArrowheads="1"/>
              </p:cNvSpPr>
              <p:nvPr/>
            </p:nvSpPr>
            <p:spPr bwMode="auto">
              <a:xfrm>
                <a:off x="2220938" y="3856037"/>
                <a:ext cx="325228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即   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−2</m:t>
                    </m:r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+3</m:t>
                    </m:r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𝑧</m:t>
                    </m:r>
                    <m:r>
                      <a:rPr kumimoji="1" lang="en-US" altLang="zh-CN" sz="22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−8=0.</m:t>
                    </m:r>
                  </m:oMath>
                </a14:m>
                <a:endParaRPr kumimoji="1" lang="en-US" altLang="zh-CN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21" name="Text Box 1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20938" y="3856037"/>
                <a:ext cx="3252289" cy="430887"/>
              </a:xfrm>
              <a:prstGeom prst="rect">
                <a:avLst/>
              </a:prstGeom>
              <a:blipFill>
                <a:blip r:embed="rId9"/>
                <a:stretch>
                  <a:fillRect l="-2434" t="-14286" b="-2428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488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6" grpId="0"/>
      <p:bldP spid="2217" grpId="0"/>
      <p:bldP spid="2218" grpId="0"/>
      <p:bldP spid="2219" grpId="0"/>
      <p:bldP spid="2220" grpId="0"/>
      <p:bldP spid="22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FB606166-02A8-901C-D2DF-921A70B19AC5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DC09AD9-6E43-440B-1423-ABEC5D44C921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半闭框 3">
              <a:extLst>
                <a:ext uri="{FF2B5EF4-FFF2-40B4-BE49-F238E27FC236}">
                  <a16:creationId xmlns:a16="http://schemas.microsoft.com/office/drawing/2014/main" id="{1D988F47-CC40-9E72-C6AF-85B91E38B57B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3C1675E2-F631-F346-EB01-174EA490AB1A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B480836D-4156-3219-E721-5C62802E6CA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56E9AF11-D009-ED6E-422A-38BB8C715300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1406349" y="2663336"/>
            <a:ext cx="57485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fontAlgn="base">
              <a:spcBef>
                <a:spcPct val="50000"/>
              </a:spcBef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44" name="Object 4"/>
              <p:cNvSpPr txBox="1"/>
              <p:nvPr/>
            </p:nvSpPr>
            <p:spPr bwMode="auto">
              <a:xfrm>
                <a:off x="2495548" y="2693788"/>
                <a:ext cx="2381251" cy="5051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200" i="1" smtClean="0">
                            <a:latin typeface="Cambria Math" panose="02040503050406030204" pitchFamily="18" charset="0"/>
                            <a:ea typeface="MS Mincho" panose="02020609040205080304" charset="-128"/>
                          </a:rPr>
                        </m:ctrlPr>
                      </m:accPr>
                      <m:e>
                        <m:r>
                          <a:rPr kumimoji="1" lang="en-US" altLang="zh-CN" sz="22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𝐴𝐵</m:t>
                        </m:r>
                      </m:e>
                    </m:acc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={−3,</m:t>
                    </m:r>
                    <m:r>
                      <a:rPr kumimoji="1" lang="en-US" altLang="zh-CN" sz="22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zh-CN" altLang="en-US" sz="22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4,−6}</m:t>
                    </m:r>
                  </m:oMath>
                </a14:m>
                <a:r>
                  <a:rPr kumimoji="1" lang="en-US" altLang="zh-CN" sz="2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pitchFamily="18" charset="0"/>
                    <a:ea typeface="黑体" panose="02010609060101010101" pitchFamily="49" charset="-122"/>
                  </a:rPr>
                  <a:t>,</a:t>
                </a:r>
                <a:endParaRPr kumimoji="1" lang="zh-CN" altLang="en-US" sz="2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24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548" y="2693788"/>
                <a:ext cx="2381251" cy="505106"/>
              </a:xfrm>
              <a:prstGeom prst="rect">
                <a:avLst/>
              </a:prstGeom>
              <a:blipFill>
                <a:blip r:embed="rId2"/>
                <a:stretch>
                  <a:fillRect b="-168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47" name="Object 7"/>
              <p:cNvSpPr txBox="1"/>
              <p:nvPr/>
            </p:nvSpPr>
            <p:spPr bwMode="auto">
              <a:xfrm>
                <a:off x="2495548" y="3322807"/>
                <a:ext cx="2381251" cy="4929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  <a:ea typeface="MS Mincho" panose="02020609040205080304" charset="-128"/>
                            </a:rPr>
                          </m:ctrlPr>
                        </m:accPr>
                        <m:e>
                          <m:r>
                            <a:rPr kumimoji="1" lang="en-US" altLang="zh-CN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𝐴</m:t>
                          </m:r>
                          <m:r>
                            <a:rPr kumimoji="1" lang="en-US" altLang="zh-CN" sz="2200" b="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𝐶</m:t>
                          </m:r>
                        </m:e>
                      </m:acc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−2,</m:t>
                          </m:r>
                          <m:r>
                            <a:rPr kumimoji="1" lang="en-US" altLang="zh-CN" sz="22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 </m:t>
                          </m:r>
                          <m:r>
                            <a:rPr kumimoji="1" lang="zh-CN" altLang="en-US" sz="22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3,−1</m:t>
                          </m:r>
                        </m:e>
                      </m:d>
                      <m:r>
                        <a:rPr kumimoji="1" lang="en-US" altLang="zh-CN" sz="2200" b="0" i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24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548" y="3322807"/>
                <a:ext cx="2381251" cy="4929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0" name="Text Box 10"/>
              <p:cNvSpPr txBox="1">
                <a:spLocks noChangeArrowheads="1"/>
              </p:cNvSpPr>
              <p:nvPr/>
            </p:nvSpPr>
            <p:spPr bwMode="auto">
              <a:xfrm>
                <a:off x="2495548" y="3939668"/>
                <a:ext cx="2381252" cy="4742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取  </a:t>
                </a:r>
                <a14:m>
                  <m:oMath xmlns:m="http://schemas.openxmlformats.org/officeDocument/2006/math">
                    <m:r>
                      <a:rPr kumimoji="1" lang="zh-CN" altLang="en-US" sz="2200" b="1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𝒏</m:t>
                    </m:r>
                    <m:r>
                      <a:rPr kumimoji="1" lang="zh-CN" alt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acc>
                      <m:accPr>
                        <m:chr m:val="⃗"/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MS Mincho" panose="02020609040205080304" charset="-128"/>
                          </a:rPr>
                        </m:ctrlPr>
                      </m:acc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𝐴𝐵</m:t>
                        </m:r>
                      </m:e>
                    </m:acc>
                    <m:r>
                      <a:rPr kumimoji="1" lang="zh-CN" altLang="en-US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MS Mincho" panose="02020609040205080304" charset="-128"/>
                          </a:rPr>
                        </m:ctrlPr>
                      </m:accPr>
                      <m:e>
                        <m:r>
                          <a:rPr kumimoji="1"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𝐴𝐶</m:t>
                        </m:r>
                      </m:e>
                    </m:acc>
                  </m:oMath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250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548" y="3939668"/>
                <a:ext cx="2381252" cy="474232"/>
              </a:xfrm>
              <a:prstGeom prst="rect">
                <a:avLst/>
              </a:prstGeom>
              <a:blipFill>
                <a:blip r:embed="rId4"/>
                <a:stretch>
                  <a:fillRect l="-3325" t="-2564" b="-2179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56" name="Object 16"/>
              <p:cNvSpPr txBox="1"/>
              <p:nvPr/>
            </p:nvSpPr>
            <p:spPr bwMode="auto">
              <a:xfrm>
                <a:off x="4670423" y="3958454"/>
                <a:ext cx="1955800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={14, 9,−1},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256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0423" y="3958454"/>
                <a:ext cx="1955800" cy="404812"/>
              </a:xfrm>
              <a:prstGeom prst="rect">
                <a:avLst/>
              </a:prstGeom>
              <a:blipFill>
                <a:blip r:embed="rId5"/>
                <a:stretch>
                  <a:fillRect b="-268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7" name="Text Box 17"/>
          <p:cNvSpPr txBox="1">
            <a:spLocks noChangeArrowheads="1"/>
          </p:cNvSpPr>
          <p:nvPr/>
        </p:nvSpPr>
        <p:spPr bwMode="auto">
          <a:xfrm>
            <a:off x="2495548" y="4537813"/>
            <a:ext cx="21463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所求平面方程为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58" name="Object 18"/>
              <p:cNvSpPr txBox="1"/>
              <p:nvPr/>
            </p:nvSpPr>
            <p:spPr bwMode="auto">
              <a:xfrm>
                <a:off x="4462462" y="4553979"/>
                <a:ext cx="4581524" cy="4048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14(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−2)+9(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+1)−(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−4)=0,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258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62462" y="4553979"/>
                <a:ext cx="4581524" cy="404813"/>
              </a:xfrm>
              <a:prstGeom prst="rect">
                <a:avLst/>
              </a:prstGeom>
              <a:blipFill>
                <a:blip r:embed="rId6"/>
                <a:stretch>
                  <a:fillRect l="-133"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2495548" y="5092611"/>
            <a:ext cx="105251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化简得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60" name="Object 20"/>
              <p:cNvSpPr txBox="1"/>
              <p:nvPr/>
            </p:nvSpPr>
            <p:spPr bwMode="auto">
              <a:xfrm>
                <a:off x="3362324" y="5090209"/>
                <a:ext cx="3100387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14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+9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−15=0.</m:t>
                      </m:r>
                    </m:oMath>
                  </m:oMathPara>
                </a14:m>
                <a:endParaRPr kumimoji="1" lang="zh-CN" altLang="en-US" sz="22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pitchFamily="18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260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2324" y="5090209"/>
                <a:ext cx="3100387" cy="404812"/>
              </a:xfrm>
              <a:prstGeom prst="rect">
                <a:avLst/>
              </a:prstGeom>
              <a:blipFill>
                <a:blip r:embed="rId7"/>
                <a:stretch>
                  <a:fillRect l="-197"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EF94D989-2A97-138D-49D2-80D6C0A92D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06350" y="1207363"/>
                <a:ext cx="7289976" cy="1169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    </a:t>
                </a:r>
                <a:r>
                  <a:rPr lang="zh-CN" altLang="en-US" sz="2800" dirty="0"/>
                  <a:t>求过三点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𝐴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(2,−1, 4)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、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𝐵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(−1, 3,−2) </m:t>
                    </m:r>
                  </m:oMath>
                </a14:m>
                <a:r>
                  <a:rPr lang="zh-CN" altLang="en-US" sz="2800" dirty="0"/>
                  <a:t>和</a:t>
                </a:r>
                <a:endParaRPr lang="en-US" altLang="zh-CN" sz="2800" dirty="0"/>
              </a:p>
              <a:p>
                <a:pPr>
                  <a:spcBef>
                    <a:spcPct val="50000"/>
                  </a:spcBef>
                </a:pPr>
                <a:r>
                  <a:rPr lang="en-US" altLang="zh-CN" sz="2800" dirty="0"/>
                  <a:t>	</a:t>
                </a:r>
                <a:r>
                  <a:rPr kumimoji="1" lang="en-US" altLang="zh-CN" sz="2800" b="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𝐶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0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 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2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3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/>
                  <a:t>的平面方程</a:t>
                </a:r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14" name="Text Box 17">
                <a:extLst>
                  <a:ext uri="{FF2B5EF4-FFF2-40B4-BE49-F238E27FC236}">
                    <a16:creationId xmlns:a16="http://schemas.microsoft.com/office/drawing/2014/main" id="{EF94D989-2A97-138D-49D2-80D6C0A92D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06350" y="1207363"/>
                <a:ext cx="7289976" cy="1169551"/>
              </a:xfrm>
              <a:prstGeom prst="rect">
                <a:avLst/>
              </a:prstGeom>
              <a:blipFill>
                <a:blip r:embed="rId8"/>
                <a:stretch>
                  <a:fillRect l="-1756" t="-6771" b="-125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96262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"/>
                                        <p:tgtEl>
                                          <p:spTgt spid="10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25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10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0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3" grpId="0" autoUpdateAnimBg="0"/>
      <p:bldP spid="10244" grpId="0"/>
      <p:bldP spid="10247" grpId="0"/>
      <p:bldP spid="10250" grpId="0"/>
      <p:bldP spid="10256" grpId="0"/>
      <p:bldP spid="10257" grpId="0" autoUpdateAnimBg="0"/>
      <p:bldP spid="10258" grpId="0"/>
      <p:bldP spid="10259" grpId="0" autoUpdateAnimBg="0"/>
      <p:bldP spid="10260" grpId="0"/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剪去单角的矩形 10">
            <a:extLst>
              <a:ext uri="{FF2B5EF4-FFF2-40B4-BE49-F238E27FC236}">
                <a16:creationId xmlns:a16="http://schemas.microsoft.com/office/drawing/2014/main" id="{99B47F73-352B-B05C-2594-2694AC85C1B9}"/>
              </a:ext>
            </a:extLst>
          </p:cNvPr>
          <p:cNvSpPr/>
          <p:nvPr/>
        </p:nvSpPr>
        <p:spPr>
          <a:xfrm>
            <a:off x="2628900" y="1721643"/>
            <a:ext cx="7486650" cy="4408647"/>
          </a:xfrm>
          <a:prstGeom prst="snip1Rect">
            <a:avLst>
              <a:gd name="adj" fmla="val 5864"/>
            </a:avLst>
          </a:prstGeom>
          <a:solidFill>
            <a:srgbClr val="0492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12294" name="Rectangle 3078" descr="5%"/>
          <p:cNvSpPr>
            <a:spLocks noChangeArrowheads="1"/>
          </p:cNvSpPr>
          <p:nvPr/>
        </p:nvSpPr>
        <p:spPr bwMode="auto">
          <a:xfrm>
            <a:off x="5566669" y="3295555"/>
            <a:ext cx="3200400" cy="685800"/>
          </a:xfrm>
          <a:prstGeom prst="rect">
            <a:avLst/>
          </a:prstGeom>
          <a:noFill/>
          <a:ln w="19050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pattFill prst="pct5">
                  <a:fgClr>
                    <a:srgbClr val="FF9999"/>
                  </a:fgClr>
                  <a:bgClr>
                    <a:srgbClr val="FFFFFF"/>
                  </a:bgClr>
                </a:pattFill>
              </a14:hiddenFill>
            </a:ext>
          </a:extLst>
        </p:spPr>
        <p:txBody>
          <a:bodyPr wrap="none" anchor="ctr"/>
          <a:lstStyle/>
          <a:p>
            <a:endParaRPr lang="zh-CN" altLang="en-US" dirty="0">
              <a:solidFill>
                <a:srgbClr val="04926A"/>
              </a:solidFill>
              <a:highlight>
                <a:srgbClr val="04926A"/>
              </a:highlight>
            </a:endParaRPr>
          </a:p>
        </p:txBody>
      </p:sp>
      <p:sp>
        <p:nvSpPr>
          <p:cNvPr id="12291" name="Rectangle 3075"/>
          <p:cNvSpPr>
            <a:spLocks noChangeArrowheads="1"/>
          </p:cNvSpPr>
          <p:nvPr/>
        </p:nvSpPr>
        <p:spPr bwMode="auto">
          <a:xfrm>
            <a:off x="2903537" y="1831034"/>
            <a:ext cx="3571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zh-CN" altLang="en-US" sz="2800" dirty="0"/>
              <a:t>由平面的点法式方程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292" name="Object 3076"/>
              <p:cNvSpPr txBox="1"/>
              <p:nvPr/>
            </p:nvSpPr>
            <p:spPr bwMode="auto">
              <a:xfrm>
                <a:off x="2896431" y="2477427"/>
                <a:ext cx="6314244" cy="6045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292" name="Object 30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96431" y="2477427"/>
                <a:ext cx="6314244" cy="60456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3" name="Object 3077"/>
              <p:cNvSpPr txBox="1"/>
              <p:nvPr/>
            </p:nvSpPr>
            <p:spPr bwMode="auto">
              <a:xfrm>
                <a:off x="2903537" y="3347891"/>
                <a:ext cx="6773863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⇒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−(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293" name="Object 30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3537" y="3347891"/>
                <a:ext cx="6773863" cy="457200"/>
              </a:xfrm>
              <a:prstGeom prst="rect">
                <a:avLst/>
              </a:prstGeom>
              <a:blipFill>
                <a:blip r:embed="rId3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5" name="Object 3079"/>
              <p:cNvSpPr txBox="1"/>
              <p:nvPr/>
            </p:nvSpPr>
            <p:spPr bwMode="auto">
              <a:xfrm>
                <a:off x="8796465" y="4077611"/>
                <a:ext cx="880935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 smtClean="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𝐷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295" name="Object 30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96465" y="4077611"/>
                <a:ext cx="880935" cy="5191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96" name="Object 3080"/>
              <p:cNvSpPr txBox="1"/>
              <p:nvPr/>
            </p:nvSpPr>
            <p:spPr bwMode="auto">
              <a:xfrm>
                <a:off x="2839686" y="4708134"/>
                <a:ext cx="3780189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𝐴𝑥</m:t>
                      </m:r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𝐵𝑦</m:t>
                      </m:r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𝐶𝑧</m:t>
                      </m:r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𝐷</m:t>
                      </m:r>
                      <m:r>
                        <a:rPr kumimoji="1" lang="zh-CN" altLang="en-US" sz="2800" smtClean="0">
                          <a:solidFill>
                            <a:srgbClr val="4A7BA8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solidFill>
                    <a:srgbClr val="4A7BA8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296" name="Object 30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686" y="4708134"/>
                <a:ext cx="3780189" cy="404812"/>
              </a:xfrm>
              <a:prstGeom prst="rect">
                <a:avLst/>
              </a:prstGeom>
              <a:blipFill>
                <a:blip r:embed="rId5"/>
                <a:stretch>
                  <a:fillRect b="-164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8" name="Rectangle 3082"/>
          <p:cNvSpPr>
            <a:spLocks noChangeArrowheads="1"/>
          </p:cNvSpPr>
          <p:nvPr/>
        </p:nvSpPr>
        <p:spPr bwMode="auto">
          <a:xfrm>
            <a:off x="6405072" y="4703504"/>
            <a:ext cx="280560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CC6600"/>
                </a:solidFill>
                <a:ea typeface="黑体" panose="02010609060101010101" pitchFamily="49" charset="-122"/>
              </a:rPr>
              <a:t>平面的一般方程</a:t>
            </a:r>
          </a:p>
        </p:txBody>
      </p:sp>
      <p:sp>
        <p:nvSpPr>
          <p:cNvPr id="12299" name="Text Box 3083"/>
          <p:cNvSpPr txBox="1">
            <a:spLocks noChangeArrowheads="1"/>
          </p:cNvSpPr>
          <p:nvPr/>
        </p:nvSpPr>
        <p:spPr bwMode="auto">
          <a:xfrm>
            <a:off x="2812023" y="5348047"/>
            <a:ext cx="1905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法向量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00" name="Object 3084"/>
              <p:cNvSpPr txBox="1"/>
              <p:nvPr/>
            </p:nvSpPr>
            <p:spPr bwMode="auto">
              <a:xfrm>
                <a:off x="3963148" y="5348047"/>
                <a:ext cx="2275728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b="1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={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}.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300" name="Object 30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63148" y="5348047"/>
                <a:ext cx="2275728" cy="5191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01" name="Rectangle 3085"/>
          <p:cNvSpPr>
            <a:spLocks noGrp="1" noChangeArrowheads="1"/>
          </p:cNvSpPr>
          <p:nvPr>
            <p:ph type="title" idx="4294967295"/>
          </p:nvPr>
        </p:nvSpPr>
        <p:spPr>
          <a:xfrm>
            <a:off x="1692680" y="856202"/>
            <a:ext cx="4165195" cy="651882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三、平面的一般方程</a:t>
            </a:r>
          </a:p>
        </p:txBody>
      </p:sp>
    </p:spTree>
    <p:extLst>
      <p:ext uri="{BB962C8B-B14F-4D97-AF65-F5344CB8AC3E}">
        <p14:creationId xmlns:p14="http://schemas.microsoft.com/office/powerpoint/2010/main" val="5609638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5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75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25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291" grpId="0" autoUpdateAnimBg="0"/>
      <p:bldP spid="12292" grpId="0"/>
      <p:bldP spid="12293" grpId="0"/>
      <p:bldP spid="12295" grpId="0"/>
      <p:bldP spid="12296" grpId="0"/>
      <p:bldP spid="12298" grpId="0" autoUpdateAnimBg="0"/>
      <p:bldP spid="12299" grpId="0" autoUpdateAnimBg="0"/>
      <p:bldP spid="12300" grpId="0"/>
      <p:bldP spid="1230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843D298-AC9E-D490-84E0-31CC2261C38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9" name="PA-102232">
              <a:extLst>
                <a:ext uri="{FF2B5EF4-FFF2-40B4-BE49-F238E27FC236}">
                  <a16:creationId xmlns:a16="http://schemas.microsoft.com/office/drawing/2014/main" id="{238BD807-9B04-4723-D908-503E8CD2034A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E68CB545-4DEF-33C9-7B13-17063C8B191C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1" name="Rectangle 1">
                <a:extLst>
                  <a:ext uri="{FF2B5EF4-FFF2-40B4-BE49-F238E27FC236}">
                    <a16:creationId xmlns:a16="http://schemas.microsoft.com/office/drawing/2014/main" id="{D6CED2E9-5D60-CC19-BF47-8BEEB1633D27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2" name="Rectangle 1">
                <a:extLst>
                  <a:ext uri="{FF2B5EF4-FFF2-40B4-BE49-F238E27FC236}">
                    <a16:creationId xmlns:a16="http://schemas.microsoft.com/office/drawing/2014/main" id="{ADCB69D5-D472-7319-7092-F9C619E5967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">
                <a:extLst>
                  <a:ext uri="{FF2B5EF4-FFF2-40B4-BE49-F238E27FC236}">
                    <a16:creationId xmlns:a16="http://schemas.microsoft.com/office/drawing/2014/main" id="{B80D5F66-1133-F4C9-7AA3-8E838574F2CD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1981201" y="869100"/>
            <a:ext cx="51871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平面一般方程的几种特殊情况：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5" name="Object 3"/>
              <p:cNvSpPr txBox="1"/>
              <p:nvPr/>
            </p:nvSpPr>
            <p:spPr bwMode="auto">
              <a:xfrm>
                <a:off x="1981200" y="1618044"/>
                <a:ext cx="1867193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𝐷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3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1200" y="1618044"/>
                <a:ext cx="1867193" cy="51911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16" name="Text Box 4"/>
          <p:cNvSpPr txBox="1">
            <a:spLocks noChangeArrowheads="1"/>
          </p:cNvSpPr>
          <p:nvPr/>
        </p:nvSpPr>
        <p:spPr bwMode="auto">
          <a:xfrm>
            <a:off x="3711082" y="1608138"/>
            <a:ext cx="329931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平面通过坐标原点；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17" name="Object 5"/>
              <p:cNvSpPr txBox="1"/>
              <p:nvPr/>
            </p:nvSpPr>
            <p:spPr bwMode="auto">
              <a:xfrm>
                <a:off x="1964338" y="2564605"/>
                <a:ext cx="1867193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(2) 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31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4338" y="2564605"/>
                <a:ext cx="1867193" cy="51911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8" name="Object 6"/>
              <p:cNvSpPr txBox="1"/>
              <p:nvPr/>
            </p:nvSpPr>
            <p:spPr bwMode="auto">
              <a:xfrm>
                <a:off x="3639644" y="2315358"/>
                <a:ext cx="1422205" cy="11128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𝐷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=0,</m:t>
                              </m:r>
                            </m:e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𝐷</m:t>
                              </m:r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≠0,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31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39644" y="2315358"/>
                <a:ext cx="1422205" cy="11128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19" name="Text Box 7"/>
              <p:cNvSpPr txBox="1">
                <a:spLocks noChangeArrowheads="1"/>
              </p:cNvSpPr>
              <p:nvPr/>
            </p:nvSpPr>
            <p:spPr bwMode="auto">
              <a:xfrm>
                <a:off x="5017294" y="2329738"/>
                <a:ext cx="26670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平面通过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800" dirty="0"/>
                  <a:t>轴；</a:t>
                </a:r>
              </a:p>
            </p:txBody>
          </p:sp>
        </mc:Choice>
        <mc:Fallback xmlns="">
          <p:sp>
            <p:nvSpPr>
              <p:cNvPr id="13319" name="Text 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7294" y="2329738"/>
                <a:ext cx="2667000" cy="523220"/>
              </a:xfrm>
              <a:prstGeom prst="rect">
                <a:avLst/>
              </a:prstGeom>
              <a:blipFill>
                <a:blip r:embed="rId6"/>
                <a:stretch>
                  <a:fillRect l="-4566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2" name="Text Box 10"/>
              <p:cNvSpPr txBox="1">
                <a:spLocks noChangeArrowheads="1"/>
              </p:cNvSpPr>
              <p:nvPr/>
            </p:nvSpPr>
            <p:spPr bwMode="auto">
              <a:xfrm>
                <a:off x="5017294" y="2849296"/>
                <a:ext cx="293449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平面平行于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800" dirty="0"/>
                  <a:t>轴；</a:t>
                </a:r>
              </a:p>
            </p:txBody>
          </p:sp>
        </mc:Choice>
        <mc:Fallback xmlns="">
          <p:sp>
            <p:nvSpPr>
              <p:cNvPr id="13322" name="Text 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7294" y="2849296"/>
                <a:ext cx="2934494" cy="523220"/>
              </a:xfrm>
              <a:prstGeom prst="rect">
                <a:avLst/>
              </a:prstGeom>
              <a:blipFill>
                <a:blip r:embed="rId7"/>
                <a:stretch>
                  <a:fillRect l="-4158" t="-13953" r="-2287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8" name="Object 16"/>
              <p:cNvSpPr txBox="1"/>
              <p:nvPr/>
            </p:nvSpPr>
            <p:spPr bwMode="auto">
              <a:xfrm>
                <a:off x="1931741" y="4167189"/>
                <a:ext cx="2769587" cy="5286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(3) 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332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1741" y="4167189"/>
                <a:ext cx="2769587" cy="52864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29" name="Text Box 17"/>
              <p:cNvSpPr txBox="1">
                <a:spLocks noChangeArrowheads="1"/>
              </p:cNvSpPr>
              <p:nvPr/>
            </p:nvSpPr>
            <p:spPr bwMode="auto">
              <a:xfrm>
                <a:off x="4367953" y="4176719"/>
                <a:ext cx="406717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平面平行于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b="0" i="1" smtClean="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𝑂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</m:oMath>
                </a14:m>
                <a:r>
                  <a:rPr lang="zh-CN" altLang="en-US" sz="2800" dirty="0"/>
                  <a:t>坐标面；</a:t>
                </a:r>
              </a:p>
            </p:txBody>
          </p:sp>
        </mc:Choice>
        <mc:Fallback xmlns="">
          <p:sp>
            <p:nvSpPr>
              <p:cNvPr id="13329" name="Text 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67953" y="4176719"/>
                <a:ext cx="4067175" cy="523220"/>
              </a:xfrm>
              <a:prstGeom prst="rect">
                <a:avLst/>
              </a:prstGeom>
              <a:blipFill>
                <a:blip r:embed="rId9"/>
                <a:stretch>
                  <a:fillRect l="-3148" t="-13953" r="-1799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2" name="Text Box 20"/>
              <p:cNvSpPr txBox="1">
                <a:spLocks noChangeArrowheads="1"/>
              </p:cNvSpPr>
              <p:nvPr/>
            </p:nvSpPr>
            <p:spPr bwMode="auto">
              <a:xfrm>
                <a:off x="2462662" y="4850265"/>
                <a:ext cx="67818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类似地可讨论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𝐴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=0,  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2800" dirty="0"/>
                  <a:t>情形</a:t>
                </a:r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13332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62662" y="4850265"/>
                <a:ext cx="6781800" cy="523220"/>
              </a:xfrm>
              <a:prstGeom prst="rect">
                <a:avLst/>
              </a:prstGeom>
              <a:blipFill>
                <a:blip r:embed="rId10"/>
                <a:stretch>
                  <a:fillRect l="-1888" t="-15294" r="-1349" b="-3058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35" name="Rectangle 23"/>
              <p:cNvSpPr>
                <a:spLocks noChangeArrowheads="1"/>
              </p:cNvSpPr>
              <p:nvPr/>
            </p:nvSpPr>
            <p:spPr bwMode="auto">
              <a:xfrm>
                <a:off x="2495259" y="3512376"/>
                <a:ext cx="513318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/>
                  <a:t>类似地可讨论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=0,</m:t>
                    </m:r>
                    <m:r>
                      <a:rPr kumimoji="1" lang="zh-CN" altLang="en-US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a:rPr kumimoji="1" lang="zh-CN" altLang="en-US" sz="280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</m:t>
                    </m:r>
                  </m:oMath>
                </a14:m>
                <a:r>
                  <a:rPr lang="zh-CN" altLang="en-US" sz="2800" dirty="0"/>
                  <a:t>情形</a:t>
                </a:r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13335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5259" y="3512376"/>
                <a:ext cx="5133180" cy="523220"/>
              </a:xfrm>
              <a:prstGeom prst="rect">
                <a:avLst/>
              </a:prstGeom>
              <a:blipFill>
                <a:blip r:embed="rId11"/>
                <a:stretch>
                  <a:fillRect l="-2375" t="-13953" r="-2375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55525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/>
      <p:bldP spid="13315" grpId="0"/>
      <p:bldP spid="13316" grpId="0" autoUpdateAnimBg="0"/>
      <p:bldP spid="13317" grpId="0"/>
      <p:bldP spid="13318" grpId="0"/>
      <p:bldP spid="13319" grpId="0"/>
      <p:bldP spid="13322" grpId="0"/>
      <p:bldP spid="13328" grpId="0"/>
      <p:bldP spid="13329" grpId="0"/>
      <p:bldP spid="13332" grpId="0"/>
      <p:bldP spid="1333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A381924-274C-86E1-1836-B9F4032223D6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0D73238-6A10-7C34-9E11-E4A4DAF979C7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A613FB0-C30C-86F4-7E13-66EF50F5971B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F7381C13-A1B8-69D3-48E9-37813A603BCF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63C46623-DE41-9E13-B185-D4537490AFC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740AB001-3F44-0F42-9B76-2DCF1C0CCA22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240" name="Text Box 192"/>
          <p:cNvSpPr txBox="1">
            <a:spLocks noChangeArrowheads="1"/>
          </p:cNvSpPr>
          <p:nvPr/>
        </p:nvSpPr>
        <p:spPr bwMode="auto">
          <a:xfrm>
            <a:off x="1197368" y="1152495"/>
            <a:ext cx="82728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2241" name="Rectangle 193"/>
          <p:cNvSpPr>
            <a:spLocks noChangeArrowheads="1"/>
          </p:cNvSpPr>
          <p:nvPr/>
        </p:nvSpPr>
        <p:spPr bwMode="auto">
          <a:xfrm>
            <a:off x="1231803" y="2163633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2" name="Text Box 194"/>
              <p:cNvSpPr txBox="1">
                <a:spLocks noChangeArrowheads="1"/>
              </p:cNvSpPr>
              <p:nvPr/>
            </p:nvSpPr>
            <p:spPr bwMode="auto">
              <a:xfrm>
                <a:off x="2025356" y="2228651"/>
                <a:ext cx="2326785" cy="45313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所求平面通过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</a:t>
                </a:r>
              </a:p>
            </p:txBody>
          </p:sp>
        </mc:Choice>
        <mc:Fallback xmlns="">
          <p:sp>
            <p:nvSpPr>
              <p:cNvPr id="2242" name="Text Box 1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5356" y="2228651"/>
                <a:ext cx="2326785" cy="453137"/>
              </a:xfrm>
              <a:prstGeom prst="rect">
                <a:avLst/>
              </a:prstGeom>
              <a:blipFill>
                <a:blip r:embed="rId2"/>
                <a:stretch>
                  <a:fillRect l="-3403" t="-9459" r="-2618" b="-216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3" name="Text Box 195"/>
              <p:cNvSpPr txBox="1">
                <a:spLocks noChangeArrowheads="1"/>
              </p:cNvSpPr>
              <p:nvPr/>
            </p:nvSpPr>
            <p:spPr bwMode="auto">
              <a:xfrm>
                <a:off x="4633459" y="2043204"/>
                <a:ext cx="284128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平行于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轴，故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𝐴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=0,</m:t>
                    </m:r>
                  </m:oMath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43" name="Text Box 1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3459" y="2043204"/>
                <a:ext cx="2841287" cy="430887"/>
              </a:xfrm>
              <a:prstGeom prst="rect">
                <a:avLst/>
              </a:prstGeom>
              <a:blipFill>
                <a:blip r:embed="rId3"/>
                <a:stretch>
                  <a:fillRect l="-2790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4" name="Text Box 196"/>
              <p:cNvSpPr txBox="1">
                <a:spLocks noChangeArrowheads="1"/>
              </p:cNvSpPr>
              <p:nvPr/>
            </p:nvSpPr>
            <p:spPr bwMode="auto">
              <a:xfrm>
                <a:off x="4648985" y="2582943"/>
                <a:ext cx="2795597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过原点，所以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𝐷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244" name="Text Box 1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48985" y="2582943"/>
                <a:ext cx="2795597" cy="430887"/>
              </a:xfrm>
              <a:prstGeom prst="rect">
                <a:avLst/>
              </a:prstGeom>
              <a:blipFill>
                <a:blip r:embed="rId4"/>
                <a:stretch>
                  <a:fillRect l="-2838" t="-14286" b="-2857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45" name="AutoShape 197"/>
          <p:cNvSpPr>
            <a:spLocks/>
          </p:cNvSpPr>
          <p:nvPr/>
        </p:nvSpPr>
        <p:spPr bwMode="auto">
          <a:xfrm>
            <a:off x="4428332" y="2039833"/>
            <a:ext cx="144462" cy="935037"/>
          </a:xfrm>
          <a:prstGeom prst="leftBrace">
            <a:avLst>
              <a:gd name="adj1" fmla="val 539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46" name="Text Box 198"/>
              <p:cNvSpPr txBox="1">
                <a:spLocks noChangeArrowheads="1"/>
              </p:cNvSpPr>
              <p:nvPr/>
            </p:nvSpPr>
            <p:spPr bwMode="auto">
              <a:xfrm>
                <a:off x="2025357" y="3146185"/>
                <a:ext cx="471834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故可设所求平面方程为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  <m:r>
                      <a:rPr kumimoji="1" lang="zh-CN" altLang="en-US" sz="24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+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𝐶𝑧</m:t>
                    </m:r>
                    <m:r>
                      <a:rPr kumimoji="1"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=0,</m:t>
                    </m:r>
                  </m:oMath>
                </a14:m>
                <a:endParaRPr lang="zh-CN" altLang="en-US" sz="22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46" name="Text Box 1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5357" y="3146185"/>
                <a:ext cx="4718344" cy="461665"/>
              </a:xfrm>
              <a:prstGeom prst="rect">
                <a:avLst/>
              </a:prstGeom>
              <a:blipFill>
                <a:blip r:embed="rId5"/>
                <a:stretch>
                  <a:fillRect l="-1680" t="-9211" b="-1973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7" name="Rectangle 199"/>
              <p:cNvSpPr>
                <a:spLocks noChangeArrowheads="1"/>
              </p:cNvSpPr>
              <p:nvPr/>
            </p:nvSpPr>
            <p:spPr bwMode="auto">
              <a:xfrm>
                <a:off x="6584835" y="3163331"/>
                <a:ext cx="297728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将点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(3, 1, −1)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代入方程</a:t>
                </a:r>
              </a:p>
            </p:txBody>
          </p:sp>
        </mc:Choice>
        <mc:Fallback xmlns="">
          <p:sp>
            <p:nvSpPr>
              <p:cNvPr id="2247" name="Rectangle 19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84835" y="3163331"/>
                <a:ext cx="2977289" cy="430887"/>
              </a:xfrm>
              <a:prstGeom prst="rect">
                <a:avLst/>
              </a:prstGeom>
              <a:blipFill>
                <a:blip r:embed="rId6"/>
                <a:stretch>
                  <a:fillRect l="-2658" t="-14085" r="-2249" b="-2253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8" name="Rectangle 200"/>
              <p:cNvSpPr>
                <a:spLocks noChangeArrowheads="1"/>
              </p:cNvSpPr>
              <p:nvPr/>
            </p:nvSpPr>
            <p:spPr bwMode="auto">
              <a:xfrm>
                <a:off x="2024650" y="3788583"/>
                <a:ext cx="2016125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zh-CN" sz="20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  <m:r>
                      <a:rPr kumimoji="1" lang="zh-CN" altLang="en-US" sz="20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0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+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𝐶𝑧</m:t>
                    </m:r>
                    <m:r>
                      <a:rPr kumimoji="1" lang="en-US" altLang="zh-CN" sz="20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=0, 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得</a:t>
                </a:r>
              </a:p>
            </p:txBody>
          </p:sp>
        </mc:Choice>
        <mc:Fallback xmlns="">
          <p:sp>
            <p:nvSpPr>
              <p:cNvPr id="2248" name="Rectangle 20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4650" y="3788583"/>
                <a:ext cx="2016125" cy="430887"/>
              </a:xfrm>
              <a:prstGeom prst="rect">
                <a:avLst/>
              </a:prstGeom>
              <a:blipFill>
                <a:blip r:embed="rId7"/>
                <a:stretch>
                  <a:fillRect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9" name="Rectangle 201"/>
              <p:cNvSpPr>
                <a:spLocks noChangeArrowheads="1"/>
              </p:cNvSpPr>
              <p:nvPr/>
            </p:nvSpPr>
            <p:spPr bwMode="auto">
              <a:xfrm>
                <a:off x="3771222" y="3788583"/>
                <a:ext cx="1546561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en-US" altLang="zh-CN" sz="2200" b="0" i="1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49" name="Rectangle 20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1222" y="3788583"/>
                <a:ext cx="1546561" cy="430887"/>
              </a:xfrm>
              <a:prstGeom prst="rect">
                <a:avLst/>
              </a:prstGeom>
              <a:blipFill>
                <a:blip r:embed="rId8"/>
                <a:stretch>
                  <a:fillRect l="-39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0" name="Text Box 202"/>
              <p:cNvSpPr txBox="1">
                <a:spLocks noChangeArrowheads="1"/>
              </p:cNvSpPr>
              <p:nvPr/>
            </p:nvSpPr>
            <p:spPr bwMode="auto">
              <a:xfrm>
                <a:off x="5142006" y="3788583"/>
                <a:ext cx="1402338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即 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a:rPr kumimoji="1" lang="en-US" altLang="zh-CN" sz="2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 </m:t>
                    </m:r>
                  </m:oMath>
                </a14:m>
                <a:r>
                  <a: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250" name="Text Box 20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42006" y="3788583"/>
                <a:ext cx="1402338" cy="430887"/>
              </a:xfrm>
              <a:prstGeom prst="rect">
                <a:avLst/>
              </a:prstGeom>
              <a:blipFill>
                <a:blip r:embed="rId9"/>
                <a:stretch>
                  <a:fillRect l="-5652" t="-12676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1" name="Text Box 203"/>
              <p:cNvSpPr txBox="1">
                <a:spLocks noChangeArrowheads="1"/>
              </p:cNvSpPr>
              <p:nvPr/>
            </p:nvSpPr>
            <p:spPr bwMode="auto">
              <a:xfrm>
                <a:off x="1982447" y="4441975"/>
                <a:ext cx="2818154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于是有</a:t>
                </a:r>
                <a14:m>
                  <m:oMath xmlns:m="http://schemas.openxmlformats.org/officeDocument/2006/math">
                    <m:r>
                      <a:rPr kumimoji="1" lang="en-US" altLang="zh-CN" sz="24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a:rPr kumimoji="1" lang="zh-CN" altLang="en-US" sz="24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𝑦</m:t>
                    </m:r>
                    <m:r>
                      <a:rPr kumimoji="1" lang="en-US" altLang="zh-CN" sz="24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+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𝐶𝑧</m:t>
                    </m:r>
                    <m:r>
                      <a:rPr kumimoji="1" lang="en-US" altLang="zh-CN" sz="24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=0, </m:t>
                    </m:r>
                  </m:oMath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1" name="Text Box 20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2447" y="4441975"/>
                <a:ext cx="2818154" cy="461665"/>
              </a:xfrm>
              <a:prstGeom prst="rect">
                <a:avLst/>
              </a:prstGeom>
              <a:blipFill>
                <a:blip r:embed="rId10"/>
                <a:stretch>
                  <a:fillRect l="-2808" t="-8000" b="-213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2" name="Text Box 204"/>
              <p:cNvSpPr txBox="1">
                <a:spLocks noChangeArrowheads="1"/>
              </p:cNvSpPr>
              <p:nvPr/>
            </p:nvSpPr>
            <p:spPr bwMode="auto">
              <a:xfrm>
                <a:off x="4633459" y="4457363"/>
                <a:ext cx="1476460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m:rPr>
                        <m:nor/>
                      </m:rPr>
                      <a:rPr lang="en-US" altLang="zh-CN" sz="24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0,</m:t>
                    </m:r>
                  </m:oMath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  <a:sym typeface="Symbol" panose="05050102010706020507" pitchFamily="18" charset="2"/>
                </a:endParaRPr>
              </a:p>
            </p:txBody>
          </p:sp>
        </mc:Choice>
        <mc:Fallback xmlns="">
          <p:sp>
            <p:nvSpPr>
              <p:cNvPr id="2252" name="Text Box 2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3459" y="4457363"/>
                <a:ext cx="1476460" cy="430887"/>
              </a:xfrm>
              <a:prstGeom prst="rect">
                <a:avLst/>
              </a:prstGeom>
              <a:blipFill>
                <a:blip r:embed="rId11"/>
                <a:stretch>
                  <a:fillRect l="-5372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" name="Rectangle 205"/>
              <p:cNvSpPr>
                <a:spLocks noChangeArrowheads="1"/>
              </p:cNvSpPr>
              <p:nvPr/>
            </p:nvSpPr>
            <p:spPr bwMode="auto">
              <a:xfrm>
                <a:off x="1973553" y="5036668"/>
                <a:ext cx="3761189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故所求平面方程为</a:t>
                </a:r>
                <a14:m>
                  <m:oMath xmlns:m="http://schemas.openxmlformats.org/officeDocument/2006/math">
                    <m:r>
                      <a:rPr kumimoji="1" lang="en-US" altLang="zh-CN" sz="22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𝑦</m:t>
                    </m:r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+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  <m:r>
                      <a:rPr kumimoji="1" lang="en-US" altLang="zh-CN" sz="22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=0.</m:t>
                    </m:r>
                  </m:oMath>
                </a14:m>
                <a:r>
                  <a:rPr kumimoji="1" lang="en-US" altLang="zh-CN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</a:p>
            </p:txBody>
          </p:sp>
        </mc:Choice>
        <mc:Fallback xmlns="">
          <p:sp>
            <p:nvSpPr>
              <p:cNvPr id="2253" name="Rectangle 2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3553" y="5036668"/>
                <a:ext cx="3761189" cy="430887"/>
              </a:xfrm>
              <a:prstGeom prst="rect">
                <a:avLst/>
              </a:prstGeom>
              <a:blipFill>
                <a:blip r:embed="rId12"/>
                <a:stretch>
                  <a:fillRect l="-2107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05">
                <a:extLst>
                  <a:ext uri="{FF2B5EF4-FFF2-40B4-BE49-F238E27FC236}">
                    <a16:creationId xmlns:a16="http://schemas.microsoft.com/office/drawing/2014/main" id="{4CF85C97-0B0D-C120-B7F0-D256C4B678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1542" y="1163606"/>
                <a:ext cx="6040929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求通过</a:t>
                </a:r>
                <a14:m>
                  <m:oMath xmlns:m="http://schemas.openxmlformats.org/officeDocument/2006/math">
                    <m:r>
                      <a:rPr kumimoji="1" lang="zh-CN" altLang="en-US" sz="28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轴和点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(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3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1, </m:t>
                    </m:r>
                    <m:r>
                      <a:rPr kumimoji="1" lang="en-US" altLang="zh-CN" sz="2800" b="0" i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−1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的平面方程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3" name="Rectangle 205">
                <a:extLst>
                  <a:ext uri="{FF2B5EF4-FFF2-40B4-BE49-F238E27FC236}">
                    <a16:creationId xmlns:a16="http://schemas.microsoft.com/office/drawing/2014/main" id="{4CF85C97-0B0D-C120-B7F0-D256C4B678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1542" y="1163606"/>
                <a:ext cx="6040929" cy="523220"/>
              </a:xfrm>
              <a:prstGeom prst="rect">
                <a:avLst/>
              </a:prstGeom>
              <a:blipFill>
                <a:blip r:embed="rId14"/>
                <a:stretch>
                  <a:fillRect l="-2018" t="-16279" b="-3255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0948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40" grpId="0"/>
      <p:bldP spid="2241" grpId="0"/>
      <p:bldP spid="2242" grpId="0"/>
      <p:bldP spid="2243" grpId="0"/>
      <p:bldP spid="2244" grpId="0"/>
      <p:bldP spid="2246" grpId="0"/>
      <p:bldP spid="2247" grpId="0"/>
      <p:bldP spid="2248" grpId="0"/>
      <p:bldP spid="2249" grpId="0"/>
      <p:bldP spid="2250" grpId="0"/>
      <p:bldP spid="2251" grpId="0"/>
      <p:bldP spid="2252" grpId="0"/>
      <p:bldP spid="2253" grpId="0"/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906A814-0C50-6968-1433-00BC4F4B8383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65097513-8934-CD4E-DA99-7897FFCC976F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85500220-C81D-1BBA-4C09-5D454B4FA142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2018A145-5339-9DC1-1993-59188F06D6D3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29C0CB66-D0B3-8309-FA40-D5FED6CCD0E0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CE8B2EC9-8F7D-027F-0F25-0F041A320501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15364" name="Text Box 4"/>
          <p:cNvSpPr txBox="1">
            <a:spLocks noChangeArrowheads="1"/>
          </p:cNvSpPr>
          <p:nvPr/>
        </p:nvSpPr>
        <p:spPr bwMode="auto">
          <a:xfrm>
            <a:off x="2011249" y="2851799"/>
            <a:ext cx="1419999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设平面为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Object 5"/>
              <p:cNvSpPr txBox="1"/>
              <p:nvPr/>
            </p:nvSpPr>
            <p:spPr bwMode="auto">
              <a:xfrm>
                <a:off x="3177395" y="2864836"/>
                <a:ext cx="2995807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𝐷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36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7395" y="2864836"/>
                <a:ext cx="2995807" cy="404812"/>
              </a:xfrm>
              <a:prstGeom prst="rect">
                <a:avLst/>
              </a:prstGeom>
              <a:blipFill>
                <a:blip r:embed="rId2"/>
                <a:stretch>
                  <a:fillRect l="-203" b="-257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6" name="Text Box 6"/>
          <p:cNvSpPr txBox="1">
            <a:spLocks noChangeArrowheads="1"/>
          </p:cNvSpPr>
          <p:nvPr/>
        </p:nvSpPr>
        <p:spPr bwMode="auto">
          <a:xfrm>
            <a:off x="2008750" y="3840383"/>
            <a:ext cx="2514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将三点坐标代入得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7" name="Object 7"/>
              <p:cNvSpPr txBox="1"/>
              <p:nvPr/>
            </p:nvSpPr>
            <p:spPr bwMode="auto">
              <a:xfrm>
                <a:off x="4386968" y="3450578"/>
                <a:ext cx="1933101" cy="12064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𝑎𝐴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𝐷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=0,</m:t>
                              </m:r>
                            </m: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𝑏𝐵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𝐷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=0,</m:t>
                              </m:r>
                            </m:e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&amp;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𝑐𝐶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𝐷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=0,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36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86968" y="3450578"/>
                <a:ext cx="1933101" cy="12064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8" name="Object 8"/>
              <p:cNvSpPr txBox="1"/>
              <p:nvPr/>
            </p:nvSpPr>
            <p:spPr bwMode="auto">
              <a:xfrm>
                <a:off x="2128411" y="4873518"/>
                <a:ext cx="478225" cy="4365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⇒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36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28411" y="4873518"/>
                <a:ext cx="478225" cy="4365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9" name="Object 9"/>
              <p:cNvSpPr txBox="1"/>
              <p:nvPr/>
            </p:nvSpPr>
            <p:spPr bwMode="auto">
              <a:xfrm>
                <a:off x="2416121" y="4715282"/>
                <a:ext cx="1327278" cy="758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𝐷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36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6121" y="4715282"/>
                <a:ext cx="1327278" cy="75813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0" name="Object 10"/>
              <p:cNvSpPr txBox="1"/>
              <p:nvPr/>
            </p:nvSpPr>
            <p:spPr bwMode="auto">
              <a:xfrm>
                <a:off x="3626251" y="4715282"/>
                <a:ext cx="1327278" cy="758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𝐷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𝑏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370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626251" y="4715282"/>
                <a:ext cx="1327278" cy="7581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1" name="Object 11"/>
              <p:cNvSpPr txBox="1"/>
              <p:nvPr/>
            </p:nvSpPr>
            <p:spPr bwMode="auto">
              <a:xfrm>
                <a:off x="4859569" y="4715282"/>
                <a:ext cx="1460500" cy="752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𝐷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𝑐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37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59569" y="4715282"/>
                <a:ext cx="1460500" cy="7527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1348997" y="2819901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 Box 6">
                <a:extLst>
                  <a:ext uri="{FF2B5EF4-FFF2-40B4-BE49-F238E27FC236}">
                    <a16:creationId xmlns:a16="http://schemas.microsoft.com/office/drawing/2014/main" id="{7399B514-7136-3D4B-7A9A-4E00B0A221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48997" y="1203218"/>
                <a:ext cx="9769932" cy="1169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en-US" altLang="zh-CN" sz="2800" dirty="0"/>
                  <a:t> </a:t>
                </a:r>
                <a:r>
                  <a:rPr lang="zh-CN" altLang="en-US" sz="2800" dirty="0"/>
                  <a:t>设平面与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𝑥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,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𝑦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,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𝑧</m:t>
                    </m:r>
                  </m:oMath>
                </a14:m>
                <a:r>
                  <a:rPr lang="zh-CN" altLang="en-US" sz="2800" dirty="0"/>
                  <a:t>三轴分别交于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𝑃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𝑎</m:t>
                        </m:r>
                        <m:r>
                          <a:rPr lang="en-US" altLang="zh-CN" sz="2800" b="0" i="0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,0,0</m:t>
                        </m:r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、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𝑄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0,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𝑏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,0</m:t>
                        </m:r>
                      </m:e>
                    </m:d>
                    <m:r>
                      <a:rPr lang="zh-CN" altLang="en-US" sz="2800" i="1">
                        <a:latin typeface="Cambria Math" panose="02040503050406030204" pitchFamily="18" charset="0"/>
                        <a:cs typeface="Cambria Math" panose="02040503050406030204" charset="0"/>
                      </a:rPr>
                      <m:t>、</m:t>
                    </m:r>
                  </m:oMath>
                </a14:m>
                <a:endParaRPr lang="en-US" altLang="zh-CN" sz="2800" b="0" dirty="0">
                  <a:cs typeface="Cambria Math" panose="02040503050406030204" charset="0"/>
                </a:endParaRPr>
              </a:p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    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 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𝑅</m:t>
                    </m:r>
                    <m:d>
                      <m:d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0,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0</m:t>
                        </m:r>
                        <m: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,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𝑐</m:t>
                        </m:r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cs typeface="Cambria Math" panose="02040503050406030204" charset="0"/>
                      </a:rPr>
                      <m:t>  </m:t>
                    </m:r>
                    <m:d>
                      <m:dPr>
                        <m:ctrlP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</m:ctrlPr>
                      </m:dPr>
                      <m:e>
                        <m:r>
                          <a:rPr lang="zh-CN" altLang="en-US" sz="2800" i="1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其中</m:t>
                        </m:r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cs typeface="Cambria Math" panose="02040503050406030204" charset="0"/>
                          </a:rPr>
                          <m:t>𝑎</m:t>
                        </m:r>
                        <m:r>
                          <m:rPr>
                            <m:nor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𝑏</m:t>
                        </m:r>
                        <m:r>
                          <m:rPr>
                            <m:nor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  <m:r>
                          <a:rPr kumimoji="1" lang="en-US" altLang="zh-CN" sz="2800" b="0" i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  <m:r>
                          <a:rPr kumimoji="1"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𝑐</m:t>
                        </m:r>
                        <m:r>
                          <m:rPr>
                            <m:nor/>
                          </m:rPr>
                          <a:rPr lang="en-US" altLang="zh-CN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≠</m:t>
                        </m:r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e>
                    </m:d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 </m:t>
                    </m:r>
                  </m:oMath>
                </a14:m>
                <a:r>
                  <a:rPr kumimoji="1" lang="zh-CN" altLang="en-US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求此平面方程</a:t>
                </a:r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.</a:t>
                </a:r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" name="Text Box 6">
                <a:extLst>
                  <a:ext uri="{FF2B5EF4-FFF2-40B4-BE49-F238E27FC236}">
                    <a16:creationId xmlns:a16="http://schemas.microsoft.com/office/drawing/2014/main" id="{7399B514-7136-3D4B-7A9A-4E00B0A22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8997" y="1203218"/>
                <a:ext cx="9769932" cy="1169551"/>
              </a:xfrm>
              <a:prstGeom prst="rect">
                <a:avLst/>
              </a:prstGeom>
              <a:blipFill>
                <a:blip r:embed="rId9"/>
                <a:stretch>
                  <a:fillRect l="-1248" t="-6771" b="-135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表, 雷达图&#10;&#10;描述已自动生成">
            <a:extLst>
              <a:ext uri="{FF2B5EF4-FFF2-40B4-BE49-F238E27FC236}">
                <a16:creationId xmlns:a16="http://schemas.microsoft.com/office/drawing/2014/main" id="{64D7CAAF-D941-E3D6-9C25-4538B7F538A8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121" y="2502728"/>
            <a:ext cx="3023149" cy="33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96041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utoUpdateAnimBg="0"/>
      <p:bldP spid="15365" grpId="0"/>
      <p:bldP spid="15366" grpId="0" autoUpdateAnimBg="0"/>
      <p:bldP spid="15367" grpId="0"/>
      <p:bldP spid="15368" grpId="0"/>
      <p:bldP spid="15369" grpId="0"/>
      <p:bldP spid="15370" grpId="0"/>
      <p:bldP spid="15371" grpId="0"/>
      <p:bldP spid="15372" grpId="0" autoUpdateAnimBg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A4829FCA-3362-4CEF-A155-9EFB4CEA0E09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D4D33CC9-0EF6-2175-E928-69C42E48681F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52E5B587-B223-5D1B-28A1-06925AA4588A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4AB027B-8864-33B7-71F7-EA5860B3A908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B9A88E07-4820-C44B-6E42-CF98B2B281D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0FEB6618-DFC6-5366-BC9E-2F01BC61F474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grpSp>
        <p:nvGrpSpPr>
          <p:cNvPr id="16404" name="Group 20"/>
          <p:cNvGrpSpPr>
            <a:grpSpLocks/>
          </p:cNvGrpSpPr>
          <p:nvPr/>
        </p:nvGrpSpPr>
        <p:grpSpPr bwMode="auto">
          <a:xfrm>
            <a:off x="2789478" y="1296111"/>
            <a:ext cx="5192713" cy="954088"/>
            <a:chOff x="457" y="645"/>
            <a:chExt cx="3271" cy="6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6" name="Object 2"/>
                <p:cNvSpPr txBox="1"/>
                <p:nvPr/>
              </p:nvSpPr>
              <p:spPr bwMode="auto">
                <a:xfrm>
                  <a:off x="665" y="645"/>
                  <a:ext cx="928" cy="5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𝐴</m:t>
                        </m:r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𝐷</m:t>
                            </m:r>
                          </m:num>
                          <m:den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𝑎</m:t>
                            </m:r>
                          </m:den>
                        </m:f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386" name="Object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5" y="645"/>
                  <a:ext cx="928" cy="56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7" name="Object 3"/>
                <p:cNvSpPr txBox="1"/>
                <p:nvPr/>
              </p:nvSpPr>
              <p:spPr bwMode="auto">
                <a:xfrm>
                  <a:off x="1403" y="668"/>
                  <a:ext cx="928" cy="5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𝐵</m:t>
                        </m:r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𝐷</m:t>
                            </m:r>
                          </m:num>
                          <m:den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𝑏</m:t>
                            </m:r>
                          </m:den>
                        </m:f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387" name="Object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3" y="668"/>
                  <a:ext cx="928" cy="56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88" name="Object 4"/>
                <p:cNvSpPr txBox="1"/>
                <p:nvPr/>
              </p:nvSpPr>
              <p:spPr bwMode="auto">
                <a:xfrm>
                  <a:off x="2148" y="678"/>
                  <a:ext cx="1580" cy="56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𝐶</m:t>
                        </m:r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=−</m:t>
                        </m:r>
                        <m:f>
                          <m:f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𝐷</m:t>
                            </m:r>
                          </m:num>
                          <m:den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𝑐</m:t>
                            </m:r>
                          </m:den>
                        </m:f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,</m:t>
                        </m:r>
                      </m:oMath>
                    </m:oMathPara>
                  </a14:m>
                  <a:endPara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388" name="Object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48" y="678"/>
                  <a:ext cx="1580" cy="5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389" name="Text Box 5"/>
            <p:cNvSpPr txBox="1">
              <a:spLocks noChangeArrowheads="1"/>
            </p:cNvSpPr>
            <p:nvPr/>
          </p:nvSpPr>
          <p:spPr bwMode="auto">
            <a:xfrm>
              <a:off x="457" y="756"/>
              <a:ext cx="672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将</a:t>
              </a:r>
            </a:p>
          </p:txBody>
        </p:sp>
      </p:grpSp>
      <p:sp>
        <p:nvSpPr>
          <p:cNvPr id="16390" name="Text Box 6"/>
          <p:cNvSpPr txBox="1">
            <a:spLocks noChangeArrowheads="1"/>
          </p:cNvSpPr>
          <p:nvPr/>
        </p:nvSpPr>
        <p:spPr bwMode="auto">
          <a:xfrm>
            <a:off x="2789478" y="2238079"/>
            <a:ext cx="3657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代入所设方程得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391" name="Object 7"/>
              <p:cNvSpPr txBox="1"/>
              <p:nvPr/>
            </p:nvSpPr>
            <p:spPr bwMode="auto">
              <a:xfrm>
                <a:off x="4244720" y="2841432"/>
                <a:ext cx="1915701" cy="7012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zh-CN" altLang="en-US" sz="2200" i="1" smtClean="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𝑎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𝑏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2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num>
                        <m:den>
                          <m:r>
                            <a:rPr kumimoji="1" lang="zh-CN" altLang="en-US" sz="2200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𝑐</m:t>
                          </m:r>
                        </m:den>
                      </m:f>
                      <m:r>
                        <a:rPr kumimoji="1" lang="zh-CN" altLang="en-US" sz="2200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=1</m:t>
                      </m:r>
                    </m:oMath>
                  </m:oMathPara>
                </a14:m>
                <a:endParaRPr kumimoji="1" lang="zh-CN" altLang="en-US" sz="2200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639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44720" y="2841432"/>
                <a:ext cx="1915701" cy="70123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394" name="Text Box 10"/>
          <p:cNvSpPr txBox="1">
            <a:spLocks noChangeArrowheads="1"/>
          </p:cNvSpPr>
          <p:nvPr/>
        </p:nvSpPr>
        <p:spPr bwMode="auto">
          <a:xfrm>
            <a:off x="6052043" y="2934768"/>
            <a:ext cx="24765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4926A"/>
                </a:solidFill>
                <a:ea typeface="黑体" panose="02010609060101010101" pitchFamily="49" charset="-122"/>
              </a:rPr>
              <a:t>平面的截距式方程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8445385-BA80-0858-E2AE-E8892741BE14}"/>
              </a:ext>
            </a:extLst>
          </p:cNvPr>
          <p:cNvGrpSpPr/>
          <p:nvPr/>
        </p:nvGrpSpPr>
        <p:grpSpPr>
          <a:xfrm>
            <a:off x="2789478" y="3490735"/>
            <a:ext cx="2476500" cy="1625002"/>
            <a:chOff x="2858407" y="3490735"/>
            <a:chExt cx="2476500" cy="1625002"/>
          </a:xfrm>
        </p:grpSpPr>
        <p:sp>
          <p:nvSpPr>
            <p:cNvPr id="16396" name="Line 12"/>
            <p:cNvSpPr>
              <a:spLocks noChangeShapeType="1"/>
            </p:cNvSpPr>
            <p:nvPr/>
          </p:nvSpPr>
          <p:spPr bwMode="auto">
            <a:xfrm flipV="1">
              <a:off x="3768965" y="3490735"/>
              <a:ext cx="650635" cy="1061336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dirty="0">
                <a:ln>
                  <a:solidFill>
                    <a:srgbClr val="FF0000"/>
                  </a:solidFill>
                </a:ln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 Box 6">
                  <a:extLst>
                    <a:ext uri="{FF2B5EF4-FFF2-40B4-BE49-F238E27FC236}">
                      <a16:creationId xmlns:a16="http://schemas.microsoft.com/office/drawing/2014/main" id="{FA746E4C-4DE2-FC3A-CF92-68B2A3BB35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858407" y="4662600"/>
                  <a:ext cx="2476500" cy="45313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𝑥</m:t>
                      </m:r>
                    </m:oMath>
                  </a14:m>
                  <a:r>
                    <a: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轴上截距</a:t>
                  </a:r>
                </a:p>
              </p:txBody>
            </p:sp>
          </mc:Choice>
          <mc:Fallback xmlns="">
            <p:sp>
              <p:nvSpPr>
                <p:cNvPr id="10" name="Text Box 6">
                  <a:extLst>
                    <a:ext uri="{FF2B5EF4-FFF2-40B4-BE49-F238E27FC236}">
                      <a16:creationId xmlns:a16="http://schemas.microsoft.com/office/drawing/2014/main" id="{FA746E4C-4DE2-FC3A-CF92-68B2A3BB35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58407" y="4662600"/>
                  <a:ext cx="2476500" cy="453137"/>
                </a:xfrm>
                <a:prstGeom prst="rect">
                  <a:avLst/>
                </a:prstGeom>
                <a:blipFill>
                  <a:blip r:embed="rId6"/>
                  <a:stretch>
                    <a:fillRect t="-9459" b="-21622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9EB2D406-10B3-42DE-3E6B-FF7461307E4E}"/>
              </a:ext>
            </a:extLst>
          </p:cNvPr>
          <p:cNvGrpSpPr/>
          <p:nvPr/>
        </p:nvGrpSpPr>
        <p:grpSpPr>
          <a:xfrm>
            <a:off x="4582207" y="3492346"/>
            <a:ext cx="1513793" cy="1558100"/>
            <a:chOff x="4651136" y="3492346"/>
            <a:chExt cx="1513793" cy="1558100"/>
          </a:xfrm>
        </p:grpSpPr>
        <p:sp>
          <p:nvSpPr>
            <p:cNvPr id="16398" name="Line 14"/>
            <p:cNvSpPr>
              <a:spLocks noChangeShapeType="1"/>
            </p:cNvSpPr>
            <p:nvPr/>
          </p:nvSpPr>
          <p:spPr bwMode="auto">
            <a:xfrm flipH="1" flipV="1">
              <a:off x="4972050" y="3492346"/>
              <a:ext cx="552450" cy="1125602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 Box 6">
                  <a:extLst>
                    <a:ext uri="{FF2B5EF4-FFF2-40B4-BE49-F238E27FC236}">
                      <a16:creationId xmlns:a16="http://schemas.microsoft.com/office/drawing/2014/main" id="{FA4AE4F0-D624-50FB-8D1D-191F9E92E94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51136" y="4619559"/>
                  <a:ext cx="1513793" cy="430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kumimoji="1" lang="en-US" altLang="zh-CN" sz="2200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m:t>𝑦</m:t>
                      </m:r>
                    </m:oMath>
                  </a14:m>
                  <a:r>
                    <a: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轴上截距</a:t>
                  </a:r>
                </a:p>
              </p:txBody>
            </p:sp>
          </mc:Choice>
          <mc:Fallback xmlns="">
            <p:sp>
              <p:nvSpPr>
                <p:cNvPr id="11" name="Text Box 6">
                  <a:extLst>
                    <a:ext uri="{FF2B5EF4-FFF2-40B4-BE49-F238E27FC236}">
                      <a16:creationId xmlns:a16="http://schemas.microsoft.com/office/drawing/2014/main" id="{FA4AE4F0-D624-50FB-8D1D-191F9E92E9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1136" y="4619559"/>
                  <a:ext cx="1513793" cy="430887"/>
                </a:xfrm>
                <a:prstGeom prst="rect">
                  <a:avLst/>
                </a:prstGeom>
                <a:blipFill>
                  <a:blip r:embed="rId7"/>
                  <a:stretch>
                    <a:fillRect l="-806" t="-14286" r="-1613" b="-24286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6BDA00D-AA37-60BB-4750-099BA2D094B5}"/>
              </a:ext>
            </a:extLst>
          </p:cNvPr>
          <p:cNvGrpSpPr/>
          <p:nvPr/>
        </p:nvGrpSpPr>
        <p:grpSpPr>
          <a:xfrm>
            <a:off x="5455570" y="3490735"/>
            <a:ext cx="2433159" cy="1549387"/>
            <a:chOff x="5524499" y="3490735"/>
            <a:chExt cx="2433159" cy="1549387"/>
          </a:xfrm>
        </p:grpSpPr>
        <p:sp>
          <p:nvSpPr>
            <p:cNvPr id="16400" name="Line 16"/>
            <p:cNvSpPr>
              <a:spLocks noChangeShapeType="1"/>
            </p:cNvSpPr>
            <p:nvPr/>
          </p:nvSpPr>
          <p:spPr bwMode="auto">
            <a:xfrm flipH="1" flipV="1">
              <a:off x="5524499" y="3490735"/>
              <a:ext cx="1343024" cy="1127212"/>
            </a:xfrm>
            <a:prstGeom prst="line">
              <a:avLst/>
            </a:prstGeom>
            <a:noFill/>
            <a:ln w="28575">
              <a:solidFill>
                <a:srgbClr val="04926A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 Box 6">
                  <a:extLst>
                    <a:ext uri="{FF2B5EF4-FFF2-40B4-BE49-F238E27FC236}">
                      <a16:creationId xmlns:a16="http://schemas.microsoft.com/office/drawing/2014/main" id="{A341B4B6-410E-7A5F-9120-BF5C382E036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6324841" y="4609235"/>
                  <a:ext cx="1632817" cy="43088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14:m>
                    <m:oMath xmlns:m="http://schemas.openxmlformats.org/officeDocument/2006/math">
                      <m:r>
                        <a:rPr kumimoji="1" lang="en-US" altLang="zh-CN" sz="22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m:t>𝑧</m:t>
                      </m:r>
                    </m:oMath>
                  </a14:m>
                  <a:r>
                    <a:rPr lang="zh-CN" altLang="en-US" sz="2200" dirty="0">
                      <a:latin typeface="黑体" panose="02010609060101010101" pitchFamily="49" charset="-122"/>
                      <a:ea typeface="黑体" panose="02010609060101010101" pitchFamily="49" charset="-122"/>
                    </a:rPr>
                    <a:t>轴上截距</a:t>
                  </a:r>
                </a:p>
              </p:txBody>
            </p:sp>
          </mc:Choice>
          <mc:Fallback xmlns="">
            <p:sp>
              <p:nvSpPr>
                <p:cNvPr id="12" name="Text Box 6">
                  <a:extLst>
                    <a:ext uri="{FF2B5EF4-FFF2-40B4-BE49-F238E27FC236}">
                      <a16:creationId xmlns:a16="http://schemas.microsoft.com/office/drawing/2014/main" id="{A341B4B6-410E-7A5F-9120-BF5C382E03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324841" y="4609235"/>
                  <a:ext cx="1632817" cy="430887"/>
                </a:xfrm>
                <a:prstGeom prst="rect">
                  <a:avLst/>
                </a:prstGeom>
                <a:blipFill>
                  <a:blip r:embed="rId8"/>
                  <a:stretch>
                    <a:fillRect t="-14085" b="-2394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420761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0" grpId="0"/>
      <p:bldP spid="16391" grpId="0"/>
      <p:bldP spid="1639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000758D-75BF-F1EC-E4C4-D0C345EE06E6}"/>
              </a:ext>
            </a:extLst>
          </p:cNvPr>
          <p:cNvGrpSpPr/>
          <p:nvPr/>
        </p:nvGrpSpPr>
        <p:grpSpPr>
          <a:xfrm>
            <a:off x="1717675" y="1341251"/>
            <a:ext cx="8550274" cy="1572734"/>
            <a:chOff x="1689436" y="1624587"/>
            <a:chExt cx="8679386" cy="1572734"/>
          </a:xfrm>
        </p:grpSpPr>
        <p:sp>
          <p:nvSpPr>
            <p:cNvPr id="4" name="Rectangle 1">
              <a:extLst>
                <a:ext uri="{FF2B5EF4-FFF2-40B4-BE49-F238E27FC236}">
                  <a16:creationId xmlns:a16="http://schemas.microsoft.com/office/drawing/2014/main" id="{BAF87A0A-938B-CD81-5A8B-B6DD2801B7A0}"/>
                </a:ext>
              </a:extLst>
            </p:cNvPr>
            <p:cNvSpPr/>
            <p:nvPr/>
          </p:nvSpPr>
          <p:spPr>
            <a:xfrm>
              <a:off x="2119700" y="1624587"/>
              <a:ext cx="8249122" cy="1572734"/>
            </a:xfrm>
            <a:prstGeom prst="rect">
              <a:avLst/>
            </a:prstGeom>
            <a:solidFill>
              <a:srgbClr val="039462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F0342393-50DB-C339-EF63-2F11EB1E46EE}"/>
                </a:ext>
              </a:extLst>
            </p:cNvPr>
            <p:cNvGrpSpPr/>
            <p:nvPr/>
          </p:nvGrpSpPr>
          <p:grpSpPr>
            <a:xfrm>
              <a:off x="1689436" y="2084462"/>
              <a:ext cx="906278" cy="683213"/>
              <a:chOff x="1412255" y="1034830"/>
              <a:chExt cx="1369752" cy="683213"/>
            </a:xfrm>
          </p:grpSpPr>
          <p:sp>
            <p:nvSpPr>
              <p:cNvPr id="6" name="PA-102231">
                <a:extLst>
                  <a:ext uri="{FF2B5EF4-FFF2-40B4-BE49-F238E27FC236}">
                    <a16:creationId xmlns:a16="http://schemas.microsoft.com/office/drawing/2014/main" id="{C04A53FB-9930-8C21-4B96-AE386A9A83C9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1412255" y="1034830"/>
                <a:ext cx="1369752" cy="683213"/>
              </a:xfrm>
              <a:prstGeom prst="rect">
                <a:avLst/>
              </a:prstGeom>
              <a:solidFill>
                <a:schemeClr val="bg1"/>
              </a:solidFill>
              <a:ln w="19050">
                <a:gradFill>
                  <a:gsLst>
                    <a:gs pos="5000">
                      <a:srgbClr val="17A45E"/>
                    </a:gs>
                    <a:gs pos="56000">
                      <a:srgbClr val="039267"/>
                    </a:gs>
                    <a:gs pos="100000">
                      <a:srgbClr val="068983"/>
                    </a:gs>
                  </a:gsLst>
                  <a:lin ang="10800000" scaled="0"/>
                </a:gradFill>
              </a:ln>
              <a:effectLst>
                <a:outerShdw blurRad="203200" dist="63500" dir="3000000" algn="ctr" rotWithShape="0">
                  <a:schemeClr val="bg1">
                    <a:lumMod val="50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dirty="0">
                  <a:ln>
                    <a:solidFill>
                      <a:schemeClr val="bg1">
                        <a:lumMod val="95000"/>
                      </a:schemeClr>
                    </a:solidFill>
                  </a:ln>
                  <a:cs typeface="+mn-ea"/>
                  <a:sym typeface="+mn-lt"/>
                </a:endParaRPr>
              </a:p>
            </p:txBody>
          </p:sp>
          <p:sp>
            <p:nvSpPr>
              <p:cNvPr id="7" name="Rectangle 167">
                <a:extLst>
                  <a:ext uri="{FF2B5EF4-FFF2-40B4-BE49-F238E27FC236}">
                    <a16:creationId xmlns:a16="http://schemas.microsoft.com/office/drawing/2014/main" id="{32238F0B-E18B-FE37-680A-8952266A6B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6232" y="1155906"/>
                <a:ext cx="1101799" cy="43088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  <a:effectLst/>
            </p:spPr>
            <p:txBody>
              <a:bodyPr wrap="none" lIns="0" tIns="0" rIns="0" bIns="0">
                <a:spAutoFit/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定义</a:t>
                </a:r>
                <a:endParaRPr kumimoji="1" lang="en-US" altLang="zh-CN" sz="2800" b="1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endParaRPr>
              </a:p>
            </p:txBody>
          </p:sp>
        </p:grpSp>
      </p:grpSp>
      <p:sp>
        <p:nvSpPr>
          <p:cNvPr id="19483" name="Rectangle 27"/>
          <p:cNvSpPr>
            <a:spLocks noChangeArrowheads="1"/>
          </p:cNvSpPr>
          <p:nvPr/>
        </p:nvSpPr>
        <p:spPr bwMode="auto">
          <a:xfrm>
            <a:off x="2882900" y="1440796"/>
            <a:ext cx="6324600" cy="1284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两平面法向量之间的夹角称为两平面的夹角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/>
              <a:t>（通常取锐角）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84" name="Object 28"/>
              <p:cNvSpPr txBox="1"/>
              <p:nvPr/>
            </p:nvSpPr>
            <p:spPr bwMode="auto">
              <a:xfrm>
                <a:off x="4528093" y="3324122"/>
                <a:ext cx="5111208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484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8093" y="3324122"/>
                <a:ext cx="5111208" cy="457200"/>
              </a:xfrm>
              <a:prstGeom prst="rect">
                <a:avLst/>
              </a:prstGeom>
              <a:blipFill>
                <a:blip r:embed="rId8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5" name="Object 29"/>
              <p:cNvSpPr txBox="1"/>
              <p:nvPr/>
            </p:nvSpPr>
            <p:spPr bwMode="auto">
              <a:xfrm>
                <a:off x="4528092" y="3982140"/>
                <a:ext cx="4968333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: 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𝐷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485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28092" y="3982140"/>
                <a:ext cx="4968333" cy="457200"/>
              </a:xfrm>
              <a:prstGeom prst="rect">
                <a:avLst/>
              </a:prstGeom>
              <a:blipFill>
                <a:blip r:embed="rId9"/>
                <a:stretch>
                  <a:fillRect b="-4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6" name="Object 30"/>
              <p:cNvSpPr txBox="1"/>
              <p:nvPr/>
            </p:nvSpPr>
            <p:spPr bwMode="auto">
              <a:xfrm>
                <a:off x="5203947" y="4728061"/>
                <a:ext cx="3025653" cy="6907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={ 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},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486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03947" y="4728061"/>
                <a:ext cx="3025653" cy="69071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487" name="Object 31"/>
              <p:cNvSpPr txBox="1"/>
              <p:nvPr/>
            </p:nvSpPr>
            <p:spPr bwMode="auto">
              <a:xfrm>
                <a:off x="5188995" y="5418777"/>
                <a:ext cx="3168650" cy="6907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1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={ 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},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487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8995" y="5418777"/>
                <a:ext cx="3168650" cy="69071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488" name="Rectangle 3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48507"/>
            <a:ext cx="7627374" cy="851694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四、两平面的夹角</a:t>
            </a:r>
          </a:p>
        </p:txBody>
      </p:sp>
      <p:pic>
        <p:nvPicPr>
          <p:cNvPr id="8" name="图片 7" descr="图示, 形状, 多边形&#10;&#10;描述已自动生成">
            <a:extLst>
              <a:ext uri="{FF2B5EF4-FFF2-40B4-BE49-F238E27FC236}">
                <a16:creationId xmlns:a16="http://schemas.microsoft.com/office/drawing/2014/main" id="{8CC4FB22-0E93-FE7D-8E41-5F0F5095CBE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146" y="3422614"/>
            <a:ext cx="3168649" cy="2277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10067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19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25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9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25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9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25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25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9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83" grpId="0" autoUpdateAnimBg="0"/>
      <p:bldP spid="19484" grpId="0"/>
      <p:bldP spid="19485" grpId="0"/>
      <p:bldP spid="19486" grpId="0"/>
      <p:bldP spid="19487" grpId="0"/>
      <p:bldP spid="1948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84D9E0FC-BB7C-777C-9A4D-7BDDE7EB98A6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E69A3B44-9727-3C84-4CCB-69CA39030A29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9A44F591-F517-7BC1-6700-138586C02B17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1A960F90-2954-A50B-9E10-452465B723DF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A06A414E-4A3A-1849-D240-143279290D3F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634F65D2-A53C-0305-FFFA-4FAF9889998D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2050875" y="738669"/>
            <a:ext cx="4664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按照两向量夹角余弦公式有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Object 3"/>
              <p:cNvSpPr txBox="1"/>
              <p:nvPr/>
            </p:nvSpPr>
            <p:spPr bwMode="auto">
              <a:xfrm>
                <a:off x="2083634" y="1447503"/>
                <a:ext cx="6507916" cy="12004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800" i="1">
                          <a:solidFill>
                            <a:srgbClr val="04926A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  <m:r>
                            <a:rPr kumimoji="1" lang="zh-CN" altLang="en-US" sz="2800" i="1">
                              <a:solidFill>
                                <a:srgbClr val="04926A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kumimoji="1" lang="zh-CN" altLang="en-US" sz="2800" i="1">
                                  <a:solidFill>
                                    <a:srgbClr val="04926A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rgbClr val="04926A"/>
                                      </a:solidFill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800" i="1" dirty="0">
                  <a:solidFill>
                    <a:srgbClr val="04926A"/>
                  </a:solidFill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4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3634" y="1447503"/>
                <a:ext cx="6507916" cy="12004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485" name="Rectangle 5"/>
          <p:cNvSpPr>
            <a:spLocks noChangeArrowheads="1"/>
          </p:cNvSpPr>
          <p:nvPr/>
        </p:nvSpPr>
        <p:spPr bwMode="auto">
          <a:xfrm>
            <a:off x="5887031" y="2619178"/>
            <a:ext cx="350461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两平面夹角余弦公式</a:t>
            </a:r>
          </a:p>
        </p:txBody>
      </p:sp>
      <p:sp>
        <p:nvSpPr>
          <p:cNvPr id="20486" name="Text Box 6"/>
          <p:cNvSpPr txBox="1">
            <a:spLocks noChangeArrowheads="1"/>
          </p:cNvSpPr>
          <p:nvPr/>
        </p:nvSpPr>
        <p:spPr bwMode="auto">
          <a:xfrm>
            <a:off x="2050875" y="3172090"/>
            <a:ext cx="2978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两平面位置特征：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487" name="Object 7"/>
              <p:cNvSpPr txBox="1"/>
              <p:nvPr/>
            </p:nvSpPr>
            <p:spPr bwMode="auto">
              <a:xfrm>
                <a:off x="2020183" y="3883368"/>
                <a:ext cx="2389892" cy="6401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(1) 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b="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⊥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48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0183" y="3883368"/>
                <a:ext cx="2389892" cy="6401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8" name="Object 8"/>
              <p:cNvSpPr txBox="1"/>
              <p:nvPr/>
            </p:nvSpPr>
            <p:spPr bwMode="auto">
              <a:xfrm>
                <a:off x="4268952" y="3969401"/>
                <a:ext cx="4948995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smtClean="0">
                              <a:latin typeface="Cambria Math" panose="02040503050406030204" pitchFamily="18" charset="0"/>
                            </a:rPr>
                            <m:t>⇔</m:t>
                          </m:r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𝐴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𝐵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=0;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48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8952" y="3969401"/>
                <a:ext cx="4948995" cy="457200"/>
              </a:xfrm>
              <a:prstGeom prst="rect">
                <a:avLst/>
              </a:prstGeom>
              <a:blipFill>
                <a:blip r:embed="rId6"/>
                <a:stretch>
                  <a:fillRect b="-266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9" name="Object 9"/>
              <p:cNvSpPr txBox="1"/>
              <p:nvPr/>
            </p:nvSpPr>
            <p:spPr bwMode="auto">
              <a:xfrm>
                <a:off x="2020183" y="4887753"/>
                <a:ext cx="3814494" cy="7191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(2) 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∥</m:t>
                      </m:r>
                      <m:r>
                        <a:rPr kumimoji="1" lang="zh-CN" altLang="en-US" sz="28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 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48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20183" y="4887753"/>
                <a:ext cx="3814494" cy="7191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92" name="Object 12"/>
              <p:cNvSpPr txBox="1"/>
              <p:nvPr/>
            </p:nvSpPr>
            <p:spPr bwMode="auto">
              <a:xfrm>
                <a:off x="4318921" y="4699297"/>
                <a:ext cx="3091529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 smtClean="0">
                          <a:latin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1" lang="zh-CN" altLang="en-US" sz="28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049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8921" y="4699297"/>
                <a:ext cx="3091529" cy="977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2670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/>
      <p:bldP spid="20485" grpId="0" autoUpdateAnimBg="0"/>
      <p:bldP spid="20486" grpId="0" autoUpdateAnimBg="0"/>
      <p:bldP spid="20487" grpId="0"/>
      <p:bldP spid="20488" grpId="0"/>
      <p:bldP spid="20489" grpId="0"/>
      <p:bldP spid="2049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C05A0E8-1813-9443-47C5-D9E8F3E3B660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C7D24F8-4590-D36A-0569-52893DEA804E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329E14D1-00EE-7AA8-822B-97FA17223578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54A775D9-1F40-8243-CACE-12064EE856FD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012418F-4C46-D5F9-3945-50A220D2F52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C34925B8-2219-1984-3A1A-5FD57D03D475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1513558" y="1256417"/>
            <a:ext cx="685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800" b="1" dirty="0"/>
              <a:t> </a:t>
            </a:r>
            <a:r>
              <a:rPr lang="zh-CN" altLang="en-US" sz="2800" dirty="0"/>
              <a:t>研究以下各组里两平面的位置关系：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Object 3"/>
              <p:cNvSpPr txBox="1"/>
              <p:nvPr/>
            </p:nvSpPr>
            <p:spPr bwMode="auto">
              <a:xfrm>
                <a:off x="2247558" y="1706535"/>
                <a:ext cx="7494685" cy="6582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(1)  −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+1=0,  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+3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−1=0;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50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7558" y="1706535"/>
                <a:ext cx="7494685" cy="65820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Object 4"/>
              <p:cNvSpPr txBox="1"/>
              <p:nvPr/>
            </p:nvSpPr>
            <p:spPr bwMode="auto">
              <a:xfrm>
                <a:off x="2247177" y="2302138"/>
                <a:ext cx="8768470" cy="6189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(2)  2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−1=0,  −4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−1=0;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5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7177" y="2302138"/>
                <a:ext cx="8768470" cy="6189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9" name="Object 5"/>
              <p:cNvSpPr txBox="1"/>
              <p:nvPr/>
            </p:nvSpPr>
            <p:spPr bwMode="auto">
              <a:xfrm>
                <a:off x="2246796" y="2793173"/>
                <a:ext cx="8444938" cy="6189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(3)  2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+1=0,  −4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+2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−2=0.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5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796" y="2793173"/>
                <a:ext cx="8444938" cy="6189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0" name="Text Box 6"/>
          <p:cNvSpPr txBox="1">
            <a:spLocks noChangeArrowheads="1"/>
          </p:cNvSpPr>
          <p:nvPr/>
        </p:nvSpPr>
        <p:spPr bwMode="auto">
          <a:xfrm>
            <a:off x="1513558" y="3875863"/>
            <a:ext cx="55336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1" name="Object 7"/>
              <p:cNvSpPr txBox="1"/>
              <p:nvPr/>
            </p:nvSpPr>
            <p:spPr bwMode="auto">
              <a:xfrm>
                <a:off x="2246796" y="3916724"/>
                <a:ext cx="838200" cy="6802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(1)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511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796" y="3916724"/>
                <a:ext cx="838200" cy="680232"/>
              </a:xfrm>
              <a:prstGeom prst="rect">
                <a:avLst/>
              </a:prstGeom>
              <a:blipFill>
                <a:blip r:embed="rId5"/>
                <a:stretch>
                  <a:fillRect l="-510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2" name="Object 8"/>
              <p:cNvSpPr txBox="1"/>
              <p:nvPr/>
            </p:nvSpPr>
            <p:spPr bwMode="auto">
              <a:xfrm>
                <a:off x="2799150" y="3727680"/>
                <a:ext cx="5239562" cy="9517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|−1×0+2×1−1×3|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(−1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+(−1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3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51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99150" y="3727680"/>
                <a:ext cx="5239562" cy="95173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13" name="Object 9"/>
              <p:cNvSpPr txBox="1"/>
              <p:nvPr/>
            </p:nvSpPr>
            <p:spPr bwMode="auto">
              <a:xfrm>
                <a:off x="2783215" y="4719124"/>
                <a:ext cx="1664519" cy="901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cos</m:t>
                          </m:r>
                        </m:fName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𝜃</m:t>
                          </m:r>
                        </m:e>
                      </m:func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60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51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3215" y="4719124"/>
                <a:ext cx="1664519" cy="9017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4" name="Text Box 10"/>
          <p:cNvSpPr txBox="1">
            <a:spLocks noChangeArrowheads="1"/>
          </p:cNvSpPr>
          <p:nvPr/>
        </p:nvSpPr>
        <p:spPr bwMode="auto">
          <a:xfrm>
            <a:off x="4324290" y="4888014"/>
            <a:ext cx="272965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200" dirty="0"/>
              <a:t>,</a:t>
            </a:r>
            <a:r>
              <a:rPr lang="zh-CN" altLang="en-US" sz="2200" dirty="0"/>
              <a:t>两平面相交，夹角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515" name="Object 11"/>
              <p:cNvSpPr txBox="1"/>
              <p:nvPr/>
            </p:nvSpPr>
            <p:spPr bwMode="auto">
              <a:xfrm>
                <a:off x="6794294" y="4742877"/>
                <a:ext cx="2349500" cy="850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𝜃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zh-CN" altLang="en-US" sz="2200" i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arccos</m:t>
                          </m:r>
                        </m:fName>
                        <m:e>
                          <m:f>
                            <m:f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60</m:t>
                                  </m:r>
                                </m:e>
                              </m:rad>
                            </m:den>
                          </m:f>
                        </m:e>
                      </m:func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i="1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151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4294" y="4742877"/>
                <a:ext cx="2349500" cy="8509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49386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21508" grpId="0"/>
      <p:bldP spid="21509" grpId="0"/>
      <p:bldP spid="21510" grpId="0" autoUpdateAnimBg="0"/>
      <p:bldP spid="21511" grpId="0"/>
      <p:bldP spid="21512" grpId="0"/>
      <p:bldP spid="21513" grpId="0"/>
      <p:bldP spid="21514" grpId="0" autoUpdateAnimBg="0"/>
      <p:bldP spid="2151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5A7AB12-3CE3-CBD1-DAF9-C2760D34C203}"/>
              </a:ext>
            </a:extLst>
          </p:cNvPr>
          <p:cNvGrpSpPr/>
          <p:nvPr/>
        </p:nvGrpSpPr>
        <p:grpSpPr>
          <a:xfrm>
            <a:off x="687197" y="872954"/>
            <a:ext cx="10817606" cy="5112091"/>
            <a:chOff x="687070" y="1226820"/>
            <a:chExt cx="10817606" cy="511209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D8F464B-A583-9FE4-9504-D224E7E409AA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DA2EA0D6-94DF-0869-83E7-4E20E85C377F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F096A9C3-A835-9067-C624-FC9C5AE93620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BF4709F3-4672-0FE1-8911-7AD6DAE87C7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41F63CC6-8689-9140-73C9-CB6A26262B9C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530" name="Object 2"/>
              <p:cNvSpPr txBox="1"/>
              <p:nvPr/>
            </p:nvSpPr>
            <p:spPr bwMode="auto">
              <a:xfrm>
                <a:off x="1852755" y="1240613"/>
                <a:ext cx="481012" cy="4048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(2)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0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2755" y="1240613"/>
                <a:ext cx="481012" cy="404812"/>
              </a:xfrm>
              <a:prstGeom prst="rect">
                <a:avLst/>
              </a:prstGeom>
              <a:blipFill>
                <a:blip r:embed="rId2"/>
                <a:stretch>
                  <a:fillRect l="-8861" r="-25316"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1" name="Object 3"/>
              <p:cNvSpPr txBox="1"/>
              <p:nvPr/>
            </p:nvSpPr>
            <p:spPr bwMode="auto">
              <a:xfrm>
                <a:off x="2622464" y="1229347"/>
                <a:ext cx="2144382" cy="47351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𝒏</m:t>
                          </m:r>
                        </m:e>
                        <m:sub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𝟏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={2,−1,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1},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22464" y="1229347"/>
                <a:ext cx="2144382" cy="473510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2" name="Object 4"/>
              <p:cNvSpPr txBox="1"/>
              <p:nvPr/>
            </p:nvSpPr>
            <p:spPr bwMode="auto">
              <a:xfrm>
                <a:off x="4696860" y="1250202"/>
                <a:ext cx="2386286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200" b="1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𝒏</m:t>
                          </m:r>
                        </m:e>
                        <m:sub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𝟐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={−4,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2,</m:t>
                      </m:r>
                      <m:r>
                        <a:rPr kumimoji="1" lang="en-US" altLang="zh-CN" sz="22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−2}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2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96860" y="1250202"/>
                <a:ext cx="2386286" cy="431800"/>
              </a:xfrm>
              <a:prstGeom prst="rect">
                <a:avLst/>
              </a:prstGeom>
              <a:blipFill>
                <a:blip r:embed="rId4"/>
                <a:stretch>
                  <a:fillRect b="-197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3" name="Object 5"/>
              <p:cNvSpPr txBox="1"/>
              <p:nvPr/>
            </p:nvSpPr>
            <p:spPr bwMode="auto">
              <a:xfrm>
                <a:off x="2637379" y="1760762"/>
                <a:ext cx="2683191" cy="7974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⇒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−4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−2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3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7379" y="1760762"/>
                <a:ext cx="2683191" cy="79744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4" name="Text Box 6"/>
          <p:cNvSpPr txBox="1">
            <a:spLocks noChangeArrowheads="1"/>
          </p:cNvSpPr>
          <p:nvPr/>
        </p:nvSpPr>
        <p:spPr bwMode="auto">
          <a:xfrm>
            <a:off x="5017296" y="1930648"/>
            <a:ext cx="174716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两平面平行</a:t>
            </a:r>
            <a:r>
              <a:rPr lang="en-US" altLang="zh-CN" sz="2200" dirty="0"/>
              <a:t>.</a:t>
            </a:r>
            <a:endParaRPr lang="zh-CN" altLang="en-US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5" name="Object 7"/>
              <p:cNvSpPr txBox="1"/>
              <p:nvPr/>
            </p:nvSpPr>
            <p:spPr bwMode="auto">
              <a:xfrm>
                <a:off x="2666783" y="2537356"/>
                <a:ext cx="4350106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(1,1,0)∈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(1,1,0)∉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6783" y="2537356"/>
                <a:ext cx="4350106" cy="431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36" name="Text Box 8"/>
          <p:cNvSpPr txBox="1">
            <a:spLocks noChangeArrowheads="1"/>
          </p:cNvSpPr>
          <p:nvPr/>
        </p:nvSpPr>
        <p:spPr bwMode="auto">
          <a:xfrm>
            <a:off x="2623872" y="3123322"/>
            <a:ext cx="300540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两平面平行但不重合．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537" name="Object 9"/>
              <p:cNvSpPr txBox="1"/>
              <p:nvPr/>
            </p:nvSpPr>
            <p:spPr bwMode="auto">
              <a:xfrm>
                <a:off x="1852755" y="3967109"/>
                <a:ext cx="481012" cy="4048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(3)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52755" y="3967109"/>
                <a:ext cx="481012" cy="404813"/>
              </a:xfrm>
              <a:prstGeom prst="rect">
                <a:avLst/>
              </a:prstGeom>
              <a:blipFill>
                <a:blip r:embed="rId7"/>
                <a:stretch>
                  <a:fillRect l="-8861" r="-25316" b="-272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8" name="Object 10"/>
              <p:cNvSpPr txBox="1"/>
              <p:nvPr/>
            </p:nvSpPr>
            <p:spPr bwMode="auto">
              <a:xfrm>
                <a:off x="2630066" y="3848881"/>
                <a:ext cx="2382129" cy="8241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∵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−4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−1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0066" y="3848881"/>
                <a:ext cx="2382129" cy="82412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39" name="Object 11"/>
              <p:cNvSpPr txBox="1"/>
              <p:nvPr/>
            </p:nvSpPr>
            <p:spPr bwMode="auto">
              <a:xfrm>
                <a:off x="2630066" y="4685710"/>
                <a:ext cx="4350106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(1,1,0)∈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𝑀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(1,1,0)∈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𝛱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53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0066" y="4685710"/>
                <a:ext cx="4350106" cy="4318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4957091" y="4002214"/>
            <a:ext cx="171993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两平面平行</a:t>
            </a:r>
            <a:r>
              <a:rPr lang="en-US" altLang="zh-CN" sz="2200" dirty="0"/>
              <a:t>.</a:t>
            </a:r>
            <a:endParaRPr lang="zh-CN" altLang="en-US" sz="2200" dirty="0"/>
          </a:p>
        </p:txBody>
      </p:sp>
      <p:grpSp>
        <p:nvGrpSpPr>
          <p:cNvPr id="22543" name="Group 15"/>
          <p:cNvGrpSpPr>
            <a:grpSpLocks/>
          </p:cNvGrpSpPr>
          <p:nvPr/>
        </p:nvGrpSpPr>
        <p:grpSpPr bwMode="auto">
          <a:xfrm>
            <a:off x="2623007" y="5169650"/>
            <a:ext cx="2389188" cy="519112"/>
            <a:chOff x="1135" y="3573"/>
            <a:chExt cx="1505" cy="327"/>
          </a:xfrm>
        </p:grpSpPr>
        <p:sp>
          <p:nvSpPr>
            <p:cNvPr id="22540" name="Text Box 12"/>
            <p:cNvSpPr txBox="1">
              <a:spLocks noChangeArrowheads="1"/>
            </p:cNvSpPr>
            <p:nvPr/>
          </p:nvSpPr>
          <p:spPr bwMode="auto">
            <a:xfrm>
              <a:off x="1296" y="3573"/>
              <a:ext cx="134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两平面重合</a:t>
              </a:r>
              <a:r>
                <a:rPr lang="en-US" altLang="zh-CN" sz="2800" b="1" dirty="0"/>
                <a:t>.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542" name="Object 14"/>
                <p:cNvSpPr txBox="1"/>
                <p:nvPr/>
              </p:nvSpPr>
              <p:spPr bwMode="auto">
                <a:xfrm>
                  <a:off x="1135" y="3621"/>
                  <a:ext cx="192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∴</m:t>
                        </m:r>
                      </m:oMath>
                    </m:oMathPara>
                  </a14:m>
                  <a:endParaRPr kumimoji="1" lang="zh-CN" altLang="en-US" sz="22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2542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5" y="3621"/>
                  <a:ext cx="192" cy="271"/>
                </a:xfrm>
                <a:prstGeom prst="rect">
                  <a:avLst/>
                </a:prstGeom>
                <a:blipFill>
                  <a:blip r:embed="rId10"/>
                  <a:stretch>
                    <a:fillRect r="-60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0279567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1" grpId="0"/>
      <p:bldP spid="22532" grpId="0"/>
      <p:bldP spid="22533" grpId="0"/>
      <p:bldP spid="22534" grpId="0" autoUpdateAnimBg="0"/>
      <p:bldP spid="22535" grpId="0"/>
      <p:bldP spid="22536" grpId="0" autoUpdateAnimBg="0"/>
      <p:bldP spid="22537" grpId="0"/>
      <p:bldP spid="22538" grpId="0"/>
      <p:bldP spid="22539" grpId="0"/>
      <p:bldP spid="2254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20E234B3-3C92-D7A2-65D7-F1EDB71A2CC1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7FE4601-B6DA-4054-C0BC-86D61B068B34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56DB58C4-9181-5028-7326-A6FF6D61069F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9511832F-D866-3BC9-978F-D01220D1FE72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65385B82-05AA-0F70-C5F0-4E2D3354407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E4AF8F9E-08F7-505C-3809-F027A7AC09B1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p:sp>
        <p:nvSpPr>
          <p:cNvPr id="2261" name="Rectangle 213"/>
          <p:cNvSpPr>
            <a:spLocks noChangeArrowheads="1"/>
          </p:cNvSpPr>
          <p:nvPr/>
        </p:nvSpPr>
        <p:spPr bwMode="auto">
          <a:xfrm>
            <a:off x="1684874" y="2285385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2279" name="Rectangle 231"/>
          <p:cNvSpPr>
            <a:spLocks noChangeArrowheads="1"/>
          </p:cNvSpPr>
          <p:nvPr/>
        </p:nvSpPr>
        <p:spPr bwMode="auto">
          <a:xfrm>
            <a:off x="1654331" y="1010645"/>
            <a:ext cx="34850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lnSpc>
                <a:spcPct val="90000"/>
              </a:lnSpc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一平面通过两点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80" name="Text Box 232"/>
              <p:cNvSpPr txBox="1">
                <a:spLocks noChangeArrowheads="1"/>
              </p:cNvSpPr>
              <p:nvPr/>
            </p:nvSpPr>
            <p:spPr bwMode="auto">
              <a:xfrm>
                <a:off x="2433602" y="1542937"/>
                <a:ext cx="665148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且垂直于平面</a:t>
                </a:r>
                <a14:m>
                  <m:oMath xmlns:m="http://schemas.openxmlformats.org/officeDocument/2006/math">
                    <m:r>
                      <a:rPr kumimoji="1" lang="en-US" altLang="zh-CN" sz="2800" b="0" i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  <m:r>
                      <a:rPr kumimoji="1" lang="zh-CN" altLang="en-US" sz="28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𝛱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:</m:t>
                    </m:r>
                    <m:sSup>
                      <m:sSupPr>
                        <m:ctrlPr>
                          <a:rPr kumimoji="1" lang="en-US" altLang="zh-CN" sz="280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pPr>
                      <m:e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𝑥</m:t>
                        </m:r>
                      </m:e>
                      <m:sup>
                        <m:r>
                          <a:rPr kumimoji="1" lang="en-US" altLang="zh-CN" sz="2800" b="0" i="1" dirty="0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 </m:t>
                        </m:r>
                      </m:sup>
                    </m:sSup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+</m:t>
                    </m:r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𝑦</m:t>
                    </m:r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+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=0,</m:t>
                    </m:r>
                  </m:oMath>
                </a14:m>
                <a:r>
                  <a:rPr kumimoji="1" lang="en-US" altLang="zh-CN" sz="2800" dirty="0">
                    <a:latin typeface="Cambria Math" panose="02040503050406030204" pitchFamily="18" charset="0"/>
                    <a:ea typeface="黑体" panose="02010609060101010101" pitchFamily="49" charset="-122"/>
                  </a:rPr>
                  <a:t> 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求其方程</a:t>
                </a:r>
                <a:r>
                  <a:rPr kumimoji="1" lang="en-US" altLang="zh-CN" sz="28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280" name="Text Box 2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33602" y="1542937"/>
                <a:ext cx="6651487" cy="523220"/>
              </a:xfrm>
              <a:prstGeom prst="rect">
                <a:avLst/>
              </a:prstGeom>
              <a:blipFill>
                <a:blip r:embed="rId2"/>
                <a:stretch>
                  <a:fillRect l="-1833" t="-15116" r="-1742" b="-3255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1" name="Object 233"/>
              <p:cNvSpPr txBox="1"/>
              <p:nvPr/>
            </p:nvSpPr>
            <p:spPr bwMode="auto">
              <a:xfrm>
                <a:off x="5011586" y="1046172"/>
                <a:ext cx="2184400" cy="574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( 1, 1, 1 )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81" name="Object 2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11586" y="1046172"/>
                <a:ext cx="2184400" cy="5740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82" name="Object 234"/>
              <p:cNvSpPr txBox="1"/>
              <p:nvPr/>
            </p:nvSpPr>
            <p:spPr bwMode="auto">
              <a:xfrm>
                <a:off x="7529604" y="1065431"/>
                <a:ext cx="2573183" cy="574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𝑀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(0,</m:t>
                      </m:r>
                      <m:r>
                        <a:rPr kumimoji="1" lang="en-US" altLang="zh-CN" sz="2800" b="0" i="0" smtClean="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 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1,−1),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82" name="Object 2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29604" y="1065431"/>
                <a:ext cx="2573183" cy="5740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3" name="Text Box 235"/>
          <p:cNvSpPr txBox="1">
            <a:spLocks noChangeArrowheads="1"/>
          </p:cNvSpPr>
          <p:nvPr/>
        </p:nvSpPr>
        <p:spPr bwMode="auto">
          <a:xfrm>
            <a:off x="7113795" y="1071924"/>
            <a:ext cx="68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</a:p>
        </p:txBody>
      </p:sp>
      <p:sp>
        <p:nvSpPr>
          <p:cNvPr id="2295" name="Text Box 247"/>
          <p:cNvSpPr txBox="1">
            <a:spLocks noChangeArrowheads="1"/>
          </p:cNvSpPr>
          <p:nvPr/>
        </p:nvSpPr>
        <p:spPr bwMode="auto">
          <a:xfrm>
            <a:off x="2390776" y="2333124"/>
            <a:ext cx="297801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设所求平面的法向量为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6" name="Text Box 248"/>
              <p:cNvSpPr txBox="1">
                <a:spLocks noChangeArrowheads="1"/>
              </p:cNvSpPr>
              <p:nvPr/>
            </p:nvSpPr>
            <p:spPr bwMode="auto">
              <a:xfrm>
                <a:off x="5197997" y="2315344"/>
                <a:ext cx="1945753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400" b="1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𝒏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=</m:t>
                      </m:r>
                      <m:d>
                        <m:dPr>
                          <m:ctrlP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dPr>
                        <m:e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𝐴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𝐵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,</m:t>
                          </m:r>
                          <m:r>
                            <a:rPr kumimoji="1" lang="en-US" altLang="zh-CN" sz="2400" b="0" i="1" dirty="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𝐶</m:t>
                          </m:r>
                        </m:e>
                      </m:d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96" name="Text Box 2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97997" y="2315344"/>
                <a:ext cx="1945753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7" name="Text Box 249"/>
          <p:cNvSpPr txBox="1">
            <a:spLocks noChangeArrowheads="1"/>
          </p:cNvSpPr>
          <p:nvPr/>
        </p:nvSpPr>
        <p:spPr bwMode="auto">
          <a:xfrm>
            <a:off x="2393843" y="2900771"/>
            <a:ext cx="7921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98" name="Object 250"/>
              <p:cNvSpPr txBox="1"/>
              <p:nvPr/>
            </p:nvSpPr>
            <p:spPr bwMode="auto">
              <a:xfrm>
                <a:off x="2992329" y="2820974"/>
                <a:ext cx="1557571" cy="5619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 b="1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𝒏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⊥</m:t>
                      </m:r>
                      <m:groupChr>
                        <m:groupChrPr>
                          <m:chr m:val="→"/>
                          <m:pos m:val="top"/>
                          <m:vertJc m:val="bot"/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groupChrPr>
                        <m:e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𝑀</m:t>
                              </m:r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2</m:t>
                              </m:r>
                            </m:sub>
                          </m:sSub>
                        </m:e>
                      </m:groupCh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298" name="Object 2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92329" y="2820974"/>
                <a:ext cx="1557571" cy="5619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99" name="AutoShape 251"/>
          <p:cNvSpPr>
            <a:spLocks noChangeArrowheads="1"/>
          </p:cNvSpPr>
          <p:nvPr/>
        </p:nvSpPr>
        <p:spPr bwMode="auto">
          <a:xfrm>
            <a:off x="4405835" y="2934420"/>
            <a:ext cx="792162" cy="376096"/>
          </a:xfrm>
          <a:prstGeom prst="rightArrow">
            <a:avLst>
              <a:gd name="adj1" fmla="val 50000"/>
              <a:gd name="adj2" fmla="val 45864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0" name="Object 252"/>
              <p:cNvSpPr txBox="1"/>
              <p:nvPr/>
            </p:nvSpPr>
            <p:spPr bwMode="auto">
              <a:xfrm>
                <a:off x="5224628" y="2888680"/>
                <a:ext cx="2802198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+0⋅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00" name="Object 2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24628" y="2888680"/>
                <a:ext cx="2802198" cy="393700"/>
              </a:xfrm>
              <a:prstGeom prst="rect">
                <a:avLst/>
              </a:prstGeom>
              <a:blipFill>
                <a:blip r:embed="rId7"/>
                <a:stretch>
                  <a:fillRect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1" name="Text Box 253"/>
          <p:cNvSpPr txBox="1">
            <a:spLocks noChangeArrowheads="1"/>
          </p:cNvSpPr>
          <p:nvPr/>
        </p:nvSpPr>
        <p:spPr bwMode="auto">
          <a:xfrm>
            <a:off x="2382729" y="3557907"/>
            <a:ext cx="609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2" name="Object 254"/>
              <p:cNvSpPr txBox="1"/>
              <p:nvPr/>
            </p:nvSpPr>
            <p:spPr bwMode="auto">
              <a:xfrm>
                <a:off x="2687529" y="3553644"/>
                <a:ext cx="1345000" cy="42698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02" name="Object 2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7529" y="3553644"/>
                <a:ext cx="1345000" cy="426985"/>
              </a:xfrm>
              <a:prstGeom prst="rect">
                <a:avLst/>
              </a:prstGeom>
              <a:blipFill>
                <a:blip r:embed="rId8"/>
                <a:stretch>
                  <a:fillRect l="-4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3" name="Object 255"/>
              <p:cNvSpPr txBox="1"/>
              <p:nvPr/>
            </p:nvSpPr>
            <p:spPr bwMode="auto">
              <a:xfrm>
                <a:off x="2395101" y="4094343"/>
                <a:ext cx="1984103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03" name="Object 2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95101" y="4094343"/>
                <a:ext cx="1984103" cy="393700"/>
              </a:xfrm>
              <a:prstGeom prst="rect">
                <a:avLst/>
              </a:prstGeom>
              <a:blipFill>
                <a:blip r:embed="rId9"/>
                <a:stretch>
                  <a:fillRect l="-308" b="-62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04" name="Object 256"/>
              <p:cNvSpPr txBox="1"/>
              <p:nvPr/>
            </p:nvSpPr>
            <p:spPr bwMode="auto">
              <a:xfrm>
                <a:off x="4549900" y="4098689"/>
                <a:ext cx="2563895" cy="468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=−(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)=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04" name="Object 2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9900" y="4098689"/>
                <a:ext cx="2563895" cy="468312"/>
              </a:xfrm>
              <a:prstGeom prst="rect">
                <a:avLst/>
              </a:prstGeom>
              <a:blipFill>
                <a:blip r:embed="rId10"/>
                <a:stretch>
                  <a:fillRect l="-238"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5" name="Text Box 257"/>
          <p:cNvSpPr txBox="1">
            <a:spLocks noChangeArrowheads="1"/>
          </p:cNvSpPr>
          <p:nvPr/>
        </p:nvSpPr>
        <p:spPr bwMode="auto">
          <a:xfrm>
            <a:off x="4243536" y="4094555"/>
            <a:ext cx="4667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6" name="Text Box 258"/>
              <p:cNvSpPr txBox="1">
                <a:spLocks noChangeArrowheads="1"/>
              </p:cNvSpPr>
              <p:nvPr/>
            </p:nvSpPr>
            <p:spPr bwMode="auto">
              <a:xfrm>
                <a:off x="3933909" y="3529771"/>
                <a:ext cx="2665413" cy="43569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</a:t>
                </a:r>
                <a14:m>
                  <m:oMath xmlns:m="http://schemas.openxmlformats.org/officeDocument/2006/math">
                    <m:r>
                      <a:rPr kumimoji="1" lang="zh-CN" altLang="en-US" sz="2200" b="1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𝒏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⊥</m:t>
                    </m:r>
                    <m:r>
                      <a:rPr kumimoji="1" lang="zh-CN" altLang="en-US" sz="24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𝛱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的法向量，</a:t>
                </a:r>
              </a:p>
            </p:txBody>
          </p:sp>
        </mc:Choice>
        <mc:Fallback xmlns="">
          <p:sp>
            <p:nvSpPr>
              <p:cNvPr id="2306" name="Text Box 2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3909" y="3529771"/>
                <a:ext cx="2665413" cy="435697"/>
              </a:xfrm>
              <a:prstGeom prst="rect">
                <a:avLst/>
              </a:prstGeom>
              <a:blipFill>
                <a:blip r:embed="rId11"/>
                <a:stretch>
                  <a:fillRect l="-2968" t="-13889" r="-457" b="-222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07" name="AutoShape 259"/>
          <p:cNvSpPr>
            <a:spLocks noChangeArrowheads="1"/>
          </p:cNvSpPr>
          <p:nvPr/>
        </p:nvSpPr>
        <p:spPr bwMode="auto">
          <a:xfrm>
            <a:off x="6396014" y="3549861"/>
            <a:ext cx="799972" cy="372455"/>
          </a:xfrm>
          <a:prstGeom prst="rightArrow">
            <a:avLst>
              <a:gd name="adj1" fmla="val 50000"/>
              <a:gd name="adj2" fmla="val 45864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800" dirty="0">
              <a:solidFill>
                <a:srgbClr val="04926A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308" name="Text Box 260"/>
          <p:cNvSpPr txBox="1">
            <a:spLocks noChangeArrowheads="1"/>
          </p:cNvSpPr>
          <p:nvPr/>
        </p:nvSpPr>
        <p:spPr bwMode="auto">
          <a:xfrm>
            <a:off x="2324357" y="4729234"/>
            <a:ext cx="38163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于是所求方程为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9" name="Object 261"/>
              <p:cNvSpPr txBox="1"/>
              <p:nvPr/>
            </p:nvSpPr>
            <p:spPr bwMode="auto">
              <a:xfrm>
                <a:off x="4310211" y="4713530"/>
                <a:ext cx="5126038" cy="468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−1)+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−1)+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−1)=0,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09" name="Object 2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10211" y="4713530"/>
                <a:ext cx="5126038" cy="468313"/>
              </a:xfrm>
              <a:prstGeom prst="rect">
                <a:avLst/>
              </a:prstGeom>
              <a:blipFill>
                <a:blip r:embed="rId12"/>
                <a:stretch>
                  <a:fillRect b="-90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1" name="Text Box 263"/>
              <p:cNvSpPr txBox="1">
                <a:spLocks noChangeArrowheads="1"/>
              </p:cNvSpPr>
              <p:nvPr/>
            </p:nvSpPr>
            <p:spPr bwMode="auto">
              <a:xfrm>
                <a:off x="2324357" y="5273835"/>
                <a:ext cx="3312664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因为</a:t>
                </a:r>
                <a14:m>
                  <m:oMath xmlns:m="http://schemas.openxmlformats.org/officeDocument/2006/math">
                    <m:r>
                      <a:rPr kumimoji="1" lang="en-US" altLang="zh-CN" sz="22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m:rPr>
                        <m:nor/>
                      </m:rPr>
                      <a:rPr lang="en-US" altLang="zh-CN" sz="2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sz="22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约去</a:t>
                </a:r>
                <a14:m>
                  <m:oMath xmlns:m="http://schemas.openxmlformats.org/officeDocument/2006/math"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并化简得</a:t>
                </a:r>
              </a:p>
            </p:txBody>
          </p:sp>
        </mc:Choice>
        <mc:Fallback xmlns="">
          <p:sp>
            <p:nvSpPr>
              <p:cNvPr id="2311" name="Text Box 2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4357" y="5273835"/>
                <a:ext cx="3312664" cy="430887"/>
              </a:xfrm>
              <a:prstGeom prst="rect">
                <a:avLst/>
              </a:prstGeom>
              <a:blipFill>
                <a:blip r:embed="rId13"/>
                <a:stretch>
                  <a:fillRect l="-2390" t="-14085" r="-551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12" name="Object 264"/>
              <p:cNvSpPr txBox="1"/>
              <p:nvPr/>
            </p:nvSpPr>
            <p:spPr bwMode="auto">
              <a:xfrm>
                <a:off x="5417184" y="5257030"/>
                <a:ext cx="2112422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2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𝑥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𝑦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−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𝑧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12" name="Object 2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7184" y="5257030"/>
                <a:ext cx="2112422" cy="469900"/>
              </a:xfrm>
              <a:prstGeom prst="rect">
                <a:avLst/>
              </a:prstGeom>
              <a:blipFill>
                <a:blip r:embed="rId14"/>
                <a:stretch>
                  <a:fillRect l="-289" b="-25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75473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61" grpId="0"/>
      <p:bldP spid="2279" grpId="0"/>
      <p:bldP spid="2280" grpId="0"/>
      <p:bldP spid="2281" grpId="0"/>
      <p:bldP spid="2282" grpId="0"/>
      <p:bldP spid="2283" grpId="0"/>
      <p:bldP spid="2295" grpId="0"/>
      <p:bldP spid="2296" grpId="0"/>
      <p:bldP spid="2297" grpId="0"/>
      <p:bldP spid="2298" grpId="0"/>
      <p:bldP spid="2300" grpId="0"/>
      <p:bldP spid="2301" grpId="0"/>
      <p:bldP spid="2302" grpId="0"/>
      <p:bldP spid="2303" grpId="0"/>
      <p:bldP spid="2304" grpId="0"/>
      <p:bldP spid="2305" grpId="0"/>
      <p:bldP spid="2306" grpId="0"/>
      <p:bldP spid="2308" grpId="0"/>
      <p:bldP spid="2309" grpId="0"/>
      <p:bldP spid="2311" grpId="0"/>
      <p:bldP spid="23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C419509-A10A-6870-5907-FCB3168ABC74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0163DC46-3AAD-A4F7-0A8C-C7FF6B7537FF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95A445D9-5748-E751-DB42-1A06F08DE78B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40A97922-4D35-E78B-7FFA-154596DF147E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6122AE5-4160-9C35-F376-C5E36EC61691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C2535BDD-8FBF-2776-8C39-3B75DBB6E423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558" name="Object 6"/>
              <p:cNvSpPr txBox="1"/>
              <p:nvPr/>
            </p:nvSpPr>
            <p:spPr bwMode="auto">
              <a:xfrm>
                <a:off x="2342368" y="2926578"/>
                <a:ext cx="2810658" cy="4859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∀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𝑃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, 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)∈</m:t>
                      </m:r>
                      <m:r>
                        <a:rPr kumimoji="1" lang="zh-CN" altLang="en-US" sz="2200" i="1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𝛱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558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2368" y="2926578"/>
                <a:ext cx="2810658" cy="485934"/>
              </a:xfrm>
              <a:prstGeom prst="rect">
                <a:avLst/>
              </a:prstGeom>
              <a:blipFill>
                <a:blip r:embed="rId2"/>
                <a:stretch>
                  <a:fillRect b="-50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59" name="Object 7"/>
              <p:cNvSpPr txBox="1"/>
              <p:nvPr/>
            </p:nvSpPr>
            <p:spPr bwMode="auto">
              <a:xfrm>
                <a:off x="2389255" y="3503118"/>
                <a:ext cx="4455815" cy="9080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则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 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𝑑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kumimoji="1" lang="zh-CN" altLang="en-US" sz="2200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𝑃</m:t>
                                  </m:r>
                                </m:e>
                              </m:acc>
                            </m:e>
                            <m: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0</m:t>
                              </m:r>
                            </m:sub>
                          </m:s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⋅</m:t>
                          </m:r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𝒏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𝒏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559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89255" y="3503118"/>
                <a:ext cx="4455815" cy="9080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581" name="Object 29"/>
              <p:cNvSpPr txBox="1"/>
              <p:nvPr/>
            </p:nvSpPr>
            <p:spPr bwMode="auto">
              <a:xfrm>
                <a:off x="2376133" y="4412758"/>
                <a:ext cx="6016785" cy="9180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br>
                  <a:rPr lang="zh-CN" altLang="en-US" sz="2200" i="1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r>
                  <a:rPr lang="zh-CN" altLang="en-US" sz="22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而</a:t>
                </a:r>
                <a14:m>
                  <m:oMath xmlns:m="http://schemas.openxmlformats.org/officeDocument/2006/math">
                    <m:r>
                      <a:rPr kumimoji="1" lang="zh-CN" altLang="en-US" sz="2200" b="1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𝒏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={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𝐴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𝐵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𝐶</m:t>
                    </m:r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},  </m:t>
                    </m:r>
                    <m:acc>
                      <m:accPr>
                        <m:chr m:val="⃗"/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1" lang="zh-CN" altLang="en-US" sz="2200" i="1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𝑃</m:t>
                            </m:r>
                          </m:e>
                          <m:sub>
                            <m:r>
                              <a:rPr kumimoji="1" lang="zh-CN" altLang="en-US" sz="220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  <a:cs typeface="黑体" panose="02010609060101010101" pitchFamily="49" charset="-122"/>
                              </a:rPr>
                              <m:t>0</m:t>
                            </m:r>
                          </m:sub>
                        </m:sSub>
                      </m:e>
                    </m:acc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={</m:t>
                    </m:r>
                    <m:sSub>
                      <m:sSub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−</m:t>
                    </m:r>
                    <m:sSub>
                      <m:sSub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−</m:t>
                    </m:r>
                    <m:sSub>
                      <m:sSub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𝑦</m:t>
                        </m:r>
                      </m:e>
                      <m:sub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sSub>
                      <m:sSub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sub>
                    </m:sSub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−</m:t>
                    </m:r>
                    <m:sSub>
                      <m:sSubPr>
                        <m:ctrlPr>
                          <a:rPr kumimoji="1" lang="zh-CN" altLang="en-US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𝑧</m:t>
                        </m:r>
                      </m:e>
                      <m:sub>
                        <m:r>
                          <a:rPr kumimoji="1" lang="zh-CN" altLang="en-US" sz="22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1</m:t>
                        </m:r>
                      </m:sub>
                    </m:sSub>
                    <m:r>
                      <a:rPr kumimoji="1" lang="zh-CN" altLang="en-US" sz="220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}</m:t>
                    </m:r>
                  </m:oMath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58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6133" y="4412758"/>
                <a:ext cx="6016785" cy="918012"/>
              </a:xfrm>
              <a:prstGeom prst="rect">
                <a:avLst/>
              </a:prstGeom>
              <a:blipFill>
                <a:blip r:embed="rId4"/>
                <a:stretch>
                  <a:fillRect l="-11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84" name="Text Box 32"/>
          <p:cNvSpPr txBox="1">
            <a:spLocks noChangeArrowheads="1"/>
          </p:cNvSpPr>
          <p:nvPr/>
        </p:nvSpPr>
        <p:spPr bwMode="auto">
          <a:xfrm>
            <a:off x="1484831" y="2889292"/>
            <a:ext cx="130575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4"/>
              <p:cNvSpPr txBox="1">
                <a:spLocks noChangeArrowheads="1"/>
              </p:cNvSpPr>
              <p:nvPr/>
            </p:nvSpPr>
            <p:spPr bwMode="auto">
              <a:xfrm>
                <a:off x="2342367" y="2105927"/>
                <a:ext cx="51054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外一点，求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</m:ctrlPr>
                      </m:sSubPr>
                      <m:e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kumimoji="1" lang="zh-CN" altLang="en-US" sz="280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到平面的距离</a:t>
                </a:r>
                <a14:m>
                  <m:oMath xmlns:m="http://schemas.openxmlformats.org/officeDocument/2006/math"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𝑑</m:t>
                    </m:r>
                    <m:r>
                      <a:rPr kumimoji="1"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.</m:t>
                    </m:r>
                  </m:oMath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9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2367" y="2105927"/>
                <a:ext cx="5105400" cy="523220"/>
              </a:xfrm>
              <a:prstGeom prst="rect">
                <a:avLst/>
              </a:prstGeom>
              <a:blipFill>
                <a:blip r:embed="rId9"/>
                <a:stretch>
                  <a:fillRect l="-2387" t="-15116" b="-2790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Object 5"/>
              <p:cNvSpPr txBox="1"/>
              <p:nvPr/>
            </p:nvSpPr>
            <p:spPr bwMode="auto">
              <a:xfrm>
                <a:off x="2699867" y="1434162"/>
                <a:ext cx="2264558" cy="5592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𝑃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(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,</m:t>
                      </m:r>
                      <m:sSub>
                        <m:sSubPr>
                          <m:ctrlPr>
                            <a:rPr kumimoji="1" lang="zh-CN" altLang="en-US" sz="28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8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0</m:t>
                          </m:r>
                        </m:sub>
                      </m:sSub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0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9867" y="1434162"/>
                <a:ext cx="2264558" cy="55923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6"/>
              <p:cNvSpPr txBox="1"/>
              <p:nvPr/>
            </p:nvSpPr>
            <p:spPr bwMode="auto">
              <a:xfrm>
                <a:off x="5756643" y="1462433"/>
                <a:ext cx="3703073" cy="51911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𝐴𝑥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𝐵𝑦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𝐶𝑧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𝐷</m:t>
                      </m:r>
                      <m:r>
                        <a:rPr kumimoji="1" lang="zh-CN" altLang="en-US" sz="28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56643" y="1462433"/>
                <a:ext cx="3703073" cy="5191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Rectangle 7"/>
          <p:cNvSpPr>
            <a:spLocks noChangeArrowheads="1"/>
          </p:cNvSpPr>
          <p:nvPr/>
        </p:nvSpPr>
        <p:spPr bwMode="auto">
          <a:xfrm>
            <a:off x="1551056" y="1467892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  </a:t>
            </a:r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4648049" y="1467273"/>
            <a:ext cx="127174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是平面</a:t>
            </a:r>
          </a:p>
        </p:txBody>
      </p:sp>
      <p:pic>
        <p:nvPicPr>
          <p:cNvPr id="10" name="图片 9" descr="图表, 折线图&#10;&#10;描述已自动生成">
            <a:extLst>
              <a:ext uri="{FF2B5EF4-FFF2-40B4-BE49-F238E27FC236}">
                <a16:creationId xmlns:a16="http://schemas.microsoft.com/office/drawing/2014/main" id="{FEF72CE8-9E4B-C9ED-3488-E60F42BF4E4B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0681" y="2105927"/>
            <a:ext cx="2900845" cy="24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19570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8" grpId="0"/>
      <p:bldP spid="23559" grpId="0"/>
      <p:bldP spid="23581" grpId="0"/>
      <p:bldP spid="23584" grpId="0"/>
      <p:bldP spid="29" grpId="0"/>
      <p:bldP spid="30" grpId="0"/>
      <p:bldP spid="31" grpId="0"/>
      <p:bldP spid="32" grpId="0"/>
      <p:bldP spid="3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1C87D10B-1CB8-18B4-25D3-A5DE6F4C704A}"/>
              </a:ext>
            </a:extLst>
          </p:cNvPr>
          <p:cNvGrpSpPr/>
          <p:nvPr/>
        </p:nvGrpSpPr>
        <p:grpSpPr>
          <a:xfrm>
            <a:off x="673129" y="872954"/>
            <a:ext cx="10817606" cy="5112091"/>
            <a:chOff x="687070" y="1226820"/>
            <a:chExt cx="10817606" cy="511209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DD76D16-BA3C-B898-6EC0-CC4AD9DA172D}"/>
                </a:ext>
              </a:extLst>
            </p:cNvPr>
            <p:cNvSpPr/>
            <p:nvPr/>
          </p:nvSpPr>
          <p:spPr>
            <a:xfrm>
              <a:off x="687070" y="1226820"/>
              <a:ext cx="10817225" cy="51104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9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1ACF5D53-327B-EA49-F5CE-65CCC9C6BF00}"/>
                </a:ext>
              </a:extLst>
            </p:cNvPr>
            <p:cNvSpPr/>
            <p:nvPr/>
          </p:nvSpPr>
          <p:spPr>
            <a:xfrm>
              <a:off x="687324" y="1226820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630A1169-B7E5-94FF-6652-F0DACE8A97ED}"/>
                </a:ext>
              </a:extLst>
            </p:cNvPr>
            <p:cNvSpPr/>
            <p:nvPr/>
          </p:nvSpPr>
          <p:spPr>
            <a:xfrm flipH="1">
              <a:off x="10823530" y="1226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22017DC9-7FFD-3AFD-0B64-B46336BDE8A5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id="{680A3BF9-F9F8-E0E8-A593-ED3311D42C42}"/>
                </a:ext>
              </a:extLst>
            </p:cNvPr>
            <p:cNvSpPr/>
            <p:nvPr/>
          </p:nvSpPr>
          <p:spPr>
            <a:xfrm flipH="1" flipV="1">
              <a:off x="10823530" y="5645528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589" name="Object 13"/>
              <p:cNvSpPr txBox="1"/>
              <p:nvPr/>
            </p:nvSpPr>
            <p:spPr bwMode="auto">
              <a:xfrm>
                <a:off x="3454903" y="1469967"/>
                <a:ext cx="5193799" cy="914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589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54903" y="1469967"/>
                <a:ext cx="5193799" cy="9144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92" name="Object 16"/>
              <p:cNvSpPr txBox="1"/>
              <p:nvPr/>
            </p:nvSpPr>
            <p:spPr bwMode="auto">
              <a:xfrm>
                <a:off x="1955898" y="2543084"/>
                <a:ext cx="5349778" cy="887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−(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4592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55898" y="2543084"/>
                <a:ext cx="5349778" cy="8873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/>
              <p:cNvSpPr txBox="1"/>
              <p:nvPr/>
            </p:nvSpPr>
            <p:spPr>
              <a:xfrm>
                <a:off x="1678782" y="1392179"/>
                <a:ext cx="1864518" cy="99218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𝑑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⃗"/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200" b="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kumimoji="1" lang="zh-CN" altLang="en-US" sz="2200" b="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kumimoji="1" lang="zh-CN" altLang="en-US" sz="220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1" lang="zh-CN" altLang="en-US" sz="2200" b="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𝑃</m:t>
                                      </m:r>
                                    </m:e>
                                    <m:sub>
                                      <m:r>
                                        <a:rPr kumimoji="1" lang="zh-CN" altLang="en-US" sz="2200" b="0" i="1">
                                          <a:latin typeface="Cambria Math" panose="02040503050406030204" pitchFamily="18" charset="0"/>
                                          <a:ea typeface="黑体" panose="02010609060101010101" pitchFamily="49" charset="-122"/>
                                          <a:cs typeface="黑体" panose="02010609060101010101" pitchFamily="49" charset="-122"/>
                                        </a:rPr>
                                        <m:t>0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kumimoji="1" lang="zh-CN" altLang="en-US" sz="2200" b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⋅</m:t>
                              </m:r>
                              <m:r>
                                <a:rPr kumimoji="1" lang="zh-CN" altLang="en-US" sz="2200" b="1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𝒏</m:t>
                              </m:r>
                            </m:e>
                          </m:d>
                        </m:num>
                        <m:den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  <m:r>
                            <a:rPr kumimoji="1" lang="zh-CN" altLang="en-US" sz="2200" b="1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𝒏</m:t>
                          </m:r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8782" y="1392179"/>
                <a:ext cx="1864518" cy="992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Object 3"/>
              <p:cNvSpPr txBox="1"/>
              <p:nvPr/>
            </p:nvSpPr>
            <p:spPr bwMode="auto">
              <a:xfrm>
                <a:off x="2850312" y="3557840"/>
                <a:ext cx="356095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∵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𝐴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𝐵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𝑦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𝐶</m:t>
                      </m:r>
                      <m:sSub>
                        <m:sSub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sSubPr>
                        <m:e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𝑧</m:t>
                          </m:r>
                        </m:e>
                        <m:sub>
                          <m:r>
                            <a:rPr kumimoji="1" lang="zh-CN" altLang="en-US" sz="2200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+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𝐷</m:t>
                      </m:r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=0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50312" y="3557840"/>
                <a:ext cx="3560950" cy="457200"/>
              </a:xfrm>
              <a:prstGeom prst="rect">
                <a:avLst/>
              </a:prstGeom>
              <a:blipFill>
                <a:blip r:embed="rId5"/>
                <a:stretch>
                  <a:fillRect b="-5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箭头连接符 3"/>
          <p:cNvCxnSpPr/>
          <p:nvPr/>
        </p:nvCxnSpPr>
        <p:spPr>
          <a:xfrm>
            <a:off x="2149157" y="3338384"/>
            <a:ext cx="0" cy="1085788"/>
          </a:xfrm>
          <a:prstGeom prst="straightConnector1">
            <a:avLst/>
          </a:prstGeom>
          <a:ln w="19050">
            <a:solidFill>
              <a:srgbClr val="04926A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6"/>
              <p:cNvSpPr txBox="1"/>
              <p:nvPr/>
            </p:nvSpPr>
            <p:spPr bwMode="auto">
              <a:xfrm>
                <a:off x="1920176" y="4424172"/>
                <a:ext cx="3359565" cy="88735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kumimoji="1" lang="zh-CN" altLang="en-US" sz="22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黑体" panose="02010609060101010101" pitchFamily="49" charset="-122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𝐴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𝐶</m:t>
                              </m:r>
                              <m:sSub>
                                <m:sSub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b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𝐷</m:t>
                              </m:r>
                            </m:e>
                          </m:d>
                        </m:num>
                        <m:den>
                          <m:rad>
                            <m:radPr>
                              <m:degHide m:val="on"/>
                              <m:ctrlPr>
                                <a:rPr kumimoji="1" lang="zh-CN" altLang="en-US" sz="2200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kumimoji="1" lang="zh-CN" altLang="en-US" sz="220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黑体" panose="02010609060101010101" pitchFamily="49" charset="-122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kumimoji="1" lang="zh-CN" altLang="en-US" sz="2200" i="1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𝐶</m:t>
                                  </m:r>
                                </m:e>
                                <m:sup>
                                  <m:r>
                                    <a:rPr kumimoji="1" lang="zh-CN" altLang="en-US" sz="2200">
                                      <a:latin typeface="Cambria Math" panose="02040503050406030204" pitchFamily="18" charset="0"/>
                                      <a:ea typeface="黑体" panose="02010609060101010101" pitchFamily="49" charset="-122"/>
                                      <a:cs typeface="黑体" panose="02010609060101010101" pitchFamily="49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  <m:r>
                        <a:rPr kumimoji="1" lang="zh-CN" altLang="en-US" sz="2200">
                          <a:latin typeface="Cambria Math" panose="02040503050406030204" pitchFamily="18" charset="0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2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0176" y="4424172"/>
                <a:ext cx="3359565" cy="88735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5280123" y="4635091"/>
            <a:ext cx="246370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4926A"/>
                </a:solidFill>
                <a:ea typeface="黑体" panose="02010609060101010101" pitchFamily="49" charset="-122"/>
              </a:rPr>
              <a:t>点到平面距离公式</a:t>
            </a:r>
          </a:p>
        </p:txBody>
      </p:sp>
    </p:spTree>
    <p:extLst>
      <p:ext uri="{BB962C8B-B14F-4D97-AF65-F5344CB8AC3E}">
        <p14:creationId xmlns:p14="http://schemas.microsoft.com/office/powerpoint/2010/main" val="374996779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9" grpId="0"/>
      <p:bldP spid="24592" grpId="0"/>
      <p:bldP spid="2" grpId="0"/>
      <p:bldP spid="15" grpId="0"/>
      <p:bldP spid="19" grpId="0"/>
      <p:bldP spid="2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6128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mbria Math"/>
        <a:font script="Hebr" typeface="Cambria Math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mbria Math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2532</TotalTime>
  <Words>1685</Words>
  <Application>Microsoft Office PowerPoint</Application>
  <PresentationFormat>宽屏</PresentationFormat>
  <Paragraphs>212</Paragraphs>
  <Slides>23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23</vt:i4>
      </vt:variant>
    </vt:vector>
  </HeadingPairs>
  <TitlesOfParts>
    <vt:vector size="36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Cambria Math</vt:lpstr>
      <vt:lpstr>Times New Roman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一、曲面方程与空间曲线方程的概念</vt:lpstr>
      <vt:lpstr>PowerPoint 演示文稿</vt:lpstr>
      <vt:lpstr>二、平面的点法式方程</vt:lpstr>
      <vt:lpstr>PowerPoint 演示文稿</vt:lpstr>
      <vt:lpstr>PowerPoint 演示文稿</vt:lpstr>
      <vt:lpstr>PowerPoint 演示文稿</vt:lpstr>
      <vt:lpstr>三、平面的一般方程</vt:lpstr>
      <vt:lpstr>PowerPoint 演示文稿</vt:lpstr>
      <vt:lpstr>PowerPoint 演示文稿</vt:lpstr>
      <vt:lpstr>PowerPoint 演示文稿</vt:lpstr>
      <vt:lpstr>PowerPoint 演示文稿</vt:lpstr>
      <vt:lpstr>四、两平面的夹角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cui;崔丽鸿</dc:creator>
  <cp:lastModifiedBy>yang fan</cp:lastModifiedBy>
  <cp:revision>214</cp:revision>
  <dcterms:created xsi:type="dcterms:W3CDTF">2021-12-25T10:05:44Z</dcterms:created>
  <dcterms:modified xsi:type="dcterms:W3CDTF">2023-07-05T08:58:26Z</dcterms:modified>
</cp:coreProperties>
</file>